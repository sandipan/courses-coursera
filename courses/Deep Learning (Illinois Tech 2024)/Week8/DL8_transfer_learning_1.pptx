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62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822"/>
  </p:normalViewPr>
  <p:slideViewPr>
    <p:cSldViewPr snapToGrid="0" snapToObjects="1">
      <p:cViewPr varScale="1">
        <p:scale>
          <a:sx n="75" d="100"/>
          <a:sy n="75" d="100"/>
        </p:scale>
        <p:origin x="624" y="176"/>
      </p:cViewPr>
      <p:guideLst>
        <p:guide orient="horz" pos="3110"/>
        <p:guide pos="5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19D3E-A1AF-407B-AE78-3EE7497D6478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19D3E-A1AF-407B-AE78-3EE7497D6478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5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jpeg"/><Relationship Id="rId10" Type="http://schemas.openxmlformats.org/officeDocument/2006/relationships/image" Target="../media/image19.png"/><Relationship Id="rId4" Type="http://schemas.openxmlformats.org/officeDocument/2006/relationships/image" Target="../media/image15.wmf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Transfer Learning Introduction and Fine-tuning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13374"/>
            <a:ext cx="12863195" cy="885826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Dr. Yan Yan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78608" y="6194687"/>
            <a:ext cx="5433000" cy="26955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10347875" y="2478954"/>
            <a:ext cx="3077834" cy="25350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7152956" y="2478954"/>
            <a:ext cx="2069870" cy="2535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00" y="2667489"/>
            <a:ext cx="1326108" cy="1726377"/>
          </a:xfrm>
          <a:prstGeom prst="rect">
            <a:avLst/>
          </a:prstGeom>
        </p:spPr>
      </p:pic>
      <p:pic>
        <p:nvPicPr>
          <p:cNvPr id="9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234" y="2726862"/>
            <a:ext cx="2412047" cy="160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/>
          <p:cNvSpPr txBox="1"/>
          <p:nvPr/>
        </p:nvSpPr>
        <p:spPr>
          <a:xfrm>
            <a:off x="4212284" y="3154623"/>
            <a:ext cx="2094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Dog/Cat</a:t>
            </a:r>
          </a:p>
          <a:p>
            <a:pPr algn="ctr"/>
            <a:r>
              <a:rPr lang="en-US" altLang="zh-TW" sz="3600" dirty="0"/>
              <a:t>Classifier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589374" y="4274958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1382810" y="4274502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212284" y="5407236"/>
            <a:ext cx="10233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Data </a:t>
            </a:r>
            <a:r>
              <a:rPr lang="en-US" altLang="zh-TW" sz="3600" b="1" i="1" u="sng" dirty="0"/>
              <a:t>not directly related to </a:t>
            </a:r>
            <a:r>
              <a:rPr lang="en-US" altLang="zh-TW" sz="3600" dirty="0"/>
              <a:t>the task considered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845859" y="8118015"/>
            <a:ext cx="241999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Lion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6082967" y="8117640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Wolf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177485" y="9061176"/>
            <a:ext cx="60352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Similar domain, different tasks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308425" y="9031902"/>
            <a:ext cx="596945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Different domains, same task</a:t>
            </a:r>
          </a:p>
        </p:txBody>
      </p:sp>
      <p:sp>
        <p:nvSpPr>
          <p:cNvPr id="8" name="矩形 7"/>
          <p:cNvSpPr/>
          <p:nvPr/>
        </p:nvSpPr>
        <p:spPr>
          <a:xfrm>
            <a:off x="10318170" y="62940"/>
            <a:ext cx="5402348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0" dirty="0"/>
              <a:t>http://weebly110810.weebly.com/396403913129399.html</a:t>
            </a:r>
          </a:p>
        </p:txBody>
      </p:sp>
      <p:sp>
        <p:nvSpPr>
          <p:cNvPr id="10" name="矩形 9"/>
          <p:cNvSpPr/>
          <p:nvPr/>
        </p:nvSpPr>
        <p:spPr>
          <a:xfrm>
            <a:off x="10365539" y="1000051"/>
            <a:ext cx="5354979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0" dirty="0"/>
              <a:t>http://www.sucaitianxia.com/png/cartoon/200811/4261.html</a:t>
            </a:r>
          </a:p>
        </p:txBody>
      </p:sp>
      <p:sp>
        <p:nvSpPr>
          <p:cNvPr id="27" name="矩形 26"/>
          <p:cNvSpPr/>
          <p:nvPr/>
        </p:nvSpPr>
        <p:spPr>
          <a:xfrm>
            <a:off x="8565576" y="6194687"/>
            <a:ext cx="5433000" cy="26955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11332803" y="8101796"/>
            <a:ext cx="241999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9403526" y="8102191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pic>
        <p:nvPicPr>
          <p:cNvPr id="103" name="Content Placeholder 102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5629275" y="6504940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2981960" y="6555105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Picture 104"/>
          <p:cNvPicPr/>
          <p:nvPr/>
        </p:nvPicPr>
        <p:blipFill>
          <a:blip r:embed="rId6"/>
          <a:stretch>
            <a:fillRect/>
          </a:stretch>
        </p:blipFill>
        <p:spPr>
          <a:xfrm>
            <a:off x="9037320" y="6586220"/>
            <a:ext cx="1964055" cy="1327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Picture 105"/>
          <p:cNvPicPr/>
          <p:nvPr/>
        </p:nvPicPr>
        <p:blipFill>
          <a:blip r:embed="rId7"/>
          <a:stretch>
            <a:fillRect/>
          </a:stretch>
        </p:blipFill>
        <p:spPr>
          <a:xfrm>
            <a:off x="11746865" y="6283960"/>
            <a:ext cx="1592580" cy="1836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7" grpId="0"/>
      <p:bldP spid="23" grpId="0"/>
      <p:bldP spid="23" grpId="1"/>
      <p:bldP spid="26" grpId="0"/>
      <p:bldP spid="26" grpId="1"/>
      <p:bldP spid="21" grpId="0"/>
      <p:bldP spid="21" grpId="1"/>
      <p:bldP spid="22" grpId="0"/>
      <p:bldP spid="22" grpId="1"/>
      <p:bldP spid="27" grpId="0" animBg="1"/>
      <p:bldP spid="27" grpId="1" animBg="1"/>
      <p:bldP spid="30" grpId="0"/>
      <p:bldP spid="30" grpId="1"/>
      <p:bldP spid="31" grpId="0"/>
      <p:bldP spid="3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Content Placeholder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935" y="5763895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887585" y="5796280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Why?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134802" y="2536033"/>
            <a:ext cx="38073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Considered</a:t>
            </a:r>
            <a:endParaRPr lang="zh-TW" altLang="en-US" sz="3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480316" y="5918625"/>
            <a:ext cx="271682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Image Recognition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0146423" y="2536033"/>
            <a:ext cx="5108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Data not directly related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480316" y="3832550"/>
            <a:ext cx="271682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Speech</a:t>
            </a:r>
          </a:p>
          <a:p>
            <a:pPr algn="ctr"/>
            <a:r>
              <a:rPr lang="en-US" altLang="zh-TW" sz="3600" dirty="0"/>
              <a:t>Recognition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7214066" y="8267602"/>
            <a:ext cx="273782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Specific domain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12721754" y="3792048"/>
            <a:ext cx="1681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English</a:t>
            </a:r>
          </a:p>
        </p:txBody>
      </p:sp>
      <p:sp>
        <p:nvSpPr>
          <p:cNvPr id="29" name="矩形 28"/>
          <p:cNvSpPr/>
          <p:nvPr/>
        </p:nvSpPr>
        <p:spPr>
          <a:xfrm>
            <a:off x="12681578" y="4321572"/>
            <a:ext cx="1859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Chinese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3218160" y="8484870"/>
            <a:ext cx="2854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Webpages</a:t>
            </a:r>
            <a:endParaRPr lang="zh-TW" altLang="en-US" sz="3600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2567351" y="5501039"/>
            <a:ext cx="127931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2628155" y="7561995"/>
            <a:ext cx="127931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9887603" y="2363216"/>
            <a:ext cx="0" cy="73082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13013853" y="4636907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……</a:t>
            </a:r>
          </a:p>
        </p:txBody>
      </p:sp>
      <p:cxnSp>
        <p:nvCxnSpPr>
          <p:cNvPr id="30" name="直線接點 29"/>
          <p:cNvCxnSpPr/>
          <p:nvPr/>
        </p:nvCxnSpPr>
        <p:spPr>
          <a:xfrm>
            <a:off x="2720315" y="3486611"/>
            <a:ext cx="127931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8174036" y="6231343"/>
            <a:ext cx="817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car</a:t>
            </a:r>
          </a:p>
        </p:txBody>
      </p:sp>
      <p:pic>
        <p:nvPicPr>
          <p:cNvPr id="42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0272" y="5977214"/>
            <a:ext cx="1965452" cy="130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6614" y="5944760"/>
            <a:ext cx="1099623" cy="1431531"/>
          </a:xfrm>
          <a:prstGeom prst="rect">
            <a:avLst/>
          </a:prstGeom>
        </p:spPr>
      </p:pic>
      <p:sp>
        <p:nvSpPr>
          <p:cNvPr id="45" name="文字方塊 44"/>
          <p:cNvSpPr txBox="1"/>
          <p:nvPr/>
        </p:nvSpPr>
        <p:spPr>
          <a:xfrm>
            <a:off x="2563839" y="8004701"/>
            <a:ext cx="273782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Text</a:t>
            </a:r>
          </a:p>
          <a:p>
            <a:pPr algn="ctr"/>
            <a:r>
              <a:rPr lang="en-US" altLang="zh-TW" sz="3600" dirty="0"/>
              <a:t>Analysis</a:t>
            </a:r>
            <a:endParaRPr lang="zh-TW" altLang="en-US" sz="3600" dirty="0"/>
          </a:p>
        </p:txBody>
      </p:sp>
      <p:pic>
        <p:nvPicPr>
          <p:cNvPr id="107" name="Content Placeholder 106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499735" y="3716655"/>
            <a:ext cx="1553845" cy="15538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27"/>
          <p:cNvSpPr/>
          <p:nvPr/>
        </p:nvSpPr>
        <p:spPr>
          <a:xfrm>
            <a:off x="7356639" y="4171143"/>
            <a:ext cx="1681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English</a:t>
            </a:r>
          </a:p>
        </p:txBody>
      </p:sp>
      <p:pic>
        <p:nvPicPr>
          <p:cNvPr id="108" name="Picture 107"/>
          <p:cNvPicPr/>
          <p:nvPr/>
        </p:nvPicPr>
        <p:blipFill>
          <a:blip r:embed="rId8"/>
          <a:stretch>
            <a:fillRect/>
          </a:stretch>
        </p:blipFill>
        <p:spPr>
          <a:xfrm>
            <a:off x="10699750" y="3793490"/>
            <a:ext cx="1496060" cy="1400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Picture 109"/>
          <p:cNvPicPr/>
          <p:nvPr/>
        </p:nvPicPr>
        <p:blipFill>
          <a:blip r:embed="rId9"/>
          <a:stretch>
            <a:fillRect/>
          </a:stretch>
        </p:blipFill>
        <p:spPr>
          <a:xfrm>
            <a:off x="5394960" y="5854700"/>
            <a:ext cx="2308860" cy="1264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Picture 110"/>
          <p:cNvPicPr/>
          <p:nvPr/>
        </p:nvPicPr>
        <p:blipFill>
          <a:blip r:embed="rId10"/>
          <a:stretch>
            <a:fillRect/>
          </a:stretch>
        </p:blipFill>
        <p:spPr>
          <a:xfrm>
            <a:off x="5501640" y="7964170"/>
            <a:ext cx="209550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Picture 112"/>
          <p:cNvPicPr/>
          <p:nvPr/>
        </p:nvPicPr>
        <p:blipFill>
          <a:blip r:embed="rId11"/>
          <a:stretch>
            <a:fillRect/>
          </a:stretch>
        </p:blipFill>
        <p:spPr>
          <a:xfrm>
            <a:off x="10156190" y="7868285"/>
            <a:ext cx="2857500" cy="1600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  <p:bldP spid="16" grpId="0"/>
      <p:bldP spid="16" grpId="1"/>
      <p:bldP spid="28" grpId="0"/>
      <p:bldP spid="28" grpId="1"/>
      <p:bldP spid="29" grpId="0"/>
      <p:bldP spid="29" grpId="1"/>
      <p:bldP spid="33" grpId="0"/>
      <p:bldP spid="33" grpId="1"/>
      <p:bldP spid="41" grpId="0"/>
      <p:bldP spid="41" grpId="1"/>
      <p:bldP spid="37" grpId="0"/>
      <p:bldP spid="37" grpId="1"/>
      <p:bldP spid="45" grpId="0"/>
      <p:bldP spid="45" grpId="1"/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479415" y="2536190"/>
            <a:ext cx="10313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Source Data (not directly related to the task) </a:t>
            </a:r>
            <a:endParaRPr lang="zh-TW" altLang="en-US" sz="3600" dirty="0"/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992590" y="4787499"/>
            <a:ext cx="409878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Model Fine-tuning 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045428" y="6196880"/>
            <a:ext cx="6646984" cy="1198880"/>
          </a:xfrm>
          <a:prstGeom prst="rect">
            <a:avLst/>
          </a:prstGeom>
          <a:gradFill>
            <a:gsLst>
              <a:gs pos="0">
                <a:schemeClr val="accent2">
                  <a:shade val="100000"/>
                  <a:satMod val="120000"/>
                </a:schemeClr>
              </a:gs>
              <a:gs pos="69000">
                <a:schemeClr val="accent2">
                  <a:tint val="80000"/>
                  <a:shade val="100000"/>
                  <a:satMod val="150000"/>
                </a:schemeClr>
              </a:gs>
              <a:gs pos="100000">
                <a:schemeClr val="accent2">
                  <a:tint val="50000"/>
                  <a:shade val="100000"/>
                  <a:satMod val="150000"/>
                </a:schemeClr>
              </a:gs>
              <a:gs pos="0">
                <a:srgbClr val="FECF40"/>
              </a:gs>
              <a:gs pos="100000">
                <a:srgbClr val="846C21"/>
              </a:gs>
            </a:gsLst>
            <a:lin scaled="0"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Warning: different terminology in different literature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8" grpId="0" bldLvl="0" animBg="1"/>
      <p:bldP spid="8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 Fine-tuning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228975" y="2738436"/>
                <a:ext cx="11830050" cy="7262813"/>
              </a:xfrm>
            </p:spPr>
            <p:txBody>
              <a:bodyPr>
                <a:normAutofit fontScale="90000" lnSpcReduction="20000"/>
              </a:bodyPr>
              <a:lstStyle/>
              <a:p>
                <a:r>
                  <a:rPr lang="en-US" altLang="zh-TW" dirty="0"/>
                  <a:t>Task description</a:t>
                </a:r>
              </a:p>
              <a:p>
                <a:pPr lvl="1"/>
                <a:r>
                  <a:rPr lang="en-US" altLang="zh-TW" dirty="0"/>
                  <a:t>Source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Target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Example: (supervised) speaker adaption</a:t>
                </a:r>
              </a:p>
              <a:p>
                <a:pPr lvl="1"/>
                <a:r>
                  <a:rPr lang="en-US" altLang="zh-TW" dirty="0"/>
                  <a:t>Source data: audio data and transcriptions from many speakers</a:t>
                </a:r>
              </a:p>
              <a:p>
                <a:pPr lvl="1"/>
                <a:r>
                  <a:rPr lang="en-US" altLang="zh-TW" dirty="0"/>
                  <a:t>Target data: audio data and its transcriptions of specific user</a:t>
                </a:r>
                <a:endParaRPr lang="zh-TW" altLang="en-US" dirty="0"/>
              </a:p>
              <a:p>
                <a:r>
                  <a:rPr lang="en-US" altLang="zh-TW" dirty="0"/>
                  <a:t>Idea: training a model by source data, then fine-tune the model by target data</a:t>
                </a:r>
              </a:p>
              <a:p>
                <a:pPr lvl="1"/>
                <a:r>
                  <a:rPr lang="en-US" altLang="zh-TW" dirty="0"/>
                  <a:t>Challenge: only limited target data, so be careful about overfitting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28975" y="2738436"/>
                <a:ext cx="11830050" cy="7262813"/>
              </a:xfrm>
              <a:blipFill rotWithShape="1">
                <a:blip r:embed="rId2"/>
                <a:stretch>
                  <a:fillRect t="-363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號: 向右 3"/>
          <p:cNvSpPr/>
          <p:nvPr/>
        </p:nvSpPr>
        <p:spPr>
          <a:xfrm flipH="1">
            <a:off x="8453144" y="4050318"/>
            <a:ext cx="590844" cy="44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箭號: 向右 4"/>
          <p:cNvSpPr/>
          <p:nvPr/>
        </p:nvSpPr>
        <p:spPr>
          <a:xfrm flipH="1">
            <a:off x="8453144" y="3455357"/>
            <a:ext cx="590844" cy="44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文字方塊 5"/>
          <p:cNvSpPr txBox="1"/>
          <p:nvPr/>
        </p:nvSpPr>
        <p:spPr>
          <a:xfrm>
            <a:off x="9229725" y="3899967"/>
            <a:ext cx="23002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Very little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356725" y="3346450"/>
            <a:ext cx="5544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 large amount </a:t>
            </a:r>
            <a:endParaRPr lang="zh-TW" altLang="en-US" sz="3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356215" y="1593488"/>
            <a:ext cx="5886450" cy="175323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One-shot learning: only a few examples in target domain</a:t>
            </a:r>
            <a:endParaRPr lang="zh-TW" altLang="en-US" sz="3600" dirty="0"/>
          </a:p>
        </p:txBody>
      </p:sp>
      <p:sp>
        <p:nvSpPr>
          <p:cNvPr id="9" name="標題 1"/>
          <p:cNvSpPr>
            <a:spLocks noGrp="1"/>
          </p:cNvSpPr>
          <p:nvPr/>
        </p:nvSpPr>
        <p:spPr>
          <a:xfrm>
            <a:off x="1101725" y="13850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/>
              <a:t>Model Fine-tuning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ldLvl="0" animBg="1"/>
      <p:bldP spid="5" grpId="0" bldLvl="0" animBg="1"/>
      <p:bldP spid="6" grpId="0"/>
      <p:bldP spid="7" grpId="0"/>
      <p:bldP spid="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Conservative Training</a:t>
            </a:r>
            <a:endParaRPr lang="zh-TW" altLang="en-US" dirty="0"/>
          </a:p>
        </p:txBody>
      </p:sp>
      <p:sp>
        <p:nvSpPr>
          <p:cNvPr id="4" name="流程圖: 磁碟 3"/>
          <p:cNvSpPr/>
          <p:nvPr/>
        </p:nvSpPr>
        <p:spPr>
          <a:xfrm>
            <a:off x="4443239" y="7151196"/>
            <a:ext cx="3699000" cy="2699753"/>
          </a:xfrm>
          <a:prstGeom prst="flowChartMagneticDisk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Source data </a:t>
            </a:r>
          </a:p>
          <a:p>
            <a:pPr algn="ctr"/>
            <a:r>
              <a:rPr lang="en-US" altLang="zh-TW" sz="3200" dirty="0"/>
              <a:t>(e.g. Audio data of </a:t>
            </a:r>
          </a:p>
          <a:p>
            <a:pPr algn="ctr"/>
            <a:r>
              <a:rPr lang="en-US" altLang="zh-TW" sz="3200" dirty="0"/>
              <a:t>Many speakers)</a:t>
            </a:r>
          </a:p>
        </p:txBody>
      </p:sp>
      <p:sp>
        <p:nvSpPr>
          <p:cNvPr id="5" name="流程圖: 磁碟 4"/>
          <p:cNvSpPr/>
          <p:nvPr/>
        </p:nvSpPr>
        <p:spPr>
          <a:xfrm>
            <a:off x="10792361" y="7829201"/>
            <a:ext cx="1008090" cy="1075629"/>
          </a:xfrm>
          <a:prstGeom prst="flowChartMagneticDisk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11800451" y="7541966"/>
            <a:ext cx="3461321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Target data (e.g. A little data from target speaker)</a:t>
            </a:r>
          </a:p>
        </p:txBody>
      </p:sp>
      <p:sp>
        <p:nvSpPr>
          <p:cNvPr id="7" name="矩形 6"/>
          <p:cNvSpPr/>
          <p:nvPr/>
        </p:nvSpPr>
        <p:spPr>
          <a:xfrm>
            <a:off x="5327339" y="4017053"/>
            <a:ext cx="1977095" cy="20567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 rot="16200000">
            <a:off x="6135611" y="5740191"/>
            <a:ext cx="324000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 8"/>
          <p:cNvSpPr/>
          <p:nvPr/>
        </p:nvSpPr>
        <p:spPr>
          <a:xfrm>
            <a:off x="4611191" y="3282090"/>
            <a:ext cx="3240000" cy="324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2880402" y="6385005"/>
            <a:ext cx="2410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layer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48421" y="2558835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layer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6307944" y="6073820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6231191" y="3505859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向右箭號 14"/>
          <p:cNvSpPr/>
          <p:nvPr/>
        </p:nvSpPr>
        <p:spPr>
          <a:xfrm>
            <a:off x="8359701" y="4973865"/>
            <a:ext cx="2148116" cy="86469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8113961" y="5734487"/>
            <a:ext cx="27141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initialization</a:t>
            </a:r>
            <a:endParaRPr lang="zh-TW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11499086" y="4055447"/>
            <a:ext cx="1977095" cy="2056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矩形 17"/>
          <p:cNvSpPr/>
          <p:nvPr/>
        </p:nvSpPr>
        <p:spPr>
          <a:xfrm rot="16200000">
            <a:off x="12307358" y="5778585"/>
            <a:ext cx="324000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矩形 18"/>
          <p:cNvSpPr/>
          <p:nvPr/>
        </p:nvSpPr>
        <p:spPr>
          <a:xfrm>
            <a:off x="10782938" y="3320484"/>
            <a:ext cx="3240000" cy="324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9078534" y="6428126"/>
            <a:ext cx="2410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layer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20167" y="2597229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layer</a:t>
            </a:r>
            <a:endParaRPr lang="zh-TW" altLang="en-US" sz="3600" dirty="0"/>
          </a:p>
        </p:txBody>
      </p:sp>
      <p:cxnSp>
        <p:nvCxnSpPr>
          <p:cNvPr id="22" name="直線單箭頭接點 21"/>
          <p:cNvCxnSpPr/>
          <p:nvPr/>
        </p:nvCxnSpPr>
        <p:spPr>
          <a:xfrm flipV="1">
            <a:off x="12479691" y="6112214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12402938" y="3544253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-右雙向箭號 25"/>
          <p:cNvSpPr/>
          <p:nvPr/>
        </p:nvSpPr>
        <p:spPr>
          <a:xfrm>
            <a:off x="8069453" y="3194865"/>
            <a:ext cx="2510861" cy="3931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左-右雙向箭號 26"/>
          <p:cNvSpPr/>
          <p:nvPr/>
        </p:nvSpPr>
        <p:spPr>
          <a:xfrm>
            <a:off x="6336837" y="4420994"/>
            <a:ext cx="5885855" cy="38360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文字方塊 27"/>
          <p:cNvSpPr txBox="1"/>
          <p:nvPr/>
        </p:nvSpPr>
        <p:spPr>
          <a:xfrm>
            <a:off x="8001603" y="2476867"/>
            <a:ext cx="27648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close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721286" y="3818213"/>
            <a:ext cx="3679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parameter close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15" grpId="0" bldLvl="0" animBg="1"/>
      <p:bldP spid="16" grpId="0"/>
      <p:bldP spid="17" grpId="0" bldLvl="0" animBg="1"/>
      <p:bldP spid="18" grpId="0" bldLvl="0" animBg="1"/>
      <p:bldP spid="19" grpId="0" bldLvl="0" animBg="1"/>
      <p:bldP spid="20" grpId="0"/>
      <p:bldP spid="21" grpId="0"/>
      <p:bldP spid="26" grpId="0" bldLvl="0" animBg="1"/>
      <p:bldP spid="27" grpId="0" bldLvl="0" animBg="1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079877" y="2046936"/>
            <a:ext cx="4144310" cy="6378930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</a:t>
            </a:r>
          </a:p>
        </p:txBody>
      </p:sp>
      <p:sp>
        <p:nvSpPr>
          <p:cNvPr id="4" name="矩形 3"/>
          <p:cNvSpPr/>
          <p:nvPr/>
        </p:nvSpPr>
        <p:spPr>
          <a:xfrm rot="16200000">
            <a:off x="6015768" y="6202617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4521143" y="2745921"/>
            <a:ext cx="3240000" cy="346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4914791" y="3807686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4934808" y="4879737"/>
            <a:ext cx="2425328" cy="3097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4956930" y="5979443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4308945" y="7437224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layer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244682" y="2046936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layer</a:t>
            </a:r>
            <a:endParaRPr lang="zh-TW" altLang="en-US" sz="3600" dirty="0"/>
          </a:p>
        </p:txBody>
      </p:sp>
      <p:sp>
        <p:nvSpPr>
          <p:cNvPr id="13" name="向右箭號 12"/>
          <p:cNvSpPr/>
          <p:nvPr/>
        </p:nvSpPr>
        <p:spPr>
          <a:xfrm rot="16200000">
            <a:off x="5877854" y="4188854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向右箭號 13"/>
          <p:cNvSpPr/>
          <p:nvPr/>
        </p:nvSpPr>
        <p:spPr>
          <a:xfrm rot="16200000">
            <a:off x="5879957" y="5282123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右箭號 14"/>
          <p:cNvSpPr/>
          <p:nvPr/>
        </p:nvSpPr>
        <p:spPr>
          <a:xfrm rot="16200000">
            <a:off x="5877855" y="636704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右箭號 17"/>
          <p:cNvSpPr/>
          <p:nvPr/>
        </p:nvSpPr>
        <p:spPr>
          <a:xfrm rot="16200000">
            <a:off x="5857833" y="3140075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文字方塊 41"/>
          <p:cNvSpPr txBox="1"/>
          <p:nvPr/>
        </p:nvSpPr>
        <p:spPr>
          <a:xfrm>
            <a:off x="10369082" y="1894708"/>
            <a:ext cx="53547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Copy some parameters</a:t>
            </a:r>
            <a:endParaRPr lang="zh-TW" altLang="en-US" sz="4200" dirty="0"/>
          </a:p>
        </p:txBody>
      </p:sp>
      <p:cxnSp>
        <p:nvCxnSpPr>
          <p:cNvPr id="45" name="直線單箭頭接點 44"/>
          <p:cNvCxnSpPr/>
          <p:nvPr/>
        </p:nvCxnSpPr>
        <p:spPr>
          <a:xfrm flipH="1">
            <a:off x="10979834" y="5591015"/>
            <a:ext cx="203344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流程圖: 磁碟 43"/>
          <p:cNvSpPr/>
          <p:nvPr/>
        </p:nvSpPr>
        <p:spPr>
          <a:xfrm>
            <a:off x="13187388" y="5142318"/>
            <a:ext cx="1008090" cy="1075629"/>
          </a:xfrm>
          <a:prstGeom prst="flowChartMagneticDisk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sp>
        <p:nvSpPr>
          <p:cNvPr id="46" name="矩形 45"/>
          <p:cNvSpPr/>
          <p:nvPr/>
        </p:nvSpPr>
        <p:spPr>
          <a:xfrm>
            <a:off x="12369164" y="6252462"/>
            <a:ext cx="302878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/>
              <a:t>Target </a:t>
            </a:r>
            <a:r>
              <a:rPr lang="en-US" altLang="zh-TW" sz="3600" dirty="0"/>
              <a:t>data</a:t>
            </a:r>
            <a:endParaRPr lang="zh-TW" altLang="en-US" sz="3600" dirty="0"/>
          </a:p>
        </p:txBody>
      </p:sp>
      <p:sp>
        <p:nvSpPr>
          <p:cNvPr id="43" name="流程圖: 磁碟 42"/>
          <p:cNvSpPr/>
          <p:nvPr/>
        </p:nvSpPr>
        <p:spPr>
          <a:xfrm>
            <a:off x="2460906" y="7132790"/>
            <a:ext cx="2443880" cy="2023250"/>
          </a:xfrm>
          <a:prstGeom prst="flowChartMagneticDisk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Source data </a:t>
            </a:r>
          </a:p>
        </p:txBody>
      </p:sp>
      <p:sp>
        <p:nvSpPr>
          <p:cNvPr id="47" name="矩形 46"/>
          <p:cNvSpPr/>
          <p:nvPr/>
        </p:nvSpPr>
        <p:spPr>
          <a:xfrm rot="16200000">
            <a:off x="10313243" y="6202617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8" name="矩形 47"/>
          <p:cNvSpPr/>
          <p:nvPr/>
        </p:nvSpPr>
        <p:spPr>
          <a:xfrm>
            <a:off x="8818617" y="2745921"/>
            <a:ext cx="3240000" cy="346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9212265" y="3807686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矩形 49"/>
          <p:cNvSpPr/>
          <p:nvPr/>
        </p:nvSpPr>
        <p:spPr>
          <a:xfrm>
            <a:off x="9232283" y="4879737"/>
            <a:ext cx="2425328" cy="3097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1" name="矩形 50"/>
          <p:cNvSpPr/>
          <p:nvPr/>
        </p:nvSpPr>
        <p:spPr>
          <a:xfrm>
            <a:off x="9254405" y="5979443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向右箭號 12"/>
          <p:cNvSpPr/>
          <p:nvPr/>
        </p:nvSpPr>
        <p:spPr>
          <a:xfrm rot="16200000">
            <a:off x="10175328" y="4188854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向右箭號 13"/>
          <p:cNvSpPr/>
          <p:nvPr/>
        </p:nvSpPr>
        <p:spPr>
          <a:xfrm rot="16200000">
            <a:off x="10177431" y="5282123"/>
            <a:ext cx="539238" cy="61943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7" name="向右箭號 14"/>
          <p:cNvSpPr/>
          <p:nvPr/>
        </p:nvSpPr>
        <p:spPr>
          <a:xfrm rot="16200000">
            <a:off x="10175330" y="636704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8" name="向右箭號 17"/>
          <p:cNvSpPr/>
          <p:nvPr/>
        </p:nvSpPr>
        <p:spPr>
          <a:xfrm rot="16200000">
            <a:off x="10155308" y="3140075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6610899" y="3449790"/>
            <a:ext cx="33136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6589892" y="4542111"/>
            <a:ext cx="33136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589892" y="6698532"/>
            <a:ext cx="33136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8419772" y="7477011"/>
            <a:ext cx="758222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1. Only train the rest layers (prevent overfitting)</a:t>
            </a:r>
          </a:p>
        </p:txBody>
      </p:sp>
      <p:sp>
        <p:nvSpPr>
          <p:cNvPr id="63" name="文字方塊 62"/>
          <p:cNvSpPr txBox="1"/>
          <p:nvPr/>
        </p:nvSpPr>
        <p:spPr>
          <a:xfrm>
            <a:off x="8377260" y="8762378"/>
            <a:ext cx="7135413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2. fine-tune the whole network (if there is sufficient data)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 bldLvl="0" animBg="1"/>
      <p:bldP spid="46" grpId="0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Which layer can be transferred (copied)?</a:t>
            </a:r>
          </a:p>
          <a:p>
            <a:pPr lvl="1"/>
            <a:r>
              <a:rPr lang="en-US" altLang="zh-TW" sz="4200" dirty="0"/>
              <a:t>Speech: usually copy the last few layers</a:t>
            </a:r>
          </a:p>
          <a:p>
            <a:pPr lvl="1"/>
            <a:r>
              <a:rPr lang="en-US" altLang="zh-TW" sz="4200" dirty="0"/>
              <a:t>Image: usually copy the first few layers</a:t>
            </a:r>
            <a:endParaRPr lang="zh-TW" altLang="en-US" sz="4200" dirty="0"/>
          </a:p>
          <a:p>
            <a:pPr lvl="1"/>
            <a:endParaRPr lang="zh-TW" altLang="en-US" sz="4200" dirty="0"/>
          </a:p>
        </p:txBody>
      </p:sp>
      <p:grpSp>
        <p:nvGrpSpPr>
          <p:cNvPr id="100" name="群組 99"/>
          <p:cNvGrpSpPr/>
          <p:nvPr/>
        </p:nvGrpSpPr>
        <p:grpSpPr>
          <a:xfrm>
            <a:off x="4656422" y="5199183"/>
            <a:ext cx="11259422" cy="4106775"/>
            <a:chOff x="1738315" y="2789954"/>
            <a:chExt cx="7506281" cy="2737850"/>
          </a:xfrm>
        </p:grpSpPr>
        <p:grpSp>
          <p:nvGrpSpPr>
            <p:cNvPr id="21" name="群組 20"/>
            <p:cNvGrpSpPr/>
            <p:nvPr/>
          </p:nvGrpSpPr>
          <p:grpSpPr>
            <a:xfrm>
              <a:off x="2200488" y="2789954"/>
              <a:ext cx="7044108" cy="2737850"/>
              <a:chOff x="2588425" y="2840376"/>
              <a:chExt cx="7044108" cy="2737850"/>
            </a:xfrm>
          </p:grpSpPr>
          <p:sp>
            <p:nvSpPr>
              <p:cNvPr id="22" name="文字方塊 21"/>
              <p:cNvSpPr txBox="1"/>
              <p:nvPr/>
            </p:nvSpPr>
            <p:spPr>
              <a:xfrm>
                <a:off x="3742311" y="2840447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Layer 1</a:t>
                </a:r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4877179" y="2842906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Layer 2</a:t>
                </a:r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6852222" y="2842972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Layer L</a:t>
                </a: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994986" y="3340430"/>
                <a:ext cx="629298" cy="22190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5129092" y="3359141"/>
                <a:ext cx="629298" cy="22190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7104351" y="3354936"/>
                <a:ext cx="629298" cy="22190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2957483" y="3382571"/>
                <a:ext cx="420703" cy="21769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29" name="直線單箭頭接點 28"/>
              <p:cNvCxnSpPr/>
              <p:nvPr/>
            </p:nvCxnSpPr>
            <p:spPr>
              <a:xfrm>
                <a:off x="7431641" y="4273249"/>
                <a:ext cx="85885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/>
              <p:cNvCxnSpPr/>
              <p:nvPr/>
            </p:nvCxnSpPr>
            <p:spPr>
              <a:xfrm>
                <a:off x="7523814" y="5306460"/>
                <a:ext cx="76370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/>
              <p:nvPr/>
            </p:nvCxnSpPr>
            <p:spPr>
              <a:xfrm>
                <a:off x="7411503" y="3627392"/>
                <a:ext cx="88564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 31"/>
              <p:cNvSpPr/>
              <p:nvPr/>
            </p:nvSpPr>
            <p:spPr>
              <a:xfrm>
                <a:off x="3017562" y="4007396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022467" y="3534424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graphicFrame>
            <p:nvGraphicFramePr>
              <p:cNvPr id="34" name="Object 12"/>
              <p:cNvGraphicFramePr>
                <a:graphicFrameLocks noChangeAspect="1"/>
              </p:cNvGraphicFramePr>
              <p:nvPr/>
            </p:nvGraphicFramePr>
            <p:xfrm>
              <a:off x="3033175" y="3455434"/>
              <a:ext cx="274401" cy="383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3" imgW="3657600" imgH="5181600" progId="Equation.3">
                      <p:embed/>
                    </p:oleObj>
                  </mc:Choice>
                  <mc:Fallback>
                    <p:oleObj name="方程式" r:id="rId3" imgW="36576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3175" y="3455434"/>
                            <a:ext cx="274401" cy="383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12"/>
              <p:cNvGraphicFramePr>
                <a:graphicFrameLocks noChangeAspect="1"/>
              </p:cNvGraphicFramePr>
              <p:nvPr/>
            </p:nvGraphicFramePr>
            <p:xfrm>
              <a:off x="3037640" y="3938688"/>
              <a:ext cx="297156" cy="383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962400" imgH="5181600" progId="Equation.3">
                      <p:embed/>
                    </p:oleObj>
                  </mc:Choice>
                  <mc:Fallback>
                    <p:oleObj name="方程式" r:id="rId5" imgW="39624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7640" y="3938688"/>
                            <a:ext cx="297156" cy="3831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橢圓 35"/>
              <p:cNvSpPr/>
              <p:nvPr/>
            </p:nvSpPr>
            <p:spPr>
              <a:xfrm>
                <a:off x="4094415" y="339841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7" name="橢圓 36"/>
              <p:cNvSpPr/>
              <p:nvPr/>
            </p:nvSpPr>
            <p:spPr>
              <a:xfrm>
                <a:off x="4096390" y="4044082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8" name="橢圓 37"/>
              <p:cNvSpPr/>
              <p:nvPr/>
            </p:nvSpPr>
            <p:spPr>
              <a:xfrm>
                <a:off x="4086581" y="506246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 rot="5400000">
                <a:off x="3925896" y="4538719"/>
                <a:ext cx="993736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3011470" y="5190728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 rot="5400000">
                <a:off x="2741626" y="4541508"/>
                <a:ext cx="1061391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5203665" y="339841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3" name="橢圓 42"/>
              <p:cNvSpPr/>
              <p:nvPr/>
            </p:nvSpPr>
            <p:spPr>
              <a:xfrm>
                <a:off x="5205640" y="4044082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5195831" y="506246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5" name="文字方塊 44"/>
              <p:cNvSpPr txBox="1"/>
              <p:nvPr/>
            </p:nvSpPr>
            <p:spPr>
              <a:xfrm rot="5400000">
                <a:off x="5078862" y="4531204"/>
                <a:ext cx="927498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46" name="橢圓 45"/>
              <p:cNvSpPr/>
              <p:nvPr/>
            </p:nvSpPr>
            <p:spPr>
              <a:xfrm>
                <a:off x="7169445" y="339707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7171420" y="402726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8" name="橢圓 47"/>
              <p:cNvSpPr/>
              <p:nvPr/>
            </p:nvSpPr>
            <p:spPr>
              <a:xfrm>
                <a:off x="7177345" y="506112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9" name="文字方塊 48"/>
              <p:cNvSpPr txBox="1"/>
              <p:nvPr/>
            </p:nvSpPr>
            <p:spPr>
              <a:xfrm rot="5400000">
                <a:off x="7076005" y="4512423"/>
                <a:ext cx="895618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50" name="文字方塊 49"/>
              <p:cNvSpPr txBox="1"/>
              <p:nvPr/>
            </p:nvSpPr>
            <p:spPr>
              <a:xfrm>
                <a:off x="8160011" y="3283441"/>
                <a:ext cx="999205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51" name="文字方塊 50"/>
              <p:cNvSpPr txBox="1"/>
              <p:nvPr/>
            </p:nvSpPr>
            <p:spPr>
              <a:xfrm>
                <a:off x="8160011" y="4035522"/>
                <a:ext cx="1472522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Lion</a:t>
                </a:r>
              </a:p>
            </p:txBody>
          </p:sp>
          <p:sp>
            <p:nvSpPr>
              <p:cNvPr id="52" name="文字方塊 51"/>
              <p:cNvSpPr txBox="1"/>
              <p:nvPr/>
            </p:nvSpPr>
            <p:spPr>
              <a:xfrm>
                <a:off x="8197061" y="4960232"/>
                <a:ext cx="925102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cxnSp>
            <p:nvCxnSpPr>
              <p:cNvPr id="53" name="直線單箭頭接點 52"/>
              <p:cNvCxnSpPr>
                <a:stCxn id="36" idx="6"/>
                <a:endCxn id="42" idx="2"/>
              </p:cNvCxnSpPr>
              <p:nvPr/>
            </p:nvCxnSpPr>
            <p:spPr>
              <a:xfrm>
                <a:off x="4578532" y="3636491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53"/>
              <p:cNvCxnSpPr/>
              <p:nvPr/>
            </p:nvCxnSpPr>
            <p:spPr>
              <a:xfrm>
                <a:off x="4578532" y="4293087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單箭頭接點 54"/>
              <p:cNvCxnSpPr/>
              <p:nvPr/>
            </p:nvCxnSpPr>
            <p:spPr>
              <a:xfrm>
                <a:off x="4570698" y="5306460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55"/>
              <p:cNvCxnSpPr>
                <a:stCxn id="37" idx="6"/>
                <a:endCxn id="42" idx="2"/>
              </p:cNvCxnSpPr>
              <p:nvPr/>
            </p:nvCxnSpPr>
            <p:spPr>
              <a:xfrm flipV="1">
                <a:off x="4580506" y="3636491"/>
                <a:ext cx="62315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56"/>
              <p:cNvCxnSpPr>
                <a:stCxn id="36" idx="6"/>
                <a:endCxn id="43" idx="2"/>
              </p:cNvCxnSpPr>
              <p:nvPr/>
            </p:nvCxnSpPr>
            <p:spPr>
              <a:xfrm>
                <a:off x="4578532" y="3636491"/>
                <a:ext cx="62710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單箭頭接點 57"/>
              <p:cNvCxnSpPr>
                <a:stCxn id="36" idx="6"/>
                <a:endCxn id="44" idx="2"/>
              </p:cNvCxnSpPr>
              <p:nvPr/>
            </p:nvCxnSpPr>
            <p:spPr>
              <a:xfrm>
                <a:off x="4578532" y="3636491"/>
                <a:ext cx="617300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單箭頭接點 58"/>
              <p:cNvCxnSpPr>
                <a:stCxn id="37" idx="6"/>
                <a:endCxn id="44" idx="2"/>
              </p:cNvCxnSpPr>
              <p:nvPr/>
            </p:nvCxnSpPr>
            <p:spPr>
              <a:xfrm>
                <a:off x="4580506" y="4282155"/>
                <a:ext cx="615325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單箭頭接點 59"/>
              <p:cNvCxnSpPr>
                <a:stCxn id="38" idx="6"/>
                <a:endCxn id="42" idx="2"/>
              </p:cNvCxnSpPr>
              <p:nvPr/>
            </p:nvCxnSpPr>
            <p:spPr>
              <a:xfrm flipV="1">
                <a:off x="4570698" y="3636491"/>
                <a:ext cx="632968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單箭頭接點 60"/>
              <p:cNvCxnSpPr>
                <a:stCxn id="38" idx="6"/>
                <a:endCxn id="43" idx="2"/>
              </p:cNvCxnSpPr>
              <p:nvPr/>
            </p:nvCxnSpPr>
            <p:spPr>
              <a:xfrm flipV="1">
                <a:off x="4570698" y="4282155"/>
                <a:ext cx="634943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單箭頭接點 61"/>
              <p:cNvCxnSpPr>
                <a:endCxn id="36" idx="2"/>
              </p:cNvCxnSpPr>
              <p:nvPr/>
            </p:nvCxnSpPr>
            <p:spPr>
              <a:xfrm flipV="1">
                <a:off x="3369790" y="3636491"/>
                <a:ext cx="724625" cy="2487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單箭頭接點 62"/>
              <p:cNvCxnSpPr>
                <a:stCxn id="33" idx="3"/>
                <a:endCxn id="37" idx="2"/>
              </p:cNvCxnSpPr>
              <p:nvPr/>
            </p:nvCxnSpPr>
            <p:spPr>
              <a:xfrm>
                <a:off x="3311592" y="3676607"/>
                <a:ext cx="784798" cy="60554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單箭頭接點 63"/>
              <p:cNvCxnSpPr>
                <a:stCxn id="33" idx="3"/>
                <a:endCxn id="38" idx="1"/>
              </p:cNvCxnSpPr>
              <p:nvPr/>
            </p:nvCxnSpPr>
            <p:spPr>
              <a:xfrm>
                <a:off x="3311592" y="3676607"/>
                <a:ext cx="845886" cy="145558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單箭頭接點 64"/>
              <p:cNvCxnSpPr>
                <a:stCxn id="35" idx="3"/>
                <a:endCxn id="36" idx="2"/>
              </p:cNvCxnSpPr>
              <p:nvPr/>
            </p:nvCxnSpPr>
            <p:spPr>
              <a:xfrm flipV="1">
                <a:off x="3334797" y="3636491"/>
                <a:ext cx="759619" cy="4937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單箭頭接點 65"/>
              <p:cNvCxnSpPr>
                <a:stCxn id="32" idx="3"/>
                <a:endCxn id="37" idx="2"/>
              </p:cNvCxnSpPr>
              <p:nvPr/>
            </p:nvCxnSpPr>
            <p:spPr>
              <a:xfrm>
                <a:off x="3306687" y="4149578"/>
                <a:ext cx="789703" cy="1325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單箭頭接點 66"/>
              <p:cNvCxnSpPr>
                <a:stCxn id="32" idx="3"/>
                <a:endCxn id="38" idx="1"/>
              </p:cNvCxnSpPr>
              <p:nvPr/>
            </p:nvCxnSpPr>
            <p:spPr>
              <a:xfrm>
                <a:off x="3306687" y="4149578"/>
                <a:ext cx="850791" cy="9826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>
                <a:stCxn id="71" idx="3"/>
                <a:endCxn id="36" idx="2"/>
              </p:cNvCxnSpPr>
              <p:nvPr/>
            </p:nvCxnSpPr>
            <p:spPr>
              <a:xfrm flipV="1">
                <a:off x="3363189" y="3636491"/>
                <a:ext cx="731227" cy="167573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>
                <a:stCxn id="71" idx="3"/>
                <a:endCxn id="37" idx="2"/>
              </p:cNvCxnSpPr>
              <p:nvPr/>
            </p:nvCxnSpPr>
            <p:spPr>
              <a:xfrm flipV="1">
                <a:off x="3363189" y="4282155"/>
                <a:ext cx="733201" cy="10300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/>
              <p:cNvCxnSpPr>
                <a:stCxn id="71" idx="3"/>
                <a:endCxn id="38" idx="1"/>
              </p:cNvCxnSpPr>
              <p:nvPr/>
            </p:nvCxnSpPr>
            <p:spPr>
              <a:xfrm flipV="1">
                <a:off x="3363189" y="5132196"/>
                <a:ext cx="794289" cy="18002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1" name="Object 12"/>
              <p:cNvGraphicFramePr>
                <a:graphicFrameLocks noChangeAspect="1"/>
              </p:cNvGraphicFramePr>
              <p:nvPr/>
            </p:nvGraphicFramePr>
            <p:xfrm>
              <a:off x="3020522" y="5109482"/>
              <a:ext cx="342667" cy="4054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4572000" imgH="5486400" progId="Equation.3">
                      <p:embed/>
                    </p:oleObj>
                  </mc:Choice>
                  <mc:Fallback>
                    <p:oleObj name="方程式" r:id="rId7" imgW="4572000" imgH="54864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0522" y="5109482"/>
                            <a:ext cx="342667" cy="4054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2" name="直線單箭頭接點 71"/>
              <p:cNvCxnSpPr/>
              <p:nvPr/>
            </p:nvCxnSpPr>
            <p:spPr>
              <a:xfrm>
                <a:off x="6512640" y="3656983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單箭頭接點 72"/>
              <p:cNvCxnSpPr/>
              <p:nvPr/>
            </p:nvCxnSpPr>
            <p:spPr>
              <a:xfrm>
                <a:off x="6512640" y="4313580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單箭頭接點 73"/>
              <p:cNvCxnSpPr/>
              <p:nvPr/>
            </p:nvCxnSpPr>
            <p:spPr>
              <a:xfrm>
                <a:off x="6504806" y="5326953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單箭頭接點 74"/>
              <p:cNvCxnSpPr/>
              <p:nvPr/>
            </p:nvCxnSpPr>
            <p:spPr>
              <a:xfrm flipV="1">
                <a:off x="6514615" y="3656983"/>
                <a:ext cx="62315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75"/>
              <p:cNvCxnSpPr/>
              <p:nvPr/>
            </p:nvCxnSpPr>
            <p:spPr>
              <a:xfrm>
                <a:off x="6512640" y="3656983"/>
                <a:ext cx="62710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76"/>
              <p:cNvCxnSpPr/>
              <p:nvPr/>
            </p:nvCxnSpPr>
            <p:spPr>
              <a:xfrm>
                <a:off x="6512640" y="3656983"/>
                <a:ext cx="617300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單箭頭接點 77"/>
              <p:cNvCxnSpPr/>
              <p:nvPr/>
            </p:nvCxnSpPr>
            <p:spPr>
              <a:xfrm>
                <a:off x="6514615" y="4302648"/>
                <a:ext cx="615325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單箭頭接點 78"/>
              <p:cNvCxnSpPr/>
              <p:nvPr/>
            </p:nvCxnSpPr>
            <p:spPr>
              <a:xfrm flipV="1">
                <a:off x="6504806" y="3656983"/>
                <a:ext cx="632968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6504806" y="4302648"/>
                <a:ext cx="634943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字方塊 81"/>
              <p:cNvSpPr txBox="1"/>
              <p:nvPr/>
            </p:nvSpPr>
            <p:spPr>
              <a:xfrm>
                <a:off x="2588425" y="2840376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Pixels</a:t>
                </a:r>
              </a:p>
            </p:txBody>
          </p:sp>
        </p:grpSp>
        <p:sp>
          <p:nvSpPr>
            <p:cNvPr id="90" name="文字方塊 89"/>
            <p:cNvSpPr txBox="1"/>
            <p:nvPr/>
          </p:nvSpPr>
          <p:spPr>
            <a:xfrm>
              <a:off x="5267534" y="4901451"/>
              <a:ext cx="92510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5269305" y="3871516"/>
              <a:ext cx="92510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5242090" y="3260491"/>
              <a:ext cx="92510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1738315" y="4099324"/>
              <a:ext cx="831003" cy="466937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pic>
        <p:nvPicPr>
          <p:cNvPr id="94" name="圖片 9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3652" y="6012432"/>
            <a:ext cx="564213" cy="564213"/>
          </a:xfrm>
          <a:prstGeom prst="rect">
            <a:avLst/>
          </a:prstGeom>
        </p:spPr>
      </p:pic>
      <p:pic>
        <p:nvPicPr>
          <p:cNvPr id="95" name="圖片 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8664" y="7013632"/>
            <a:ext cx="595031" cy="545418"/>
          </a:xfrm>
          <a:prstGeom prst="rect">
            <a:avLst/>
          </a:prstGeom>
        </p:spPr>
      </p:pic>
      <p:pic>
        <p:nvPicPr>
          <p:cNvPr id="96" name="圖片 9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2897" y="8526207"/>
            <a:ext cx="565694" cy="577007"/>
          </a:xfrm>
          <a:prstGeom prst="rect">
            <a:avLst/>
          </a:prstGeom>
        </p:spPr>
      </p:pic>
      <p:pic>
        <p:nvPicPr>
          <p:cNvPr id="97" name="圖片 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6144" y="6038450"/>
            <a:ext cx="628650" cy="628650"/>
          </a:xfrm>
          <a:prstGeom prst="rect">
            <a:avLst/>
          </a:prstGeom>
        </p:spPr>
      </p:pic>
      <p:pic>
        <p:nvPicPr>
          <p:cNvPr id="98" name="圖片 9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6015" y="7019301"/>
            <a:ext cx="614363" cy="685800"/>
          </a:xfrm>
          <a:prstGeom prst="rect">
            <a:avLst/>
          </a:prstGeom>
        </p:spPr>
      </p:pic>
      <p:pic>
        <p:nvPicPr>
          <p:cNvPr id="99" name="圖片 9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6288" y="8525957"/>
            <a:ext cx="671513" cy="614363"/>
          </a:xfrm>
          <a:prstGeom prst="rect">
            <a:avLst/>
          </a:prstGeom>
        </p:spPr>
      </p:pic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15"/>
          <a:stretch>
            <a:fillRect/>
          </a:stretch>
        </p:blipFill>
        <p:spPr>
          <a:xfrm>
            <a:off x="2004695" y="6534785"/>
            <a:ext cx="2997835" cy="1903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 - Image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26" y="2259465"/>
            <a:ext cx="12773025" cy="68449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73284" y="9104454"/>
            <a:ext cx="10693855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Lucida Grande"/>
              </a:rPr>
              <a:t>Jason </a:t>
            </a:r>
            <a:r>
              <a:rPr lang="en-US" altLang="zh-TW" sz="100" dirty="0" err="1">
                <a:latin typeface="Lucida Grande"/>
              </a:rPr>
              <a:t>Yosinski</a:t>
            </a:r>
            <a:r>
              <a:rPr lang="en-US" altLang="zh-TW" sz="100" dirty="0">
                <a:latin typeface="Lucida Grande"/>
              </a:rPr>
              <a:t>, Jeff </a:t>
            </a:r>
            <a:r>
              <a:rPr lang="en-US" altLang="zh-TW" sz="100" dirty="0" err="1">
                <a:latin typeface="Lucida Grande"/>
              </a:rPr>
              <a:t>Clune</a:t>
            </a:r>
            <a:r>
              <a:rPr lang="en-US" altLang="zh-TW" sz="100" dirty="0">
                <a:latin typeface="Lucida Grande"/>
              </a:rPr>
              <a:t>, Yoshua </a:t>
            </a:r>
            <a:r>
              <a:rPr lang="en-US" altLang="zh-TW" sz="100" dirty="0" err="1">
                <a:latin typeface="Lucida Grande"/>
              </a:rPr>
              <a:t>Bengio</a:t>
            </a:r>
            <a:r>
              <a:rPr lang="en-US" altLang="zh-TW" sz="100" dirty="0"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Hod</a:t>
            </a:r>
            <a:r>
              <a:rPr lang="en-US" altLang="zh-TW" sz="100" dirty="0">
                <a:latin typeface="Lucida Grande"/>
              </a:rPr>
              <a:t> Lipson, “</a:t>
            </a:r>
            <a:r>
              <a:rPr lang="en-US" altLang="zh-TW" sz="100" dirty="0"/>
              <a:t>How transferable are features in deep neural networks?</a:t>
            </a:r>
            <a:r>
              <a:rPr lang="en-US" altLang="zh-TW" sz="100" dirty="0">
                <a:latin typeface="Lucida Grande"/>
              </a:rPr>
              <a:t>”, NIPS, 2014</a:t>
            </a:r>
            <a:endParaRPr lang="zh-TW" altLang="en-US" sz="1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713741" y="6644982"/>
            <a:ext cx="3123027" cy="11988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Only train the rest layers</a:t>
            </a:r>
            <a:endParaRPr lang="zh-TW" altLang="en-US" sz="3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783509" y="4372875"/>
            <a:ext cx="3515591" cy="11988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fine-tune the whole network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73284" y="5865134"/>
            <a:ext cx="476894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Source: 500 classes from ImageNet 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3955062" y="7015716"/>
            <a:ext cx="476894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Target: another 500 classes from ImageNet 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12836768" y="6644982"/>
            <a:ext cx="844064" cy="4666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6713804" y="3283664"/>
            <a:ext cx="742074" cy="1076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763109" y="8262212"/>
            <a:ext cx="11479236" cy="8422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3867777" y="3581019"/>
            <a:ext cx="401768" cy="4915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/>
      <p:bldP spid="10" grpId="0"/>
      <p:bldP spid="15" grpId="0" bldLvl="0" animBg="1"/>
      <p:bldP spid="1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 - Image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517" y="2536034"/>
            <a:ext cx="13467483" cy="638778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73284" y="9104454"/>
            <a:ext cx="10693855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Lucida Grande"/>
              </a:rPr>
              <a:t>Jason </a:t>
            </a:r>
            <a:r>
              <a:rPr lang="en-US" altLang="zh-TW" sz="100" dirty="0" err="1">
                <a:latin typeface="Lucida Grande"/>
              </a:rPr>
              <a:t>Yosinski</a:t>
            </a:r>
            <a:r>
              <a:rPr lang="en-US" altLang="zh-TW" sz="100" dirty="0">
                <a:latin typeface="Lucida Grande"/>
              </a:rPr>
              <a:t>, Jeff </a:t>
            </a:r>
            <a:r>
              <a:rPr lang="en-US" altLang="zh-TW" sz="100" dirty="0" err="1">
                <a:latin typeface="Lucida Grande"/>
              </a:rPr>
              <a:t>Clune</a:t>
            </a:r>
            <a:r>
              <a:rPr lang="en-US" altLang="zh-TW" sz="100" dirty="0">
                <a:latin typeface="Lucida Grande"/>
              </a:rPr>
              <a:t>, Yoshua </a:t>
            </a:r>
            <a:r>
              <a:rPr lang="en-US" altLang="zh-TW" sz="100" dirty="0" err="1">
                <a:latin typeface="Lucida Grande"/>
              </a:rPr>
              <a:t>Bengio</a:t>
            </a:r>
            <a:r>
              <a:rPr lang="en-US" altLang="zh-TW" sz="100" dirty="0"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Hod</a:t>
            </a:r>
            <a:r>
              <a:rPr lang="en-US" altLang="zh-TW" sz="100" dirty="0">
                <a:latin typeface="Lucida Grande"/>
              </a:rPr>
              <a:t> Lipson, “</a:t>
            </a:r>
            <a:r>
              <a:rPr lang="en-US" altLang="zh-TW" sz="100" dirty="0"/>
              <a:t>How transferable are features in deep neural networks?</a:t>
            </a:r>
            <a:r>
              <a:rPr lang="en-US" altLang="zh-TW" sz="100" dirty="0">
                <a:latin typeface="Lucida Grande"/>
              </a:rPr>
              <a:t>”, NIPS, 2014</a:t>
            </a:r>
            <a:endParaRPr lang="zh-TW" altLang="en-US" sz="1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2407486" y="2003103"/>
            <a:ext cx="3123027" cy="11988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Only train the rest layers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92CA6201-2BBE-4922-85B5-4AA1861DA722}"/>
</file>

<file path=customXml/itemProps2.xml><?xml version="1.0" encoding="utf-8"?>
<ds:datastoreItem xmlns:ds="http://schemas.openxmlformats.org/officeDocument/2006/customXml" ds:itemID="{3588E169-2494-4F9B-B797-9355E46F71B6}"/>
</file>

<file path=customXml/itemProps3.xml><?xml version="1.0" encoding="utf-8"?>
<ds:datastoreItem xmlns:ds="http://schemas.openxmlformats.org/officeDocument/2006/customXml" ds:itemID="{E2F98AF1-258B-400D-9F5F-2BB7ADEE69DE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413</Words>
  <Application>Microsoft Macintosh PowerPoint</Application>
  <PresentationFormat>Custom</PresentationFormat>
  <Paragraphs>105</Paragraphs>
  <Slides>10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Lucida Grande</vt:lpstr>
      <vt:lpstr>Wingdings 2</vt:lpstr>
      <vt:lpstr>Breeze</vt:lpstr>
      <vt:lpstr>方程式</vt:lpstr>
      <vt:lpstr>Transfer Learning Introduction and Fine-tuning</vt:lpstr>
      <vt:lpstr>Transfer Learning</vt:lpstr>
      <vt:lpstr>Why?</vt:lpstr>
      <vt:lpstr>Transfer Learning - Overview</vt:lpstr>
      <vt:lpstr>Model Fine-tuning</vt:lpstr>
      <vt:lpstr>Conservative Training</vt:lpstr>
      <vt:lpstr>Layer Transfer</vt:lpstr>
      <vt:lpstr>Layer Transfer</vt:lpstr>
      <vt:lpstr>Layer Transfer - Image</vt:lpstr>
      <vt:lpstr>Layer Transfer - Image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39</cp:revision>
  <dcterms:created xsi:type="dcterms:W3CDTF">2019-02-13T16:04:00Z</dcterms:created>
  <dcterms:modified xsi:type="dcterms:W3CDTF">2024-04-02T17:51:50Z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119EDA08B5DA43C580E5C828C24DFABD</vt:lpwstr>
  </property>
  <property fmtid="{D5CDD505-2E9C-101B-9397-08002B2CF9AE}" pid="5" name="KSOProductBuildVer">
    <vt:lpwstr>1033-11.2.0.11225</vt:lpwstr>
  </property>
</Properties>
</file>