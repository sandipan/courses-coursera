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76" r:id="rId2"/>
    <p:sldId id="275" r:id="rId3"/>
    <p:sldId id="277" r:id="rId4"/>
    <p:sldId id="278" r:id="rId5"/>
    <p:sldId id="279" r:id="rId6"/>
    <p:sldId id="280" r:id="rId7"/>
    <p:sldId id="281" r:id="rId8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0">
          <p15:clr>
            <a:srgbClr val="A4A3A4"/>
          </p15:clr>
        </p15:guide>
        <p15:guide id="2" pos="572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3786"/>
  </p:normalViewPr>
  <p:slideViewPr>
    <p:cSldViewPr snapToGrid="0" snapToObjects="1">
      <p:cViewPr varScale="1">
        <p:scale>
          <a:sx n="75" d="100"/>
          <a:sy n="75" d="100"/>
        </p:scale>
        <p:origin x="624" y="160"/>
      </p:cViewPr>
      <p:guideLst>
        <p:guide orient="horz" pos="3110"/>
        <p:guide pos="57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ygong\Documents\My%20Documents\I-created\Results\2013%20result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'DNN multi-lingual'!$B$1</c:f>
              <c:strCache>
                <c:ptCount val="1"/>
                <c:pt idx="0">
                  <c:v>Baseline - CHN only</c:v>
                </c:pt>
              </c:strCache>
            </c:strRef>
          </c:tx>
          <c:xVal>
            <c:numRef>
              <c:f>'DNN multi-lingual'!$A$2:$A$5</c:f>
              <c:numCache>
                <c:formatCode>General</c:formatCode>
                <c:ptCount val="4"/>
                <c:pt idx="0">
                  <c:v>3</c:v>
                </c:pt>
                <c:pt idx="1">
                  <c:v>9</c:v>
                </c:pt>
                <c:pt idx="2">
                  <c:v>36</c:v>
                </c:pt>
                <c:pt idx="3">
                  <c:v>139</c:v>
                </c:pt>
              </c:numCache>
            </c:numRef>
          </c:xVal>
          <c:yVal>
            <c:numRef>
              <c:f>'DNN multi-lingual'!$B$2:$B$5</c:f>
              <c:numCache>
                <c:formatCode>General</c:formatCode>
                <c:ptCount val="4"/>
                <c:pt idx="0">
                  <c:v>45.1</c:v>
                </c:pt>
                <c:pt idx="1">
                  <c:v>40.299999999999997</c:v>
                </c:pt>
                <c:pt idx="2">
                  <c:v>31.7</c:v>
                </c:pt>
                <c:pt idx="3">
                  <c:v>29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2B4-904C-99AE-65C9809CF062}"/>
            </c:ext>
          </c:extLst>
        </c:ser>
        <c:ser>
          <c:idx val="1"/>
          <c:order val="1"/>
          <c:tx>
            <c:strRef>
              <c:f>'DNN multi-lingual'!$C$1</c:f>
              <c:strCache>
                <c:ptCount val="1"/>
                <c:pt idx="0">
                  <c:v>SHL-MDNN Model Transfer</c:v>
                </c:pt>
              </c:strCache>
            </c:strRef>
          </c:tx>
          <c:xVal>
            <c:numRef>
              <c:f>'DNN multi-lingual'!$A$2:$A$5</c:f>
              <c:numCache>
                <c:formatCode>General</c:formatCode>
                <c:ptCount val="4"/>
                <c:pt idx="0">
                  <c:v>3</c:v>
                </c:pt>
                <c:pt idx="1">
                  <c:v>9</c:v>
                </c:pt>
                <c:pt idx="2">
                  <c:v>36</c:v>
                </c:pt>
                <c:pt idx="3">
                  <c:v>139</c:v>
                </c:pt>
              </c:numCache>
            </c:numRef>
          </c:xVal>
          <c:yVal>
            <c:numRef>
              <c:f>'DNN multi-lingual'!$C$2:$C$5</c:f>
              <c:numCache>
                <c:formatCode>General</c:formatCode>
                <c:ptCount val="4"/>
                <c:pt idx="0">
                  <c:v>35.6</c:v>
                </c:pt>
                <c:pt idx="1">
                  <c:v>33.9</c:v>
                </c:pt>
                <c:pt idx="2">
                  <c:v>28.4</c:v>
                </c:pt>
                <c:pt idx="3">
                  <c:v>26.6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2B4-904C-99AE-65C9809CF0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7602688"/>
        <c:axId val="648876096"/>
      </c:scatterChart>
      <c:valAx>
        <c:axId val="137602688"/>
        <c:scaling>
          <c:logBase val="10"/>
          <c:orientation val="minMax"/>
        </c:scaling>
        <c:delete val="0"/>
        <c:axPos val="b"/>
        <c:majorGridlines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8876096"/>
        <c:crosses val="autoZero"/>
        <c:crossBetween val="midCat"/>
      </c:valAx>
      <c:valAx>
        <c:axId val="648876096"/>
        <c:scaling>
          <c:orientation val="minMax"/>
          <c:min val="25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602688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4/2/24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2BD70-4397-4067-AAF5-075DD707A23D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2BD70-4397-4067-AAF5-075DD707A23D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B813-8075-40D9-91A0-5550FC56F0A4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B813-8075-40D9-91A0-5550FC56F0A4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308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ym typeface="+mn-ea"/>
              </a:rPr>
              <a:t>Multitask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5" y="5325534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ym typeface="+mn-ea"/>
              </a:rPr>
              <a:t>Dr. Yan Yan</a:t>
            </a:r>
            <a:endParaRPr lang="en-US" altLang="zh-TW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Transfer Learning - Overview</a:t>
            </a:r>
            <a:endParaRPr lang="zh-TW" altLang="en-US" dirty="0"/>
          </a:p>
        </p:txBody>
      </p:sp>
      <p:cxnSp>
        <p:nvCxnSpPr>
          <p:cNvPr id="4" name="直線接點 3"/>
          <p:cNvCxnSpPr/>
          <p:nvPr/>
        </p:nvCxnSpPr>
        <p:spPr>
          <a:xfrm flipV="1">
            <a:off x="5798594" y="2536034"/>
            <a:ext cx="0" cy="72875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3512255" y="4248611"/>
            <a:ext cx="110973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 rot="16200000">
            <a:off x="1391531" y="6590891"/>
            <a:ext cx="4933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Target Data 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798594" y="2536033"/>
            <a:ext cx="89198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Source Data (not directly related to the task) </a:t>
            </a:r>
          </a:p>
        </p:txBody>
      </p:sp>
      <p:cxnSp>
        <p:nvCxnSpPr>
          <p:cNvPr id="12" name="直線接點 11"/>
          <p:cNvCxnSpPr/>
          <p:nvPr/>
        </p:nvCxnSpPr>
        <p:spPr>
          <a:xfrm>
            <a:off x="4550999" y="6855263"/>
            <a:ext cx="100586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5798594" y="3388163"/>
            <a:ext cx="87909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10368921" y="3388163"/>
            <a:ext cx="0" cy="64354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4550999" y="4224537"/>
            <a:ext cx="0" cy="55990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3512255" y="9823613"/>
            <a:ext cx="112061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6765056" y="3472139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labelled</a:t>
            </a:r>
            <a:endParaRPr lang="zh-TW" altLang="en-US" sz="3600" dirty="0"/>
          </a:p>
        </p:txBody>
      </p:sp>
      <p:sp>
        <p:nvSpPr>
          <p:cNvPr id="23" name="文字方塊 22"/>
          <p:cNvSpPr txBox="1"/>
          <p:nvPr/>
        </p:nvSpPr>
        <p:spPr>
          <a:xfrm rot="16200000">
            <a:off x="4012421" y="5193315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labelled</a:t>
            </a:r>
            <a:endParaRPr lang="zh-TW" altLang="en-US" sz="36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1221995" y="3490848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unlabeled</a:t>
            </a:r>
            <a:endParaRPr lang="zh-TW" altLang="en-US" sz="3600" dirty="0"/>
          </a:p>
        </p:txBody>
      </p:sp>
      <p:sp>
        <p:nvSpPr>
          <p:cNvPr id="25" name="文字方塊 24"/>
          <p:cNvSpPr txBox="1"/>
          <p:nvPr/>
        </p:nvSpPr>
        <p:spPr>
          <a:xfrm rot="16200000">
            <a:off x="3994275" y="7895489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unlabeled</a:t>
            </a:r>
            <a:endParaRPr lang="zh-TW" altLang="en-US" sz="36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5992590" y="5634785"/>
            <a:ext cx="386967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Multitask Learning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992590" y="4787499"/>
            <a:ext cx="386967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Fine-tuning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Multitask Learning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multi-layer structure makes NN suitable for multitask learning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 rot="16200000">
            <a:off x="4995980" y="7578675"/>
            <a:ext cx="307649" cy="20136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矩形 4"/>
          <p:cNvSpPr/>
          <p:nvPr/>
        </p:nvSpPr>
        <p:spPr>
          <a:xfrm>
            <a:off x="3048959" y="4306491"/>
            <a:ext cx="1620000" cy="33059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矩形 5"/>
          <p:cNvSpPr/>
          <p:nvPr/>
        </p:nvSpPr>
        <p:spPr>
          <a:xfrm>
            <a:off x="2855471" y="5345533"/>
            <a:ext cx="1942475" cy="3162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矩形 6"/>
          <p:cNvSpPr/>
          <p:nvPr/>
        </p:nvSpPr>
        <p:spPr>
          <a:xfrm>
            <a:off x="3892538" y="6632500"/>
            <a:ext cx="2425328" cy="30971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矩形 7"/>
          <p:cNvSpPr/>
          <p:nvPr/>
        </p:nvSpPr>
        <p:spPr>
          <a:xfrm>
            <a:off x="3895000" y="7532086"/>
            <a:ext cx="2425328" cy="30971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向右箭號 8"/>
          <p:cNvSpPr/>
          <p:nvPr/>
        </p:nvSpPr>
        <p:spPr>
          <a:xfrm rot="16200000">
            <a:off x="3560096" y="4644028"/>
            <a:ext cx="546335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文字方塊 10"/>
          <p:cNvSpPr txBox="1"/>
          <p:nvPr/>
        </p:nvSpPr>
        <p:spPr>
          <a:xfrm>
            <a:off x="5783224" y="7973083"/>
            <a:ext cx="2455674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Input feature</a:t>
            </a:r>
          </a:p>
        </p:txBody>
      </p:sp>
      <p:sp>
        <p:nvSpPr>
          <p:cNvPr id="13" name="向右箭號 12"/>
          <p:cNvSpPr/>
          <p:nvPr/>
        </p:nvSpPr>
        <p:spPr>
          <a:xfrm rot="13253207">
            <a:off x="4047356" y="5876158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向右箭號 13"/>
          <p:cNvSpPr/>
          <p:nvPr/>
        </p:nvSpPr>
        <p:spPr>
          <a:xfrm rot="16200000">
            <a:off x="4838044" y="6916926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向右箭號 14"/>
          <p:cNvSpPr/>
          <p:nvPr/>
        </p:nvSpPr>
        <p:spPr>
          <a:xfrm rot="16200000">
            <a:off x="4858067" y="7809469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矩形 19"/>
          <p:cNvSpPr/>
          <p:nvPr/>
        </p:nvSpPr>
        <p:spPr>
          <a:xfrm>
            <a:off x="5582806" y="5359917"/>
            <a:ext cx="1942475" cy="31628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矩形 20"/>
          <p:cNvSpPr/>
          <p:nvPr/>
        </p:nvSpPr>
        <p:spPr>
          <a:xfrm>
            <a:off x="5721923" y="4337599"/>
            <a:ext cx="1620000" cy="33059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2" name="文字方塊 21"/>
          <p:cNvSpPr txBox="1"/>
          <p:nvPr/>
        </p:nvSpPr>
        <p:spPr>
          <a:xfrm>
            <a:off x="2649527" y="3588783"/>
            <a:ext cx="245567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Task A</a:t>
            </a:r>
            <a:endParaRPr lang="zh-TW" altLang="en-US" sz="36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5304085" y="3630297"/>
            <a:ext cx="245567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Task B</a:t>
            </a:r>
            <a:endParaRPr lang="zh-TW" altLang="en-US" sz="3600" dirty="0"/>
          </a:p>
        </p:txBody>
      </p:sp>
      <p:sp>
        <p:nvSpPr>
          <p:cNvPr id="24" name="向右箭號 23"/>
          <p:cNvSpPr/>
          <p:nvPr/>
        </p:nvSpPr>
        <p:spPr>
          <a:xfrm rot="18653207">
            <a:off x="5723818" y="5839146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5" name="向右箭號 24"/>
          <p:cNvSpPr/>
          <p:nvPr/>
        </p:nvSpPr>
        <p:spPr>
          <a:xfrm rot="16200000">
            <a:off x="6258754" y="4696212"/>
            <a:ext cx="546335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7" name="矩形 26"/>
          <p:cNvSpPr/>
          <p:nvPr/>
        </p:nvSpPr>
        <p:spPr>
          <a:xfrm>
            <a:off x="9093976" y="3656181"/>
            <a:ext cx="1620000" cy="33059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8" name="矩形 27"/>
          <p:cNvSpPr/>
          <p:nvPr/>
        </p:nvSpPr>
        <p:spPr>
          <a:xfrm>
            <a:off x="8900488" y="4695223"/>
            <a:ext cx="1942475" cy="3162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9" name="矩形 28"/>
          <p:cNvSpPr/>
          <p:nvPr/>
        </p:nvSpPr>
        <p:spPr>
          <a:xfrm>
            <a:off x="9937555" y="5982190"/>
            <a:ext cx="2425328" cy="30971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1" name="向右箭號 30"/>
          <p:cNvSpPr/>
          <p:nvPr/>
        </p:nvSpPr>
        <p:spPr>
          <a:xfrm rot="16200000">
            <a:off x="9605113" y="3993718"/>
            <a:ext cx="546335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3" name="向右箭號 32"/>
          <p:cNvSpPr/>
          <p:nvPr/>
        </p:nvSpPr>
        <p:spPr>
          <a:xfrm rot="13253207">
            <a:off x="10092373" y="5225848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6" name="矩形 35"/>
          <p:cNvSpPr/>
          <p:nvPr/>
        </p:nvSpPr>
        <p:spPr>
          <a:xfrm>
            <a:off x="11627822" y="4709607"/>
            <a:ext cx="1942475" cy="31628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7" name="矩形 36"/>
          <p:cNvSpPr/>
          <p:nvPr/>
        </p:nvSpPr>
        <p:spPr>
          <a:xfrm>
            <a:off x="11766940" y="3687289"/>
            <a:ext cx="1620000" cy="33059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8" name="文字方塊 37"/>
          <p:cNvSpPr txBox="1"/>
          <p:nvPr/>
        </p:nvSpPr>
        <p:spPr>
          <a:xfrm>
            <a:off x="9391139" y="2984827"/>
            <a:ext cx="245567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Task A</a:t>
            </a:r>
            <a:endParaRPr lang="zh-TW" altLang="en-US" sz="36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2045696" y="3026342"/>
            <a:ext cx="245567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Task B</a:t>
            </a:r>
            <a:endParaRPr lang="zh-TW" altLang="en-US" sz="3600" dirty="0"/>
          </a:p>
        </p:txBody>
      </p:sp>
      <p:sp>
        <p:nvSpPr>
          <p:cNvPr id="40" name="向右箭號 39"/>
          <p:cNvSpPr/>
          <p:nvPr/>
        </p:nvSpPr>
        <p:spPr>
          <a:xfrm rot="18653207">
            <a:off x="11768834" y="5188836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1" name="向右箭號 40"/>
          <p:cNvSpPr/>
          <p:nvPr/>
        </p:nvSpPr>
        <p:spPr>
          <a:xfrm rot="16200000">
            <a:off x="12303770" y="4045902"/>
            <a:ext cx="546335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2" name="矩形 41"/>
          <p:cNvSpPr/>
          <p:nvPr/>
        </p:nvSpPr>
        <p:spPr>
          <a:xfrm>
            <a:off x="9177677" y="7001518"/>
            <a:ext cx="1620000" cy="33059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3" name="矩形 42"/>
          <p:cNvSpPr/>
          <p:nvPr/>
        </p:nvSpPr>
        <p:spPr>
          <a:xfrm>
            <a:off x="8984189" y="8040561"/>
            <a:ext cx="1942475" cy="3162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4" name="向右箭號 43"/>
          <p:cNvSpPr/>
          <p:nvPr/>
        </p:nvSpPr>
        <p:spPr>
          <a:xfrm rot="16200000">
            <a:off x="9688814" y="7339056"/>
            <a:ext cx="546335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5" name="矩形 44"/>
          <p:cNvSpPr/>
          <p:nvPr/>
        </p:nvSpPr>
        <p:spPr>
          <a:xfrm>
            <a:off x="11730815" y="7966942"/>
            <a:ext cx="1942475" cy="31628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6" name="矩形 45"/>
          <p:cNvSpPr/>
          <p:nvPr/>
        </p:nvSpPr>
        <p:spPr>
          <a:xfrm>
            <a:off x="11869933" y="6944625"/>
            <a:ext cx="1620000" cy="33059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7" name="向右箭號 46"/>
          <p:cNvSpPr/>
          <p:nvPr/>
        </p:nvSpPr>
        <p:spPr>
          <a:xfrm rot="16200000">
            <a:off x="12406763" y="7303237"/>
            <a:ext cx="546335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8" name="向右箭號 47"/>
          <p:cNvSpPr/>
          <p:nvPr/>
        </p:nvSpPr>
        <p:spPr>
          <a:xfrm rot="19046201">
            <a:off x="10126135" y="6346092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9" name="向右箭號 48"/>
          <p:cNvSpPr/>
          <p:nvPr/>
        </p:nvSpPr>
        <p:spPr>
          <a:xfrm rot="13149418">
            <a:off x="11894008" y="6323734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0" name="文字方塊 49"/>
          <p:cNvSpPr txBox="1"/>
          <p:nvPr/>
        </p:nvSpPr>
        <p:spPr>
          <a:xfrm>
            <a:off x="8469938" y="8218984"/>
            <a:ext cx="297097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Input feature for task A</a:t>
            </a:r>
          </a:p>
        </p:txBody>
      </p:sp>
      <p:sp>
        <p:nvSpPr>
          <p:cNvPr id="51" name="文字方塊 50"/>
          <p:cNvSpPr txBox="1"/>
          <p:nvPr/>
        </p:nvSpPr>
        <p:spPr>
          <a:xfrm>
            <a:off x="11334070" y="8233368"/>
            <a:ext cx="297097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Input feature for task B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1" grpId="0"/>
      <p:bldP spid="13" grpId="0" bldLvl="0" animBg="1"/>
      <p:bldP spid="14" grpId="0" bldLvl="0" animBg="1"/>
      <p:bldP spid="15" grpId="0" bldLvl="0" animBg="1"/>
      <p:bldP spid="20" grpId="0" bldLvl="0" animBg="1"/>
      <p:bldP spid="21" grpId="0" bldLvl="0" animBg="1"/>
      <p:bldP spid="22" grpId="0"/>
      <p:bldP spid="23" grpId="0"/>
      <p:bldP spid="24" grpId="0" bldLvl="0" animBg="1"/>
      <p:bldP spid="25" grpId="0" bldLvl="0" animBg="1"/>
      <p:bldP spid="27" grpId="0" bldLvl="0" animBg="1"/>
      <p:bldP spid="28" grpId="0" bldLvl="0" animBg="1"/>
      <p:bldP spid="29" grpId="0" bldLvl="0" animBg="1"/>
      <p:bldP spid="31" grpId="0" bldLvl="0" animBg="1"/>
      <p:bldP spid="33" grpId="0" bldLvl="0" animBg="1"/>
      <p:bldP spid="36" grpId="0" bldLvl="0" animBg="1"/>
      <p:bldP spid="37" grpId="0" bldLvl="0" animBg="1"/>
      <p:bldP spid="38" grpId="0"/>
      <p:bldP spid="39" grpId="0"/>
      <p:bldP spid="40" grpId="0" bldLvl="0" animBg="1"/>
      <p:bldP spid="41" grpId="0" bldLvl="0" animBg="1"/>
      <p:bldP spid="42" grpId="0" bldLvl="0" animBg="1"/>
      <p:bldP spid="43" grpId="0" bldLvl="0" animBg="1"/>
      <p:bldP spid="44" grpId="0" bldLvl="0" animBg="1"/>
      <p:bldP spid="45" grpId="0" bldLvl="0" animBg="1"/>
      <p:bldP spid="46" grpId="0" bldLvl="0" animBg="1"/>
      <p:bldP spid="47" grpId="0" bldLvl="0" animBg="1"/>
      <p:bldP spid="48" grpId="0" bldLvl="0" animBg="1"/>
      <p:bldP spid="49" grpId="0" bldLvl="0" animBg="1"/>
      <p:bldP spid="50" grpId="0"/>
      <p:bldP spid="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圓角矩形 19"/>
          <p:cNvSpPr/>
          <p:nvPr/>
        </p:nvSpPr>
        <p:spPr>
          <a:xfrm>
            <a:off x="7329015" y="6230444"/>
            <a:ext cx="3150837" cy="157620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Multitask Learning </a:t>
            </a:r>
            <a:br>
              <a:rPr lang="en-US" altLang="zh-TW" dirty="0"/>
            </a:br>
            <a:r>
              <a:rPr lang="en-US" altLang="zh-TW" dirty="0"/>
              <a:t>- Multilingual Speech Recognition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 rot="16200000">
            <a:off x="8754702" y="7361012"/>
            <a:ext cx="307649" cy="20136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矩形 4"/>
          <p:cNvSpPr/>
          <p:nvPr/>
        </p:nvSpPr>
        <p:spPr>
          <a:xfrm>
            <a:off x="3144146" y="3978998"/>
            <a:ext cx="1620000" cy="33059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矩形 5"/>
          <p:cNvSpPr/>
          <p:nvPr/>
        </p:nvSpPr>
        <p:spPr>
          <a:xfrm>
            <a:off x="2950658" y="5018040"/>
            <a:ext cx="1942475" cy="3162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矩形 6"/>
          <p:cNvSpPr/>
          <p:nvPr/>
        </p:nvSpPr>
        <p:spPr>
          <a:xfrm>
            <a:off x="7651260" y="6414837"/>
            <a:ext cx="2425328" cy="30971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矩形 7"/>
          <p:cNvSpPr/>
          <p:nvPr/>
        </p:nvSpPr>
        <p:spPr>
          <a:xfrm>
            <a:off x="7653722" y="7314423"/>
            <a:ext cx="2425328" cy="30971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向右箭號 8"/>
          <p:cNvSpPr/>
          <p:nvPr/>
        </p:nvSpPr>
        <p:spPr>
          <a:xfrm rot="16200000">
            <a:off x="3655283" y="4316535"/>
            <a:ext cx="546335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文字方塊 9"/>
          <p:cNvSpPr txBox="1"/>
          <p:nvPr/>
        </p:nvSpPr>
        <p:spPr>
          <a:xfrm>
            <a:off x="4422549" y="8021585"/>
            <a:ext cx="345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acoustic features</a:t>
            </a:r>
          </a:p>
        </p:txBody>
      </p:sp>
      <p:sp>
        <p:nvSpPr>
          <p:cNvPr id="12" name="向右箭號 11"/>
          <p:cNvSpPr/>
          <p:nvPr/>
        </p:nvSpPr>
        <p:spPr>
          <a:xfrm rot="16200000">
            <a:off x="8596766" y="6699263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向右箭號 12"/>
          <p:cNvSpPr/>
          <p:nvPr/>
        </p:nvSpPr>
        <p:spPr>
          <a:xfrm rot="16200000">
            <a:off x="8616789" y="7591806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矩形 13"/>
          <p:cNvSpPr/>
          <p:nvPr/>
        </p:nvSpPr>
        <p:spPr>
          <a:xfrm>
            <a:off x="5539845" y="4988679"/>
            <a:ext cx="1942475" cy="31628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矩形 14"/>
          <p:cNvSpPr/>
          <p:nvPr/>
        </p:nvSpPr>
        <p:spPr>
          <a:xfrm>
            <a:off x="5678963" y="3966362"/>
            <a:ext cx="1620000" cy="33059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文字方塊 15"/>
          <p:cNvSpPr txBox="1"/>
          <p:nvPr/>
        </p:nvSpPr>
        <p:spPr>
          <a:xfrm>
            <a:off x="2733522" y="2648661"/>
            <a:ext cx="245567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states of French </a:t>
            </a:r>
            <a:endParaRPr lang="zh-TW" altLang="en-US" sz="36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5267541" y="2658204"/>
            <a:ext cx="245567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states of German </a:t>
            </a:r>
            <a:endParaRPr lang="zh-TW" altLang="en-US" sz="3600" dirty="0"/>
          </a:p>
        </p:txBody>
      </p:sp>
      <p:sp>
        <p:nvSpPr>
          <p:cNvPr id="19" name="向右箭號 18"/>
          <p:cNvSpPr/>
          <p:nvPr/>
        </p:nvSpPr>
        <p:spPr>
          <a:xfrm rot="16200000">
            <a:off x="6215793" y="4324974"/>
            <a:ext cx="546335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2" name="文字方塊 21"/>
          <p:cNvSpPr txBox="1"/>
          <p:nvPr/>
        </p:nvSpPr>
        <p:spPr>
          <a:xfrm>
            <a:off x="10802097" y="6230444"/>
            <a:ext cx="4633367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Human languages share some common characteristics.</a:t>
            </a:r>
          </a:p>
        </p:txBody>
      </p:sp>
      <p:sp>
        <p:nvSpPr>
          <p:cNvPr id="26" name="文字方塊 25"/>
          <p:cNvSpPr txBox="1"/>
          <p:nvPr/>
        </p:nvSpPr>
        <p:spPr>
          <a:xfrm>
            <a:off x="7827135" y="2669973"/>
            <a:ext cx="245567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states of Spanish</a:t>
            </a:r>
            <a:endParaRPr lang="zh-TW" altLang="en-US" sz="36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10386729" y="2648659"/>
            <a:ext cx="245567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states of Italian</a:t>
            </a:r>
            <a:endParaRPr lang="zh-TW" altLang="en-US" sz="36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2842403" y="2648658"/>
            <a:ext cx="245567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states of Mandarin</a:t>
            </a:r>
            <a:endParaRPr lang="zh-TW" altLang="en-US" sz="3600" dirty="0"/>
          </a:p>
        </p:txBody>
      </p:sp>
      <p:sp>
        <p:nvSpPr>
          <p:cNvPr id="30" name="矩形 29"/>
          <p:cNvSpPr/>
          <p:nvPr/>
        </p:nvSpPr>
        <p:spPr>
          <a:xfrm>
            <a:off x="8093769" y="5008932"/>
            <a:ext cx="1942475" cy="31628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1" name="矩形 30"/>
          <p:cNvSpPr/>
          <p:nvPr/>
        </p:nvSpPr>
        <p:spPr>
          <a:xfrm>
            <a:off x="8232887" y="3986615"/>
            <a:ext cx="1620000" cy="33059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2" name="向右箭號 31"/>
          <p:cNvSpPr/>
          <p:nvPr/>
        </p:nvSpPr>
        <p:spPr>
          <a:xfrm rot="16200000">
            <a:off x="8769717" y="4345227"/>
            <a:ext cx="546335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3" name="矩形 32"/>
          <p:cNvSpPr/>
          <p:nvPr/>
        </p:nvSpPr>
        <p:spPr>
          <a:xfrm>
            <a:off x="10680047" y="5008932"/>
            <a:ext cx="1942475" cy="31628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4" name="矩形 33"/>
          <p:cNvSpPr/>
          <p:nvPr/>
        </p:nvSpPr>
        <p:spPr>
          <a:xfrm>
            <a:off x="10819164" y="3986615"/>
            <a:ext cx="1620000" cy="33059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5" name="向右箭號 34"/>
          <p:cNvSpPr/>
          <p:nvPr/>
        </p:nvSpPr>
        <p:spPr>
          <a:xfrm rot="16200000">
            <a:off x="11355995" y="4345227"/>
            <a:ext cx="546335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6" name="矩形 35"/>
          <p:cNvSpPr/>
          <p:nvPr/>
        </p:nvSpPr>
        <p:spPr>
          <a:xfrm>
            <a:off x="13187342" y="5008932"/>
            <a:ext cx="1942475" cy="31628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7" name="矩形 36"/>
          <p:cNvSpPr/>
          <p:nvPr/>
        </p:nvSpPr>
        <p:spPr>
          <a:xfrm>
            <a:off x="13326459" y="3986615"/>
            <a:ext cx="1620000" cy="33059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8" name="向右箭號 37"/>
          <p:cNvSpPr/>
          <p:nvPr/>
        </p:nvSpPr>
        <p:spPr>
          <a:xfrm rot="16200000">
            <a:off x="13863290" y="4345227"/>
            <a:ext cx="546335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39" name="直線單箭頭接點 38"/>
          <p:cNvCxnSpPr>
            <a:endCxn id="6" idx="2"/>
          </p:cNvCxnSpPr>
          <p:nvPr/>
        </p:nvCxnSpPr>
        <p:spPr>
          <a:xfrm flipH="1" flipV="1">
            <a:off x="3921896" y="5334323"/>
            <a:ext cx="3847676" cy="106571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7" idx="0"/>
            <a:endCxn id="30" idx="2"/>
          </p:cNvCxnSpPr>
          <p:nvPr/>
        </p:nvCxnSpPr>
        <p:spPr>
          <a:xfrm flipV="1">
            <a:off x="8863925" y="5325215"/>
            <a:ext cx="201083" cy="108962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>
            <a:endCxn id="14" idx="2"/>
          </p:cNvCxnSpPr>
          <p:nvPr/>
        </p:nvCxnSpPr>
        <p:spPr>
          <a:xfrm flipH="1" flipV="1">
            <a:off x="6511083" y="5304962"/>
            <a:ext cx="1798599" cy="1094984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endCxn id="33" idx="2"/>
          </p:cNvCxnSpPr>
          <p:nvPr/>
        </p:nvCxnSpPr>
        <p:spPr>
          <a:xfrm flipV="1">
            <a:off x="9352601" y="5325215"/>
            <a:ext cx="2298684" cy="107473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endCxn id="36" idx="2"/>
          </p:cNvCxnSpPr>
          <p:nvPr/>
        </p:nvCxnSpPr>
        <p:spPr>
          <a:xfrm flipV="1">
            <a:off x="10036244" y="5325215"/>
            <a:ext cx="4122336" cy="107473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/>
          <p:cNvSpPr txBox="1"/>
          <p:nvPr/>
        </p:nvSpPr>
        <p:spPr>
          <a:xfrm>
            <a:off x="1026007" y="9111290"/>
            <a:ext cx="127689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i="1" u="sng" dirty="0"/>
              <a:t>Similar idea in translation</a:t>
            </a:r>
            <a:r>
              <a:rPr lang="en-US" altLang="zh-TW" sz="2800" dirty="0"/>
              <a:t>: </a:t>
            </a:r>
            <a:r>
              <a:rPr lang="en-US" altLang="zh-TW" sz="2800" dirty="0" err="1"/>
              <a:t>Daxiang</a:t>
            </a:r>
            <a:r>
              <a:rPr lang="en-US" altLang="zh-TW" sz="2800" dirty="0"/>
              <a:t> Dong, Hua Wu, Wei He, </a:t>
            </a:r>
            <a:r>
              <a:rPr lang="en-US" altLang="zh-TW" sz="2800" dirty="0" err="1"/>
              <a:t>Dianhai</a:t>
            </a:r>
            <a:r>
              <a:rPr lang="en-US" altLang="zh-TW" sz="2800" dirty="0"/>
              <a:t> Yu and </a:t>
            </a:r>
            <a:r>
              <a:rPr lang="en-US" altLang="zh-TW" sz="2800" dirty="0" err="1"/>
              <a:t>Haifeng</a:t>
            </a:r>
            <a:r>
              <a:rPr lang="en-US" altLang="zh-TW" sz="2800" dirty="0"/>
              <a:t> Wang, "Multi-task learning for multiple language translation.“, ACL 2015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Multitask Learning - Multilingual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3157538" y="8947172"/>
            <a:ext cx="12506325" cy="106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" dirty="0">
                <a:latin typeface="Arial" panose="020B0604020202020204" pitchFamily="34" charset="0"/>
              </a:rPr>
              <a:t>Huang, </a:t>
            </a:r>
            <a:r>
              <a:rPr lang="en-US" altLang="zh-TW" sz="100" dirty="0" err="1">
                <a:latin typeface="Arial" panose="020B0604020202020204" pitchFamily="34" charset="0"/>
              </a:rPr>
              <a:t>Jui</a:t>
            </a:r>
            <a:r>
              <a:rPr lang="en-US" altLang="zh-TW" sz="100" dirty="0">
                <a:latin typeface="Arial" panose="020B0604020202020204" pitchFamily="34" charset="0"/>
              </a:rPr>
              <a:t>-Ting, et al. "Cross-language knowledge transfer using multilingual deep neural network with shared hidden layers." </a:t>
            </a:r>
            <a:r>
              <a:rPr lang="en-US" altLang="zh-TW" sz="100" i="1" dirty="0">
                <a:latin typeface="Arial" panose="020B0604020202020204" pitchFamily="34" charset="0"/>
              </a:rPr>
              <a:t>ICASSP, 2013</a:t>
            </a:r>
            <a:endParaRPr lang="zh-TW" altLang="en-US" sz="100" dirty="0"/>
          </a:p>
        </p:txBody>
      </p:sp>
      <p:graphicFrame>
        <p:nvGraphicFramePr>
          <p:cNvPr id="5" name="Chart 3"/>
          <p:cNvGraphicFramePr/>
          <p:nvPr/>
        </p:nvGraphicFramePr>
        <p:xfrm>
          <a:off x="4229100" y="2356755"/>
          <a:ext cx="10243947" cy="5867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/>
          <p:cNvSpPr/>
          <p:nvPr/>
        </p:nvSpPr>
        <p:spPr>
          <a:xfrm rot="16200000">
            <a:off x="1909704" y="4633647"/>
            <a:ext cx="44246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Character Error Rate</a:t>
            </a:r>
          </a:p>
        </p:txBody>
      </p:sp>
      <p:sp>
        <p:nvSpPr>
          <p:cNvPr id="7" name="矩形 6"/>
          <p:cNvSpPr/>
          <p:nvPr/>
        </p:nvSpPr>
        <p:spPr>
          <a:xfrm>
            <a:off x="5948454" y="8083628"/>
            <a:ext cx="72440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Hours of training data for Mandarin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936115" y="9777095"/>
            <a:ext cx="1441640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TW" dirty="0">
                <a:sym typeface="+mn-ea"/>
              </a:rPr>
              <a:t>Huang, </a:t>
            </a:r>
            <a:r>
              <a:rPr lang="en-US" altLang="zh-TW" dirty="0" err="1">
                <a:sym typeface="+mn-ea"/>
              </a:rPr>
              <a:t>Jui</a:t>
            </a:r>
            <a:r>
              <a:rPr lang="en-US" altLang="zh-TW" dirty="0">
                <a:sym typeface="+mn-ea"/>
              </a:rPr>
              <a:t>-Ting, et al. "Cross-language knowledge transfer using multilingual deep neural network with shared hidden layers." </a:t>
            </a:r>
            <a:r>
              <a:rPr lang="en-US" altLang="zh-TW" i="1" dirty="0">
                <a:sym typeface="+mn-ea"/>
              </a:rPr>
              <a:t>ICASSP, 2013</a:t>
            </a:r>
            <a:endParaRPr lang="en-US"/>
          </a:p>
        </p:txBody>
      </p:sp>
      <p:sp>
        <p:nvSpPr>
          <p:cNvPr id="10" name="文字方塊 8"/>
          <p:cNvSpPr txBox="1"/>
          <p:nvPr/>
        </p:nvSpPr>
        <p:spPr>
          <a:xfrm>
            <a:off x="5318760" y="6215380"/>
            <a:ext cx="2658745" cy="9531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With European Language</a:t>
            </a:r>
          </a:p>
        </p:txBody>
      </p:sp>
      <p:sp>
        <p:nvSpPr>
          <p:cNvPr id="11" name="文字方塊 7"/>
          <p:cNvSpPr txBox="1"/>
          <p:nvPr/>
        </p:nvSpPr>
        <p:spPr>
          <a:xfrm>
            <a:off x="8262620" y="3635375"/>
            <a:ext cx="1764030" cy="95313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Mandarin only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Progressive Neural Networks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5175453" y="7535367"/>
            <a:ext cx="2194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</a:t>
            </a:r>
            <a:endParaRPr lang="zh-TW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5280960" y="6145508"/>
            <a:ext cx="1983546" cy="358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矩形 7"/>
          <p:cNvSpPr/>
          <p:nvPr/>
        </p:nvSpPr>
        <p:spPr>
          <a:xfrm>
            <a:off x="5280960" y="4675158"/>
            <a:ext cx="1983546" cy="358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矩形 8"/>
          <p:cNvSpPr/>
          <p:nvPr/>
        </p:nvSpPr>
        <p:spPr>
          <a:xfrm>
            <a:off x="5280960" y="2898809"/>
            <a:ext cx="1983546" cy="650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Task 1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8017733" y="7535367"/>
            <a:ext cx="2194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</a:t>
            </a:r>
            <a:endParaRPr lang="zh-TW" altLang="en-US" sz="3600" dirty="0"/>
          </a:p>
        </p:txBody>
      </p:sp>
      <p:sp>
        <p:nvSpPr>
          <p:cNvPr id="11" name="矩形 10"/>
          <p:cNvSpPr/>
          <p:nvPr/>
        </p:nvSpPr>
        <p:spPr>
          <a:xfrm>
            <a:off x="8123240" y="6145508"/>
            <a:ext cx="1983546" cy="3587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矩形 11"/>
          <p:cNvSpPr/>
          <p:nvPr/>
        </p:nvSpPr>
        <p:spPr>
          <a:xfrm>
            <a:off x="8123240" y="4675158"/>
            <a:ext cx="1983546" cy="3587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矩形 12"/>
          <p:cNvSpPr/>
          <p:nvPr/>
        </p:nvSpPr>
        <p:spPr>
          <a:xfrm>
            <a:off x="8123240" y="2898809"/>
            <a:ext cx="1983546" cy="6503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Task 2</a:t>
            </a:r>
          </a:p>
        </p:txBody>
      </p:sp>
      <p:sp>
        <p:nvSpPr>
          <p:cNvPr id="14" name="文字方塊 13"/>
          <p:cNvSpPr txBox="1"/>
          <p:nvPr/>
        </p:nvSpPr>
        <p:spPr>
          <a:xfrm>
            <a:off x="10862924" y="7535367"/>
            <a:ext cx="2194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</a:t>
            </a:r>
            <a:endParaRPr lang="zh-TW" altLang="en-US" sz="3600" dirty="0"/>
          </a:p>
        </p:txBody>
      </p:sp>
      <p:sp>
        <p:nvSpPr>
          <p:cNvPr id="15" name="矩形 14"/>
          <p:cNvSpPr/>
          <p:nvPr/>
        </p:nvSpPr>
        <p:spPr>
          <a:xfrm>
            <a:off x="10968431" y="6145508"/>
            <a:ext cx="1983546" cy="3587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矩形 15"/>
          <p:cNvSpPr/>
          <p:nvPr/>
        </p:nvSpPr>
        <p:spPr>
          <a:xfrm>
            <a:off x="10968431" y="4675158"/>
            <a:ext cx="1983546" cy="3587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7" name="矩形 16"/>
          <p:cNvSpPr/>
          <p:nvPr/>
        </p:nvSpPr>
        <p:spPr>
          <a:xfrm>
            <a:off x="10968431" y="2898809"/>
            <a:ext cx="1983546" cy="650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Task 3</a:t>
            </a:r>
          </a:p>
        </p:txBody>
      </p:sp>
      <p:sp>
        <p:nvSpPr>
          <p:cNvPr id="18" name="箭號: 向右 17"/>
          <p:cNvSpPr/>
          <p:nvPr/>
        </p:nvSpPr>
        <p:spPr>
          <a:xfrm rot="16200000">
            <a:off x="5856437" y="6673551"/>
            <a:ext cx="832592" cy="692498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箭號: 向右 18"/>
          <p:cNvSpPr/>
          <p:nvPr/>
        </p:nvSpPr>
        <p:spPr>
          <a:xfrm rot="16200000">
            <a:off x="5856437" y="5196003"/>
            <a:ext cx="832592" cy="692498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箭號: 向右 19"/>
          <p:cNvSpPr/>
          <p:nvPr/>
        </p:nvSpPr>
        <p:spPr>
          <a:xfrm rot="16200000">
            <a:off x="5856435" y="3698987"/>
            <a:ext cx="832592" cy="692498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箭號: 向右 20"/>
          <p:cNvSpPr/>
          <p:nvPr/>
        </p:nvSpPr>
        <p:spPr>
          <a:xfrm rot="16200000">
            <a:off x="8702538" y="6673550"/>
            <a:ext cx="832592" cy="692498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2" name="箭號: 向右 21"/>
          <p:cNvSpPr/>
          <p:nvPr/>
        </p:nvSpPr>
        <p:spPr>
          <a:xfrm rot="16200000">
            <a:off x="8702538" y="5196002"/>
            <a:ext cx="832592" cy="692498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3" name="箭號: 向右 22"/>
          <p:cNvSpPr/>
          <p:nvPr/>
        </p:nvSpPr>
        <p:spPr>
          <a:xfrm rot="16200000">
            <a:off x="8702537" y="3698985"/>
            <a:ext cx="832592" cy="692498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4" name="箭號: 向右 23"/>
          <p:cNvSpPr/>
          <p:nvPr/>
        </p:nvSpPr>
        <p:spPr>
          <a:xfrm rot="16200000">
            <a:off x="11548637" y="6704538"/>
            <a:ext cx="832592" cy="69249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5" name="箭號: 向右 24"/>
          <p:cNvSpPr/>
          <p:nvPr/>
        </p:nvSpPr>
        <p:spPr>
          <a:xfrm rot="16200000">
            <a:off x="11548637" y="5226990"/>
            <a:ext cx="832592" cy="69249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6" name="箭號: 向右 25"/>
          <p:cNvSpPr/>
          <p:nvPr/>
        </p:nvSpPr>
        <p:spPr>
          <a:xfrm rot="16200000">
            <a:off x="11548635" y="3729974"/>
            <a:ext cx="832592" cy="69249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28" name="直線單箭頭接點 27"/>
          <p:cNvCxnSpPr/>
          <p:nvPr/>
        </p:nvCxnSpPr>
        <p:spPr>
          <a:xfrm flipV="1">
            <a:off x="6665913" y="5156943"/>
            <a:ext cx="2106671" cy="89367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 flipV="1">
            <a:off x="6712847" y="3659927"/>
            <a:ext cx="2012804" cy="91596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 flipV="1">
            <a:off x="6712847" y="5152118"/>
            <a:ext cx="4567067" cy="8862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 flipV="1">
            <a:off x="6737297" y="3613037"/>
            <a:ext cx="4542617" cy="9700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V="1">
            <a:off x="9607845" y="5156942"/>
            <a:ext cx="1916969" cy="8734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 flipV="1">
            <a:off x="9607845" y="3605067"/>
            <a:ext cx="1916969" cy="97319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3238674" y="8447762"/>
            <a:ext cx="11992268" cy="106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" dirty="0">
                <a:latin typeface="Lucida Grande"/>
              </a:rPr>
              <a:t>Andrei A. </a:t>
            </a:r>
            <a:r>
              <a:rPr lang="en-US" altLang="zh-TW" sz="100" dirty="0" err="1">
                <a:latin typeface="Lucida Grande"/>
              </a:rPr>
              <a:t>Rusu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>
                <a:latin typeface="Lucida Grande"/>
              </a:rPr>
              <a:t>Neil C. Rabinowitz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>
                <a:latin typeface="Lucida Grande"/>
              </a:rPr>
              <a:t>Guillaume Desjardins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>
                <a:latin typeface="Lucida Grande"/>
              </a:rPr>
              <a:t>Hubert </a:t>
            </a:r>
            <a:r>
              <a:rPr lang="en-US" altLang="zh-TW" sz="100" dirty="0" err="1">
                <a:latin typeface="Lucida Grande"/>
              </a:rPr>
              <a:t>Soyer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>
                <a:latin typeface="Lucida Grande"/>
              </a:rPr>
              <a:t>James Kirkpatrick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 err="1">
                <a:latin typeface="Lucida Grande"/>
              </a:rPr>
              <a:t>Koray</a:t>
            </a:r>
            <a:r>
              <a:rPr lang="en-US" altLang="zh-TW" sz="100" dirty="0">
                <a:latin typeface="Lucida Grande"/>
              </a:rPr>
              <a:t> Kavukcuoglu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>
                <a:latin typeface="Lucida Grande"/>
              </a:rPr>
              <a:t>Razvan </a:t>
            </a:r>
            <a:r>
              <a:rPr lang="en-US" altLang="zh-TW" sz="100" dirty="0" err="1">
                <a:latin typeface="Lucida Grande"/>
              </a:rPr>
              <a:t>Pascanu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 </a:t>
            </a:r>
            <a:r>
              <a:rPr lang="en-US" altLang="zh-TW" sz="100" dirty="0" err="1">
                <a:latin typeface="Lucida Grande"/>
              </a:rPr>
              <a:t>Raia</a:t>
            </a:r>
            <a:r>
              <a:rPr lang="en-US" altLang="zh-TW" sz="100" dirty="0">
                <a:latin typeface="Lucida Grande"/>
              </a:rPr>
              <a:t> Hadsell, “Progressive Neural Networks”, </a:t>
            </a:r>
            <a:r>
              <a:rPr lang="en-US" altLang="zh-TW" sz="100" dirty="0" err="1">
                <a:latin typeface="Lucida Grande"/>
              </a:rPr>
              <a:t>arXiv</a:t>
            </a:r>
            <a:r>
              <a:rPr lang="en-US" altLang="zh-TW" sz="100" dirty="0">
                <a:latin typeface="Lucida Grande"/>
              </a:rPr>
              <a:t> preprint 2016</a:t>
            </a:r>
            <a:endParaRPr lang="zh-TW" altLang="en-US" sz="100" dirty="0">
              <a:latin typeface="Lucida Grande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769235" y="9566910"/>
            <a:ext cx="126911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TW" dirty="0">
                <a:latin typeface="Lucida Grande"/>
                <a:sym typeface="+mn-ea"/>
              </a:rPr>
              <a:t>Andrei A. </a:t>
            </a:r>
            <a:r>
              <a:rPr lang="en-US" altLang="zh-TW" dirty="0" err="1">
                <a:latin typeface="Lucida Grande"/>
                <a:sym typeface="+mn-ea"/>
              </a:rPr>
              <a:t>Rusu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>
                <a:latin typeface="Lucida Grande"/>
                <a:sym typeface="+mn-ea"/>
              </a:rPr>
              <a:t>Neil C. Rabinowitz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>
                <a:latin typeface="Lucida Grande"/>
                <a:sym typeface="+mn-ea"/>
              </a:rPr>
              <a:t>Guillaume Desjardins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>
                <a:latin typeface="Lucida Grande"/>
                <a:sym typeface="+mn-ea"/>
              </a:rPr>
              <a:t>Hubert </a:t>
            </a:r>
            <a:r>
              <a:rPr lang="en-US" altLang="zh-TW" dirty="0" err="1">
                <a:latin typeface="Lucida Grande"/>
                <a:sym typeface="+mn-ea"/>
              </a:rPr>
              <a:t>Soyer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>
                <a:latin typeface="Lucida Grande"/>
                <a:sym typeface="+mn-ea"/>
              </a:rPr>
              <a:t>James Kirkpatrick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 err="1">
                <a:latin typeface="Lucida Grande"/>
                <a:sym typeface="+mn-ea"/>
              </a:rPr>
              <a:t>Koray</a:t>
            </a:r>
            <a:r>
              <a:rPr lang="en-US" altLang="zh-TW" dirty="0">
                <a:latin typeface="Lucida Grande"/>
                <a:sym typeface="+mn-ea"/>
              </a:rPr>
              <a:t> Kavukcuoglu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>
                <a:latin typeface="Lucida Grande"/>
                <a:sym typeface="+mn-ea"/>
              </a:rPr>
              <a:t>Razvan </a:t>
            </a:r>
            <a:r>
              <a:rPr lang="en-US" altLang="zh-TW" dirty="0" err="1">
                <a:latin typeface="Lucida Grande"/>
                <a:sym typeface="+mn-ea"/>
              </a:rPr>
              <a:t>Pascanu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 </a:t>
            </a:r>
            <a:r>
              <a:rPr lang="en-US" altLang="zh-TW" dirty="0" err="1">
                <a:latin typeface="Lucida Grande"/>
                <a:sym typeface="+mn-ea"/>
              </a:rPr>
              <a:t>Raia</a:t>
            </a:r>
            <a:r>
              <a:rPr lang="en-US" altLang="zh-TW" dirty="0">
                <a:latin typeface="Lucida Grande"/>
                <a:sym typeface="+mn-ea"/>
              </a:rPr>
              <a:t> Hadsell, “Progressive Neural Networks”, </a:t>
            </a:r>
            <a:r>
              <a:rPr lang="en-US" altLang="zh-TW" dirty="0" err="1">
                <a:latin typeface="Lucida Grande"/>
                <a:sym typeface="+mn-ea"/>
              </a:rPr>
              <a:t>arXiv</a:t>
            </a:r>
            <a:r>
              <a:rPr lang="en-US" altLang="zh-TW" dirty="0">
                <a:latin typeface="Lucida Grande"/>
                <a:sym typeface="+mn-ea"/>
              </a:rPr>
              <a:t> preprint 2016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ldLvl="0" animBg="1"/>
      <p:bldP spid="8" grpId="0" bldLvl="0" animBg="1"/>
      <p:bldP spid="9" grpId="0" bldLvl="0" animBg="1"/>
      <p:bldP spid="10" grpId="0"/>
      <p:bldP spid="11" grpId="0" bldLvl="0" animBg="1"/>
      <p:bldP spid="12" grpId="0" bldLvl="0" animBg="1"/>
      <p:bldP spid="13" grpId="0" bldLvl="0" animBg="1"/>
      <p:bldP spid="14" grpId="0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21" grpId="0" bldLvl="0" animBg="1"/>
      <p:bldP spid="22" grpId="0" bldLvl="0" animBg="1"/>
      <p:bldP spid="23" grpId="0" bldLvl="0" animBg="1"/>
      <p:bldP spid="24" grpId="0" bldLvl="0" animBg="1"/>
      <p:bldP spid="25" grpId="0" bldLvl="0" animBg="1"/>
      <p:bldP spid="26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752558" y="8632443"/>
            <a:ext cx="11046656" cy="106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" dirty="0" err="1">
                <a:latin typeface="Lucida Grande"/>
              </a:rPr>
              <a:t>Chrisantha</a:t>
            </a:r>
            <a:r>
              <a:rPr lang="en-US" altLang="zh-TW" sz="100" dirty="0">
                <a:latin typeface="Lucida Grande"/>
              </a:rPr>
              <a:t> Fernando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>
                <a:latin typeface="Lucida Grande"/>
              </a:rPr>
              <a:t>Dylan </a:t>
            </a:r>
            <a:r>
              <a:rPr lang="en-US" altLang="zh-TW" sz="100" dirty="0" err="1">
                <a:latin typeface="Lucida Grande"/>
              </a:rPr>
              <a:t>Banarse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>
                <a:latin typeface="Lucida Grande"/>
              </a:rPr>
              <a:t>Charles Blundell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>
                <a:latin typeface="Lucida Grande"/>
              </a:rPr>
              <a:t>Yori </a:t>
            </a:r>
            <a:r>
              <a:rPr lang="en-US" altLang="zh-TW" sz="100" dirty="0" err="1">
                <a:latin typeface="Lucida Grande"/>
              </a:rPr>
              <a:t>Zwols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>
                <a:latin typeface="Lucida Grande"/>
              </a:rPr>
              <a:t>David Ha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>
                <a:latin typeface="Lucida Grande"/>
              </a:rPr>
              <a:t>Andrei A. </a:t>
            </a:r>
            <a:r>
              <a:rPr lang="en-US" altLang="zh-TW" sz="100" dirty="0" err="1">
                <a:latin typeface="Lucida Grande"/>
              </a:rPr>
              <a:t>Rusu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>
                <a:latin typeface="Lucida Grande"/>
              </a:rPr>
              <a:t>Alexander </a:t>
            </a:r>
            <a:r>
              <a:rPr lang="en-US" altLang="zh-TW" sz="100" dirty="0" err="1">
                <a:latin typeface="Lucida Grande"/>
              </a:rPr>
              <a:t>Pritzel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 err="1">
                <a:latin typeface="Lucida Grande"/>
              </a:rPr>
              <a:t>Daan</a:t>
            </a:r>
            <a:r>
              <a:rPr lang="en-US" altLang="zh-TW" sz="100" dirty="0">
                <a:latin typeface="Lucida Grande"/>
              </a:rPr>
              <a:t> Wierstra, “</a:t>
            </a:r>
            <a:r>
              <a:rPr lang="en-US" altLang="zh-TW" sz="100" dirty="0" err="1"/>
              <a:t>PathNet</a:t>
            </a:r>
            <a:r>
              <a:rPr lang="en-US" altLang="zh-TW" sz="100" dirty="0"/>
              <a:t>: Evolution Channels Gradient Descent in Super Neural Networks</a:t>
            </a:r>
            <a:r>
              <a:rPr lang="en-US" altLang="zh-TW" sz="100" dirty="0">
                <a:latin typeface="Lucida Grande"/>
              </a:rPr>
              <a:t>”, </a:t>
            </a:r>
            <a:r>
              <a:rPr lang="en-US" altLang="zh-TW" sz="100" dirty="0" err="1">
                <a:latin typeface="Lucida Grande"/>
              </a:rPr>
              <a:t>arXiv</a:t>
            </a:r>
            <a:r>
              <a:rPr lang="en-US" altLang="zh-TW" sz="100" dirty="0">
                <a:latin typeface="Lucida Grande"/>
              </a:rPr>
              <a:t> preprint, 2017</a:t>
            </a:r>
            <a:endParaRPr lang="zh-TW" altLang="en-US" sz="100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52850" y="594360"/>
            <a:ext cx="11226165" cy="800608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50520" y="9526905"/>
            <a:ext cx="135680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TW" dirty="0" err="1">
                <a:latin typeface="Lucida Grande"/>
                <a:sym typeface="+mn-ea"/>
              </a:rPr>
              <a:t>Chrisantha</a:t>
            </a:r>
            <a:r>
              <a:rPr lang="en-US" altLang="zh-TW" dirty="0">
                <a:latin typeface="Lucida Grande"/>
                <a:sym typeface="+mn-ea"/>
              </a:rPr>
              <a:t> Fernando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>
                <a:latin typeface="Lucida Grande"/>
                <a:sym typeface="+mn-ea"/>
              </a:rPr>
              <a:t>Dylan </a:t>
            </a:r>
            <a:r>
              <a:rPr lang="en-US" altLang="zh-TW" dirty="0" err="1">
                <a:latin typeface="Lucida Grande"/>
                <a:sym typeface="+mn-ea"/>
              </a:rPr>
              <a:t>Banarse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>
                <a:latin typeface="Lucida Grande"/>
                <a:sym typeface="+mn-ea"/>
              </a:rPr>
              <a:t>Charles Blundell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>
                <a:latin typeface="Lucida Grande"/>
                <a:sym typeface="+mn-ea"/>
              </a:rPr>
              <a:t>Yori </a:t>
            </a:r>
            <a:r>
              <a:rPr lang="en-US" altLang="zh-TW" dirty="0" err="1">
                <a:latin typeface="Lucida Grande"/>
                <a:sym typeface="+mn-ea"/>
              </a:rPr>
              <a:t>Zwols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>
                <a:latin typeface="Lucida Grande"/>
                <a:sym typeface="+mn-ea"/>
              </a:rPr>
              <a:t>David Ha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>
                <a:latin typeface="Lucida Grande"/>
                <a:sym typeface="+mn-ea"/>
              </a:rPr>
              <a:t>Andrei A. </a:t>
            </a:r>
            <a:r>
              <a:rPr lang="en-US" altLang="zh-TW" dirty="0" err="1">
                <a:latin typeface="Lucida Grande"/>
                <a:sym typeface="+mn-ea"/>
              </a:rPr>
              <a:t>Rusu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>
                <a:latin typeface="Lucida Grande"/>
                <a:sym typeface="+mn-ea"/>
              </a:rPr>
              <a:t>Alexander </a:t>
            </a:r>
            <a:r>
              <a:rPr lang="en-US" altLang="zh-TW" dirty="0" err="1">
                <a:latin typeface="Lucida Grande"/>
                <a:sym typeface="+mn-ea"/>
              </a:rPr>
              <a:t>Pritzel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 err="1">
                <a:latin typeface="Lucida Grande"/>
                <a:sym typeface="+mn-ea"/>
              </a:rPr>
              <a:t>Daan</a:t>
            </a:r>
            <a:r>
              <a:rPr lang="en-US" altLang="zh-TW" dirty="0">
                <a:latin typeface="Lucida Grande"/>
                <a:sym typeface="+mn-ea"/>
              </a:rPr>
              <a:t> Wierstra, “</a:t>
            </a:r>
            <a:r>
              <a:rPr lang="en-US" altLang="zh-TW" dirty="0" err="1">
                <a:sym typeface="+mn-ea"/>
              </a:rPr>
              <a:t>PathNet</a:t>
            </a:r>
            <a:r>
              <a:rPr lang="en-US" altLang="zh-TW" dirty="0">
                <a:sym typeface="+mn-ea"/>
              </a:rPr>
              <a:t>: Evolution Channels Gradient Descent in Super Neural Networks</a:t>
            </a:r>
            <a:r>
              <a:rPr lang="en-US" altLang="zh-TW" dirty="0">
                <a:latin typeface="Lucida Grande"/>
                <a:sym typeface="+mn-ea"/>
              </a:rPr>
              <a:t>”, </a:t>
            </a:r>
            <a:r>
              <a:rPr lang="en-US" altLang="zh-TW" dirty="0" err="1">
                <a:latin typeface="Lucida Grande"/>
                <a:sym typeface="+mn-ea"/>
              </a:rPr>
              <a:t>arXiv</a:t>
            </a:r>
            <a:r>
              <a:rPr lang="en-US" altLang="zh-TW" dirty="0">
                <a:latin typeface="Lucida Grande"/>
                <a:sym typeface="+mn-ea"/>
              </a:rPr>
              <a:t> preprint, 2017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A440D355-BDDD-4F84-BB60-FFD170FDA426}"/>
</file>

<file path=customXml/itemProps2.xml><?xml version="1.0" encoding="utf-8"?>
<ds:datastoreItem xmlns:ds="http://schemas.openxmlformats.org/officeDocument/2006/customXml" ds:itemID="{EB51837F-0BDC-4A6F-85F0-D4974522C32A}"/>
</file>

<file path=customXml/itemProps3.xml><?xml version="1.0" encoding="utf-8"?>
<ds:datastoreItem xmlns:ds="http://schemas.openxmlformats.org/officeDocument/2006/customXml" ds:itemID="{8F1E0FD9-AD49-47E9-AEB9-91947CF81674}"/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360</Words>
  <Application>Microsoft Macintosh PowerPoint</Application>
  <PresentationFormat>Custom</PresentationFormat>
  <Paragraphs>52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Lucida Grande</vt:lpstr>
      <vt:lpstr>Wingdings 2</vt:lpstr>
      <vt:lpstr>Breeze</vt:lpstr>
      <vt:lpstr>Multitask Learning</vt:lpstr>
      <vt:lpstr>Transfer Learning - Overview</vt:lpstr>
      <vt:lpstr>Multitask Learning</vt:lpstr>
      <vt:lpstr>Multitask Learning  - Multilingual Speech Recognition</vt:lpstr>
      <vt:lpstr>Multitask Learning - Multilingual</vt:lpstr>
      <vt:lpstr>Progressive Neural Networks</vt:lpstr>
      <vt:lpstr>PowerPoint Presentation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37</cp:revision>
  <dcterms:created xsi:type="dcterms:W3CDTF">2019-02-13T16:04:00Z</dcterms:created>
  <dcterms:modified xsi:type="dcterms:W3CDTF">2024-04-02T17:50:06Z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119EDA08B5DA43C580E5C828C24DFABD</vt:lpwstr>
  </property>
  <property fmtid="{D5CDD505-2E9C-101B-9397-08002B2CF9AE}" pid="5" name="KSOProductBuildVer">
    <vt:lpwstr>1033-11.2.0.11225</vt:lpwstr>
  </property>
</Properties>
</file>