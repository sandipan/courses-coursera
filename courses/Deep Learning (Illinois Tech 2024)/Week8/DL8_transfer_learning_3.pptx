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9" r:id="rId2"/>
    <p:sldId id="282" r:id="rId3"/>
    <p:sldId id="284" r:id="rId4"/>
    <p:sldId id="285" r:id="rId5"/>
    <p:sldId id="286" r:id="rId6"/>
    <p:sldId id="287" r:id="rId7"/>
    <p:sldId id="288" r:id="rId8"/>
    <p:sldId id="289" r:id="rId9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0">
          <p15:clr>
            <a:srgbClr val="A4A3A4"/>
          </p15:clr>
        </p15:guide>
        <p15:guide id="2" pos="57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3795"/>
  </p:normalViewPr>
  <p:slideViewPr>
    <p:cSldViewPr snapToGrid="0" snapToObjects="1">
      <p:cViewPr varScale="1">
        <p:scale>
          <a:sx n="75" d="100"/>
          <a:sy n="75" d="100"/>
        </p:scale>
        <p:origin x="624" y="168"/>
      </p:cViewPr>
      <p:guideLst>
        <p:guide orient="horz" pos="3110"/>
        <p:guide pos="57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B813-8075-40D9-91A0-5550FC56F0A4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B813-8075-40D9-91A0-5550FC56F0A4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5" y="1913467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ym typeface="+mn-ea"/>
              </a:rPr>
              <a:t>Domain-adversarial Training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3500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Transfer Learning - Overview</a:t>
            </a:r>
            <a:endParaRPr lang="zh-TW" altLang="en-US" dirty="0"/>
          </a:p>
        </p:txBody>
      </p:sp>
      <p:cxnSp>
        <p:nvCxnSpPr>
          <p:cNvPr id="4" name="直線接點 3"/>
          <p:cNvCxnSpPr/>
          <p:nvPr/>
        </p:nvCxnSpPr>
        <p:spPr>
          <a:xfrm flipV="1">
            <a:off x="5798594" y="2536034"/>
            <a:ext cx="0" cy="72875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3512255" y="4248611"/>
            <a:ext cx="110973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 rot="16200000">
            <a:off x="1391531" y="6590891"/>
            <a:ext cx="4933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Target Data 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798594" y="2536033"/>
            <a:ext cx="89198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Source Data (not directly related to the task) </a:t>
            </a:r>
          </a:p>
        </p:txBody>
      </p:sp>
      <p:cxnSp>
        <p:nvCxnSpPr>
          <p:cNvPr id="12" name="直線接點 11"/>
          <p:cNvCxnSpPr/>
          <p:nvPr/>
        </p:nvCxnSpPr>
        <p:spPr>
          <a:xfrm>
            <a:off x="4550999" y="6855263"/>
            <a:ext cx="100586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5798594" y="3388163"/>
            <a:ext cx="87909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10368921" y="3388163"/>
            <a:ext cx="0" cy="64354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4550999" y="4224537"/>
            <a:ext cx="0" cy="55990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3512255" y="9823613"/>
            <a:ext cx="112061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6765056" y="3472139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3" name="文字方塊 22"/>
          <p:cNvSpPr txBox="1"/>
          <p:nvPr/>
        </p:nvSpPr>
        <p:spPr>
          <a:xfrm rot="16200000">
            <a:off x="4012421" y="5193315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1221995" y="3490848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25" name="文字方塊 24"/>
          <p:cNvSpPr txBox="1"/>
          <p:nvPr/>
        </p:nvSpPr>
        <p:spPr>
          <a:xfrm rot="16200000">
            <a:off x="3994275" y="7895489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5992590" y="5634785"/>
            <a:ext cx="386967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Multitask Learning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992590" y="4787499"/>
            <a:ext cx="386967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Fine-tuning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992590" y="7020326"/>
            <a:ext cx="416942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Domain-adversarial training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Task description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Source data: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dirty="0"/>
              </a:p>
              <a:p>
                <a:r>
                  <a:rPr lang="en-US" altLang="zh-TW" dirty="0"/>
                  <a:t>Target data: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t="-4" b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/>
          <p:cNvSpPr txBox="1"/>
          <p:nvPr/>
        </p:nvSpPr>
        <p:spPr>
          <a:xfrm>
            <a:off x="8401685" y="2060570"/>
            <a:ext cx="31775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/>
              <a:t>Training data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8401958" y="3263581"/>
            <a:ext cx="31775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/>
              <a:t>Testing data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12802188" y="2275328"/>
            <a:ext cx="2698163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solidFill>
                  <a:srgbClr val="FF0000"/>
                </a:solidFill>
              </a:rPr>
              <a:t>Same task, mismatch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9220" y="5080635"/>
            <a:ext cx="7609840" cy="4387215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1539389" y="6128229"/>
            <a:ext cx="2653131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with label</a:t>
            </a:r>
            <a:endParaRPr lang="zh-TW" altLang="en-US" sz="42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11539389" y="7654347"/>
            <a:ext cx="351963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without label</a:t>
            </a:r>
            <a:endParaRPr lang="zh-TW" altLang="en-US" sz="4200" dirty="0"/>
          </a:p>
        </p:txBody>
      </p:sp>
      <p:cxnSp>
        <p:nvCxnSpPr>
          <p:cNvPr id="11" name="直線單箭頭接點 10"/>
          <p:cNvCxnSpPr/>
          <p:nvPr/>
        </p:nvCxnSpPr>
        <p:spPr>
          <a:xfrm>
            <a:off x="6703060" y="2413635"/>
            <a:ext cx="169862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6694310" y="3507378"/>
            <a:ext cx="170737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右大括弧 13"/>
          <p:cNvSpPr/>
          <p:nvPr/>
        </p:nvSpPr>
        <p:spPr>
          <a:xfrm>
            <a:off x="11949703" y="2274888"/>
            <a:ext cx="482099" cy="1537304"/>
          </a:xfrm>
          <a:prstGeom prst="rightBrace">
            <a:avLst>
              <a:gd name="adj1" fmla="val 47848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4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Domain-adversarial training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753931"/>
            <a:ext cx="13716000" cy="328053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5590540"/>
            <a:ext cx="7368540" cy="43561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6660" y="6326744"/>
            <a:ext cx="3112532" cy="1049436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52949" y="4897749"/>
            <a:ext cx="3398949" cy="1137291"/>
          </a:xfrm>
          <a:prstGeom prst="rect">
            <a:avLst/>
          </a:prstGeom>
        </p:spPr>
      </p:pic>
      <p:cxnSp>
        <p:nvCxnSpPr>
          <p:cNvPr id="8" name="直線單箭頭接點 7"/>
          <p:cNvCxnSpPr/>
          <p:nvPr/>
        </p:nvCxnSpPr>
        <p:spPr>
          <a:xfrm flipV="1">
            <a:off x="11369721" y="6035040"/>
            <a:ext cx="1932623" cy="12210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endCxn id="6" idx="3"/>
          </p:cNvCxnSpPr>
          <p:nvPr/>
        </p:nvCxnSpPr>
        <p:spPr>
          <a:xfrm flipH="1" flipV="1">
            <a:off x="6219192" y="6851462"/>
            <a:ext cx="1605437" cy="4011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H="1" flipV="1">
            <a:off x="6005222" y="7668416"/>
            <a:ext cx="1179350" cy="7723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flipH="1" flipV="1">
            <a:off x="6800852" y="7616106"/>
            <a:ext cx="2571750" cy="10647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724" y="7210935"/>
            <a:ext cx="4542272" cy="272838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Domain-adversarial training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463" y="2758679"/>
            <a:ext cx="7458075" cy="324326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309" y="5428754"/>
            <a:ext cx="4291965" cy="2537378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9085" y="5030225"/>
            <a:ext cx="5080016" cy="1943432"/>
          </a:xfrm>
          <a:prstGeom prst="rect">
            <a:avLst/>
          </a:prstGeom>
        </p:spPr>
      </p:pic>
      <p:sp>
        <p:nvSpPr>
          <p:cNvPr id="8" name="箭號: 向右 7"/>
          <p:cNvSpPr/>
          <p:nvPr/>
        </p:nvSpPr>
        <p:spPr>
          <a:xfrm rot="2380629">
            <a:off x="9710571" y="5025014"/>
            <a:ext cx="822116" cy="80748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文字方塊 8"/>
          <p:cNvSpPr txBox="1"/>
          <p:nvPr/>
        </p:nvSpPr>
        <p:spPr>
          <a:xfrm>
            <a:off x="10695774" y="2235554"/>
            <a:ext cx="4200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Similar to GAN</a:t>
            </a:r>
            <a:endParaRPr lang="zh-TW" altLang="en-US" sz="36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1077175" y="3041843"/>
            <a:ext cx="42005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Too easy to feature extractor ……</a:t>
            </a:r>
            <a:endParaRPr lang="zh-TW" altLang="en-US" sz="36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495" y="7787328"/>
            <a:ext cx="1680519" cy="1680519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705" y="6253619"/>
            <a:ext cx="1460835" cy="1460835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4261611" y="2441462"/>
            <a:ext cx="4200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B050"/>
                </a:solidFill>
              </a:rPr>
              <a:t>feature extractor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1077175" y="4639232"/>
            <a:ext cx="4200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Domain classifier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/>
      <p:bldP spid="10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Domain-adversarial training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872498"/>
            <a:ext cx="7458075" cy="324326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050" y="6022779"/>
            <a:ext cx="5080016" cy="1943432"/>
          </a:xfrm>
          <a:prstGeom prst="rect">
            <a:avLst/>
          </a:prstGeom>
        </p:spPr>
      </p:pic>
      <p:sp>
        <p:nvSpPr>
          <p:cNvPr id="6" name="箭號: 向右 5"/>
          <p:cNvSpPr/>
          <p:nvPr/>
        </p:nvSpPr>
        <p:spPr>
          <a:xfrm rot="2380629">
            <a:off x="9752330" y="6033770"/>
            <a:ext cx="711835" cy="5594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3758" y="3882188"/>
            <a:ext cx="6186488" cy="1628775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3516651" y="6611557"/>
            <a:ext cx="5815743" cy="15684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3200" dirty="0"/>
              <a:t>Not only cheat the domain classifier, but satisfying label classifier at the same time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2609467" y="9275202"/>
            <a:ext cx="1208314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</a:rPr>
              <a:t>This is a big network, but different parts have different goals.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10687050" y="2083934"/>
            <a:ext cx="449852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Maximize label classification accuracy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10560504" y="7966211"/>
            <a:ext cx="449852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Maximize domain classification accuracy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2244882" y="2259035"/>
            <a:ext cx="8315622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Maximize label classification accuracy + minimize domain classification accuracy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3914775" y="3526248"/>
            <a:ext cx="42005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solidFill>
                  <a:srgbClr val="00B050"/>
                </a:solidFill>
              </a:rPr>
              <a:t>feature extractor</a:t>
            </a:r>
          </a:p>
        </p:txBody>
      </p:sp>
      <p:sp>
        <p:nvSpPr>
          <p:cNvPr id="15" name="文字方塊 14"/>
          <p:cNvSpPr txBox="1"/>
          <p:nvPr/>
        </p:nvSpPr>
        <p:spPr>
          <a:xfrm>
            <a:off x="11126795" y="5871051"/>
            <a:ext cx="4200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Domain classifier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1173150" y="3447850"/>
            <a:ext cx="42005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solidFill>
                  <a:srgbClr val="0000FF"/>
                </a:solidFill>
              </a:rPr>
              <a:t>Label predictor</a:t>
            </a:r>
          </a:p>
        </p:txBody>
      </p:sp>
      <p:sp>
        <p:nvSpPr>
          <p:cNvPr id="11" name="矩形 10"/>
          <p:cNvSpPr/>
          <p:nvPr/>
        </p:nvSpPr>
        <p:spPr>
          <a:xfrm>
            <a:off x="10560504" y="5848124"/>
            <a:ext cx="5206562" cy="21180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7" name="矩形 16"/>
          <p:cNvSpPr/>
          <p:nvPr/>
        </p:nvSpPr>
        <p:spPr>
          <a:xfrm>
            <a:off x="10560504" y="3452246"/>
            <a:ext cx="5308616" cy="2220776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矩形 17"/>
          <p:cNvSpPr/>
          <p:nvPr/>
        </p:nvSpPr>
        <p:spPr>
          <a:xfrm>
            <a:off x="3228975" y="3591548"/>
            <a:ext cx="6515100" cy="260282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/>
      <p:bldP spid="10" grpId="0"/>
      <p:bldP spid="12" grpId="0"/>
      <p:bldP spid="13" grpId="0"/>
      <p:bldP spid="16" grpId="0"/>
      <p:bldP spid="11" grpId="0" bldLvl="0" animBg="1"/>
      <p:bldP spid="17" grpId="0" bldLvl="0" animBg="1"/>
      <p:bldP spid="18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Domain-adversarial training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31234"/>
            <a:ext cx="13716000" cy="5811578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2452370" y="6966585"/>
            <a:ext cx="69392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Domain classifier fails in the end</a:t>
            </a:r>
          </a:p>
          <a:p>
            <a:r>
              <a:rPr lang="en-US" altLang="zh-TW" sz="3200" dirty="0">
                <a:sym typeface="+mn-ea"/>
              </a:rPr>
              <a:t>It should struggle ……</a:t>
            </a:r>
            <a:endParaRPr lang="zh-TW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8700866" y="5465300"/>
            <a:ext cx="1456007" cy="12129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Text Box 10"/>
          <p:cNvSpPr txBox="1"/>
          <p:nvPr/>
        </p:nvSpPr>
        <p:spPr>
          <a:xfrm>
            <a:off x="1557020" y="9641840"/>
            <a:ext cx="154120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TW" dirty="0">
                <a:sym typeface="+mn-ea"/>
              </a:rPr>
              <a:t>Yaroslav </a:t>
            </a:r>
            <a:r>
              <a:rPr lang="en-US" altLang="zh-TW" dirty="0" err="1">
                <a:sym typeface="+mn-ea"/>
              </a:rPr>
              <a:t>Ganin</a:t>
            </a:r>
            <a:r>
              <a:rPr lang="en-US" altLang="zh-TW" dirty="0">
                <a:sym typeface="+mn-ea"/>
              </a:rPr>
              <a:t>, Victor </a:t>
            </a:r>
            <a:r>
              <a:rPr lang="en-US" altLang="zh-TW" dirty="0" err="1">
                <a:sym typeface="+mn-ea"/>
              </a:rPr>
              <a:t>Lempitsky</a:t>
            </a:r>
            <a:r>
              <a:rPr lang="en-US" altLang="zh-TW" dirty="0">
                <a:sym typeface="+mn-ea"/>
              </a:rPr>
              <a:t>, Unsupervised Domain Adaptation by Backpropagation, ICML, 2015</a:t>
            </a:r>
            <a:br>
              <a:rPr lang="en-US" altLang="zh-TW" dirty="0">
                <a:sym typeface="+mn-ea"/>
              </a:rPr>
            </a:br>
            <a:r>
              <a:rPr lang="en-US" altLang="zh-TW" dirty="0">
                <a:sym typeface="+mn-ea"/>
              </a:rPr>
              <a:t>Hana </a:t>
            </a:r>
            <a:r>
              <a:rPr lang="en-US" altLang="zh-TW" dirty="0" err="1">
                <a:sym typeface="+mn-ea"/>
              </a:rPr>
              <a:t>Ajakan</a:t>
            </a:r>
            <a:r>
              <a:rPr lang="en-US" altLang="zh-TW" dirty="0">
                <a:sym typeface="+mn-ea"/>
              </a:rPr>
              <a:t>, Pascal Germain, Hugo </a:t>
            </a:r>
            <a:r>
              <a:rPr lang="en-US" altLang="zh-TW" dirty="0" err="1">
                <a:sym typeface="+mn-ea"/>
              </a:rPr>
              <a:t>Larochelle</a:t>
            </a:r>
            <a:r>
              <a:rPr lang="en-US" altLang="zh-TW" dirty="0">
                <a:sym typeface="+mn-ea"/>
              </a:rPr>
              <a:t>, François </a:t>
            </a:r>
            <a:r>
              <a:rPr lang="en-US" altLang="zh-TW" dirty="0" err="1">
                <a:sym typeface="+mn-ea"/>
              </a:rPr>
              <a:t>Laviolette</a:t>
            </a:r>
            <a:r>
              <a:rPr lang="en-US" altLang="zh-TW" dirty="0">
                <a:sym typeface="+mn-ea"/>
              </a:rPr>
              <a:t>, Mario Marchand, Domain-Adversarial Training of Neural Networks, JMLR, 2016 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Domain-adversarial training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225" y="2708439"/>
            <a:ext cx="13411200" cy="266394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121" y="5372379"/>
            <a:ext cx="13229408" cy="3078984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153920" y="9641840"/>
            <a:ext cx="15295245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TW" dirty="0">
                <a:sym typeface="+mn-ea"/>
              </a:rPr>
              <a:t>Yaroslav </a:t>
            </a:r>
            <a:r>
              <a:rPr lang="en-US" altLang="zh-TW" dirty="0" err="1">
                <a:sym typeface="+mn-ea"/>
              </a:rPr>
              <a:t>Ganin</a:t>
            </a:r>
            <a:r>
              <a:rPr lang="en-US" altLang="zh-TW" dirty="0">
                <a:sym typeface="+mn-ea"/>
              </a:rPr>
              <a:t>, Victor </a:t>
            </a:r>
            <a:r>
              <a:rPr lang="en-US" altLang="zh-TW" dirty="0" err="1">
                <a:sym typeface="+mn-ea"/>
              </a:rPr>
              <a:t>Lempitsky</a:t>
            </a:r>
            <a:r>
              <a:rPr lang="en-US" altLang="zh-TW" dirty="0">
                <a:sym typeface="+mn-ea"/>
              </a:rPr>
              <a:t>, Unsupervised Domain Adaptation by Backpropagation, ICML, 2015</a:t>
            </a:r>
          </a:p>
          <a:p>
            <a:pPr algn="l"/>
            <a:r>
              <a:rPr lang="en-US" altLang="zh-TW" dirty="0">
                <a:sym typeface="+mn-ea"/>
              </a:rPr>
              <a:t>Hana </a:t>
            </a:r>
            <a:r>
              <a:rPr lang="en-US" altLang="zh-TW" dirty="0" err="1">
                <a:sym typeface="+mn-ea"/>
              </a:rPr>
              <a:t>Ajakan</a:t>
            </a:r>
            <a:r>
              <a:rPr lang="en-US" altLang="zh-TW" dirty="0">
                <a:sym typeface="+mn-ea"/>
              </a:rPr>
              <a:t>, Pascal Germain, Hugo </a:t>
            </a:r>
            <a:r>
              <a:rPr lang="en-US" altLang="zh-TW" dirty="0" err="1">
                <a:sym typeface="+mn-ea"/>
              </a:rPr>
              <a:t>Larochelle</a:t>
            </a:r>
            <a:r>
              <a:rPr lang="en-US" altLang="zh-TW" dirty="0">
                <a:sym typeface="+mn-ea"/>
              </a:rPr>
              <a:t>, François </a:t>
            </a:r>
            <a:r>
              <a:rPr lang="en-US" altLang="zh-TW" dirty="0" err="1">
                <a:sym typeface="+mn-ea"/>
              </a:rPr>
              <a:t>Laviolette</a:t>
            </a:r>
            <a:r>
              <a:rPr lang="en-US" altLang="zh-TW" dirty="0">
                <a:sym typeface="+mn-ea"/>
              </a:rPr>
              <a:t>, Mario Marchand, Domain-Adversarial Training of Neural Networks, JMLR, 2016 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845F5B62-71E6-415E-AFCB-B5C0FF01D25A}"/>
</file>

<file path=customXml/itemProps2.xml><?xml version="1.0" encoding="utf-8"?>
<ds:datastoreItem xmlns:ds="http://schemas.openxmlformats.org/officeDocument/2006/customXml" ds:itemID="{A2944B8A-BAD2-4CB1-809D-6EDDCAF8FB81}"/>
</file>

<file path=customXml/itemProps3.xml><?xml version="1.0" encoding="utf-8"?>
<ds:datastoreItem xmlns:ds="http://schemas.openxmlformats.org/officeDocument/2006/customXml" ds:itemID="{A5435E39-BA6B-4964-8FDA-42302E5B6EE0}"/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218</Words>
  <Application>Microsoft Macintosh PowerPoint</Application>
  <PresentationFormat>Custom</PresentationFormat>
  <Paragraphs>44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Wingdings 2</vt:lpstr>
      <vt:lpstr>Breeze</vt:lpstr>
      <vt:lpstr>Domain-adversarial Training </vt:lpstr>
      <vt:lpstr>Transfer Learning - Overview</vt:lpstr>
      <vt:lpstr>Task description</vt:lpstr>
      <vt:lpstr>Domain-adversarial training</vt:lpstr>
      <vt:lpstr>Domain-adversarial training</vt:lpstr>
      <vt:lpstr>Domain-adversarial training</vt:lpstr>
      <vt:lpstr>Domain-adversarial training</vt:lpstr>
      <vt:lpstr>Domain-adversarial training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36</cp:revision>
  <dcterms:created xsi:type="dcterms:W3CDTF">2019-02-13T16:04:00Z</dcterms:created>
  <dcterms:modified xsi:type="dcterms:W3CDTF">2024-04-02T18:12:03Z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119EDA08B5DA43C580E5C828C24DFABD</vt:lpwstr>
  </property>
  <property fmtid="{D5CDD505-2E9C-101B-9397-08002B2CF9AE}" pid="5" name="KSOProductBuildVer">
    <vt:lpwstr>1033-11.2.0.11225</vt:lpwstr>
  </property>
</Properties>
</file>