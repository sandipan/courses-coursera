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83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7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86"/>
  </p:normalViewPr>
  <p:slideViewPr>
    <p:cSldViewPr snapToGrid="0" snapToObjects="1">
      <p:cViewPr varScale="1">
        <p:scale>
          <a:sx n="75" d="100"/>
          <a:sy n="75" d="100"/>
        </p:scale>
        <p:origin x="624" y="160"/>
      </p:cViewPr>
      <p:guideLst>
        <p:guide orient="horz" pos="3110"/>
        <p:guide pos="57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5.jpe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11" Type="http://schemas.openxmlformats.org/officeDocument/2006/relationships/image" Target="../media/image10.jpe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0.png"/><Relationship Id="rId7" Type="http://schemas.openxmlformats.org/officeDocument/2006/relationships/image" Target="../media/image5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10.jpeg"/><Relationship Id="rId4" Type="http://schemas.openxmlformats.org/officeDocument/2006/relationships/image" Target="../media/image51.png"/><Relationship Id="rId9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Zero-shot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413374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Dr. Yan Yan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5798594" y="2536034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512255" y="4248611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1391531" y="6590891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798594" y="2536033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4550999" y="6855263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5798594" y="3388163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0368921" y="3388163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50999" y="4224537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512255" y="9823613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65056" y="347213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4012421" y="5193315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1221995" y="3490848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3994275" y="789548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992590" y="5634785"/>
            <a:ext cx="38696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92590" y="4787499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992590" y="7020326"/>
            <a:ext cx="416942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Domain-adversarial training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024631" y="8560994"/>
            <a:ext cx="4169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Zero-shot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101725" y="2419634"/>
                <a:ext cx="16084552" cy="6888006"/>
              </a:xfrm>
            </p:spPr>
            <p:txBody>
              <a:bodyPr/>
              <a:lstStyle/>
              <a:p>
                <a:r>
                  <a:rPr lang="en-US" altLang="zh-TW" dirty="0"/>
                  <a:t>Source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dirty="0"/>
              </a:p>
              <a:p>
                <a:r>
                  <a:rPr lang="en-US" altLang="zh-TW" dirty="0"/>
                  <a:t>Target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1725" y="2419634"/>
                <a:ext cx="16084552" cy="6888006"/>
              </a:xfrm>
              <a:blipFill rotWithShape="1">
                <a:blip r:embed="rId2"/>
                <a:stretch>
                  <a:fillRect t="-4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右大括弧 3"/>
          <p:cNvSpPr/>
          <p:nvPr/>
        </p:nvSpPr>
        <p:spPr>
          <a:xfrm>
            <a:off x="12275780" y="2813524"/>
            <a:ext cx="611945" cy="137636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文字方塊 4"/>
          <p:cNvSpPr txBox="1"/>
          <p:nvPr/>
        </p:nvSpPr>
        <p:spPr>
          <a:xfrm>
            <a:off x="13145603" y="2813428"/>
            <a:ext cx="2270174" cy="13220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Different tasks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9015730" y="2419345"/>
            <a:ext cx="31775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Training data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9016003" y="3625531"/>
            <a:ext cx="31775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Testing data</a:t>
            </a:r>
          </a:p>
        </p:txBody>
      </p:sp>
      <p:cxnSp>
        <p:nvCxnSpPr>
          <p:cNvPr id="9" name="直線單箭頭接點 8"/>
          <p:cNvCxnSpPr/>
          <p:nvPr/>
        </p:nvCxnSpPr>
        <p:spPr>
          <a:xfrm>
            <a:off x="7072630" y="2813685"/>
            <a:ext cx="19431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7072770" y="3993788"/>
            <a:ext cx="170737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389" y="5227670"/>
            <a:ext cx="1303644" cy="1697132"/>
          </a:xfrm>
          <a:prstGeom prst="rect">
            <a:avLst/>
          </a:prstGeom>
        </p:spPr>
      </p:pic>
      <p:pic>
        <p:nvPicPr>
          <p:cNvPr id="12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984" y="5468472"/>
            <a:ext cx="2196776" cy="146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/>
          <p:cNvSpPr txBox="1"/>
          <p:nvPr/>
        </p:nvSpPr>
        <p:spPr>
          <a:xfrm>
            <a:off x="4563000" y="7127205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545854" y="7127204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dog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3586054" y="5771202"/>
                <a:ext cx="730885" cy="645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altLang="zh-TW" sz="3600" dirty="0"/>
                  <a:t>: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054" y="5771202"/>
                <a:ext cx="730885" cy="645160"/>
              </a:xfrm>
              <a:prstGeom prst="rect">
                <a:avLst/>
              </a:prstGeom>
              <a:blipFill rotWithShape="1">
                <a:blip r:embed="rId5"/>
                <a:stretch>
                  <a:fillRect l="-29" t="-50" r="-1362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3579816" y="7083402"/>
                <a:ext cx="743585" cy="645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altLang="zh-TW" sz="3600" dirty="0"/>
                  <a:t>: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816" y="7083402"/>
                <a:ext cx="743585" cy="645160"/>
              </a:xfrm>
              <a:prstGeom prst="rect">
                <a:avLst/>
              </a:prstGeom>
              <a:blipFill rotWithShape="1">
                <a:blip r:embed="rId6"/>
                <a:stretch>
                  <a:fillRect l="-43" t="-95" r="-1323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/>
          <p:cNvSpPr txBox="1"/>
          <p:nvPr/>
        </p:nvSpPr>
        <p:spPr>
          <a:xfrm>
            <a:off x="8208151" y="5718303"/>
            <a:ext cx="1371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……</a:t>
            </a:r>
            <a:endParaRPr lang="zh-TW" altLang="en-US" sz="4200" b="1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8201556" y="6962733"/>
            <a:ext cx="1371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……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9812914" y="5810636"/>
                <a:ext cx="834369" cy="6610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TW" sz="3600" dirty="0"/>
                  <a:t>: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2914" y="5810636"/>
                <a:ext cx="834369" cy="661035"/>
              </a:xfrm>
              <a:prstGeom prst="rect">
                <a:avLst/>
              </a:prstGeom>
              <a:blipFill rotWithShape="1">
                <a:blip r:embed="rId7"/>
                <a:stretch>
                  <a:fillRect l="-31" t="-58" r="29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「草泥馬」的圖片搜尋結果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155" y="5142609"/>
            <a:ext cx="1560593" cy="193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mycoupon.com.tw/files/blog/227615/doc_1292379718484641763.jpe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617" y="5053089"/>
            <a:ext cx="2074115" cy="207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/>
          <p:cNvSpPr/>
          <p:nvPr/>
        </p:nvSpPr>
        <p:spPr>
          <a:xfrm>
            <a:off x="10332434" y="988982"/>
            <a:ext cx="5400402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/>
              <a:t>http://evchk.wikia.com/wiki/%E8%8D%89%E6%B3%A5%E9%A6%AC</a:t>
            </a:r>
            <a:endParaRPr lang="zh-TW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13" grpId="0"/>
      <p:bldP spid="14" grpId="0"/>
      <p:bldP spid="16" grpId="0"/>
      <p:bldP spid="17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Representing each class by its attributes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654911" y="4399084"/>
          <a:ext cx="6303010" cy="4260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1840"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bg2"/>
                        </a:solidFill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furry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4 legs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tail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…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78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Dog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8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Fish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Chimp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…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9371330" y="8938895"/>
            <a:ext cx="44107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sufficient attributes for one to one mapping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9073614" y="6506572"/>
            <a:ext cx="137365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class</a:t>
            </a:r>
            <a:endParaRPr lang="zh-TW" altLang="en-US" sz="36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2070764" y="3701270"/>
            <a:ext cx="21856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attributes</a:t>
            </a:r>
            <a:endParaRPr lang="zh-TW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5833257" y="6256691"/>
            <a:ext cx="2037105" cy="116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NN</a:t>
            </a:r>
          </a:p>
        </p:txBody>
      </p:sp>
      <p:sp>
        <p:nvSpPr>
          <p:cNvPr id="12" name="箭號: 向下 11"/>
          <p:cNvSpPr/>
          <p:nvPr/>
        </p:nvSpPr>
        <p:spPr>
          <a:xfrm flipH="1" flipV="1">
            <a:off x="6432708" y="7480343"/>
            <a:ext cx="838200" cy="669600"/>
          </a:xfrm>
          <a:prstGeom prst="downArrow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2885691" y="3521246"/>
            <a:ext cx="2181609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Training</a:t>
            </a:r>
            <a:endParaRPr lang="zh-TW" altLang="en-US" sz="4200" b="1" i="1" u="sng" dirty="0"/>
          </a:p>
        </p:txBody>
      </p:sp>
      <p:pic>
        <p:nvPicPr>
          <p:cNvPr id="17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257" y="8286488"/>
            <a:ext cx="1977407" cy="131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矩形 17"/>
          <p:cNvSpPr/>
          <p:nvPr/>
        </p:nvSpPr>
        <p:spPr>
          <a:xfrm>
            <a:off x="3269184" y="6247854"/>
            <a:ext cx="2037105" cy="116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NN</a:t>
            </a:r>
          </a:p>
        </p:txBody>
      </p:sp>
      <p:sp>
        <p:nvSpPr>
          <p:cNvPr id="20" name="箭號: 向下 19"/>
          <p:cNvSpPr/>
          <p:nvPr/>
        </p:nvSpPr>
        <p:spPr>
          <a:xfrm flipH="1" flipV="1">
            <a:off x="3868635" y="7471506"/>
            <a:ext cx="838200" cy="669600"/>
          </a:xfrm>
          <a:prstGeom prst="downArrow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3074" name="Picture 2" descr="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134" y="8286488"/>
            <a:ext cx="1849202" cy="131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線單箭頭接點 22"/>
          <p:cNvCxnSpPr/>
          <p:nvPr/>
        </p:nvCxnSpPr>
        <p:spPr>
          <a:xfrm flipV="1">
            <a:off x="3382184" y="5486400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V="1">
            <a:off x="4268685" y="5486400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V="1">
            <a:off x="5125935" y="5486400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2839936" y="4955885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furry</a:t>
            </a:r>
            <a:endParaRPr lang="zh-TW" altLang="en-US" sz="1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725757" y="4952547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4 legs</a:t>
            </a:r>
            <a:endParaRPr lang="zh-TW" altLang="en-US" sz="1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514882" y="4961417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tail</a:t>
            </a:r>
            <a:endParaRPr lang="zh-TW" altLang="en-US" sz="100" dirty="0"/>
          </a:p>
        </p:txBody>
      </p:sp>
      <p:cxnSp>
        <p:nvCxnSpPr>
          <p:cNvPr id="30" name="直線單箭頭接點 29"/>
          <p:cNvCxnSpPr/>
          <p:nvPr/>
        </p:nvCxnSpPr>
        <p:spPr>
          <a:xfrm flipV="1">
            <a:off x="5983371" y="5459199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6869873" y="5459199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V="1">
            <a:off x="7727123" y="5459199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5441124" y="4928684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furry</a:t>
            </a:r>
            <a:endParaRPr lang="zh-TW" altLang="en-US" sz="1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6326944" y="4925346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4 legs</a:t>
            </a:r>
            <a:endParaRPr lang="zh-TW" altLang="en-US" sz="1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116069" y="4934216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tail</a:t>
            </a:r>
            <a:endParaRPr lang="zh-TW" altLang="en-US" sz="100" dirty="0"/>
          </a:p>
        </p:txBody>
      </p:sp>
      <p:sp>
        <p:nvSpPr>
          <p:cNvPr id="27" name="矩形 26"/>
          <p:cNvSpPr/>
          <p:nvPr/>
        </p:nvSpPr>
        <p:spPr>
          <a:xfrm>
            <a:off x="5687319" y="4399440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7" name="矩形 36"/>
          <p:cNvSpPr/>
          <p:nvPr/>
        </p:nvSpPr>
        <p:spPr>
          <a:xfrm>
            <a:off x="6618492" y="4399440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8" name="矩形 37"/>
          <p:cNvSpPr/>
          <p:nvPr/>
        </p:nvSpPr>
        <p:spPr>
          <a:xfrm>
            <a:off x="7475742" y="4399440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9" name="矩形 38"/>
          <p:cNvSpPr/>
          <p:nvPr/>
        </p:nvSpPr>
        <p:spPr>
          <a:xfrm>
            <a:off x="3038748" y="4399440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40" name="矩形 39"/>
          <p:cNvSpPr/>
          <p:nvPr/>
        </p:nvSpPr>
        <p:spPr>
          <a:xfrm>
            <a:off x="3969921" y="4399440"/>
            <a:ext cx="571500" cy="571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41" name="矩形 40"/>
          <p:cNvSpPr/>
          <p:nvPr/>
        </p:nvSpPr>
        <p:spPr>
          <a:xfrm>
            <a:off x="4827171" y="4399440"/>
            <a:ext cx="571500" cy="571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11447904" y="2911351"/>
            <a:ext cx="35433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Database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ldLvl="0" animBg="1"/>
      <p:bldP spid="12" grpId="0" bldLvl="0" animBg="1"/>
      <p:bldP spid="16" grpId="0"/>
      <p:bldP spid="18" grpId="0" bldLvl="0" animBg="1"/>
      <p:bldP spid="20" grpId="0" bldLvl="0" animBg="1"/>
      <p:bldP spid="24" grpId="0"/>
      <p:bldP spid="28" grpId="0"/>
      <p:bldP spid="29" grpId="0"/>
      <p:bldP spid="33" grpId="0"/>
      <p:bldP spid="34" grpId="0"/>
      <p:bldP spid="35" grpId="0"/>
      <p:bldP spid="27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14" name="手繪多邊形: 圖案 13"/>
          <p:cNvSpPr/>
          <p:nvPr/>
        </p:nvSpPr>
        <p:spPr>
          <a:xfrm>
            <a:off x="5676900" y="4306074"/>
            <a:ext cx="2876550" cy="2924681"/>
          </a:xfrm>
          <a:custGeom>
            <a:avLst/>
            <a:gdLst>
              <a:gd name="connsiteX0" fmla="*/ 0 w 1917700"/>
              <a:gd name="connsiteY0" fmla="*/ 197164 h 1657664"/>
              <a:gd name="connsiteX1" fmla="*/ 1231900 w 1917700"/>
              <a:gd name="connsiteY1" fmla="*/ 95564 h 1657664"/>
              <a:gd name="connsiteX2" fmla="*/ 1562100 w 1917700"/>
              <a:gd name="connsiteY2" fmla="*/ 1390964 h 1657664"/>
              <a:gd name="connsiteX3" fmla="*/ 1917700 w 1917700"/>
              <a:gd name="connsiteY3" fmla="*/ 1657664 h 165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7700" h="1657664">
                <a:moveTo>
                  <a:pt x="0" y="197164"/>
                </a:moveTo>
                <a:cubicBezTo>
                  <a:pt x="485775" y="46880"/>
                  <a:pt x="971550" y="-103403"/>
                  <a:pt x="1231900" y="95564"/>
                </a:cubicBezTo>
                <a:cubicBezTo>
                  <a:pt x="1492250" y="294531"/>
                  <a:pt x="1447800" y="1130614"/>
                  <a:pt x="1562100" y="1390964"/>
                </a:cubicBezTo>
                <a:cubicBezTo>
                  <a:pt x="1676400" y="1651314"/>
                  <a:pt x="1797050" y="1654489"/>
                  <a:pt x="1917700" y="1657664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文字方塊 14"/>
          <p:cNvSpPr txBox="1"/>
          <p:nvPr/>
        </p:nvSpPr>
        <p:spPr>
          <a:xfrm>
            <a:off x="8007985" y="3059302"/>
            <a:ext cx="54673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Find the class with the most similar attributes</a:t>
            </a:r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2551430" y="3521075"/>
            <a:ext cx="23539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Testing</a:t>
            </a:r>
            <a:endParaRPr lang="zh-TW" altLang="en-US" sz="4200" b="1" i="1" u="sng" dirty="0"/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4737341" y="5828993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5623842" y="5828993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6481092" y="5828993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195094" y="5298477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furry</a:t>
            </a:r>
            <a:endParaRPr lang="zh-TW" altLang="en-US" sz="1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080914" y="5295140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4 legs</a:t>
            </a:r>
            <a:endParaRPr lang="zh-TW" altLang="en-US" sz="1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870039" y="5304009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tail</a:t>
            </a:r>
            <a:endParaRPr lang="zh-TW" altLang="en-US" sz="100" dirty="0"/>
          </a:p>
        </p:txBody>
      </p:sp>
      <p:sp>
        <p:nvSpPr>
          <p:cNvPr id="25" name="矩形 24"/>
          <p:cNvSpPr/>
          <p:nvPr/>
        </p:nvSpPr>
        <p:spPr>
          <a:xfrm>
            <a:off x="4441289" y="4769234"/>
            <a:ext cx="571500" cy="571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26" name="矩形 25"/>
          <p:cNvSpPr/>
          <p:nvPr/>
        </p:nvSpPr>
        <p:spPr>
          <a:xfrm>
            <a:off x="5372462" y="4769234"/>
            <a:ext cx="571500" cy="571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27" name="矩形 26"/>
          <p:cNvSpPr/>
          <p:nvPr/>
        </p:nvSpPr>
        <p:spPr>
          <a:xfrm>
            <a:off x="6229712" y="4769234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7" name="矩形 16"/>
          <p:cNvSpPr/>
          <p:nvPr/>
        </p:nvSpPr>
        <p:spPr>
          <a:xfrm>
            <a:off x="4605290" y="6256217"/>
            <a:ext cx="2037105" cy="116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NN</a:t>
            </a:r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5614010" y="7476989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「fish」的圖片搜尋結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457" y="7968335"/>
            <a:ext cx="2037105" cy="190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3"/>
          <p:cNvGraphicFramePr>
            <a:graphicFrameLocks noGrp="1"/>
          </p:cNvGraphicFramePr>
          <p:nvPr/>
        </p:nvGraphicFramePr>
        <p:xfrm>
          <a:off x="10348206" y="4769289"/>
          <a:ext cx="6303010" cy="4260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1840"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bg2"/>
                        </a:solidFill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furry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4 legs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tail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…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78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Dog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8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Fish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Chimp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…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字方塊 4"/>
          <p:cNvSpPr txBox="1"/>
          <p:nvPr/>
        </p:nvSpPr>
        <p:spPr>
          <a:xfrm>
            <a:off x="9064625" y="9169400"/>
            <a:ext cx="44107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sufficient attributes for one to one mapping</a:t>
            </a:r>
          </a:p>
        </p:txBody>
      </p:sp>
      <p:sp>
        <p:nvSpPr>
          <p:cNvPr id="9" name="文字方塊 5"/>
          <p:cNvSpPr txBox="1"/>
          <p:nvPr/>
        </p:nvSpPr>
        <p:spPr>
          <a:xfrm>
            <a:off x="8766909" y="6876777"/>
            <a:ext cx="137365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class</a:t>
            </a:r>
            <a:endParaRPr lang="zh-TW" altLang="en-US" sz="3600" dirty="0"/>
          </a:p>
        </p:txBody>
      </p:sp>
      <p:sp>
        <p:nvSpPr>
          <p:cNvPr id="10" name="文字方塊 6"/>
          <p:cNvSpPr txBox="1"/>
          <p:nvPr/>
        </p:nvSpPr>
        <p:spPr>
          <a:xfrm>
            <a:off x="12406679" y="4099415"/>
            <a:ext cx="21856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attributes</a:t>
            </a:r>
            <a:endParaRPr lang="zh-TW" altLang="en-US" sz="3600" dirty="0"/>
          </a:p>
        </p:txBody>
      </p:sp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1098550" y="2050415"/>
            <a:ext cx="16084550" cy="1475105"/>
          </a:xfrm>
        </p:spPr>
        <p:txBody>
          <a:bodyPr/>
          <a:lstStyle/>
          <a:p>
            <a:r>
              <a:rPr lang="en-US" altLang="zh-TW" dirty="0"/>
              <a:t>Representing each class by its attributes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/>
      <p:bldP spid="22" grpId="0"/>
      <p:bldP spid="23" grpId="0"/>
      <p:bldP spid="24" grpId="0"/>
      <p:bldP spid="25" grpId="0" bldLvl="0" animBg="1"/>
      <p:bldP spid="26" grpId="0" bldLvl="0" animBg="1"/>
      <p:bldP spid="27" grpId="0" bldLvl="0" animBg="1"/>
      <p:bldP spid="17" grpId="0" bldLvl="0" animBg="1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Attribute embedding 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933950" y="5010150"/>
            <a:ext cx="8496300" cy="382085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080" y="3692208"/>
            <a:ext cx="1977407" cy="131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6581775" y="8919195"/>
            <a:ext cx="5124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Embedding Space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2241721" y="4497219"/>
            <a:ext cx="2628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r>
              <a:rPr lang="en-US" altLang="zh-TW" sz="3600" baseline="30000" dirty="0"/>
              <a:t>2 </a:t>
            </a:r>
            <a:r>
              <a:rPr lang="en-US" altLang="zh-TW" sz="3600" dirty="0"/>
              <a:t>(attribute of dog)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618586" y="5105863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953125" y="3962400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4444036" y="8211968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424416" y="3803517"/>
            <a:ext cx="2628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r>
              <a:rPr lang="en-US" altLang="zh-TW" sz="3600" baseline="30000" dirty="0"/>
              <a:t>1 </a:t>
            </a:r>
            <a:r>
              <a:rPr lang="en-US" altLang="zh-TW" sz="3600" dirty="0"/>
              <a:t>(attribute of chimp)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016013" y="8127558"/>
            <a:ext cx="3437078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30000" dirty="0"/>
              <a:t>3 </a:t>
            </a:r>
            <a:r>
              <a:rPr lang="en-US" altLang="zh-TW" sz="2800" dirty="0"/>
              <a:t>(attribute of Grass-mud horse)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093177" y="6900711"/>
                <a:ext cx="1155700" cy="538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177" y="6900711"/>
                <a:ext cx="1155700" cy="538480"/>
              </a:xfrm>
              <a:prstGeom prst="rect">
                <a:avLst/>
              </a:prstGeom>
              <a:blipFill rotWithShape="1">
                <a:blip r:embed="rId3"/>
                <a:stretch>
                  <a:fillRect l="-30" t="-31" r="-5574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9528014" y="6353214"/>
                <a:ext cx="1155700" cy="539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014" y="6353214"/>
                <a:ext cx="1155700" cy="539115"/>
              </a:xfrm>
              <a:prstGeom prst="rect">
                <a:avLst/>
              </a:prstGeom>
              <a:blipFill rotWithShape="1">
                <a:blip r:embed="rId4"/>
                <a:stretch>
                  <a:fillRect l="-41" t="-7" r="-5563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橢圓 16"/>
          <p:cNvSpPr/>
          <p:nvPr/>
        </p:nvSpPr>
        <p:spPr>
          <a:xfrm>
            <a:off x="7015692" y="6544374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10929891" y="5991852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橢圓 18"/>
          <p:cNvSpPr/>
          <p:nvPr/>
        </p:nvSpPr>
        <p:spPr>
          <a:xfrm>
            <a:off x="10221854" y="6001758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7838076" y="6544374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8221002" y="7966485"/>
                <a:ext cx="1191895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002" y="7966485"/>
                <a:ext cx="1191895" cy="539750"/>
              </a:xfrm>
              <a:prstGeom prst="rect">
                <a:avLst/>
              </a:prstGeom>
              <a:blipFill rotWithShape="1">
                <a:blip r:embed="rId5"/>
                <a:stretch>
                  <a:fillRect l="-24" t="-76" r="-5623" b="7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10883000" y="6282836"/>
                <a:ext cx="1191895" cy="539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3000" y="6282836"/>
                <a:ext cx="1191895" cy="539115"/>
              </a:xfrm>
              <a:prstGeom prst="rect">
                <a:avLst/>
              </a:prstGeom>
              <a:blipFill rotWithShape="1">
                <a:blip r:embed="rId6"/>
                <a:stretch>
                  <a:fillRect l="-31" t="-27" r="-5616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單箭頭接點 24"/>
          <p:cNvCxnSpPr/>
          <p:nvPr/>
        </p:nvCxnSpPr>
        <p:spPr>
          <a:xfrm>
            <a:off x="5570166" y="5786090"/>
            <a:ext cx="1457855" cy="883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19" idx="1"/>
          </p:cNvCxnSpPr>
          <p:nvPr/>
        </p:nvCxnSpPr>
        <p:spPr>
          <a:xfrm>
            <a:off x="8300763" y="4811277"/>
            <a:ext cx="1965650" cy="1235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H="1">
            <a:off x="8021217" y="4934424"/>
            <a:ext cx="1690313" cy="1690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18" idx="7"/>
          </p:cNvCxnSpPr>
          <p:nvPr/>
        </p:nvCxnSpPr>
        <p:spPr>
          <a:xfrm flipH="1">
            <a:off x="11189603" y="4968870"/>
            <a:ext cx="1066637" cy="10675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2583524" y="1833564"/>
                <a:ext cx="4904376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r>
                  <a:rPr lang="en-US" altLang="zh-TW" sz="2800" dirty="0"/>
                  <a:t> can be NN. </a:t>
                </a:r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3524" y="1833564"/>
                <a:ext cx="4904376" cy="521970"/>
              </a:xfrm>
              <a:prstGeom prst="rect">
                <a:avLst/>
              </a:prstGeom>
              <a:blipFill rotWithShape="1">
                <a:blip r:embed="rId7"/>
                <a:stretch>
                  <a:fillRect l="-7" t="-61" b="6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/>
          <p:cNvSpPr txBox="1"/>
          <p:nvPr/>
        </p:nvSpPr>
        <p:spPr>
          <a:xfrm>
            <a:off x="12583524" y="2520515"/>
            <a:ext cx="49043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Training target: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13491142" y="3252966"/>
                <a:ext cx="4036967" cy="95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800" dirty="0"/>
                  <a:t> as close as possible </a:t>
                </a:r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1142" y="3252966"/>
                <a:ext cx="4036967" cy="953135"/>
              </a:xfrm>
              <a:prstGeom prst="rect">
                <a:avLst/>
              </a:prstGeom>
              <a:blipFill rotWithShape="1">
                <a:blip r:embed="rId8"/>
                <a:stretch>
                  <a:fillRect l="-14" t="-52" r="5" b="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橢圓 34"/>
          <p:cNvSpPr/>
          <p:nvPr/>
        </p:nvSpPr>
        <p:spPr>
          <a:xfrm>
            <a:off x="8790807" y="7602605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6360318" y="7754739"/>
            <a:ext cx="2391911" cy="750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橢圓 37"/>
          <p:cNvSpPr/>
          <p:nvPr/>
        </p:nvSpPr>
        <p:spPr>
          <a:xfrm>
            <a:off x="9745938" y="7602605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9555225" y="7960555"/>
                <a:ext cx="1170940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225" y="7960555"/>
                <a:ext cx="1170940" cy="539750"/>
              </a:xfrm>
              <a:prstGeom prst="rect">
                <a:avLst/>
              </a:prstGeom>
              <a:blipFill rotWithShape="1">
                <a:blip r:embed="rId9"/>
                <a:stretch>
                  <a:fillRect l="-32" t="-36" r="-4848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單箭頭接點 39"/>
          <p:cNvCxnSpPr>
            <a:endCxn id="38" idx="6"/>
          </p:cNvCxnSpPr>
          <p:nvPr/>
        </p:nvCxnSpPr>
        <p:spPr>
          <a:xfrm flipH="1" flipV="1">
            <a:off x="10050209" y="7754741"/>
            <a:ext cx="2533875" cy="7126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7197957" y="6669635"/>
            <a:ext cx="71663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10365395" y="6153893"/>
            <a:ext cx="71663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7467711" y="6905886"/>
                <a:ext cx="1191895" cy="538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11" y="6905886"/>
                <a:ext cx="1191895" cy="538480"/>
              </a:xfrm>
              <a:prstGeom prst="rect">
                <a:avLst/>
              </a:prstGeom>
              <a:blipFill rotWithShape="1">
                <a:blip r:embed="rId10"/>
                <a:stretch>
                  <a:fillRect l="-9" t="-48" r="-5638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" name="Content Placeholder 102"/>
          <p:cNvPicPr>
            <a:picLocks noGrp="1" noChangeAspect="1"/>
          </p:cNvPicPr>
          <p:nvPr>
            <p:ph sz="half" idx="2"/>
          </p:nvPr>
        </p:nvPicPr>
        <p:blipFill>
          <a:blip r:embed="rId11"/>
          <a:stretch>
            <a:fillRect/>
          </a:stretch>
        </p:blipFill>
        <p:spPr>
          <a:xfrm>
            <a:off x="12504420" y="7686040"/>
            <a:ext cx="2103120" cy="1394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Content Placeholder 1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33445" y="4789805"/>
            <a:ext cx="2148840" cy="1363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7" grpId="0" bldLvl="0" animBg="1"/>
      <p:bldP spid="18" grpId="0" bldLvl="0" animBg="1"/>
      <p:bldP spid="19" grpId="0" bldLvl="0" animBg="1"/>
      <p:bldP spid="21" grpId="0" bldLvl="0" animBg="1"/>
      <p:bldP spid="22" grpId="0"/>
      <p:bldP spid="23" grpId="0"/>
      <p:bldP spid="32" grpId="0"/>
      <p:bldP spid="33" grpId="0"/>
      <p:bldP spid="34" grpId="0"/>
      <p:bldP spid="35" grpId="0" bldLvl="0" animBg="1"/>
      <p:bldP spid="38" grpId="0" bldLvl="0" animBg="1"/>
      <p:bldP spid="39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Attribute embedding + word embedding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933950" y="5010150"/>
            <a:ext cx="8496300" cy="382085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080" y="3692208"/>
            <a:ext cx="1977407" cy="131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6581775" y="8919195"/>
            <a:ext cx="5124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Embedding Space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2241721" y="4497219"/>
            <a:ext cx="2628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r>
              <a:rPr lang="en-US" altLang="zh-TW" sz="3600" baseline="30000" dirty="0"/>
              <a:t>2 </a:t>
            </a:r>
            <a:r>
              <a:rPr lang="en-US" altLang="zh-TW" sz="3600" dirty="0"/>
              <a:t>(attribute of dog)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395701" y="4938858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953125" y="3962400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4444036" y="8211968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424416" y="3803517"/>
            <a:ext cx="2628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r>
              <a:rPr lang="en-US" altLang="zh-TW" sz="3600" baseline="30000" dirty="0"/>
              <a:t>1 </a:t>
            </a:r>
            <a:r>
              <a:rPr lang="en-US" altLang="zh-TW" sz="3600" dirty="0"/>
              <a:t>(attribute of chimp)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921635" y="8282305"/>
            <a:ext cx="37598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30000" dirty="0"/>
              <a:t>3 </a:t>
            </a:r>
            <a:r>
              <a:rPr lang="en-US" altLang="zh-TW" sz="2800" dirty="0"/>
              <a:t>(attribute of Grass-mud horse)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093177" y="6900711"/>
                <a:ext cx="1155700" cy="538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177" y="6900711"/>
                <a:ext cx="1155700" cy="538480"/>
              </a:xfrm>
              <a:prstGeom prst="rect">
                <a:avLst/>
              </a:prstGeom>
              <a:blipFill rotWithShape="1">
                <a:blip r:embed="rId3"/>
                <a:stretch>
                  <a:fillRect l="-30" t="-31" r="-5574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9528014" y="6353214"/>
                <a:ext cx="1155700" cy="539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014" y="6353214"/>
                <a:ext cx="1155700" cy="539115"/>
              </a:xfrm>
              <a:prstGeom prst="rect">
                <a:avLst/>
              </a:prstGeom>
              <a:blipFill rotWithShape="1">
                <a:blip r:embed="rId4"/>
                <a:stretch>
                  <a:fillRect l="-41" t="-7" r="-5563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橢圓 16"/>
          <p:cNvSpPr/>
          <p:nvPr/>
        </p:nvSpPr>
        <p:spPr>
          <a:xfrm>
            <a:off x="7015692" y="6544374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10929891" y="5991852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橢圓 18"/>
          <p:cNvSpPr/>
          <p:nvPr/>
        </p:nvSpPr>
        <p:spPr>
          <a:xfrm>
            <a:off x="10221854" y="6001758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7838076" y="6544374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8221002" y="7966485"/>
                <a:ext cx="1191895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002" y="7966485"/>
                <a:ext cx="1191895" cy="539750"/>
              </a:xfrm>
              <a:prstGeom prst="rect">
                <a:avLst/>
              </a:prstGeom>
              <a:blipFill rotWithShape="1">
                <a:blip r:embed="rId5"/>
                <a:stretch>
                  <a:fillRect l="-24" t="-76" r="-5623" b="7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10883000" y="6282836"/>
                <a:ext cx="1191895" cy="539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3000" y="6282836"/>
                <a:ext cx="1191895" cy="539115"/>
              </a:xfrm>
              <a:prstGeom prst="rect">
                <a:avLst/>
              </a:prstGeom>
              <a:blipFill rotWithShape="1">
                <a:blip r:embed="rId6"/>
                <a:stretch>
                  <a:fillRect l="-31" t="-27" r="-5616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單箭頭接點 24"/>
          <p:cNvCxnSpPr/>
          <p:nvPr/>
        </p:nvCxnSpPr>
        <p:spPr>
          <a:xfrm>
            <a:off x="5570166" y="5786090"/>
            <a:ext cx="1457855" cy="883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19" idx="1"/>
          </p:cNvCxnSpPr>
          <p:nvPr/>
        </p:nvCxnSpPr>
        <p:spPr>
          <a:xfrm>
            <a:off x="8300763" y="4811277"/>
            <a:ext cx="1965650" cy="1235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H="1">
            <a:off x="8021217" y="4934424"/>
            <a:ext cx="1690313" cy="1690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18" idx="7"/>
          </p:cNvCxnSpPr>
          <p:nvPr/>
        </p:nvCxnSpPr>
        <p:spPr>
          <a:xfrm flipH="1">
            <a:off x="11189603" y="4968870"/>
            <a:ext cx="1066637" cy="10675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8790807" y="7602605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6360318" y="7754739"/>
            <a:ext cx="2391911" cy="750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橢圓 37"/>
          <p:cNvSpPr/>
          <p:nvPr/>
        </p:nvSpPr>
        <p:spPr>
          <a:xfrm>
            <a:off x="9745938" y="7602605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9555225" y="7960555"/>
                <a:ext cx="1160780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225" y="7960555"/>
                <a:ext cx="1160780" cy="539750"/>
              </a:xfrm>
              <a:prstGeom prst="rect">
                <a:avLst/>
              </a:prstGeom>
              <a:blipFill rotWithShape="1">
                <a:blip r:embed="rId7"/>
                <a:stretch>
                  <a:fillRect l="-33" t="-36" r="-5328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單箭頭接點 39"/>
          <p:cNvCxnSpPr>
            <a:endCxn id="38" idx="6"/>
          </p:cNvCxnSpPr>
          <p:nvPr/>
        </p:nvCxnSpPr>
        <p:spPr>
          <a:xfrm flipH="1" flipV="1">
            <a:off x="10050209" y="7754741"/>
            <a:ext cx="2533875" cy="7126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7197957" y="6669635"/>
            <a:ext cx="71663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10365395" y="6153893"/>
            <a:ext cx="71663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7467711" y="6905886"/>
                <a:ext cx="1191895" cy="538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11" y="6905886"/>
                <a:ext cx="1191895" cy="538480"/>
              </a:xfrm>
              <a:prstGeom prst="rect">
                <a:avLst/>
              </a:prstGeom>
              <a:blipFill rotWithShape="1">
                <a:blip r:embed="rId8"/>
                <a:stretch>
                  <a:fillRect l="-9" t="-48" r="-5638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/>
          <p:cNvSpPr txBox="1"/>
          <p:nvPr/>
        </p:nvSpPr>
        <p:spPr>
          <a:xfrm>
            <a:off x="12947065" y="2309069"/>
            <a:ext cx="4443045" cy="1383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/>
              <a:t>What if we don’t have database</a:t>
            </a:r>
            <a:endParaRPr lang="zh-TW" altLang="en-US" sz="4200" dirty="0"/>
          </a:p>
        </p:txBody>
      </p:sp>
      <p:sp>
        <p:nvSpPr>
          <p:cNvPr id="42" name="矩形 41"/>
          <p:cNvSpPr/>
          <p:nvPr/>
        </p:nvSpPr>
        <p:spPr>
          <a:xfrm>
            <a:off x="9330381" y="3883988"/>
            <a:ext cx="2600715" cy="10550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V(chimp)</a:t>
            </a:r>
          </a:p>
        </p:txBody>
      </p:sp>
      <p:sp>
        <p:nvSpPr>
          <p:cNvPr id="46" name="矩形 45"/>
          <p:cNvSpPr/>
          <p:nvPr/>
        </p:nvSpPr>
        <p:spPr>
          <a:xfrm>
            <a:off x="12281498" y="4575714"/>
            <a:ext cx="2600715" cy="10550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V(dog)</a:t>
            </a:r>
          </a:p>
        </p:txBody>
      </p:sp>
      <p:sp>
        <p:nvSpPr>
          <p:cNvPr id="47" name="矩形 46"/>
          <p:cNvSpPr/>
          <p:nvPr/>
        </p:nvSpPr>
        <p:spPr>
          <a:xfrm>
            <a:off x="2921700" y="8180301"/>
            <a:ext cx="3586004" cy="10550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V(Grass-</a:t>
            </a:r>
            <a:r>
              <a:rPr lang="en-US" altLang="zh-TW" sz="3200" dirty="0" err="1">
                <a:solidFill>
                  <a:schemeClr val="tx1"/>
                </a:solidFill>
              </a:rPr>
              <a:t>mud_horse</a:t>
            </a:r>
            <a:r>
              <a:rPr lang="en-US" altLang="zh-TW" sz="32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9"/>
          <a:stretch>
            <a:fillRect/>
          </a:stretch>
        </p:blipFill>
        <p:spPr>
          <a:xfrm>
            <a:off x="3433445" y="4789805"/>
            <a:ext cx="2148840" cy="13639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Content Placeholder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04420" y="7686040"/>
            <a:ext cx="2103120" cy="13944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  <p:bldP spid="42" grpId="0" bldLvl="0" animBg="1"/>
      <p:bldP spid="46" grpId="0" bldLvl="0" animBg="1"/>
      <p:bldP spid="4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168999" y="2001852"/>
                <a:ext cx="7567295" cy="11677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999" y="2001852"/>
                <a:ext cx="7567295" cy="1167765"/>
              </a:xfrm>
              <a:prstGeom prst="rect">
                <a:avLst/>
              </a:prstGeom>
              <a:blipFill rotWithShape="1">
                <a:blip r:embed="rId2"/>
                <a:stretch>
                  <a:fillRect l="-5" t="-28" r="-356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1449050" y="2282086"/>
            <a:ext cx="25288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Problem?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3112135" y="3458210"/>
                <a:ext cx="13656310" cy="11677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d>
                                <m:dPr>
                                  <m:ctrlP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TW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altLang="zh-TW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altLang="zh-TW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3600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en-US" altLang="zh-TW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36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36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135" y="3458210"/>
                <a:ext cx="13656310" cy="11677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3313333" y="6029809"/>
            <a:ext cx="4705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Zero loss: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666009" y="6108418"/>
                <a:ext cx="8559800" cy="693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009" y="6108418"/>
                <a:ext cx="8559800" cy="693420"/>
              </a:xfrm>
              <a:prstGeom prst="rect">
                <a:avLst/>
              </a:prstGeom>
              <a:blipFill rotWithShape="1">
                <a:blip r:embed="rId4"/>
                <a:stretch>
                  <a:fillRect l="-6" t="-51" r="6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/>
          <p:cNvSpPr txBox="1"/>
          <p:nvPr/>
        </p:nvSpPr>
        <p:spPr>
          <a:xfrm>
            <a:off x="6690918" y="4940529"/>
            <a:ext cx="400960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Margin you defined</a:t>
            </a:r>
            <a:endParaRPr lang="zh-TW" altLang="en-US" sz="3600" dirty="0"/>
          </a:p>
        </p:txBody>
      </p:sp>
      <p:cxnSp>
        <p:nvCxnSpPr>
          <p:cNvPr id="17" name="直線單箭頭接點 16"/>
          <p:cNvCxnSpPr/>
          <p:nvPr/>
        </p:nvCxnSpPr>
        <p:spPr>
          <a:xfrm flipV="1">
            <a:off x="9086850" y="4295698"/>
            <a:ext cx="0" cy="64483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666009" y="7170930"/>
                <a:ext cx="7757795" cy="693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009" y="7170930"/>
                <a:ext cx="7757795" cy="693420"/>
              </a:xfrm>
              <a:prstGeom prst="rect">
                <a:avLst/>
              </a:prstGeom>
              <a:blipFill rotWithShape="1">
                <a:blip r:embed="rId5"/>
                <a:stretch>
                  <a:fillRect l="-7" t="-74" r="7" b="7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3313333" y="8365143"/>
                <a:ext cx="5144867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3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600" dirty="0"/>
                  <a:t> as close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333" y="8365143"/>
                <a:ext cx="5144867" cy="1198880"/>
              </a:xfrm>
              <a:prstGeom prst="rect">
                <a:avLst/>
              </a:prstGeom>
              <a:blipFill rotWithShape="1">
                <a:blip r:embed="rId6"/>
                <a:stretch>
                  <a:fillRect l="-10" t="-24"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9086850" y="8365143"/>
                <a:ext cx="6358554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3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600" dirty="0"/>
                  <a:t> not as close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6850" y="8365143"/>
                <a:ext cx="6358554" cy="645160"/>
              </a:xfrm>
              <a:prstGeom prst="rect">
                <a:avLst/>
              </a:prstGeom>
              <a:blipFill rotWithShape="1">
                <a:blip r:embed="rId7"/>
                <a:stretch>
                  <a:fillRect t="-45" r="5" b="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單箭頭接點 21"/>
          <p:cNvCxnSpPr/>
          <p:nvPr/>
        </p:nvCxnSpPr>
        <p:spPr>
          <a:xfrm flipV="1">
            <a:off x="5353050" y="7895743"/>
            <a:ext cx="1485900" cy="58032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10553700" y="7895743"/>
            <a:ext cx="331451" cy="64483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5750580" y="7755468"/>
            <a:ext cx="2707623" cy="0"/>
          </a:xfrm>
          <a:prstGeom prst="straightConnector1">
            <a:avLst/>
          </a:prstGeom>
          <a:ln w="381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9032088" y="7755468"/>
            <a:ext cx="3706125" cy="0"/>
          </a:xfrm>
          <a:prstGeom prst="straightConnector1">
            <a:avLst/>
          </a:prstGeom>
          <a:ln w="381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3" grpId="0"/>
      <p:bldP spid="14" grpId="0"/>
      <p:bldP spid="15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線接點 18"/>
          <p:cNvCxnSpPr/>
          <p:nvPr/>
        </p:nvCxnSpPr>
        <p:spPr>
          <a:xfrm flipV="1">
            <a:off x="9868578" y="4863908"/>
            <a:ext cx="2410517" cy="33152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Convex Combination of Semantic Embedding</a:t>
            </a:r>
            <a:endParaRPr lang="zh-TW" altLang="en-US" dirty="0"/>
          </a:p>
        </p:txBody>
      </p:sp>
      <p:cxnSp>
        <p:nvCxnSpPr>
          <p:cNvPr id="6" name="直線單箭頭接點 5"/>
          <p:cNvCxnSpPr/>
          <p:nvPr/>
        </p:nvCxnSpPr>
        <p:spPr>
          <a:xfrm flipH="1" flipV="1">
            <a:off x="5092506" y="5085471"/>
            <a:ext cx="0" cy="10254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 flipV="1">
            <a:off x="6174363" y="5085471"/>
            <a:ext cx="0" cy="10254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608909" y="5836610"/>
            <a:ext cx="2037105" cy="116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NN</a:t>
            </a:r>
          </a:p>
        </p:txBody>
      </p:sp>
      <p:cxnSp>
        <p:nvCxnSpPr>
          <p:cNvPr id="9" name="直線單箭頭接點 8"/>
          <p:cNvCxnSpPr/>
          <p:nvPr/>
        </p:nvCxnSpPr>
        <p:spPr>
          <a:xfrm flipH="1" flipV="1">
            <a:off x="5627462" y="7002330"/>
            <a:ext cx="0" cy="10254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498821" y="3839972"/>
            <a:ext cx="101855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lion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588097" y="3825311"/>
            <a:ext cx="12558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tiger</a:t>
            </a:r>
            <a:endParaRPr lang="zh-TW" altLang="en-US" sz="3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464588" y="4378580"/>
            <a:ext cx="12558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0.5</a:t>
            </a:r>
            <a:endParaRPr lang="zh-TW" altLang="en-US" sz="3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546447" y="4376418"/>
            <a:ext cx="12558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0.5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8401352" y="7453252"/>
            <a:ext cx="146722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V(lion)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11891535" y="4026033"/>
            <a:ext cx="24036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V(tiger)</a:t>
            </a:r>
          </a:p>
        </p:txBody>
      </p:sp>
      <p:sp>
        <p:nvSpPr>
          <p:cNvPr id="10" name="橢圓 9"/>
          <p:cNvSpPr/>
          <p:nvPr/>
        </p:nvSpPr>
        <p:spPr>
          <a:xfrm>
            <a:off x="9774738" y="7985018"/>
            <a:ext cx="321465" cy="3214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橢圓 16"/>
          <p:cNvSpPr/>
          <p:nvPr/>
        </p:nvSpPr>
        <p:spPr>
          <a:xfrm>
            <a:off x="12155694" y="4770299"/>
            <a:ext cx="321465" cy="3214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10565664" y="5912160"/>
            <a:ext cx="321465" cy="3214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文字方塊 21"/>
          <p:cNvSpPr txBox="1"/>
          <p:nvPr/>
        </p:nvSpPr>
        <p:spPr>
          <a:xfrm>
            <a:off x="8910245" y="5332269"/>
            <a:ext cx="181547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V(liger)</a:t>
            </a:r>
          </a:p>
        </p:txBody>
      </p:sp>
      <p:sp>
        <p:nvSpPr>
          <p:cNvPr id="21" name="橢圓 20"/>
          <p:cNvSpPr/>
          <p:nvPr/>
        </p:nvSpPr>
        <p:spPr>
          <a:xfrm>
            <a:off x="10980969" y="6306608"/>
            <a:ext cx="301326" cy="2879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文字方塊 23"/>
          <p:cNvSpPr txBox="1"/>
          <p:nvPr/>
        </p:nvSpPr>
        <p:spPr>
          <a:xfrm>
            <a:off x="11027319" y="7241637"/>
            <a:ext cx="4294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0.5V(tiger)+0.5V(lion)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118907" y="4213976"/>
            <a:ext cx="340550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Find the closest word vector</a:t>
            </a:r>
          </a:p>
        </p:txBody>
      </p:sp>
      <p:sp>
        <p:nvSpPr>
          <p:cNvPr id="23" name="文字方塊 22"/>
          <p:cNvSpPr txBox="1"/>
          <p:nvPr/>
        </p:nvSpPr>
        <p:spPr>
          <a:xfrm>
            <a:off x="8401352" y="8630463"/>
            <a:ext cx="665767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Only need off-the-shelf NN for ImageNet and word vector</a:t>
            </a:r>
          </a:p>
        </p:txBody>
      </p:sp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49725" y="7816215"/>
            <a:ext cx="2954655" cy="18757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/>
      <p:bldP spid="11" grpId="0"/>
      <p:bldP spid="12" grpId="0"/>
      <p:bldP spid="13" grpId="0"/>
      <p:bldP spid="14" grpId="0"/>
      <p:bldP spid="15" grpId="0"/>
      <p:bldP spid="10" grpId="0" bldLvl="0" animBg="1"/>
      <p:bldP spid="17" grpId="0" bldLvl="0" animBg="1"/>
      <p:bldP spid="18" grpId="0" bldLvl="0" animBg="1"/>
      <p:bldP spid="22" grpId="0"/>
      <p:bldP spid="21" grpId="0" bldLvl="0" animBg="1"/>
      <p:bldP spid="24" grpId="0"/>
      <p:bldP spid="25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02247"/>
            <a:ext cx="13716000" cy="893960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304424" y="9441852"/>
            <a:ext cx="391160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00" dirty="0"/>
              <a:t>https://arxiv.org/pdf/1312.5650v3.pdf</a:t>
            </a:r>
          </a:p>
        </p:txBody>
      </p:sp>
      <p:sp>
        <p:nvSpPr>
          <p:cNvPr id="2" name="矩形 1"/>
          <p:cNvSpPr/>
          <p:nvPr/>
        </p:nvSpPr>
        <p:spPr>
          <a:xfrm>
            <a:off x="2328204" y="1912328"/>
            <a:ext cx="3228536" cy="30887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2328204" y="5085746"/>
            <a:ext cx="3228536" cy="4428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5598795" y="1917700"/>
            <a:ext cx="2839720" cy="36112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8570595" y="2016760"/>
            <a:ext cx="3375660" cy="35121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11983575" y="2016557"/>
            <a:ext cx="4018425" cy="35107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2327909" y="5613284"/>
            <a:ext cx="3153266" cy="31649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2365838" y="8778240"/>
            <a:ext cx="3153266" cy="4607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12"/>
          <p:cNvSpPr/>
          <p:nvPr/>
        </p:nvSpPr>
        <p:spPr>
          <a:xfrm>
            <a:off x="5674360" y="5613400"/>
            <a:ext cx="2740025" cy="36696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8485505" y="5612765"/>
            <a:ext cx="3472180" cy="3622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矩形 14"/>
          <p:cNvSpPr/>
          <p:nvPr/>
        </p:nvSpPr>
        <p:spPr>
          <a:xfrm>
            <a:off x="12005945" y="5728970"/>
            <a:ext cx="4036695" cy="3510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Zero-shot Learning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3184" y="2046179"/>
            <a:ext cx="12132926" cy="6415284"/>
          </a:xfrm>
        </p:spPr>
      </p:pic>
      <p:sp>
        <p:nvSpPr>
          <p:cNvPr id="5" name="Text Box 4"/>
          <p:cNvSpPr txBox="1"/>
          <p:nvPr/>
        </p:nvSpPr>
        <p:spPr>
          <a:xfrm>
            <a:off x="2025650" y="9641840"/>
            <a:ext cx="120021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dirty="0">
                <a:sym typeface="+mn-ea"/>
              </a:rPr>
              <a:t>Melvin Johnson, Mike Schuster, Quoc V. Le, Maxim </a:t>
            </a:r>
            <a:r>
              <a:rPr lang="en-US" altLang="zh-TW" dirty="0" err="1">
                <a:sym typeface="+mn-ea"/>
              </a:rPr>
              <a:t>Krikun</a:t>
            </a:r>
            <a:r>
              <a:rPr lang="en-US" altLang="zh-TW" dirty="0">
                <a:sym typeface="+mn-ea"/>
              </a:rPr>
              <a:t>, </a:t>
            </a:r>
            <a:r>
              <a:rPr lang="en-US" altLang="zh-TW" dirty="0" err="1">
                <a:sym typeface="+mn-ea"/>
              </a:rPr>
              <a:t>Yonghui</a:t>
            </a:r>
            <a:r>
              <a:rPr lang="en-US" altLang="zh-TW" dirty="0">
                <a:sym typeface="+mn-ea"/>
              </a:rPr>
              <a:t> Wu, </a:t>
            </a:r>
            <a:r>
              <a:rPr lang="en-US" altLang="zh-TW" dirty="0" err="1">
                <a:sym typeface="+mn-ea"/>
              </a:rPr>
              <a:t>Zhifeng</a:t>
            </a:r>
            <a:r>
              <a:rPr lang="en-US" altLang="zh-TW" dirty="0">
                <a:sym typeface="+mn-ea"/>
              </a:rPr>
              <a:t> Chen, Nikhil </a:t>
            </a:r>
            <a:r>
              <a:rPr lang="en-US" altLang="zh-TW" dirty="0" err="1">
                <a:sym typeface="+mn-ea"/>
              </a:rPr>
              <a:t>Thorat</a:t>
            </a:r>
            <a:r>
              <a:rPr lang="en-US" altLang="zh-TW" dirty="0">
                <a:sym typeface="+mn-ea"/>
              </a:rPr>
              <a:t>. Google’s Multilingual Neural Machine Translation System: Enabling Zero-Shot Translation, </a:t>
            </a:r>
            <a:r>
              <a:rPr lang="en-US" altLang="zh-TW" dirty="0" err="1">
                <a:sym typeface="+mn-ea"/>
              </a:rPr>
              <a:t>arXiv</a:t>
            </a:r>
            <a:r>
              <a:rPr lang="en-US" altLang="zh-TW" dirty="0">
                <a:sym typeface="+mn-ea"/>
              </a:rPr>
              <a:t> preprint 2016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Zero-shot Learning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0" y="1854200"/>
            <a:ext cx="12712700" cy="6955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4680359" y="2012159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2394020" y="3724736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273296" y="6067016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80359" y="2012158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3432764" y="6331388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4680359" y="2864288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9250686" y="2864288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432764" y="3700662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2394020" y="9299738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5646821" y="2948264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2894186" y="4669440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103760" y="2966973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2876040" y="7371614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4874355" y="5110910"/>
            <a:ext cx="38696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74355" y="4263624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9293843" y="3769193"/>
            <a:ext cx="4809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Self-taught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874355" y="6496451"/>
            <a:ext cx="416942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Domain-adversarial training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906396" y="8037119"/>
            <a:ext cx="4169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Zero-shot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9293860" y="7216140"/>
            <a:ext cx="478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Self-taught Clustering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110740" y="4554855"/>
            <a:ext cx="401320" cy="967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TW" altLang="zh-TW" sz="2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06774" y="5652337"/>
            <a:ext cx="4207256" cy="1198880"/>
          </a:xfrm>
          <a:prstGeom prst="rect">
            <a:avLst/>
          </a:prstGeom>
          <a:gradFill>
            <a:gsLst>
              <a:gs pos="31000">
                <a:schemeClr val="accent2"/>
              </a:gs>
              <a:gs pos="100000">
                <a:schemeClr val="accent1">
                  <a:tint val="50000"/>
                  <a:satMod val="1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TW" sz="3600" dirty="0">
                <a:solidFill>
                  <a:schemeClr val="tx1"/>
                </a:solidFill>
              </a:rPr>
              <a:t>Different from semi-supervised learning</a:t>
            </a:r>
          </a:p>
        </p:txBody>
      </p:sp>
      <p:graphicFrame>
        <p:nvGraphicFramePr>
          <p:cNvPr id="8" name="表格 27"/>
          <p:cNvGraphicFramePr>
            <a:graphicFrameLocks noGrp="1"/>
          </p:cNvGraphicFramePr>
          <p:nvPr>
            <p:ph idx="1"/>
          </p:nvPr>
        </p:nvGraphicFramePr>
        <p:xfrm>
          <a:off x="9425305" y="4540250"/>
          <a:ext cx="5770880" cy="986155"/>
        </p:xfrm>
        <a:graphic>
          <a:graphicData uri="http://schemas.openxmlformats.org/drawingml/2006/table">
            <a:tbl>
              <a:tblPr/>
              <a:tblGrid>
                <a:gridCol w="577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615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Rajat Raina , Alexis Battle , </a:t>
                      </a: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Honglak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Lee , Benjamin Packer , Andrew Y. Ng,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Self-taught learning: transfer learning from unlabeled data, ICML, 2007</a:t>
                      </a:r>
                    </a:p>
                  </a:txBody>
                  <a:tcPr marL="80545" marR="83901" marT="16780" marB="16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9425305" y="7949565"/>
            <a:ext cx="5313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TW" altLang="en-US" dirty="0">
                <a:sym typeface="+mn-ea"/>
              </a:rPr>
              <a:t>Wenyuan Dai, Qiang Yang, Gui-Rong Xue, Yong Yu, "Self-taught clustering", ICML 2008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Self-taught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Learning to extract better representation from the source data (unsupervised approach)</a:t>
            </a:r>
          </a:p>
          <a:p>
            <a:r>
              <a:rPr lang="en-US" altLang="zh-TW" sz="3600" dirty="0"/>
              <a:t>Extracting better representation for target data</a:t>
            </a:r>
            <a:endParaRPr lang="zh-TW" altLang="en-US" sz="3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750505"/>
            <a:ext cx="13716000" cy="38928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4D3C4D38-BEFB-4FCE-A349-D9E807765799}"/>
</file>

<file path=customXml/itemProps2.xml><?xml version="1.0" encoding="utf-8"?>
<ds:datastoreItem xmlns:ds="http://schemas.openxmlformats.org/officeDocument/2006/customXml" ds:itemID="{EB51D9D0-ACB7-421B-A35A-380FF7A0F489}"/>
</file>

<file path=customXml/itemProps3.xml><?xml version="1.0" encoding="utf-8"?>
<ds:datastoreItem xmlns:ds="http://schemas.openxmlformats.org/officeDocument/2006/customXml" ds:itemID="{D87EC570-D639-46EE-9866-935302E15611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583</Words>
  <Application>Microsoft Macintosh PowerPoint</Application>
  <PresentationFormat>Custom</PresentationFormat>
  <Paragraphs>182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Wingdings 2</vt:lpstr>
      <vt:lpstr>Breeze</vt:lpstr>
      <vt:lpstr>Zero-shot Learning</vt:lpstr>
      <vt:lpstr>Transfer Learning - Overview</vt:lpstr>
      <vt:lpstr>Zero-shot Learning</vt:lpstr>
      <vt:lpstr>Zero-shot Learning</vt:lpstr>
      <vt:lpstr>Zero-shot Learning</vt:lpstr>
      <vt:lpstr>Zero-shot Learning</vt:lpstr>
      <vt:lpstr>Zero-shot Learning</vt:lpstr>
      <vt:lpstr>Zero-shot Learning</vt:lpstr>
      <vt:lpstr>Zero-shot Learning</vt:lpstr>
      <vt:lpstr>PowerPoint Presentation</vt:lpstr>
      <vt:lpstr>Example of Zero-shot Learning</vt:lpstr>
      <vt:lpstr>Example of Zero-shot Learning</vt:lpstr>
      <vt:lpstr>Transfer Learning - Overview</vt:lpstr>
      <vt:lpstr>Self-taught learning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36</cp:revision>
  <dcterms:created xsi:type="dcterms:W3CDTF">2019-02-13T16:04:00Z</dcterms:created>
  <dcterms:modified xsi:type="dcterms:W3CDTF">2024-04-02T17:48:11Z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119EDA08B5DA43C580E5C828C24DFABD</vt:lpwstr>
  </property>
  <property fmtid="{D5CDD505-2E9C-101B-9397-08002B2CF9AE}" pid="5" name="KSOProductBuildVer">
    <vt:lpwstr>1033-11.2.0.11225</vt:lpwstr>
  </property>
</Properties>
</file>