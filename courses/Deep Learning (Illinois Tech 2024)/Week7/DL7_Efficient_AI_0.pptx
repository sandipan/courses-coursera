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59" r:id="rId2"/>
    <p:sldId id="305" r:id="rId3"/>
    <p:sldId id="306" r:id="rId4"/>
  </p:sldIdLst>
  <p:sldSz cx="18288000" cy="10287000"/>
  <p:notesSz cx="6858000" cy="9144000"/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16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3786"/>
  </p:normalViewPr>
  <p:slideViewPr>
    <p:cSldViewPr snapToGrid="0" snapToObjects="1">
      <p:cViewPr varScale="1">
        <p:scale>
          <a:sx n="62" d="100"/>
          <a:sy n="62" d="100"/>
        </p:scale>
        <p:origin x="216" y="616"/>
      </p:cViewPr>
      <p:guideLst>
        <p:guide orient="horz" pos="3116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openxmlformats.org/officeDocument/2006/relationships/customXml" Target="../customXml/item2.xml"/><Relationship Id="rId5" Type="http://schemas.openxmlformats.org/officeDocument/2006/relationships/notesMaster" Target="notesMasters/notesMaster1.xml"/><Relationship Id="rId10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3/26/24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2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2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2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MS PGothic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itchFamily="2" charset="2"/>
        <a:buChar char=""/>
        <a:defRPr sz="4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itchFamily="2" charset="2"/>
        <a:buChar char=""/>
        <a:defRPr sz="4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itchFamily="2" charset="2"/>
        <a:buChar char=""/>
        <a:defRPr sz="4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5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2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75" y="3007744"/>
            <a:ext cx="12998450" cy="1526578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Network Compression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4777" y="5413373"/>
            <a:ext cx="12998450" cy="911227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Instructor: Dr. Yan Yan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Picture 99"/>
          <p:cNvPicPr/>
          <p:nvPr/>
        </p:nvPicPr>
        <p:blipFill>
          <a:blip r:embed="rId2"/>
          <a:stretch>
            <a:fillRect/>
          </a:stretch>
        </p:blipFill>
        <p:spPr>
          <a:xfrm>
            <a:off x="9124315" y="5883910"/>
            <a:ext cx="0" cy="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073995"/>
          </a:xfrm>
        </p:spPr>
        <p:txBody>
          <a:bodyPr/>
          <a:lstStyle/>
          <a:p>
            <a:r>
              <a:rPr lang="en-US" sz="6000" dirty="0"/>
              <a:t>Overview</a:t>
            </a:r>
          </a:p>
        </p:txBody>
      </p:sp>
      <p:pic>
        <p:nvPicPr>
          <p:cNvPr id="102" name="Picture 101"/>
          <p:cNvPicPr/>
          <p:nvPr/>
        </p:nvPicPr>
        <p:blipFill>
          <a:blip r:embed="rId3"/>
          <a:stretch>
            <a:fillRect/>
          </a:stretch>
        </p:blipFill>
        <p:spPr>
          <a:xfrm>
            <a:off x="9124315" y="5883910"/>
            <a:ext cx="0" cy="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" name="Picture 4" descr="ãsmart watchãçåçæå°çµæ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61300" y="1971486"/>
            <a:ext cx="1997075" cy="1997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Box 7"/>
          <p:cNvSpPr txBox="1"/>
          <p:nvPr/>
        </p:nvSpPr>
        <p:spPr>
          <a:xfrm>
            <a:off x="1805269" y="1369729"/>
            <a:ext cx="15016239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TW" sz="2800" dirty="0">
                <a:sym typeface="+mn-ea"/>
              </a:rPr>
              <a:t>Deploying DL models in resource-constrained environments with Lower latency, Privacy, etc. </a:t>
            </a:r>
            <a:endParaRPr lang="zh-TW" altLang="en-US" sz="28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DBE067D-1590-1BA6-5355-8B0C752EA712}"/>
              </a:ext>
            </a:extLst>
          </p:cNvPr>
          <p:cNvSpPr txBox="1">
            <a:spLocks/>
          </p:cNvSpPr>
          <p:nvPr/>
        </p:nvSpPr>
        <p:spPr bwMode="auto">
          <a:xfrm>
            <a:off x="776377" y="4047098"/>
            <a:ext cx="5184923" cy="5035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no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5600" b="1" kern="1200">
                <a:solidFill>
                  <a:schemeClr val="accent1"/>
                </a:solidFill>
                <a:latin typeface="+mj-lt"/>
                <a:ea typeface="MS PGothic" panose="020B0600070205080204" pitchFamily="34" charset="-128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9144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18288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27432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6576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Bold Oblique" pitchFamily="2" charset="0"/>
              </a:rPr>
              <a:t>Model Compression</a:t>
            </a:r>
            <a:endParaRPr lang="en-US" sz="3200" dirty="0">
              <a:solidFill>
                <a:srgbClr val="FF0000"/>
              </a:solidFill>
              <a:latin typeface="Helvetica Bold Oblique" pitchFamily="2" charset="0"/>
            </a:endParaRPr>
          </a:p>
        </p:txBody>
      </p:sp>
      <p:pic>
        <p:nvPicPr>
          <p:cNvPr id="9" name="图片占位符 15" descr="图示&#10;&#10;描述已自动生成">
            <a:extLst>
              <a:ext uri="{FF2B5EF4-FFF2-40B4-BE49-F238E27FC236}">
                <a16:creationId xmlns:a16="http://schemas.microsoft.com/office/drawing/2014/main" id="{8B7B53D7-9A4F-7A10-98B3-0421EAE0E8D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" r="315"/>
          <a:stretch/>
        </p:blipFill>
        <p:spPr>
          <a:xfrm>
            <a:off x="5631340" y="4956472"/>
            <a:ext cx="4040819" cy="225584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CE2830A-295D-B3DA-5918-57AC2A478649}"/>
              </a:ext>
            </a:extLst>
          </p:cNvPr>
          <p:cNvSpPr txBox="1"/>
          <p:nvPr/>
        </p:nvSpPr>
        <p:spPr>
          <a:xfrm>
            <a:off x="1683749" y="6096302"/>
            <a:ext cx="30299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Model Pruning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EC7791-230B-22F7-C3DA-E564279FA0D7}"/>
              </a:ext>
            </a:extLst>
          </p:cNvPr>
          <p:cNvSpPr txBox="1"/>
          <p:nvPr/>
        </p:nvSpPr>
        <p:spPr>
          <a:xfrm>
            <a:off x="9799321" y="5453917"/>
            <a:ext cx="797333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 dirty="0"/>
              <a:t>Set individual </a:t>
            </a:r>
            <a:r>
              <a:rPr lang="en-US" altLang="zh-CN" sz="2800" b="1" dirty="0"/>
              <a:t>parameters to zero </a:t>
            </a:r>
            <a:r>
              <a:rPr lang="en-US" altLang="zh-CN" sz="2800" dirty="0"/>
              <a:t>and make the network sparse.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 b="1" dirty="0"/>
              <a:t>Remove</a:t>
            </a:r>
            <a:r>
              <a:rPr lang="en-US" altLang="zh-CN" sz="2800" dirty="0"/>
              <a:t> entire nodes from the network.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EFACC8-FE05-A712-B329-5DB293D74403}"/>
              </a:ext>
            </a:extLst>
          </p:cNvPr>
          <p:cNvSpPr txBox="1"/>
          <p:nvPr/>
        </p:nvSpPr>
        <p:spPr>
          <a:xfrm>
            <a:off x="1179606" y="8528420"/>
            <a:ext cx="40382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/>
              <a:t>Knowledge Distillation</a:t>
            </a:r>
          </a:p>
        </p:txBody>
      </p:sp>
      <p:pic>
        <p:nvPicPr>
          <p:cNvPr id="13" name="内容占位符 4" descr="图示&#10;&#10;描述已自动生成">
            <a:extLst>
              <a:ext uri="{FF2B5EF4-FFF2-40B4-BE49-F238E27FC236}">
                <a16:creationId xmlns:a16="http://schemas.microsoft.com/office/drawing/2014/main" id="{6356A5CA-9382-5753-453D-19FD8D61B92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5" r="-147"/>
          <a:stretch/>
        </p:blipFill>
        <p:spPr>
          <a:xfrm>
            <a:off x="5664493" y="7364171"/>
            <a:ext cx="4007666" cy="258298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0948A93-D469-FF89-CBD3-2BB09E4466C5}"/>
              </a:ext>
            </a:extLst>
          </p:cNvPr>
          <p:cNvSpPr txBox="1"/>
          <p:nvPr/>
        </p:nvSpPr>
        <p:spPr>
          <a:xfrm>
            <a:off x="9799319" y="7963164"/>
            <a:ext cx="797333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 dirty="0"/>
              <a:t>Transfer the knowledge from a large model or set of models to a single smaller model. </a:t>
            </a:r>
          </a:p>
        </p:txBody>
      </p:sp>
      <p:pic>
        <p:nvPicPr>
          <p:cNvPr id="2" name="图片 4" descr="图片包含 游戏机, 体育, 桌子&#10;&#10;描述已自动生成">
            <a:extLst>
              <a:ext uri="{FF2B5EF4-FFF2-40B4-BE49-F238E27FC236}">
                <a16:creationId xmlns:a16="http://schemas.microsoft.com/office/drawing/2014/main" id="{100F5F79-F0F2-8472-8FBD-3482CFD8C1C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217" y="2076873"/>
            <a:ext cx="4040819" cy="1691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35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4" grpId="0"/>
      <p:bldP spid="10" grpId="0"/>
      <p:bldP spid="11" grpId="0"/>
      <p:bldP spid="12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Picture 99"/>
          <p:cNvPicPr/>
          <p:nvPr/>
        </p:nvPicPr>
        <p:blipFill>
          <a:blip r:embed="rId2"/>
          <a:stretch>
            <a:fillRect/>
          </a:stretch>
        </p:blipFill>
        <p:spPr>
          <a:xfrm>
            <a:off x="9124315" y="5883910"/>
            <a:ext cx="0" cy="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" name="Picture 101"/>
          <p:cNvPicPr/>
          <p:nvPr/>
        </p:nvPicPr>
        <p:blipFill>
          <a:blip r:embed="rId3"/>
          <a:stretch>
            <a:fillRect/>
          </a:stretch>
        </p:blipFill>
        <p:spPr>
          <a:xfrm>
            <a:off x="9124315" y="5883910"/>
            <a:ext cx="0" cy="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" name="内容占位符 7" descr="图表, 瀑布图&#10;&#10;描述已自动生成">
            <a:extLst>
              <a:ext uri="{FF2B5EF4-FFF2-40B4-BE49-F238E27FC236}">
                <a16:creationId xmlns:a16="http://schemas.microsoft.com/office/drawing/2014/main" id="{DD7A777A-3826-0011-1A36-948843217E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68"/>
          <a:stretch/>
        </p:blipFill>
        <p:spPr>
          <a:xfrm>
            <a:off x="531074" y="2682859"/>
            <a:ext cx="4553310" cy="2250207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8D858AC-FF27-9C46-A72C-8B5A1B7B81E0}"/>
              </a:ext>
            </a:extLst>
          </p:cNvPr>
          <p:cNvSpPr txBox="1"/>
          <p:nvPr/>
        </p:nvSpPr>
        <p:spPr>
          <a:xfrm>
            <a:off x="376160" y="1902373"/>
            <a:ext cx="30661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Quantization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549975-9072-339E-4DA5-91421C8F02BF}"/>
              </a:ext>
            </a:extLst>
          </p:cNvPr>
          <p:cNvSpPr txBox="1"/>
          <p:nvPr/>
        </p:nvSpPr>
        <p:spPr>
          <a:xfrm>
            <a:off x="5291418" y="2682859"/>
            <a:ext cx="1299658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 b="1" dirty="0"/>
              <a:t>Reduce the precision </a:t>
            </a:r>
            <a:r>
              <a:rPr lang="en-US" altLang="zh-CN" sz="2800" dirty="0"/>
              <a:t>of the weights, biases, and activations such that they consume less memory.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 dirty="0"/>
              <a:t>Going from 32-bit to 8-bit, for example, would reduce the model size by a factor of 4, so one obvious benefit of quantization is a significant reduction in memory.</a:t>
            </a:r>
          </a:p>
        </p:txBody>
      </p:sp>
      <p:sp>
        <p:nvSpPr>
          <p:cNvPr id="28" name="Title 4">
            <a:extLst>
              <a:ext uri="{FF2B5EF4-FFF2-40B4-BE49-F238E27FC236}">
                <a16:creationId xmlns:a16="http://schemas.microsoft.com/office/drawing/2014/main" id="{62C4F4A1-FEB1-4D0B-5689-4B48E908D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2529374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>
            <a:fillRect/>
          </a:stretch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7" ma:contentTypeDescription="Create a new document." ma:contentTypeScope="" ma:versionID="6dd4d27a79178d964495491d99d85ab0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5371f2543c27c65efb9018a9acd511a8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DC5EF73-5EFC-47C1-88EA-D453906DDA9E}"/>
</file>

<file path=customXml/itemProps2.xml><?xml version="1.0" encoding="utf-8"?>
<ds:datastoreItem xmlns:ds="http://schemas.openxmlformats.org/officeDocument/2006/customXml" ds:itemID="{6AEF9413-A290-47B2-9E76-F04AE13F7C6D}"/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117</Words>
  <Application>Microsoft Macintosh PowerPoint</Application>
  <PresentationFormat>Custom</PresentationFormat>
  <Paragraphs>14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Helvetica Bold Oblique</vt:lpstr>
      <vt:lpstr>Wingdings 2</vt:lpstr>
      <vt:lpstr>Breeze</vt:lpstr>
      <vt:lpstr>Network Compression</vt:lpstr>
      <vt:lpstr>Overview</vt:lpstr>
      <vt:lpstr>Overview</vt:lpstr>
    </vt:vector>
  </TitlesOfParts>
  <Company>Illinois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creator>Sandra Laporte</dc:creator>
  <cp:lastModifiedBy>Tom Yan</cp:lastModifiedBy>
  <cp:revision>32</cp:revision>
  <dcterms:created xsi:type="dcterms:W3CDTF">2019-02-13T16:04:00Z</dcterms:created>
  <dcterms:modified xsi:type="dcterms:W3CDTF">2024-03-26T15:39:16Z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ediaServiceImageTags">
    <vt:lpwstr/>
  </property>
  <property fmtid="{D5CDD505-2E9C-101B-9397-08002B2CF9AE}" pid="4" name="ICV">
    <vt:lpwstr>6C5E8AC3588247708D265E8177A4AA55</vt:lpwstr>
  </property>
  <property fmtid="{D5CDD505-2E9C-101B-9397-08002B2CF9AE}" pid="5" name="KSOProductBuildVer">
    <vt:lpwstr>1033-11.2.0.11225</vt:lpwstr>
  </property>
</Properties>
</file>