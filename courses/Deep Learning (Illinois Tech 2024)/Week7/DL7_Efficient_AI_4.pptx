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88" r:id="rId2"/>
    <p:sldId id="289" r:id="rId3"/>
    <p:sldId id="293" r:id="rId4"/>
    <p:sldId id="294" r:id="rId5"/>
    <p:sldId id="295" r:id="rId6"/>
    <p:sldId id="296" r:id="rId7"/>
    <p:sldId id="297" r:id="rId8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73"/>
    <p:restoredTop sz="93453"/>
  </p:normalViewPr>
  <p:slideViewPr>
    <p:cSldViewPr snapToGrid="0" snapToObjects="1">
      <p:cViewPr varScale="1">
        <p:scale>
          <a:sx n="73" d="100"/>
          <a:sy n="73" d="100"/>
        </p:scale>
        <p:origin x="256" y="256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6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22BD70-4397-4067-AAF5-075DD707A23D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555874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7200" dirty="0">
                <a:sym typeface="+mn-ea"/>
              </a:rPr>
              <a:t>Architecture Design</a:t>
            </a:r>
            <a:br>
              <a:rPr lang="en-US" dirty="0"/>
            </a:b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5FD37-8101-AC7B-6639-2ED249AAF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55875" y="4189730"/>
          <a:ext cx="2884170" cy="290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401050" y="192976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11906145" y="2630009"/>
                <a:ext cx="3775075" cy="1107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×3×2×4=72</m:t>
                      </m:r>
                    </m:oMath>
                  </m:oMathPara>
                </a14:m>
                <a:endParaRPr lang="en-US" altLang="zh-TW" sz="3600" dirty="0"/>
              </a:p>
              <a:p>
                <a:pPr algn="ctr"/>
                <a:r>
                  <a:rPr lang="zh-TW" altLang="en-US" sz="3600" dirty="0"/>
                  <a:t> </a:t>
                </a:r>
                <a:r>
                  <a:rPr lang="en-US" altLang="zh-TW" sz="3600" dirty="0"/>
                  <a:t>parameters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6145" y="2630009"/>
                <a:ext cx="3775075" cy="1107440"/>
              </a:xfrm>
              <a:prstGeom prst="rect">
                <a:avLst/>
              </a:prstGeom>
              <a:blipFill rotWithShape="1">
                <a:blip r:embed="rId3"/>
                <a:stretch>
                  <a:fillRect l="-14" t="-43" r="-1853" b="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>
            <a:off x="2083353" y="3289665"/>
            <a:ext cx="4083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Input feature map</a:t>
            </a:r>
            <a:endParaRPr lang="zh-TW" altLang="en-US" sz="36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085507" y="7347508"/>
            <a:ext cx="4083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2 channels</a:t>
            </a:r>
            <a:endParaRPr lang="zh-TW" altLang="en-US" sz="3600" dirty="0"/>
          </a:p>
        </p:txBody>
      </p:sp>
      <p:sp>
        <p:nvSpPr>
          <p:cNvPr id="28" name="矩形 27"/>
          <p:cNvSpPr/>
          <p:nvPr/>
        </p:nvSpPr>
        <p:spPr>
          <a:xfrm>
            <a:off x="7933055" y="1544320"/>
            <a:ext cx="2653030" cy="8489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3" name="表格 4"/>
          <p:cNvGraphicFramePr>
            <a:graphicFrameLocks noGrp="1"/>
          </p:cNvGraphicFramePr>
          <p:nvPr/>
        </p:nvGraphicFramePr>
        <p:xfrm>
          <a:off x="2682875" y="4316730"/>
          <a:ext cx="2884170" cy="2903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6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7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9"/>
          <p:cNvGraphicFramePr>
            <a:graphicFrameLocks noGrp="1"/>
          </p:cNvGraphicFramePr>
          <p:nvPr/>
        </p:nvGraphicFramePr>
        <p:xfrm>
          <a:off x="8528050" y="205676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 9"/>
          <p:cNvGraphicFramePr>
            <a:graphicFrameLocks noGrp="1"/>
          </p:cNvGraphicFramePr>
          <p:nvPr/>
        </p:nvGraphicFramePr>
        <p:xfrm>
          <a:off x="8401050" y="398843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9"/>
          <p:cNvGraphicFramePr>
            <a:graphicFrameLocks noGrp="1"/>
          </p:cNvGraphicFramePr>
          <p:nvPr/>
        </p:nvGraphicFramePr>
        <p:xfrm>
          <a:off x="8528050" y="411543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表格 9"/>
          <p:cNvGraphicFramePr>
            <a:graphicFrameLocks noGrp="1"/>
          </p:cNvGraphicFramePr>
          <p:nvPr/>
        </p:nvGraphicFramePr>
        <p:xfrm>
          <a:off x="8401050" y="617410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9"/>
          <p:cNvGraphicFramePr>
            <a:graphicFrameLocks noGrp="1"/>
          </p:cNvGraphicFramePr>
          <p:nvPr/>
        </p:nvGraphicFramePr>
        <p:xfrm>
          <a:off x="8528050" y="630110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9"/>
          <p:cNvGraphicFramePr>
            <a:graphicFrameLocks noGrp="1"/>
          </p:cNvGraphicFramePr>
          <p:nvPr/>
        </p:nvGraphicFramePr>
        <p:xfrm>
          <a:off x="8401050" y="810577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表格 9"/>
          <p:cNvGraphicFramePr>
            <a:graphicFrameLocks noGrp="1"/>
          </p:cNvGraphicFramePr>
          <p:nvPr/>
        </p:nvGraphicFramePr>
        <p:xfrm>
          <a:off x="8528050" y="8232775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標題 1"/>
          <p:cNvSpPr>
            <a:spLocks noGrp="1"/>
          </p:cNvSpPr>
          <p:nvPr/>
        </p:nvSpPr>
        <p:spPr>
          <a:xfrm>
            <a:off x="1101725" y="-205665"/>
            <a:ext cx="16084552" cy="15514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TW" dirty="0">
                <a:sym typeface="+mn-ea"/>
              </a:rPr>
              <a:t>Review: Standard CNN </a:t>
            </a:r>
            <a:endParaRPr lang="zh-TW" altLang="en-US" dirty="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12350115" y="4115435"/>
          <a:ext cx="2632710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2" name="表格 4"/>
          <p:cNvGraphicFramePr>
            <a:graphicFrameLocks noGrp="1"/>
          </p:cNvGraphicFramePr>
          <p:nvPr/>
        </p:nvGraphicFramePr>
        <p:xfrm>
          <a:off x="12477115" y="4242435"/>
          <a:ext cx="2632710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" name="表格 4"/>
          <p:cNvGraphicFramePr>
            <a:graphicFrameLocks noGrp="1"/>
          </p:cNvGraphicFramePr>
          <p:nvPr/>
        </p:nvGraphicFramePr>
        <p:xfrm>
          <a:off x="12604115" y="4369435"/>
          <a:ext cx="2632710" cy="2537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" name="表格 4"/>
          <p:cNvGraphicFramePr>
            <a:graphicFrameLocks noGrp="1"/>
          </p:cNvGraphicFramePr>
          <p:nvPr/>
        </p:nvGraphicFramePr>
        <p:xfrm>
          <a:off x="12731115" y="4496435"/>
          <a:ext cx="2632710" cy="2583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8" grpId="0" animBg="1"/>
      <p:bldP spid="2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23385" y="2388235"/>
          <a:ext cx="3326130" cy="3688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4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46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895715" y="2082800"/>
          <a:ext cx="1610360" cy="1609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1944350" y="3323590"/>
          <a:ext cx="216662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8895715" y="4266565"/>
          <a:ext cx="1642110" cy="18040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7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34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2327255" y="3757295"/>
          <a:ext cx="1981200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文字方塊 46"/>
          <p:cNvSpPr txBox="1"/>
          <p:nvPr/>
        </p:nvSpPr>
        <p:spPr>
          <a:xfrm>
            <a:off x="4003598" y="7719222"/>
            <a:ext cx="9272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Each filter only considers one channel.</a:t>
            </a:r>
            <a:endParaRPr lang="zh-TW" altLang="en-US" sz="36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4003599" y="6859572"/>
            <a:ext cx="9272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Filter number = Input channel number  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4003598" y="8578872"/>
                <a:ext cx="9272846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3600" dirty="0"/>
                  <a:t>The filters are </a:t>
                </a:r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sz="3600" dirty="0"/>
                  <a:t> </a:t>
                </a:r>
                <a:r>
                  <a:rPr lang="en-US" altLang="zh-TW" sz="3600" dirty="0"/>
                  <a:t>matrices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8" y="8578872"/>
                <a:ext cx="9272846" cy="645160"/>
              </a:xfrm>
              <a:prstGeom prst="rect">
                <a:avLst/>
              </a:prstGeom>
              <a:blipFill rotWithShape="1">
                <a:blip r:embed="rId3"/>
                <a:stretch>
                  <a:fillRect l="-6" t="-3" r="5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4223385" y="2388235"/>
          <a:ext cx="1666875" cy="187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36745" y="2751455"/>
          <a:ext cx="3242310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16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" name="表格 52"/>
          <p:cNvGraphicFramePr>
            <a:graphicFrameLocks noGrp="1"/>
          </p:cNvGraphicFramePr>
          <p:nvPr/>
        </p:nvGraphicFramePr>
        <p:xfrm>
          <a:off x="4411980" y="2790825"/>
          <a:ext cx="1668780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24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5" name="表格 54"/>
          <p:cNvGraphicFramePr>
            <a:graphicFrameLocks noGrp="1"/>
          </p:cNvGraphicFramePr>
          <p:nvPr/>
        </p:nvGraphicFramePr>
        <p:xfrm>
          <a:off x="4467225" y="3397885"/>
          <a:ext cx="1613535" cy="1800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/>
        </p:nvGraphicFramePr>
        <p:xfrm>
          <a:off x="4465320" y="4059555"/>
          <a:ext cx="1615440" cy="1914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4436745" y="4662170"/>
          <a:ext cx="1626870" cy="1960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41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文字方塊 61"/>
          <p:cNvSpPr txBox="1"/>
          <p:nvPr/>
        </p:nvSpPr>
        <p:spPr>
          <a:xfrm>
            <a:off x="3974414" y="9446892"/>
            <a:ext cx="9272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There is no interaction between channels.</a:t>
            </a:r>
            <a:endParaRPr lang="zh-TW" altLang="en-US" sz="3600" dirty="0"/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7795131" y="4836318"/>
            <a:ext cx="1100799" cy="3614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手繪多邊形: 圖案 8"/>
          <p:cNvSpPr/>
          <p:nvPr/>
        </p:nvSpPr>
        <p:spPr>
          <a:xfrm>
            <a:off x="7509753" y="2100684"/>
            <a:ext cx="1342418" cy="321503"/>
          </a:xfrm>
          <a:custGeom>
            <a:avLst/>
            <a:gdLst>
              <a:gd name="connsiteX0" fmla="*/ 894945 w 894945"/>
              <a:gd name="connsiteY0" fmla="*/ 214335 h 214335"/>
              <a:gd name="connsiteX1" fmla="*/ 389107 w 894945"/>
              <a:gd name="connsiteY1" fmla="*/ 327 h 214335"/>
              <a:gd name="connsiteX2" fmla="*/ 0 w 894945"/>
              <a:gd name="connsiteY2" fmla="*/ 175425 h 214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4945" h="214335">
                <a:moveTo>
                  <a:pt x="894945" y="214335"/>
                </a:moveTo>
                <a:cubicBezTo>
                  <a:pt x="716604" y="110573"/>
                  <a:pt x="538264" y="6812"/>
                  <a:pt x="389107" y="327"/>
                </a:cubicBezTo>
                <a:cubicBezTo>
                  <a:pt x="239949" y="-6158"/>
                  <a:pt x="119974" y="84633"/>
                  <a:pt x="0" y="175425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725" y="1364615"/>
            <a:ext cx="16084550" cy="1034415"/>
          </a:xfrm>
        </p:spPr>
        <p:txBody>
          <a:bodyPr/>
          <a:lstStyle/>
          <a:p>
            <a:r>
              <a:rPr lang="en-US" altLang="zh-TW" dirty="0" err="1">
                <a:sym typeface="+mn-ea"/>
              </a:rPr>
              <a:t>Depthwise</a:t>
            </a:r>
            <a:r>
              <a:rPr lang="en-US" altLang="zh-TW" dirty="0">
                <a:sym typeface="+mn-ea"/>
              </a:rPr>
              <a:t> Convolution </a:t>
            </a:r>
            <a:endParaRPr lang="zh-TW" altLang="en-US" b="1" dirty="0"/>
          </a:p>
          <a:p>
            <a:endParaRPr lang="en-US" b="1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01725" y="-337110"/>
            <a:ext cx="16084552" cy="1551434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Depthwise Separable Convolution </a:t>
            </a:r>
            <a:endParaRPr lang="en-US" altLang="zh-TW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96296E-6 L 0.11806 -0.0002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0.11806 -0.0002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111E-6 L 0.11806 -0.000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4.07407E-6 L 0.11805 -0.00024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96296E-6 L 0.11806 -0.00023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2" grpId="0"/>
      <p:bldP spid="62" grpId="0"/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23385" y="2388235"/>
          <a:ext cx="3303270" cy="3364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0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70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895715" y="2396490"/>
          <a:ext cx="1621155" cy="16478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11885930" y="3162300"/>
          <a:ext cx="2237740" cy="2273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8895715" y="4329430"/>
          <a:ext cx="1661160" cy="177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2177395" y="3474085"/>
          <a:ext cx="2164080" cy="2278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565015" y="2696210"/>
          <a:ext cx="3128010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486785" y="7012305"/>
          <a:ext cx="2331720" cy="238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630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630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7091045" y="6625590"/>
          <a:ext cx="55562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7240270" y="6775450"/>
          <a:ext cx="600710" cy="530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7073265" y="7488555"/>
          <a:ext cx="569595" cy="507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36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7089140" y="8402955"/>
          <a:ext cx="533400" cy="490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7089140" y="9154160"/>
          <a:ext cx="567055" cy="518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79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7283450" y="7680960"/>
          <a:ext cx="558165" cy="523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/>
        </p:nvGraphicFramePr>
        <p:xfrm>
          <a:off x="7301230" y="8592185"/>
          <a:ext cx="539750" cy="498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/>
        </p:nvGraphicFramePr>
        <p:xfrm>
          <a:off x="7289165" y="9404985"/>
          <a:ext cx="52387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表格 44"/>
          <p:cNvGraphicFramePr>
            <a:graphicFrameLocks noGrp="1"/>
          </p:cNvGraphicFramePr>
          <p:nvPr/>
        </p:nvGraphicFramePr>
        <p:xfrm>
          <a:off x="3486785" y="7026910"/>
          <a:ext cx="57086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/>
        </p:nvGraphicFramePr>
        <p:xfrm>
          <a:off x="3454400" y="7610475"/>
          <a:ext cx="603250" cy="567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3488055" y="8132445"/>
          <a:ext cx="569595" cy="592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2455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表格 64"/>
          <p:cNvGraphicFramePr>
            <a:graphicFrameLocks noGrp="1"/>
          </p:cNvGraphicFramePr>
          <p:nvPr/>
        </p:nvGraphicFramePr>
        <p:xfrm>
          <a:off x="3485515" y="8724900"/>
          <a:ext cx="615950" cy="669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992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3789045" y="7232650"/>
          <a:ext cx="2235200" cy="2392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" name="表格 45"/>
          <p:cNvGraphicFramePr>
            <a:graphicFrameLocks noGrp="1"/>
          </p:cNvGraphicFramePr>
          <p:nvPr/>
        </p:nvGraphicFramePr>
        <p:xfrm>
          <a:off x="3783965" y="7232650"/>
          <a:ext cx="553085" cy="617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53"/>
          <p:cNvGraphicFramePr>
            <a:graphicFrameLocks noGrp="1"/>
          </p:cNvGraphicFramePr>
          <p:nvPr/>
        </p:nvGraphicFramePr>
        <p:xfrm>
          <a:off x="3766185" y="7833995"/>
          <a:ext cx="574040" cy="576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表格 63"/>
          <p:cNvGraphicFramePr>
            <a:graphicFrameLocks noGrp="1"/>
          </p:cNvGraphicFramePr>
          <p:nvPr/>
        </p:nvGraphicFramePr>
        <p:xfrm>
          <a:off x="3801110" y="8430895"/>
          <a:ext cx="546735" cy="638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3803650" y="9069070"/>
          <a:ext cx="554355" cy="594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表格 66"/>
          <p:cNvGraphicFramePr>
            <a:graphicFrameLocks noGrp="1"/>
          </p:cNvGraphicFramePr>
          <p:nvPr/>
        </p:nvGraphicFramePr>
        <p:xfrm>
          <a:off x="10058400" y="6605270"/>
          <a:ext cx="2369820" cy="239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10287000" y="6833870"/>
          <a:ext cx="2402840" cy="2623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95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95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9" name="表格 68"/>
          <p:cNvGraphicFramePr>
            <a:graphicFrameLocks noGrp="1"/>
          </p:cNvGraphicFramePr>
          <p:nvPr/>
        </p:nvGraphicFramePr>
        <p:xfrm>
          <a:off x="10515600" y="7062470"/>
          <a:ext cx="2326640" cy="282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39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0" name="表格 69"/>
          <p:cNvGraphicFramePr>
            <a:graphicFrameLocks noGrp="1"/>
          </p:cNvGraphicFramePr>
          <p:nvPr/>
        </p:nvGraphicFramePr>
        <p:xfrm>
          <a:off x="10744200" y="7291070"/>
          <a:ext cx="2377440" cy="2801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40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/>
              <p:cNvSpPr txBox="1"/>
              <p:nvPr/>
            </p:nvSpPr>
            <p:spPr>
              <a:xfrm>
                <a:off x="8206220" y="1803947"/>
                <a:ext cx="298767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3×2=18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1" name="文字方塊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20" y="1803947"/>
                <a:ext cx="2987675" cy="553720"/>
              </a:xfrm>
              <a:prstGeom prst="rect">
                <a:avLst/>
              </a:prstGeom>
              <a:blipFill rotWithShape="1">
                <a:blip r:embed="rId3"/>
                <a:stretch>
                  <a:fillRect l="-4" t="-99" r="-2398" b="9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8073844" y="9425922"/>
                <a:ext cx="1639570" cy="4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altLang="zh-TW" sz="2800" b="0" i="1" dirty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44" y="9425922"/>
                <a:ext cx="1639570" cy="430530"/>
              </a:xfrm>
              <a:prstGeom prst="rect">
                <a:avLst/>
              </a:prstGeom>
              <a:blipFill rotWithShape="1">
                <a:blip r:embed="rId4"/>
                <a:stretch>
                  <a:fillRect l="-28" t="-143" r="-786" b="14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/>
              <p:cNvSpPr txBox="1"/>
              <p:nvPr/>
            </p:nvSpPr>
            <p:spPr>
              <a:xfrm>
                <a:off x="8147197" y="6346223"/>
                <a:ext cx="906780" cy="861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:pPr algn="ctr"/>
                <a:r>
                  <a:rPr lang="en-US" altLang="zh-TW" sz="2800" dirty="0"/>
                  <a:t>filter</a:t>
                </a:r>
              </a:p>
            </p:txBody>
          </p:sp>
        </mc:Choice>
        <mc:Fallback xmlns="">
          <p:sp>
            <p:nvSpPr>
              <p:cNvPr id="73" name="文字方塊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197" y="6346223"/>
                <a:ext cx="906780" cy="861695"/>
              </a:xfrm>
              <a:prstGeom prst="rect">
                <a:avLst/>
              </a:prstGeom>
              <a:blipFill rotWithShape="1">
                <a:blip r:embed="rId5"/>
                <a:stretch>
                  <a:fillRect l="-16" t="-4" r="-19592" b="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01725" y="-337110"/>
            <a:ext cx="16084552" cy="1551434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Depthwise Separable Convolution </a:t>
            </a:r>
            <a:endParaRPr lang="en-US" altLang="zh-TW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725" y="1364615"/>
            <a:ext cx="16084550" cy="1034415"/>
          </a:xfrm>
        </p:spPr>
        <p:txBody>
          <a:bodyPr/>
          <a:lstStyle/>
          <a:p>
            <a:r>
              <a:rPr lang="en-US" altLang="zh-TW" dirty="0" err="1">
                <a:sym typeface="+mn-ea"/>
              </a:rPr>
              <a:t>Depthwise</a:t>
            </a:r>
            <a:r>
              <a:rPr lang="en-US" altLang="zh-TW" dirty="0">
                <a:sym typeface="+mn-ea"/>
              </a:rPr>
              <a:t> Convolution </a:t>
            </a:r>
            <a:endParaRPr lang="zh-TW" altLang="en-US" b="1" dirty="0"/>
          </a:p>
          <a:p>
            <a:endParaRPr lang="en-US" b="1"/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01725" y="6141720"/>
            <a:ext cx="16084550" cy="10344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ym typeface="+mn-ea"/>
              </a:rPr>
              <a:t>Pointwise Convolution 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33333E-6 L 0.11753 -0.004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0.11719 0.0030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 L 0.11753 -0.0044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22222E-6 L 0.11719 0.0030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7037E-7 L 0.11753 -0.0044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59259E-6 L 0.11719 0.00301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0.11754 -0.0044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68" y="-231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33333E-6 L 0.11719 0.00301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1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2364105" y="2853690"/>
                <a:ext cx="597344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zh-TW" sz="3600" dirty="0"/>
                  <a:t>: number of input channels</a:t>
                </a:r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105" y="2853690"/>
                <a:ext cx="5973445" cy="553998"/>
              </a:xfrm>
              <a:prstGeom prst="rect">
                <a:avLst/>
              </a:prstGeom>
              <a:blipFill>
                <a:blip r:embed="rId2"/>
                <a:stretch>
                  <a:fillRect t="-24444" r="-1274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2364105" y="3777615"/>
                <a:ext cx="630618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TW" sz="3600" dirty="0"/>
                  <a:t>: number of output channels</a:t>
                </a: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105" y="3777615"/>
                <a:ext cx="6306185" cy="553998"/>
              </a:xfrm>
              <a:prstGeom prst="rect">
                <a:avLst/>
              </a:prstGeom>
              <a:blipFill>
                <a:blip r:embed="rId3"/>
                <a:stretch>
                  <a:fillRect t="-24444" r="-1811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2794635" y="4701540"/>
                <a:ext cx="3474720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TW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3600" dirty="0"/>
                  <a:t>: kernel size</a:t>
                </a:r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635" y="4701540"/>
                <a:ext cx="3474720" cy="5537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3950335" y="6158865"/>
                <a:ext cx="3400425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36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35" y="6158865"/>
                <a:ext cx="3400425" cy="5537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4315460" y="6910070"/>
                <a:ext cx="2670175" cy="553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36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60" y="6910070"/>
                <a:ext cx="2670175" cy="5537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4243705" y="8158480"/>
                <a:ext cx="2440305" cy="10312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705" y="8158480"/>
                <a:ext cx="2440305" cy="10312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接點 30"/>
          <p:cNvCxnSpPr/>
          <p:nvPr/>
        </p:nvCxnSpPr>
        <p:spPr>
          <a:xfrm>
            <a:off x="3441672" y="6805197"/>
            <a:ext cx="422846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554345" y="8108315"/>
            <a:ext cx="1242695" cy="12172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" name="表格 9"/>
          <p:cNvGraphicFramePr>
            <a:graphicFrameLocks noGrp="1"/>
          </p:cNvGraphicFramePr>
          <p:nvPr/>
        </p:nvGraphicFramePr>
        <p:xfrm>
          <a:off x="10155555" y="66802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表格 9"/>
          <p:cNvGraphicFramePr>
            <a:graphicFrameLocks noGrp="1"/>
          </p:cNvGraphicFramePr>
          <p:nvPr/>
        </p:nvGraphicFramePr>
        <p:xfrm>
          <a:off x="10282555" y="79502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9"/>
          <p:cNvGraphicFramePr>
            <a:graphicFrameLocks noGrp="1"/>
          </p:cNvGraphicFramePr>
          <p:nvPr/>
        </p:nvGraphicFramePr>
        <p:xfrm>
          <a:off x="10155555" y="272669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" name="表格 9"/>
          <p:cNvGraphicFramePr>
            <a:graphicFrameLocks noGrp="1"/>
          </p:cNvGraphicFramePr>
          <p:nvPr/>
        </p:nvGraphicFramePr>
        <p:xfrm>
          <a:off x="10282555" y="285369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表格 9"/>
          <p:cNvGraphicFramePr>
            <a:graphicFrameLocks noGrp="1"/>
          </p:cNvGraphicFramePr>
          <p:nvPr/>
        </p:nvGraphicFramePr>
        <p:xfrm>
          <a:off x="10155555" y="491236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1" name="表格 9"/>
          <p:cNvGraphicFramePr>
            <a:graphicFrameLocks noGrp="1"/>
          </p:cNvGraphicFramePr>
          <p:nvPr/>
        </p:nvGraphicFramePr>
        <p:xfrm>
          <a:off x="10282555" y="503936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表格 9"/>
          <p:cNvGraphicFramePr>
            <a:graphicFrameLocks noGrp="1"/>
          </p:cNvGraphicFramePr>
          <p:nvPr/>
        </p:nvGraphicFramePr>
        <p:xfrm>
          <a:off x="10155555" y="684403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表格 9"/>
          <p:cNvGraphicFramePr>
            <a:graphicFrameLocks noGrp="1"/>
          </p:cNvGraphicFramePr>
          <p:nvPr/>
        </p:nvGraphicFramePr>
        <p:xfrm>
          <a:off x="10282555" y="6971030"/>
          <a:ext cx="1619250" cy="147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31"/>
              <p:cNvSpPr/>
              <p:nvPr/>
            </p:nvSpPr>
            <p:spPr>
              <a:xfrm>
                <a:off x="10072370" y="1301750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4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370" y="1301750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31"/>
              <p:cNvSpPr/>
              <p:nvPr/>
            </p:nvSpPr>
            <p:spPr>
              <a:xfrm>
                <a:off x="9945370" y="3360420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5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370" y="3360420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31"/>
              <p:cNvSpPr/>
              <p:nvPr/>
            </p:nvSpPr>
            <p:spPr>
              <a:xfrm>
                <a:off x="9945370" y="5552440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370" y="5552440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31"/>
              <p:cNvSpPr/>
              <p:nvPr/>
            </p:nvSpPr>
            <p:spPr>
              <a:xfrm>
                <a:off x="9945370" y="7478395"/>
                <a:ext cx="203962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370" y="7478395"/>
                <a:ext cx="2039620" cy="460375"/>
              </a:xfrm>
              <a:prstGeom prst="rect">
                <a:avLst/>
              </a:prstGeom>
              <a:blipFill rotWithShape="1">
                <a:blip r:embed="rId8"/>
                <a:stretch>
                  <a:fillRect l="-311" t="-1379" r="-311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表格 25"/>
          <p:cNvGraphicFramePr>
            <a:graphicFrameLocks noGrp="1"/>
          </p:cNvGraphicFramePr>
          <p:nvPr/>
        </p:nvGraphicFramePr>
        <p:xfrm>
          <a:off x="13754735" y="817880"/>
          <a:ext cx="1610360" cy="1609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0" name="表格 25"/>
          <p:cNvGraphicFramePr>
            <a:graphicFrameLocks noGrp="1"/>
          </p:cNvGraphicFramePr>
          <p:nvPr/>
        </p:nvGraphicFramePr>
        <p:xfrm>
          <a:off x="14022070" y="1213485"/>
          <a:ext cx="1610360" cy="16097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6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35"/>
              <p:cNvSpPr/>
              <p:nvPr/>
            </p:nvSpPr>
            <p:spPr>
              <a:xfrm>
                <a:off x="13754735" y="3054985"/>
                <a:ext cx="2029460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2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4735" y="3054985"/>
                <a:ext cx="2029460" cy="460375"/>
              </a:xfrm>
              <a:prstGeom prst="rect">
                <a:avLst/>
              </a:prstGeom>
              <a:blipFill rotWithShape="1">
                <a:blip r:embed="rId9"/>
                <a:stretch>
                  <a:fillRect l="-313" t="-1379" r="-313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" name="表格 24"/>
          <p:cNvGraphicFramePr>
            <a:graphicFrameLocks noGrp="1"/>
          </p:cNvGraphicFramePr>
          <p:nvPr/>
        </p:nvGraphicFramePr>
        <p:xfrm>
          <a:off x="14079855" y="4745990"/>
          <a:ext cx="55562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表格 26"/>
          <p:cNvGraphicFramePr>
            <a:graphicFrameLocks noGrp="1"/>
          </p:cNvGraphicFramePr>
          <p:nvPr/>
        </p:nvGraphicFramePr>
        <p:xfrm>
          <a:off x="14229080" y="4895850"/>
          <a:ext cx="600710" cy="5302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表格 30"/>
          <p:cNvGraphicFramePr>
            <a:graphicFrameLocks noGrp="1"/>
          </p:cNvGraphicFramePr>
          <p:nvPr/>
        </p:nvGraphicFramePr>
        <p:xfrm>
          <a:off x="14062075" y="5608955"/>
          <a:ext cx="569595" cy="507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9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36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表格 31"/>
          <p:cNvGraphicFramePr>
            <a:graphicFrameLocks noGrp="1"/>
          </p:cNvGraphicFramePr>
          <p:nvPr/>
        </p:nvGraphicFramePr>
        <p:xfrm>
          <a:off x="14077950" y="6523355"/>
          <a:ext cx="533400" cy="4908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85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表格 32"/>
          <p:cNvGraphicFramePr>
            <a:graphicFrameLocks noGrp="1"/>
          </p:cNvGraphicFramePr>
          <p:nvPr/>
        </p:nvGraphicFramePr>
        <p:xfrm>
          <a:off x="14077950" y="7274560"/>
          <a:ext cx="567055" cy="518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79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表格 33"/>
          <p:cNvGraphicFramePr>
            <a:graphicFrameLocks noGrp="1"/>
          </p:cNvGraphicFramePr>
          <p:nvPr/>
        </p:nvGraphicFramePr>
        <p:xfrm>
          <a:off x="14272260" y="5801360"/>
          <a:ext cx="558165" cy="523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表格 34"/>
          <p:cNvGraphicFramePr>
            <a:graphicFrameLocks noGrp="1"/>
          </p:cNvGraphicFramePr>
          <p:nvPr/>
        </p:nvGraphicFramePr>
        <p:xfrm>
          <a:off x="14290040" y="6712585"/>
          <a:ext cx="539750" cy="498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表格 35"/>
          <p:cNvGraphicFramePr>
            <a:graphicFrameLocks noGrp="1"/>
          </p:cNvGraphicFramePr>
          <p:nvPr/>
        </p:nvGraphicFramePr>
        <p:xfrm>
          <a:off x="14277975" y="7525385"/>
          <a:ext cx="523875" cy="505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46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36"/>
              <p:cNvSpPr/>
              <p:nvPr/>
            </p:nvSpPr>
            <p:spPr>
              <a:xfrm>
                <a:off x="15408275" y="6971030"/>
                <a:ext cx="1252855" cy="46037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1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8275" y="6971030"/>
                <a:ext cx="1252855" cy="460375"/>
              </a:xfrm>
              <a:prstGeom prst="rect">
                <a:avLst/>
              </a:prstGeom>
              <a:blipFill rotWithShape="1">
                <a:blip r:embed="rId10"/>
                <a:stretch>
                  <a:fillRect l="-507" t="-1379" r="-507" b="-1379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22"/>
              <p:cNvSpPr txBox="1"/>
              <p:nvPr/>
            </p:nvSpPr>
            <p:spPr>
              <a:xfrm>
                <a:off x="13661390" y="8345170"/>
                <a:ext cx="2961640" cy="43053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1390" y="8345170"/>
                <a:ext cx="2961640" cy="430530"/>
              </a:xfrm>
              <a:prstGeom prst="rect">
                <a:avLst/>
              </a:prstGeom>
              <a:blipFill rotWithShape="1">
                <a:blip r:embed="rId11"/>
                <a:stretch>
                  <a:fillRect l="-214" t="-1475" r="-214" b="-1475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21"/>
              <p:cNvSpPr txBox="1"/>
              <p:nvPr/>
            </p:nvSpPr>
            <p:spPr>
              <a:xfrm>
                <a:off x="9622155" y="8902700"/>
                <a:ext cx="2940685" cy="43053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)×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altLang="zh-TW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155" y="8902700"/>
                <a:ext cx="2940685" cy="430530"/>
              </a:xfrm>
              <a:prstGeom prst="rect">
                <a:avLst/>
              </a:prstGeom>
              <a:blipFill rotWithShape="1">
                <a:blip r:embed="rId12"/>
                <a:stretch>
                  <a:fillRect l="-216" t="-1475" r="-216" b="-1475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itle 65"/>
          <p:cNvSpPr>
            <a:spLocks noGrp="1"/>
          </p:cNvSpPr>
          <p:nvPr>
            <p:ph type="title"/>
          </p:nvPr>
        </p:nvSpPr>
        <p:spPr>
          <a:xfrm>
            <a:off x="910590" y="639520"/>
            <a:ext cx="16084552" cy="1551434"/>
          </a:xfrm>
        </p:spPr>
        <p:txBody>
          <a:bodyPr/>
          <a:lstStyle/>
          <a:p>
            <a:pPr algn="l"/>
            <a:r>
              <a:rPr lang="en-US" altLang="zh-TW" dirty="0">
                <a:sym typeface="+mn-ea"/>
              </a:rPr>
              <a:t>Depthwise Separable </a:t>
            </a:r>
            <a:br>
              <a:rPr lang="en-US" altLang="zh-TW" dirty="0">
                <a:sym typeface="+mn-ea"/>
              </a:rPr>
            </a:br>
            <a:r>
              <a:rPr lang="en-US" altLang="zh-TW" dirty="0">
                <a:sym typeface="+mn-ea"/>
              </a:rPr>
              <a:t>Convolution </a:t>
            </a:r>
            <a:endParaRPr lang="en-US" altLang="zh-TW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Low rank approximation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901348" y="2723196"/>
            <a:ext cx="5353670" cy="3181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4333014" y="5156840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向右箭號 12"/>
          <p:cNvSpPr/>
          <p:nvPr/>
        </p:nvSpPr>
        <p:spPr>
          <a:xfrm rot="16200000">
            <a:off x="4659461" y="3775862"/>
            <a:ext cx="1772439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文字方塊 13"/>
          <p:cNvSpPr txBox="1"/>
          <p:nvPr/>
        </p:nvSpPr>
        <p:spPr>
          <a:xfrm>
            <a:off x="5775867" y="3728802"/>
            <a:ext cx="1305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W</a:t>
            </a:r>
            <a:endParaRPr lang="zh-TW" altLang="en-US" sz="4200" dirty="0"/>
          </a:p>
        </p:txBody>
      </p:sp>
      <p:sp>
        <p:nvSpPr>
          <p:cNvPr id="15" name="矩形 14"/>
          <p:cNvSpPr/>
          <p:nvPr/>
        </p:nvSpPr>
        <p:spPr>
          <a:xfrm>
            <a:off x="10835124" y="5090469"/>
            <a:ext cx="2425328" cy="30971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6" name="矩形 15"/>
          <p:cNvSpPr/>
          <p:nvPr/>
        </p:nvSpPr>
        <p:spPr>
          <a:xfrm>
            <a:off x="11410313" y="3944297"/>
            <a:ext cx="1324128" cy="32198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7" name="矩形 16"/>
          <p:cNvSpPr/>
          <p:nvPr/>
        </p:nvSpPr>
        <p:spPr>
          <a:xfrm>
            <a:off x="9512832" y="2705432"/>
            <a:ext cx="5353670" cy="3181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文字方塊 17"/>
          <p:cNvSpPr txBox="1"/>
          <p:nvPr/>
        </p:nvSpPr>
        <p:spPr>
          <a:xfrm>
            <a:off x="9950363" y="3710789"/>
            <a:ext cx="147884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linear</a:t>
            </a:r>
            <a:endParaRPr lang="zh-TW" altLang="en-US" sz="3600" dirty="0"/>
          </a:p>
        </p:txBody>
      </p:sp>
      <p:sp>
        <p:nvSpPr>
          <p:cNvPr id="29" name="向右箭號 28"/>
          <p:cNvSpPr/>
          <p:nvPr/>
        </p:nvSpPr>
        <p:spPr>
          <a:xfrm rot="16200000">
            <a:off x="11797527" y="4394562"/>
            <a:ext cx="545673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12445149" y="3070338"/>
            <a:ext cx="1305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</a:t>
            </a:r>
            <a:endParaRPr lang="zh-TW" altLang="en-US" sz="4200" dirty="0"/>
          </a:p>
        </p:txBody>
      </p:sp>
      <p:sp>
        <p:nvSpPr>
          <p:cNvPr id="31" name="向右箭號 30"/>
          <p:cNvSpPr/>
          <p:nvPr/>
        </p:nvSpPr>
        <p:spPr>
          <a:xfrm rot="16200000">
            <a:off x="11798378" y="3136902"/>
            <a:ext cx="545673" cy="619433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2" name="文字方塊 31"/>
          <p:cNvSpPr txBox="1"/>
          <p:nvPr/>
        </p:nvSpPr>
        <p:spPr>
          <a:xfrm>
            <a:off x="12436152" y="4356333"/>
            <a:ext cx="1305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V</a:t>
            </a:r>
            <a:endParaRPr lang="zh-TW" altLang="en-US" sz="42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8259902" y="2536033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6890185" y="4976949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</a:t>
            </a:r>
            <a:endParaRPr lang="zh-TW" altLang="en-US" sz="36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4910978" y="2546815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</a:t>
            </a:r>
            <a:endParaRPr lang="zh-TW" altLang="en-US" sz="36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13387025" y="4922199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</a:t>
            </a:r>
            <a:endParaRPr lang="zh-TW" altLang="en-US" sz="36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12857286" y="3763562"/>
            <a:ext cx="884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K</a:t>
            </a:r>
            <a:endParaRPr lang="zh-TW" altLang="en-US" sz="3600" dirty="0"/>
          </a:p>
        </p:txBody>
      </p:sp>
      <p:grpSp>
        <p:nvGrpSpPr>
          <p:cNvPr id="3" name="群組 2"/>
          <p:cNvGrpSpPr/>
          <p:nvPr/>
        </p:nvGrpSpPr>
        <p:grpSpPr>
          <a:xfrm>
            <a:off x="3647315" y="6016203"/>
            <a:ext cx="9718722" cy="3593555"/>
            <a:chOff x="1153351" y="1442404"/>
            <a:chExt cx="6479148" cy="2395703"/>
          </a:xfrm>
        </p:grpSpPr>
        <p:sp>
          <p:nvSpPr>
            <p:cNvPr id="8" name="矩形 7"/>
            <p:cNvSpPr/>
            <p:nvPr/>
          </p:nvSpPr>
          <p:spPr>
            <a:xfrm>
              <a:off x="1792754" y="1876571"/>
              <a:ext cx="1740309" cy="196153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/>
                <a:t>W</a:t>
              </a:r>
              <a:endParaRPr lang="zh-TW" altLang="en-US" sz="48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536261" y="1913442"/>
              <a:ext cx="985684" cy="188779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/>
                <a:t>U</a:t>
              </a:r>
              <a:endParaRPr lang="zh-TW" altLang="en-US" sz="48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892190" y="1880128"/>
              <a:ext cx="1740309" cy="825910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4800" dirty="0"/>
                <a:t>V</a:t>
              </a:r>
              <a:endParaRPr lang="zh-TW" altLang="en-US" sz="4800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513186" y="2592967"/>
              <a:ext cx="659280" cy="553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4800" b="1" dirty="0"/>
                <a:t>≈</a:t>
              </a:r>
              <a:endParaRPr lang="zh-TW" altLang="en-US" sz="4800" b="1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1153351" y="2626505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M</a:t>
              </a:r>
              <a:endParaRPr lang="zh-TW" altLang="en-US" sz="3600" dirty="0"/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3972753" y="2706038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M</a:t>
              </a:r>
              <a:endParaRPr lang="zh-TW" altLang="en-US" sz="3600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2350274" y="1484000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N</a:t>
              </a:r>
              <a:endParaRPr lang="zh-TW" altLang="en-US" sz="3600" dirty="0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6385494" y="1450686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N</a:t>
              </a:r>
              <a:endParaRPr lang="zh-TW" altLang="en-US" sz="3600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747963" y="1442404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K</a:t>
              </a:r>
              <a:endParaRPr lang="zh-TW" altLang="en-US" sz="3600" dirty="0"/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5429301" y="2078737"/>
              <a:ext cx="639403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K</a:t>
              </a:r>
              <a:endParaRPr lang="zh-TW" altLang="en-US" sz="3600" dirty="0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142692" y="2892924"/>
              <a:ext cx="1452409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K &lt; M,N</a:t>
              </a:r>
              <a:endParaRPr lang="zh-TW" altLang="en-US" sz="3600" dirty="0"/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9902825" y="9490710"/>
            <a:ext cx="63715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solidFill>
                  <a:schemeClr val="accent1"/>
                </a:solidFill>
                <a:latin typeface="+mj-lt"/>
                <a:cs typeface="+mj-cs"/>
              </a:rPr>
              <a:t>Less parameters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14" grpId="0"/>
      <p:bldP spid="15" grpId="0" bldLvl="0" animBg="1"/>
      <p:bldP spid="16" grpId="0" bldLvl="0" animBg="1"/>
      <p:bldP spid="17" grpId="0" bldLvl="0" animBg="1"/>
      <p:bldP spid="18" grpId="0"/>
      <p:bldP spid="29" grpId="0" bldLvl="0" animBg="1"/>
      <p:bldP spid="30" grpId="0"/>
      <p:bldP spid="31" grpId="0" bldLvl="0" animBg="1"/>
      <p:bldP spid="32" grpId="0"/>
      <p:bldP spid="34" grpId="0"/>
      <p:bldP spid="35" grpId="0"/>
      <p:bldP spid="36" grpId="0"/>
      <p:bldP spid="37" grpId="0"/>
      <p:bldP spid="38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399790" y="5984875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3" name="表格 82"/>
          <p:cNvGraphicFramePr>
            <a:graphicFrameLocks noGrp="1"/>
          </p:cNvGraphicFramePr>
          <p:nvPr/>
        </p:nvGraphicFramePr>
        <p:xfrm>
          <a:off x="3399790" y="768540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857490" y="6826250"/>
          <a:ext cx="2204720" cy="246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58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8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1" name="表格 80"/>
          <p:cNvGraphicFramePr>
            <a:graphicFrameLocks noGrp="1"/>
          </p:cNvGraphicFramePr>
          <p:nvPr/>
        </p:nvGraphicFramePr>
        <p:xfrm>
          <a:off x="7857490" y="8641080"/>
          <a:ext cx="539750" cy="659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976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399790" y="659130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399790" y="65913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628390" y="6240780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399790" y="601218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628390" y="624078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8124190" y="7103745"/>
          <a:ext cx="2166620" cy="2542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6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857490" y="6826250"/>
          <a:ext cx="539750" cy="66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124190" y="7103745"/>
          <a:ext cx="539750" cy="59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10285998" y="614922"/>
            <a:ext cx="819150" cy="8045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13651998" y="4214619"/>
            <a:ext cx="819150" cy="8045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橢圓 19"/>
          <p:cNvSpPr/>
          <p:nvPr/>
        </p:nvSpPr>
        <p:spPr>
          <a:xfrm>
            <a:off x="12226425" y="3691752"/>
            <a:ext cx="819150" cy="80458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橢圓 20"/>
          <p:cNvSpPr/>
          <p:nvPr/>
        </p:nvSpPr>
        <p:spPr>
          <a:xfrm>
            <a:off x="12226425" y="4884282"/>
            <a:ext cx="819150" cy="80458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3" name="直線單箭頭接點 22"/>
          <p:cNvCxnSpPr/>
          <p:nvPr/>
        </p:nvCxnSpPr>
        <p:spPr>
          <a:xfrm>
            <a:off x="11105148" y="1022592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14471148" y="4656356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9581148" y="101721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>
            <a:off x="11521575" y="4091130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1521575" y="528657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endCxn id="19" idx="2"/>
          </p:cNvCxnSpPr>
          <p:nvPr/>
        </p:nvCxnSpPr>
        <p:spPr>
          <a:xfrm>
            <a:off x="12947148" y="4133040"/>
            <a:ext cx="704850" cy="483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endCxn id="19" idx="2"/>
          </p:cNvCxnSpPr>
          <p:nvPr/>
        </p:nvCxnSpPr>
        <p:spPr>
          <a:xfrm flipV="1">
            <a:off x="13045575" y="4616910"/>
            <a:ext cx="606423" cy="6596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7555998" y="670964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18 inputs</a:t>
            </a:r>
            <a:endParaRPr lang="zh-TW" altLang="en-US" sz="36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9026529" y="3762723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9 inputs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9020175" y="4884282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3600" dirty="0"/>
              <a:t>9 inputs</a:t>
            </a:r>
            <a:endParaRPr lang="zh-TW" altLang="en-US" sz="3600" dirty="0"/>
          </a:p>
        </p:txBody>
      </p:sp>
      <p:sp>
        <p:nvSpPr>
          <p:cNvPr id="40" name="橢圓 39"/>
          <p:cNvSpPr/>
          <p:nvPr/>
        </p:nvSpPr>
        <p:spPr>
          <a:xfrm>
            <a:off x="10285998" y="1644404"/>
            <a:ext cx="819150" cy="80458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1" name="直線單箭頭接點 40"/>
          <p:cNvCxnSpPr/>
          <p:nvPr/>
        </p:nvCxnSpPr>
        <p:spPr>
          <a:xfrm>
            <a:off x="11105148" y="2052074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9581148" y="2046695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7555998" y="1700445"/>
            <a:ext cx="250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18 inputs</a:t>
            </a:r>
            <a:endParaRPr lang="zh-TW" altLang="en-US" sz="3600" dirty="0"/>
          </a:p>
        </p:txBody>
      </p:sp>
      <p:sp>
        <p:nvSpPr>
          <p:cNvPr id="44" name="橢圓 43"/>
          <p:cNvSpPr/>
          <p:nvPr/>
        </p:nvSpPr>
        <p:spPr>
          <a:xfrm>
            <a:off x="13651998" y="5440776"/>
            <a:ext cx="819150" cy="804582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5" name="直線單箭頭接點 44"/>
          <p:cNvCxnSpPr/>
          <p:nvPr/>
        </p:nvCxnSpPr>
        <p:spPr>
          <a:xfrm>
            <a:off x="14471148" y="5882513"/>
            <a:ext cx="7048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20" idx="6"/>
            <a:endCxn id="44" idx="2"/>
          </p:cNvCxnSpPr>
          <p:nvPr/>
        </p:nvCxnSpPr>
        <p:spPr>
          <a:xfrm>
            <a:off x="13045575" y="4094043"/>
            <a:ext cx="606423" cy="1749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21" idx="6"/>
            <a:endCxn id="44" idx="2"/>
          </p:cNvCxnSpPr>
          <p:nvPr/>
        </p:nvCxnSpPr>
        <p:spPr>
          <a:xfrm>
            <a:off x="13045575" y="5286573"/>
            <a:ext cx="606423" cy="5564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3428365" y="680720"/>
            <a:ext cx="1614805" cy="163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cxnSp>
        <p:nvCxnSpPr>
          <p:cNvPr id="56" name="直線接點 55"/>
          <p:cNvCxnSpPr>
            <a:endCxn id="5" idx="1"/>
          </p:cNvCxnSpPr>
          <p:nvPr/>
        </p:nvCxnSpPr>
        <p:spPr>
          <a:xfrm>
            <a:off x="3467735" y="3564255"/>
            <a:ext cx="173990" cy="1498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>
            <a:off x="3472332" y="684692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5041898" y="698364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12359640" y="490855"/>
          <a:ext cx="2387600" cy="2405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34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4" name="矩形 63"/>
          <p:cNvSpPr/>
          <p:nvPr/>
        </p:nvSpPr>
        <p:spPr>
          <a:xfrm>
            <a:off x="12359775" y="490683"/>
            <a:ext cx="527967" cy="50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61" name="表格 60"/>
          <p:cNvGraphicFramePr>
            <a:graphicFrameLocks noGrp="1"/>
          </p:cNvGraphicFramePr>
          <p:nvPr/>
        </p:nvGraphicFramePr>
        <p:xfrm>
          <a:off x="12588240" y="719455"/>
          <a:ext cx="2392680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5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5" name="矩形 64"/>
          <p:cNvSpPr/>
          <p:nvPr/>
        </p:nvSpPr>
        <p:spPr>
          <a:xfrm>
            <a:off x="12588240" y="2556510"/>
            <a:ext cx="527685" cy="677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62" name="表格 61"/>
          <p:cNvGraphicFramePr>
            <a:graphicFrameLocks noGrp="1"/>
          </p:cNvGraphicFramePr>
          <p:nvPr/>
        </p:nvGraphicFramePr>
        <p:xfrm>
          <a:off x="12816840" y="948055"/>
          <a:ext cx="2379980" cy="261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3" name="表格 62"/>
          <p:cNvGraphicFramePr>
            <a:graphicFrameLocks noGrp="1"/>
          </p:cNvGraphicFramePr>
          <p:nvPr/>
        </p:nvGraphicFramePr>
        <p:xfrm>
          <a:off x="13045440" y="1176655"/>
          <a:ext cx="2405380" cy="268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183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83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/>
        </p:nvGraphicFramePr>
        <p:xfrm>
          <a:off x="3413125" y="231584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矩形 66"/>
          <p:cNvSpPr/>
          <p:nvPr/>
        </p:nvSpPr>
        <p:spPr>
          <a:xfrm>
            <a:off x="3441700" y="2337435"/>
            <a:ext cx="1614805" cy="1624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cxnSp>
        <p:nvCxnSpPr>
          <p:cNvPr id="70" name="直線接點 69"/>
          <p:cNvCxnSpPr/>
          <p:nvPr/>
        </p:nvCxnSpPr>
        <p:spPr>
          <a:xfrm>
            <a:off x="3468984" y="3961619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3485412" y="2341260"/>
            <a:ext cx="170180" cy="147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640455" y="939800"/>
          <a:ext cx="3268980" cy="3360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628390" y="887730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" name="矩形 52"/>
          <p:cNvSpPr/>
          <p:nvPr/>
        </p:nvSpPr>
        <p:spPr>
          <a:xfrm>
            <a:off x="3644900" y="940435"/>
            <a:ext cx="1614805" cy="1547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3641725" y="254444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" name="矩形 68"/>
          <p:cNvSpPr/>
          <p:nvPr/>
        </p:nvSpPr>
        <p:spPr>
          <a:xfrm>
            <a:off x="3658235" y="2597150"/>
            <a:ext cx="1614805" cy="1666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/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11279505" y="6597650"/>
          <a:ext cx="216408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" name="矩形 74"/>
          <p:cNvSpPr/>
          <p:nvPr/>
        </p:nvSpPr>
        <p:spPr>
          <a:xfrm>
            <a:off x="11282315" y="6597782"/>
            <a:ext cx="527967" cy="50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6" name="表格 75"/>
          <p:cNvGraphicFramePr>
            <a:graphicFrameLocks noGrp="1"/>
          </p:cNvGraphicFramePr>
          <p:nvPr/>
        </p:nvGraphicFramePr>
        <p:xfrm>
          <a:off x="11508105" y="6826250"/>
          <a:ext cx="2143760" cy="24104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261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7" name="矩形 76"/>
          <p:cNvSpPr/>
          <p:nvPr/>
        </p:nvSpPr>
        <p:spPr>
          <a:xfrm>
            <a:off x="11521440" y="8677275"/>
            <a:ext cx="534035" cy="559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78" name="表格 77"/>
          <p:cNvGraphicFramePr>
            <a:graphicFrameLocks noGrp="1"/>
          </p:cNvGraphicFramePr>
          <p:nvPr/>
        </p:nvGraphicFramePr>
        <p:xfrm>
          <a:off x="11736705" y="7054850"/>
          <a:ext cx="220726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9" name="表格 78"/>
          <p:cNvGraphicFramePr>
            <a:graphicFrameLocks noGrp="1"/>
          </p:cNvGraphicFramePr>
          <p:nvPr/>
        </p:nvGraphicFramePr>
        <p:xfrm>
          <a:off x="11965305" y="7283450"/>
          <a:ext cx="224282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970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2" name="表格 81"/>
          <p:cNvGraphicFramePr>
            <a:graphicFrameLocks noGrp="1"/>
          </p:cNvGraphicFramePr>
          <p:nvPr/>
        </p:nvGraphicFramePr>
        <p:xfrm>
          <a:off x="8124190" y="8999220"/>
          <a:ext cx="539750" cy="646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marL="137160" marR="137160" marT="68580" marB="6858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3628390" y="7914005"/>
          <a:ext cx="1634490" cy="167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35"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900" dirty="0"/>
                    </a:p>
                  </a:txBody>
                  <a:tcPr marL="137160" marR="137160" marT="68580" marB="6858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0" grpId="0" bldLvl="0" animBg="1"/>
      <p:bldP spid="21" grpId="0" bldLvl="0" animBg="1"/>
      <p:bldP spid="33" grpId="0"/>
      <p:bldP spid="34" grpId="0"/>
      <p:bldP spid="35" grpId="0"/>
      <p:bldP spid="40" grpId="0" bldLvl="0" animBg="1"/>
      <p:bldP spid="43" grpId="0"/>
      <p:bldP spid="44" grpId="0" bldLvl="0" animBg="1"/>
      <p:bldP spid="54" grpId="0" bldLvl="0" animBg="1"/>
      <p:bldP spid="64" grpId="0" bldLvl="0" animBg="1"/>
      <p:bldP spid="65" grpId="0" bldLvl="0" animBg="1"/>
      <p:bldP spid="67" grpId="0" bldLvl="0" animBg="1"/>
      <p:bldP spid="53" grpId="0" bldLvl="0" animBg="1"/>
      <p:bldP spid="69" grpId="0" bldLvl="0" animBg="1"/>
      <p:bldP spid="75" grpId="0" bldLvl="0" animBg="1"/>
      <p:bldP spid="77" grpId="0" bldLvl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2F679B5A-3CAD-4C36-B5F5-7286B77E6A83}"/>
</file>

<file path=customXml/itemProps2.xml><?xml version="1.0" encoding="utf-8"?>
<ds:datastoreItem xmlns:ds="http://schemas.openxmlformats.org/officeDocument/2006/customXml" ds:itemID="{3479DA24-0BD9-4BC8-A343-47E623F64917}"/>
</file>

<file path=customXml/itemProps3.xml><?xml version="1.0" encoding="utf-8"?>
<ds:datastoreItem xmlns:ds="http://schemas.openxmlformats.org/officeDocument/2006/customXml" ds:itemID="{7C3FD622-3E2C-4E55-AE96-D7AD374E062F}"/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191</Words>
  <Application>Microsoft Macintosh PowerPoint</Application>
  <PresentationFormat>Custom</PresentationFormat>
  <Paragraphs>66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Wingdings 2</vt:lpstr>
      <vt:lpstr>Breeze</vt:lpstr>
      <vt:lpstr>Architecture Design </vt:lpstr>
      <vt:lpstr>PowerPoint Presentation</vt:lpstr>
      <vt:lpstr>Depthwise Separable Convolution </vt:lpstr>
      <vt:lpstr>Depthwise Separable Convolution </vt:lpstr>
      <vt:lpstr>Depthwise Separable  Convolution </vt:lpstr>
      <vt:lpstr>Low rank approximation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44</cp:revision>
  <dcterms:created xsi:type="dcterms:W3CDTF">2019-02-13T16:04:00Z</dcterms:created>
  <dcterms:modified xsi:type="dcterms:W3CDTF">2024-04-03T03:01:46Z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