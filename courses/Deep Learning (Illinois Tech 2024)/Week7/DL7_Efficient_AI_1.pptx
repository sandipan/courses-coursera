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62" r:id="rId2"/>
    <p:sldId id="266" r:id="rId3"/>
    <p:sldId id="304" r:id="rId4"/>
    <p:sldId id="271" r:id="rId5"/>
    <p:sldId id="272" r:id="rId6"/>
    <p:sldId id="273" r:id="rId7"/>
    <p:sldId id="274" r:id="rId8"/>
    <p:sldId id="275" r:id="rId9"/>
    <p:sldId id="276" r:id="rId10"/>
    <p:sldId id="278" r:id="rId11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6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73"/>
    <p:restoredTop sz="93453"/>
  </p:normalViewPr>
  <p:slideViewPr>
    <p:cSldViewPr snapToGrid="0" snapToObjects="1">
      <p:cViewPr varScale="1">
        <p:scale>
          <a:sx n="73" d="100"/>
          <a:sy n="73" d="100"/>
        </p:scale>
        <p:origin x="256" y="256"/>
      </p:cViewPr>
      <p:guideLst>
        <p:guide orient="horz" pos="3116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B7F0FA-1BD4-4383-A8C5-5F618E7F929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B7F0FA-1BD4-4383-A8C5-5F618E7F929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B7F0FA-1BD4-4383-A8C5-5F618E7F929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32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B7F0FA-1BD4-4383-A8C5-5F618E7F9299}" type="slidenum">
              <a:rPr lang="zh-TW" altLang="en-US" smtClean="0"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810.0527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77" y="2831466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Network Pruning</a:t>
            </a:r>
            <a:br>
              <a:rPr lang="en-US" dirty="0"/>
            </a:br>
            <a:endParaRPr lang="en-US" sz="44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76DFE-0A38-0EFE-CAC4-3A451908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5413373"/>
            <a:ext cx="12998450" cy="91122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Network can be pruned</a:t>
            </a:r>
            <a:endParaRPr lang="en-US" altLang="en-US"/>
          </a:p>
        </p:txBody>
      </p:sp>
      <p:sp>
        <p:nvSpPr>
          <p:cNvPr id="6146" name="Content Placeholder 2"/>
          <p:cNvSpPr>
            <a:spLocks noGrp="1"/>
          </p:cNvSpPr>
          <p:nvPr>
            <p:ph idx="1"/>
          </p:nvPr>
        </p:nvSpPr>
        <p:spPr>
          <a:xfrm>
            <a:off x="1098550" y="2051050"/>
            <a:ext cx="16084550" cy="3517265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Networks are typically over-parameterized (there is significant redundant weights or neurons)</a:t>
            </a:r>
            <a:endParaRPr lang="en-US" altLang="zh-TW" dirty="0"/>
          </a:p>
          <a:p>
            <a:endParaRPr lang="en-US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4810125" y="934974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4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485" y="5450205"/>
            <a:ext cx="7877175" cy="2647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 Box 6"/>
          <p:cNvSpPr txBox="1"/>
          <p:nvPr/>
        </p:nvSpPr>
        <p:spPr>
          <a:xfrm>
            <a:off x="1594485" y="3694430"/>
            <a:ext cx="4395470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TW" sz="5600" b="1" dirty="0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Prune </a:t>
            </a:r>
            <a:r>
              <a:rPr lang="en-US" altLang="zh-TW" sz="5600" b="1">
                <a:solidFill>
                  <a:schemeClr val="accent1"/>
                </a:solidFill>
                <a:latin typeface="+mj-lt"/>
                <a:cs typeface="+mj-cs"/>
                <a:sym typeface="+mn-ea"/>
              </a:rPr>
              <a:t>them!</a:t>
            </a:r>
            <a:endParaRPr lang="en-US" dirty="0"/>
          </a:p>
        </p:txBody>
      </p:sp>
      <p:pic>
        <p:nvPicPr>
          <p:cNvPr id="8" name="Picture 2" descr="http://www.3kirikou.org/manager/upload/day_140203/20140203230837519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8010" y="3364230"/>
            <a:ext cx="5946775" cy="531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3"/>
          <p:cNvSpPr txBox="1"/>
          <p:nvPr/>
        </p:nvSpPr>
        <p:spPr>
          <a:xfrm>
            <a:off x="1594302" y="8312570"/>
            <a:ext cx="1707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(NIPS, 1989)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Pruning </a:t>
            </a:r>
            <a:endParaRPr lang="zh-TW" altLang="en-US" dirty="0"/>
          </a:p>
        </p:txBody>
      </p:sp>
      <p:sp>
        <p:nvSpPr>
          <p:cNvPr id="4" name="矩形: 圓角 3"/>
          <p:cNvSpPr/>
          <p:nvPr/>
        </p:nvSpPr>
        <p:spPr>
          <a:xfrm>
            <a:off x="11209656" y="1891910"/>
            <a:ext cx="2958029" cy="1080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Pre-trained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5" name="矩形: 圓角 4"/>
          <p:cNvSpPr/>
          <p:nvPr/>
        </p:nvSpPr>
        <p:spPr>
          <a:xfrm>
            <a:off x="11209659" y="3574605"/>
            <a:ext cx="2958029" cy="1080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Evaluate the Importance</a:t>
            </a:r>
            <a:endParaRPr lang="zh-TW" altLang="en-US" sz="3600" dirty="0"/>
          </a:p>
        </p:txBody>
      </p:sp>
      <p:sp>
        <p:nvSpPr>
          <p:cNvPr id="6" name="矩形: 圓角 5"/>
          <p:cNvSpPr/>
          <p:nvPr/>
        </p:nvSpPr>
        <p:spPr>
          <a:xfrm>
            <a:off x="11209658" y="5257301"/>
            <a:ext cx="2958029" cy="1080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Remove</a:t>
            </a:r>
            <a:endParaRPr lang="zh-TW" altLang="en-US" sz="3600" dirty="0"/>
          </a:p>
        </p:txBody>
      </p:sp>
      <p:sp>
        <p:nvSpPr>
          <p:cNvPr id="7" name="矩形: 圓角 6"/>
          <p:cNvSpPr/>
          <p:nvPr/>
        </p:nvSpPr>
        <p:spPr>
          <a:xfrm>
            <a:off x="11209658" y="6939996"/>
            <a:ext cx="2958029" cy="10800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Fine-tune</a:t>
            </a:r>
            <a:endParaRPr lang="zh-TW" altLang="en-US" sz="36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0267023" y="9043856"/>
            <a:ext cx="3899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Smaller Network</a:t>
            </a:r>
            <a:endParaRPr lang="zh-TW" altLang="en-US" sz="3600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12696939" y="3018080"/>
            <a:ext cx="0" cy="54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12702440" y="4671131"/>
            <a:ext cx="0" cy="54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12702440" y="6337301"/>
            <a:ext cx="0" cy="5400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H="1">
            <a:off x="12702438" y="8019996"/>
            <a:ext cx="2" cy="108872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9945812" y="4076134"/>
            <a:ext cx="0" cy="3442089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9860087" y="7508063"/>
            <a:ext cx="1333044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9895809" y="4065974"/>
            <a:ext cx="1333044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1474239" y="2207158"/>
            <a:ext cx="60336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Importance of a weight:</a:t>
            </a:r>
            <a:endParaRPr lang="zh-TW" altLang="en-US" sz="3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773139" y="2999466"/>
            <a:ext cx="6559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absolute values, life long …</a:t>
            </a:r>
            <a:endParaRPr lang="zh-TW" altLang="en-US" sz="36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474239" y="3792336"/>
            <a:ext cx="5715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Importance of a neuron:</a:t>
            </a:r>
            <a:endParaRPr lang="zh-TW" altLang="en-US" sz="3600" dirty="0"/>
          </a:p>
        </p:txBody>
      </p:sp>
      <p:sp>
        <p:nvSpPr>
          <p:cNvPr id="29" name="矩形 28"/>
          <p:cNvSpPr/>
          <p:nvPr/>
        </p:nvSpPr>
        <p:spPr>
          <a:xfrm>
            <a:off x="2525395" y="4507865"/>
            <a:ext cx="676338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600" dirty="0">
                <a:solidFill>
                  <a:srgbClr val="333333"/>
                </a:solidFill>
              </a:rPr>
              <a:t>the number of times it wasn’t zero on a given data set ……</a:t>
            </a:r>
            <a:endParaRPr lang="zh-TW" altLang="en-US" sz="3600" dirty="0"/>
          </a:p>
        </p:txBody>
      </p:sp>
      <p:sp>
        <p:nvSpPr>
          <p:cNvPr id="30" name="矩形 29"/>
          <p:cNvSpPr/>
          <p:nvPr/>
        </p:nvSpPr>
        <p:spPr>
          <a:xfrm>
            <a:off x="1474470" y="5888355"/>
            <a:ext cx="720788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>
                <a:solidFill>
                  <a:srgbClr val="333333"/>
                </a:solidFill>
              </a:rPr>
              <a:t>After pruning, the accuracy will drop (hopefully not too much)</a:t>
            </a:r>
            <a:endParaRPr lang="zh-TW" altLang="en-US" sz="3600" dirty="0"/>
          </a:p>
        </p:txBody>
      </p:sp>
      <p:sp>
        <p:nvSpPr>
          <p:cNvPr id="31" name="矩形 30"/>
          <p:cNvSpPr/>
          <p:nvPr/>
        </p:nvSpPr>
        <p:spPr>
          <a:xfrm>
            <a:off x="1474240" y="7230620"/>
            <a:ext cx="6858000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>
                <a:solidFill>
                  <a:srgbClr val="333333"/>
                </a:solidFill>
              </a:rPr>
              <a:t>Fine-tuning on training data for recover</a:t>
            </a:r>
            <a:endParaRPr lang="zh-TW" altLang="en-US" sz="3600" dirty="0"/>
          </a:p>
        </p:txBody>
      </p:sp>
      <p:sp>
        <p:nvSpPr>
          <p:cNvPr id="32" name="矩形 31"/>
          <p:cNvSpPr/>
          <p:nvPr/>
        </p:nvSpPr>
        <p:spPr>
          <a:xfrm>
            <a:off x="1474240" y="8528062"/>
            <a:ext cx="6858000" cy="11988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>
                <a:solidFill>
                  <a:srgbClr val="333333"/>
                </a:solidFill>
              </a:rPr>
              <a:t>Don’t prune too much at once, or the network won’t recover.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13859696" y="2466065"/>
            <a:ext cx="1489031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large</a:t>
            </a:r>
            <a:endParaRPr lang="zh-TW" altLang="en-US" sz="36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3671438" y="5893869"/>
            <a:ext cx="1778112" cy="6451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smaller</a:t>
            </a:r>
            <a:endParaRPr lang="zh-TW" altLang="en-US" sz="36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2826944" y="8209172"/>
            <a:ext cx="34671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Small enough?</a:t>
            </a:r>
            <a:endParaRPr lang="zh-TW" altLang="en-US"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9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 bldLvl="0" animBg="1"/>
      <p:bldP spid="34" grpId="0" bldLvl="0" animBg="1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Pruning - Practical Issue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Weight pruning 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5624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橢圓 4"/>
          <p:cNvSpPr/>
          <p:nvPr/>
        </p:nvSpPr>
        <p:spPr>
          <a:xfrm>
            <a:off x="58959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2294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橢圓 6"/>
          <p:cNvSpPr/>
          <p:nvPr/>
        </p:nvSpPr>
        <p:spPr>
          <a:xfrm>
            <a:off x="32289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45624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58959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72294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2289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1339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64674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8004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箭號: 向右 14"/>
          <p:cNvSpPr/>
          <p:nvPr/>
        </p:nvSpPr>
        <p:spPr>
          <a:xfrm>
            <a:off x="8404224" y="5856017"/>
            <a:ext cx="1670429" cy="124649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6" name="直線單箭頭接點 15"/>
          <p:cNvCxnSpPr>
            <a:stCxn id="7" idx="0"/>
          </p:cNvCxnSpPr>
          <p:nvPr/>
        </p:nvCxnSpPr>
        <p:spPr>
          <a:xfrm flipH="1" flipV="1">
            <a:off x="3597275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49752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 flipV="1">
            <a:off x="62960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76295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3581400" y="6671517"/>
            <a:ext cx="1330326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7" idx="0"/>
          </p:cNvCxnSpPr>
          <p:nvPr/>
        </p:nvCxnSpPr>
        <p:spPr>
          <a:xfrm flipV="1">
            <a:off x="3609975" y="6709617"/>
            <a:ext cx="2686049" cy="6477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7" idx="0"/>
            <a:endCxn id="10" idx="4"/>
          </p:cNvCxnSpPr>
          <p:nvPr/>
        </p:nvCxnSpPr>
        <p:spPr>
          <a:xfrm flipV="1">
            <a:off x="3609975" y="6671517"/>
            <a:ext cx="4000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4" idx="0"/>
            <a:endCxn id="11" idx="4"/>
          </p:cNvCxnSpPr>
          <p:nvPr/>
        </p:nvCxnSpPr>
        <p:spPr>
          <a:xfrm flipH="1" flipV="1">
            <a:off x="3609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V="1">
            <a:off x="4997451" y="6709617"/>
            <a:ext cx="1311273" cy="6286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4" idx="0"/>
            <a:endCxn id="10" idx="4"/>
          </p:cNvCxnSpPr>
          <p:nvPr/>
        </p:nvCxnSpPr>
        <p:spPr>
          <a:xfrm flipV="1">
            <a:off x="49434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5" idx="0"/>
            <a:endCxn id="11" idx="4"/>
          </p:cNvCxnSpPr>
          <p:nvPr/>
        </p:nvCxnSpPr>
        <p:spPr>
          <a:xfrm flipH="1" flipV="1">
            <a:off x="36099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5" idx="0"/>
            <a:endCxn id="8" idx="4"/>
          </p:cNvCxnSpPr>
          <p:nvPr/>
        </p:nvCxnSpPr>
        <p:spPr>
          <a:xfrm flipH="1" flipV="1">
            <a:off x="49434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5" idx="0"/>
            <a:endCxn id="10" idx="4"/>
          </p:cNvCxnSpPr>
          <p:nvPr/>
        </p:nvCxnSpPr>
        <p:spPr>
          <a:xfrm flipV="1">
            <a:off x="6276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6" idx="0"/>
          </p:cNvCxnSpPr>
          <p:nvPr/>
        </p:nvCxnSpPr>
        <p:spPr>
          <a:xfrm flipH="1" flipV="1">
            <a:off x="3663951" y="6690567"/>
            <a:ext cx="3946524" cy="666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6" idx="0"/>
            <a:endCxn id="8" idx="4"/>
          </p:cNvCxnSpPr>
          <p:nvPr/>
        </p:nvCxnSpPr>
        <p:spPr>
          <a:xfrm flipH="1" flipV="1">
            <a:off x="49434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6" idx="0"/>
            <a:endCxn id="9" idx="4"/>
          </p:cNvCxnSpPr>
          <p:nvPr/>
        </p:nvCxnSpPr>
        <p:spPr>
          <a:xfrm flipH="1" flipV="1">
            <a:off x="6276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11" idx="0"/>
            <a:endCxn id="14" idx="4"/>
          </p:cNvCxnSpPr>
          <p:nvPr/>
        </p:nvCxnSpPr>
        <p:spPr>
          <a:xfrm flipV="1">
            <a:off x="36099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11" idx="0"/>
            <a:endCxn id="12" idx="4"/>
          </p:cNvCxnSpPr>
          <p:nvPr/>
        </p:nvCxnSpPr>
        <p:spPr>
          <a:xfrm flipV="1">
            <a:off x="3609975" y="5223717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1" idx="0"/>
            <a:endCxn id="13" idx="4"/>
          </p:cNvCxnSpPr>
          <p:nvPr/>
        </p:nvCxnSpPr>
        <p:spPr>
          <a:xfrm flipV="1">
            <a:off x="3609975" y="5223717"/>
            <a:ext cx="3238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8" idx="0"/>
            <a:endCxn id="14" idx="4"/>
          </p:cNvCxnSpPr>
          <p:nvPr/>
        </p:nvCxnSpPr>
        <p:spPr>
          <a:xfrm flipH="1" flipV="1">
            <a:off x="41814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8" idx="0"/>
            <a:endCxn id="12" idx="4"/>
          </p:cNvCxnSpPr>
          <p:nvPr/>
        </p:nvCxnSpPr>
        <p:spPr>
          <a:xfrm flipV="1">
            <a:off x="49434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0"/>
            <a:endCxn id="13" idx="4"/>
          </p:cNvCxnSpPr>
          <p:nvPr/>
        </p:nvCxnSpPr>
        <p:spPr>
          <a:xfrm flipV="1">
            <a:off x="4943475" y="5223717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9" idx="0"/>
            <a:endCxn id="14" idx="4"/>
          </p:cNvCxnSpPr>
          <p:nvPr/>
        </p:nvCxnSpPr>
        <p:spPr>
          <a:xfrm flipH="1" flipV="1">
            <a:off x="4181475" y="5223717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9" idx="0"/>
            <a:endCxn id="12" idx="4"/>
          </p:cNvCxnSpPr>
          <p:nvPr/>
        </p:nvCxnSpPr>
        <p:spPr>
          <a:xfrm flipH="1" flipV="1">
            <a:off x="55149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9" idx="0"/>
            <a:endCxn id="13" idx="4"/>
          </p:cNvCxnSpPr>
          <p:nvPr/>
        </p:nvCxnSpPr>
        <p:spPr>
          <a:xfrm flipV="1">
            <a:off x="62769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0" idx="0"/>
            <a:endCxn id="14" idx="4"/>
          </p:cNvCxnSpPr>
          <p:nvPr/>
        </p:nvCxnSpPr>
        <p:spPr>
          <a:xfrm flipH="1" flipV="1">
            <a:off x="4181475" y="5223717"/>
            <a:ext cx="3429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0" idx="0"/>
            <a:endCxn id="12" idx="4"/>
          </p:cNvCxnSpPr>
          <p:nvPr/>
        </p:nvCxnSpPr>
        <p:spPr>
          <a:xfrm flipH="1" flipV="1">
            <a:off x="5514975" y="5223717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0" idx="0"/>
            <a:endCxn id="13" idx="4"/>
          </p:cNvCxnSpPr>
          <p:nvPr/>
        </p:nvCxnSpPr>
        <p:spPr>
          <a:xfrm flipH="1" flipV="1">
            <a:off x="68484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3609975" y="8050572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4968876" y="8089946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V="1">
            <a:off x="6296022" y="807454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7635873" y="8082956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V="1">
            <a:off x="4181475" y="4085793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5527676" y="4081982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6848475" y="4086113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橢圓 50"/>
          <p:cNvSpPr/>
          <p:nvPr/>
        </p:nvSpPr>
        <p:spPr>
          <a:xfrm>
            <a:off x="11674854" y="745505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2" name="橢圓 51"/>
          <p:cNvSpPr/>
          <p:nvPr/>
        </p:nvSpPr>
        <p:spPr>
          <a:xfrm>
            <a:off x="13008354" y="745505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3" name="橢圓 52"/>
          <p:cNvSpPr/>
          <p:nvPr/>
        </p:nvSpPr>
        <p:spPr>
          <a:xfrm>
            <a:off x="14341854" y="745505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10341354" y="745505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5" name="橢圓 54"/>
          <p:cNvSpPr/>
          <p:nvPr/>
        </p:nvSpPr>
        <p:spPr>
          <a:xfrm>
            <a:off x="13008354" y="600725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6" name="橢圓 55"/>
          <p:cNvSpPr/>
          <p:nvPr/>
        </p:nvSpPr>
        <p:spPr>
          <a:xfrm>
            <a:off x="10341354" y="600725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7" name="橢圓 56"/>
          <p:cNvSpPr/>
          <p:nvPr/>
        </p:nvSpPr>
        <p:spPr>
          <a:xfrm>
            <a:off x="12246354" y="455945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13579854" y="455945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9" name="橢圓 58"/>
          <p:cNvSpPr/>
          <p:nvPr/>
        </p:nvSpPr>
        <p:spPr>
          <a:xfrm>
            <a:off x="10912854" y="455945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60" name="直線單箭頭接點 59"/>
          <p:cNvCxnSpPr>
            <a:stCxn id="54" idx="0"/>
          </p:cNvCxnSpPr>
          <p:nvPr/>
        </p:nvCxnSpPr>
        <p:spPr>
          <a:xfrm flipH="1" flipV="1">
            <a:off x="10709654" y="676925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/>
          <p:nvPr/>
        </p:nvCxnSpPr>
        <p:spPr>
          <a:xfrm flipH="1" flipV="1">
            <a:off x="13408403" y="676925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54" idx="0"/>
          </p:cNvCxnSpPr>
          <p:nvPr/>
        </p:nvCxnSpPr>
        <p:spPr>
          <a:xfrm flipV="1">
            <a:off x="10722354" y="6807353"/>
            <a:ext cx="2686049" cy="6477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/>
          <p:nvPr/>
        </p:nvCxnSpPr>
        <p:spPr>
          <a:xfrm flipV="1">
            <a:off x="12109830" y="6807353"/>
            <a:ext cx="1311273" cy="6286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52" idx="0"/>
            <a:endCxn id="56" idx="4"/>
          </p:cNvCxnSpPr>
          <p:nvPr/>
        </p:nvCxnSpPr>
        <p:spPr>
          <a:xfrm flipH="1" flipV="1">
            <a:off x="10722354" y="6769253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>
            <a:stCxn id="53" idx="0"/>
            <a:endCxn id="55" idx="4"/>
          </p:cNvCxnSpPr>
          <p:nvPr/>
        </p:nvCxnSpPr>
        <p:spPr>
          <a:xfrm flipH="1" flipV="1">
            <a:off x="13389354" y="6769253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56" idx="0"/>
            <a:endCxn id="59" idx="4"/>
          </p:cNvCxnSpPr>
          <p:nvPr/>
        </p:nvCxnSpPr>
        <p:spPr>
          <a:xfrm flipV="1">
            <a:off x="10722354" y="5321453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>
            <a:stCxn id="56" idx="0"/>
            <a:endCxn id="57" idx="4"/>
          </p:cNvCxnSpPr>
          <p:nvPr/>
        </p:nvCxnSpPr>
        <p:spPr>
          <a:xfrm flipV="1">
            <a:off x="10722354" y="5321453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/>
          <p:cNvCxnSpPr>
            <a:stCxn id="56" idx="0"/>
            <a:endCxn id="58" idx="4"/>
          </p:cNvCxnSpPr>
          <p:nvPr/>
        </p:nvCxnSpPr>
        <p:spPr>
          <a:xfrm flipV="1">
            <a:off x="10722354" y="5321453"/>
            <a:ext cx="3238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68"/>
          <p:cNvCxnSpPr>
            <a:stCxn id="55" idx="0"/>
            <a:endCxn id="59" idx="4"/>
          </p:cNvCxnSpPr>
          <p:nvPr/>
        </p:nvCxnSpPr>
        <p:spPr>
          <a:xfrm flipH="1" flipV="1">
            <a:off x="11293854" y="5321453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單箭頭接點 69"/>
          <p:cNvCxnSpPr>
            <a:stCxn id="55" idx="0"/>
            <a:endCxn id="58" idx="4"/>
          </p:cNvCxnSpPr>
          <p:nvPr/>
        </p:nvCxnSpPr>
        <p:spPr>
          <a:xfrm flipV="1">
            <a:off x="13389354" y="5321453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/>
          <p:cNvCxnSpPr/>
          <p:nvPr/>
        </p:nvCxnSpPr>
        <p:spPr>
          <a:xfrm flipV="1">
            <a:off x="10722354" y="814830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單箭頭接點 71"/>
          <p:cNvCxnSpPr/>
          <p:nvPr/>
        </p:nvCxnSpPr>
        <p:spPr>
          <a:xfrm flipV="1">
            <a:off x="12081255" y="8187681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 flipV="1">
            <a:off x="13408401" y="8172284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73"/>
          <p:cNvCxnSpPr/>
          <p:nvPr/>
        </p:nvCxnSpPr>
        <p:spPr>
          <a:xfrm flipV="1">
            <a:off x="14748252" y="8180691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/>
          <p:nvPr/>
        </p:nvCxnSpPr>
        <p:spPr>
          <a:xfrm flipV="1">
            <a:off x="11293854" y="4183529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單箭頭接點 75"/>
          <p:cNvCxnSpPr/>
          <p:nvPr/>
        </p:nvCxnSpPr>
        <p:spPr>
          <a:xfrm flipV="1">
            <a:off x="12640055" y="4179717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V="1">
            <a:off x="13960854" y="418384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7818665" y="4414130"/>
            <a:ext cx="309244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Prune some weights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10341354" y="2738438"/>
            <a:ext cx="50490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The network architecture becomes irregular.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4489293" y="8904345"/>
            <a:ext cx="95888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1" i="0" u="none" strike="noStrike" kern="1200" cap="none" spc="0" normalizeH="0" baseline="0" dirty="0">
                <a:solidFill>
                  <a:schemeClr val="accent1"/>
                </a:solidFill>
                <a:latin typeface="+mj-lt"/>
                <a:cs typeface="+mj-cs"/>
              </a:rPr>
              <a:t>Hard to implement, hard to speedup ……</a:t>
            </a:r>
          </a:p>
        </p:txBody>
      </p:sp>
      <p:cxnSp>
        <p:nvCxnSpPr>
          <p:cNvPr id="81" name="直線單箭頭接點 80"/>
          <p:cNvCxnSpPr/>
          <p:nvPr/>
        </p:nvCxnSpPr>
        <p:spPr>
          <a:xfrm flipH="1" flipV="1">
            <a:off x="10747755" y="6817719"/>
            <a:ext cx="1333500" cy="685800"/>
          </a:xfrm>
          <a:prstGeom prst="straightConnector1">
            <a:avLst/>
          </a:prstGeom>
          <a:ln w="381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11139867" y="7153386"/>
            <a:ext cx="676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0000FF"/>
                </a:solidFill>
              </a:rPr>
              <a:t>0</a:t>
            </a:r>
            <a:endParaRPr lang="zh-TW" altLang="en-US" sz="3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Pruning - Practical Issue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Weight pruning 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9948282" y="7488128"/>
            <a:ext cx="5374640" cy="506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2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https://arxiv.org/pdf/1608.03665.pdf</a:t>
            </a:r>
            <a:endParaRPr kumimoji="0" lang="zh-TW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055" y="3926840"/>
            <a:ext cx="13105130" cy="338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Network Pruning - Practical Issue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Neuron pruning </a:t>
            </a:r>
            <a:endParaRPr lang="zh-TW" altLang="en-US" dirty="0"/>
          </a:p>
        </p:txBody>
      </p:sp>
      <p:sp>
        <p:nvSpPr>
          <p:cNvPr id="4" name="橢圓 3"/>
          <p:cNvSpPr/>
          <p:nvPr/>
        </p:nvSpPr>
        <p:spPr>
          <a:xfrm>
            <a:off x="45624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5" name="橢圓 4"/>
          <p:cNvSpPr/>
          <p:nvPr/>
        </p:nvSpPr>
        <p:spPr>
          <a:xfrm>
            <a:off x="58959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6" name="橢圓 5"/>
          <p:cNvSpPr/>
          <p:nvPr/>
        </p:nvSpPr>
        <p:spPr>
          <a:xfrm>
            <a:off x="72294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7" name="橢圓 6"/>
          <p:cNvSpPr/>
          <p:nvPr/>
        </p:nvSpPr>
        <p:spPr>
          <a:xfrm>
            <a:off x="3228975" y="7357317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45624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58959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72294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228975" y="5909517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51339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64674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3800475" y="4461717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15" name="箭號: 向右 14"/>
          <p:cNvSpPr/>
          <p:nvPr/>
        </p:nvSpPr>
        <p:spPr>
          <a:xfrm>
            <a:off x="8404224" y="5856017"/>
            <a:ext cx="1670429" cy="124649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16" name="直線單箭頭接點 15"/>
          <p:cNvCxnSpPr>
            <a:stCxn id="7" idx="0"/>
          </p:cNvCxnSpPr>
          <p:nvPr/>
        </p:nvCxnSpPr>
        <p:spPr>
          <a:xfrm flipH="1" flipV="1">
            <a:off x="3597275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H="1" flipV="1">
            <a:off x="49752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 flipV="1">
            <a:off x="62960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 flipV="1">
            <a:off x="7629524" y="6671517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3581400" y="6671517"/>
            <a:ext cx="1330326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7" idx="0"/>
          </p:cNvCxnSpPr>
          <p:nvPr/>
        </p:nvCxnSpPr>
        <p:spPr>
          <a:xfrm flipV="1">
            <a:off x="3609975" y="6709617"/>
            <a:ext cx="2686049" cy="6477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7" idx="0"/>
            <a:endCxn id="10" idx="4"/>
          </p:cNvCxnSpPr>
          <p:nvPr/>
        </p:nvCxnSpPr>
        <p:spPr>
          <a:xfrm flipV="1">
            <a:off x="3609975" y="6671517"/>
            <a:ext cx="4000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4" idx="0"/>
            <a:endCxn id="11" idx="4"/>
          </p:cNvCxnSpPr>
          <p:nvPr/>
        </p:nvCxnSpPr>
        <p:spPr>
          <a:xfrm flipH="1" flipV="1">
            <a:off x="3609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V="1">
            <a:off x="4997451" y="6709617"/>
            <a:ext cx="1311273" cy="6286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4" idx="0"/>
            <a:endCxn id="10" idx="4"/>
          </p:cNvCxnSpPr>
          <p:nvPr/>
        </p:nvCxnSpPr>
        <p:spPr>
          <a:xfrm flipV="1">
            <a:off x="49434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5" idx="0"/>
            <a:endCxn id="11" idx="4"/>
          </p:cNvCxnSpPr>
          <p:nvPr/>
        </p:nvCxnSpPr>
        <p:spPr>
          <a:xfrm flipH="1" flipV="1">
            <a:off x="36099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5" idx="0"/>
            <a:endCxn id="8" idx="4"/>
          </p:cNvCxnSpPr>
          <p:nvPr/>
        </p:nvCxnSpPr>
        <p:spPr>
          <a:xfrm flipH="1" flipV="1">
            <a:off x="49434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5" idx="0"/>
            <a:endCxn id="10" idx="4"/>
          </p:cNvCxnSpPr>
          <p:nvPr/>
        </p:nvCxnSpPr>
        <p:spPr>
          <a:xfrm flipV="1">
            <a:off x="6276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6" idx="0"/>
          </p:cNvCxnSpPr>
          <p:nvPr/>
        </p:nvCxnSpPr>
        <p:spPr>
          <a:xfrm flipH="1" flipV="1">
            <a:off x="3663951" y="6690567"/>
            <a:ext cx="3946524" cy="666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6" idx="0"/>
            <a:endCxn id="8" idx="4"/>
          </p:cNvCxnSpPr>
          <p:nvPr/>
        </p:nvCxnSpPr>
        <p:spPr>
          <a:xfrm flipH="1" flipV="1">
            <a:off x="4943475" y="6671517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6" idx="0"/>
            <a:endCxn id="9" idx="4"/>
          </p:cNvCxnSpPr>
          <p:nvPr/>
        </p:nvCxnSpPr>
        <p:spPr>
          <a:xfrm flipH="1" flipV="1">
            <a:off x="6276975" y="6671517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11" idx="0"/>
            <a:endCxn id="14" idx="4"/>
          </p:cNvCxnSpPr>
          <p:nvPr/>
        </p:nvCxnSpPr>
        <p:spPr>
          <a:xfrm flipV="1">
            <a:off x="36099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11" idx="0"/>
            <a:endCxn id="12" idx="4"/>
          </p:cNvCxnSpPr>
          <p:nvPr/>
        </p:nvCxnSpPr>
        <p:spPr>
          <a:xfrm flipV="1">
            <a:off x="3609975" y="5223717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11" idx="0"/>
            <a:endCxn id="13" idx="4"/>
          </p:cNvCxnSpPr>
          <p:nvPr/>
        </p:nvCxnSpPr>
        <p:spPr>
          <a:xfrm flipV="1">
            <a:off x="3609975" y="5223717"/>
            <a:ext cx="3238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8" idx="0"/>
            <a:endCxn id="14" idx="4"/>
          </p:cNvCxnSpPr>
          <p:nvPr/>
        </p:nvCxnSpPr>
        <p:spPr>
          <a:xfrm flipH="1" flipV="1">
            <a:off x="41814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>
            <a:stCxn id="8" idx="0"/>
            <a:endCxn id="12" idx="4"/>
          </p:cNvCxnSpPr>
          <p:nvPr/>
        </p:nvCxnSpPr>
        <p:spPr>
          <a:xfrm flipV="1">
            <a:off x="49434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8" idx="0"/>
            <a:endCxn id="13" idx="4"/>
          </p:cNvCxnSpPr>
          <p:nvPr/>
        </p:nvCxnSpPr>
        <p:spPr>
          <a:xfrm flipV="1">
            <a:off x="4943475" y="5223717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9" idx="0"/>
            <a:endCxn id="14" idx="4"/>
          </p:cNvCxnSpPr>
          <p:nvPr/>
        </p:nvCxnSpPr>
        <p:spPr>
          <a:xfrm flipH="1" flipV="1">
            <a:off x="4181475" y="5223717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9" idx="0"/>
            <a:endCxn id="12" idx="4"/>
          </p:cNvCxnSpPr>
          <p:nvPr/>
        </p:nvCxnSpPr>
        <p:spPr>
          <a:xfrm flipH="1" flipV="1">
            <a:off x="55149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9" idx="0"/>
            <a:endCxn id="13" idx="4"/>
          </p:cNvCxnSpPr>
          <p:nvPr/>
        </p:nvCxnSpPr>
        <p:spPr>
          <a:xfrm flipV="1">
            <a:off x="6276975" y="5223717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0" idx="0"/>
            <a:endCxn id="14" idx="4"/>
          </p:cNvCxnSpPr>
          <p:nvPr/>
        </p:nvCxnSpPr>
        <p:spPr>
          <a:xfrm flipH="1" flipV="1">
            <a:off x="4181475" y="5223717"/>
            <a:ext cx="3429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0" idx="0"/>
            <a:endCxn id="12" idx="4"/>
          </p:cNvCxnSpPr>
          <p:nvPr/>
        </p:nvCxnSpPr>
        <p:spPr>
          <a:xfrm flipH="1" flipV="1">
            <a:off x="5514975" y="5223717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0" idx="0"/>
            <a:endCxn id="13" idx="4"/>
          </p:cNvCxnSpPr>
          <p:nvPr/>
        </p:nvCxnSpPr>
        <p:spPr>
          <a:xfrm flipH="1" flipV="1">
            <a:off x="6848475" y="5223717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flipV="1">
            <a:off x="3609975" y="8050572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/>
          <p:nvPr/>
        </p:nvCxnSpPr>
        <p:spPr>
          <a:xfrm flipV="1">
            <a:off x="4968876" y="8089946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/>
          <p:cNvCxnSpPr/>
          <p:nvPr/>
        </p:nvCxnSpPr>
        <p:spPr>
          <a:xfrm flipV="1">
            <a:off x="6296022" y="807454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flipV="1">
            <a:off x="7635873" y="8082956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V="1">
            <a:off x="4181475" y="4085793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 flipV="1">
            <a:off x="5527676" y="4081982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 flipV="1">
            <a:off x="6848475" y="4086113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7818665" y="4414130"/>
            <a:ext cx="309244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  <a:cs typeface="+mn-cs"/>
              </a:rPr>
              <a:t>Prune some neurons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  <a:cs typeface="+mn-cs"/>
            </a:endParaRPr>
          </a:p>
        </p:txBody>
      </p:sp>
      <p:sp>
        <p:nvSpPr>
          <p:cNvPr id="79" name="文字方塊 78"/>
          <p:cNvSpPr txBox="1"/>
          <p:nvPr/>
        </p:nvSpPr>
        <p:spPr>
          <a:xfrm>
            <a:off x="9795510" y="3045460"/>
            <a:ext cx="6731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MingLiU" panose="02020500000000000000" pitchFamily="18" charset="-120"/>
                <a:cs typeface="+mn-cs"/>
              </a:rPr>
              <a:t>The network architecture is regular. 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4489293" y="8904345"/>
            <a:ext cx="95888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3600" b="1" i="0" u="none" strike="noStrike" kern="1200" cap="none" spc="0" normalizeH="0" baseline="0" dirty="0">
                <a:solidFill>
                  <a:schemeClr val="accent1"/>
                </a:solidFill>
                <a:latin typeface="+mj-lt"/>
                <a:cs typeface="+mj-cs"/>
              </a:rPr>
              <a:t>Easy to implement, easy to speedup ……</a:t>
            </a:r>
          </a:p>
        </p:txBody>
      </p:sp>
      <p:sp>
        <p:nvSpPr>
          <p:cNvPr id="81" name="矩形 80"/>
          <p:cNvSpPr/>
          <p:nvPr/>
        </p:nvSpPr>
        <p:spPr>
          <a:xfrm>
            <a:off x="5841083" y="5877209"/>
            <a:ext cx="880391" cy="8324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2" name="橢圓 81"/>
          <p:cNvSpPr/>
          <p:nvPr/>
        </p:nvSpPr>
        <p:spPr>
          <a:xfrm>
            <a:off x="11827374" y="746267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3" name="橢圓 82"/>
          <p:cNvSpPr/>
          <p:nvPr/>
        </p:nvSpPr>
        <p:spPr>
          <a:xfrm>
            <a:off x="13160874" y="746267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4" name="橢圓 83"/>
          <p:cNvSpPr/>
          <p:nvPr/>
        </p:nvSpPr>
        <p:spPr>
          <a:xfrm>
            <a:off x="14494374" y="746267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5" name="橢圓 84"/>
          <p:cNvSpPr/>
          <p:nvPr/>
        </p:nvSpPr>
        <p:spPr>
          <a:xfrm>
            <a:off x="10493874" y="7462673"/>
            <a:ext cx="762000" cy="7620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6" name="橢圓 85"/>
          <p:cNvSpPr/>
          <p:nvPr/>
        </p:nvSpPr>
        <p:spPr>
          <a:xfrm>
            <a:off x="11827374" y="601487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8" name="橢圓 87"/>
          <p:cNvSpPr/>
          <p:nvPr/>
        </p:nvSpPr>
        <p:spPr>
          <a:xfrm>
            <a:off x="14494374" y="601487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89" name="橢圓 88"/>
          <p:cNvSpPr/>
          <p:nvPr/>
        </p:nvSpPr>
        <p:spPr>
          <a:xfrm>
            <a:off x="10493874" y="6014873"/>
            <a:ext cx="762000" cy="762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0" name="橢圓 89"/>
          <p:cNvSpPr/>
          <p:nvPr/>
        </p:nvSpPr>
        <p:spPr>
          <a:xfrm>
            <a:off x="12398874" y="456707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1" name="橢圓 90"/>
          <p:cNvSpPr/>
          <p:nvPr/>
        </p:nvSpPr>
        <p:spPr>
          <a:xfrm>
            <a:off x="13732374" y="456707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sp>
        <p:nvSpPr>
          <p:cNvPr id="92" name="橢圓 91"/>
          <p:cNvSpPr/>
          <p:nvPr/>
        </p:nvSpPr>
        <p:spPr>
          <a:xfrm>
            <a:off x="11065374" y="4567073"/>
            <a:ext cx="762000" cy="7620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TW" altLang="en-US" sz="2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PMingLiU" panose="02020500000000000000" pitchFamily="18" charset="-120"/>
              <a:cs typeface="+mn-cs"/>
            </a:endParaRPr>
          </a:p>
        </p:txBody>
      </p:sp>
      <p:cxnSp>
        <p:nvCxnSpPr>
          <p:cNvPr id="93" name="直線單箭頭接點 92"/>
          <p:cNvCxnSpPr>
            <a:stCxn id="85" idx="0"/>
          </p:cNvCxnSpPr>
          <p:nvPr/>
        </p:nvCxnSpPr>
        <p:spPr>
          <a:xfrm flipH="1" flipV="1">
            <a:off x="10862174" y="677687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flipH="1" flipV="1">
            <a:off x="12240123" y="677687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flipH="1" flipV="1">
            <a:off x="14894423" y="6776873"/>
            <a:ext cx="12701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/>
          <p:nvPr/>
        </p:nvCxnSpPr>
        <p:spPr>
          <a:xfrm flipV="1">
            <a:off x="10846299" y="6776873"/>
            <a:ext cx="1330326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stCxn id="85" idx="0"/>
            <a:endCxn id="88" idx="4"/>
          </p:cNvCxnSpPr>
          <p:nvPr/>
        </p:nvCxnSpPr>
        <p:spPr>
          <a:xfrm flipV="1">
            <a:off x="10874874" y="6776873"/>
            <a:ext cx="4000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>
            <a:stCxn id="82" idx="0"/>
            <a:endCxn id="89" idx="4"/>
          </p:cNvCxnSpPr>
          <p:nvPr/>
        </p:nvCxnSpPr>
        <p:spPr>
          <a:xfrm flipH="1" flipV="1">
            <a:off x="10874874" y="6776873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>
            <a:stCxn id="82" idx="0"/>
            <a:endCxn id="88" idx="4"/>
          </p:cNvCxnSpPr>
          <p:nvPr/>
        </p:nvCxnSpPr>
        <p:spPr>
          <a:xfrm flipV="1">
            <a:off x="12208374" y="6776873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>
            <a:stCxn id="83" idx="0"/>
            <a:endCxn id="89" idx="4"/>
          </p:cNvCxnSpPr>
          <p:nvPr/>
        </p:nvCxnSpPr>
        <p:spPr>
          <a:xfrm flipH="1" flipV="1">
            <a:off x="10874874" y="6776873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83" idx="0"/>
            <a:endCxn id="86" idx="4"/>
          </p:cNvCxnSpPr>
          <p:nvPr/>
        </p:nvCxnSpPr>
        <p:spPr>
          <a:xfrm flipH="1" flipV="1">
            <a:off x="12208374" y="6776873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4"/>
          <p:cNvCxnSpPr>
            <a:stCxn id="83" idx="0"/>
            <a:endCxn id="88" idx="4"/>
          </p:cNvCxnSpPr>
          <p:nvPr/>
        </p:nvCxnSpPr>
        <p:spPr>
          <a:xfrm flipV="1">
            <a:off x="13541874" y="6776873"/>
            <a:ext cx="1333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5"/>
          <p:cNvCxnSpPr>
            <a:stCxn id="84" idx="0"/>
          </p:cNvCxnSpPr>
          <p:nvPr/>
        </p:nvCxnSpPr>
        <p:spPr>
          <a:xfrm flipH="1" flipV="1">
            <a:off x="10928850" y="6795923"/>
            <a:ext cx="3946524" cy="666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>
            <a:stCxn id="84" idx="0"/>
            <a:endCxn id="86" idx="4"/>
          </p:cNvCxnSpPr>
          <p:nvPr/>
        </p:nvCxnSpPr>
        <p:spPr>
          <a:xfrm flipH="1" flipV="1">
            <a:off x="12208374" y="6776873"/>
            <a:ext cx="2667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08"/>
          <p:cNvCxnSpPr>
            <a:stCxn id="89" idx="0"/>
            <a:endCxn id="92" idx="4"/>
          </p:cNvCxnSpPr>
          <p:nvPr/>
        </p:nvCxnSpPr>
        <p:spPr>
          <a:xfrm flipV="1">
            <a:off x="10874874" y="5329073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單箭頭接點 109"/>
          <p:cNvCxnSpPr>
            <a:stCxn id="89" idx="0"/>
            <a:endCxn id="90" idx="4"/>
          </p:cNvCxnSpPr>
          <p:nvPr/>
        </p:nvCxnSpPr>
        <p:spPr>
          <a:xfrm flipV="1">
            <a:off x="10874874" y="5329073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/>
          <p:cNvCxnSpPr>
            <a:stCxn id="89" idx="0"/>
            <a:endCxn id="91" idx="4"/>
          </p:cNvCxnSpPr>
          <p:nvPr/>
        </p:nvCxnSpPr>
        <p:spPr>
          <a:xfrm flipV="1">
            <a:off x="10874874" y="5329073"/>
            <a:ext cx="3238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單箭頭接點 111"/>
          <p:cNvCxnSpPr>
            <a:stCxn id="86" idx="0"/>
            <a:endCxn id="92" idx="4"/>
          </p:cNvCxnSpPr>
          <p:nvPr/>
        </p:nvCxnSpPr>
        <p:spPr>
          <a:xfrm flipH="1" flipV="1">
            <a:off x="11446374" y="5329073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stCxn id="86" idx="0"/>
            <a:endCxn id="90" idx="4"/>
          </p:cNvCxnSpPr>
          <p:nvPr/>
        </p:nvCxnSpPr>
        <p:spPr>
          <a:xfrm flipV="1">
            <a:off x="12208374" y="5329073"/>
            <a:ext cx="571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>
            <a:stCxn id="86" idx="0"/>
            <a:endCxn id="91" idx="4"/>
          </p:cNvCxnSpPr>
          <p:nvPr/>
        </p:nvCxnSpPr>
        <p:spPr>
          <a:xfrm flipV="1">
            <a:off x="12208374" y="5329073"/>
            <a:ext cx="1905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/>
          <p:cNvCxnSpPr>
            <a:stCxn id="88" idx="0"/>
            <a:endCxn id="92" idx="4"/>
          </p:cNvCxnSpPr>
          <p:nvPr/>
        </p:nvCxnSpPr>
        <p:spPr>
          <a:xfrm flipH="1" flipV="1">
            <a:off x="11446374" y="5329073"/>
            <a:ext cx="3429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>
            <a:stCxn id="88" idx="0"/>
            <a:endCxn id="90" idx="4"/>
          </p:cNvCxnSpPr>
          <p:nvPr/>
        </p:nvCxnSpPr>
        <p:spPr>
          <a:xfrm flipH="1" flipV="1">
            <a:off x="12779874" y="5329073"/>
            <a:ext cx="20955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/>
          <p:cNvCxnSpPr>
            <a:stCxn id="88" idx="0"/>
            <a:endCxn id="91" idx="4"/>
          </p:cNvCxnSpPr>
          <p:nvPr/>
        </p:nvCxnSpPr>
        <p:spPr>
          <a:xfrm flipH="1" flipV="1">
            <a:off x="14113374" y="5329073"/>
            <a:ext cx="76200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/>
          <p:nvPr/>
        </p:nvCxnSpPr>
        <p:spPr>
          <a:xfrm flipV="1">
            <a:off x="10874874" y="815592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121"/>
          <p:cNvCxnSpPr/>
          <p:nvPr/>
        </p:nvCxnSpPr>
        <p:spPr>
          <a:xfrm flipV="1">
            <a:off x="12233775" y="8195301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/>
          <p:cNvCxnSpPr/>
          <p:nvPr/>
        </p:nvCxnSpPr>
        <p:spPr>
          <a:xfrm flipV="1">
            <a:off x="13560921" y="8179904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 flipV="1">
            <a:off x="14900772" y="8188311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 flipV="1">
            <a:off x="11446374" y="4191149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/>
          <p:nvPr/>
        </p:nvCxnSpPr>
        <p:spPr>
          <a:xfrm flipV="1">
            <a:off x="12792575" y="4187337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單箭頭接點 126"/>
          <p:cNvCxnSpPr/>
          <p:nvPr/>
        </p:nvCxnSpPr>
        <p:spPr>
          <a:xfrm flipV="1">
            <a:off x="14113374" y="4191468"/>
            <a:ext cx="2" cy="3759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78" grpId="0"/>
      <p:bldP spid="79" grpId="0"/>
      <p:bldP spid="80" grpId="0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  <p:bldP spid="88" grpId="0" bldLvl="0" animBg="1"/>
      <p:bldP spid="89" grpId="0" bldLvl="0" animBg="1"/>
      <p:bldP spid="90" grpId="0" bldLvl="0" animBg="1"/>
      <p:bldP spid="91" grpId="0" bldLvl="0" animBg="1"/>
      <p:bldP spid="9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Pruning? </a:t>
            </a:r>
            <a:endParaRPr lang="zh-TW" altLang="en-US" dirty="0"/>
          </a:p>
        </p:txBody>
      </p:sp>
      <p:sp>
        <p:nvSpPr>
          <p:cNvPr id="9" name="矩形: 圓角 8"/>
          <p:cNvSpPr/>
          <p:nvPr/>
        </p:nvSpPr>
        <p:spPr>
          <a:xfrm>
            <a:off x="6144986" y="3313433"/>
            <a:ext cx="2345874" cy="200297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Large Network</a:t>
            </a:r>
            <a:endParaRPr lang="zh-TW" altLang="en-US" sz="4200" dirty="0"/>
          </a:p>
        </p:txBody>
      </p:sp>
      <p:sp>
        <p:nvSpPr>
          <p:cNvPr id="10" name="矩形: 圓角 9"/>
          <p:cNvSpPr/>
          <p:nvPr/>
        </p:nvSpPr>
        <p:spPr>
          <a:xfrm>
            <a:off x="6193790" y="6259830"/>
            <a:ext cx="2231390" cy="110553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Sub-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11" name="矩形: 圓角 10"/>
          <p:cNvSpPr/>
          <p:nvPr/>
        </p:nvSpPr>
        <p:spPr>
          <a:xfrm>
            <a:off x="6193974" y="7469900"/>
            <a:ext cx="2231573" cy="122115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Sub-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13" name="矩形: 圓角 12"/>
          <p:cNvSpPr/>
          <p:nvPr/>
        </p:nvSpPr>
        <p:spPr>
          <a:xfrm>
            <a:off x="11335950" y="3253562"/>
            <a:ext cx="2345874" cy="200297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Large Network</a:t>
            </a:r>
            <a:endParaRPr lang="zh-TW" altLang="en-US" sz="4200" dirty="0"/>
          </a:p>
        </p:txBody>
      </p:sp>
      <p:sp>
        <p:nvSpPr>
          <p:cNvPr id="14" name="文字方塊 13"/>
          <p:cNvSpPr txBox="1"/>
          <p:nvPr/>
        </p:nvSpPr>
        <p:spPr>
          <a:xfrm rot="5400000">
            <a:off x="6985275" y="8805993"/>
            <a:ext cx="1014702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707" y="3013851"/>
            <a:ext cx="1878171" cy="245951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149" y="6259628"/>
            <a:ext cx="1878171" cy="2459510"/>
          </a:xfrm>
          <a:prstGeom prst="rect">
            <a:avLst/>
          </a:prstGeom>
        </p:spPr>
      </p:pic>
      <p:sp>
        <p:nvSpPr>
          <p:cNvPr id="17" name="矩形: 圓角 16"/>
          <p:cNvSpPr/>
          <p:nvPr/>
        </p:nvSpPr>
        <p:spPr>
          <a:xfrm>
            <a:off x="11406505" y="6259830"/>
            <a:ext cx="2231390" cy="113220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Sub-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18" name="矩形: 圓角 17"/>
          <p:cNvSpPr/>
          <p:nvPr/>
        </p:nvSpPr>
        <p:spPr>
          <a:xfrm>
            <a:off x="11406711" y="7469900"/>
            <a:ext cx="2231573" cy="122115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600" dirty="0"/>
              <a:t>Sub-</a:t>
            </a:r>
          </a:p>
          <a:p>
            <a:pPr algn="ctr"/>
            <a:r>
              <a:rPr lang="en-US" altLang="zh-TW" sz="3600" dirty="0"/>
              <a:t>network</a:t>
            </a:r>
            <a:endParaRPr lang="zh-TW" altLang="en-US" sz="3600" dirty="0"/>
          </a:p>
        </p:txBody>
      </p:sp>
      <p:sp>
        <p:nvSpPr>
          <p:cNvPr id="19" name="文字方塊 18"/>
          <p:cNvSpPr txBox="1"/>
          <p:nvPr/>
        </p:nvSpPr>
        <p:spPr>
          <a:xfrm rot="5400000">
            <a:off x="12198012" y="8805993"/>
            <a:ext cx="1014702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……</a:t>
            </a:r>
            <a:endParaRPr lang="zh-TW" altLang="en-US" sz="4200" dirty="0"/>
          </a:p>
        </p:txBody>
      </p:sp>
      <p:sp>
        <p:nvSpPr>
          <p:cNvPr id="21" name="箭號: 向右 20"/>
          <p:cNvSpPr/>
          <p:nvPr/>
        </p:nvSpPr>
        <p:spPr>
          <a:xfrm>
            <a:off x="8752115" y="3905126"/>
            <a:ext cx="2345874" cy="7848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文字方塊 21"/>
          <p:cNvSpPr txBox="1"/>
          <p:nvPr/>
        </p:nvSpPr>
        <p:spPr>
          <a:xfrm>
            <a:off x="8871096" y="3386246"/>
            <a:ext cx="187817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Train</a:t>
            </a:r>
            <a:endParaRPr lang="zh-TW" altLang="en-US" sz="3600" dirty="0"/>
          </a:p>
        </p:txBody>
      </p:sp>
      <p:sp>
        <p:nvSpPr>
          <p:cNvPr id="23" name="箭號: 向下 22"/>
          <p:cNvSpPr/>
          <p:nvPr/>
        </p:nvSpPr>
        <p:spPr>
          <a:xfrm>
            <a:off x="6832151" y="5430621"/>
            <a:ext cx="955218" cy="786267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箭號: 向右 23"/>
          <p:cNvSpPr/>
          <p:nvPr/>
        </p:nvSpPr>
        <p:spPr>
          <a:xfrm>
            <a:off x="8771381" y="6432258"/>
            <a:ext cx="2345874" cy="7848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5" name="文字方塊 24"/>
          <p:cNvSpPr txBox="1"/>
          <p:nvPr/>
        </p:nvSpPr>
        <p:spPr>
          <a:xfrm>
            <a:off x="8890362" y="5913378"/>
            <a:ext cx="187817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Train</a:t>
            </a:r>
            <a:endParaRPr lang="zh-TW" altLang="en-US" sz="3600" dirty="0"/>
          </a:p>
        </p:txBody>
      </p:sp>
      <p:sp>
        <p:nvSpPr>
          <p:cNvPr id="26" name="箭號: 向右 25"/>
          <p:cNvSpPr/>
          <p:nvPr/>
        </p:nvSpPr>
        <p:spPr>
          <a:xfrm>
            <a:off x="8754485" y="7906227"/>
            <a:ext cx="2345874" cy="78483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文字方塊 26"/>
          <p:cNvSpPr txBox="1"/>
          <p:nvPr/>
        </p:nvSpPr>
        <p:spPr>
          <a:xfrm>
            <a:off x="8873466" y="7387347"/>
            <a:ext cx="187817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Train</a:t>
            </a:r>
            <a:endParaRPr lang="zh-TW" altLang="en-US" sz="3600" dirty="0"/>
          </a:p>
        </p:txBody>
      </p:sp>
      <p:sp>
        <p:nvSpPr>
          <p:cNvPr id="28" name="箭號: 向下 27"/>
          <p:cNvSpPr/>
          <p:nvPr/>
        </p:nvSpPr>
        <p:spPr>
          <a:xfrm flipV="1">
            <a:off x="12016517" y="5399954"/>
            <a:ext cx="955218" cy="786267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9" name="文字方塊 28"/>
          <p:cNvSpPr txBox="1"/>
          <p:nvPr/>
        </p:nvSpPr>
        <p:spPr>
          <a:xfrm>
            <a:off x="13710404" y="6523956"/>
            <a:ext cx="11321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Win!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13702449" y="3835190"/>
            <a:ext cx="113211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Win!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ym typeface="+mn-ea"/>
              </a:rPr>
              <a:t>Lottery Ticket Hypothesis</a:t>
            </a:r>
            <a:endParaRPr lang="zh-TW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4" grpId="0"/>
      <p:bldP spid="17" grpId="0" bldLvl="0" animBg="1"/>
      <p:bldP spid="18" grpId="0" bldLvl="0" animBg="1"/>
      <p:bldP spid="19" grpId="0"/>
      <p:bldP spid="23" grpId="0" bldLvl="0" animBg="1"/>
      <p:bldP spid="24" grpId="0" bldLvl="0" animBg="1"/>
      <p:bldP spid="25" grpId="0"/>
      <p:bldP spid="26" grpId="0" bldLvl="0" animBg="1"/>
      <p:bldP spid="27" grpId="0"/>
      <p:bldP spid="28" grpId="0" bldLvl="0" animBg="1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文字方塊 140"/>
          <p:cNvSpPr txBox="1"/>
          <p:nvPr/>
        </p:nvSpPr>
        <p:spPr>
          <a:xfrm>
            <a:off x="7901056" y="6436000"/>
            <a:ext cx="3162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Pruned</a:t>
            </a:r>
            <a:endParaRPr lang="zh-TW" altLang="en-US" sz="36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Why Pruning? 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68" y="2952633"/>
            <a:ext cx="2700000" cy="353571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614" y="2952630"/>
            <a:ext cx="2700000" cy="353571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6509" y="2930385"/>
            <a:ext cx="2700000" cy="353571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0055" y="292495"/>
            <a:ext cx="2700000" cy="353571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6748" y="6458792"/>
            <a:ext cx="2700000" cy="3535715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733683" y="6408492"/>
            <a:ext cx="3162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Random </a:t>
            </a:r>
            <a:r>
              <a:rPr lang="en-US" altLang="zh-TW" sz="3600" dirty="0" err="1"/>
              <a:t>init</a:t>
            </a:r>
            <a:endParaRPr lang="zh-TW" altLang="en-US" sz="3600" dirty="0"/>
          </a:p>
        </p:txBody>
      </p:sp>
      <p:sp>
        <p:nvSpPr>
          <p:cNvPr id="140" name="文字方塊 139"/>
          <p:cNvSpPr txBox="1"/>
          <p:nvPr/>
        </p:nvSpPr>
        <p:spPr>
          <a:xfrm>
            <a:off x="4292820" y="6502929"/>
            <a:ext cx="3162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Trained </a:t>
            </a:r>
            <a:endParaRPr lang="zh-TW" altLang="en-US" sz="360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11122677" y="5278431"/>
            <a:ext cx="31623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/>
              <a:t>Original</a:t>
            </a:r>
          </a:p>
          <a:p>
            <a:pPr algn="ctr"/>
            <a:r>
              <a:rPr lang="en-US" altLang="zh-TW" sz="3600" dirty="0"/>
              <a:t>Random </a:t>
            </a:r>
            <a:r>
              <a:rPr lang="en-US" altLang="zh-TW" sz="3600" dirty="0" err="1"/>
              <a:t>init</a:t>
            </a:r>
            <a:endParaRPr lang="zh-TW" altLang="en-US" sz="3600" dirty="0"/>
          </a:p>
        </p:txBody>
      </p:sp>
      <p:sp>
        <p:nvSpPr>
          <p:cNvPr id="146" name="文字方塊 145"/>
          <p:cNvSpPr txBox="1"/>
          <p:nvPr/>
        </p:nvSpPr>
        <p:spPr>
          <a:xfrm>
            <a:off x="11122677" y="3856038"/>
            <a:ext cx="31623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Random </a:t>
            </a:r>
            <a:r>
              <a:rPr lang="en-US" altLang="zh-TW" sz="3600" dirty="0" err="1"/>
              <a:t>init</a:t>
            </a:r>
            <a:endParaRPr lang="en-US" altLang="zh-TW" sz="3600" dirty="0"/>
          </a:p>
          <a:p>
            <a:pPr algn="ctr"/>
            <a:r>
              <a:rPr lang="en-US" altLang="zh-TW" sz="3600" b="1" dirty="0"/>
              <a:t>Again</a:t>
            </a:r>
            <a:endParaRPr lang="zh-TW" altLang="en-US" sz="3600" b="1" dirty="0"/>
          </a:p>
        </p:txBody>
      </p:sp>
      <p:cxnSp>
        <p:nvCxnSpPr>
          <p:cNvPr id="25" name="直線單箭頭接點 24"/>
          <p:cNvCxnSpPr/>
          <p:nvPr/>
        </p:nvCxnSpPr>
        <p:spPr>
          <a:xfrm>
            <a:off x="1535735" y="7891087"/>
            <a:ext cx="108585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線單箭頭接點 149"/>
          <p:cNvCxnSpPr/>
          <p:nvPr/>
        </p:nvCxnSpPr>
        <p:spPr>
          <a:xfrm>
            <a:off x="1535735" y="8729288"/>
            <a:ext cx="1085850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單箭頭接點 152"/>
          <p:cNvCxnSpPr/>
          <p:nvPr/>
        </p:nvCxnSpPr>
        <p:spPr>
          <a:xfrm>
            <a:off x="1535735" y="9586538"/>
            <a:ext cx="108585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/>
          <p:cNvSpPr txBox="1"/>
          <p:nvPr/>
        </p:nvSpPr>
        <p:spPr>
          <a:xfrm>
            <a:off x="2876953" y="7549490"/>
            <a:ext cx="490635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Random Init weights</a:t>
            </a:r>
            <a:endParaRPr lang="zh-TW" altLang="en-US" sz="3600" dirty="0"/>
          </a:p>
        </p:txBody>
      </p:sp>
      <p:sp>
        <p:nvSpPr>
          <p:cNvPr id="154" name="文字方塊 153"/>
          <p:cNvSpPr txBox="1"/>
          <p:nvPr/>
        </p:nvSpPr>
        <p:spPr>
          <a:xfrm>
            <a:off x="2876953" y="8348205"/>
            <a:ext cx="490635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Trained weight</a:t>
            </a:r>
            <a:endParaRPr lang="zh-TW" altLang="en-US" sz="3600" dirty="0"/>
          </a:p>
        </p:txBody>
      </p:sp>
      <p:sp>
        <p:nvSpPr>
          <p:cNvPr id="156" name="文字方塊 155"/>
          <p:cNvSpPr txBox="1"/>
          <p:nvPr/>
        </p:nvSpPr>
        <p:spPr>
          <a:xfrm>
            <a:off x="2877185" y="9241155"/>
            <a:ext cx="67659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Another random Init weights</a:t>
            </a:r>
            <a:endParaRPr lang="zh-TW" altLang="en-US" sz="3600" dirty="0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ym typeface="+mn-ea"/>
              </a:rPr>
              <a:t>Lottery Ticket Hypothesis</a:t>
            </a:r>
            <a:endParaRPr lang="zh-TW" altLang="en-US" dirty="0"/>
          </a:p>
        </p:txBody>
      </p:sp>
      <p:sp>
        <p:nvSpPr>
          <p:cNvPr id="7" name="Right Arrow 6"/>
          <p:cNvSpPr/>
          <p:nvPr/>
        </p:nvSpPr>
        <p:spPr>
          <a:xfrm>
            <a:off x="3726180" y="4269105"/>
            <a:ext cx="657860" cy="7239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7287260" y="4358640"/>
            <a:ext cx="657860" cy="7239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9140000">
            <a:off x="9856470" y="2559050"/>
            <a:ext cx="1340485" cy="7239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3240000">
            <a:off x="9765665" y="7446645"/>
            <a:ext cx="1340485" cy="7239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/>
      <p:bldP spid="19" grpId="0"/>
      <p:bldP spid="140" grpId="0"/>
      <p:bldP spid="145" grpId="0"/>
      <p:bldP spid="145" grpId="1"/>
      <p:bldP spid="146" grpId="0"/>
      <p:bldP spid="146" grpId="1"/>
      <p:bldP spid="9" grpId="0" animBg="1"/>
      <p:bldP spid="9" grpId="1" animBg="1"/>
      <p:bldP spid="11" grpId="0" animBg="1"/>
      <p:bldP spid="1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Pruning?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28975" y="6167435"/>
            <a:ext cx="11830050" cy="3098009"/>
          </a:xfr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8" name="文字方塊 7"/>
          <p:cNvSpPr txBox="1"/>
          <p:nvPr/>
        </p:nvSpPr>
        <p:spPr>
          <a:xfrm>
            <a:off x="8813394" y="744557"/>
            <a:ext cx="6858000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TW" altLang="en-US" sz="100" dirty="0"/>
              <a:t>https://arxiv.org/abs/1905.01067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671474"/>
            <a:ext cx="1371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: 圓角 8"/>
          <p:cNvSpPr/>
          <p:nvPr/>
        </p:nvSpPr>
        <p:spPr>
          <a:xfrm>
            <a:off x="12510652" y="4012017"/>
            <a:ext cx="1487003" cy="24662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: 圓角 9"/>
          <p:cNvSpPr/>
          <p:nvPr/>
        </p:nvSpPr>
        <p:spPr>
          <a:xfrm>
            <a:off x="2651443" y="4046194"/>
            <a:ext cx="1487003" cy="24662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2286000" y="7393305"/>
            <a:ext cx="1313815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“sign</a:t>
            </a:r>
            <a:r>
              <a:rPr lang="en-US" altLang="zh-TW" sz="3600" dirty="0" err="1"/>
              <a:t>ificance</a:t>
            </a:r>
            <a:r>
              <a:rPr lang="en-US" altLang="zh-TW" sz="3600" dirty="0"/>
              <a:t>” of initial weights: Keeping the sign is critical</a:t>
            </a:r>
          </a:p>
        </p:txBody>
      </p:sp>
      <p:sp>
        <p:nvSpPr>
          <p:cNvPr id="13" name="矩形 12"/>
          <p:cNvSpPr/>
          <p:nvPr/>
        </p:nvSpPr>
        <p:spPr>
          <a:xfrm>
            <a:off x="2263140" y="9088755"/>
            <a:ext cx="1316101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Pruning weights from a network with random weights  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10710230" y="9639083"/>
            <a:ext cx="5088135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0" dirty="0"/>
              <a:t>https://arxiv.org/abs/1906.04358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3556820" y="8206824"/>
            <a:ext cx="4800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0.9, 3.1, -9.1, 8.5 ……  </a:t>
            </a:r>
            <a:endParaRPr lang="zh-TW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9509067" y="8158445"/>
                <a:ext cx="480060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dirty="0"/>
                  <a:t>+</a:t>
                </a:r>
                <a14:m>
                  <m:oMath xmlns:m="http://schemas.openxmlformats.org/officeDocument/2006/math">
                    <m:r>
                      <a:rPr lang="zh-TW" altLang="en-US" sz="36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3600" dirty="0"/>
                  <a:t>, +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3600" dirty="0"/>
                  <a:t>, - 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3600" dirty="0"/>
                  <a:t>, +</a:t>
                </a:r>
                <a14:m>
                  <m:oMath xmlns:m="http://schemas.openxmlformats.org/officeDocument/2006/math">
                    <m:r>
                      <a:rPr lang="zh-TW" altLang="en-US" sz="3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3600" dirty="0"/>
                  <a:t> ……  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067" y="8158445"/>
                <a:ext cx="4800600" cy="645160"/>
              </a:xfrm>
              <a:prstGeom prst="rect">
                <a:avLst/>
              </a:prstGeom>
              <a:blipFill rotWithShape="1">
                <a:blip r:embed="rId4"/>
                <a:stretch>
                  <a:fillRect l="-12" t="-93" r="12" b="9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內容版面配置區 2"/>
          <p:cNvSpPr>
            <a:spLocks noGrp="1"/>
          </p:cNvSpPr>
          <p:nvPr/>
        </p:nvSpPr>
        <p:spPr>
          <a:xfrm>
            <a:off x="1098550" y="2050415"/>
            <a:ext cx="16084550" cy="16579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698500" indent="-698500" algn="l" rtl="0" fontAlgn="base">
              <a:spcBef>
                <a:spcPts val="4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2" charset="2"/>
              <a:buChar char=""/>
              <a:defRPr sz="4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1371600" indent="-673100" algn="l" rtl="0" fontAlgn="base">
              <a:spcBef>
                <a:spcPts val="1200"/>
              </a:spcBef>
              <a:spcAft>
                <a:spcPct val="0"/>
              </a:spcAft>
              <a:buClr>
                <a:srgbClr val="808080"/>
              </a:buClr>
              <a:buSzPct val="100000"/>
              <a:buFont typeface="Wingdings 2" pitchFamily="2" charset="2"/>
              <a:buChar char=""/>
              <a:defRPr sz="36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9367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969696"/>
              </a:buClr>
              <a:buSzPct val="100000"/>
              <a:buFont typeface="Wingdings 2" pitchFamily="2" charset="2"/>
              <a:buChar char="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2527300" indent="-590550" algn="l" rtl="0" fontAlgn="base">
              <a:spcBef>
                <a:spcPts val="1200"/>
              </a:spcBef>
              <a:spcAft>
                <a:spcPct val="0"/>
              </a:spcAft>
              <a:buClr>
                <a:srgbClr val="F8BC65"/>
              </a:buClr>
              <a:buSzPct val="100000"/>
              <a:buFont typeface="Wingdings 2" pitchFamily="2" charset="2"/>
              <a:buChar char="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3092450" indent="-565150" algn="l" rtl="0" fontAlgn="base">
              <a:spcBef>
                <a:spcPts val="1200"/>
              </a:spcBef>
              <a:spcAft>
                <a:spcPct val="0"/>
              </a:spcAft>
              <a:buClr>
                <a:srgbClr val="FBD299"/>
              </a:buClr>
              <a:buSzPct val="100000"/>
              <a:buFont typeface="Wingdings 2" pitchFamily="2" charset="2"/>
              <a:buChar char="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3657600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4235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797425" indent="-565150" algn="l" defTabSz="18288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2" charset="2"/>
              <a:buChar char=""/>
              <a:defRPr lang="en-US" sz="3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5378450" indent="-565150" algn="l" defTabSz="18288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2" charset="2"/>
              <a:buChar char=""/>
              <a:defRPr lang="en-US" sz="3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ym typeface="+mn-ea"/>
              </a:rPr>
              <a:t>Lottery Ticket Hypothesis</a:t>
            </a:r>
          </a:p>
          <a:p>
            <a:pPr lvl="1"/>
            <a:r>
              <a:rPr lang="en-US" altLang="zh-TW" dirty="0">
                <a:sym typeface="+mn-ea"/>
              </a:rPr>
              <a:t>Different pruning strategy </a:t>
            </a:r>
            <a:endParaRPr lang="zh-TW" altLang="en-US" dirty="0"/>
          </a:p>
        </p:txBody>
      </p:sp>
      <p:sp>
        <p:nvSpPr>
          <p:cNvPr id="14" name="Text Box 13"/>
          <p:cNvSpPr txBox="1"/>
          <p:nvPr/>
        </p:nvSpPr>
        <p:spPr>
          <a:xfrm>
            <a:off x="12368530" y="6953885"/>
            <a:ext cx="3429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lang="zh-TW" altLang="en-US" dirty="0">
                <a:sym typeface="+mn-ea"/>
              </a:rPr>
              <a:t>https://arxiv.org/abs/1905.01067</a:t>
            </a:r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4984750" y="6856730"/>
            <a:ext cx="73837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TW" dirty="0">
                <a:solidFill>
                  <a:srgbClr val="000000"/>
                </a:solidFill>
                <a:effectLst/>
                <a:latin typeface="Lucida Grande"/>
                <a:sym typeface="+mn-ea"/>
              </a:rPr>
              <a:t>Deconstructing Lottery Tickets: Zeros, Signs, and the </a:t>
            </a:r>
            <a:r>
              <a:rPr lang="en-US" altLang="zh-TW" dirty="0" err="1">
                <a:solidFill>
                  <a:srgbClr val="000000"/>
                </a:solidFill>
                <a:effectLst/>
                <a:latin typeface="Lucida Grande"/>
                <a:sym typeface="+mn-ea"/>
              </a:rPr>
              <a:t>Supermask</a:t>
            </a:r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8357235" y="8206740"/>
            <a:ext cx="996315" cy="59944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Pruning?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01725" y="2050699"/>
            <a:ext cx="16084552" cy="6888006"/>
          </a:xfrm>
        </p:spPr>
        <p:txBody>
          <a:bodyPr>
            <a:normAutofit/>
          </a:bodyPr>
          <a:lstStyle/>
          <a:p>
            <a:r>
              <a:rPr lang="en-US" altLang="zh-TW" sz="4500" dirty="0"/>
              <a:t>Rethinking the Value of Network Pruning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489022"/>
            <a:ext cx="13716000" cy="330922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282190" y="7385050"/>
            <a:ext cx="1365821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b="1" dirty="0">
                <a:solidFill>
                  <a:schemeClr val="accent1"/>
                </a:solidFill>
                <a:latin typeface="+mj-lt"/>
                <a:cs typeface="+mj-cs"/>
              </a:rPr>
              <a:t>New</a:t>
            </a:r>
            <a:r>
              <a:rPr lang="en-US" altLang="zh-TW" sz="3600" dirty="0"/>
              <a:t> random initialization, not </a:t>
            </a:r>
            <a:r>
              <a:rPr lang="en-US" altLang="zh-TW" sz="3600" b="1" dirty="0">
                <a:solidFill>
                  <a:schemeClr val="accent1"/>
                </a:solidFill>
                <a:latin typeface="+mj-lt"/>
                <a:cs typeface="+mj-cs"/>
              </a:rPr>
              <a:t>original</a:t>
            </a:r>
            <a:r>
              <a:rPr lang="en-US" altLang="zh-TW" sz="3600" dirty="0"/>
              <a:t> random initialization in “Lottery Ticket Hypothesis”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3600" dirty="0"/>
              <a:t>Limitation of “Lottery Ticket Hypothesis” (small </a:t>
            </a:r>
            <a:r>
              <a:rPr lang="en-US" altLang="zh-TW" sz="3600" dirty="0" err="1"/>
              <a:t>lr</a:t>
            </a:r>
            <a:r>
              <a:rPr lang="en-US" altLang="zh-TW" sz="3600" dirty="0"/>
              <a:t>, unstructured)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412220" y="6798310"/>
            <a:ext cx="43440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1"/>
            <a:r>
              <a:rPr lang="en-US" altLang="zh-TW" dirty="0">
                <a:sym typeface="+mn-ea"/>
                <a:hlinkClick r:id="rId4"/>
              </a:rPr>
              <a:t>https://arxiv.org/abs/1810.05270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7F9E9F5A-3D7B-43DF-9D03-84725CE96E07}"/>
</file>

<file path=customXml/itemProps2.xml><?xml version="1.0" encoding="utf-8"?>
<ds:datastoreItem xmlns:ds="http://schemas.openxmlformats.org/officeDocument/2006/customXml" ds:itemID="{D9235B5C-3486-484D-9BA4-6AA885A8CDA0}"/>
</file>

<file path=customXml/itemProps3.xml><?xml version="1.0" encoding="utf-8"?>
<ds:datastoreItem xmlns:ds="http://schemas.openxmlformats.org/officeDocument/2006/customXml" ds:itemID="{14AA39C0-65AB-4225-89BA-BDFF512E937B}"/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368</Words>
  <Application>Microsoft Macintosh PowerPoint</Application>
  <PresentationFormat>Custom</PresentationFormat>
  <Paragraphs>91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Microsoft JhengHei</vt:lpstr>
      <vt:lpstr>Arial</vt:lpstr>
      <vt:lpstr>Calibri</vt:lpstr>
      <vt:lpstr>Cambria Math</vt:lpstr>
      <vt:lpstr>Lucida Grande</vt:lpstr>
      <vt:lpstr>Wingdings 2</vt:lpstr>
      <vt:lpstr>Breeze</vt:lpstr>
      <vt:lpstr>Network Pruning </vt:lpstr>
      <vt:lpstr>Network can be pruned</vt:lpstr>
      <vt:lpstr>Network Pruning </vt:lpstr>
      <vt:lpstr>Network Pruning - Practical Issue </vt:lpstr>
      <vt:lpstr>Network Pruning - Practical Issue </vt:lpstr>
      <vt:lpstr>Network Pruning - Practical Issue </vt:lpstr>
      <vt:lpstr>Why Pruning? </vt:lpstr>
      <vt:lpstr>Why Pruning? </vt:lpstr>
      <vt:lpstr>Why Pruning? </vt:lpstr>
      <vt:lpstr>Why Pruning? 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45</cp:revision>
  <dcterms:created xsi:type="dcterms:W3CDTF">2019-02-13T16:04:00Z</dcterms:created>
  <dcterms:modified xsi:type="dcterms:W3CDTF">2024-04-03T02:57:13Z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6C5E8AC3588247708D265E8177A4AA55</vt:lpwstr>
  </property>
  <property fmtid="{D5CDD505-2E9C-101B-9397-08002B2CF9AE}" pid="5" name="KSOProductBuildVer">
    <vt:lpwstr>1033-11.2.0.11225</vt:lpwstr>
  </property>
</Properties>
</file>