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9" r:id="rId2"/>
    <p:sldId id="298" r:id="rId3"/>
    <p:sldId id="299" r:id="rId4"/>
    <p:sldId id="300" r:id="rId5"/>
    <p:sldId id="301" r:id="rId6"/>
    <p:sldId id="302" r:id="rId7"/>
    <p:sldId id="267" r:id="rId8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6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73"/>
    <p:restoredTop sz="93453"/>
  </p:normalViewPr>
  <p:slideViewPr>
    <p:cSldViewPr snapToGrid="0" snapToObjects="1">
      <p:cViewPr varScale="1">
        <p:scale>
          <a:sx n="73" d="100"/>
          <a:sy n="73" d="100"/>
        </p:scale>
        <p:origin x="256" y="256"/>
      </p:cViewPr>
      <p:guideLst>
        <p:guide orient="horz" pos="3116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B7F0FA-1BD4-4383-A8C5-5F618E7F929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8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9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9.png"/><Relationship Id="rId4" Type="http://schemas.openxmlformats.org/officeDocument/2006/relationships/image" Target="../media/image6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3007744"/>
            <a:ext cx="12998450" cy="152657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Dynamic 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Computation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network adjusts the computation it need.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Why don’t we prepare a set of models? </a:t>
            </a:r>
            <a:endParaRPr lang="zh-TW" altLang="en-US" dirty="0"/>
          </a:p>
        </p:txBody>
      </p:sp>
      <p:pic>
        <p:nvPicPr>
          <p:cNvPr id="4098" name="Picture 2" descr="ãææ©ãæ²é»ãæé»ãçåçæå°çµ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1648" y="4373321"/>
            <a:ext cx="6257924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群組 12"/>
          <p:cNvGrpSpPr/>
          <p:nvPr/>
        </p:nvGrpSpPr>
        <p:grpSpPr>
          <a:xfrm>
            <a:off x="3228975" y="3831429"/>
            <a:ext cx="6236642" cy="4028042"/>
            <a:chOff x="431799" y="3576685"/>
            <a:chExt cx="4157761" cy="2685361"/>
          </a:xfrm>
        </p:grpSpPr>
        <p:pic>
          <p:nvPicPr>
            <p:cNvPr id="1026" name="Picture 2" descr="iPhone 12 128GB 藍色- Apple (台灣)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9435" y="3576685"/>
              <a:ext cx="2270125" cy="2685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Recon Instruments is finally shipping the Recon Jet Smart Glass | Smart  glasses, Wearable device, Smart glas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99" y="3682362"/>
              <a:ext cx="2330452" cy="1553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ãsmart watchãçåçæå°çµæ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378238" y="5024379"/>
              <a:ext cx="1237667" cy="1237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文字方塊 13"/>
          <p:cNvSpPr txBox="1"/>
          <p:nvPr/>
        </p:nvSpPr>
        <p:spPr>
          <a:xfrm>
            <a:off x="4257864" y="3786188"/>
            <a:ext cx="382886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Different devices </a:t>
            </a:r>
            <a:endParaRPr lang="zh-TW" altLang="en-US" sz="36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339394" y="3680823"/>
            <a:ext cx="41241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high/low battery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圖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508" y="3333822"/>
            <a:ext cx="1868139" cy="1988345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Depth 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58339" y="3406451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 rot="5400000">
            <a:off x="6098982" y="3933776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78092" y="3388593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2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rot="5400000">
            <a:off x="8899685" y="3944493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18571" y="5493954"/>
            <a:ext cx="1809750" cy="11784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Extra Layer 1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>
            <a:off x="4294833" y="413392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6081246" y="413392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7019459" y="415297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8934929" y="4150005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9861710" y="413453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6843660" y="4882541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1544941" y="3416580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33" name="直線單箭頭接點 32"/>
          <p:cNvCxnSpPr/>
          <p:nvPr/>
        </p:nvCxnSpPr>
        <p:spPr>
          <a:xfrm>
            <a:off x="11004710" y="413453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0174740" y="3628888"/>
            <a:ext cx="105828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34" name="直線單箭頭接點 33"/>
          <p:cNvCxnSpPr/>
          <p:nvPr/>
        </p:nvCxnSpPr>
        <p:spPr>
          <a:xfrm>
            <a:off x="12901778" y="4121430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13573923" y="3759560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3923" y="3759560"/>
                <a:ext cx="425406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38" t="-56" r="28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14537067" y="3787365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7067" y="3787365"/>
                <a:ext cx="1263498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1" t="-35" r="39" b="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/>
          <p:cNvCxnSpPr/>
          <p:nvPr/>
        </p:nvCxnSpPr>
        <p:spPr>
          <a:xfrm>
            <a:off x="14086694" y="4150005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6663939" y="7317387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939" y="7317387"/>
                <a:ext cx="425406" cy="645795"/>
              </a:xfrm>
              <a:prstGeom prst="rect">
                <a:avLst/>
              </a:prstGeom>
              <a:blipFill rotWithShape="1">
                <a:blip r:embed="rId6"/>
                <a:stretch>
                  <a:fillRect l="-59" t="-44" r="-7266" b="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單箭頭接點 38"/>
          <p:cNvCxnSpPr/>
          <p:nvPr/>
        </p:nvCxnSpPr>
        <p:spPr>
          <a:xfrm>
            <a:off x="6857534" y="6805962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8715729" y="5492417"/>
            <a:ext cx="1809750" cy="117846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Extra Layer 2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>
            <a:off x="9640818" y="4881003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9461097" y="7315850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097" y="7315850"/>
                <a:ext cx="425406" cy="645795"/>
              </a:xfrm>
              <a:prstGeom prst="rect">
                <a:avLst/>
              </a:prstGeom>
              <a:blipFill rotWithShape="1">
                <a:blip r:embed="rId7"/>
                <a:stretch>
                  <a:fillRect l="-55" t="-2" r="-39661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單箭頭接點 42"/>
          <p:cNvCxnSpPr/>
          <p:nvPr/>
        </p:nvCxnSpPr>
        <p:spPr>
          <a:xfrm>
            <a:off x="9654692" y="6804425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rot="5400000">
            <a:off x="6501231" y="8421984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6254359" y="8835806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359" y="8835806"/>
                <a:ext cx="1263498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19" t="-64" r="7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單箭頭接點 45"/>
          <p:cNvCxnSpPr/>
          <p:nvPr/>
        </p:nvCxnSpPr>
        <p:spPr>
          <a:xfrm rot="5400000">
            <a:off x="9267644" y="8421984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9020772" y="8835806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772" y="8835806"/>
                <a:ext cx="1263498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47" t="-64" r="35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 47"/>
          <p:cNvSpPr/>
          <p:nvPr/>
        </p:nvSpPr>
        <p:spPr>
          <a:xfrm>
            <a:off x="11137172" y="8091807"/>
            <a:ext cx="4179482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https://arxiv.org/abs/1703.09844</a:t>
            </a:r>
          </a:p>
        </p:txBody>
      </p:sp>
      <p:sp>
        <p:nvSpPr>
          <p:cNvPr id="49" name="文字方塊 48"/>
          <p:cNvSpPr txBox="1"/>
          <p:nvPr/>
        </p:nvSpPr>
        <p:spPr>
          <a:xfrm>
            <a:off x="11098547" y="5733042"/>
            <a:ext cx="443929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Does it work well?</a:t>
            </a:r>
            <a:endParaRPr lang="zh-TW" altLang="en-US" sz="4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1137172" y="6852659"/>
            <a:ext cx="44466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Multi-Scale Dense Network (</a:t>
            </a:r>
            <a:r>
              <a:rPr lang="en-US" altLang="zh-TW" sz="3600" dirty="0" err="1"/>
              <a:t>MSDNet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2020448" y="2375920"/>
            <a:ext cx="35323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high battery</a:t>
            </a:r>
          </a:p>
        </p:txBody>
      </p:sp>
      <p:sp>
        <p:nvSpPr>
          <p:cNvPr id="52" name="文字方塊 51"/>
          <p:cNvSpPr txBox="1"/>
          <p:nvPr/>
        </p:nvSpPr>
        <p:spPr>
          <a:xfrm>
            <a:off x="3438280" y="7361015"/>
            <a:ext cx="35323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low battery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7082543" y="8082087"/>
                <a:ext cx="4781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543" y="8082087"/>
                <a:ext cx="478155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81" t="-80" r="-16652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9829139" y="8117097"/>
                <a:ext cx="48387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139" y="8117097"/>
                <a:ext cx="483870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126" t="-95" r="-15885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4172258" y="4342652"/>
                <a:ext cx="4781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2258" y="4342652"/>
                <a:ext cx="478155" cy="553720"/>
              </a:xfrm>
              <a:prstGeom prst="rect">
                <a:avLst/>
              </a:prstGeom>
              <a:blipFill rotWithShape="1">
                <a:blip r:embed="rId10"/>
                <a:stretch>
                  <a:fillRect l="-69" t="-94" r="-15602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10525518" y="1767021"/>
                <a:ext cx="418465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5518" y="1767021"/>
                <a:ext cx="4184650" cy="553720"/>
              </a:xfrm>
              <a:prstGeom prst="rect">
                <a:avLst/>
              </a:prstGeom>
              <a:blipFill rotWithShape="1">
                <a:blip r:embed="rId11"/>
                <a:stretch>
                  <a:fillRect l="-9" t="-81" r="-1660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36" grpId="0"/>
      <p:bldP spid="37" grpId="0"/>
      <p:bldP spid="40" grpId="0" bldLvl="0" animBg="1"/>
      <p:bldP spid="42" grpId="0"/>
      <p:bldP spid="45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Width 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692435" y="8807511"/>
            <a:ext cx="101193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i="0" dirty="0" err="1">
                <a:solidFill>
                  <a:srgbClr val="000000"/>
                </a:solidFill>
                <a:effectLst/>
              </a:rPr>
              <a:t>Slimmable</a:t>
            </a:r>
            <a:r>
              <a:rPr lang="en-US" altLang="zh-TW" sz="1800" i="0" dirty="0">
                <a:solidFill>
                  <a:srgbClr val="000000"/>
                </a:solidFill>
                <a:effectLst/>
              </a:rPr>
              <a:t> Neural Networks https://arxiv.org/abs/1812.08928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867" y="2536034"/>
            <a:ext cx="13703133" cy="4477082"/>
          </a:xfrm>
          <a:prstGeom prst="rect">
            <a:avLst/>
          </a:prstGeom>
        </p:spPr>
      </p:pic>
      <p:cxnSp>
        <p:nvCxnSpPr>
          <p:cNvPr id="10" name="直線單箭頭接點 9"/>
          <p:cNvCxnSpPr/>
          <p:nvPr/>
        </p:nvCxnSpPr>
        <p:spPr>
          <a:xfrm rot="5400000">
            <a:off x="4015206" y="7406339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768335" y="7820160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335" y="7820160"/>
                <a:ext cx="1263498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19" t="-21" r="7" b="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單箭頭接點 11"/>
          <p:cNvCxnSpPr/>
          <p:nvPr/>
        </p:nvCxnSpPr>
        <p:spPr>
          <a:xfrm rot="5400000">
            <a:off x="8722202" y="7406340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8475330" y="7820162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5330" y="7820162"/>
                <a:ext cx="1263498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49" t="-21" r="37" b="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/>
          <p:cNvCxnSpPr/>
          <p:nvPr/>
        </p:nvCxnSpPr>
        <p:spPr>
          <a:xfrm rot="5400000">
            <a:off x="13429196" y="7357745"/>
            <a:ext cx="78644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3182324" y="7771566"/>
                <a:ext cx="1263498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324" y="7771566"/>
                <a:ext cx="1263498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28" t="-68" r="16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0471543" y="1847031"/>
                <a:ext cx="3350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1543" y="1847031"/>
                <a:ext cx="335089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12" t="-81" r="-1372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682243" y="7053387"/>
                <a:ext cx="4781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243" y="7053387"/>
                <a:ext cx="47815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81" t="-80" r="-16652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9372600" y="7023336"/>
                <a:ext cx="48387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0" y="7023336"/>
                <a:ext cx="483870" cy="553720"/>
              </a:xfrm>
              <a:prstGeom prst="rect">
                <a:avLst/>
              </a:prstGeom>
              <a:blipFill rotWithShape="1">
                <a:blip r:embed="rId7"/>
                <a:stretch>
                  <a:fillRect t="-43" r="-16010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14179740" y="7053387"/>
                <a:ext cx="48387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9740" y="7053387"/>
                <a:ext cx="483870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39" t="-80" r="-15971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接點 20"/>
          <p:cNvCxnSpPr/>
          <p:nvPr/>
        </p:nvCxnSpPr>
        <p:spPr>
          <a:xfrm>
            <a:off x="2628900" y="3143250"/>
            <a:ext cx="0" cy="68580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7364187" y="3143250"/>
            <a:ext cx="0" cy="68580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12034158" y="3143250"/>
            <a:ext cx="0" cy="68580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628900" y="4457700"/>
            <a:ext cx="0" cy="685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7364187" y="4457700"/>
            <a:ext cx="0" cy="685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12034158" y="4457700"/>
            <a:ext cx="0" cy="685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2764971" y="5600700"/>
            <a:ext cx="1262744" cy="80010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7402290" y="5600700"/>
            <a:ext cx="1349825" cy="80010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12126690" y="5600700"/>
            <a:ext cx="1349825" cy="80010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 descr="你從未見過的墨西哥貓肉卷！ - 每日頭條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709" y="4795683"/>
            <a:ext cx="2028825" cy="1909766"/>
          </a:xfrm>
          <a:prstGeom prst="rect">
            <a:avLst/>
          </a:prstGeom>
          <a:noFill/>
          <a:scene3d>
            <a:camera prst="isometricRight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091" y="1729308"/>
            <a:ext cx="1868139" cy="1988345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6" name="矩形 5"/>
          <p:cNvSpPr/>
          <p:nvPr/>
        </p:nvSpPr>
        <p:spPr>
          <a:xfrm>
            <a:off x="5548922" y="1801937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 rot="5400000">
            <a:off x="6889565" y="2329262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68674" y="1784079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2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 rot="5400000">
            <a:off x="9690267" y="2339979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5085416" y="252941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871829" y="252941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7810041" y="254846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9725511" y="2545491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0652292" y="253002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2335523" y="1812066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>
            <a:off x="11795292" y="253002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0965323" y="2024375"/>
            <a:ext cx="105828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13692360" y="2516916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14364506" y="2155046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4506" y="2155046"/>
                <a:ext cx="425406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40" t="-76" r="30" b="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7454522" y="3797808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522" y="3797808"/>
                <a:ext cx="425406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60" t="-79" r="-7264" b="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單箭頭接點 22"/>
          <p:cNvCxnSpPr/>
          <p:nvPr/>
        </p:nvCxnSpPr>
        <p:spPr>
          <a:xfrm>
            <a:off x="7648116" y="3286383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10251680" y="3796271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1680" y="3796271"/>
                <a:ext cx="425406" cy="645795"/>
              </a:xfrm>
              <a:prstGeom prst="rect">
                <a:avLst/>
              </a:prstGeom>
              <a:blipFill rotWithShape="1">
                <a:blip r:embed="rId6"/>
                <a:stretch>
                  <a:fillRect l="-56" t="-37" r="-39660" b="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單箭頭接點 26"/>
          <p:cNvCxnSpPr/>
          <p:nvPr/>
        </p:nvCxnSpPr>
        <p:spPr>
          <a:xfrm>
            <a:off x="10445274" y="3284846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3095937" y="3644877"/>
            <a:ext cx="2578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Simple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989321" y="3824411"/>
            <a:ext cx="2578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34" name="矩形 33"/>
          <p:cNvSpPr/>
          <p:nvPr/>
        </p:nvSpPr>
        <p:spPr>
          <a:xfrm>
            <a:off x="5574801" y="4801527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 rot="5400000">
            <a:off x="6915444" y="5328852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394554" y="4783670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2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 rot="5400000">
            <a:off x="9716147" y="5339570"/>
            <a:ext cx="1409700" cy="3360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38" name="直線單箭頭接點 37"/>
          <p:cNvCxnSpPr/>
          <p:nvPr/>
        </p:nvCxnSpPr>
        <p:spPr>
          <a:xfrm>
            <a:off x="5111295" y="552900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6897708" y="552900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7835921" y="5548053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9751391" y="5545082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10678172" y="5529614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2361403" y="4811657"/>
            <a:ext cx="1299687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Layer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11821172" y="5529614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10991202" y="5023965"/>
            <a:ext cx="105828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46" name="直線單箭頭接點 45"/>
          <p:cNvCxnSpPr/>
          <p:nvPr/>
        </p:nvCxnSpPr>
        <p:spPr>
          <a:xfrm>
            <a:off x="13718240" y="5516507"/>
            <a:ext cx="505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4390385" y="5154636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0385" y="5154636"/>
                <a:ext cx="425406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-4" t="-53" r="142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7480401" y="6797399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401" y="6797399"/>
                <a:ext cx="425406" cy="645795"/>
              </a:xfrm>
              <a:prstGeom prst="rect">
                <a:avLst/>
              </a:prstGeom>
              <a:blipFill rotWithShape="1">
                <a:blip r:embed="rId5"/>
                <a:stretch>
                  <a:fillRect l="-24" t="-56" r="-7301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單箭頭接點 48"/>
          <p:cNvCxnSpPr/>
          <p:nvPr/>
        </p:nvCxnSpPr>
        <p:spPr>
          <a:xfrm>
            <a:off x="7673996" y="6285974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10277559" y="6795861"/>
                <a:ext cx="425406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4200" b="1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zh-TW" altLang="en-US" sz="4200" b="1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559" y="6795861"/>
                <a:ext cx="425406" cy="645795"/>
              </a:xfrm>
              <a:prstGeom prst="rect">
                <a:avLst/>
              </a:prstGeom>
              <a:blipFill rotWithShape="1">
                <a:blip r:embed="rId7"/>
                <a:stretch>
                  <a:fillRect l="-20" t="-14" r="-39696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線單箭頭接點 50"/>
          <p:cNvCxnSpPr/>
          <p:nvPr/>
        </p:nvCxnSpPr>
        <p:spPr>
          <a:xfrm>
            <a:off x="10471154" y="6284436"/>
            <a:ext cx="0" cy="5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3251832" y="6658865"/>
            <a:ext cx="2578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Difficult</a:t>
            </a:r>
            <a:endParaRPr lang="zh-TW" altLang="en-US" sz="36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8015525" y="6510066"/>
            <a:ext cx="193293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Mexican rolls</a:t>
            </a:r>
            <a:endParaRPr lang="zh-TW" altLang="en-US" sz="36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14247725" y="5686419"/>
            <a:ext cx="257836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933688" y="8289396"/>
            <a:ext cx="12690279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sz="3200" i="0" dirty="0" err="1">
                <a:solidFill>
                  <a:srgbClr val="000000"/>
                </a:solidFill>
                <a:effectLst/>
              </a:rPr>
              <a:t>SkipNet</a:t>
            </a:r>
            <a:r>
              <a:rPr lang="en-US" altLang="zh-TW" sz="3200" i="0" dirty="0">
                <a:solidFill>
                  <a:srgbClr val="000000"/>
                </a:solidFill>
                <a:effectLst/>
              </a:rPr>
              <a:t>: Learning Dynamic Routing in Convolutional Networks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TW" sz="3200" i="0" dirty="0">
                <a:solidFill>
                  <a:srgbClr val="000000"/>
                </a:solidFill>
                <a:effectLst/>
              </a:rPr>
              <a:t>Runtime Neural </a:t>
            </a:r>
            <a:r>
              <a:rPr lang="en-US" altLang="zh-TW" sz="3200" dirty="0">
                <a:solidFill>
                  <a:srgbClr val="000000"/>
                </a:solidFill>
              </a:rPr>
              <a:t>P</a:t>
            </a:r>
            <a:r>
              <a:rPr lang="en-US" altLang="zh-TW" sz="3200" i="0" dirty="0">
                <a:solidFill>
                  <a:srgbClr val="000000"/>
                </a:solidFill>
                <a:effectLst/>
              </a:rPr>
              <a:t>runing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200" dirty="0" err="1">
                <a:solidFill>
                  <a:srgbClr val="000000"/>
                </a:solidFill>
              </a:rPr>
              <a:t>BlockDrop</a:t>
            </a:r>
            <a:r>
              <a:rPr lang="en-US" altLang="zh-TW" sz="3200" dirty="0">
                <a:solidFill>
                  <a:srgbClr val="000000"/>
                </a:solidFill>
              </a:rPr>
              <a:t>: Dynamic Inference Paths in Residual Networks</a:t>
            </a:r>
          </a:p>
        </p:txBody>
      </p:sp>
      <p:sp>
        <p:nvSpPr>
          <p:cNvPr id="59" name="文字方塊 58"/>
          <p:cNvSpPr txBox="1"/>
          <p:nvPr/>
        </p:nvSpPr>
        <p:spPr>
          <a:xfrm>
            <a:off x="6041175" y="3768483"/>
            <a:ext cx="15786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Stop!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834013" y="6551774"/>
            <a:ext cx="15786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Don’t Stop!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0965323" y="6455143"/>
            <a:ext cx="193293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Mexican rolls</a:t>
            </a:r>
            <a:endParaRPr lang="zh-TW" altLang="en-US" sz="36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1826413" y="6937728"/>
            <a:ext cx="15786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Don’t Stop!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01725" y="-234875"/>
            <a:ext cx="16084552" cy="1551434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Computation based on Sample Difficulty </a:t>
            </a:r>
            <a:endParaRPr lang="en-US" altLang="zh-TW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4" grpId="0" bldLvl="0" animBg="1"/>
      <p:bldP spid="35" grpId="0" bldLvl="0" animBg="1"/>
      <p:bldP spid="36" grpId="0" bldLvl="0" animBg="1"/>
      <p:bldP spid="37" grpId="0" bldLvl="0" animBg="1"/>
      <p:bldP spid="43" grpId="0" bldLvl="0" animBg="1"/>
      <p:bldP spid="45" grpId="0"/>
      <p:bldP spid="47" grpId="0"/>
      <p:bldP spid="48" grpId="0"/>
      <p:bldP spid="50" grpId="0"/>
      <p:bldP spid="52" grpId="0"/>
      <p:bldP spid="53" grpId="0"/>
      <p:bldP spid="54" grpId="0"/>
      <p:bldP spid="59" grpId="0"/>
      <p:bldP spid="60" grpId="0"/>
      <p:bldP spid="61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Concluding Remarks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Network Pruning </a:t>
            </a:r>
          </a:p>
          <a:p>
            <a:r>
              <a:rPr lang="en-US" altLang="zh-TW" sz="3600" dirty="0"/>
              <a:t>Knowledge Distillation </a:t>
            </a:r>
          </a:p>
          <a:p>
            <a:r>
              <a:rPr lang="en-US" altLang="zh-TW" sz="3600" dirty="0"/>
              <a:t>Parameter Quantization </a:t>
            </a:r>
          </a:p>
          <a:p>
            <a:r>
              <a:rPr lang="en-US" altLang="zh-TW" sz="3600" dirty="0"/>
              <a:t>Architecture Design</a:t>
            </a:r>
          </a:p>
          <a:p>
            <a:r>
              <a:rPr lang="en-US" altLang="zh-TW" sz="3600" dirty="0"/>
              <a:t>Dynamic Computation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Reference</a:t>
            </a:r>
          </a:p>
        </p:txBody>
      </p:sp>
      <p:sp>
        <p:nvSpPr>
          <p:cNvPr id="6146" name="Content Placeholder 2"/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zh-TW" sz="2000" dirty="0">
                <a:sym typeface="+mn-ea"/>
              </a:rPr>
              <a:t>Binary Connect: https://arxiv.org/abs/1511.00363 </a:t>
            </a:r>
            <a:endParaRPr lang="en-US" altLang="zh-TW" sz="2000" dirty="0"/>
          </a:p>
          <a:p>
            <a:r>
              <a:rPr lang="en-US" altLang="zh-TW" sz="2000" dirty="0">
                <a:sym typeface="+mn-ea"/>
              </a:rPr>
              <a:t>Binary Network:https://arxiv.org/abs/1602.02830</a:t>
            </a:r>
            <a:endParaRPr lang="en-US" altLang="zh-TW" sz="2000" dirty="0"/>
          </a:p>
          <a:p>
            <a:r>
              <a:rPr lang="en-US" altLang="zh-TW" sz="2000" dirty="0">
                <a:sym typeface="+mn-ea"/>
              </a:rPr>
              <a:t>XNOR-net: https://arxiv.org/abs/1603.05279</a:t>
            </a:r>
          </a:p>
          <a:p>
            <a:r>
              <a:rPr lang="en-US" altLang="zh-TW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Knowledge Distillation https://arxiv.org/pdf/1503.02531.pdf </a:t>
            </a:r>
          </a:p>
          <a:p>
            <a:r>
              <a:rPr lang="en-US" altLang="zh-TW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Do Deep Nets Really Need to be Deep? </a:t>
            </a:r>
            <a:r>
              <a:rPr lang="zh-TW" alt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https://arxiv.org/pdf/1312.6184.pdf</a:t>
            </a:r>
          </a:p>
          <a:p>
            <a:r>
              <a:rPr lang="en-US" altLang="zh-TW" sz="2000" dirty="0" err="1">
                <a:sym typeface="+mn-ea"/>
              </a:rPr>
              <a:t>SqueezeNet: </a:t>
            </a:r>
            <a:r>
              <a:rPr lang="en-US" altLang="zh-TW" sz="2000" dirty="0">
                <a:sym typeface="+mn-ea"/>
              </a:rPr>
              <a:t>https://arxiv.org/abs/1602.07360</a:t>
            </a:r>
            <a:endParaRPr lang="en-US" altLang="zh-TW" sz="2000" dirty="0"/>
          </a:p>
          <a:p>
            <a:r>
              <a:rPr lang="en-US" altLang="zh-TW" sz="2000" dirty="0" err="1">
                <a:sym typeface="+mn-ea"/>
              </a:rPr>
              <a:t>MobileNet: </a:t>
            </a:r>
            <a:r>
              <a:rPr lang="en-US" altLang="zh-TW" sz="2000" dirty="0">
                <a:sym typeface="+mn-ea"/>
              </a:rPr>
              <a:t>https://arxiv.org/abs/1704.04861</a:t>
            </a:r>
            <a:endParaRPr lang="en-US" altLang="zh-TW" sz="2000" dirty="0"/>
          </a:p>
          <a:p>
            <a:r>
              <a:rPr lang="en-US" altLang="zh-TW" sz="2000" dirty="0" err="1">
                <a:sym typeface="+mn-ea"/>
              </a:rPr>
              <a:t>ShuffleNet: </a:t>
            </a:r>
            <a:r>
              <a:rPr lang="en-US" altLang="zh-TW" sz="2000" dirty="0">
                <a:sym typeface="+mn-ea"/>
              </a:rPr>
              <a:t>https://arxiv.org/abs/1707.01083</a:t>
            </a:r>
            <a:endParaRPr lang="en-US" altLang="zh-TW" sz="2000" dirty="0"/>
          </a:p>
          <a:p>
            <a:r>
              <a:rPr lang="en-US" altLang="zh-TW" sz="2000" dirty="0" err="1">
                <a:sym typeface="+mn-ea"/>
              </a:rPr>
              <a:t>Xception: </a:t>
            </a:r>
            <a:r>
              <a:rPr lang="en-US" altLang="zh-TW" sz="2000" dirty="0">
                <a:sym typeface="+mn-ea"/>
              </a:rPr>
              <a:t>https://arxiv.org/abs/1610.02357</a:t>
            </a:r>
            <a:endParaRPr lang="en-US" altLang="zh-TW" sz="2000" dirty="0"/>
          </a:p>
          <a:p>
            <a:r>
              <a:rPr lang="en-US" altLang="zh-TW" sz="2000" dirty="0" err="1">
                <a:sym typeface="+mn-ea"/>
              </a:rPr>
              <a:t>GhostNet: </a:t>
            </a:r>
            <a:r>
              <a:rPr lang="en-US" altLang="zh-TW" sz="2000" dirty="0">
                <a:sym typeface="+mn-ea"/>
              </a:rPr>
              <a:t>https://arxiv.org/abs/1911.11907</a:t>
            </a:r>
            <a:endParaRPr lang="zh-TW" altLang="en-US" sz="2000" dirty="0"/>
          </a:p>
          <a:p>
            <a:pPr marL="0" indent="0">
              <a:buNone/>
            </a:pP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  <a:p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162195AD-EA59-4DEC-AAB7-5E61508A1316}"/>
</file>

<file path=customXml/itemProps2.xml><?xml version="1.0" encoding="utf-8"?>
<ds:datastoreItem xmlns:ds="http://schemas.openxmlformats.org/officeDocument/2006/customXml" ds:itemID="{44101E5C-7770-4B0B-B165-CF1C9E0FDD72}"/>
</file>

<file path=customXml/itemProps3.xml><?xml version="1.0" encoding="utf-8"?>
<ds:datastoreItem xmlns:ds="http://schemas.openxmlformats.org/officeDocument/2006/customXml" ds:itemID="{9389CC39-E3A9-49AC-97F3-DD5927C96D51}"/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318</Words>
  <Application>Microsoft Macintosh PowerPoint</Application>
  <PresentationFormat>Custom</PresentationFormat>
  <Paragraphs>99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Wingdings 2</vt:lpstr>
      <vt:lpstr>Breeze</vt:lpstr>
      <vt:lpstr>Dynamic Computation</vt:lpstr>
      <vt:lpstr>Dynamic Computation </vt:lpstr>
      <vt:lpstr>Dynamic Depth </vt:lpstr>
      <vt:lpstr>Dynamic Width </vt:lpstr>
      <vt:lpstr>Computation based on Sample Difficulty </vt:lpstr>
      <vt:lpstr>Concluding Remarks</vt:lpstr>
      <vt:lpstr>Reference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42</cp:revision>
  <dcterms:created xsi:type="dcterms:W3CDTF">2019-02-13T16:04:00Z</dcterms:created>
  <dcterms:modified xsi:type="dcterms:W3CDTF">2024-04-03T03:02:57Z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6C5E8AC3588247708D265E8177A4AA55</vt:lpwstr>
  </property>
  <property fmtid="{D5CDD505-2E9C-101B-9397-08002B2CF9AE}" pid="5" name="KSOProductBuildVer">
    <vt:lpwstr>1033-11.2.0.11225</vt:lpwstr>
  </property>
</Properties>
</file>