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6" r:id="rId2"/>
    <p:sldId id="295" r:id="rId3"/>
    <p:sldId id="288" r:id="rId4"/>
    <p:sldId id="289" r:id="rId5"/>
    <p:sldId id="296" r:id="rId6"/>
    <p:sldId id="291" r:id="rId7"/>
    <p:sldId id="292" r:id="rId8"/>
    <p:sldId id="293" r:id="rId9"/>
    <p:sldId id="294" r:id="rId10"/>
  </p:sldIdLst>
  <p:sldSz cx="18288000" cy="10287000"/>
  <p:notesSz cx="6858000" cy="9144000"/>
  <p:custDataLst>
    <p:tags r:id="rId12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7">
          <p15:clr>
            <a:srgbClr val="A4A3A4"/>
          </p15:clr>
        </p15:guide>
        <p15:guide id="2" pos="57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86"/>
  </p:normalViewPr>
  <p:slideViewPr>
    <p:cSldViewPr snapToGrid="0" snapToObjects="1" showGuides="1">
      <p:cViewPr varScale="1">
        <p:scale>
          <a:sx n="75" d="100"/>
          <a:sy n="75" d="100"/>
        </p:scale>
        <p:origin x="624" y="160"/>
      </p:cViewPr>
      <p:guideLst>
        <p:guide orient="horz" pos="3217"/>
        <p:guide pos="57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1" loCatId="process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1</a:t>
          </a:r>
          <a:r>
            <a:rPr lang="en-US" altLang="zh-TW" sz="2800" b="1">
              <a:solidFill>
                <a:schemeClr val="bg2"/>
              </a:solidFill>
            </a:rPr>
            <a:t>: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 define a set of function              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741192AF-66D8-44B3-8D71-D609A9576CFF}" type="parTrans" cxnId="{7BDDB2CC-5B23-4B4A-B24E-49C153D202F8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BDDB2CC-5B23-4B4A-B24E-49C153D202F8}">
      <dgm:prSet custT="1"/>
      <dgm:spPr/>
      <dgm:t>
        <a:bodyPr/>
        <a:lstStyle/>
        <a:p>
          <a:endParaRPr lang="zh-TW" altLang="en-US" sz="2800"/>
        </a:p>
      </dgm:t>
    </dgm:pt>
    <dgm:pt modelId="{380F6D09-15D5-4E2B-BF8A-CECE4B7C4A20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</a:t>
          </a:r>
          <a:r>
            <a:rPr lang="en-US" altLang="zh-TW" sz="2800" b="1">
              <a:solidFill>
                <a:schemeClr val="bg2"/>
              </a:solidFill>
            </a:rPr>
            <a:t>2: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goodness of function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35DF94FE-4269-42A8-B274-51E32D4D5D54}" type="parTrans" cxnId="{10AE51BC-5E20-42BA-A6C0-8767907AA374}">
      <dgm:prSet/>
      <dgm:spPr/>
      <dgm:t>
        <a:bodyPr/>
        <a:lstStyle/>
        <a:p>
          <a:endParaRPr lang="zh-TW" altLang="en-US" sz="2800"/>
        </a:p>
      </dgm:t>
    </dgm:pt>
    <dgm:pt modelId="{D60C5607-81DE-4CC8-91B3-C56E5666A49F}" type="sibTrans" cxnId="{10AE51BC-5E20-42BA-A6C0-8767907AA374}">
      <dgm:prSet custT="1"/>
      <dgm:spPr/>
      <dgm:t>
        <a:bodyPr/>
        <a:lstStyle/>
        <a:p>
          <a:endParaRPr lang="zh-TW" altLang="en-US" sz="2800"/>
        </a:p>
      </dgm:t>
    </dgm:pt>
    <dgm:pt modelId="{680F7195-4FD3-481E-8A2B-5AD54C8280AB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</a:t>
          </a:r>
          <a:r>
            <a:rPr lang="en-US" altLang="zh-TW" sz="2800" b="1">
              <a:solidFill>
                <a:schemeClr val="bg2"/>
              </a:solidFill>
            </a:rPr>
            <a:t>3: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pick the best function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E0770B27-10B9-4E3F-A134-B86908A61FFE}" type="par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382B596D-4079-47F6-BAC4-80EDB1CFB95D}" type="sib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A491758C-84A6-4A4D-888E-93118B4129B4}" type="pres">
      <dgm:prSet presAssocID="{7ABBEAF7-C373-4176-BC82-DCCB6D5E3E26}" presName="Name0" presStyleCnt="0">
        <dgm:presLayoutVars>
          <dgm:dir/>
          <dgm:resizeHandles val="exact"/>
        </dgm:presLayoutVars>
      </dgm:prSet>
      <dgm:spPr/>
    </dgm:pt>
    <dgm:pt modelId="{CFEBD105-9F67-4F60-B070-C671AE93A28A}" type="pres">
      <dgm:prSet presAssocID="{801111EC-7761-4006-9B8D-BDD3478D6A0C}" presName="node" presStyleLbl="node1" presStyleIdx="0" presStyleCnt="3">
        <dgm:presLayoutVars>
          <dgm:bulletEnabled val="1"/>
        </dgm:presLayoutVars>
      </dgm:prSet>
      <dgm:spPr/>
    </dgm:pt>
    <dgm:pt modelId="{888540DF-FD49-4215-991C-C7B2A2E10D35}" type="pres">
      <dgm:prSet presAssocID="{E857221A-734F-4396-A642-04F985B7D590}" presName="sibTrans" presStyleLbl="sibTrans2D1" presStyleIdx="0" presStyleCnt="2"/>
      <dgm:spPr/>
    </dgm:pt>
    <dgm:pt modelId="{FCAC1A52-7A03-424B-8708-40DF70DCEBE1}" type="pres">
      <dgm:prSet presAssocID="{E857221A-734F-4396-A642-04F985B7D590}" presName="connectorText" presStyleLbl="sibTrans2D1" presStyleIdx="0" presStyleCnt="2"/>
      <dgm:spPr/>
    </dgm:pt>
    <dgm:pt modelId="{2C9E42A7-D692-4DEF-A008-68C3A4D1516E}" type="pres">
      <dgm:prSet presAssocID="{380F6D09-15D5-4E2B-BF8A-CECE4B7C4A20}" presName="node" presStyleLbl="node1" presStyleIdx="1" presStyleCnt="3">
        <dgm:presLayoutVars>
          <dgm:bulletEnabled val="1"/>
        </dgm:presLayoutVars>
      </dgm:prSet>
      <dgm:spPr/>
    </dgm:pt>
    <dgm:pt modelId="{75576B2E-DB43-49F5-8A31-D5CBF5F78EEC}" type="pres">
      <dgm:prSet presAssocID="{D60C5607-81DE-4CC8-91B3-C56E5666A49F}" presName="sibTrans" presStyleLbl="sibTrans2D1" presStyleIdx="1" presStyleCnt="2"/>
      <dgm:spPr/>
    </dgm:pt>
    <dgm:pt modelId="{1FFABC42-5BE3-4E33-A2BE-582BDAFB0BDF}" type="pres">
      <dgm:prSet presAssocID="{D60C5607-81DE-4CC8-91B3-C56E5666A49F}" presName="connectorText" presStyleLbl="sibTrans2D1" presStyleIdx="1" presStyleCnt="2"/>
      <dgm:spPr/>
    </dgm:pt>
    <dgm:pt modelId="{B28036AB-B71B-48DE-97C4-D287BC3BE7AC}" type="pres">
      <dgm:prSet presAssocID="{680F7195-4FD3-481E-8A2B-5AD54C8280AB}" presName="node" presStyleLbl="node1" presStyleIdx="2" presStyleCnt="3">
        <dgm:presLayoutVars>
          <dgm:bulletEnabled val="1"/>
        </dgm:presLayoutVars>
      </dgm:prSet>
      <dgm:spPr/>
    </dgm:pt>
  </dgm:ptLst>
  <dgm:cxnLst>
    <dgm:cxn modelId="{3A510005-D944-406D-B8B0-9FE69C373BE8}" srcId="{7ABBEAF7-C373-4176-BC82-DCCB6D5E3E26}" destId="{680F7195-4FD3-481E-8A2B-5AD54C8280AB}" srcOrd="2" destOrd="0" parTransId="{E0770B27-10B9-4E3F-A134-B86908A61FFE}" sibTransId="{382B596D-4079-47F6-BAC4-80EDB1CFB95D}"/>
    <dgm:cxn modelId="{8EC64747-84A8-4CCF-83FD-CA86A4A61939}" type="presOf" srcId="{7ABBEAF7-C373-4176-BC82-DCCB6D5E3E26}" destId="{A491758C-84A6-4A4D-888E-93118B4129B4}" srcOrd="0" destOrd="0" presId="urn:microsoft.com/office/officeart/2005/8/layout/process1"/>
    <dgm:cxn modelId="{4C5EA457-E251-45D0-8A3A-35D62524BC55}" type="presOf" srcId="{801111EC-7761-4006-9B8D-BDD3478D6A0C}" destId="{CFEBD105-9F67-4F60-B070-C671AE93A28A}" srcOrd="0" destOrd="0" presId="urn:microsoft.com/office/officeart/2005/8/layout/process1"/>
    <dgm:cxn modelId="{91CE2F5A-D078-4B64-A025-B343B154B535}" type="presOf" srcId="{D60C5607-81DE-4CC8-91B3-C56E5666A49F}" destId="{1FFABC42-5BE3-4E33-A2BE-582BDAFB0BDF}" srcOrd="1" destOrd="0" presId="urn:microsoft.com/office/officeart/2005/8/layout/process1"/>
    <dgm:cxn modelId="{8DF84A67-751F-47EA-9C61-AE62B963B110}" type="presOf" srcId="{380F6D09-15D5-4E2B-BF8A-CECE4B7C4A20}" destId="{2C9E42A7-D692-4DEF-A008-68C3A4D1516E}" srcOrd="0" destOrd="0" presId="urn:microsoft.com/office/officeart/2005/8/layout/process1"/>
    <dgm:cxn modelId="{AEA64575-4491-43DD-9C01-1F684B3FCA9A}" type="presOf" srcId="{E857221A-734F-4396-A642-04F985B7D590}" destId="{FCAC1A52-7A03-424B-8708-40DF70DCEBE1}" srcOrd="1" destOrd="0" presId="urn:microsoft.com/office/officeart/2005/8/layout/process1"/>
    <dgm:cxn modelId="{08BD38A3-FBAE-4B3D-8CEE-54F4A7839B9F}" type="presOf" srcId="{D60C5607-81DE-4CC8-91B3-C56E5666A49F}" destId="{75576B2E-DB43-49F5-8A31-D5CBF5F78EEC}" srcOrd="0" destOrd="0" presId="urn:microsoft.com/office/officeart/2005/8/layout/process1"/>
    <dgm:cxn modelId="{DF4EAEB5-C456-4158-AC50-7489A977BCEA}" type="presOf" srcId="{680F7195-4FD3-481E-8A2B-5AD54C8280AB}" destId="{B28036AB-B71B-48DE-97C4-D287BC3BE7AC}" srcOrd="0" destOrd="0" presId="urn:microsoft.com/office/officeart/2005/8/layout/process1"/>
    <dgm:cxn modelId="{10AE51BC-5E20-42BA-A6C0-8767907AA374}" srcId="{7ABBEAF7-C373-4176-BC82-DCCB6D5E3E26}" destId="{380F6D09-15D5-4E2B-BF8A-CECE4B7C4A20}" srcOrd="1" destOrd="0" parTransId="{35DF94FE-4269-42A8-B274-51E32D4D5D54}" sibTransId="{D60C5607-81DE-4CC8-91B3-C56E5666A49F}"/>
    <dgm:cxn modelId="{7BDDB2CC-5B23-4B4A-B24E-49C153D202F8}" srcId="{7ABBEAF7-C373-4176-BC82-DCCB6D5E3E26}" destId="{801111EC-7761-4006-9B8D-BDD3478D6A0C}" srcOrd="0" destOrd="0" parTransId="{741192AF-66D8-44B3-8D71-D609A9576CFF}" sibTransId="{E857221A-734F-4396-A642-04F985B7D590}"/>
    <dgm:cxn modelId="{8371FDD1-FD8B-49BD-8182-C1A781749BB9}" type="presOf" srcId="{E857221A-734F-4396-A642-04F985B7D590}" destId="{888540DF-FD49-4215-991C-C7B2A2E10D35}" srcOrd="0" destOrd="0" presId="urn:microsoft.com/office/officeart/2005/8/layout/process1"/>
    <dgm:cxn modelId="{6D7FE8E7-C33A-459B-AA3F-9FE206E96CA2}" type="presParOf" srcId="{A491758C-84A6-4A4D-888E-93118B4129B4}" destId="{CFEBD105-9F67-4F60-B070-C671AE93A28A}" srcOrd="0" destOrd="0" presId="urn:microsoft.com/office/officeart/2005/8/layout/process1"/>
    <dgm:cxn modelId="{FA3C98B2-EA3B-4732-848A-EB834D408590}" type="presParOf" srcId="{A491758C-84A6-4A4D-888E-93118B4129B4}" destId="{888540DF-FD49-4215-991C-C7B2A2E10D35}" srcOrd="1" destOrd="0" presId="urn:microsoft.com/office/officeart/2005/8/layout/process1"/>
    <dgm:cxn modelId="{D6FC9EC3-7934-4D49-9B0C-A14BF74C8656}" type="presParOf" srcId="{888540DF-FD49-4215-991C-C7B2A2E10D35}" destId="{FCAC1A52-7A03-424B-8708-40DF70DCEBE1}" srcOrd="0" destOrd="0" presId="urn:microsoft.com/office/officeart/2005/8/layout/process1"/>
    <dgm:cxn modelId="{E2FD8D58-1655-4B9E-9D68-2AE0C6DADF3F}" type="presParOf" srcId="{A491758C-84A6-4A4D-888E-93118B4129B4}" destId="{2C9E42A7-D692-4DEF-A008-68C3A4D1516E}" srcOrd="2" destOrd="0" presId="urn:microsoft.com/office/officeart/2005/8/layout/process1"/>
    <dgm:cxn modelId="{0841EDC9-68A3-40F9-BD27-EFE50060A4E1}" type="presParOf" srcId="{A491758C-84A6-4A4D-888E-93118B4129B4}" destId="{75576B2E-DB43-49F5-8A31-D5CBF5F78EEC}" srcOrd="3" destOrd="0" presId="urn:microsoft.com/office/officeart/2005/8/layout/process1"/>
    <dgm:cxn modelId="{F9D681E7-5752-468B-A696-3EB2F99D0256}" type="presParOf" srcId="{75576B2E-DB43-49F5-8A31-D5CBF5F78EEC}" destId="{1FFABC42-5BE3-4E33-A2BE-582BDAFB0BDF}" srcOrd="0" destOrd="0" presId="urn:microsoft.com/office/officeart/2005/8/layout/process1"/>
    <dgm:cxn modelId="{4F2A4B95-3014-40BF-8CD3-67B6D057E5F9}" type="presParOf" srcId="{A491758C-84A6-4A4D-888E-93118B4129B4}" destId="{B28036AB-B71B-48DE-97C4-D287BC3BE7A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BBEAF7-C373-4176-BC82-DCCB6D5E3E26}" type="doc">
      <dgm:prSet loTypeId="urn:microsoft.com/office/officeart/2005/8/layout/process1" loCatId="process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zh-TW" altLang="en-US"/>
        </a:p>
      </dgm:t>
    </dgm:pt>
    <dgm:pt modelId="{801111EC-7761-4006-9B8D-BDD3478D6A0C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1</a:t>
          </a:r>
          <a:r>
            <a:rPr lang="en-US" altLang="zh-TW" sz="2800" b="1">
              <a:solidFill>
                <a:schemeClr val="bg2"/>
              </a:solidFill>
            </a:rPr>
            <a:t>: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 define a set of function              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741192AF-66D8-44B3-8D71-D609A9576CFF}" type="parTrans" cxnId="{7BDDB2CC-5B23-4B4A-B24E-49C153D202F8}">
      <dgm:prSet/>
      <dgm:spPr/>
      <dgm:t>
        <a:bodyPr/>
        <a:lstStyle/>
        <a:p>
          <a:endParaRPr lang="zh-TW" altLang="en-US" sz="2800"/>
        </a:p>
      </dgm:t>
    </dgm:pt>
    <dgm:pt modelId="{E857221A-734F-4396-A642-04F985B7D590}" type="sibTrans" cxnId="{7BDDB2CC-5B23-4B4A-B24E-49C153D202F8}">
      <dgm:prSet custT="1"/>
      <dgm:spPr/>
      <dgm:t>
        <a:bodyPr/>
        <a:lstStyle/>
        <a:p>
          <a:endParaRPr lang="zh-TW" altLang="en-US" sz="2800"/>
        </a:p>
      </dgm:t>
    </dgm:pt>
    <dgm:pt modelId="{380F6D09-15D5-4E2B-BF8A-CECE4B7C4A20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</a:t>
          </a:r>
          <a:r>
            <a:rPr lang="en-US" altLang="zh-TW" sz="2800" b="1">
              <a:solidFill>
                <a:schemeClr val="bg2"/>
              </a:solidFill>
            </a:rPr>
            <a:t>2: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goodness of function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35DF94FE-4269-42A8-B274-51E32D4D5D54}" type="parTrans" cxnId="{10AE51BC-5E20-42BA-A6C0-8767907AA374}">
      <dgm:prSet/>
      <dgm:spPr/>
      <dgm:t>
        <a:bodyPr/>
        <a:lstStyle/>
        <a:p>
          <a:endParaRPr lang="zh-TW" altLang="en-US" sz="2800"/>
        </a:p>
      </dgm:t>
    </dgm:pt>
    <dgm:pt modelId="{D60C5607-81DE-4CC8-91B3-C56E5666A49F}" type="sibTrans" cxnId="{10AE51BC-5E20-42BA-A6C0-8767907AA374}">
      <dgm:prSet custT="1"/>
      <dgm:spPr/>
      <dgm:t>
        <a:bodyPr/>
        <a:lstStyle/>
        <a:p>
          <a:endParaRPr lang="zh-TW" altLang="en-US" sz="2800"/>
        </a:p>
      </dgm:t>
    </dgm:pt>
    <dgm:pt modelId="{680F7195-4FD3-481E-8A2B-5AD54C8280AB}">
      <dgm:prSet phldrT="[文字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 dirty="0">
              <a:solidFill>
                <a:schemeClr val="bg2"/>
              </a:solidFill>
            </a:rPr>
            <a:t>Step </a:t>
          </a:r>
          <a:r>
            <a:rPr lang="en-US" altLang="zh-TW" sz="2800" b="1">
              <a:solidFill>
                <a:schemeClr val="bg2"/>
              </a:solidFill>
            </a:rPr>
            <a:t>3: 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800" b="1">
              <a:solidFill>
                <a:schemeClr val="bg2"/>
              </a:solidFill>
            </a:rPr>
            <a:t>pick the best function</a:t>
          </a:r>
          <a:endParaRPr lang="en-US" altLang="zh-TW" sz="2800" b="1" dirty="0">
            <a:solidFill>
              <a:schemeClr val="bg2"/>
            </a:solidFill>
          </a:endParaRPr>
        </a:p>
      </dgm:t>
    </dgm:pt>
    <dgm:pt modelId="{E0770B27-10B9-4E3F-A134-B86908A61FFE}" type="par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382B596D-4079-47F6-BAC4-80EDB1CFB95D}" type="sibTrans" cxnId="{3A510005-D944-406D-B8B0-9FE69C373BE8}">
      <dgm:prSet/>
      <dgm:spPr/>
      <dgm:t>
        <a:bodyPr/>
        <a:lstStyle/>
        <a:p>
          <a:endParaRPr lang="zh-TW" altLang="en-US" sz="2800"/>
        </a:p>
      </dgm:t>
    </dgm:pt>
    <dgm:pt modelId="{A491758C-84A6-4A4D-888E-93118B4129B4}" type="pres">
      <dgm:prSet presAssocID="{7ABBEAF7-C373-4176-BC82-DCCB6D5E3E26}" presName="Name0" presStyleCnt="0">
        <dgm:presLayoutVars>
          <dgm:dir/>
          <dgm:resizeHandles val="exact"/>
        </dgm:presLayoutVars>
      </dgm:prSet>
      <dgm:spPr/>
    </dgm:pt>
    <dgm:pt modelId="{CFEBD105-9F67-4F60-B070-C671AE93A28A}" type="pres">
      <dgm:prSet presAssocID="{801111EC-7761-4006-9B8D-BDD3478D6A0C}" presName="node" presStyleLbl="node1" presStyleIdx="0" presStyleCnt="3">
        <dgm:presLayoutVars>
          <dgm:bulletEnabled val="1"/>
        </dgm:presLayoutVars>
      </dgm:prSet>
      <dgm:spPr/>
    </dgm:pt>
    <dgm:pt modelId="{888540DF-FD49-4215-991C-C7B2A2E10D35}" type="pres">
      <dgm:prSet presAssocID="{E857221A-734F-4396-A642-04F985B7D590}" presName="sibTrans" presStyleLbl="sibTrans2D1" presStyleIdx="0" presStyleCnt="2"/>
      <dgm:spPr/>
    </dgm:pt>
    <dgm:pt modelId="{FCAC1A52-7A03-424B-8708-40DF70DCEBE1}" type="pres">
      <dgm:prSet presAssocID="{E857221A-734F-4396-A642-04F985B7D590}" presName="connectorText" presStyleLbl="sibTrans2D1" presStyleIdx="0" presStyleCnt="2"/>
      <dgm:spPr/>
    </dgm:pt>
    <dgm:pt modelId="{2C9E42A7-D692-4DEF-A008-68C3A4D1516E}" type="pres">
      <dgm:prSet presAssocID="{380F6D09-15D5-4E2B-BF8A-CECE4B7C4A20}" presName="node" presStyleLbl="node1" presStyleIdx="1" presStyleCnt="3">
        <dgm:presLayoutVars>
          <dgm:bulletEnabled val="1"/>
        </dgm:presLayoutVars>
      </dgm:prSet>
      <dgm:spPr/>
    </dgm:pt>
    <dgm:pt modelId="{75576B2E-DB43-49F5-8A31-D5CBF5F78EEC}" type="pres">
      <dgm:prSet presAssocID="{D60C5607-81DE-4CC8-91B3-C56E5666A49F}" presName="sibTrans" presStyleLbl="sibTrans2D1" presStyleIdx="1" presStyleCnt="2"/>
      <dgm:spPr/>
    </dgm:pt>
    <dgm:pt modelId="{1FFABC42-5BE3-4E33-A2BE-582BDAFB0BDF}" type="pres">
      <dgm:prSet presAssocID="{D60C5607-81DE-4CC8-91B3-C56E5666A49F}" presName="connectorText" presStyleLbl="sibTrans2D1" presStyleIdx="1" presStyleCnt="2"/>
      <dgm:spPr/>
    </dgm:pt>
    <dgm:pt modelId="{B28036AB-B71B-48DE-97C4-D287BC3BE7AC}" type="pres">
      <dgm:prSet presAssocID="{680F7195-4FD3-481E-8A2B-5AD54C8280AB}" presName="node" presStyleLbl="node1" presStyleIdx="2" presStyleCnt="3">
        <dgm:presLayoutVars>
          <dgm:bulletEnabled val="1"/>
        </dgm:presLayoutVars>
      </dgm:prSet>
      <dgm:spPr/>
    </dgm:pt>
  </dgm:ptLst>
  <dgm:cxnLst>
    <dgm:cxn modelId="{3A510005-D944-406D-B8B0-9FE69C373BE8}" srcId="{7ABBEAF7-C373-4176-BC82-DCCB6D5E3E26}" destId="{680F7195-4FD3-481E-8A2B-5AD54C8280AB}" srcOrd="2" destOrd="0" parTransId="{E0770B27-10B9-4E3F-A134-B86908A61FFE}" sibTransId="{382B596D-4079-47F6-BAC4-80EDB1CFB95D}"/>
    <dgm:cxn modelId="{8EC64747-84A8-4CCF-83FD-CA86A4A61939}" type="presOf" srcId="{7ABBEAF7-C373-4176-BC82-DCCB6D5E3E26}" destId="{A491758C-84A6-4A4D-888E-93118B4129B4}" srcOrd="0" destOrd="0" presId="urn:microsoft.com/office/officeart/2005/8/layout/process1"/>
    <dgm:cxn modelId="{4C5EA457-E251-45D0-8A3A-35D62524BC55}" type="presOf" srcId="{801111EC-7761-4006-9B8D-BDD3478D6A0C}" destId="{CFEBD105-9F67-4F60-B070-C671AE93A28A}" srcOrd="0" destOrd="0" presId="urn:microsoft.com/office/officeart/2005/8/layout/process1"/>
    <dgm:cxn modelId="{91CE2F5A-D078-4B64-A025-B343B154B535}" type="presOf" srcId="{D60C5607-81DE-4CC8-91B3-C56E5666A49F}" destId="{1FFABC42-5BE3-4E33-A2BE-582BDAFB0BDF}" srcOrd="1" destOrd="0" presId="urn:microsoft.com/office/officeart/2005/8/layout/process1"/>
    <dgm:cxn modelId="{8DF84A67-751F-47EA-9C61-AE62B963B110}" type="presOf" srcId="{380F6D09-15D5-4E2B-BF8A-CECE4B7C4A20}" destId="{2C9E42A7-D692-4DEF-A008-68C3A4D1516E}" srcOrd="0" destOrd="0" presId="urn:microsoft.com/office/officeart/2005/8/layout/process1"/>
    <dgm:cxn modelId="{AEA64575-4491-43DD-9C01-1F684B3FCA9A}" type="presOf" srcId="{E857221A-734F-4396-A642-04F985B7D590}" destId="{FCAC1A52-7A03-424B-8708-40DF70DCEBE1}" srcOrd="1" destOrd="0" presId="urn:microsoft.com/office/officeart/2005/8/layout/process1"/>
    <dgm:cxn modelId="{08BD38A3-FBAE-4B3D-8CEE-54F4A7839B9F}" type="presOf" srcId="{D60C5607-81DE-4CC8-91B3-C56E5666A49F}" destId="{75576B2E-DB43-49F5-8A31-D5CBF5F78EEC}" srcOrd="0" destOrd="0" presId="urn:microsoft.com/office/officeart/2005/8/layout/process1"/>
    <dgm:cxn modelId="{DF4EAEB5-C456-4158-AC50-7489A977BCEA}" type="presOf" srcId="{680F7195-4FD3-481E-8A2B-5AD54C8280AB}" destId="{B28036AB-B71B-48DE-97C4-D287BC3BE7AC}" srcOrd="0" destOrd="0" presId="urn:microsoft.com/office/officeart/2005/8/layout/process1"/>
    <dgm:cxn modelId="{10AE51BC-5E20-42BA-A6C0-8767907AA374}" srcId="{7ABBEAF7-C373-4176-BC82-DCCB6D5E3E26}" destId="{380F6D09-15D5-4E2B-BF8A-CECE4B7C4A20}" srcOrd="1" destOrd="0" parTransId="{35DF94FE-4269-42A8-B274-51E32D4D5D54}" sibTransId="{D60C5607-81DE-4CC8-91B3-C56E5666A49F}"/>
    <dgm:cxn modelId="{7BDDB2CC-5B23-4B4A-B24E-49C153D202F8}" srcId="{7ABBEAF7-C373-4176-BC82-DCCB6D5E3E26}" destId="{801111EC-7761-4006-9B8D-BDD3478D6A0C}" srcOrd="0" destOrd="0" parTransId="{741192AF-66D8-44B3-8D71-D609A9576CFF}" sibTransId="{E857221A-734F-4396-A642-04F985B7D590}"/>
    <dgm:cxn modelId="{8371FDD1-FD8B-49BD-8182-C1A781749BB9}" type="presOf" srcId="{E857221A-734F-4396-A642-04F985B7D590}" destId="{888540DF-FD49-4215-991C-C7B2A2E10D35}" srcOrd="0" destOrd="0" presId="urn:microsoft.com/office/officeart/2005/8/layout/process1"/>
    <dgm:cxn modelId="{6D7FE8E7-C33A-459B-AA3F-9FE206E96CA2}" type="presParOf" srcId="{A491758C-84A6-4A4D-888E-93118B4129B4}" destId="{CFEBD105-9F67-4F60-B070-C671AE93A28A}" srcOrd="0" destOrd="0" presId="urn:microsoft.com/office/officeart/2005/8/layout/process1"/>
    <dgm:cxn modelId="{FA3C98B2-EA3B-4732-848A-EB834D408590}" type="presParOf" srcId="{A491758C-84A6-4A4D-888E-93118B4129B4}" destId="{888540DF-FD49-4215-991C-C7B2A2E10D35}" srcOrd="1" destOrd="0" presId="urn:microsoft.com/office/officeart/2005/8/layout/process1"/>
    <dgm:cxn modelId="{D6FC9EC3-7934-4D49-9B0C-A14BF74C8656}" type="presParOf" srcId="{888540DF-FD49-4215-991C-C7B2A2E10D35}" destId="{FCAC1A52-7A03-424B-8708-40DF70DCEBE1}" srcOrd="0" destOrd="0" presId="urn:microsoft.com/office/officeart/2005/8/layout/process1"/>
    <dgm:cxn modelId="{E2FD8D58-1655-4B9E-9D68-2AE0C6DADF3F}" type="presParOf" srcId="{A491758C-84A6-4A4D-888E-93118B4129B4}" destId="{2C9E42A7-D692-4DEF-A008-68C3A4D1516E}" srcOrd="2" destOrd="0" presId="urn:microsoft.com/office/officeart/2005/8/layout/process1"/>
    <dgm:cxn modelId="{0841EDC9-68A3-40F9-BD27-EFE50060A4E1}" type="presParOf" srcId="{A491758C-84A6-4A4D-888E-93118B4129B4}" destId="{75576B2E-DB43-49F5-8A31-D5CBF5F78EEC}" srcOrd="3" destOrd="0" presId="urn:microsoft.com/office/officeart/2005/8/layout/process1"/>
    <dgm:cxn modelId="{F9D681E7-5752-468B-A696-3EB2F99D0256}" type="presParOf" srcId="{75576B2E-DB43-49F5-8A31-D5CBF5F78EEC}" destId="{1FFABC42-5BE3-4E33-A2BE-582BDAFB0BDF}" srcOrd="0" destOrd="0" presId="urn:microsoft.com/office/officeart/2005/8/layout/process1"/>
    <dgm:cxn modelId="{4F2A4B95-3014-40BF-8CD3-67B6D057E5F9}" type="presParOf" srcId="{A491758C-84A6-4A4D-888E-93118B4129B4}" destId="{B28036AB-B71B-48DE-97C4-D287BC3BE7A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BD105-9F67-4F60-B070-C671AE93A28A}">
      <dsp:nvSpPr>
        <dsp:cNvPr id="0" name=""/>
        <dsp:cNvSpPr/>
      </dsp:nvSpPr>
      <dsp:spPr bwMode="white">
        <a:xfrm>
          <a:off x="10397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1</a:t>
          </a:r>
          <a:r>
            <a:rPr lang="en-US" altLang="zh-TW" sz="2800" b="1" kern="1200">
              <a:solidFill>
                <a:schemeClr val="bg2"/>
              </a:solidFill>
            </a:rPr>
            <a:t>: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 define a set of function              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65010" y="2385806"/>
        <a:ext cx="2998472" cy="1755393"/>
      </dsp:txXfrm>
    </dsp:sp>
    <dsp:sp modelId="{888540DF-FD49-4215-991C-C7B2A2E10D35}">
      <dsp:nvSpPr>
        <dsp:cNvPr id="0" name=""/>
        <dsp:cNvSpPr/>
      </dsp:nvSpPr>
      <dsp:spPr bwMode="white">
        <a:xfrm>
          <a:off x="3428866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3428866" y="3032290"/>
        <a:ext cx="461182" cy="462425"/>
      </dsp:txXfrm>
    </dsp:sp>
    <dsp:sp modelId="{2C9E42A7-D692-4DEF-A008-68C3A4D1516E}">
      <dsp:nvSpPr>
        <dsp:cNvPr id="0" name=""/>
        <dsp:cNvSpPr/>
      </dsp:nvSpPr>
      <dsp:spPr bwMode="white">
        <a:xfrm>
          <a:off x="4361175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57354"/>
                <a:satOff val="-45878"/>
                <a:lumOff val="5587"/>
                <a:alphaOff val="0"/>
                <a:shade val="100000"/>
                <a:satMod val="120000"/>
              </a:schemeClr>
            </a:gs>
            <a:gs pos="69000">
              <a:schemeClr val="accent2">
                <a:hueOff val="-1057354"/>
                <a:satOff val="-45878"/>
                <a:lumOff val="5587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1057354"/>
                <a:satOff val="-45878"/>
                <a:lumOff val="5587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</a:t>
          </a:r>
          <a:r>
            <a:rPr lang="en-US" altLang="zh-TW" sz="2800" b="1" kern="1200">
              <a:solidFill>
                <a:schemeClr val="bg2"/>
              </a:solidFill>
            </a:rPr>
            <a:t>2: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goodness of function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4415788" y="2385806"/>
        <a:ext cx="2998472" cy="1755393"/>
      </dsp:txXfrm>
    </dsp:sp>
    <dsp:sp modelId="{75576B2E-DB43-49F5-8A31-D5CBF5F78EEC}">
      <dsp:nvSpPr>
        <dsp:cNvPr id="0" name=""/>
        <dsp:cNvSpPr/>
      </dsp:nvSpPr>
      <dsp:spPr bwMode="white">
        <a:xfrm>
          <a:off x="7779644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7779644" y="3032290"/>
        <a:ext cx="461182" cy="462425"/>
      </dsp:txXfrm>
    </dsp:sp>
    <dsp:sp modelId="{B28036AB-B71B-48DE-97C4-D287BC3BE7AC}">
      <dsp:nvSpPr>
        <dsp:cNvPr id="0" name=""/>
        <dsp:cNvSpPr/>
      </dsp:nvSpPr>
      <dsp:spPr bwMode="white">
        <a:xfrm>
          <a:off x="8711953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</a:t>
          </a:r>
          <a:r>
            <a:rPr lang="en-US" altLang="zh-TW" sz="2800" b="1" kern="1200">
              <a:solidFill>
                <a:schemeClr val="bg2"/>
              </a:solidFill>
            </a:rPr>
            <a:t>3: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pick the best function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8766566" y="2385806"/>
        <a:ext cx="2998472" cy="1755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BD105-9F67-4F60-B070-C671AE93A28A}">
      <dsp:nvSpPr>
        <dsp:cNvPr id="0" name=""/>
        <dsp:cNvSpPr/>
      </dsp:nvSpPr>
      <dsp:spPr bwMode="white">
        <a:xfrm>
          <a:off x="10397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1</a:t>
          </a:r>
          <a:r>
            <a:rPr lang="en-US" altLang="zh-TW" sz="2800" b="1" kern="1200">
              <a:solidFill>
                <a:schemeClr val="bg2"/>
              </a:solidFill>
            </a:rPr>
            <a:t>: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 define a set of function              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65010" y="2385806"/>
        <a:ext cx="2998472" cy="1755393"/>
      </dsp:txXfrm>
    </dsp:sp>
    <dsp:sp modelId="{888540DF-FD49-4215-991C-C7B2A2E10D35}">
      <dsp:nvSpPr>
        <dsp:cNvPr id="0" name=""/>
        <dsp:cNvSpPr/>
      </dsp:nvSpPr>
      <dsp:spPr bwMode="white">
        <a:xfrm>
          <a:off x="3428866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100000"/>
                <a:satMod val="120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3428866" y="3032290"/>
        <a:ext cx="461182" cy="462425"/>
      </dsp:txXfrm>
    </dsp:sp>
    <dsp:sp modelId="{2C9E42A7-D692-4DEF-A008-68C3A4D1516E}">
      <dsp:nvSpPr>
        <dsp:cNvPr id="0" name=""/>
        <dsp:cNvSpPr/>
      </dsp:nvSpPr>
      <dsp:spPr bwMode="white">
        <a:xfrm>
          <a:off x="4361175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57354"/>
                <a:satOff val="-45878"/>
                <a:lumOff val="5587"/>
                <a:alphaOff val="0"/>
                <a:shade val="100000"/>
                <a:satMod val="120000"/>
              </a:schemeClr>
            </a:gs>
            <a:gs pos="69000">
              <a:schemeClr val="accent2">
                <a:hueOff val="-1057354"/>
                <a:satOff val="-45878"/>
                <a:lumOff val="5587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1057354"/>
                <a:satOff val="-45878"/>
                <a:lumOff val="5587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</a:t>
          </a:r>
          <a:r>
            <a:rPr lang="en-US" altLang="zh-TW" sz="2800" b="1" kern="1200">
              <a:solidFill>
                <a:schemeClr val="bg2"/>
              </a:solidFill>
            </a:rPr>
            <a:t>2: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goodness of function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4415788" y="2385806"/>
        <a:ext cx="2998472" cy="1755393"/>
      </dsp:txXfrm>
    </dsp:sp>
    <dsp:sp modelId="{75576B2E-DB43-49F5-8A31-D5CBF5F78EEC}">
      <dsp:nvSpPr>
        <dsp:cNvPr id="0" name=""/>
        <dsp:cNvSpPr/>
      </dsp:nvSpPr>
      <dsp:spPr bwMode="white">
        <a:xfrm>
          <a:off x="7779644" y="2878148"/>
          <a:ext cx="658832" cy="77070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800" kern="1200"/>
        </a:p>
      </dsp:txBody>
      <dsp:txXfrm>
        <a:off x="7779644" y="3032290"/>
        <a:ext cx="461182" cy="462425"/>
      </dsp:txXfrm>
    </dsp:sp>
    <dsp:sp modelId="{B28036AB-B71B-48DE-97C4-D287BC3BE7AC}">
      <dsp:nvSpPr>
        <dsp:cNvPr id="0" name=""/>
        <dsp:cNvSpPr/>
      </dsp:nvSpPr>
      <dsp:spPr bwMode="white">
        <a:xfrm>
          <a:off x="8711953" y="2331193"/>
          <a:ext cx="3107698" cy="186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114708"/>
                <a:satOff val="-91757"/>
                <a:lumOff val="11174"/>
                <a:alphaOff val="0"/>
                <a:shade val="100000"/>
                <a:satMod val="120000"/>
              </a:schemeClr>
            </a:gs>
            <a:gs pos="69000">
              <a:schemeClr val="accent2">
                <a:hueOff val="-2114708"/>
                <a:satOff val="-91757"/>
                <a:lumOff val="11174"/>
                <a:alphaOff val="0"/>
                <a:tint val="80000"/>
                <a:shade val="100000"/>
                <a:satMod val="150000"/>
              </a:schemeClr>
            </a:gs>
            <a:gs pos="100000">
              <a:schemeClr val="accent2">
                <a:hueOff val="-2114708"/>
                <a:satOff val="-91757"/>
                <a:lumOff val="11174"/>
                <a:alphaOff val="0"/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63500" dist="25400" dir="5400000" sx="101000" sy="101000" rotWithShape="0">
            <a:srgbClr val="000000">
              <a:alpha val="4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 dirty="0">
              <a:solidFill>
                <a:schemeClr val="bg2"/>
              </a:solidFill>
            </a:rPr>
            <a:t>Step </a:t>
          </a:r>
          <a:r>
            <a:rPr lang="en-US" altLang="zh-TW" sz="2800" b="1" kern="1200">
              <a:solidFill>
                <a:schemeClr val="bg2"/>
              </a:solidFill>
            </a:rPr>
            <a:t>3: 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1" kern="1200">
              <a:solidFill>
                <a:schemeClr val="bg2"/>
              </a:solidFill>
            </a:rPr>
            <a:t>pick the best function</a:t>
          </a:r>
          <a:endParaRPr lang="en-US" altLang="zh-TW" sz="2800" b="1" kern="1200" dirty="0">
            <a:solidFill>
              <a:schemeClr val="bg2"/>
            </a:solidFill>
          </a:endParaRPr>
        </a:p>
      </dsp:txBody>
      <dsp:txXfrm>
        <a:off x="8766566" y="2385806"/>
        <a:ext cx="2998472" cy="1755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9096D2-8776-4F5C-A458-4FD37E7160D3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9"/>
            <a:ext cx="15773400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9684" y="2521745"/>
            <a:ext cx="7736680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9684" y="3757613"/>
            <a:ext cx="7736680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7300" y="9534527"/>
            <a:ext cx="4114800" cy="547688"/>
          </a:xfrm>
        </p:spPr>
        <p:txBody>
          <a:bodyPr/>
          <a:lstStyle/>
          <a:p>
            <a:fld id="{8D7014B5-A822-4760-9C92-A4C0DDBD790A}" type="datetimeFigureOut">
              <a:rPr lang="zh-TW" altLang="en-US" smtClean="0"/>
              <a:t>2024/3/27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57900" y="9534527"/>
            <a:ext cx="6172200" cy="547688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2915900" y="9534527"/>
            <a:ext cx="4114800" cy="547688"/>
          </a:xfrm>
        </p:spPr>
        <p:txBody>
          <a:bodyPr/>
          <a:lstStyle/>
          <a:p>
            <a:fld id="{DDFD11CF-6FB2-4FCE-A971-5E1D4AF62D7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wmf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573868"/>
            <a:ext cx="12998450" cy="1574799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Loss 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345432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228975" y="1451773"/>
          <a:ext cx="1183005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Steps for Deep Learning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34352" y="2240701"/>
            <a:ext cx="673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Deep Learning is so simple ……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7446208" y="3470339"/>
            <a:ext cx="3389586" cy="253060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3383982" y="4549811"/>
            <a:ext cx="2790410" cy="1383665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Neural </a:t>
            </a:r>
          </a:p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Network</a:t>
            </a:r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5019675" y="6456680"/>
            <a:ext cx="8764905" cy="29959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Loss for an Example</a:t>
            </a:r>
            <a:endParaRPr lang="zh-TW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11248767" y="3982575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5" name="矩形 34"/>
          <p:cNvSpPr/>
          <p:nvPr/>
        </p:nvSpPr>
        <p:spPr>
          <a:xfrm>
            <a:off x="6512859" y="3964184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0" name="矩形 39"/>
          <p:cNvSpPr/>
          <p:nvPr/>
        </p:nvSpPr>
        <p:spPr>
          <a:xfrm>
            <a:off x="4738205" y="4005645"/>
            <a:ext cx="748427" cy="39375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10208187" y="5536814"/>
            <a:ext cx="95170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>
            <a:off x="10372161" y="7405649"/>
            <a:ext cx="7877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>
            <a:off x="10172361" y="4368609"/>
            <a:ext cx="9875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840787" y="5082185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矩形 46"/>
          <p:cNvSpPr/>
          <p:nvPr/>
        </p:nvSpPr>
        <p:spPr>
          <a:xfrm>
            <a:off x="4849514" y="4226691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49" name="Object 12"/>
          <p:cNvGraphicFramePr>
            <a:graphicFrameLocks noChangeAspect="1"/>
          </p:cNvGraphicFramePr>
          <p:nvPr/>
        </p:nvGraphicFramePr>
        <p:xfrm>
          <a:off x="4868562" y="4083816"/>
          <a:ext cx="488157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657600" imgH="5181600" progId="Equation.3">
                  <p:embed/>
                </p:oleObj>
              </mc:Choice>
              <mc:Fallback>
                <p:oleObj name="方程式" r:id="rId3" imgW="36576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562" y="4083816"/>
                        <a:ext cx="488157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2"/>
          <p:cNvGraphicFramePr>
            <a:graphicFrameLocks noChangeAspect="1"/>
          </p:cNvGraphicFramePr>
          <p:nvPr/>
        </p:nvGraphicFramePr>
        <p:xfrm>
          <a:off x="4876506" y="4957910"/>
          <a:ext cx="52863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962400" imgH="5181600" progId="Equation.3">
                  <p:embed/>
                </p:oleObj>
              </mc:Choice>
              <mc:Fallback>
                <p:oleObj name="方程式" r:id="rId5" imgW="3962400" imgH="5181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506" y="4957910"/>
                        <a:ext cx="52863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橢圓 52"/>
          <p:cNvSpPr/>
          <p:nvPr/>
        </p:nvSpPr>
        <p:spPr>
          <a:xfrm>
            <a:off x="6658524" y="3980687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橢圓 53"/>
          <p:cNvSpPr/>
          <p:nvPr/>
        </p:nvSpPr>
        <p:spPr>
          <a:xfrm>
            <a:off x="6662037" y="5148542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橢圓 54"/>
          <p:cNvSpPr/>
          <p:nvPr/>
        </p:nvSpPr>
        <p:spPr>
          <a:xfrm>
            <a:off x="6644588" y="699056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6" name="文字方塊 55"/>
          <p:cNvSpPr txBox="1"/>
          <p:nvPr/>
        </p:nvSpPr>
        <p:spPr>
          <a:xfrm rot="5400000">
            <a:off x="6640467" y="6446499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59" name="矩形 58"/>
          <p:cNvSpPr/>
          <p:nvPr/>
        </p:nvSpPr>
        <p:spPr>
          <a:xfrm>
            <a:off x="4855074" y="7178820"/>
            <a:ext cx="514350" cy="5143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62" name="Object 12"/>
          <p:cNvGraphicFramePr>
            <a:graphicFrameLocks noChangeAspect="1"/>
          </p:cNvGraphicFramePr>
          <p:nvPr/>
        </p:nvGraphicFramePr>
        <p:xfrm>
          <a:off x="4747190" y="7033670"/>
          <a:ext cx="81676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6096000" imgH="5486400" progId="Equation.3">
                  <p:embed/>
                </p:oleObj>
              </mc:Choice>
              <mc:Fallback>
                <p:oleObj name="方程式" r:id="rId7" imgW="60960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90" y="7033670"/>
                        <a:ext cx="816768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字方塊 62"/>
          <p:cNvSpPr txBox="1"/>
          <p:nvPr/>
        </p:nvSpPr>
        <p:spPr>
          <a:xfrm rot="5400000">
            <a:off x="4668972" y="6428733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8499335" y="389281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8525769" y="5071059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8544039" y="6955497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75" name="直線單箭頭接點 74"/>
          <p:cNvCxnSpPr>
            <a:stCxn id="53" idx="6"/>
          </p:cNvCxnSpPr>
          <p:nvPr/>
        </p:nvCxnSpPr>
        <p:spPr>
          <a:xfrm>
            <a:off x="7519761" y="4411305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>
            <a:off x="7519761" y="5598933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>
            <a:off x="7505825" y="7431887"/>
            <a:ext cx="11121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/>
          <p:cNvCxnSpPr>
            <a:stCxn id="54" idx="6"/>
          </p:cNvCxnSpPr>
          <p:nvPr/>
        </p:nvCxnSpPr>
        <p:spPr>
          <a:xfrm flipV="1">
            <a:off x="7523274" y="4411305"/>
            <a:ext cx="1108593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>
            <a:stCxn id="53" idx="6"/>
          </p:cNvCxnSpPr>
          <p:nvPr/>
        </p:nvCxnSpPr>
        <p:spPr>
          <a:xfrm>
            <a:off x="7519761" y="4411305"/>
            <a:ext cx="1115619" cy="11678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53" idx="6"/>
          </p:cNvCxnSpPr>
          <p:nvPr/>
        </p:nvCxnSpPr>
        <p:spPr>
          <a:xfrm>
            <a:off x="7519761" y="4411305"/>
            <a:ext cx="1098170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54" idx="6"/>
          </p:cNvCxnSpPr>
          <p:nvPr/>
        </p:nvCxnSpPr>
        <p:spPr>
          <a:xfrm>
            <a:off x="7523274" y="5579160"/>
            <a:ext cx="1094657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55" idx="6"/>
          </p:cNvCxnSpPr>
          <p:nvPr/>
        </p:nvCxnSpPr>
        <p:spPr>
          <a:xfrm flipV="1">
            <a:off x="7505825" y="4411305"/>
            <a:ext cx="1126043" cy="30098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55" idx="6"/>
          </p:cNvCxnSpPr>
          <p:nvPr/>
        </p:nvCxnSpPr>
        <p:spPr>
          <a:xfrm flipV="1">
            <a:off x="7505825" y="5579160"/>
            <a:ext cx="1129556" cy="1842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endCxn id="53" idx="2"/>
          </p:cNvCxnSpPr>
          <p:nvPr/>
        </p:nvCxnSpPr>
        <p:spPr>
          <a:xfrm flipV="1">
            <a:off x="5369424" y="4411305"/>
            <a:ext cx="1289100" cy="449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stCxn id="47" idx="3"/>
            <a:endCxn id="54" idx="2"/>
          </p:cNvCxnSpPr>
          <p:nvPr/>
        </p:nvCxnSpPr>
        <p:spPr>
          <a:xfrm>
            <a:off x="5363864" y="4483866"/>
            <a:ext cx="1298174" cy="10952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stCxn id="47" idx="3"/>
            <a:endCxn id="55" idx="2"/>
          </p:cNvCxnSpPr>
          <p:nvPr/>
        </p:nvCxnSpPr>
        <p:spPr>
          <a:xfrm>
            <a:off x="5363864" y="4483866"/>
            <a:ext cx="1280724" cy="2937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stCxn id="52" idx="3"/>
            <a:endCxn id="53" idx="2"/>
          </p:cNvCxnSpPr>
          <p:nvPr/>
        </p:nvCxnSpPr>
        <p:spPr>
          <a:xfrm flipV="1">
            <a:off x="5405144" y="4411305"/>
            <a:ext cx="1253381" cy="8930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stCxn id="46" idx="3"/>
            <a:endCxn id="54" idx="2"/>
          </p:cNvCxnSpPr>
          <p:nvPr/>
        </p:nvCxnSpPr>
        <p:spPr>
          <a:xfrm>
            <a:off x="5355137" y="5339360"/>
            <a:ext cx="1306901" cy="2398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stCxn id="46" idx="3"/>
            <a:endCxn id="55" idx="2"/>
          </p:cNvCxnSpPr>
          <p:nvPr/>
        </p:nvCxnSpPr>
        <p:spPr>
          <a:xfrm>
            <a:off x="5355137" y="5339360"/>
            <a:ext cx="1289451" cy="20818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stCxn id="62" idx="3"/>
            <a:endCxn id="53" idx="2"/>
          </p:cNvCxnSpPr>
          <p:nvPr/>
        </p:nvCxnSpPr>
        <p:spPr>
          <a:xfrm flipV="1">
            <a:off x="5462382" y="4411305"/>
            <a:ext cx="1196142" cy="29898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stCxn id="62" idx="3"/>
            <a:endCxn id="54" idx="2"/>
          </p:cNvCxnSpPr>
          <p:nvPr/>
        </p:nvCxnSpPr>
        <p:spPr>
          <a:xfrm flipV="1">
            <a:off x="5422829" y="5579160"/>
            <a:ext cx="1239209" cy="1821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62" idx="3"/>
            <a:endCxn id="55" idx="2"/>
          </p:cNvCxnSpPr>
          <p:nvPr/>
        </p:nvCxnSpPr>
        <p:spPr>
          <a:xfrm>
            <a:off x="5422829" y="7401069"/>
            <a:ext cx="1221759" cy="201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 rot="5400000">
            <a:off x="11162052" y="6234069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11265692" y="3955838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</a:t>
            </a:r>
            <a:endParaRPr lang="zh-TW" altLang="en-US" sz="4200" baseline="-250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11297339" y="5168301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2</a:t>
            </a:r>
            <a:endParaRPr lang="zh-TW" altLang="en-US" sz="4200" baseline="-250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11248767" y="7052516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y</a:t>
            </a:r>
            <a:r>
              <a:rPr lang="en-US" altLang="zh-TW" sz="4200" baseline="-25000" dirty="0"/>
              <a:t>10</a:t>
            </a:r>
            <a:endParaRPr lang="zh-TW" altLang="en-US" sz="42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142250" y="5576201"/>
            <a:ext cx="127000" cy="152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TW" altLang="en-US" sz="100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2150825" y="6164628"/>
            <a:ext cx="1731956" cy="17532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Cross</a:t>
            </a:r>
          </a:p>
          <a:p>
            <a:pPr algn="ctr"/>
            <a:r>
              <a:rPr lang="en-US" altLang="zh-TW" sz="3600" dirty="0"/>
              <a:t>Entropy</a:t>
            </a:r>
          </a:p>
        </p:txBody>
      </p:sp>
      <p:pic>
        <p:nvPicPr>
          <p:cNvPr id="102" name="圖片 10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122262" y="2543286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3" name="文字方塊 102"/>
          <p:cNvSpPr txBox="1"/>
          <p:nvPr/>
        </p:nvSpPr>
        <p:spPr>
          <a:xfrm>
            <a:off x="9326351" y="2676878"/>
            <a:ext cx="9822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“1”</a:t>
            </a:r>
            <a:endParaRPr lang="zh-TW" altLang="en-US" sz="4200" dirty="0"/>
          </a:p>
        </p:txBody>
      </p:sp>
      <p:pic>
        <p:nvPicPr>
          <p:cNvPr id="108" name="圖片 107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3211506" y="5469779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0" name="矩形 109"/>
          <p:cNvSpPr/>
          <p:nvPr/>
        </p:nvSpPr>
        <p:spPr>
          <a:xfrm>
            <a:off x="13969866" y="3985941"/>
            <a:ext cx="748427" cy="39375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文字方塊 110"/>
          <p:cNvSpPr txBox="1"/>
          <p:nvPr/>
        </p:nvSpPr>
        <p:spPr>
          <a:xfrm rot="5400000">
            <a:off x="14641583" y="6460160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2" name="文字方塊 111"/>
          <p:cNvSpPr txBox="1"/>
          <p:nvPr/>
        </p:nvSpPr>
        <p:spPr>
          <a:xfrm>
            <a:off x="14626815" y="3939356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1</a:t>
            </a:r>
            <a:endParaRPr lang="zh-TW" altLang="en-US" sz="4200" baseline="-25000" dirty="0"/>
          </a:p>
        </p:txBody>
      </p:sp>
      <p:sp>
        <p:nvSpPr>
          <p:cNvPr id="113" name="文字方塊 112"/>
          <p:cNvSpPr txBox="1"/>
          <p:nvPr/>
        </p:nvSpPr>
        <p:spPr>
          <a:xfrm>
            <a:off x="14626815" y="5139544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0</a:t>
            </a:r>
            <a:endParaRPr lang="zh-TW" altLang="en-US" sz="4200" baseline="-25000" dirty="0"/>
          </a:p>
        </p:txBody>
      </p:sp>
      <p:sp>
        <p:nvSpPr>
          <p:cNvPr id="114" name="文字方塊 113"/>
          <p:cNvSpPr txBox="1"/>
          <p:nvPr/>
        </p:nvSpPr>
        <p:spPr>
          <a:xfrm>
            <a:off x="14603406" y="7073654"/>
            <a:ext cx="94660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0</a:t>
            </a:r>
            <a:endParaRPr lang="zh-TW" altLang="en-US" sz="4200" baseline="-25000" dirty="0"/>
          </a:p>
        </p:txBody>
      </p:sp>
      <p:sp>
        <p:nvSpPr>
          <p:cNvPr id="115" name="左-右雙向箭號 114"/>
          <p:cNvSpPr/>
          <p:nvPr/>
        </p:nvSpPr>
        <p:spPr>
          <a:xfrm>
            <a:off x="12107919" y="5578595"/>
            <a:ext cx="1781394" cy="502313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5" name="直線接點 14"/>
          <p:cNvCxnSpPr/>
          <p:nvPr/>
        </p:nvCxnSpPr>
        <p:spPr>
          <a:xfrm flipH="1">
            <a:off x="3767135" y="3034388"/>
            <a:ext cx="40930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10308630" y="3069293"/>
            <a:ext cx="40237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3751506" y="3083286"/>
            <a:ext cx="0" cy="22210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/>
          <p:nvPr/>
        </p:nvCxnSpPr>
        <p:spPr>
          <a:xfrm>
            <a:off x="14354145" y="3111323"/>
            <a:ext cx="0" cy="8725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9510795" y="3979826"/>
            <a:ext cx="1119513" cy="401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9" name="橢圓 98"/>
          <p:cNvSpPr/>
          <p:nvPr/>
        </p:nvSpPr>
        <p:spPr>
          <a:xfrm>
            <a:off x="9624561" y="396766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4" name="橢圓 103"/>
          <p:cNvSpPr/>
          <p:nvPr/>
        </p:nvSpPr>
        <p:spPr>
          <a:xfrm>
            <a:off x="9628074" y="510753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5" name="橢圓 104"/>
          <p:cNvSpPr/>
          <p:nvPr/>
        </p:nvSpPr>
        <p:spPr>
          <a:xfrm>
            <a:off x="9638616" y="6977540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6" name="文字方塊 105"/>
          <p:cNvSpPr txBox="1"/>
          <p:nvPr/>
        </p:nvSpPr>
        <p:spPr>
          <a:xfrm rot="5400000">
            <a:off x="9634496" y="6106235"/>
            <a:ext cx="1153886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3" name="矩形 2"/>
          <p:cNvSpPr/>
          <p:nvPr/>
        </p:nvSpPr>
        <p:spPr>
          <a:xfrm>
            <a:off x="13656165" y="2232924"/>
            <a:ext cx="1351280" cy="645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3600" dirty="0"/>
              <a:t>target</a:t>
            </a:r>
            <a:endParaRPr lang="zh-TW" altLang="en-US" sz="3600" dirty="0"/>
          </a:p>
        </p:txBody>
      </p:sp>
      <p:sp>
        <p:nvSpPr>
          <p:cNvPr id="4" name="矩形 3"/>
          <p:cNvSpPr/>
          <p:nvPr/>
        </p:nvSpPr>
        <p:spPr>
          <a:xfrm rot="5400000">
            <a:off x="8064209" y="5425967"/>
            <a:ext cx="4037789" cy="10507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err="1">
                <a:solidFill>
                  <a:schemeClr val="bg2"/>
                </a:solidFill>
              </a:rPr>
              <a:t>Softmax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/>
              <p:cNvSpPr txBox="1"/>
              <p:nvPr/>
            </p:nvSpPr>
            <p:spPr>
              <a:xfrm>
                <a:off x="4767476" y="8088321"/>
                <a:ext cx="5173345" cy="33282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TW" altLang="en-US" sz="4200" dirty="0">
                              <a:latin typeface="DejaVu Math TeX Gyre" panose="02000503000000000000" charset="0"/>
                            </a:rPr>
                            <m:t> </m:t>
                          </m:r>
                          <m:r>
                            <a:rPr lang="en-US" altLang="zh-TW" sz="42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zh-TW" altLang="en-US" sz="4200" dirty="0">
                              <a:latin typeface="DejaVu Math TeX Gyre" panose="02000503000000000000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zh-TW" altLang="en-US" sz="4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sz="42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sSub>
                            <m:sSubPr>
                              <m:ctrlP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4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01" name="文字方塊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476" y="8088321"/>
                <a:ext cx="5173345" cy="33282255"/>
              </a:xfrm>
              <a:prstGeom prst="rect">
                <a:avLst/>
              </a:prstGeom>
              <a:blipFill rotWithShape="1">
                <a:blip r:embed="rId10"/>
                <a:stretch>
                  <a:fillRect l="-10" t="-1" r="-370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4126669" y="4062000"/>
                <a:ext cx="50292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6669" y="4062000"/>
                <a:ext cx="502920" cy="648335"/>
              </a:xfrm>
              <a:prstGeom prst="rect">
                <a:avLst/>
              </a:prstGeom>
              <a:blipFill rotWithShape="1">
                <a:blip r:embed="rId11"/>
                <a:stretch>
                  <a:fillRect l="-91" t="-83" r="-15439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14126131" y="5210247"/>
                <a:ext cx="50800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6131" y="5210247"/>
                <a:ext cx="508000" cy="648335"/>
              </a:xfrm>
              <a:prstGeom prst="rect">
                <a:avLst/>
              </a:prstGeom>
              <a:blipFill rotWithShape="1">
                <a:blip r:embed="rId12"/>
                <a:stretch>
                  <a:fillRect l="-109" t="-11" r="-14766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字方塊 118"/>
              <p:cNvSpPr txBox="1"/>
              <p:nvPr/>
            </p:nvSpPr>
            <p:spPr>
              <a:xfrm>
                <a:off x="14104083" y="7193393"/>
                <a:ext cx="6915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9" name="文字方塊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4083" y="7193393"/>
                <a:ext cx="691515" cy="648335"/>
              </a:xfrm>
              <a:prstGeom prst="rect">
                <a:avLst/>
              </a:prstGeom>
              <a:blipFill rotWithShape="1">
                <a:blip r:embed="rId13"/>
                <a:stretch>
                  <a:fillRect l="-14" t="-17" r="-10913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文字方塊 119"/>
          <p:cNvSpPr txBox="1"/>
          <p:nvPr/>
        </p:nvSpPr>
        <p:spPr>
          <a:xfrm rot="5400000">
            <a:off x="13972554" y="6460161"/>
            <a:ext cx="1153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5708700" y="5150226"/>
            <a:ext cx="3969357" cy="1383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Given a set of parameters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1425556" y="7883236"/>
                <a:ext cx="29845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5556" y="7883236"/>
                <a:ext cx="298450" cy="757555"/>
              </a:xfrm>
              <a:prstGeom prst="rect">
                <a:avLst/>
              </a:prstGeom>
              <a:blipFill rotWithShape="1">
                <a:blip r:embed="rId14"/>
                <a:stretch>
                  <a:fillRect t="-46" r="-39787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字方塊 120"/>
              <p:cNvSpPr txBox="1"/>
              <p:nvPr/>
            </p:nvSpPr>
            <p:spPr>
              <a:xfrm>
                <a:off x="14149377" y="7871437"/>
                <a:ext cx="29845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121" name="文字方塊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9377" y="7871437"/>
                <a:ext cx="298450" cy="757555"/>
              </a:xfrm>
              <a:prstGeom prst="rect">
                <a:avLst/>
              </a:prstGeom>
              <a:blipFill rotWithShape="1">
                <a:blip r:embed="rId15"/>
                <a:stretch>
                  <a:fillRect l="-103" t="-81" r="-39684" b="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>
            <a:stCxn id="71" idx="2"/>
          </p:cNvCxnSpPr>
          <p:nvPr/>
        </p:nvCxnSpPr>
        <p:spPr>
          <a:xfrm flipH="1">
            <a:off x="21811146" y="11876444"/>
            <a:ext cx="0" cy="17764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10258332" y="9187544"/>
            <a:ext cx="276687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71" grpId="0" bldLvl="0" animBg="1"/>
      <p:bldP spid="103" grpId="0"/>
      <p:bldP spid="110" grpId="0" bldLvl="0" animBg="1"/>
      <p:bldP spid="111" grpId="0"/>
      <p:bldP spid="112" grpId="0"/>
      <p:bldP spid="113" grpId="0"/>
      <p:bldP spid="114" grpId="0"/>
      <p:bldP spid="115" grpId="0" bldLvl="0" animBg="1"/>
      <p:bldP spid="3" grpId="0" bldLvl="0" animBg="1"/>
      <p:bldP spid="101" grpId="0"/>
      <p:bldP spid="5" grpId="0"/>
      <p:bldP spid="109" grpId="0"/>
      <p:bldP spid="119" grpId="0"/>
      <p:bldP spid="120" grpId="0"/>
      <p:bldP spid="8" grpId="0"/>
      <p:bldP spid="1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Total Loss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4905795" y="3447261"/>
            <a:ext cx="576581" cy="1007270"/>
            <a:chOff x="529325" y="3417283"/>
            <a:chExt cx="384387" cy="671513"/>
          </a:xfrm>
        </p:grpSpPr>
        <p:sp>
          <p:nvSpPr>
            <p:cNvPr id="19" name="矩形 1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529325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30000" dirty="0"/>
                <a:t>1</a:t>
              </a:r>
              <a:endParaRPr lang="zh-TW" altLang="en-US" sz="3600" baseline="30000" dirty="0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4905795" y="4867919"/>
            <a:ext cx="576581" cy="1007270"/>
            <a:chOff x="529326" y="3417283"/>
            <a:chExt cx="384387" cy="671513"/>
          </a:xfrm>
        </p:grpSpPr>
        <p:sp>
          <p:nvSpPr>
            <p:cNvPr id="22" name="矩形 2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529326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30000" dirty="0"/>
                <a:t>2</a:t>
              </a:r>
              <a:endParaRPr lang="zh-TW" altLang="en-US" sz="3600" baseline="30000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4881029" y="8409935"/>
            <a:ext cx="626111" cy="1007270"/>
            <a:chOff x="512815" y="3417283"/>
            <a:chExt cx="417407" cy="671513"/>
          </a:xfrm>
        </p:grpSpPr>
        <p:sp>
          <p:nvSpPr>
            <p:cNvPr id="25" name="矩形 2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512815" y="3522206"/>
              <a:ext cx="41740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 err="1"/>
                <a:t>x</a:t>
              </a:r>
              <a:r>
                <a:rPr lang="en-US" altLang="zh-TW" sz="3600" baseline="30000" dirty="0" err="1"/>
                <a:t>N</a:t>
              </a:r>
              <a:endParaRPr lang="zh-TW" altLang="en-US" sz="3600" baseline="30000" dirty="0"/>
            </a:p>
          </p:txBody>
        </p:sp>
      </p:grpSp>
      <p:sp>
        <p:nvSpPr>
          <p:cNvPr id="27" name="矩形 26"/>
          <p:cNvSpPr/>
          <p:nvPr/>
        </p:nvSpPr>
        <p:spPr>
          <a:xfrm>
            <a:off x="6077540" y="3451118"/>
            <a:ext cx="1448858" cy="10247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28" name="矩形 27"/>
          <p:cNvSpPr/>
          <p:nvPr/>
        </p:nvSpPr>
        <p:spPr>
          <a:xfrm>
            <a:off x="6077540" y="4859183"/>
            <a:ext cx="1448858" cy="10247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29" name="矩形 28"/>
          <p:cNvSpPr/>
          <p:nvPr/>
        </p:nvSpPr>
        <p:spPr>
          <a:xfrm>
            <a:off x="6077540" y="8392467"/>
            <a:ext cx="1448858" cy="10247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NN</a:t>
            </a:r>
          </a:p>
        </p:txBody>
      </p:sp>
      <p:sp>
        <p:nvSpPr>
          <p:cNvPr id="30" name="文字方塊 29"/>
          <p:cNvSpPr txBox="1"/>
          <p:nvPr/>
        </p:nvSpPr>
        <p:spPr>
          <a:xfrm rot="5400000">
            <a:off x="4663978" y="7718511"/>
            <a:ext cx="1243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31" name="文字方塊 30"/>
          <p:cNvSpPr txBox="1"/>
          <p:nvPr/>
        </p:nvSpPr>
        <p:spPr>
          <a:xfrm rot="5400000">
            <a:off x="6273876" y="7701047"/>
            <a:ext cx="1243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5430465" y="3950894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5426024" y="5371551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5426022" y="8904836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7530839" y="3943083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7526397" y="5363741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7526396" y="8897025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群組 37"/>
          <p:cNvGrpSpPr/>
          <p:nvPr/>
        </p:nvGrpSpPr>
        <p:grpSpPr>
          <a:xfrm>
            <a:off x="8161563" y="3447261"/>
            <a:ext cx="576581" cy="1007270"/>
            <a:chOff x="529325" y="3417283"/>
            <a:chExt cx="384387" cy="671513"/>
          </a:xfrm>
        </p:grpSpPr>
        <p:sp>
          <p:nvSpPr>
            <p:cNvPr id="39" name="矩形 38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40" name="矩形 39"/>
            <p:cNvSpPr/>
            <p:nvPr/>
          </p:nvSpPr>
          <p:spPr>
            <a:xfrm>
              <a:off x="529325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y</a:t>
              </a:r>
              <a:r>
                <a:rPr lang="en-US" altLang="zh-TW" sz="3600" baseline="30000" dirty="0"/>
                <a:t>1</a:t>
              </a:r>
              <a:endParaRPr lang="zh-TW" altLang="en-US" sz="3600" baseline="30000" dirty="0"/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8161563" y="4867919"/>
            <a:ext cx="576581" cy="1007270"/>
            <a:chOff x="529326" y="3417283"/>
            <a:chExt cx="384387" cy="671513"/>
          </a:xfrm>
        </p:grpSpPr>
        <p:sp>
          <p:nvSpPr>
            <p:cNvPr id="42" name="矩形 41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529326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y</a:t>
              </a:r>
              <a:r>
                <a:rPr lang="en-US" altLang="zh-TW" sz="3600" baseline="30000" dirty="0"/>
                <a:t>2</a:t>
              </a:r>
              <a:endParaRPr lang="zh-TW" altLang="en-US" sz="3600" baseline="30000" dirty="0"/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8136797" y="8409935"/>
            <a:ext cx="626111" cy="1007270"/>
            <a:chOff x="512815" y="3417283"/>
            <a:chExt cx="417407" cy="671513"/>
          </a:xfrm>
        </p:grpSpPr>
        <p:sp>
          <p:nvSpPr>
            <p:cNvPr id="45" name="矩形 4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512815" y="3522206"/>
              <a:ext cx="41740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 err="1"/>
                <a:t>y</a:t>
              </a:r>
              <a:r>
                <a:rPr lang="en-US" altLang="zh-TW" sz="3600" baseline="30000" dirty="0" err="1"/>
                <a:t>N</a:t>
              </a:r>
              <a:endParaRPr lang="zh-TW" altLang="en-US" sz="3600" baseline="30000" dirty="0"/>
            </a:p>
          </p:txBody>
        </p:sp>
      </p:grpSp>
      <p:sp>
        <p:nvSpPr>
          <p:cNvPr id="47" name="矩形 46"/>
          <p:cNvSpPr/>
          <p:nvPr/>
        </p:nvSpPr>
        <p:spPr>
          <a:xfrm>
            <a:off x="9655677" y="3447261"/>
            <a:ext cx="407195" cy="1007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baseline="30000" dirty="0"/>
          </a:p>
        </p:txBody>
      </p:sp>
      <p:sp>
        <p:nvSpPr>
          <p:cNvPr id="48" name="矩形 47"/>
          <p:cNvSpPr/>
          <p:nvPr/>
        </p:nvSpPr>
        <p:spPr>
          <a:xfrm>
            <a:off x="9655676" y="4867919"/>
            <a:ext cx="407195" cy="1007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baseline="30000" dirty="0"/>
          </a:p>
        </p:txBody>
      </p:sp>
      <p:sp>
        <p:nvSpPr>
          <p:cNvPr id="49" name="矩形 48"/>
          <p:cNvSpPr/>
          <p:nvPr/>
        </p:nvSpPr>
        <p:spPr>
          <a:xfrm>
            <a:off x="9655676" y="8409935"/>
            <a:ext cx="407195" cy="1007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9640016" y="3707666"/>
                <a:ext cx="52133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016" y="3707666"/>
                <a:ext cx="521335" cy="648335"/>
              </a:xfrm>
              <a:prstGeom prst="rect">
                <a:avLst/>
              </a:prstGeom>
              <a:blipFill rotWithShape="1">
                <a:blip r:embed="rId3"/>
                <a:stretch>
                  <a:fillRect l="-16" t="-83" r="-13261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9655676" y="5110931"/>
                <a:ext cx="5264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676" y="5110931"/>
                <a:ext cx="526415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95" t="-70" r="-12571" b="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9619031" y="8705819"/>
                <a:ext cx="5899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031" y="8705819"/>
                <a:ext cx="589915" cy="648335"/>
              </a:xfrm>
              <a:prstGeom prst="rect">
                <a:avLst/>
              </a:prstGeom>
              <a:blipFill rotWithShape="1">
                <a:blip r:embed="rId5"/>
                <a:stretch>
                  <a:fillRect l="-9" t="-93" r="-10863" b="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左-右雙向箭號 52"/>
          <p:cNvSpPr/>
          <p:nvPr/>
        </p:nvSpPr>
        <p:spPr>
          <a:xfrm>
            <a:off x="8668056" y="3885222"/>
            <a:ext cx="903975" cy="271568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左-右雙向箭號 53"/>
          <p:cNvSpPr/>
          <p:nvPr/>
        </p:nvSpPr>
        <p:spPr>
          <a:xfrm>
            <a:off x="8660013" y="5266272"/>
            <a:ext cx="903975" cy="271568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左-右雙向箭號 54"/>
          <p:cNvSpPr/>
          <p:nvPr/>
        </p:nvSpPr>
        <p:spPr>
          <a:xfrm>
            <a:off x="8659914" y="8777783"/>
            <a:ext cx="903975" cy="271568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8921072" y="4151301"/>
                <a:ext cx="40640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072" y="4151301"/>
                <a:ext cx="406400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146" t="-47" r="-17198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 rot="5400000">
            <a:off x="7906280" y="7773292"/>
            <a:ext cx="1243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sp>
        <p:nvSpPr>
          <p:cNvPr id="60" name="文字方塊 59"/>
          <p:cNvSpPr txBox="1"/>
          <p:nvPr/>
        </p:nvSpPr>
        <p:spPr>
          <a:xfrm rot="5400000">
            <a:off x="9410924" y="7753931"/>
            <a:ext cx="12430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…</a:t>
            </a:r>
            <a:endParaRPr lang="zh-TW" altLang="en-US" sz="4200" dirty="0"/>
          </a:p>
        </p:txBody>
      </p:sp>
      <p:grpSp>
        <p:nvGrpSpPr>
          <p:cNvPr id="64" name="群組 63"/>
          <p:cNvGrpSpPr/>
          <p:nvPr/>
        </p:nvGrpSpPr>
        <p:grpSpPr>
          <a:xfrm>
            <a:off x="4901067" y="6228380"/>
            <a:ext cx="576581" cy="1007270"/>
            <a:chOff x="529326" y="3417283"/>
            <a:chExt cx="384387" cy="671513"/>
          </a:xfrm>
        </p:grpSpPr>
        <p:sp>
          <p:nvSpPr>
            <p:cNvPr id="65" name="矩形 64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529326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x</a:t>
              </a:r>
              <a:r>
                <a:rPr lang="en-US" altLang="zh-TW" sz="3600" baseline="30000" dirty="0"/>
                <a:t>3</a:t>
              </a:r>
              <a:endParaRPr lang="zh-TW" altLang="en-US" sz="3600" baseline="30000" dirty="0"/>
            </a:p>
          </p:txBody>
        </p:sp>
      </p:grpSp>
      <p:sp>
        <p:nvSpPr>
          <p:cNvPr id="67" name="矩形 66"/>
          <p:cNvSpPr/>
          <p:nvPr/>
        </p:nvSpPr>
        <p:spPr>
          <a:xfrm>
            <a:off x="6072812" y="6219644"/>
            <a:ext cx="1448858" cy="10247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chemeClr val="bg2"/>
                </a:solidFill>
              </a:rPr>
              <a:t>NN</a:t>
            </a:r>
          </a:p>
        </p:txBody>
      </p:sp>
      <p:cxnSp>
        <p:nvCxnSpPr>
          <p:cNvPr id="68" name="直線單箭頭接點 67"/>
          <p:cNvCxnSpPr/>
          <p:nvPr/>
        </p:nvCxnSpPr>
        <p:spPr>
          <a:xfrm flipV="1">
            <a:off x="5421296" y="6732012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 flipV="1">
            <a:off x="7521669" y="6724202"/>
            <a:ext cx="6256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群組 69"/>
          <p:cNvGrpSpPr/>
          <p:nvPr/>
        </p:nvGrpSpPr>
        <p:grpSpPr>
          <a:xfrm>
            <a:off x="8156837" y="6228380"/>
            <a:ext cx="576581" cy="1007270"/>
            <a:chOff x="529327" y="3417283"/>
            <a:chExt cx="384387" cy="671513"/>
          </a:xfrm>
        </p:grpSpPr>
        <p:sp>
          <p:nvSpPr>
            <p:cNvPr id="71" name="矩形 70"/>
            <p:cNvSpPr/>
            <p:nvPr/>
          </p:nvSpPr>
          <p:spPr>
            <a:xfrm>
              <a:off x="557212" y="3417283"/>
              <a:ext cx="271463" cy="67151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3600" baseline="30000" dirty="0"/>
            </a:p>
          </p:txBody>
        </p:sp>
        <p:sp>
          <p:nvSpPr>
            <p:cNvPr id="72" name="矩形 71"/>
            <p:cNvSpPr/>
            <p:nvPr/>
          </p:nvSpPr>
          <p:spPr>
            <a:xfrm>
              <a:off x="529327" y="3522206"/>
              <a:ext cx="384387" cy="430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3600" dirty="0"/>
                <a:t>y</a:t>
              </a:r>
              <a:r>
                <a:rPr lang="en-US" altLang="zh-TW" sz="3600" baseline="30000" dirty="0"/>
                <a:t>3</a:t>
              </a:r>
              <a:endParaRPr lang="zh-TW" altLang="en-US" sz="3600" baseline="30000" dirty="0"/>
            </a:p>
          </p:txBody>
        </p:sp>
      </p:grpSp>
      <p:sp>
        <p:nvSpPr>
          <p:cNvPr id="73" name="矩形 72"/>
          <p:cNvSpPr/>
          <p:nvPr/>
        </p:nvSpPr>
        <p:spPr>
          <a:xfrm>
            <a:off x="9650948" y="6228380"/>
            <a:ext cx="407195" cy="1007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36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/>
              <p:cNvSpPr txBox="1"/>
              <p:nvPr/>
            </p:nvSpPr>
            <p:spPr>
              <a:xfrm>
                <a:off x="9650948" y="6471391"/>
                <a:ext cx="526415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4" name="文字方塊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948" y="6471391"/>
                <a:ext cx="526415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41" t="-16" r="-12624" b="1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左-右雙向箭號 74"/>
          <p:cNvSpPr/>
          <p:nvPr/>
        </p:nvSpPr>
        <p:spPr>
          <a:xfrm>
            <a:off x="8655285" y="6626733"/>
            <a:ext cx="903975" cy="271568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文字方塊 5"/>
          <p:cNvSpPr txBox="1"/>
          <p:nvPr/>
        </p:nvSpPr>
        <p:spPr>
          <a:xfrm>
            <a:off x="1487201" y="1989154"/>
            <a:ext cx="6827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For all training data …</a:t>
            </a:r>
            <a:endParaRPr lang="zh-TW" altLang="en-US" sz="4200" dirty="0"/>
          </a:p>
        </p:txBody>
      </p:sp>
      <p:pic>
        <p:nvPicPr>
          <p:cNvPr id="90" name="圖片 89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3658983" y="3471899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2" name="圖片 9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3627858" y="4888491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3" name="圖片 92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627858" y="6209381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4" name="圖片 93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3627858" y="8392467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2130748" y="1475513"/>
                <a:ext cx="2332990" cy="12896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altLang="zh-TW" sz="4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748" y="1475513"/>
                <a:ext cx="2332990" cy="1289685"/>
              </a:xfrm>
              <a:prstGeom prst="rect">
                <a:avLst/>
              </a:prstGeom>
              <a:blipFill rotWithShape="1">
                <a:blip r:embed="rId12"/>
                <a:stretch>
                  <a:fillRect l="-15" t="-32" r="-2381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/>
              <p:cNvSpPr txBox="1"/>
              <p:nvPr/>
            </p:nvSpPr>
            <p:spPr>
              <a:xfrm>
                <a:off x="10808970" y="6471391"/>
                <a:ext cx="5616363" cy="9541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schemeClr val="bg2"/>
                    </a:solidFill>
                  </a:rPr>
                  <a:t>Find </a:t>
                </a:r>
                <a:r>
                  <a:rPr lang="en-US" altLang="zh-TW" sz="2800" b="1" i="1" u="sng" dirty="0">
                    <a:solidFill>
                      <a:schemeClr val="bg2"/>
                    </a:solidFill>
                  </a:rPr>
                  <a:t>the network parameters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1" i="1" u="sng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800" b="1" i="1" u="sng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TW" sz="2800" b="1" i="1" u="sng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800" dirty="0">
                    <a:solidFill>
                      <a:schemeClr val="bg2"/>
                    </a:solidFill>
                  </a:rPr>
                  <a:t> that minimize total loss L</a:t>
                </a:r>
              </a:p>
            </p:txBody>
          </p:sp>
        </mc:Choice>
        <mc:Fallback>
          <p:sp>
            <p:nvSpPr>
              <p:cNvPr id="95" name="文字方塊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8970" y="6471391"/>
                <a:ext cx="5616363" cy="954107"/>
              </a:xfrm>
              <a:prstGeom prst="rect">
                <a:avLst/>
              </a:prstGeom>
              <a:blipFill>
                <a:blip r:embed="rId13"/>
                <a:stretch>
                  <a:fillRect l="-2247" t="-5063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/>
          <p:cNvSpPr txBox="1"/>
          <p:nvPr/>
        </p:nvSpPr>
        <p:spPr>
          <a:xfrm>
            <a:off x="9315533" y="1988472"/>
            <a:ext cx="2708409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Total Loss: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8921072" y="5528287"/>
                <a:ext cx="41148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072" y="5528287"/>
                <a:ext cx="411480" cy="648335"/>
              </a:xfrm>
              <a:prstGeom prst="rect">
                <a:avLst/>
              </a:prstGeom>
              <a:blipFill rotWithShape="1">
                <a:blip r:embed="rId14"/>
                <a:stretch>
                  <a:fillRect l="-144" t="-94" r="-16368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/>
              <p:cNvSpPr txBox="1"/>
              <p:nvPr/>
            </p:nvSpPr>
            <p:spPr>
              <a:xfrm>
                <a:off x="8930828" y="6842735"/>
                <a:ext cx="41148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8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828" y="6842735"/>
                <a:ext cx="411480" cy="648335"/>
              </a:xfrm>
              <a:prstGeom prst="rect">
                <a:avLst/>
              </a:prstGeom>
              <a:blipFill rotWithShape="1">
                <a:blip r:embed="rId15"/>
                <a:stretch>
                  <a:fillRect l="-46" t="-94" r="-16467" b="9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/>
              <p:cNvSpPr txBox="1"/>
              <p:nvPr/>
            </p:nvSpPr>
            <p:spPr>
              <a:xfrm>
                <a:off x="8942843" y="9041309"/>
                <a:ext cx="47498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9" name="文字方塊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843" y="9041309"/>
                <a:ext cx="474980" cy="648335"/>
              </a:xfrm>
              <a:prstGeom prst="rect">
                <a:avLst/>
              </a:prstGeom>
              <a:blipFill rotWithShape="1">
                <a:blip r:embed="rId16"/>
                <a:stretch>
                  <a:fillRect l="-29" t="-28" r="-13875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12023942" y="1437411"/>
            <a:ext cx="2775902" cy="1989908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1" name="文字方塊 80"/>
          <p:cNvSpPr txBox="1"/>
          <p:nvPr/>
        </p:nvSpPr>
        <p:spPr>
          <a:xfrm>
            <a:off x="10727055" y="4476115"/>
            <a:ext cx="5370830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Find </a:t>
            </a:r>
            <a:r>
              <a:rPr lang="en-US" altLang="zh-TW" sz="2800" b="1" i="1" u="sng" dirty="0"/>
              <a:t>a function in function set </a:t>
            </a:r>
            <a:r>
              <a:rPr lang="en-US" altLang="zh-TW" sz="2800" dirty="0"/>
              <a:t>that minimizes total loss L</a:t>
            </a:r>
            <a:endParaRPr lang="zh-TW" altLang="en-US" sz="2800" dirty="0"/>
          </a:p>
        </p:txBody>
      </p:sp>
      <p:sp>
        <p:nvSpPr>
          <p:cNvPr id="4" name="向下箭號 3"/>
          <p:cNvSpPr/>
          <p:nvPr/>
        </p:nvSpPr>
        <p:spPr>
          <a:xfrm>
            <a:off x="12889109" y="3548156"/>
            <a:ext cx="1046136" cy="83141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2" name="向下箭號 81"/>
          <p:cNvSpPr/>
          <p:nvPr/>
        </p:nvSpPr>
        <p:spPr>
          <a:xfrm>
            <a:off x="12889109" y="5556442"/>
            <a:ext cx="1046136" cy="80012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83" name="圖片 82"/>
          <p:cNvPicPr preferRelativeResize="0"/>
          <p:nvPr/>
        </p:nvPicPr>
        <p:blipFill>
          <a:blip r:embed="rId17"/>
          <a:stretch>
            <a:fillRect/>
          </a:stretch>
        </p:blipFill>
        <p:spPr>
          <a:xfrm>
            <a:off x="3626799" y="6205460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4" name="圖片 83"/>
          <p:cNvPicPr preferRelativeResize="0"/>
          <p:nvPr/>
        </p:nvPicPr>
        <p:blipFill>
          <a:blip r:embed="rId18"/>
          <a:stretch>
            <a:fillRect/>
          </a:stretch>
        </p:blipFill>
        <p:spPr>
          <a:xfrm>
            <a:off x="3625901" y="8409933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5" name="圖片 84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3622437" y="8401200"/>
            <a:ext cx="1080000" cy="108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28" grpId="0" bldLvl="0" animBg="1"/>
      <p:bldP spid="29" grpId="0" bldLvl="0" animBg="1"/>
      <p:bldP spid="30" grpId="0"/>
      <p:bldP spid="31" grpId="0"/>
      <p:bldP spid="47" grpId="0" bldLvl="0" animBg="1"/>
      <p:bldP spid="48" grpId="0" bldLvl="0" animBg="1"/>
      <p:bldP spid="49" grpId="0" bldLvl="0" animBg="1"/>
      <p:bldP spid="50" grpId="0"/>
      <p:bldP spid="51" grpId="0"/>
      <p:bldP spid="52" grpId="0"/>
      <p:bldP spid="53" grpId="0" bldLvl="0" animBg="1"/>
      <p:bldP spid="54" grpId="0" bldLvl="0" animBg="1"/>
      <p:bldP spid="55" grpId="0" bldLvl="0" animBg="1"/>
      <p:bldP spid="56" grpId="0"/>
      <p:bldP spid="59" grpId="0"/>
      <p:bldP spid="60" grpId="0"/>
      <p:bldP spid="67" grpId="0" bldLvl="0" animBg="1"/>
      <p:bldP spid="73" grpId="0" bldLvl="0" animBg="1"/>
      <p:bldP spid="74" grpId="0"/>
      <p:bldP spid="75" grpId="0" bldLvl="0" animBg="1"/>
      <p:bldP spid="7" grpId="0"/>
      <p:bldP spid="95" grpId="0" bldLvl="0" animBg="1"/>
      <p:bldP spid="77" grpId="0"/>
      <p:bldP spid="76" grpId="0"/>
      <p:bldP spid="78" grpId="0"/>
      <p:bldP spid="79" grpId="0"/>
      <p:bldP spid="9" grpId="0" bldLvl="0" animBg="1"/>
      <p:bldP spid="81" grpId="0" bldLvl="0" animBg="1"/>
      <p:bldP spid="4" grpId="0" bldLvl="0" animBg="1"/>
      <p:bldP spid="8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3228975" y="1451773"/>
          <a:ext cx="1183005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Three Steps for Deep Learning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034352" y="2240701"/>
            <a:ext cx="6736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Deep Learning is so simple ……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1823263" y="3484944"/>
            <a:ext cx="3389586" cy="253060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文字方塊 7"/>
          <p:cNvSpPr txBox="1"/>
          <p:nvPr/>
        </p:nvSpPr>
        <p:spPr>
          <a:xfrm>
            <a:off x="3383982" y="4549811"/>
            <a:ext cx="2790410" cy="1383665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Neural </a:t>
            </a:r>
          </a:p>
          <a:p>
            <a:pPr algn="ctr"/>
            <a:r>
              <a:rPr lang="en-US" altLang="zh-TW" sz="4200" dirty="0">
                <a:solidFill>
                  <a:schemeClr val="bg2"/>
                </a:solidFill>
              </a:rPr>
              <a:t>Network</a:t>
            </a:r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5019675" y="6456680"/>
            <a:ext cx="8764905" cy="29959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709834" y="3504548"/>
                <a:ext cx="58547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3504548"/>
                <a:ext cx="585470" cy="648335"/>
              </a:xfrm>
              <a:prstGeom prst="rect">
                <a:avLst/>
              </a:prstGeom>
              <a:blipFill rotWithShape="1">
                <a:blip r:embed="rId2"/>
                <a:stretch>
                  <a:fillRect l="-49" t="-95" r="-13291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117629" y="3022157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3022157"/>
                <a:ext cx="4679262" cy="648335"/>
              </a:xfrm>
              <a:prstGeom prst="rect">
                <a:avLst/>
              </a:prstGeom>
              <a:blipFill rotWithShape="1">
                <a:blip r:embed="rId3"/>
                <a:stretch>
                  <a:fillRect l="-6" t="-30" r="5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48410" y="3308057"/>
            <a:ext cx="794196" cy="64567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向右箭號 7"/>
          <p:cNvSpPr/>
          <p:nvPr/>
        </p:nvSpPr>
        <p:spPr>
          <a:xfrm>
            <a:off x="4510868" y="3576155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044355" y="4013682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4013682"/>
                <a:ext cx="2833578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19" t="-74" r="4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8616947" y="3505524"/>
            <a:ext cx="1128344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0.15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709834" y="5323548"/>
                <a:ext cx="59055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5323548"/>
                <a:ext cx="590550" cy="648335"/>
              </a:xfrm>
              <a:prstGeom prst="rect">
                <a:avLst/>
              </a:prstGeom>
              <a:blipFill rotWithShape="1">
                <a:blip r:embed="rId5"/>
                <a:stretch>
                  <a:fillRect l="-49" t="-53" r="-12747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117629" y="4841157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4841157"/>
                <a:ext cx="4679262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6" t="-85" r="5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向右箭號 17"/>
          <p:cNvSpPr/>
          <p:nvPr/>
        </p:nvSpPr>
        <p:spPr>
          <a:xfrm>
            <a:off x="4510868" y="5395155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044355" y="5832683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5832683"/>
                <a:ext cx="2833578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19" t="-32" r="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8616947" y="5324525"/>
            <a:ext cx="1128344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0.05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709834" y="7655964"/>
                <a:ext cx="49403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7655964"/>
                <a:ext cx="494030" cy="648335"/>
              </a:xfrm>
              <a:prstGeom prst="rect">
                <a:avLst/>
              </a:prstGeom>
              <a:blipFill rotWithShape="1">
                <a:blip r:embed="rId8"/>
                <a:stretch>
                  <a:fillRect l="-58" t="-62" r="-15751" b="6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4117629" y="7173573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7173573"/>
                <a:ext cx="4679262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6" t="-95" r="5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向右箭號 27"/>
          <p:cNvSpPr/>
          <p:nvPr/>
        </p:nvSpPr>
        <p:spPr>
          <a:xfrm>
            <a:off x="4510868" y="7727571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044355" y="8165099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8165099"/>
                <a:ext cx="2833578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19" t="-41" r="4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8616947" y="7656941"/>
            <a:ext cx="112834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0.2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 rot="5400000">
            <a:off x="2506238" y="6642560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6" name="文字方塊 35"/>
          <p:cNvSpPr txBox="1"/>
          <p:nvPr/>
        </p:nvSpPr>
        <p:spPr>
          <a:xfrm rot="5400000">
            <a:off x="2506238" y="9098876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3531783" y="3447380"/>
            <a:ext cx="1128344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0.2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531783" y="5266380"/>
            <a:ext cx="1128344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-0.1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531783" y="7598796"/>
            <a:ext cx="112834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0.3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2586323" y="2547413"/>
                <a:ext cx="60071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323" y="2547413"/>
                <a:ext cx="600710" cy="848995"/>
              </a:xfrm>
              <a:prstGeom prst="rect">
                <a:avLst/>
              </a:prstGeom>
              <a:blipFill rotWithShape="1">
                <a:blip r:embed="rId11"/>
                <a:stretch>
                  <a:fillRect l="-100" t="-50" r="100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2980277" y="3213936"/>
                <a:ext cx="1371600" cy="5208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4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TW" sz="4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42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altLang="zh-TW" sz="42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TW" sz="4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TW" sz="4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zh-TW" altLang="en-US" sz="42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4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en-US" altLang="zh-TW" sz="4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TW" sz="4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sz="4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zh-TW" altLang="en-US" sz="42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0277" y="3213936"/>
                <a:ext cx="1371600" cy="5208905"/>
              </a:xfrm>
              <a:prstGeom prst="rect">
                <a:avLst/>
              </a:prstGeom>
              <a:blipFill rotWithShape="1">
                <a:blip r:embed="rId12"/>
                <a:stretch>
                  <a:fillRect l="-18" t="-4" r="-6001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11415900" y="5502401"/>
                <a:ext cx="1224280" cy="757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5900" y="5502401"/>
                <a:ext cx="1224280" cy="757555"/>
              </a:xfrm>
              <a:prstGeom prst="rect">
                <a:avLst/>
              </a:prstGeom>
              <a:blipFill rotWithShape="1">
                <a:blip r:embed="rId13"/>
                <a:stretch>
                  <a:fillRect l="-41" t="-17" r="-6961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/>
          <p:cNvSpPr txBox="1"/>
          <p:nvPr/>
        </p:nvSpPr>
        <p:spPr>
          <a:xfrm>
            <a:off x="11253284" y="8600790"/>
            <a:ext cx="34539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gradient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bldLvl="0" animBg="1"/>
      <p:bldP spid="8" grpId="0" bldLvl="0" animBg="1"/>
      <p:bldP spid="9" grpId="0"/>
      <p:bldP spid="10" grpId="0" bldLvl="0" animBg="1"/>
      <p:bldP spid="15" grpId="0"/>
      <p:bldP spid="16" grpId="0"/>
      <p:bldP spid="18" grpId="0" bldLvl="0" animBg="1"/>
      <p:bldP spid="19" grpId="0"/>
      <p:bldP spid="20" grpId="0" bldLvl="0" animBg="1"/>
      <p:bldP spid="25" grpId="0"/>
      <p:bldP spid="26" grpId="0"/>
      <p:bldP spid="28" grpId="0" bldLvl="0" animBg="1"/>
      <p:bldP spid="29" grpId="0"/>
      <p:bldP spid="30" grpId="0" bldLvl="0" animBg="1"/>
      <p:bldP spid="35" grpId="0"/>
      <p:bldP spid="36" grpId="0"/>
      <p:bldP spid="6" grpId="0" bldLvl="0" animBg="1"/>
      <p:bldP spid="17" grpId="0" bldLvl="0" animBg="1"/>
      <p:bldP spid="27" grpId="0" bldLvl="0" animBg="1"/>
      <p:bldP spid="40" grpId="0"/>
      <p:bldP spid="3" grpId="0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709834" y="3504548"/>
                <a:ext cx="58547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3504548"/>
                <a:ext cx="585470" cy="648335"/>
              </a:xfrm>
              <a:prstGeom prst="rect">
                <a:avLst/>
              </a:prstGeom>
              <a:blipFill rotWithShape="1">
                <a:blip r:embed="rId2"/>
                <a:stretch>
                  <a:fillRect l="-49" t="-95" r="-13291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117629" y="3022157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3022157"/>
                <a:ext cx="4679262" cy="648335"/>
              </a:xfrm>
              <a:prstGeom prst="rect">
                <a:avLst/>
              </a:prstGeom>
              <a:blipFill rotWithShape="1">
                <a:blip r:embed="rId3"/>
                <a:stretch>
                  <a:fillRect l="-6" t="-30" r="5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48410" y="3308057"/>
            <a:ext cx="794196" cy="64567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向右箭號 7"/>
          <p:cNvSpPr/>
          <p:nvPr/>
        </p:nvSpPr>
        <p:spPr>
          <a:xfrm>
            <a:off x="4510868" y="3576155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044355" y="4013682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4013682"/>
                <a:ext cx="2833578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19" t="-74" r="4" b="7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8616947" y="3505524"/>
            <a:ext cx="1128344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0.15</a:t>
            </a:r>
            <a:endParaRPr lang="zh-TW" altLang="en-US" sz="3600" dirty="0"/>
          </a:p>
        </p:txBody>
      </p:sp>
      <p:sp>
        <p:nvSpPr>
          <p:cNvPr id="11" name="向右箭號 10"/>
          <p:cNvSpPr/>
          <p:nvPr/>
        </p:nvSpPr>
        <p:spPr>
          <a:xfrm>
            <a:off x="9805803" y="3489984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10339290" y="3927511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290" y="3927511"/>
                <a:ext cx="2833578" cy="648335"/>
              </a:xfrm>
              <a:prstGeom prst="rect">
                <a:avLst/>
              </a:prstGeom>
              <a:blipFill rotWithShape="1">
                <a:blip r:embed="rId4"/>
                <a:stretch>
                  <a:fillRect l="-8" t="-6" r="15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9379526" y="3006806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526" y="3006806"/>
                <a:ext cx="4679262" cy="648335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r="11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/>
          <p:cNvSpPr txBox="1"/>
          <p:nvPr/>
        </p:nvSpPr>
        <p:spPr>
          <a:xfrm>
            <a:off x="13945884" y="3512401"/>
            <a:ext cx="1128344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0.09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709834" y="5323548"/>
                <a:ext cx="59055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5323548"/>
                <a:ext cx="590550" cy="648335"/>
              </a:xfrm>
              <a:prstGeom prst="rect">
                <a:avLst/>
              </a:prstGeom>
              <a:blipFill rotWithShape="1">
                <a:blip r:embed="rId5"/>
                <a:stretch>
                  <a:fillRect l="-49" t="-53" r="-12747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4117629" y="4841157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4841157"/>
                <a:ext cx="4679262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6" t="-85" r="5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向右箭號 17"/>
          <p:cNvSpPr/>
          <p:nvPr/>
        </p:nvSpPr>
        <p:spPr>
          <a:xfrm>
            <a:off x="4510868" y="5395155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044355" y="5832683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5832683"/>
                <a:ext cx="2833578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19" t="-32" r="4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8616947" y="5324525"/>
            <a:ext cx="1128344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0.05</a:t>
            </a:r>
            <a:endParaRPr lang="zh-TW" altLang="en-US" sz="3600" dirty="0"/>
          </a:p>
        </p:txBody>
      </p:sp>
      <p:sp>
        <p:nvSpPr>
          <p:cNvPr id="21" name="向右箭號 20"/>
          <p:cNvSpPr/>
          <p:nvPr/>
        </p:nvSpPr>
        <p:spPr>
          <a:xfrm>
            <a:off x="9805803" y="5308985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10339290" y="5746512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290" y="5746512"/>
                <a:ext cx="2833578" cy="648335"/>
              </a:xfrm>
              <a:prstGeom prst="rect">
                <a:avLst/>
              </a:prstGeom>
              <a:blipFill rotWithShape="1">
                <a:blip r:embed="rId7"/>
                <a:stretch>
                  <a:fillRect l="-8" t="-61" r="15" b="6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9379526" y="4825806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526" y="4825806"/>
                <a:ext cx="4679262" cy="648335"/>
              </a:xfrm>
              <a:prstGeom prst="rect">
                <a:avLst/>
              </a:prstGeom>
              <a:blipFill rotWithShape="1">
                <a:blip r:embed="rId6"/>
                <a:stretch>
                  <a:fillRect l="-12" t="-68" r="11" b="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13945884" y="5331402"/>
            <a:ext cx="1128344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0.15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709834" y="7655964"/>
                <a:ext cx="494030" cy="648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34" y="7655964"/>
                <a:ext cx="494030" cy="648335"/>
              </a:xfrm>
              <a:prstGeom prst="rect">
                <a:avLst/>
              </a:prstGeom>
              <a:blipFill rotWithShape="1">
                <a:blip r:embed="rId8"/>
                <a:stretch>
                  <a:fillRect l="-58" t="-62" r="-15751" b="6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4117629" y="7173573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629" y="7173573"/>
                <a:ext cx="4679262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6" t="-95" r="5" b="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向右箭號 27"/>
          <p:cNvSpPr/>
          <p:nvPr/>
        </p:nvSpPr>
        <p:spPr>
          <a:xfrm>
            <a:off x="4510868" y="7727571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5044355" y="8165099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355" y="8165099"/>
                <a:ext cx="2833578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19" t="-41" r="4" b="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8616947" y="7656941"/>
            <a:ext cx="112834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0.2</a:t>
            </a:r>
            <a:endParaRPr lang="zh-TW" altLang="en-US" sz="3600" dirty="0"/>
          </a:p>
        </p:txBody>
      </p:sp>
      <p:sp>
        <p:nvSpPr>
          <p:cNvPr id="31" name="向右箭號 30"/>
          <p:cNvSpPr/>
          <p:nvPr/>
        </p:nvSpPr>
        <p:spPr>
          <a:xfrm>
            <a:off x="9805803" y="7641401"/>
            <a:ext cx="4079568" cy="49793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0339290" y="8078928"/>
                <a:ext cx="2833578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type m:val="lin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290" y="8078928"/>
                <a:ext cx="2833578" cy="648335"/>
              </a:xfrm>
              <a:prstGeom prst="rect">
                <a:avLst/>
              </a:prstGeom>
              <a:blipFill rotWithShape="1">
                <a:blip r:embed="rId10"/>
                <a:stretch>
                  <a:fillRect l="-8" t="-71" r="15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9379526" y="7158222"/>
                <a:ext cx="4679262" cy="6483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TW" sz="3600" dirty="0"/>
                  <a:t>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526" y="7158222"/>
                <a:ext cx="4679262" cy="648335"/>
              </a:xfrm>
              <a:prstGeom prst="rect">
                <a:avLst/>
              </a:prstGeom>
              <a:blipFill rotWithShape="1">
                <a:blip r:embed="rId9"/>
                <a:stretch>
                  <a:fillRect l="-12" t="-77" r="11" b="7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/>
          <p:cNvSpPr txBox="1"/>
          <p:nvPr/>
        </p:nvSpPr>
        <p:spPr>
          <a:xfrm>
            <a:off x="13945884" y="7663818"/>
            <a:ext cx="112834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0.10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 rot="5400000">
            <a:off x="2506238" y="6642560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6" name="文字方塊 35"/>
          <p:cNvSpPr txBox="1"/>
          <p:nvPr/>
        </p:nvSpPr>
        <p:spPr>
          <a:xfrm rot="5400000">
            <a:off x="2506238" y="9098876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3531783" y="3447380"/>
            <a:ext cx="1128344" cy="645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0.2</a:t>
            </a:r>
            <a:endParaRPr lang="zh-TW" altLang="en-US" sz="36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3531783" y="5266380"/>
            <a:ext cx="1128344" cy="6451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-0.1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3531783" y="7598796"/>
            <a:ext cx="1128344" cy="6451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0.3</a:t>
            </a:r>
            <a:endParaRPr lang="zh-TW" altLang="en-US" sz="3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4809982" y="3946776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4791277" y="5948049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14791275" y="8209962"/>
            <a:ext cx="11920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/>
              <a:t>…</a:t>
            </a:r>
            <a:endParaRPr lang="zh-TW" altLang="en-US" sz="4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2586323" y="2547413"/>
                <a:ext cx="600710" cy="848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2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323" y="2547413"/>
                <a:ext cx="600710" cy="848995"/>
              </a:xfrm>
              <a:prstGeom prst="rect">
                <a:avLst/>
              </a:prstGeom>
              <a:blipFill rotWithShape="1">
                <a:blip r:embed="rId11"/>
                <a:stretch>
                  <a:fillRect l="-100" t="-50" r="100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/>
      <p:bldP spid="13" grpId="0"/>
      <p:bldP spid="14" grpId="0" bldLvl="0" animBg="1"/>
      <p:bldP spid="21" grpId="0" bldLvl="0" animBg="1"/>
      <p:bldP spid="22" grpId="0"/>
      <p:bldP spid="23" grpId="0"/>
      <p:bldP spid="24" grpId="0" bldLvl="0" animBg="1"/>
      <p:bldP spid="31" grpId="0" bldLvl="0" animBg="1"/>
      <p:bldP spid="32" grpId="0"/>
      <p:bldP spid="33" grpId="0"/>
      <p:bldP spid="34" grpId="0" bldLvl="0" animBg="1"/>
      <p:bldP spid="37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Gradient Descent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496945" y="2697480"/>
            <a:ext cx="1301305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This is the “learning” of machines in deep learning ……</a:t>
            </a:r>
            <a:endParaRPr lang="zh-TW" altLang="en-US" sz="4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6175375" y="4327525"/>
            <a:ext cx="89973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Even alpha go using this approach.</a:t>
            </a:r>
            <a:endParaRPr lang="zh-TW" altLang="en-US" sz="42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341603" y="5311871"/>
            <a:ext cx="915170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I hope you are not too disappointed :p</a:t>
            </a:r>
            <a:endParaRPr lang="zh-TW" altLang="en-US" sz="4200" dirty="0"/>
          </a:p>
        </p:txBody>
      </p:sp>
      <p:sp>
        <p:nvSpPr>
          <p:cNvPr id="7" name="向右箭號 6"/>
          <p:cNvSpPr/>
          <p:nvPr/>
        </p:nvSpPr>
        <p:spPr>
          <a:xfrm>
            <a:off x="4463109" y="4427501"/>
            <a:ext cx="1152939" cy="53758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915" y="6177280"/>
            <a:ext cx="3797300" cy="379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 descr="http://cdn.geekwire.com/wp-content/uploads/2015/11/google-Tensor-Flo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720" y="3810237"/>
            <a:ext cx="2428101" cy="197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Backpropagation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sz="3600" dirty="0"/>
                  <a:t>Backpropagation: an efficient way to compute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TW" sz="3600" dirty="0"/>
                  <a:t> in neural network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t="-4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 descr="http://deeplearning.net/software/theano/_static/theano_logo_allblue_200x4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511" y="4439793"/>
            <a:ext cx="3129513" cy="71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http://devblogs.nvidia.com/parallelforall/wp-content/uploads/sites/3/2015/03/torch_lstm_thumb-179x115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313" y="4056074"/>
            <a:ext cx="2456051" cy="157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https://developer.nvidia.com/sites/default/files/akamai/cuda/images/deeplearning/caff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457" y="5850083"/>
            <a:ext cx="2340254" cy="157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https://developer.nvidia.com/sites/default/files/akamai/cuda/images/deeplearning/cntk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289" y="5677776"/>
            <a:ext cx="2505818" cy="169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1311" y="6211617"/>
            <a:ext cx="2961396" cy="856602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064" y="7575653"/>
            <a:ext cx="2310785" cy="869013"/>
          </a:xfrm>
          <a:prstGeom prst="rect">
            <a:avLst/>
          </a:prstGeom>
        </p:spPr>
      </p:pic>
      <p:pic>
        <p:nvPicPr>
          <p:cNvPr id="24" name="Picture 2" descr="スクリーンショット 2016-05-24 午後4.01.50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461" y="7570176"/>
            <a:ext cx="4106111" cy="91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210C9158-F631-4A98-8689-80FFCB1FBF93}"/>
</file>

<file path=customXml/itemProps2.xml><?xml version="1.0" encoding="utf-8"?>
<ds:datastoreItem xmlns:ds="http://schemas.openxmlformats.org/officeDocument/2006/customXml" ds:itemID="{126BA2F6-FADC-42A4-8A8B-4D53F0F285E8}"/>
</file>

<file path=customXml/itemProps3.xml><?xml version="1.0" encoding="utf-8"?>
<ds:datastoreItem xmlns:ds="http://schemas.openxmlformats.org/officeDocument/2006/customXml" ds:itemID="{DFEE8E30-E1BF-484A-B2ED-7F6089F85995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311</Words>
  <Application>Microsoft Macintosh PowerPoint</Application>
  <PresentationFormat>Custom</PresentationFormat>
  <Paragraphs>145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DejaVu Math TeX Gyre</vt:lpstr>
      <vt:lpstr>Arial</vt:lpstr>
      <vt:lpstr>Calibri</vt:lpstr>
      <vt:lpstr>Cambria Math</vt:lpstr>
      <vt:lpstr>Wingdings 2</vt:lpstr>
      <vt:lpstr>Breeze</vt:lpstr>
      <vt:lpstr>方程式</vt:lpstr>
      <vt:lpstr>Loss Function</vt:lpstr>
      <vt:lpstr>Three Steps for Deep Learning</vt:lpstr>
      <vt:lpstr>Loss for an Example</vt:lpstr>
      <vt:lpstr>Total Loss</vt:lpstr>
      <vt:lpstr>Three Steps for Deep Learning</vt:lpstr>
      <vt:lpstr>Gradient Descent</vt:lpstr>
      <vt:lpstr>Gradient Descent</vt:lpstr>
      <vt:lpstr>Gradient Descent</vt:lpstr>
      <vt:lpstr>Backpropagation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43</cp:revision>
  <dcterms:created xsi:type="dcterms:W3CDTF">2024-02-23T22:11:31Z</dcterms:created>
  <dcterms:modified xsi:type="dcterms:W3CDTF">2024-03-27T20:42:16Z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80571152E56347599AA16EC9CFB2CDE3_12</vt:lpwstr>
  </property>
  <property fmtid="{D5CDD505-2E9C-101B-9397-08002B2CF9AE}" pid="5" name="KSOProductBuildVer">
    <vt:lpwstr>1033-5.6.0.8082</vt:lpwstr>
  </property>
</Properties>
</file>