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59" r:id="rId5"/>
    <p:sldId id="267" r:id="rId6"/>
    <p:sldId id="268" r:id="rId7"/>
    <p:sldId id="269" r:id="rId8"/>
    <p:sldId id="270" r:id="rId9"/>
    <p:sldId id="271" r:id="rId10"/>
  </p:sldIdLst>
  <p:sldSz cx="18288000" cy="10287000"/>
  <p:notesSz cx="6858000" cy="9144000"/>
  <p:custDataLst>
    <p:tags r:id="rId12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8"/>
    <p:restoredTop sz="93788"/>
  </p:normalViewPr>
  <p:slideViewPr>
    <p:cSldViewPr snapToGrid="0" snapToObjects="1" showGuides="1">
      <p:cViewPr varScale="1">
        <p:scale>
          <a:sx n="66" d="100"/>
          <a:sy n="66" d="100"/>
        </p:scale>
        <p:origin x="232" y="36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6F32D73A-7700-494B-BA03-BF73723DCA21}"/>
    <pc:docChg chg="modSld">
      <pc:chgData name="Kaiang Wen" userId="a219f04c-ae7d-4ada-9001-a33e528312f1" providerId="ADAL" clId="{6F32D73A-7700-494B-BA03-BF73723DCA21}" dt="2024-02-20T06:40:32.447" v="2"/>
      <pc:docMkLst>
        <pc:docMk/>
      </pc:docMkLst>
      <pc:sldChg chg="modSp mod">
        <pc:chgData name="Kaiang Wen" userId="a219f04c-ae7d-4ada-9001-a33e528312f1" providerId="ADAL" clId="{6F32D73A-7700-494B-BA03-BF73723DCA21}" dt="2024-02-20T06:35:23.456" v="1" actId="1440"/>
        <pc:sldMkLst>
          <pc:docMk/>
          <pc:sldMk cId="0" sldId="268"/>
        </pc:sldMkLst>
        <pc:picChg chg="mod">
          <ac:chgData name="Kaiang Wen" userId="a219f04c-ae7d-4ada-9001-a33e528312f1" providerId="ADAL" clId="{6F32D73A-7700-494B-BA03-BF73723DCA21}" dt="2024-02-20T06:35:23.456" v="1" actId="1440"/>
          <ac:picMkLst>
            <pc:docMk/>
            <pc:sldMk cId="0" sldId="268"/>
            <ac:picMk id="102" creationId="{00000000-0000-0000-0000-000000000000}"/>
          </ac:picMkLst>
        </pc:picChg>
      </pc:sldChg>
      <pc:sldChg chg="modSp mod">
        <pc:chgData name="Kaiang Wen" userId="a219f04c-ae7d-4ada-9001-a33e528312f1" providerId="ADAL" clId="{6F32D73A-7700-494B-BA03-BF73723DCA21}" dt="2024-02-20T06:35:19.603" v="0" actId="1440"/>
        <pc:sldMkLst>
          <pc:docMk/>
          <pc:sldMk cId="0" sldId="271"/>
        </pc:sldMkLst>
        <pc:picChg chg="mod">
          <ac:chgData name="Kaiang Wen" userId="a219f04c-ae7d-4ada-9001-a33e528312f1" providerId="ADAL" clId="{6F32D73A-7700-494B-BA03-BF73723DCA21}" dt="2024-02-20T06:35:19.603" v="0" actId="1440"/>
          <ac:picMkLst>
            <pc:docMk/>
            <pc:sldMk cId="0" sldId="271"/>
            <ac:picMk id="103" creationId="{00000000-0000-0000-0000-000000000000}"/>
          </ac:picMkLst>
        </pc:picChg>
      </pc:sldChg>
      <pc:sldChg chg="modSp mod">
        <pc:chgData name="Kaiang Wen" userId="a219f04c-ae7d-4ada-9001-a33e528312f1" providerId="ADAL" clId="{6F32D73A-7700-494B-BA03-BF73723DCA21}" dt="2024-02-20T06:40:32.447" v="2"/>
        <pc:sldMkLst>
          <pc:docMk/>
          <pc:sldMk cId="0" sldId="294"/>
        </pc:sldMkLst>
        <pc:spChg chg="mod">
          <ac:chgData name="Kaiang Wen" userId="a219f04c-ae7d-4ada-9001-a33e528312f1" providerId="ADAL" clId="{6F32D73A-7700-494B-BA03-BF73723DCA21}" dt="2024-02-20T06:40:32.447" v="2"/>
          <ac:spMkLst>
            <pc:docMk/>
            <pc:sldMk cId="0" sldId="29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</p:spPr>
        <p:txBody>
          <a:bodyPr/>
          <a:lstStyle/>
          <a:p>
            <a:fld id="{C289D5CA-9A1A-7E44-A33F-3AF1DC69CE4C}" type="datetimeFigureOut">
              <a:rPr lang="en-US" smtClean="0"/>
              <a:t>3/26/24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692CC0E-810E-AA47-B878-4634308020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</p:spPr>
        <p:txBody>
          <a:bodyPr/>
          <a:lstStyle/>
          <a:p>
            <a:fld id="{C289D5CA-9A1A-7E44-A33F-3AF1DC69CE4C}" type="datetimeFigureOut">
              <a:rPr lang="en-US" smtClean="0"/>
              <a:t>3/26/24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692CC0E-810E-AA47-B878-4634308020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yyan34@ii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github.com/activities/hello-world/" TargetMode="External"/><Relationship Id="rId2" Type="http://schemas.openxmlformats.org/officeDocument/2006/relationships/hyperlink" Target="https://machinelearningmastery.com/machine-learning-in-python-step-by-ste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CS 577</a:t>
            </a:r>
            <a:br>
              <a:rPr lang="en-US"/>
            </a:br>
            <a:r>
              <a:rPr lang="en-US"/>
              <a:t>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791199"/>
            <a:ext cx="12998450" cy="7289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5400" y="2407277"/>
            <a:ext cx="15697200" cy="5077257"/>
          </a:xfrm>
        </p:spPr>
        <p:txBody>
          <a:bodyPr>
            <a:noAutofit/>
          </a:bodyPr>
          <a:lstStyle/>
          <a:p>
            <a:r>
              <a:rPr lang="en-US" sz="3000" dirty="0"/>
              <a:t>Instructor: Dr. Yan Yan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/>
              <a:t>Email: </a:t>
            </a:r>
            <a:r>
              <a:rPr lang="en-US" sz="3000" dirty="0">
                <a:hlinkClick r:id="rId2"/>
              </a:rPr>
              <a:t>yyan34@iit.edu</a:t>
            </a:r>
            <a:endParaRPr lang="en-US" sz="3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i="1" dirty="0"/>
              <a:t>Assistant Professor </a:t>
            </a:r>
            <a:r>
              <a:rPr lang="en-US" sz="3000" dirty="0"/>
              <a:t>in the Department of Computer Science at Illinois Tech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/>
              <a:t>Research Areas: Computer Vision, Machine Learning, Multimedia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/>
              <a:t>Published 100+ research papers in top CV, ML, AI conferences and journals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/>
              <a:t>Served as area chairs in top conferences and associated editors in different journals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dirty="0"/>
              <a:t>Class TAs: handle all homework questions, python coding questions and gradings</a:t>
            </a:r>
          </a:p>
          <a:p>
            <a:pPr marL="400050" lvl="2" indent="0">
              <a:buNone/>
            </a:pPr>
            <a:endParaRPr lang="en-US" sz="2400" dirty="0"/>
          </a:p>
          <a:p>
            <a:pPr marL="742950" lvl="2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B7CFA7D8-35C9-C54B-B306-E9537D7350C6}" type="slidenum">
              <a:rPr lang="en-US" sz="100" smtClean="0"/>
              <a:t>2</a:t>
            </a:fld>
            <a:endParaRPr lang="en-US" sz="1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2"/>
            <a:ext cx="18288000" cy="1538868"/>
          </a:xfrm>
        </p:spPr>
        <p:txBody>
          <a:bodyPr/>
          <a:lstStyle/>
          <a:p>
            <a:pPr algn="ctr"/>
            <a:r>
              <a:rPr lang="en-US" dirty="0"/>
              <a:t>Instructor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5501" y="4038600"/>
            <a:ext cx="12090399" cy="27008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Course Textbook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b="1" i="1" dirty="0"/>
              <a:t>Deep Learning, </a:t>
            </a:r>
            <a:r>
              <a:rPr lang="en-US" sz="2600" dirty="0"/>
              <a:t>by Ian Goodfellow, </a:t>
            </a:r>
            <a:r>
              <a:rPr lang="en-US" sz="2600" dirty="0" err="1"/>
              <a:t>Yoshua</a:t>
            </a:r>
            <a:r>
              <a:rPr lang="en-US" sz="2600" dirty="0"/>
              <a:t> </a:t>
            </a:r>
            <a:r>
              <a:rPr lang="en-US" sz="2600" dirty="0" err="1"/>
              <a:t>Bengio</a:t>
            </a:r>
            <a:r>
              <a:rPr lang="en-US" sz="2600" dirty="0"/>
              <a:t> and Aaron Courville, 2016</a:t>
            </a:r>
          </a:p>
          <a:p>
            <a:r>
              <a:rPr lang="en-US" dirty="0"/>
              <a:t>Handouts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Research Papers, Slides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B7CFA7D8-35C9-C54B-B306-E9537D7350C6}" type="slidenum">
              <a:rPr lang="en-US" sz="100" smtClean="0"/>
              <a:t>3</a:t>
            </a:fld>
            <a:endParaRPr lang="en-US" sz="1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988345"/>
          </a:xfrm>
        </p:spPr>
        <p:txBody>
          <a:bodyPr/>
          <a:lstStyle/>
          <a:p>
            <a:pPr algn="ctr"/>
            <a:r>
              <a:rPr lang="en-US" dirty="0"/>
              <a:t>Course Information</a:t>
            </a:r>
          </a:p>
        </p:txBody>
      </p:sp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13824374" y="2359342"/>
            <a:ext cx="3848735" cy="5568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12795" y="2014855"/>
            <a:ext cx="12824672" cy="6875145"/>
          </a:xfrm>
        </p:spPr>
        <p:txBody>
          <a:bodyPr>
            <a:noAutofit/>
          </a:bodyPr>
          <a:lstStyle/>
          <a:p>
            <a:r>
              <a:rPr lang="en-US" sz="2400" b="1" dirty="0"/>
              <a:t>Topics to be covered in the course: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1. Neural Network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2. Convolutional Neural Networks (CNNs)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3. Recurrent Neural Network (RNNs)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4. Deep Learning Tips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5. </a:t>
            </a:r>
            <a:r>
              <a:rPr lang="en-US" sz="2400" dirty="0">
                <a:sym typeface="+mn-ea"/>
              </a:rPr>
              <a:t>Self-attention and Transformer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6. Generative Adversarial Networks (GANs) and Diffusion Models (DMs)</a:t>
            </a:r>
            <a:endParaRPr lang="en-US" sz="2400" dirty="0">
              <a:sym typeface="+mn-ea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7. Neural Network Compression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Module 8. Transfer Learning </a:t>
            </a:r>
          </a:p>
          <a:p>
            <a:pPr marL="698500" lvl="1" indent="0">
              <a:buNone/>
            </a:pPr>
            <a:endParaRPr lang="en-US" sz="2400" dirty="0"/>
          </a:p>
          <a:p>
            <a:pPr marL="698500" lvl="1" indent="0">
              <a:buNone/>
            </a:pPr>
            <a:r>
              <a:rPr lang="en-US" sz="2400" b="1" dirty="0"/>
              <a:t>Prerequisite: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Knowledge of machine learning basics.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Familiar with the basic probability theory and the basic linear algebra.</a:t>
            </a:r>
          </a:p>
          <a:p>
            <a:endParaRPr lang="en-US" sz="2400" dirty="0"/>
          </a:p>
          <a:p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B7CFA7D8-35C9-C54B-B306-E9537D7350C6}" type="slidenum">
              <a:rPr lang="en-US" sz="100" smtClean="0"/>
              <a:t>4</a:t>
            </a:fld>
            <a:endParaRPr lang="en-US" sz="1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650380"/>
          </a:xfrm>
        </p:spPr>
        <p:txBody>
          <a:bodyPr/>
          <a:lstStyle/>
          <a:p>
            <a:pPr algn="ctr"/>
            <a:r>
              <a:rPr lang="en-US" dirty="0"/>
              <a:t>Course Information (Cont’d)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32175" y="2337329"/>
            <a:ext cx="11423650" cy="5612342"/>
          </a:xfrm>
        </p:spPr>
        <p:txBody>
          <a:bodyPr>
            <a:noAutofit/>
          </a:bodyPr>
          <a:lstStyle/>
          <a:p>
            <a:r>
              <a:rPr lang="en-US" sz="2400" dirty="0"/>
              <a:t>Machine learning and deep learning is a math intensive class.</a:t>
            </a:r>
          </a:p>
          <a:p>
            <a:r>
              <a:rPr lang="en-US" sz="2400"/>
              <a:t>Gradings</a:t>
            </a:r>
            <a:endParaRPr lang="en-US" sz="2400" dirty="0"/>
          </a:p>
          <a:p>
            <a:pPr lvl="1"/>
            <a:r>
              <a:rPr lang="en-US" sz="2400" dirty="0"/>
              <a:t>Discussions: 10%   </a:t>
            </a:r>
          </a:p>
          <a:p>
            <a:pPr lvl="1"/>
            <a:r>
              <a:rPr lang="en-US" sz="2400" dirty="0"/>
              <a:t>Assignments: 20%</a:t>
            </a:r>
          </a:p>
          <a:p>
            <a:pPr lvl="1"/>
            <a:r>
              <a:rPr lang="en-US" sz="2400" dirty="0"/>
              <a:t>Summative Module Assessments: 30%</a:t>
            </a:r>
          </a:p>
          <a:p>
            <a:pPr lvl="1"/>
            <a:r>
              <a:rPr lang="en-US" sz="2400" dirty="0"/>
              <a:t>Summative Course Assessments: 40%</a:t>
            </a:r>
          </a:p>
          <a:p>
            <a:pPr marL="0" indent="0" algn="ctr">
              <a:buNone/>
            </a:pPr>
            <a:r>
              <a:rPr lang="en-US" sz="2400" dirty="0"/>
              <a:t>(Grades: A is 90+, B is 80+, C is 70+, F is 70-)</a:t>
            </a:r>
          </a:p>
          <a:p>
            <a:r>
              <a:rPr lang="en-US" sz="2400" dirty="0"/>
              <a:t>Course Martials</a:t>
            </a:r>
          </a:p>
          <a:p>
            <a:pPr lvl="1"/>
            <a:r>
              <a:rPr lang="en-US" sz="2400" dirty="0"/>
              <a:t>Coursera  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B7CFA7D8-35C9-C54B-B306-E9537D7350C6}" type="slidenum">
              <a:rPr lang="en-US" sz="100" smtClean="0"/>
              <a:t>5</a:t>
            </a:fld>
            <a:endParaRPr lang="en-US" sz="1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36996"/>
            <a:ext cx="18288000" cy="1988345"/>
          </a:xfrm>
        </p:spPr>
        <p:txBody>
          <a:bodyPr/>
          <a:lstStyle/>
          <a:p>
            <a:pPr algn="ctr"/>
            <a:r>
              <a:rPr lang="en-US" dirty="0"/>
              <a:t>Course Information (Cont’d)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1867" y="1938655"/>
            <a:ext cx="13038666" cy="7595870"/>
          </a:xfrm>
        </p:spPr>
        <p:txBody>
          <a:bodyPr>
            <a:noAutofit/>
          </a:bodyPr>
          <a:lstStyle/>
          <a:p>
            <a:pPr lvl="0"/>
            <a:r>
              <a:rPr lang="en-US" sz="2400" dirty="0">
                <a:sym typeface="+mn-ea"/>
              </a:rPr>
              <a:t>Programming language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sym typeface="+mn-ea"/>
              </a:rPr>
              <a:t>Python</a:t>
            </a:r>
            <a:endParaRPr lang="en-US" sz="2400" dirty="0"/>
          </a:p>
          <a:p>
            <a:pPr lvl="2"/>
            <a:r>
              <a:rPr lang="en-US" sz="2400" dirty="0">
                <a:sym typeface="+mn-ea"/>
                <a:hlinkClick r:id="rId2"/>
              </a:rPr>
              <a:t>https://machinelearningmastery.com/machine-learning-in-python-step-by-step/</a:t>
            </a:r>
            <a:endParaRPr lang="en-US" sz="2400" dirty="0"/>
          </a:p>
          <a:p>
            <a:pPr lvl="0"/>
            <a:r>
              <a:rPr lang="en-US" sz="2400" dirty="0" err="1">
                <a:sym typeface="+mn-ea"/>
              </a:rPr>
              <a:t>LaTex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sym typeface="+mn-ea"/>
              </a:rPr>
              <a:t>You are strongly encouraged to use </a:t>
            </a:r>
            <a:r>
              <a:rPr lang="en-US" sz="2400" dirty="0" err="1">
                <a:sym typeface="+mn-ea"/>
              </a:rPr>
              <a:t>LaTex</a:t>
            </a:r>
            <a:r>
              <a:rPr lang="en-US" sz="2400" dirty="0">
                <a:sym typeface="+mn-ea"/>
              </a:rPr>
              <a:t> for the reports.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sym typeface="+mn-ea"/>
              </a:rPr>
              <a:t>https://</a:t>
            </a:r>
            <a:r>
              <a:rPr lang="en-US" sz="2400" dirty="0" err="1">
                <a:sym typeface="+mn-ea"/>
              </a:rPr>
              <a:t>www.overleaf.com</a:t>
            </a:r>
            <a:r>
              <a:rPr lang="en-US" sz="2400" dirty="0">
                <a:sym typeface="+mn-ea"/>
              </a:rPr>
              <a:t>/</a:t>
            </a:r>
            <a:endParaRPr lang="en-US" sz="2400" dirty="0"/>
          </a:p>
          <a:p>
            <a:pPr lvl="1"/>
            <a:endParaRPr lang="en-US" sz="2400" dirty="0"/>
          </a:p>
          <a:p>
            <a:pPr lvl="0"/>
            <a:r>
              <a:rPr lang="en-US" sz="2400" dirty="0">
                <a:sym typeface="+mn-ea"/>
              </a:rPr>
              <a:t>GitHub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sym typeface="+mn-ea"/>
                <a:hlinkClick r:id="rId3"/>
              </a:rPr>
              <a:t>https://guides.github.com/activities/hello-world/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sym typeface="+mn-ea"/>
              </a:rPr>
              <a:t>A centralized place to store and track all code. 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sym typeface="+mn-ea"/>
              </a:rPr>
              <a:t>A principled way to collaborate with team members. 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B7CFA7D8-35C9-C54B-B306-E9537D7350C6}" type="slidenum">
              <a:rPr lang="en-US" sz="100" smtClean="0"/>
              <a:t>6</a:t>
            </a:fld>
            <a:endParaRPr lang="en-US" sz="1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2"/>
            <a:ext cx="18288000" cy="1553136"/>
          </a:xfrm>
        </p:spPr>
        <p:txBody>
          <a:bodyPr/>
          <a:lstStyle/>
          <a:p>
            <a:pPr algn="ctr"/>
            <a:r>
              <a:rPr lang="en-US" dirty="0"/>
              <a:t>Course Information (Cont’d)</a:t>
            </a:r>
          </a:p>
        </p:txBody>
      </p:sp>
      <p:pic>
        <p:nvPicPr>
          <p:cNvPr id="103" name="图片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12915901" y="3763715"/>
            <a:ext cx="4711700" cy="3145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3C6A4EEA-2556-441D-B20B-0657893061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337</Words>
  <Application>Microsoft Macintosh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Wingdings</vt:lpstr>
      <vt:lpstr>Wingdings 2</vt:lpstr>
      <vt:lpstr>Breeze</vt:lpstr>
      <vt:lpstr>CS 577 Deep Learning</vt:lpstr>
      <vt:lpstr>Instructor Information</vt:lpstr>
      <vt:lpstr>Course Information</vt:lpstr>
      <vt:lpstr>Course Information (Cont’d)</vt:lpstr>
      <vt:lpstr>Course Information (Cont’d)</vt:lpstr>
      <vt:lpstr>Course Information (Cont’d)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69</cp:revision>
  <dcterms:created xsi:type="dcterms:W3CDTF">2019-02-13T16:04:00Z</dcterms:created>
  <dcterms:modified xsi:type="dcterms:W3CDTF">2024-03-26T15:08:55Z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505A7764A2964EA2BD27F2CAA6E5A6BC_12</vt:lpwstr>
  </property>
  <property fmtid="{D5CDD505-2E9C-101B-9397-08002B2CF9AE}" pid="5" name="KSOProductBuildVer">
    <vt:lpwstr>2052-12.1.0.16364</vt:lpwstr>
  </property>
</Properties>
</file>