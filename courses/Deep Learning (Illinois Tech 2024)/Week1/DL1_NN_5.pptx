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3.xml" ContentType="application/vnd.openxmlformats-officedocument.presentationml.notesSlide+xml"/>
  <Override PartName="/ppt/slideLayouts/slideLayout2.xml" ContentType="application/vnd.openxmlformats-officedocument.presentationml.slideLayout+xml"/>
  <Override PartName="/ppt/notesSlides/notesSlide2.xml" ContentType="application/vnd.openxmlformats-officedocument.presentationml.notesSlid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tag1.xml" ContentType="application/vnd.openxmlformats-officedocument.presentationml.tag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9"/>
  </p:notesMasterIdLst>
  <p:sldIdLst>
    <p:sldId id="266" r:id="rId2"/>
    <p:sldId id="304" r:id="rId3"/>
    <p:sldId id="305" r:id="rId4"/>
    <p:sldId id="306" r:id="rId5"/>
    <p:sldId id="307" r:id="rId6"/>
    <p:sldId id="308" r:id="rId7"/>
    <p:sldId id="309" r:id="rId8"/>
  </p:sldIdLst>
  <p:sldSz cx="18288000" cy="10287000"/>
  <p:notesSz cx="6858000" cy="9144000"/>
  <p:custDataLst>
    <p:tags r:id="rId10"/>
  </p:custDataLst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17">
          <p15:clr>
            <a:srgbClr val="A4A3A4"/>
          </p15:clr>
        </p15:guide>
        <p15:guide id="2" pos="579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7"/>
    <p:restoredTop sz="93786"/>
  </p:normalViewPr>
  <p:slideViewPr>
    <p:cSldViewPr snapToGrid="0" snapToObjects="1" showGuides="1">
      <p:cViewPr varScale="1">
        <p:scale>
          <a:sx n="75" d="100"/>
          <a:sy n="75" d="100"/>
        </p:scale>
        <p:origin x="624" y="160"/>
      </p:cViewPr>
      <p:guideLst>
        <p:guide orient="horz" pos="3217"/>
        <p:guide pos="579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2024/3/27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04DF33-A099-48C3-97F8-77FEC4A41389}" type="slidenum">
              <a:rPr lang="zh-TW" altLang="en-US" smtClean="0"/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28705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67214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TW" altLang="en-US" sz="12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7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547689"/>
            <a:ext cx="15773400" cy="198834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259684" y="2521745"/>
            <a:ext cx="7736680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259684" y="3757613"/>
            <a:ext cx="7736680" cy="552688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257300" y="9534527"/>
            <a:ext cx="4114800" cy="547688"/>
          </a:xfrm>
        </p:spPr>
        <p:txBody>
          <a:bodyPr/>
          <a:lstStyle/>
          <a:p>
            <a:fld id="{8D7014B5-A822-4760-9C92-A4C0DDBD790A}" type="datetimeFigureOut">
              <a:rPr lang="zh-TW" altLang="en-US" smtClean="0"/>
              <a:t>2024/3/27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057900" y="9534527"/>
            <a:ext cx="6172200" cy="547688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2915900" y="9534527"/>
            <a:ext cx="4114800" cy="547688"/>
          </a:xfrm>
        </p:spPr>
        <p:txBody>
          <a:bodyPr/>
          <a:lstStyle/>
          <a:p>
            <a:fld id="{DDFD11CF-6FB2-4FCE-A971-5E1D4AF62D71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MS PGothic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2" charset="2"/>
        <a:buChar char=""/>
        <a:defRPr sz="4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anose="05020102010507070707" pitchFamily="2" charset="2"/>
        <a:buChar char=""/>
        <a:defRPr sz="4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anose="05020102010507070707" pitchFamily="2" charset="2"/>
        <a:buChar char=""/>
        <a:defRPr sz="4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anose="05020102010507070707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anose="05020102010507070707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5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anose="05020102010507070707" pitchFamily="2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11.wmf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0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8.wmf"/><Relationship Id="rId17" Type="http://schemas.openxmlformats.org/officeDocument/2006/relationships/oleObject" Target="../embeddings/oleObject8.bin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0.wmf"/><Relationship Id="rId20" Type="http://schemas.openxmlformats.org/officeDocument/2006/relationships/image" Target="../media/image12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7.w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4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9.wmf"/><Relationship Id="rId22" Type="http://schemas.openxmlformats.org/officeDocument/2006/relationships/image" Target="../media/image13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13" Type="http://schemas.openxmlformats.org/officeDocument/2006/relationships/oleObject" Target="../embeddings/oleObject16.bin"/><Relationship Id="rId18" Type="http://schemas.openxmlformats.org/officeDocument/2006/relationships/image" Target="../media/image21.wmf"/><Relationship Id="rId26" Type="http://schemas.openxmlformats.org/officeDocument/2006/relationships/image" Target="../media/image25.wmf"/><Relationship Id="rId3" Type="http://schemas.openxmlformats.org/officeDocument/2006/relationships/oleObject" Target="../embeddings/oleObject11.bin"/><Relationship Id="rId21" Type="http://schemas.openxmlformats.org/officeDocument/2006/relationships/oleObject" Target="../embeddings/oleObject20.bin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18.wmf"/><Relationship Id="rId17" Type="http://schemas.openxmlformats.org/officeDocument/2006/relationships/oleObject" Target="../embeddings/oleObject18.bin"/><Relationship Id="rId25" Type="http://schemas.openxmlformats.org/officeDocument/2006/relationships/oleObject" Target="../embeddings/oleObject22.bin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0.wmf"/><Relationship Id="rId20" Type="http://schemas.openxmlformats.org/officeDocument/2006/relationships/image" Target="../media/image22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wmf"/><Relationship Id="rId11" Type="http://schemas.openxmlformats.org/officeDocument/2006/relationships/oleObject" Target="../embeddings/oleObject15.bin"/><Relationship Id="rId24" Type="http://schemas.openxmlformats.org/officeDocument/2006/relationships/image" Target="../media/image24.wmf"/><Relationship Id="rId5" Type="http://schemas.openxmlformats.org/officeDocument/2006/relationships/oleObject" Target="../embeddings/oleObject12.bin"/><Relationship Id="rId15" Type="http://schemas.openxmlformats.org/officeDocument/2006/relationships/oleObject" Target="../embeddings/oleObject17.bin"/><Relationship Id="rId23" Type="http://schemas.openxmlformats.org/officeDocument/2006/relationships/oleObject" Target="../embeddings/oleObject21.bin"/><Relationship Id="rId10" Type="http://schemas.openxmlformats.org/officeDocument/2006/relationships/image" Target="../media/image17.wmf"/><Relationship Id="rId19" Type="http://schemas.openxmlformats.org/officeDocument/2006/relationships/oleObject" Target="../embeddings/oleObject19.bin"/><Relationship Id="rId4" Type="http://schemas.openxmlformats.org/officeDocument/2006/relationships/image" Target="../media/image14.wmf"/><Relationship Id="rId9" Type="http://schemas.openxmlformats.org/officeDocument/2006/relationships/oleObject" Target="../embeddings/oleObject14.bin"/><Relationship Id="rId14" Type="http://schemas.openxmlformats.org/officeDocument/2006/relationships/image" Target="../media/image19.wmf"/><Relationship Id="rId22" Type="http://schemas.openxmlformats.org/officeDocument/2006/relationships/image" Target="../media/image23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29.png"/><Relationship Id="rId3" Type="http://schemas.openxmlformats.org/officeDocument/2006/relationships/oleObject" Target="../embeddings/oleObject23.bin"/><Relationship Id="rId7" Type="http://schemas.openxmlformats.org/officeDocument/2006/relationships/image" Target="../media/image38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5" Type="http://schemas.openxmlformats.org/officeDocument/2006/relationships/image" Target="../media/image31.png"/><Relationship Id="rId10" Type="http://schemas.openxmlformats.org/officeDocument/2006/relationships/image" Target="../media/image41.png"/><Relationship Id="rId4" Type="http://schemas.openxmlformats.org/officeDocument/2006/relationships/image" Target="../media/image26.wmf"/><Relationship Id="rId9" Type="http://schemas.openxmlformats.org/officeDocument/2006/relationships/image" Target="../media/image40.png"/><Relationship Id="rId14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44.png"/><Relationship Id="rId3" Type="http://schemas.openxmlformats.org/officeDocument/2006/relationships/oleObject" Target="../embeddings/oleObject24.bin"/><Relationship Id="rId7" Type="http://schemas.openxmlformats.org/officeDocument/2006/relationships/image" Target="../media/image40.png"/><Relationship Id="rId12" Type="http://schemas.openxmlformats.org/officeDocument/2006/relationships/image" Target="../media/image43.png"/><Relationship Id="rId17" Type="http://schemas.openxmlformats.org/officeDocument/2006/relationships/image" Target="../media/image48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31.png"/><Relationship Id="rId5" Type="http://schemas.openxmlformats.org/officeDocument/2006/relationships/image" Target="../media/image36.png"/><Relationship Id="rId15" Type="http://schemas.openxmlformats.org/officeDocument/2006/relationships/image" Target="../media/image46.png"/><Relationship Id="rId10" Type="http://schemas.openxmlformats.org/officeDocument/2006/relationships/image" Target="../media/image30.png"/><Relationship Id="rId4" Type="http://schemas.openxmlformats.org/officeDocument/2006/relationships/image" Target="../media/image26.wmf"/><Relationship Id="rId9" Type="http://schemas.openxmlformats.org/officeDocument/2006/relationships/image" Target="../media/image29.png"/><Relationship Id="rId14" Type="http://schemas.openxmlformats.org/officeDocument/2006/relationships/image" Target="../media/image4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75" y="2641601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br>
              <a:rPr lang="en-US" dirty="0"/>
            </a:br>
            <a:r>
              <a:rPr lang="en-US" dirty="0"/>
              <a:t>Backpropagation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4775" y="5534873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Instructor: Dr. Yan Yan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Gradient Descent </a:t>
            </a:r>
            <a:endParaRPr lang="zh-TW" altLang="en-US" dirty="0"/>
          </a:p>
        </p:txBody>
      </p:sp>
      <p:graphicFrame>
        <p:nvGraphicFramePr>
          <p:cNvPr id="5" name="Object 12"/>
          <p:cNvGraphicFramePr>
            <a:graphicFrameLocks noChangeAspect="1"/>
          </p:cNvGraphicFramePr>
          <p:nvPr/>
        </p:nvGraphicFramePr>
        <p:xfrm>
          <a:off x="5980535" y="3539940"/>
          <a:ext cx="611981" cy="65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3" imgW="4572000" imgH="4876800" progId="Equation.3">
                  <p:embed/>
                </p:oleObj>
              </mc:Choice>
              <mc:Fallback>
                <p:oleObj name="方程式" r:id="rId3" imgW="4572000" imgH="48768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0535" y="3539940"/>
                        <a:ext cx="611981" cy="652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3096998" y="3260120"/>
            <a:ext cx="2922443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Starting Parameters</a:t>
            </a:r>
            <a:endParaRPr lang="zh-TW" altLang="en-US" sz="3600" dirty="0"/>
          </a:p>
        </p:txBody>
      </p:sp>
      <p:graphicFrame>
        <p:nvGraphicFramePr>
          <p:cNvPr id="8" name="Object 12"/>
          <p:cNvGraphicFramePr>
            <a:graphicFrameLocks noChangeAspect="1"/>
          </p:cNvGraphicFramePr>
          <p:nvPr/>
        </p:nvGraphicFramePr>
        <p:xfrm>
          <a:off x="8588292" y="3539939"/>
          <a:ext cx="531020" cy="65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5" imgW="3962400" imgH="4876800" progId="Equation.3">
                  <p:embed/>
                </p:oleObj>
              </mc:Choice>
              <mc:Fallback>
                <p:oleObj name="方程式" r:id="rId5" imgW="3962400" imgH="48768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88292" y="3539939"/>
                        <a:ext cx="531020" cy="652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2"/>
          <p:cNvGraphicFramePr>
            <a:graphicFrameLocks noChangeAspect="1"/>
          </p:cNvGraphicFramePr>
          <p:nvPr/>
        </p:nvGraphicFramePr>
        <p:xfrm>
          <a:off x="11075271" y="3540909"/>
          <a:ext cx="611981" cy="65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7" imgW="4572000" imgH="4876800" progId="Equation.3">
                  <p:embed/>
                </p:oleObj>
              </mc:Choice>
              <mc:Fallback>
                <p:oleObj name="方程式" r:id="rId7" imgW="4572000" imgH="48768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75271" y="3540909"/>
                        <a:ext cx="611981" cy="652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6" name="直線單箭頭接點 15"/>
          <p:cNvCxnSpPr/>
          <p:nvPr/>
        </p:nvCxnSpPr>
        <p:spPr>
          <a:xfrm>
            <a:off x="6666012" y="3890172"/>
            <a:ext cx="177061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/>
          <p:nvPr/>
        </p:nvCxnSpPr>
        <p:spPr>
          <a:xfrm>
            <a:off x="9171218" y="3890172"/>
            <a:ext cx="177061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/>
          <p:cNvSpPr txBox="1"/>
          <p:nvPr/>
        </p:nvSpPr>
        <p:spPr>
          <a:xfrm>
            <a:off x="13187924" y="3434340"/>
            <a:ext cx="187110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……</a:t>
            </a:r>
            <a:endParaRPr lang="zh-TW" altLang="en-US" sz="3600" dirty="0"/>
          </a:p>
        </p:txBody>
      </p:sp>
      <p:cxnSp>
        <p:nvCxnSpPr>
          <p:cNvPr id="22" name="直線單箭頭接點 21"/>
          <p:cNvCxnSpPr/>
          <p:nvPr/>
        </p:nvCxnSpPr>
        <p:spPr>
          <a:xfrm>
            <a:off x="11764100" y="3866169"/>
            <a:ext cx="177061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Object 12"/>
          <p:cNvGraphicFramePr>
            <a:graphicFrameLocks noChangeAspect="1"/>
          </p:cNvGraphicFramePr>
          <p:nvPr/>
        </p:nvGraphicFramePr>
        <p:xfrm>
          <a:off x="6786563" y="5153025"/>
          <a:ext cx="3383757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9" imgW="25298400" imgH="5486400" progId="Equation.3">
                  <p:embed/>
                </p:oleObj>
              </mc:Choice>
              <mc:Fallback>
                <p:oleObj name="方程式" r:id="rId9" imgW="25298400" imgH="54864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6563" y="5153025"/>
                        <a:ext cx="3383757" cy="733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12"/>
          <p:cNvGraphicFramePr>
            <a:graphicFrameLocks noChangeAspect="1"/>
          </p:cNvGraphicFramePr>
          <p:nvPr/>
        </p:nvGraphicFramePr>
        <p:xfrm>
          <a:off x="11262477" y="5131700"/>
          <a:ext cx="3631407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1" imgW="27127200" imgH="5486400" progId="Equation.3">
                  <p:embed/>
                </p:oleObj>
              </mc:Choice>
              <mc:Fallback>
                <p:oleObj name="方程式" r:id="rId11" imgW="27127200" imgH="54864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62477" y="5131700"/>
                        <a:ext cx="3631407" cy="733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12"/>
          <p:cNvGraphicFramePr>
            <a:graphicFrameLocks noChangeAspect="1"/>
          </p:cNvGraphicFramePr>
          <p:nvPr/>
        </p:nvGraphicFramePr>
        <p:xfrm>
          <a:off x="6784182" y="6174582"/>
          <a:ext cx="3345656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3" imgW="24993600" imgH="5486400" progId="Equation.3">
                  <p:embed/>
                </p:oleObj>
              </mc:Choice>
              <mc:Fallback>
                <p:oleObj name="方程式" r:id="rId13" imgW="24993600" imgH="54864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4182" y="6174582"/>
                        <a:ext cx="3345656" cy="733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12"/>
          <p:cNvGraphicFramePr>
            <a:graphicFrameLocks noChangeAspect="1"/>
          </p:cNvGraphicFramePr>
          <p:nvPr/>
        </p:nvGraphicFramePr>
        <p:xfrm>
          <a:off x="11262477" y="6172190"/>
          <a:ext cx="3590925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5" imgW="26822400" imgH="5486400" progId="Equation.3">
                  <p:embed/>
                </p:oleObj>
              </mc:Choice>
              <mc:Fallback>
                <p:oleObj name="方程式" r:id="rId15" imgW="26822400" imgH="54864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62477" y="6172190"/>
                        <a:ext cx="3590925" cy="733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12"/>
          <p:cNvGraphicFramePr>
            <a:graphicFrameLocks noChangeAspect="1"/>
          </p:cNvGraphicFramePr>
          <p:nvPr/>
        </p:nvGraphicFramePr>
        <p:xfrm>
          <a:off x="3516723" y="4917129"/>
          <a:ext cx="1326045" cy="6838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7" imgW="10058400" imgH="5181600" progId="Equation.3">
                  <p:embed/>
                </p:oleObj>
              </mc:Choice>
              <mc:Fallback>
                <p:oleObj name="方程式" r:id="rId17" imgW="10058400" imgH="51816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6723" y="4917129"/>
                        <a:ext cx="1326045" cy="68380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12"/>
          <p:cNvGraphicFramePr>
            <a:graphicFrameLocks noChangeAspect="1"/>
          </p:cNvGraphicFramePr>
          <p:nvPr/>
        </p:nvGraphicFramePr>
        <p:xfrm>
          <a:off x="8367789" y="2376689"/>
          <a:ext cx="5414963" cy="7881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9" imgW="35356800" imgH="5181600" progId="Equation.3">
                  <p:embed/>
                </p:oleObj>
              </mc:Choice>
              <mc:Fallback>
                <p:oleObj name="方程式" r:id="rId19" imgW="35356800" imgH="51816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67789" y="2376689"/>
                        <a:ext cx="5414963" cy="78819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12"/>
          <p:cNvGraphicFramePr>
            <a:graphicFrameLocks noChangeAspect="1"/>
          </p:cNvGraphicFramePr>
          <p:nvPr/>
        </p:nvGraphicFramePr>
        <p:xfrm>
          <a:off x="3536157" y="5600700"/>
          <a:ext cx="2924175" cy="41267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1" imgW="22555200" imgH="31699200" progId="Equation.3">
                  <p:embed/>
                </p:oleObj>
              </mc:Choice>
              <mc:Fallback>
                <p:oleObj name="方程式" r:id="rId21" imgW="22555200" imgH="316992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6157" y="5600700"/>
                        <a:ext cx="2924175" cy="412670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文字方塊 38"/>
          <p:cNvSpPr txBox="1"/>
          <p:nvPr/>
        </p:nvSpPr>
        <p:spPr>
          <a:xfrm>
            <a:off x="6765240" y="7494554"/>
            <a:ext cx="6221187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Millions of parameters ……</a:t>
            </a:r>
            <a:endParaRPr lang="zh-TW" altLang="en-US" sz="4200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11529384" y="7213142"/>
            <a:ext cx="837396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>
                <a:solidFill>
                  <a:srgbClr val="0000FF"/>
                </a:solidFill>
              </a:rPr>
              <a:t>To compute the gradients efficiently, we use </a:t>
            </a:r>
            <a:r>
              <a:rPr lang="en-US" altLang="zh-TW" sz="4200" b="1" i="1" u="sng" dirty="0">
                <a:solidFill>
                  <a:srgbClr val="0000FF"/>
                </a:solidFill>
              </a:rPr>
              <a:t>backpropagation</a:t>
            </a:r>
            <a:r>
              <a:rPr lang="en-US" altLang="zh-TW" sz="4200" dirty="0">
                <a:solidFill>
                  <a:srgbClr val="0000FF"/>
                </a:solidFill>
              </a:rPr>
              <a:t>.</a:t>
            </a:r>
            <a:endParaRPr lang="zh-TW" altLang="en-US" sz="4200" dirty="0">
              <a:solidFill>
                <a:srgbClr val="0000FF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3905425" y="2400092"/>
            <a:ext cx="476835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Network parameters</a:t>
            </a:r>
            <a:endParaRPr lang="zh-TW" altLang="en-US" sz="3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0" grpId="0"/>
      <p:bldP spid="39" grpId="0"/>
      <p:bldP spid="40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Chain Rule</a:t>
            </a:r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3228975" y="2784533"/>
            <a:ext cx="1912652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b="1" i="1" u="sng" dirty="0"/>
              <a:t>Case 1</a:t>
            </a:r>
            <a:endParaRPr lang="zh-TW" altLang="en-US" sz="4200" b="1" i="1" u="sng" dirty="0"/>
          </a:p>
        </p:txBody>
      </p:sp>
      <p:sp>
        <p:nvSpPr>
          <p:cNvPr id="7" name="文字方塊 6"/>
          <p:cNvSpPr txBox="1"/>
          <p:nvPr/>
        </p:nvSpPr>
        <p:spPr>
          <a:xfrm>
            <a:off x="3228974" y="5330220"/>
            <a:ext cx="1912652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b="1" i="1" u="sng" dirty="0"/>
              <a:t>Case 2</a:t>
            </a:r>
            <a:endParaRPr lang="zh-TW" altLang="en-US" sz="4200" b="1" i="1" u="sng" dirty="0"/>
          </a:p>
        </p:txBody>
      </p:sp>
      <p:graphicFrame>
        <p:nvGraphicFramePr>
          <p:cNvPr id="8" name="Object 12"/>
          <p:cNvGraphicFramePr>
            <a:graphicFrameLocks noChangeAspect="1"/>
          </p:cNvGraphicFramePr>
          <p:nvPr/>
        </p:nvGraphicFramePr>
        <p:xfrm>
          <a:off x="8286750" y="2898969"/>
          <a:ext cx="1714500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3" imgW="12801600" imgH="5181600" progId="Equation.3">
                  <p:embed/>
                </p:oleObj>
              </mc:Choice>
              <mc:Fallback>
                <p:oleObj name="方程式" r:id="rId3" imgW="12801600" imgH="51816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6750" y="2898969"/>
                        <a:ext cx="1714500" cy="690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2"/>
          <p:cNvGraphicFramePr>
            <a:graphicFrameLocks noChangeAspect="1"/>
          </p:cNvGraphicFramePr>
          <p:nvPr/>
        </p:nvGraphicFramePr>
        <p:xfrm>
          <a:off x="6099983" y="2871111"/>
          <a:ext cx="1795463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5" imgW="13411200" imgH="5181600" progId="Equation.3">
                  <p:embed/>
                </p:oleObj>
              </mc:Choice>
              <mc:Fallback>
                <p:oleObj name="方程式" r:id="rId5" imgW="13411200" imgH="51816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9983" y="2871111"/>
                        <a:ext cx="1795463" cy="690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2"/>
          <p:cNvGraphicFramePr>
            <a:graphicFrameLocks noChangeAspect="1"/>
          </p:cNvGraphicFramePr>
          <p:nvPr/>
        </p:nvGraphicFramePr>
        <p:xfrm>
          <a:off x="11042073" y="3796028"/>
          <a:ext cx="2362200" cy="13454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7" imgW="17678400" imgH="10058400" progId="Equation.3">
                  <p:embed/>
                </p:oleObj>
              </mc:Choice>
              <mc:Fallback>
                <p:oleObj name="方程式" r:id="rId7" imgW="17678400" imgH="100584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42073" y="3796028"/>
                        <a:ext cx="2362200" cy="134540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2"/>
          <p:cNvGraphicFramePr>
            <a:graphicFrameLocks noChangeAspect="1"/>
          </p:cNvGraphicFramePr>
          <p:nvPr/>
        </p:nvGraphicFramePr>
        <p:xfrm>
          <a:off x="6520523" y="4144881"/>
          <a:ext cx="3102768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9" imgW="23164800" imgH="4876800" progId="Equation.3">
                  <p:embed/>
                </p:oleObj>
              </mc:Choice>
              <mc:Fallback>
                <p:oleObj name="方程式" r:id="rId9" imgW="23164800" imgH="48768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0523" y="4144881"/>
                        <a:ext cx="3102768" cy="647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10223115" y="6183732"/>
          <a:ext cx="2164557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1" imgW="16154400" imgH="5181600" progId="Equation.3">
                  <p:embed/>
                </p:oleObj>
              </mc:Choice>
              <mc:Fallback>
                <p:oleObj name="方程式" r:id="rId11" imgW="16154400" imgH="51816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23115" y="6183732"/>
                        <a:ext cx="2164557" cy="690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7743825" y="6188870"/>
          <a:ext cx="1674020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3" imgW="12496800" imgH="5181600" progId="Equation.3">
                  <p:embed/>
                </p:oleObj>
              </mc:Choice>
              <mc:Fallback>
                <p:oleObj name="方程式" r:id="rId13" imgW="12496800" imgH="51816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3825" y="6188870"/>
                        <a:ext cx="1674020" cy="690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2"/>
          <p:cNvGraphicFramePr>
            <a:graphicFrameLocks noChangeAspect="1"/>
          </p:cNvGraphicFramePr>
          <p:nvPr/>
        </p:nvGraphicFramePr>
        <p:xfrm>
          <a:off x="5205413" y="6193632"/>
          <a:ext cx="1712120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5" imgW="12801600" imgH="5181600" progId="Equation.3">
                  <p:embed/>
                </p:oleObj>
              </mc:Choice>
              <mc:Fallback>
                <p:oleObj name="方程式" r:id="rId15" imgW="12801600" imgH="51816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5413" y="6193632"/>
                        <a:ext cx="1712120" cy="690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2"/>
          <p:cNvGraphicFramePr>
            <a:graphicFrameLocks noChangeAspect="1"/>
          </p:cNvGraphicFramePr>
          <p:nvPr/>
        </p:nvGraphicFramePr>
        <p:xfrm>
          <a:off x="9474995" y="7936707"/>
          <a:ext cx="3950493" cy="13454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7" imgW="29565600" imgH="10058400" progId="Equation.3">
                  <p:embed/>
                </p:oleObj>
              </mc:Choice>
              <mc:Fallback>
                <p:oleObj name="方程式" r:id="rId17" imgW="29565600" imgH="100584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74995" y="7936707"/>
                        <a:ext cx="3950493" cy="134540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2"/>
          <p:cNvGraphicFramePr>
            <a:graphicFrameLocks noChangeAspect="1"/>
          </p:cNvGraphicFramePr>
          <p:nvPr/>
        </p:nvGraphicFramePr>
        <p:xfrm>
          <a:off x="5062472" y="8122622"/>
          <a:ext cx="652463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9" imgW="4876800" imgH="4267200" progId="Equation.3">
                  <p:embed/>
                </p:oleObj>
              </mc:Choice>
              <mc:Fallback>
                <p:oleObj name="方程式" r:id="rId19" imgW="4876800" imgH="42672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2472" y="8122622"/>
                        <a:ext cx="652463" cy="566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2"/>
          <p:cNvGraphicFramePr>
            <a:graphicFrameLocks noChangeAspect="1"/>
          </p:cNvGraphicFramePr>
          <p:nvPr/>
        </p:nvGraphicFramePr>
        <p:xfrm>
          <a:off x="7870508" y="8203901"/>
          <a:ext cx="652463" cy="5262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1" imgW="4876800" imgH="3962400" progId="Equation.3">
                  <p:embed/>
                </p:oleObj>
              </mc:Choice>
              <mc:Fallback>
                <p:oleObj name="方程式" r:id="rId21" imgW="4876800" imgH="39624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70508" y="8203901"/>
                        <a:ext cx="652463" cy="52625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2"/>
          <p:cNvGraphicFramePr>
            <a:graphicFrameLocks noChangeAspect="1"/>
          </p:cNvGraphicFramePr>
          <p:nvPr/>
        </p:nvGraphicFramePr>
        <p:xfrm>
          <a:off x="6440058" y="7392837"/>
          <a:ext cx="692945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3" imgW="5181600" imgH="4267200" progId="Equation.3">
                  <p:embed/>
                </p:oleObj>
              </mc:Choice>
              <mc:Fallback>
                <p:oleObj name="方程式" r:id="rId23" imgW="5181600" imgH="42672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0058" y="7392837"/>
                        <a:ext cx="692945" cy="566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2"/>
          <p:cNvGraphicFramePr>
            <a:graphicFrameLocks noChangeAspect="1"/>
          </p:cNvGraphicFramePr>
          <p:nvPr/>
        </p:nvGraphicFramePr>
        <p:xfrm>
          <a:off x="6440058" y="9041259"/>
          <a:ext cx="69294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5" imgW="5181600" imgH="4876800" progId="Equation.3">
                  <p:embed/>
                </p:oleObj>
              </mc:Choice>
              <mc:Fallback>
                <p:oleObj name="方程式" r:id="rId25" imgW="5181600" imgH="48768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0058" y="9041259"/>
                        <a:ext cx="692945" cy="647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1" name="直線單箭頭接點 20"/>
          <p:cNvCxnSpPr>
            <a:endCxn id="18" idx="1"/>
          </p:cNvCxnSpPr>
          <p:nvPr/>
        </p:nvCxnSpPr>
        <p:spPr>
          <a:xfrm flipV="1">
            <a:off x="5714934" y="7676205"/>
            <a:ext cx="725124" cy="69235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>
            <a:endCxn id="19" idx="1"/>
          </p:cNvCxnSpPr>
          <p:nvPr/>
        </p:nvCxnSpPr>
        <p:spPr>
          <a:xfrm>
            <a:off x="5714934" y="8701146"/>
            <a:ext cx="725124" cy="66396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/>
          <p:nvPr/>
        </p:nvCxnSpPr>
        <p:spPr>
          <a:xfrm>
            <a:off x="7165182" y="7739013"/>
            <a:ext cx="725124" cy="68721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/>
          <p:nvPr/>
        </p:nvCxnSpPr>
        <p:spPr>
          <a:xfrm flipV="1">
            <a:off x="7170321" y="8711592"/>
            <a:ext cx="725124" cy="69235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-2207895" y="365835"/>
            <a:ext cx="16084552" cy="1551434"/>
          </a:xfrm>
        </p:spPr>
        <p:txBody>
          <a:bodyPr/>
          <a:lstStyle/>
          <a:p>
            <a:r>
              <a:rPr lang="en-US" altLang="zh-TW" dirty="0"/>
              <a:t>Backpropagation</a:t>
            </a:r>
            <a:endParaRPr lang="zh-TW" altLang="en-US" dirty="0"/>
          </a:p>
        </p:txBody>
      </p:sp>
      <p:cxnSp>
        <p:nvCxnSpPr>
          <p:cNvPr id="4" name="直線單箭頭接點 3"/>
          <p:cNvCxnSpPr/>
          <p:nvPr/>
        </p:nvCxnSpPr>
        <p:spPr>
          <a:xfrm>
            <a:off x="13761777" y="8084126"/>
            <a:ext cx="98348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單箭頭接點 4"/>
          <p:cNvCxnSpPr/>
          <p:nvPr/>
        </p:nvCxnSpPr>
        <p:spPr>
          <a:xfrm>
            <a:off x="13761777" y="5594732"/>
            <a:ext cx="97351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橢圓 5"/>
          <p:cNvSpPr/>
          <p:nvPr/>
        </p:nvSpPr>
        <p:spPr>
          <a:xfrm>
            <a:off x="6417242" y="5278424"/>
            <a:ext cx="861237" cy="861237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" name="橢圓 6"/>
          <p:cNvSpPr/>
          <p:nvPr/>
        </p:nvSpPr>
        <p:spPr>
          <a:xfrm>
            <a:off x="6400317" y="7599966"/>
            <a:ext cx="861237" cy="861237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" name="橢圓 7"/>
          <p:cNvSpPr/>
          <p:nvPr/>
        </p:nvSpPr>
        <p:spPr>
          <a:xfrm>
            <a:off x="9722375" y="5232377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9" name="橢圓 8"/>
          <p:cNvSpPr/>
          <p:nvPr/>
        </p:nvSpPr>
        <p:spPr>
          <a:xfrm>
            <a:off x="9750758" y="7591391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0" name="橢圓 9"/>
          <p:cNvSpPr/>
          <p:nvPr/>
        </p:nvSpPr>
        <p:spPr>
          <a:xfrm>
            <a:off x="12952914" y="5191530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" name="橢圓 10"/>
          <p:cNvSpPr/>
          <p:nvPr/>
        </p:nvSpPr>
        <p:spPr>
          <a:xfrm>
            <a:off x="13015449" y="7591391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pSp>
        <p:nvGrpSpPr>
          <p:cNvPr id="12" name="群組 11"/>
          <p:cNvGrpSpPr/>
          <p:nvPr/>
        </p:nvGrpSpPr>
        <p:grpSpPr>
          <a:xfrm>
            <a:off x="3992934" y="5692766"/>
            <a:ext cx="2383314" cy="2457450"/>
            <a:chOff x="1013669" y="3459098"/>
            <a:chExt cx="1588876" cy="1638300"/>
          </a:xfrm>
        </p:grpSpPr>
        <p:cxnSp>
          <p:nvCxnSpPr>
            <p:cNvPr id="13" name="直線單箭頭接點 12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群組 13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15" name="直線單箭頭接點 14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線單箭頭接點 15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線單箭頭接點 16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8" name="群組 17"/>
          <p:cNvGrpSpPr/>
          <p:nvPr/>
        </p:nvGrpSpPr>
        <p:grpSpPr>
          <a:xfrm>
            <a:off x="7320395" y="5670735"/>
            <a:ext cx="2383314" cy="2457450"/>
            <a:chOff x="1013669" y="3459098"/>
            <a:chExt cx="1588876" cy="1638300"/>
          </a:xfrm>
        </p:grpSpPr>
        <p:cxnSp>
          <p:nvCxnSpPr>
            <p:cNvPr id="19" name="直線單箭頭接點 18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群組 19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21" name="直線單箭頭接點 20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線單箭頭接點 21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線單箭頭接點 22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4" name="群組 23"/>
          <p:cNvGrpSpPr/>
          <p:nvPr/>
        </p:nvGrpSpPr>
        <p:grpSpPr>
          <a:xfrm>
            <a:off x="10620302" y="5640858"/>
            <a:ext cx="2383314" cy="2457450"/>
            <a:chOff x="1013669" y="3459098"/>
            <a:chExt cx="1588876" cy="1638300"/>
          </a:xfrm>
        </p:grpSpPr>
        <p:cxnSp>
          <p:nvCxnSpPr>
            <p:cNvPr id="25" name="直線單箭頭接點 24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群組 25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27" name="直線單箭頭接點 26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線單箭頭接點 27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線單箭頭接點 28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0" name="手繪多邊形 29"/>
          <p:cNvSpPr/>
          <p:nvPr/>
        </p:nvSpPr>
        <p:spPr>
          <a:xfrm>
            <a:off x="6499791" y="7788686"/>
            <a:ext cx="704850" cy="531125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1" name="手繪多邊形 30"/>
          <p:cNvSpPr/>
          <p:nvPr/>
        </p:nvSpPr>
        <p:spPr>
          <a:xfrm>
            <a:off x="6471876" y="5404524"/>
            <a:ext cx="704850" cy="531125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2" name="手繪多邊形 31"/>
          <p:cNvSpPr/>
          <p:nvPr/>
        </p:nvSpPr>
        <p:spPr>
          <a:xfrm>
            <a:off x="9815259" y="5421299"/>
            <a:ext cx="704850" cy="531125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3" name="手繪多邊形 32"/>
          <p:cNvSpPr/>
          <p:nvPr/>
        </p:nvSpPr>
        <p:spPr>
          <a:xfrm>
            <a:off x="9839775" y="7706292"/>
            <a:ext cx="704850" cy="531125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4" name="手繪多邊形 33"/>
          <p:cNvSpPr/>
          <p:nvPr/>
        </p:nvSpPr>
        <p:spPr>
          <a:xfrm>
            <a:off x="13038671" y="5329169"/>
            <a:ext cx="704850" cy="531125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5" name="手繪多邊形 34"/>
          <p:cNvSpPr/>
          <p:nvPr/>
        </p:nvSpPr>
        <p:spPr>
          <a:xfrm>
            <a:off x="13109301" y="7756445"/>
            <a:ext cx="704850" cy="531125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文字方塊 94"/>
              <p:cNvSpPr txBox="1"/>
              <p:nvPr/>
            </p:nvSpPr>
            <p:spPr>
              <a:xfrm>
                <a:off x="3844131" y="2664429"/>
                <a:ext cx="3841115" cy="12896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42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TW" sz="4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42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p>
                              <m:r>
                                <a:rPr lang="en-US" altLang="zh-TW" sz="4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sz="420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95" name="文字方塊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4131" y="2664429"/>
                <a:ext cx="3841115" cy="1289685"/>
              </a:xfrm>
              <a:prstGeom prst="rect">
                <a:avLst/>
              </a:prstGeom>
              <a:blipFill rotWithShape="1">
                <a:blip r:embed="rId2"/>
                <a:stretch>
                  <a:fillRect l="-12" t="-47" r="-1145" b="4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文字方塊 95"/>
              <p:cNvSpPr txBox="1"/>
              <p:nvPr/>
            </p:nvSpPr>
            <p:spPr>
              <a:xfrm>
                <a:off x="9788400" y="2709446"/>
                <a:ext cx="4445000" cy="13290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42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sz="42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num>
                        <m:den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TW" altLang="en-US" sz="42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en-US" altLang="zh-TW" sz="4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4200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p>
                                  <m:r>
                                    <a:rPr lang="en-US" altLang="zh-TW" sz="4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TW" sz="4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TW" altLang="en-US" sz="42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num>
                            <m:den>
                              <m:r>
                                <a:rPr lang="zh-TW" altLang="en-US" sz="42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96" name="文字方塊 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8400" y="2709446"/>
                <a:ext cx="4445000" cy="1329055"/>
              </a:xfrm>
              <a:prstGeom prst="rect">
                <a:avLst/>
              </a:prstGeom>
              <a:blipFill rotWithShape="1">
                <a:blip r:embed="rId3"/>
                <a:stretch>
                  <a:fillRect l="-11" t="-40" r="-874" b="4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向右箭號 2"/>
          <p:cNvSpPr/>
          <p:nvPr/>
        </p:nvSpPr>
        <p:spPr>
          <a:xfrm>
            <a:off x="8299248" y="3196769"/>
            <a:ext cx="1151352" cy="8544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文字方塊 96"/>
              <p:cNvSpPr txBox="1"/>
              <p:nvPr/>
            </p:nvSpPr>
            <p:spPr>
              <a:xfrm>
                <a:off x="3355974" y="5408799"/>
                <a:ext cx="580390" cy="757555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97" name="文字方塊 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5974" y="5408799"/>
                <a:ext cx="580390" cy="757555"/>
              </a:xfrm>
              <a:prstGeom prst="rect">
                <a:avLst/>
              </a:prstGeom>
              <a:blipFill rotWithShape="1">
                <a:blip r:embed="rId4"/>
                <a:stretch>
                  <a:fillRect l="-1203" t="-905" r="-15099" b="-772"/>
                </a:stretch>
              </a:blip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字方塊 97"/>
              <p:cNvSpPr txBox="1"/>
              <p:nvPr/>
            </p:nvSpPr>
            <p:spPr>
              <a:xfrm>
                <a:off x="3369585" y="7819640"/>
                <a:ext cx="586740" cy="757555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98" name="文字方塊 9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9585" y="7819640"/>
                <a:ext cx="586740" cy="757555"/>
              </a:xfrm>
              <a:prstGeom prst="rect">
                <a:avLst/>
              </a:prstGeom>
              <a:blipFill rotWithShape="1">
                <a:blip r:embed="rId5"/>
                <a:stretch>
                  <a:fillRect l="-1129" t="-871" r="-14455" b="-805"/>
                </a:stretch>
              </a:blip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文字方塊 98"/>
              <p:cNvSpPr txBox="1"/>
              <p:nvPr/>
            </p:nvSpPr>
            <p:spPr>
              <a:xfrm>
                <a:off x="14847016" y="5198064"/>
                <a:ext cx="502920" cy="6483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99" name="文字方塊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47016" y="5198064"/>
                <a:ext cx="502920" cy="648335"/>
              </a:xfrm>
              <a:prstGeom prst="rect">
                <a:avLst/>
              </a:prstGeom>
              <a:blipFill rotWithShape="1">
                <a:blip r:embed="rId6"/>
                <a:stretch>
                  <a:fillRect l="-16" t="-91" r="-15514" b="9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文字方塊 99"/>
              <p:cNvSpPr txBox="1"/>
              <p:nvPr/>
            </p:nvSpPr>
            <p:spPr>
              <a:xfrm>
                <a:off x="14847016" y="7777249"/>
                <a:ext cx="508000" cy="6483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00" name="文字方塊 9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47016" y="7777249"/>
                <a:ext cx="508000" cy="648335"/>
              </a:xfrm>
              <a:prstGeom prst="rect">
                <a:avLst/>
              </a:prstGeom>
              <a:blipFill rotWithShape="1">
                <a:blip r:embed="rId7"/>
                <a:stretch>
                  <a:fillRect l="-16" t="-62" r="-14859" b="6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1" name="群組 110"/>
          <p:cNvGrpSpPr/>
          <p:nvPr/>
        </p:nvGrpSpPr>
        <p:grpSpPr>
          <a:xfrm>
            <a:off x="5979992" y="5882903"/>
            <a:ext cx="687430" cy="1247921"/>
            <a:chOff x="10102194" y="1939763"/>
            <a:chExt cx="458287" cy="831947"/>
          </a:xfrm>
        </p:grpSpPr>
        <p:sp>
          <p:nvSpPr>
            <p:cNvPr id="112" name="矩形 111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113" name="直線單箭頭接點 112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文字方塊 113"/>
            <p:cNvSpPr txBox="1"/>
            <p:nvPr/>
          </p:nvSpPr>
          <p:spPr>
            <a:xfrm>
              <a:off x="10118802" y="2316503"/>
              <a:ext cx="441679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TW" altLang="en-US" sz="3600" dirty="0"/>
            </a:p>
          </p:txBody>
        </p:sp>
      </p:grpSp>
      <p:grpSp>
        <p:nvGrpSpPr>
          <p:cNvPr id="115" name="群組 114"/>
          <p:cNvGrpSpPr/>
          <p:nvPr/>
        </p:nvGrpSpPr>
        <p:grpSpPr>
          <a:xfrm>
            <a:off x="5979992" y="8206647"/>
            <a:ext cx="687430" cy="1247921"/>
            <a:chOff x="10102194" y="1939763"/>
            <a:chExt cx="458287" cy="831947"/>
          </a:xfrm>
        </p:grpSpPr>
        <p:sp>
          <p:nvSpPr>
            <p:cNvPr id="116" name="矩形 115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117" name="直線單箭頭接點 116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文字方塊 117"/>
            <p:cNvSpPr txBox="1"/>
            <p:nvPr/>
          </p:nvSpPr>
          <p:spPr>
            <a:xfrm>
              <a:off x="10118802" y="2316503"/>
              <a:ext cx="441679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TW" altLang="en-US" sz="3600" dirty="0"/>
            </a:p>
          </p:txBody>
        </p:sp>
      </p:grpSp>
      <p:grpSp>
        <p:nvGrpSpPr>
          <p:cNvPr id="107" name="群組 106"/>
          <p:cNvGrpSpPr/>
          <p:nvPr/>
        </p:nvGrpSpPr>
        <p:grpSpPr>
          <a:xfrm>
            <a:off x="3106680" y="5201979"/>
            <a:ext cx="4826001" cy="4249275"/>
            <a:chOff x="474133" y="3539067"/>
            <a:chExt cx="3217334" cy="2832850"/>
          </a:xfrm>
        </p:grpSpPr>
        <p:cxnSp>
          <p:nvCxnSpPr>
            <p:cNvPr id="101" name="直線接點 100"/>
            <p:cNvCxnSpPr/>
            <p:nvPr/>
          </p:nvCxnSpPr>
          <p:spPr>
            <a:xfrm>
              <a:off x="474133" y="3539067"/>
              <a:ext cx="3217334" cy="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線接點 101"/>
            <p:cNvCxnSpPr/>
            <p:nvPr/>
          </p:nvCxnSpPr>
          <p:spPr>
            <a:xfrm flipV="1">
              <a:off x="490410" y="3549034"/>
              <a:ext cx="0" cy="2784032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線接點 103"/>
            <p:cNvCxnSpPr/>
            <p:nvPr/>
          </p:nvCxnSpPr>
          <p:spPr>
            <a:xfrm flipV="1">
              <a:off x="475719" y="3539067"/>
              <a:ext cx="3215748" cy="283285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9" name="群組 118"/>
          <p:cNvGrpSpPr/>
          <p:nvPr/>
        </p:nvGrpSpPr>
        <p:grpSpPr>
          <a:xfrm>
            <a:off x="9355457" y="5873216"/>
            <a:ext cx="687430" cy="1247921"/>
            <a:chOff x="10102194" y="1939763"/>
            <a:chExt cx="458287" cy="831947"/>
          </a:xfrm>
        </p:grpSpPr>
        <p:sp>
          <p:nvSpPr>
            <p:cNvPr id="120" name="矩形 119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121" name="直線單箭頭接點 120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文字方塊 121"/>
            <p:cNvSpPr txBox="1"/>
            <p:nvPr/>
          </p:nvSpPr>
          <p:spPr>
            <a:xfrm>
              <a:off x="10118802" y="2316503"/>
              <a:ext cx="441679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TW" altLang="en-US" sz="3600" dirty="0"/>
            </a:p>
          </p:txBody>
        </p:sp>
      </p:grpSp>
      <p:grpSp>
        <p:nvGrpSpPr>
          <p:cNvPr id="123" name="群組 122"/>
          <p:cNvGrpSpPr/>
          <p:nvPr/>
        </p:nvGrpSpPr>
        <p:grpSpPr>
          <a:xfrm>
            <a:off x="9355457" y="8159331"/>
            <a:ext cx="687430" cy="1247921"/>
            <a:chOff x="10102194" y="1939763"/>
            <a:chExt cx="458287" cy="831947"/>
          </a:xfrm>
        </p:grpSpPr>
        <p:sp>
          <p:nvSpPr>
            <p:cNvPr id="124" name="矩形 123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125" name="直線單箭頭接點 124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文字方塊 125"/>
            <p:cNvSpPr txBox="1"/>
            <p:nvPr/>
          </p:nvSpPr>
          <p:spPr>
            <a:xfrm>
              <a:off x="10118802" y="2316503"/>
              <a:ext cx="441679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TW" altLang="en-US" sz="3600" dirty="0"/>
            </a:p>
          </p:txBody>
        </p:sp>
      </p:grpSp>
      <p:grpSp>
        <p:nvGrpSpPr>
          <p:cNvPr id="127" name="群組 126"/>
          <p:cNvGrpSpPr/>
          <p:nvPr/>
        </p:nvGrpSpPr>
        <p:grpSpPr>
          <a:xfrm>
            <a:off x="12655364" y="5873216"/>
            <a:ext cx="687430" cy="1247921"/>
            <a:chOff x="10102194" y="1939763"/>
            <a:chExt cx="458287" cy="831947"/>
          </a:xfrm>
        </p:grpSpPr>
        <p:sp>
          <p:nvSpPr>
            <p:cNvPr id="128" name="矩形 127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129" name="直線單箭頭接點 128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文字方塊 129"/>
            <p:cNvSpPr txBox="1"/>
            <p:nvPr/>
          </p:nvSpPr>
          <p:spPr>
            <a:xfrm>
              <a:off x="10118802" y="2316503"/>
              <a:ext cx="441679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TW" altLang="en-US" sz="3600" dirty="0"/>
            </a:p>
          </p:txBody>
        </p:sp>
      </p:grpSp>
      <p:grpSp>
        <p:nvGrpSpPr>
          <p:cNvPr id="131" name="群組 130"/>
          <p:cNvGrpSpPr/>
          <p:nvPr/>
        </p:nvGrpSpPr>
        <p:grpSpPr>
          <a:xfrm>
            <a:off x="12638991" y="8159331"/>
            <a:ext cx="687430" cy="1247921"/>
            <a:chOff x="10102194" y="1939763"/>
            <a:chExt cx="458287" cy="831947"/>
          </a:xfrm>
        </p:grpSpPr>
        <p:sp>
          <p:nvSpPr>
            <p:cNvPr id="132" name="矩形 131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133" name="直線單箭頭接點 132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4" name="文字方塊 133"/>
            <p:cNvSpPr txBox="1"/>
            <p:nvPr/>
          </p:nvSpPr>
          <p:spPr>
            <a:xfrm>
              <a:off x="10118802" y="2316503"/>
              <a:ext cx="441679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TW" altLang="en-US" sz="3600" dirty="0"/>
            </a:p>
          </p:txBody>
        </p:sp>
      </p:grpSp>
      <p:grpSp>
        <p:nvGrpSpPr>
          <p:cNvPr id="36" name="群組 35"/>
          <p:cNvGrpSpPr/>
          <p:nvPr/>
        </p:nvGrpSpPr>
        <p:grpSpPr>
          <a:xfrm>
            <a:off x="9851226" y="1017151"/>
            <a:ext cx="5294712" cy="1306974"/>
            <a:chOff x="5613212" y="608587"/>
            <a:chExt cx="3529808" cy="871316"/>
          </a:xfrm>
        </p:grpSpPr>
        <p:grpSp>
          <p:nvGrpSpPr>
            <p:cNvPr id="70" name="群組 69"/>
            <p:cNvGrpSpPr/>
            <p:nvPr/>
          </p:nvGrpSpPr>
          <p:grpSpPr>
            <a:xfrm>
              <a:off x="5613212" y="614411"/>
              <a:ext cx="384387" cy="671513"/>
              <a:chOff x="529325" y="3417283"/>
              <a:chExt cx="384387" cy="671513"/>
            </a:xfrm>
          </p:grpSpPr>
          <p:sp>
            <p:nvSpPr>
              <p:cNvPr id="71" name="矩形 70"/>
              <p:cNvSpPr/>
              <p:nvPr/>
            </p:nvSpPr>
            <p:spPr>
              <a:xfrm>
                <a:off x="557212" y="3417283"/>
                <a:ext cx="271463" cy="671513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3600" baseline="30000" dirty="0"/>
              </a:p>
            </p:txBody>
          </p:sp>
          <p:sp>
            <p:nvSpPr>
              <p:cNvPr id="72" name="矩形 71"/>
              <p:cNvSpPr/>
              <p:nvPr/>
            </p:nvSpPr>
            <p:spPr>
              <a:xfrm>
                <a:off x="529325" y="3522206"/>
                <a:ext cx="384387" cy="43010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TW" sz="3600" dirty="0" err="1"/>
                  <a:t>x</a:t>
                </a:r>
                <a:r>
                  <a:rPr lang="en-US" altLang="zh-TW" sz="3600" baseline="30000" dirty="0" err="1"/>
                  <a:t>n</a:t>
                </a:r>
                <a:endParaRPr lang="zh-TW" altLang="en-US" sz="3600" baseline="300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矩形 72"/>
                <p:cNvSpPr/>
                <p:nvPr/>
              </p:nvSpPr>
              <p:spPr>
                <a:xfrm>
                  <a:off x="6394376" y="608587"/>
                  <a:ext cx="965905" cy="683158"/>
                </a:xfrm>
                <a:prstGeom prst="rect">
                  <a:avLst/>
                </a:pr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3600" dirty="0"/>
                    <a:t>NN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sz="3600" i="1" smtClean="0"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73" name="矩形 7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4376" y="608587"/>
                  <a:ext cx="965905" cy="683158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4" name="直線單箭頭接點 73"/>
            <p:cNvCxnSpPr/>
            <p:nvPr/>
          </p:nvCxnSpPr>
          <p:spPr>
            <a:xfrm flipV="1">
              <a:off x="5960032" y="950166"/>
              <a:ext cx="41709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線單箭頭接點 74"/>
            <p:cNvCxnSpPr/>
            <p:nvPr/>
          </p:nvCxnSpPr>
          <p:spPr>
            <a:xfrm flipV="1">
              <a:off x="7360281" y="944959"/>
              <a:ext cx="41709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6" name="群組 75"/>
            <p:cNvGrpSpPr/>
            <p:nvPr/>
          </p:nvGrpSpPr>
          <p:grpSpPr>
            <a:xfrm>
              <a:off x="7783725" y="614411"/>
              <a:ext cx="384387" cy="671513"/>
              <a:chOff x="529326" y="3417283"/>
              <a:chExt cx="384387" cy="671513"/>
            </a:xfrm>
          </p:grpSpPr>
          <p:sp>
            <p:nvSpPr>
              <p:cNvPr id="77" name="矩形 76"/>
              <p:cNvSpPr/>
              <p:nvPr/>
            </p:nvSpPr>
            <p:spPr>
              <a:xfrm>
                <a:off x="557212" y="3417283"/>
                <a:ext cx="271463" cy="671513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3600" baseline="30000" dirty="0"/>
              </a:p>
            </p:txBody>
          </p:sp>
          <p:sp>
            <p:nvSpPr>
              <p:cNvPr id="78" name="矩形 77"/>
              <p:cNvSpPr/>
              <p:nvPr/>
            </p:nvSpPr>
            <p:spPr>
              <a:xfrm>
                <a:off x="529326" y="3522206"/>
                <a:ext cx="384387" cy="43010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TW" sz="3600" dirty="0" err="1"/>
                  <a:t>y</a:t>
                </a:r>
                <a:r>
                  <a:rPr lang="en-US" altLang="zh-TW" sz="3600" baseline="30000" dirty="0" err="1"/>
                  <a:t>n</a:t>
                </a:r>
                <a:endParaRPr lang="zh-TW" altLang="en-US" sz="3600" baseline="30000" dirty="0"/>
              </a:p>
            </p:txBody>
          </p:sp>
        </p:grpSp>
        <p:sp>
          <p:nvSpPr>
            <p:cNvPr id="79" name="矩形 78"/>
            <p:cNvSpPr/>
            <p:nvPr/>
          </p:nvSpPr>
          <p:spPr>
            <a:xfrm>
              <a:off x="8779800" y="614411"/>
              <a:ext cx="271463" cy="671513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3600" baseline="300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文字方塊 79"/>
                <p:cNvSpPr txBox="1"/>
                <p:nvPr/>
              </p:nvSpPr>
              <p:spPr>
                <a:xfrm>
                  <a:off x="8779800" y="776419"/>
                  <a:ext cx="363220" cy="43222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altLang="zh-TW" sz="360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36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p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80" name="文字方塊 7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79800" y="776419"/>
                  <a:ext cx="363220" cy="432223"/>
                </a:xfrm>
                <a:prstGeom prst="rect">
                  <a:avLst/>
                </a:prstGeom>
                <a:blipFill rotWithShape="1">
                  <a:blip r:embed="rId9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1" name="左-右雙向箭號 74"/>
            <p:cNvSpPr/>
            <p:nvPr/>
          </p:nvSpPr>
          <p:spPr>
            <a:xfrm>
              <a:off x="8116025" y="879980"/>
              <a:ext cx="602650" cy="181045"/>
            </a:xfrm>
            <a:prstGeom prst="left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文字方塊 82"/>
                <p:cNvSpPr txBox="1"/>
                <p:nvPr/>
              </p:nvSpPr>
              <p:spPr>
                <a:xfrm>
                  <a:off x="8263285" y="1047680"/>
                  <a:ext cx="286173" cy="43222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p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83" name="文字方塊 8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63285" y="1047680"/>
                  <a:ext cx="286173" cy="432223"/>
                </a:xfrm>
                <a:prstGeom prst="rect">
                  <a:avLst/>
                </a:prstGeom>
                <a:blipFill rotWithShape="1">
                  <a:blip r:embed="rId10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/>
      <p:bldP spid="3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4" name="直線單箭頭接點 103"/>
          <p:cNvCxnSpPr/>
          <p:nvPr/>
        </p:nvCxnSpPr>
        <p:spPr>
          <a:xfrm flipV="1">
            <a:off x="4249035" y="3833804"/>
            <a:ext cx="2529525" cy="238267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Backpropagation</a:t>
            </a:r>
            <a:endParaRPr lang="zh-TW" altLang="en-US" dirty="0"/>
          </a:p>
        </p:txBody>
      </p:sp>
      <p:cxnSp>
        <p:nvCxnSpPr>
          <p:cNvPr id="79" name="直線單箭頭接點 78"/>
          <p:cNvCxnSpPr/>
          <p:nvPr/>
        </p:nvCxnSpPr>
        <p:spPr>
          <a:xfrm flipV="1">
            <a:off x="4249035" y="3453797"/>
            <a:ext cx="236526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1" name="群組 90"/>
          <p:cNvGrpSpPr/>
          <p:nvPr/>
        </p:nvGrpSpPr>
        <p:grpSpPr>
          <a:xfrm>
            <a:off x="8708010" y="2904507"/>
            <a:ext cx="861237" cy="861237"/>
            <a:chOff x="5170781" y="1854574"/>
            <a:chExt cx="574158" cy="574158"/>
          </a:xfrm>
        </p:grpSpPr>
        <p:sp>
          <p:nvSpPr>
            <p:cNvPr id="9" name="橢圓 8"/>
            <p:cNvSpPr/>
            <p:nvPr/>
          </p:nvSpPr>
          <p:spPr>
            <a:xfrm>
              <a:off x="5170781" y="1854574"/>
              <a:ext cx="574158" cy="57415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18" name="手繪多邊形 17"/>
            <p:cNvSpPr/>
            <p:nvPr/>
          </p:nvSpPr>
          <p:spPr>
            <a:xfrm>
              <a:off x="5232704" y="1980522"/>
              <a:ext cx="469900" cy="354083"/>
            </a:xfrm>
            <a:custGeom>
              <a:avLst/>
              <a:gdLst>
                <a:gd name="connsiteX0" fmla="*/ 469900 w 469900"/>
                <a:gd name="connsiteY0" fmla="*/ 5192 h 354083"/>
                <a:gd name="connsiteX1" fmla="*/ 254000 w 469900"/>
                <a:gd name="connsiteY1" fmla="*/ 43292 h 354083"/>
                <a:gd name="connsiteX2" fmla="*/ 139700 w 469900"/>
                <a:gd name="connsiteY2" fmla="*/ 322692 h 354083"/>
                <a:gd name="connsiteX3" fmla="*/ 0 w 469900"/>
                <a:gd name="connsiteY3" fmla="*/ 335392 h 354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9900" h="354083">
                  <a:moveTo>
                    <a:pt x="469900" y="5192"/>
                  </a:moveTo>
                  <a:cubicBezTo>
                    <a:pt x="389466" y="-2217"/>
                    <a:pt x="309033" y="-9625"/>
                    <a:pt x="254000" y="43292"/>
                  </a:cubicBezTo>
                  <a:cubicBezTo>
                    <a:pt x="198967" y="96209"/>
                    <a:pt x="182033" y="274009"/>
                    <a:pt x="139700" y="322692"/>
                  </a:cubicBezTo>
                  <a:cubicBezTo>
                    <a:pt x="97367" y="371375"/>
                    <a:pt x="48683" y="353383"/>
                    <a:pt x="0" y="335392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</p:grpSp>
      <p:grpSp>
        <p:nvGrpSpPr>
          <p:cNvPr id="44" name="群組 43"/>
          <p:cNvGrpSpPr/>
          <p:nvPr/>
        </p:nvGrpSpPr>
        <p:grpSpPr>
          <a:xfrm>
            <a:off x="6724166" y="3833804"/>
            <a:ext cx="687430" cy="1247921"/>
            <a:chOff x="10102194" y="1939763"/>
            <a:chExt cx="458287" cy="831947"/>
          </a:xfrm>
        </p:grpSpPr>
        <p:sp>
          <p:nvSpPr>
            <p:cNvPr id="61" name="矩形 60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62" name="直線單箭頭接點 61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文字方塊 62"/>
            <p:cNvSpPr txBox="1"/>
            <p:nvPr/>
          </p:nvSpPr>
          <p:spPr>
            <a:xfrm>
              <a:off x="10118802" y="2316503"/>
              <a:ext cx="441679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b</a:t>
              </a:r>
              <a:endParaRPr lang="zh-TW" altLang="en-US" sz="3600" dirty="0"/>
            </a:p>
          </p:txBody>
        </p:sp>
      </p:grpSp>
      <p:grpSp>
        <p:nvGrpSpPr>
          <p:cNvPr id="101" name="群組 100"/>
          <p:cNvGrpSpPr/>
          <p:nvPr/>
        </p:nvGrpSpPr>
        <p:grpSpPr>
          <a:xfrm>
            <a:off x="6662705" y="3123464"/>
            <a:ext cx="712490" cy="637916"/>
            <a:chOff x="3357891" y="3538413"/>
            <a:chExt cx="474993" cy="425277"/>
          </a:xfrm>
        </p:grpSpPr>
        <p:sp>
          <p:nvSpPr>
            <p:cNvPr id="102" name="矩形 101"/>
            <p:cNvSpPr/>
            <p:nvPr/>
          </p:nvSpPr>
          <p:spPr>
            <a:xfrm>
              <a:off x="3357891" y="3538413"/>
              <a:ext cx="474993" cy="42527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103" name="Object 12"/>
            <p:cNvGraphicFramePr>
              <a:graphicFrameLocks noChangeAspect="1"/>
            </p:cNvGraphicFramePr>
            <p:nvPr/>
          </p:nvGraphicFramePr>
          <p:xfrm>
            <a:off x="3435128" y="3545009"/>
            <a:ext cx="385763" cy="387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3" imgW="3352800" imgH="3352800" progId="Equation.3">
                    <p:embed/>
                  </p:oleObj>
                </mc:Choice>
                <mc:Fallback>
                  <p:oleObj name="方程式" r:id="rId3" imgW="3352800" imgH="33528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5128" y="3545009"/>
                          <a:ext cx="385763" cy="3873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106" name="直線單箭頭接點 105"/>
          <p:cNvCxnSpPr/>
          <p:nvPr/>
        </p:nvCxnSpPr>
        <p:spPr>
          <a:xfrm flipV="1">
            <a:off x="7375194" y="3390098"/>
            <a:ext cx="1259037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文字方塊 108"/>
              <p:cNvSpPr txBox="1"/>
              <p:nvPr/>
            </p:nvSpPr>
            <p:spPr>
              <a:xfrm>
                <a:off x="5015622" y="2712685"/>
                <a:ext cx="684530" cy="757555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109" name="文字方塊 1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5622" y="2712685"/>
                <a:ext cx="684530" cy="757555"/>
              </a:xfrm>
              <a:prstGeom prst="rect">
                <a:avLst/>
              </a:prstGeom>
              <a:blipFill rotWithShape="1">
                <a:blip r:embed="rId5"/>
                <a:stretch>
                  <a:fillRect l="-985" t="-917" r="-13301" b="-759"/>
                </a:stretch>
              </a:blipFill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文字方塊 109"/>
              <p:cNvSpPr txBox="1"/>
              <p:nvPr/>
            </p:nvSpPr>
            <p:spPr>
              <a:xfrm>
                <a:off x="7887813" y="2628185"/>
                <a:ext cx="462242" cy="757555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110" name="文字方塊 10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7813" y="2628185"/>
                <a:ext cx="462242" cy="757555"/>
              </a:xfrm>
              <a:prstGeom prst="rect">
                <a:avLst/>
              </a:prstGeom>
              <a:blipFill rotWithShape="1">
                <a:blip r:embed="rId6"/>
                <a:stretch>
                  <a:fillRect l="-1477" t="-911" r="-1279" b="-765"/>
                </a:stretch>
              </a:blipFill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文字方塊 112"/>
              <p:cNvSpPr txBox="1"/>
              <p:nvPr/>
            </p:nvSpPr>
            <p:spPr>
              <a:xfrm>
                <a:off x="3496926" y="7286438"/>
                <a:ext cx="1613535" cy="12185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zh-TW" altLang="en-US" sz="42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113" name="文字方塊 1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6926" y="7286438"/>
                <a:ext cx="1613535" cy="1218565"/>
              </a:xfrm>
              <a:prstGeom prst="rect">
                <a:avLst/>
              </a:prstGeom>
              <a:blipFill rotWithShape="1">
                <a:blip r:embed="rId7"/>
                <a:stretch>
                  <a:fillRect l="-38" t="-37" r="-7282" b="3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4" name="文字方塊 113"/>
          <p:cNvSpPr txBox="1"/>
          <p:nvPr/>
        </p:nvSpPr>
        <p:spPr>
          <a:xfrm>
            <a:off x="10550425" y="2861548"/>
            <a:ext cx="2141499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b="1" dirty="0"/>
              <a:t>……</a:t>
            </a:r>
            <a:endParaRPr lang="zh-TW" altLang="en-US" sz="4200" b="1" dirty="0"/>
          </a:p>
        </p:txBody>
      </p:sp>
      <p:sp>
        <p:nvSpPr>
          <p:cNvPr id="115" name="文字方塊 114"/>
          <p:cNvSpPr txBox="1"/>
          <p:nvPr/>
        </p:nvSpPr>
        <p:spPr>
          <a:xfrm rot="2277005">
            <a:off x="10328442" y="4469673"/>
            <a:ext cx="2141499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b="1" dirty="0"/>
              <a:t>……</a:t>
            </a:r>
            <a:endParaRPr lang="zh-TW" altLang="en-US" sz="4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文字方塊 115"/>
              <p:cNvSpPr txBox="1"/>
              <p:nvPr/>
            </p:nvSpPr>
            <p:spPr>
              <a:xfrm>
                <a:off x="5530953" y="7314384"/>
                <a:ext cx="1414780" cy="12185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a:rPr lang="zh-TW" altLang="en-US" sz="42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  <m:f>
                        <m:fPr>
                          <m:ctrlPr>
                            <a:rPr lang="en-US" altLang="zh-TW" sz="4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116" name="文字方塊 1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0953" y="7314384"/>
                <a:ext cx="1414780" cy="1218565"/>
              </a:xfrm>
              <a:prstGeom prst="rect">
                <a:avLst/>
              </a:prstGeom>
              <a:blipFill rotWithShape="1">
                <a:blip r:embed="rId8"/>
                <a:stretch>
                  <a:fillRect l="-7" t="-37" r="-5558" b="3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7" name="文字方塊 116"/>
          <p:cNvSpPr txBox="1"/>
          <p:nvPr/>
        </p:nvSpPr>
        <p:spPr>
          <a:xfrm>
            <a:off x="4838924" y="8780102"/>
            <a:ext cx="299484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(Chain rule)</a:t>
            </a:r>
            <a:endParaRPr lang="zh-TW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字方塊 44"/>
              <p:cNvSpPr txBox="1"/>
              <p:nvPr/>
            </p:nvSpPr>
            <p:spPr>
              <a:xfrm>
                <a:off x="5003214" y="4590812"/>
                <a:ext cx="690880" cy="757555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45" name="文字方塊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3214" y="4590812"/>
                <a:ext cx="690880" cy="757555"/>
              </a:xfrm>
              <a:prstGeom prst="rect">
                <a:avLst/>
              </a:prstGeom>
              <a:blipFill rotWithShape="1">
                <a:blip r:embed="rId9"/>
                <a:stretch>
                  <a:fillRect l="-926" t="-891" r="-12769" b="-786"/>
                </a:stretch>
              </a:blipFill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文字方塊 48"/>
          <p:cNvSpPr txBox="1"/>
          <p:nvPr/>
        </p:nvSpPr>
        <p:spPr>
          <a:xfrm>
            <a:off x="8004810" y="6412865"/>
            <a:ext cx="37680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i="1" u="sng" dirty="0"/>
              <a:t>Forward pass:</a:t>
            </a:r>
            <a:endParaRPr lang="zh-TW" altLang="en-US" sz="3600" b="1" i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字方塊 50"/>
              <p:cNvSpPr txBox="1"/>
              <p:nvPr/>
            </p:nvSpPr>
            <p:spPr>
              <a:xfrm>
                <a:off x="8800894" y="7078793"/>
                <a:ext cx="6993890" cy="6483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TW" sz="3600" dirty="0"/>
                  <a:t>Compute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altLang="zh-TW" sz="3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36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zh-TW" altLang="en-US" sz="36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3600" i="1" smtClean="0"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</m:oMath>
                </a14:m>
                <a:r>
                  <a:rPr lang="en-US" altLang="zh-TW" sz="3600" dirty="0"/>
                  <a:t> for all parameters</a:t>
                </a:r>
                <a:endParaRPr lang="zh-TW" altLang="en-US" sz="3600" dirty="0"/>
              </a:p>
            </p:txBody>
          </p:sp>
        </mc:Choice>
        <mc:Fallback xmlns="">
          <p:sp>
            <p:nvSpPr>
              <p:cNvPr id="51" name="文字方塊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0894" y="7078793"/>
                <a:ext cx="6993890" cy="648335"/>
              </a:xfrm>
              <a:prstGeom prst="rect">
                <a:avLst/>
              </a:prstGeom>
              <a:blipFill rotWithShape="1">
                <a:blip r:embed="rId10"/>
                <a:stretch>
                  <a:fillRect l="-6" t="-69" r="-1447" b="6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文字方塊 52"/>
          <p:cNvSpPr txBox="1"/>
          <p:nvPr/>
        </p:nvSpPr>
        <p:spPr>
          <a:xfrm>
            <a:off x="7998063" y="7985863"/>
            <a:ext cx="359641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i="1" u="sng" dirty="0"/>
              <a:t>Backward pass:</a:t>
            </a:r>
            <a:endParaRPr lang="zh-TW" altLang="en-US" sz="3600" b="1" i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字方塊 53"/>
              <p:cNvSpPr txBox="1"/>
              <p:nvPr/>
            </p:nvSpPr>
            <p:spPr>
              <a:xfrm>
                <a:off x="8801216" y="8651652"/>
                <a:ext cx="6257809" cy="120269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TW" sz="3600" dirty="0"/>
                  <a:t>Compute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altLang="zh-TW" sz="3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36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num>
                      <m:den>
                        <m:r>
                          <a:rPr lang="zh-TW" altLang="en-US" sz="36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lang="en-US" altLang="zh-TW" sz="3600" dirty="0"/>
                  <a:t> for all activation function inputs z</a:t>
                </a:r>
                <a:endParaRPr lang="zh-TW" altLang="en-US" sz="3600" dirty="0"/>
              </a:p>
            </p:txBody>
          </p:sp>
        </mc:Choice>
        <mc:Fallback xmlns="">
          <p:sp>
            <p:nvSpPr>
              <p:cNvPr id="54" name="文字方塊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1216" y="8651652"/>
                <a:ext cx="6257809" cy="1202690"/>
              </a:xfrm>
              <a:prstGeom prst="rect">
                <a:avLst/>
              </a:prstGeom>
              <a:blipFill rotWithShape="1">
                <a:blip r:embed="rId11"/>
                <a:stretch>
                  <a:fillRect l="-2" t="-34" b="3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字方塊 54"/>
              <p:cNvSpPr txBox="1"/>
              <p:nvPr/>
            </p:nvSpPr>
            <p:spPr>
              <a:xfrm>
                <a:off x="3558543" y="3028217"/>
                <a:ext cx="580390" cy="757555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55" name="文字方塊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8543" y="3028217"/>
                <a:ext cx="580390" cy="757555"/>
              </a:xfrm>
              <a:prstGeom prst="rect">
                <a:avLst/>
              </a:prstGeom>
              <a:blipFill rotWithShape="1">
                <a:blip r:embed="rId12"/>
                <a:stretch>
                  <a:fillRect l="-1095" t="-909" r="-15207" b="-767"/>
                </a:stretch>
              </a:blip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字方塊 55"/>
              <p:cNvSpPr txBox="1"/>
              <p:nvPr/>
            </p:nvSpPr>
            <p:spPr>
              <a:xfrm>
                <a:off x="3579000" y="5824758"/>
                <a:ext cx="586740" cy="757555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56" name="文字方塊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9000" y="5824758"/>
                <a:ext cx="586740" cy="757555"/>
              </a:xfrm>
              <a:prstGeom prst="rect">
                <a:avLst/>
              </a:prstGeom>
              <a:blipFill rotWithShape="1">
                <a:blip r:embed="rId13"/>
                <a:stretch>
                  <a:fillRect l="-1106" t="-909" r="-14478" b="-767"/>
                </a:stretch>
              </a:blip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群組 3"/>
          <p:cNvGrpSpPr/>
          <p:nvPr/>
        </p:nvGrpSpPr>
        <p:grpSpPr>
          <a:xfrm>
            <a:off x="12743480" y="2908515"/>
            <a:ext cx="2397023" cy="861237"/>
            <a:chOff x="6972319" y="1991264"/>
            <a:chExt cx="1598015" cy="574158"/>
          </a:xfrm>
        </p:grpSpPr>
        <p:cxnSp>
          <p:nvCxnSpPr>
            <p:cNvPr id="65" name="直線單箭頭接點 64"/>
            <p:cNvCxnSpPr/>
            <p:nvPr/>
          </p:nvCxnSpPr>
          <p:spPr>
            <a:xfrm>
              <a:off x="7511561" y="2260065"/>
              <a:ext cx="64900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橢圓 65"/>
            <p:cNvSpPr/>
            <p:nvPr/>
          </p:nvSpPr>
          <p:spPr>
            <a:xfrm>
              <a:off x="6972319" y="1991264"/>
              <a:ext cx="574158" cy="574158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68" name="手繪多邊形 67"/>
            <p:cNvSpPr/>
            <p:nvPr/>
          </p:nvSpPr>
          <p:spPr>
            <a:xfrm>
              <a:off x="7029490" y="2083023"/>
              <a:ext cx="469900" cy="354083"/>
            </a:xfrm>
            <a:custGeom>
              <a:avLst/>
              <a:gdLst>
                <a:gd name="connsiteX0" fmla="*/ 469900 w 469900"/>
                <a:gd name="connsiteY0" fmla="*/ 5192 h 354083"/>
                <a:gd name="connsiteX1" fmla="*/ 254000 w 469900"/>
                <a:gd name="connsiteY1" fmla="*/ 43292 h 354083"/>
                <a:gd name="connsiteX2" fmla="*/ 139700 w 469900"/>
                <a:gd name="connsiteY2" fmla="*/ 322692 h 354083"/>
                <a:gd name="connsiteX3" fmla="*/ 0 w 469900"/>
                <a:gd name="connsiteY3" fmla="*/ 335392 h 354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9900" h="354083">
                  <a:moveTo>
                    <a:pt x="469900" y="5192"/>
                  </a:moveTo>
                  <a:cubicBezTo>
                    <a:pt x="389466" y="-2217"/>
                    <a:pt x="309033" y="-9625"/>
                    <a:pt x="254000" y="43292"/>
                  </a:cubicBezTo>
                  <a:cubicBezTo>
                    <a:pt x="198967" y="96209"/>
                    <a:pt x="182033" y="274009"/>
                    <a:pt x="139700" y="322692"/>
                  </a:cubicBezTo>
                  <a:cubicBezTo>
                    <a:pt x="97367" y="371375"/>
                    <a:pt x="48683" y="353383"/>
                    <a:pt x="0" y="335392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文字方塊 69"/>
                <p:cNvSpPr txBox="1"/>
                <p:nvPr/>
              </p:nvSpPr>
              <p:spPr>
                <a:xfrm>
                  <a:off x="8235054" y="1995620"/>
                  <a:ext cx="335280" cy="43222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70" name="文字方塊 6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5054" y="1995620"/>
                  <a:ext cx="335280" cy="432223"/>
                </a:xfrm>
                <a:prstGeom prst="rect">
                  <a:avLst/>
                </a:prstGeom>
                <a:blipFill rotWithShape="1">
                  <a:blip r:embed="rId14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群組 4"/>
          <p:cNvGrpSpPr/>
          <p:nvPr/>
        </p:nvGrpSpPr>
        <p:grpSpPr>
          <a:xfrm>
            <a:off x="12743480" y="5711638"/>
            <a:ext cx="2339568" cy="861237"/>
            <a:chOff x="6971653" y="3807759"/>
            <a:chExt cx="1559712" cy="574158"/>
          </a:xfrm>
        </p:grpSpPr>
        <p:cxnSp>
          <p:nvCxnSpPr>
            <p:cNvPr id="64" name="直線單箭頭接點 63"/>
            <p:cNvCxnSpPr/>
            <p:nvPr/>
          </p:nvCxnSpPr>
          <p:spPr>
            <a:xfrm>
              <a:off x="7469205" y="4136249"/>
              <a:ext cx="65565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橢圓 66"/>
            <p:cNvSpPr/>
            <p:nvPr/>
          </p:nvSpPr>
          <p:spPr>
            <a:xfrm>
              <a:off x="6971653" y="3807759"/>
              <a:ext cx="574158" cy="574158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69" name="手繪多邊形 68"/>
            <p:cNvSpPr/>
            <p:nvPr/>
          </p:nvSpPr>
          <p:spPr>
            <a:xfrm>
              <a:off x="7034221" y="3917795"/>
              <a:ext cx="469900" cy="354083"/>
            </a:xfrm>
            <a:custGeom>
              <a:avLst/>
              <a:gdLst>
                <a:gd name="connsiteX0" fmla="*/ 469900 w 469900"/>
                <a:gd name="connsiteY0" fmla="*/ 5192 h 354083"/>
                <a:gd name="connsiteX1" fmla="*/ 254000 w 469900"/>
                <a:gd name="connsiteY1" fmla="*/ 43292 h 354083"/>
                <a:gd name="connsiteX2" fmla="*/ 139700 w 469900"/>
                <a:gd name="connsiteY2" fmla="*/ 322692 h 354083"/>
                <a:gd name="connsiteX3" fmla="*/ 0 w 469900"/>
                <a:gd name="connsiteY3" fmla="*/ 335392 h 354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9900" h="354083">
                  <a:moveTo>
                    <a:pt x="469900" y="5192"/>
                  </a:moveTo>
                  <a:cubicBezTo>
                    <a:pt x="389466" y="-2217"/>
                    <a:pt x="309033" y="-9625"/>
                    <a:pt x="254000" y="43292"/>
                  </a:cubicBezTo>
                  <a:cubicBezTo>
                    <a:pt x="198967" y="96209"/>
                    <a:pt x="182033" y="274009"/>
                    <a:pt x="139700" y="322692"/>
                  </a:cubicBezTo>
                  <a:cubicBezTo>
                    <a:pt x="97367" y="371375"/>
                    <a:pt x="48683" y="353383"/>
                    <a:pt x="0" y="335392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文字方塊 70"/>
                <p:cNvSpPr txBox="1"/>
                <p:nvPr/>
              </p:nvSpPr>
              <p:spPr>
                <a:xfrm>
                  <a:off x="8192698" y="3931665"/>
                  <a:ext cx="338667" cy="43222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71" name="文字方塊 7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2698" y="3931665"/>
                  <a:ext cx="338667" cy="432223"/>
                </a:xfrm>
                <a:prstGeom prst="rect">
                  <a:avLst/>
                </a:prstGeom>
                <a:blipFill rotWithShape="1">
                  <a:blip r:embed="rId15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矩形 39"/>
              <p:cNvSpPr/>
              <p:nvPr/>
            </p:nvSpPr>
            <p:spPr>
              <a:xfrm>
                <a:off x="5813522" y="5265830"/>
                <a:ext cx="5125085" cy="84899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4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TW" sz="4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40" name="矩形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3522" y="5265830"/>
                <a:ext cx="5125085" cy="848995"/>
              </a:xfrm>
              <a:prstGeom prst="rect">
                <a:avLst/>
              </a:prstGeom>
              <a:blipFill rotWithShape="1">
                <a:blip r:embed="rId16"/>
                <a:stretch>
                  <a:fillRect l="-2" t="-48" r="2" b="4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" grpId="0" bldLvl="0" animBg="1"/>
      <p:bldP spid="110" grpId="0" bldLvl="0" animBg="1"/>
      <p:bldP spid="113" grpId="0"/>
      <p:bldP spid="114" grpId="0"/>
      <p:bldP spid="115" grpId="0"/>
      <p:bldP spid="116" grpId="0"/>
      <p:bldP spid="117" grpId="0"/>
      <p:bldP spid="45" grpId="0" bldLvl="0" animBg="1"/>
      <p:bldP spid="49" grpId="0"/>
      <p:bldP spid="51" grpId="0"/>
      <p:bldP spid="53" grpId="0"/>
      <p:bldP spid="54" grpId="0"/>
      <p:bldP spid="4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Backpropagation – Forward pass</a:t>
            </a:r>
            <a:endParaRPr lang="zh-TW" altLang="en-US" dirty="0"/>
          </a:p>
        </p:txBody>
      </p:sp>
      <p:cxnSp>
        <p:nvCxnSpPr>
          <p:cNvPr id="4" name="直線單箭頭接點 3"/>
          <p:cNvCxnSpPr/>
          <p:nvPr/>
        </p:nvCxnSpPr>
        <p:spPr>
          <a:xfrm flipV="1">
            <a:off x="4120520" y="4663746"/>
            <a:ext cx="2529525" cy="238267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單箭頭接點 4"/>
          <p:cNvCxnSpPr/>
          <p:nvPr/>
        </p:nvCxnSpPr>
        <p:spPr>
          <a:xfrm flipV="1">
            <a:off x="4120520" y="4283739"/>
            <a:ext cx="236526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群組 5"/>
          <p:cNvGrpSpPr/>
          <p:nvPr/>
        </p:nvGrpSpPr>
        <p:grpSpPr>
          <a:xfrm>
            <a:off x="8579495" y="3734450"/>
            <a:ext cx="861237" cy="861237"/>
            <a:chOff x="5170781" y="1854574"/>
            <a:chExt cx="574158" cy="574158"/>
          </a:xfrm>
        </p:grpSpPr>
        <p:sp>
          <p:nvSpPr>
            <p:cNvPr id="7" name="橢圓 6"/>
            <p:cNvSpPr/>
            <p:nvPr/>
          </p:nvSpPr>
          <p:spPr>
            <a:xfrm>
              <a:off x="5170781" y="1854574"/>
              <a:ext cx="574158" cy="57415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8" name="手繪多邊形 7"/>
            <p:cNvSpPr/>
            <p:nvPr/>
          </p:nvSpPr>
          <p:spPr>
            <a:xfrm>
              <a:off x="5232704" y="1980522"/>
              <a:ext cx="469900" cy="354083"/>
            </a:xfrm>
            <a:custGeom>
              <a:avLst/>
              <a:gdLst>
                <a:gd name="connsiteX0" fmla="*/ 469900 w 469900"/>
                <a:gd name="connsiteY0" fmla="*/ 5192 h 354083"/>
                <a:gd name="connsiteX1" fmla="*/ 254000 w 469900"/>
                <a:gd name="connsiteY1" fmla="*/ 43292 h 354083"/>
                <a:gd name="connsiteX2" fmla="*/ 139700 w 469900"/>
                <a:gd name="connsiteY2" fmla="*/ 322692 h 354083"/>
                <a:gd name="connsiteX3" fmla="*/ 0 w 469900"/>
                <a:gd name="connsiteY3" fmla="*/ 335392 h 354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9900" h="354083">
                  <a:moveTo>
                    <a:pt x="469900" y="5192"/>
                  </a:moveTo>
                  <a:cubicBezTo>
                    <a:pt x="389466" y="-2217"/>
                    <a:pt x="309033" y="-9625"/>
                    <a:pt x="254000" y="43292"/>
                  </a:cubicBezTo>
                  <a:cubicBezTo>
                    <a:pt x="198967" y="96209"/>
                    <a:pt x="182033" y="274009"/>
                    <a:pt x="139700" y="322692"/>
                  </a:cubicBezTo>
                  <a:cubicBezTo>
                    <a:pt x="97367" y="371375"/>
                    <a:pt x="48683" y="353383"/>
                    <a:pt x="0" y="335392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</p:grpSp>
      <p:grpSp>
        <p:nvGrpSpPr>
          <p:cNvPr id="9" name="群組 8"/>
          <p:cNvGrpSpPr/>
          <p:nvPr/>
        </p:nvGrpSpPr>
        <p:grpSpPr>
          <a:xfrm>
            <a:off x="6595650" y="4663746"/>
            <a:ext cx="687430" cy="1247921"/>
            <a:chOff x="10102194" y="1939763"/>
            <a:chExt cx="458287" cy="831947"/>
          </a:xfrm>
        </p:grpSpPr>
        <p:sp>
          <p:nvSpPr>
            <p:cNvPr id="10" name="矩形 9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11" name="直線單箭頭接點 10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文字方塊 11"/>
            <p:cNvSpPr txBox="1"/>
            <p:nvPr/>
          </p:nvSpPr>
          <p:spPr>
            <a:xfrm>
              <a:off x="10118802" y="2316503"/>
              <a:ext cx="441679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b</a:t>
              </a:r>
              <a:endParaRPr lang="zh-TW" altLang="en-US" sz="3600" dirty="0"/>
            </a:p>
          </p:txBody>
        </p:sp>
      </p:grpSp>
      <p:grpSp>
        <p:nvGrpSpPr>
          <p:cNvPr id="13" name="群組 12"/>
          <p:cNvGrpSpPr/>
          <p:nvPr/>
        </p:nvGrpSpPr>
        <p:grpSpPr>
          <a:xfrm>
            <a:off x="6534189" y="3953406"/>
            <a:ext cx="712490" cy="637916"/>
            <a:chOff x="3357891" y="3538413"/>
            <a:chExt cx="474993" cy="425277"/>
          </a:xfrm>
        </p:grpSpPr>
        <p:sp>
          <p:nvSpPr>
            <p:cNvPr id="14" name="矩形 13"/>
            <p:cNvSpPr/>
            <p:nvPr/>
          </p:nvSpPr>
          <p:spPr>
            <a:xfrm>
              <a:off x="3357891" y="3538413"/>
              <a:ext cx="474993" cy="42527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15" name="Object 12"/>
            <p:cNvGraphicFramePr>
              <a:graphicFrameLocks noChangeAspect="1"/>
            </p:cNvGraphicFramePr>
            <p:nvPr/>
          </p:nvGraphicFramePr>
          <p:xfrm>
            <a:off x="3435128" y="3545009"/>
            <a:ext cx="385763" cy="387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3" imgW="3352800" imgH="3352800" progId="Equation.3">
                    <p:embed/>
                  </p:oleObj>
                </mc:Choice>
                <mc:Fallback>
                  <p:oleObj name="方程式" r:id="rId3" imgW="3352800" imgH="33528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5128" y="3545009"/>
                          <a:ext cx="385763" cy="3873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16" name="直線單箭頭接點 15"/>
          <p:cNvCxnSpPr/>
          <p:nvPr/>
        </p:nvCxnSpPr>
        <p:spPr>
          <a:xfrm flipV="1">
            <a:off x="7246679" y="4220040"/>
            <a:ext cx="1259037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/>
              <p:cNvSpPr txBox="1"/>
              <p:nvPr/>
            </p:nvSpPr>
            <p:spPr>
              <a:xfrm>
                <a:off x="4887106" y="3542628"/>
                <a:ext cx="684530" cy="757555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17" name="文字方塊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7106" y="3542628"/>
                <a:ext cx="684530" cy="757555"/>
              </a:xfrm>
              <a:prstGeom prst="rect">
                <a:avLst/>
              </a:prstGeom>
              <a:blipFill rotWithShape="1">
                <a:blip r:embed="rId5"/>
                <a:stretch>
                  <a:fillRect l="-949" t="-917" r="-13337" b="-759"/>
                </a:stretch>
              </a:blipFill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/>
              <p:cNvSpPr txBox="1"/>
              <p:nvPr/>
            </p:nvSpPr>
            <p:spPr>
              <a:xfrm>
                <a:off x="7759298" y="3458127"/>
                <a:ext cx="462242" cy="757555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18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9298" y="3458127"/>
                <a:ext cx="462242" cy="757555"/>
              </a:xfrm>
              <a:prstGeom prst="rect">
                <a:avLst/>
              </a:prstGeom>
              <a:blipFill rotWithShape="1">
                <a:blip r:embed="rId6"/>
                <a:stretch>
                  <a:fillRect l="-1424" t="-911" r="-1332" b="-765"/>
                </a:stretch>
              </a:blipFill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字方塊 18"/>
          <p:cNvSpPr txBox="1"/>
          <p:nvPr/>
        </p:nvSpPr>
        <p:spPr>
          <a:xfrm>
            <a:off x="10421910" y="3691491"/>
            <a:ext cx="2141499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b="1" dirty="0"/>
              <a:t>……</a:t>
            </a:r>
            <a:endParaRPr lang="zh-TW" altLang="en-US" sz="4200" b="1" dirty="0"/>
          </a:p>
        </p:txBody>
      </p:sp>
      <p:sp>
        <p:nvSpPr>
          <p:cNvPr id="20" name="文字方塊 19"/>
          <p:cNvSpPr txBox="1"/>
          <p:nvPr/>
        </p:nvSpPr>
        <p:spPr>
          <a:xfrm rot="2277005">
            <a:off x="10199927" y="5299616"/>
            <a:ext cx="2141499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b="1" dirty="0"/>
              <a:t>……</a:t>
            </a:r>
            <a:endParaRPr lang="zh-TW" altLang="en-US" sz="4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/>
              <p:cNvSpPr txBox="1"/>
              <p:nvPr/>
            </p:nvSpPr>
            <p:spPr>
              <a:xfrm>
                <a:off x="4874699" y="5420754"/>
                <a:ext cx="690880" cy="757555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21" name="文字方塊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4699" y="5420754"/>
                <a:ext cx="690880" cy="757555"/>
              </a:xfrm>
              <a:prstGeom prst="rect">
                <a:avLst/>
              </a:prstGeom>
              <a:blipFill rotWithShape="1">
                <a:blip r:embed="rId7"/>
                <a:stretch>
                  <a:fillRect l="-983" t="-890" r="-12712" b="-786"/>
                </a:stretch>
              </a:blipFill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/>
              <p:cNvSpPr txBox="1"/>
              <p:nvPr/>
            </p:nvSpPr>
            <p:spPr>
              <a:xfrm>
                <a:off x="3430028" y="3858159"/>
                <a:ext cx="580390" cy="757555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22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0028" y="3858159"/>
                <a:ext cx="580390" cy="757555"/>
              </a:xfrm>
              <a:prstGeom prst="rect">
                <a:avLst/>
              </a:prstGeom>
              <a:blipFill rotWithShape="1">
                <a:blip r:embed="rId8"/>
                <a:stretch>
                  <a:fillRect l="-1162" t="-909" r="-15140" b="-768"/>
                </a:stretch>
              </a:blip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/>
              <p:cNvSpPr txBox="1"/>
              <p:nvPr/>
            </p:nvSpPr>
            <p:spPr>
              <a:xfrm>
                <a:off x="3450484" y="6654701"/>
                <a:ext cx="586740" cy="757555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23" name="文字方塊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0484" y="6654701"/>
                <a:ext cx="586740" cy="757555"/>
              </a:xfrm>
              <a:prstGeom prst="rect">
                <a:avLst/>
              </a:prstGeom>
              <a:blipFill rotWithShape="1">
                <a:blip r:embed="rId9"/>
                <a:stretch>
                  <a:fillRect l="-1172" t="-909" r="-14412" b="-768"/>
                </a:stretch>
              </a:blip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群組 23"/>
          <p:cNvGrpSpPr/>
          <p:nvPr/>
        </p:nvGrpSpPr>
        <p:grpSpPr>
          <a:xfrm>
            <a:off x="12614964" y="3738458"/>
            <a:ext cx="2397023" cy="861237"/>
            <a:chOff x="6972319" y="1991264"/>
            <a:chExt cx="1598015" cy="574158"/>
          </a:xfrm>
        </p:grpSpPr>
        <p:cxnSp>
          <p:nvCxnSpPr>
            <p:cNvPr id="25" name="直線單箭頭接點 24"/>
            <p:cNvCxnSpPr/>
            <p:nvPr/>
          </p:nvCxnSpPr>
          <p:spPr>
            <a:xfrm>
              <a:off x="7511561" y="2260065"/>
              <a:ext cx="64900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橢圓 25"/>
            <p:cNvSpPr/>
            <p:nvPr/>
          </p:nvSpPr>
          <p:spPr>
            <a:xfrm>
              <a:off x="6972319" y="1991264"/>
              <a:ext cx="574158" cy="574158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27" name="手繪多邊形 26"/>
            <p:cNvSpPr/>
            <p:nvPr/>
          </p:nvSpPr>
          <p:spPr>
            <a:xfrm>
              <a:off x="7029490" y="2083023"/>
              <a:ext cx="469900" cy="354083"/>
            </a:xfrm>
            <a:custGeom>
              <a:avLst/>
              <a:gdLst>
                <a:gd name="connsiteX0" fmla="*/ 469900 w 469900"/>
                <a:gd name="connsiteY0" fmla="*/ 5192 h 354083"/>
                <a:gd name="connsiteX1" fmla="*/ 254000 w 469900"/>
                <a:gd name="connsiteY1" fmla="*/ 43292 h 354083"/>
                <a:gd name="connsiteX2" fmla="*/ 139700 w 469900"/>
                <a:gd name="connsiteY2" fmla="*/ 322692 h 354083"/>
                <a:gd name="connsiteX3" fmla="*/ 0 w 469900"/>
                <a:gd name="connsiteY3" fmla="*/ 335392 h 354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9900" h="354083">
                  <a:moveTo>
                    <a:pt x="469900" y="5192"/>
                  </a:moveTo>
                  <a:cubicBezTo>
                    <a:pt x="389466" y="-2217"/>
                    <a:pt x="309033" y="-9625"/>
                    <a:pt x="254000" y="43292"/>
                  </a:cubicBezTo>
                  <a:cubicBezTo>
                    <a:pt x="198967" y="96209"/>
                    <a:pt x="182033" y="274009"/>
                    <a:pt x="139700" y="322692"/>
                  </a:cubicBezTo>
                  <a:cubicBezTo>
                    <a:pt x="97367" y="371375"/>
                    <a:pt x="48683" y="353383"/>
                    <a:pt x="0" y="335392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字方塊 27"/>
                <p:cNvSpPr txBox="1"/>
                <p:nvPr/>
              </p:nvSpPr>
              <p:spPr>
                <a:xfrm>
                  <a:off x="8235054" y="1995620"/>
                  <a:ext cx="335280" cy="43222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28" name="文字方塊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5054" y="1995620"/>
                  <a:ext cx="335280" cy="432223"/>
                </a:xfrm>
                <a:prstGeom prst="rect">
                  <a:avLst/>
                </a:prstGeom>
                <a:blipFill rotWithShape="1">
                  <a:blip r:embed="rId10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群組 28"/>
          <p:cNvGrpSpPr/>
          <p:nvPr/>
        </p:nvGrpSpPr>
        <p:grpSpPr>
          <a:xfrm>
            <a:off x="12614964" y="6541581"/>
            <a:ext cx="2339568" cy="861237"/>
            <a:chOff x="6971653" y="3807759"/>
            <a:chExt cx="1559712" cy="574158"/>
          </a:xfrm>
        </p:grpSpPr>
        <p:cxnSp>
          <p:nvCxnSpPr>
            <p:cNvPr id="30" name="直線單箭頭接點 29"/>
            <p:cNvCxnSpPr/>
            <p:nvPr/>
          </p:nvCxnSpPr>
          <p:spPr>
            <a:xfrm>
              <a:off x="7469205" y="4136249"/>
              <a:ext cx="65565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橢圓 30"/>
            <p:cNvSpPr/>
            <p:nvPr/>
          </p:nvSpPr>
          <p:spPr>
            <a:xfrm>
              <a:off x="6971653" y="3807759"/>
              <a:ext cx="574158" cy="574158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32" name="手繪多邊形 31"/>
            <p:cNvSpPr/>
            <p:nvPr/>
          </p:nvSpPr>
          <p:spPr>
            <a:xfrm>
              <a:off x="7034221" y="3917795"/>
              <a:ext cx="469900" cy="354083"/>
            </a:xfrm>
            <a:custGeom>
              <a:avLst/>
              <a:gdLst>
                <a:gd name="connsiteX0" fmla="*/ 469900 w 469900"/>
                <a:gd name="connsiteY0" fmla="*/ 5192 h 354083"/>
                <a:gd name="connsiteX1" fmla="*/ 254000 w 469900"/>
                <a:gd name="connsiteY1" fmla="*/ 43292 h 354083"/>
                <a:gd name="connsiteX2" fmla="*/ 139700 w 469900"/>
                <a:gd name="connsiteY2" fmla="*/ 322692 h 354083"/>
                <a:gd name="connsiteX3" fmla="*/ 0 w 469900"/>
                <a:gd name="connsiteY3" fmla="*/ 335392 h 354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9900" h="354083">
                  <a:moveTo>
                    <a:pt x="469900" y="5192"/>
                  </a:moveTo>
                  <a:cubicBezTo>
                    <a:pt x="389466" y="-2217"/>
                    <a:pt x="309033" y="-9625"/>
                    <a:pt x="254000" y="43292"/>
                  </a:cubicBezTo>
                  <a:cubicBezTo>
                    <a:pt x="198967" y="96209"/>
                    <a:pt x="182033" y="274009"/>
                    <a:pt x="139700" y="322692"/>
                  </a:cubicBezTo>
                  <a:cubicBezTo>
                    <a:pt x="97367" y="371375"/>
                    <a:pt x="48683" y="353383"/>
                    <a:pt x="0" y="335392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字方塊 32"/>
                <p:cNvSpPr txBox="1"/>
                <p:nvPr/>
              </p:nvSpPr>
              <p:spPr>
                <a:xfrm>
                  <a:off x="8192698" y="3931665"/>
                  <a:ext cx="338667" cy="43222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33" name="文字方塊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2698" y="3931665"/>
                  <a:ext cx="338667" cy="432223"/>
                </a:xfrm>
                <a:prstGeom prst="rect">
                  <a:avLst/>
                </a:prstGeom>
                <a:blipFill rotWithShape="1">
                  <a:blip r:embed="rId11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矩形 33"/>
              <p:cNvSpPr/>
              <p:nvPr/>
            </p:nvSpPr>
            <p:spPr>
              <a:xfrm>
                <a:off x="5848796" y="5955261"/>
                <a:ext cx="5125085" cy="84899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4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TW" sz="4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34" name="矩形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8796" y="5955261"/>
                <a:ext cx="5125085" cy="848995"/>
              </a:xfrm>
              <a:prstGeom prst="rect">
                <a:avLst/>
              </a:prstGeom>
              <a:blipFill rotWithShape="1">
                <a:blip r:embed="rId12"/>
                <a:stretch>
                  <a:fillRect l="-9" t="-27" r="9" b="2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/>
              <p:cNvSpPr txBox="1"/>
              <p:nvPr/>
            </p:nvSpPr>
            <p:spPr>
              <a:xfrm>
                <a:off x="3861922" y="8095427"/>
                <a:ext cx="2710815" cy="7575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35" name="文字方塊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1922" y="8095427"/>
                <a:ext cx="2710815" cy="757555"/>
              </a:xfrm>
              <a:prstGeom prst="rect">
                <a:avLst/>
              </a:prstGeom>
              <a:blipFill rotWithShape="1">
                <a:blip r:embed="rId13"/>
                <a:stretch>
                  <a:fillRect l="-18" t="-59" r="-4362" b="5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矩形 35"/>
              <p:cNvSpPr/>
              <p:nvPr/>
            </p:nvSpPr>
            <p:spPr>
              <a:xfrm>
                <a:off x="6563334" y="7986763"/>
                <a:ext cx="810260" cy="84899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36" name="矩形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3334" y="7986763"/>
                <a:ext cx="810260" cy="848995"/>
              </a:xfrm>
              <a:prstGeom prst="rect">
                <a:avLst/>
              </a:prstGeom>
              <a:blipFill rotWithShape="1">
                <a:blip r:embed="rId14"/>
                <a:stretch>
                  <a:fillRect l="-75" t="-43" r="75" b="4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/>
              <p:cNvSpPr txBox="1"/>
              <p:nvPr/>
            </p:nvSpPr>
            <p:spPr>
              <a:xfrm>
                <a:off x="3393123" y="2364282"/>
                <a:ext cx="8162925" cy="7575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TW" sz="4200" dirty="0"/>
                  <a:t>Compute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altLang="zh-TW" sz="4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4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42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zh-TW" altLang="en-US" sz="4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4200" i="1" smtClean="0"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</m:oMath>
                </a14:m>
                <a:r>
                  <a:rPr lang="en-US" altLang="zh-TW" sz="4200" dirty="0"/>
                  <a:t> for all parameters</a:t>
                </a:r>
                <a:endParaRPr lang="zh-TW" altLang="en-US" sz="4200" dirty="0"/>
              </a:p>
            </p:txBody>
          </p:sp>
        </mc:Choice>
        <mc:Fallback xmlns="">
          <p:sp>
            <p:nvSpPr>
              <p:cNvPr id="37" name="文字方塊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3123" y="2364282"/>
                <a:ext cx="8162925" cy="757555"/>
              </a:xfrm>
              <a:prstGeom prst="rect">
                <a:avLst/>
              </a:prstGeom>
              <a:blipFill rotWithShape="1">
                <a:blip r:embed="rId15"/>
                <a:stretch>
                  <a:fillRect l="-4" t="-23" r="-1451" b="2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37"/>
              <p:cNvSpPr txBox="1"/>
              <p:nvPr/>
            </p:nvSpPr>
            <p:spPr>
              <a:xfrm>
                <a:off x="3861922" y="9075854"/>
                <a:ext cx="2712085" cy="7575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a:rPr lang="zh-TW" altLang="en-US" sz="42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4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38" name="文字方塊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1922" y="9075854"/>
                <a:ext cx="2712085" cy="757555"/>
              </a:xfrm>
              <a:prstGeom prst="rect">
                <a:avLst/>
              </a:prstGeom>
              <a:blipFill rotWithShape="1">
                <a:blip r:embed="rId16"/>
                <a:stretch>
                  <a:fillRect l="-18" t="-57" r="-4337" b="5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矩形 38"/>
              <p:cNvSpPr/>
              <p:nvPr/>
            </p:nvSpPr>
            <p:spPr>
              <a:xfrm>
                <a:off x="6563334" y="8937354"/>
                <a:ext cx="816610" cy="84899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39" name="矩形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3334" y="8937354"/>
                <a:ext cx="816610" cy="848995"/>
              </a:xfrm>
              <a:prstGeom prst="rect">
                <a:avLst/>
              </a:prstGeom>
              <a:blipFill rotWithShape="1">
                <a:blip r:embed="rId17"/>
                <a:stretch>
                  <a:fillRect l="-75" t="-43" r="75" b="4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文字方塊 39"/>
          <p:cNvSpPr txBox="1"/>
          <p:nvPr/>
        </p:nvSpPr>
        <p:spPr>
          <a:xfrm>
            <a:off x="8812444" y="8201586"/>
            <a:ext cx="5870261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The value of the input connected by the weight</a:t>
            </a:r>
            <a:endParaRPr lang="zh-TW" altLang="en-US" sz="4200" dirty="0"/>
          </a:p>
        </p:txBody>
      </p:sp>
      <p:sp>
        <p:nvSpPr>
          <p:cNvPr id="41" name="右大括弧 40"/>
          <p:cNvSpPr/>
          <p:nvPr/>
        </p:nvSpPr>
        <p:spPr>
          <a:xfrm>
            <a:off x="7621011" y="8084790"/>
            <a:ext cx="707337" cy="1702956"/>
          </a:xfrm>
          <a:prstGeom prst="rightBrace">
            <a:avLst>
              <a:gd name="adj1" fmla="val 40651"/>
              <a:gd name="adj2" fmla="val 50000"/>
            </a:avLst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8" grpId="0"/>
      <p:bldP spid="39" grpId="0"/>
      <p:bldP spid="40" grpId="0"/>
      <p:bldP spid="41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Backpropagation – Forward pass</a:t>
            </a:r>
            <a:endParaRPr lang="zh-TW" altLang="en-US" dirty="0"/>
          </a:p>
        </p:txBody>
      </p:sp>
      <p:cxnSp>
        <p:nvCxnSpPr>
          <p:cNvPr id="93" name="直線單箭頭接點 92"/>
          <p:cNvCxnSpPr/>
          <p:nvPr/>
        </p:nvCxnSpPr>
        <p:spPr>
          <a:xfrm>
            <a:off x="13842549" y="6705734"/>
            <a:ext cx="98348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單箭頭接點 93"/>
          <p:cNvCxnSpPr/>
          <p:nvPr/>
        </p:nvCxnSpPr>
        <p:spPr>
          <a:xfrm>
            <a:off x="13842549" y="4216340"/>
            <a:ext cx="97351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橢圓 94"/>
          <p:cNvSpPr/>
          <p:nvPr/>
        </p:nvSpPr>
        <p:spPr>
          <a:xfrm>
            <a:off x="6498014" y="3900032"/>
            <a:ext cx="861237" cy="861237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96" name="橢圓 95"/>
          <p:cNvSpPr/>
          <p:nvPr/>
        </p:nvSpPr>
        <p:spPr>
          <a:xfrm>
            <a:off x="6481089" y="6221574"/>
            <a:ext cx="861237" cy="861237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97" name="橢圓 96"/>
          <p:cNvSpPr/>
          <p:nvPr/>
        </p:nvSpPr>
        <p:spPr>
          <a:xfrm>
            <a:off x="9803147" y="3853985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98" name="橢圓 97"/>
          <p:cNvSpPr/>
          <p:nvPr/>
        </p:nvSpPr>
        <p:spPr>
          <a:xfrm>
            <a:off x="9831530" y="6212999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99" name="橢圓 98"/>
          <p:cNvSpPr/>
          <p:nvPr/>
        </p:nvSpPr>
        <p:spPr>
          <a:xfrm>
            <a:off x="13033686" y="3813138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00" name="橢圓 99"/>
          <p:cNvSpPr/>
          <p:nvPr/>
        </p:nvSpPr>
        <p:spPr>
          <a:xfrm>
            <a:off x="13096221" y="6212999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pSp>
        <p:nvGrpSpPr>
          <p:cNvPr id="105" name="群組 104"/>
          <p:cNvGrpSpPr/>
          <p:nvPr/>
        </p:nvGrpSpPr>
        <p:grpSpPr>
          <a:xfrm>
            <a:off x="4073706" y="4314374"/>
            <a:ext cx="2383314" cy="2457450"/>
            <a:chOff x="1013669" y="3459098"/>
            <a:chExt cx="1588876" cy="1638300"/>
          </a:xfrm>
        </p:grpSpPr>
        <p:cxnSp>
          <p:nvCxnSpPr>
            <p:cNvPr id="184" name="直線單箭頭接點 183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5" name="群組 184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186" name="直線單箭頭接點 185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直線單箭頭接點 186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直線單箭頭接點 187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7" name="群組 106"/>
          <p:cNvGrpSpPr/>
          <p:nvPr/>
        </p:nvGrpSpPr>
        <p:grpSpPr>
          <a:xfrm>
            <a:off x="7401167" y="4292343"/>
            <a:ext cx="2383314" cy="2457450"/>
            <a:chOff x="1013669" y="3459098"/>
            <a:chExt cx="1588876" cy="1638300"/>
          </a:xfrm>
        </p:grpSpPr>
        <p:cxnSp>
          <p:nvCxnSpPr>
            <p:cNvPr id="179" name="直線單箭頭接點 178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0" name="群組 179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181" name="直線單箭頭接點 180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直線單箭頭接點 181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直線單箭頭接點 182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8" name="群組 107"/>
          <p:cNvGrpSpPr/>
          <p:nvPr/>
        </p:nvGrpSpPr>
        <p:grpSpPr>
          <a:xfrm>
            <a:off x="10701074" y="4262466"/>
            <a:ext cx="2383314" cy="2457450"/>
            <a:chOff x="1013669" y="3459098"/>
            <a:chExt cx="1588876" cy="1638300"/>
          </a:xfrm>
        </p:grpSpPr>
        <p:cxnSp>
          <p:nvCxnSpPr>
            <p:cNvPr id="174" name="直線單箭頭接點 173"/>
            <p:cNvCxnSpPr/>
            <p:nvPr/>
          </p:nvCxnSpPr>
          <p:spPr>
            <a:xfrm flipV="1">
              <a:off x="1013669" y="3507292"/>
              <a:ext cx="1574937" cy="1585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5" name="群組 174"/>
            <p:cNvGrpSpPr/>
            <p:nvPr/>
          </p:nvGrpSpPr>
          <p:grpSpPr>
            <a:xfrm>
              <a:off x="1025705" y="3459098"/>
              <a:ext cx="1576840" cy="1638300"/>
              <a:chOff x="1025705" y="3459098"/>
              <a:chExt cx="1576840" cy="1638300"/>
            </a:xfrm>
          </p:grpSpPr>
          <p:cxnSp>
            <p:nvCxnSpPr>
              <p:cNvPr id="176" name="直線單箭頭接點 175"/>
              <p:cNvCxnSpPr/>
              <p:nvPr/>
            </p:nvCxnSpPr>
            <p:spPr>
              <a:xfrm>
                <a:off x="1048081" y="3459098"/>
                <a:ext cx="1548874" cy="160892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直線單箭頭接點 176"/>
              <p:cNvCxnSpPr/>
              <p:nvPr/>
            </p:nvCxnSpPr>
            <p:spPr>
              <a:xfrm flipV="1">
                <a:off x="1025705" y="50973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直線單箭頭接點 177"/>
              <p:cNvCxnSpPr/>
              <p:nvPr/>
            </p:nvCxnSpPr>
            <p:spPr>
              <a:xfrm flipV="1">
                <a:off x="1025705" y="3459098"/>
                <a:ext cx="1576840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11" name="手繪多邊形 110"/>
          <p:cNvSpPr/>
          <p:nvPr/>
        </p:nvSpPr>
        <p:spPr>
          <a:xfrm>
            <a:off x="6580563" y="6410294"/>
            <a:ext cx="704850" cy="531125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21" name="手繪多邊形 120"/>
          <p:cNvSpPr/>
          <p:nvPr/>
        </p:nvSpPr>
        <p:spPr>
          <a:xfrm>
            <a:off x="6552648" y="4026132"/>
            <a:ext cx="704850" cy="531125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22" name="手繪多邊形 121"/>
          <p:cNvSpPr/>
          <p:nvPr/>
        </p:nvSpPr>
        <p:spPr>
          <a:xfrm>
            <a:off x="9896031" y="4042907"/>
            <a:ext cx="704850" cy="531125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23" name="手繪多邊形 122"/>
          <p:cNvSpPr/>
          <p:nvPr/>
        </p:nvSpPr>
        <p:spPr>
          <a:xfrm>
            <a:off x="9920547" y="6327900"/>
            <a:ext cx="704850" cy="531125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24" name="手繪多邊形 123"/>
          <p:cNvSpPr/>
          <p:nvPr/>
        </p:nvSpPr>
        <p:spPr>
          <a:xfrm>
            <a:off x="13119443" y="3950777"/>
            <a:ext cx="704850" cy="531125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25" name="手繪多邊形 124"/>
          <p:cNvSpPr/>
          <p:nvPr/>
        </p:nvSpPr>
        <p:spPr>
          <a:xfrm>
            <a:off x="13190073" y="6378053"/>
            <a:ext cx="704850" cy="531125"/>
          </a:xfrm>
          <a:custGeom>
            <a:avLst/>
            <a:gdLst>
              <a:gd name="connsiteX0" fmla="*/ 469900 w 469900"/>
              <a:gd name="connsiteY0" fmla="*/ 5192 h 354083"/>
              <a:gd name="connsiteX1" fmla="*/ 254000 w 469900"/>
              <a:gd name="connsiteY1" fmla="*/ 43292 h 354083"/>
              <a:gd name="connsiteX2" fmla="*/ 139700 w 469900"/>
              <a:gd name="connsiteY2" fmla="*/ 322692 h 354083"/>
              <a:gd name="connsiteX3" fmla="*/ 0 w 469900"/>
              <a:gd name="connsiteY3" fmla="*/ 335392 h 35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900" h="354083">
                <a:moveTo>
                  <a:pt x="469900" y="5192"/>
                </a:moveTo>
                <a:cubicBezTo>
                  <a:pt x="389466" y="-2217"/>
                  <a:pt x="309033" y="-9625"/>
                  <a:pt x="254000" y="43292"/>
                </a:cubicBezTo>
                <a:cubicBezTo>
                  <a:pt x="198967" y="96209"/>
                  <a:pt x="182033" y="274009"/>
                  <a:pt x="139700" y="322692"/>
                </a:cubicBezTo>
                <a:cubicBezTo>
                  <a:pt x="97367" y="371375"/>
                  <a:pt x="48683" y="353383"/>
                  <a:pt x="0" y="33539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26" name="文字方塊 125"/>
          <p:cNvSpPr txBox="1"/>
          <p:nvPr/>
        </p:nvSpPr>
        <p:spPr>
          <a:xfrm>
            <a:off x="4972101" y="3595331"/>
            <a:ext cx="5143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dirty="0"/>
          </a:p>
        </p:txBody>
      </p:sp>
      <p:sp>
        <p:nvSpPr>
          <p:cNvPr id="127" name="文字方塊 126"/>
          <p:cNvSpPr txBox="1"/>
          <p:nvPr/>
        </p:nvSpPr>
        <p:spPr>
          <a:xfrm>
            <a:off x="5222737" y="4477806"/>
            <a:ext cx="66251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-2</a:t>
            </a:r>
            <a:endParaRPr lang="zh-TW" altLang="en-US" sz="3600" dirty="0"/>
          </a:p>
        </p:txBody>
      </p:sp>
      <p:sp>
        <p:nvSpPr>
          <p:cNvPr id="128" name="文字方塊 127"/>
          <p:cNvSpPr txBox="1"/>
          <p:nvPr/>
        </p:nvSpPr>
        <p:spPr>
          <a:xfrm>
            <a:off x="4769294" y="6753501"/>
            <a:ext cx="107315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1</a:t>
            </a:r>
            <a:endParaRPr lang="zh-TW" altLang="en-US" sz="3600" dirty="0"/>
          </a:p>
        </p:txBody>
      </p:sp>
      <p:sp>
        <p:nvSpPr>
          <p:cNvPr id="129" name="文字方塊 128"/>
          <p:cNvSpPr txBox="1"/>
          <p:nvPr/>
        </p:nvSpPr>
        <p:spPr>
          <a:xfrm>
            <a:off x="4997712" y="5898033"/>
            <a:ext cx="107315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-1</a:t>
            </a:r>
            <a:endParaRPr lang="zh-TW" altLang="en-US" sz="3600" dirty="0"/>
          </a:p>
        </p:txBody>
      </p:sp>
      <p:grpSp>
        <p:nvGrpSpPr>
          <p:cNvPr id="130" name="群組 129"/>
          <p:cNvGrpSpPr/>
          <p:nvPr/>
        </p:nvGrpSpPr>
        <p:grpSpPr>
          <a:xfrm>
            <a:off x="6117084" y="4467086"/>
            <a:ext cx="687430" cy="1247921"/>
            <a:chOff x="10102194" y="1939763"/>
            <a:chExt cx="458287" cy="831947"/>
          </a:xfrm>
        </p:grpSpPr>
        <p:sp>
          <p:nvSpPr>
            <p:cNvPr id="171" name="矩形 170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172" name="直線單箭頭接點 171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3" name="文字方塊 172"/>
            <p:cNvSpPr txBox="1"/>
            <p:nvPr/>
          </p:nvSpPr>
          <p:spPr>
            <a:xfrm>
              <a:off x="10118802" y="2316503"/>
              <a:ext cx="441679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1</a:t>
              </a:r>
              <a:endParaRPr lang="zh-TW" altLang="en-US" sz="3600" dirty="0"/>
            </a:p>
          </p:txBody>
        </p:sp>
      </p:grpSp>
      <p:grpSp>
        <p:nvGrpSpPr>
          <p:cNvPr id="131" name="群組 130"/>
          <p:cNvGrpSpPr/>
          <p:nvPr/>
        </p:nvGrpSpPr>
        <p:grpSpPr>
          <a:xfrm>
            <a:off x="6131372" y="6791094"/>
            <a:ext cx="687430" cy="1247921"/>
            <a:chOff x="10102194" y="1939763"/>
            <a:chExt cx="458287" cy="831947"/>
          </a:xfrm>
        </p:grpSpPr>
        <p:sp>
          <p:nvSpPr>
            <p:cNvPr id="168" name="矩形 167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169" name="直線單箭頭接點 168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0" name="文字方塊 169"/>
            <p:cNvSpPr txBox="1"/>
            <p:nvPr/>
          </p:nvSpPr>
          <p:spPr>
            <a:xfrm>
              <a:off x="10118802" y="2316503"/>
              <a:ext cx="441679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0</a:t>
              </a:r>
              <a:endParaRPr lang="zh-TW" altLang="en-US" sz="3600" dirty="0"/>
            </a:p>
          </p:txBody>
        </p:sp>
      </p:grpSp>
      <p:sp>
        <p:nvSpPr>
          <p:cNvPr id="134" name="文字方塊 133"/>
          <p:cNvSpPr txBox="1"/>
          <p:nvPr/>
        </p:nvSpPr>
        <p:spPr>
          <a:xfrm>
            <a:off x="7073933" y="3509252"/>
            <a:ext cx="1217463" cy="64516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0000FF"/>
                </a:solidFill>
              </a:rPr>
              <a:t>0.98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135" name="文字方塊 134"/>
          <p:cNvSpPr txBox="1"/>
          <p:nvPr/>
        </p:nvSpPr>
        <p:spPr>
          <a:xfrm>
            <a:off x="7107411" y="5917548"/>
            <a:ext cx="1217463" cy="64516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0000FF"/>
                </a:solidFill>
              </a:rPr>
              <a:t>0.12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136" name="文字方塊 135"/>
          <p:cNvSpPr txBox="1"/>
          <p:nvPr/>
        </p:nvSpPr>
        <p:spPr>
          <a:xfrm>
            <a:off x="8340213" y="3564047"/>
            <a:ext cx="5143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2</a:t>
            </a:r>
            <a:endParaRPr lang="zh-TW" altLang="en-US" sz="3600" dirty="0"/>
          </a:p>
        </p:txBody>
      </p:sp>
      <p:sp>
        <p:nvSpPr>
          <p:cNvPr id="137" name="文字方塊 136"/>
          <p:cNvSpPr txBox="1"/>
          <p:nvPr/>
        </p:nvSpPr>
        <p:spPr>
          <a:xfrm>
            <a:off x="8590850" y="4446522"/>
            <a:ext cx="66251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-1</a:t>
            </a:r>
            <a:endParaRPr lang="zh-TW" altLang="en-US" sz="3600" dirty="0"/>
          </a:p>
        </p:txBody>
      </p:sp>
      <p:sp>
        <p:nvSpPr>
          <p:cNvPr id="138" name="文字方塊 137"/>
          <p:cNvSpPr txBox="1"/>
          <p:nvPr/>
        </p:nvSpPr>
        <p:spPr>
          <a:xfrm>
            <a:off x="8137405" y="6722217"/>
            <a:ext cx="107315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-1</a:t>
            </a:r>
            <a:endParaRPr lang="zh-TW" altLang="en-US" sz="3600" dirty="0"/>
          </a:p>
        </p:txBody>
      </p:sp>
      <p:sp>
        <p:nvSpPr>
          <p:cNvPr id="139" name="文字方塊 138"/>
          <p:cNvSpPr txBox="1"/>
          <p:nvPr/>
        </p:nvSpPr>
        <p:spPr>
          <a:xfrm>
            <a:off x="8365824" y="5866749"/>
            <a:ext cx="107315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-2</a:t>
            </a:r>
            <a:endParaRPr lang="zh-TW" altLang="en-US" sz="3600" dirty="0"/>
          </a:p>
        </p:txBody>
      </p:sp>
      <p:sp>
        <p:nvSpPr>
          <p:cNvPr id="140" name="文字方塊 139"/>
          <p:cNvSpPr txBox="1"/>
          <p:nvPr/>
        </p:nvSpPr>
        <p:spPr>
          <a:xfrm>
            <a:off x="11599382" y="3565422"/>
            <a:ext cx="5143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3</a:t>
            </a:r>
            <a:endParaRPr lang="zh-TW" altLang="en-US" sz="3600" dirty="0"/>
          </a:p>
        </p:txBody>
      </p:sp>
      <p:sp>
        <p:nvSpPr>
          <p:cNvPr id="141" name="文字方塊 140"/>
          <p:cNvSpPr txBox="1"/>
          <p:nvPr/>
        </p:nvSpPr>
        <p:spPr>
          <a:xfrm>
            <a:off x="11850018" y="4447898"/>
            <a:ext cx="66251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-1</a:t>
            </a:r>
            <a:endParaRPr lang="zh-TW" altLang="en-US" sz="3600" dirty="0"/>
          </a:p>
        </p:txBody>
      </p:sp>
      <p:sp>
        <p:nvSpPr>
          <p:cNvPr id="142" name="文字方塊 141"/>
          <p:cNvSpPr txBox="1"/>
          <p:nvPr/>
        </p:nvSpPr>
        <p:spPr>
          <a:xfrm>
            <a:off x="11396574" y="6723593"/>
            <a:ext cx="107315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4</a:t>
            </a:r>
            <a:endParaRPr lang="zh-TW" altLang="en-US" sz="3600" dirty="0"/>
          </a:p>
        </p:txBody>
      </p:sp>
      <p:sp>
        <p:nvSpPr>
          <p:cNvPr id="143" name="文字方塊 142"/>
          <p:cNvSpPr txBox="1"/>
          <p:nvPr/>
        </p:nvSpPr>
        <p:spPr>
          <a:xfrm>
            <a:off x="11624993" y="5868125"/>
            <a:ext cx="107315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-1</a:t>
            </a:r>
            <a:endParaRPr lang="zh-TW" altLang="en-US" sz="3600" dirty="0"/>
          </a:p>
        </p:txBody>
      </p:sp>
      <p:sp>
        <p:nvSpPr>
          <p:cNvPr id="144" name="文字方塊 143"/>
          <p:cNvSpPr txBox="1"/>
          <p:nvPr/>
        </p:nvSpPr>
        <p:spPr>
          <a:xfrm>
            <a:off x="10289613" y="3553569"/>
            <a:ext cx="1217463" cy="64516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0000FF"/>
                </a:solidFill>
              </a:rPr>
              <a:t>0.86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145" name="文字方塊 144"/>
          <p:cNvSpPr txBox="1"/>
          <p:nvPr/>
        </p:nvSpPr>
        <p:spPr>
          <a:xfrm>
            <a:off x="10323091" y="5961866"/>
            <a:ext cx="1217463" cy="64516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0000FF"/>
                </a:solidFill>
              </a:rPr>
              <a:t>0.11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grpSp>
        <p:nvGrpSpPr>
          <p:cNvPr id="148" name="群組 147"/>
          <p:cNvGrpSpPr/>
          <p:nvPr/>
        </p:nvGrpSpPr>
        <p:grpSpPr>
          <a:xfrm>
            <a:off x="9421050" y="4448913"/>
            <a:ext cx="687430" cy="1247921"/>
            <a:chOff x="10102194" y="1939763"/>
            <a:chExt cx="458287" cy="831947"/>
          </a:xfrm>
        </p:grpSpPr>
        <p:sp>
          <p:nvSpPr>
            <p:cNvPr id="165" name="矩形 164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166" name="直線單箭頭接點 165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7" name="文字方塊 166"/>
            <p:cNvSpPr txBox="1"/>
            <p:nvPr/>
          </p:nvSpPr>
          <p:spPr>
            <a:xfrm>
              <a:off x="10118802" y="2316503"/>
              <a:ext cx="441679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0</a:t>
              </a:r>
              <a:endParaRPr lang="zh-TW" altLang="en-US" sz="3600" dirty="0"/>
            </a:p>
          </p:txBody>
        </p:sp>
      </p:grpSp>
      <p:grpSp>
        <p:nvGrpSpPr>
          <p:cNvPr id="149" name="群組 148"/>
          <p:cNvGrpSpPr/>
          <p:nvPr/>
        </p:nvGrpSpPr>
        <p:grpSpPr>
          <a:xfrm>
            <a:off x="9424617" y="6735398"/>
            <a:ext cx="687430" cy="1247921"/>
            <a:chOff x="10102194" y="1939763"/>
            <a:chExt cx="458287" cy="831947"/>
          </a:xfrm>
        </p:grpSpPr>
        <p:sp>
          <p:nvSpPr>
            <p:cNvPr id="162" name="矩形 161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163" name="直線單箭頭接點 162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4" name="文字方塊 163"/>
            <p:cNvSpPr txBox="1"/>
            <p:nvPr/>
          </p:nvSpPr>
          <p:spPr>
            <a:xfrm>
              <a:off x="10118802" y="2316503"/>
              <a:ext cx="441679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0</a:t>
              </a:r>
              <a:endParaRPr lang="zh-TW" altLang="en-US" sz="3600" dirty="0"/>
            </a:p>
          </p:txBody>
        </p:sp>
      </p:grpSp>
      <p:grpSp>
        <p:nvGrpSpPr>
          <p:cNvPr id="150" name="群組 149"/>
          <p:cNvGrpSpPr/>
          <p:nvPr/>
        </p:nvGrpSpPr>
        <p:grpSpPr>
          <a:xfrm>
            <a:off x="12688410" y="4441125"/>
            <a:ext cx="687430" cy="1247921"/>
            <a:chOff x="10102194" y="1939763"/>
            <a:chExt cx="458287" cy="831947"/>
          </a:xfrm>
        </p:grpSpPr>
        <p:sp>
          <p:nvSpPr>
            <p:cNvPr id="159" name="矩形 158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160" name="直線單箭頭接點 159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1" name="文字方塊 160"/>
            <p:cNvSpPr txBox="1"/>
            <p:nvPr/>
          </p:nvSpPr>
          <p:spPr>
            <a:xfrm>
              <a:off x="10118802" y="2316503"/>
              <a:ext cx="441679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-2</a:t>
              </a:r>
              <a:endParaRPr lang="zh-TW" altLang="en-US" sz="3600" dirty="0"/>
            </a:p>
          </p:txBody>
        </p:sp>
      </p:grpSp>
      <p:grpSp>
        <p:nvGrpSpPr>
          <p:cNvPr id="151" name="群組 150"/>
          <p:cNvGrpSpPr/>
          <p:nvPr/>
        </p:nvGrpSpPr>
        <p:grpSpPr>
          <a:xfrm>
            <a:off x="12769530" y="6776379"/>
            <a:ext cx="687430" cy="1247921"/>
            <a:chOff x="10102194" y="1939763"/>
            <a:chExt cx="458287" cy="831947"/>
          </a:xfrm>
        </p:grpSpPr>
        <p:sp>
          <p:nvSpPr>
            <p:cNvPr id="156" name="矩形 155"/>
            <p:cNvSpPr/>
            <p:nvPr/>
          </p:nvSpPr>
          <p:spPr>
            <a:xfrm>
              <a:off x="10102194" y="2322963"/>
              <a:ext cx="458287" cy="4487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cxnSp>
          <p:nvCxnSpPr>
            <p:cNvPr id="157" name="直線單箭頭接點 156"/>
            <p:cNvCxnSpPr/>
            <p:nvPr/>
          </p:nvCxnSpPr>
          <p:spPr>
            <a:xfrm flipV="1">
              <a:off x="10329096" y="1939763"/>
              <a:ext cx="0" cy="38419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文字方塊 157"/>
            <p:cNvSpPr txBox="1"/>
            <p:nvPr/>
          </p:nvSpPr>
          <p:spPr>
            <a:xfrm>
              <a:off x="10118802" y="2316503"/>
              <a:ext cx="441679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2</a:t>
              </a:r>
              <a:endParaRPr lang="zh-TW" altLang="en-US" sz="3600" dirty="0"/>
            </a:p>
          </p:txBody>
        </p:sp>
      </p:grpSp>
      <p:sp>
        <p:nvSpPr>
          <p:cNvPr id="152" name="矩形 151"/>
          <p:cNvSpPr/>
          <p:nvPr/>
        </p:nvSpPr>
        <p:spPr>
          <a:xfrm>
            <a:off x="3533547" y="4042907"/>
            <a:ext cx="514350" cy="5143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53" name="矩形 152"/>
          <p:cNvSpPr/>
          <p:nvPr/>
        </p:nvSpPr>
        <p:spPr>
          <a:xfrm>
            <a:off x="3486683" y="6505566"/>
            <a:ext cx="514350" cy="5143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54" name="文字方塊 153"/>
          <p:cNvSpPr txBox="1"/>
          <p:nvPr/>
        </p:nvSpPr>
        <p:spPr>
          <a:xfrm>
            <a:off x="3551799" y="4022724"/>
            <a:ext cx="5143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0000FF"/>
                </a:solidFill>
              </a:rPr>
              <a:t>1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155" name="文字方塊 154"/>
          <p:cNvSpPr txBox="1"/>
          <p:nvPr/>
        </p:nvSpPr>
        <p:spPr>
          <a:xfrm>
            <a:off x="3393123" y="6421870"/>
            <a:ext cx="73311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0000FF"/>
                </a:solidFill>
              </a:rPr>
              <a:t>-1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文字方塊 195"/>
              <p:cNvSpPr txBox="1"/>
              <p:nvPr/>
            </p:nvSpPr>
            <p:spPr>
              <a:xfrm>
                <a:off x="3393123" y="2364282"/>
                <a:ext cx="8162925" cy="7575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TW" sz="4200" dirty="0"/>
                  <a:t>Compute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altLang="zh-TW" sz="4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4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42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zh-TW" altLang="en-US" sz="4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4200" i="1" smtClean="0"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</m:oMath>
                </a14:m>
                <a:r>
                  <a:rPr lang="en-US" altLang="zh-TW" sz="4200" dirty="0"/>
                  <a:t> for all parameters</a:t>
                </a:r>
                <a:endParaRPr lang="zh-TW" altLang="en-US" sz="4200" dirty="0"/>
              </a:p>
            </p:txBody>
          </p:sp>
        </mc:Choice>
        <mc:Fallback xmlns="">
          <p:sp>
            <p:nvSpPr>
              <p:cNvPr id="196" name="文字方塊 1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3123" y="2364282"/>
                <a:ext cx="8162925" cy="757555"/>
              </a:xfrm>
              <a:prstGeom prst="rect">
                <a:avLst/>
              </a:prstGeom>
              <a:blipFill rotWithShape="1">
                <a:blip r:embed="rId3"/>
                <a:stretch>
                  <a:fillRect l="-4" t="-23" r="-1451" b="2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橢圓 5"/>
          <p:cNvSpPr/>
          <p:nvPr/>
        </p:nvSpPr>
        <p:spPr>
          <a:xfrm>
            <a:off x="4870697" y="6861122"/>
            <a:ext cx="870348" cy="66141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97" name="橢圓 196"/>
          <p:cNvSpPr/>
          <p:nvPr/>
        </p:nvSpPr>
        <p:spPr>
          <a:xfrm>
            <a:off x="8246006" y="6760715"/>
            <a:ext cx="870348" cy="66141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98" name="橢圓 197"/>
          <p:cNvSpPr/>
          <p:nvPr/>
        </p:nvSpPr>
        <p:spPr>
          <a:xfrm>
            <a:off x="11498591" y="6733817"/>
            <a:ext cx="870348" cy="66141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/>
              <p:cNvSpPr txBox="1"/>
              <p:nvPr/>
            </p:nvSpPr>
            <p:spPr>
              <a:xfrm>
                <a:off x="4647543" y="8627363"/>
                <a:ext cx="1836420" cy="10439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a:rPr lang="zh-TW" altLang="en-US" sz="3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7543" y="8627363"/>
                <a:ext cx="1836420" cy="1043940"/>
              </a:xfrm>
              <a:prstGeom prst="rect">
                <a:avLst/>
              </a:prstGeom>
              <a:blipFill rotWithShape="1">
                <a:blip r:embed="rId4"/>
                <a:stretch>
                  <a:fillRect l="-33" t="-24" r="-3355" b="2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文字方塊 198"/>
              <p:cNvSpPr txBox="1"/>
              <p:nvPr/>
            </p:nvSpPr>
            <p:spPr>
              <a:xfrm>
                <a:off x="8102651" y="8610485"/>
                <a:ext cx="2108200" cy="10439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a:rPr lang="zh-TW" altLang="en-US" sz="3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=0.12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99" name="文字方塊 1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2651" y="8610485"/>
                <a:ext cx="2108200" cy="1043940"/>
              </a:xfrm>
              <a:prstGeom prst="rect">
                <a:avLst/>
              </a:prstGeom>
              <a:blipFill rotWithShape="1">
                <a:blip r:embed="rId5"/>
                <a:stretch>
                  <a:fillRect l="-2" t="-50" r="-3251" b="5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0" name="文字方塊 199"/>
              <p:cNvSpPr txBox="1"/>
              <p:nvPr/>
            </p:nvSpPr>
            <p:spPr>
              <a:xfrm>
                <a:off x="11602865" y="8576564"/>
                <a:ext cx="2108200" cy="10439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a:rPr lang="zh-TW" altLang="en-US" sz="3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=0.11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200" name="文字方塊 19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02865" y="8576564"/>
                <a:ext cx="2108200" cy="1043940"/>
              </a:xfrm>
              <a:prstGeom prst="rect">
                <a:avLst/>
              </a:prstGeom>
              <a:blipFill rotWithShape="1">
                <a:blip r:embed="rId6"/>
                <a:stretch>
                  <a:fillRect l="-7" t="-24" r="-3246" b="2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手繪多邊形 10"/>
          <p:cNvSpPr/>
          <p:nvPr/>
        </p:nvSpPr>
        <p:spPr>
          <a:xfrm rot="21124121">
            <a:off x="4038366" y="7292009"/>
            <a:ext cx="914309" cy="1955801"/>
          </a:xfrm>
          <a:custGeom>
            <a:avLst/>
            <a:gdLst>
              <a:gd name="connsiteX0" fmla="*/ 609539 w 609539"/>
              <a:gd name="connsiteY0" fmla="*/ 0 h 1303867"/>
              <a:gd name="connsiteX1" fmla="*/ 16873 w 609539"/>
              <a:gd name="connsiteY1" fmla="*/ 389467 h 1303867"/>
              <a:gd name="connsiteX2" fmla="*/ 220073 w 609539"/>
              <a:gd name="connsiteY2" fmla="*/ 1303867 h 1303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9539" h="1303867">
                <a:moveTo>
                  <a:pt x="609539" y="0"/>
                </a:moveTo>
                <a:cubicBezTo>
                  <a:pt x="345661" y="86078"/>
                  <a:pt x="81784" y="172156"/>
                  <a:pt x="16873" y="389467"/>
                </a:cubicBezTo>
                <a:cubicBezTo>
                  <a:pt x="-48038" y="606778"/>
                  <a:pt x="86017" y="955322"/>
                  <a:pt x="220073" y="1303867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01" name="手繪多邊形 200"/>
          <p:cNvSpPr/>
          <p:nvPr/>
        </p:nvSpPr>
        <p:spPr>
          <a:xfrm rot="20753515">
            <a:off x="7519973" y="7319094"/>
            <a:ext cx="914309" cy="1722935"/>
          </a:xfrm>
          <a:custGeom>
            <a:avLst/>
            <a:gdLst>
              <a:gd name="connsiteX0" fmla="*/ 609539 w 609539"/>
              <a:gd name="connsiteY0" fmla="*/ 0 h 1303867"/>
              <a:gd name="connsiteX1" fmla="*/ 16873 w 609539"/>
              <a:gd name="connsiteY1" fmla="*/ 389467 h 1303867"/>
              <a:gd name="connsiteX2" fmla="*/ 220073 w 609539"/>
              <a:gd name="connsiteY2" fmla="*/ 1303867 h 1303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9539" h="1303867">
                <a:moveTo>
                  <a:pt x="609539" y="0"/>
                </a:moveTo>
                <a:cubicBezTo>
                  <a:pt x="345661" y="86078"/>
                  <a:pt x="81784" y="172156"/>
                  <a:pt x="16873" y="389467"/>
                </a:cubicBezTo>
                <a:cubicBezTo>
                  <a:pt x="-48038" y="606778"/>
                  <a:pt x="86017" y="955322"/>
                  <a:pt x="220073" y="1303867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02" name="手繪多邊形 201"/>
          <p:cNvSpPr/>
          <p:nvPr/>
        </p:nvSpPr>
        <p:spPr>
          <a:xfrm rot="20443089">
            <a:off x="10898496" y="7347758"/>
            <a:ext cx="914309" cy="1722935"/>
          </a:xfrm>
          <a:custGeom>
            <a:avLst/>
            <a:gdLst>
              <a:gd name="connsiteX0" fmla="*/ 609539 w 609539"/>
              <a:gd name="connsiteY0" fmla="*/ 0 h 1303867"/>
              <a:gd name="connsiteX1" fmla="*/ 16873 w 609539"/>
              <a:gd name="connsiteY1" fmla="*/ 389467 h 1303867"/>
              <a:gd name="connsiteX2" fmla="*/ 220073 w 609539"/>
              <a:gd name="connsiteY2" fmla="*/ 1303867 h 1303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9539" h="1303867">
                <a:moveTo>
                  <a:pt x="609539" y="0"/>
                </a:moveTo>
                <a:cubicBezTo>
                  <a:pt x="345661" y="86078"/>
                  <a:pt x="81784" y="172156"/>
                  <a:pt x="16873" y="389467"/>
                </a:cubicBezTo>
                <a:cubicBezTo>
                  <a:pt x="-48038" y="606778"/>
                  <a:pt x="86017" y="955322"/>
                  <a:pt x="220073" y="1303867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" grpId="0" bldLvl="0" animBg="1"/>
      <p:bldP spid="135" grpId="0" bldLvl="0" animBg="1"/>
      <p:bldP spid="144" grpId="0" bldLvl="0" animBg="1"/>
      <p:bldP spid="145" grpId="0" bldLvl="0" animBg="1"/>
      <p:bldP spid="6" grpId="0" bldLvl="0" animBg="1"/>
      <p:bldP spid="197" grpId="0" bldLvl="0" animBg="1"/>
      <p:bldP spid="198" grpId="0" bldLvl="0" animBg="1"/>
      <p:bldP spid="10" grpId="0"/>
      <p:bldP spid="199" grpId="0"/>
      <p:bldP spid="200" grpId="0"/>
      <p:bldP spid="11" grpId="0" bldLvl="0" animBg="1"/>
      <p:bldP spid="201" grpId="0" bldLvl="0" animBg="1"/>
      <p:bldP spid="202" grpId="0" bldLvl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TkwYzUxNzkwY2E3N2U1OThkZGUzYTRjZDY0NTk2MDE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>
            <a:fillRect/>
          </a:stretch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6dd4d27a79178d964495491d99d85ab0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5371f2543c27c65efb9018a9acd511a8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Props1.xml><?xml version="1.0" encoding="utf-8"?>
<ds:datastoreItem xmlns:ds="http://schemas.openxmlformats.org/officeDocument/2006/customXml" ds:itemID="{7A1D3F55-6C56-4122-9690-275199B4C5F5}"/>
</file>

<file path=customXml/itemProps2.xml><?xml version="1.0" encoding="utf-8"?>
<ds:datastoreItem xmlns:ds="http://schemas.openxmlformats.org/officeDocument/2006/customXml" ds:itemID="{73AA88D6-07E4-444A-AA88-5EE78C621291}"/>
</file>

<file path=customXml/itemProps3.xml><?xml version="1.0" encoding="utf-8"?>
<ds:datastoreItem xmlns:ds="http://schemas.openxmlformats.org/officeDocument/2006/customXml" ds:itemID="{4D02BD03-41DB-41B0-833B-529ACE8FA53B}"/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200</Words>
  <Application>Microsoft Macintosh PowerPoint</Application>
  <PresentationFormat>Custom</PresentationFormat>
  <Paragraphs>95</Paragraphs>
  <Slides>7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Cambria Math</vt:lpstr>
      <vt:lpstr>Wingdings 2</vt:lpstr>
      <vt:lpstr>Breeze</vt:lpstr>
      <vt:lpstr>方程式</vt:lpstr>
      <vt:lpstr> Backpropagation</vt:lpstr>
      <vt:lpstr>Gradient Descent </vt:lpstr>
      <vt:lpstr>Chain Rule</vt:lpstr>
      <vt:lpstr>Backpropagation</vt:lpstr>
      <vt:lpstr>Backpropagation</vt:lpstr>
      <vt:lpstr>Backpropagation – Forward pass</vt:lpstr>
      <vt:lpstr>Backpropagation – Forward pass</vt:lpstr>
    </vt:vector>
  </TitlesOfParts>
  <Company>Illinois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creator>Sandra Laporte</dc:creator>
  <cp:lastModifiedBy>Tom Yan</cp:lastModifiedBy>
  <cp:revision>45</cp:revision>
  <dcterms:created xsi:type="dcterms:W3CDTF">2024-02-23T22:16:00Z</dcterms:created>
  <dcterms:modified xsi:type="dcterms:W3CDTF">2024-03-27T20:38:42Z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ediaServiceImageTags">
    <vt:lpwstr/>
  </property>
  <property fmtid="{D5CDD505-2E9C-101B-9397-08002B2CF9AE}" pid="4" name="ICV">
    <vt:lpwstr>80571152E56347599AA16EC9CFB2CDE3_12</vt:lpwstr>
  </property>
  <property fmtid="{D5CDD505-2E9C-101B-9397-08002B2CF9AE}" pid="5" name="KSOProductBuildVer">
    <vt:lpwstr>1033-5.6.0.8082</vt:lpwstr>
  </property>
</Properties>
</file>