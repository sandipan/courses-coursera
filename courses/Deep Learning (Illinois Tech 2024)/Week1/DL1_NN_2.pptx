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gs/tag1.xml" ContentType="application/vnd.openxmlformats-officedocument.presentationml.tags+xml"/>
  <Override PartName="/docProps/core.xml" ContentType="application/vnd.openxmlformats-package.core-properties+xml"/>
  <Override PartName="/ppt/tags/tag2.xml" ContentType="application/vnd.openxmlformats-officedocument.presentationml.tag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8288000" cy="10287000"/>
  <p:notesSz cx="6858000" cy="9144000"/>
  <p:custDataLst>
    <p:tags r:id="rId13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86"/>
  </p:normalViewPr>
  <p:slideViewPr>
    <p:cSldViewPr snapToGrid="0" snapToObjects="1" showGuides="1">
      <p:cViewPr varScale="1">
        <p:scale>
          <a:sx n="75" d="100"/>
          <a:sy n="75" d="100"/>
        </p:scale>
        <p:origin x="624" y="160"/>
      </p:cViewPr>
      <p:guideLst>
        <p:guide orient="horz" pos="3240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BBEAF7-C373-4176-BC82-DCCB6D5E3E26}" type="doc">
      <dgm:prSet loTypeId="urn:microsoft.com/office/officeart/2005/8/layout/process1" loCatId="process" qsTypeId="urn:microsoft.com/office/officeart/2005/8/quickstyle/simple4#1" qsCatId="simple" csTypeId="urn:microsoft.com/office/officeart/2005/8/colors/colorful2#1" csCatId="colorful" phldr="1"/>
      <dgm:spPr/>
      <dgm:t>
        <a:bodyPr/>
        <a:lstStyle/>
        <a:p>
          <a:endParaRPr lang="zh-TW" altLang="en-US"/>
        </a:p>
      </dgm:t>
    </dgm:pt>
    <dgm:pt modelId="{801111EC-7761-4006-9B8D-BDD3478D6A0C}">
      <dgm:prSet phldrT="[文字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 dirty="0">
              <a:solidFill>
                <a:schemeClr val="bg2"/>
              </a:solidFill>
            </a:rPr>
            <a:t>Step 1</a:t>
          </a:r>
          <a:r>
            <a:rPr lang="en-US" altLang="zh-TW" sz="2800" b="1">
              <a:solidFill>
                <a:schemeClr val="bg2"/>
              </a:solidFill>
            </a:rPr>
            <a:t>: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>
              <a:solidFill>
                <a:schemeClr val="bg2"/>
              </a:solidFill>
            </a:rPr>
            <a:t> define a set of function              </a:t>
          </a:r>
          <a:endParaRPr lang="en-US" altLang="zh-TW" sz="2800" b="1" dirty="0">
            <a:solidFill>
              <a:schemeClr val="bg2"/>
            </a:solidFill>
          </a:endParaRPr>
        </a:p>
      </dgm:t>
    </dgm:pt>
    <dgm:pt modelId="{741192AF-66D8-44B3-8D71-D609A9576CFF}" type="parTrans" cxnId="{7BDDB2CC-5B23-4B4A-B24E-49C153D202F8}">
      <dgm:prSet/>
      <dgm:spPr/>
      <dgm:t>
        <a:bodyPr/>
        <a:lstStyle/>
        <a:p>
          <a:endParaRPr lang="zh-TW" altLang="en-US" sz="2800"/>
        </a:p>
      </dgm:t>
    </dgm:pt>
    <dgm:pt modelId="{E857221A-734F-4396-A642-04F985B7D590}" type="sibTrans" cxnId="{7BDDB2CC-5B23-4B4A-B24E-49C153D202F8}">
      <dgm:prSet custT="1"/>
      <dgm:spPr/>
      <dgm:t>
        <a:bodyPr/>
        <a:lstStyle/>
        <a:p>
          <a:endParaRPr lang="zh-TW" altLang="en-US" sz="2800"/>
        </a:p>
      </dgm:t>
    </dgm:pt>
    <dgm:pt modelId="{380F6D09-15D5-4E2B-BF8A-CECE4B7C4A20}">
      <dgm:prSet phldrT="[文字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 dirty="0">
              <a:solidFill>
                <a:schemeClr val="bg2"/>
              </a:solidFill>
            </a:rPr>
            <a:t>Step 2: 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 dirty="0">
              <a:solidFill>
                <a:schemeClr val="bg2"/>
              </a:solidFill>
            </a:rPr>
            <a:t>goodness of function</a:t>
          </a:r>
        </a:p>
      </dgm:t>
    </dgm:pt>
    <dgm:pt modelId="{35DF94FE-4269-42A8-B274-51E32D4D5D54}" type="parTrans" cxnId="{10AE51BC-5E20-42BA-A6C0-8767907AA374}">
      <dgm:prSet/>
      <dgm:spPr/>
      <dgm:t>
        <a:bodyPr/>
        <a:lstStyle/>
        <a:p>
          <a:endParaRPr lang="zh-TW" altLang="en-US" sz="2800"/>
        </a:p>
      </dgm:t>
    </dgm:pt>
    <dgm:pt modelId="{D60C5607-81DE-4CC8-91B3-C56E5666A49F}" type="sibTrans" cxnId="{10AE51BC-5E20-42BA-A6C0-8767907AA374}">
      <dgm:prSet custT="1"/>
      <dgm:spPr/>
      <dgm:t>
        <a:bodyPr/>
        <a:lstStyle/>
        <a:p>
          <a:endParaRPr lang="zh-TW" altLang="en-US" sz="2800"/>
        </a:p>
      </dgm:t>
    </dgm:pt>
    <dgm:pt modelId="{680F7195-4FD3-481E-8A2B-5AD54C8280AB}">
      <dgm:prSet phldrT="[文字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 dirty="0">
              <a:solidFill>
                <a:schemeClr val="bg2"/>
              </a:solidFill>
            </a:rPr>
            <a:t>Step </a:t>
          </a:r>
          <a:r>
            <a:rPr lang="en-US" altLang="zh-TW" sz="2800" b="1">
              <a:solidFill>
                <a:schemeClr val="bg2"/>
              </a:solidFill>
            </a:rPr>
            <a:t>3: 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>
              <a:solidFill>
                <a:schemeClr val="bg2"/>
              </a:solidFill>
            </a:rPr>
            <a:t>pick the best function</a:t>
          </a:r>
          <a:endParaRPr lang="en-US" altLang="zh-TW" sz="2800" b="1" dirty="0">
            <a:solidFill>
              <a:schemeClr val="bg2"/>
            </a:solidFill>
          </a:endParaRPr>
        </a:p>
      </dgm:t>
    </dgm:pt>
    <dgm:pt modelId="{E0770B27-10B9-4E3F-A134-B86908A61FFE}" type="parTrans" cxnId="{3A510005-D944-406D-B8B0-9FE69C373BE8}">
      <dgm:prSet/>
      <dgm:spPr/>
      <dgm:t>
        <a:bodyPr/>
        <a:lstStyle/>
        <a:p>
          <a:endParaRPr lang="zh-TW" altLang="en-US" sz="2800"/>
        </a:p>
      </dgm:t>
    </dgm:pt>
    <dgm:pt modelId="{382B596D-4079-47F6-BAC4-80EDB1CFB95D}" type="sibTrans" cxnId="{3A510005-D944-406D-B8B0-9FE69C373BE8}">
      <dgm:prSet/>
      <dgm:spPr/>
      <dgm:t>
        <a:bodyPr/>
        <a:lstStyle/>
        <a:p>
          <a:endParaRPr lang="zh-TW" altLang="en-US" sz="2800"/>
        </a:p>
      </dgm:t>
    </dgm:pt>
    <dgm:pt modelId="{A491758C-84A6-4A4D-888E-93118B4129B4}" type="pres">
      <dgm:prSet presAssocID="{7ABBEAF7-C373-4176-BC82-DCCB6D5E3E26}" presName="Name0" presStyleCnt="0">
        <dgm:presLayoutVars>
          <dgm:dir/>
          <dgm:resizeHandles val="exact"/>
        </dgm:presLayoutVars>
      </dgm:prSet>
      <dgm:spPr/>
    </dgm:pt>
    <dgm:pt modelId="{CFEBD105-9F67-4F60-B070-C671AE93A28A}" type="pres">
      <dgm:prSet presAssocID="{801111EC-7761-4006-9B8D-BDD3478D6A0C}" presName="node" presStyleLbl="node1" presStyleIdx="0" presStyleCnt="3">
        <dgm:presLayoutVars>
          <dgm:bulletEnabled val="1"/>
        </dgm:presLayoutVars>
      </dgm:prSet>
      <dgm:spPr/>
    </dgm:pt>
    <dgm:pt modelId="{888540DF-FD49-4215-991C-C7B2A2E10D35}" type="pres">
      <dgm:prSet presAssocID="{E857221A-734F-4396-A642-04F985B7D590}" presName="sibTrans" presStyleLbl="sibTrans2D1" presStyleIdx="0" presStyleCnt="2"/>
      <dgm:spPr/>
    </dgm:pt>
    <dgm:pt modelId="{FCAC1A52-7A03-424B-8708-40DF70DCEBE1}" type="pres">
      <dgm:prSet presAssocID="{E857221A-734F-4396-A642-04F985B7D590}" presName="connectorText" presStyleLbl="sibTrans2D1" presStyleIdx="0" presStyleCnt="2"/>
      <dgm:spPr/>
    </dgm:pt>
    <dgm:pt modelId="{2C9E42A7-D692-4DEF-A008-68C3A4D1516E}" type="pres">
      <dgm:prSet presAssocID="{380F6D09-15D5-4E2B-BF8A-CECE4B7C4A20}" presName="node" presStyleLbl="node1" presStyleIdx="1" presStyleCnt="3">
        <dgm:presLayoutVars>
          <dgm:bulletEnabled val="1"/>
        </dgm:presLayoutVars>
      </dgm:prSet>
      <dgm:spPr/>
    </dgm:pt>
    <dgm:pt modelId="{75576B2E-DB43-49F5-8A31-D5CBF5F78EEC}" type="pres">
      <dgm:prSet presAssocID="{D60C5607-81DE-4CC8-91B3-C56E5666A49F}" presName="sibTrans" presStyleLbl="sibTrans2D1" presStyleIdx="1" presStyleCnt="2"/>
      <dgm:spPr/>
    </dgm:pt>
    <dgm:pt modelId="{1FFABC42-5BE3-4E33-A2BE-582BDAFB0BDF}" type="pres">
      <dgm:prSet presAssocID="{D60C5607-81DE-4CC8-91B3-C56E5666A49F}" presName="connectorText" presStyleLbl="sibTrans2D1" presStyleIdx="1" presStyleCnt="2"/>
      <dgm:spPr/>
    </dgm:pt>
    <dgm:pt modelId="{B28036AB-B71B-48DE-97C4-D287BC3BE7AC}" type="pres">
      <dgm:prSet presAssocID="{680F7195-4FD3-481E-8A2B-5AD54C8280AB}" presName="node" presStyleLbl="node1" presStyleIdx="2" presStyleCnt="3">
        <dgm:presLayoutVars>
          <dgm:bulletEnabled val="1"/>
        </dgm:presLayoutVars>
      </dgm:prSet>
      <dgm:spPr/>
    </dgm:pt>
  </dgm:ptLst>
  <dgm:cxnLst>
    <dgm:cxn modelId="{3A510005-D944-406D-B8B0-9FE69C373BE8}" srcId="{7ABBEAF7-C373-4176-BC82-DCCB6D5E3E26}" destId="{680F7195-4FD3-481E-8A2B-5AD54C8280AB}" srcOrd="2" destOrd="0" parTransId="{E0770B27-10B9-4E3F-A134-B86908A61FFE}" sibTransId="{382B596D-4079-47F6-BAC4-80EDB1CFB95D}"/>
    <dgm:cxn modelId="{8EC64747-84A8-4CCF-83FD-CA86A4A61939}" type="presOf" srcId="{7ABBEAF7-C373-4176-BC82-DCCB6D5E3E26}" destId="{A491758C-84A6-4A4D-888E-93118B4129B4}" srcOrd="0" destOrd="0" presId="urn:microsoft.com/office/officeart/2005/8/layout/process1"/>
    <dgm:cxn modelId="{4C5EA457-E251-45D0-8A3A-35D62524BC55}" type="presOf" srcId="{801111EC-7761-4006-9B8D-BDD3478D6A0C}" destId="{CFEBD105-9F67-4F60-B070-C671AE93A28A}" srcOrd="0" destOrd="0" presId="urn:microsoft.com/office/officeart/2005/8/layout/process1"/>
    <dgm:cxn modelId="{91CE2F5A-D078-4B64-A025-B343B154B535}" type="presOf" srcId="{D60C5607-81DE-4CC8-91B3-C56E5666A49F}" destId="{1FFABC42-5BE3-4E33-A2BE-582BDAFB0BDF}" srcOrd="1" destOrd="0" presId="urn:microsoft.com/office/officeart/2005/8/layout/process1"/>
    <dgm:cxn modelId="{8DF84A67-751F-47EA-9C61-AE62B963B110}" type="presOf" srcId="{380F6D09-15D5-4E2B-BF8A-CECE4B7C4A20}" destId="{2C9E42A7-D692-4DEF-A008-68C3A4D1516E}" srcOrd="0" destOrd="0" presId="urn:microsoft.com/office/officeart/2005/8/layout/process1"/>
    <dgm:cxn modelId="{AEA64575-4491-43DD-9C01-1F684B3FCA9A}" type="presOf" srcId="{E857221A-734F-4396-A642-04F985B7D590}" destId="{FCAC1A52-7A03-424B-8708-40DF70DCEBE1}" srcOrd="1" destOrd="0" presId="urn:microsoft.com/office/officeart/2005/8/layout/process1"/>
    <dgm:cxn modelId="{08BD38A3-FBAE-4B3D-8CEE-54F4A7839B9F}" type="presOf" srcId="{D60C5607-81DE-4CC8-91B3-C56E5666A49F}" destId="{75576B2E-DB43-49F5-8A31-D5CBF5F78EEC}" srcOrd="0" destOrd="0" presId="urn:microsoft.com/office/officeart/2005/8/layout/process1"/>
    <dgm:cxn modelId="{DF4EAEB5-C456-4158-AC50-7489A977BCEA}" type="presOf" srcId="{680F7195-4FD3-481E-8A2B-5AD54C8280AB}" destId="{B28036AB-B71B-48DE-97C4-D287BC3BE7AC}" srcOrd="0" destOrd="0" presId="urn:microsoft.com/office/officeart/2005/8/layout/process1"/>
    <dgm:cxn modelId="{10AE51BC-5E20-42BA-A6C0-8767907AA374}" srcId="{7ABBEAF7-C373-4176-BC82-DCCB6D5E3E26}" destId="{380F6D09-15D5-4E2B-BF8A-CECE4B7C4A20}" srcOrd="1" destOrd="0" parTransId="{35DF94FE-4269-42A8-B274-51E32D4D5D54}" sibTransId="{D60C5607-81DE-4CC8-91B3-C56E5666A49F}"/>
    <dgm:cxn modelId="{7BDDB2CC-5B23-4B4A-B24E-49C153D202F8}" srcId="{7ABBEAF7-C373-4176-BC82-DCCB6D5E3E26}" destId="{801111EC-7761-4006-9B8D-BDD3478D6A0C}" srcOrd="0" destOrd="0" parTransId="{741192AF-66D8-44B3-8D71-D609A9576CFF}" sibTransId="{E857221A-734F-4396-A642-04F985B7D590}"/>
    <dgm:cxn modelId="{8371FDD1-FD8B-49BD-8182-C1A781749BB9}" type="presOf" srcId="{E857221A-734F-4396-A642-04F985B7D590}" destId="{888540DF-FD49-4215-991C-C7B2A2E10D35}" srcOrd="0" destOrd="0" presId="urn:microsoft.com/office/officeart/2005/8/layout/process1"/>
    <dgm:cxn modelId="{6D7FE8E7-C33A-459B-AA3F-9FE206E96CA2}" type="presParOf" srcId="{A491758C-84A6-4A4D-888E-93118B4129B4}" destId="{CFEBD105-9F67-4F60-B070-C671AE93A28A}" srcOrd="0" destOrd="0" presId="urn:microsoft.com/office/officeart/2005/8/layout/process1"/>
    <dgm:cxn modelId="{FA3C98B2-EA3B-4732-848A-EB834D408590}" type="presParOf" srcId="{A491758C-84A6-4A4D-888E-93118B4129B4}" destId="{888540DF-FD49-4215-991C-C7B2A2E10D35}" srcOrd="1" destOrd="0" presId="urn:microsoft.com/office/officeart/2005/8/layout/process1"/>
    <dgm:cxn modelId="{D6FC9EC3-7934-4D49-9B0C-A14BF74C8656}" type="presParOf" srcId="{888540DF-FD49-4215-991C-C7B2A2E10D35}" destId="{FCAC1A52-7A03-424B-8708-40DF70DCEBE1}" srcOrd="0" destOrd="0" presId="urn:microsoft.com/office/officeart/2005/8/layout/process1"/>
    <dgm:cxn modelId="{E2FD8D58-1655-4B9E-9D68-2AE0C6DADF3F}" type="presParOf" srcId="{A491758C-84A6-4A4D-888E-93118B4129B4}" destId="{2C9E42A7-D692-4DEF-A008-68C3A4D1516E}" srcOrd="2" destOrd="0" presId="urn:microsoft.com/office/officeart/2005/8/layout/process1"/>
    <dgm:cxn modelId="{0841EDC9-68A3-40F9-BD27-EFE50060A4E1}" type="presParOf" srcId="{A491758C-84A6-4A4D-888E-93118B4129B4}" destId="{75576B2E-DB43-49F5-8A31-D5CBF5F78EEC}" srcOrd="3" destOrd="0" presId="urn:microsoft.com/office/officeart/2005/8/layout/process1"/>
    <dgm:cxn modelId="{F9D681E7-5752-468B-A696-3EB2F99D0256}" type="presParOf" srcId="{75576B2E-DB43-49F5-8A31-D5CBF5F78EEC}" destId="{1FFABC42-5BE3-4E33-A2BE-582BDAFB0BDF}" srcOrd="0" destOrd="0" presId="urn:microsoft.com/office/officeart/2005/8/layout/process1"/>
    <dgm:cxn modelId="{4F2A4B95-3014-40BF-8CD3-67B6D057E5F9}" type="presParOf" srcId="{A491758C-84A6-4A4D-888E-93118B4129B4}" destId="{B28036AB-B71B-48DE-97C4-D287BC3BE7A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EBD105-9F67-4F60-B070-C671AE93A28A}">
      <dsp:nvSpPr>
        <dsp:cNvPr id="0" name=""/>
        <dsp:cNvSpPr/>
      </dsp:nvSpPr>
      <dsp:spPr bwMode="white">
        <a:xfrm>
          <a:off x="10397" y="2331193"/>
          <a:ext cx="3107698" cy="186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 dirty="0">
              <a:solidFill>
                <a:schemeClr val="bg2"/>
              </a:solidFill>
            </a:rPr>
            <a:t>Step 1</a:t>
          </a:r>
          <a:r>
            <a:rPr lang="en-US" altLang="zh-TW" sz="2800" b="1" kern="1200">
              <a:solidFill>
                <a:schemeClr val="bg2"/>
              </a:solidFill>
            </a:rPr>
            <a:t>: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>
              <a:solidFill>
                <a:schemeClr val="bg2"/>
              </a:solidFill>
            </a:rPr>
            <a:t> define a set of function              </a:t>
          </a:r>
          <a:endParaRPr lang="en-US" altLang="zh-TW" sz="2800" b="1" kern="1200" dirty="0">
            <a:solidFill>
              <a:schemeClr val="bg2"/>
            </a:solidFill>
          </a:endParaRPr>
        </a:p>
      </dsp:txBody>
      <dsp:txXfrm>
        <a:off x="65010" y="2385806"/>
        <a:ext cx="2998472" cy="1755393"/>
      </dsp:txXfrm>
    </dsp:sp>
    <dsp:sp modelId="{888540DF-FD49-4215-991C-C7B2A2E10D35}">
      <dsp:nvSpPr>
        <dsp:cNvPr id="0" name=""/>
        <dsp:cNvSpPr/>
      </dsp:nvSpPr>
      <dsp:spPr bwMode="white">
        <a:xfrm>
          <a:off x="3428866" y="2878148"/>
          <a:ext cx="658832" cy="7707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/>
        </a:p>
      </dsp:txBody>
      <dsp:txXfrm>
        <a:off x="3428866" y="3032290"/>
        <a:ext cx="461182" cy="462425"/>
      </dsp:txXfrm>
    </dsp:sp>
    <dsp:sp modelId="{2C9E42A7-D692-4DEF-A008-68C3A4D1516E}">
      <dsp:nvSpPr>
        <dsp:cNvPr id="0" name=""/>
        <dsp:cNvSpPr/>
      </dsp:nvSpPr>
      <dsp:spPr bwMode="white">
        <a:xfrm>
          <a:off x="4361175" y="2331193"/>
          <a:ext cx="3107698" cy="186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057354"/>
                <a:satOff val="-45878"/>
                <a:lumOff val="5587"/>
                <a:alphaOff val="0"/>
                <a:shade val="100000"/>
                <a:satMod val="120000"/>
              </a:schemeClr>
            </a:gs>
            <a:gs pos="69000">
              <a:schemeClr val="accent2">
                <a:hueOff val="-1057354"/>
                <a:satOff val="-45878"/>
                <a:lumOff val="5587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-1057354"/>
                <a:satOff val="-45878"/>
                <a:lumOff val="5587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 dirty="0">
              <a:solidFill>
                <a:schemeClr val="bg2"/>
              </a:solidFill>
            </a:rPr>
            <a:t>Step 2: 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 dirty="0">
              <a:solidFill>
                <a:schemeClr val="bg2"/>
              </a:solidFill>
            </a:rPr>
            <a:t>goodness of function</a:t>
          </a:r>
        </a:p>
      </dsp:txBody>
      <dsp:txXfrm>
        <a:off x="4415788" y="2385806"/>
        <a:ext cx="2998472" cy="1755393"/>
      </dsp:txXfrm>
    </dsp:sp>
    <dsp:sp modelId="{75576B2E-DB43-49F5-8A31-D5CBF5F78EEC}">
      <dsp:nvSpPr>
        <dsp:cNvPr id="0" name=""/>
        <dsp:cNvSpPr/>
      </dsp:nvSpPr>
      <dsp:spPr bwMode="white">
        <a:xfrm>
          <a:off x="7779644" y="2878148"/>
          <a:ext cx="658832" cy="7707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2114708"/>
                <a:satOff val="-91757"/>
                <a:lumOff val="11174"/>
                <a:alphaOff val="0"/>
                <a:shade val="100000"/>
                <a:satMod val="120000"/>
              </a:schemeClr>
            </a:gs>
            <a:gs pos="69000">
              <a:schemeClr val="accent2">
                <a:hueOff val="-2114708"/>
                <a:satOff val="-91757"/>
                <a:lumOff val="11174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-2114708"/>
                <a:satOff val="-91757"/>
                <a:lumOff val="11174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/>
        </a:p>
      </dsp:txBody>
      <dsp:txXfrm>
        <a:off x="7779644" y="3032290"/>
        <a:ext cx="461182" cy="462425"/>
      </dsp:txXfrm>
    </dsp:sp>
    <dsp:sp modelId="{B28036AB-B71B-48DE-97C4-D287BC3BE7AC}">
      <dsp:nvSpPr>
        <dsp:cNvPr id="0" name=""/>
        <dsp:cNvSpPr/>
      </dsp:nvSpPr>
      <dsp:spPr bwMode="white">
        <a:xfrm>
          <a:off x="8711953" y="2331193"/>
          <a:ext cx="3107698" cy="186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114708"/>
                <a:satOff val="-91757"/>
                <a:lumOff val="11174"/>
                <a:alphaOff val="0"/>
                <a:shade val="100000"/>
                <a:satMod val="120000"/>
              </a:schemeClr>
            </a:gs>
            <a:gs pos="69000">
              <a:schemeClr val="accent2">
                <a:hueOff val="-2114708"/>
                <a:satOff val="-91757"/>
                <a:lumOff val="11174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-2114708"/>
                <a:satOff val="-91757"/>
                <a:lumOff val="11174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 dirty="0">
              <a:solidFill>
                <a:schemeClr val="bg2"/>
              </a:solidFill>
            </a:rPr>
            <a:t>Step </a:t>
          </a:r>
          <a:r>
            <a:rPr lang="en-US" altLang="zh-TW" sz="2800" b="1" kern="1200">
              <a:solidFill>
                <a:schemeClr val="bg2"/>
              </a:solidFill>
            </a:rPr>
            <a:t>3: 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>
              <a:solidFill>
                <a:schemeClr val="bg2"/>
              </a:solidFill>
            </a:rPr>
            <a:t>pick the best function</a:t>
          </a:r>
          <a:endParaRPr lang="en-US" altLang="zh-TW" sz="2800" b="1" kern="1200" dirty="0">
            <a:solidFill>
              <a:schemeClr val="bg2"/>
            </a:solidFill>
          </a:endParaRPr>
        </a:p>
      </dsp:txBody>
      <dsp:txXfrm>
        <a:off x="8766566" y="2385806"/>
        <a:ext cx="2998472" cy="1755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3BD28-75DF-4233-8F85-EE3A845FE6B6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TW" dirty="0"/>
              <a:t>到这一页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05C0D-00F1-4D27-9FA2-F1BC4B0526DB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8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6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0.png"/><Relationship Id="rId7" Type="http://schemas.openxmlformats.org/officeDocument/2006/relationships/image" Target="../media/image1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15053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Neural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621867"/>
            <a:ext cx="12998450" cy="89831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36133" y="359794"/>
            <a:ext cx="15946969" cy="1551434"/>
          </a:xfrm>
        </p:spPr>
        <p:txBody>
          <a:bodyPr/>
          <a:lstStyle/>
          <a:p>
            <a:r>
              <a:rPr lang="en-US" altLang="zh-TW" dirty="0"/>
              <a:t>Deep learning </a:t>
            </a:r>
            <a:br>
              <a:rPr lang="en-US" altLang="zh-TW" dirty="0"/>
            </a:br>
            <a:r>
              <a:rPr lang="en-US" altLang="zh-TW" dirty="0"/>
              <a:t>attracts lots of attention.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 believe you have seen lots of exciting results before.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82946" name="Picture 2" descr="Deep learning trends at Google. Source: SIGMOD/Jeff De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073" y="2960232"/>
            <a:ext cx="8767218" cy="51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3812459" y="9309690"/>
            <a:ext cx="10688473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00" dirty="0">
                <a:solidFill>
                  <a:srgbClr val="000000"/>
                </a:solidFill>
                <a:latin typeface="Arial" panose="020B0604020202020204" pitchFamily="34" charset="0"/>
              </a:rPr>
              <a:t>Deep learning trends at Google. Source: SIGMOD 2016/Jeff Dean</a:t>
            </a:r>
            <a:endParaRPr lang="zh-TW" altLang="en-US" sz="100" dirty="0"/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180965" y="8609330"/>
            <a:ext cx="79521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rgbClr val="000000"/>
                </a:solidFill>
                <a:latin typeface="Arial" panose="020B0604020202020204" pitchFamily="34" charset="0"/>
              </a:rPr>
              <a:t>Deep learning trends at Google. Source: SIGMOD 2016/Jeff Dean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40159" y="964591"/>
            <a:ext cx="13020261" cy="8657642"/>
          </a:xfrm>
        </p:spPr>
        <p:txBody>
          <a:bodyPr>
            <a:noAutofit/>
          </a:bodyPr>
          <a:lstStyle/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1958: Perceptron (linear model)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FF0000"/>
                </a:solidFill>
              </a:rPr>
              <a:t>1969: Perceptron has limitation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1980s: Multi-layer perceptron </a:t>
            </a:r>
          </a:p>
          <a:p>
            <a:pPr lvl="1" eaLnBrk="1" latinLnBrk="0" hangingPunct="1">
              <a:lnSpc>
                <a:spcPts val="1500"/>
              </a:lnSpc>
            </a:pPr>
            <a:r>
              <a:rPr lang="en-US" altLang="zh-TW" sz="2800" dirty="0"/>
              <a:t>Do not have significant difference from DNN today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1986: Backpropagation</a:t>
            </a:r>
          </a:p>
          <a:p>
            <a:pPr lvl="1" eaLnBrk="1" latinLnBrk="0" hangingPunct="1">
              <a:lnSpc>
                <a:spcPts val="1500"/>
              </a:lnSpc>
            </a:pPr>
            <a:r>
              <a:rPr lang="en-US" altLang="zh-TW" sz="2800" dirty="0"/>
              <a:t>Usually more than 3 hidden layers is not helpful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FF0000"/>
                </a:solidFill>
              </a:rPr>
              <a:t>1989: 1 hidden layer is “good enough”, why deep?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2006: RBM initialization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2009: GPU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2011: Start to be popular in speech recognition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2012: win ILSVRC image competition 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2015.2: Image recognition surpassing human-level performance 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2016.3: Alpha GO beats Lee Sedol</a:t>
            </a:r>
          </a:p>
          <a:p>
            <a:pPr eaLnBrk="1" latinLnBrk="0" hangingPunct="1">
              <a:lnSpc>
                <a:spcPts val="1500"/>
              </a:lnSpc>
            </a:pPr>
            <a:r>
              <a:rPr lang="en-US" altLang="zh-TW" sz="2800" dirty="0">
                <a:solidFill>
                  <a:srgbClr val="0000FF"/>
                </a:solidFill>
              </a:rPr>
              <a:t>2016.10: Speech recognition system as good as humans</a:t>
            </a:r>
          </a:p>
          <a:p>
            <a:pPr marL="0" indent="0" eaLnBrk="1" latinLnBrk="0" hangingPunct="1">
              <a:lnSpc>
                <a:spcPts val="1500"/>
              </a:lnSpc>
              <a:buNone/>
            </a:pPr>
            <a:endParaRPr lang="en-US" altLang="zh-TW" sz="2800" dirty="0">
              <a:solidFill>
                <a:srgbClr val="0000FF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70064" y="0"/>
            <a:ext cx="8626475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200" b="1" i="1" u="sng" dirty="0"/>
              <a:t>Ups and downs of Deep Learning</a:t>
            </a:r>
            <a:endParaRPr lang="zh-TW" altLang="en-US" sz="42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133" y="1638567"/>
            <a:ext cx="8153400" cy="6115050"/>
          </a:xfrm>
          <a:prstGeom prst="rect">
            <a:avLst/>
          </a:prstGeom>
        </p:spPr>
      </p:pic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2962275" y="440267"/>
            <a:ext cx="11830050" cy="1012034"/>
          </a:xfrm>
        </p:spPr>
        <p:txBody>
          <a:bodyPr/>
          <a:lstStyle/>
          <a:p>
            <a:r>
              <a:rPr lang="en-US" altLang="zh-TW" dirty="0"/>
              <a:t>Deep learning Giant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228975" y="1451773"/>
          <a:ext cx="11830050" cy="6527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Three Steps for Deep Learning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6016944" y="2013789"/>
            <a:ext cx="6736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Deep Learning is so simple ……</a:t>
            </a:r>
            <a:endParaRPr lang="zh-TW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3084393" y="3498914"/>
            <a:ext cx="3389586" cy="253060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文字方塊 7"/>
          <p:cNvSpPr txBox="1"/>
          <p:nvPr/>
        </p:nvSpPr>
        <p:spPr>
          <a:xfrm>
            <a:off x="3383982" y="4549811"/>
            <a:ext cx="2790410" cy="1383665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Neural </a:t>
            </a:r>
          </a:p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Network</a:t>
            </a:r>
          </a:p>
        </p:txBody>
      </p:sp>
      <p:pic>
        <p:nvPicPr>
          <p:cNvPr id="100" name="图片 99"/>
          <p:cNvPicPr/>
          <p:nvPr/>
        </p:nvPicPr>
        <p:blipFill>
          <a:blip r:embed="rId8"/>
          <a:stretch>
            <a:fillRect/>
          </a:stretch>
        </p:blipFill>
        <p:spPr>
          <a:xfrm>
            <a:off x="5019675" y="6456680"/>
            <a:ext cx="7750757" cy="237854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01724" y="499339"/>
            <a:ext cx="16084552" cy="1551434"/>
          </a:xfrm>
        </p:spPr>
        <p:txBody>
          <a:bodyPr/>
          <a:lstStyle/>
          <a:p>
            <a:r>
              <a:rPr lang="en-US" altLang="zh-TW" dirty="0"/>
              <a:t>Neural Network </a:t>
            </a:r>
            <a:endParaRPr lang="zh-TW" altLang="en-US" dirty="0"/>
          </a:p>
        </p:txBody>
      </p:sp>
      <p:grpSp>
        <p:nvGrpSpPr>
          <p:cNvPr id="39" name="群組 38"/>
          <p:cNvGrpSpPr/>
          <p:nvPr/>
        </p:nvGrpSpPr>
        <p:grpSpPr>
          <a:xfrm>
            <a:off x="7588392" y="3526310"/>
            <a:ext cx="3625221" cy="2846187"/>
            <a:chOff x="3223753" y="2941320"/>
            <a:chExt cx="2416814" cy="1897458"/>
          </a:xfrm>
        </p:grpSpPr>
        <p:grpSp>
          <p:nvGrpSpPr>
            <p:cNvPr id="38" name="群組 37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32" name="直線單箭頭接點 31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橢圓 21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3600" dirty="0"/>
              </a:p>
            </p:txBody>
          </p:sp>
          <p:cxnSp>
            <p:nvCxnSpPr>
              <p:cNvPr id="23" name="直線單箭頭接點 22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9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3" imgW="7620000" imgH="5181600" progId="Equation.3">
                      <p:embed/>
                    </p:oleObj>
                  </mc:Choice>
                  <mc:Fallback>
                    <p:oleObj name="方程式" r:id="rId3" imgW="7620000" imgH="5181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1" name="直線單箭頭接點 20"/>
            <p:cNvCxnSpPr/>
            <p:nvPr/>
          </p:nvCxnSpPr>
          <p:spPr>
            <a:xfrm flipV="1">
              <a:off x="3234600" y="3780105"/>
              <a:ext cx="674268" cy="906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/>
            <p:nvPr/>
          </p:nvCxnSpPr>
          <p:spPr>
            <a:xfrm>
              <a:off x="3223753" y="2941320"/>
              <a:ext cx="704573" cy="6913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群組 24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graphicFrame>
            <p:nvGraphicFramePr>
              <p:cNvPr id="27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5" imgW="3352800" imgH="3352800" progId="Equation.3">
                      <p:embed/>
                    </p:oleObj>
                  </mc:Choice>
                  <mc:Fallback>
                    <p:oleObj name="方程式" r:id="rId5" imgW="3352800" imgH="33528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" name="群組 36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28" name="直線單箭頭接點 27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線單箭頭接點 32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群組 41"/>
          <p:cNvGrpSpPr/>
          <p:nvPr/>
        </p:nvGrpSpPr>
        <p:grpSpPr>
          <a:xfrm>
            <a:off x="3891330" y="2390653"/>
            <a:ext cx="3625221" cy="2846187"/>
            <a:chOff x="3223753" y="2941320"/>
            <a:chExt cx="2416814" cy="1897458"/>
          </a:xfrm>
        </p:grpSpPr>
        <p:grpSp>
          <p:nvGrpSpPr>
            <p:cNvPr id="43" name="群組 42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53" name="直線單箭頭接點 52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橢圓 53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3600" dirty="0"/>
              </a:p>
            </p:txBody>
          </p:sp>
          <p:cxnSp>
            <p:nvCxnSpPr>
              <p:cNvPr id="55" name="直線單箭頭接點 54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6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7" imgW="7620000" imgH="5181600" progId="Equation.3">
                      <p:embed/>
                    </p:oleObj>
                  </mc:Choice>
                  <mc:Fallback>
                    <p:oleObj name="方程式" r:id="rId7" imgW="7620000" imgH="5181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4" name="直線單箭頭接點 43"/>
            <p:cNvCxnSpPr/>
            <p:nvPr/>
          </p:nvCxnSpPr>
          <p:spPr>
            <a:xfrm flipV="1">
              <a:off x="3405107" y="3780105"/>
              <a:ext cx="503761" cy="6770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3223753" y="2941320"/>
              <a:ext cx="704573" cy="6913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群組 45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graphicFrame>
            <p:nvGraphicFramePr>
              <p:cNvPr id="52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8" imgW="3352800" imgH="3352800" progId="Equation.3">
                      <p:embed/>
                    </p:oleObj>
                  </mc:Choice>
                  <mc:Fallback>
                    <p:oleObj name="方程式" r:id="rId8" imgW="3352800" imgH="33528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7" name="群組 46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50" name="直線單箭頭接點 49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直線單箭頭接點 47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群組 56"/>
          <p:cNvGrpSpPr/>
          <p:nvPr/>
        </p:nvGrpSpPr>
        <p:grpSpPr>
          <a:xfrm>
            <a:off x="3935421" y="5181320"/>
            <a:ext cx="3608951" cy="2673000"/>
            <a:chOff x="3234600" y="3056778"/>
            <a:chExt cx="2405967" cy="1782000"/>
          </a:xfrm>
        </p:grpSpPr>
        <p:grpSp>
          <p:nvGrpSpPr>
            <p:cNvPr id="58" name="群組 57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68" name="直線單箭頭接點 67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橢圓 68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3600" dirty="0"/>
              </a:p>
            </p:txBody>
          </p:sp>
          <p:cxnSp>
            <p:nvCxnSpPr>
              <p:cNvPr id="70" name="直線單箭頭接點 69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71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9" imgW="7620000" imgH="5181600" progId="Equation.3">
                      <p:embed/>
                    </p:oleObj>
                  </mc:Choice>
                  <mc:Fallback>
                    <p:oleObj name="方程式" r:id="rId9" imgW="7620000" imgH="5181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59" name="直線單箭頭接點 58"/>
            <p:cNvCxnSpPr/>
            <p:nvPr/>
          </p:nvCxnSpPr>
          <p:spPr>
            <a:xfrm flipV="1">
              <a:off x="3234600" y="3780105"/>
              <a:ext cx="674268" cy="906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單箭頭接點 59"/>
            <p:cNvCxnSpPr/>
            <p:nvPr/>
          </p:nvCxnSpPr>
          <p:spPr>
            <a:xfrm>
              <a:off x="3341416" y="3056778"/>
              <a:ext cx="586910" cy="57590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群組 60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graphicFrame>
            <p:nvGraphicFramePr>
              <p:cNvPr id="67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10" imgW="3352800" imgH="3352800" progId="Equation.3">
                      <p:embed/>
                    </p:oleObj>
                  </mc:Choice>
                  <mc:Fallback>
                    <p:oleObj name="方程式" r:id="rId10" imgW="3352800" imgH="33528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2" name="群組 61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65" name="直線單箭頭接點 64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直線單箭頭接點 62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群組 71"/>
          <p:cNvGrpSpPr/>
          <p:nvPr/>
        </p:nvGrpSpPr>
        <p:grpSpPr>
          <a:xfrm>
            <a:off x="11352426" y="3508436"/>
            <a:ext cx="3625221" cy="2846187"/>
            <a:chOff x="3223753" y="2941320"/>
            <a:chExt cx="2416814" cy="1897458"/>
          </a:xfrm>
        </p:grpSpPr>
        <p:grpSp>
          <p:nvGrpSpPr>
            <p:cNvPr id="73" name="群組 72"/>
            <p:cNvGrpSpPr/>
            <p:nvPr/>
          </p:nvGrpSpPr>
          <p:grpSpPr>
            <a:xfrm>
              <a:off x="4112351" y="3404891"/>
              <a:ext cx="1528216" cy="565603"/>
              <a:chOff x="4261309" y="3400794"/>
              <a:chExt cx="1528216" cy="565603"/>
            </a:xfrm>
          </p:grpSpPr>
          <p:cxnSp>
            <p:nvCxnSpPr>
              <p:cNvPr id="83" name="直線單箭頭接點 82"/>
              <p:cNvCxnSpPr/>
              <p:nvPr/>
            </p:nvCxnSpPr>
            <p:spPr>
              <a:xfrm flipV="1">
                <a:off x="5227675" y="3682412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橢圓 83"/>
              <p:cNvSpPr/>
              <p:nvPr/>
            </p:nvSpPr>
            <p:spPr>
              <a:xfrm>
                <a:off x="4839124" y="3400794"/>
                <a:ext cx="565603" cy="56560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3600" dirty="0"/>
              </a:p>
            </p:txBody>
          </p:sp>
          <p:cxnSp>
            <p:nvCxnSpPr>
              <p:cNvPr id="85" name="直線單箭頭接點 84"/>
              <p:cNvCxnSpPr/>
              <p:nvPr/>
            </p:nvCxnSpPr>
            <p:spPr>
              <a:xfrm flipV="1">
                <a:off x="4261309" y="3698913"/>
                <a:ext cx="561850" cy="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86" name="Object 12"/>
              <p:cNvGraphicFramePr>
                <a:graphicFrameLocks noChangeAspect="1"/>
              </p:cNvGraphicFramePr>
              <p:nvPr/>
            </p:nvGraphicFramePr>
            <p:xfrm>
              <a:off x="4823159" y="3478177"/>
              <a:ext cx="584765" cy="396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11" imgW="7620000" imgH="5181600" progId="Equation.3">
                      <p:embed/>
                    </p:oleObj>
                  </mc:Choice>
                  <mc:Fallback>
                    <p:oleObj name="方程式" r:id="rId11" imgW="7620000" imgH="5181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159" y="3478177"/>
                            <a:ext cx="584765" cy="39613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74" name="直線單箭頭接點 73"/>
            <p:cNvCxnSpPr/>
            <p:nvPr/>
          </p:nvCxnSpPr>
          <p:spPr>
            <a:xfrm flipV="1">
              <a:off x="3234600" y="3780105"/>
              <a:ext cx="674268" cy="906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3223753" y="2941320"/>
              <a:ext cx="704573" cy="6913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群組 75"/>
            <p:cNvGrpSpPr/>
            <p:nvPr/>
          </p:nvGrpSpPr>
          <p:grpSpPr>
            <a:xfrm>
              <a:off x="3956988" y="3478177"/>
              <a:ext cx="439530" cy="439530"/>
              <a:chOff x="3371313" y="3530847"/>
              <a:chExt cx="439530" cy="439530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3371313" y="3530847"/>
                <a:ext cx="439530" cy="4395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graphicFrame>
            <p:nvGraphicFramePr>
              <p:cNvPr id="82" name="Object 12"/>
              <p:cNvGraphicFramePr>
                <a:graphicFrameLocks noChangeAspect="1"/>
              </p:cNvGraphicFramePr>
              <p:nvPr/>
            </p:nvGraphicFramePr>
            <p:xfrm>
              <a:off x="3409193" y="3546688"/>
              <a:ext cx="385763" cy="387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12" imgW="3352800" imgH="3352800" progId="Equation.3">
                      <p:embed/>
                    </p:oleObj>
                  </mc:Choice>
                  <mc:Fallback>
                    <p:oleObj name="方程式" r:id="rId12" imgW="3352800" imgH="33528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9193" y="3546688"/>
                            <a:ext cx="385763" cy="3873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7" name="群組 76"/>
            <p:cNvGrpSpPr/>
            <p:nvPr/>
          </p:nvGrpSpPr>
          <p:grpSpPr>
            <a:xfrm>
              <a:off x="3972433" y="3933548"/>
              <a:ext cx="385763" cy="905230"/>
              <a:chOff x="3982168" y="3985175"/>
              <a:chExt cx="385763" cy="905230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3982168" y="4512672"/>
                <a:ext cx="385763" cy="37773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80" name="直線單箭頭接點 79"/>
              <p:cNvCxnSpPr/>
              <p:nvPr/>
            </p:nvCxnSpPr>
            <p:spPr>
              <a:xfrm flipV="1">
                <a:off x="4179533" y="3985175"/>
                <a:ext cx="0" cy="51705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直線單箭頭接點 77"/>
            <p:cNvCxnSpPr/>
            <p:nvPr/>
          </p:nvCxnSpPr>
          <p:spPr>
            <a:xfrm>
              <a:off x="3242300" y="3714572"/>
              <a:ext cx="69299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字方塊 2"/>
          <p:cNvSpPr txBox="1"/>
          <p:nvPr/>
        </p:nvSpPr>
        <p:spPr>
          <a:xfrm>
            <a:off x="7880663" y="6324946"/>
            <a:ext cx="292402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“Neuron”</a:t>
            </a:r>
            <a:endParaRPr lang="zh-TW" altLang="en-US" sz="3600" dirty="0"/>
          </a:p>
        </p:txBody>
      </p:sp>
      <p:sp>
        <p:nvSpPr>
          <p:cNvPr id="11" name="矩形 8"/>
          <p:cNvSpPr/>
          <p:nvPr/>
        </p:nvSpPr>
        <p:spPr>
          <a:xfrm>
            <a:off x="6983333" y="7330396"/>
            <a:ext cx="108519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3200" dirty="0"/>
              <a:t>Different connection leads to different network structures</a:t>
            </a:r>
            <a:endParaRPr lang="zh-TW" altLang="en-US" sz="3200" dirty="0"/>
          </a:p>
        </p:txBody>
      </p:sp>
      <p:sp>
        <p:nvSpPr>
          <p:cNvPr id="12" name="矩形 7"/>
          <p:cNvSpPr/>
          <p:nvPr/>
        </p:nvSpPr>
        <p:spPr>
          <a:xfrm>
            <a:off x="7516551" y="3460320"/>
            <a:ext cx="3740528" cy="2894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9"/>
              <p:cNvSpPr txBox="1"/>
              <p:nvPr/>
            </p:nvSpPr>
            <p:spPr>
              <a:xfrm>
                <a:off x="1803082" y="8323703"/>
                <a:ext cx="1468183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Network parameter </a:t>
                </a:r>
                <a14:m>
                  <m:oMath xmlns:m="http://schemas.openxmlformats.org/officeDocument/2006/math">
                    <m:r>
                      <a:rPr lang="zh-TW" altLang="en-US" sz="360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3600" dirty="0"/>
                  <a:t>:</a:t>
                </a:r>
                <a:r>
                  <a:rPr lang="zh-TW" altLang="en-US" sz="3600" dirty="0"/>
                  <a:t> </a:t>
                </a:r>
                <a:r>
                  <a:rPr lang="en-US" altLang="zh-TW" sz="3600" dirty="0"/>
                  <a:t>all the weights and biases in the “neurons” 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13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82" y="8323703"/>
                <a:ext cx="14681835" cy="645160"/>
              </a:xfrm>
              <a:prstGeom prst="rect">
                <a:avLst/>
              </a:prstGeom>
              <a:blipFill>
                <a:blip r:embed="rId13"/>
                <a:stretch>
                  <a:fillRect t="-13462" b="-3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1" name="图片 100"/>
          <p:cNvPicPr/>
          <p:nvPr/>
        </p:nvPicPr>
        <p:blipFill>
          <a:blip r:embed="rId14"/>
          <a:stretch>
            <a:fillRect/>
          </a:stretch>
        </p:blipFill>
        <p:spPr>
          <a:xfrm>
            <a:off x="12764768" y="662881"/>
            <a:ext cx="4062342" cy="241797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群組 128"/>
          <p:cNvGrpSpPr/>
          <p:nvPr/>
        </p:nvGrpSpPr>
        <p:grpSpPr>
          <a:xfrm>
            <a:off x="12645173" y="5720967"/>
            <a:ext cx="687431" cy="1247921"/>
            <a:chOff x="10102194" y="1939763"/>
            <a:chExt cx="458287" cy="831947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群組 104"/>
          <p:cNvGrpSpPr/>
          <p:nvPr/>
        </p:nvGrpSpPr>
        <p:grpSpPr>
          <a:xfrm>
            <a:off x="9300260" y="5679986"/>
            <a:ext cx="687431" cy="1247921"/>
            <a:chOff x="10102194" y="1939763"/>
            <a:chExt cx="458287" cy="831947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Fully Connect Feedforward Network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13718192" y="565032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13718192" y="3160928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409190" y="2987495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矩形 15"/>
          <p:cNvSpPr/>
          <p:nvPr/>
        </p:nvSpPr>
        <p:spPr>
          <a:xfrm>
            <a:off x="3362325" y="5450154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橢圓 19"/>
          <p:cNvSpPr/>
          <p:nvPr/>
        </p:nvSpPr>
        <p:spPr>
          <a:xfrm>
            <a:off x="6373656" y="2844620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橢圓 20"/>
          <p:cNvSpPr/>
          <p:nvPr/>
        </p:nvSpPr>
        <p:spPr>
          <a:xfrm>
            <a:off x="6356732" y="5166162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橢圓 26"/>
          <p:cNvSpPr/>
          <p:nvPr/>
        </p:nvSpPr>
        <p:spPr>
          <a:xfrm>
            <a:off x="9678789" y="2798573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橢圓 27"/>
          <p:cNvSpPr/>
          <p:nvPr/>
        </p:nvSpPr>
        <p:spPr>
          <a:xfrm>
            <a:off x="9707172" y="515758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橢圓 30"/>
          <p:cNvSpPr/>
          <p:nvPr/>
        </p:nvSpPr>
        <p:spPr>
          <a:xfrm>
            <a:off x="12909329" y="2757726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橢圓 31"/>
          <p:cNvSpPr/>
          <p:nvPr/>
        </p:nvSpPr>
        <p:spPr>
          <a:xfrm>
            <a:off x="12971864" y="515758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84" name="群組 83"/>
          <p:cNvGrpSpPr/>
          <p:nvPr/>
        </p:nvGrpSpPr>
        <p:grpSpPr>
          <a:xfrm>
            <a:off x="3949349" y="3258962"/>
            <a:ext cx="2383314" cy="245745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7276809" y="3236931"/>
            <a:ext cx="2383314" cy="245745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10576716" y="3207054"/>
            <a:ext cx="2383314" cy="245745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群組 2"/>
          <p:cNvGrpSpPr/>
          <p:nvPr/>
        </p:nvGrpSpPr>
        <p:grpSpPr>
          <a:xfrm>
            <a:off x="7709195" y="6878964"/>
            <a:ext cx="7946571" cy="3118341"/>
            <a:chOff x="3615463" y="4585976"/>
            <a:chExt cx="5297714" cy="2078894"/>
          </a:xfrm>
        </p:grpSpPr>
        <p:sp>
          <p:nvSpPr>
            <p:cNvPr id="137" name="圓角矩形圖說文字 136"/>
            <p:cNvSpPr/>
            <p:nvPr/>
          </p:nvSpPr>
          <p:spPr>
            <a:xfrm>
              <a:off x="3615463" y="4585976"/>
              <a:ext cx="5297714" cy="2078894"/>
            </a:xfrm>
            <a:prstGeom prst="wedgeRoundRectCallout">
              <a:avLst>
                <a:gd name="adj1" fmla="val -59656"/>
                <a:gd name="adj2" fmla="val -163051"/>
                <a:gd name="adj3" fmla="val 16667"/>
              </a:avLst>
            </a:prstGeom>
            <a:solidFill>
              <a:srgbClr val="FFFFFF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4" name="群組 3"/>
            <p:cNvGrpSpPr/>
            <p:nvPr/>
          </p:nvGrpSpPr>
          <p:grpSpPr>
            <a:xfrm>
              <a:off x="5943645" y="4731685"/>
              <a:ext cx="2743688" cy="1838325"/>
              <a:chOff x="4096343" y="4657321"/>
              <a:chExt cx="2743688" cy="1838325"/>
            </a:xfrm>
          </p:grpSpPr>
          <p:pic>
            <p:nvPicPr>
              <p:cNvPr id="5" name="圖片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6343" y="4657321"/>
                <a:ext cx="2571750" cy="1838325"/>
              </a:xfrm>
              <a:prstGeom prst="rect">
                <a:avLst/>
              </a:prstGeom>
              <a:solidFill>
                <a:srgbClr val="FFFFFF"/>
              </a:solidFill>
            </p:spPr>
          </p:pic>
          <p:graphicFrame>
            <p:nvGraphicFramePr>
              <p:cNvPr id="6" name="Object 12"/>
              <p:cNvGraphicFramePr>
                <a:graphicFrameLocks noChangeAspect="1"/>
              </p:cNvGraphicFramePr>
              <p:nvPr/>
            </p:nvGraphicFramePr>
            <p:xfrm>
              <a:off x="4474734" y="4768231"/>
              <a:ext cx="717072" cy="4897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4" imgW="7620000" imgH="5181600" progId="Equation.3">
                      <p:embed/>
                    </p:oleObj>
                  </mc:Choice>
                  <mc:Fallback>
                    <p:oleObj name="方程式" r:id="rId4" imgW="7620000" imgH="51816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4734" y="4768231"/>
                            <a:ext cx="717072" cy="48974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12"/>
              <p:cNvGraphicFramePr>
                <a:graphicFrameLocks noChangeAspect="1"/>
              </p:cNvGraphicFramePr>
              <p:nvPr/>
            </p:nvGraphicFramePr>
            <p:xfrm>
              <a:off x="6512897" y="6101982"/>
              <a:ext cx="327134" cy="3256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6" imgW="3048000" imgH="3048000" progId="Equation.3">
                      <p:embed/>
                    </p:oleObj>
                  </mc:Choice>
                  <mc:Fallback>
                    <p:oleObj name="方程式" r:id="rId6" imgW="3048000" imgH="30480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12897" y="6101982"/>
                            <a:ext cx="327134" cy="32566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9" name="Object 12"/>
            <p:cNvGraphicFramePr>
              <a:graphicFrameLocks noChangeAspect="1"/>
            </p:cNvGraphicFramePr>
            <p:nvPr/>
          </p:nvGraphicFramePr>
          <p:xfrm>
            <a:off x="3800520" y="5368768"/>
            <a:ext cx="2143125" cy="973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8" imgW="20726400" imgH="9448800" progId="Equation.3">
                    <p:embed/>
                  </p:oleObj>
                </mc:Choice>
                <mc:Fallback>
                  <p:oleObj name="方程式" r:id="rId8" imgW="20726400" imgH="9448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520" y="5368768"/>
                          <a:ext cx="2143125" cy="9731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文字方塊 102"/>
            <p:cNvSpPr txBox="1"/>
            <p:nvPr/>
          </p:nvSpPr>
          <p:spPr>
            <a:xfrm>
              <a:off x="3800520" y="4795570"/>
              <a:ext cx="2463800" cy="799253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Sigmoid Function</a:t>
              </a:r>
              <a:endParaRPr lang="zh-TW" altLang="en-US" sz="3600" dirty="0"/>
            </a:p>
          </p:txBody>
        </p:sp>
      </p:grpSp>
      <p:sp>
        <p:nvSpPr>
          <p:cNvPr id="104" name="手繪多邊形 103"/>
          <p:cNvSpPr/>
          <p:nvPr/>
        </p:nvSpPr>
        <p:spPr>
          <a:xfrm>
            <a:off x="6456206" y="5354882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6" name="手繪多邊形 105"/>
          <p:cNvSpPr/>
          <p:nvPr/>
        </p:nvSpPr>
        <p:spPr>
          <a:xfrm>
            <a:off x="6428291" y="2970720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7" name="手繪多邊形 106"/>
          <p:cNvSpPr/>
          <p:nvPr/>
        </p:nvSpPr>
        <p:spPr>
          <a:xfrm>
            <a:off x="9771674" y="298749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8" name="手繪多邊形 107"/>
          <p:cNvSpPr/>
          <p:nvPr/>
        </p:nvSpPr>
        <p:spPr>
          <a:xfrm>
            <a:off x="9796190" y="5272488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9" name="手繪多邊形 108"/>
          <p:cNvSpPr/>
          <p:nvPr/>
        </p:nvSpPr>
        <p:spPr>
          <a:xfrm>
            <a:off x="12995085" y="289536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0" name="手繪多邊形 109"/>
          <p:cNvSpPr/>
          <p:nvPr/>
        </p:nvSpPr>
        <p:spPr>
          <a:xfrm>
            <a:off x="13065716" y="5322641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1" name="文字方塊 110"/>
          <p:cNvSpPr txBox="1"/>
          <p:nvPr/>
        </p:nvSpPr>
        <p:spPr>
          <a:xfrm>
            <a:off x="3427442" y="2967312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3268766" y="5366459"/>
            <a:ext cx="7331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-1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4847744" y="2539919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5098380" y="3422394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4644936" y="5698089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4873354" y="4842621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17" name="矩形 116"/>
          <p:cNvSpPr/>
          <p:nvPr/>
        </p:nvSpPr>
        <p:spPr>
          <a:xfrm>
            <a:off x="5992727" y="3986474"/>
            <a:ext cx="687431" cy="673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6333080" y="3411674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6026997" y="3967097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32" name="矩形 131"/>
          <p:cNvSpPr/>
          <p:nvPr/>
        </p:nvSpPr>
        <p:spPr>
          <a:xfrm>
            <a:off x="6007014" y="6310482"/>
            <a:ext cx="687431" cy="673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6347367" y="5735682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6031926" y="6300792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135" name="文字方塊 134"/>
          <p:cNvSpPr txBox="1"/>
          <p:nvPr/>
        </p:nvSpPr>
        <p:spPr>
          <a:xfrm>
            <a:off x="5901651" y="2461439"/>
            <a:ext cx="64509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4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5730594" y="4867239"/>
            <a:ext cx="102407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-2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6949575" y="2403041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0.98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6983054" y="4811337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0.12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9296693" y="3393501"/>
            <a:ext cx="687431" cy="1247921"/>
            <a:chOff x="10102194" y="1939763"/>
            <a:chExt cx="458287" cy="831947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群組 124"/>
          <p:cNvGrpSpPr/>
          <p:nvPr/>
        </p:nvGrpSpPr>
        <p:grpSpPr>
          <a:xfrm>
            <a:off x="12564053" y="3385713"/>
            <a:ext cx="687431" cy="1247921"/>
            <a:chOff x="10102194" y="1939763"/>
            <a:chExt cx="458287" cy="831947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  <p:bldP spid="113" grpId="0"/>
      <p:bldP spid="114" grpId="0"/>
      <p:bldP spid="115" grpId="0"/>
      <p:bldP spid="116" grpId="0"/>
      <p:bldP spid="120" grpId="0"/>
      <p:bldP spid="134" grpId="0"/>
      <p:bldP spid="135" grpId="0"/>
      <p:bldP spid="136" grpId="0"/>
      <p:bldP spid="138" grpId="0" bldLvl="0" animBg="1"/>
      <p:bldP spid="13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Fully Connect Feedforward Network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13718192" y="565032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13718192" y="3160928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6373656" y="2844620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橢圓 20"/>
          <p:cNvSpPr/>
          <p:nvPr/>
        </p:nvSpPr>
        <p:spPr>
          <a:xfrm>
            <a:off x="6356732" y="5166162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橢圓 26"/>
          <p:cNvSpPr/>
          <p:nvPr/>
        </p:nvSpPr>
        <p:spPr>
          <a:xfrm>
            <a:off x="9678789" y="2798573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橢圓 27"/>
          <p:cNvSpPr/>
          <p:nvPr/>
        </p:nvSpPr>
        <p:spPr>
          <a:xfrm>
            <a:off x="9707172" y="515758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橢圓 30"/>
          <p:cNvSpPr/>
          <p:nvPr/>
        </p:nvSpPr>
        <p:spPr>
          <a:xfrm>
            <a:off x="12909329" y="2757726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橢圓 31"/>
          <p:cNvSpPr/>
          <p:nvPr/>
        </p:nvSpPr>
        <p:spPr>
          <a:xfrm>
            <a:off x="12971864" y="515758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84" name="群組 83"/>
          <p:cNvGrpSpPr/>
          <p:nvPr/>
        </p:nvGrpSpPr>
        <p:grpSpPr>
          <a:xfrm>
            <a:off x="3949349" y="3258962"/>
            <a:ext cx="2383314" cy="245745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7276809" y="3236931"/>
            <a:ext cx="2383314" cy="245745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10576716" y="3207054"/>
            <a:ext cx="2383314" cy="245745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手繪多邊形 103"/>
          <p:cNvSpPr/>
          <p:nvPr/>
        </p:nvSpPr>
        <p:spPr>
          <a:xfrm>
            <a:off x="6456206" y="5354882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6" name="手繪多邊形 105"/>
          <p:cNvSpPr/>
          <p:nvPr/>
        </p:nvSpPr>
        <p:spPr>
          <a:xfrm>
            <a:off x="6428291" y="2970720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7" name="手繪多邊形 106"/>
          <p:cNvSpPr/>
          <p:nvPr/>
        </p:nvSpPr>
        <p:spPr>
          <a:xfrm>
            <a:off x="9771674" y="298749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8" name="手繪多邊形 107"/>
          <p:cNvSpPr/>
          <p:nvPr/>
        </p:nvSpPr>
        <p:spPr>
          <a:xfrm>
            <a:off x="9796190" y="5272488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9" name="手繪多邊形 108"/>
          <p:cNvSpPr/>
          <p:nvPr/>
        </p:nvSpPr>
        <p:spPr>
          <a:xfrm>
            <a:off x="12995085" y="289536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0" name="手繪多邊形 109"/>
          <p:cNvSpPr/>
          <p:nvPr/>
        </p:nvSpPr>
        <p:spPr>
          <a:xfrm>
            <a:off x="13065716" y="5322641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3" name="文字方塊 112"/>
          <p:cNvSpPr txBox="1"/>
          <p:nvPr/>
        </p:nvSpPr>
        <p:spPr>
          <a:xfrm>
            <a:off x="4847744" y="2539919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5098380" y="3422394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4644936" y="5698089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4873354" y="4842621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grpSp>
        <p:nvGrpSpPr>
          <p:cNvPr id="123" name="群組 122"/>
          <p:cNvGrpSpPr/>
          <p:nvPr/>
        </p:nvGrpSpPr>
        <p:grpSpPr>
          <a:xfrm>
            <a:off x="5992727" y="3411674"/>
            <a:ext cx="687430" cy="1247921"/>
            <a:chOff x="10102194" y="1939763"/>
            <a:chExt cx="458287" cy="831947"/>
          </a:xfrm>
        </p:grpSpPr>
        <p:sp>
          <p:nvSpPr>
            <p:cNvPr id="117" name="矩形 116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19" name="直線單箭頭接點 11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字方塊 119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6007014" y="5735682"/>
            <a:ext cx="687430" cy="1247921"/>
            <a:chOff x="10102194" y="1939763"/>
            <a:chExt cx="458287" cy="831947"/>
          </a:xfrm>
        </p:grpSpPr>
        <p:sp>
          <p:nvSpPr>
            <p:cNvPr id="132" name="矩形 131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33" name="直線單箭頭接點 132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文字方塊 133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sp>
        <p:nvSpPr>
          <p:cNvPr id="135" name="文字方塊 134"/>
          <p:cNvSpPr txBox="1"/>
          <p:nvPr/>
        </p:nvSpPr>
        <p:spPr>
          <a:xfrm>
            <a:off x="5901651" y="2461439"/>
            <a:ext cx="64509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4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5730594" y="4867239"/>
            <a:ext cx="102407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-2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6949575" y="2403041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0.98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6983054" y="4811337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0.12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8215856" y="2508635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8466492" y="3391110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8013048" y="5666805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8241467" y="4811337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11475024" y="2510010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11725661" y="3392486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11272217" y="5668181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147" name="文字方塊 146"/>
          <p:cNvSpPr txBox="1"/>
          <p:nvPr/>
        </p:nvSpPr>
        <p:spPr>
          <a:xfrm>
            <a:off x="11500635" y="4812713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50" name="文字方塊 149"/>
          <p:cNvSpPr txBox="1"/>
          <p:nvPr/>
        </p:nvSpPr>
        <p:spPr>
          <a:xfrm>
            <a:off x="10165255" y="2498157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0.86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10198734" y="4906454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0.11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13544658" y="2439299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0.62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13578136" y="4847595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0.83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grpSp>
        <p:nvGrpSpPr>
          <p:cNvPr id="97" name="群組 96"/>
          <p:cNvGrpSpPr/>
          <p:nvPr/>
        </p:nvGrpSpPr>
        <p:grpSpPr>
          <a:xfrm>
            <a:off x="9296693" y="3393501"/>
            <a:ext cx="687430" cy="1247921"/>
            <a:chOff x="10102194" y="1939763"/>
            <a:chExt cx="458287" cy="831947"/>
          </a:xfrm>
        </p:grpSpPr>
        <p:sp>
          <p:nvSpPr>
            <p:cNvPr id="98" name="矩形 9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99" name="直線單箭頭接點 9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grpSp>
        <p:nvGrpSpPr>
          <p:cNvPr id="105" name="群組 104"/>
          <p:cNvGrpSpPr/>
          <p:nvPr/>
        </p:nvGrpSpPr>
        <p:grpSpPr>
          <a:xfrm>
            <a:off x="9300260" y="5679986"/>
            <a:ext cx="687430" cy="1247921"/>
            <a:chOff x="10102194" y="1939763"/>
            <a:chExt cx="458287" cy="831947"/>
          </a:xfrm>
        </p:grpSpPr>
        <p:sp>
          <p:nvSpPr>
            <p:cNvPr id="118" name="矩形 11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2" name="直線單箭頭接點 12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12564053" y="3385713"/>
            <a:ext cx="687430" cy="1247921"/>
            <a:chOff x="10102194" y="1939763"/>
            <a:chExt cx="458287" cy="831947"/>
          </a:xfrm>
        </p:grpSpPr>
        <p:sp>
          <p:nvSpPr>
            <p:cNvPr id="126" name="矩形 12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7" name="直線單箭頭接點 12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字方塊 127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-2</a:t>
              </a:r>
              <a:endParaRPr lang="zh-TW" altLang="en-US" sz="3600" dirty="0"/>
            </a:p>
          </p:txBody>
        </p:sp>
      </p:grpSp>
      <p:grpSp>
        <p:nvGrpSpPr>
          <p:cNvPr id="129" name="群組 128"/>
          <p:cNvGrpSpPr/>
          <p:nvPr/>
        </p:nvGrpSpPr>
        <p:grpSpPr>
          <a:xfrm>
            <a:off x="12645173" y="5720967"/>
            <a:ext cx="687430" cy="1247921"/>
            <a:chOff x="10102194" y="1939763"/>
            <a:chExt cx="458287" cy="831947"/>
          </a:xfrm>
        </p:grpSpPr>
        <p:sp>
          <p:nvSpPr>
            <p:cNvPr id="130" name="矩形 12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48" name="直線單箭頭接點 147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字方塊 148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2</a:t>
              </a:r>
              <a:endParaRPr lang="zh-TW" altLang="en-US" sz="3600" dirty="0"/>
            </a:p>
          </p:txBody>
        </p:sp>
      </p:grpSp>
      <p:sp>
        <p:nvSpPr>
          <p:cNvPr id="121" name="矩形 120"/>
          <p:cNvSpPr/>
          <p:nvPr/>
        </p:nvSpPr>
        <p:spPr>
          <a:xfrm>
            <a:off x="3409190" y="2987495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7" name="矩形 136"/>
          <p:cNvSpPr/>
          <p:nvPr/>
        </p:nvSpPr>
        <p:spPr>
          <a:xfrm>
            <a:off x="3362325" y="5450154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2" name="文字方塊 151"/>
          <p:cNvSpPr txBox="1"/>
          <p:nvPr/>
        </p:nvSpPr>
        <p:spPr>
          <a:xfrm>
            <a:off x="3427442" y="2967312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53" name="文字方塊 152"/>
          <p:cNvSpPr txBox="1"/>
          <p:nvPr/>
        </p:nvSpPr>
        <p:spPr>
          <a:xfrm>
            <a:off x="3268766" y="5366459"/>
            <a:ext cx="7331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-1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bldLvl="0" animBg="1"/>
      <p:bldP spid="151" grpId="0" bldLvl="0" animBg="1"/>
      <p:bldP spid="154" grpId="0" bldLvl="0" animBg="1"/>
      <p:bldP spid="15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Fully Connect Feedforward Network</a:t>
            </a:r>
            <a:endParaRPr lang="zh-TW" altLang="en-US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13718192" y="5650322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13718192" y="3160928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6373656" y="2844620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橢圓 20"/>
          <p:cNvSpPr/>
          <p:nvPr/>
        </p:nvSpPr>
        <p:spPr>
          <a:xfrm>
            <a:off x="6356732" y="5166162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橢圓 26"/>
          <p:cNvSpPr/>
          <p:nvPr/>
        </p:nvSpPr>
        <p:spPr>
          <a:xfrm>
            <a:off x="9678789" y="2798573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橢圓 27"/>
          <p:cNvSpPr/>
          <p:nvPr/>
        </p:nvSpPr>
        <p:spPr>
          <a:xfrm>
            <a:off x="9707172" y="515758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橢圓 30"/>
          <p:cNvSpPr/>
          <p:nvPr/>
        </p:nvSpPr>
        <p:spPr>
          <a:xfrm>
            <a:off x="12909329" y="2757726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橢圓 31"/>
          <p:cNvSpPr/>
          <p:nvPr/>
        </p:nvSpPr>
        <p:spPr>
          <a:xfrm>
            <a:off x="12971864" y="515758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84" name="群組 83"/>
          <p:cNvGrpSpPr/>
          <p:nvPr/>
        </p:nvGrpSpPr>
        <p:grpSpPr>
          <a:xfrm>
            <a:off x="3949349" y="3258962"/>
            <a:ext cx="2383314" cy="2457450"/>
            <a:chOff x="1013669" y="3459098"/>
            <a:chExt cx="1588876" cy="1638300"/>
          </a:xfrm>
        </p:grpSpPr>
        <p:cxnSp>
          <p:nvCxnSpPr>
            <p:cNvPr id="50" name="直線單箭頭接點 49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48" name="直線單箭頭接點 4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單箭頭接點 50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群組 84"/>
          <p:cNvGrpSpPr/>
          <p:nvPr/>
        </p:nvGrpSpPr>
        <p:grpSpPr>
          <a:xfrm>
            <a:off x="7276809" y="3236931"/>
            <a:ext cx="2383314" cy="2457450"/>
            <a:chOff x="1013669" y="3459098"/>
            <a:chExt cx="1588876" cy="1638300"/>
          </a:xfrm>
        </p:grpSpPr>
        <p:cxnSp>
          <p:nvCxnSpPr>
            <p:cNvPr id="86" name="直線單箭頭接點 85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88" name="直線單箭頭接點 87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單箭頭接點 88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單箭頭接點 89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群組 90"/>
          <p:cNvGrpSpPr/>
          <p:nvPr/>
        </p:nvGrpSpPr>
        <p:grpSpPr>
          <a:xfrm>
            <a:off x="10576716" y="3207054"/>
            <a:ext cx="2383314" cy="2457450"/>
            <a:chOff x="1013669" y="3459098"/>
            <a:chExt cx="1588876" cy="1638300"/>
          </a:xfrm>
        </p:grpSpPr>
        <p:cxnSp>
          <p:nvCxnSpPr>
            <p:cNvPr id="92" name="直線單箭頭接點 91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94" name="直線單箭頭接點 93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單箭頭接點 95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手繪多邊形 103"/>
          <p:cNvSpPr/>
          <p:nvPr/>
        </p:nvSpPr>
        <p:spPr>
          <a:xfrm>
            <a:off x="6456206" y="5354882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6" name="手繪多邊形 105"/>
          <p:cNvSpPr/>
          <p:nvPr/>
        </p:nvSpPr>
        <p:spPr>
          <a:xfrm>
            <a:off x="6428291" y="2970720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7" name="手繪多邊形 106"/>
          <p:cNvSpPr/>
          <p:nvPr/>
        </p:nvSpPr>
        <p:spPr>
          <a:xfrm>
            <a:off x="9771674" y="298749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8" name="手繪多邊形 107"/>
          <p:cNvSpPr/>
          <p:nvPr/>
        </p:nvSpPr>
        <p:spPr>
          <a:xfrm>
            <a:off x="9796190" y="5272488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9" name="手繪多邊形 108"/>
          <p:cNvSpPr/>
          <p:nvPr/>
        </p:nvSpPr>
        <p:spPr>
          <a:xfrm>
            <a:off x="12995085" y="289536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0" name="手繪多邊形 109"/>
          <p:cNvSpPr/>
          <p:nvPr/>
        </p:nvSpPr>
        <p:spPr>
          <a:xfrm>
            <a:off x="13065716" y="5322641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3" name="文字方塊 112"/>
          <p:cNvSpPr txBox="1"/>
          <p:nvPr/>
        </p:nvSpPr>
        <p:spPr>
          <a:xfrm>
            <a:off x="4847744" y="2539919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5098380" y="3422394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4644936" y="5698089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4873354" y="4842621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17" name="矩形 116"/>
          <p:cNvSpPr/>
          <p:nvPr/>
        </p:nvSpPr>
        <p:spPr>
          <a:xfrm>
            <a:off x="5992727" y="3986474"/>
            <a:ext cx="687431" cy="673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9" name="直線單箭頭接點 118"/>
          <p:cNvCxnSpPr/>
          <p:nvPr/>
        </p:nvCxnSpPr>
        <p:spPr>
          <a:xfrm flipV="1">
            <a:off x="6333080" y="3411674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/>
          <p:cNvSpPr txBox="1"/>
          <p:nvPr/>
        </p:nvSpPr>
        <p:spPr>
          <a:xfrm>
            <a:off x="6017639" y="3976784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32" name="矩形 131"/>
          <p:cNvSpPr/>
          <p:nvPr/>
        </p:nvSpPr>
        <p:spPr>
          <a:xfrm>
            <a:off x="6007014" y="6310482"/>
            <a:ext cx="687431" cy="673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33" name="直線單箭頭接點 132"/>
          <p:cNvCxnSpPr/>
          <p:nvPr/>
        </p:nvCxnSpPr>
        <p:spPr>
          <a:xfrm flipV="1">
            <a:off x="6347367" y="5735682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6031926" y="6300792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138" name="文字方塊 137"/>
          <p:cNvSpPr txBox="1"/>
          <p:nvPr/>
        </p:nvSpPr>
        <p:spPr>
          <a:xfrm>
            <a:off x="6949575" y="2403041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0.73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6899042" y="4811337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0.5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40" name="文字方塊 139"/>
          <p:cNvSpPr txBox="1"/>
          <p:nvPr/>
        </p:nvSpPr>
        <p:spPr>
          <a:xfrm>
            <a:off x="8215856" y="2508635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8466492" y="3391110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8013048" y="5666805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8241467" y="4811337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11475024" y="2510010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11725661" y="3392486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11272217" y="5668181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147" name="文字方塊 146"/>
          <p:cNvSpPr txBox="1"/>
          <p:nvPr/>
        </p:nvSpPr>
        <p:spPr>
          <a:xfrm>
            <a:off x="11500635" y="4812713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50" name="文字方塊 149"/>
          <p:cNvSpPr txBox="1"/>
          <p:nvPr/>
        </p:nvSpPr>
        <p:spPr>
          <a:xfrm>
            <a:off x="10109408" y="2334774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0.72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10198734" y="4906454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0.12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54" name="文字方塊 153"/>
          <p:cNvSpPr txBox="1"/>
          <p:nvPr/>
        </p:nvSpPr>
        <p:spPr>
          <a:xfrm>
            <a:off x="13596216" y="2361935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0.51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13718192" y="4842621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0.85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296693" y="3968301"/>
            <a:ext cx="687431" cy="673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99" name="直線單箭頭接點 98"/>
          <p:cNvCxnSpPr/>
          <p:nvPr/>
        </p:nvCxnSpPr>
        <p:spPr>
          <a:xfrm flipV="1">
            <a:off x="9637046" y="3393501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字方塊 101"/>
          <p:cNvSpPr txBox="1"/>
          <p:nvPr/>
        </p:nvSpPr>
        <p:spPr>
          <a:xfrm>
            <a:off x="9321605" y="3958611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118" name="矩形 117"/>
          <p:cNvSpPr/>
          <p:nvPr/>
        </p:nvSpPr>
        <p:spPr>
          <a:xfrm>
            <a:off x="9300260" y="6254786"/>
            <a:ext cx="687431" cy="673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22" name="直線單箭頭接點 121"/>
          <p:cNvCxnSpPr/>
          <p:nvPr/>
        </p:nvCxnSpPr>
        <p:spPr>
          <a:xfrm flipV="1">
            <a:off x="9640613" y="5679986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9325172" y="6245096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</a:t>
            </a:r>
            <a:endParaRPr lang="zh-TW" altLang="en-US" sz="3600" dirty="0"/>
          </a:p>
        </p:txBody>
      </p:sp>
      <p:sp>
        <p:nvSpPr>
          <p:cNvPr id="126" name="矩形 125"/>
          <p:cNvSpPr/>
          <p:nvPr/>
        </p:nvSpPr>
        <p:spPr>
          <a:xfrm>
            <a:off x="12564053" y="3960513"/>
            <a:ext cx="687431" cy="673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27" name="直線單箭頭接點 126"/>
          <p:cNvCxnSpPr/>
          <p:nvPr/>
        </p:nvCxnSpPr>
        <p:spPr>
          <a:xfrm flipV="1">
            <a:off x="12904406" y="3385713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字方塊 127"/>
          <p:cNvSpPr txBox="1"/>
          <p:nvPr/>
        </p:nvSpPr>
        <p:spPr>
          <a:xfrm>
            <a:off x="12588965" y="3950823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130" name="矩形 129"/>
          <p:cNvSpPr/>
          <p:nvPr/>
        </p:nvSpPr>
        <p:spPr>
          <a:xfrm>
            <a:off x="12645173" y="6295767"/>
            <a:ext cx="687431" cy="6731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48" name="直線單箭頭接點 147"/>
          <p:cNvCxnSpPr/>
          <p:nvPr/>
        </p:nvCxnSpPr>
        <p:spPr>
          <a:xfrm flipV="1">
            <a:off x="12985526" y="5720967"/>
            <a:ext cx="0" cy="5762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文字方塊 148"/>
          <p:cNvSpPr txBox="1"/>
          <p:nvPr/>
        </p:nvSpPr>
        <p:spPr>
          <a:xfrm>
            <a:off x="12670085" y="6286077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/>
              <p:cNvSpPr txBox="1"/>
              <p:nvPr/>
            </p:nvSpPr>
            <p:spPr>
              <a:xfrm>
                <a:off x="12188420" y="7150792"/>
                <a:ext cx="3216910" cy="926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TW" sz="3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3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.51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03" name="文字方塊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8420" y="7150792"/>
                <a:ext cx="3216910" cy="926465"/>
              </a:xfrm>
              <a:prstGeom prst="rect">
                <a:avLst/>
              </a:prstGeom>
              <a:blipFill rotWithShape="1">
                <a:blip r:embed="rId3"/>
                <a:stretch>
                  <a:fillRect l="-7" t="-6" r="-546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/>
              <p:cNvSpPr txBox="1"/>
              <p:nvPr/>
            </p:nvSpPr>
            <p:spPr>
              <a:xfrm>
                <a:off x="8332011" y="7162046"/>
                <a:ext cx="3559810" cy="915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3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36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.62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0.83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1" name="文字方塊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011" y="7162046"/>
                <a:ext cx="3559810" cy="915035"/>
              </a:xfrm>
              <a:prstGeom prst="rect">
                <a:avLst/>
              </a:prstGeom>
              <a:blipFill rotWithShape="1">
                <a:blip r:embed="rId4"/>
                <a:stretch>
                  <a:fillRect l="-5" t="-56" r="-477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矩形 134"/>
          <p:cNvSpPr/>
          <p:nvPr/>
        </p:nvSpPr>
        <p:spPr>
          <a:xfrm>
            <a:off x="3409190" y="2987495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6" name="矩形 135"/>
          <p:cNvSpPr/>
          <p:nvPr/>
        </p:nvSpPr>
        <p:spPr>
          <a:xfrm>
            <a:off x="3362325" y="5450154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2" name="文字方塊 151"/>
          <p:cNvSpPr txBox="1"/>
          <p:nvPr/>
        </p:nvSpPr>
        <p:spPr>
          <a:xfrm>
            <a:off x="3427442" y="2967312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53" name="文字方塊 152"/>
          <p:cNvSpPr txBox="1"/>
          <p:nvPr/>
        </p:nvSpPr>
        <p:spPr>
          <a:xfrm>
            <a:off x="3268766" y="5366459"/>
            <a:ext cx="7331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859882" y="7032663"/>
            <a:ext cx="539863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This is a function.</a:t>
            </a:r>
            <a:endParaRPr lang="zh-TW" altLang="en-US" sz="3600" dirty="0"/>
          </a:p>
        </p:txBody>
      </p:sp>
      <p:sp>
        <p:nvSpPr>
          <p:cNvPr id="101" name="文字方塊 100"/>
          <p:cNvSpPr txBox="1"/>
          <p:nvPr/>
        </p:nvSpPr>
        <p:spPr>
          <a:xfrm>
            <a:off x="2842830" y="7610660"/>
            <a:ext cx="539863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 vector, output vector</a:t>
            </a:r>
            <a:endParaRPr lang="zh-TW" altLang="en-US" sz="3600" dirty="0"/>
          </a:p>
        </p:txBody>
      </p:sp>
      <p:sp>
        <p:nvSpPr>
          <p:cNvPr id="111" name="文字方塊 110"/>
          <p:cNvSpPr txBox="1"/>
          <p:nvPr/>
        </p:nvSpPr>
        <p:spPr>
          <a:xfrm>
            <a:off x="2972267" y="9033908"/>
            <a:ext cx="12353378" cy="738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Given network structure, define </a:t>
            </a:r>
            <a:r>
              <a:rPr lang="en-US" altLang="zh-TW" sz="4200" b="1" i="1" u="sng" dirty="0"/>
              <a:t>a function set</a:t>
            </a:r>
            <a:endParaRPr lang="zh-TW" altLang="en-US" sz="4200" b="1" i="1" u="sng" dirty="0"/>
          </a:p>
        </p:txBody>
      </p:sp>
      <p:sp>
        <p:nvSpPr>
          <p:cNvPr id="5" name="弧形箭號 (下彎) 4"/>
          <p:cNvSpPr/>
          <p:nvPr/>
        </p:nvSpPr>
        <p:spPr>
          <a:xfrm rot="18733527">
            <a:off x="2839008" y="5523437"/>
            <a:ext cx="2092805" cy="105158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/>
      <p:bldP spid="114" grpId="0"/>
      <p:bldP spid="115" grpId="0"/>
      <p:bldP spid="116" grpId="0"/>
      <p:bldP spid="120" grpId="0"/>
      <p:bldP spid="134" grpId="0"/>
      <p:bldP spid="138" grpId="0" bldLvl="0" animBg="1"/>
      <p:bldP spid="138" grpId="1" bldLvl="0" animBg="1"/>
      <p:bldP spid="139" grpId="0" bldLvl="0" animBg="1"/>
      <p:bldP spid="139" grpId="1" bldLvl="0" animBg="1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50" grpId="0" bldLvl="0" animBg="1"/>
      <p:bldP spid="150" grpId="1" bldLvl="0" animBg="1"/>
      <p:bldP spid="151" grpId="0" bldLvl="0" animBg="1"/>
      <p:bldP spid="151" grpId="1" bldLvl="0" animBg="1"/>
      <p:bldP spid="154" grpId="0" bldLvl="0" animBg="1"/>
      <p:bldP spid="154" grpId="1" bldLvl="0" animBg="1"/>
      <p:bldP spid="155" grpId="0" bldLvl="0" animBg="1"/>
      <p:bldP spid="155" grpId="1" bldLvl="0" animBg="1"/>
      <p:bldP spid="102" grpId="0"/>
      <p:bldP spid="124" grpId="0"/>
      <p:bldP spid="128" grpId="0"/>
      <p:bldP spid="149" grpId="0"/>
      <p:bldP spid="103" grpId="0"/>
      <p:bldP spid="121" grpId="0"/>
      <p:bldP spid="152" grpId="0"/>
      <p:bldP spid="152" grpId="1"/>
      <p:bldP spid="153" grpId="0"/>
      <p:bldP spid="153" grpId="1"/>
      <p:bldP spid="3" grpId="0"/>
      <p:bldP spid="101" grpId="0"/>
      <p:bldP spid="111" grpId="0" bldLvl="0" animBg="1"/>
      <p:bldP spid="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字方塊 63"/>
          <p:cNvSpPr txBox="1"/>
          <p:nvPr/>
        </p:nvSpPr>
        <p:spPr>
          <a:xfrm>
            <a:off x="11148915" y="8066354"/>
            <a:ext cx="174878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Output Layer</a:t>
            </a:r>
            <a:endParaRPr lang="zh-TW" altLang="en-US" sz="3600" b="1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6719034" y="8587724"/>
            <a:ext cx="309996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Hidden Layers</a:t>
            </a:r>
            <a:endParaRPr lang="zh-TW" altLang="en-US" sz="3600" b="1" dirty="0"/>
          </a:p>
        </p:txBody>
      </p:sp>
      <p:sp>
        <p:nvSpPr>
          <p:cNvPr id="66" name="右大括弧 65"/>
          <p:cNvSpPr/>
          <p:nvPr/>
        </p:nvSpPr>
        <p:spPr>
          <a:xfrm rot="5400000">
            <a:off x="8160414" y="6116816"/>
            <a:ext cx="272592" cy="4408935"/>
          </a:xfrm>
          <a:prstGeom prst="rightBrace">
            <a:avLst>
              <a:gd name="adj1" fmla="val 175868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9" name="矩形 58"/>
          <p:cNvSpPr/>
          <p:nvPr/>
        </p:nvSpPr>
        <p:spPr>
          <a:xfrm>
            <a:off x="4375353" y="4208375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0" name="文字方塊 59"/>
          <p:cNvSpPr txBox="1"/>
          <p:nvPr/>
        </p:nvSpPr>
        <p:spPr>
          <a:xfrm>
            <a:off x="4014471" y="8073822"/>
            <a:ext cx="1452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Input Layer</a:t>
            </a:r>
            <a:endParaRPr lang="zh-TW" altLang="en-US" sz="3600" b="1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Fully Connect Feedforward Network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884124" y="3485699"/>
            <a:ext cx="1701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13100187" y="3485699"/>
            <a:ext cx="1701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</a:t>
            </a: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12043764" y="5739543"/>
            <a:ext cx="15278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12207738" y="7608378"/>
            <a:ext cx="13586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12007938" y="4571339"/>
            <a:ext cx="157555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477935" y="5284914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矩形 14"/>
          <p:cNvSpPr/>
          <p:nvPr/>
        </p:nvSpPr>
        <p:spPr>
          <a:xfrm>
            <a:off x="4486662" y="4429421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4505711" y="4286546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657600" imgH="5181600" progId="Equation.3">
                  <p:embed/>
                </p:oleObj>
              </mc:Choice>
              <mc:Fallback>
                <p:oleObj name="方程式" r:id="rId3" imgW="3657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5711" y="4286546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4513655" y="5160639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962400" imgH="5181600" progId="Equation.3">
                  <p:embed/>
                </p:oleObj>
              </mc:Choice>
              <mc:Fallback>
                <p:oleObj name="方程式" r:id="rId5" imgW="3962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655" y="5160639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" name="群組 77"/>
          <p:cNvGrpSpPr/>
          <p:nvPr/>
        </p:nvGrpSpPr>
        <p:grpSpPr>
          <a:xfrm>
            <a:off x="5891366" y="3485699"/>
            <a:ext cx="1701972" cy="4695017"/>
            <a:chOff x="2332137" y="1770729"/>
            <a:chExt cx="1134648" cy="3130011"/>
          </a:xfrm>
        </p:grpSpPr>
        <p:sp>
          <p:nvSpPr>
            <p:cNvPr id="61" name="矩形 60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2332137" y="1770729"/>
              <a:ext cx="1134648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Layer 1</a:t>
              </a:r>
              <a:endParaRPr lang="zh-TW" altLang="en-US" sz="3600" dirty="0"/>
            </a:p>
          </p:txBody>
        </p:sp>
        <p:sp>
          <p:nvSpPr>
            <p:cNvPr id="18" name="橢圓 17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9" name="橢圓 18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0" name="橢圓 19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1" name="文字方塊 20"/>
            <p:cNvSpPr txBox="1"/>
            <p:nvPr/>
          </p:nvSpPr>
          <p:spPr>
            <a:xfrm rot="5400000">
              <a:off x="2589637" y="3879749"/>
              <a:ext cx="76925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</a:t>
              </a:r>
              <a:endParaRPr lang="zh-TW" altLang="en-US" sz="4200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4492223" y="7381550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4487549" y="7237169"/>
          <a:ext cx="61198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572000" imgH="5486400" progId="Equation.3">
                  <p:embed/>
                </p:oleObj>
              </mc:Choice>
              <mc:Fallback>
                <p:oleObj name="方程式" r:id="rId7" imgW="45720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7549" y="7237169"/>
                        <a:ext cx="611982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字方塊 23"/>
          <p:cNvSpPr txBox="1"/>
          <p:nvPr/>
        </p:nvSpPr>
        <p:spPr>
          <a:xfrm rot="5400000">
            <a:off x="4306121" y="6631463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grpSp>
        <p:nvGrpSpPr>
          <p:cNvPr id="79" name="群組 78"/>
          <p:cNvGrpSpPr/>
          <p:nvPr/>
        </p:nvGrpSpPr>
        <p:grpSpPr>
          <a:xfrm>
            <a:off x="7878713" y="3485699"/>
            <a:ext cx="1701972" cy="4670496"/>
            <a:chOff x="3657035" y="1770729"/>
            <a:chExt cx="1134648" cy="3113664"/>
          </a:xfrm>
        </p:grpSpPr>
        <p:sp>
          <p:nvSpPr>
            <p:cNvPr id="62" name="矩形 61"/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" name="文字方塊 4"/>
            <p:cNvSpPr txBox="1"/>
            <p:nvPr/>
          </p:nvSpPr>
          <p:spPr>
            <a:xfrm>
              <a:off x="3657035" y="1770729"/>
              <a:ext cx="1134648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Layer 2</a:t>
              </a:r>
              <a:endParaRPr lang="zh-TW" altLang="en-US" sz="3600" dirty="0"/>
            </a:p>
          </p:txBody>
        </p:sp>
        <p:sp>
          <p:nvSpPr>
            <p:cNvPr id="25" name="橢圓 24"/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6" name="橢圓 25"/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" name="橢圓 26"/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8" name="文字方塊 27"/>
            <p:cNvSpPr txBox="1"/>
            <p:nvPr/>
          </p:nvSpPr>
          <p:spPr>
            <a:xfrm rot="5400000">
              <a:off x="3905199" y="3879749"/>
              <a:ext cx="76925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</a:t>
              </a:r>
              <a:endParaRPr lang="zh-TW" altLang="en-US" sz="4200" dirty="0"/>
            </a:p>
          </p:txBody>
        </p:sp>
      </p:grpSp>
      <p:grpSp>
        <p:nvGrpSpPr>
          <p:cNvPr id="80" name="群組 79"/>
          <p:cNvGrpSpPr/>
          <p:nvPr/>
        </p:nvGrpSpPr>
        <p:grpSpPr>
          <a:xfrm>
            <a:off x="11195732" y="3485699"/>
            <a:ext cx="1701972" cy="4695017"/>
            <a:chOff x="5868381" y="1770729"/>
            <a:chExt cx="1134648" cy="3130011"/>
          </a:xfrm>
        </p:grpSpPr>
        <p:sp>
          <p:nvSpPr>
            <p:cNvPr id="63" name="矩形 62"/>
            <p:cNvSpPr/>
            <p:nvPr/>
          </p:nvSpPr>
          <p:spPr>
            <a:xfrm>
              <a:off x="6046929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文字方塊 5"/>
            <p:cNvSpPr txBox="1"/>
            <p:nvPr/>
          </p:nvSpPr>
          <p:spPr>
            <a:xfrm>
              <a:off x="5868381" y="1770729"/>
              <a:ext cx="1134648" cy="799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Layer L</a:t>
              </a:r>
              <a:endParaRPr lang="zh-TW" altLang="en-US" sz="3600" dirty="0"/>
            </a:p>
          </p:txBody>
        </p:sp>
        <p:sp>
          <p:nvSpPr>
            <p:cNvPr id="29" name="橢圓 28"/>
            <p:cNvSpPr/>
            <p:nvPr/>
          </p:nvSpPr>
          <p:spPr>
            <a:xfrm>
              <a:off x="6122773" y="2216766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0" name="橢圓 29"/>
            <p:cNvSpPr/>
            <p:nvPr/>
          </p:nvSpPr>
          <p:spPr>
            <a:xfrm>
              <a:off x="6125115" y="297667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1" name="橢圓 30"/>
            <p:cNvSpPr/>
            <p:nvPr/>
          </p:nvSpPr>
          <p:spPr>
            <a:xfrm>
              <a:off x="6132143" y="4223348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2" name="文字方塊 31"/>
            <p:cNvSpPr txBox="1"/>
            <p:nvPr/>
          </p:nvSpPr>
          <p:spPr>
            <a:xfrm rot="5400000">
              <a:off x="6129396" y="3857478"/>
              <a:ext cx="76925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</a:t>
              </a:r>
              <a:endParaRPr lang="zh-TW" altLang="en-US" sz="4200" dirty="0"/>
            </a:p>
          </p:txBody>
        </p:sp>
      </p:grpSp>
      <p:sp>
        <p:nvSpPr>
          <p:cNvPr id="33" name="文字方塊 32"/>
          <p:cNvSpPr txBox="1"/>
          <p:nvPr/>
        </p:nvSpPr>
        <p:spPr>
          <a:xfrm>
            <a:off x="9293345" y="4117398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9303768" y="5258879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9347292" y="7081881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grpSp>
        <p:nvGrpSpPr>
          <p:cNvPr id="81" name="群組 80"/>
          <p:cNvGrpSpPr/>
          <p:nvPr/>
        </p:nvGrpSpPr>
        <p:grpSpPr>
          <a:xfrm>
            <a:off x="7142973" y="4591913"/>
            <a:ext cx="1129556" cy="3042704"/>
            <a:chOff x="3166542" y="2508205"/>
            <a:chExt cx="753037" cy="2028469"/>
          </a:xfrm>
        </p:grpSpPr>
        <p:cxnSp>
          <p:nvCxnSpPr>
            <p:cNvPr id="36" name="直線單箭頭接點 35"/>
            <p:cNvCxnSpPr>
              <a:stCxn id="18" idx="6"/>
              <a:endCxn id="25" idx="2"/>
            </p:cNvCxnSpPr>
            <p:nvPr/>
          </p:nvCxnSpPr>
          <p:spPr>
            <a:xfrm>
              <a:off x="3175833" y="250820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/>
            <p:nvPr/>
          </p:nvCxnSpPr>
          <p:spPr>
            <a:xfrm>
              <a:off x="3175833" y="331470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/>
            <p:cNvCxnSpPr/>
            <p:nvPr/>
          </p:nvCxnSpPr>
          <p:spPr>
            <a:xfrm>
              <a:off x="3166542" y="453667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stCxn id="19" idx="6"/>
              <a:endCxn id="25" idx="2"/>
            </p:cNvCxnSpPr>
            <p:nvPr/>
          </p:nvCxnSpPr>
          <p:spPr>
            <a:xfrm flipV="1">
              <a:off x="3178175" y="2508205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18" idx="6"/>
              <a:endCxn id="26" idx="2"/>
            </p:cNvCxnSpPr>
            <p:nvPr/>
          </p:nvCxnSpPr>
          <p:spPr>
            <a:xfrm>
              <a:off x="3175833" y="2508205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18" idx="6"/>
              <a:endCxn id="27" idx="2"/>
            </p:cNvCxnSpPr>
            <p:nvPr/>
          </p:nvCxnSpPr>
          <p:spPr>
            <a:xfrm>
              <a:off x="3175833" y="2508205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/>
            <p:cNvCxnSpPr>
              <a:stCxn id="19" idx="6"/>
              <a:endCxn id="27" idx="2"/>
            </p:cNvCxnSpPr>
            <p:nvPr/>
          </p:nvCxnSpPr>
          <p:spPr>
            <a:xfrm>
              <a:off x="3178175" y="3286775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20" idx="6"/>
              <a:endCxn id="25" idx="2"/>
            </p:cNvCxnSpPr>
            <p:nvPr/>
          </p:nvCxnSpPr>
          <p:spPr>
            <a:xfrm flipV="1">
              <a:off x="3166542" y="2508205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>
              <a:stCxn id="20" idx="6"/>
              <a:endCxn id="26" idx="2"/>
            </p:cNvCxnSpPr>
            <p:nvPr/>
          </p:nvCxnSpPr>
          <p:spPr>
            <a:xfrm flipV="1">
              <a:off x="3166542" y="3286775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直線單箭頭接點 44"/>
          <p:cNvCxnSpPr>
            <a:endCxn id="18" idx="2"/>
          </p:cNvCxnSpPr>
          <p:nvPr/>
        </p:nvCxnSpPr>
        <p:spPr>
          <a:xfrm flipV="1">
            <a:off x="5006573" y="4614035"/>
            <a:ext cx="1289100" cy="4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15" idx="3"/>
            <a:endCxn id="19" idx="2"/>
          </p:cNvCxnSpPr>
          <p:nvPr/>
        </p:nvCxnSpPr>
        <p:spPr>
          <a:xfrm>
            <a:off x="5001012" y="4686596"/>
            <a:ext cx="1298174" cy="109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5" idx="3"/>
            <a:endCxn id="20" idx="2"/>
          </p:cNvCxnSpPr>
          <p:nvPr/>
        </p:nvCxnSpPr>
        <p:spPr>
          <a:xfrm>
            <a:off x="5001012" y="4686596"/>
            <a:ext cx="1280724" cy="2937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17" idx="3"/>
            <a:endCxn id="18" idx="2"/>
          </p:cNvCxnSpPr>
          <p:nvPr/>
        </p:nvCxnSpPr>
        <p:spPr>
          <a:xfrm flipV="1">
            <a:off x="5042292" y="4614035"/>
            <a:ext cx="1253381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4" idx="3"/>
            <a:endCxn id="19" idx="2"/>
          </p:cNvCxnSpPr>
          <p:nvPr/>
        </p:nvCxnSpPr>
        <p:spPr>
          <a:xfrm>
            <a:off x="4992285" y="5542089"/>
            <a:ext cx="1306901" cy="239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4" idx="3"/>
            <a:endCxn id="20" idx="2"/>
          </p:cNvCxnSpPr>
          <p:nvPr/>
        </p:nvCxnSpPr>
        <p:spPr>
          <a:xfrm>
            <a:off x="4992285" y="5542089"/>
            <a:ext cx="1289451" cy="2081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23" idx="3"/>
            <a:endCxn id="18" idx="2"/>
          </p:cNvCxnSpPr>
          <p:nvPr/>
        </p:nvCxnSpPr>
        <p:spPr>
          <a:xfrm flipV="1">
            <a:off x="5099531" y="4614035"/>
            <a:ext cx="1196142" cy="29898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23" idx="3"/>
            <a:endCxn id="19" idx="2"/>
          </p:cNvCxnSpPr>
          <p:nvPr/>
        </p:nvCxnSpPr>
        <p:spPr>
          <a:xfrm flipV="1">
            <a:off x="5059977" y="5781890"/>
            <a:ext cx="1239209" cy="182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23" idx="3"/>
            <a:endCxn id="20" idx="2"/>
          </p:cNvCxnSpPr>
          <p:nvPr/>
        </p:nvCxnSpPr>
        <p:spPr>
          <a:xfrm>
            <a:off x="5059977" y="7603799"/>
            <a:ext cx="1221759" cy="20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 rot="5400000">
            <a:off x="13496781" y="6662280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13600421" y="4061549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1</a:t>
            </a:r>
            <a:endParaRPr lang="zh-TW" altLang="en-US" sz="4200" baseline="-250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13583496" y="5258879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2</a:t>
            </a:r>
            <a:endParaRPr lang="zh-TW" altLang="en-US" sz="4200" baseline="-25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13583496" y="7158226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 err="1"/>
              <a:t>y</a:t>
            </a:r>
            <a:r>
              <a:rPr lang="en-US" altLang="zh-TW" sz="4200" baseline="-25000" dirty="0" err="1"/>
              <a:t>M</a:t>
            </a:r>
            <a:endParaRPr lang="zh-TW" altLang="en-US" sz="4200" baseline="-25000" dirty="0"/>
          </a:p>
        </p:txBody>
      </p:sp>
      <p:grpSp>
        <p:nvGrpSpPr>
          <p:cNvPr id="82" name="群組 81"/>
          <p:cNvGrpSpPr/>
          <p:nvPr/>
        </p:nvGrpSpPr>
        <p:grpSpPr>
          <a:xfrm>
            <a:off x="10428801" y="4603326"/>
            <a:ext cx="1129556" cy="3020582"/>
            <a:chOff x="5357094" y="2515814"/>
            <a:chExt cx="753037" cy="2013721"/>
          </a:xfrm>
        </p:grpSpPr>
        <p:cxnSp>
          <p:nvCxnSpPr>
            <p:cNvPr id="67" name="直線單箭頭接點 66"/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單箭頭接點 73"/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/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字方塊 2"/>
          <p:cNvSpPr txBox="1"/>
          <p:nvPr/>
        </p:nvSpPr>
        <p:spPr>
          <a:xfrm>
            <a:off x="9870287" y="2578371"/>
            <a:ext cx="1772378" cy="645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  <a:ea typeface="微軟正黑體"/>
              </a:rPr>
              <a:t>neuron</a:t>
            </a:r>
            <a:endParaRPr lang="zh-TW" altLang="en-US" sz="3600">
              <a:solidFill>
                <a:schemeClr val="bg2"/>
              </a:solidFill>
              <a:ea typeface="微軟正黑體"/>
              <a:cs typeface="Arial" panose="020B0604020202020204"/>
            </a:endParaRPr>
          </a:p>
        </p:txBody>
      </p:sp>
      <p:cxnSp>
        <p:nvCxnSpPr>
          <p:cNvPr id="58" name="直線單箭頭接點 9"/>
          <p:cNvCxnSpPr/>
          <p:nvPr/>
        </p:nvCxnSpPr>
        <p:spPr>
          <a:xfrm flipV="1">
            <a:off x="8585924" y="3295634"/>
            <a:ext cx="2123880" cy="141572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 bldLvl="0" animBg="1"/>
      <p:bldP spid="59" grpId="0" bldLvl="0" animBg="1"/>
      <p:bldP spid="60" grpId="0"/>
      <p:bldP spid="7" grpId="0"/>
      <p:bldP spid="8" grpId="0"/>
      <p:bldP spid="14" grpId="0" bldLvl="0" animBg="1"/>
      <p:bldP spid="15" grpId="0" bldLvl="0" animBg="1"/>
      <p:bldP spid="22" grpId="0" bldLvl="0" animBg="1"/>
      <p:bldP spid="24" grpId="0"/>
      <p:bldP spid="33" grpId="0"/>
      <p:bldP spid="34" grpId="0"/>
      <p:bldP spid="35" grpId="0"/>
      <p:bldP spid="54" grpId="0"/>
      <p:bldP spid="55" grpId="0"/>
      <p:bldP spid="56" grpId="0"/>
      <p:bldP spid="5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290BFAC-218E-4E73-9DF8-649E6B6FF597}"/>
</file>

<file path=customXml/itemProps2.xml><?xml version="1.0" encoding="utf-8"?>
<ds:datastoreItem xmlns:ds="http://schemas.openxmlformats.org/officeDocument/2006/customXml" ds:itemID="{0038FC88-C073-450D-B177-7A25983086E3}"/>
</file>

<file path=customXml/itemProps3.xml><?xml version="1.0" encoding="utf-8"?>
<ds:datastoreItem xmlns:ds="http://schemas.openxmlformats.org/officeDocument/2006/customXml" ds:itemID="{60474404-1549-41E8-BE7A-929F1DEC5D66}"/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386</Words>
  <Application>Microsoft Macintosh PowerPoint</Application>
  <PresentationFormat>Custom</PresentationFormat>
  <Paragraphs>140</Paragraphs>
  <Slides>10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微軟正黑體</vt:lpstr>
      <vt:lpstr>Arial</vt:lpstr>
      <vt:lpstr>Calibri</vt:lpstr>
      <vt:lpstr>Cambria Math</vt:lpstr>
      <vt:lpstr>Wingdings 2</vt:lpstr>
      <vt:lpstr>Breeze</vt:lpstr>
      <vt:lpstr>方程式</vt:lpstr>
      <vt:lpstr>Neural Network</vt:lpstr>
      <vt:lpstr>Deep learning  attracts lots of attention.</vt:lpstr>
      <vt:lpstr>PowerPoint Presentation</vt:lpstr>
      <vt:lpstr>Deep learning Giant</vt:lpstr>
      <vt:lpstr>Three Steps for Deep Learning</vt:lpstr>
      <vt:lpstr>Neural Network </vt:lpstr>
      <vt:lpstr>Fully Connect Feedforward Network</vt:lpstr>
      <vt:lpstr>Fully Connect Feedforward Network</vt:lpstr>
      <vt:lpstr>Fully Connect Feedforward Network</vt:lpstr>
      <vt:lpstr>Fully Connect Feedforward Network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40</cp:revision>
  <dcterms:created xsi:type="dcterms:W3CDTF">2024-02-23T22:28:35Z</dcterms:created>
  <dcterms:modified xsi:type="dcterms:W3CDTF">2024-04-01T15:50:55Z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80571152E56347599AA16EC9CFB2CDE3_12</vt:lpwstr>
  </property>
  <property fmtid="{D5CDD505-2E9C-101B-9397-08002B2CF9AE}" pid="5" name="KSOProductBuildVer">
    <vt:lpwstr>1033-5.6.0.8082</vt:lpwstr>
  </property>
</Properties>
</file>