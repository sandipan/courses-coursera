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6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</p:sldIdLst>
  <p:sldSz cx="18288000" cy="10287000"/>
  <p:notesSz cx="6858000" cy="9144000"/>
  <p:custDataLst>
    <p:tags r:id="rId14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90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190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9"/>
            <a:ext cx="15773400" cy="198834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9684" y="2521745"/>
            <a:ext cx="7736680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9684" y="3757613"/>
            <a:ext cx="7736680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7300" y="9534527"/>
            <a:ext cx="4114800" cy="547688"/>
          </a:xfrm>
        </p:spPr>
        <p:txBody>
          <a:bodyPr/>
          <a:lstStyle/>
          <a:p>
            <a:fld id="{8D7014B5-A822-4760-9C92-A4C0DDBD790A}" type="datetimeFigureOut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57900" y="9534527"/>
            <a:ext cx="6172200" cy="54768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2915900" y="9534527"/>
            <a:ext cx="4114800" cy="547688"/>
          </a:xfrm>
        </p:spPr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9.wmf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4.png"/><Relationship Id="rId5" Type="http://schemas.openxmlformats.org/officeDocument/2006/relationships/image" Target="../media/image8.wmf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22.png"/><Relationship Id="rId4" Type="http://schemas.openxmlformats.org/officeDocument/2006/relationships/image" Target="../media/image10.wmf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23.png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25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4" Type="http://schemas.openxmlformats.org/officeDocument/2006/relationships/image" Target="../media/image24.png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5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8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0.w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8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18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2658535"/>
            <a:ext cx="12998450" cy="155786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Neural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5518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325326" y="3925952"/>
            <a:ext cx="8910000" cy="215347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75702" y="7104117"/>
            <a:ext cx="3240000" cy="106658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517006" y="1838262"/>
            <a:ext cx="1427805" cy="769500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690836" y="4901202"/>
            <a:ext cx="1823147" cy="645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8 layers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116324" y="3134109"/>
            <a:ext cx="2124234" cy="645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19 layers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200856" y="1565424"/>
            <a:ext cx="2124234" cy="645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22 layers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626739" y="9533262"/>
            <a:ext cx="3696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AlexNet</a:t>
            </a:r>
            <a:r>
              <a:rPr lang="en-US" altLang="zh-TW" sz="2400" dirty="0"/>
              <a:t> (2012)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741303" y="9533262"/>
            <a:ext cx="2805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VGG (2014)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0622278" y="9533262"/>
            <a:ext cx="4316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GoogleNet</a:t>
            </a:r>
            <a:r>
              <a:rPr lang="en-US" altLang="zh-TW" sz="2400" dirty="0"/>
              <a:t> (2014)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3470472" y="6857080"/>
            <a:ext cx="190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16.4%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865850" y="6024522"/>
            <a:ext cx="190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7.3%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0577243" y="5685762"/>
            <a:ext cx="190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6.7%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40158" y="387612"/>
            <a:ext cx="798765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/>
              <a:t>Deep = Many hidden layers</a:t>
            </a:r>
            <a:endParaRPr lang="zh-TW" alt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594" y="-630894"/>
            <a:ext cx="681057" cy="97200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323491" y="8097581"/>
            <a:ext cx="1398600" cy="33803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329239" y="8660132"/>
            <a:ext cx="383400" cy="12621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6601313" y="7705338"/>
            <a:ext cx="224441" cy="1209600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3371026" y="9077839"/>
            <a:ext cx="2173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AlexNet</a:t>
            </a:r>
            <a:r>
              <a:rPr lang="en-US" altLang="zh-TW" sz="2400" dirty="0"/>
              <a:t> (2012)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360864" y="9077840"/>
            <a:ext cx="274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VGG (2014)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242588" y="9074381"/>
            <a:ext cx="367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GoogleNet</a:t>
            </a:r>
            <a:r>
              <a:rPr lang="en-US" altLang="zh-TW" sz="2400" dirty="0"/>
              <a:t> (2014)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9861150" y="6382973"/>
            <a:ext cx="190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3.57%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0082483" y="9070922"/>
            <a:ext cx="367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Residual Net (2015)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622186" y="8294657"/>
            <a:ext cx="190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16.4%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029131" y="7934939"/>
            <a:ext cx="190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7.3%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264231" y="7952058"/>
            <a:ext cx="190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6.7%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840158" y="387612"/>
            <a:ext cx="798765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/>
              <a:t>Deep = Many hidden layers</a:t>
            </a:r>
            <a:endParaRPr lang="zh-TW" altLang="en-US" sz="48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3092312" y="3687762"/>
            <a:ext cx="222083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Special </a:t>
            </a:r>
          </a:p>
          <a:p>
            <a:pPr algn="ctr"/>
            <a:r>
              <a:rPr lang="en-US" altLang="zh-TW" sz="3600" dirty="0"/>
              <a:t>structure</a:t>
            </a:r>
            <a:endParaRPr lang="zh-TW" altLang="en-US" sz="3600" dirty="0"/>
          </a:p>
        </p:txBody>
      </p:sp>
      <p:cxnSp>
        <p:nvCxnSpPr>
          <p:cNvPr id="27" name="直線單箭頭接點 26"/>
          <p:cNvCxnSpPr/>
          <p:nvPr/>
        </p:nvCxnSpPr>
        <p:spPr>
          <a:xfrm flipV="1">
            <a:off x="6554972" y="5161142"/>
            <a:ext cx="0" cy="800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5411360" y="3415727"/>
            <a:ext cx="2351315" cy="478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矩形 35"/>
          <p:cNvSpPr/>
          <p:nvPr/>
        </p:nvSpPr>
        <p:spPr>
          <a:xfrm>
            <a:off x="5411360" y="4694924"/>
            <a:ext cx="2351315" cy="478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6557034" y="3894698"/>
            <a:ext cx="0" cy="800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6557034" y="2615501"/>
            <a:ext cx="0" cy="800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5524299" y="3520212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0" name="橢圓 39"/>
          <p:cNvSpPr/>
          <p:nvPr/>
        </p:nvSpPr>
        <p:spPr>
          <a:xfrm>
            <a:off x="5894891" y="3519536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1" name="橢圓 40"/>
          <p:cNvSpPr/>
          <p:nvPr/>
        </p:nvSpPr>
        <p:spPr>
          <a:xfrm>
            <a:off x="6277830" y="3519536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2" name="橢圓 41"/>
          <p:cNvSpPr/>
          <p:nvPr/>
        </p:nvSpPr>
        <p:spPr>
          <a:xfrm>
            <a:off x="6637313" y="3524027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3" name="橢圓 42"/>
          <p:cNvSpPr/>
          <p:nvPr/>
        </p:nvSpPr>
        <p:spPr>
          <a:xfrm>
            <a:off x="7001288" y="3519536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4" name="橢圓 43"/>
          <p:cNvSpPr/>
          <p:nvPr/>
        </p:nvSpPr>
        <p:spPr>
          <a:xfrm>
            <a:off x="7390844" y="3519252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5" name="橢圓 44"/>
          <p:cNvSpPr/>
          <p:nvPr/>
        </p:nvSpPr>
        <p:spPr>
          <a:xfrm>
            <a:off x="5524299" y="4717994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6" name="橢圓 45"/>
          <p:cNvSpPr/>
          <p:nvPr/>
        </p:nvSpPr>
        <p:spPr>
          <a:xfrm>
            <a:off x="5894891" y="4717317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7" name="橢圓 46"/>
          <p:cNvSpPr/>
          <p:nvPr/>
        </p:nvSpPr>
        <p:spPr>
          <a:xfrm>
            <a:off x="6277830" y="4717317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8" name="橢圓 47"/>
          <p:cNvSpPr/>
          <p:nvPr/>
        </p:nvSpPr>
        <p:spPr>
          <a:xfrm>
            <a:off x="6637313" y="4721808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9" name="橢圓 48"/>
          <p:cNvSpPr/>
          <p:nvPr/>
        </p:nvSpPr>
        <p:spPr>
          <a:xfrm>
            <a:off x="7001288" y="4717317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50" name="橢圓 49"/>
          <p:cNvSpPr/>
          <p:nvPr/>
        </p:nvSpPr>
        <p:spPr>
          <a:xfrm>
            <a:off x="7390844" y="4717034"/>
            <a:ext cx="270000" cy="27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51" name="直線接點 50"/>
          <p:cNvCxnSpPr/>
          <p:nvPr/>
        </p:nvCxnSpPr>
        <p:spPr>
          <a:xfrm>
            <a:off x="6555507" y="5583377"/>
            <a:ext cx="17051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8260665" y="3163683"/>
            <a:ext cx="0" cy="23533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6638028" y="3163683"/>
            <a:ext cx="1560212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11277600" y="3874205"/>
            <a:ext cx="830051" cy="1183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矩形 55"/>
          <p:cNvSpPr/>
          <p:nvPr/>
        </p:nvSpPr>
        <p:spPr>
          <a:xfrm>
            <a:off x="3085100" y="2510367"/>
            <a:ext cx="5511332" cy="36599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" name="直線接點 8"/>
          <p:cNvCxnSpPr/>
          <p:nvPr/>
        </p:nvCxnSpPr>
        <p:spPr>
          <a:xfrm flipH="1" flipV="1">
            <a:off x="8579075" y="2508693"/>
            <a:ext cx="2698526" cy="13655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 flipH="1">
            <a:off x="8613788" y="5088566"/>
            <a:ext cx="2629100" cy="10817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085099" y="6310893"/>
            <a:ext cx="5539402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/>
              <a:t>Ref: </a:t>
            </a:r>
            <a:r>
              <a:rPr lang="zh-TW" altLang="en-US" sz="100" dirty="0"/>
              <a:t>https://www.youtube.com/watch?v=dxB6299gpvI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12706350" y="1970405"/>
            <a:ext cx="3071495" cy="645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152 layers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5" grpId="0" bldLvl="0" animBg="1"/>
      <p:bldP spid="36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5" grpId="0" bldLvl="0" animBg="1"/>
      <p:bldP spid="56" grpId="0" bldLvl="0" animBg="1"/>
      <p:bldP spid="8" grpId="0"/>
      <p:bldP spid="1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113018" y="7610128"/>
                <a:ext cx="729615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018" y="7610128"/>
                <a:ext cx="7296150" cy="757555"/>
              </a:xfrm>
              <a:prstGeom prst="rect">
                <a:avLst/>
              </a:prstGeom>
              <a:blipFill rotWithShape="1">
                <a:blip r:embed="rId3"/>
                <a:stretch>
                  <a:fillRect l="-2" t="-38" r="-1069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Matrix Operation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13718192" y="565032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3718192" y="3160928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6373656" y="284462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6356732" y="5166162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9678789" y="2798573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9707172" y="515758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橢圓 30"/>
          <p:cNvSpPr/>
          <p:nvPr/>
        </p:nvSpPr>
        <p:spPr>
          <a:xfrm>
            <a:off x="12909329" y="275772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橢圓 31"/>
          <p:cNvSpPr/>
          <p:nvPr/>
        </p:nvSpPr>
        <p:spPr>
          <a:xfrm>
            <a:off x="12971864" y="515758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84" name="群組 83"/>
          <p:cNvGrpSpPr/>
          <p:nvPr/>
        </p:nvGrpSpPr>
        <p:grpSpPr>
          <a:xfrm>
            <a:off x="3949349" y="3258962"/>
            <a:ext cx="2383314" cy="245745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7276809" y="3236931"/>
            <a:ext cx="2383314" cy="245745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10576716" y="3207054"/>
            <a:ext cx="2383314" cy="245745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0" name="Object 12"/>
          <p:cNvGraphicFramePr>
            <a:graphicFrameLocks noChangeAspect="1"/>
          </p:cNvGraphicFramePr>
          <p:nvPr/>
        </p:nvGraphicFramePr>
        <p:xfrm>
          <a:off x="14747882" y="5241732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4267200" imgH="5181600" progId="Equation.3">
                  <p:embed/>
                </p:oleObj>
              </mc:Choice>
              <mc:Fallback>
                <p:oleObj name="方程式" r:id="rId4" imgW="42672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2" y="5241732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2"/>
          <p:cNvGraphicFramePr>
            <a:graphicFrameLocks noChangeAspect="1"/>
          </p:cNvGraphicFramePr>
          <p:nvPr/>
        </p:nvGraphicFramePr>
        <p:xfrm>
          <a:off x="14766132" y="2757519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3962400" imgH="5181600" progId="Equation.3">
                  <p:embed/>
                </p:oleObj>
              </mc:Choice>
              <mc:Fallback>
                <p:oleObj name="方程式" r:id="rId6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6132" y="2757519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手繪多邊形 103"/>
          <p:cNvSpPr/>
          <p:nvPr/>
        </p:nvSpPr>
        <p:spPr>
          <a:xfrm>
            <a:off x="6456206" y="5354882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6" name="手繪多邊形 105"/>
          <p:cNvSpPr/>
          <p:nvPr/>
        </p:nvSpPr>
        <p:spPr>
          <a:xfrm>
            <a:off x="6428291" y="2970720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7" name="手繪多邊形 106"/>
          <p:cNvSpPr/>
          <p:nvPr/>
        </p:nvSpPr>
        <p:spPr>
          <a:xfrm>
            <a:off x="9771674" y="298749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手繪多邊形 107"/>
          <p:cNvSpPr/>
          <p:nvPr/>
        </p:nvSpPr>
        <p:spPr>
          <a:xfrm>
            <a:off x="9796190" y="5272488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手繪多邊形 108"/>
          <p:cNvSpPr/>
          <p:nvPr/>
        </p:nvSpPr>
        <p:spPr>
          <a:xfrm>
            <a:off x="12995085" y="289536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手繪多邊形 109"/>
          <p:cNvSpPr/>
          <p:nvPr/>
        </p:nvSpPr>
        <p:spPr>
          <a:xfrm>
            <a:off x="13065716" y="5322641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3" name="文字方塊 112"/>
          <p:cNvSpPr txBox="1"/>
          <p:nvPr/>
        </p:nvSpPr>
        <p:spPr>
          <a:xfrm>
            <a:off x="4847744" y="2539919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C000"/>
                </a:solidFill>
              </a:rPr>
              <a:t>1</a:t>
            </a:r>
            <a:endParaRPr lang="zh-TW" altLang="en-US" sz="3600" dirty="0">
              <a:solidFill>
                <a:srgbClr val="FFC000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5098380" y="3422394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C000"/>
                </a:solidFill>
              </a:rPr>
              <a:t>-2</a:t>
            </a:r>
            <a:endParaRPr lang="zh-TW" altLang="en-US" sz="3600" dirty="0">
              <a:solidFill>
                <a:srgbClr val="FFC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4644936" y="5698089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C000"/>
                </a:solidFill>
              </a:rPr>
              <a:t>1</a:t>
            </a:r>
            <a:endParaRPr lang="zh-TW" altLang="en-US" sz="3600" dirty="0">
              <a:solidFill>
                <a:srgbClr val="FFC000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4873354" y="4842621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C000"/>
                </a:solidFill>
              </a:rPr>
              <a:t>-1</a:t>
            </a:r>
            <a:endParaRPr lang="zh-TW" altLang="en-US" sz="3600" dirty="0">
              <a:solidFill>
                <a:srgbClr val="FFC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5992727" y="3986474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6333080" y="3411674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6017639" y="3976784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B050"/>
                </a:solidFill>
              </a:rPr>
              <a:t>1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6007014" y="6310482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6347367" y="5735682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6031926" y="6300792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B050"/>
                </a:solidFill>
              </a:rPr>
              <a:t>0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5901651" y="2461439"/>
            <a:ext cx="64509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4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5730594" y="4867239"/>
            <a:ext cx="10240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-2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6949575" y="2403041"/>
            <a:ext cx="12174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0.98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6983054" y="4811337"/>
            <a:ext cx="12174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0.12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739000" y="7398802"/>
                <a:ext cx="1141095" cy="1063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42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4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4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000" y="7398802"/>
                <a:ext cx="1141095" cy="1063625"/>
              </a:xfrm>
              <a:prstGeom prst="rect">
                <a:avLst/>
              </a:prstGeom>
              <a:blipFill rotWithShape="1">
                <a:blip r:embed="rId8"/>
                <a:stretch>
                  <a:fillRect l="-22" t="-39" r="-7156" b="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5092682" y="7396562"/>
                <a:ext cx="2374265" cy="1063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42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42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42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42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sz="42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682" y="7396562"/>
                <a:ext cx="2374265" cy="1063625"/>
              </a:xfrm>
              <a:prstGeom prst="rect">
                <a:avLst/>
              </a:prstGeom>
              <a:blipFill rotWithShape="1">
                <a:blip r:embed="rId9"/>
                <a:stretch>
                  <a:fillRect l="-26" t="-8" r="-3290" b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9247491" y="7627873"/>
                <a:ext cx="46101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491" y="7627873"/>
                <a:ext cx="461010" cy="757555"/>
              </a:xfrm>
              <a:prstGeom prst="rect">
                <a:avLst/>
              </a:prstGeom>
              <a:blipFill rotWithShape="1">
                <a:blip r:embed="rId10"/>
                <a:stretch>
                  <a:fillRect l="-135" t="-33" r="-18874" b="3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9998811" y="7382966"/>
                <a:ext cx="741045" cy="1067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4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4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4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811" y="7382966"/>
                <a:ext cx="741045" cy="1067435"/>
              </a:xfrm>
              <a:prstGeom prst="rect">
                <a:avLst/>
              </a:prstGeom>
              <a:blipFill rotWithShape="1">
                <a:blip r:embed="rId11"/>
                <a:stretch>
                  <a:fillRect l="-14" t="-43" r="-11126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12424358" y="7379343"/>
                <a:ext cx="1444625" cy="1067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42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4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4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4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4358" y="7379343"/>
                <a:ext cx="1444625" cy="1067435"/>
              </a:xfrm>
              <a:prstGeom prst="rect">
                <a:avLst/>
              </a:prstGeom>
              <a:blipFill rotWithShape="1">
                <a:blip r:embed="rId12"/>
                <a:stretch>
                  <a:fillRect l="-40" t="-1" r="-5542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571954" y="7525778"/>
                <a:ext cx="69088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4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954" y="7525778"/>
                <a:ext cx="690880" cy="848995"/>
              </a:xfrm>
              <a:prstGeom prst="rect">
                <a:avLst/>
              </a:prstGeom>
              <a:blipFill rotWithShape="1">
                <a:blip r:embed="rId13"/>
                <a:stretch>
                  <a:fillRect l="-51" t="-46" r="51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3409190" y="298749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9" name="矩形 78"/>
          <p:cNvSpPr/>
          <p:nvPr/>
        </p:nvSpPr>
        <p:spPr>
          <a:xfrm>
            <a:off x="3362325" y="5450154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1" name="文字方塊 80"/>
          <p:cNvSpPr txBox="1"/>
          <p:nvPr/>
        </p:nvSpPr>
        <p:spPr>
          <a:xfrm>
            <a:off x="3427442" y="2967312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3282549" y="5351840"/>
            <a:ext cx="7331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-1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7503177" y="8989008"/>
                <a:ext cx="1141095" cy="10610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4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4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4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177" y="8989008"/>
                <a:ext cx="1141095" cy="1061085"/>
              </a:xfrm>
              <a:prstGeom prst="rect">
                <a:avLst/>
              </a:prstGeom>
              <a:blipFill rotWithShape="1">
                <a:blip r:embed="rId14"/>
                <a:stretch>
                  <a:fillRect l="-1" t="-55" r="-7177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右大括弧 8"/>
          <p:cNvSpPr/>
          <p:nvPr/>
        </p:nvSpPr>
        <p:spPr>
          <a:xfrm rot="5400000">
            <a:off x="7984722" y="5506341"/>
            <a:ext cx="226877" cy="6228257"/>
          </a:xfrm>
          <a:prstGeom prst="rightBrace">
            <a:avLst>
              <a:gd name="adj1" fmla="val 1153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/>
      <p:bldP spid="139" grpId="0"/>
      <p:bldP spid="3" grpId="0"/>
      <p:bldP spid="70" grpId="0"/>
      <p:bldP spid="71" grpId="0"/>
      <p:bldP spid="67" grpId="0"/>
      <p:bldP spid="68" grpId="0"/>
      <p:bldP spid="5" grpId="0"/>
      <p:bldP spid="81" grpId="0"/>
      <p:bldP spid="82" grpId="0"/>
      <p:bldP spid="97" grpId="0"/>
      <p:bldP spid="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13056249" y="2331144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矩形 73"/>
          <p:cNvSpPr/>
          <p:nvPr/>
        </p:nvSpPr>
        <p:spPr>
          <a:xfrm>
            <a:off x="6830589" y="240977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矩形 74"/>
          <p:cNvSpPr/>
          <p:nvPr/>
        </p:nvSpPr>
        <p:spPr>
          <a:xfrm>
            <a:off x="8818968" y="238525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6" name="矩形 75"/>
          <p:cNvSpPr/>
          <p:nvPr/>
        </p:nvSpPr>
        <p:spPr>
          <a:xfrm>
            <a:off x="10936307" y="240977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7" name="矩形 76"/>
          <p:cNvSpPr/>
          <p:nvPr/>
        </p:nvSpPr>
        <p:spPr>
          <a:xfrm>
            <a:off x="5055935" y="2451233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11516517" y="3982401"/>
            <a:ext cx="15278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11680491" y="5851236"/>
            <a:ext cx="13586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11480691" y="2814197"/>
            <a:ext cx="15755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5158517" y="3527772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7" name="矩形 96"/>
          <p:cNvSpPr/>
          <p:nvPr/>
        </p:nvSpPr>
        <p:spPr>
          <a:xfrm>
            <a:off x="5167244" y="267227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/>
        </p:nvGraphicFramePr>
        <p:xfrm>
          <a:off x="5186292" y="2529404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292" y="2529404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/>
        </p:nvGraphicFramePr>
        <p:xfrm>
          <a:off x="5194236" y="3403497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236" y="3403497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6976254" y="242627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1" name="橢圓 100"/>
          <p:cNvSpPr/>
          <p:nvPr/>
        </p:nvSpPr>
        <p:spPr>
          <a:xfrm>
            <a:off x="6979767" y="3594129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2" name="橢圓 101"/>
          <p:cNvSpPr/>
          <p:nvPr/>
        </p:nvSpPr>
        <p:spPr>
          <a:xfrm>
            <a:off x="6962318" y="5436147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6958197" y="4892087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04" name="矩形 103"/>
          <p:cNvSpPr/>
          <p:nvPr/>
        </p:nvSpPr>
        <p:spPr>
          <a:xfrm>
            <a:off x="5172804" y="5624408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/>
        </p:nvGraphicFramePr>
        <p:xfrm>
          <a:off x="5168130" y="5480027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572000" imgH="5486400" progId="Equation.3">
                  <p:embed/>
                </p:oleObj>
              </mc:Choice>
              <mc:Fallback>
                <p:oleObj name="方程式" r:id="rId7" imgW="4572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130" y="5480027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4986702" y="4874321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07" name="橢圓 106"/>
          <p:cNvSpPr/>
          <p:nvPr/>
        </p:nvSpPr>
        <p:spPr>
          <a:xfrm>
            <a:off x="8949597" y="242627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橢圓 107"/>
          <p:cNvSpPr/>
          <p:nvPr/>
        </p:nvSpPr>
        <p:spPr>
          <a:xfrm>
            <a:off x="8953110" y="3594129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橢圓 108"/>
          <p:cNvSpPr/>
          <p:nvPr/>
        </p:nvSpPr>
        <p:spPr>
          <a:xfrm>
            <a:off x="8935661" y="543614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8931540" y="4892087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1" name="橢圓 110"/>
          <p:cNvSpPr/>
          <p:nvPr/>
        </p:nvSpPr>
        <p:spPr>
          <a:xfrm>
            <a:off x="11050073" y="2397612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2" name="橢圓 111"/>
          <p:cNvSpPr/>
          <p:nvPr/>
        </p:nvSpPr>
        <p:spPr>
          <a:xfrm>
            <a:off x="11053586" y="353747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3" name="橢圓 112"/>
          <p:cNvSpPr/>
          <p:nvPr/>
        </p:nvSpPr>
        <p:spPr>
          <a:xfrm>
            <a:off x="11064128" y="540748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11060007" y="4858680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9807665" y="2338398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9834099" y="3516646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9852369" y="5401085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7837491" y="2856893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7837491" y="4044521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7823555" y="5877474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7841004" y="2856893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7837491" y="2856893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7837491" y="2856893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7841004" y="4024748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7823555" y="2856893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7823555" y="4024748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5687154" y="2856893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5681594" y="2929454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5681594" y="2929454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5722874" y="2856893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5672867" y="3784947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5672867" y="3784947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5780112" y="2856893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5740559" y="4024748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5740559" y="5846657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12969534" y="4905138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13073174" y="2304407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1</a:t>
            </a:r>
            <a:endParaRPr lang="zh-TW" altLang="en-US" sz="4200" baseline="-250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13056249" y="3501737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2</a:t>
            </a:r>
            <a:endParaRPr lang="zh-TW" altLang="en-US" sz="4200" baseline="-250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13056249" y="5401085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 err="1"/>
              <a:t>y</a:t>
            </a:r>
            <a:r>
              <a:rPr lang="en-US" altLang="zh-TW" sz="4200" baseline="-25000" dirty="0" err="1"/>
              <a:t>M</a:t>
            </a:r>
            <a:endParaRPr lang="zh-TW" altLang="en-US" sz="4200" baseline="-25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5763816" y="3278675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79" name="矩形 78"/>
          <p:cNvSpPr/>
          <p:nvPr/>
        </p:nvSpPr>
        <p:spPr>
          <a:xfrm>
            <a:off x="7846121" y="3290981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0" name="矩形 79"/>
          <p:cNvSpPr/>
          <p:nvPr/>
        </p:nvSpPr>
        <p:spPr>
          <a:xfrm>
            <a:off x="10045128" y="3280632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L</a:t>
            </a:r>
            <a:endParaRPr lang="zh-TW" altLang="en-US" sz="3600" baseline="30000" dirty="0"/>
          </a:p>
        </p:txBody>
      </p:sp>
      <p:sp>
        <p:nvSpPr>
          <p:cNvPr id="82" name="矩形 81"/>
          <p:cNvSpPr/>
          <p:nvPr/>
        </p:nvSpPr>
        <p:spPr>
          <a:xfrm>
            <a:off x="8769341" y="3791073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b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3" name="矩形 82"/>
          <p:cNvSpPr/>
          <p:nvPr/>
        </p:nvSpPr>
        <p:spPr>
          <a:xfrm>
            <a:off x="11004189" y="3755813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b</a:t>
            </a:r>
            <a:r>
              <a:rPr lang="en-US" altLang="zh-TW" sz="3600" baseline="30000" dirty="0" err="1"/>
              <a:t>L</a:t>
            </a:r>
            <a:endParaRPr lang="zh-TW" altLang="en-US" sz="3600" baseline="30000" dirty="0"/>
          </a:p>
        </p:txBody>
      </p:sp>
      <p:sp>
        <p:nvSpPr>
          <p:cNvPr id="88" name="矩形 87"/>
          <p:cNvSpPr/>
          <p:nvPr/>
        </p:nvSpPr>
        <p:spPr>
          <a:xfrm>
            <a:off x="5632010" y="5371544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x</a:t>
            </a:r>
            <a:endParaRPr lang="zh-TW" altLang="en-US" sz="3600" dirty="0"/>
          </a:p>
        </p:txBody>
      </p:sp>
      <p:sp>
        <p:nvSpPr>
          <p:cNvPr id="89" name="矩形 88"/>
          <p:cNvSpPr/>
          <p:nvPr/>
        </p:nvSpPr>
        <p:spPr>
          <a:xfrm>
            <a:off x="7596131" y="5371544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90" name="矩形 89"/>
          <p:cNvSpPr/>
          <p:nvPr/>
        </p:nvSpPr>
        <p:spPr>
          <a:xfrm>
            <a:off x="9598817" y="5392154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92" name="矩形 91"/>
          <p:cNvSpPr/>
          <p:nvPr/>
        </p:nvSpPr>
        <p:spPr>
          <a:xfrm>
            <a:off x="11983238" y="5384568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y</a:t>
            </a:r>
            <a:endParaRPr lang="zh-TW" altLang="en-US" sz="3600" baseline="30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2529560" y="7231277"/>
            <a:ext cx="4392296" cy="1315614"/>
            <a:chOff x="522337" y="4911258"/>
            <a:chExt cx="2928197" cy="877076"/>
          </a:xfrm>
        </p:grpSpPr>
        <p:sp>
          <p:nvSpPr>
            <p:cNvPr id="71" name="矩形 70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b</a:t>
              </a:r>
              <a:r>
                <a:rPr lang="en-US" altLang="zh-TW" sz="3600" baseline="30000" dirty="0"/>
                <a:t>1</a:t>
              </a:r>
              <a:endParaRPr lang="zh-TW" altLang="en-US" sz="3600" baseline="30000" dirty="0"/>
            </a:p>
          </p:txBody>
        </p:sp>
        <p:sp>
          <p:nvSpPr>
            <p:cNvPr id="143" name="矩形 142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30000" dirty="0"/>
                <a:t>1</a:t>
              </a:r>
              <a:endParaRPr lang="zh-TW" altLang="en-US" sz="3600" baseline="30000" dirty="0"/>
            </a:p>
          </p:txBody>
        </p:sp>
        <p:sp>
          <p:nvSpPr>
            <p:cNvPr id="144" name="矩形 143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endParaRPr lang="zh-TW" altLang="en-US" sz="3600" dirty="0"/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2384389" y="5106861"/>
              <a:ext cx="360621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/>
                <p:cNvSpPr txBox="1"/>
                <p:nvPr/>
              </p:nvSpPr>
              <p:spPr>
                <a:xfrm>
                  <a:off x="522337" y="5165130"/>
                  <a:ext cx="2928197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6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45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2928197" cy="43222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9" name="群組 158"/>
          <p:cNvGrpSpPr/>
          <p:nvPr/>
        </p:nvGrpSpPr>
        <p:grpSpPr>
          <a:xfrm>
            <a:off x="7033293" y="7788290"/>
            <a:ext cx="4392296" cy="1315614"/>
            <a:chOff x="522337" y="4911258"/>
            <a:chExt cx="2928197" cy="877076"/>
          </a:xfrm>
        </p:grpSpPr>
        <p:sp>
          <p:nvSpPr>
            <p:cNvPr id="160" name="矩形 159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b</a:t>
              </a:r>
              <a:r>
                <a:rPr lang="en-US" altLang="zh-TW" sz="3600" baseline="30000" dirty="0"/>
                <a:t>2</a:t>
              </a:r>
              <a:endParaRPr lang="zh-TW" altLang="en-US" sz="3600" baseline="30000" dirty="0"/>
            </a:p>
          </p:txBody>
        </p:sp>
        <p:sp>
          <p:nvSpPr>
            <p:cNvPr id="161" name="矩形 160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30000" dirty="0"/>
                <a:t>2</a:t>
              </a:r>
              <a:endParaRPr lang="zh-TW" altLang="en-US" sz="3600" baseline="30000" dirty="0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a</a:t>
              </a:r>
              <a:r>
                <a:rPr lang="en-US" altLang="zh-TW" sz="3600" baseline="30000" dirty="0"/>
                <a:t>1</a:t>
              </a:r>
              <a:endParaRPr lang="zh-TW" altLang="en-US" sz="3600" baseline="30000" dirty="0"/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2384389" y="5106861"/>
              <a:ext cx="360621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163"/>
                <p:cNvSpPr txBox="1"/>
                <p:nvPr/>
              </p:nvSpPr>
              <p:spPr>
                <a:xfrm>
                  <a:off x="522337" y="5165130"/>
                  <a:ext cx="2928197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6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64" name="文字方塊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2928197" cy="43222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群組 164"/>
          <p:cNvGrpSpPr/>
          <p:nvPr/>
        </p:nvGrpSpPr>
        <p:grpSpPr>
          <a:xfrm>
            <a:off x="11291069" y="8676809"/>
            <a:ext cx="4240530" cy="1315614"/>
            <a:chOff x="522337" y="4911258"/>
            <a:chExt cx="2827020" cy="877076"/>
          </a:xfrm>
        </p:grpSpPr>
        <p:sp>
          <p:nvSpPr>
            <p:cNvPr id="166" name="矩形 165"/>
            <p:cNvSpPr/>
            <p:nvPr/>
          </p:nvSpPr>
          <p:spPr>
            <a:xfrm>
              <a:off x="274351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 err="1"/>
                <a:t>b</a:t>
              </a:r>
              <a:r>
                <a:rPr lang="en-US" altLang="zh-TW" sz="3600" baseline="30000" dirty="0" err="1"/>
                <a:t>L</a:t>
              </a:r>
              <a:endParaRPr lang="zh-TW" altLang="en-US" sz="3600" baseline="30000" dirty="0"/>
            </a:p>
          </p:txBody>
        </p:sp>
        <p:sp>
          <p:nvSpPr>
            <p:cNvPr id="167" name="矩形 166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30000" dirty="0"/>
                <a:t>L</a:t>
              </a:r>
              <a:endParaRPr lang="zh-TW" altLang="en-US" sz="3600" baseline="30000" dirty="0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2384389" y="5106861"/>
              <a:ext cx="360621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字方塊 169"/>
                <p:cNvSpPr txBox="1"/>
                <p:nvPr/>
              </p:nvSpPr>
              <p:spPr>
                <a:xfrm>
                  <a:off x="522337" y="5165130"/>
                  <a:ext cx="2827020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6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70" name="文字方塊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2827020" cy="43222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矩形 13"/>
          <p:cNvSpPr/>
          <p:nvPr/>
        </p:nvSpPr>
        <p:spPr>
          <a:xfrm>
            <a:off x="13251362" y="8977800"/>
            <a:ext cx="86614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L-1</a:t>
            </a:r>
            <a:endParaRPr lang="zh-TW" altLang="en-US" sz="3600" baseline="30000" dirty="0"/>
          </a:p>
        </p:txBody>
      </p:sp>
      <p:sp>
        <p:nvSpPr>
          <p:cNvPr id="173" name="矩形 172"/>
          <p:cNvSpPr/>
          <p:nvPr/>
        </p:nvSpPr>
        <p:spPr>
          <a:xfrm>
            <a:off x="6607506" y="3797531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b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24" name="手繪多邊形 23"/>
          <p:cNvSpPr/>
          <p:nvPr/>
        </p:nvSpPr>
        <p:spPr>
          <a:xfrm>
            <a:off x="10313234" y="6655634"/>
            <a:ext cx="1324130" cy="1753848"/>
          </a:xfrm>
          <a:custGeom>
            <a:avLst/>
            <a:gdLst>
              <a:gd name="connsiteX0" fmla="*/ 749508 w 882753"/>
              <a:gd name="connsiteY0" fmla="*/ 1169232 h 1169232"/>
              <a:gd name="connsiteX1" fmla="*/ 824459 w 882753"/>
              <a:gd name="connsiteY1" fmla="*/ 779488 h 1169232"/>
              <a:gd name="connsiteX2" fmla="*/ 0 w 882753"/>
              <a:gd name="connsiteY2" fmla="*/ 0 h 116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753" h="1169232">
                <a:moveTo>
                  <a:pt x="749508" y="1169232"/>
                </a:moveTo>
                <a:cubicBezTo>
                  <a:pt x="849442" y="1071796"/>
                  <a:pt x="949377" y="974360"/>
                  <a:pt x="824459" y="779488"/>
                </a:cubicBezTo>
                <a:cubicBezTo>
                  <a:pt x="699541" y="584616"/>
                  <a:pt x="349770" y="292308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手繪多邊形 24"/>
          <p:cNvSpPr/>
          <p:nvPr/>
        </p:nvSpPr>
        <p:spPr>
          <a:xfrm>
            <a:off x="12674184" y="6610662"/>
            <a:ext cx="3041915" cy="2675745"/>
          </a:xfrm>
          <a:custGeom>
            <a:avLst/>
            <a:gdLst>
              <a:gd name="connsiteX0" fmla="*/ 1933731 w 2027943"/>
              <a:gd name="connsiteY0" fmla="*/ 1783830 h 1783830"/>
              <a:gd name="connsiteX1" fmla="*/ 1993692 w 2027943"/>
              <a:gd name="connsiteY1" fmla="*/ 1319135 h 1783830"/>
              <a:gd name="connsiteX2" fmla="*/ 1469036 w 2027943"/>
              <a:gd name="connsiteY2" fmla="*/ 449705 h 1783830"/>
              <a:gd name="connsiteX3" fmla="*/ 0 w 2027943"/>
              <a:gd name="connsiteY3" fmla="*/ 0 h 178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943" h="1783830">
                <a:moveTo>
                  <a:pt x="1933731" y="1783830"/>
                </a:moveTo>
                <a:cubicBezTo>
                  <a:pt x="2002436" y="1662659"/>
                  <a:pt x="2071141" y="1541489"/>
                  <a:pt x="1993692" y="1319135"/>
                </a:cubicBezTo>
                <a:cubicBezTo>
                  <a:pt x="1916243" y="1096781"/>
                  <a:pt x="1801318" y="669561"/>
                  <a:pt x="1469036" y="449705"/>
                </a:cubicBezTo>
                <a:cubicBezTo>
                  <a:pt x="1136754" y="229849"/>
                  <a:pt x="568377" y="11492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ldLvl="0" animBg="1"/>
      <p:bldP spid="79" grpId="0" bldLvl="0" animBg="1"/>
      <p:bldP spid="80" grpId="0" bldLvl="0" animBg="1"/>
      <p:bldP spid="82" grpId="0" bldLvl="0" animBg="1"/>
      <p:bldP spid="83" grpId="0" bldLvl="0" animBg="1"/>
      <p:bldP spid="88" grpId="0" bldLvl="0" animBg="1"/>
      <p:bldP spid="89" grpId="0" bldLvl="0" animBg="1"/>
      <p:bldP spid="90" grpId="0" bldLvl="0" animBg="1"/>
      <p:bldP spid="92" grpId="0" bldLvl="0" animBg="1"/>
      <p:bldP spid="14" grpId="0"/>
      <p:bldP spid="173" grpId="0" bldLvl="0" animBg="1"/>
      <p:bldP spid="24" grpId="0" bldLvl="0" animBg="1"/>
      <p:bldP spid="2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/>
              <p:cNvSpPr txBox="1"/>
              <p:nvPr/>
            </p:nvSpPr>
            <p:spPr>
              <a:xfrm>
                <a:off x="2768023" y="8940914"/>
                <a:ext cx="1268857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3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23" y="8940914"/>
                <a:ext cx="12688570" cy="648335"/>
              </a:xfrm>
              <a:prstGeom prst="rect">
                <a:avLst/>
              </a:prstGeom>
              <a:blipFill rotWithShape="1">
                <a:blip r:embed="rId3"/>
                <a:stretch>
                  <a:fillRect t="-18" r="-550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/>
              <p:cNvSpPr txBox="1"/>
              <p:nvPr/>
            </p:nvSpPr>
            <p:spPr>
              <a:xfrm>
                <a:off x="5884706" y="8948015"/>
                <a:ext cx="767397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706" y="8948015"/>
                <a:ext cx="7673975" cy="648335"/>
              </a:xfrm>
              <a:prstGeom prst="rect">
                <a:avLst/>
              </a:prstGeom>
              <a:blipFill rotWithShape="1">
                <a:blip r:embed="rId4"/>
                <a:stretch>
                  <a:fillRect l="-2" t="-35" r="-925" b="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13056249" y="2331144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矩形 73"/>
          <p:cNvSpPr/>
          <p:nvPr/>
        </p:nvSpPr>
        <p:spPr>
          <a:xfrm>
            <a:off x="6830589" y="240977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矩形 74"/>
          <p:cNvSpPr/>
          <p:nvPr/>
        </p:nvSpPr>
        <p:spPr>
          <a:xfrm>
            <a:off x="8818968" y="238525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6" name="矩形 75"/>
          <p:cNvSpPr/>
          <p:nvPr/>
        </p:nvSpPr>
        <p:spPr>
          <a:xfrm>
            <a:off x="10936307" y="240977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7" name="矩形 76"/>
          <p:cNvSpPr/>
          <p:nvPr/>
        </p:nvSpPr>
        <p:spPr>
          <a:xfrm>
            <a:off x="5055935" y="2451233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11516517" y="3982401"/>
            <a:ext cx="15278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11680491" y="5851236"/>
            <a:ext cx="13586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11480691" y="2814197"/>
            <a:ext cx="15755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5158517" y="3527772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7" name="矩形 96"/>
          <p:cNvSpPr/>
          <p:nvPr/>
        </p:nvSpPr>
        <p:spPr>
          <a:xfrm>
            <a:off x="5167244" y="267227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/>
        </p:nvGraphicFramePr>
        <p:xfrm>
          <a:off x="5186292" y="2529404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657600" imgH="5181600" progId="Equation.3">
                  <p:embed/>
                </p:oleObj>
              </mc:Choice>
              <mc:Fallback>
                <p:oleObj name="方程式" r:id="rId5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292" y="2529404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/>
        </p:nvGraphicFramePr>
        <p:xfrm>
          <a:off x="5194236" y="3403497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962400" imgH="5181600" progId="Equation.3">
                  <p:embed/>
                </p:oleObj>
              </mc:Choice>
              <mc:Fallback>
                <p:oleObj name="方程式" r:id="rId7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236" y="3403497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6976254" y="242627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1" name="橢圓 100"/>
          <p:cNvSpPr/>
          <p:nvPr/>
        </p:nvSpPr>
        <p:spPr>
          <a:xfrm>
            <a:off x="6979767" y="3594129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2" name="橢圓 101"/>
          <p:cNvSpPr/>
          <p:nvPr/>
        </p:nvSpPr>
        <p:spPr>
          <a:xfrm>
            <a:off x="6962318" y="5436147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6958197" y="4892087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04" name="矩形 103"/>
          <p:cNvSpPr/>
          <p:nvPr/>
        </p:nvSpPr>
        <p:spPr>
          <a:xfrm>
            <a:off x="5172804" y="5624408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/>
        </p:nvGraphicFramePr>
        <p:xfrm>
          <a:off x="5168130" y="5480027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4572000" imgH="5486400" progId="Equation.3">
                  <p:embed/>
                </p:oleObj>
              </mc:Choice>
              <mc:Fallback>
                <p:oleObj name="方程式" r:id="rId9" imgW="4572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130" y="5480027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4986702" y="4874321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07" name="橢圓 106"/>
          <p:cNvSpPr/>
          <p:nvPr/>
        </p:nvSpPr>
        <p:spPr>
          <a:xfrm>
            <a:off x="8949597" y="242627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橢圓 107"/>
          <p:cNvSpPr/>
          <p:nvPr/>
        </p:nvSpPr>
        <p:spPr>
          <a:xfrm>
            <a:off x="8953110" y="3594129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橢圓 108"/>
          <p:cNvSpPr/>
          <p:nvPr/>
        </p:nvSpPr>
        <p:spPr>
          <a:xfrm>
            <a:off x="8935661" y="543614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8931540" y="4892087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1" name="橢圓 110"/>
          <p:cNvSpPr/>
          <p:nvPr/>
        </p:nvSpPr>
        <p:spPr>
          <a:xfrm>
            <a:off x="11050073" y="2397612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2" name="橢圓 111"/>
          <p:cNvSpPr/>
          <p:nvPr/>
        </p:nvSpPr>
        <p:spPr>
          <a:xfrm>
            <a:off x="11053586" y="353747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3" name="橢圓 112"/>
          <p:cNvSpPr/>
          <p:nvPr/>
        </p:nvSpPr>
        <p:spPr>
          <a:xfrm>
            <a:off x="11064128" y="540748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11060007" y="4858680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9807665" y="2338398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9834099" y="3516646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9852369" y="5401085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7837491" y="2856893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7837491" y="4044521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7823555" y="5877474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7841004" y="2856893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7837491" y="2856893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7837491" y="2856893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7841004" y="4024748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7823555" y="2856893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7823555" y="4024748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5687154" y="2856893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5681594" y="2929454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5681594" y="2929454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5722874" y="2856893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5672867" y="3784947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5672867" y="3784947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5780112" y="2856893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5740559" y="4024748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5740559" y="5846657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12969534" y="4905138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13073174" y="2304407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1</a:t>
            </a:r>
            <a:endParaRPr lang="zh-TW" altLang="en-US" sz="4200" baseline="-250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13056249" y="3501737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2</a:t>
            </a:r>
            <a:endParaRPr lang="zh-TW" altLang="en-US" sz="4200" baseline="-250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13056249" y="5401085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 err="1"/>
              <a:t>y</a:t>
            </a:r>
            <a:r>
              <a:rPr lang="en-US" altLang="zh-TW" sz="4200" baseline="-25000" dirty="0" err="1"/>
              <a:t>M</a:t>
            </a:r>
            <a:endParaRPr lang="zh-TW" altLang="en-US" sz="4200" baseline="-25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5763816" y="3278675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79" name="矩形 78"/>
          <p:cNvSpPr/>
          <p:nvPr/>
        </p:nvSpPr>
        <p:spPr>
          <a:xfrm>
            <a:off x="7846121" y="3290981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0" name="矩形 79"/>
          <p:cNvSpPr/>
          <p:nvPr/>
        </p:nvSpPr>
        <p:spPr>
          <a:xfrm>
            <a:off x="10045128" y="3280632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L</a:t>
            </a:r>
            <a:endParaRPr lang="zh-TW" altLang="en-US" sz="3600" baseline="30000" dirty="0"/>
          </a:p>
        </p:txBody>
      </p:sp>
      <p:sp>
        <p:nvSpPr>
          <p:cNvPr id="82" name="矩形 81"/>
          <p:cNvSpPr/>
          <p:nvPr/>
        </p:nvSpPr>
        <p:spPr>
          <a:xfrm>
            <a:off x="8769341" y="3791073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b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3" name="矩形 82"/>
          <p:cNvSpPr/>
          <p:nvPr/>
        </p:nvSpPr>
        <p:spPr>
          <a:xfrm>
            <a:off x="11004189" y="3755813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b</a:t>
            </a:r>
            <a:r>
              <a:rPr lang="en-US" altLang="zh-TW" sz="3600" baseline="30000" dirty="0" err="1"/>
              <a:t>L</a:t>
            </a:r>
            <a:endParaRPr lang="zh-TW" altLang="en-US" sz="3600" baseline="30000" dirty="0"/>
          </a:p>
        </p:txBody>
      </p:sp>
      <p:sp>
        <p:nvSpPr>
          <p:cNvPr id="88" name="矩形 87"/>
          <p:cNvSpPr/>
          <p:nvPr/>
        </p:nvSpPr>
        <p:spPr>
          <a:xfrm>
            <a:off x="5632010" y="5371544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x</a:t>
            </a:r>
            <a:endParaRPr lang="zh-TW" altLang="en-US" sz="3600" dirty="0"/>
          </a:p>
        </p:txBody>
      </p:sp>
      <p:sp>
        <p:nvSpPr>
          <p:cNvPr id="89" name="矩形 88"/>
          <p:cNvSpPr/>
          <p:nvPr/>
        </p:nvSpPr>
        <p:spPr>
          <a:xfrm>
            <a:off x="7596131" y="5371544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90" name="矩形 89"/>
          <p:cNvSpPr/>
          <p:nvPr/>
        </p:nvSpPr>
        <p:spPr>
          <a:xfrm>
            <a:off x="9598817" y="5392154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92" name="矩形 91"/>
          <p:cNvSpPr/>
          <p:nvPr/>
        </p:nvSpPr>
        <p:spPr>
          <a:xfrm>
            <a:off x="11983238" y="5384568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y</a:t>
            </a:r>
            <a:endParaRPr lang="zh-TW" altLang="en-US" sz="3600" baseline="30000" dirty="0"/>
          </a:p>
        </p:txBody>
      </p:sp>
      <p:sp>
        <p:nvSpPr>
          <p:cNvPr id="85" name="矩形 84"/>
          <p:cNvSpPr/>
          <p:nvPr/>
        </p:nvSpPr>
        <p:spPr>
          <a:xfrm>
            <a:off x="3067838" y="6889518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y</a:t>
            </a:r>
            <a:endParaRPr lang="zh-TW" altLang="en-US" sz="3600" baseline="30000" dirty="0"/>
          </a:p>
        </p:txBody>
      </p:sp>
      <p:grpSp>
        <p:nvGrpSpPr>
          <p:cNvPr id="6" name="群組 5"/>
          <p:cNvGrpSpPr/>
          <p:nvPr/>
        </p:nvGrpSpPr>
        <p:grpSpPr>
          <a:xfrm>
            <a:off x="3820091" y="6873621"/>
            <a:ext cx="2072006" cy="1315614"/>
            <a:chOff x="3047770" y="5664328"/>
            <a:chExt cx="1381337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/>
                <p:cNvSpPr txBox="1"/>
                <p:nvPr/>
              </p:nvSpPr>
              <p:spPr>
                <a:xfrm>
                  <a:off x="3047770" y="5918200"/>
                  <a:ext cx="1381337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" name="文字方塊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770" y="5918200"/>
                  <a:ext cx="1381337" cy="432223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 86"/>
            <p:cNvSpPr/>
            <p:nvPr/>
          </p:nvSpPr>
          <p:spPr>
            <a:xfrm>
              <a:off x="3778163" y="566432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endParaRPr lang="zh-TW" altLang="en-US" sz="3600" dirty="0"/>
            </a:p>
          </p:txBody>
        </p:sp>
      </p:grpSp>
      <p:sp>
        <p:nvSpPr>
          <p:cNvPr id="140" name="矩形 139"/>
          <p:cNvSpPr/>
          <p:nvPr/>
        </p:nvSpPr>
        <p:spPr>
          <a:xfrm>
            <a:off x="11187669" y="8530217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b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41" name="矩形 140"/>
          <p:cNvSpPr/>
          <p:nvPr/>
        </p:nvSpPr>
        <p:spPr>
          <a:xfrm>
            <a:off x="8455442" y="8563445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42" name="矩形 141"/>
          <p:cNvSpPr/>
          <p:nvPr/>
        </p:nvSpPr>
        <p:spPr>
          <a:xfrm>
            <a:off x="9806855" y="8527512"/>
            <a:ext cx="662039" cy="1315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x</a:t>
            </a:r>
            <a:endParaRPr lang="zh-TW" altLang="en-US" sz="36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10557815" y="8820917"/>
            <a:ext cx="5409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/>
              <p:cNvSpPr txBox="1"/>
              <p:nvPr/>
            </p:nvSpPr>
            <p:spPr>
              <a:xfrm>
                <a:off x="7764737" y="8908320"/>
                <a:ext cx="439229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7" name="文字方塊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737" y="8908320"/>
                <a:ext cx="4392295" cy="648335"/>
              </a:xfrm>
              <a:prstGeom prst="rect">
                <a:avLst/>
              </a:prstGeom>
              <a:blipFill rotWithShape="1">
                <a:blip r:embed="rId12"/>
                <a:stretch>
                  <a:fillRect l="-13" t="-83" r="-1027" b="8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 148"/>
          <p:cNvSpPr/>
          <p:nvPr/>
        </p:nvSpPr>
        <p:spPr>
          <a:xfrm>
            <a:off x="12600614" y="8555183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b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50" name="矩形 149"/>
          <p:cNvSpPr/>
          <p:nvPr/>
        </p:nvSpPr>
        <p:spPr>
          <a:xfrm>
            <a:off x="6524559" y="8588411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52" name="文字方塊 151"/>
          <p:cNvSpPr txBox="1"/>
          <p:nvPr/>
        </p:nvSpPr>
        <p:spPr>
          <a:xfrm>
            <a:off x="12067829" y="8838299"/>
            <a:ext cx="5409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dirty="0"/>
          </a:p>
        </p:txBody>
      </p:sp>
      <p:sp>
        <p:nvSpPr>
          <p:cNvPr id="155" name="矩形 154"/>
          <p:cNvSpPr/>
          <p:nvPr/>
        </p:nvSpPr>
        <p:spPr>
          <a:xfrm>
            <a:off x="14423175" y="8527512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 err="1"/>
              <a:t>b</a:t>
            </a:r>
            <a:r>
              <a:rPr lang="en-US" altLang="zh-TW" sz="3600" baseline="30000" dirty="0" err="1"/>
              <a:t>L</a:t>
            </a:r>
            <a:endParaRPr lang="zh-TW" altLang="en-US" sz="3600" baseline="30000" dirty="0"/>
          </a:p>
        </p:txBody>
      </p:sp>
      <p:sp>
        <p:nvSpPr>
          <p:cNvPr id="156" name="矩形 155"/>
          <p:cNvSpPr/>
          <p:nvPr/>
        </p:nvSpPr>
        <p:spPr>
          <a:xfrm>
            <a:off x="3980111" y="8577560"/>
            <a:ext cx="1211765" cy="12485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L</a:t>
            </a:r>
            <a:endParaRPr lang="zh-TW" altLang="en-US" sz="3600" baseline="30000" dirty="0"/>
          </a:p>
        </p:txBody>
      </p:sp>
      <p:sp>
        <p:nvSpPr>
          <p:cNvPr id="158" name="文字方塊 157"/>
          <p:cNvSpPr txBox="1"/>
          <p:nvPr/>
        </p:nvSpPr>
        <p:spPr>
          <a:xfrm>
            <a:off x="13957342" y="8826699"/>
            <a:ext cx="5409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+</a:t>
            </a:r>
            <a:endParaRPr lang="zh-TW" altLang="en-US" sz="36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076117" y="8728584"/>
            <a:ext cx="10786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74" name="矩形 173"/>
          <p:cNvSpPr/>
          <p:nvPr/>
        </p:nvSpPr>
        <p:spPr>
          <a:xfrm>
            <a:off x="6607506" y="3797531"/>
            <a:ext cx="676302" cy="12818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b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75" name="文字方塊 174"/>
          <p:cNvSpPr txBox="1"/>
          <p:nvPr/>
        </p:nvSpPr>
        <p:spPr>
          <a:xfrm>
            <a:off x="13345403" y="8661654"/>
            <a:ext cx="10786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76" name="文字方塊 175"/>
          <p:cNvSpPr txBox="1"/>
          <p:nvPr/>
        </p:nvSpPr>
        <p:spPr>
          <a:xfrm>
            <a:off x="6451943" y="6859362"/>
            <a:ext cx="113280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Using parallel computing techniques to speed up matrix operation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53" grpId="0"/>
      <p:bldP spid="85" grpId="0" bldLvl="0" animBg="1"/>
      <p:bldP spid="140" grpId="0" bldLvl="0" animBg="1"/>
      <p:bldP spid="141" grpId="0" bldLvl="0" animBg="1"/>
      <p:bldP spid="142" grpId="0" bldLvl="0" animBg="1"/>
      <p:bldP spid="146" grpId="0"/>
      <p:bldP spid="147" grpId="0"/>
      <p:bldP spid="149" grpId="0" bldLvl="0" animBg="1"/>
      <p:bldP spid="150" grpId="0" bldLvl="0" animBg="1"/>
      <p:bldP spid="152" grpId="0"/>
      <p:bldP spid="155" grpId="0" bldLvl="0" animBg="1"/>
      <p:bldP spid="156" grpId="0" bldLvl="0" animBg="1"/>
      <p:bldP spid="158" grpId="0"/>
      <p:bldP spid="8" grpId="0"/>
      <p:bldP spid="175" grpId="0"/>
      <p:bldP spid="1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 Layer as Multi-Class Classifier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138403" y="4011827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9" name="直線單箭頭接點 58"/>
          <p:cNvCxnSpPr/>
          <p:nvPr/>
        </p:nvCxnSpPr>
        <p:spPr>
          <a:xfrm>
            <a:off x="11806814" y="5542995"/>
            <a:ext cx="15278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11970788" y="7411830"/>
            <a:ext cx="13586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11770988" y="4374791"/>
            <a:ext cx="15755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4240985" y="5088366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4249712" y="4232873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66" name="群組 65"/>
          <p:cNvGrpSpPr/>
          <p:nvPr/>
        </p:nvGrpSpPr>
        <p:grpSpPr>
          <a:xfrm>
            <a:off x="5913057" y="3970365"/>
            <a:ext cx="1119513" cy="4013802"/>
            <a:chOff x="2504565" y="2224872"/>
            <a:chExt cx="746342" cy="2675868"/>
          </a:xfrm>
        </p:grpSpPr>
        <p:sp>
          <p:nvSpPr>
            <p:cNvPr id="67" name="矩形 66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9" name="橢圓 68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70" name="橢圓 69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71" name="橢圓 70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72" name="文字方塊 71"/>
            <p:cNvSpPr txBox="1"/>
            <p:nvPr/>
          </p:nvSpPr>
          <p:spPr>
            <a:xfrm rot="5400000">
              <a:off x="2612716" y="3751465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</p:grpSp>
      <p:sp>
        <p:nvSpPr>
          <p:cNvPr id="73" name="矩形 72"/>
          <p:cNvSpPr/>
          <p:nvPr/>
        </p:nvSpPr>
        <p:spPr>
          <a:xfrm>
            <a:off x="4255272" y="7185002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文字方塊 74"/>
          <p:cNvSpPr txBox="1"/>
          <p:nvPr/>
        </p:nvSpPr>
        <p:spPr>
          <a:xfrm rot="5400000">
            <a:off x="4069170" y="6434915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grpSp>
        <p:nvGrpSpPr>
          <p:cNvPr id="83" name="群組 82"/>
          <p:cNvGrpSpPr/>
          <p:nvPr/>
        </p:nvGrpSpPr>
        <p:grpSpPr>
          <a:xfrm>
            <a:off x="11226603" y="3958206"/>
            <a:ext cx="1392476" cy="4025961"/>
            <a:chOff x="6046929" y="2216766"/>
            <a:chExt cx="928317" cy="2683974"/>
          </a:xfrm>
        </p:grpSpPr>
        <p:sp>
          <p:nvSpPr>
            <p:cNvPr id="84" name="矩形 83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6" name="橢圓 85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7" name="橢圓 86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8" name="橢圓 87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9" name="文字方塊 88"/>
            <p:cNvSpPr txBox="1"/>
            <p:nvPr/>
          </p:nvSpPr>
          <p:spPr>
            <a:xfrm rot="5400000">
              <a:off x="6129396" y="3642478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</p:grpSp>
      <p:sp>
        <p:nvSpPr>
          <p:cNvPr id="90" name="文字方塊 89"/>
          <p:cNvSpPr txBox="1"/>
          <p:nvPr/>
        </p:nvSpPr>
        <p:spPr>
          <a:xfrm>
            <a:off x="6945702" y="3920850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6956126" y="5062331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92" name="文字方塊 91"/>
          <p:cNvSpPr txBox="1"/>
          <p:nvPr/>
        </p:nvSpPr>
        <p:spPr>
          <a:xfrm>
            <a:off x="6999649" y="6885333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grpSp>
        <p:nvGrpSpPr>
          <p:cNvPr id="127" name="群組 126"/>
          <p:cNvGrpSpPr/>
          <p:nvPr/>
        </p:nvGrpSpPr>
        <p:grpSpPr>
          <a:xfrm>
            <a:off x="7659975" y="3957886"/>
            <a:ext cx="2114927" cy="4013802"/>
            <a:chOff x="3237982" y="2761595"/>
            <a:chExt cx="1409951" cy="2675868"/>
          </a:xfrm>
        </p:grpSpPr>
        <p:grpSp>
          <p:nvGrpSpPr>
            <p:cNvPr id="76" name="群組 75"/>
            <p:cNvGrpSpPr/>
            <p:nvPr/>
          </p:nvGrpSpPr>
          <p:grpSpPr>
            <a:xfrm>
              <a:off x="3901591" y="2761595"/>
              <a:ext cx="746342" cy="2675868"/>
              <a:chOff x="3830151" y="2208525"/>
              <a:chExt cx="746342" cy="2675868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3830151" y="2208525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9" name="橢圓 78"/>
              <p:cNvSpPr/>
              <p:nvPr/>
            </p:nvSpPr>
            <p:spPr>
              <a:xfrm>
                <a:off x="3917237" y="22358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0" name="橢圓 79"/>
              <p:cNvSpPr/>
              <p:nvPr/>
            </p:nvSpPr>
            <p:spPr>
              <a:xfrm>
                <a:off x="3919579" y="301444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1" name="橢圓 80"/>
              <p:cNvSpPr/>
              <p:nvPr/>
            </p:nvSpPr>
            <p:spPr>
              <a:xfrm>
                <a:off x="3907946" y="424245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2" name="文字方塊 81"/>
              <p:cNvSpPr txBox="1"/>
              <p:nvPr/>
            </p:nvSpPr>
            <p:spPr>
              <a:xfrm rot="5400000">
                <a:off x="3927212" y="3771262"/>
                <a:ext cx="76925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</a:t>
                </a:r>
                <a:endParaRPr lang="zh-TW" altLang="en-US" sz="4200" dirty="0"/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3237982" y="3867734"/>
              <a:ext cx="750680" cy="1222010"/>
              <a:chOff x="3166542" y="3314664"/>
              <a:chExt cx="750680" cy="1222010"/>
            </a:xfrm>
          </p:grpSpPr>
          <p:cxnSp>
            <p:nvCxnSpPr>
              <p:cNvPr id="95" name="直線單箭頭接點 94"/>
              <p:cNvCxnSpPr/>
              <p:nvPr/>
            </p:nvCxnSpPr>
            <p:spPr>
              <a:xfrm>
                <a:off x="3280876" y="3314664"/>
                <a:ext cx="636346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>
                <a:off x="3166542" y="4536674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3" name="直線單箭頭接點 102"/>
          <p:cNvCxnSpPr>
            <a:endCxn id="69" idx="2"/>
          </p:cNvCxnSpPr>
          <p:nvPr/>
        </p:nvCxnSpPr>
        <p:spPr>
          <a:xfrm flipV="1">
            <a:off x="10084572" y="6626334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endCxn id="69" idx="2"/>
          </p:cNvCxnSpPr>
          <p:nvPr/>
        </p:nvCxnSpPr>
        <p:spPr>
          <a:xfrm flipV="1">
            <a:off x="10120292" y="6626334"/>
            <a:ext cx="1253380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字方塊 111"/>
          <p:cNvSpPr txBox="1"/>
          <p:nvPr/>
        </p:nvSpPr>
        <p:spPr>
          <a:xfrm rot="5400000">
            <a:off x="13259831" y="6465732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3" name="文字方塊 112"/>
          <p:cNvSpPr txBox="1"/>
          <p:nvPr/>
        </p:nvSpPr>
        <p:spPr>
          <a:xfrm>
            <a:off x="13363470" y="3865001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1</a:t>
            </a:r>
            <a:endParaRPr lang="zh-TW" altLang="en-US" sz="4200" baseline="-250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3346546" y="5062331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2</a:t>
            </a:r>
            <a:endParaRPr lang="zh-TW" altLang="en-US" sz="4200" baseline="-250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3346546" y="6961678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 err="1"/>
              <a:t>y</a:t>
            </a:r>
            <a:r>
              <a:rPr lang="en-US" altLang="zh-TW" sz="4200" baseline="-25000" dirty="0" err="1"/>
              <a:t>M</a:t>
            </a:r>
            <a:endParaRPr lang="zh-TW" altLang="en-US" sz="4200" baseline="-25000" dirty="0"/>
          </a:p>
        </p:txBody>
      </p:sp>
      <p:grpSp>
        <p:nvGrpSpPr>
          <p:cNvPr id="116" name="群組 115"/>
          <p:cNvGrpSpPr/>
          <p:nvPr/>
        </p:nvGrpSpPr>
        <p:grpSpPr>
          <a:xfrm>
            <a:off x="10177246" y="4390903"/>
            <a:ext cx="1129556" cy="3020582"/>
            <a:chOff x="5357094" y="2515814"/>
            <a:chExt cx="753037" cy="2013721"/>
          </a:xfrm>
        </p:grpSpPr>
        <p:cxnSp>
          <p:nvCxnSpPr>
            <p:cNvPr id="117" name="直線單箭頭接點 11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單箭頭接點 117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單箭頭接點 119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單箭頭接點 123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9" name="Object 12"/>
          <p:cNvGraphicFramePr>
            <a:graphicFrameLocks noChangeAspect="1"/>
          </p:cNvGraphicFramePr>
          <p:nvPr/>
        </p:nvGraphicFramePr>
        <p:xfrm>
          <a:off x="9732164" y="6615858"/>
          <a:ext cx="650081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4876800" imgH="5181600" progId="Equation.3">
                  <p:embed/>
                </p:oleObj>
              </mc:Choice>
              <mc:Fallback>
                <p:oleObj name="方程式" r:id="rId3" imgW="48768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2164" y="6615858"/>
                        <a:ext cx="650081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文字方塊 129"/>
          <p:cNvSpPr txBox="1"/>
          <p:nvPr/>
        </p:nvSpPr>
        <p:spPr>
          <a:xfrm>
            <a:off x="10932419" y="8023289"/>
            <a:ext cx="174878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Output Layer</a:t>
            </a:r>
            <a:endParaRPr lang="zh-TW" altLang="en-US" sz="3600" b="1" dirty="0"/>
          </a:p>
        </p:txBody>
      </p:sp>
      <p:sp>
        <p:nvSpPr>
          <p:cNvPr id="131" name="文字方塊 130"/>
          <p:cNvSpPr txBox="1"/>
          <p:nvPr/>
        </p:nvSpPr>
        <p:spPr>
          <a:xfrm>
            <a:off x="6465259" y="8491817"/>
            <a:ext cx="30999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Hidden Layers</a:t>
            </a:r>
            <a:endParaRPr lang="zh-TW" altLang="en-US" sz="3600" b="1" dirty="0"/>
          </a:p>
        </p:txBody>
      </p:sp>
      <p:sp>
        <p:nvSpPr>
          <p:cNvPr id="132" name="右大括弧 131"/>
          <p:cNvSpPr/>
          <p:nvPr/>
        </p:nvSpPr>
        <p:spPr>
          <a:xfrm rot="5400000">
            <a:off x="7906640" y="6020909"/>
            <a:ext cx="272592" cy="4408935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3" name="文字方塊 132"/>
          <p:cNvSpPr txBox="1"/>
          <p:nvPr/>
        </p:nvSpPr>
        <p:spPr>
          <a:xfrm>
            <a:off x="3630057" y="7830500"/>
            <a:ext cx="1583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Input Layer</a:t>
            </a:r>
            <a:endParaRPr lang="zh-TW" altLang="en-US" sz="3600" b="1" dirty="0"/>
          </a:p>
        </p:txBody>
      </p:sp>
      <p:graphicFrame>
        <p:nvGraphicFramePr>
          <p:cNvPr id="134" name="Object 12"/>
          <p:cNvGraphicFramePr>
            <a:graphicFrameLocks noChangeAspect="1"/>
          </p:cNvGraphicFramePr>
          <p:nvPr/>
        </p:nvGraphicFramePr>
        <p:xfrm>
          <a:off x="3479025" y="5540975"/>
          <a:ext cx="652410" cy="717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048000" imgH="3352800" progId="Equation.3">
                  <p:embed/>
                </p:oleObj>
              </mc:Choice>
              <mc:Fallback>
                <p:oleObj name="方程式" r:id="rId5" imgW="3048000" imgH="3352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025" y="5540975"/>
                        <a:ext cx="652410" cy="717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2"/>
          <p:cNvGraphicFramePr>
            <a:graphicFrameLocks noChangeAspect="1"/>
          </p:cNvGraphicFramePr>
          <p:nvPr/>
        </p:nvGraphicFramePr>
        <p:xfrm>
          <a:off x="9816153" y="3713834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657600" imgH="5181600" progId="Equation.3">
                  <p:embed/>
                </p:oleObj>
              </mc:Choice>
              <mc:Fallback>
                <p:oleObj name="方程式" r:id="rId7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6153" y="3713834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"/>
          <p:cNvGraphicFramePr>
            <a:graphicFrameLocks noChangeAspect="1"/>
          </p:cNvGraphicFramePr>
          <p:nvPr/>
        </p:nvGraphicFramePr>
        <p:xfrm>
          <a:off x="9785460" y="4843193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5460" y="4843193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矩形 134"/>
          <p:cNvSpPr/>
          <p:nvPr/>
        </p:nvSpPr>
        <p:spPr>
          <a:xfrm>
            <a:off x="5723925" y="3864999"/>
            <a:ext cx="4039541" cy="4119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6" name="文字方塊 135"/>
          <p:cNvSpPr txBox="1"/>
          <p:nvPr/>
        </p:nvSpPr>
        <p:spPr>
          <a:xfrm>
            <a:off x="5596104" y="2557805"/>
            <a:ext cx="563049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Feature extractor replacing feature engineering</a:t>
            </a:r>
          </a:p>
        </p:txBody>
      </p:sp>
      <p:sp>
        <p:nvSpPr>
          <p:cNvPr id="137" name="文字方塊 136"/>
          <p:cNvSpPr txBox="1"/>
          <p:nvPr/>
        </p:nvSpPr>
        <p:spPr>
          <a:xfrm>
            <a:off x="12735970" y="8080713"/>
            <a:ext cx="509603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= Multi-class Classifier </a:t>
            </a:r>
            <a:endParaRPr lang="zh-TW" altLang="en-US" sz="3600" dirty="0"/>
          </a:p>
        </p:txBody>
      </p:sp>
      <p:sp>
        <p:nvSpPr>
          <p:cNvPr id="138" name="矩形 137"/>
          <p:cNvSpPr/>
          <p:nvPr/>
        </p:nvSpPr>
        <p:spPr>
          <a:xfrm>
            <a:off x="11344271" y="3915704"/>
            <a:ext cx="1105854" cy="402596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39" name="文字方塊 138"/>
          <p:cNvSpPr txBox="1"/>
          <p:nvPr/>
        </p:nvSpPr>
        <p:spPr>
          <a:xfrm rot="5400000">
            <a:off x="10711322" y="5580210"/>
            <a:ext cx="226645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Softmax</a:t>
            </a:r>
            <a:endParaRPr lang="zh-TW" altLang="en-US" sz="3600" dirty="0"/>
          </a:p>
        </p:txBody>
      </p:sp>
      <p:cxnSp>
        <p:nvCxnSpPr>
          <p:cNvPr id="3" name="直線單箭頭接點 94"/>
          <p:cNvCxnSpPr/>
          <p:nvPr/>
        </p:nvCxnSpPr>
        <p:spPr>
          <a:xfrm flipV="1">
            <a:off x="7660005" y="4406900"/>
            <a:ext cx="1111885" cy="3020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94"/>
          <p:cNvCxnSpPr/>
          <p:nvPr/>
        </p:nvCxnSpPr>
        <p:spPr>
          <a:xfrm>
            <a:off x="7817505" y="4417580"/>
            <a:ext cx="95451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94"/>
          <p:cNvCxnSpPr/>
          <p:nvPr/>
        </p:nvCxnSpPr>
        <p:spPr>
          <a:xfrm flipV="1">
            <a:off x="7831455" y="4417695"/>
            <a:ext cx="940435" cy="11849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94"/>
          <p:cNvCxnSpPr/>
          <p:nvPr/>
        </p:nvCxnSpPr>
        <p:spPr>
          <a:xfrm>
            <a:off x="7831455" y="4417695"/>
            <a:ext cx="940435" cy="30099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94"/>
          <p:cNvCxnSpPr/>
          <p:nvPr/>
        </p:nvCxnSpPr>
        <p:spPr>
          <a:xfrm>
            <a:off x="7831455" y="4417695"/>
            <a:ext cx="940435" cy="11849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94"/>
          <p:cNvCxnSpPr/>
          <p:nvPr/>
        </p:nvCxnSpPr>
        <p:spPr>
          <a:xfrm>
            <a:off x="7831455" y="5602605"/>
            <a:ext cx="940435" cy="182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4"/>
          <p:cNvCxnSpPr/>
          <p:nvPr/>
        </p:nvCxnSpPr>
        <p:spPr>
          <a:xfrm flipV="1">
            <a:off x="7660005" y="5602605"/>
            <a:ext cx="1111885" cy="182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群組 115"/>
          <p:cNvGrpSpPr/>
          <p:nvPr/>
        </p:nvGrpSpPr>
        <p:grpSpPr>
          <a:xfrm>
            <a:off x="4873091" y="4429003"/>
            <a:ext cx="1129556" cy="3020582"/>
            <a:chOff x="5357094" y="2515814"/>
            <a:chExt cx="753037" cy="2013721"/>
          </a:xfrm>
        </p:grpSpPr>
        <p:cxnSp>
          <p:nvCxnSpPr>
            <p:cNvPr id="12" name="直線單箭頭接點 11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17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18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19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20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21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22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23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24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bldLvl="0" animBg="1"/>
      <p:bldP spid="136" grpId="0"/>
      <p:bldP spid="137" grpId="0" bldLvl="0" animBg="1"/>
      <p:bldP spid="138" grpId="0" bldLvl="0" animBg="1"/>
      <p:bldP spid="1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19625" y="2731135"/>
            <a:ext cx="2288540" cy="1235710"/>
          </a:xfrm>
        </p:spPr>
        <p:txBody>
          <a:bodyPr>
            <a:normAutofit/>
          </a:bodyPr>
          <a:lstStyle/>
          <a:p>
            <a:r>
              <a:rPr lang="en-US" altLang="zh-TW" sz="4800" dirty="0"/>
              <a:t>Input</a:t>
            </a:r>
            <a:endParaRPr lang="zh-TW" altLang="en-US" sz="4800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Output</a:t>
            </a:r>
            <a:endParaRPr lang="zh-TW" altLang="en-US" sz="48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400" y="4964709"/>
            <a:ext cx="3195033" cy="3174683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290438" y="8119932"/>
            <a:ext cx="21717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16 x 16 = 256</a:t>
            </a:r>
            <a:endParaRPr lang="zh-TW" altLang="en-US" sz="100" dirty="0"/>
          </a:p>
        </p:txBody>
      </p:sp>
      <p:sp>
        <p:nvSpPr>
          <p:cNvPr id="9" name="矩形 8"/>
          <p:cNvSpPr/>
          <p:nvPr/>
        </p:nvSpPr>
        <p:spPr>
          <a:xfrm>
            <a:off x="7458957" y="4510089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7561539" y="558662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7570266" y="473113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7589315" y="4588260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3657600" imgH="5181600" progId="Equation.3">
                  <p:embed/>
                </p:oleObj>
              </mc:Choice>
              <mc:Fallback>
                <p:oleObj name="方程式" r:id="rId4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315" y="4588260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7597259" y="5462354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3962400" imgH="5181600" progId="Equation.3">
                  <p:embed/>
                </p:oleObj>
              </mc:Choice>
              <mc:Fallback>
                <p:oleObj name="方程式" r:id="rId6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259" y="5462354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7575827" y="7683264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7467942" y="7538114"/>
          <a:ext cx="81676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6096000" imgH="5486400" progId="Equation.3">
                  <p:embed/>
                </p:oleObj>
              </mc:Choice>
              <mc:Fallback>
                <p:oleObj name="方程式" r:id="rId8" imgW="6096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942" y="7538114"/>
                        <a:ext cx="816768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字方塊 15"/>
          <p:cNvSpPr txBox="1"/>
          <p:nvPr/>
        </p:nvSpPr>
        <p:spPr>
          <a:xfrm rot="5400000">
            <a:off x="7389725" y="6933177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7" name="手繪多邊形 16"/>
          <p:cNvSpPr/>
          <p:nvPr/>
        </p:nvSpPr>
        <p:spPr>
          <a:xfrm>
            <a:off x="4107998" y="4602182"/>
            <a:ext cx="3457575" cy="545912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手繪多邊形 17"/>
          <p:cNvSpPr/>
          <p:nvPr/>
        </p:nvSpPr>
        <p:spPr>
          <a:xfrm>
            <a:off x="4308023" y="4861593"/>
            <a:ext cx="3257550" cy="969164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手繪多邊形 18"/>
          <p:cNvSpPr/>
          <p:nvPr/>
        </p:nvSpPr>
        <p:spPr>
          <a:xfrm>
            <a:off x="6908348" y="7926257"/>
            <a:ext cx="695325" cy="364962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文字方塊 19"/>
          <p:cNvSpPr txBox="1"/>
          <p:nvPr/>
        </p:nvSpPr>
        <p:spPr>
          <a:xfrm>
            <a:off x="4342827" y="8648820"/>
            <a:ext cx="24920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Ink → 1</a:t>
            </a:r>
          </a:p>
          <a:p>
            <a:r>
              <a:rPr lang="en-US" altLang="zh-TW" sz="3600" dirty="0"/>
              <a:t>No ink → 0</a:t>
            </a:r>
            <a:endParaRPr lang="zh-TW" altLang="en-US" sz="3600" dirty="0"/>
          </a:p>
        </p:txBody>
      </p:sp>
      <p:grpSp>
        <p:nvGrpSpPr>
          <p:cNvPr id="26" name="群組 25"/>
          <p:cNvGrpSpPr/>
          <p:nvPr/>
        </p:nvGrpSpPr>
        <p:grpSpPr>
          <a:xfrm>
            <a:off x="10054642" y="4233299"/>
            <a:ext cx="963528" cy="3964316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720942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</a:t>
              </a:r>
              <a:endParaRPr lang="zh-TW" altLang="en-US" sz="4200" baseline="-250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2</a:t>
              </a:r>
              <a:endParaRPr lang="zh-TW" altLang="en-US" sz="4200" baseline="-250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10</a:t>
              </a:r>
              <a:endParaRPr lang="zh-TW" altLang="en-US" sz="4200" baseline="-25000" dirty="0"/>
            </a:p>
          </p:txBody>
        </p:sp>
      </p:grpSp>
      <p:sp>
        <p:nvSpPr>
          <p:cNvPr id="27" name="文字方塊 26"/>
          <p:cNvSpPr txBox="1"/>
          <p:nvPr/>
        </p:nvSpPr>
        <p:spPr>
          <a:xfrm>
            <a:off x="11453434" y="3823387"/>
            <a:ext cx="6176029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2"/>
                </a:solidFill>
              </a:rPr>
              <a:t>Each dimension represents the confidence of a digit.</a:t>
            </a:r>
            <a:endParaRPr lang="zh-TW" altLang="en-US" sz="2000" dirty="0">
              <a:solidFill>
                <a:schemeClr val="bg2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1358318" y="4325631"/>
            <a:ext cx="1292450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1</a:t>
            </a:r>
            <a:endParaRPr lang="zh-TW" altLang="en-US" sz="3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1369281" y="5497554"/>
            <a:ext cx="1270520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2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11369281" y="7408508"/>
            <a:ext cx="1252149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0</a:t>
            </a:r>
            <a:endParaRPr lang="zh-TW" altLang="en-US" sz="3600" dirty="0"/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11568324" y="6805203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32" name="矩形 31"/>
          <p:cNvSpPr/>
          <p:nvPr/>
        </p:nvSpPr>
        <p:spPr>
          <a:xfrm>
            <a:off x="9959693" y="4416995"/>
            <a:ext cx="929681" cy="64808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0.1</a:t>
            </a:r>
          </a:p>
        </p:txBody>
      </p:sp>
      <p:sp>
        <p:nvSpPr>
          <p:cNvPr id="33" name="矩形 32"/>
          <p:cNvSpPr/>
          <p:nvPr/>
        </p:nvSpPr>
        <p:spPr>
          <a:xfrm>
            <a:off x="9959693" y="5503602"/>
            <a:ext cx="929681" cy="64808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0.7</a:t>
            </a:r>
          </a:p>
        </p:txBody>
      </p:sp>
      <p:sp>
        <p:nvSpPr>
          <p:cNvPr id="34" name="矩形 33"/>
          <p:cNvSpPr/>
          <p:nvPr/>
        </p:nvSpPr>
        <p:spPr>
          <a:xfrm>
            <a:off x="9931422" y="7407495"/>
            <a:ext cx="985110" cy="64808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0.2</a:t>
            </a:r>
          </a:p>
        </p:txBody>
      </p:sp>
      <p:sp>
        <p:nvSpPr>
          <p:cNvPr id="35" name="矩形 34"/>
          <p:cNvSpPr/>
          <p:nvPr/>
        </p:nvSpPr>
        <p:spPr>
          <a:xfrm>
            <a:off x="9797927" y="5365520"/>
            <a:ext cx="2926455" cy="961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矩形 35"/>
          <p:cNvSpPr/>
          <p:nvPr/>
        </p:nvSpPr>
        <p:spPr>
          <a:xfrm>
            <a:off x="12808535" y="5501911"/>
            <a:ext cx="4577659" cy="13550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The image is  “2”</a:t>
            </a:r>
            <a:endParaRPr lang="zh-TW" altLang="en-US" sz="4200" dirty="0"/>
          </a:p>
        </p:txBody>
      </p:sp>
      <p:pic>
        <p:nvPicPr>
          <p:cNvPr id="37" name="圖片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3094" y="1009353"/>
            <a:ext cx="5033736" cy="13310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0" grpId="0" bldLvl="0" animBg="1"/>
      <p:bldP spid="11" grpId="0" bldLvl="0" animBg="1"/>
      <p:bldP spid="14" grpId="0" bldLvl="0" animBg="1"/>
      <p:bldP spid="16" grpId="0"/>
      <p:bldP spid="17" grpId="0" bldLvl="0" animBg="1"/>
      <p:bldP spid="18" grpId="0" bldLvl="0" animBg="1"/>
      <p:bldP spid="19" grpId="0" bldLvl="0" animBg="1"/>
      <p:bldP spid="20" grpId="0"/>
      <p:bldP spid="27" grpId="0" bldLvl="0" animBg="1"/>
      <p:bldP spid="28" grpId="0" bldLvl="0" animBg="1"/>
      <p:bldP spid="29" grpId="0" bldLvl="0" animBg="1"/>
      <p:bldP spid="30" grpId="0" bldLvl="0" animBg="1"/>
      <p:bldP spid="31" grpId="0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28975" y="2682620"/>
            <a:ext cx="11830050" cy="6527007"/>
          </a:xfrm>
        </p:spPr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00" y="4755189"/>
            <a:ext cx="2403663" cy="238835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23526" y="4776960"/>
            <a:ext cx="3051110" cy="22751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Machine</a:t>
            </a:r>
            <a:endParaRPr lang="zh-TW" altLang="en-US" sz="4200" dirty="0"/>
          </a:p>
        </p:txBody>
      </p:sp>
      <p:sp>
        <p:nvSpPr>
          <p:cNvPr id="8" name="向右箭號 7"/>
          <p:cNvSpPr/>
          <p:nvPr/>
        </p:nvSpPr>
        <p:spPr>
          <a:xfrm>
            <a:off x="6929723" y="5295666"/>
            <a:ext cx="1072032" cy="12713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右箭號 8"/>
          <p:cNvSpPr/>
          <p:nvPr/>
        </p:nvSpPr>
        <p:spPr>
          <a:xfrm>
            <a:off x="11213637" y="5310465"/>
            <a:ext cx="1072032" cy="12713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12285671" y="5507543"/>
            <a:ext cx="108198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“2”</a:t>
            </a:r>
            <a:endParaRPr lang="zh-TW" altLang="en-US" sz="4800" dirty="0"/>
          </a:p>
        </p:txBody>
      </p:sp>
      <p:grpSp>
        <p:nvGrpSpPr>
          <p:cNvPr id="6" name="群組 5"/>
          <p:cNvGrpSpPr/>
          <p:nvPr/>
        </p:nvGrpSpPr>
        <p:grpSpPr>
          <a:xfrm>
            <a:off x="5979171" y="3807924"/>
            <a:ext cx="877042" cy="3937578"/>
            <a:chOff x="2462115" y="2538616"/>
            <a:chExt cx="584695" cy="2625052"/>
          </a:xfrm>
        </p:grpSpPr>
        <p:sp>
          <p:nvSpPr>
            <p:cNvPr id="12" name="矩形 11"/>
            <p:cNvSpPr/>
            <p:nvPr/>
          </p:nvSpPr>
          <p:spPr>
            <a:xfrm>
              <a:off x="2462115" y="253861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30503" y="325630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36321" y="268598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2549020" y="259073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657600" imgH="5181600" progId="Equation.3">
                    <p:embed/>
                  </p:oleObj>
                </mc:Choice>
                <mc:Fallback>
                  <p:oleObj name="方程式" r:id="rId4" imgW="3657600" imgH="5181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020" y="259073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2554316" y="317345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3962400" imgH="5181600" progId="Equation.3">
                    <p:embed/>
                  </p:oleObj>
                </mc:Choice>
                <mc:Fallback>
                  <p:oleObj name="方程式" r:id="rId6" imgW="3962400" imgH="5181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316" y="317345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/>
            <p:nvPr/>
          </p:nvSpPr>
          <p:spPr>
            <a:xfrm>
              <a:off x="2540028" y="465406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8" name="Object 12"/>
            <p:cNvGraphicFramePr>
              <a:graphicFrameLocks noChangeAspect="1"/>
            </p:cNvGraphicFramePr>
            <p:nvPr/>
          </p:nvGraphicFramePr>
          <p:xfrm>
            <a:off x="2468105" y="4557299"/>
            <a:ext cx="544512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6096000" imgH="5486400" progId="Equation.3">
                    <p:embed/>
                  </p:oleObj>
                </mc:Choice>
                <mc:Fallback>
                  <p:oleObj name="方程式" r:id="rId8" imgW="6096000" imgH="54864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8105" y="4557299"/>
                          <a:ext cx="544512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字方塊 18"/>
            <p:cNvSpPr txBox="1"/>
            <p:nvPr/>
          </p:nvSpPr>
          <p:spPr>
            <a:xfrm rot="5400000">
              <a:off x="2415960" y="4154008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3176145" y="3793242"/>
            <a:ext cx="963528" cy="3964316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720942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</a:t>
              </a:r>
              <a:endParaRPr lang="zh-TW" altLang="en-US" sz="4200" baseline="-250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2</a:t>
              </a:r>
              <a:endParaRPr lang="zh-TW" altLang="en-US" sz="4200" baseline="-250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10</a:t>
              </a:r>
              <a:endParaRPr lang="zh-TW" altLang="en-US" sz="4200" baseline="-25000" dirty="0"/>
            </a:p>
          </p:txBody>
        </p:sp>
      </p:grpSp>
      <p:sp>
        <p:nvSpPr>
          <p:cNvPr id="26" name="文字方塊 25"/>
          <p:cNvSpPr txBox="1"/>
          <p:nvPr/>
        </p:nvSpPr>
        <p:spPr>
          <a:xfrm>
            <a:off x="14182943" y="3899376"/>
            <a:ext cx="1292450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1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4193906" y="5071299"/>
            <a:ext cx="1270520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2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4193906" y="6982252"/>
            <a:ext cx="1252149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0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14392949" y="6378948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807361" y="7230269"/>
            <a:ext cx="6283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What is needed is a function ……</a:t>
            </a:r>
            <a:endParaRPr lang="zh-TW" altLang="en-US" sz="28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387039" y="7801807"/>
            <a:ext cx="3779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Input: </a:t>
            </a:r>
          </a:p>
          <a:p>
            <a:pPr algn="ctr"/>
            <a:r>
              <a:rPr lang="en-US" altLang="zh-TW" sz="3600" dirty="0"/>
              <a:t>256-dim vector</a:t>
            </a:r>
            <a:endParaRPr lang="zh-TW" altLang="en-US" sz="36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1851228" y="7888073"/>
            <a:ext cx="3230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Output: </a:t>
            </a:r>
          </a:p>
          <a:p>
            <a:pPr algn="ctr"/>
            <a:r>
              <a:rPr lang="en-US" altLang="zh-TW" sz="3600" dirty="0"/>
              <a:t>10-dim vector</a:t>
            </a:r>
            <a:endParaRPr lang="zh-TW" altLang="en-US" sz="3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8397648" y="5295666"/>
            <a:ext cx="2413623" cy="1383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Neural</a:t>
            </a:r>
          </a:p>
          <a:p>
            <a:pPr algn="ctr"/>
            <a:r>
              <a:rPr lang="en-US" altLang="zh-TW" sz="4200" dirty="0"/>
              <a:t>Network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 bldLvl="0" animBg="1"/>
      <p:bldP spid="28" grpId="0" bldLvl="0" animBg="1"/>
      <p:bldP spid="30" grpId="0"/>
      <p:bldP spid="11" grpId="0"/>
      <p:bldP spid="31" grpId="0"/>
      <p:bldP spid="33" grpId="0"/>
      <p:bldP spid="3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圖片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93" y="4321002"/>
            <a:ext cx="2403663" cy="2388353"/>
          </a:xfrm>
          <a:prstGeom prst="rect">
            <a:avLst/>
          </a:prstGeom>
        </p:spPr>
      </p:pic>
      <p:sp>
        <p:nvSpPr>
          <p:cNvPr id="64" name="文字方塊 63"/>
          <p:cNvSpPr txBox="1"/>
          <p:nvPr/>
        </p:nvSpPr>
        <p:spPr>
          <a:xfrm>
            <a:off x="11041755" y="7236748"/>
            <a:ext cx="174878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Output Layer</a:t>
            </a:r>
            <a:endParaRPr lang="zh-TW" altLang="en-US" sz="3600" b="1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6611874" y="7758119"/>
            <a:ext cx="30999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Hidden Layers</a:t>
            </a:r>
            <a:endParaRPr lang="zh-TW" altLang="en-US" sz="3600" b="1" dirty="0"/>
          </a:p>
        </p:txBody>
      </p:sp>
      <p:sp>
        <p:nvSpPr>
          <p:cNvPr id="66" name="右大括弧 65"/>
          <p:cNvSpPr/>
          <p:nvPr/>
        </p:nvSpPr>
        <p:spPr>
          <a:xfrm rot="5400000">
            <a:off x="8053254" y="5287211"/>
            <a:ext cx="272592" cy="4408935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矩形 58"/>
          <p:cNvSpPr/>
          <p:nvPr/>
        </p:nvSpPr>
        <p:spPr>
          <a:xfrm>
            <a:off x="4268193" y="3378770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0" name="文字方塊 59"/>
          <p:cNvSpPr txBox="1"/>
          <p:nvPr/>
        </p:nvSpPr>
        <p:spPr>
          <a:xfrm>
            <a:off x="3776965" y="7244217"/>
            <a:ext cx="1583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Input Layer</a:t>
            </a:r>
            <a:endParaRPr lang="zh-TW" altLang="en-US" sz="3600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776964" y="2656094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2993027" y="2656094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11936604" y="4909938"/>
            <a:ext cx="15278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12100578" y="6778773"/>
            <a:ext cx="13586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1900778" y="3741734"/>
            <a:ext cx="15755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370775" y="445530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矩形 14"/>
          <p:cNvSpPr/>
          <p:nvPr/>
        </p:nvSpPr>
        <p:spPr>
          <a:xfrm>
            <a:off x="4379502" y="3599816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4398551" y="3456941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3657600" imgH="5181600" progId="Equation.3">
                  <p:embed/>
                </p:oleObj>
              </mc:Choice>
              <mc:Fallback>
                <p:oleObj name="方程式" r:id="rId4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551" y="3456941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4406495" y="4331034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3962400" imgH="5181600" progId="Equation.3">
                  <p:embed/>
                </p:oleObj>
              </mc:Choice>
              <mc:Fallback>
                <p:oleObj name="方程式" r:id="rId6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495" y="4331034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群組 77"/>
          <p:cNvGrpSpPr/>
          <p:nvPr/>
        </p:nvGrpSpPr>
        <p:grpSpPr>
          <a:xfrm>
            <a:off x="5784206" y="2656094"/>
            <a:ext cx="1701972" cy="4695017"/>
            <a:chOff x="2332137" y="1770729"/>
            <a:chExt cx="1134648" cy="3130011"/>
          </a:xfrm>
        </p:grpSpPr>
        <p:sp>
          <p:nvSpPr>
            <p:cNvPr id="61" name="矩形 60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2332137" y="1770729"/>
              <a:ext cx="1134648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Layer 1</a:t>
              </a:r>
              <a:endParaRPr lang="zh-TW" altLang="en-US" sz="3600" dirty="0"/>
            </a:p>
          </p:txBody>
        </p:sp>
        <p:sp>
          <p:nvSpPr>
            <p:cNvPr id="18" name="橢圓 17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9" name="橢圓 18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0" name="橢圓 19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2589637" y="3664749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4385063" y="655194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4381500" y="6407945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4572000" imgH="5486400" progId="Equation.3">
                  <p:embed/>
                </p:oleObj>
              </mc:Choice>
              <mc:Fallback>
                <p:oleObj name="方程式" r:id="rId8" imgW="4572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6407945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字方塊 23"/>
          <p:cNvSpPr txBox="1"/>
          <p:nvPr/>
        </p:nvSpPr>
        <p:spPr>
          <a:xfrm rot="5400000">
            <a:off x="4198961" y="5801857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grpSp>
        <p:nvGrpSpPr>
          <p:cNvPr id="79" name="群組 78"/>
          <p:cNvGrpSpPr/>
          <p:nvPr/>
        </p:nvGrpSpPr>
        <p:grpSpPr>
          <a:xfrm>
            <a:off x="7771553" y="2656094"/>
            <a:ext cx="1701972" cy="4670496"/>
            <a:chOff x="3657035" y="1770729"/>
            <a:chExt cx="1134648" cy="3113664"/>
          </a:xfrm>
        </p:grpSpPr>
        <p:sp>
          <p:nvSpPr>
            <p:cNvPr id="62" name="矩形 61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3657035" y="1770729"/>
              <a:ext cx="1134648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Layer 2</a:t>
              </a:r>
              <a:endParaRPr lang="zh-TW" altLang="en-US" sz="3600" dirty="0"/>
            </a:p>
          </p:txBody>
        </p:sp>
        <p:sp>
          <p:nvSpPr>
            <p:cNvPr id="25" name="橢圓 24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6" name="橢圓 25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橢圓 26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8" name="文字方塊 27"/>
            <p:cNvSpPr txBox="1"/>
            <p:nvPr/>
          </p:nvSpPr>
          <p:spPr>
            <a:xfrm rot="5400000">
              <a:off x="3905199" y="3664749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11088572" y="2656094"/>
            <a:ext cx="1701972" cy="4695017"/>
            <a:chOff x="5868381" y="1770729"/>
            <a:chExt cx="1134648" cy="3130011"/>
          </a:xfrm>
        </p:grpSpPr>
        <p:sp>
          <p:nvSpPr>
            <p:cNvPr id="63" name="矩形 62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868381" y="1770729"/>
              <a:ext cx="1134648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Layer L</a:t>
              </a:r>
              <a:endParaRPr lang="zh-TW" altLang="en-US" sz="3600" dirty="0"/>
            </a:p>
          </p:txBody>
        </p:sp>
        <p:sp>
          <p:nvSpPr>
            <p:cNvPr id="29" name="橢圓 28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1" name="橢圓 30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2" name="文字方塊 31"/>
            <p:cNvSpPr txBox="1"/>
            <p:nvPr/>
          </p:nvSpPr>
          <p:spPr>
            <a:xfrm rot="5400000">
              <a:off x="6129396" y="3642478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</p:grpSp>
      <p:sp>
        <p:nvSpPr>
          <p:cNvPr id="33" name="文字方塊 32"/>
          <p:cNvSpPr txBox="1"/>
          <p:nvPr/>
        </p:nvSpPr>
        <p:spPr>
          <a:xfrm>
            <a:off x="9186185" y="3287793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9196608" y="4429274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9240132" y="6252276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grpSp>
        <p:nvGrpSpPr>
          <p:cNvPr id="81" name="群組 80"/>
          <p:cNvGrpSpPr/>
          <p:nvPr/>
        </p:nvGrpSpPr>
        <p:grpSpPr>
          <a:xfrm>
            <a:off x="7035813" y="3784430"/>
            <a:ext cx="1129556" cy="3020582"/>
            <a:chOff x="3166542" y="2522953"/>
            <a:chExt cx="753037" cy="2013721"/>
          </a:xfrm>
        </p:grpSpPr>
        <p:cxnSp>
          <p:nvCxnSpPr>
            <p:cNvPr id="36" name="直線單箭頭接點 35"/>
            <p:cNvCxnSpPr>
              <a:stCxn id="18" idx="6"/>
              <a:endCxn id="25" idx="2"/>
            </p:cNvCxnSpPr>
            <p:nvPr/>
          </p:nvCxnSpPr>
          <p:spPr>
            <a:xfrm>
              <a:off x="3175833" y="2522953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3175833" y="33147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>
              <a:off x="3166542" y="453667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9" idx="6"/>
              <a:endCxn id="25" idx="2"/>
            </p:cNvCxnSpPr>
            <p:nvPr/>
          </p:nvCxnSpPr>
          <p:spPr>
            <a:xfrm flipV="1">
              <a:off x="3178175" y="2522953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18" idx="6"/>
              <a:endCxn id="26" idx="2"/>
            </p:cNvCxnSpPr>
            <p:nvPr/>
          </p:nvCxnSpPr>
          <p:spPr>
            <a:xfrm>
              <a:off x="3175833" y="2522953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8" idx="6"/>
              <a:endCxn id="27" idx="2"/>
            </p:cNvCxnSpPr>
            <p:nvPr/>
          </p:nvCxnSpPr>
          <p:spPr>
            <a:xfrm>
              <a:off x="3175833" y="2522953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>
              <a:stCxn id="19" idx="6"/>
              <a:endCxn id="27" idx="2"/>
            </p:cNvCxnSpPr>
            <p:nvPr/>
          </p:nvCxnSpPr>
          <p:spPr>
            <a:xfrm>
              <a:off x="3178175" y="3301523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0" idx="6"/>
              <a:endCxn id="25" idx="2"/>
            </p:cNvCxnSpPr>
            <p:nvPr/>
          </p:nvCxnSpPr>
          <p:spPr>
            <a:xfrm flipV="1">
              <a:off x="3166542" y="2522953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20" idx="6"/>
              <a:endCxn id="26" idx="2"/>
            </p:cNvCxnSpPr>
            <p:nvPr/>
          </p:nvCxnSpPr>
          <p:spPr>
            <a:xfrm flipV="1">
              <a:off x="3166542" y="3301523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單箭頭接點 44"/>
          <p:cNvCxnSpPr>
            <a:endCxn id="18" idx="2"/>
          </p:cNvCxnSpPr>
          <p:nvPr/>
        </p:nvCxnSpPr>
        <p:spPr>
          <a:xfrm flipV="1">
            <a:off x="4899413" y="3784430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5" idx="3"/>
            <a:endCxn id="19" idx="2"/>
          </p:cNvCxnSpPr>
          <p:nvPr/>
        </p:nvCxnSpPr>
        <p:spPr>
          <a:xfrm>
            <a:off x="4893852" y="3856991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5" idx="3"/>
            <a:endCxn id="20" idx="2"/>
          </p:cNvCxnSpPr>
          <p:nvPr/>
        </p:nvCxnSpPr>
        <p:spPr>
          <a:xfrm>
            <a:off x="4893852" y="3856991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7" idx="3"/>
            <a:endCxn id="18" idx="2"/>
          </p:cNvCxnSpPr>
          <p:nvPr/>
        </p:nvCxnSpPr>
        <p:spPr>
          <a:xfrm flipV="1">
            <a:off x="4935132" y="3784430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4" idx="3"/>
            <a:endCxn id="19" idx="2"/>
          </p:cNvCxnSpPr>
          <p:nvPr/>
        </p:nvCxnSpPr>
        <p:spPr>
          <a:xfrm>
            <a:off x="4885125" y="4712484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4" idx="3"/>
            <a:endCxn id="20" idx="2"/>
          </p:cNvCxnSpPr>
          <p:nvPr/>
        </p:nvCxnSpPr>
        <p:spPr>
          <a:xfrm>
            <a:off x="4885125" y="4712484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3" idx="3"/>
            <a:endCxn id="18" idx="2"/>
          </p:cNvCxnSpPr>
          <p:nvPr/>
        </p:nvCxnSpPr>
        <p:spPr>
          <a:xfrm flipV="1">
            <a:off x="4992371" y="3784430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3" idx="3"/>
            <a:endCxn id="19" idx="2"/>
          </p:cNvCxnSpPr>
          <p:nvPr/>
        </p:nvCxnSpPr>
        <p:spPr>
          <a:xfrm flipV="1">
            <a:off x="4952817" y="4952285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23" idx="3"/>
            <a:endCxn id="20" idx="2"/>
          </p:cNvCxnSpPr>
          <p:nvPr/>
        </p:nvCxnSpPr>
        <p:spPr>
          <a:xfrm>
            <a:off x="4952817" y="6774194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10321641" y="3773721"/>
            <a:ext cx="1129556" cy="3020582"/>
            <a:chOff x="5357094" y="2515814"/>
            <a:chExt cx="753037" cy="2013721"/>
          </a:xfrm>
        </p:grpSpPr>
        <p:cxnSp>
          <p:nvCxnSpPr>
            <p:cNvPr id="67" name="直線單箭頭接點 6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5681418" y="2656094"/>
            <a:ext cx="7311608" cy="58271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4" name="文字方塊 83"/>
          <p:cNvSpPr txBox="1"/>
          <p:nvPr/>
        </p:nvSpPr>
        <p:spPr>
          <a:xfrm>
            <a:off x="13295956" y="5110746"/>
            <a:ext cx="108198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“2”</a:t>
            </a:r>
            <a:endParaRPr lang="zh-TW" altLang="en-US" sz="4800" dirty="0"/>
          </a:p>
        </p:txBody>
      </p:sp>
      <p:grpSp>
        <p:nvGrpSpPr>
          <p:cNvPr id="85" name="群組 84"/>
          <p:cNvGrpSpPr/>
          <p:nvPr/>
        </p:nvGrpSpPr>
        <p:grpSpPr>
          <a:xfrm>
            <a:off x="13464509" y="3355241"/>
            <a:ext cx="979808" cy="3961107"/>
            <a:chOff x="7131213" y="1987121"/>
            <a:chExt cx="653205" cy="2640738"/>
          </a:xfrm>
        </p:grpSpPr>
        <p:sp>
          <p:nvSpPr>
            <p:cNvPr id="86" name="矩形 85"/>
            <p:cNvSpPr/>
            <p:nvPr/>
          </p:nvSpPr>
          <p:spPr>
            <a:xfrm>
              <a:off x="7131213" y="2002807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7" name="文字方塊 86"/>
            <p:cNvSpPr txBox="1"/>
            <p:nvPr/>
          </p:nvSpPr>
          <p:spPr>
            <a:xfrm rot="5400000">
              <a:off x="7084256" y="3720942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7153349" y="1987121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</a:t>
              </a:r>
              <a:endParaRPr lang="zh-TW" altLang="en-US" sz="4200" baseline="-25000" dirty="0"/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7142066" y="2785341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2</a:t>
              </a:r>
              <a:endParaRPr lang="zh-TW" altLang="en-US" sz="4200" baseline="-25000" dirty="0"/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7142066" y="4051573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10</a:t>
              </a:r>
              <a:endParaRPr lang="zh-TW" altLang="en-US" sz="4200" baseline="-25000" dirty="0"/>
            </a:p>
          </p:txBody>
        </p:sp>
      </p:grpSp>
      <p:sp>
        <p:nvSpPr>
          <p:cNvPr id="91" name="文字方塊 90"/>
          <p:cNvSpPr txBox="1"/>
          <p:nvPr/>
        </p:nvSpPr>
        <p:spPr>
          <a:xfrm>
            <a:off x="14487580" y="3461375"/>
            <a:ext cx="1292450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1</a:t>
            </a:r>
            <a:endParaRPr lang="zh-TW" altLang="en-US" sz="3600" dirty="0"/>
          </a:p>
        </p:txBody>
      </p:sp>
      <p:sp>
        <p:nvSpPr>
          <p:cNvPr id="92" name="文字方塊 91"/>
          <p:cNvSpPr txBox="1"/>
          <p:nvPr/>
        </p:nvSpPr>
        <p:spPr>
          <a:xfrm>
            <a:off x="14498544" y="4633298"/>
            <a:ext cx="1270520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2</a:t>
            </a:r>
            <a:endParaRPr lang="zh-TW" altLang="en-US" sz="3600" dirty="0"/>
          </a:p>
        </p:txBody>
      </p:sp>
      <p:sp>
        <p:nvSpPr>
          <p:cNvPr id="93" name="文字方塊 92"/>
          <p:cNvSpPr txBox="1"/>
          <p:nvPr/>
        </p:nvSpPr>
        <p:spPr>
          <a:xfrm>
            <a:off x="14498544" y="6544251"/>
            <a:ext cx="1252149" cy="6451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 0</a:t>
            </a:r>
            <a:endParaRPr lang="zh-TW" altLang="en-US" sz="3600" dirty="0"/>
          </a:p>
        </p:txBody>
      </p:sp>
      <p:sp>
        <p:nvSpPr>
          <p:cNvPr id="94" name="文字方塊 93"/>
          <p:cNvSpPr txBox="1"/>
          <p:nvPr/>
        </p:nvSpPr>
        <p:spPr>
          <a:xfrm rot="5400000">
            <a:off x="14694998" y="5647499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5911911" y="4463895"/>
            <a:ext cx="6912927" cy="26765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A function set containing the candidates for </a:t>
            </a:r>
          </a:p>
          <a:p>
            <a:pPr algn="ctr"/>
            <a:r>
              <a:rPr lang="en-US" altLang="zh-TW" sz="4200" dirty="0"/>
              <a:t>Handwriting Digit Recognition</a:t>
            </a:r>
            <a:endParaRPr lang="zh-TW" altLang="en-US" sz="42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518514" y="9004696"/>
            <a:ext cx="13841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You need to decide the network structure to let a good function in your function set.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1" grpId="0" bldLvl="0" animBg="1"/>
      <p:bldP spid="92" grpId="0" bldLvl="0" animBg="1"/>
      <p:bldP spid="93" grpId="0" bldLvl="0" animBg="1"/>
      <p:bldP spid="94" grpId="0"/>
      <p:bldP spid="83" grpId="0" bldLvl="0" animBg="1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FAQ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Q: How many layers? How many neurons for each layer?</a:t>
            </a:r>
            <a:endParaRPr lang="zh-TW" altLang="en-US" dirty="0"/>
          </a:p>
          <a:p>
            <a:endParaRPr lang="en-US" altLang="zh-TW" dirty="0"/>
          </a:p>
          <a:p>
            <a:r>
              <a:rPr lang="en-US" altLang="zh-TW" dirty="0"/>
              <a:t>Q: Can the structure be automatically determined?</a:t>
            </a:r>
          </a:p>
          <a:p>
            <a:pPr lvl="1"/>
            <a:r>
              <a:rPr lang="en-US" altLang="zh-TW" dirty="0"/>
              <a:t>E.g. Evolutionary Artificial Neural Networks</a:t>
            </a:r>
          </a:p>
          <a:p>
            <a:r>
              <a:rPr lang="en-US" altLang="zh-TW" dirty="0"/>
              <a:t>Q: Can we design the network structure?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092" y="334055"/>
            <a:ext cx="6682934" cy="3650117"/>
          </a:xfrm>
          <a:prstGeom prst="rect">
            <a:avLst/>
          </a:prstGeom>
        </p:spPr>
      </p:pic>
      <p:grpSp>
        <p:nvGrpSpPr>
          <p:cNvPr id="5" name="群組 4"/>
          <p:cNvGrpSpPr/>
          <p:nvPr/>
        </p:nvGrpSpPr>
        <p:grpSpPr>
          <a:xfrm>
            <a:off x="5759751" y="5252204"/>
            <a:ext cx="8597297" cy="789226"/>
            <a:chOff x="1729539" y="2853872"/>
            <a:chExt cx="5731531" cy="526151"/>
          </a:xfrm>
        </p:grpSpPr>
        <p:sp>
          <p:nvSpPr>
            <p:cNvPr id="7" name="文字方塊 6"/>
            <p:cNvSpPr txBox="1"/>
            <p:nvPr/>
          </p:nvSpPr>
          <p:spPr>
            <a:xfrm>
              <a:off x="1729539" y="2888533"/>
              <a:ext cx="2446855" cy="49149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chemeClr val="bg2"/>
                  </a:solidFill>
                </a:rPr>
                <a:t>Trial and Error</a:t>
              </a: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5014215" y="2882998"/>
              <a:ext cx="2446855" cy="49149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Intuition</a:t>
              </a:r>
              <a:endParaRPr lang="zh-TW" altLang="en-US" sz="4200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4244315" y="2853872"/>
              <a:ext cx="68870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+</a:t>
              </a:r>
              <a:endParaRPr lang="zh-TW" altLang="en-US" sz="4200" dirty="0"/>
            </a:p>
          </p:txBody>
        </p:sp>
      </p:grpSp>
      <p:sp>
        <p:nvSpPr>
          <p:cNvPr id="10" name="文字方塊 9"/>
          <p:cNvSpPr txBox="1"/>
          <p:nvPr/>
        </p:nvSpPr>
        <p:spPr>
          <a:xfrm>
            <a:off x="3408045" y="9126314"/>
            <a:ext cx="10513181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Convolutional Neural Network (CNN)</a:t>
            </a:r>
            <a:endParaRPr lang="zh-TW" altLang="en-US" sz="4200" dirty="0"/>
          </a:p>
        </p:txBody>
      </p:sp>
      <p:sp>
        <p:nvSpPr>
          <p:cNvPr id="4" name="Text Box 3"/>
          <p:cNvSpPr txBox="1"/>
          <p:nvPr/>
        </p:nvSpPr>
        <p:spPr>
          <a:xfrm>
            <a:off x="1659255" y="848360"/>
            <a:ext cx="1748790" cy="10147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FAQ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016D11B0-DBCB-46D5-97BC-900E66B44A26}"/>
</file>

<file path=customXml/itemProps2.xml><?xml version="1.0" encoding="utf-8"?>
<ds:datastoreItem xmlns:ds="http://schemas.openxmlformats.org/officeDocument/2006/customXml" ds:itemID="{657D2C54-C32E-4BB1-B2D8-5CF09A1A43BE}"/>
</file>

<file path=customXml/itemProps3.xml><?xml version="1.0" encoding="utf-8"?>
<ds:datastoreItem xmlns:ds="http://schemas.openxmlformats.org/officeDocument/2006/customXml" ds:itemID="{8575D1D0-4448-403D-B2BB-30468C15B126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448</Words>
  <Application>Microsoft Macintosh PowerPoint</Application>
  <PresentationFormat>Custom</PresentationFormat>
  <Paragraphs>232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Wingdings 2</vt:lpstr>
      <vt:lpstr>Breeze</vt:lpstr>
      <vt:lpstr>方程式</vt:lpstr>
      <vt:lpstr>Neural Network</vt:lpstr>
      <vt:lpstr>PowerPoint Presentation</vt:lpstr>
      <vt:lpstr>PowerPoint Presentation</vt:lpstr>
      <vt:lpstr>Matrix Operation</vt:lpstr>
      <vt:lpstr>Neural Network </vt:lpstr>
      <vt:lpstr>Neural Network </vt:lpstr>
      <vt:lpstr>Output Layer as Multi-Class Classifier</vt:lpstr>
      <vt:lpstr>Example Application</vt:lpstr>
      <vt:lpstr>Example Application</vt:lpstr>
      <vt:lpstr>Example Application</vt:lpstr>
      <vt:lpstr>FAQ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47</cp:revision>
  <dcterms:created xsi:type="dcterms:W3CDTF">2024-02-23T22:11:03Z</dcterms:created>
  <dcterms:modified xsi:type="dcterms:W3CDTF">2024-03-27T20:45:17Z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80571152E56347599AA16EC9CFB2CDE3_12</vt:lpwstr>
  </property>
  <property fmtid="{D5CDD505-2E9C-101B-9397-08002B2CF9AE}" pid="5" name="KSOProductBuildVer">
    <vt:lpwstr>1033-5.6.0.8082</vt:lpwstr>
  </property>
</Properties>
</file>