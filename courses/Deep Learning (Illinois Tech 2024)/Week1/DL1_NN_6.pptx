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9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gs/tag1.xml" ContentType="application/vnd.openxmlformats-officedocument.presentationml.tag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5"/>
  </p:notesMasterIdLst>
  <p:sldIdLst>
    <p:sldId id="266" r:id="rId2"/>
    <p:sldId id="310" r:id="rId3"/>
    <p:sldId id="311" r:id="rId4"/>
    <p:sldId id="312" r:id="rId5"/>
    <p:sldId id="313" r:id="rId6"/>
    <p:sldId id="314" r:id="rId7"/>
    <p:sldId id="315" r:id="rId8"/>
    <p:sldId id="316" r:id="rId9"/>
    <p:sldId id="317" r:id="rId10"/>
    <p:sldId id="318" r:id="rId11"/>
    <p:sldId id="319" r:id="rId12"/>
    <p:sldId id="320" r:id="rId13"/>
    <p:sldId id="321" r:id="rId14"/>
  </p:sldIdLst>
  <p:sldSz cx="18288000" cy="10287000"/>
  <p:notesSz cx="6858000" cy="9144000"/>
  <p:custDataLst>
    <p:tags r:id="rId16"/>
  </p:custDataLst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17">
          <p15:clr>
            <a:srgbClr val="A4A3A4"/>
          </p15:clr>
        </p15:guide>
        <p15:guide id="2" pos="579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7"/>
    <p:restoredTop sz="93786"/>
  </p:normalViewPr>
  <p:slideViewPr>
    <p:cSldViewPr snapToGrid="0" snapToObjects="1" showGuides="1">
      <p:cViewPr varScale="1">
        <p:scale>
          <a:sx n="75" d="100"/>
          <a:sy n="75" d="100"/>
        </p:scale>
        <p:origin x="624" y="160"/>
      </p:cViewPr>
      <p:guideLst>
        <p:guide orient="horz" pos="3217"/>
        <p:guide pos="579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2024/3/27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How to explain this chain rule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10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27177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915900" y="9534527"/>
            <a:ext cx="4114800" cy="547688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547689"/>
            <a:ext cx="15773400" cy="198834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259684" y="2521745"/>
            <a:ext cx="7736680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259684" y="3757613"/>
            <a:ext cx="7736680" cy="552688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257300" y="9534527"/>
            <a:ext cx="4114800" cy="547688"/>
          </a:xfrm>
        </p:spPr>
        <p:txBody>
          <a:bodyPr/>
          <a:lstStyle/>
          <a:p>
            <a:fld id="{8D7014B5-A822-4760-9C92-A4C0DDBD790A}" type="datetimeFigureOut">
              <a:rPr lang="zh-TW" altLang="en-US" smtClean="0"/>
              <a:t>2024/3/27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057900" y="9534527"/>
            <a:ext cx="6172200" cy="547688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2915900" y="9534527"/>
            <a:ext cx="4114800" cy="547688"/>
          </a:xfrm>
        </p:spPr>
        <p:txBody>
          <a:bodyPr/>
          <a:lstStyle/>
          <a:p>
            <a:fld id="{DDFD11CF-6FB2-4FCE-A971-5E1D4AF62D71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7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MS PGothic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2" charset="2"/>
        <a:buChar char=""/>
        <a:defRPr sz="4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anose="05020102010507070707" pitchFamily="2" charset="2"/>
        <a:buChar char=""/>
        <a:defRPr sz="4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anose="05020102010507070707" pitchFamily="2" charset="2"/>
        <a:buChar char=""/>
        <a:defRPr sz="4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anose="05020102010507070707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anose="05020102010507070707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5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anose="05020102010507070707" pitchFamily="2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56.png"/><Relationship Id="rId3" Type="http://schemas.openxmlformats.org/officeDocument/2006/relationships/oleObject" Target="../embeddings/oleObject1.bin"/><Relationship Id="rId7" Type="http://schemas.openxmlformats.org/officeDocument/2006/relationships/image" Target="../media/image40.png"/><Relationship Id="rId12" Type="http://schemas.openxmlformats.org/officeDocument/2006/relationships/image" Target="../media/image55.png"/><Relationship Id="rId17" Type="http://schemas.openxmlformats.org/officeDocument/2006/relationships/image" Target="../media/image60.png"/><Relationship Id="rId2" Type="http://schemas.openxmlformats.org/officeDocument/2006/relationships/image" Target="../media/image52.png"/><Relationship Id="rId16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54.png"/><Relationship Id="rId5" Type="http://schemas.openxmlformats.org/officeDocument/2006/relationships/image" Target="../media/image36.png"/><Relationship Id="rId15" Type="http://schemas.openxmlformats.org/officeDocument/2006/relationships/image" Target="../media/image5.png"/><Relationship Id="rId10" Type="http://schemas.openxmlformats.org/officeDocument/2006/relationships/image" Target="../media/image53.png"/><Relationship Id="rId4" Type="http://schemas.openxmlformats.org/officeDocument/2006/relationships/image" Target="../media/image4.wmf"/><Relationship Id="rId9" Type="http://schemas.openxmlformats.org/officeDocument/2006/relationships/image" Target="../media/image29.png"/><Relationship Id="rId14" Type="http://schemas.openxmlformats.org/officeDocument/2006/relationships/image" Target="../media/image5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62.png"/><Relationship Id="rId18" Type="http://schemas.openxmlformats.org/officeDocument/2006/relationships/image" Target="../media/image54.png"/><Relationship Id="rId3" Type="http://schemas.openxmlformats.org/officeDocument/2006/relationships/image" Target="../media/image52.png"/><Relationship Id="rId21" Type="http://schemas.openxmlformats.org/officeDocument/2006/relationships/image" Target="../media/image65.png"/><Relationship Id="rId7" Type="http://schemas.openxmlformats.org/officeDocument/2006/relationships/image" Target="../media/image37.png"/><Relationship Id="rId12" Type="http://schemas.openxmlformats.org/officeDocument/2006/relationships/image" Target="../media/image61.png"/><Relationship Id="rId17" Type="http://schemas.openxmlformats.org/officeDocument/2006/relationships/image" Target="../media/image64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63.png"/><Relationship Id="rId20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oleObject" Target="../embeddings/oleObject3.bin"/><Relationship Id="rId5" Type="http://schemas.openxmlformats.org/officeDocument/2006/relationships/image" Target="../media/image4.wmf"/><Relationship Id="rId15" Type="http://schemas.openxmlformats.org/officeDocument/2006/relationships/oleObject" Target="../embeddings/oleObject4.bin"/><Relationship Id="rId10" Type="http://schemas.openxmlformats.org/officeDocument/2006/relationships/image" Target="../media/image29.png"/><Relationship Id="rId19" Type="http://schemas.openxmlformats.org/officeDocument/2006/relationships/image" Target="../media/image55.png"/><Relationship Id="rId4" Type="http://schemas.openxmlformats.org/officeDocument/2006/relationships/oleObject" Target="../embeddings/oleObject2.bin"/><Relationship Id="rId9" Type="http://schemas.openxmlformats.org/officeDocument/2006/relationships/image" Target="../media/image28.png"/><Relationship Id="rId14" Type="http://schemas.openxmlformats.org/officeDocument/2006/relationships/image" Target="../media/image53.png"/><Relationship Id="rId22" Type="http://schemas.openxmlformats.org/officeDocument/2006/relationships/image" Target="../media/image6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53.png"/><Relationship Id="rId18" Type="http://schemas.openxmlformats.org/officeDocument/2006/relationships/image" Target="../media/image67.png"/><Relationship Id="rId3" Type="http://schemas.openxmlformats.org/officeDocument/2006/relationships/oleObject" Target="../embeddings/oleObject5.bin"/><Relationship Id="rId21" Type="http://schemas.openxmlformats.org/officeDocument/2006/relationships/image" Target="../media/image52.png"/><Relationship Id="rId7" Type="http://schemas.openxmlformats.org/officeDocument/2006/relationships/image" Target="../media/image40.png"/><Relationship Id="rId12" Type="http://schemas.openxmlformats.org/officeDocument/2006/relationships/image" Target="../media/image62.png"/><Relationship Id="rId17" Type="http://schemas.openxmlformats.org/officeDocument/2006/relationships/image" Target="../media/image54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64.png"/><Relationship Id="rId20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61.png"/><Relationship Id="rId5" Type="http://schemas.openxmlformats.org/officeDocument/2006/relationships/image" Target="../media/image36.png"/><Relationship Id="rId15" Type="http://schemas.openxmlformats.org/officeDocument/2006/relationships/image" Target="../media/image63.png"/><Relationship Id="rId10" Type="http://schemas.openxmlformats.org/officeDocument/2006/relationships/oleObject" Target="../embeddings/oleObject6.bin"/><Relationship Id="rId19" Type="http://schemas.openxmlformats.org/officeDocument/2006/relationships/image" Target="../media/image68.png"/><Relationship Id="rId4" Type="http://schemas.openxmlformats.org/officeDocument/2006/relationships/image" Target="../media/image4.wmf"/><Relationship Id="rId9" Type="http://schemas.openxmlformats.org/officeDocument/2006/relationships/image" Target="../media/image29.png"/><Relationship Id="rId14" Type="http://schemas.openxmlformats.org/officeDocument/2006/relationships/oleObject" Target="../embeddings/oleObject7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2.png"/><Relationship Id="rId18" Type="http://schemas.openxmlformats.org/officeDocument/2006/relationships/image" Target="../media/image16.png"/><Relationship Id="rId3" Type="http://schemas.openxmlformats.org/officeDocument/2006/relationships/oleObject" Target="../embeddings/oleObject8.bin"/><Relationship Id="rId21" Type="http://schemas.openxmlformats.org/officeDocument/2006/relationships/image" Target="../media/image19.png"/><Relationship Id="rId7" Type="http://schemas.openxmlformats.org/officeDocument/2006/relationships/image" Target="../media/image7.png"/><Relationship Id="rId12" Type="http://schemas.openxmlformats.org/officeDocument/2006/relationships/image" Target="../media/image11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0.png"/><Relationship Id="rId5" Type="http://schemas.openxmlformats.org/officeDocument/2006/relationships/image" Target="../media/image58.png"/><Relationship Id="rId15" Type="http://schemas.openxmlformats.org/officeDocument/2006/relationships/image" Target="../media/image13.png"/><Relationship Id="rId10" Type="http://schemas.openxmlformats.org/officeDocument/2006/relationships/oleObject" Target="../embeddings/oleObject9.bin"/><Relationship Id="rId19" Type="http://schemas.openxmlformats.org/officeDocument/2006/relationships/image" Target="../media/image17.png"/><Relationship Id="rId4" Type="http://schemas.openxmlformats.org/officeDocument/2006/relationships/image" Target="../media/image4.wmf"/><Relationship Id="rId9" Type="http://schemas.openxmlformats.org/officeDocument/2006/relationships/image" Target="../media/image9.png"/><Relationship Id="rId14" Type="http://schemas.openxmlformats.org/officeDocument/2006/relationships/oleObject" Target="../embeddings/oleObject10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oleObject" Target="../embeddings/oleObject11.bin"/><Relationship Id="rId7" Type="http://schemas.openxmlformats.org/officeDocument/2006/relationships/image" Target="../media/image15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2.bin"/><Relationship Id="rId11" Type="http://schemas.openxmlformats.org/officeDocument/2006/relationships/image" Target="../media/image20.png"/><Relationship Id="rId5" Type="http://schemas.openxmlformats.org/officeDocument/2006/relationships/image" Target="../media/image10.png"/><Relationship Id="rId10" Type="http://schemas.openxmlformats.org/officeDocument/2006/relationships/image" Target="../media/image18.png"/><Relationship Id="rId4" Type="http://schemas.openxmlformats.org/officeDocument/2006/relationships/image" Target="../media/image4.wmf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2.png"/><Relationship Id="rId18" Type="http://schemas.openxmlformats.org/officeDocument/2006/relationships/image" Target="../media/image16.png"/><Relationship Id="rId3" Type="http://schemas.openxmlformats.org/officeDocument/2006/relationships/oleObject" Target="../embeddings/oleObject13.bin"/><Relationship Id="rId21" Type="http://schemas.openxmlformats.org/officeDocument/2006/relationships/image" Target="../media/image22.png"/><Relationship Id="rId7" Type="http://schemas.openxmlformats.org/officeDocument/2006/relationships/image" Target="../media/image7.png"/><Relationship Id="rId12" Type="http://schemas.openxmlformats.org/officeDocument/2006/relationships/image" Target="../media/image11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4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0.png"/><Relationship Id="rId24" Type="http://schemas.openxmlformats.org/officeDocument/2006/relationships/image" Target="../media/image25.png"/><Relationship Id="rId5" Type="http://schemas.openxmlformats.org/officeDocument/2006/relationships/image" Target="../media/image58.png"/><Relationship Id="rId15" Type="http://schemas.openxmlformats.org/officeDocument/2006/relationships/image" Target="../media/image13.png"/><Relationship Id="rId23" Type="http://schemas.openxmlformats.org/officeDocument/2006/relationships/image" Target="../media/image24.png"/><Relationship Id="rId10" Type="http://schemas.openxmlformats.org/officeDocument/2006/relationships/oleObject" Target="../embeddings/oleObject14.bin"/><Relationship Id="rId19" Type="http://schemas.openxmlformats.org/officeDocument/2006/relationships/image" Target="../media/image17.png"/><Relationship Id="rId4" Type="http://schemas.openxmlformats.org/officeDocument/2006/relationships/image" Target="../media/image4.wmf"/><Relationship Id="rId9" Type="http://schemas.openxmlformats.org/officeDocument/2006/relationships/image" Target="../media/image9.png"/><Relationship Id="rId14" Type="http://schemas.openxmlformats.org/officeDocument/2006/relationships/oleObject" Target="../embeddings/oleObject15.bin"/><Relationship Id="rId22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oleObject" Target="../embeddings/oleObject16.bin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4.wmf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7.png"/><Relationship Id="rId18" Type="http://schemas.openxmlformats.org/officeDocument/2006/relationships/image" Target="../media/image31.png"/><Relationship Id="rId3" Type="http://schemas.openxmlformats.org/officeDocument/2006/relationships/oleObject" Target="../embeddings/oleObject18.bin"/><Relationship Id="rId7" Type="http://schemas.openxmlformats.org/officeDocument/2006/relationships/image" Target="../media/image13.png"/><Relationship Id="rId12" Type="http://schemas.openxmlformats.org/officeDocument/2006/relationships/image" Target="../media/image26.png"/><Relationship Id="rId17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290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9.bin"/><Relationship Id="rId11" Type="http://schemas.openxmlformats.org/officeDocument/2006/relationships/oleObject" Target="../embeddings/oleObject20.bin"/><Relationship Id="rId5" Type="http://schemas.openxmlformats.org/officeDocument/2006/relationships/image" Target="../media/image11.png"/><Relationship Id="rId15" Type="http://schemas.openxmlformats.org/officeDocument/2006/relationships/oleObject" Target="../embeddings/oleObject21.bin"/><Relationship Id="rId10" Type="http://schemas.openxmlformats.org/officeDocument/2006/relationships/image" Target="../media/image16.png"/><Relationship Id="rId19" Type="http://schemas.openxmlformats.org/officeDocument/2006/relationships/image" Target="../media/image32.png"/><Relationship Id="rId4" Type="http://schemas.openxmlformats.org/officeDocument/2006/relationships/image" Target="../media/image4.wmf"/><Relationship Id="rId9" Type="http://schemas.openxmlformats.org/officeDocument/2006/relationships/image" Target="../media/image19.png"/><Relationship Id="rId14" Type="http://schemas.openxmlformats.org/officeDocument/2006/relationships/image" Target="../media/image28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7.png"/><Relationship Id="rId18" Type="http://schemas.openxmlformats.org/officeDocument/2006/relationships/image" Target="../media/image32.png"/><Relationship Id="rId3" Type="http://schemas.openxmlformats.org/officeDocument/2006/relationships/oleObject" Target="../embeddings/oleObject22.bin"/><Relationship Id="rId21" Type="http://schemas.openxmlformats.org/officeDocument/2006/relationships/image" Target="../media/image34.png"/><Relationship Id="rId7" Type="http://schemas.openxmlformats.org/officeDocument/2006/relationships/image" Target="../media/image13.png"/><Relationship Id="rId12" Type="http://schemas.openxmlformats.org/officeDocument/2006/relationships/image" Target="../media/image26.png"/><Relationship Id="rId17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30.png"/><Relationship Id="rId20" Type="http://schemas.openxmlformats.org/officeDocument/2006/relationships/image" Target="../media/image290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3.bin"/><Relationship Id="rId11" Type="http://schemas.openxmlformats.org/officeDocument/2006/relationships/oleObject" Target="../embeddings/oleObject24.bin"/><Relationship Id="rId5" Type="http://schemas.openxmlformats.org/officeDocument/2006/relationships/image" Target="../media/image11.png"/><Relationship Id="rId15" Type="http://schemas.openxmlformats.org/officeDocument/2006/relationships/oleObject" Target="../embeddings/oleObject25.bin"/><Relationship Id="rId10" Type="http://schemas.openxmlformats.org/officeDocument/2006/relationships/image" Target="../media/image16.png"/><Relationship Id="rId19" Type="http://schemas.openxmlformats.org/officeDocument/2006/relationships/image" Target="../media/image33.png"/><Relationship Id="rId4" Type="http://schemas.openxmlformats.org/officeDocument/2006/relationships/image" Target="../media/image4.wmf"/><Relationship Id="rId9" Type="http://schemas.openxmlformats.org/officeDocument/2006/relationships/image" Target="../media/image19.png"/><Relationship Id="rId14" Type="http://schemas.openxmlformats.org/officeDocument/2006/relationships/image" Target="../media/image28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400.png"/><Relationship Id="rId18" Type="http://schemas.openxmlformats.org/officeDocument/2006/relationships/image" Target="../media/image45.png"/><Relationship Id="rId3" Type="http://schemas.openxmlformats.org/officeDocument/2006/relationships/image" Target="../media/image35.png"/><Relationship Id="rId7" Type="http://schemas.openxmlformats.org/officeDocument/2006/relationships/image" Target="../media/image22.png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43.png"/><Relationship Id="rId20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38.png"/><Relationship Id="rId5" Type="http://schemas.openxmlformats.org/officeDocument/2006/relationships/image" Target="../media/image8.png"/><Relationship Id="rId15" Type="http://schemas.openxmlformats.org/officeDocument/2006/relationships/image" Target="../media/image42.png"/><Relationship Id="rId10" Type="http://schemas.openxmlformats.org/officeDocument/2006/relationships/image" Target="../media/image370.png"/><Relationship Id="rId19" Type="http://schemas.openxmlformats.org/officeDocument/2006/relationships/image" Target="../media/image46.png"/><Relationship Id="rId4" Type="http://schemas.openxmlformats.org/officeDocument/2006/relationships/image" Target="../media/image19.png"/><Relationship Id="rId9" Type="http://schemas.openxmlformats.org/officeDocument/2006/relationships/image" Target="../media/image360.png"/><Relationship Id="rId14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18" Type="http://schemas.openxmlformats.org/officeDocument/2006/relationships/image" Target="../media/image48.png"/><Relationship Id="rId3" Type="http://schemas.openxmlformats.org/officeDocument/2006/relationships/image" Target="../media/image19.png"/><Relationship Id="rId21" Type="http://schemas.openxmlformats.org/officeDocument/2006/relationships/image" Target="../media/image51.png"/><Relationship Id="rId7" Type="http://schemas.openxmlformats.org/officeDocument/2006/relationships/image" Target="../media/image370.png"/><Relationship Id="rId12" Type="http://schemas.openxmlformats.org/officeDocument/2006/relationships/image" Target="../media/image42.png"/><Relationship Id="rId17" Type="http://schemas.openxmlformats.org/officeDocument/2006/relationships/image" Target="../media/image47.png"/><Relationship Id="rId2" Type="http://schemas.openxmlformats.org/officeDocument/2006/relationships/image" Target="../media/image35.png"/><Relationship Id="rId16" Type="http://schemas.openxmlformats.org/officeDocument/2006/relationships/image" Target="../media/image46.png"/><Relationship Id="rId20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0.png"/><Relationship Id="rId11" Type="http://schemas.openxmlformats.org/officeDocument/2006/relationships/image" Target="../media/image41.png"/><Relationship Id="rId5" Type="http://schemas.openxmlformats.org/officeDocument/2006/relationships/image" Target="../media/image9.png"/><Relationship Id="rId15" Type="http://schemas.openxmlformats.org/officeDocument/2006/relationships/image" Target="../media/image45.png"/><Relationship Id="rId23" Type="http://schemas.openxmlformats.org/officeDocument/2006/relationships/image" Target="../media/image23.png"/><Relationship Id="rId10" Type="http://schemas.openxmlformats.org/officeDocument/2006/relationships/image" Target="../media/image400.png"/><Relationship Id="rId19" Type="http://schemas.openxmlformats.org/officeDocument/2006/relationships/image" Target="../media/image49.png"/><Relationship Id="rId4" Type="http://schemas.openxmlformats.org/officeDocument/2006/relationships/image" Target="../media/image8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Relationship Id="rId22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0.png"/><Relationship Id="rId2" Type="http://schemas.openxmlformats.org/officeDocument/2006/relationships/image" Target="../media/image5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0.png"/><Relationship Id="rId5" Type="http://schemas.openxmlformats.org/officeDocument/2006/relationships/image" Target="../media/image540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75" y="1524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Backpropagation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4775" y="5443007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Instructor: Dr. Yan Yan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Backpropagation – Backward pass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3441814" y="2536033"/>
                <a:ext cx="11617211" cy="7575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TW" sz="4200" dirty="0"/>
                  <a:t>Compute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altLang="zh-TW" sz="4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4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42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num>
                      <m:den>
                        <m:r>
                          <a:rPr lang="zh-TW" altLang="en-US" sz="4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42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lang="en-US" altLang="zh-TW" sz="4200" dirty="0"/>
                  <a:t> for all activation function inputs z</a:t>
                </a:r>
                <a:endParaRPr lang="zh-TW" altLang="en-US" sz="4200" dirty="0"/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1814" y="2536033"/>
                <a:ext cx="11617211" cy="757555"/>
              </a:xfrm>
              <a:prstGeom prst="rect">
                <a:avLst/>
              </a:prstGeom>
              <a:blipFill rotWithShape="1">
                <a:blip r:embed="rId2"/>
                <a:stretch>
                  <a:fillRect l="-1" t="-63" b="6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線單箭頭接點 4"/>
          <p:cNvCxnSpPr/>
          <p:nvPr/>
        </p:nvCxnSpPr>
        <p:spPr>
          <a:xfrm flipV="1">
            <a:off x="3282320" y="4765346"/>
            <a:ext cx="2529525" cy="238267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單箭頭接點 5"/>
          <p:cNvCxnSpPr/>
          <p:nvPr/>
        </p:nvCxnSpPr>
        <p:spPr>
          <a:xfrm flipV="1">
            <a:off x="3282320" y="4385339"/>
            <a:ext cx="236526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群組 6"/>
          <p:cNvGrpSpPr/>
          <p:nvPr/>
        </p:nvGrpSpPr>
        <p:grpSpPr>
          <a:xfrm>
            <a:off x="7741295" y="3836049"/>
            <a:ext cx="861237" cy="861237"/>
            <a:chOff x="5170781" y="1854574"/>
            <a:chExt cx="574158" cy="574158"/>
          </a:xfrm>
        </p:grpSpPr>
        <p:sp>
          <p:nvSpPr>
            <p:cNvPr id="8" name="橢圓 7"/>
            <p:cNvSpPr/>
            <p:nvPr/>
          </p:nvSpPr>
          <p:spPr>
            <a:xfrm>
              <a:off x="5170781" y="1854574"/>
              <a:ext cx="574158" cy="57415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9" name="手繪多邊形 8"/>
            <p:cNvSpPr/>
            <p:nvPr/>
          </p:nvSpPr>
          <p:spPr>
            <a:xfrm>
              <a:off x="5232704" y="1980522"/>
              <a:ext cx="469900" cy="354083"/>
            </a:xfrm>
            <a:custGeom>
              <a:avLst/>
              <a:gdLst>
                <a:gd name="connsiteX0" fmla="*/ 469900 w 469900"/>
                <a:gd name="connsiteY0" fmla="*/ 5192 h 354083"/>
                <a:gd name="connsiteX1" fmla="*/ 254000 w 469900"/>
                <a:gd name="connsiteY1" fmla="*/ 43292 h 354083"/>
                <a:gd name="connsiteX2" fmla="*/ 139700 w 469900"/>
                <a:gd name="connsiteY2" fmla="*/ 322692 h 354083"/>
                <a:gd name="connsiteX3" fmla="*/ 0 w 469900"/>
                <a:gd name="connsiteY3" fmla="*/ 335392 h 354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9900" h="354083">
                  <a:moveTo>
                    <a:pt x="469900" y="5192"/>
                  </a:moveTo>
                  <a:cubicBezTo>
                    <a:pt x="389466" y="-2217"/>
                    <a:pt x="309033" y="-9625"/>
                    <a:pt x="254000" y="43292"/>
                  </a:cubicBezTo>
                  <a:cubicBezTo>
                    <a:pt x="198967" y="96209"/>
                    <a:pt x="182033" y="274009"/>
                    <a:pt x="139700" y="322692"/>
                  </a:cubicBezTo>
                  <a:cubicBezTo>
                    <a:pt x="97367" y="371375"/>
                    <a:pt x="48683" y="353383"/>
                    <a:pt x="0" y="335392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</p:grpSp>
      <p:grpSp>
        <p:nvGrpSpPr>
          <p:cNvPr id="10" name="群組 9"/>
          <p:cNvGrpSpPr/>
          <p:nvPr/>
        </p:nvGrpSpPr>
        <p:grpSpPr>
          <a:xfrm>
            <a:off x="5757450" y="4765346"/>
            <a:ext cx="687430" cy="1247921"/>
            <a:chOff x="10102194" y="1939763"/>
            <a:chExt cx="458287" cy="831947"/>
          </a:xfrm>
        </p:grpSpPr>
        <p:sp>
          <p:nvSpPr>
            <p:cNvPr id="11" name="矩形 10"/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cxnSp>
          <p:nvCxnSpPr>
            <p:cNvPr id="12" name="直線單箭頭接點 11"/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字方塊 12"/>
            <p:cNvSpPr txBox="1"/>
            <p:nvPr/>
          </p:nvSpPr>
          <p:spPr>
            <a:xfrm>
              <a:off x="10118802" y="2316503"/>
              <a:ext cx="441679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b</a:t>
              </a:r>
              <a:endParaRPr lang="zh-TW" altLang="en-US" sz="3600" dirty="0"/>
            </a:p>
          </p:txBody>
        </p:sp>
      </p:grpSp>
      <p:grpSp>
        <p:nvGrpSpPr>
          <p:cNvPr id="14" name="群組 13"/>
          <p:cNvGrpSpPr/>
          <p:nvPr/>
        </p:nvGrpSpPr>
        <p:grpSpPr>
          <a:xfrm>
            <a:off x="5695989" y="4055006"/>
            <a:ext cx="712490" cy="637916"/>
            <a:chOff x="3357891" y="3538413"/>
            <a:chExt cx="474993" cy="425277"/>
          </a:xfrm>
        </p:grpSpPr>
        <p:sp>
          <p:nvSpPr>
            <p:cNvPr id="15" name="矩形 14"/>
            <p:cNvSpPr/>
            <p:nvPr/>
          </p:nvSpPr>
          <p:spPr>
            <a:xfrm>
              <a:off x="3357891" y="3538413"/>
              <a:ext cx="474993" cy="42527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16" name="Object 12"/>
            <p:cNvGraphicFramePr>
              <a:graphicFrameLocks noChangeAspect="1"/>
            </p:cNvGraphicFramePr>
            <p:nvPr/>
          </p:nvGraphicFramePr>
          <p:xfrm>
            <a:off x="3435128" y="3545009"/>
            <a:ext cx="385763" cy="387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3" imgW="3352800" imgH="3352800" progId="Equation.3">
                    <p:embed/>
                  </p:oleObj>
                </mc:Choice>
                <mc:Fallback>
                  <p:oleObj name="方程式" r:id="rId3" imgW="3352800" imgH="3352800" progId="Equation.3">
                    <p:embed/>
                    <p:pic>
                      <p:nvPicPr>
                        <p:cNvPr id="16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5128" y="3545009"/>
                          <a:ext cx="385763" cy="3873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17" name="直線單箭頭接點 16"/>
          <p:cNvCxnSpPr/>
          <p:nvPr/>
        </p:nvCxnSpPr>
        <p:spPr>
          <a:xfrm flipV="1">
            <a:off x="6408479" y="4321640"/>
            <a:ext cx="1259037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/>
              <p:cNvSpPr txBox="1"/>
              <p:nvPr/>
            </p:nvSpPr>
            <p:spPr>
              <a:xfrm>
                <a:off x="4048907" y="3644228"/>
                <a:ext cx="684530" cy="757555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18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8907" y="3644228"/>
                <a:ext cx="684530" cy="757555"/>
              </a:xfrm>
              <a:prstGeom prst="rect">
                <a:avLst/>
              </a:prstGeom>
              <a:blipFill rotWithShape="1">
                <a:blip r:embed="rId5"/>
                <a:stretch>
                  <a:fillRect l="-949" t="-917" r="-13337" b="-759"/>
                </a:stretch>
              </a:blipFill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/>
              <p:cNvSpPr txBox="1"/>
              <p:nvPr/>
            </p:nvSpPr>
            <p:spPr>
              <a:xfrm>
                <a:off x="6921098" y="3559727"/>
                <a:ext cx="462242" cy="757555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19" name="文字方塊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1098" y="3559727"/>
                <a:ext cx="462242" cy="757555"/>
              </a:xfrm>
              <a:prstGeom prst="rect">
                <a:avLst/>
              </a:prstGeom>
              <a:blipFill rotWithShape="1">
                <a:blip r:embed="rId6"/>
                <a:stretch>
                  <a:fillRect l="-1424" t="-911" r="-1332" b="-765"/>
                </a:stretch>
              </a:blipFill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/>
              <p:cNvSpPr txBox="1"/>
              <p:nvPr/>
            </p:nvSpPr>
            <p:spPr>
              <a:xfrm>
                <a:off x="4036498" y="5522354"/>
                <a:ext cx="690880" cy="757555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22" name="文字方塊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6498" y="5522354"/>
                <a:ext cx="690880" cy="757555"/>
              </a:xfrm>
              <a:prstGeom prst="rect">
                <a:avLst/>
              </a:prstGeom>
              <a:blipFill rotWithShape="1">
                <a:blip r:embed="rId7"/>
                <a:stretch>
                  <a:fillRect l="-983" t="-890" r="-12712" b="-786"/>
                </a:stretch>
              </a:blipFill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/>
              <p:cNvSpPr txBox="1"/>
              <p:nvPr/>
            </p:nvSpPr>
            <p:spPr>
              <a:xfrm>
                <a:off x="2591828" y="3959759"/>
                <a:ext cx="580390" cy="757555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23" name="文字方塊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1828" y="3959759"/>
                <a:ext cx="580390" cy="757555"/>
              </a:xfrm>
              <a:prstGeom prst="rect">
                <a:avLst/>
              </a:prstGeom>
              <a:blipFill rotWithShape="1">
                <a:blip r:embed="rId8"/>
                <a:stretch>
                  <a:fillRect l="-1162" t="-909" r="-15140" b="-768"/>
                </a:stretch>
              </a:blip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/>
              <p:cNvSpPr txBox="1"/>
              <p:nvPr/>
            </p:nvSpPr>
            <p:spPr>
              <a:xfrm>
                <a:off x="2612284" y="6756300"/>
                <a:ext cx="586740" cy="757555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24" name="文字方塊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2284" y="6756300"/>
                <a:ext cx="586740" cy="757555"/>
              </a:xfrm>
              <a:prstGeom prst="rect">
                <a:avLst/>
              </a:prstGeom>
              <a:blipFill rotWithShape="1">
                <a:blip r:embed="rId9"/>
                <a:stretch>
                  <a:fillRect l="-1172" t="-909" r="-14412" b="-768"/>
                </a:stretch>
              </a:blip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/>
              <p:cNvSpPr txBox="1"/>
              <p:nvPr/>
            </p:nvSpPr>
            <p:spPr>
              <a:xfrm>
                <a:off x="8719242" y="3477341"/>
                <a:ext cx="366395" cy="757555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48" name="文字方塊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9242" y="3477341"/>
                <a:ext cx="366395" cy="757555"/>
              </a:xfrm>
              <a:prstGeom prst="rect">
                <a:avLst/>
              </a:prstGeom>
              <a:blipFill rotWithShape="1">
                <a:blip r:embed="rId10"/>
                <a:stretch>
                  <a:fillRect l="-1749" t="-849" r="-22861" b="-828"/>
                </a:stretch>
              </a:blipFill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字方塊 76"/>
              <p:cNvSpPr txBox="1"/>
              <p:nvPr/>
            </p:nvSpPr>
            <p:spPr>
              <a:xfrm>
                <a:off x="3113886" y="7607871"/>
                <a:ext cx="622935" cy="12185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77" name="文字方塊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3886" y="7607871"/>
                <a:ext cx="622935" cy="1218565"/>
              </a:xfrm>
              <a:prstGeom prst="rect">
                <a:avLst/>
              </a:prstGeom>
              <a:blipFill rotWithShape="1">
                <a:blip r:embed="rId11"/>
                <a:stretch>
                  <a:fillRect l="-77" t="-47" r="-13480" b="4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文字方塊 77"/>
              <p:cNvSpPr txBox="1"/>
              <p:nvPr/>
            </p:nvSpPr>
            <p:spPr>
              <a:xfrm>
                <a:off x="3927161" y="7607870"/>
                <a:ext cx="1924050" cy="12185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f>
                        <m:fPr>
                          <m:ctrlPr>
                            <a:rPr lang="en-US" altLang="zh-TW" sz="4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78" name="文字方塊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7161" y="7607870"/>
                <a:ext cx="1924050" cy="1218565"/>
              </a:xfrm>
              <a:prstGeom prst="rect">
                <a:avLst/>
              </a:prstGeom>
              <a:blipFill rotWithShape="1">
                <a:blip r:embed="rId12"/>
                <a:stretch>
                  <a:fillRect l="-17" t="-47" r="-3581" b="4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字方塊 78"/>
              <p:cNvSpPr txBox="1"/>
              <p:nvPr/>
            </p:nvSpPr>
            <p:spPr>
              <a:xfrm>
                <a:off x="7062034" y="4788468"/>
                <a:ext cx="2093595" cy="7575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4200" b="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79" name="文字方塊 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2034" y="4788468"/>
                <a:ext cx="2093595" cy="757555"/>
              </a:xfrm>
              <a:prstGeom prst="rect">
                <a:avLst/>
              </a:prstGeom>
              <a:blipFill rotWithShape="1">
                <a:blip r:embed="rId13"/>
                <a:stretch>
                  <a:fillRect l="-10" t="-75" r="-3569" b="7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0" name="直線接點 79"/>
          <p:cNvCxnSpPr/>
          <p:nvPr/>
        </p:nvCxnSpPr>
        <p:spPr>
          <a:xfrm>
            <a:off x="4472235" y="8984228"/>
            <a:ext cx="75958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向下箭號 80"/>
          <p:cNvSpPr/>
          <p:nvPr/>
        </p:nvSpPr>
        <p:spPr>
          <a:xfrm rot="16200000" flipH="1">
            <a:off x="4575539" y="9138866"/>
            <a:ext cx="669647" cy="876254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文字方塊 81"/>
              <p:cNvSpPr txBox="1"/>
              <p:nvPr/>
            </p:nvSpPr>
            <p:spPr>
              <a:xfrm>
                <a:off x="5501966" y="9222608"/>
                <a:ext cx="1233170" cy="7575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4200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82" name="文字方塊 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1966" y="9222608"/>
                <a:ext cx="1233170" cy="757555"/>
              </a:xfrm>
              <a:prstGeom prst="rect">
                <a:avLst/>
              </a:prstGeom>
              <a:blipFill rotWithShape="1">
                <a:blip r:embed="rId14"/>
                <a:stretch>
                  <a:fillRect l="-26" t="-66" r="-7183" b="6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1" name="群組 60"/>
          <p:cNvGrpSpPr/>
          <p:nvPr/>
        </p:nvGrpSpPr>
        <p:grpSpPr>
          <a:xfrm>
            <a:off x="7383339" y="6035070"/>
            <a:ext cx="5877434" cy="3833868"/>
            <a:chOff x="3499192" y="4150859"/>
            <a:chExt cx="3918289" cy="2555912"/>
          </a:xfrm>
        </p:grpSpPr>
        <p:pic>
          <p:nvPicPr>
            <p:cNvPr id="64" name="圖片 63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3499192" y="4150859"/>
              <a:ext cx="3918289" cy="2555912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  <a:headEnd/>
              <a:tailEnd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文字方塊 64"/>
                <p:cNvSpPr txBox="1"/>
                <p:nvPr/>
              </p:nvSpPr>
              <p:spPr>
                <a:xfrm>
                  <a:off x="5916744" y="5782903"/>
                  <a:ext cx="704427" cy="43222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sz="36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  <m:d>
                          <m:dPr>
                            <m:ctrlP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65" name="文字方塊 6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16744" y="5782903"/>
                  <a:ext cx="704427" cy="432223"/>
                </a:xfrm>
                <a:prstGeom prst="rect">
                  <a:avLst/>
                </a:prstGeom>
                <a:blipFill rotWithShape="1">
                  <a:blip r:embed="rId16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文字方塊 66"/>
                <p:cNvSpPr txBox="1"/>
                <p:nvPr/>
              </p:nvSpPr>
              <p:spPr>
                <a:xfrm>
                  <a:off x="4822145" y="4960463"/>
                  <a:ext cx="621877" cy="43222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sz="36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67" name="文字方塊 6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2145" y="4960463"/>
                  <a:ext cx="621877" cy="432223"/>
                </a:xfrm>
                <a:prstGeom prst="rect">
                  <a:avLst/>
                </a:prstGeom>
                <a:blipFill rotWithShape="1">
                  <a:blip r:embed="rId17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bldLvl="0" animBg="1"/>
      <p:bldP spid="77" grpId="0"/>
      <p:bldP spid="78" grpId="0"/>
      <p:bldP spid="79" grpId="0"/>
      <p:bldP spid="81" grpId="0" bldLvl="0" animBg="1"/>
      <p:bldP spid="8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Backpropagation – Backward pass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3441814" y="2536033"/>
                <a:ext cx="11617211" cy="7575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TW" sz="4200" dirty="0"/>
                  <a:t>Compute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altLang="zh-TW" sz="4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4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42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num>
                      <m:den>
                        <m:r>
                          <a:rPr lang="zh-TW" altLang="en-US" sz="4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42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lang="en-US" altLang="zh-TW" sz="4200" dirty="0"/>
                  <a:t> for all activation function inputs z</a:t>
                </a:r>
                <a:endParaRPr lang="zh-TW" altLang="en-US" sz="4200" dirty="0"/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1814" y="2536033"/>
                <a:ext cx="11617211" cy="757555"/>
              </a:xfrm>
              <a:prstGeom prst="rect">
                <a:avLst/>
              </a:prstGeom>
              <a:blipFill rotWithShape="1">
                <a:blip r:embed="rId3"/>
                <a:stretch>
                  <a:fillRect l="-1" t="-63" b="6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線單箭頭接點 4"/>
          <p:cNvCxnSpPr/>
          <p:nvPr/>
        </p:nvCxnSpPr>
        <p:spPr>
          <a:xfrm flipV="1">
            <a:off x="3282320" y="4765346"/>
            <a:ext cx="2529525" cy="238267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單箭頭接點 5"/>
          <p:cNvCxnSpPr/>
          <p:nvPr/>
        </p:nvCxnSpPr>
        <p:spPr>
          <a:xfrm flipV="1">
            <a:off x="3282320" y="4385339"/>
            <a:ext cx="236526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群組 6"/>
          <p:cNvGrpSpPr/>
          <p:nvPr/>
        </p:nvGrpSpPr>
        <p:grpSpPr>
          <a:xfrm>
            <a:off x="7741295" y="3836049"/>
            <a:ext cx="861237" cy="861237"/>
            <a:chOff x="5170781" y="1854574"/>
            <a:chExt cx="574158" cy="574158"/>
          </a:xfrm>
        </p:grpSpPr>
        <p:sp>
          <p:nvSpPr>
            <p:cNvPr id="8" name="橢圓 7"/>
            <p:cNvSpPr/>
            <p:nvPr/>
          </p:nvSpPr>
          <p:spPr>
            <a:xfrm>
              <a:off x="5170781" y="1854574"/>
              <a:ext cx="574158" cy="57415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9" name="手繪多邊形 8"/>
            <p:cNvSpPr/>
            <p:nvPr/>
          </p:nvSpPr>
          <p:spPr>
            <a:xfrm>
              <a:off x="5232704" y="1980522"/>
              <a:ext cx="469900" cy="354083"/>
            </a:xfrm>
            <a:custGeom>
              <a:avLst/>
              <a:gdLst>
                <a:gd name="connsiteX0" fmla="*/ 469900 w 469900"/>
                <a:gd name="connsiteY0" fmla="*/ 5192 h 354083"/>
                <a:gd name="connsiteX1" fmla="*/ 254000 w 469900"/>
                <a:gd name="connsiteY1" fmla="*/ 43292 h 354083"/>
                <a:gd name="connsiteX2" fmla="*/ 139700 w 469900"/>
                <a:gd name="connsiteY2" fmla="*/ 322692 h 354083"/>
                <a:gd name="connsiteX3" fmla="*/ 0 w 469900"/>
                <a:gd name="connsiteY3" fmla="*/ 335392 h 354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9900" h="354083">
                  <a:moveTo>
                    <a:pt x="469900" y="5192"/>
                  </a:moveTo>
                  <a:cubicBezTo>
                    <a:pt x="389466" y="-2217"/>
                    <a:pt x="309033" y="-9625"/>
                    <a:pt x="254000" y="43292"/>
                  </a:cubicBezTo>
                  <a:cubicBezTo>
                    <a:pt x="198967" y="96209"/>
                    <a:pt x="182033" y="274009"/>
                    <a:pt x="139700" y="322692"/>
                  </a:cubicBezTo>
                  <a:cubicBezTo>
                    <a:pt x="97367" y="371375"/>
                    <a:pt x="48683" y="353383"/>
                    <a:pt x="0" y="335392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</p:grpSp>
      <p:grpSp>
        <p:nvGrpSpPr>
          <p:cNvPr id="10" name="群組 9"/>
          <p:cNvGrpSpPr/>
          <p:nvPr/>
        </p:nvGrpSpPr>
        <p:grpSpPr>
          <a:xfrm>
            <a:off x="5757450" y="4765346"/>
            <a:ext cx="687430" cy="1247921"/>
            <a:chOff x="10102194" y="1939763"/>
            <a:chExt cx="458287" cy="831947"/>
          </a:xfrm>
        </p:grpSpPr>
        <p:sp>
          <p:nvSpPr>
            <p:cNvPr id="11" name="矩形 10"/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cxnSp>
          <p:nvCxnSpPr>
            <p:cNvPr id="12" name="直線單箭頭接點 11"/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字方塊 12"/>
            <p:cNvSpPr txBox="1"/>
            <p:nvPr/>
          </p:nvSpPr>
          <p:spPr>
            <a:xfrm>
              <a:off x="10118802" y="2316503"/>
              <a:ext cx="441679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b</a:t>
              </a:r>
              <a:endParaRPr lang="zh-TW" altLang="en-US" sz="3600" dirty="0"/>
            </a:p>
          </p:txBody>
        </p:sp>
      </p:grpSp>
      <p:grpSp>
        <p:nvGrpSpPr>
          <p:cNvPr id="14" name="群組 13"/>
          <p:cNvGrpSpPr/>
          <p:nvPr/>
        </p:nvGrpSpPr>
        <p:grpSpPr>
          <a:xfrm>
            <a:off x="5695989" y="4055006"/>
            <a:ext cx="712490" cy="637916"/>
            <a:chOff x="3357891" y="3538413"/>
            <a:chExt cx="474993" cy="425277"/>
          </a:xfrm>
        </p:grpSpPr>
        <p:sp>
          <p:nvSpPr>
            <p:cNvPr id="15" name="矩形 14"/>
            <p:cNvSpPr/>
            <p:nvPr/>
          </p:nvSpPr>
          <p:spPr>
            <a:xfrm>
              <a:off x="3357891" y="3538413"/>
              <a:ext cx="474993" cy="42527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16" name="Object 12"/>
            <p:cNvGraphicFramePr>
              <a:graphicFrameLocks noChangeAspect="1"/>
            </p:cNvGraphicFramePr>
            <p:nvPr/>
          </p:nvGraphicFramePr>
          <p:xfrm>
            <a:off x="3435128" y="3545009"/>
            <a:ext cx="385763" cy="387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4" imgW="3352800" imgH="3352800" progId="Equation.3">
                    <p:embed/>
                  </p:oleObj>
                </mc:Choice>
                <mc:Fallback>
                  <p:oleObj name="方程式" r:id="rId4" imgW="3352800" imgH="3352800" progId="Equation.3">
                    <p:embed/>
                    <p:pic>
                      <p:nvPicPr>
                        <p:cNvPr id="16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5128" y="3545009"/>
                          <a:ext cx="385763" cy="3873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17" name="直線單箭頭接點 16"/>
          <p:cNvCxnSpPr/>
          <p:nvPr/>
        </p:nvCxnSpPr>
        <p:spPr>
          <a:xfrm flipV="1">
            <a:off x="6408479" y="4321640"/>
            <a:ext cx="1259037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/>
              <p:cNvSpPr txBox="1"/>
              <p:nvPr/>
            </p:nvSpPr>
            <p:spPr>
              <a:xfrm>
                <a:off x="4048907" y="3644228"/>
                <a:ext cx="684530" cy="757555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18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8907" y="3644228"/>
                <a:ext cx="684530" cy="757555"/>
              </a:xfrm>
              <a:prstGeom prst="rect">
                <a:avLst/>
              </a:prstGeom>
              <a:blipFill rotWithShape="1">
                <a:blip r:embed="rId6"/>
                <a:stretch>
                  <a:fillRect l="-949" t="-917" r="-13337" b="-759"/>
                </a:stretch>
              </a:blipFill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/>
              <p:cNvSpPr txBox="1"/>
              <p:nvPr/>
            </p:nvSpPr>
            <p:spPr>
              <a:xfrm>
                <a:off x="6921098" y="3559727"/>
                <a:ext cx="462242" cy="757555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19" name="文字方塊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1098" y="3559727"/>
                <a:ext cx="462242" cy="757555"/>
              </a:xfrm>
              <a:prstGeom prst="rect">
                <a:avLst/>
              </a:prstGeom>
              <a:blipFill rotWithShape="1">
                <a:blip r:embed="rId7"/>
                <a:stretch>
                  <a:fillRect l="-1424" t="-911" r="-1332" b="-765"/>
                </a:stretch>
              </a:blipFill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/>
              <p:cNvSpPr txBox="1"/>
              <p:nvPr/>
            </p:nvSpPr>
            <p:spPr>
              <a:xfrm>
                <a:off x="4036498" y="5522354"/>
                <a:ext cx="690880" cy="757555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22" name="文字方塊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6498" y="5522354"/>
                <a:ext cx="690880" cy="757555"/>
              </a:xfrm>
              <a:prstGeom prst="rect">
                <a:avLst/>
              </a:prstGeom>
              <a:blipFill rotWithShape="1">
                <a:blip r:embed="rId8"/>
                <a:stretch>
                  <a:fillRect l="-983" t="-890" r="-12712" b="-786"/>
                </a:stretch>
              </a:blipFill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/>
              <p:cNvSpPr txBox="1"/>
              <p:nvPr/>
            </p:nvSpPr>
            <p:spPr>
              <a:xfrm>
                <a:off x="2591828" y="3959759"/>
                <a:ext cx="580390" cy="757555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23" name="文字方塊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1828" y="3959759"/>
                <a:ext cx="580390" cy="757555"/>
              </a:xfrm>
              <a:prstGeom prst="rect">
                <a:avLst/>
              </a:prstGeom>
              <a:blipFill rotWithShape="1">
                <a:blip r:embed="rId9"/>
                <a:stretch>
                  <a:fillRect l="-1162" t="-909" r="-15140" b="-768"/>
                </a:stretch>
              </a:blip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/>
              <p:cNvSpPr txBox="1"/>
              <p:nvPr/>
            </p:nvSpPr>
            <p:spPr>
              <a:xfrm>
                <a:off x="2612284" y="6756300"/>
                <a:ext cx="586740" cy="757555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24" name="文字方塊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2284" y="6756300"/>
                <a:ext cx="586740" cy="757555"/>
              </a:xfrm>
              <a:prstGeom prst="rect">
                <a:avLst/>
              </a:prstGeom>
              <a:blipFill rotWithShape="1">
                <a:blip r:embed="rId10"/>
                <a:stretch>
                  <a:fillRect l="-1172" t="-909" r="-14412" b="-768"/>
                </a:stretch>
              </a:blip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直線單箭頭接點 35"/>
          <p:cNvCxnSpPr/>
          <p:nvPr/>
        </p:nvCxnSpPr>
        <p:spPr>
          <a:xfrm flipV="1">
            <a:off x="10274786" y="4358477"/>
            <a:ext cx="744344" cy="589961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/>
          <p:nvPr/>
        </p:nvCxnSpPr>
        <p:spPr>
          <a:xfrm flipV="1">
            <a:off x="8663907" y="4281312"/>
            <a:ext cx="236526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群組 37"/>
          <p:cNvGrpSpPr/>
          <p:nvPr/>
        </p:nvGrpSpPr>
        <p:grpSpPr>
          <a:xfrm>
            <a:off x="11077577" y="3950979"/>
            <a:ext cx="712490" cy="637916"/>
            <a:chOff x="3357891" y="3538413"/>
            <a:chExt cx="474993" cy="425277"/>
          </a:xfrm>
        </p:grpSpPr>
        <p:sp>
          <p:nvSpPr>
            <p:cNvPr id="39" name="矩形 38"/>
            <p:cNvSpPr/>
            <p:nvPr/>
          </p:nvSpPr>
          <p:spPr>
            <a:xfrm>
              <a:off x="3357891" y="3538413"/>
              <a:ext cx="474993" cy="42527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40" name="Object 12"/>
            <p:cNvGraphicFramePr>
              <a:graphicFrameLocks noChangeAspect="1"/>
            </p:cNvGraphicFramePr>
            <p:nvPr/>
          </p:nvGraphicFramePr>
          <p:xfrm>
            <a:off x="3435128" y="3545009"/>
            <a:ext cx="385763" cy="387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11" imgW="3352800" imgH="3352800" progId="Equation.3">
                    <p:embed/>
                  </p:oleObj>
                </mc:Choice>
                <mc:Fallback>
                  <p:oleObj name="方程式" r:id="rId11" imgW="3352800" imgH="3352800" progId="Equation.3">
                    <p:embed/>
                    <p:pic>
                      <p:nvPicPr>
                        <p:cNvPr id="4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5128" y="3545009"/>
                          <a:ext cx="385763" cy="3873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41" name="直線單箭頭接點 40"/>
          <p:cNvCxnSpPr/>
          <p:nvPr/>
        </p:nvCxnSpPr>
        <p:spPr>
          <a:xfrm flipV="1">
            <a:off x="11790066" y="4262463"/>
            <a:ext cx="1259037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字方塊 41"/>
              <p:cNvSpPr txBox="1"/>
              <p:nvPr/>
            </p:nvSpPr>
            <p:spPr>
              <a:xfrm>
                <a:off x="9669342" y="3565248"/>
                <a:ext cx="690880" cy="757555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42" name="文字方塊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9342" y="3565248"/>
                <a:ext cx="690880" cy="757555"/>
              </a:xfrm>
              <a:prstGeom prst="rect">
                <a:avLst/>
              </a:prstGeom>
              <a:blipFill rotWithShape="1">
                <a:blip r:embed="rId12"/>
                <a:stretch>
                  <a:fillRect l="-948" t="-885" r="-12747" b="-791"/>
                </a:stretch>
              </a:blipFill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字方塊 42"/>
              <p:cNvSpPr txBox="1"/>
              <p:nvPr/>
            </p:nvSpPr>
            <p:spPr>
              <a:xfrm>
                <a:off x="12188463" y="3483632"/>
                <a:ext cx="462242" cy="757555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altLang="zh-TW" sz="4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43" name="文字方塊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88463" y="3483632"/>
                <a:ext cx="462242" cy="757555"/>
              </a:xfrm>
              <a:prstGeom prst="rect">
                <a:avLst/>
              </a:prstGeom>
              <a:blipFill rotWithShape="1">
                <a:blip r:embed="rId13"/>
                <a:stretch>
                  <a:fillRect l="-1433" t="-841" r="-1323" b="-835"/>
                </a:stretch>
              </a:blipFill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/>
              <p:cNvSpPr txBox="1"/>
              <p:nvPr/>
            </p:nvSpPr>
            <p:spPr>
              <a:xfrm>
                <a:off x="8719242" y="3477341"/>
                <a:ext cx="366395" cy="757555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48" name="文字方塊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9242" y="3477341"/>
                <a:ext cx="366395" cy="757555"/>
              </a:xfrm>
              <a:prstGeom prst="rect">
                <a:avLst/>
              </a:prstGeom>
              <a:blipFill rotWithShape="1">
                <a:blip r:embed="rId14"/>
                <a:stretch>
                  <a:fillRect l="-1749" t="-849" r="-22861" b="-828"/>
                </a:stretch>
              </a:blipFill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9" name="群組 48"/>
          <p:cNvGrpSpPr/>
          <p:nvPr/>
        </p:nvGrpSpPr>
        <p:grpSpPr>
          <a:xfrm>
            <a:off x="11047803" y="6677906"/>
            <a:ext cx="712490" cy="637916"/>
            <a:chOff x="3357891" y="3538413"/>
            <a:chExt cx="474993" cy="425277"/>
          </a:xfrm>
        </p:grpSpPr>
        <p:sp>
          <p:nvSpPr>
            <p:cNvPr id="50" name="矩形 49"/>
            <p:cNvSpPr/>
            <p:nvPr/>
          </p:nvSpPr>
          <p:spPr>
            <a:xfrm>
              <a:off x="3357891" y="3538413"/>
              <a:ext cx="474993" cy="42527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51" name="Object 12"/>
            <p:cNvGraphicFramePr>
              <a:graphicFrameLocks noChangeAspect="1"/>
            </p:cNvGraphicFramePr>
            <p:nvPr/>
          </p:nvGraphicFramePr>
          <p:xfrm>
            <a:off x="3435128" y="3545009"/>
            <a:ext cx="385763" cy="387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15" imgW="3352800" imgH="3352800" progId="Equation.3">
                    <p:embed/>
                  </p:oleObj>
                </mc:Choice>
                <mc:Fallback>
                  <p:oleObj name="方程式" r:id="rId15" imgW="3352800" imgH="3352800" progId="Equation.3">
                    <p:embed/>
                    <p:pic>
                      <p:nvPicPr>
                        <p:cNvPr id="51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5128" y="3545009"/>
                          <a:ext cx="385763" cy="3873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52" name="直線單箭頭接點 51"/>
          <p:cNvCxnSpPr/>
          <p:nvPr/>
        </p:nvCxnSpPr>
        <p:spPr>
          <a:xfrm flipV="1">
            <a:off x="11808101" y="7036725"/>
            <a:ext cx="1259037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字方塊 52"/>
              <p:cNvSpPr txBox="1"/>
              <p:nvPr/>
            </p:nvSpPr>
            <p:spPr>
              <a:xfrm>
                <a:off x="12141392" y="6261090"/>
                <a:ext cx="614414" cy="757555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4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altLang="zh-TW" sz="4200" dirty="0"/>
                  <a:t>’’</a:t>
                </a:r>
                <a:endParaRPr lang="zh-TW" altLang="en-US" sz="4200" dirty="0"/>
              </a:p>
            </p:txBody>
          </p:sp>
        </mc:Choice>
        <mc:Fallback xmlns="">
          <p:sp>
            <p:nvSpPr>
              <p:cNvPr id="53" name="文字方塊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41392" y="6261090"/>
                <a:ext cx="614414" cy="757555"/>
              </a:xfrm>
              <a:prstGeom prst="rect">
                <a:avLst/>
              </a:prstGeom>
              <a:blipFill rotWithShape="1">
                <a:blip r:embed="rId16"/>
                <a:stretch>
                  <a:fillRect l="-1065" t="-921" r="-942" b="-756"/>
                </a:stretch>
              </a:blipFill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直線單箭頭接點 56"/>
          <p:cNvCxnSpPr/>
          <p:nvPr/>
        </p:nvCxnSpPr>
        <p:spPr>
          <a:xfrm>
            <a:off x="10164641" y="7012163"/>
            <a:ext cx="854489" cy="0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單箭頭接點 57"/>
          <p:cNvCxnSpPr>
            <a:endCxn id="50" idx="1"/>
          </p:cNvCxnSpPr>
          <p:nvPr/>
        </p:nvCxnSpPr>
        <p:spPr>
          <a:xfrm>
            <a:off x="8682699" y="4328723"/>
            <a:ext cx="2365104" cy="266814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群組 61"/>
          <p:cNvGrpSpPr/>
          <p:nvPr/>
        </p:nvGrpSpPr>
        <p:grpSpPr>
          <a:xfrm>
            <a:off x="13091090" y="6584256"/>
            <a:ext cx="1508321" cy="861237"/>
            <a:chOff x="7251018" y="4360929"/>
            <a:chExt cx="1005547" cy="574158"/>
          </a:xfrm>
        </p:grpSpPr>
        <p:grpSp>
          <p:nvGrpSpPr>
            <p:cNvPr id="54" name="群組 53"/>
            <p:cNvGrpSpPr/>
            <p:nvPr/>
          </p:nvGrpSpPr>
          <p:grpSpPr>
            <a:xfrm>
              <a:off x="7251018" y="4360929"/>
              <a:ext cx="574158" cy="574158"/>
              <a:chOff x="5170781" y="1854574"/>
              <a:chExt cx="574158" cy="574158"/>
            </a:xfrm>
          </p:grpSpPr>
          <p:sp>
            <p:nvSpPr>
              <p:cNvPr id="55" name="橢圓 54"/>
              <p:cNvSpPr/>
              <p:nvPr/>
            </p:nvSpPr>
            <p:spPr>
              <a:xfrm>
                <a:off x="5170781" y="1854574"/>
                <a:ext cx="574158" cy="574158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56" name="手繪多邊形 55"/>
              <p:cNvSpPr/>
              <p:nvPr/>
            </p:nvSpPr>
            <p:spPr>
              <a:xfrm>
                <a:off x="5232704" y="1980522"/>
                <a:ext cx="469900" cy="354083"/>
              </a:xfrm>
              <a:custGeom>
                <a:avLst/>
                <a:gdLst>
                  <a:gd name="connsiteX0" fmla="*/ 469900 w 469900"/>
                  <a:gd name="connsiteY0" fmla="*/ 5192 h 354083"/>
                  <a:gd name="connsiteX1" fmla="*/ 254000 w 469900"/>
                  <a:gd name="connsiteY1" fmla="*/ 43292 h 354083"/>
                  <a:gd name="connsiteX2" fmla="*/ 139700 w 469900"/>
                  <a:gd name="connsiteY2" fmla="*/ 322692 h 354083"/>
                  <a:gd name="connsiteX3" fmla="*/ 0 w 469900"/>
                  <a:gd name="connsiteY3" fmla="*/ 335392 h 354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9900" h="354083">
                    <a:moveTo>
                      <a:pt x="469900" y="5192"/>
                    </a:moveTo>
                    <a:cubicBezTo>
                      <a:pt x="389466" y="-2217"/>
                      <a:pt x="309033" y="-9625"/>
                      <a:pt x="254000" y="43292"/>
                    </a:cubicBezTo>
                    <a:cubicBezTo>
                      <a:pt x="198967" y="96209"/>
                      <a:pt x="182033" y="274009"/>
                      <a:pt x="139700" y="322692"/>
                    </a:cubicBezTo>
                    <a:cubicBezTo>
                      <a:pt x="97367" y="371375"/>
                      <a:pt x="48683" y="353383"/>
                      <a:pt x="0" y="335392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</p:grpSp>
        <p:cxnSp>
          <p:nvCxnSpPr>
            <p:cNvPr id="59" name="直線單箭頭接點 58"/>
            <p:cNvCxnSpPr/>
            <p:nvPr/>
          </p:nvCxnSpPr>
          <p:spPr>
            <a:xfrm>
              <a:off x="7826300" y="4663918"/>
              <a:ext cx="43026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群組 62"/>
          <p:cNvGrpSpPr/>
          <p:nvPr/>
        </p:nvGrpSpPr>
        <p:grpSpPr>
          <a:xfrm>
            <a:off x="13063655" y="3812862"/>
            <a:ext cx="1510679" cy="861237"/>
            <a:chOff x="7204153" y="2522858"/>
            <a:chExt cx="1007119" cy="574158"/>
          </a:xfrm>
        </p:grpSpPr>
        <p:grpSp>
          <p:nvGrpSpPr>
            <p:cNvPr id="45" name="群組 44"/>
            <p:cNvGrpSpPr/>
            <p:nvPr/>
          </p:nvGrpSpPr>
          <p:grpSpPr>
            <a:xfrm>
              <a:off x="7204153" y="2522858"/>
              <a:ext cx="574158" cy="574158"/>
              <a:chOff x="5170781" y="1854574"/>
              <a:chExt cx="574158" cy="574158"/>
            </a:xfrm>
          </p:grpSpPr>
          <p:sp>
            <p:nvSpPr>
              <p:cNvPr id="46" name="橢圓 45"/>
              <p:cNvSpPr/>
              <p:nvPr/>
            </p:nvSpPr>
            <p:spPr>
              <a:xfrm>
                <a:off x="5170781" y="1854574"/>
                <a:ext cx="574158" cy="574158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47" name="手繪多邊形 46"/>
              <p:cNvSpPr/>
              <p:nvPr/>
            </p:nvSpPr>
            <p:spPr>
              <a:xfrm>
                <a:off x="5232704" y="1980522"/>
                <a:ext cx="469900" cy="354083"/>
              </a:xfrm>
              <a:custGeom>
                <a:avLst/>
                <a:gdLst>
                  <a:gd name="connsiteX0" fmla="*/ 469900 w 469900"/>
                  <a:gd name="connsiteY0" fmla="*/ 5192 h 354083"/>
                  <a:gd name="connsiteX1" fmla="*/ 254000 w 469900"/>
                  <a:gd name="connsiteY1" fmla="*/ 43292 h 354083"/>
                  <a:gd name="connsiteX2" fmla="*/ 139700 w 469900"/>
                  <a:gd name="connsiteY2" fmla="*/ 322692 h 354083"/>
                  <a:gd name="connsiteX3" fmla="*/ 0 w 469900"/>
                  <a:gd name="connsiteY3" fmla="*/ 335392 h 354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9900" h="354083">
                    <a:moveTo>
                      <a:pt x="469900" y="5192"/>
                    </a:moveTo>
                    <a:cubicBezTo>
                      <a:pt x="389466" y="-2217"/>
                      <a:pt x="309033" y="-9625"/>
                      <a:pt x="254000" y="43292"/>
                    </a:cubicBezTo>
                    <a:cubicBezTo>
                      <a:pt x="198967" y="96209"/>
                      <a:pt x="182033" y="274009"/>
                      <a:pt x="139700" y="322692"/>
                    </a:cubicBezTo>
                    <a:cubicBezTo>
                      <a:pt x="97367" y="371375"/>
                      <a:pt x="48683" y="353383"/>
                      <a:pt x="0" y="335392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</p:grpSp>
        <p:cxnSp>
          <p:nvCxnSpPr>
            <p:cNvPr id="60" name="直線單箭頭接點 59"/>
            <p:cNvCxnSpPr/>
            <p:nvPr/>
          </p:nvCxnSpPr>
          <p:spPr>
            <a:xfrm>
              <a:off x="7781007" y="2822862"/>
              <a:ext cx="43026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/>
              <p:cNvSpPr txBox="1"/>
              <p:nvPr/>
            </p:nvSpPr>
            <p:spPr>
              <a:xfrm>
                <a:off x="9669342" y="5633517"/>
                <a:ext cx="682625" cy="757555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44" name="文字方塊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9342" y="5633517"/>
                <a:ext cx="682625" cy="757555"/>
              </a:xfrm>
              <a:prstGeom prst="rect">
                <a:avLst/>
              </a:prstGeom>
              <a:blipFill rotWithShape="1">
                <a:blip r:embed="rId17"/>
                <a:stretch>
                  <a:fillRect l="-959" t="-895" r="-13460" b="-781"/>
                </a:stretch>
              </a:blipFill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直線單箭頭接點 65"/>
          <p:cNvCxnSpPr/>
          <p:nvPr/>
        </p:nvCxnSpPr>
        <p:spPr>
          <a:xfrm flipV="1">
            <a:off x="11442989" y="4609860"/>
            <a:ext cx="0" cy="576288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字方塊 76"/>
              <p:cNvSpPr txBox="1"/>
              <p:nvPr/>
            </p:nvSpPr>
            <p:spPr>
              <a:xfrm>
                <a:off x="3113886" y="7607871"/>
                <a:ext cx="622935" cy="12185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77" name="文字方塊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3886" y="7607871"/>
                <a:ext cx="622935" cy="1218565"/>
              </a:xfrm>
              <a:prstGeom prst="rect">
                <a:avLst/>
              </a:prstGeom>
              <a:blipFill rotWithShape="1">
                <a:blip r:embed="rId18"/>
                <a:stretch>
                  <a:fillRect l="-77" t="-47" r="-13480" b="4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文字方塊 77"/>
              <p:cNvSpPr txBox="1"/>
              <p:nvPr/>
            </p:nvSpPr>
            <p:spPr>
              <a:xfrm>
                <a:off x="3927161" y="7607870"/>
                <a:ext cx="1924050" cy="12185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f>
                        <m:fPr>
                          <m:ctrlPr>
                            <a:rPr lang="en-US" altLang="zh-TW" sz="4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78" name="文字方塊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7161" y="7607870"/>
                <a:ext cx="1924050" cy="1218565"/>
              </a:xfrm>
              <a:prstGeom prst="rect">
                <a:avLst/>
              </a:prstGeom>
              <a:blipFill rotWithShape="1">
                <a:blip r:embed="rId19"/>
                <a:stretch>
                  <a:fillRect l="-17" t="-47" r="-3581" b="4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字方塊 78"/>
              <p:cNvSpPr txBox="1"/>
              <p:nvPr/>
            </p:nvSpPr>
            <p:spPr>
              <a:xfrm>
                <a:off x="7062034" y="4788468"/>
                <a:ext cx="2093595" cy="7575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4200" b="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79" name="文字方塊 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2034" y="4788468"/>
                <a:ext cx="2093595" cy="757555"/>
              </a:xfrm>
              <a:prstGeom prst="rect">
                <a:avLst/>
              </a:prstGeom>
              <a:blipFill rotWithShape="1">
                <a:blip r:embed="rId20"/>
                <a:stretch>
                  <a:fillRect l="-10" t="-75" r="-3569" b="7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0" name="直線接點 79"/>
          <p:cNvCxnSpPr/>
          <p:nvPr/>
        </p:nvCxnSpPr>
        <p:spPr>
          <a:xfrm>
            <a:off x="5192214" y="8912963"/>
            <a:ext cx="75958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字方塊 60"/>
              <p:cNvSpPr txBox="1"/>
              <p:nvPr/>
            </p:nvSpPr>
            <p:spPr>
              <a:xfrm>
                <a:off x="6561941" y="7535331"/>
                <a:ext cx="5315585" cy="12446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4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′</m:t>
                          </m:r>
                        </m:num>
                        <m:den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f>
                        <m:fPr>
                          <m:ctrlPr>
                            <a:rPr lang="en-US" altLang="zh-TW" sz="4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′</m:t>
                          </m:r>
                        </m:den>
                      </m:f>
                      <m:r>
                        <a:rPr lang="en-US" altLang="zh-TW" sz="42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TW" sz="4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′′</m:t>
                          </m:r>
                        </m:num>
                        <m:den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f>
                        <m:fPr>
                          <m:ctrlPr>
                            <a:rPr lang="en-US" altLang="zh-TW" sz="4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′′</m:t>
                          </m:r>
                        </m:den>
                      </m:f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61" name="文字方塊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1941" y="7535331"/>
                <a:ext cx="5315585" cy="1244600"/>
              </a:xfrm>
              <a:prstGeom prst="rect">
                <a:avLst/>
              </a:prstGeom>
              <a:blipFill rotWithShape="1">
                <a:blip r:embed="rId21"/>
                <a:stretch>
                  <a:fillRect l="-9" t="-34" r="-2046" b="3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文字方塊 63"/>
          <p:cNvSpPr txBox="1"/>
          <p:nvPr/>
        </p:nvSpPr>
        <p:spPr>
          <a:xfrm>
            <a:off x="11536771" y="7909401"/>
            <a:ext cx="299484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(Chain rule)</a:t>
            </a:r>
            <a:endParaRPr lang="zh-TW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矩形 64"/>
              <p:cNvSpPr/>
              <p:nvPr/>
            </p:nvSpPr>
            <p:spPr>
              <a:xfrm>
                <a:off x="11748963" y="4694084"/>
                <a:ext cx="3433445" cy="84899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′=</m:t>
                      </m:r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𝑎</m:t>
                      </m:r>
                      <m:sSub>
                        <m:sSubPr>
                          <m:ctrlP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4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65" name="矩形 6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48963" y="4694084"/>
                <a:ext cx="3433445" cy="848995"/>
              </a:xfrm>
              <a:prstGeom prst="rect">
                <a:avLst/>
              </a:prstGeom>
              <a:blipFill rotWithShape="1">
                <a:blip r:embed="rId22"/>
                <a:stretch>
                  <a:fillRect l="-6" t="-19" r="6" b="1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字方塊 66"/>
              <p:cNvSpPr txBox="1"/>
              <p:nvPr/>
            </p:nvSpPr>
            <p:spPr>
              <a:xfrm>
                <a:off x="7860882" y="9097397"/>
                <a:ext cx="690880" cy="757555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67" name="文字方塊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0882" y="9097397"/>
                <a:ext cx="690880" cy="757555"/>
              </a:xfrm>
              <a:prstGeom prst="rect">
                <a:avLst/>
              </a:prstGeom>
              <a:blipFill rotWithShape="1">
                <a:blip r:embed="rId12"/>
                <a:stretch>
                  <a:fillRect l="-951" t="-889" r="-12744" b="-787"/>
                </a:stretch>
              </a:blipFill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文字方塊 67"/>
              <p:cNvSpPr txBox="1"/>
              <p:nvPr/>
            </p:nvSpPr>
            <p:spPr>
              <a:xfrm>
                <a:off x="9948750" y="9097397"/>
                <a:ext cx="682625" cy="757555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68" name="文字方塊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8750" y="9097397"/>
                <a:ext cx="682625" cy="757555"/>
              </a:xfrm>
              <a:prstGeom prst="rect">
                <a:avLst/>
              </a:prstGeom>
              <a:blipFill rotWithShape="1">
                <a:blip r:embed="rId17"/>
                <a:stretch>
                  <a:fillRect l="-960" t="-889" r="-13458" b="-787"/>
                </a:stretch>
              </a:blipFill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直線接點 68"/>
          <p:cNvCxnSpPr/>
          <p:nvPr/>
        </p:nvCxnSpPr>
        <p:spPr>
          <a:xfrm>
            <a:off x="7853522" y="8887563"/>
            <a:ext cx="759587" cy="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9969290" y="8887563"/>
            <a:ext cx="759587" cy="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接點 70"/>
          <p:cNvCxnSpPr/>
          <p:nvPr/>
        </p:nvCxnSpPr>
        <p:spPr>
          <a:xfrm>
            <a:off x="8775816" y="8836764"/>
            <a:ext cx="75958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接點 71"/>
          <p:cNvCxnSpPr/>
          <p:nvPr/>
        </p:nvCxnSpPr>
        <p:spPr>
          <a:xfrm>
            <a:off x="10955061" y="8887563"/>
            <a:ext cx="75958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/>
          <p:cNvSpPr txBox="1"/>
          <p:nvPr/>
        </p:nvSpPr>
        <p:spPr>
          <a:xfrm>
            <a:off x="8872098" y="8836764"/>
            <a:ext cx="543803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>
                <a:solidFill>
                  <a:srgbClr val="FF0000"/>
                </a:solidFill>
              </a:rPr>
              <a:t>?</a:t>
            </a:r>
            <a:endParaRPr lang="zh-TW" altLang="en-US" sz="4200" dirty="0">
              <a:solidFill>
                <a:srgbClr val="FF0000"/>
              </a:solidFill>
            </a:endParaRPr>
          </a:p>
        </p:txBody>
      </p:sp>
      <p:sp>
        <p:nvSpPr>
          <p:cNvPr id="73" name="文字方塊 72"/>
          <p:cNvSpPr txBox="1"/>
          <p:nvPr/>
        </p:nvSpPr>
        <p:spPr>
          <a:xfrm>
            <a:off x="11089415" y="8823951"/>
            <a:ext cx="543803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>
                <a:solidFill>
                  <a:srgbClr val="FF0000"/>
                </a:solidFill>
              </a:rPr>
              <a:t>?</a:t>
            </a:r>
            <a:endParaRPr lang="zh-TW" altLang="en-US" sz="4200" dirty="0">
              <a:solidFill>
                <a:srgbClr val="FF0000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12475679" y="8474783"/>
            <a:ext cx="4532397" cy="646331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Assumed it’s known</a:t>
            </a:r>
            <a:endParaRPr lang="zh-TW" altLang="en-US" sz="3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bldLvl="0" animBg="1"/>
      <p:bldP spid="43" grpId="0" bldLvl="0" animBg="1"/>
      <p:bldP spid="53" grpId="0" bldLvl="0" animBg="1"/>
      <p:bldP spid="44" grpId="0" bldLvl="0" animBg="1"/>
      <p:bldP spid="61" grpId="0"/>
      <p:bldP spid="64" grpId="0"/>
      <p:bldP spid="65" grpId="0"/>
      <p:bldP spid="67" grpId="0" bldLvl="0" animBg="1"/>
      <p:bldP spid="68" grpId="0" bldLvl="0" animBg="1"/>
      <p:bldP spid="3" grpId="0"/>
      <p:bldP spid="73" grpId="0"/>
      <p:bldP spid="20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單箭頭接點 4"/>
          <p:cNvCxnSpPr/>
          <p:nvPr/>
        </p:nvCxnSpPr>
        <p:spPr>
          <a:xfrm flipV="1">
            <a:off x="3282320" y="4765346"/>
            <a:ext cx="2529525" cy="238267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單箭頭接點 5"/>
          <p:cNvCxnSpPr/>
          <p:nvPr/>
        </p:nvCxnSpPr>
        <p:spPr>
          <a:xfrm flipV="1">
            <a:off x="3282320" y="4385339"/>
            <a:ext cx="236526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群組 6"/>
          <p:cNvGrpSpPr/>
          <p:nvPr/>
        </p:nvGrpSpPr>
        <p:grpSpPr>
          <a:xfrm>
            <a:off x="7741295" y="3836049"/>
            <a:ext cx="861237" cy="861237"/>
            <a:chOff x="5170781" y="1854574"/>
            <a:chExt cx="574158" cy="574158"/>
          </a:xfrm>
        </p:grpSpPr>
        <p:sp>
          <p:nvSpPr>
            <p:cNvPr id="8" name="橢圓 7"/>
            <p:cNvSpPr/>
            <p:nvPr/>
          </p:nvSpPr>
          <p:spPr>
            <a:xfrm>
              <a:off x="5170781" y="1854574"/>
              <a:ext cx="574158" cy="57415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9" name="手繪多邊形 8"/>
            <p:cNvSpPr/>
            <p:nvPr/>
          </p:nvSpPr>
          <p:spPr>
            <a:xfrm>
              <a:off x="5232704" y="1980522"/>
              <a:ext cx="469900" cy="354083"/>
            </a:xfrm>
            <a:custGeom>
              <a:avLst/>
              <a:gdLst>
                <a:gd name="connsiteX0" fmla="*/ 469900 w 469900"/>
                <a:gd name="connsiteY0" fmla="*/ 5192 h 354083"/>
                <a:gd name="connsiteX1" fmla="*/ 254000 w 469900"/>
                <a:gd name="connsiteY1" fmla="*/ 43292 h 354083"/>
                <a:gd name="connsiteX2" fmla="*/ 139700 w 469900"/>
                <a:gd name="connsiteY2" fmla="*/ 322692 h 354083"/>
                <a:gd name="connsiteX3" fmla="*/ 0 w 469900"/>
                <a:gd name="connsiteY3" fmla="*/ 335392 h 354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9900" h="354083">
                  <a:moveTo>
                    <a:pt x="469900" y="5192"/>
                  </a:moveTo>
                  <a:cubicBezTo>
                    <a:pt x="389466" y="-2217"/>
                    <a:pt x="309033" y="-9625"/>
                    <a:pt x="254000" y="43292"/>
                  </a:cubicBezTo>
                  <a:cubicBezTo>
                    <a:pt x="198967" y="96209"/>
                    <a:pt x="182033" y="274009"/>
                    <a:pt x="139700" y="322692"/>
                  </a:cubicBezTo>
                  <a:cubicBezTo>
                    <a:pt x="97367" y="371375"/>
                    <a:pt x="48683" y="353383"/>
                    <a:pt x="0" y="335392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</p:grpSp>
      <p:grpSp>
        <p:nvGrpSpPr>
          <p:cNvPr id="10" name="群組 9"/>
          <p:cNvGrpSpPr/>
          <p:nvPr/>
        </p:nvGrpSpPr>
        <p:grpSpPr>
          <a:xfrm>
            <a:off x="5757450" y="4765346"/>
            <a:ext cx="687430" cy="1247921"/>
            <a:chOff x="10102194" y="1939763"/>
            <a:chExt cx="458287" cy="831947"/>
          </a:xfrm>
        </p:grpSpPr>
        <p:sp>
          <p:nvSpPr>
            <p:cNvPr id="11" name="矩形 10"/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cxnSp>
          <p:nvCxnSpPr>
            <p:cNvPr id="12" name="直線單箭頭接點 11"/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字方塊 12"/>
            <p:cNvSpPr txBox="1"/>
            <p:nvPr/>
          </p:nvSpPr>
          <p:spPr>
            <a:xfrm>
              <a:off x="10118802" y="2316503"/>
              <a:ext cx="441679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b</a:t>
              </a:r>
              <a:endParaRPr lang="zh-TW" altLang="en-US" sz="3600" dirty="0"/>
            </a:p>
          </p:txBody>
        </p:sp>
      </p:grpSp>
      <p:grpSp>
        <p:nvGrpSpPr>
          <p:cNvPr id="14" name="群組 13"/>
          <p:cNvGrpSpPr/>
          <p:nvPr/>
        </p:nvGrpSpPr>
        <p:grpSpPr>
          <a:xfrm>
            <a:off x="5695989" y="4055006"/>
            <a:ext cx="712490" cy="637916"/>
            <a:chOff x="3357891" y="3538413"/>
            <a:chExt cx="474993" cy="425277"/>
          </a:xfrm>
        </p:grpSpPr>
        <p:sp>
          <p:nvSpPr>
            <p:cNvPr id="15" name="矩形 14"/>
            <p:cNvSpPr/>
            <p:nvPr/>
          </p:nvSpPr>
          <p:spPr>
            <a:xfrm>
              <a:off x="3357891" y="3538413"/>
              <a:ext cx="474993" cy="42527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16" name="Object 12"/>
            <p:cNvGraphicFramePr>
              <a:graphicFrameLocks noChangeAspect="1"/>
            </p:cNvGraphicFramePr>
            <p:nvPr/>
          </p:nvGraphicFramePr>
          <p:xfrm>
            <a:off x="3435128" y="3545009"/>
            <a:ext cx="385763" cy="387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3" imgW="3352800" imgH="3352800" progId="Equation.3">
                    <p:embed/>
                  </p:oleObj>
                </mc:Choice>
                <mc:Fallback>
                  <p:oleObj name="方程式" r:id="rId3" imgW="3352800" imgH="3352800" progId="Equation.3">
                    <p:embed/>
                    <p:pic>
                      <p:nvPicPr>
                        <p:cNvPr id="16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5128" y="3545009"/>
                          <a:ext cx="385763" cy="3873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17" name="直線單箭頭接點 16"/>
          <p:cNvCxnSpPr/>
          <p:nvPr/>
        </p:nvCxnSpPr>
        <p:spPr>
          <a:xfrm flipV="1">
            <a:off x="6408479" y="4321640"/>
            <a:ext cx="1259037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/>
              <p:cNvSpPr txBox="1"/>
              <p:nvPr/>
            </p:nvSpPr>
            <p:spPr>
              <a:xfrm>
                <a:off x="4048907" y="3644228"/>
                <a:ext cx="684530" cy="757555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18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8907" y="3644228"/>
                <a:ext cx="684530" cy="757555"/>
              </a:xfrm>
              <a:prstGeom prst="rect">
                <a:avLst/>
              </a:prstGeom>
              <a:blipFill rotWithShape="1">
                <a:blip r:embed="rId5"/>
                <a:stretch>
                  <a:fillRect l="-949" t="-917" r="-13337" b="-759"/>
                </a:stretch>
              </a:blipFill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/>
              <p:cNvSpPr txBox="1"/>
              <p:nvPr/>
            </p:nvSpPr>
            <p:spPr>
              <a:xfrm>
                <a:off x="6921098" y="3559727"/>
                <a:ext cx="462242" cy="757555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19" name="文字方塊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1098" y="3559727"/>
                <a:ext cx="462242" cy="757555"/>
              </a:xfrm>
              <a:prstGeom prst="rect">
                <a:avLst/>
              </a:prstGeom>
              <a:blipFill rotWithShape="1">
                <a:blip r:embed="rId6"/>
                <a:stretch>
                  <a:fillRect l="-1424" t="-911" r="-1332" b="-765"/>
                </a:stretch>
              </a:blipFill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/>
              <p:cNvSpPr txBox="1"/>
              <p:nvPr/>
            </p:nvSpPr>
            <p:spPr>
              <a:xfrm>
                <a:off x="4036498" y="5522354"/>
                <a:ext cx="690880" cy="757555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22" name="文字方塊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6498" y="5522354"/>
                <a:ext cx="690880" cy="757555"/>
              </a:xfrm>
              <a:prstGeom prst="rect">
                <a:avLst/>
              </a:prstGeom>
              <a:blipFill rotWithShape="1">
                <a:blip r:embed="rId7"/>
                <a:stretch>
                  <a:fillRect l="-983" t="-890" r="-12712" b="-786"/>
                </a:stretch>
              </a:blipFill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/>
              <p:cNvSpPr txBox="1"/>
              <p:nvPr/>
            </p:nvSpPr>
            <p:spPr>
              <a:xfrm>
                <a:off x="2591828" y="3959759"/>
                <a:ext cx="580390" cy="757555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23" name="文字方塊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1828" y="3959759"/>
                <a:ext cx="580390" cy="757555"/>
              </a:xfrm>
              <a:prstGeom prst="rect">
                <a:avLst/>
              </a:prstGeom>
              <a:blipFill rotWithShape="1">
                <a:blip r:embed="rId8"/>
                <a:stretch>
                  <a:fillRect l="-1162" t="-909" r="-15140" b="-768"/>
                </a:stretch>
              </a:blip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/>
              <p:cNvSpPr txBox="1"/>
              <p:nvPr/>
            </p:nvSpPr>
            <p:spPr>
              <a:xfrm>
                <a:off x="2612284" y="6756300"/>
                <a:ext cx="586740" cy="757555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24" name="文字方塊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2284" y="6756300"/>
                <a:ext cx="586740" cy="757555"/>
              </a:xfrm>
              <a:prstGeom prst="rect">
                <a:avLst/>
              </a:prstGeom>
              <a:blipFill rotWithShape="1">
                <a:blip r:embed="rId9"/>
                <a:stretch>
                  <a:fillRect l="-1172" t="-909" r="-14412" b="-768"/>
                </a:stretch>
              </a:blip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直線單箭頭接點 35"/>
          <p:cNvCxnSpPr/>
          <p:nvPr/>
        </p:nvCxnSpPr>
        <p:spPr>
          <a:xfrm flipV="1">
            <a:off x="10274786" y="4358477"/>
            <a:ext cx="744344" cy="589961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/>
          <p:nvPr/>
        </p:nvCxnSpPr>
        <p:spPr>
          <a:xfrm flipV="1">
            <a:off x="8663907" y="4281312"/>
            <a:ext cx="236526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群組 37"/>
          <p:cNvGrpSpPr/>
          <p:nvPr/>
        </p:nvGrpSpPr>
        <p:grpSpPr>
          <a:xfrm>
            <a:off x="11077577" y="3950979"/>
            <a:ext cx="712490" cy="637916"/>
            <a:chOff x="3357891" y="3538413"/>
            <a:chExt cx="474993" cy="425277"/>
          </a:xfrm>
        </p:grpSpPr>
        <p:sp>
          <p:nvSpPr>
            <p:cNvPr id="39" name="矩形 38"/>
            <p:cNvSpPr/>
            <p:nvPr/>
          </p:nvSpPr>
          <p:spPr>
            <a:xfrm>
              <a:off x="3357891" y="3538413"/>
              <a:ext cx="474993" cy="42527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40" name="Object 12"/>
            <p:cNvGraphicFramePr>
              <a:graphicFrameLocks noChangeAspect="1"/>
            </p:cNvGraphicFramePr>
            <p:nvPr/>
          </p:nvGraphicFramePr>
          <p:xfrm>
            <a:off x="3435128" y="3545009"/>
            <a:ext cx="385763" cy="387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10" imgW="3352800" imgH="3352800" progId="Equation.3">
                    <p:embed/>
                  </p:oleObj>
                </mc:Choice>
                <mc:Fallback>
                  <p:oleObj name="方程式" r:id="rId10" imgW="3352800" imgH="3352800" progId="Equation.3">
                    <p:embed/>
                    <p:pic>
                      <p:nvPicPr>
                        <p:cNvPr id="4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5128" y="3545009"/>
                          <a:ext cx="385763" cy="3873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41" name="直線單箭頭接點 40"/>
          <p:cNvCxnSpPr/>
          <p:nvPr/>
        </p:nvCxnSpPr>
        <p:spPr>
          <a:xfrm flipV="1">
            <a:off x="11790066" y="4262463"/>
            <a:ext cx="1259037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字方塊 41"/>
              <p:cNvSpPr txBox="1"/>
              <p:nvPr/>
            </p:nvSpPr>
            <p:spPr>
              <a:xfrm>
                <a:off x="9669342" y="3565248"/>
                <a:ext cx="690880" cy="757555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42" name="文字方塊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9342" y="3565248"/>
                <a:ext cx="690880" cy="757555"/>
              </a:xfrm>
              <a:prstGeom prst="rect">
                <a:avLst/>
              </a:prstGeom>
              <a:blipFill rotWithShape="1">
                <a:blip r:embed="rId11"/>
                <a:stretch>
                  <a:fillRect l="-948" t="-885" r="-12747" b="-791"/>
                </a:stretch>
              </a:blipFill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字方塊 42"/>
              <p:cNvSpPr txBox="1"/>
              <p:nvPr/>
            </p:nvSpPr>
            <p:spPr>
              <a:xfrm>
                <a:off x="12188463" y="3483632"/>
                <a:ext cx="462242" cy="757555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altLang="zh-TW" sz="4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43" name="文字方塊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88463" y="3483632"/>
                <a:ext cx="462242" cy="757555"/>
              </a:xfrm>
              <a:prstGeom prst="rect">
                <a:avLst/>
              </a:prstGeom>
              <a:blipFill rotWithShape="1">
                <a:blip r:embed="rId12"/>
                <a:stretch>
                  <a:fillRect l="-1433" t="-841" r="-1323" b="-835"/>
                </a:stretch>
              </a:blipFill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/>
              <p:cNvSpPr txBox="1"/>
              <p:nvPr/>
            </p:nvSpPr>
            <p:spPr>
              <a:xfrm>
                <a:off x="8719242" y="3477341"/>
                <a:ext cx="366395" cy="757555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48" name="文字方塊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9242" y="3477341"/>
                <a:ext cx="366395" cy="757555"/>
              </a:xfrm>
              <a:prstGeom prst="rect">
                <a:avLst/>
              </a:prstGeom>
              <a:blipFill rotWithShape="1">
                <a:blip r:embed="rId13"/>
                <a:stretch>
                  <a:fillRect l="-1749" t="-849" r="-22861" b="-828"/>
                </a:stretch>
              </a:blipFill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9" name="群組 48"/>
          <p:cNvGrpSpPr/>
          <p:nvPr/>
        </p:nvGrpSpPr>
        <p:grpSpPr>
          <a:xfrm>
            <a:off x="11047803" y="6677906"/>
            <a:ext cx="712490" cy="637916"/>
            <a:chOff x="3357891" y="3538413"/>
            <a:chExt cx="474993" cy="425277"/>
          </a:xfrm>
        </p:grpSpPr>
        <p:sp>
          <p:nvSpPr>
            <p:cNvPr id="50" name="矩形 49"/>
            <p:cNvSpPr/>
            <p:nvPr/>
          </p:nvSpPr>
          <p:spPr>
            <a:xfrm>
              <a:off x="3357891" y="3538413"/>
              <a:ext cx="474993" cy="42527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51" name="Object 12"/>
            <p:cNvGraphicFramePr>
              <a:graphicFrameLocks noChangeAspect="1"/>
            </p:cNvGraphicFramePr>
            <p:nvPr/>
          </p:nvGraphicFramePr>
          <p:xfrm>
            <a:off x="3435128" y="3545009"/>
            <a:ext cx="385763" cy="387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14" imgW="3352800" imgH="3352800" progId="Equation.3">
                    <p:embed/>
                  </p:oleObj>
                </mc:Choice>
                <mc:Fallback>
                  <p:oleObj name="方程式" r:id="rId14" imgW="3352800" imgH="3352800" progId="Equation.3">
                    <p:embed/>
                    <p:pic>
                      <p:nvPicPr>
                        <p:cNvPr id="51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5128" y="3545009"/>
                          <a:ext cx="385763" cy="3873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52" name="直線單箭頭接點 51"/>
          <p:cNvCxnSpPr/>
          <p:nvPr/>
        </p:nvCxnSpPr>
        <p:spPr>
          <a:xfrm flipV="1">
            <a:off x="11808101" y="7036725"/>
            <a:ext cx="1259037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字方塊 52"/>
              <p:cNvSpPr txBox="1"/>
              <p:nvPr/>
            </p:nvSpPr>
            <p:spPr>
              <a:xfrm>
                <a:off x="12141392" y="6261090"/>
                <a:ext cx="614414" cy="757555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4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altLang="zh-TW" sz="4200" dirty="0"/>
                  <a:t>’’</a:t>
                </a:r>
                <a:endParaRPr lang="zh-TW" altLang="en-US" sz="4200" dirty="0"/>
              </a:p>
            </p:txBody>
          </p:sp>
        </mc:Choice>
        <mc:Fallback xmlns="">
          <p:sp>
            <p:nvSpPr>
              <p:cNvPr id="53" name="文字方塊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41392" y="6261090"/>
                <a:ext cx="614414" cy="757555"/>
              </a:xfrm>
              <a:prstGeom prst="rect">
                <a:avLst/>
              </a:prstGeom>
              <a:blipFill rotWithShape="1">
                <a:blip r:embed="rId15"/>
                <a:stretch>
                  <a:fillRect l="-1065" t="-921" r="-942" b="-756"/>
                </a:stretch>
              </a:blipFill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直線單箭頭接點 56"/>
          <p:cNvCxnSpPr/>
          <p:nvPr/>
        </p:nvCxnSpPr>
        <p:spPr>
          <a:xfrm>
            <a:off x="10164641" y="7012163"/>
            <a:ext cx="854489" cy="0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單箭頭接點 57"/>
          <p:cNvCxnSpPr>
            <a:endCxn id="50" idx="1"/>
          </p:cNvCxnSpPr>
          <p:nvPr/>
        </p:nvCxnSpPr>
        <p:spPr>
          <a:xfrm>
            <a:off x="8682699" y="4328723"/>
            <a:ext cx="2365104" cy="266814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群組 61"/>
          <p:cNvGrpSpPr/>
          <p:nvPr/>
        </p:nvGrpSpPr>
        <p:grpSpPr>
          <a:xfrm>
            <a:off x="13091090" y="6584256"/>
            <a:ext cx="1508321" cy="861237"/>
            <a:chOff x="7251018" y="4360929"/>
            <a:chExt cx="1005547" cy="574158"/>
          </a:xfrm>
        </p:grpSpPr>
        <p:grpSp>
          <p:nvGrpSpPr>
            <p:cNvPr id="54" name="群組 53"/>
            <p:cNvGrpSpPr/>
            <p:nvPr/>
          </p:nvGrpSpPr>
          <p:grpSpPr>
            <a:xfrm>
              <a:off x="7251018" y="4360929"/>
              <a:ext cx="574158" cy="574158"/>
              <a:chOff x="5170781" y="1854574"/>
              <a:chExt cx="574158" cy="574158"/>
            </a:xfrm>
          </p:grpSpPr>
          <p:sp>
            <p:nvSpPr>
              <p:cNvPr id="55" name="橢圓 54"/>
              <p:cNvSpPr/>
              <p:nvPr/>
            </p:nvSpPr>
            <p:spPr>
              <a:xfrm>
                <a:off x="5170781" y="1854574"/>
                <a:ext cx="574158" cy="574158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56" name="手繪多邊形 55"/>
              <p:cNvSpPr/>
              <p:nvPr/>
            </p:nvSpPr>
            <p:spPr>
              <a:xfrm>
                <a:off x="5232704" y="1980522"/>
                <a:ext cx="469900" cy="354083"/>
              </a:xfrm>
              <a:custGeom>
                <a:avLst/>
                <a:gdLst>
                  <a:gd name="connsiteX0" fmla="*/ 469900 w 469900"/>
                  <a:gd name="connsiteY0" fmla="*/ 5192 h 354083"/>
                  <a:gd name="connsiteX1" fmla="*/ 254000 w 469900"/>
                  <a:gd name="connsiteY1" fmla="*/ 43292 h 354083"/>
                  <a:gd name="connsiteX2" fmla="*/ 139700 w 469900"/>
                  <a:gd name="connsiteY2" fmla="*/ 322692 h 354083"/>
                  <a:gd name="connsiteX3" fmla="*/ 0 w 469900"/>
                  <a:gd name="connsiteY3" fmla="*/ 335392 h 354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9900" h="354083">
                    <a:moveTo>
                      <a:pt x="469900" y="5192"/>
                    </a:moveTo>
                    <a:cubicBezTo>
                      <a:pt x="389466" y="-2217"/>
                      <a:pt x="309033" y="-9625"/>
                      <a:pt x="254000" y="43292"/>
                    </a:cubicBezTo>
                    <a:cubicBezTo>
                      <a:pt x="198967" y="96209"/>
                      <a:pt x="182033" y="274009"/>
                      <a:pt x="139700" y="322692"/>
                    </a:cubicBezTo>
                    <a:cubicBezTo>
                      <a:pt x="97367" y="371375"/>
                      <a:pt x="48683" y="353383"/>
                      <a:pt x="0" y="335392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</p:grpSp>
        <p:cxnSp>
          <p:nvCxnSpPr>
            <p:cNvPr id="59" name="直線單箭頭接點 58"/>
            <p:cNvCxnSpPr/>
            <p:nvPr/>
          </p:nvCxnSpPr>
          <p:spPr>
            <a:xfrm>
              <a:off x="7826300" y="4663918"/>
              <a:ext cx="43026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群組 62"/>
          <p:cNvGrpSpPr/>
          <p:nvPr/>
        </p:nvGrpSpPr>
        <p:grpSpPr>
          <a:xfrm>
            <a:off x="13063655" y="3812862"/>
            <a:ext cx="1510679" cy="861237"/>
            <a:chOff x="7204153" y="2522858"/>
            <a:chExt cx="1007119" cy="574158"/>
          </a:xfrm>
        </p:grpSpPr>
        <p:grpSp>
          <p:nvGrpSpPr>
            <p:cNvPr id="45" name="群組 44"/>
            <p:cNvGrpSpPr/>
            <p:nvPr/>
          </p:nvGrpSpPr>
          <p:grpSpPr>
            <a:xfrm>
              <a:off x="7204153" y="2522858"/>
              <a:ext cx="574158" cy="574158"/>
              <a:chOff x="5170781" y="1854574"/>
              <a:chExt cx="574158" cy="574158"/>
            </a:xfrm>
          </p:grpSpPr>
          <p:sp>
            <p:nvSpPr>
              <p:cNvPr id="46" name="橢圓 45"/>
              <p:cNvSpPr/>
              <p:nvPr/>
            </p:nvSpPr>
            <p:spPr>
              <a:xfrm>
                <a:off x="5170781" y="1854574"/>
                <a:ext cx="574158" cy="574158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47" name="手繪多邊形 46"/>
              <p:cNvSpPr/>
              <p:nvPr/>
            </p:nvSpPr>
            <p:spPr>
              <a:xfrm>
                <a:off x="5232704" y="1980522"/>
                <a:ext cx="469900" cy="354083"/>
              </a:xfrm>
              <a:custGeom>
                <a:avLst/>
                <a:gdLst>
                  <a:gd name="connsiteX0" fmla="*/ 469900 w 469900"/>
                  <a:gd name="connsiteY0" fmla="*/ 5192 h 354083"/>
                  <a:gd name="connsiteX1" fmla="*/ 254000 w 469900"/>
                  <a:gd name="connsiteY1" fmla="*/ 43292 h 354083"/>
                  <a:gd name="connsiteX2" fmla="*/ 139700 w 469900"/>
                  <a:gd name="connsiteY2" fmla="*/ 322692 h 354083"/>
                  <a:gd name="connsiteX3" fmla="*/ 0 w 469900"/>
                  <a:gd name="connsiteY3" fmla="*/ 335392 h 354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9900" h="354083">
                    <a:moveTo>
                      <a:pt x="469900" y="5192"/>
                    </a:moveTo>
                    <a:cubicBezTo>
                      <a:pt x="389466" y="-2217"/>
                      <a:pt x="309033" y="-9625"/>
                      <a:pt x="254000" y="43292"/>
                    </a:cubicBezTo>
                    <a:cubicBezTo>
                      <a:pt x="198967" y="96209"/>
                      <a:pt x="182033" y="274009"/>
                      <a:pt x="139700" y="322692"/>
                    </a:cubicBezTo>
                    <a:cubicBezTo>
                      <a:pt x="97367" y="371375"/>
                      <a:pt x="48683" y="353383"/>
                      <a:pt x="0" y="335392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</p:grpSp>
        <p:cxnSp>
          <p:nvCxnSpPr>
            <p:cNvPr id="60" name="直線單箭頭接點 59"/>
            <p:cNvCxnSpPr/>
            <p:nvPr/>
          </p:nvCxnSpPr>
          <p:spPr>
            <a:xfrm>
              <a:off x="7781007" y="2822862"/>
              <a:ext cx="43026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/>
              <p:cNvSpPr txBox="1"/>
              <p:nvPr/>
            </p:nvSpPr>
            <p:spPr>
              <a:xfrm>
                <a:off x="9669342" y="5633517"/>
                <a:ext cx="682625" cy="757555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44" name="文字方塊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9342" y="5633517"/>
                <a:ext cx="682625" cy="757555"/>
              </a:xfrm>
              <a:prstGeom prst="rect">
                <a:avLst/>
              </a:prstGeom>
              <a:blipFill rotWithShape="1">
                <a:blip r:embed="rId16"/>
                <a:stretch>
                  <a:fillRect l="-959" t="-895" r="-13460" b="-781"/>
                </a:stretch>
              </a:blipFill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直線單箭頭接點 65"/>
          <p:cNvCxnSpPr/>
          <p:nvPr/>
        </p:nvCxnSpPr>
        <p:spPr>
          <a:xfrm flipV="1">
            <a:off x="11442989" y="4609860"/>
            <a:ext cx="0" cy="576288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字方塊 76"/>
              <p:cNvSpPr txBox="1"/>
              <p:nvPr/>
            </p:nvSpPr>
            <p:spPr>
              <a:xfrm>
                <a:off x="6792398" y="4536950"/>
                <a:ext cx="622935" cy="12185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77" name="文字方塊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2398" y="4536950"/>
                <a:ext cx="622935" cy="1218565"/>
              </a:xfrm>
              <a:prstGeom prst="rect">
                <a:avLst/>
              </a:prstGeom>
              <a:blipFill rotWithShape="1">
                <a:blip r:embed="rId17"/>
                <a:stretch>
                  <a:fillRect l="-70" t="-42" r="-13487" b="4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文字方塊 73"/>
              <p:cNvSpPr txBox="1"/>
              <p:nvPr/>
            </p:nvSpPr>
            <p:spPr>
              <a:xfrm>
                <a:off x="12008414" y="7148223"/>
                <a:ext cx="919480" cy="12185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′′</m:t>
                          </m:r>
                        </m:den>
                      </m:f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74" name="文字方塊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08414" y="7148223"/>
                <a:ext cx="919480" cy="1218565"/>
              </a:xfrm>
              <a:prstGeom prst="rect">
                <a:avLst/>
              </a:prstGeom>
              <a:blipFill rotWithShape="1">
                <a:blip r:embed="rId18"/>
                <a:stretch>
                  <a:fillRect l="-61" t="-2" r="-10574" b="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字方塊 74"/>
              <p:cNvSpPr txBox="1"/>
              <p:nvPr/>
            </p:nvSpPr>
            <p:spPr>
              <a:xfrm>
                <a:off x="12008414" y="4373963"/>
                <a:ext cx="768985" cy="12185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′</m:t>
                          </m:r>
                        </m:den>
                      </m:f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75" name="文字方塊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08414" y="4373963"/>
                <a:ext cx="768985" cy="1218565"/>
              </a:xfrm>
              <a:prstGeom prst="rect">
                <a:avLst/>
              </a:prstGeom>
              <a:blipFill rotWithShape="1">
                <a:blip r:embed="rId19"/>
                <a:stretch>
                  <a:fillRect l="-73" t="-7" r="-11900"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字方塊 75"/>
              <p:cNvSpPr txBox="1"/>
              <p:nvPr/>
            </p:nvSpPr>
            <p:spPr>
              <a:xfrm>
                <a:off x="3689532" y="7995156"/>
                <a:ext cx="6628130" cy="12185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4200" i="1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TW" sz="4200" i="1"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en-US" altLang="zh-TW" sz="4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4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4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4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f>
                            <m:fPr>
                              <m:ctrlP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TW" altLang="en-US" sz="42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altLang="zh-TW" sz="42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num>
                            <m:den>
                              <m:r>
                                <a:rPr lang="zh-TW" altLang="en-US" sz="42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den>
                          </m:f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TW" sz="4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4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4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f>
                            <m:fPr>
                              <m:ctrlP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TW" altLang="en-US" sz="42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altLang="zh-TW" sz="42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num>
                            <m:den>
                              <m:r>
                                <a:rPr lang="zh-TW" altLang="en-US" sz="42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76" name="文字方塊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9532" y="7995156"/>
                <a:ext cx="6628130" cy="1218565"/>
              </a:xfrm>
              <a:prstGeom prst="rect">
                <a:avLst/>
              </a:prstGeom>
              <a:blipFill rotWithShape="1">
                <a:blip r:embed="rId20"/>
                <a:stretch>
                  <a:fillRect l="-3" t="-42" r="-1271" b="4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Backpropagation – Backward pass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文字方塊 82"/>
              <p:cNvSpPr txBox="1"/>
              <p:nvPr/>
            </p:nvSpPr>
            <p:spPr>
              <a:xfrm>
                <a:off x="3441814" y="2536033"/>
                <a:ext cx="11617211" cy="7575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TW" sz="4200" dirty="0"/>
                  <a:t>Compute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altLang="zh-TW" sz="4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4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42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num>
                      <m:den>
                        <m:r>
                          <a:rPr lang="zh-TW" altLang="en-US" sz="4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42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lang="en-US" altLang="zh-TW" sz="4200" dirty="0"/>
                  <a:t> for all activation function inputs z</a:t>
                </a:r>
                <a:endParaRPr lang="zh-TW" altLang="en-US" sz="4200" dirty="0"/>
              </a:p>
            </p:txBody>
          </p:sp>
        </mc:Choice>
        <mc:Fallback xmlns="">
          <p:sp>
            <p:nvSpPr>
              <p:cNvPr id="83" name="文字方塊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1814" y="2536033"/>
                <a:ext cx="11617211" cy="757555"/>
              </a:xfrm>
              <a:prstGeom prst="rect">
                <a:avLst/>
              </a:prstGeom>
              <a:blipFill rotWithShape="1">
                <a:blip r:embed="rId21"/>
                <a:stretch>
                  <a:fillRect l="-1" t="-63" b="6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/>
      <p:bldP spid="74" grpId="0"/>
      <p:bldP spid="75" grpId="0"/>
      <p:bldP spid="7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單箭頭接點 4"/>
          <p:cNvCxnSpPr/>
          <p:nvPr/>
        </p:nvCxnSpPr>
        <p:spPr>
          <a:xfrm flipV="1">
            <a:off x="3282320" y="4765346"/>
            <a:ext cx="2529525" cy="238267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單箭頭接點 5"/>
          <p:cNvCxnSpPr/>
          <p:nvPr/>
        </p:nvCxnSpPr>
        <p:spPr>
          <a:xfrm flipV="1">
            <a:off x="3282320" y="4385339"/>
            <a:ext cx="236526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群組 6"/>
          <p:cNvGrpSpPr/>
          <p:nvPr/>
        </p:nvGrpSpPr>
        <p:grpSpPr>
          <a:xfrm>
            <a:off x="7741295" y="3836049"/>
            <a:ext cx="861237" cy="861237"/>
            <a:chOff x="5170781" y="1854574"/>
            <a:chExt cx="574158" cy="574158"/>
          </a:xfrm>
        </p:grpSpPr>
        <p:sp>
          <p:nvSpPr>
            <p:cNvPr id="8" name="橢圓 7"/>
            <p:cNvSpPr/>
            <p:nvPr/>
          </p:nvSpPr>
          <p:spPr>
            <a:xfrm>
              <a:off x="5170781" y="1854574"/>
              <a:ext cx="574158" cy="57415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9" name="手繪多邊形 8"/>
            <p:cNvSpPr/>
            <p:nvPr/>
          </p:nvSpPr>
          <p:spPr>
            <a:xfrm>
              <a:off x="5232704" y="1980522"/>
              <a:ext cx="469900" cy="354083"/>
            </a:xfrm>
            <a:custGeom>
              <a:avLst/>
              <a:gdLst>
                <a:gd name="connsiteX0" fmla="*/ 469900 w 469900"/>
                <a:gd name="connsiteY0" fmla="*/ 5192 h 354083"/>
                <a:gd name="connsiteX1" fmla="*/ 254000 w 469900"/>
                <a:gd name="connsiteY1" fmla="*/ 43292 h 354083"/>
                <a:gd name="connsiteX2" fmla="*/ 139700 w 469900"/>
                <a:gd name="connsiteY2" fmla="*/ 322692 h 354083"/>
                <a:gd name="connsiteX3" fmla="*/ 0 w 469900"/>
                <a:gd name="connsiteY3" fmla="*/ 335392 h 354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9900" h="354083">
                  <a:moveTo>
                    <a:pt x="469900" y="5192"/>
                  </a:moveTo>
                  <a:cubicBezTo>
                    <a:pt x="389466" y="-2217"/>
                    <a:pt x="309033" y="-9625"/>
                    <a:pt x="254000" y="43292"/>
                  </a:cubicBezTo>
                  <a:cubicBezTo>
                    <a:pt x="198967" y="96209"/>
                    <a:pt x="182033" y="274009"/>
                    <a:pt x="139700" y="322692"/>
                  </a:cubicBezTo>
                  <a:cubicBezTo>
                    <a:pt x="97367" y="371375"/>
                    <a:pt x="48683" y="353383"/>
                    <a:pt x="0" y="335392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</p:grpSp>
      <p:grpSp>
        <p:nvGrpSpPr>
          <p:cNvPr id="10" name="群組 9"/>
          <p:cNvGrpSpPr/>
          <p:nvPr/>
        </p:nvGrpSpPr>
        <p:grpSpPr>
          <a:xfrm>
            <a:off x="5757450" y="4765346"/>
            <a:ext cx="687430" cy="1247921"/>
            <a:chOff x="10102194" y="1939763"/>
            <a:chExt cx="458287" cy="831947"/>
          </a:xfrm>
        </p:grpSpPr>
        <p:sp>
          <p:nvSpPr>
            <p:cNvPr id="11" name="矩形 10"/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cxnSp>
          <p:nvCxnSpPr>
            <p:cNvPr id="12" name="直線單箭頭接點 11"/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字方塊 12"/>
            <p:cNvSpPr txBox="1"/>
            <p:nvPr/>
          </p:nvSpPr>
          <p:spPr>
            <a:xfrm>
              <a:off x="10118802" y="2316503"/>
              <a:ext cx="441679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b</a:t>
              </a:r>
              <a:endParaRPr lang="zh-TW" altLang="en-US" sz="3600" dirty="0"/>
            </a:p>
          </p:txBody>
        </p:sp>
      </p:grpSp>
      <p:grpSp>
        <p:nvGrpSpPr>
          <p:cNvPr id="14" name="群組 13"/>
          <p:cNvGrpSpPr/>
          <p:nvPr/>
        </p:nvGrpSpPr>
        <p:grpSpPr>
          <a:xfrm>
            <a:off x="5695989" y="4055006"/>
            <a:ext cx="712490" cy="637916"/>
            <a:chOff x="3357891" y="3538413"/>
            <a:chExt cx="474993" cy="425277"/>
          </a:xfrm>
        </p:grpSpPr>
        <p:sp>
          <p:nvSpPr>
            <p:cNvPr id="15" name="矩形 14"/>
            <p:cNvSpPr/>
            <p:nvPr/>
          </p:nvSpPr>
          <p:spPr>
            <a:xfrm>
              <a:off x="3357891" y="3538413"/>
              <a:ext cx="474993" cy="42527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16" name="Object 12"/>
            <p:cNvGraphicFramePr>
              <a:graphicFrameLocks noChangeAspect="1"/>
            </p:cNvGraphicFramePr>
            <p:nvPr/>
          </p:nvGraphicFramePr>
          <p:xfrm>
            <a:off x="3435128" y="3545009"/>
            <a:ext cx="385763" cy="387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3" imgW="3352800" imgH="3352800" progId="Equation.3">
                    <p:embed/>
                  </p:oleObj>
                </mc:Choice>
                <mc:Fallback>
                  <p:oleObj name="方程式" r:id="rId3" imgW="3352800" imgH="33528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5128" y="3545009"/>
                          <a:ext cx="385763" cy="3873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17" name="直線單箭頭接點 16"/>
          <p:cNvCxnSpPr/>
          <p:nvPr/>
        </p:nvCxnSpPr>
        <p:spPr>
          <a:xfrm flipV="1">
            <a:off x="6408479" y="4321640"/>
            <a:ext cx="1259037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/>
              <p:cNvSpPr txBox="1"/>
              <p:nvPr/>
            </p:nvSpPr>
            <p:spPr>
              <a:xfrm>
                <a:off x="4048907" y="3644228"/>
                <a:ext cx="684530" cy="757555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18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8907" y="3644228"/>
                <a:ext cx="684530" cy="757555"/>
              </a:xfrm>
              <a:prstGeom prst="rect">
                <a:avLst/>
              </a:prstGeom>
              <a:blipFill rotWithShape="1">
                <a:blip r:embed="rId5"/>
                <a:stretch>
                  <a:fillRect l="-949" t="-917" r="-13337" b="-759"/>
                </a:stretch>
              </a:blipFill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/>
              <p:cNvSpPr txBox="1"/>
              <p:nvPr/>
            </p:nvSpPr>
            <p:spPr>
              <a:xfrm>
                <a:off x="6921098" y="3559727"/>
                <a:ext cx="462242" cy="757555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19" name="文字方塊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1098" y="3559727"/>
                <a:ext cx="462242" cy="757555"/>
              </a:xfrm>
              <a:prstGeom prst="rect">
                <a:avLst/>
              </a:prstGeom>
              <a:blipFill rotWithShape="1">
                <a:blip r:embed="rId6"/>
                <a:stretch>
                  <a:fillRect l="-1424" t="-911" r="-1332" b="-765"/>
                </a:stretch>
              </a:blipFill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/>
              <p:cNvSpPr txBox="1"/>
              <p:nvPr/>
            </p:nvSpPr>
            <p:spPr>
              <a:xfrm>
                <a:off x="4036498" y="5522354"/>
                <a:ext cx="690880" cy="757555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22" name="文字方塊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6498" y="5522354"/>
                <a:ext cx="690880" cy="757555"/>
              </a:xfrm>
              <a:prstGeom prst="rect">
                <a:avLst/>
              </a:prstGeom>
              <a:blipFill rotWithShape="1">
                <a:blip r:embed="rId7"/>
                <a:stretch>
                  <a:fillRect l="-983" t="-890" r="-12712" b="-786"/>
                </a:stretch>
              </a:blipFill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/>
              <p:cNvSpPr txBox="1"/>
              <p:nvPr/>
            </p:nvSpPr>
            <p:spPr>
              <a:xfrm>
                <a:off x="2591828" y="3959759"/>
                <a:ext cx="580390" cy="757555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23" name="文字方塊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1828" y="3959759"/>
                <a:ext cx="580390" cy="757555"/>
              </a:xfrm>
              <a:prstGeom prst="rect">
                <a:avLst/>
              </a:prstGeom>
              <a:blipFill rotWithShape="1">
                <a:blip r:embed="rId8"/>
                <a:stretch>
                  <a:fillRect l="-1162" t="-909" r="-15140" b="-768"/>
                </a:stretch>
              </a:blip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/>
              <p:cNvSpPr txBox="1"/>
              <p:nvPr/>
            </p:nvSpPr>
            <p:spPr>
              <a:xfrm>
                <a:off x="2612284" y="6756300"/>
                <a:ext cx="586740" cy="757555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24" name="文字方塊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2284" y="6756300"/>
                <a:ext cx="586740" cy="757555"/>
              </a:xfrm>
              <a:prstGeom prst="rect">
                <a:avLst/>
              </a:prstGeom>
              <a:blipFill rotWithShape="1">
                <a:blip r:embed="rId9"/>
                <a:stretch>
                  <a:fillRect l="-1172" t="-909" r="-14412" b="-768"/>
                </a:stretch>
              </a:blip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直線單箭頭接點 35"/>
          <p:cNvCxnSpPr/>
          <p:nvPr/>
        </p:nvCxnSpPr>
        <p:spPr>
          <a:xfrm flipV="1">
            <a:off x="10274786" y="4358477"/>
            <a:ext cx="744344" cy="589961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/>
          <p:nvPr/>
        </p:nvCxnSpPr>
        <p:spPr>
          <a:xfrm flipV="1">
            <a:off x="8663907" y="4281312"/>
            <a:ext cx="236526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群組 37"/>
          <p:cNvGrpSpPr/>
          <p:nvPr/>
        </p:nvGrpSpPr>
        <p:grpSpPr>
          <a:xfrm>
            <a:off x="11077577" y="3950979"/>
            <a:ext cx="712490" cy="637916"/>
            <a:chOff x="3357891" y="3538413"/>
            <a:chExt cx="474993" cy="425277"/>
          </a:xfrm>
        </p:grpSpPr>
        <p:sp>
          <p:nvSpPr>
            <p:cNvPr id="39" name="矩形 38"/>
            <p:cNvSpPr/>
            <p:nvPr/>
          </p:nvSpPr>
          <p:spPr>
            <a:xfrm>
              <a:off x="3357891" y="3538413"/>
              <a:ext cx="474993" cy="42527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40" name="Object 12"/>
            <p:cNvGraphicFramePr>
              <a:graphicFrameLocks noChangeAspect="1"/>
            </p:cNvGraphicFramePr>
            <p:nvPr/>
          </p:nvGraphicFramePr>
          <p:xfrm>
            <a:off x="3435128" y="3545009"/>
            <a:ext cx="385763" cy="387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10" imgW="3352800" imgH="3352800" progId="Equation.3">
                    <p:embed/>
                  </p:oleObj>
                </mc:Choice>
                <mc:Fallback>
                  <p:oleObj name="方程式" r:id="rId10" imgW="3352800" imgH="33528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5128" y="3545009"/>
                          <a:ext cx="385763" cy="3873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41" name="直線單箭頭接點 40"/>
          <p:cNvCxnSpPr/>
          <p:nvPr/>
        </p:nvCxnSpPr>
        <p:spPr>
          <a:xfrm flipV="1">
            <a:off x="11790066" y="4262463"/>
            <a:ext cx="1259037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字方塊 41"/>
              <p:cNvSpPr txBox="1"/>
              <p:nvPr/>
            </p:nvSpPr>
            <p:spPr>
              <a:xfrm>
                <a:off x="9669342" y="3565248"/>
                <a:ext cx="690880" cy="757555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42" name="文字方塊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9342" y="3565248"/>
                <a:ext cx="690880" cy="757555"/>
              </a:xfrm>
              <a:prstGeom prst="rect">
                <a:avLst/>
              </a:prstGeom>
              <a:blipFill rotWithShape="1">
                <a:blip r:embed="rId11"/>
                <a:stretch>
                  <a:fillRect l="-948" t="-885" r="-12747" b="-791"/>
                </a:stretch>
              </a:blipFill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字方塊 42"/>
              <p:cNvSpPr txBox="1"/>
              <p:nvPr/>
            </p:nvSpPr>
            <p:spPr>
              <a:xfrm>
                <a:off x="12188463" y="3483632"/>
                <a:ext cx="462242" cy="757555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altLang="zh-TW" sz="4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43" name="文字方塊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88463" y="3483632"/>
                <a:ext cx="462242" cy="757555"/>
              </a:xfrm>
              <a:prstGeom prst="rect">
                <a:avLst/>
              </a:prstGeom>
              <a:blipFill rotWithShape="1">
                <a:blip r:embed="rId12"/>
                <a:stretch>
                  <a:fillRect l="-1433" t="-841" r="-1323" b="-835"/>
                </a:stretch>
              </a:blipFill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/>
              <p:cNvSpPr txBox="1"/>
              <p:nvPr/>
            </p:nvSpPr>
            <p:spPr>
              <a:xfrm>
                <a:off x="8719242" y="3477341"/>
                <a:ext cx="366395" cy="757555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48" name="文字方塊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9242" y="3477341"/>
                <a:ext cx="366395" cy="757555"/>
              </a:xfrm>
              <a:prstGeom prst="rect">
                <a:avLst/>
              </a:prstGeom>
              <a:blipFill rotWithShape="1">
                <a:blip r:embed="rId13"/>
                <a:stretch>
                  <a:fillRect l="-1749" t="-849" r="-22861" b="-828"/>
                </a:stretch>
              </a:blipFill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9" name="群組 48"/>
          <p:cNvGrpSpPr/>
          <p:nvPr/>
        </p:nvGrpSpPr>
        <p:grpSpPr>
          <a:xfrm>
            <a:off x="11047803" y="6677906"/>
            <a:ext cx="712490" cy="637916"/>
            <a:chOff x="3357891" y="3538413"/>
            <a:chExt cx="474993" cy="425277"/>
          </a:xfrm>
        </p:grpSpPr>
        <p:sp>
          <p:nvSpPr>
            <p:cNvPr id="50" name="矩形 49"/>
            <p:cNvSpPr/>
            <p:nvPr/>
          </p:nvSpPr>
          <p:spPr>
            <a:xfrm>
              <a:off x="3357891" y="3538413"/>
              <a:ext cx="474993" cy="42527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51" name="Object 12"/>
            <p:cNvGraphicFramePr>
              <a:graphicFrameLocks noChangeAspect="1"/>
            </p:cNvGraphicFramePr>
            <p:nvPr/>
          </p:nvGraphicFramePr>
          <p:xfrm>
            <a:off x="3435128" y="3545009"/>
            <a:ext cx="385763" cy="387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14" imgW="3352800" imgH="3352800" progId="Equation.3">
                    <p:embed/>
                  </p:oleObj>
                </mc:Choice>
                <mc:Fallback>
                  <p:oleObj name="方程式" r:id="rId14" imgW="3352800" imgH="33528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5128" y="3545009"/>
                          <a:ext cx="385763" cy="3873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52" name="直線單箭頭接點 51"/>
          <p:cNvCxnSpPr/>
          <p:nvPr/>
        </p:nvCxnSpPr>
        <p:spPr>
          <a:xfrm flipV="1">
            <a:off x="11808101" y="7036725"/>
            <a:ext cx="1259037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字方塊 52"/>
              <p:cNvSpPr txBox="1"/>
              <p:nvPr/>
            </p:nvSpPr>
            <p:spPr>
              <a:xfrm>
                <a:off x="12141392" y="6261090"/>
                <a:ext cx="614414" cy="757555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4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altLang="zh-TW" sz="4200" dirty="0"/>
                  <a:t>’’</a:t>
                </a:r>
                <a:endParaRPr lang="zh-TW" altLang="en-US" sz="4200" dirty="0"/>
              </a:p>
            </p:txBody>
          </p:sp>
        </mc:Choice>
        <mc:Fallback xmlns="">
          <p:sp>
            <p:nvSpPr>
              <p:cNvPr id="53" name="文字方塊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41392" y="6261090"/>
                <a:ext cx="614414" cy="757555"/>
              </a:xfrm>
              <a:prstGeom prst="rect">
                <a:avLst/>
              </a:prstGeom>
              <a:blipFill rotWithShape="1">
                <a:blip r:embed="rId15"/>
                <a:stretch>
                  <a:fillRect l="-1065" t="-921" r="-942" b="-756"/>
                </a:stretch>
              </a:blipFill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直線單箭頭接點 56"/>
          <p:cNvCxnSpPr/>
          <p:nvPr/>
        </p:nvCxnSpPr>
        <p:spPr>
          <a:xfrm>
            <a:off x="10164641" y="7012163"/>
            <a:ext cx="854489" cy="0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單箭頭接點 57"/>
          <p:cNvCxnSpPr>
            <a:endCxn id="50" idx="1"/>
          </p:cNvCxnSpPr>
          <p:nvPr/>
        </p:nvCxnSpPr>
        <p:spPr>
          <a:xfrm>
            <a:off x="8682699" y="4328723"/>
            <a:ext cx="2365104" cy="266814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群組 61"/>
          <p:cNvGrpSpPr/>
          <p:nvPr/>
        </p:nvGrpSpPr>
        <p:grpSpPr>
          <a:xfrm>
            <a:off x="13091090" y="6584256"/>
            <a:ext cx="1508321" cy="861237"/>
            <a:chOff x="7251018" y="4360929"/>
            <a:chExt cx="1005547" cy="574158"/>
          </a:xfrm>
        </p:grpSpPr>
        <p:grpSp>
          <p:nvGrpSpPr>
            <p:cNvPr id="54" name="群組 53"/>
            <p:cNvGrpSpPr/>
            <p:nvPr/>
          </p:nvGrpSpPr>
          <p:grpSpPr>
            <a:xfrm>
              <a:off x="7251018" y="4360929"/>
              <a:ext cx="574158" cy="574158"/>
              <a:chOff x="5170781" y="1854574"/>
              <a:chExt cx="574158" cy="574158"/>
            </a:xfrm>
          </p:grpSpPr>
          <p:sp>
            <p:nvSpPr>
              <p:cNvPr id="55" name="橢圓 54"/>
              <p:cNvSpPr/>
              <p:nvPr/>
            </p:nvSpPr>
            <p:spPr>
              <a:xfrm>
                <a:off x="5170781" y="1854574"/>
                <a:ext cx="574158" cy="574158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56" name="手繪多邊形 55"/>
              <p:cNvSpPr/>
              <p:nvPr/>
            </p:nvSpPr>
            <p:spPr>
              <a:xfrm>
                <a:off x="5232704" y="1980522"/>
                <a:ext cx="469900" cy="354083"/>
              </a:xfrm>
              <a:custGeom>
                <a:avLst/>
                <a:gdLst>
                  <a:gd name="connsiteX0" fmla="*/ 469900 w 469900"/>
                  <a:gd name="connsiteY0" fmla="*/ 5192 h 354083"/>
                  <a:gd name="connsiteX1" fmla="*/ 254000 w 469900"/>
                  <a:gd name="connsiteY1" fmla="*/ 43292 h 354083"/>
                  <a:gd name="connsiteX2" fmla="*/ 139700 w 469900"/>
                  <a:gd name="connsiteY2" fmla="*/ 322692 h 354083"/>
                  <a:gd name="connsiteX3" fmla="*/ 0 w 469900"/>
                  <a:gd name="connsiteY3" fmla="*/ 335392 h 354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9900" h="354083">
                    <a:moveTo>
                      <a:pt x="469900" y="5192"/>
                    </a:moveTo>
                    <a:cubicBezTo>
                      <a:pt x="389466" y="-2217"/>
                      <a:pt x="309033" y="-9625"/>
                      <a:pt x="254000" y="43292"/>
                    </a:cubicBezTo>
                    <a:cubicBezTo>
                      <a:pt x="198967" y="96209"/>
                      <a:pt x="182033" y="274009"/>
                      <a:pt x="139700" y="322692"/>
                    </a:cubicBezTo>
                    <a:cubicBezTo>
                      <a:pt x="97367" y="371375"/>
                      <a:pt x="48683" y="353383"/>
                      <a:pt x="0" y="335392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</p:grpSp>
        <p:cxnSp>
          <p:nvCxnSpPr>
            <p:cNvPr id="59" name="直線單箭頭接點 58"/>
            <p:cNvCxnSpPr/>
            <p:nvPr/>
          </p:nvCxnSpPr>
          <p:spPr>
            <a:xfrm>
              <a:off x="7826300" y="4663918"/>
              <a:ext cx="43026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群組 62"/>
          <p:cNvGrpSpPr/>
          <p:nvPr/>
        </p:nvGrpSpPr>
        <p:grpSpPr>
          <a:xfrm>
            <a:off x="13063655" y="3812862"/>
            <a:ext cx="1510679" cy="861237"/>
            <a:chOff x="7204153" y="2522858"/>
            <a:chExt cx="1007119" cy="574158"/>
          </a:xfrm>
        </p:grpSpPr>
        <p:grpSp>
          <p:nvGrpSpPr>
            <p:cNvPr id="45" name="群組 44"/>
            <p:cNvGrpSpPr/>
            <p:nvPr/>
          </p:nvGrpSpPr>
          <p:grpSpPr>
            <a:xfrm>
              <a:off x="7204153" y="2522858"/>
              <a:ext cx="574158" cy="574158"/>
              <a:chOff x="5170781" y="1854574"/>
              <a:chExt cx="574158" cy="574158"/>
            </a:xfrm>
          </p:grpSpPr>
          <p:sp>
            <p:nvSpPr>
              <p:cNvPr id="46" name="橢圓 45"/>
              <p:cNvSpPr/>
              <p:nvPr/>
            </p:nvSpPr>
            <p:spPr>
              <a:xfrm>
                <a:off x="5170781" y="1854574"/>
                <a:ext cx="574158" cy="574158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47" name="手繪多邊形 46"/>
              <p:cNvSpPr/>
              <p:nvPr/>
            </p:nvSpPr>
            <p:spPr>
              <a:xfrm>
                <a:off x="5232704" y="1980522"/>
                <a:ext cx="469900" cy="354083"/>
              </a:xfrm>
              <a:custGeom>
                <a:avLst/>
                <a:gdLst>
                  <a:gd name="connsiteX0" fmla="*/ 469900 w 469900"/>
                  <a:gd name="connsiteY0" fmla="*/ 5192 h 354083"/>
                  <a:gd name="connsiteX1" fmla="*/ 254000 w 469900"/>
                  <a:gd name="connsiteY1" fmla="*/ 43292 h 354083"/>
                  <a:gd name="connsiteX2" fmla="*/ 139700 w 469900"/>
                  <a:gd name="connsiteY2" fmla="*/ 322692 h 354083"/>
                  <a:gd name="connsiteX3" fmla="*/ 0 w 469900"/>
                  <a:gd name="connsiteY3" fmla="*/ 335392 h 354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9900" h="354083">
                    <a:moveTo>
                      <a:pt x="469900" y="5192"/>
                    </a:moveTo>
                    <a:cubicBezTo>
                      <a:pt x="389466" y="-2217"/>
                      <a:pt x="309033" y="-9625"/>
                      <a:pt x="254000" y="43292"/>
                    </a:cubicBezTo>
                    <a:cubicBezTo>
                      <a:pt x="198967" y="96209"/>
                      <a:pt x="182033" y="274009"/>
                      <a:pt x="139700" y="322692"/>
                    </a:cubicBezTo>
                    <a:cubicBezTo>
                      <a:pt x="97367" y="371375"/>
                      <a:pt x="48683" y="353383"/>
                      <a:pt x="0" y="335392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</p:grpSp>
        <p:cxnSp>
          <p:nvCxnSpPr>
            <p:cNvPr id="60" name="直線單箭頭接點 59"/>
            <p:cNvCxnSpPr/>
            <p:nvPr/>
          </p:nvCxnSpPr>
          <p:spPr>
            <a:xfrm>
              <a:off x="7781007" y="2822862"/>
              <a:ext cx="43026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/>
              <p:cNvSpPr txBox="1"/>
              <p:nvPr/>
            </p:nvSpPr>
            <p:spPr>
              <a:xfrm>
                <a:off x="9669342" y="5633517"/>
                <a:ext cx="682625" cy="757555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44" name="文字方塊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9342" y="5633517"/>
                <a:ext cx="682625" cy="757555"/>
              </a:xfrm>
              <a:prstGeom prst="rect">
                <a:avLst/>
              </a:prstGeom>
              <a:blipFill rotWithShape="1">
                <a:blip r:embed="rId16"/>
                <a:stretch>
                  <a:fillRect l="-959" t="-895" r="-13460" b="-781"/>
                </a:stretch>
              </a:blipFill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直線單箭頭接點 65"/>
          <p:cNvCxnSpPr/>
          <p:nvPr/>
        </p:nvCxnSpPr>
        <p:spPr>
          <a:xfrm flipV="1">
            <a:off x="11442989" y="4609860"/>
            <a:ext cx="0" cy="576288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字方塊 76"/>
              <p:cNvSpPr txBox="1"/>
              <p:nvPr/>
            </p:nvSpPr>
            <p:spPr>
              <a:xfrm>
                <a:off x="6792398" y="4536950"/>
                <a:ext cx="622935" cy="12185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77" name="文字方塊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2398" y="4536950"/>
                <a:ext cx="622935" cy="1218565"/>
              </a:xfrm>
              <a:prstGeom prst="rect">
                <a:avLst/>
              </a:prstGeom>
              <a:blipFill rotWithShape="1">
                <a:blip r:embed="rId17"/>
                <a:stretch>
                  <a:fillRect l="-70" t="-42" r="-13487" b="4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文字方塊 73"/>
              <p:cNvSpPr txBox="1"/>
              <p:nvPr/>
            </p:nvSpPr>
            <p:spPr>
              <a:xfrm>
                <a:off x="12008414" y="7148223"/>
                <a:ext cx="919480" cy="12185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′′</m:t>
                          </m:r>
                        </m:den>
                      </m:f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74" name="文字方塊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08414" y="7148223"/>
                <a:ext cx="919480" cy="1218565"/>
              </a:xfrm>
              <a:prstGeom prst="rect">
                <a:avLst/>
              </a:prstGeom>
              <a:blipFill rotWithShape="1">
                <a:blip r:embed="rId18"/>
                <a:stretch>
                  <a:fillRect l="-61" t="-2" r="-10574" b="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字方塊 74"/>
              <p:cNvSpPr txBox="1"/>
              <p:nvPr/>
            </p:nvSpPr>
            <p:spPr>
              <a:xfrm>
                <a:off x="12008414" y="4373963"/>
                <a:ext cx="768985" cy="12185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′</m:t>
                          </m:r>
                        </m:den>
                      </m:f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75" name="文字方塊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08414" y="4373963"/>
                <a:ext cx="768985" cy="1218565"/>
              </a:xfrm>
              <a:prstGeom prst="rect">
                <a:avLst/>
              </a:prstGeom>
              <a:blipFill rotWithShape="1">
                <a:blip r:embed="rId19"/>
                <a:stretch>
                  <a:fillRect l="-73" t="-7" r="-11900"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字方塊 75"/>
              <p:cNvSpPr txBox="1"/>
              <p:nvPr/>
            </p:nvSpPr>
            <p:spPr>
              <a:xfrm>
                <a:off x="3689532" y="7995156"/>
                <a:ext cx="6628130" cy="12185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4200" i="1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TW" sz="4200" i="1"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en-US" altLang="zh-TW" sz="4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4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4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4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f>
                            <m:fPr>
                              <m:ctrlP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TW" altLang="en-US" sz="42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altLang="zh-TW" sz="42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num>
                            <m:den>
                              <m:r>
                                <a:rPr lang="zh-TW" altLang="en-US" sz="42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den>
                          </m:f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TW" sz="4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4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4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f>
                            <m:fPr>
                              <m:ctrlP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TW" altLang="en-US" sz="42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altLang="zh-TW" sz="42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num>
                            <m:den>
                              <m:r>
                                <a:rPr lang="zh-TW" altLang="en-US" sz="42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76" name="文字方塊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9532" y="7995156"/>
                <a:ext cx="6628130" cy="1218565"/>
              </a:xfrm>
              <a:prstGeom prst="rect">
                <a:avLst/>
              </a:prstGeom>
              <a:blipFill rotWithShape="1">
                <a:blip r:embed="rId20"/>
                <a:stretch>
                  <a:fillRect l="-3" t="-42" r="-1271" b="4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Backpropagation – Backward pass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文字方塊 82"/>
              <p:cNvSpPr txBox="1"/>
              <p:nvPr/>
            </p:nvSpPr>
            <p:spPr>
              <a:xfrm>
                <a:off x="3441814" y="2536033"/>
                <a:ext cx="11617211" cy="7575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TW" sz="4200" dirty="0"/>
                  <a:t>Compute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altLang="zh-TW" sz="4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4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42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num>
                      <m:den>
                        <m:r>
                          <a:rPr lang="zh-TW" altLang="en-US" sz="4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42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lang="en-US" altLang="zh-TW" sz="4200" dirty="0"/>
                  <a:t> for all activation function inputs z</a:t>
                </a:r>
                <a:endParaRPr lang="zh-TW" altLang="en-US" sz="4200" dirty="0"/>
              </a:p>
            </p:txBody>
          </p:sp>
        </mc:Choice>
        <mc:Fallback xmlns="">
          <p:sp>
            <p:nvSpPr>
              <p:cNvPr id="83" name="文字方塊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1814" y="2536033"/>
                <a:ext cx="11617211" cy="757555"/>
              </a:xfrm>
              <a:prstGeom prst="rect">
                <a:avLst/>
              </a:prstGeom>
              <a:blipFill rotWithShape="1">
                <a:blip r:embed="rId21"/>
                <a:stretch>
                  <a:fillRect l="-1" t="-63" b="6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/>
      <p:bldP spid="74" grpId="0"/>
      <p:bldP spid="75" grpId="0"/>
      <p:bldP spid="7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直線單箭頭接點 16"/>
          <p:cNvCxnSpPr/>
          <p:nvPr/>
        </p:nvCxnSpPr>
        <p:spPr>
          <a:xfrm flipV="1">
            <a:off x="6408479" y="4321640"/>
            <a:ext cx="1259037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/>
          <p:cNvCxnSpPr/>
          <p:nvPr/>
        </p:nvCxnSpPr>
        <p:spPr>
          <a:xfrm flipV="1">
            <a:off x="10274786" y="4358477"/>
            <a:ext cx="744344" cy="589961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/>
          <p:nvPr/>
        </p:nvCxnSpPr>
        <p:spPr>
          <a:xfrm flipV="1">
            <a:off x="8663907" y="4281312"/>
            <a:ext cx="236526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群組 37"/>
          <p:cNvGrpSpPr/>
          <p:nvPr/>
        </p:nvGrpSpPr>
        <p:grpSpPr>
          <a:xfrm>
            <a:off x="11077577" y="3950979"/>
            <a:ext cx="712490" cy="637916"/>
            <a:chOff x="3357891" y="3538413"/>
            <a:chExt cx="474993" cy="425277"/>
          </a:xfrm>
        </p:grpSpPr>
        <p:sp>
          <p:nvSpPr>
            <p:cNvPr id="39" name="矩形 38"/>
            <p:cNvSpPr/>
            <p:nvPr/>
          </p:nvSpPr>
          <p:spPr>
            <a:xfrm>
              <a:off x="3357891" y="3538413"/>
              <a:ext cx="474993" cy="42527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40" name="Object 12"/>
            <p:cNvGraphicFramePr>
              <a:graphicFrameLocks noChangeAspect="1"/>
            </p:cNvGraphicFramePr>
            <p:nvPr/>
          </p:nvGraphicFramePr>
          <p:xfrm>
            <a:off x="3435128" y="3545009"/>
            <a:ext cx="385763" cy="387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3" imgW="3352800" imgH="3352800" progId="Equation.3">
                    <p:embed/>
                  </p:oleObj>
                </mc:Choice>
                <mc:Fallback>
                  <p:oleObj name="方程式" r:id="rId3" imgW="3352800" imgH="33528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5128" y="3545009"/>
                          <a:ext cx="385763" cy="3873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41" name="直線單箭頭接點 40"/>
          <p:cNvCxnSpPr/>
          <p:nvPr/>
        </p:nvCxnSpPr>
        <p:spPr>
          <a:xfrm flipV="1">
            <a:off x="11790066" y="4262463"/>
            <a:ext cx="1259037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字方塊 41"/>
              <p:cNvSpPr txBox="1"/>
              <p:nvPr/>
            </p:nvSpPr>
            <p:spPr>
              <a:xfrm>
                <a:off x="9669342" y="3565248"/>
                <a:ext cx="690880" cy="757555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42" name="文字方塊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9342" y="3565248"/>
                <a:ext cx="690880" cy="757555"/>
              </a:xfrm>
              <a:prstGeom prst="rect">
                <a:avLst/>
              </a:prstGeom>
              <a:blipFill rotWithShape="1">
                <a:blip r:embed="rId5"/>
                <a:stretch>
                  <a:fillRect l="-948" t="-885" r="-12747" b="-791"/>
                </a:stretch>
              </a:blipFill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9" name="群組 48"/>
          <p:cNvGrpSpPr/>
          <p:nvPr/>
        </p:nvGrpSpPr>
        <p:grpSpPr>
          <a:xfrm>
            <a:off x="11047803" y="6677906"/>
            <a:ext cx="712490" cy="637916"/>
            <a:chOff x="3357891" y="3538413"/>
            <a:chExt cx="474993" cy="425277"/>
          </a:xfrm>
        </p:grpSpPr>
        <p:sp>
          <p:nvSpPr>
            <p:cNvPr id="50" name="矩形 49"/>
            <p:cNvSpPr/>
            <p:nvPr/>
          </p:nvSpPr>
          <p:spPr>
            <a:xfrm>
              <a:off x="3357891" y="3538413"/>
              <a:ext cx="474993" cy="42527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51" name="Object 12"/>
            <p:cNvGraphicFramePr>
              <a:graphicFrameLocks noChangeAspect="1"/>
            </p:cNvGraphicFramePr>
            <p:nvPr/>
          </p:nvGraphicFramePr>
          <p:xfrm>
            <a:off x="3435128" y="3545009"/>
            <a:ext cx="385763" cy="387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6" imgW="3352800" imgH="3352800" progId="Equation.3">
                    <p:embed/>
                  </p:oleObj>
                </mc:Choice>
                <mc:Fallback>
                  <p:oleObj name="方程式" r:id="rId6" imgW="3352800" imgH="33528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5128" y="3545009"/>
                          <a:ext cx="385763" cy="3873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52" name="直線單箭頭接點 51"/>
          <p:cNvCxnSpPr/>
          <p:nvPr/>
        </p:nvCxnSpPr>
        <p:spPr>
          <a:xfrm flipV="1">
            <a:off x="11808101" y="7036725"/>
            <a:ext cx="1259037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單箭頭接點 56"/>
          <p:cNvCxnSpPr/>
          <p:nvPr/>
        </p:nvCxnSpPr>
        <p:spPr>
          <a:xfrm>
            <a:off x="10164641" y="7012163"/>
            <a:ext cx="854489" cy="0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單箭頭接點 57"/>
          <p:cNvCxnSpPr>
            <a:endCxn id="50" idx="1"/>
          </p:cNvCxnSpPr>
          <p:nvPr/>
        </p:nvCxnSpPr>
        <p:spPr>
          <a:xfrm>
            <a:off x="8682699" y="4328723"/>
            <a:ext cx="2365104" cy="266814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單箭頭接點 65"/>
          <p:cNvCxnSpPr/>
          <p:nvPr/>
        </p:nvCxnSpPr>
        <p:spPr>
          <a:xfrm flipV="1">
            <a:off x="11442989" y="4609860"/>
            <a:ext cx="0" cy="576288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字方塊 76"/>
              <p:cNvSpPr txBox="1"/>
              <p:nvPr/>
            </p:nvSpPr>
            <p:spPr>
              <a:xfrm>
                <a:off x="6792398" y="4536950"/>
                <a:ext cx="622935" cy="12185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77" name="文字方塊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2398" y="4536950"/>
                <a:ext cx="622935" cy="1218565"/>
              </a:xfrm>
              <a:prstGeom prst="rect">
                <a:avLst/>
              </a:prstGeom>
              <a:blipFill rotWithShape="1">
                <a:blip r:embed="rId7"/>
                <a:stretch>
                  <a:fillRect l="-70" t="-42" r="-13487" b="4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文字方塊 73"/>
              <p:cNvSpPr txBox="1"/>
              <p:nvPr/>
            </p:nvSpPr>
            <p:spPr>
              <a:xfrm>
                <a:off x="12008414" y="7148223"/>
                <a:ext cx="919480" cy="12185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′′</m:t>
                          </m:r>
                        </m:den>
                      </m:f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74" name="文字方塊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08414" y="7148223"/>
                <a:ext cx="919480" cy="1218565"/>
              </a:xfrm>
              <a:prstGeom prst="rect">
                <a:avLst/>
              </a:prstGeom>
              <a:blipFill rotWithShape="1">
                <a:blip r:embed="rId8"/>
                <a:stretch>
                  <a:fillRect l="-61" t="-2" r="-10574" b="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字方塊 74"/>
              <p:cNvSpPr txBox="1"/>
              <p:nvPr/>
            </p:nvSpPr>
            <p:spPr>
              <a:xfrm>
                <a:off x="12008414" y="4373963"/>
                <a:ext cx="768985" cy="12185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′</m:t>
                          </m:r>
                        </m:den>
                      </m:f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75" name="文字方塊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08414" y="4373963"/>
                <a:ext cx="768985" cy="1218565"/>
              </a:xfrm>
              <a:prstGeom prst="rect">
                <a:avLst/>
              </a:prstGeom>
              <a:blipFill rotWithShape="1">
                <a:blip r:embed="rId9"/>
                <a:stretch>
                  <a:fillRect l="-73" t="-7" r="-11900"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字方塊 75"/>
              <p:cNvSpPr txBox="1"/>
              <p:nvPr/>
            </p:nvSpPr>
            <p:spPr>
              <a:xfrm>
                <a:off x="3689532" y="8020556"/>
                <a:ext cx="6628130" cy="12185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4200" i="1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TW" sz="4200" i="1"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en-US" altLang="zh-TW" sz="4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4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4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4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f>
                            <m:fPr>
                              <m:ctrlP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TW" altLang="en-US" sz="42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altLang="zh-TW" sz="42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num>
                            <m:den>
                              <m:r>
                                <a:rPr lang="zh-TW" altLang="en-US" sz="42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den>
                          </m:f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TW" sz="4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4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4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f>
                            <m:fPr>
                              <m:ctrlP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TW" altLang="en-US" sz="42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altLang="zh-TW" sz="42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num>
                            <m:den>
                              <m:r>
                                <a:rPr lang="zh-TW" altLang="en-US" sz="42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76" name="文字方塊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9532" y="8020556"/>
                <a:ext cx="6628130" cy="1218565"/>
              </a:xfrm>
              <a:prstGeom prst="rect">
                <a:avLst/>
              </a:prstGeom>
              <a:blipFill rotWithShape="1">
                <a:blip r:embed="rId10"/>
                <a:stretch>
                  <a:fillRect l="-3" t="-41" r="-1271" b="4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Backpropagation – Backward pass</a:t>
            </a:r>
            <a:endParaRPr lang="zh-TW" altLang="en-US" dirty="0"/>
          </a:p>
        </p:txBody>
      </p:sp>
      <p:sp>
        <p:nvSpPr>
          <p:cNvPr id="61" name="流程圖: 抽選 60"/>
          <p:cNvSpPr/>
          <p:nvPr/>
        </p:nvSpPr>
        <p:spPr>
          <a:xfrm rot="16200000">
            <a:off x="7612169" y="3782714"/>
            <a:ext cx="1113255" cy="997196"/>
          </a:xfrm>
          <a:prstGeom prst="flowChartExtra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7226627" y="2969057"/>
                <a:ext cx="1463040" cy="84899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4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TW" sz="4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en-US" altLang="zh-TW" sz="4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4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zh-TW" altLang="en-US" sz="4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6627" y="2969057"/>
                <a:ext cx="1463040" cy="848995"/>
              </a:xfrm>
              <a:prstGeom prst="rect">
                <a:avLst/>
              </a:prstGeom>
              <a:blipFill rotWithShape="1">
                <a:blip r:embed="rId11"/>
                <a:stretch>
                  <a:fillRect l="-22" t="-51" r="22" b="5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線單箭頭接點 3"/>
          <p:cNvCxnSpPr/>
          <p:nvPr/>
        </p:nvCxnSpPr>
        <p:spPr>
          <a:xfrm flipH="1" flipV="1">
            <a:off x="11742303" y="6996863"/>
            <a:ext cx="97155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單箭頭接點 63"/>
          <p:cNvCxnSpPr/>
          <p:nvPr/>
        </p:nvCxnSpPr>
        <p:spPr>
          <a:xfrm flipH="1" flipV="1">
            <a:off x="11772077" y="4236141"/>
            <a:ext cx="97155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單箭頭接點 64"/>
          <p:cNvCxnSpPr>
            <a:stCxn id="39" idx="1"/>
          </p:cNvCxnSpPr>
          <p:nvPr/>
        </p:nvCxnSpPr>
        <p:spPr>
          <a:xfrm flipH="1" flipV="1">
            <a:off x="8682699" y="4251386"/>
            <a:ext cx="2394878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單箭頭接點 66"/>
          <p:cNvCxnSpPr>
            <a:stCxn id="50" idx="1"/>
            <a:endCxn id="61" idx="2"/>
          </p:cNvCxnSpPr>
          <p:nvPr/>
        </p:nvCxnSpPr>
        <p:spPr>
          <a:xfrm flipH="1" flipV="1">
            <a:off x="8667395" y="4281312"/>
            <a:ext cx="2380409" cy="2715552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/>
              <p:cNvSpPr txBox="1"/>
              <p:nvPr/>
            </p:nvSpPr>
            <p:spPr>
              <a:xfrm>
                <a:off x="9669342" y="5633517"/>
                <a:ext cx="682625" cy="757555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44" name="文字方塊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9342" y="5633517"/>
                <a:ext cx="682625" cy="757555"/>
              </a:xfrm>
              <a:prstGeom prst="rect">
                <a:avLst/>
              </a:prstGeom>
              <a:blipFill rotWithShape="1">
                <a:blip r:embed="rId12"/>
                <a:stretch>
                  <a:fillRect l="-959" t="-895" r="-13460" b="-781"/>
                </a:stretch>
              </a:blipFill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" name="直線單箭頭接點 67"/>
          <p:cNvCxnSpPr/>
          <p:nvPr/>
        </p:nvCxnSpPr>
        <p:spPr>
          <a:xfrm flipH="1">
            <a:off x="6234821" y="4262463"/>
            <a:ext cx="1273866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/>
              <p:cNvSpPr txBox="1"/>
              <p:nvPr/>
            </p:nvSpPr>
            <p:spPr>
              <a:xfrm>
                <a:off x="3084594" y="6466290"/>
                <a:ext cx="8135996" cy="12941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TW" altLang="en-US" sz="3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TW" sz="3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′</m:t>
                    </m:r>
                    <m:d>
                      <m:dPr>
                        <m:ctrlPr>
                          <a:rPr lang="en-US" altLang="zh-TW" sz="3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3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zh-TW" altLang="en-US" sz="36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sz="3600" dirty="0"/>
                  <a:t>is a constant because z is </a:t>
                </a:r>
              </a:p>
              <a:p>
                <a:r>
                  <a:rPr lang="en-US" altLang="zh-TW" sz="3600" dirty="0"/>
                  <a:t>already determined in the forward pass.</a:t>
                </a:r>
                <a:endParaRPr lang="zh-TW" altLang="en-US" sz="3600" dirty="0"/>
              </a:p>
            </p:txBody>
          </p:sp>
        </mc:Choice>
        <mc:Fallback xmlns="">
          <p:sp>
            <p:nvSpPr>
              <p:cNvPr id="3" name="文字方塊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4594" y="6466290"/>
                <a:ext cx="8135996" cy="1294130"/>
              </a:xfrm>
              <a:prstGeom prst="rect">
                <a:avLst/>
              </a:prstGeom>
              <a:blipFill rotWithShape="1">
                <a:blip r:embed="rId13"/>
                <a:stretch>
                  <a:fillRect l="-5" t="-7" r="2"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單箭頭接點 4"/>
          <p:cNvCxnSpPr/>
          <p:nvPr/>
        </p:nvCxnSpPr>
        <p:spPr>
          <a:xfrm flipV="1">
            <a:off x="3282320" y="4765346"/>
            <a:ext cx="2529525" cy="238267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單箭頭接點 5"/>
          <p:cNvCxnSpPr/>
          <p:nvPr/>
        </p:nvCxnSpPr>
        <p:spPr>
          <a:xfrm flipV="1">
            <a:off x="3282320" y="4385339"/>
            <a:ext cx="236526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群組 6"/>
          <p:cNvGrpSpPr/>
          <p:nvPr/>
        </p:nvGrpSpPr>
        <p:grpSpPr>
          <a:xfrm>
            <a:off x="7741295" y="3836049"/>
            <a:ext cx="861237" cy="861237"/>
            <a:chOff x="5170781" y="1854574"/>
            <a:chExt cx="574158" cy="574158"/>
          </a:xfrm>
        </p:grpSpPr>
        <p:sp>
          <p:nvSpPr>
            <p:cNvPr id="8" name="橢圓 7"/>
            <p:cNvSpPr/>
            <p:nvPr/>
          </p:nvSpPr>
          <p:spPr>
            <a:xfrm>
              <a:off x="5170781" y="1854574"/>
              <a:ext cx="574158" cy="57415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9" name="手繪多邊形 8"/>
            <p:cNvSpPr/>
            <p:nvPr/>
          </p:nvSpPr>
          <p:spPr>
            <a:xfrm>
              <a:off x="5232704" y="1980522"/>
              <a:ext cx="469900" cy="354083"/>
            </a:xfrm>
            <a:custGeom>
              <a:avLst/>
              <a:gdLst>
                <a:gd name="connsiteX0" fmla="*/ 469900 w 469900"/>
                <a:gd name="connsiteY0" fmla="*/ 5192 h 354083"/>
                <a:gd name="connsiteX1" fmla="*/ 254000 w 469900"/>
                <a:gd name="connsiteY1" fmla="*/ 43292 h 354083"/>
                <a:gd name="connsiteX2" fmla="*/ 139700 w 469900"/>
                <a:gd name="connsiteY2" fmla="*/ 322692 h 354083"/>
                <a:gd name="connsiteX3" fmla="*/ 0 w 469900"/>
                <a:gd name="connsiteY3" fmla="*/ 335392 h 354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9900" h="354083">
                  <a:moveTo>
                    <a:pt x="469900" y="5192"/>
                  </a:moveTo>
                  <a:cubicBezTo>
                    <a:pt x="389466" y="-2217"/>
                    <a:pt x="309033" y="-9625"/>
                    <a:pt x="254000" y="43292"/>
                  </a:cubicBezTo>
                  <a:cubicBezTo>
                    <a:pt x="198967" y="96209"/>
                    <a:pt x="182033" y="274009"/>
                    <a:pt x="139700" y="322692"/>
                  </a:cubicBezTo>
                  <a:cubicBezTo>
                    <a:pt x="97367" y="371375"/>
                    <a:pt x="48683" y="353383"/>
                    <a:pt x="0" y="335392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</p:grpSp>
      <p:grpSp>
        <p:nvGrpSpPr>
          <p:cNvPr id="10" name="群組 9"/>
          <p:cNvGrpSpPr/>
          <p:nvPr/>
        </p:nvGrpSpPr>
        <p:grpSpPr>
          <a:xfrm>
            <a:off x="5757450" y="4765346"/>
            <a:ext cx="687430" cy="1247921"/>
            <a:chOff x="10102194" y="1939763"/>
            <a:chExt cx="458287" cy="831947"/>
          </a:xfrm>
        </p:grpSpPr>
        <p:sp>
          <p:nvSpPr>
            <p:cNvPr id="11" name="矩形 10"/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cxnSp>
          <p:nvCxnSpPr>
            <p:cNvPr id="12" name="直線單箭頭接點 11"/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字方塊 12"/>
            <p:cNvSpPr txBox="1"/>
            <p:nvPr/>
          </p:nvSpPr>
          <p:spPr>
            <a:xfrm>
              <a:off x="10118802" y="2316503"/>
              <a:ext cx="441679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b</a:t>
              </a:r>
              <a:endParaRPr lang="zh-TW" altLang="en-US" sz="3600" dirty="0"/>
            </a:p>
          </p:txBody>
        </p:sp>
      </p:grpSp>
      <p:grpSp>
        <p:nvGrpSpPr>
          <p:cNvPr id="14" name="群組 13"/>
          <p:cNvGrpSpPr/>
          <p:nvPr/>
        </p:nvGrpSpPr>
        <p:grpSpPr>
          <a:xfrm>
            <a:off x="5695989" y="4055006"/>
            <a:ext cx="712490" cy="637916"/>
            <a:chOff x="3357891" y="3538413"/>
            <a:chExt cx="474993" cy="425277"/>
          </a:xfrm>
        </p:grpSpPr>
        <p:sp>
          <p:nvSpPr>
            <p:cNvPr id="15" name="矩形 14"/>
            <p:cNvSpPr/>
            <p:nvPr/>
          </p:nvSpPr>
          <p:spPr>
            <a:xfrm>
              <a:off x="3357891" y="3538413"/>
              <a:ext cx="474993" cy="42527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16" name="Object 12"/>
            <p:cNvGraphicFramePr>
              <a:graphicFrameLocks noChangeAspect="1"/>
            </p:cNvGraphicFramePr>
            <p:nvPr/>
          </p:nvGraphicFramePr>
          <p:xfrm>
            <a:off x="3435128" y="3545009"/>
            <a:ext cx="385763" cy="387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3" imgW="3352800" imgH="3352800" progId="Equation.3">
                    <p:embed/>
                  </p:oleObj>
                </mc:Choice>
                <mc:Fallback>
                  <p:oleObj name="方程式" r:id="rId3" imgW="3352800" imgH="33528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5128" y="3545009"/>
                          <a:ext cx="385763" cy="3873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17" name="直線單箭頭接點 16"/>
          <p:cNvCxnSpPr/>
          <p:nvPr/>
        </p:nvCxnSpPr>
        <p:spPr>
          <a:xfrm flipV="1">
            <a:off x="6408479" y="4321640"/>
            <a:ext cx="1259037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/>
              <p:cNvSpPr txBox="1"/>
              <p:nvPr/>
            </p:nvSpPr>
            <p:spPr>
              <a:xfrm>
                <a:off x="4048907" y="3644228"/>
                <a:ext cx="684530" cy="757555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18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8907" y="3644228"/>
                <a:ext cx="684530" cy="757555"/>
              </a:xfrm>
              <a:prstGeom prst="rect">
                <a:avLst/>
              </a:prstGeom>
              <a:blipFill rotWithShape="1">
                <a:blip r:embed="rId5"/>
                <a:stretch>
                  <a:fillRect l="-949" t="-917" r="-13337" b="-759"/>
                </a:stretch>
              </a:blipFill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/>
              <p:cNvSpPr txBox="1"/>
              <p:nvPr/>
            </p:nvSpPr>
            <p:spPr>
              <a:xfrm>
                <a:off x="6921098" y="3559727"/>
                <a:ext cx="462242" cy="757555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19" name="文字方塊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1098" y="3559727"/>
                <a:ext cx="462242" cy="757555"/>
              </a:xfrm>
              <a:prstGeom prst="rect">
                <a:avLst/>
              </a:prstGeom>
              <a:blipFill rotWithShape="1">
                <a:blip r:embed="rId6"/>
                <a:stretch>
                  <a:fillRect l="-1424" t="-911" r="-1332" b="-765"/>
                </a:stretch>
              </a:blipFill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/>
              <p:cNvSpPr txBox="1"/>
              <p:nvPr/>
            </p:nvSpPr>
            <p:spPr>
              <a:xfrm>
                <a:off x="4036498" y="5522354"/>
                <a:ext cx="690880" cy="757555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22" name="文字方塊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6498" y="5522354"/>
                <a:ext cx="690880" cy="757555"/>
              </a:xfrm>
              <a:prstGeom prst="rect">
                <a:avLst/>
              </a:prstGeom>
              <a:blipFill rotWithShape="1">
                <a:blip r:embed="rId7"/>
                <a:stretch>
                  <a:fillRect l="-983" t="-890" r="-12712" b="-786"/>
                </a:stretch>
              </a:blipFill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/>
              <p:cNvSpPr txBox="1"/>
              <p:nvPr/>
            </p:nvSpPr>
            <p:spPr>
              <a:xfrm>
                <a:off x="2591828" y="3959759"/>
                <a:ext cx="580390" cy="757555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23" name="文字方塊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1828" y="3959759"/>
                <a:ext cx="580390" cy="757555"/>
              </a:xfrm>
              <a:prstGeom prst="rect">
                <a:avLst/>
              </a:prstGeom>
              <a:blipFill rotWithShape="1">
                <a:blip r:embed="rId8"/>
                <a:stretch>
                  <a:fillRect l="-1162" t="-909" r="-15140" b="-768"/>
                </a:stretch>
              </a:blip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/>
              <p:cNvSpPr txBox="1"/>
              <p:nvPr/>
            </p:nvSpPr>
            <p:spPr>
              <a:xfrm>
                <a:off x="2612284" y="6756300"/>
                <a:ext cx="586740" cy="757555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24" name="文字方塊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2284" y="6756300"/>
                <a:ext cx="586740" cy="757555"/>
              </a:xfrm>
              <a:prstGeom prst="rect">
                <a:avLst/>
              </a:prstGeom>
              <a:blipFill rotWithShape="1">
                <a:blip r:embed="rId9"/>
                <a:stretch>
                  <a:fillRect l="-1172" t="-909" r="-14412" b="-768"/>
                </a:stretch>
              </a:blip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直線單箭頭接點 35"/>
          <p:cNvCxnSpPr/>
          <p:nvPr/>
        </p:nvCxnSpPr>
        <p:spPr>
          <a:xfrm flipV="1">
            <a:off x="10274786" y="4358477"/>
            <a:ext cx="744344" cy="589961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/>
          <p:nvPr/>
        </p:nvCxnSpPr>
        <p:spPr>
          <a:xfrm flipV="1">
            <a:off x="8663907" y="4281312"/>
            <a:ext cx="236526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群組 37"/>
          <p:cNvGrpSpPr/>
          <p:nvPr/>
        </p:nvGrpSpPr>
        <p:grpSpPr>
          <a:xfrm>
            <a:off x="11077577" y="3950979"/>
            <a:ext cx="712490" cy="637916"/>
            <a:chOff x="3357891" y="3538413"/>
            <a:chExt cx="474993" cy="425277"/>
          </a:xfrm>
        </p:grpSpPr>
        <p:sp>
          <p:nvSpPr>
            <p:cNvPr id="39" name="矩形 38"/>
            <p:cNvSpPr/>
            <p:nvPr/>
          </p:nvSpPr>
          <p:spPr>
            <a:xfrm>
              <a:off x="3357891" y="3538413"/>
              <a:ext cx="474993" cy="42527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40" name="Object 12"/>
            <p:cNvGraphicFramePr>
              <a:graphicFrameLocks noChangeAspect="1"/>
            </p:cNvGraphicFramePr>
            <p:nvPr/>
          </p:nvGraphicFramePr>
          <p:xfrm>
            <a:off x="3435128" y="3545009"/>
            <a:ext cx="385763" cy="387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10" imgW="3352800" imgH="3352800" progId="Equation.3">
                    <p:embed/>
                  </p:oleObj>
                </mc:Choice>
                <mc:Fallback>
                  <p:oleObj name="方程式" r:id="rId10" imgW="3352800" imgH="33528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5128" y="3545009"/>
                          <a:ext cx="385763" cy="3873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41" name="直線單箭頭接點 40"/>
          <p:cNvCxnSpPr/>
          <p:nvPr/>
        </p:nvCxnSpPr>
        <p:spPr>
          <a:xfrm flipV="1">
            <a:off x="11790066" y="4262463"/>
            <a:ext cx="1259037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字方塊 41"/>
              <p:cNvSpPr txBox="1"/>
              <p:nvPr/>
            </p:nvSpPr>
            <p:spPr>
              <a:xfrm>
                <a:off x="9669342" y="3565248"/>
                <a:ext cx="690880" cy="757555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42" name="文字方塊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9342" y="3565248"/>
                <a:ext cx="690880" cy="757555"/>
              </a:xfrm>
              <a:prstGeom prst="rect">
                <a:avLst/>
              </a:prstGeom>
              <a:blipFill rotWithShape="1">
                <a:blip r:embed="rId11"/>
                <a:stretch>
                  <a:fillRect l="-948" t="-885" r="-12747" b="-791"/>
                </a:stretch>
              </a:blipFill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字方塊 42"/>
              <p:cNvSpPr txBox="1"/>
              <p:nvPr/>
            </p:nvSpPr>
            <p:spPr>
              <a:xfrm>
                <a:off x="12188463" y="3483632"/>
                <a:ext cx="462242" cy="757555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altLang="zh-TW" sz="4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43" name="文字方塊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88463" y="3483632"/>
                <a:ext cx="462242" cy="757555"/>
              </a:xfrm>
              <a:prstGeom prst="rect">
                <a:avLst/>
              </a:prstGeom>
              <a:blipFill rotWithShape="1">
                <a:blip r:embed="rId12"/>
                <a:stretch>
                  <a:fillRect l="-1433" t="-841" r="-1323" b="-835"/>
                </a:stretch>
              </a:blipFill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/>
              <p:cNvSpPr txBox="1"/>
              <p:nvPr/>
            </p:nvSpPr>
            <p:spPr>
              <a:xfrm>
                <a:off x="8719242" y="3477341"/>
                <a:ext cx="366395" cy="757555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48" name="文字方塊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9242" y="3477341"/>
                <a:ext cx="366395" cy="757555"/>
              </a:xfrm>
              <a:prstGeom prst="rect">
                <a:avLst/>
              </a:prstGeom>
              <a:blipFill rotWithShape="1">
                <a:blip r:embed="rId13"/>
                <a:stretch>
                  <a:fillRect l="-1749" t="-849" r="-22861" b="-828"/>
                </a:stretch>
              </a:blipFill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9" name="群組 48"/>
          <p:cNvGrpSpPr/>
          <p:nvPr/>
        </p:nvGrpSpPr>
        <p:grpSpPr>
          <a:xfrm>
            <a:off x="11047803" y="6677906"/>
            <a:ext cx="712490" cy="637916"/>
            <a:chOff x="3357891" y="3538413"/>
            <a:chExt cx="474993" cy="425277"/>
          </a:xfrm>
        </p:grpSpPr>
        <p:sp>
          <p:nvSpPr>
            <p:cNvPr id="50" name="矩形 49"/>
            <p:cNvSpPr/>
            <p:nvPr/>
          </p:nvSpPr>
          <p:spPr>
            <a:xfrm>
              <a:off x="3357891" y="3538413"/>
              <a:ext cx="474993" cy="42527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51" name="Object 12"/>
            <p:cNvGraphicFramePr>
              <a:graphicFrameLocks noChangeAspect="1"/>
            </p:cNvGraphicFramePr>
            <p:nvPr/>
          </p:nvGraphicFramePr>
          <p:xfrm>
            <a:off x="3435128" y="3545009"/>
            <a:ext cx="385763" cy="387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14" imgW="3352800" imgH="3352800" progId="Equation.3">
                    <p:embed/>
                  </p:oleObj>
                </mc:Choice>
                <mc:Fallback>
                  <p:oleObj name="方程式" r:id="rId14" imgW="3352800" imgH="33528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5128" y="3545009"/>
                          <a:ext cx="385763" cy="3873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52" name="直線單箭頭接點 51"/>
          <p:cNvCxnSpPr/>
          <p:nvPr/>
        </p:nvCxnSpPr>
        <p:spPr>
          <a:xfrm flipV="1">
            <a:off x="11808101" y="7036725"/>
            <a:ext cx="1259037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字方塊 52"/>
              <p:cNvSpPr txBox="1"/>
              <p:nvPr/>
            </p:nvSpPr>
            <p:spPr>
              <a:xfrm>
                <a:off x="12141392" y="6261090"/>
                <a:ext cx="614414" cy="757555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4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altLang="zh-TW" sz="4200" dirty="0"/>
                  <a:t>’’</a:t>
                </a:r>
                <a:endParaRPr lang="zh-TW" altLang="en-US" sz="4200" dirty="0"/>
              </a:p>
            </p:txBody>
          </p:sp>
        </mc:Choice>
        <mc:Fallback xmlns="">
          <p:sp>
            <p:nvSpPr>
              <p:cNvPr id="53" name="文字方塊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41392" y="6261090"/>
                <a:ext cx="614414" cy="757555"/>
              </a:xfrm>
              <a:prstGeom prst="rect">
                <a:avLst/>
              </a:prstGeom>
              <a:blipFill rotWithShape="1">
                <a:blip r:embed="rId15"/>
                <a:stretch>
                  <a:fillRect l="-1065" t="-921" r="-942" b="-756"/>
                </a:stretch>
              </a:blipFill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直線單箭頭接點 56"/>
          <p:cNvCxnSpPr/>
          <p:nvPr/>
        </p:nvCxnSpPr>
        <p:spPr>
          <a:xfrm>
            <a:off x="10164641" y="7012163"/>
            <a:ext cx="854489" cy="0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單箭頭接點 57"/>
          <p:cNvCxnSpPr>
            <a:endCxn id="50" idx="1"/>
          </p:cNvCxnSpPr>
          <p:nvPr/>
        </p:nvCxnSpPr>
        <p:spPr>
          <a:xfrm>
            <a:off x="8682699" y="4328723"/>
            <a:ext cx="2365104" cy="266814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群組 61"/>
          <p:cNvGrpSpPr/>
          <p:nvPr/>
        </p:nvGrpSpPr>
        <p:grpSpPr>
          <a:xfrm>
            <a:off x="13091090" y="6584256"/>
            <a:ext cx="1508321" cy="861237"/>
            <a:chOff x="7251018" y="4360929"/>
            <a:chExt cx="1005547" cy="574158"/>
          </a:xfrm>
        </p:grpSpPr>
        <p:grpSp>
          <p:nvGrpSpPr>
            <p:cNvPr id="54" name="群組 53"/>
            <p:cNvGrpSpPr/>
            <p:nvPr/>
          </p:nvGrpSpPr>
          <p:grpSpPr>
            <a:xfrm>
              <a:off x="7251018" y="4360929"/>
              <a:ext cx="574158" cy="574158"/>
              <a:chOff x="5170781" y="1854574"/>
              <a:chExt cx="574158" cy="574158"/>
            </a:xfrm>
          </p:grpSpPr>
          <p:sp>
            <p:nvSpPr>
              <p:cNvPr id="55" name="橢圓 54"/>
              <p:cNvSpPr/>
              <p:nvPr/>
            </p:nvSpPr>
            <p:spPr>
              <a:xfrm>
                <a:off x="5170781" y="1854574"/>
                <a:ext cx="574158" cy="574158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56" name="手繪多邊形 55"/>
              <p:cNvSpPr/>
              <p:nvPr/>
            </p:nvSpPr>
            <p:spPr>
              <a:xfrm>
                <a:off x="5232704" y="1980522"/>
                <a:ext cx="469900" cy="354083"/>
              </a:xfrm>
              <a:custGeom>
                <a:avLst/>
                <a:gdLst>
                  <a:gd name="connsiteX0" fmla="*/ 469900 w 469900"/>
                  <a:gd name="connsiteY0" fmla="*/ 5192 h 354083"/>
                  <a:gd name="connsiteX1" fmla="*/ 254000 w 469900"/>
                  <a:gd name="connsiteY1" fmla="*/ 43292 h 354083"/>
                  <a:gd name="connsiteX2" fmla="*/ 139700 w 469900"/>
                  <a:gd name="connsiteY2" fmla="*/ 322692 h 354083"/>
                  <a:gd name="connsiteX3" fmla="*/ 0 w 469900"/>
                  <a:gd name="connsiteY3" fmla="*/ 335392 h 354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9900" h="354083">
                    <a:moveTo>
                      <a:pt x="469900" y="5192"/>
                    </a:moveTo>
                    <a:cubicBezTo>
                      <a:pt x="389466" y="-2217"/>
                      <a:pt x="309033" y="-9625"/>
                      <a:pt x="254000" y="43292"/>
                    </a:cubicBezTo>
                    <a:cubicBezTo>
                      <a:pt x="198967" y="96209"/>
                      <a:pt x="182033" y="274009"/>
                      <a:pt x="139700" y="322692"/>
                    </a:cubicBezTo>
                    <a:cubicBezTo>
                      <a:pt x="97367" y="371375"/>
                      <a:pt x="48683" y="353383"/>
                      <a:pt x="0" y="335392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</p:grpSp>
        <p:cxnSp>
          <p:nvCxnSpPr>
            <p:cNvPr id="59" name="直線單箭頭接點 58"/>
            <p:cNvCxnSpPr/>
            <p:nvPr/>
          </p:nvCxnSpPr>
          <p:spPr>
            <a:xfrm>
              <a:off x="7826300" y="4663918"/>
              <a:ext cx="43026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群組 62"/>
          <p:cNvGrpSpPr/>
          <p:nvPr/>
        </p:nvGrpSpPr>
        <p:grpSpPr>
          <a:xfrm>
            <a:off x="13063655" y="3812862"/>
            <a:ext cx="1510679" cy="861237"/>
            <a:chOff x="7204153" y="2522858"/>
            <a:chExt cx="1007119" cy="574158"/>
          </a:xfrm>
        </p:grpSpPr>
        <p:grpSp>
          <p:nvGrpSpPr>
            <p:cNvPr id="45" name="群組 44"/>
            <p:cNvGrpSpPr/>
            <p:nvPr/>
          </p:nvGrpSpPr>
          <p:grpSpPr>
            <a:xfrm>
              <a:off x="7204153" y="2522858"/>
              <a:ext cx="574158" cy="574158"/>
              <a:chOff x="5170781" y="1854574"/>
              <a:chExt cx="574158" cy="574158"/>
            </a:xfrm>
          </p:grpSpPr>
          <p:sp>
            <p:nvSpPr>
              <p:cNvPr id="46" name="橢圓 45"/>
              <p:cNvSpPr/>
              <p:nvPr/>
            </p:nvSpPr>
            <p:spPr>
              <a:xfrm>
                <a:off x="5170781" y="1854574"/>
                <a:ext cx="574158" cy="574158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47" name="手繪多邊形 46"/>
              <p:cNvSpPr/>
              <p:nvPr/>
            </p:nvSpPr>
            <p:spPr>
              <a:xfrm>
                <a:off x="5232704" y="1980522"/>
                <a:ext cx="469900" cy="354083"/>
              </a:xfrm>
              <a:custGeom>
                <a:avLst/>
                <a:gdLst>
                  <a:gd name="connsiteX0" fmla="*/ 469900 w 469900"/>
                  <a:gd name="connsiteY0" fmla="*/ 5192 h 354083"/>
                  <a:gd name="connsiteX1" fmla="*/ 254000 w 469900"/>
                  <a:gd name="connsiteY1" fmla="*/ 43292 h 354083"/>
                  <a:gd name="connsiteX2" fmla="*/ 139700 w 469900"/>
                  <a:gd name="connsiteY2" fmla="*/ 322692 h 354083"/>
                  <a:gd name="connsiteX3" fmla="*/ 0 w 469900"/>
                  <a:gd name="connsiteY3" fmla="*/ 335392 h 354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9900" h="354083">
                    <a:moveTo>
                      <a:pt x="469900" y="5192"/>
                    </a:moveTo>
                    <a:cubicBezTo>
                      <a:pt x="389466" y="-2217"/>
                      <a:pt x="309033" y="-9625"/>
                      <a:pt x="254000" y="43292"/>
                    </a:cubicBezTo>
                    <a:cubicBezTo>
                      <a:pt x="198967" y="96209"/>
                      <a:pt x="182033" y="274009"/>
                      <a:pt x="139700" y="322692"/>
                    </a:cubicBezTo>
                    <a:cubicBezTo>
                      <a:pt x="97367" y="371375"/>
                      <a:pt x="48683" y="353383"/>
                      <a:pt x="0" y="335392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</p:grpSp>
        <p:cxnSp>
          <p:nvCxnSpPr>
            <p:cNvPr id="60" name="直線單箭頭接點 59"/>
            <p:cNvCxnSpPr/>
            <p:nvPr/>
          </p:nvCxnSpPr>
          <p:spPr>
            <a:xfrm>
              <a:off x="7781007" y="2822862"/>
              <a:ext cx="43026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/>
              <p:cNvSpPr txBox="1"/>
              <p:nvPr/>
            </p:nvSpPr>
            <p:spPr>
              <a:xfrm>
                <a:off x="9669342" y="5633517"/>
                <a:ext cx="682625" cy="757555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44" name="文字方塊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9342" y="5633517"/>
                <a:ext cx="682625" cy="757555"/>
              </a:xfrm>
              <a:prstGeom prst="rect">
                <a:avLst/>
              </a:prstGeom>
              <a:blipFill rotWithShape="1">
                <a:blip r:embed="rId16"/>
                <a:stretch>
                  <a:fillRect l="-959" t="-895" r="-13460" b="-781"/>
                </a:stretch>
              </a:blipFill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直線單箭頭接點 65"/>
          <p:cNvCxnSpPr/>
          <p:nvPr/>
        </p:nvCxnSpPr>
        <p:spPr>
          <a:xfrm flipV="1">
            <a:off x="11442989" y="4609860"/>
            <a:ext cx="0" cy="576288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字方塊 76"/>
              <p:cNvSpPr txBox="1"/>
              <p:nvPr/>
            </p:nvSpPr>
            <p:spPr>
              <a:xfrm>
                <a:off x="6792398" y="4536950"/>
                <a:ext cx="622935" cy="12185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77" name="文字方塊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2398" y="4536950"/>
                <a:ext cx="622935" cy="1218565"/>
              </a:xfrm>
              <a:prstGeom prst="rect">
                <a:avLst/>
              </a:prstGeom>
              <a:blipFill rotWithShape="1">
                <a:blip r:embed="rId17"/>
                <a:stretch>
                  <a:fillRect l="-70" t="-42" r="-13487" b="4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文字方塊 73"/>
              <p:cNvSpPr txBox="1"/>
              <p:nvPr/>
            </p:nvSpPr>
            <p:spPr>
              <a:xfrm>
                <a:off x="12008414" y="7148223"/>
                <a:ext cx="919480" cy="12185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′′</m:t>
                          </m:r>
                        </m:den>
                      </m:f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74" name="文字方塊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08414" y="7148223"/>
                <a:ext cx="919480" cy="1218565"/>
              </a:xfrm>
              <a:prstGeom prst="rect">
                <a:avLst/>
              </a:prstGeom>
              <a:blipFill rotWithShape="1">
                <a:blip r:embed="rId18"/>
                <a:stretch>
                  <a:fillRect l="-61" t="-2" r="-10574" b="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字方塊 74"/>
              <p:cNvSpPr txBox="1"/>
              <p:nvPr/>
            </p:nvSpPr>
            <p:spPr>
              <a:xfrm>
                <a:off x="12008414" y="4373963"/>
                <a:ext cx="768985" cy="12185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′</m:t>
                          </m:r>
                        </m:den>
                      </m:f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75" name="文字方塊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08414" y="4373963"/>
                <a:ext cx="768985" cy="1218565"/>
              </a:xfrm>
              <a:prstGeom prst="rect">
                <a:avLst/>
              </a:prstGeom>
              <a:blipFill rotWithShape="1">
                <a:blip r:embed="rId19"/>
                <a:stretch>
                  <a:fillRect l="-73" t="-7" r="-11900"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Backpropagation – Backward pass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文字方塊 82"/>
              <p:cNvSpPr txBox="1"/>
              <p:nvPr/>
            </p:nvSpPr>
            <p:spPr>
              <a:xfrm>
                <a:off x="3441814" y="2536033"/>
                <a:ext cx="11617211" cy="7575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TW" sz="4200" dirty="0"/>
                  <a:t>Compute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altLang="zh-TW" sz="4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4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42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num>
                      <m:den>
                        <m:r>
                          <a:rPr lang="zh-TW" altLang="en-US" sz="4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42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lang="en-US" altLang="zh-TW" sz="4200" dirty="0"/>
                  <a:t> for all activation function inputs z</a:t>
                </a:r>
                <a:endParaRPr lang="zh-TW" altLang="en-US" sz="4200" dirty="0"/>
              </a:p>
            </p:txBody>
          </p:sp>
        </mc:Choice>
        <mc:Fallback xmlns="">
          <p:sp>
            <p:nvSpPr>
              <p:cNvPr id="83" name="文字方塊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1814" y="2536033"/>
                <a:ext cx="11617211" cy="757555"/>
              </a:xfrm>
              <a:prstGeom prst="rect">
                <a:avLst/>
              </a:prstGeom>
              <a:blipFill rotWithShape="1">
                <a:blip r:embed="rId20"/>
                <a:stretch>
                  <a:fillRect l="-1" t="-63" b="6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字方塊 60"/>
              <p:cNvSpPr txBox="1"/>
              <p:nvPr/>
            </p:nvSpPr>
            <p:spPr>
              <a:xfrm>
                <a:off x="14622804" y="3788705"/>
                <a:ext cx="589280" cy="7575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61" name="文字方塊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22804" y="3788705"/>
                <a:ext cx="589280" cy="757555"/>
              </a:xfrm>
              <a:prstGeom prst="rect">
                <a:avLst/>
              </a:prstGeom>
              <a:blipFill rotWithShape="1">
                <a:blip r:embed="rId21"/>
                <a:stretch>
                  <a:fillRect l="-4" t="-39" r="-15405" b="3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字方塊 63"/>
              <p:cNvSpPr txBox="1"/>
              <p:nvPr/>
            </p:nvSpPr>
            <p:spPr>
              <a:xfrm>
                <a:off x="14681363" y="6501690"/>
                <a:ext cx="595630" cy="7575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64" name="文字方塊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1363" y="6501690"/>
                <a:ext cx="595630" cy="757555"/>
              </a:xfrm>
              <a:prstGeom prst="rect">
                <a:avLst/>
              </a:prstGeom>
              <a:blipFill rotWithShape="1">
                <a:blip r:embed="rId22"/>
                <a:stretch>
                  <a:fillRect l="-27" t="-74" r="-14685" b="7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字方塊 1"/>
          <p:cNvSpPr txBox="1"/>
          <p:nvPr/>
        </p:nvSpPr>
        <p:spPr>
          <a:xfrm>
            <a:off x="2552204" y="7419713"/>
            <a:ext cx="561971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i="1" u="sng" dirty="0"/>
              <a:t>Case 1. Output Layer</a:t>
            </a:r>
            <a:endParaRPr lang="zh-TW" altLang="en-US" sz="4200" b="1" i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字方塊 64"/>
              <p:cNvSpPr txBox="1"/>
              <p:nvPr/>
            </p:nvSpPr>
            <p:spPr>
              <a:xfrm>
                <a:off x="4057277" y="8408924"/>
                <a:ext cx="3224530" cy="13290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′</m:t>
                          </m:r>
                        </m:den>
                      </m:f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4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sz="4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4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4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′</m:t>
                          </m:r>
                        </m:den>
                      </m:f>
                      <m:f>
                        <m:fPr>
                          <m:ctrlPr>
                            <a:rPr lang="en-US" altLang="zh-TW" sz="4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65" name="文字方塊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7277" y="8408924"/>
                <a:ext cx="3224530" cy="1329055"/>
              </a:xfrm>
              <a:prstGeom prst="rect">
                <a:avLst/>
              </a:prstGeom>
              <a:blipFill rotWithShape="1">
                <a:blip r:embed="rId23"/>
                <a:stretch>
                  <a:fillRect l="-8" t="-19" r="-2729" b="1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字方塊 66"/>
              <p:cNvSpPr txBox="1"/>
              <p:nvPr/>
            </p:nvSpPr>
            <p:spPr>
              <a:xfrm>
                <a:off x="7956372" y="8408924"/>
                <a:ext cx="3399155" cy="13290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′′</m:t>
                          </m:r>
                        </m:den>
                      </m:f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4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sz="4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4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4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′′</m:t>
                          </m:r>
                        </m:den>
                      </m:f>
                      <m:f>
                        <m:fPr>
                          <m:ctrlPr>
                            <a:rPr lang="en-US" altLang="zh-TW" sz="4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4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67" name="文字方塊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6372" y="8408924"/>
                <a:ext cx="3399155" cy="1329055"/>
              </a:xfrm>
              <a:prstGeom prst="rect">
                <a:avLst/>
              </a:prstGeom>
              <a:blipFill rotWithShape="1">
                <a:blip r:embed="rId24"/>
                <a:stretch>
                  <a:fillRect l="-13" t="-19" r="-3088" b="1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字方塊 2"/>
          <p:cNvSpPr txBox="1"/>
          <p:nvPr/>
        </p:nvSpPr>
        <p:spPr>
          <a:xfrm>
            <a:off x="12064382" y="8754575"/>
            <a:ext cx="1532744" cy="64516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Done!</a:t>
            </a:r>
            <a:endParaRPr lang="zh-TW" altLang="en-US" sz="3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5" grpId="0"/>
      <p:bldP spid="67" grpId="0"/>
      <p:bldP spid="3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直線單箭頭接點 35"/>
          <p:cNvCxnSpPr/>
          <p:nvPr/>
        </p:nvCxnSpPr>
        <p:spPr>
          <a:xfrm flipV="1">
            <a:off x="2997357" y="5806073"/>
            <a:ext cx="744344" cy="589961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群組 37"/>
          <p:cNvGrpSpPr/>
          <p:nvPr/>
        </p:nvGrpSpPr>
        <p:grpSpPr>
          <a:xfrm>
            <a:off x="3800148" y="5398575"/>
            <a:ext cx="712490" cy="637916"/>
            <a:chOff x="3357891" y="3538413"/>
            <a:chExt cx="474993" cy="425277"/>
          </a:xfrm>
        </p:grpSpPr>
        <p:sp>
          <p:nvSpPr>
            <p:cNvPr id="39" name="矩形 38"/>
            <p:cNvSpPr/>
            <p:nvPr/>
          </p:nvSpPr>
          <p:spPr>
            <a:xfrm>
              <a:off x="3357891" y="3538413"/>
              <a:ext cx="474993" cy="42527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40" name="Object 12"/>
            <p:cNvGraphicFramePr>
              <a:graphicFrameLocks noChangeAspect="1"/>
            </p:cNvGraphicFramePr>
            <p:nvPr/>
          </p:nvGraphicFramePr>
          <p:xfrm>
            <a:off x="3435128" y="3545009"/>
            <a:ext cx="385763" cy="387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3" imgW="3352800" imgH="3352800" progId="Equation.3">
                    <p:embed/>
                  </p:oleObj>
                </mc:Choice>
                <mc:Fallback>
                  <p:oleObj name="方程式" r:id="rId3" imgW="3352800" imgH="33528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5128" y="3545009"/>
                          <a:ext cx="385763" cy="3873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41" name="直線單箭頭接點 40"/>
          <p:cNvCxnSpPr/>
          <p:nvPr/>
        </p:nvCxnSpPr>
        <p:spPr>
          <a:xfrm flipV="1">
            <a:off x="4512638" y="5710059"/>
            <a:ext cx="1259037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字方塊 42"/>
              <p:cNvSpPr txBox="1"/>
              <p:nvPr/>
            </p:nvSpPr>
            <p:spPr>
              <a:xfrm>
                <a:off x="4911035" y="4931228"/>
                <a:ext cx="462242" cy="757555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altLang="zh-TW" sz="4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43" name="文字方塊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1035" y="4931228"/>
                <a:ext cx="462242" cy="757555"/>
              </a:xfrm>
              <a:prstGeom prst="rect">
                <a:avLst/>
              </a:prstGeom>
              <a:blipFill rotWithShape="1">
                <a:blip r:embed="rId5"/>
                <a:stretch>
                  <a:fillRect l="-1499" t="-898" r="-1257" b="-778"/>
                </a:stretch>
              </a:blipFill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9" name="群組 48"/>
          <p:cNvGrpSpPr/>
          <p:nvPr/>
        </p:nvGrpSpPr>
        <p:grpSpPr>
          <a:xfrm>
            <a:off x="3770375" y="8125502"/>
            <a:ext cx="712490" cy="637916"/>
            <a:chOff x="3357891" y="3538413"/>
            <a:chExt cx="474993" cy="425277"/>
          </a:xfrm>
        </p:grpSpPr>
        <p:sp>
          <p:nvSpPr>
            <p:cNvPr id="50" name="矩形 49"/>
            <p:cNvSpPr/>
            <p:nvPr/>
          </p:nvSpPr>
          <p:spPr>
            <a:xfrm>
              <a:off x="3357891" y="3538413"/>
              <a:ext cx="474993" cy="42527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51" name="Object 12"/>
            <p:cNvGraphicFramePr>
              <a:graphicFrameLocks noChangeAspect="1"/>
            </p:cNvGraphicFramePr>
            <p:nvPr/>
          </p:nvGraphicFramePr>
          <p:xfrm>
            <a:off x="3435128" y="3545009"/>
            <a:ext cx="385763" cy="387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6" imgW="3352800" imgH="3352800" progId="Equation.3">
                    <p:embed/>
                  </p:oleObj>
                </mc:Choice>
                <mc:Fallback>
                  <p:oleObj name="方程式" r:id="rId6" imgW="3352800" imgH="33528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5128" y="3545009"/>
                          <a:ext cx="385763" cy="3873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52" name="直線單箭頭接點 51"/>
          <p:cNvCxnSpPr/>
          <p:nvPr/>
        </p:nvCxnSpPr>
        <p:spPr>
          <a:xfrm flipV="1">
            <a:off x="4530672" y="8484321"/>
            <a:ext cx="1259037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字方塊 52"/>
              <p:cNvSpPr txBox="1"/>
              <p:nvPr/>
            </p:nvSpPr>
            <p:spPr>
              <a:xfrm>
                <a:off x="4863963" y="7708686"/>
                <a:ext cx="614414" cy="757555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4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altLang="zh-TW" sz="4200" dirty="0"/>
                  <a:t>’’</a:t>
                </a:r>
                <a:endParaRPr lang="zh-TW" altLang="en-US" sz="4200" dirty="0"/>
              </a:p>
            </p:txBody>
          </p:sp>
        </mc:Choice>
        <mc:Fallback xmlns="">
          <p:sp>
            <p:nvSpPr>
              <p:cNvPr id="53" name="文字方塊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3963" y="7708686"/>
                <a:ext cx="614414" cy="757555"/>
              </a:xfrm>
              <a:prstGeom prst="rect">
                <a:avLst/>
              </a:prstGeom>
              <a:blipFill rotWithShape="1">
                <a:blip r:embed="rId7"/>
                <a:stretch>
                  <a:fillRect l="-1115" t="-894" r="-996" b="-783"/>
                </a:stretch>
              </a:blipFill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直線單箭頭接點 56"/>
          <p:cNvCxnSpPr/>
          <p:nvPr/>
        </p:nvCxnSpPr>
        <p:spPr>
          <a:xfrm>
            <a:off x="2887212" y="8459759"/>
            <a:ext cx="854489" cy="0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群組 61"/>
          <p:cNvGrpSpPr/>
          <p:nvPr/>
        </p:nvGrpSpPr>
        <p:grpSpPr>
          <a:xfrm>
            <a:off x="5813661" y="8031852"/>
            <a:ext cx="1508321" cy="861237"/>
            <a:chOff x="7251018" y="4360929"/>
            <a:chExt cx="1005547" cy="574158"/>
          </a:xfrm>
        </p:grpSpPr>
        <p:grpSp>
          <p:nvGrpSpPr>
            <p:cNvPr id="54" name="群組 53"/>
            <p:cNvGrpSpPr/>
            <p:nvPr/>
          </p:nvGrpSpPr>
          <p:grpSpPr>
            <a:xfrm>
              <a:off x="7251018" y="4360929"/>
              <a:ext cx="574158" cy="574158"/>
              <a:chOff x="5170781" y="1854574"/>
              <a:chExt cx="574158" cy="574158"/>
            </a:xfrm>
          </p:grpSpPr>
          <p:sp>
            <p:nvSpPr>
              <p:cNvPr id="55" name="橢圓 54"/>
              <p:cNvSpPr/>
              <p:nvPr/>
            </p:nvSpPr>
            <p:spPr>
              <a:xfrm>
                <a:off x="5170781" y="1854574"/>
                <a:ext cx="574158" cy="574158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56" name="手繪多邊形 55"/>
              <p:cNvSpPr/>
              <p:nvPr/>
            </p:nvSpPr>
            <p:spPr>
              <a:xfrm>
                <a:off x="5232704" y="1980522"/>
                <a:ext cx="469900" cy="354083"/>
              </a:xfrm>
              <a:custGeom>
                <a:avLst/>
                <a:gdLst>
                  <a:gd name="connsiteX0" fmla="*/ 469900 w 469900"/>
                  <a:gd name="connsiteY0" fmla="*/ 5192 h 354083"/>
                  <a:gd name="connsiteX1" fmla="*/ 254000 w 469900"/>
                  <a:gd name="connsiteY1" fmla="*/ 43292 h 354083"/>
                  <a:gd name="connsiteX2" fmla="*/ 139700 w 469900"/>
                  <a:gd name="connsiteY2" fmla="*/ 322692 h 354083"/>
                  <a:gd name="connsiteX3" fmla="*/ 0 w 469900"/>
                  <a:gd name="connsiteY3" fmla="*/ 335392 h 354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9900" h="354083">
                    <a:moveTo>
                      <a:pt x="469900" y="5192"/>
                    </a:moveTo>
                    <a:cubicBezTo>
                      <a:pt x="389466" y="-2217"/>
                      <a:pt x="309033" y="-9625"/>
                      <a:pt x="254000" y="43292"/>
                    </a:cubicBezTo>
                    <a:cubicBezTo>
                      <a:pt x="198967" y="96209"/>
                      <a:pt x="182033" y="274009"/>
                      <a:pt x="139700" y="322692"/>
                    </a:cubicBezTo>
                    <a:cubicBezTo>
                      <a:pt x="97367" y="371375"/>
                      <a:pt x="48683" y="353383"/>
                      <a:pt x="0" y="335392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</p:grpSp>
        <p:cxnSp>
          <p:nvCxnSpPr>
            <p:cNvPr id="59" name="直線單箭頭接點 58"/>
            <p:cNvCxnSpPr/>
            <p:nvPr/>
          </p:nvCxnSpPr>
          <p:spPr>
            <a:xfrm>
              <a:off x="7826300" y="4663918"/>
              <a:ext cx="43026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群組 62"/>
          <p:cNvGrpSpPr/>
          <p:nvPr/>
        </p:nvGrpSpPr>
        <p:grpSpPr>
          <a:xfrm>
            <a:off x="5786226" y="5260458"/>
            <a:ext cx="1510679" cy="861237"/>
            <a:chOff x="7204153" y="2522858"/>
            <a:chExt cx="1007119" cy="574158"/>
          </a:xfrm>
        </p:grpSpPr>
        <p:grpSp>
          <p:nvGrpSpPr>
            <p:cNvPr id="45" name="群組 44"/>
            <p:cNvGrpSpPr/>
            <p:nvPr/>
          </p:nvGrpSpPr>
          <p:grpSpPr>
            <a:xfrm>
              <a:off x="7204153" y="2522858"/>
              <a:ext cx="574158" cy="574158"/>
              <a:chOff x="5170781" y="1854574"/>
              <a:chExt cx="574158" cy="574158"/>
            </a:xfrm>
          </p:grpSpPr>
          <p:sp>
            <p:nvSpPr>
              <p:cNvPr id="46" name="橢圓 45"/>
              <p:cNvSpPr/>
              <p:nvPr/>
            </p:nvSpPr>
            <p:spPr>
              <a:xfrm>
                <a:off x="5170781" y="1854574"/>
                <a:ext cx="574158" cy="574158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47" name="手繪多邊形 46"/>
              <p:cNvSpPr/>
              <p:nvPr/>
            </p:nvSpPr>
            <p:spPr>
              <a:xfrm>
                <a:off x="5232704" y="1980522"/>
                <a:ext cx="469900" cy="354083"/>
              </a:xfrm>
              <a:custGeom>
                <a:avLst/>
                <a:gdLst>
                  <a:gd name="connsiteX0" fmla="*/ 469900 w 469900"/>
                  <a:gd name="connsiteY0" fmla="*/ 5192 h 354083"/>
                  <a:gd name="connsiteX1" fmla="*/ 254000 w 469900"/>
                  <a:gd name="connsiteY1" fmla="*/ 43292 h 354083"/>
                  <a:gd name="connsiteX2" fmla="*/ 139700 w 469900"/>
                  <a:gd name="connsiteY2" fmla="*/ 322692 h 354083"/>
                  <a:gd name="connsiteX3" fmla="*/ 0 w 469900"/>
                  <a:gd name="connsiteY3" fmla="*/ 335392 h 354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9900" h="354083">
                    <a:moveTo>
                      <a:pt x="469900" y="5192"/>
                    </a:moveTo>
                    <a:cubicBezTo>
                      <a:pt x="389466" y="-2217"/>
                      <a:pt x="309033" y="-9625"/>
                      <a:pt x="254000" y="43292"/>
                    </a:cubicBezTo>
                    <a:cubicBezTo>
                      <a:pt x="198967" y="96209"/>
                      <a:pt x="182033" y="274009"/>
                      <a:pt x="139700" y="322692"/>
                    </a:cubicBezTo>
                    <a:cubicBezTo>
                      <a:pt x="97367" y="371375"/>
                      <a:pt x="48683" y="353383"/>
                      <a:pt x="0" y="335392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</p:grpSp>
        <p:cxnSp>
          <p:nvCxnSpPr>
            <p:cNvPr id="60" name="直線單箭頭接點 59"/>
            <p:cNvCxnSpPr/>
            <p:nvPr/>
          </p:nvCxnSpPr>
          <p:spPr>
            <a:xfrm>
              <a:off x="7781007" y="2822862"/>
              <a:ext cx="43026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6" name="直線單箭頭接點 65"/>
          <p:cNvCxnSpPr/>
          <p:nvPr/>
        </p:nvCxnSpPr>
        <p:spPr>
          <a:xfrm flipV="1">
            <a:off x="4165560" y="6057456"/>
            <a:ext cx="0" cy="576288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字方塊 74"/>
              <p:cNvSpPr txBox="1"/>
              <p:nvPr/>
            </p:nvSpPr>
            <p:spPr>
              <a:xfrm>
                <a:off x="4730985" y="5821559"/>
                <a:ext cx="768985" cy="12185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′</m:t>
                          </m:r>
                        </m:den>
                      </m:f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75" name="文字方塊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0985" y="5821559"/>
                <a:ext cx="768985" cy="1218565"/>
              </a:xfrm>
              <a:prstGeom prst="rect">
                <a:avLst/>
              </a:prstGeom>
              <a:blipFill rotWithShape="1">
                <a:blip r:embed="rId8"/>
                <a:stretch>
                  <a:fillRect l="-31" t="-42" r="-11943" b="4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Backpropagation – Backward pass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文字方塊 82"/>
              <p:cNvSpPr txBox="1"/>
              <p:nvPr/>
            </p:nvSpPr>
            <p:spPr>
              <a:xfrm>
                <a:off x="3441814" y="2536033"/>
                <a:ext cx="11617211" cy="7575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TW" sz="4200" dirty="0"/>
                  <a:t>Compute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altLang="zh-TW" sz="4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4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42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num>
                      <m:den>
                        <m:r>
                          <a:rPr lang="zh-TW" altLang="en-US" sz="4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42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lang="en-US" altLang="zh-TW" sz="4200" dirty="0"/>
                  <a:t> for all activation function inputs z</a:t>
                </a:r>
                <a:endParaRPr lang="zh-TW" altLang="en-US" sz="4200" dirty="0"/>
              </a:p>
            </p:txBody>
          </p:sp>
        </mc:Choice>
        <mc:Fallback xmlns="">
          <p:sp>
            <p:nvSpPr>
              <p:cNvPr id="83" name="文字方塊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1814" y="2536033"/>
                <a:ext cx="11617211" cy="757555"/>
              </a:xfrm>
              <a:prstGeom prst="rect">
                <a:avLst/>
              </a:prstGeom>
              <a:blipFill rotWithShape="1">
                <a:blip r:embed="rId9"/>
                <a:stretch>
                  <a:fillRect l="-1" t="-63" b="6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字方塊 1"/>
          <p:cNvSpPr txBox="1"/>
          <p:nvPr/>
        </p:nvSpPr>
        <p:spPr>
          <a:xfrm>
            <a:off x="2601579" y="3506883"/>
            <a:ext cx="684722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i="1" u="sng" dirty="0"/>
              <a:t>Case 2. Not Output Layer</a:t>
            </a:r>
            <a:endParaRPr lang="zh-TW" altLang="en-US" sz="4200" b="1" i="1" u="sng" dirty="0"/>
          </a:p>
        </p:txBody>
      </p:sp>
      <p:cxnSp>
        <p:nvCxnSpPr>
          <p:cNvPr id="68" name="直線單箭頭接點 67"/>
          <p:cNvCxnSpPr/>
          <p:nvPr/>
        </p:nvCxnSpPr>
        <p:spPr>
          <a:xfrm>
            <a:off x="2945660" y="5710059"/>
            <a:ext cx="854489" cy="0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單箭頭接點 68"/>
          <p:cNvCxnSpPr/>
          <p:nvPr/>
        </p:nvCxnSpPr>
        <p:spPr>
          <a:xfrm>
            <a:off x="2959913" y="7765056"/>
            <a:ext cx="744344" cy="589961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字方塊 20"/>
          <p:cNvSpPr txBox="1"/>
          <p:nvPr/>
        </p:nvSpPr>
        <p:spPr>
          <a:xfrm>
            <a:off x="7397230" y="5157222"/>
            <a:ext cx="111034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…</a:t>
            </a:r>
            <a:endParaRPr lang="zh-TW" altLang="en-US" sz="4200" dirty="0"/>
          </a:p>
        </p:txBody>
      </p:sp>
      <p:sp>
        <p:nvSpPr>
          <p:cNvPr id="70" name="文字方塊 69"/>
          <p:cNvSpPr txBox="1"/>
          <p:nvPr/>
        </p:nvSpPr>
        <p:spPr>
          <a:xfrm>
            <a:off x="7450524" y="7976868"/>
            <a:ext cx="111034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…</a:t>
            </a:r>
            <a:endParaRPr lang="zh-TW" altLang="en-US" sz="4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字方塊 70"/>
              <p:cNvSpPr txBox="1"/>
              <p:nvPr/>
            </p:nvSpPr>
            <p:spPr>
              <a:xfrm>
                <a:off x="4730985" y="8608413"/>
                <a:ext cx="919480" cy="12185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′′</m:t>
                          </m:r>
                        </m:den>
                      </m:f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71" name="文字方塊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0985" y="8608413"/>
                <a:ext cx="919480" cy="1218565"/>
              </a:xfrm>
              <a:prstGeom prst="rect">
                <a:avLst/>
              </a:prstGeom>
              <a:blipFill rotWithShape="1">
                <a:blip r:embed="rId10"/>
                <a:stretch>
                  <a:fillRect l="-26" t="-29" r="-10610" b="2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直線單箭頭接點 35"/>
          <p:cNvCxnSpPr/>
          <p:nvPr/>
        </p:nvCxnSpPr>
        <p:spPr>
          <a:xfrm flipV="1">
            <a:off x="2997357" y="5806073"/>
            <a:ext cx="744344" cy="589961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群組 37"/>
          <p:cNvGrpSpPr/>
          <p:nvPr/>
        </p:nvGrpSpPr>
        <p:grpSpPr>
          <a:xfrm>
            <a:off x="3800148" y="5398575"/>
            <a:ext cx="712490" cy="637916"/>
            <a:chOff x="3357891" y="3538413"/>
            <a:chExt cx="474993" cy="425277"/>
          </a:xfrm>
        </p:grpSpPr>
        <p:sp>
          <p:nvSpPr>
            <p:cNvPr id="39" name="矩形 38"/>
            <p:cNvSpPr/>
            <p:nvPr/>
          </p:nvSpPr>
          <p:spPr>
            <a:xfrm>
              <a:off x="3357891" y="3538413"/>
              <a:ext cx="474993" cy="42527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40" name="Object 12"/>
            <p:cNvGraphicFramePr>
              <a:graphicFrameLocks noChangeAspect="1"/>
            </p:cNvGraphicFramePr>
            <p:nvPr/>
          </p:nvGraphicFramePr>
          <p:xfrm>
            <a:off x="3435128" y="3545009"/>
            <a:ext cx="385763" cy="387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3" imgW="3352800" imgH="3352800" progId="Equation.3">
                    <p:embed/>
                  </p:oleObj>
                </mc:Choice>
                <mc:Fallback>
                  <p:oleObj name="方程式" r:id="rId3" imgW="3352800" imgH="33528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5128" y="3545009"/>
                          <a:ext cx="385763" cy="3873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41" name="直線單箭頭接點 40"/>
          <p:cNvCxnSpPr/>
          <p:nvPr/>
        </p:nvCxnSpPr>
        <p:spPr>
          <a:xfrm flipV="1">
            <a:off x="4512638" y="5710059"/>
            <a:ext cx="1259037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字方塊 42"/>
              <p:cNvSpPr txBox="1"/>
              <p:nvPr/>
            </p:nvSpPr>
            <p:spPr>
              <a:xfrm>
                <a:off x="4911035" y="4931228"/>
                <a:ext cx="462242" cy="757555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altLang="zh-TW" sz="4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43" name="文字方塊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1035" y="4931228"/>
                <a:ext cx="462242" cy="757555"/>
              </a:xfrm>
              <a:prstGeom prst="rect">
                <a:avLst/>
              </a:prstGeom>
              <a:blipFill rotWithShape="1">
                <a:blip r:embed="rId5"/>
                <a:stretch>
                  <a:fillRect l="-1499" t="-898" r="-1257" b="-778"/>
                </a:stretch>
              </a:blipFill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9" name="群組 48"/>
          <p:cNvGrpSpPr/>
          <p:nvPr/>
        </p:nvGrpSpPr>
        <p:grpSpPr>
          <a:xfrm>
            <a:off x="3770375" y="8125502"/>
            <a:ext cx="712490" cy="637916"/>
            <a:chOff x="3357891" y="3538413"/>
            <a:chExt cx="474993" cy="425277"/>
          </a:xfrm>
        </p:grpSpPr>
        <p:sp>
          <p:nvSpPr>
            <p:cNvPr id="50" name="矩形 49"/>
            <p:cNvSpPr/>
            <p:nvPr/>
          </p:nvSpPr>
          <p:spPr>
            <a:xfrm>
              <a:off x="3357891" y="3538413"/>
              <a:ext cx="474993" cy="42527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51" name="Object 12"/>
            <p:cNvGraphicFramePr>
              <a:graphicFrameLocks noChangeAspect="1"/>
            </p:cNvGraphicFramePr>
            <p:nvPr/>
          </p:nvGraphicFramePr>
          <p:xfrm>
            <a:off x="3435128" y="3545009"/>
            <a:ext cx="385763" cy="387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6" imgW="3352800" imgH="3352800" progId="Equation.3">
                    <p:embed/>
                  </p:oleObj>
                </mc:Choice>
                <mc:Fallback>
                  <p:oleObj name="方程式" r:id="rId6" imgW="3352800" imgH="33528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5128" y="3545009"/>
                          <a:ext cx="385763" cy="3873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52" name="直線單箭頭接點 51"/>
          <p:cNvCxnSpPr/>
          <p:nvPr/>
        </p:nvCxnSpPr>
        <p:spPr>
          <a:xfrm flipV="1">
            <a:off x="4530672" y="8484321"/>
            <a:ext cx="1259037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字方塊 52"/>
              <p:cNvSpPr txBox="1"/>
              <p:nvPr/>
            </p:nvSpPr>
            <p:spPr>
              <a:xfrm>
                <a:off x="4863963" y="7708686"/>
                <a:ext cx="614414" cy="757555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4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altLang="zh-TW" sz="4200" dirty="0"/>
                  <a:t>’’</a:t>
                </a:r>
                <a:endParaRPr lang="zh-TW" altLang="en-US" sz="4200" dirty="0"/>
              </a:p>
            </p:txBody>
          </p:sp>
        </mc:Choice>
        <mc:Fallback xmlns="">
          <p:sp>
            <p:nvSpPr>
              <p:cNvPr id="53" name="文字方塊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3963" y="7708686"/>
                <a:ext cx="614414" cy="757555"/>
              </a:xfrm>
              <a:prstGeom prst="rect">
                <a:avLst/>
              </a:prstGeom>
              <a:blipFill rotWithShape="1">
                <a:blip r:embed="rId7"/>
                <a:stretch>
                  <a:fillRect l="-1115" t="-894" r="-996" b="-783"/>
                </a:stretch>
              </a:blipFill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直線單箭頭接點 56"/>
          <p:cNvCxnSpPr/>
          <p:nvPr/>
        </p:nvCxnSpPr>
        <p:spPr>
          <a:xfrm>
            <a:off x="2887212" y="8459759"/>
            <a:ext cx="854489" cy="0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群組 61"/>
          <p:cNvGrpSpPr/>
          <p:nvPr/>
        </p:nvGrpSpPr>
        <p:grpSpPr>
          <a:xfrm>
            <a:off x="5813661" y="8031852"/>
            <a:ext cx="1508321" cy="861237"/>
            <a:chOff x="7251018" y="4360929"/>
            <a:chExt cx="1005547" cy="574158"/>
          </a:xfrm>
        </p:grpSpPr>
        <p:grpSp>
          <p:nvGrpSpPr>
            <p:cNvPr id="54" name="群組 53"/>
            <p:cNvGrpSpPr/>
            <p:nvPr/>
          </p:nvGrpSpPr>
          <p:grpSpPr>
            <a:xfrm>
              <a:off x="7251018" y="4360929"/>
              <a:ext cx="574158" cy="574158"/>
              <a:chOff x="5170781" y="1854574"/>
              <a:chExt cx="574158" cy="574158"/>
            </a:xfrm>
          </p:grpSpPr>
          <p:sp>
            <p:nvSpPr>
              <p:cNvPr id="55" name="橢圓 54"/>
              <p:cNvSpPr/>
              <p:nvPr/>
            </p:nvSpPr>
            <p:spPr>
              <a:xfrm>
                <a:off x="5170781" y="1854574"/>
                <a:ext cx="574158" cy="574158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56" name="手繪多邊形 55"/>
              <p:cNvSpPr/>
              <p:nvPr/>
            </p:nvSpPr>
            <p:spPr>
              <a:xfrm>
                <a:off x="5232704" y="1980522"/>
                <a:ext cx="469900" cy="354083"/>
              </a:xfrm>
              <a:custGeom>
                <a:avLst/>
                <a:gdLst>
                  <a:gd name="connsiteX0" fmla="*/ 469900 w 469900"/>
                  <a:gd name="connsiteY0" fmla="*/ 5192 h 354083"/>
                  <a:gd name="connsiteX1" fmla="*/ 254000 w 469900"/>
                  <a:gd name="connsiteY1" fmla="*/ 43292 h 354083"/>
                  <a:gd name="connsiteX2" fmla="*/ 139700 w 469900"/>
                  <a:gd name="connsiteY2" fmla="*/ 322692 h 354083"/>
                  <a:gd name="connsiteX3" fmla="*/ 0 w 469900"/>
                  <a:gd name="connsiteY3" fmla="*/ 335392 h 354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9900" h="354083">
                    <a:moveTo>
                      <a:pt x="469900" y="5192"/>
                    </a:moveTo>
                    <a:cubicBezTo>
                      <a:pt x="389466" y="-2217"/>
                      <a:pt x="309033" y="-9625"/>
                      <a:pt x="254000" y="43292"/>
                    </a:cubicBezTo>
                    <a:cubicBezTo>
                      <a:pt x="198967" y="96209"/>
                      <a:pt x="182033" y="274009"/>
                      <a:pt x="139700" y="322692"/>
                    </a:cubicBezTo>
                    <a:cubicBezTo>
                      <a:pt x="97367" y="371375"/>
                      <a:pt x="48683" y="353383"/>
                      <a:pt x="0" y="335392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</p:grpSp>
        <p:cxnSp>
          <p:nvCxnSpPr>
            <p:cNvPr id="59" name="直線單箭頭接點 58"/>
            <p:cNvCxnSpPr/>
            <p:nvPr/>
          </p:nvCxnSpPr>
          <p:spPr>
            <a:xfrm>
              <a:off x="7826300" y="4663918"/>
              <a:ext cx="43026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群組 44"/>
          <p:cNvGrpSpPr/>
          <p:nvPr/>
        </p:nvGrpSpPr>
        <p:grpSpPr>
          <a:xfrm>
            <a:off x="5786226" y="5260458"/>
            <a:ext cx="861237" cy="861237"/>
            <a:chOff x="5170781" y="1854574"/>
            <a:chExt cx="574158" cy="574158"/>
          </a:xfrm>
        </p:grpSpPr>
        <p:sp>
          <p:nvSpPr>
            <p:cNvPr id="46" name="橢圓 45"/>
            <p:cNvSpPr/>
            <p:nvPr/>
          </p:nvSpPr>
          <p:spPr>
            <a:xfrm>
              <a:off x="5170781" y="1854574"/>
              <a:ext cx="574158" cy="574158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47" name="手繪多邊形 46"/>
            <p:cNvSpPr/>
            <p:nvPr/>
          </p:nvSpPr>
          <p:spPr>
            <a:xfrm>
              <a:off x="5232704" y="1980522"/>
              <a:ext cx="469900" cy="354083"/>
            </a:xfrm>
            <a:custGeom>
              <a:avLst/>
              <a:gdLst>
                <a:gd name="connsiteX0" fmla="*/ 469900 w 469900"/>
                <a:gd name="connsiteY0" fmla="*/ 5192 h 354083"/>
                <a:gd name="connsiteX1" fmla="*/ 254000 w 469900"/>
                <a:gd name="connsiteY1" fmla="*/ 43292 h 354083"/>
                <a:gd name="connsiteX2" fmla="*/ 139700 w 469900"/>
                <a:gd name="connsiteY2" fmla="*/ 322692 h 354083"/>
                <a:gd name="connsiteX3" fmla="*/ 0 w 469900"/>
                <a:gd name="connsiteY3" fmla="*/ 335392 h 354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9900" h="354083">
                  <a:moveTo>
                    <a:pt x="469900" y="5192"/>
                  </a:moveTo>
                  <a:cubicBezTo>
                    <a:pt x="389466" y="-2217"/>
                    <a:pt x="309033" y="-9625"/>
                    <a:pt x="254000" y="43292"/>
                  </a:cubicBezTo>
                  <a:cubicBezTo>
                    <a:pt x="198967" y="96209"/>
                    <a:pt x="182033" y="274009"/>
                    <a:pt x="139700" y="322692"/>
                  </a:cubicBezTo>
                  <a:cubicBezTo>
                    <a:pt x="97367" y="371375"/>
                    <a:pt x="48683" y="353383"/>
                    <a:pt x="0" y="335392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</p:grpSp>
      <p:cxnSp>
        <p:nvCxnSpPr>
          <p:cNvPr id="66" name="直線單箭頭接點 65"/>
          <p:cNvCxnSpPr/>
          <p:nvPr/>
        </p:nvCxnSpPr>
        <p:spPr>
          <a:xfrm flipV="1">
            <a:off x="4165560" y="6057456"/>
            <a:ext cx="0" cy="576288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字方塊 74"/>
              <p:cNvSpPr txBox="1"/>
              <p:nvPr/>
            </p:nvSpPr>
            <p:spPr>
              <a:xfrm>
                <a:off x="4730985" y="5821559"/>
                <a:ext cx="768985" cy="12185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′</m:t>
                          </m:r>
                        </m:den>
                      </m:f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75" name="文字方塊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0985" y="5821559"/>
                <a:ext cx="768985" cy="1218565"/>
              </a:xfrm>
              <a:prstGeom prst="rect">
                <a:avLst/>
              </a:prstGeom>
              <a:blipFill rotWithShape="1">
                <a:blip r:embed="rId8"/>
                <a:stretch>
                  <a:fillRect l="-31" t="-42" r="-11943" b="4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Backpropagation – Backward pass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文字方塊 82"/>
              <p:cNvSpPr txBox="1"/>
              <p:nvPr/>
            </p:nvSpPr>
            <p:spPr>
              <a:xfrm>
                <a:off x="3441814" y="2536033"/>
                <a:ext cx="11617211" cy="7575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TW" sz="4200" dirty="0"/>
                  <a:t>Compute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altLang="zh-TW" sz="4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4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42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num>
                      <m:den>
                        <m:r>
                          <a:rPr lang="zh-TW" altLang="en-US" sz="4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42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lang="en-US" altLang="zh-TW" sz="4200" dirty="0"/>
                  <a:t> for all activation function inputs z</a:t>
                </a:r>
                <a:endParaRPr lang="zh-TW" altLang="en-US" sz="4200" dirty="0"/>
              </a:p>
            </p:txBody>
          </p:sp>
        </mc:Choice>
        <mc:Fallback xmlns="">
          <p:sp>
            <p:nvSpPr>
              <p:cNvPr id="83" name="文字方塊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1814" y="2536033"/>
                <a:ext cx="11617211" cy="757555"/>
              </a:xfrm>
              <a:prstGeom prst="rect">
                <a:avLst/>
              </a:prstGeom>
              <a:blipFill rotWithShape="1">
                <a:blip r:embed="rId9"/>
                <a:stretch>
                  <a:fillRect l="-1" t="-63" b="6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字方塊 1"/>
          <p:cNvSpPr txBox="1"/>
          <p:nvPr/>
        </p:nvSpPr>
        <p:spPr>
          <a:xfrm>
            <a:off x="2601579" y="3506883"/>
            <a:ext cx="658405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i="1" u="sng" dirty="0"/>
              <a:t>Case 2. Not Output Layer</a:t>
            </a:r>
            <a:endParaRPr lang="zh-TW" altLang="en-US" sz="4200" b="1" i="1" u="sng" dirty="0"/>
          </a:p>
        </p:txBody>
      </p:sp>
      <p:cxnSp>
        <p:nvCxnSpPr>
          <p:cNvPr id="68" name="直線單箭頭接點 67"/>
          <p:cNvCxnSpPr/>
          <p:nvPr/>
        </p:nvCxnSpPr>
        <p:spPr>
          <a:xfrm>
            <a:off x="2945660" y="5710059"/>
            <a:ext cx="854489" cy="0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單箭頭接點 68"/>
          <p:cNvCxnSpPr/>
          <p:nvPr/>
        </p:nvCxnSpPr>
        <p:spPr>
          <a:xfrm>
            <a:off x="2959913" y="7765056"/>
            <a:ext cx="744344" cy="589961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字方塊 70"/>
              <p:cNvSpPr txBox="1"/>
              <p:nvPr/>
            </p:nvSpPr>
            <p:spPr>
              <a:xfrm>
                <a:off x="4730985" y="8608413"/>
                <a:ext cx="919480" cy="12185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′′</m:t>
                          </m:r>
                        </m:den>
                      </m:f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71" name="文字方塊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0985" y="8608413"/>
                <a:ext cx="919480" cy="1218565"/>
              </a:xfrm>
              <a:prstGeom prst="rect">
                <a:avLst/>
              </a:prstGeom>
              <a:blipFill rotWithShape="1">
                <a:blip r:embed="rId10"/>
                <a:stretch>
                  <a:fillRect l="-26" t="-29" r="-10610" b="2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直線單箭頭接點 33"/>
          <p:cNvCxnSpPr/>
          <p:nvPr/>
        </p:nvCxnSpPr>
        <p:spPr>
          <a:xfrm flipV="1">
            <a:off x="8266985" y="5821371"/>
            <a:ext cx="744344" cy="589961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/>
          <p:nvPr/>
        </p:nvCxnSpPr>
        <p:spPr>
          <a:xfrm flipV="1">
            <a:off x="6656106" y="5744207"/>
            <a:ext cx="236526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群組 36"/>
          <p:cNvGrpSpPr/>
          <p:nvPr/>
        </p:nvGrpSpPr>
        <p:grpSpPr>
          <a:xfrm>
            <a:off x="9069776" y="5413874"/>
            <a:ext cx="712490" cy="637916"/>
            <a:chOff x="3357891" y="3538413"/>
            <a:chExt cx="474993" cy="425277"/>
          </a:xfrm>
        </p:grpSpPr>
        <p:sp>
          <p:nvSpPr>
            <p:cNvPr id="42" name="矩形 41"/>
            <p:cNvSpPr/>
            <p:nvPr/>
          </p:nvSpPr>
          <p:spPr>
            <a:xfrm>
              <a:off x="3357891" y="3538413"/>
              <a:ext cx="474993" cy="42527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44" name="Object 12"/>
            <p:cNvGraphicFramePr>
              <a:graphicFrameLocks noChangeAspect="1"/>
            </p:cNvGraphicFramePr>
            <p:nvPr/>
          </p:nvGraphicFramePr>
          <p:xfrm>
            <a:off x="3435128" y="3545009"/>
            <a:ext cx="385763" cy="387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11" imgW="3352800" imgH="3352800" progId="Equation.3">
                    <p:embed/>
                  </p:oleObj>
                </mc:Choice>
                <mc:Fallback>
                  <p:oleObj name="方程式" r:id="rId11" imgW="3352800" imgH="33528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5128" y="3545009"/>
                          <a:ext cx="385763" cy="3873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48" name="直線單箭頭接點 47"/>
          <p:cNvCxnSpPr/>
          <p:nvPr/>
        </p:nvCxnSpPr>
        <p:spPr>
          <a:xfrm flipV="1">
            <a:off x="9782265" y="5725358"/>
            <a:ext cx="1259037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字方塊 57"/>
              <p:cNvSpPr txBox="1"/>
              <p:nvPr/>
            </p:nvSpPr>
            <p:spPr>
              <a:xfrm>
                <a:off x="7661541" y="5028143"/>
                <a:ext cx="690880" cy="757555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58" name="文字方塊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1541" y="5028143"/>
                <a:ext cx="690880" cy="757555"/>
              </a:xfrm>
              <a:prstGeom prst="rect">
                <a:avLst/>
              </a:prstGeom>
              <a:blipFill rotWithShape="1">
                <a:blip r:embed="rId12"/>
                <a:stretch>
                  <a:fillRect l="-958" t="-866" r="-12737" b="-810"/>
                </a:stretch>
              </a:blipFill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字方塊 60"/>
              <p:cNvSpPr txBox="1"/>
              <p:nvPr/>
            </p:nvSpPr>
            <p:spPr>
              <a:xfrm>
                <a:off x="10180662" y="4946526"/>
                <a:ext cx="462242" cy="757555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61" name="文字方塊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0662" y="4946526"/>
                <a:ext cx="462242" cy="757555"/>
              </a:xfrm>
              <a:prstGeom prst="rect">
                <a:avLst/>
              </a:prstGeom>
              <a:blipFill rotWithShape="1">
                <a:blip r:embed="rId13"/>
                <a:stretch>
                  <a:fillRect l="-1448" t="-906" r="-6940" b="-771"/>
                </a:stretch>
              </a:blipFill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字方塊 63"/>
              <p:cNvSpPr txBox="1"/>
              <p:nvPr/>
            </p:nvSpPr>
            <p:spPr>
              <a:xfrm>
                <a:off x="6711441" y="4940235"/>
                <a:ext cx="510540" cy="757555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altLang="zh-TW" sz="4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64" name="文字方塊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1441" y="4940235"/>
                <a:ext cx="510540" cy="757555"/>
              </a:xfrm>
              <a:prstGeom prst="rect">
                <a:avLst/>
              </a:prstGeom>
              <a:blipFill rotWithShape="1">
                <a:blip r:embed="rId14"/>
                <a:stretch>
                  <a:fillRect l="-1268" t="-913" r="-18135" b="-763"/>
                </a:stretch>
              </a:blipFill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5" name="群組 64"/>
          <p:cNvGrpSpPr/>
          <p:nvPr/>
        </p:nvGrpSpPr>
        <p:grpSpPr>
          <a:xfrm>
            <a:off x="9040002" y="8140800"/>
            <a:ext cx="712490" cy="637916"/>
            <a:chOff x="3357891" y="3538413"/>
            <a:chExt cx="474993" cy="425277"/>
          </a:xfrm>
        </p:grpSpPr>
        <p:sp>
          <p:nvSpPr>
            <p:cNvPr id="67" name="矩形 66"/>
            <p:cNvSpPr/>
            <p:nvPr/>
          </p:nvSpPr>
          <p:spPr>
            <a:xfrm>
              <a:off x="3357891" y="3538413"/>
              <a:ext cx="474993" cy="42527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72" name="Object 12"/>
            <p:cNvGraphicFramePr>
              <a:graphicFrameLocks noChangeAspect="1"/>
            </p:cNvGraphicFramePr>
            <p:nvPr/>
          </p:nvGraphicFramePr>
          <p:xfrm>
            <a:off x="3435128" y="3545009"/>
            <a:ext cx="385763" cy="387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15" imgW="3352800" imgH="3352800" progId="Equation.3">
                    <p:embed/>
                  </p:oleObj>
                </mc:Choice>
                <mc:Fallback>
                  <p:oleObj name="方程式" r:id="rId15" imgW="3352800" imgH="33528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5128" y="3545009"/>
                          <a:ext cx="385763" cy="3873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73" name="直線單箭頭接點 72"/>
          <p:cNvCxnSpPr/>
          <p:nvPr/>
        </p:nvCxnSpPr>
        <p:spPr>
          <a:xfrm flipV="1">
            <a:off x="9800300" y="8499620"/>
            <a:ext cx="1259037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單箭頭接點 75"/>
          <p:cNvCxnSpPr/>
          <p:nvPr/>
        </p:nvCxnSpPr>
        <p:spPr>
          <a:xfrm>
            <a:off x="8156840" y="8475057"/>
            <a:ext cx="854489" cy="0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單箭頭接點 76"/>
          <p:cNvCxnSpPr>
            <a:endCxn id="67" idx="1"/>
          </p:cNvCxnSpPr>
          <p:nvPr/>
        </p:nvCxnSpPr>
        <p:spPr>
          <a:xfrm>
            <a:off x="6674898" y="5791617"/>
            <a:ext cx="2365104" cy="266814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群組 77"/>
          <p:cNvGrpSpPr/>
          <p:nvPr/>
        </p:nvGrpSpPr>
        <p:grpSpPr>
          <a:xfrm>
            <a:off x="11083289" y="8047151"/>
            <a:ext cx="1508321" cy="861237"/>
            <a:chOff x="7251018" y="4360929"/>
            <a:chExt cx="1005547" cy="574158"/>
          </a:xfrm>
        </p:grpSpPr>
        <p:grpSp>
          <p:nvGrpSpPr>
            <p:cNvPr id="79" name="群組 78"/>
            <p:cNvGrpSpPr/>
            <p:nvPr/>
          </p:nvGrpSpPr>
          <p:grpSpPr>
            <a:xfrm>
              <a:off x="7251018" y="4360929"/>
              <a:ext cx="574158" cy="574158"/>
              <a:chOff x="5170781" y="1854574"/>
              <a:chExt cx="574158" cy="574158"/>
            </a:xfrm>
          </p:grpSpPr>
          <p:sp>
            <p:nvSpPr>
              <p:cNvPr id="81" name="橢圓 80"/>
              <p:cNvSpPr/>
              <p:nvPr/>
            </p:nvSpPr>
            <p:spPr>
              <a:xfrm>
                <a:off x="5170781" y="1854574"/>
                <a:ext cx="574158" cy="574158"/>
              </a:xfrm>
              <a:prstGeom prst="ellipse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84" name="手繪多邊形 83"/>
              <p:cNvSpPr/>
              <p:nvPr/>
            </p:nvSpPr>
            <p:spPr>
              <a:xfrm>
                <a:off x="5232704" y="1980522"/>
                <a:ext cx="469900" cy="354083"/>
              </a:xfrm>
              <a:custGeom>
                <a:avLst/>
                <a:gdLst>
                  <a:gd name="connsiteX0" fmla="*/ 469900 w 469900"/>
                  <a:gd name="connsiteY0" fmla="*/ 5192 h 354083"/>
                  <a:gd name="connsiteX1" fmla="*/ 254000 w 469900"/>
                  <a:gd name="connsiteY1" fmla="*/ 43292 h 354083"/>
                  <a:gd name="connsiteX2" fmla="*/ 139700 w 469900"/>
                  <a:gd name="connsiteY2" fmla="*/ 322692 h 354083"/>
                  <a:gd name="connsiteX3" fmla="*/ 0 w 469900"/>
                  <a:gd name="connsiteY3" fmla="*/ 335392 h 354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9900" h="354083">
                    <a:moveTo>
                      <a:pt x="469900" y="5192"/>
                    </a:moveTo>
                    <a:cubicBezTo>
                      <a:pt x="389466" y="-2217"/>
                      <a:pt x="309033" y="-9625"/>
                      <a:pt x="254000" y="43292"/>
                    </a:cubicBezTo>
                    <a:cubicBezTo>
                      <a:pt x="198967" y="96209"/>
                      <a:pt x="182033" y="274009"/>
                      <a:pt x="139700" y="322692"/>
                    </a:cubicBezTo>
                    <a:cubicBezTo>
                      <a:pt x="97367" y="371375"/>
                      <a:pt x="48683" y="353383"/>
                      <a:pt x="0" y="335392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</p:grpSp>
        <p:cxnSp>
          <p:nvCxnSpPr>
            <p:cNvPr id="80" name="直線單箭頭接點 79"/>
            <p:cNvCxnSpPr/>
            <p:nvPr/>
          </p:nvCxnSpPr>
          <p:spPr>
            <a:xfrm>
              <a:off x="7826300" y="4663918"/>
              <a:ext cx="43026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群組 84"/>
          <p:cNvGrpSpPr/>
          <p:nvPr/>
        </p:nvGrpSpPr>
        <p:grpSpPr>
          <a:xfrm>
            <a:off x="11055854" y="5275757"/>
            <a:ext cx="1510679" cy="861237"/>
            <a:chOff x="7204153" y="2522858"/>
            <a:chExt cx="1007119" cy="574158"/>
          </a:xfrm>
        </p:grpSpPr>
        <p:grpSp>
          <p:nvGrpSpPr>
            <p:cNvPr id="86" name="群組 85"/>
            <p:cNvGrpSpPr/>
            <p:nvPr/>
          </p:nvGrpSpPr>
          <p:grpSpPr>
            <a:xfrm>
              <a:off x="7204153" y="2522858"/>
              <a:ext cx="574158" cy="574158"/>
              <a:chOff x="5170781" y="1854574"/>
              <a:chExt cx="574158" cy="574158"/>
            </a:xfrm>
          </p:grpSpPr>
          <p:sp>
            <p:nvSpPr>
              <p:cNvPr id="88" name="橢圓 87"/>
              <p:cNvSpPr/>
              <p:nvPr/>
            </p:nvSpPr>
            <p:spPr>
              <a:xfrm>
                <a:off x="5170781" y="1854574"/>
                <a:ext cx="574158" cy="574158"/>
              </a:xfrm>
              <a:prstGeom prst="ellipse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89" name="手繪多邊形 88"/>
              <p:cNvSpPr/>
              <p:nvPr/>
            </p:nvSpPr>
            <p:spPr>
              <a:xfrm>
                <a:off x="5232704" y="1980522"/>
                <a:ext cx="469900" cy="354083"/>
              </a:xfrm>
              <a:custGeom>
                <a:avLst/>
                <a:gdLst>
                  <a:gd name="connsiteX0" fmla="*/ 469900 w 469900"/>
                  <a:gd name="connsiteY0" fmla="*/ 5192 h 354083"/>
                  <a:gd name="connsiteX1" fmla="*/ 254000 w 469900"/>
                  <a:gd name="connsiteY1" fmla="*/ 43292 h 354083"/>
                  <a:gd name="connsiteX2" fmla="*/ 139700 w 469900"/>
                  <a:gd name="connsiteY2" fmla="*/ 322692 h 354083"/>
                  <a:gd name="connsiteX3" fmla="*/ 0 w 469900"/>
                  <a:gd name="connsiteY3" fmla="*/ 335392 h 354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9900" h="354083">
                    <a:moveTo>
                      <a:pt x="469900" y="5192"/>
                    </a:moveTo>
                    <a:cubicBezTo>
                      <a:pt x="389466" y="-2217"/>
                      <a:pt x="309033" y="-9625"/>
                      <a:pt x="254000" y="43292"/>
                    </a:cubicBezTo>
                    <a:cubicBezTo>
                      <a:pt x="198967" y="96209"/>
                      <a:pt x="182033" y="274009"/>
                      <a:pt x="139700" y="322692"/>
                    </a:cubicBezTo>
                    <a:cubicBezTo>
                      <a:pt x="97367" y="371375"/>
                      <a:pt x="48683" y="353383"/>
                      <a:pt x="0" y="335392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</p:grpSp>
        <p:cxnSp>
          <p:nvCxnSpPr>
            <p:cNvPr id="87" name="直線單箭頭接點 86"/>
            <p:cNvCxnSpPr/>
            <p:nvPr/>
          </p:nvCxnSpPr>
          <p:spPr>
            <a:xfrm>
              <a:off x="7781007" y="2822862"/>
              <a:ext cx="43026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文字方塊 89"/>
              <p:cNvSpPr txBox="1"/>
              <p:nvPr/>
            </p:nvSpPr>
            <p:spPr>
              <a:xfrm>
                <a:off x="7661541" y="7096412"/>
                <a:ext cx="690880" cy="757555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90" name="文字方塊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1541" y="7096412"/>
                <a:ext cx="690880" cy="757555"/>
              </a:xfrm>
              <a:prstGeom prst="rect">
                <a:avLst/>
              </a:prstGeom>
              <a:blipFill rotWithShape="1">
                <a:blip r:embed="rId16"/>
                <a:stretch>
                  <a:fillRect l="-958" t="-876" r="-12737" b="-800"/>
                </a:stretch>
              </a:blipFill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1" name="直線單箭頭接點 90"/>
          <p:cNvCxnSpPr/>
          <p:nvPr/>
        </p:nvCxnSpPr>
        <p:spPr>
          <a:xfrm flipV="1">
            <a:off x="9435188" y="6072755"/>
            <a:ext cx="0" cy="576288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文字方塊 92"/>
              <p:cNvSpPr txBox="1"/>
              <p:nvPr/>
            </p:nvSpPr>
            <p:spPr>
              <a:xfrm>
                <a:off x="10000613" y="5836857"/>
                <a:ext cx="875665" cy="13271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sz="4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4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sz="4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93" name="文字方塊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0613" y="5836857"/>
                <a:ext cx="875665" cy="1327150"/>
              </a:xfrm>
              <a:prstGeom prst="rect">
                <a:avLst/>
              </a:prstGeom>
              <a:blipFill rotWithShape="1">
                <a:blip r:embed="rId17"/>
                <a:stretch>
                  <a:fillRect l="-72" t="-43" r="-8630" b="4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文字方塊 93"/>
              <p:cNvSpPr txBox="1"/>
              <p:nvPr/>
            </p:nvSpPr>
            <p:spPr>
              <a:xfrm>
                <a:off x="10225932" y="7704206"/>
                <a:ext cx="462242" cy="757555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94" name="文字方塊 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5932" y="7704206"/>
                <a:ext cx="462242" cy="757555"/>
              </a:xfrm>
              <a:prstGeom prst="rect">
                <a:avLst/>
              </a:prstGeom>
              <a:blipFill rotWithShape="1">
                <a:blip r:embed="rId18"/>
                <a:stretch>
                  <a:fillRect l="-1488" t="-889" r="-5389" b="-787"/>
                </a:stretch>
              </a:blipFill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文字方塊 94"/>
              <p:cNvSpPr txBox="1"/>
              <p:nvPr/>
            </p:nvSpPr>
            <p:spPr>
              <a:xfrm>
                <a:off x="10000611" y="8663360"/>
                <a:ext cx="868045" cy="13271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sz="4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4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sz="4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95" name="文字方塊 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0611" y="8663360"/>
                <a:ext cx="868045" cy="1327150"/>
              </a:xfrm>
              <a:prstGeom prst="rect">
                <a:avLst/>
              </a:prstGeom>
              <a:blipFill rotWithShape="1">
                <a:blip r:embed="rId19"/>
                <a:stretch>
                  <a:fillRect l="-73" t="-4" r="-8779" b="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bldLvl="0" animBg="1"/>
      <p:bldP spid="61" grpId="0" bldLvl="0" animBg="1"/>
      <p:bldP spid="64" grpId="0" bldLvl="0" animBg="1"/>
      <p:bldP spid="90" grpId="0" bldLvl="0" animBg="1"/>
      <p:bldP spid="93" grpId="0"/>
      <p:bldP spid="94" grpId="0" bldLvl="0" animBg="1"/>
      <p:bldP spid="9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直線單箭頭接點 35"/>
          <p:cNvCxnSpPr/>
          <p:nvPr/>
        </p:nvCxnSpPr>
        <p:spPr>
          <a:xfrm flipV="1">
            <a:off x="2997357" y="5806073"/>
            <a:ext cx="744344" cy="589961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群組 37"/>
          <p:cNvGrpSpPr/>
          <p:nvPr/>
        </p:nvGrpSpPr>
        <p:grpSpPr>
          <a:xfrm>
            <a:off x="3800148" y="5398575"/>
            <a:ext cx="712490" cy="637916"/>
            <a:chOff x="3357891" y="3538413"/>
            <a:chExt cx="474993" cy="425277"/>
          </a:xfrm>
        </p:grpSpPr>
        <p:sp>
          <p:nvSpPr>
            <p:cNvPr id="39" name="矩形 38"/>
            <p:cNvSpPr/>
            <p:nvPr/>
          </p:nvSpPr>
          <p:spPr>
            <a:xfrm>
              <a:off x="3357891" y="3538413"/>
              <a:ext cx="474993" cy="42527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40" name="Object 12"/>
            <p:cNvGraphicFramePr>
              <a:graphicFrameLocks noChangeAspect="1"/>
            </p:cNvGraphicFramePr>
            <p:nvPr/>
          </p:nvGraphicFramePr>
          <p:xfrm>
            <a:off x="3435128" y="3545009"/>
            <a:ext cx="385763" cy="387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3" imgW="3352800" imgH="3352800" progId="Equation.3">
                    <p:embed/>
                  </p:oleObj>
                </mc:Choice>
                <mc:Fallback>
                  <p:oleObj name="方程式" r:id="rId3" imgW="3352800" imgH="33528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5128" y="3545009"/>
                          <a:ext cx="385763" cy="3873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41" name="直線單箭頭接點 40"/>
          <p:cNvCxnSpPr/>
          <p:nvPr/>
        </p:nvCxnSpPr>
        <p:spPr>
          <a:xfrm flipV="1">
            <a:off x="4512638" y="5710059"/>
            <a:ext cx="1259037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字方塊 42"/>
              <p:cNvSpPr txBox="1"/>
              <p:nvPr/>
            </p:nvSpPr>
            <p:spPr>
              <a:xfrm>
                <a:off x="4911035" y="4931228"/>
                <a:ext cx="462242" cy="757555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altLang="zh-TW" sz="4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43" name="文字方塊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1035" y="4931228"/>
                <a:ext cx="462242" cy="757555"/>
              </a:xfrm>
              <a:prstGeom prst="rect">
                <a:avLst/>
              </a:prstGeom>
              <a:blipFill rotWithShape="1">
                <a:blip r:embed="rId5"/>
                <a:stretch>
                  <a:fillRect l="-1499" t="-898" r="-1257" b="-778"/>
                </a:stretch>
              </a:blipFill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9" name="群組 48"/>
          <p:cNvGrpSpPr/>
          <p:nvPr/>
        </p:nvGrpSpPr>
        <p:grpSpPr>
          <a:xfrm>
            <a:off x="3770375" y="8125502"/>
            <a:ext cx="712490" cy="637916"/>
            <a:chOff x="3357891" y="3538413"/>
            <a:chExt cx="474993" cy="425277"/>
          </a:xfrm>
        </p:grpSpPr>
        <p:sp>
          <p:nvSpPr>
            <p:cNvPr id="50" name="矩形 49"/>
            <p:cNvSpPr/>
            <p:nvPr/>
          </p:nvSpPr>
          <p:spPr>
            <a:xfrm>
              <a:off x="3357891" y="3538413"/>
              <a:ext cx="474993" cy="42527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51" name="Object 12"/>
            <p:cNvGraphicFramePr>
              <a:graphicFrameLocks noChangeAspect="1"/>
            </p:cNvGraphicFramePr>
            <p:nvPr/>
          </p:nvGraphicFramePr>
          <p:xfrm>
            <a:off x="3435128" y="3545009"/>
            <a:ext cx="385763" cy="387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6" imgW="3352800" imgH="3352800" progId="Equation.3">
                    <p:embed/>
                  </p:oleObj>
                </mc:Choice>
                <mc:Fallback>
                  <p:oleObj name="方程式" r:id="rId6" imgW="3352800" imgH="33528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5128" y="3545009"/>
                          <a:ext cx="385763" cy="3873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52" name="直線單箭頭接點 51"/>
          <p:cNvCxnSpPr/>
          <p:nvPr/>
        </p:nvCxnSpPr>
        <p:spPr>
          <a:xfrm flipV="1">
            <a:off x="4530672" y="8484321"/>
            <a:ext cx="1259037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字方塊 52"/>
              <p:cNvSpPr txBox="1"/>
              <p:nvPr/>
            </p:nvSpPr>
            <p:spPr>
              <a:xfrm>
                <a:off x="4863963" y="7708686"/>
                <a:ext cx="614414" cy="757555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4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altLang="zh-TW" sz="4200" dirty="0"/>
                  <a:t>’’</a:t>
                </a:r>
                <a:endParaRPr lang="zh-TW" altLang="en-US" sz="4200" dirty="0"/>
              </a:p>
            </p:txBody>
          </p:sp>
        </mc:Choice>
        <mc:Fallback xmlns="">
          <p:sp>
            <p:nvSpPr>
              <p:cNvPr id="53" name="文字方塊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3963" y="7708686"/>
                <a:ext cx="614414" cy="757555"/>
              </a:xfrm>
              <a:prstGeom prst="rect">
                <a:avLst/>
              </a:prstGeom>
              <a:blipFill rotWithShape="1">
                <a:blip r:embed="rId7"/>
                <a:stretch>
                  <a:fillRect l="-1115" t="-894" r="-996" b="-783"/>
                </a:stretch>
              </a:blipFill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直線單箭頭接點 56"/>
          <p:cNvCxnSpPr/>
          <p:nvPr/>
        </p:nvCxnSpPr>
        <p:spPr>
          <a:xfrm>
            <a:off x="2887212" y="8459759"/>
            <a:ext cx="854489" cy="0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群組 61"/>
          <p:cNvGrpSpPr/>
          <p:nvPr/>
        </p:nvGrpSpPr>
        <p:grpSpPr>
          <a:xfrm>
            <a:off x="5813661" y="8031852"/>
            <a:ext cx="1508321" cy="861237"/>
            <a:chOff x="7251018" y="4360929"/>
            <a:chExt cx="1005547" cy="574158"/>
          </a:xfrm>
        </p:grpSpPr>
        <p:grpSp>
          <p:nvGrpSpPr>
            <p:cNvPr id="54" name="群組 53"/>
            <p:cNvGrpSpPr/>
            <p:nvPr/>
          </p:nvGrpSpPr>
          <p:grpSpPr>
            <a:xfrm>
              <a:off x="7251018" y="4360929"/>
              <a:ext cx="574158" cy="574158"/>
              <a:chOff x="5170781" y="1854574"/>
              <a:chExt cx="574158" cy="574158"/>
            </a:xfrm>
          </p:grpSpPr>
          <p:sp>
            <p:nvSpPr>
              <p:cNvPr id="55" name="橢圓 54"/>
              <p:cNvSpPr/>
              <p:nvPr/>
            </p:nvSpPr>
            <p:spPr>
              <a:xfrm>
                <a:off x="5170781" y="1854574"/>
                <a:ext cx="574158" cy="574158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56" name="手繪多邊形 55"/>
              <p:cNvSpPr/>
              <p:nvPr/>
            </p:nvSpPr>
            <p:spPr>
              <a:xfrm>
                <a:off x="5232704" y="1980522"/>
                <a:ext cx="469900" cy="354083"/>
              </a:xfrm>
              <a:custGeom>
                <a:avLst/>
                <a:gdLst>
                  <a:gd name="connsiteX0" fmla="*/ 469900 w 469900"/>
                  <a:gd name="connsiteY0" fmla="*/ 5192 h 354083"/>
                  <a:gd name="connsiteX1" fmla="*/ 254000 w 469900"/>
                  <a:gd name="connsiteY1" fmla="*/ 43292 h 354083"/>
                  <a:gd name="connsiteX2" fmla="*/ 139700 w 469900"/>
                  <a:gd name="connsiteY2" fmla="*/ 322692 h 354083"/>
                  <a:gd name="connsiteX3" fmla="*/ 0 w 469900"/>
                  <a:gd name="connsiteY3" fmla="*/ 335392 h 354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9900" h="354083">
                    <a:moveTo>
                      <a:pt x="469900" y="5192"/>
                    </a:moveTo>
                    <a:cubicBezTo>
                      <a:pt x="389466" y="-2217"/>
                      <a:pt x="309033" y="-9625"/>
                      <a:pt x="254000" y="43292"/>
                    </a:cubicBezTo>
                    <a:cubicBezTo>
                      <a:pt x="198967" y="96209"/>
                      <a:pt x="182033" y="274009"/>
                      <a:pt x="139700" y="322692"/>
                    </a:cubicBezTo>
                    <a:cubicBezTo>
                      <a:pt x="97367" y="371375"/>
                      <a:pt x="48683" y="353383"/>
                      <a:pt x="0" y="335392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</p:grpSp>
        <p:cxnSp>
          <p:nvCxnSpPr>
            <p:cNvPr id="59" name="直線單箭頭接點 58"/>
            <p:cNvCxnSpPr/>
            <p:nvPr/>
          </p:nvCxnSpPr>
          <p:spPr>
            <a:xfrm>
              <a:off x="7826300" y="4663918"/>
              <a:ext cx="43026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6" name="直線單箭頭接點 65"/>
          <p:cNvCxnSpPr/>
          <p:nvPr/>
        </p:nvCxnSpPr>
        <p:spPr>
          <a:xfrm flipV="1">
            <a:off x="4165560" y="6057456"/>
            <a:ext cx="0" cy="576288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字方塊 74"/>
              <p:cNvSpPr txBox="1"/>
              <p:nvPr/>
            </p:nvSpPr>
            <p:spPr>
              <a:xfrm>
                <a:off x="4730985" y="5821559"/>
                <a:ext cx="768985" cy="12185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′</m:t>
                          </m:r>
                        </m:den>
                      </m:f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75" name="文字方塊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0985" y="5821559"/>
                <a:ext cx="768985" cy="1218565"/>
              </a:xfrm>
              <a:prstGeom prst="rect">
                <a:avLst/>
              </a:prstGeom>
              <a:blipFill rotWithShape="1">
                <a:blip r:embed="rId8"/>
                <a:stretch>
                  <a:fillRect l="-31" t="-42" r="-11943" b="4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Backpropagation – Backward pass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文字方塊 82"/>
              <p:cNvSpPr txBox="1"/>
              <p:nvPr/>
            </p:nvSpPr>
            <p:spPr>
              <a:xfrm>
                <a:off x="3441814" y="2536033"/>
                <a:ext cx="11617211" cy="7575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TW" sz="4200" dirty="0"/>
                  <a:t>Compute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altLang="zh-TW" sz="4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4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42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num>
                      <m:den>
                        <m:r>
                          <a:rPr lang="zh-TW" altLang="en-US" sz="4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42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lang="en-US" altLang="zh-TW" sz="4200" dirty="0"/>
                  <a:t> for all activation function inputs z</a:t>
                </a:r>
                <a:endParaRPr lang="zh-TW" altLang="en-US" sz="4200" dirty="0"/>
              </a:p>
            </p:txBody>
          </p:sp>
        </mc:Choice>
        <mc:Fallback xmlns="">
          <p:sp>
            <p:nvSpPr>
              <p:cNvPr id="83" name="文字方塊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1814" y="2536033"/>
                <a:ext cx="11617211" cy="757555"/>
              </a:xfrm>
              <a:prstGeom prst="rect">
                <a:avLst/>
              </a:prstGeom>
              <a:blipFill rotWithShape="1">
                <a:blip r:embed="rId9"/>
                <a:stretch>
                  <a:fillRect l="-1" t="-63" b="6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字方塊 1"/>
          <p:cNvSpPr txBox="1"/>
          <p:nvPr/>
        </p:nvSpPr>
        <p:spPr>
          <a:xfrm>
            <a:off x="2601579" y="3506883"/>
            <a:ext cx="70697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i="1" u="sng" dirty="0"/>
              <a:t>Case 2. Not Output Layer</a:t>
            </a:r>
            <a:endParaRPr lang="zh-TW" altLang="en-US" sz="4200" b="1" i="1" u="sng" dirty="0"/>
          </a:p>
        </p:txBody>
      </p:sp>
      <p:cxnSp>
        <p:nvCxnSpPr>
          <p:cNvPr id="68" name="直線單箭頭接點 67"/>
          <p:cNvCxnSpPr/>
          <p:nvPr/>
        </p:nvCxnSpPr>
        <p:spPr>
          <a:xfrm>
            <a:off x="2945660" y="5710059"/>
            <a:ext cx="854489" cy="0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單箭頭接點 68"/>
          <p:cNvCxnSpPr/>
          <p:nvPr/>
        </p:nvCxnSpPr>
        <p:spPr>
          <a:xfrm>
            <a:off x="2959913" y="7765056"/>
            <a:ext cx="744344" cy="589961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字方塊 70"/>
              <p:cNvSpPr txBox="1"/>
              <p:nvPr/>
            </p:nvSpPr>
            <p:spPr>
              <a:xfrm>
                <a:off x="4730985" y="8608413"/>
                <a:ext cx="919480" cy="12185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′′</m:t>
                          </m:r>
                        </m:den>
                      </m:f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71" name="文字方塊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0985" y="8608413"/>
                <a:ext cx="919480" cy="1218565"/>
              </a:xfrm>
              <a:prstGeom prst="rect">
                <a:avLst/>
              </a:prstGeom>
              <a:blipFill rotWithShape="1">
                <a:blip r:embed="rId10"/>
                <a:stretch>
                  <a:fillRect l="-26" t="-29" r="-10610" b="2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直線單箭頭接點 33"/>
          <p:cNvCxnSpPr/>
          <p:nvPr/>
        </p:nvCxnSpPr>
        <p:spPr>
          <a:xfrm flipV="1">
            <a:off x="8266985" y="5821371"/>
            <a:ext cx="744344" cy="589961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/>
          <p:nvPr/>
        </p:nvCxnSpPr>
        <p:spPr>
          <a:xfrm flipV="1">
            <a:off x="6656106" y="5744207"/>
            <a:ext cx="236526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群組 36"/>
          <p:cNvGrpSpPr/>
          <p:nvPr/>
        </p:nvGrpSpPr>
        <p:grpSpPr>
          <a:xfrm>
            <a:off x="9069776" y="5413874"/>
            <a:ext cx="712490" cy="637916"/>
            <a:chOff x="3357891" y="3538413"/>
            <a:chExt cx="474993" cy="425277"/>
          </a:xfrm>
        </p:grpSpPr>
        <p:sp>
          <p:nvSpPr>
            <p:cNvPr id="42" name="矩形 41"/>
            <p:cNvSpPr/>
            <p:nvPr/>
          </p:nvSpPr>
          <p:spPr>
            <a:xfrm>
              <a:off x="3357891" y="3538413"/>
              <a:ext cx="474993" cy="42527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44" name="Object 12"/>
            <p:cNvGraphicFramePr>
              <a:graphicFrameLocks noChangeAspect="1"/>
            </p:cNvGraphicFramePr>
            <p:nvPr/>
          </p:nvGraphicFramePr>
          <p:xfrm>
            <a:off x="3435128" y="3545009"/>
            <a:ext cx="385763" cy="387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11" imgW="3352800" imgH="3352800" progId="Equation.3">
                    <p:embed/>
                  </p:oleObj>
                </mc:Choice>
                <mc:Fallback>
                  <p:oleObj name="方程式" r:id="rId11" imgW="3352800" imgH="33528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5128" y="3545009"/>
                          <a:ext cx="385763" cy="3873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48" name="直線單箭頭接點 47"/>
          <p:cNvCxnSpPr/>
          <p:nvPr/>
        </p:nvCxnSpPr>
        <p:spPr>
          <a:xfrm flipV="1">
            <a:off x="9782265" y="5725358"/>
            <a:ext cx="1259037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字方塊 57"/>
              <p:cNvSpPr txBox="1"/>
              <p:nvPr/>
            </p:nvSpPr>
            <p:spPr>
              <a:xfrm>
                <a:off x="7661541" y="5028143"/>
                <a:ext cx="690880" cy="757555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58" name="文字方塊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1541" y="5028143"/>
                <a:ext cx="690880" cy="757555"/>
              </a:xfrm>
              <a:prstGeom prst="rect">
                <a:avLst/>
              </a:prstGeom>
              <a:blipFill rotWithShape="1">
                <a:blip r:embed="rId12"/>
                <a:stretch>
                  <a:fillRect l="-958" t="-866" r="-12737" b="-810"/>
                </a:stretch>
              </a:blipFill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字方塊 60"/>
              <p:cNvSpPr txBox="1"/>
              <p:nvPr/>
            </p:nvSpPr>
            <p:spPr>
              <a:xfrm>
                <a:off x="10180662" y="4946526"/>
                <a:ext cx="462242" cy="757555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61" name="文字方塊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0662" y="4946526"/>
                <a:ext cx="462242" cy="757555"/>
              </a:xfrm>
              <a:prstGeom prst="rect">
                <a:avLst/>
              </a:prstGeom>
              <a:blipFill rotWithShape="1">
                <a:blip r:embed="rId13"/>
                <a:stretch>
                  <a:fillRect l="-1448" t="-906" r="-6940" b="-771"/>
                </a:stretch>
              </a:blipFill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字方塊 63"/>
              <p:cNvSpPr txBox="1"/>
              <p:nvPr/>
            </p:nvSpPr>
            <p:spPr>
              <a:xfrm>
                <a:off x="6711441" y="4940235"/>
                <a:ext cx="510540" cy="757555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altLang="zh-TW" sz="4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64" name="文字方塊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1441" y="4940235"/>
                <a:ext cx="510540" cy="757555"/>
              </a:xfrm>
              <a:prstGeom prst="rect">
                <a:avLst/>
              </a:prstGeom>
              <a:blipFill rotWithShape="1">
                <a:blip r:embed="rId14"/>
                <a:stretch>
                  <a:fillRect l="-1268" t="-913" r="-18135" b="-763"/>
                </a:stretch>
              </a:blipFill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5" name="群組 64"/>
          <p:cNvGrpSpPr/>
          <p:nvPr/>
        </p:nvGrpSpPr>
        <p:grpSpPr>
          <a:xfrm>
            <a:off x="9040002" y="8140800"/>
            <a:ext cx="712490" cy="637916"/>
            <a:chOff x="3357891" y="3538413"/>
            <a:chExt cx="474993" cy="425277"/>
          </a:xfrm>
        </p:grpSpPr>
        <p:sp>
          <p:nvSpPr>
            <p:cNvPr id="67" name="矩形 66"/>
            <p:cNvSpPr/>
            <p:nvPr/>
          </p:nvSpPr>
          <p:spPr>
            <a:xfrm>
              <a:off x="3357891" y="3538413"/>
              <a:ext cx="474993" cy="42527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72" name="Object 12"/>
            <p:cNvGraphicFramePr>
              <a:graphicFrameLocks noChangeAspect="1"/>
            </p:cNvGraphicFramePr>
            <p:nvPr/>
          </p:nvGraphicFramePr>
          <p:xfrm>
            <a:off x="3435128" y="3545009"/>
            <a:ext cx="385763" cy="387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15" imgW="3352800" imgH="3352800" progId="Equation.3">
                    <p:embed/>
                  </p:oleObj>
                </mc:Choice>
                <mc:Fallback>
                  <p:oleObj name="方程式" r:id="rId15" imgW="3352800" imgH="33528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5128" y="3545009"/>
                          <a:ext cx="385763" cy="3873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73" name="直線單箭頭接點 72"/>
          <p:cNvCxnSpPr/>
          <p:nvPr/>
        </p:nvCxnSpPr>
        <p:spPr>
          <a:xfrm flipV="1">
            <a:off x="9800300" y="8499620"/>
            <a:ext cx="1259037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單箭頭接點 75"/>
          <p:cNvCxnSpPr/>
          <p:nvPr/>
        </p:nvCxnSpPr>
        <p:spPr>
          <a:xfrm>
            <a:off x="8156840" y="8475057"/>
            <a:ext cx="854489" cy="0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單箭頭接點 76"/>
          <p:cNvCxnSpPr>
            <a:endCxn id="67" idx="1"/>
          </p:cNvCxnSpPr>
          <p:nvPr/>
        </p:nvCxnSpPr>
        <p:spPr>
          <a:xfrm>
            <a:off x="6674898" y="5791617"/>
            <a:ext cx="2365104" cy="266814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群組 77"/>
          <p:cNvGrpSpPr/>
          <p:nvPr/>
        </p:nvGrpSpPr>
        <p:grpSpPr>
          <a:xfrm>
            <a:off x="11083289" y="8047151"/>
            <a:ext cx="1508321" cy="861237"/>
            <a:chOff x="7251018" y="4360929"/>
            <a:chExt cx="1005547" cy="574158"/>
          </a:xfrm>
        </p:grpSpPr>
        <p:grpSp>
          <p:nvGrpSpPr>
            <p:cNvPr id="79" name="群組 78"/>
            <p:cNvGrpSpPr/>
            <p:nvPr/>
          </p:nvGrpSpPr>
          <p:grpSpPr>
            <a:xfrm>
              <a:off x="7251018" y="4360929"/>
              <a:ext cx="574158" cy="574158"/>
              <a:chOff x="5170781" y="1854574"/>
              <a:chExt cx="574158" cy="574158"/>
            </a:xfrm>
          </p:grpSpPr>
          <p:sp>
            <p:nvSpPr>
              <p:cNvPr id="81" name="橢圓 80"/>
              <p:cNvSpPr/>
              <p:nvPr/>
            </p:nvSpPr>
            <p:spPr>
              <a:xfrm>
                <a:off x="5170781" y="1854574"/>
                <a:ext cx="574158" cy="574158"/>
              </a:xfrm>
              <a:prstGeom prst="ellipse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84" name="手繪多邊形 83"/>
              <p:cNvSpPr/>
              <p:nvPr/>
            </p:nvSpPr>
            <p:spPr>
              <a:xfrm>
                <a:off x="5232704" y="1980522"/>
                <a:ext cx="469900" cy="354083"/>
              </a:xfrm>
              <a:custGeom>
                <a:avLst/>
                <a:gdLst>
                  <a:gd name="connsiteX0" fmla="*/ 469900 w 469900"/>
                  <a:gd name="connsiteY0" fmla="*/ 5192 h 354083"/>
                  <a:gd name="connsiteX1" fmla="*/ 254000 w 469900"/>
                  <a:gd name="connsiteY1" fmla="*/ 43292 h 354083"/>
                  <a:gd name="connsiteX2" fmla="*/ 139700 w 469900"/>
                  <a:gd name="connsiteY2" fmla="*/ 322692 h 354083"/>
                  <a:gd name="connsiteX3" fmla="*/ 0 w 469900"/>
                  <a:gd name="connsiteY3" fmla="*/ 335392 h 354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9900" h="354083">
                    <a:moveTo>
                      <a:pt x="469900" y="5192"/>
                    </a:moveTo>
                    <a:cubicBezTo>
                      <a:pt x="389466" y="-2217"/>
                      <a:pt x="309033" y="-9625"/>
                      <a:pt x="254000" y="43292"/>
                    </a:cubicBezTo>
                    <a:cubicBezTo>
                      <a:pt x="198967" y="96209"/>
                      <a:pt x="182033" y="274009"/>
                      <a:pt x="139700" y="322692"/>
                    </a:cubicBezTo>
                    <a:cubicBezTo>
                      <a:pt x="97367" y="371375"/>
                      <a:pt x="48683" y="353383"/>
                      <a:pt x="0" y="335392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</p:grpSp>
        <p:cxnSp>
          <p:nvCxnSpPr>
            <p:cNvPr id="80" name="直線單箭頭接點 79"/>
            <p:cNvCxnSpPr/>
            <p:nvPr/>
          </p:nvCxnSpPr>
          <p:spPr>
            <a:xfrm>
              <a:off x="7826300" y="4663918"/>
              <a:ext cx="43026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群組 84"/>
          <p:cNvGrpSpPr/>
          <p:nvPr/>
        </p:nvGrpSpPr>
        <p:grpSpPr>
          <a:xfrm>
            <a:off x="11055854" y="5275757"/>
            <a:ext cx="1510679" cy="861237"/>
            <a:chOff x="7204153" y="2522858"/>
            <a:chExt cx="1007119" cy="574158"/>
          </a:xfrm>
        </p:grpSpPr>
        <p:grpSp>
          <p:nvGrpSpPr>
            <p:cNvPr id="86" name="群組 85"/>
            <p:cNvGrpSpPr/>
            <p:nvPr/>
          </p:nvGrpSpPr>
          <p:grpSpPr>
            <a:xfrm>
              <a:off x="7204153" y="2522858"/>
              <a:ext cx="574158" cy="574158"/>
              <a:chOff x="5170781" y="1854574"/>
              <a:chExt cx="574158" cy="574158"/>
            </a:xfrm>
          </p:grpSpPr>
          <p:sp>
            <p:nvSpPr>
              <p:cNvPr id="88" name="橢圓 87"/>
              <p:cNvSpPr/>
              <p:nvPr/>
            </p:nvSpPr>
            <p:spPr>
              <a:xfrm>
                <a:off x="5170781" y="1854574"/>
                <a:ext cx="574158" cy="574158"/>
              </a:xfrm>
              <a:prstGeom prst="ellipse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89" name="手繪多邊形 88"/>
              <p:cNvSpPr/>
              <p:nvPr/>
            </p:nvSpPr>
            <p:spPr>
              <a:xfrm>
                <a:off x="5232704" y="1980522"/>
                <a:ext cx="469900" cy="354083"/>
              </a:xfrm>
              <a:custGeom>
                <a:avLst/>
                <a:gdLst>
                  <a:gd name="connsiteX0" fmla="*/ 469900 w 469900"/>
                  <a:gd name="connsiteY0" fmla="*/ 5192 h 354083"/>
                  <a:gd name="connsiteX1" fmla="*/ 254000 w 469900"/>
                  <a:gd name="connsiteY1" fmla="*/ 43292 h 354083"/>
                  <a:gd name="connsiteX2" fmla="*/ 139700 w 469900"/>
                  <a:gd name="connsiteY2" fmla="*/ 322692 h 354083"/>
                  <a:gd name="connsiteX3" fmla="*/ 0 w 469900"/>
                  <a:gd name="connsiteY3" fmla="*/ 335392 h 354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9900" h="354083">
                    <a:moveTo>
                      <a:pt x="469900" y="5192"/>
                    </a:moveTo>
                    <a:cubicBezTo>
                      <a:pt x="389466" y="-2217"/>
                      <a:pt x="309033" y="-9625"/>
                      <a:pt x="254000" y="43292"/>
                    </a:cubicBezTo>
                    <a:cubicBezTo>
                      <a:pt x="198967" y="96209"/>
                      <a:pt x="182033" y="274009"/>
                      <a:pt x="139700" y="322692"/>
                    </a:cubicBezTo>
                    <a:cubicBezTo>
                      <a:pt x="97367" y="371375"/>
                      <a:pt x="48683" y="353383"/>
                      <a:pt x="0" y="335392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</p:grpSp>
        <p:cxnSp>
          <p:nvCxnSpPr>
            <p:cNvPr id="87" name="直線單箭頭接點 86"/>
            <p:cNvCxnSpPr/>
            <p:nvPr/>
          </p:nvCxnSpPr>
          <p:spPr>
            <a:xfrm>
              <a:off x="7781007" y="2822862"/>
              <a:ext cx="43026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1" name="直線單箭頭接點 90"/>
          <p:cNvCxnSpPr/>
          <p:nvPr/>
        </p:nvCxnSpPr>
        <p:spPr>
          <a:xfrm flipV="1">
            <a:off x="9435188" y="6072755"/>
            <a:ext cx="0" cy="576288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文字方塊 92"/>
              <p:cNvSpPr txBox="1"/>
              <p:nvPr/>
            </p:nvSpPr>
            <p:spPr>
              <a:xfrm>
                <a:off x="10000613" y="5836857"/>
                <a:ext cx="875665" cy="13271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sz="4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4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sz="4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93" name="文字方塊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0613" y="5836857"/>
                <a:ext cx="875665" cy="1327150"/>
              </a:xfrm>
              <a:prstGeom prst="rect">
                <a:avLst/>
              </a:prstGeom>
              <a:blipFill rotWithShape="1">
                <a:blip r:embed="rId16"/>
                <a:stretch>
                  <a:fillRect l="-72" t="-43" r="-8630" b="4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文字方塊 93"/>
              <p:cNvSpPr txBox="1"/>
              <p:nvPr/>
            </p:nvSpPr>
            <p:spPr>
              <a:xfrm>
                <a:off x="10225932" y="7704206"/>
                <a:ext cx="462242" cy="757555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94" name="文字方塊 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5932" y="7704206"/>
                <a:ext cx="462242" cy="757555"/>
              </a:xfrm>
              <a:prstGeom prst="rect">
                <a:avLst/>
              </a:prstGeom>
              <a:blipFill rotWithShape="1">
                <a:blip r:embed="rId17"/>
                <a:stretch>
                  <a:fillRect l="-1488" t="-889" r="-5389" b="-787"/>
                </a:stretch>
              </a:blipFill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文字方塊 94"/>
              <p:cNvSpPr txBox="1"/>
              <p:nvPr/>
            </p:nvSpPr>
            <p:spPr>
              <a:xfrm>
                <a:off x="10000611" y="8663360"/>
                <a:ext cx="868045" cy="13271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sz="4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4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sz="4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95" name="文字方塊 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0611" y="8663360"/>
                <a:ext cx="868045" cy="1327150"/>
              </a:xfrm>
              <a:prstGeom prst="rect">
                <a:avLst/>
              </a:prstGeom>
              <a:blipFill rotWithShape="1">
                <a:blip r:embed="rId18"/>
                <a:stretch>
                  <a:fillRect l="-73" t="-4" r="-8779" b="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流程圖: 抽選 59"/>
          <p:cNvSpPr/>
          <p:nvPr/>
        </p:nvSpPr>
        <p:spPr>
          <a:xfrm rot="16200000">
            <a:off x="5619173" y="5207580"/>
            <a:ext cx="1113255" cy="997196"/>
          </a:xfrm>
          <a:prstGeom prst="flowChartExtra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矩形 62"/>
              <p:cNvSpPr/>
              <p:nvPr/>
            </p:nvSpPr>
            <p:spPr>
              <a:xfrm>
                <a:off x="5477703" y="6203991"/>
                <a:ext cx="1609090" cy="84899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4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TW" sz="4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en-US" altLang="zh-TW" sz="4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4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zh-TW" sz="4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d>
                    </m:oMath>
                  </m:oMathPara>
                </a14:m>
                <a:endParaRPr lang="zh-TW" altLang="en-US" sz="4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3" name="矩形 6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7703" y="6203991"/>
                <a:ext cx="1609090" cy="848995"/>
              </a:xfrm>
              <a:prstGeom prst="rect">
                <a:avLst/>
              </a:prstGeom>
              <a:blipFill rotWithShape="1">
                <a:blip r:embed="rId19"/>
                <a:stretch>
                  <a:fillRect l="-12" t="-5" r="12" b="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直線單箭頭接點 69"/>
          <p:cNvCxnSpPr/>
          <p:nvPr/>
        </p:nvCxnSpPr>
        <p:spPr>
          <a:xfrm flipH="1" flipV="1">
            <a:off x="9734502" y="8471942"/>
            <a:ext cx="97155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單箭頭接點 73"/>
          <p:cNvCxnSpPr/>
          <p:nvPr/>
        </p:nvCxnSpPr>
        <p:spPr>
          <a:xfrm flipH="1" flipV="1">
            <a:off x="9671354" y="5710059"/>
            <a:ext cx="97155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單箭頭接點 91"/>
          <p:cNvCxnSpPr/>
          <p:nvPr/>
        </p:nvCxnSpPr>
        <p:spPr>
          <a:xfrm flipH="1" flipV="1">
            <a:off x="6626489" y="5744207"/>
            <a:ext cx="2394878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單箭頭接點 95"/>
          <p:cNvCxnSpPr/>
          <p:nvPr/>
        </p:nvCxnSpPr>
        <p:spPr>
          <a:xfrm flipH="1" flipV="1">
            <a:off x="6608417" y="5706179"/>
            <a:ext cx="2380409" cy="2715552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單箭頭接點 96"/>
          <p:cNvCxnSpPr/>
          <p:nvPr/>
        </p:nvCxnSpPr>
        <p:spPr>
          <a:xfrm flipH="1">
            <a:off x="4429901" y="5674473"/>
            <a:ext cx="1273866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文字方塊 89"/>
              <p:cNvSpPr txBox="1"/>
              <p:nvPr/>
            </p:nvSpPr>
            <p:spPr>
              <a:xfrm>
                <a:off x="7661541" y="7096412"/>
                <a:ext cx="690880" cy="757555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90" name="文字方塊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1541" y="7096412"/>
                <a:ext cx="690880" cy="757555"/>
              </a:xfrm>
              <a:prstGeom prst="rect">
                <a:avLst/>
              </a:prstGeom>
              <a:blipFill rotWithShape="1">
                <a:blip r:embed="rId20"/>
                <a:stretch>
                  <a:fillRect l="-958" t="-876" r="-12737" b="-800"/>
                </a:stretch>
              </a:blipFill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字方塊 3"/>
          <p:cNvSpPr txBox="1"/>
          <p:nvPr/>
        </p:nvSpPr>
        <p:spPr>
          <a:xfrm>
            <a:off x="11295577" y="6321851"/>
            <a:ext cx="4475414" cy="138366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4200" dirty="0"/>
              <a:t>Until we reach the output layer ……</a:t>
            </a:r>
            <a:endParaRPr lang="zh-TW" altLang="en-US" sz="4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字方塊 97"/>
              <p:cNvSpPr txBox="1"/>
              <p:nvPr/>
            </p:nvSpPr>
            <p:spPr>
              <a:xfrm>
                <a:off x="11320334" y="3601532"/>
                <a:ext cx="4475414" cy="1495425"/>
              </a:xfrm>
              <a:prstGeom prst="rect">
                <a:avLst/>
              </a:prstGeom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altLang="zh-TW" sz="4200" dirty="0">
                    <a:solidFill>
                      <a:schemeClr val="tx1"/>
                    </a:solidFill>
                  </a:rPr>
                  <a:t>Compute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altLang="zh-TW" sz="4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4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4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num>
                      <m:den>
                        <m:r>
                          <a:rPr lang="zh-TW" altLang="en-US" sz="4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4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lang="zh-TW" altLang="en-US" sz="42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TW" sz="4200" dirty="0">
                    <a:solidFill>
                      <a:schemeClr val="tx1"/>
                    </a:solidFill>
                  </a:rPr>
                  <a:t>recursively</a:t>
                </a:r>
              </a:p>
            </p:txBody>
          </p:sp>
        </mc:Choice>
        <mc:Fallback xmlns="">
          <p:sp>
            <p:nvSpPr>
              <p:cNvPr id="98" name="文字方塊 9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20334" y="3601532"/>
                <a:ext cx="4475414" cy="1495425"/>
              </a:xfrm>
              <a:prstGeom prst="rect">
                <a:avLst/>
              </a:prstGeom>
              <a:blipFill rotWithShape="1">
                <a:blip r:embed="rId21"/>
                <a:stretch>
                  <a:fillRect l="1812" t="-4616" r="-721" b="-7996"/>
                </a:stretch>
              </a:blipFill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98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Backpropagation – Backward Pass</a:t>
            </a:r>
            <a:endParaRPr lang="zh-TW" altLang="en-US" dirty="0"/>
          </a:p>
        </p:txBody>
      </p:sp>
      <p:cxnSp>
        <p:nvCxnSpPr>
          <p:cNvPr id="4" name="直線單箭頭接點 3"/>
          <p:cNvCxnSpPr/>
          <p:nvPr/>
        </p:nvCxnSpPr>
        <p:spPr>
          <a:xfrm>
            <a:off x="13708949" y="8210522"/>
            <a:ext cx="98348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單箭頭接點 4"/>
          <p:cNvCxnSpPr/>
          <p:nvPr/>
        </p:nvCxnSpPr>
        <p:spPr>
          <a:xfrm>
            <a:off x="13708949" y="5721128"/>
            <a:ext cx="97351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橢圓 5"/>
          <p:cNvSpPr/>
          <p:nvPr/>
        </p:nvSpPr>
        <p:spPr>
          <a:xfrm>
            <a:off x="6364413" y="5404820"/>
            <a:ext cx="861237" cy="861237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" name="橢圓 6"/>
          <p:cNvSpPr/>
          <p:nvPr/>
        </p:nvSpPr>
        <p:spPr>
          <a:xfrm>
            <a:off x="6347489" y="7726362"/>
            <a:ext cx="861237" cy="861237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" name="橢圓 7"/>
          <p:cNvSpPr/>
          <p:nvPr/>
        </p:nvSpPr>
        <p:spPr>
          <a:xfrm>
            <a:off x="9669546" y="5358773"/>
            <a:ext cx="861237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9" name="橢圓 8"/>
          <p:cNvSpPr/>
          <p:nvPr/>
        </p:nvSpPr>
        <p:spPr>
          <a:xfrm>
            <a:off x="9697929" y="7717787"/>
            <a:ext cx="861237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0" name="橢圓 9"/>
          <p:cNvSpPr/>
          <p:nvPr/>
        </p:nvSpPr>
        <p:spPr>
          <a:xfrm>
            <a:off x="12900086" y="5317926"/>
            <a:ext cx="861237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" name="橢圓 10"/>
          <p:cNvSpPr/>
          <p:nvPr/>
        </p:nvSpPr>
        <p:spPr>
          <a:xfrm>
            <a:off x="12962621" y="7717787"/>
            <a:ext cx="861237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pSp>
        <p:nvGrpSpPr>
          <p:cNvPr id="12" name="群組 11"/>
          <p:cNvGrpSpPr/>
          <p:nvPr/>
        </p:nvGrpSpPr>
        <p:grpSpPr>
          <a:xfrm>
            <a:off x="3940106" y="5819162"/>
            <a:ext cx="2383314" cy="2457450"/>
            <a:chOff x="1013669" y="3459098"/>
            <a:chExt cx="1588876" cy="1638300"/>
          </a:xfrm>
        </p:grpSpPr>
        <p:cxnSp>
          <p:nvCxnSpPr>
            <p:cNvPr id="13" name="直線單箭頭接點 12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群組 13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15" name="直線單箭頭接點 14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線單箭頭接點 15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線單箭頭接點 16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8" name="群組 17"/>
          <p:cNvGrpSpPr/>
          <p:nvPr/>
        </p:nvGrpSpPr>
        <p:grpSpPr>
          <a:xfrm>
            <a:off x="7267566" y="5797131"/>
            <a:ext cx="2383314" cy="2457450"/>
            <a:chOff x="1013669" y="3459098"/>
            <a:chExt cx="1588876" cy="1638300"/>
          </a:xfrm>
        </p:grpSpPr>
        <p:cxnSp>
          <p:nvCxnSpPr>
            <p:cNvPr id="19" name="直線單箭頭接點 18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群組 19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21" name="直線單箭頭接點 20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線單箭頭接點 21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線單箭頭接點 22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4" name="群組 23"/>
          <p:cNvGrpSpPr/>
          <p:nvPr/>
        </p:nvGrpSpPr>
        <p:grpSpPr>
          <a:xfrm>
            <a:off x="10567473" y="5767254"/>
            <a:ext cx="2383314" cy="2457450"/>
            <a:chOff x="1013669" y="3459098"/>
            <a:chExt cx="1588876" cy="1638300"/>
          </a:xfrm>
        </p:grpSpPr>
        <p:cxnSp>
          <p:nvCxnSpPr>
            <p:cNvPr id="25" name="直線單箭頭接點 24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群組 25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27" name="直線單箭頭接點 26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線單箭頭接點 27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線單箭頭接點 28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0" name="手繪多邊形 29"/>
          <p:cNvSpPr/>
          <p:nvPr/>
        </p:nvSpPr>
        <p:spPr>
          <a:xfrm>
            <a:off x="6446963" y="7915082"/>
            <a:ext cx="704850" cy="531125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1" name="手繪多邊形 30"/>
          <p:cNvSpPr/>
          <p:nvPr/>
        </p:nvSpPr>
        <p:spPr>
          <a:xfrm>
            <a:off x="6419048" y="5530920"/>
            <a:ext cx="704850" cy="531125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2" name="手繪多邊形 31"/>
          <p:cNvSpPr/>
          <p:nvPr/>
        </p:nvSpPr>
        <p:spPr>
          <a:xfrm>
            <a:off x="9762431" y="5547695"/>
            <a:ext cx="704850" cy="531125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3" name="手繪多邊形 32"/>
          <p:cNvSpPr/>
          <p:nvPr/>
        </p:nvSpPr>
        <p:spPr>
          <a:xfrm>
            <a:off x="9786947" y="7832688"/>
            <a:ext cx="704850" cy="531125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4" name="手繪多邊形 33"/>
          <p:cNvSpPr/>
          <p:nvPr/>
        </p:nvSpPr>
        <p:spPr>
          <a:xfrm>
            <a:off x="12985842" y="5455565"/>
            <a:ext cx="704850" cy="531125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5" name="手繪多邊形 34"/>
          <p:cNvSpPr/>
          <p:nvPr/>
        </p:nvSpPr>
        <p:spPr>
          <a:xfrm>
            <a:off x="13056473" y="7882841"/>
            <a:ext cx="704850" cy="531125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/>
              <p:cNvSpPr txBox="1"/>
              <p:nvPr/>
            </p:nvSpPr>
            <p:spPr>
              <a:xfrm>
                <a:off x="3312225" y="3182712"/>
                <a:ext cx="9149706" cy="848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4200" dirty="0">
                    <a:solidFill>
                      <a:srgbClr val="FF0000"/>
                    </a:solidFill>
                  </a:rPr>
                  <a:t>Compute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altLang="zh-TW" sz="4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4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4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num>
                      <m:den>
                        <m:r>
                          <a:rPr lang="zh-TW" altLang="en-US" sz="4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4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lang="zh-TW" altLang="en-US" sz="42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sz="4200" dirty="0">
                    <a:solidFill>
                      <a:srgbClr val="FF0000"/>
                    </a:solidFill>
                  </a:rPr>
                  <a:t>from the output layer</a:t>
                </a:r>
                <a:endParaRPr lang="zh-TW" altLang="en-US" sz="4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文字方塊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2225" y="3182712"/>
                <a:ext cx="9149706" cy="848995"/>
              </a:xfrm>
              <a:prstGeom prst="rect">
                <a:avLst/>
              </a:prstGeom>
              <a:blipFill rotWithShape="1">
                <a:blip r:embed="rId3"/>
                <a:stretch>
                  <a:fillRect l="-1" t="-11" r="1" b="1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文字方塊 69"/>
              <p:cNvSpPr txBox="1"/>
              <p:nvPr/>
            </p:nvSpPr>
            <p:spPr>
              <a:xfrm>
                <a:off x="3441814" y="2536033"/>
                <a:ext cx="11617211" cy="7575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TW" sz="4200" dirty="0"/>
                  <a:t>Compute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altLang="zh-TW" sz="4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4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42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num>
                      <m:den>
                        <m:r>
                          <a:rPr lang="zh-TW" altLang="en-US" sz="4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42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lang="en-US" altLang="zh-TW" sz="4200" dirty="0"/>
                  <a:t> for all activation function inputs z</a:t>
                </a:r>
                <a:endParaRPr lang="zh-TW" altLang="en-US" sz="4200" dirty="0"/>
              </a:p>
            </p:txBody>
          </p:sp>
        </mc:Choice>
        <mc:Fallback xmlns="">
          <p:sp>
            <p:nvSpPr>
              <p:cNvPr id="70" name="文字方塊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1814" y="2536033"/>
                <a:ext cx="11617211" cy="757555"/>
              </a:xfrm>
              <a:prstGeom prst="rect">
                <a:avLst/>
              </a:prstGeom>
              <a:blipFill rotWithShape="1">
                <a:blip r:embed="rId4"/>
                <a:stretch>
                  <a:fillRect l="-1" t="-63" b="6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字方塊 70"/>
              <p:cNvSpPr txBox="1"/>
              <p:nvPr/>
            </p:nvSpPr>
            <p:spPr>
              <a:xfrm>
                <a:off x="3235177" y="5397960"/>
                <a:ext cx="580390" cy="757555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71" name="文字方塊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177" y="5397960"/>
                <a:ext cx="580390" cy="757555"/>
              </a:xfrm>
              <a:prstGeom prst="rect">
                <a:avLst/>
              </a:prstGeom>
              <a:blipFill rotWithShape="1">
                <a:blip r:embed="rId5"/>
                <a:stretch>
                  <a:fillRect l="-1178" t="-899" r="-15124" b="-778"/>
                </a:stretch>
              </a:blip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字方塊 71"/>
              <p:cNvSpPr txBox="1"/>
              <p:nvPr/>
            </p:nvSpPr>
            <p:spPr>
              <a:xfrm>
                <a:off x="3228975" y="7799876"/>
                <a:ext cx="586740" cy="757555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72" name="文字方塊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8975" y="7799876"/>
                <a:ext cx="586740" cy="757555"/>
              </a:xfrm>
              <a:prstGeom prst="rect">
                <a:avLst/>
              </a:prstGeom>
              <a:blipFill rotWithShape="1">
                <a:blip r:embed="rId6"/>
                <a:stretch>
                  <a:fillRect l="-1082" t="-861" r="-14502" b="-816"/>
                </a:stretch>
              </a:blip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字方塊 72"/>
              <p:cNvSpPr txBox="1"/>
              <p:nvPr/>
            </p:nvSpPr>
            <p:spPr>
              <a:xfrm>
                <a:off x="14789876" y="5340358"/>
                <a:ext cx="589280" cy="7575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73" name="文字方塊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89876" y="5340358"/>
                <a:ext cx="589280" cy="757555"/>
              </a:xfrm>
              <a:prstGeom prst="rect">
                <a:avLst/>
              </a:prstGeom>
              <a:blipFill rotWithShape="1">
                <a:blip r:embed="rId7"/>
                <a:stretch>
                  <a:fillRect l="-15" t="-1" r="-15394" b="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文字方塊 73"/>
              <p:cNvSpPr txBox="1"/>
              <p:nvPr/>
            </p:nvSpPr>
            <p:spPr>
              <a:xfrm>
                <a:off x="14760780" y="7775084"/>
                <a:ext cx="595630" cy="7575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74" name="文字方塊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60780" y="7775084"/>
                <a:ext cx="595630" cy="757555"/>
              </a:xfrm>
              <a:prstGeom prst="rect">
                <a:avLst/>
              </a:prstGeom>
              <a:blipFill rotWithShape="1">
                <a:blip r:embed="rId8"/>
                <a:stretch>
                  <a:fillRect l="-34" t="-19" r="-14678" b="1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字方塊 40"/>
              <p:cNvSpPr txBox="1"/>
              <p:nvPr/>
            </p:nvSpPr>
            <p:spPr>
              <a:xfrm>
                <a:off x="5774795" y="5167127"/>
                <a:ext cx="469900" cy="6483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1" name="文字方塊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4795" y="5167127"/>
                <a:ext cx="469900" cy="648335"/>
              </a:xfrm>
              <a:prstGeom prst="rect">
                <a:avLst/>
              </a:prstGeom>
              <a:blipFill rotWithShape="1">
                <a:blip r:embed="rId9"/>
                <a:stretch>
                  <a:fillRect l="-22" t="-20" r="-16464" b="2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字方塊 74"/>
              <p:cNvSpPr txBox="1"/>
              <p:nvPr/>
            </p:nvSpPr>
            <p:spPr>
              <a:xfrm>
                <a:off x="5850855" y="8224704"/>
                <a:ext cx="475615" cy="6483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75" name="文字方塊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0855" y="8224704"/>
                <a:ext cx="475615" cy="648335"/>
              </a:xfrm>
              <a:prstGeom prst="rect">
                <a:avLst/>
              </a:prstGeom>
              <a:blipFill rotWithShape="1">
                <a:blip r:embed="rId10"/>
                <a:stretch>
                  <a:fillRect l="-126" t="-28" r="-15495" b="2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字方塊 75"/>
              <p:cNvSpPr txBox="1"/>
              <p:nvPr/>
            </p:nvSpPr>
            <p:spPr>
              <a:xfrm>
                <a:off x="9205952" y="5177564"/>
                <a:ext cx="475615" cy="6483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76" name="文字方塊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5952" y="5177564"/>
                <a:ext cx="475615" cy="648335"/>
              </a:xfrm>
              <a:prstGeom prst="rect">
                <a:avLst/>
              </a:prstGeom>
              <a:blipFill rotWithShape="1">
                <a:blip r:embed="rId11"/>
                <a:stretch>
                  <a:fillRect l="-75" t="-63" r="-15546" b="6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字方塊 76"/>
              <p:cNvSpPr txBox="1"/>
              <p:nvPr/>
            </p:nvSpPr>
            <p:spPr>
              <a:xfrm>
                <a:off x="9282012" y="8235141"/>
                <a:ext cx="475615" cy="6483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77" name="文字方塊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2012" y="8235141"/>
                <a:ext cx="475615" cy="648335"/>
              </a:xfrm>
              <a:prstGeom prst="rect">
                <a:avLst/>
              </a:prstGeom>
              <a:blipFill rotWithShape="1">
                <a:blip r:embed="rId12"/>
                <a:stretch>
                  <a:fillRect l="-46" t="-71" r="-15575" b="7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文字方塊 77"/>
              <p:cNvSpPr txBox="1"/>
              <p:nvPr/>
            </p:nvSpPr>
            <p:spPr>
              <a:xfrm>
                <a:off x="12372822" y="5167127"/>
                <a:ext cx="475615" cy="6483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78" name="文字方塊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72822" y="5167127"/>
                <a:ext cx="475615" cy="648335"/>
              </a:xfrm>
              <a:prstGeom prst="rect">
                <a:avLst/>
              </a:prstGeom>
              <a:blipFill rotWithShape="1">
                <a:blip r:embed="rId13"/>
                <a:stretch>
                  <a:fillRect l="-101" t="-20" r="-15519" b="2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字方塊 78"/>
              <p:cNvSpPr txBox="1"/>
              <p:nvPr/>
            </p:nvSpPr>
            <p:spPr>
              <a:xfrm>
                <a:off x="12461931" y="8210522"/>
                <a:ext cx="475615" cy="6483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79" name="文字方塊 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61931" y="8210522"/>
                <a:ext cx="475615" cy="648335"/>
              </a:xfrm>
              <a:prstGeom prst="rect">
                <a:avLst/>
              </a:prstGeom>
              <a:blipFill rotWithShape="1">
                <a:blip r:embed="rId14"/>
                <a:stretch>
                  <a:fillRect l="-12" t="-94" r="-15609" b="9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字方塊 79"/>
              <p:cNvSpPr txBox="1"/>
              <p:nvPr/>
            </p:nvSpPr>
            <p:spPr>
              <a:xfrm>
                <a:off x="12372822" y="8887655"/>
                <a:ext cx="736600" cy="11372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sz="3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80" name="文字方塊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72822" y="8887655"/>
                <a:ext cx="736600" cy="1137285"/>
              </a:xfrm>
              <a:prstGeom prst="rect">
                <a:avLst/>
              </a:prstGeom>
              <a:blipFill rotWithShape="1">
                <a:blip r:embed="rId15"/>
                <a:stretch>
                  <a:fillRect l="-65" t="-17" r="-9590" b="1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文字方塊 80"/>
              <p:cNvSpPr txBox="1"/>
              <p:nvPr/>
            </p:nvSpPr>
            <p:spPr>
              <a:xfrm>
                <a:off x="12230091" y="4012509"/>
                <a:ext cx="736600" cy="11372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sz="3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81" name="文字方塊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30091" y="4012509"/>
                <a:ext cx="736600" cy="1137285"/>
              </a:xfrm>
              <a:prstGeom prst="rect">
                <a:avLst/>
              </a:prstGeom>
              <a:blipFill rotWithShape="1">
                <a:blip r:embed="rId16"/>
                <a:stretch>
                  <a:fillRect l="-85" t="-51" r="-9570" b="5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文字方塊 81"/>
              <p:cNvSpPr txBox="1"/>
              <p:nvPr/>
            </p:nvSpPr>
            <p:spPr>
              <a:xfrm>
                <a:off x="9040398" y="8897915"/>
                <a:ext cx="736600" cy="11347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sz="3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82" name="文字方塊 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0398" y="8897915"/>
                <a:ext cx="736600" cy="1134745"/>
              </a:xfrm>
              <a:prstGeom prst="rect">
                <a:avLst/>
              </a:prstGeom>
              <a:blipFill rotWithShape="1">
                <a:blip r:embed="rId17"/>
                <a:stretch>
                  <a:fillRect l="-73" t="-26" r="-9582" b="2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文字方塊 82"/>
              <p:cNvSpPr txBox="1"/>
              <p:nvPr/>
            </p:nvSpPr>
            <p:spPr>
              <a:xfrm>
                <a:off x="8963751" y="4015269"/>
                <a:ext cx="736600" cy="11372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sz="3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83" name="文字方塊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3751" y="4015269"/>
                <a:ext cx="736600" cy="1137285"/>
              </a:xfrm>
              <a:prstGeom prst="rect">
                <a:avLst/>
              </a:prstGeom>
              <a:blipFill rotWithShape="1">
                <a:blip r:embed="rId18"/>
                <a:stretch>
                  <a:fillRect l="-12" t="-14" r="-9643" b="1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文字方塊 83"/>
              <p:cNvSpPr txBox="1"/>
              <p:nvPr/>
            </p:nvSpPr>
            <p:spPr>
              <a:xfrm>
                <a:off x="5712024" y="8887655"/>
                <a:ext cx="736600" cy="11347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sz="3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84" name="文字方塊 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2024" y="8887655"/>
                <a:ext cx="736600" cy="1134745"/>
              </a:xfrm>
              <a:prstGeom prst="rect">
                <a:avLst/>
              </a:prstGeom>
              <a:blipFill rotWithShape="1">
                <a:blip r:embed="rId19"/>
                <a:stretch>
                  <a:fillRect l="-27" t="-17" r="-9628" b="1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文字方塊 84"/>
              <p:cNvSpPr txBox="1"/>
              <p:nvPr/>
            </p:nvSpPr>
            <p:spPr>
              <a:xfrm>
                <a:off x="5666745" y="4065579"/>
                <a:ext cx="731520" cy="11347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sz="3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85" name="文字方塊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6745" y="4065579"/>
                <a:ext cx="731520" cy="1134745"/>
              </a:xfrm>
              <a:prstGeom prst="rect">
                <a:avLst/>
              </a:prstGeom>
              <a:blipFill rotWithShape="1">
                <a:blip r:embed="rId20"/>
                <a:stretch>
                  <a:fillRect l="-1" t="-27" r="-10069" b="2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0" grpId="0"/>
      <p:bldP spid="81" grpId="0"/>
      <p:bldP spid="82" grpId="0"/>
      <p:bldP spid="83" grpId="0"/>
      <p:bldP spid="84" grpId="0"/>
      <p:bldP spid="8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Backpropagation – Backward Pass</a:t>
            </a:r>
            <a:endParaRPr lang="zh-TW" altLang="en-US" dirty="0"/>
          </a:p>
        </p:txBody>
      </p:sp>
      <p:grpSp>
        <p:nvGrpSpPr>
          <p:cNvPr id="12" name="群組 11"/>
          <p:cNvGrpSpPr/>
          <p:nvPr/>
        </p:nvGrpSpPr>
        <p:grpSpPr>
          <a:xfrm>
            <a:off x="3940106" y="5819162"/>
            <a:ext cx="2383314" cy="2457450"/>
            <a:chOff x="1013669" y="3459098"/>
            <a:chExt cx="1588876" cy="1638300"/>
          </a:xfrm>
        </p:grpSpPr>
        <p:cxnSp>
          <p:nvCxnSpPr>
            <p:cNvPr id="13" name="直線單箭頭接點 12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群組 13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15" name="直線單箭頭接點 14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線單箭頭接點 15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線單箭頭接點 16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8" name="群組 17"/>
          <p:cNvGrpSpPr/>
          <p:nvPr/>
        </p:nvGrpSpPr>
        <p:grpSpPr>
          <a:xfrm>
            <a:off x="7267566" y="5797131"/>
            <a:ext cx="2383314" cy="2457450"/>
            <a:chOff x="1013669" y="3459098"/>
            <a:chExt cx="1588876" cy="1638300"/>
          </a:xfrm>
        </p:grpSpPr>
        <p:cxnSp>
          <p:nvCxnSpPr>
            <p:cNvPr id="19" name="直線單箭頭接點 18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群組 19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21" name="直線單箭頭接點 20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線單箭頭接點 21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線單箭頭接點 22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4" name="群組 23"/>
          <p:cNvGrpSpPr/>
          <p:nvPr/>
        </p:nvGrpSpPr>
        <p:grpSpPr>
          <a:xfrm>
            <a:off x="10567473" y="5767254"/>
            <a:ext cx="2383314" cy="2457450"/>
            <a:chOff x="1013669" y="3459098"/>
            <a:chExt cx="1588876" cy="1638300"/>
          </a:xfrm>
        </p:grpSpPr>
        <p:cxnSp>
          <p:nvCxnSpPr>
            <p:cNvPr id="25" name="直線單箭頭接點 24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群組 25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27" name="直線單箭頭接點 26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線單箭頭接點 27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線單箭頭接點 28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/>
              <p:cNvSpPr txBox="1"/>
              <p:nvPr/>
            </p:nvSpPr>
            <p:spPr>
              <a:xfrm>
                <a:off x="3312225" y="3182712"/>
                <a:ext cx="9149706" cy="848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4200" dirty="0">
                    <a:solidFill>
                      <a:srgbClr val="FF0000"/>
                    </a:solidFill>
                  </a:rPr>
                  <a:t>Compute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altLang="zh-TW" sz="4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4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4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num>
                      <m:den>
                        <m:r>
                          <a:rPr lang="zh-TW" altLang="en-US" sz="4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4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lang="zh-TW" altLang="en-US" sz="42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sz="4200" dirty="0">
                    <a:solidFill>
                      <a:srgbClr val="FF0000"/>
                    </a:solidFill>
                  </a:rPr>
                  <a:t>from the output layer</a:t>
                </a:r>
                <a:endParaRPr lang="zh-TW" altLang="en-US" sz="4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文字方塊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2225" y="3182712"/>
                <a:ext cx="9149706" cy="848995"/>
              </a:xfrm>
              <a:prstGeom prst="rect">
                <a:avLst/>
              </a:prstGeom>
              <a:blipFill rotWithShape="1">
                <a:blip r:embed="rId2"/>
                <a:stretch>
                  <a:fillRect l="-1" t="-11" r="1" b="1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文字方塊 69"/>
              <p:cNvSpPr txBox="1"/>
              <p:nvPr/>
            </p:nvSpPr>
            <p:spPr>
              <a:xfrm>
                <a:off x="3441814" y="2536033"/>
                <a:ext cx="11617211" cy="7575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TW" sz="4200" dirty="0"/>
                  <a:t>Compute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altLang="zh-TW" sz="4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4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42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num>
                      <m:den>
                        <m:r>
                          <a:rPr lang="zh-TW" altLang="en-US" sz="4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42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lang="en-US" altLang="zh-TW" sz="4200" dirty="0"/>
                  <a:t> for all activation function inputs z</a:t>
                </a:r>
                <a:endParaRPr lang="zh-TW" altLang="en-US" sz="4200" dirty="0"/>
              </a:p>
            </p:txBody>
          </p:sp>
        </mc:Choice>
        <mc:Fallback xmlns="">
          <p:sp>
            <p:nvSpPr>
              <p:cNvPr id="70" name="文字方塊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1814" y="2536033"/>
                <a:ext cx="11617211" cy="757555"/>
              </a:xfrm>
              <a:prstGeom prst="rect">
                <a:avLst/>
              </a:prstGeom>
              <a:blipFill rotWithShape="1">
                <a:blip r:embed="rId3"/>
                <a:stretch>
                  <a:fillRect l="-1" t="-63" b="6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字方塊 70"/>
              <p:cNvSpPr txBox="1"/>
              <p:nvPr/>
            </p:nvSpPr>
            <p:spPr>
              <a:xfrm>
                <a:off x="3235177" y="5397960"/>
                <a:ext cx="580390" cy="757555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71" name="文字方塊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177" y="5397960"/>
                <a:ext cx="580390" cy="757555"/>
              </a:xfrm>
              <a:prstGeom prst="rect">
                <a:avLst/>
              </a:prstGeom>
              <a:blipFill rotWithShape="1">
                <a:blip r:embed="rId4"/>
                <a:stretch>
                  <a:fillRect l="-1178" t="-899" r="-15124" b="-778"/>
                </a:stretch>
              </a:blip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字方塊 71"/>
              <p:cNvSpPr txBox="1"/>
              <p:nvPr/>
            </p:nvSpPr>
            <p:spPr>
              <a:xfrm>
                <a:off x="3228975" y="7799876"/>
                <a:ext cx="586740" cy="757555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72" name="文字方塊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8975" y="7799876"/>
                <a:ext cx="586740" cy="757555"/>
              </a:xfrm>
              <a:prstGeom prst="rect">
                <a:avLst/>
              </a:prstGeom>
              <a:blipFill rotWithShape="1">
                <a:blip r:embed="rId5"/>
                <a:stretch>
                  <a:fillRect l="-1082" t="-861" r="-14502" b="-816"/>
                </a:stretch>
              </a:blip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字方塊 40"/>
              <p:cNvSpPr txBox="1"/>
              <p:nvPr/>
            </p:nvSpPr>
            <p:spPr>
              <a:xfrm>
                <a:off x="5774795" y="5167127"/>
                <a:ext cx="469900" cy="6483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1" name="文字方塊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4795" y="5167127"/>
                <a:ext cx="469900" cy="648335"/>
              </a:xfrm>
              <a:prstGeom prst="rect">
                <a:avLst/>
              </a:prstGeom>
              <a:blipFill rotWithShape="1">
                <a:blip r:embed="rId6"/>
                <a:stretch>
                  <a:fillRect l="-22" t="-20" r="-16464" b="2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字方塊 74"/>
              <p:cNvSpPr txBox="1"/>
              <p:nvPr/>
            </p:nvSpPr>
            <p:spPr>
              <a:xfrm>
                <a:off x="5850855" y="8224704"/>
                <a:ext cx="475615" cy="6483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75" name="文字方塊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0855" y="8224704"/>
                <a:ext cx="475615" cy="648335"/>
              </a:xfrm>
              <a:prstGeom prst="rect">
                <a:avLst/>
              </a:prstGeom>
              <a:blipFill rotWithShape="1">
                <a:blip r:embed="rId7"/>
                <a:stretch>
                  <a:fillRect l="-126" t="-28" r="-15495" b="2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字方塊 75"/>
              <p:cNvSpPr txBox="1"/>
              <p:nvPr/>
            </p:nvSpPr>
            <p:spPr>
              <a:xfrm>
                <a:off x="9205952" y="5177564"/>
                <a:ext cx="475615" cy="6483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76" name="文字方塊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5952" y="5177564"/>
                <a:ext cx="475615" cy="648335"/>
              </a:xfrm>
              <a:prstGeom prst="rect">
                <a:avLst/>
              </a:prstGeom>
              <a:blipFill rotWithShape="1">
                <a:blip r:embed="rId8"/>
                <a:stretch>
                  <a:fillRect l="-75" t="-63" r="-15546" b="6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字方塊 76"/>
              <p:cNvSpPr txBox="1"/>
              <p:nvPr/>
            </p:nvSpPr>
            <p:spPr>
              <a:xfrm>
                <a:off x="9282012" y="8235141"/>
                <a:ext cx="475615" cy="6483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77" name="文字方塊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2012" y="8235141"/>
                <a:ext cx="475615" cy="648335"/>
              </a:xfrm>
              <a:prstGeom prst="rect">
                <a:avLst/>
              </a:prstGeom>
              <a:blipFill rotWithShape="1">
                <a:blip r:embed="rId9"/>
                <a:stretch>
                  <a:fillRect l="-46" t="-71" r="-15575" b="7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文字方塊 77"/>
              <p:cNvSpPr txBox="1"/>
              <p:nvPr/>
            </p:nvSpPr>
            <p:spPr>
              <a:xfrm>
                <a:off x="12372822" y="5167127"/>
                <a:ext cx="475615" cy="6483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78" name="文字方塊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72822" y="5167127"/>
                <a:ext cx="475615" cy="648335"/>
              </a:xfrm>
              <a:prstGeom prst="rect">
                <a:avLst/>
              </a:prstGeom>
              <a:blipFill rotWithShape="1">
                <a:blip r:embed="rId10"/>
                <a:stretch>
                  <a:fillRect l="-101" t="-20" r="-15519" b="2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字方塊 78"/>
              <p:cNvSpPr txBox="1"/>
              <p:nvPr/>
            </p:nvSpPr>
            <p:spPr>
              <a:xfrm>
                <a:off x="12461931" y="8210522"/>
                <a:ext cx="475615" cy="6483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79" name="文字方塊 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61931" y="8210522"/>
                <a:ext cx="475615" cy="648335"/>
              </a:xfrm>
              <a:prstGeom prst="rect">
                <a:avLst/>
              </a:prstGeom>
              <a:blipFill rotWithShape="1">
                <a:blip r:embed="rId11"/>
                <a:stretch>
                  <a:fillRect l="-12" t="-94" r="-15609" b="9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字方塊 79"/>
              <p:cNvSpPr txBox="1"/>
              <p:nvPr/>
            </p:nvSpPr>
            <p:spPr>
              <a:xfrm>
                <a:off x="12361631" y="8907533"/>
                <a:ext cx="736600" cy="11372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sz="3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80" name="文字方塊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1631" y="8907533"/>
                <a:ext cx="736600" cy="1137285"/>
              </a:xfrm>
              <a:prstGeom prst="rect">
                <a:avLst/>
              </a:prstGeom>
              <a:blipFill rotWithShape="1">
                <a:blip r:embed="rId12"/>
                <a:stretch>
                  <a:fillRect l="-12" t="-34" r="-9644" b="3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文字方塊 80"/>
              <p:cNvSpPr txBox="1"/>
              <p:nvPr/>
            </p:nvSpPr>
            <p:spPr>
              <a:xfrm>
                <a:off x="12230091" y="4012509"/>
                <a:ext cx="736600" cy="11372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sz="3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81" name="文字方塊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30091" y="4012509"/>
                <a:ext cx="736600" cy="1137285"/>
              </a:xfrm>
              <a:prstGeom prst="rect">
                <a:avLst/>
              </a:prstGeom>
              <a:blipFill rotWithShape="1">
                <a:blip r:embed="rId13"/>
                <a:stretch>
                  <a:fillRect l="-85" t="-51" r="-9570" b="5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文字方塊 81"/>
              <p:cNvSpPr txBox="1"/>
              <p:nvPr/>
            </p:nvSpPr>
            <p:spPr>
              <a:xfrm>
                <a:off x="9115937" y="8892933"/>
                <a:ext cx="736600" cy="11347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sz="3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82" name="文字方塊 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5937" y="8892933"/>
                <a:ext cx="736600" cy="1134745"/>
              </a:xfrm>
              <a:prstGeom prst="rect">
                <a:avLst/>
              </a:prstGeom>
              <a:blipFill rotWithShape="1">
                <a:blip r:embed="rId14"/>
                <a:stretch>
                  <a:fillRect l="-69" t="-35" r="-9586" b="3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文字方塊 82"/>
              <p:cNvSpPr txBox="1"/>
              <p:nvPr/>
            </p:nvSpPr>
            <p:spPr>
              <a:xfrm>
                <a:off x="8963751" y="4015269"/>
                <a:ext cx="736600" cy="11372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sz="3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83" name="文字方塊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3751" y="4015269"/>
                <a:ext cx="736600" cy="1137285"/>
              </a:xfrm>
              <a:prstGeom prst="rect">
                <a:avLst/>
              </a:prstGeom>
              <a:blipFill rotWithShape="1">
                <a:blip r:embed="rId15"/>
                <a:stretch>
                  <a:fillRect l="-12" t="-14" r="-9643" b="1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文字方塊 83"/>
              <p:cNvSpPr txBox="1"/>
              <p:nvPr/>
            </p:nvSpPr>
            <p:spPr>
              <a:xfrm>
                <a:off x="5692146" y="8907533"/>
                <a:ext cx="736600" cy="11347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sz="3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84" name="文字方塊 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2146" y="8907533"/>
                <a:ext cx="736600" cy="1134745"/>
              </a:xfrm>
              <a:prstGeom prst="rect">
                <a:avLst/>
              </a:prstGeom>
              <a:blipFill rotWithShape="1">
                <a:blip r:embed="rId16"/>
                <a:stretch>
                  <a:fillRect l="-1" t="-34" r="-9654" b="3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文字方塊 84"/>
              <p:cNvSpPr txBox="1"/>
              <p:nvPr/>
            </p:nvSpPr>
            <p:spPr>
              <a:xfrm>
                <a:off x="5666745" y="4065579"/>
                <a:ext cx="731520" cy="11347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sz="3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85" name="文字方塊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6745" y="4065579"/>
                <a:ext cx="731520" cy="1134745"/>
              </a:xfrm>
              <a:prstGeom prst="rect">
                <a:avLst/>
              </a:prstGeom>
              <a:blipFill rotWithShape="1">
                <a:blip r:embed="rId17"/>
                <a:stretch>
                  <a:fillRect l="-1" t="-27" r="-10069" b="2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流程圖: 抽選 54"/>
          <p:cNvSpPr/>
          <p:nvPr/>
        </p:nvSpPr>
        <p:spPr>
          <a:xfrm rot="16200000">
            <a:off x="6285623" y="7856337"/>
            <a:ext cx="973088" cy="871641"/>
          </a:xfrm>
          <a:prstGeom prst="flowChartExtra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7" name="流程圖: 抽選 56"/>
          <p:cNvSpPr/>
          <p:nvPr/>
        </p:nvSpPr>
        <p:spPr>
          <a:xfrm rot="16200000">
            <a:off x="6308892" y="5346162"/>
            <a:ext cx="973088" cy="871641"/>
          </a:xfrm>
          <a:prstGeom prst="flowChartExtra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8" name="流程圖: 抽選 57"/>
          <p:cNvSpPr/>
          <p:nvPr/>
        </p:nvSpPr>
        <p:spPr>
          <a:xfrm rot="16200000">
            <a:off x="9579975" y="7805915"/>
            <a:ext cx="973088" cy="871641"/>
          </a:xfrm>
          <a:prstGeom prst="flowChartExtra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9" name="流程圖: 抽選 58"/>
          <p:cNvSpPr/>
          <p:nvPr/>
        </p:nvSpPr>
        <p:spPr>
          <a:xfrm rot="16200000">
            <a:off x="9603245" y="5295740"/>
            <a:ext cx="973088" cy="871641"/>
          </a:xfrm>
          <a:prstGeom prst="flowChartExtra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矩形 59"/>
              <p:cNvSpPr/>
              <p:nvPr/>
            </p:nvSpPr>
            <p:spPr>
              <a:xfrm>
                <a:off x="6020785" y="6154373"/>
                <a:ext cx="1689100" cy="84899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4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TW" sz="4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en-US" altLang="zh-TW" sz="4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42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4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sz="4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4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0" name="矩形 5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0785" y="6154373"/>
                <a:ext cx="1689100" cy="848995"/>
              </a:xfrm>
              <a:prstGeom prst="rect">
                <a:avLst/>
              </a:prstGeom>
              <a:blipFill rotWithShape="1">
                <a:blip r:embed="rId18"/>
                <a:stretch>
                  <a:fillRect l="-21" t="-69" r="21" b="6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矩形 60"/>
              <p:cNvSpPr/>
              <p:nvPr/>
            </p:nvSpPr>
            <p:spPr>
              <a:xfrm>
                <a:off x="6020785" y="6965879"/>
                <a:ext cx="1689100" cy="84899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4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TW" sz="4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en-US" altLang="zh-TW" sz="4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42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4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sz="4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4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1" name="矩形 6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0785" y="6965879"/>
                <a:ext cx="1689100" cy="848995"/>
              </a:xfrm>
              <a:prstGeom prst="rect">
                <a:avLst/>
              </a:prstGeom>
              <a:blipFill rotWithShape="1">
                <a:blip r:embed="rId19"/>
                <a:stretch>
                  <a:fillRect l="-21" t="-66" r="21" b="6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矩形 61"/>
              <p:cNvSpPr/>
              <p:nvPr/>
            </p:nvSpPr>
            <p:spPr>
              <a:xfrm>
                <a:off x="9341766" y="6154373"/>
                <a:ext cx="1689100" cy="84899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4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TW" sz="4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en-US" altLang="zh-TW" sz="4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42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4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sz="4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4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2" name="矩形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1766" y="6154373"/>
                <a:ext cx="1689100" cy="848995"/>
              </a:xfrm>
              <a:prstGeom prst="rect">
                <a:avLst/>
              </a:prstGeom>
              <a:blipFill rotWithShape="1">
                <a:blip r:embed="rId20"/>
                <a:stretch>
                  <a:fillRect l="-17" t="-69" r="17" b="6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矩形 62"/>
              <p:cNvSpPr/>
              <p:nvPr/>
            </p:nvSpPr>
            <p:spPr>
              <a:xfrm>
                <a:off x="9341766" y="7018505"/>
                <a:ext cx="1689100" cy="84899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4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TW" sz="4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en-US" altLang="zh-TW" sz="4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42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4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sz="4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4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3" name="矩形 6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1766" y="7018505"/>
                <a:ext cx="1689100" cy="848995"/>
              </a:xfrm>
              <a:prstGeom prst="rect">
                <a:avLst/>
              </a:prstGeom>
              <a:blipFill rotWithShape="1">
                <a:blip r:embed="rId21"/>
                <a:stretch>
                  <a:fillRect l="-17" t="-57" r="17" b="5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直線單箭頭接點 63"/>
          <p:cNvCxnSpPr/>
          <p:nvPr/>
        </p:nvCxnSpPr>
        <p:spPr>
          <a:xfrm>
            <a:off x="13708949" y="8210522"/>
            <a:ext cx="98348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單箭頭接點 64"/>
          <p:cNvCxnSpPr/>
          <p:nvPr/>
        </p:nvCxnSpPr>
        <p:spPr>
          <a:xfrm>
            <a:off x="13708949" y="5721128"/>
            <a:ext cx="97351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橢圓 65"/>
          <p:cNvSpPr/>
          <p:nvPr/>
        </p:nvSpPr>
        <p:spPr>
          <a:xfrm>
            <a:off x="12900086" y="5317926"/>
            <a:ext cx="861237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7" name="橢圓 66"/>
          <p:cNvSpPr/>
          <p:nvPr/>
        </p:nvSpPr>
        <p:spPr>
          <a:xfrm>
            <a:off x="12962621" y="7717787"/>
            <a:ext cx="861237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8" name="手繪多邊形 67"/>
          <p:cNvSpPr/>
          <p:nvPr/>
        </p:nvSpPr>
        <p:spPr>
          <a:xfrm>
            <a:off x="12985842" y="5455565"/>
            <a:ext cx="704850" cy="531125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9" name="手繪多邊形 68"/>
          <p:cNvSpPr/>
          <p:nvPr/>
        </p:nvSpPr>
        <p:spPr>
          <a:xfrm>
            <a:off x="13056473" y="7882841"/>
            <a:ext cx="704850" cy="531125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文字方塊 85"/>
              <p:cNvSpPr txBox="1"/>
              <p:nvPr/>
            </p:nvSpPr>
            <p:spPr>
              <a:xfrm>
                <a:off x="14789876" y="5340358"/>
                <a:ext cx="589280" cy="7575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86" name="文字方塊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89876" y="5340358"/>
                <a:ext cx="589280" cy="757555"/>
              </a:xfrm>
              <a:prstGeom prst="rect">
                <a:avLst/>
              </a:prstGeom>
              <a:blipFill rotWithShape="1">
                <a:blip r:embed="rId22"/>
                <a:stretch>
                  <a:fillRect l="-15" t="-1" r="-15394" b="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文字方塊 86"/>
              <p:cNvSpPr txBox="1"/>
              <p:nvPr/>
            </p:nvSpPr>
            <p:spPr>
              <a:xfrm>
                <a:off x="14760780" y="7775084"/>
                <a:ext cx="595630" cy="7575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87" name="文字方塊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60780" y="7775084"/>
                <a:ext cx="595630" cy="757555"/>
              </a:xfrm>
              <a:prstGeom prst="rect">
                <a:avLst/>
              </a:prstGeom>
              <a:blipFill rotWithShape="1">
                <a:blip r:embed="rId23"/>
                <a:stretch>
                  <a:fillRect l="-34" t="-19" r="-14678" b="1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8" name="直線單箭頭接點 87"/>
          <p:cNvCxnSpPr/>
          <p:nvPr/>
        </p:nvCxnSpPr>
        <p:spPr>
          <a:xfrm flipH="1" flipV="1">
            <a:off x="10539153" y="5765646"/>
            <a:ext cx="2394878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單箭頭接點 88"/>
          <p:cNvCxnSpPr/>
          <p:nvPr/>
        </p:nvCxnSpPr>
        <p:spPr>
          <a:xfrm flipH="1" flipV="1">
            <a:off x="10564728" y="5779413"/>
            <a:ext cx="2431838" cy="235901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單箭頭接點 89"/>
          <p:cNvCxnSpPr/>
          <p:nvPr/>
        </p:nvCxnSpPr>
        <p:spPr>
          <a:xfrm flipH="1" flipV="1">
            <a:off x="10539153" y="8132693"/>
            <a:ext cx="2394878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單箭頭接點 90"/>
          <p:cNvCxnSpPr/>
          <p:nvPr/>
        </p:nvCxnSpPr>
        <p:spPr>
          <a:xfrm flipH="1">
            <a:off x="10564728" y="5738567"/>
            <a:ext cx="2369303" cy="239412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單箭頭接點 91"/>
          <p:cNvCxnSpPr/>
          <p:nvPr/>
        </p:nvCxnSpPr>
        <p:spPr>
          <a:xfrm flipH="1" flipV="1">
            <a:off x="7210856" y="5815142"/>
            <a:ext cx="2394878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單箭頭接點 92"/>
          <p:cNvCxnSpPr/>
          <p:nvPr/>
        </p:nvCxnSpPr>
        <p:spPr>
          <a:xfrm flipH="1" flipV="1">
            <a:off x="7236431" y="5828909"/>
            <a:ext cx="2431838" cy="235901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單箭頭接點 93"/>
          <p:cNvCxnSpPr/>
          <p:nvPr/>
        </p:nvCxnSpPr>
        <p:spPr>
          <a:xfrm flipH="1" flipV="1">
            <a:off x="7210856" y="8182188"/>
            <a:ext cx="2394878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單箭頭接點 94"/>
          <p:cNvCxnSpPr/>
          <p:nvPr/>
        </p:nvCxnSpPr>
        <p:spPr>
          <a:xfrm flipH="1">
            <a:off x="7236431" y="5788062"/>
            <a:ext cx="2369303" cy="239412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/>
      <p:bldP spid="81" grpId="0"/>
      <p:bldP spid="82" grpId="0"/>
      <p:bldP spid="83" grpId="0"/>
      <p:bldP spid="84" grpId="0"/>
      <p:bldP spid="85" grpId="0"/>
      <p:bldP spid="60" grpId="0"/>
      <p:bldP spid="61" grpId="0"/>
      <p:bldP spid="62" grpId="0"/>
      <p:bldP spid="6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Backpropagation – Summary</a:t>
            </a:r>
            <a:endParaRPr lang="zh-TW" altLang="en-US" dirty="0"/>
          </a:p>
        </p:txBody>
      </p:sp>
      <p:grpSp>
        <p:nvGrpSpPr>
          <p:cNvPr id="104" name="群組 103"/>
          <p:cNvGrpSpPr/>
          <p:nvPr/>
        </p:nvGrpSpPr>
        <p:grpSpPr>
          <a:xfrm>
            <a:off x="8772242" y="3563031"/>
            <a:ext cx="4397677" cy="3787098"/>
            <a:chOff x="4880249" y="2387787"/>
            <a:chExt cx="2931785" cy="2524732"/>
          </a:xfrm>
        </p:grpSpPr>
        <p:sp>
          <p:nvSpPr>
            <p:cNvPr id="7" name="流程圖: 抽選 6"/>
            <p:cNvSpPr/>
            <p:nvPr/>
          </p:nvSpPr>
          <p:spPr>
            <a:xfrm rot="16200000">
              <a:off x="7195442" y="3217430"/>
              <a:ext cx="576000" cy="576000"/>
            </a:xfrm>
            <a:prstGeom prst="flowChartExtra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9" name="文字方塊 8"/>
            <p:cNvSpPr txBox="1"/>
            <p:nvPr/>
          </p:nvSpPr>
          <p:spPr>
            <a:xfrm rot="5400000">
              <a:off x="7181660" y="3839549"/>
              <a:ext cx="769257" cy="491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4200" dirty="0"/>
                <a:t>…</a:t>
              </a:r>
              <a:endParaRPr lang="zh-TW" altLang="en-US" sz="4200" dirty="0"/>
            </a:p>
          </p:txBody>
        </p:sp>
        <p:sp>
          <p:nvSpPr>
            <p:cNvPr id="13" name="流程圖: 抽選 12"/>
            <p:cNvSpPr/>
            <p:nvPr/>
          </p:nvSpPr>
          <p:spPr>
            <a:xfrm rot="16200000">
              <a:off x="7216672" y="2393550"/>
              <a:ext cx="576000" cy="576000"/>
            </a:xfrm>
            <a:prstGeom prst="flowChartExtra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16" name="流程圖: 抽選 15"/>
            <p:cNvSpPr/>
            <p:nvPr/>
          </p:nvSpPr>
          <p:spPr>
            <a:xfrm rot="16200000">
              <a:off x="7152525" y="4307546"/>
              <a:ext cx="576000" cy="576000"/>
            </a:xfrm>
            <a:prstGeom prst="flowChartExtra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19" name="流程圖: 抽選 18"/>
            <p:cNvSpPr/>
            <p:nvPr/>
          </p:nvSpPr>
          <p:spPr>
            <a:xfrm rot="16200000">
              <a:off x="5094540" y="3217430"/>
              <a:ext cx="576000" cy="576000"/>
            </a:xfrm>
            <a:prstGeom prst="flowChartExtra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22" name="流程圖: 抽選 21"/>
            <p:cNvSpPr/>
            <p:nvPr/>
          </p:nvSpPr>
          <p:spPr>
            <a:xfrm rot="16200000">
              <a:off x="5118907" y="2387787"/>
              <a:ext cx="576000" cy="576000"/>
            </a:xfrm>
            <a:prstGeom prst="flowChartExtra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25" name="流程圖: 抽選 24"/>
            <p:cNvSpPr/>
            <p:nvPr/>
          </p:nvSpPr>
          <p:spPr>
            <a:xfrm rot="16200000">
              <a:off x="5072102" y="4336519"/>
              <a:ext cx="576000" cy="576000"/>
            </a:xfrm>
            <a:prstGeom prst="flowChartExtra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27" name="文字方塊 26"/>
            <p:cNvSpPr txBox="1"/>
            <p:nvPr/>
          </p:nvSpPr>
          <p:spPr>
            <a:xfrm rot="5400000">
              <a:off x="5154018" y="3848833"/>
              <a:ext cx="769257" cy="491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4200" dirty="0"/>
                <a:t>…</a:t>
              </a:r>
              <a:endParaRPr lang="zh-TW" altLang="en-US" sz="4200" dirty="0"/>
            </a:p>
          </p:txBody>
        </p:sp>
        <p:cxnSp>
          <p:nvCxnSpPr>
            <p:cNvPr id="32" name="直線單箭頭接點 31"/>
            <p:cNvCxnSpPr/>
            <p:nvPr/>
          </p:nvCxnSpPr>
          <p:spPr>
            <a:xfrm flipH="1">
              <a:off x="4892434" y="2675787"/>
              <a:ext cx="226474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單箭頭接點 32"/>
            <p:cNvCxnSpPr/>
            <p:nvPr/>
          </p:nvCxnSpPr>
          <p:spPr>
            <a:xfrm flipH="1">
              <a:off x="4892433" y="3505430"/>
              <a:ext cx="202107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單箭頭接點 33"/>
            <p:cNvCxnSpPr/>
            <p:nvPr/>
          </p:nvCxnSpPr>
          <p:spPr>
            <a:xfrm flipH="1">
              <a:off x="4880249" y="4624518"/>
              <a:ext cx="226473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單箭頭接點 34"/>
            <p:cNvCxnSpPr/>
            <p:nvPr/>
          </p:nvCxnSpPr>
          <p:spPr>
            <a:xfrm flipH="1">
              <a:off x="5629106" y="4566572"/>
              <a:ext cx="1504423" cy="2897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單箭頭接點 35"/>
            <p:cNvCxnSpPr/>
            <p:nvPr/>
          </p:nvCxnSpPr>
          <p:spPr>
            <a:xfrm flipH="1" flipV="1">
              <a:off x="5649310" y="3490942"/>
              <a:ext cx="1481985" cy="1090116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單箭頭接點 36"/>
            <p:cNvCxnSpPr/>
            <p:nvPr/>
          </p:nvCxnSpPr>
          <p:spPr>
            <a:xfrm flipH="1" flipV="1">
              <a:off x="5694600" y="2654629"/>
              <a:ext cx="1457618" cy="191975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單箭頭接點 37"/>
            <p:cNvCxnSpPr>
              <a:stCxn id="13" idx="0"/>
              <a:endCxn id="22" idx="2"/>
            </p:cNvCxnSpPr>
            <p:nvPr/>
          </p:nvCxnSpPr>
          <p:spPr>
            <a:xfrm flipH="1" flipV="1">
              <a:off x="5694907" y="2675787"/>
              <a:ext cx="1521765" cy="576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線單箭頭接點 38"/>
            <p:cNvCxnSpPr>
              <a:stCxn id="13" idx="0"/>
              <a:endCxn id="19" idx="2"/>
            </p:cNvCxnSpPr>
            <p:nvPr/>
          </p:nvCxnSpPr>
          <p:spPr>
            <a:xfrm flipH="1">
              <a:off x="5670540" y="2681550"/>
              <a:ext cx="1546132" cy="82388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單箭頭接點 39"/>
            <p:cNvCxnSpPr>
              <a:stCxn id="13" idx="0"/>
              <a:endCxn id="25" idx="2"/>
            </p:cNvCxnSpPr>
            <p:nvPr/>
          </p:nvCxnSpPr>
          <p:spPr>
            <a:xfrm flipH="1">
              <a:off x="5648102" y="2681550"/>
              <a:ext cx="1568570" cy="194296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單箭頭接點 40"/>
            <p:cNvCxnSpPr>
              <a:stCxn id="7" idx="0"/>
              <a:endCxn id="22" idx="2"/>
            </p:cNvCxnSpPr>
            <p:nvPr/>
          </p:nvCxnSpPr>
          <p:spPr>
            <a:xfrm flipH="1" flipV="1">
              <a:off x="5694907" y="2675787"/>
              <a:ext cx="1500535" cy="82964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單箭頭接點 41"/>
            <p:cNvCxnSpPr>
              <a:stCxn id="7" idx="0"/>
              <a:endCxn id="19" idx="2"/>
            </p:cNvCxnSpPr>
            <p:nvPr/>
          </p:nvCxnSpPr>
          <p:spPr>
            <a:xfrm flipH="1">
              <a:off x="5670540" y="3505430"/>
              <a:ext cx="1524902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線單箭頭接點 42"/>
            <p:cNvCxnSpPr/>
            <p:nvPr/>
          </p:nvCxnSpPr>
          <p:spPr>
            <a:xfrm flipH="1">
              <a:off x="5649219" y="3505429"/>
              <a:ext cx="1547340" cy="111908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文字方塊 49"/>
          <p:cNvSpPr txBox="1"/>
          <p:nvPr/>
        </p:nvSpPr>
        <p:spPr>
          <a:xfrm>
            <a:off x="3527319" y="2538344"/>
            <a:ext cx="3772013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b="1" i="1" u="sng" dirty="0">
                <a:solidFill>
                  <a:srgbClr val="0000FF"/>
                </a:solidFill>
              </a:rPr>
              <a:t>Forward Pass</a:t>
            </a:r>
            <a:endParaRPr lang="zh-TW" altLang="en-US" sz="4200" b="1" i="1" u="sng" dirty="0">
              <a:solidFill>
                <a:srgbClr val="0000FF"/>
              </a:solidFill>
            </a:endParaRPr>
          </a:p>
        </p:txBody>
      </p:sp>
      <p:sp>
        <p:nvSpPr>
          <p:cNvPr id="90" name="文字方塊 89"/>
          <p:cNvSpPr txBox="1"/>
          <p:nvPr/>
        </p:nvSpPr>
        <p:spPr>
          <a:xfrm>
            <a:off x="9277107" y="2536033"/>
            <a:ext cx="42695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b="1" i="1" u="sng" dirty="0">
                <a:solidFill>
                  <a:srgbClr val="0000FF"/>
                </a:solidFill>
              </a:rPr>
              <a:t>Backward Pass</a:t>
            </a:r>
            <a:endParaRPr lang="zh-TW" altLang="en-US" sz="4200" b="1" i="1" u="sng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文字方塊 91"/>
              <p:cNvSpPr txBox="1"/>
              <p:nvPr/>
            </p:nvSpPr>
            <p:spPr>
              <a:xfrm>
                <a:off x="4185252" y="7032220"/>
                <a:ext cx="313055" cy="648335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92" name="文字方塊 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5252" y="7032220"/>
                <a:ext cx="313055" cy="648335"/>
              </a:xfrm>
              <a:prstGeom prst="rect">
                <a:avLst/>
              </a:prstGeom>
              <a:blipFill rotWithShape="1">
                <a:blip r:embed="rId2"/>
                <a:stretch>
                  <a:fillRect l="-2221" t="-1015" r="-22931" b="-944"/>
                </a:stretch>
              </a:blipFill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文字方塊 93"/>
              <p:cNvSpPr txBox="1"/>
              <p:nvPr/>
            </p:nvSpPr>
            <p:spPr>
              <a:xfrm>
                <a:off x="5568453" y="7926287"/>
                <a:ext cx="763270" cy="12185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num>
                        <m:den>
                          <m:r>
                            <a:rPr lang="zh-TW" altLang="en-US" sz="42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94" name="文字方塊 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8453" y="7926287"/>
                <a:ext cx="763270" cy="1218565"/>
              </a:xfrm>
              <a:prstGeom prst="rect">
                <a:avLst/>
              </a:prstGeom>
              <a:blipFill rotWithShape="1">
                <a:blip r:embed="rId3"/>
                <a:stretch>
                  <a:fillRect l="-18" t="-18" r="-10797" b="1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文字方塊 104"/>
              <p:cNvSpPr txBox="1"/>
              <p:nvPr/>
            </p:nvSpPr>
            <p:spPr>
              <a:xfrm>
                <a:off x="10185245" y="7954262"/>
                <a:ext cx="622935" cy="12185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105" name="文字方塊 1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5245" y="7954262"/>
                <a:ext cx="622935" cy="1218565"/>
              </a:xfrm>
              <a:prstGeom prst="rect">
                <a:avLst/>
              </a:prstGeom>
              <a:blipFill rotWithShape="1">
                <a:blip r:embed="rId4"/>
                <a:stretch>
                  <a:fillRect l="-77" t="-21" r="-13481" b="2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群組 2"/>
          <p:cNvGrpSpPr/>
          <p:nvPr/>
        </p:nvGrpSpPr>
        <p:grpSpPr>
          <a:xfrm>
            <a:off x="3316061" y="3646184"/>
            <a:ext cx="4194528" cy="3620793"/>
            <a:chOff x="686707" y="2430789"/>
            <a:chExt cx="2796352" cy="2413862"/>
          </a:xfrm>
        </p:grpSpPr>
        <p:grpSp>
          <p:nvGrpSpPr>
            <p:cNvPr id="88" name="群組 87"/>
            <p:cNvGrpSpPr/>
            <p:nvPr/>
          </p:nvGrpSpPr>
          <p:grpSpPr>
            <a:xfrm>
              <a:off x="686707" y="2430789"/>
              <a:ext cx="2796352" cy="2413862"/>
              <a:chOff x="5143575" y="2886823"/>
              <a:chExt cx="2796352" cy="2413862"/>
            </a:xfrm>
          </p:grpSpPr>
          <p:sp>
            <p:nvSpPr>
              <p:cNvPr id="56" name="橢圓 55"/>
              <p:cNvSpPr/>
              <p:nvPr/>
            </p:nvSpPr>
            <p:spPr>
              <a:xfrm>
                <a:off x="5149593" y="2901246"/>
                <a:ext cx="574158" cy="574158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57" name="橢圓 56"/>
              <p:cNvSpPr/>
              <p:nvPr/>
            </p:nvSpPr>
            <p:spPr>
              <a:xfrm>
                <a:off x="5143575" y="3656711"/>
                <a:ext cx="574158" cy="574158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58" name="橢圓 57"/>
              <p:cNvSpPr/>
              <p:nvPr/>
            </p:nvSpPr>
            <p:spPr>
              <a:xfrm>
                <a:off x="5150979" y="4726527"/>
                <a:ext cx="574158" cy="574158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59" name="文字方塊 58"/>
              <p:cNvSpPr txBox="1"/>
              <p:nvPr/>
            </p:nvSpPr>
            <p:spPr>
              <a:xfrm rot="5400000">
                <a:off x="5163261" y="4236860"/>
                <a:ext cx="769257" cy="491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4200" dirty="0"/>
                  <a:t>…</a:t>
                </a:r>
                <a:endParaRPr lang="zh-TW" altLang="en-US" sz="4200" dirty="0"/>
              </a:p>
            </p:txBody>
          </p:sp>
          <p:sp>
            <p:nvSpPr>
              <p:cNvPr id="64" name="橢圓 63"/>
              <p:cNvSpPr/>
              <p:nvPr/>
            </p:nvSpPr>
            <p:spPr>
              <a:xfrm>
                <a:off x="7062462" y="2886823"/>
                <a:ext cx="574158" cy="574158"/>
              </a:xfrm>
              <a:prstGeom prst="ellipse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65" name="橢圓 64"/>
              <p:cNvSpPr/>
              <p:nvPr/>
            </p:nvSpPr>
            <p:spPr>
              <a:xfrm>
                <a:off x="7056444" y="3642288"/>
                <a:ext cx="574158" cy="574158"/>
              </a:xfrm>
              <a:prstGeom prst="ellipse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66" name="橢圓 65"/>
              <p:cNvSpPr/>
              <p:nvPr/>
            </p:nvSpPr>
            <p:spPr>
              <a:xfrm>
                <a:off x="7063848" y="4712104"/>
                <a:ext cx="574158" cy="574158"/>
              </a:xfrm>
              <a:prstGeom prst="ellipse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68" name="文字方塊 67"/>
              <p:cNvSpPr txBox="1"/>
              <p:nvPr/>
            </p:nvSpPr>
            <p:spPr>
              <a:xfrm rot="5400000">
                <a:off x="7076130" y="4222437"/>
                <a:ext cx="769257" cy="491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4200" dirty="0"/>
                  <a:t>…</a:t>
                </a:r>
                <a:endParaRPr lang="zh-TW" altLang="en-US" sz="4200" dirty="0"/>
              </a:p>
            </p:txBody>
          </p:sp>
          <p:cxnSp>
            <p:nvCxnSpPr>
              <p:cNvPr id="72" name="直線單箭頭接點 71"/>
              <p:cNvCxnSpPr/>
              <p:nvPr/>
            </p:nvCxnSpPr>
            <p:spPr>
              <a:xfrm>
                <a:off x="5742434" y="5020475"/>
                <a:ext cx="1362887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線單箭頭接點 74"/>
              <p:cNvCxnSpPr>
                <a:stCxn id="57" idx="6"/>
                <a:endCxn id="66" idx="2"/>
              </p:cNvCxnSpPr>
              <p:nvPr/>
            </p:nvCxnSpPr>
            <p:spPr>
              <a:xfrm>
                <a:off x="5717733" y="3943790"/>
                <a:ext cx="1346115" cy="105539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線單箭頭接點 75"/>
              <p:cNvCxnSpPr>
                <a:stCxn id="56" idx="6"/>
                <a:endCxn id="66" idx="2"/>
              </p:cNvCxnSpPr>
              <p:nvPr/>
            </p:nvCxnSpPr>
            <p:spPr>
              <a:xfrm>
                <a:off x="5723751" y="3188325"/>
                <a:ext cx="1340097" cy="181085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直線單箭頭接點 76"/>
              <p:cNvCxnSpPr>
                <a:stCxn id="58" idx="6"/>
                <a:endCxn id="65" idx="2"/>
              </p:cNvCxnSpPr>
              <p:nvPr/>
            </p:nvCxnSpPr>
            <p:spPr>
              <a:xfrm flipV="1">
                <a:off x="5725137" y="3929367"/>
                <a:ext cx="1331307" cy="108423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線單箭頭接點 77"/>
              <p:cNvCxnSpPr>
                <a:stCxn id="58" idx="6"/>
                <a:endCxn id="64" idx="2"/>
              </p:cNvCxnSpPr>
              <p:nvPr/>
            </p:nvCxnSpPr>
            <p:spPr>
              <a:xfrm flipV="1">
                <a:off x="5725137" y="3173902"/>
                <a:ext cx="1337325" cy="183970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線單箭頭接點 78"/>
              <p:cNvCxnSpPr>
                <a:stCxn id="57" idx="6"/>
                <a:endCxn id="65" idx="2"/>
              </p:cNvCxnSpPr>
              <p:nvPr/>
            </p:nvCxnSpPr>
            <p:spPr>
              <a:xfrm flipV="1">
                <a:off x="5717733" y="3929367"/>
                <a:ext cx="1338711" cy="1442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線單箭頭接點 79"/>
              <p:cNvCxnSpPr>
                <a:stCxn id="57" idx="6"/>
                <a:endCxn id="64" idx="2"/>
              </p:cNvCxnSpPr>
              <p:nvPr/>
            </p:nvCxnSpPr>
            <p:spPr>
              <a:xfrm flipV="1">
                <a:off x="5717733" y="3173902"/>
                <a:ext cx="1344729" cy="76988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直線單箭頭接點 80"/>
              <p:cNvCxnSpPr>
                <a:endCxn id="65" idx="2"/>
              </p:cNvCxnSpPr>
              <p:nvPr/>
            </p:nvCxnSpPr>
            <p:spPr>
              <a:xfrm>
                <a:off x="5702457" y="3195149"/>
                <a:ext cx="1353987" cy="73421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直線單箭頭接點 81"/>
              <p:cNvCxnSpPr>
                <a:stCxn id="56" idx="6"/>
                <a:endCxn id="64" idx="2"/>
              </p:cNvCxnSpPr>
              <p:nvPr/>
            </p:nvCxnSpPr>
            <p:spPr>
              <a:xfrm flipV="1">
                <a:off x="5723751" y="3173902"/>
                <a:ext cx="1338711" cy="1442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線單箭頭接點 82"/>
              <p:cNvCxnSpPr/>
              <p:nvPr/>
            </p:nvCxnSpPr>
            <p:spPr>
              <a:xfrm>
                <a:off x="7629026" y="3943399"/>
                <a:ext cx="310901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線單箭頭接點 83"/>
              <p:cNvCxnSpPr/>
              <p:nvPr/>
            </p:nvCxnSpPr>
            <p:spPr>
              <a:xfrm>
                <a:off x="7629026" y="3152307"/>
                <a:ext cx="310901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直線單箭頭接點 84"/>
              <p:cNvCxnSpPr/>
              <p:nvPr/>
            </p:nvCxnSpPr>
            <p:spPr>
              <a:xfrm>
                <a:off x="7652520" y="5027150"/>
                <a:ext cx="287407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6" name="手繪多邊形 105"/>
            <p:cNvSpPr/>
            <p:nvPr/>
          </p:nvSpPr>
          <p:spPr>
            <a:xfrm>
              <a:off x="2671056" y="4406070"/>
              <a:ext cx="469900" cy="354083"/>
            </a:xfrm>
            <a:custGeom>
              <a:avLst/>
              <a:gdLst>
                <a:gd name="connsiteX0" fmla="*/ 469900 w 469900"/>
                <a:gd name="connsiteY0" fmla="*/ 5192 h 354083"/>
                <a:gd name="connsiteX1" fmla="*/ 254000 w 469900"/>
                <a:gd name="connsiteY1" fmla="*/ 43292 h 354083"/>
                <a:gd name="connsiteX2" fmla="*/ 139700 w 469900"/>
                <a:gd name="connsiteY2" fmla="*/ 322692 h 354083"/>
                <a:gd name="connsiteX3" fmla="*/ 0 w 469900"/>
                <a:gd name="connsiteY3" fmla="*/ 335392 h 354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9900" h="354083">
                  <a:moveTo>
                    <a:pt x="469900" y="5192"/>
                  </a:moveTo>
                  <a:cubicBezTo>
                    <a:pt x="389466" y="-2217"/>
                    <a:pt x="309033" y="-9625"/>
                    <a:pt x="254000" y="43292"/>
                  </a:cubicBezTo>
                  <a:cubicBezTo>
                    <a:pt x="198967" y="96209"/>
                    <a:pt x="182033" y="274009"/>
                    <a:pt x="139700" y="322692"/>
                  </a:cubicBezTo>
                  <a:cubicBezTo>
                    <a:pt x="97367" y="371375"/>
                    <a:pt x="48683" y="353383"/>
                    <a:pt x="0" y="335392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107" name="手繪多邊形 106"/>
            <p:cNvSpPr/>
            <p:nvPr/>
          </p:nvSpPr>
          <p:spPr>
            <a:xfrm>
              <a:off x="2648196" y="3295873"/>
              <a:ext cx="469900" cy="354083"/>
            </a:xfrm>
            <a:custGeom>
              <a:avLst/>
              <a:gdLst>
                <a:gd name="connsiteX0" fmla="*/ 469900 w 469900"/>
                <a:gd name="connsiteY0" fmla="*/ 5192 h 354083"/>
                <a:gd name="connsiteX1" fmla="*/ 254000 w 469900"/>
                <a:gd name="connsiteY1" fmla="*/ 43292 h 354083"/>
                <a:gd name="connsiteX2" fmla="*/ 139700 w 469900"/>
                <a:gd name="connsiteY2" fmla="*/ 322692 h 354083"/>
                <a:gd name="connsiteX3" fmla="*/ 0 w 469900"/>
                <a:gd name="connsiteY3" fmla="*/ 335392 h 354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9900" h="354083">
                  <a:moveTo>
                    <a:pt x="469900" y="5192"/>
                  </a:moveTo>
                  <a:cubicBezTo>
                    <a:pt x="389466" y="-2217"/>
                    <a:pt x="309033" y="-9625"/>
                    <a:pt x="254000" y="43292"/>
                  </a:cubicBezTo>
                  <a:cubicBezTo>
                    <a:pt x="198967" y="96209"/>
                    <a:pt x="182033" y="274009"/>
                    <a:pt x="139700" y="322692"/>
                  </a:cubicBezTo>
                  <a:cubicBezTo>
                    <a:pt x="97367" y="371375"/>
                    <a:pt x="48683" y="353383"/>
                    <a:pt x="0" y="335392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108" name="手繪多邊形 107"/>
            <p:cNvSpPr/>
            <p:nvPr/>
          </p:nvSpPr>
          <p:spPr>
            <a:xfrm>
              <a:off x="2669556" y="2534065"/>
              <a:ext cx="469900" cy="354083"/>
            </a:xfrm>
            <a:custGeom>
              <a:avLst/>
              <a:gdLst>
                <a:gd name="connsiteX0" fmla="*/ 469900 w 469900"/>
                <a:gd name="connsiteY0" fmla="*/ 5192 h 354083"/>
                <a:gd name="connsiteX1" fmla="*/ 254000 w 469900"/>
                <a:gd name="connsiteY1" fmla="*/ 43292 h 354083"/>
                <a:gd name="connsiteX2" fmla="*/ 139700 w 469900"/>
                <a:gd name="connsiteY2" fmla="*/ 322692 h 354083"/>
                <a:gd name="connsiteX3" fmla="*/ 0 w 469900"/>
                <a:gd name="connsiteY3" fmla="*/ 335392 h 354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9900" h="354083">
                  <a:moveTo>
                    <a:pt x="469900" y="5192"/>
                  </a:moveTo>
                  <a:cubicBezTo>
                    <a:pt x="389466" y="-2217"/>
                    <a:pt x="309033" y="-9625"/>
                    <a:pt x="254000" y="43292"/>
                  </a:cubicBezTo>
                  <a:cubicBezTo>
                    <a:pt x="198967" y="96209"/>
                    <a:pt x="182033" y="274009"/>
                    <a:pt x="139700" y="322692"/>
                  </a:cubicBezTo>
                  <a:cubicBezTo>
                    <a:pt x="97367" y="371375"/>
                    <a:pt x="48683" y="353383"/>
                    <a:pt x="0" y="335392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109" name="手繪多邊形 108"/>
            <p:cNvSpPr/>
            <p:nvPr/>
          </p:nvSpPr>
          <p:spPr>
            <a:xfrm>
              <a:off x="746240" y="2577297"/>
              <a:ext cx="469900" cy="354083"/>
            </a:xfrm>
            <a:custGeom>
              <a:avLst/>
              <a:gdLst>
                <a:gd name="connsiteX0" fmla="*/ 469900 w 469900"/>
                <a:gd name="connsiteY0" fmla="*/ 5192 h 354083"/>
                <a:gd name="connsiteX1" fmla="*/ 254000 w 469900"/>
                <a:gd name="connsiteY1" fmla="*/ 43292 h 354083"/>
                <a:gd name="connsiteX2" fmla="*/ 139700 w 469900"/>
                <a:gd name="connsiteY2" fmla="*/ 322692 h 354083"/>
                <a:gd name="connsiteX3" fmla="*/ 0 w 469900"/>
                <a:gd name="connsiteY3" fmla="*/ 335392 h 354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9900" h="354083">
                  <a:moveTo>
                    <a:pt x="469900" y="5192"/>
                  </a:moveTo>
                  <a:cubicBezTo>
                    <a:pt x="389466" y="-2217"/>
                    <a:pt x="309033" y="-9625"/>
                    <a:pt x="254000" y="43292"/>
                  </a:cubicBezTo>
                  <a:cubicBezTo>
                    <a:pt x="198967" y="96209"/>
                    <a:pt x="182033" y="274009"/>
                    <a:pt x="139700" y="322692"/>
                  </a:cubicBezTo>
                  <a:cubicBezTo>
                    <a:pt x="97367" y="371375"/>
                    <a:pt x="48683" y="353383"/>
                    <a:pt x="0" y="335392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110" name="手繪多邊形 109"/>
            <p:cNvSpPr/>
            <p:nvPr/>
          </p:nvSpPr>
          <p:spPr>
            <a:xfrm>
              <a:off x="738836" y="3337986"/>
              <a:ext cx="469900" cy="354083"/>
            </a:xfrm>
            <a:custGeom>
              <a:avLst/>
              <a:gdLst>
                <a:gd name="connsiteX0" fmla="*/ 469900 w 469900"/>
                <a:gd name="connsiteY0" fmla="*/ 5192 h 354083"/>
                <a:gd name="connsiteX1" fmla="*/ 254000 w 469900"/>
                <a:gd name="connsiteY1" fmla="*/ 43292 h 354083"/>
                <a:gd name="connsiteX2" fmla="*/ 139700 w 469900"/>
                <a:gd name="connsiteY2" fmla="*/ 322692 h 354083"/>
                <a:gd name="connsiteX3" fmla="*/ 0 w 469900"/>
                <a:gd name="connsiteY3" fmla="*/ 335392 h 354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9900" h="354083">
                  <a:moveTo>
                    <a:pt x="469900" y="5192"/>
                  </a:moveTo>
                  <a:cubicBezTo>
                    <a:pt x="389466" y="-2217"/>
                    <a:pt x="309033" y="-9625"/>
                    <a:pt x="254000" y="43292"/>
                  </a:cubicBezTo>
                  <a:cubicBezTo>
                    <a:pt x="198967" y="96209"/>
                    <a:pt x="182033" y="274009"/>
                    <a:pt x="139700" y="322692"/>
                  </a:cubicBezTo>
                  <a:cubicBezTo>
                    <a:pt x="97367" y="371375"/>
                    <a:pt x="48683" y="353383"/>
                    <a:pt x="0" y="335392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111" name="手繪多邊形 110"/>
            <p:cNvSpPr/>
            <p:nvPr/>
          </p:nvSpPr>
          <p:spPr>
            <a:xfrm>
              <a:off x="731303" y="4390410"/>
              <a:ext cx="469900" cy="354083"/>
            </a:xfrm>
            <a:custGeom>
              <a:avLst/>
              <a:gdLst>
                <a:gd name="connsiteX0" fmla="*/ 469900 w 469900"/>
                <a:gd name="connsiteY0" fmla="*/ 5192 h 354083"/>
                <a:gd name="connsiteX1" fmla="*/ 254000 w 469900"/>
                <a:gd name="connsiteY1" fmla="*/ 43292 h 354083"/>
                <a:gd name="connsiteX2" fmla="*/ 139700 w 469900"/>
                <a:gd name="connsiteY2" fmla="*/ 322692 h 354083"/>
                <a:gd name="connsiteX3" fmla="*/ 0 w 469900"/>
                <a:gd name="connsiteY3" fmla="*/ 335392 h 354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9900" h="354083">
                  <a:moveTo>
                    <a:pt x="469900" y="5192"/>
                  </a:moveTo>
                  <a:cubicBezTo>
                    <a:pt x="389466" y="-2217"/>
                    <a:pt x="309033" y="-9625"/>
                    <a:pt x="254000" y="43292"/>
                  </a:cubicBezTo>
                  <a:cubicBezTo>
                    <a:pt x="198967" y="96209"/>
                    <a:pt x="182033" y="274009"/>
                    <a:pt x="139700" y="322692"/>
                  </a:cubicBezTo>
                  <a:cubicBezTo>
                    <a:pt x="97367" y="371375"/>
                    <a:pt x="48683" y="353383"/>
                    <a:pt x="0" y="335392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</p:grpSp>
      <p:sp>
        <p:nvSpPr>
          <p:cNvPr id="112" name="手繪多邊形 111"/>
          <p:cNvSpPr/>
          <p:nvPr/>
        </p:nvSpPr>
        <p:spPr>
          <a:xfrm>
            <a:off x="4918877" y="6858329"/>
            <a:ext cx="566204" cy="1632857"/>
          </a:xfrm>
          <a:custGeom>
            <a:avLst/>
            <a:gdLst>
              <a:gd name="connsiteX0" fmla="*/ 348440 w 377469"/>
              <a:gd name="connsiteY0" fmla="*/ 0 h 1088571"/>
              <a:gd name="connsiteX1" fmla="*/ 97 w 377469"/>
              <a:gd name="connsiteY1" fmla="*/ 624114 h 1088571"/>
              <a:gd name="connsiteX2" fmla="*/ 377469 w 377469"/>
              <a:gd name="connsiteY2" fmla="*/ 1088571 h 1088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7469" h="1088571">
                <a:moveTo>
                  <a:pt x="348440" y="0"/>
                </a:moveTo>
                <a:cubicBezTo>
                  <a:pt x="171849" y="221343"/>
                  <a:pt x="-4741" y="442686"/>
                  <a:pt x="97" y="624114"/>
                </a:cubicBezTo>
                <a:cubicBezTo>
                  <a:pt x="4935" y="805542"/>
                  <a:pt x="191202" y="947056"/>
                  <a:pt x="377469" y="1088571"/>
                </a:cubicBezTo>
              </a:path>
            </a:pathLst>
          </a:custGeom>
          <a:noFill/>
          <a:ln w="38100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114" name="直線單箭頭接點 113"/>
          <p:cNvCxnSpPr>
            <a:stCxn id="16" idx="0"/>
          </p:cNvCxnSpPr>
          <p:nvPr/>
        </p:nvCxnSpPr>
        <p:spPr>
          <a:xfrm flipH="1">
            <a:off x="19321743" y="10311290"/>
            <a:ext cx="1235198" cy="1181439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文字方塊 115"/>
          <p:cNvSpPr txBox="1"/>
          <p:nvPr/>
        </p:nvSpPr>
        <p:spPr>
          <a:xfrm>
            <a:off x="8294915" y="8056109"/>
            <a:ext cx="1230764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7200" dirty="0">
                <a:solidFill>
                  <a:srgbClr val="0000FF"/>
                </a:solidFill>
              </a:rPr>
              <a:t>X</a:t>
            </a:r>
            <a:endParaRPr lang="zh-TW" altLang="en-US" sz="7200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文字方塊 117"/>
              <p:cNvSpPr txBox="1"/>
              <p:nvPr/>
            </p:nvSpPr>
            <p:spPr>
              <a:xfrm>
                <a:off x="12500257" y="7913204"/>
                <a:ext cx="1312545" cy="12185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42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42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zh-TW" altLang="en-US" sz="42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</m:oMath>
                  </m:oMathPara>
                </a14:m>
                <a:endParaRPr lang="zh-TW" altLang="en-US" sz="42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18" name="文字方塊 1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00257" y="7913204"/>
                <a:ext cx="1312545" cy="1218565"/>
              </a:xfrm>
              <a:prstGeom prst="rect">
                <a:avLst/>
              </a:prstGeom>
              <a:blipFill rotWithShape="1">
                <a:blip r:embed="rId5"/>
                <a:stretch>
                  <a:fillRect l="-22" t="-38" r="-6171" b="3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字方塊 59"/>
              <p:cNvSpPr txBox="1"/>
              <p:nvPr/>
            </p:nvSpPr>
            <p:spPr>
              <a:xfrm>
                <a:off x="6523011" y="8318586"/>
                <a:ext cx="916305" cy="7575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60" name="文字方塊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3011" y="8318586"/>
                <a:ext cx="916305" cy="757555"/>
              </a:xfrm>
              <a:prstGeom prst="rect">
                <a:avLst/>
              </a:prstGeom>
              <a:blipFill rotWithShape="1">
                <a:blip r:embed="rId6"/>
                <a:stretch>
                  <a:fillRect l="-32" t="-11" r="-9047" b="1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字方塊 3"/>
          <p:cNvSpPr txBox="1"/>
          <p:nvPr/>
        </p:nvSpPr>
        <p:spPr>
          <a:xfrm>
            <a:off x="11929656" y="9254989"/>
            <a:ext cx="24805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0000FF"/>
                </a:solidFill>
              </a:rPr>
              <a:t>for all w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90" grpId="0"/>
      <p:bldP spid="92" grpId="0" bldLvl="0" animBg="1"/>
      <p:bldP spid="94" grpId="0"/>
      <p:bldP spid="105" grpId="0"/>
      <p:bldP spid="112" grpId="0" bldLvl="0" animBg="1"/>
      <p:bldP spid="116" grpId="0"/>
      <p:bldP spid="118" grpId="0"/>
      <p:bldP spid="60" grpId="0"/>
      <p:bldP spid="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TkwYzUxNzkwY2E3N2U1OThkZGUzYTRjZDY0NTk2MDE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>
            <a:fillRect/>
          </a:stretch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7" ma:contentTypeDescription="Create a new document." ma:contentTypeScope="" ma:versionID="6dd4d27a79178d964495491d99d85ab0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5371f2543c27c65efb9018a9acd511a8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Props1.xml><?xml version="1.0" encoding="utf-8"?>
<ds:datastoreItem xmlns:ds="http://schemas.openxmlformats.org/officeDocument/2006/customXml" ds:itemID="{8D29507A-F6FF-426F-8117-6307404F31A9}"/>
</file>

<file path=customXml/itemProps2.xml><?xml version="1.0" encoding="utf-8"?>
<ds:datastoreItem xmlns:ds="http://schemas.openxmlformats.org/officeDocument/2006/customXml" ds:itemID="{68E0F2DE-D03B-4535-9EC0-DE2209B6358E}"/>
</file>

<file path=customXml/itemProps3.xml><?xml version="1.0" encoding="utf-8"?>
<ds:datastoreItem xmlns:ds="http://schemas.openxmlformats.org/officeDocument/2006/customXml" ds:itemID="{FF92FB06-71F2-450D-A4CE-74AE3D21DF83}"/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466</Words>
  <Application>Microsoft Macintosh PowerPoint</Application>
  <PresentationFormat>Custom</PresentationFormat>
  <Paragraphs>213</Paragraphs>
  <Slides>13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Cambria Math</vt:lpstr>
      <vt:lpstr>Wingdings 2</vt:lpstr>
      <vt:lpstr>Breeze</vt:lpstr>
      <vt:lpstr>方程式</vt:lpstr>
      <vt:lpstr>Backpropagation</vt:lpstr>
      <vt:lpstr>Backpropagation – Backward pass</vt:lpstr>
      <vt:lpstr>Backpropagation – Backward pass</vt:lpstr>
      <vt:lpstr>Backpropagation – Backward pass</vt:lpstr>
      <vt:lpstr>Backpropagation – Backward pass</vt:lpstr>
      <vt:lpstr>Backpropagation – Backward pass</vt:lpstr>
      <vt:lpstr>Backpropagation – Backward pass</vt:lpstr>
      <vt:lpstr>Backpropagation – Backward pass</vt:lpstr>
      <vt:lpstr>Backpropagation – Backward pass</vt:lpstr>
      <vt:lpstr>Backpropagation – Backward pass</vt:lpstr>
      <vt:lpstr>Backpropagation – Backward Pass</vt:lpstr>
      <vt:lpstr>Backpropagation – Backward Pass</vt:lpstr>
      <vt:lpstr>Backpropagation – Summary</vt:lpstr>
    </vt:vector>
  </TitlesOfParts>
  <Company>Illinois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creator>Sandra Laporte</dc:creator>
  <cp:lastModifiedBy>Tom Yan</cp:lastModifiedBy>
  <cp:revision>50</cp:revision>
  <dcterms:created xsi:type="dcterms:W3CDTF">2024-02-23T22:24:25Z</dcterms:created>
  <dcterms:modified xsi:type="dcterms:W3CDTF">2024-03-27T20:49:07Z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ediaServiceImageTags">
    <vt:lpwstr/>
  </property>
  <property fmtid="{D5CDD505-2E9C-101B-9397-08002B2CF9AE}" pid="4" name="ICV">
    <vt:lpwstr>80571152E56347599AA16EC9CFB2CDE3_12</vt:lpwstr>
  </property>
  <property fmtid="{D5CDD505-2E9C-101B-9397-08002B2CF9AE}" pid="5" name="KSOProductBuildVer">
    <vt:lpwstr>1033-5.6.0.8082</vt:lpwstr>
  </property>
</Properties>
</file>