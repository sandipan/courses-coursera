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266" r:id="rId5"/>
    <p:sldId id="287" r:id="rId6"/>
    <p:sldId id="288" r:id="rId7"/>
    <p:sldId id="289" r:id="rId8"/>
    <p:sldId id="290" r:id="rId9"/>
    <p:sldId id="291" r:id="rId10"/>
  </p:sldIdLst>
  <p:sldSz cx="18288000" cy="10287000"/>
  <p:notesSz cx="6858000" cy="9144000"/>
  <p:custDataLst>
    <p:tags r:id="rId12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C5B5AB-BF52-4025-A4FA-BE2D8C2B9CED}" v="4" dt="2024-03-18T01:51:27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741"/>
  </p:normalViewPr>
  <p:slideViewPr>
    <p:cSldViewPr snapToGrid="0" snapToObjects="1" showGuides="1">
      <p:cViewPr varScale="1">
        <p:scale>
          <a:sx n="75" d="100"/>
          <a:sy n="75" d="100"/>
        </p:scale>
        <p:origin x="624" y="16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A9C5B5AB-BF52-4025-A4FA-BE2D8C2B9CED}"/>
    <pc:docChg chg="modSld">
      <pc:chgData name="Kaiang Wen" userId="a219f04c-ae7d-4ada-9001-a33e528312f1" providerId="ADAL" clId="{A9C5B5AB-BF52-4025-A4FA-BE2D8C2B9CED}" dt="2024-03-18T02:45:18.742" v="25" actId="14100"/>
      <pc:docMkLst>
        <pc:docMk/>
      </pc:docMkLst>
      <pc:sldChg chg="modSp mod">
        <pc:chgData name="Kaiang Wen" userId="a219f04c-ae7d-4ada-9001-a33e528312f1" providerId="ADAL" clId="{A9C5B5AB-BF52-4025-A4FA-BE2D8C2B9CED}" dt="2024-03-18T01:48:50.041" v="5" actId="14100"/>
        <pc:sldMkLst>
          <pc:docMk/>
          <pc:sldMk cId="0" sldId="287"/>
        </pc:sldMkLst>
        <pc:spChg chg="mod">
          <ac:chgData name="Kaiang Wen" userId="a219f04c-ae7d-4ada-9001-a33e528312f1" providerId="ADAL" clId="{A9C5B5AB-BF52-4025-A4FA-BE2D8C2B9CED}" dt="2024-03-18T01:48:32.257" v="1" actId="1076"/>
          <ac:spMkLst>
            <pc:docMk/>
            <pc:sldMk cId="0" sldId="287"/>
            <ac:spMk id="132" creationId="{00000000-0000-0000-0000-000000000000}"/>
          </ac:spMkLst>
        </pc:spChg>
        <pc:cxnChg chg="mod">
          <ac:chgData name="Kaiang Wen" userId="a219f04c-ae7d-4ada-9001-a33e528312f1" providerId="ADAL" clId="{A9C5B5AB-BF52-4025-A4FA-BE2D8C2B9CED}" dt="2024-03-18T01:48:46.937" v="3" actId="14100"/>
          <ac:cxnSpMkLst>
            <pc:docMk/>
            <pc:sldMk cId="0" sldId="287"/>
            <ac:cxnSpMk id="15" creationId="{00000000-0000-0000-0000-000000000000}"/>
          </ac:cxnSpMkLst>
        </pc:cxnChg>
        <pc:cxnChg chg="mod">
          <ac:chgData name="Kaiang Wen" userId="a219f04c-ae7d-4ada-9001-a33e528312f1" providerId="ADAL" clId="{A9C5B5AB-BF52-4025-A4FA-BE2D8C2B9CED}" dt="2024-03-18T01:48:41.602" v="2" actId="14100"/>
          <ac:cxnSpMkLst>
            <pc:docMk/>
            <pc:sldMk cId="0" sldId="287"/>
            <ac:cxnSpMk id="161" creationId="{00000000-0000-0000-0000-000000000000}"/>
          </ac:cxnSpMkLst>
        </pc:cxnChg>
        <pc:cxnChg chg="mod">
          <ac:chgData name="Kaiang Wen" userId="a219f04c-ae7d-4ada-9001-a33e528312f1" providerId="ADAL" clId="{A9C5B5AB-BF52-4025-A4FA-BE2D8C2B9CED}" dt="2024-03-18T01:48:50.041" v="5" actId="14100"/>
          <ac:cxnSpMkLst>
            <pc:docMk/>
            <pc:sldMk cId="0" sldId="287"/>
            <ac:cxnSpMk id="162" creationId="{00000000-0000-0000-0000-000000000000}"/>
          </ac:cxnSpMkLst>
        </pc:cxnChg>
      </pc:sldChg>
      <pc:sldChg chg="modSp mod">
        <pc:chgData name="Kaiang Wen" userId="a219f04c-ae7d-4ada-9001-a33e528312f1" providerId="ADAL" clId="{A9C5B5AB-BF52-4025-A4FA-BE2D8C2B9CED}" dt="2024-03-18T01:49:28.059" v="8" actId="13822"/>
        <pc:sldMkLst>
          <pc:docMk/>
          <pc:sldMk cId="0" sldId="288"/>
        </pc:sldMkLst>
        <pc:spChg chg="mod">
          <ac:chgData name="Kaiang Wen" userId="a219f04c-ae7d-4ada-9001-a33e528312f1" providerId="ADAL" clId="{A9C5B5AB-BF52-4025-A4FA-BE2D8C2B9CED}" dt="2024-03-18T01:49:28.059" v="8" actId="13822"/>
          <ac:spMkLst>
            <pc:docMk/>
            <pc:sldMk cId="0" sldId="288"/>
            <ac:spMk id="5" creationId="{00000000-0000-0000-0000-000000000000}"/>
          </ac:spMkLst>
        </pc:spChg>
      </pc:sldChg>
      <pc:sldChg chg="modSp mod">
        <pc:chgData name="Kaiang Wen" userId="a219f04c-ae7d-4ada-9001-a33e528312f1" providerId="ADAL" clId="{A9C5B5AB-BF52-4025-A4FA-BE2D8C2B9CED}" dt="2024-03-18T02:45:18.742" v="25" actId="14100"/>
        <pc:sldMkLst>
          <pc:docMk/>
          <pc:sldMk cId="0" sldId="289"/>
        </pc:sldMkLst>
        <pc:spChg chg="mod">
          <ac:chgData name="Kaiang Wen" userId="a219f04c-ae7d-4ada-9001-a33e528312f1" providerId="ADAL" clId="{A9C5B5AB-BF52-4025-A4FA-BE2D8C2B9CED}" dt="2024-03-18T02:45:18.742" v="25" actId="14100"/>
          <ac:spMkLst>
            <pc:docMk/>
            <pc:sldMk cId="0" sldId="289"/>
            <ac:spMk id="8" creationId="{00000000-0000-0000-0000-000000000000}"/>
          </ac:spMkLst>
        </pc:spChg>
      </pc:sldChg>
      <pc:sldChg chg="modSp mod">
        <pc:chgData name="Kaiang Wen" userId="a219f04c-ae7d-4ada-9001-a33e528312f1" providerId="ADAL" clId="{A9C5B5AB-BF52-4025-A4FA-BE2D8C2B9CED}" dt="2024-03-18T01:51:49.479" v="24" actId="207"/>
        <pc:sldMkLst>
          <pc:docMk/>
          <pc:sldMk cId="0" sldId="290"/>
        </pc:sldMkLst>
        <pc:spChg chg="mod">
          <ac:chgData name="Kaiang Wen" userId="a219f04c-ae7d-4ada-9001-a33e528312f1" providerId="ADAL" clId="{A9C5B5AB-BF52-4025-A4FA-BE2D8C2B9CED}" dt="2024-03-18T01:49:23.537" v="7" actId="13822"/>
          <ac:spMkLst>
            <pc:docMk/>
            <pc:sldMk cId="0" sldId="290"/>
            <ac:spMk id="10" creationId="{00000000-0000-0000-0000-000000000000}"/>
          </ac:spMkLst>
        </pc:spChg>
        <pc:spChg chg="mod">
          <ac:chgData name="Kaiang Wen" userId="a219f04c-ae7d-4ada-9001-a33e528312f1" providerId="ADAL" clId="{A9C5B5AB-BF52-4025-A4FA-BE2D8C2B9CED}" dt="2024-03-18T01:51:27.146" v="21" actId="207"/>
          <ac:spMkLst>
            <pc:docMk/>
            <pc:sldMk cId="0" sldId="290"/>
            <ac:spMk id="11" creationId="{00000000-0000-0000-0000-000000000000}"/>
          </ac:spMkLst>
        </pc:spChg>
        <pc:spChg chg="mod">
          <ac:chgData name="Kaiang Wen" userId="a219f04c-ae7d-4ada-9001-a33e528312f1" providerId="ADAL" clId="{A9C5B5AB-BF52-4025-A4FA-BE2D8C2B9CED}" dt="2024-03-18T01:51:49.479" v="24" actId="207"/>
          <ac:spMkLst>
            <pc:docMk/>
            <pc:sldMk cId="0" sldId="290"/>
            <ac:spMk id="20" creationId="{00000000-0000-0000-0000-000000000000}"/>
          </ac:spMkLst>
        </pc:spChg>
      </pc:sldChg>
      <pc:sldChg chg="modSp mod">
        <pc:chgData name="Kaiang Wen" userId="a219f04c-ae7d-4ada-9001-a33e528312f1" providerId="ADAL" clId="{A9C5B5AB-BF52-4025-A4FA-BE2D8C2B9CED}" dt="2024-03-18T01:50:26.906" v="15" actId="207"/>
        <pc:sldMkLst>
          <pc:docMk/>
          <pc:sldMk cId="0" sldId="291"/>
        </pc:sldMkLst>
        <pc:spChg chg="mod">
          <ac:chgData name="Kaiang Wen" userId="a219f04c-ae7d-4ada-9001-a33e528312f1" providerId="ADAL" clId="{A9C5B5AB-BF52-4025-A4FA-BE2D8C2B9CED}" dt="2024-03-18T01:50:14.439" v="14" actId="207"/>
          <ac:spMkLst>
            <pc:docMk/>
            <pc:sldMk cId="0" sldId="291"/>
            <ac:spMk id="14" creationId="{00000000-0000-0000-0000-000000000000}"/>
          </ac:spMkLst>
        </pc:spChg>
        <pc:spChg chg="mod">
          <ac:chgData name="Kaiang Wen" userId="a219f04c-ae7d-4ada-9001-a33e528312f1" providerId="ADAL" clId="{A9C5B5AB-BF52-4025-A4FA-BE2D8C2B9CED}" dt="2024-03-18T01:49:42.368" v="10" actId="14100"/>
          <ac:spMkLst>
            <pc:docMk/>
            <pc:sldMk cId="0" sldId="291"/>
            <ac:spMk id="15" creationId="{00000000-0000-0000-0000-000000000000}"/>
          </ac:spMkLst>
        </pc:spChg>
        <pc:spChg chg="mod">
          <ac:chgData name="Kaiang Wen" userId="a219f04c-ae7d-4ada-9001-a33e528312f1" providerId="ADAL" clId="{A9C5B5AB-BF52-4025-A4FA-BE2D8C2B9CED}" dt="2024-03-18T01:50:26.906" v="15" actId="207"/>
          <ac:spMkLst>
            <pc:docMk/>
            <pc:sldMk cId="0" sldId="291"/>
            <ac:spMk id="83" creationId="{00000000-0000-0000-0000-000000000000}"/>
          </ac:spMkLst>
        </pc:spChg>
        <pc:spChg chg="mod">
          <ac:chgData name="Kaiang Wen" userId="a219f04c-ae7d-4ada-9001-a33e528312f1" providerId="ADAL" clId="{A9C5B5AB-BF52-4025-A4FA-BE2D8C2B9CED}" dt="2024-03-18T01:49:42.368" v="10" actId="14100"/>
          <ac:spMkLst>
            <pc:docMk/>
            <pc:sldMk cId="0" sldId="291"/>
            <ac:spMk id="84" creationId="{00000000-0000-0000-0000-000000000000}"/>
          </ac:spMkLst>
        </pc:spChg>
        <pc:spChg chg="mod">
          <ac:chgData name="Kaiang Wen" userId="a219f04c-ae7d-4ada-9001-a33e528312f1" providerId="ADAL" clId="{A9C5B5AB-BF52-4025-A4FA-BE2D8C2B9CED}" dt="2024-03-18T01:49:54.288" v="11" actId="1076"/>
          <ac:spMkLst>
            <pc:docMk/>
            <pc:sldMk cId="0" sldId="291"/>
            <ac:spMk id="85" creationId="{00000000-0000-0000-0000-000000000000}"/>
          </ac:spMkLst>
        </pc:spChg>
        <pc:spChg chg="mod">
          <ac:chgData name="Kaiang Wen" userId="a219f04c-ae7d-4ada-9001-a33e528312f1" providerId="ADAL" clId="{A9C5B5AB-BF52-4025-A4FA-BE2D8C2B9CED}" dt="2024-03-18T01:49:42.368" v="10" actId="14100"/>
          <ac:spMkLst>
            <pc:docMk/>
            <pc:sldMk cId="0" sldId="291"/>
            <ac:spMk id="8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1.png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1879600"/>
            <a:ext cx="15667355" cy="2587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Learning on RNN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4829781" y="6933327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4858355" y="5211011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7" name="矩形 66"/>
          <p:cNvSpPr/>
          <p:nvPr/>
        </p:nvSpPr>
        <p:spPr>
          <a:xfrm>
            <a:off x="4829781" y="3528972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8" name="矩形 67"/>
          <p:cNvSpPr/>
          <p:nvPr/>
        </p:nvSpPr>
        <p:spPr>
          <a:xfrm>
            <a:off x="8984928" y="6911717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9" name="矩形 68"/>
          <p:cNvSpPr/>
          <p:nvPr/>
        </p:nvSpPr>
        <p:spPr>
          <a:xfrm>
            <a:off x="9013502" y="5241159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0" name="矩形 69"/>
          <p:cNvSpPr/>
          <p:nvPr/>
        </p:nvSpPr>
        <p:spPr>
          <a:xfrm>
            <a:off x="6699105" y="5174682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1" name="矩形 70"/>
          <p:cNvSpPr/>
          <p:nvPr/>
        </p:nvSpPr>
        <p:spPr>
          <a:xfrm>
            <a:off x="9013502" y="3540273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2" name="矩形 71"/>
          <p:cNvSpPr/>
          <p:nvPr/>
        </p:nvSpPr>
        <p:spPr>
          <a:xfrm>
            <a:off x="13210113" y="6921044"/>
            <a:ext cx="1620000" cy="64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3" name="矩形 72"/>
          <p:cNvSpPr/>
          <p:nvPr/>
        </p:nvSpPr>
        <p:spPr>
          <a:xfrm>
            <a:off x="13238687" y="5250486"/>
            <a:ext cx="1620000" cy="648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4" name="矩形 73"/>
          <p:cNvSpPr/>
          <p:nvPr/>
        </p:nvSpPr>
        <p:spPr>
          <a:xfrm>
            <a:off x="10924290" y="5241159"/>
            <a:ext cx="1620000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5" name="矩形 74"/>
          <p:cNvSpPr/>
          <p:nvPr/>
        </p:nvSpPr>
        <p:spPr>
          <a:xfrm>
            <a:off x="13273116" y="3568701"/>
            <a:ext cx="1620000" cy="64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6" name="向上箭號 75"/>
          <p:cNvSpPr/>
          <p:nvPr/>
        </p:nvSpPr>
        <p:spPr>
          <a:xfrm>
            <a:off x="5346083" y="5956395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7" name="向上箭號 76"/>
          <p:cNvSpPr/>
          <p:nvPr/>
        </p:nvSpPr>
        <p:spPr>
          <a:xfrm>
            <a:off x="5346084" y="4241019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8" name="文字方塊 77"/>
          <p:cNvSpPr txBox="1"/>
          <p:nvPr/>
        </p:nvSpPr>
        <p:spPr>
          <a:xfrm>
            <a:off x="6883401" y="4312481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copy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79" name="手繪多邊形 78"/>
          <p:cNvSpPr/>
          <p:nvPr/>
        </p:nvSpPr>
        <p:spPr>
          <a:xfrm flipH="1">
            <a:off x="6449780" y="4827984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1" name="文字方塊 80"/>
          <p:cNvSpPr txBox="1"/>
          <p:nvPr/>
        </p:nvSpPr>
        <p:spPr>
          <a:xfrm>
            <a:off x="11033885" y="4312481"/>
            <a:ext cx="1571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copy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5031273" y="6895955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9142823" y="6911717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13402437" y="6906441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4955411" y="350811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9173196" y="347989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13468755" y="351628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88" name="向上箭號 87"/>
          <p:cNvSpPr/>
          <p:nvPr/>
        </p:nvSpPr>
        <p:spPr>
          <a:xfrm>
            <a:off x="9538605" y="599663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9" name="向上箭號 88"/>
          <p:cNvSpPr/>
          <p:nvPr/>
        </p:nvSpPr>
        <p:spPr>
          <a:xfrm>
            <a:off x="9538607" y="428126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0" name="向上箭號 89"/>
          <p:cNvSpPr/>
          <p:nvPr/>
        </p:nvSpPr>
        <p:spPr>
          <a:xfrm>
            <a:off x="13765178" y="6002739"/>
            <a:ext cx="580016" cy="869115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2" name="向上箭號 91"/>
          <p:cNvSpPr/>
          <p:nvPr/>
        </p:nvSpPr>
        <p:spPr>
          <a:xfrm>
            <a:off x="13765179" y="4287363"/>
            <a:ext cx="580016" cy="869115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4" name="弧形箭號 (上彎) 113"/>
          <p:cNvSpPr/>
          <p:nvPr/>
        </p:nvSpPr>
        <p:spPr>
          <a:xfrm>
            <a:off x="7531911" y="5888420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116" name="弧形箭號 (上彎) 115"/>
          <p:cNvSpPr/>
          <p:nvPr/>
        </p:nvSpPr>
        <p:spPr>
          <a:xfrm>
            <a:off x="11632433" y="5896313"/>
            <a:ext cx="2071526" cy="852974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118" name="手繪多邊形 117"/>
          <p:cNvSpPr/>
          <p:nvPr/>
        </p:nvSpPr>
        <p:spPr>
          <a:xfrm flipH="1">
            <a:off x="10593959" y="4817541"/>
            <a:ext cx="1008869" cy="479429"/>
          </a:xfrm>
          <a:custGeom>
            <a:avLst/>
            <a:gdLst>
              <a:gd name="connsiteX0" fmla="*/ 3924300 w 3924300"/>
              <a:gd name="connsiteY0" fmla="*/ 628749 h 628749"/>
              <a:gd name="connsiteX1" fmla="*/ 1714500 w 3924300"/>
              <a:gd name="connsiteY1" fmla="*/ 99 h 628749"/>
              <a:gd name="connsiteX2" fmla="*/ 0 w 3924300"/>
              <a:gd name="connsiteY2" fmla="*/ 590649 h 6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4300" h="628749">
                <a:moveTo>
                  <a:pt x="3924300" y="628749"/>
                </a:moveTo>
                <a:cubicBezTo>
                  <a:pt x="3146425" y="317599"/>
                  <a:pt x="2368550" y="6449"/>
                  <a:pt x="1714500" y="99"/>
                </a:cubicBezTo>
                <a:cubicBezTo>
                  <a:pt x="1060450" y="-6251"/>
                  <a:pt x="530225" y="292199"/>
                  <a:pt x="0" y="590649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6" name="文字方塊 125"/>
          <p:cNvSpPr txBox="1"/>
          <p:nvPr/>
        </p:nvSpPr>
        <p:spPr>
          <a:xfrm>
            <a:off x="14096010" y="6179036"/>
            <a:ext cx="96301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W</a:t>
            </a:r>
            <a:r>
              <a:rPr lang="en-US" altLang="zh-TW" sz="4200" baseline="30000" dirty="0"/>
              <a:t>i</a:t>
            </a:r>
            <a:endParaRPr lang="zh-TW" altLang="en-US" sz="4200" baseline="30000" dirty="0"/>
          </a:p>
        </p:txBody>
      </p:sp>
      <p:sp>
        <p:nvSpPr>
          <p:cNvPr id="127" name="文字方塊 126"/>
          <p:cNvSpPr txBox="1"/>
          <p:nvPr/>
        </p:nvSpPr>
        <p:spPr>
          <a:xfrm>
            <a:off x="5488043" y="4648493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128" name="文字方塊 127"/>
          <p:cNvSpPr txBox="1"/>
          <p:nvPr/>
        </p:nvSpPr>
        <p:spPr>
          <a:xfrm>
            <a:off x="6975978" y="5143386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129" name="文字方塊 128"/>
          <p:cNvSpPr txBox="1"/>
          <p:nvPr/>
        </p:nvSpPr>
        <p:spPr>
          <a:xfrm>
            <a:off x="11130447" y="5200238"/>
            <a:ext cx="1361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130" name="文字方塊 129"/>
          <p:cNvSpPr txBox="1"/>
          <p:nvPr/>
        </p:nvSpPr>
        <p:spPr>
          <a:xfrm>
            <a:off x="9886259" y="4678380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131" name="文字方塊 130"/>
          <p:cNvSpPr txBox="1"/>
          <p:nvPr/>
        </p:nvSpPr>
        <p:spPr>
          <a:xfrm>
            <a:off x="14132520" y="4665807"/>
            <a:ext cx="858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132" name="矩形 131"/>
          <p:cNvSpPr/>
          <p:nvPr/>
        </p:nvSpPr>
        <p:spPr>
          <a:xfrm>
            <a:off x="5535607" y="8532806"/>
            <a:ext cx="83826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arrive     </a:t>
            </a:r>
            <a:r>
              <a:rPr lang="en-US" altLang="zh-TW" sz="3200" dirty="0">
                <a:solidFill>
                  <a:srgbClr val="FF0000"/>
                </a:solidFill>
              </a:rPr>
              <a:t>Taipei     </a:t>
            </a:r>
            <a:r>
              <a:rPr lang="en-US" altLang="zh-TW" sz="3200" dirty="0"/>
              <a:t>on     </a:t>
            </a:r>
            <a:r>
              <a:rPr lang="en-US" altLang="zh-TW" sz="3200" dirty="0">
                <a:solidFill>
                  <a:srgbClr val="0000FF"/>
                </a:solidFill>
              </a:rPr>
              <a:t>November     2</a:t>
            </a:r>
            <a:r>
              <a:rPr lang="en-US" altLang="zh-TW" sz="3200" baseline="30000" dirty="0">
                <a:solidFill>
                  <a:srgbClr val="0000FF"/>
                </a:solidFill>
              </a:rPr>
              <a:t>nd</a:t>
            </a:r>
            <a:r>
              <a:rPr lang="en-US" altLang="zh-TW" sz="3200" dirty="0"/>
              <a:t> </a:t>
            </a:r>
            <a:endParaRPr lang="en-US" altLang="zh-TW" sz="3200" dirty="0">
              <a:solidFill>
                <a:srgbClr val="FFC000"/>
              </a:solidFill>
            </a:endParaRPr>
          </a:p>
        </p:txBody>
      </p:sp>
      <p:sp>
        <p:nvSpPr>
          <p:cNvPr id="134" name="圓角矩形圖說文字 133"/>
          <p:cNvSpPr/>
          <p:nvPr/>
        </p:nvSpPr>
        <p:spPr>
          <a:xfrm>
            <a:off x="6152312" y="8501448"/>
            <a:ext cx="7980209" cy="767790"/>
          </a:xfrm>
          <a:prstGeom prst="wedgeRoundRectCallout">
            <a:avLst>
              <a:gd name="adj1" fmla="val -55696"/>
              <a:gd name="adj2" fmla="val 42788"/>
              <a:gd name="adj3" fmla="val 16667"/>
            </a:avLst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35" name="直線單箭頭接點 134"/>
          <p:cNvCxnSpPr>
            <a:endCxn id="82" idx="2"/>
          </p:cNvCxnSpPr>
          <p:nvPr/>
        </p:nvCxnSpPr>
        <p:spPr>
          <a:xfrm flipH="1" flipV="1">
            <a:off x="10853547" y="11311775"/>
            <a:ext cx="1317983" cy="11787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單箭頭接點 135"/>
          <p:cNvCxnSpPr/>
          <p:nvPr/>
        </p:nvCxnSpPr>
        <p:spPr>
          <a:xfrm flipV="1">
            <a:off x="8562669" y="7554417"/>
            <a:ext cx="1175559" cy="11910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/>
          <p:cNvCxnSpPr/>
          <p:nvPr/>
        </p:nvCxnSpPr>
        <p:spPr>
          <a:xfrm flipV="1">
            <a:off x="10009523" y="7613691"/>
            <a:ext cx="3755655" cy="11242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3209858" y="8038143"/>
            <a:ext cx="27222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Training</a:t>
            </a:r>
          </a:p>
          <a:p>
            <a:r>
              <a:rPr lang="en-US" altLang="zh-TW" sz="3600" dirty="0"/>
              <a:t>Sentences:</a:t>
            </a:r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2415912" y="774"/>
            <a:ext cx="476631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i="1" u="sng" dirty="0"/>
              <a:t>Learning Target</a:t>
            </a:r>
            <a:endParaRPr lang="zh-TW" altLang="en-US" sz="4800" b="1" i="1" u="sng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6435834" y="9384021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/>
              <a:t>other</a:t>
            </a:r>
            <a:endParaRPr lang="zh-TW" altLang="en-US" sz="3600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9439784" y="9406704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/>
              <a:t>other</a:t>
            </a:r>
            <a:endParaRPr lang="zh-TW" altLang="en-US" sz="36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8093265" y="9384020"/>
            <a:ext cx="129814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rgbClr val="FF0000"/>
                </a:solidFill>
              </a:rPr>
              <a:t>dest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4140161" y="1773513"/>
            <a:ext cx="3030104" cy="688238"/>
            <a:chOff x="1270360" y="1184930"/>
            <a:chExt cx="2020069" cy="458825"/>
          </a:xfrm>
        </p:grpSpPr>
        <p:sp>
          <p:nvSpPr>
            <p:cNvPr id="9" name="矩形 8"/>
            <p:cNvSpPr/>
            <p:nvPr/>
          </p:nvSpPr>
          <p:spPr>
            <a:xfrm>
              <a:off x="1277507" y="1255704"/>
              <a:ext cx="2012922" cy="35396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0" name="橢圓 9"/>
            <p:cNvSpPr/>
            <p:nvPr/>
          </p:nvSpPr>
          <p:spPr>
            <a:xfrm>
              <a:off x="2011121" y="1199212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  <p:sp>
          <p:nvSpPr>
            <p:cNvPr id="145" name="橢圓 144"/>
            <p:cNvSpPr/>
            <p:nvPr/>
          </p:nvSpPr>
          <p:spPr>
            <a:xfrm>
              <a:off x="1270360" y="1184930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  <p:sp>
          <p:nvSpPr>
            <p:cNvPr id="146" name="橢圓 145"/>
            <p:cNvSpPr/>
            <p:nvPr/>
          </p:nvSpPr>
          <p:spPr>
            <a:xfrm>
              <a:off x="2794903" y="1189495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grpSp>
        <p:nvGrpSpPr>
          <p:cNvPr id="147" name="群組 146"/>
          <p:cNvGrpSpPr/>
          <p:nvPr/>
        </p:nvGrpSpPr>
        <p:grpSpPr>
          <a:xfrm>
            <a:off x="12617468" y="1842786"/>
            <a:ext cx="3030104" cy="688238"/>
            <a:chOff x="1270360" y="1184930"/>
            <a:chExt cx="2020069" cy="458825"/>
          </a:xfrm>
        </p:grpSpPr>
        <p:sp>
          <p:nvSpPr>
            <p:cNvPr id="148" name="矩形 147"/>
            <p:cNvSpPr/>
            <p:nvPr/>
          </p:nvSpPr>
          <p:spPr>
            <a:xfrm>
              <a:off x="1277507" y="1255704"/>
              <a:ext cx="2012922" cy="35396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49" name="橢圓 148"/>
            <p:cNvSpPr/>
            <p:nvPr/>
          </p:nvSpPr>
          <p:spPr>
            <a:xfrm>
              <a:off x="2011121" y="1199212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  <p:sp>
          <p:nvSpPr>
            <p:cNvPr id="150" name="橢圓 149"/>
            <p:cNvSpPr/>
            <p:nvPr/>
          </p:nvSpPr>
          <p:spPr>
            <a:xfrm>
              <a:off x="1270360" y="1184930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  <p:sp>
          <p:nvSpPr>
            <p:cNvPr id="151" name="橢圓 150"/>
            <p:cNvSpPr/>
            <p:nvPr/>
          </p:nvSpPr>
          <p:spPr>
            <a:xfrm>
              <a:off x="2794903" y="1189495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grpSp>
        <p:nvGrpSpPr>
          <p:cNvPr id="152" name="群組 151"/>
          <p:cNvGrpSpPr/>
          <p:nvPr/>
        </p:nvGrpSpPr>
        <p:grpSpPr>
          <a:xfrm>
            <a:off x="8411691" y="1832763"/>
            <a:ext cx="3030104" cy="688238"/>
            <a:chOff x="1270360" y="1184930"/>
            <a:chExt cx="2020069" cy="458825"/>
          </a:xfrm>
        </p:grpSpPr>
        <p:sp>
          <p:nvSpPr>
            <p:cNvPr id="153" name="矩形 152"/>
            <p:cNvSpPr/>
            <p:nvPr/>
          </p:nvSpPr>
          <p:spPr>
            <a:xfrm>
              <a:off x="1277507" y="1255704"/>
              <a:ext cx="2012922" cy="35396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54" name="橢圓 153"/>
            <p:cNvSpPr/>
            <p:nvPr/>
          </p:nvSpPr>
          <p:spPr>
            <a:xfrm>
              <a:off x="2011121" y="1199212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  <p:sp>
          <p:nvSpPr>
            <p:cNvPr id="155" name="橢圓 154"/>
            <p:cNvSpPr/>
            <p:nvPr/>
          </p:nvSpPr>
          <p:spPr>
            <a:xfrm>
              <a:off x="1270360" y="1184930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  <p:sp>
          <p:nvSpPr>
            <p:cNvPr id="156" name="橢圓 155"/>
            <p:cNvSpPr/>
            <p:nvPr/>
          </p:nvSpPr>
          <p:spPr>
            <a:xfrm>
              <a:off x="2794903" y="1189495"/>
              <a:ext cx="444543" cy="44454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sp>
        <p:nvSpPr>
          <p:cNvPr id="12" name="上-下雙向箭號 11"/>
          <p:cNvSpPr/>
          <p:nvPr/>
        </p:nvSpPr>
        <p:spPr>
          <a:xfrm>
            <a:off x="5296547" y="2521367"/>
            <a:ext cx="658943" cy="951528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7" name="上-下雙向箭號 156"/>
          <p:cNvSpPr/>
          <p:nvPr/>
        </p:nvSpPr>
        <p:spPr>
          <a:xfrm>
            <a:off x="9532118" y="2553881"/>
            <a:ext cx="658943" cy="951528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8" name="上-下雙向箭號 157"/>
          <p:cNvSpPr/>
          <p:nvPr/>
        </p:nvSpPr>
        <p:spPr>
          <a:xfrm>
            <a:off x="13767689" y="2534865"/>
            <a:ext cx="658943" cy="951528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文字方塊 12"/>
          <p:cNvSpPr txBox="1"/>
          <p:nvPr/>
        </p:nvSpPr>
        <p:spPr>
          <a:xfrm>
            <a:off x="5611184" y="898683"/>
            <a:ext cx="13922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other</a:t>
            </a:r>
            <a:endParaRPr lang="zh-TW" altLang="en-US" sz="3600" dirty="0"/>
          </a:p>
        </p:txBody>
      </p:sp>
      <p:sp>
        <p:nvSpPr>
          <p:cNvPr id="159" name="文字方塊 158"/>
          <p:cNvSpPr txBox="1"/>
          <p:nvPr/>
        </p:nvSpPr>
        <p:spPr>
          <a:xfrm>
            <a:off x="9544754" y="884226"/>
            <a:ext cx="13922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>
                <a:solidFill>
                  <a:srgbClr val="FF0000"/>
                </a:solidFill>
              </a:rPr>
              <a:t>dest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60" name="文字方塊 159"/>
          <p:cNvSpPr txBox="1"/>
          <p:nvPr/>
        </p:nvSpPr>
        <p:spPr>
          <a:xfrm>
            <a:off x="13780301" y="935675"/>
            <a:ext cx="13922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other</a:t>
            </a:r>
            <a:endParaRPr lang="zh-TW" altLang="en-US" sz="3600" dirty="0"/>
          </a:p>
        </p:txBody>
      </p:sp>
      <p:cxnSp>
        <p:nvCxnSpPr>
          <p:cNvPr id="15" name="直線單箭頭接點 14"/>
          <p:cNvCxnSpPr>
            <a:cxnSpLocks/>
            <a:stCxn id="10" idx="0"/>
          </p:cNvCxnSpPr>
          <p:nvPr/>
        </p:nvCxnSpPr>
        <p:spPr>
          <a:xfrm flipV="1">
            <a:off x="5584711" y="1436468"/>
            <a:ext cx="567601" cy="3584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>
            <a:cxnSpLocks/>
            <a:stCxn id="154" idx="0"/>
            <a:endCxn id="159" idx="2"/>
          </p:cNvCxnSpPr>
          <p:nvPr/>
        </p:nvCxnSpPr>
        <p:spPr>
          <a:xfrm flipV="1">
            <a:off x="9856241" y="1529386"/>
            <a:ext cx="384623" cy="324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單箭頭接點 161"/>
          <p:cNvCxnSpPr>
            <a:cxnSpLocks/>
            <a:stCxn id="149" idx="0"/>
          </p:cNvCxnSpPr>
          <p:nvPr/>
        </p:nvCxnSpPr>
        <p:spPr>
          <a:xfrm flipV="1">
            <a:off x="14062018" y="1460795"/>
            <a:ext cx="364613" cy="4034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4717746" y="1612694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3" name="文字方塊 162"/>
          <p:cNvSpPr txBox="1"/>
          <p:nvPr/>
        </p:nvSpPr>
        <p:spPr>
          <a:xfrm>
            <a:off x="5839410" y="1622628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4" name="文字方塊 163"/>
          <p:cNvSpPr txBox="1"/>
          <p:nvPr/>
        </p:nvSpPr>
        <p:spPr>
          <a:xfrm>
            <a:off x="8962008" y="1679477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5" name="文字方塊 164"/>
          <p:cNvSpPr txBox="1"/>
          <p:nvPr/>
        </p:nvSpPr>
        <p:spPr>
          <a:xfrm>
            <a:off x="10127841" y="1689369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6" name="文字方塊 165"/>
          <p:cNvSpPr txBox="1"/>
          <p:nvPr/>
        </p:nvSpPr>
        <p:spPr>
          <a:xfrm>
            <a:off x="13188497" y="1742660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7" name="文字方塊 166"/>
          <p:cNvSpPr txBox="1"/>
          <p:nvPr/>
        </p:nvSpPr>
        <p:spPr>
          <a:xfrm>
            <a:off x="14266307" y="1714134"/>
            <a:ext cx="66367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68" name="文字方塊 167"/>
          <p:cNvSpPr txBox="1"/>
          <p:nvPr/>
        </p:nvSpPr>
        <p:spPr>
          <a:xfrm>
            <a:off x="11098392" y="9400353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>
                <a:solidFill>
                  <a:srgbClr val="0000FF"/>
                </a:solidFill>
              </a:rPr>
              <a:t>time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69" name="文字方塊 168"/>
          <p:cNvSpPr txBox="1"/>
          <p:nvPr/>
        </p:nvSpPr>
        <p:spPr>
          <a:xfrm>
            <a:off x="12727259" y="9400184"/>
            <a:ext cx="14052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defRPr/>
            </a:pPr>
            <a:r>
              <a:rPr lang="en-US" altLang="zh-TW" sz="3600" dirty="0">
                <a:solidFill>
                  <a:srgbClr val="0000FF"/>
                </a:solidFill>
              </a:rPr>
              <a:t>time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4" grpId="0" bldLvl="0" animBg="1"/>
      <p:bldP spid="5" grpId="0"/>
      <p:bldP spid="141" grpId="0"/>
      <p:bldP spid="142" grpId="0"/>
      <p:bldP spid="143" grpId="0"/>
      <p:bldP spid="12" grpId="0" bldLvl="0" animBg="1"/>
      <p:bldP spid="157" grpId="0" bldLvl="0" animBg="1"/>
      <p:bldP spid="158" grpId="0" bldLvl="0" animBg="1"/>
      <p:bldP spid="13" grpId="0"/>
      <p:bldP spid="159" grpId="0"/>
      <p:bldP spid="160" grpId="0"/>
      <p:bldP spid="19" grpId="0"/>
      <p:bldP spid="163" grpId="0"/>
      <p:bldP spid="164" grpId="0"/>
      <p:bldP spid="165" grpId="0"/>
      <p:bldP spid="166" grpId="0"/>
      <p:bldP spid="167" grpId="0"/>
      <p:bldP spid="168" grpId="0"/>
      <p:bldP spid="1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Learning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451906" y="3012676"/>
            <a:ext cx="5034920" cy="1383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4200" dirty="0"/>
              <a:t>Backpropagation through time (BPTT)</a:t>
            </a:r>
            <a:endParaRPr lang="zh-TW" alt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662209" y="8176397"/>
                <a:ext cx="4367530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TW" altLang="en-US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𝜂𝜕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4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209" y="8176397"/>
                <a:ext cx="4367530" cy="645795"/>
              </a:xfrm>
              <a:prstGeom prst="rect">
                <a:avLst/>
              </a:prstGeom>
              <a:blipFill rotWithShape="1">
                <a:blip r:embed="rId2"/>
                <a:stretch>
                  <a:fillRect l="-4" t="-21" r="-123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線單箭頭接點 49"/>
          <p:cNvCxnSpPr/>
          <p:nvPr/>
        </p:nvCxnSpPr>
        <p:spPr>
          <a:xfrm rot="16200000">
            <a:off x="12998157" y="3336824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 rot="16200000">
            <a:off x="10527678" y="3288297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群組 51"/>
          <p:cNvGrpSpPr/>
          <p:nvPr/>
        </p:nvGrpSpPr>
        <p:grpSpPr>
          <a:xfrm>
            <a:off x="10730063" y="8170175"/>
            <a:ext cx="514350" cy="692943"/>
            <a:chOff x="1882729" y="2137119"/>
            <a:chExt cx="342900" cy="461962"/>
          </a:xfrm>
        </p:grpSpPr>
        <p:sp>
          <p:nvSpPr>
            <p:cNvPr id="53" name="矩形 52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4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5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群組 54"/>
          <p:cNvGrpSpPr/>
          <p:nvPr/>
        </p:nvGrpSpPr>
        <p:grpSpPr>
          <a:xfrm>
            <a:off x="13140959" y="8216862"/>
            <a:ext cx="564357" cy="692945"/>
            <a:chOff x="1876911" y="2719848"/>
            <a:chExt cx="376238" cy="461963"/>
          </a:xfrm>
        </p:grpSpPr>
        <p:sp>
          <p:nvSpPr>
            <p:cNvPr id="56" name="矩形 55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57" name="Object 12"/>
            <p:cNvGraphicFramePr>
              <a:graphicFrameLocks noChangeAspect="1"/>
            </p:cNvGraphicFramePr>
            <p:nvPr/>
          </p:nvGraphicFramePr>
          <p:xfrm>
            <a:off x="1900724" y="2719848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724" y="2719848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" name="橢圓 57"/>
          <p:cNvSpPr/>
          <p:nvPr/>
        </p:nvSpPr>
        <p:spPr>
          <a:xfrm rot="16200000">
            <a:off x="10634327" y="5805179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9" name="橢圓 58"/>
          <p:cNvSpPr/>
          <p:nvPr/>
        </p:nvSpPr>
        <p:spPr>
          <a:xfrm rot="16200000">
            <a:off x="12955869" y="5865645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0" name="橢圓 59"/>
          <p:cNvSpPr/>
          <p:nvPr/>
        </p:nvSpPr>
        <p:spPr>
          <a:xfrm rot="16200000">
            <a:off x="10583816" y="328829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1" name="橢圓 60"/>
          <p:cNvSpPr/>
          <p:nvPr/>
        </p:nvSpPr>
        <p:spPr>
          <a:xfrm rot="16200000">
            <a:off x="12942830" y="3303456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62" name="群組 61"/>
          <p:cNvGrpSpPr/>
          <p:nvPr/>
        </p:nvGrpSpPr>
        <p:grpSpPr>
          <a:xfrm rot="16200000">
            <a:off x="11445935" y="6263847"/>
            <a:ext cx="1555833" cy="2457450"/>
            <a:chOff x="1013669" y="3459098"/>
            <a:chExt cx="1588876" cy="1638300"/>
          </a:xfrm>
        </p:grpSpPr>
        <p:cxnSp>
          <p:nvCxnSpPr>
            <p:cNvPr id="63" name="直線單箭頭接點 62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群組 63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65" name="直線單箭頭接點 64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單箭頭接點 65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單箭頭接點 66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68" name="Object 12"/>
          <p:cNvGraphicFramePr>
            <a:graphicFrameLocks noChangeAspect="1"/>
          </p:cNvGraphicFramePr>
          <p:nvPr/>
        </p:nvGraphicFramePr>
        <p:xfrm>
          <a:off x="13205339" y="1987493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267200" imgH="5181600" progId="Equation.3">
                  <p:embed/>
                </p:oleObj>
              </mc:Choice>
              <mc:Fallback>
                <p:oleObj name="方程式" r:id="rId7" imgW="4267200" imgH="5181600" progId="Equation.3">
                  <p:embed/>
                  <p:pic>
                    <p:nvPicPr>
                      <p:cNvPr id="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5339" y="1987493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12"/>
          <p:cNvGraphicFramePr>
            <a:graphicFrameLocks noChangeAspect="1"/>
          </p:cNvGraphicFramePr>
          <p:nvPr/>
        </p:nvGraphicFramePr>
        <p:xfrm>
          <a:off x="10830146" y="1992617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962400" imgH="5181600" progId="Equation.3">
                  <p:embed/>
                </p:oleObj>
              </mc:Choice>
              <mc:Fallback>
                <p:oleObj name="方程式" r:id="rId9" imgW="3962400" imgH="5181600" progId="Equation.3">
                  <p:embed/>
                  <p:pic>
                    <p:nvPicPr>
                      <p:cNvPr id="6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30146" y="1992617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" name="群組 69"/>
          <p:cNvGrpSpPr/>
          <p:nvPr/>
        </p:nvGrpSpPr>
        <p:grpSpPr>
          <a:xfrm>
            <a:off x="5490659" y="5782601"/>
            <a:ext cx="514350" cy="692943"/>
            <a:chOff x="1882729" y="2137119"/>
            <a:chExt cx="342900" cy="461962"/>
          </a:xfrm>
        </p:grpSpPr>
        <p:sp>
          <p:nvSpPr>
            <p:cNvPr id="71" name="矩形 70"/>
            <p:cNvSpPr/>
            <p:nvPr/>
          </p:nvSpPr>
          <p:spPr>
            <a:xfrm>
              <a:off x="1882729" y="2232369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72" name="Object 12"/>
            <p:cNvGraphicFramePr>
              <a:graphicFrameLocks noChangeAspect="1"/>
            </p:cNvGraphicFramePr>
            <p:nvPr/>
          </p:nvGraphicFramePr>
          <p:xfrm>
            <a:off x="1895428" y="2137119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1" imgW="3657600" imgH="5181600" progId="Equation.3">
                    <p:embed/>
                  </p:oleObj>
                </mc:Choice>
                <mc:Fallback>
                  <p:oleObj name="方程式" r:id="rId11" imgW="3657600" imgH="5181600" progId="Equation.3">
                    <p:embed/>
                    <p:pic>
                      <p:nvPicPr>
                        <p:cNvPr id="7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5428" y="2137119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" name="群組 72"/>
          <p:cNvGrpSpPr/>
          <p:nvPr/>
        </p:nvGrpSpPr>
        <p:grpSpPr>
          <a:xfrm>
            <a:off x="7901555" y="5785653"/>
            <a:ext cx="586550" cy="692945"/>
            <a:chOff x="1876911" y="2719786"/>
            <a:chExt cx="391033" cy="461963"/>
          </a:xfrm>
        </p:grpSpPr>
        <p:sp>
          <p:nvSpPr>
            <p:cNvPr id="74" name="矩形 73"/>
            <p:cNvSpPr/>
            <p:nvPr/>
          </p:nvSpPr>
          <p:spPr>
            <a:xfrm>
              <a:off x="1876911" y="2802698"/>
              <a:ext cx="342900" cy="342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75" name="Object 12"/>
            <p:cNvGraphicFramePr>
              <a:graphicFrameLocks noChangeAspect="1"/>
            </p:cNvGraphicFramePr>
            <p:nvPr/>
          </p:nvGraphicFramePr>
          <p:xfrm>
            <a:off x="1888532" y="2719786"/>
            <a:ext cx="379412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4267200" imgH="5181600" progId="Equation.3">
                    <p:embed/>
                  </p:oleObj>
                </mc:Choice>
                <mc:Fallback>
                  <p:oleObj name="方程式" r:id="rId13" imgW="4267200" imgH="5181600" progId="Equation.3">
                    <p:embed/>
                    <p:pic>
                      <p:nvPicPr>
                        <p:cNvPr id="7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532" y="2719786"/>
                          <a:ext cx="379412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6" name="群組 75"/>
          <p:cNvGrpSpPr/>
          <p:nvPr/>
        </p:nvGrpSpPr>
        <p:grpSpPr>
          <a:xfrm rot="16200000">
            <a:off x="11445935" y="3770060"/>
            <a:ext cx="1555833" cy="2457450"/>
            <a:chOff x="1013669" y="3459098"/>
            <a:chExt cx="1588876" cy="1638300"/>
          </a:xfrm>
        </p:grpSpPr>
        <p:cxnSp>
          <p:nvCxnSpPr>
            <p:cNvPr id="77" name="直線單箭頭接點 76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群組 77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79" name="直線單箭頭接點 78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單箭頭接點 80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2" name="手繪多邊形 81"/>
          <p:cNvSpPr/>
          <p:nvPr/>
        </p:nvSpPr>
        <p:spPr>
          <a:xfrm>
            <a:off x="8178939" y="6447956"/>
            <a:ext cx="2743200" cy="479747"/>
          </a:xfrm>
          <a:custGeom>
            <a:avLst/>
            <a:gdLst>
              <a:gd name="connsiteX0" fmla="*/ 0 w 1828800"/>
              <a:gd name="connsiteY0" fmla="*/ 0 h 319831"/>
              <a:gd name="connsiteX1" fmla="*/ 1016000 w 1828800"/>
              <a:gd name="connsiteY1" fmla="*/ 317500 h 319831"/>
              <a:gd name="connsiteX2" fmla="*/ 1828800 w 1828800"/>
              <a:gd name="connsiteY2" fmla="*/ 152400 h 3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0" h="319831">
                <a:moveTo>
                  <a:pt x="0" y="0"/>
                </a:moveTo>
                <a:cubicBezTo>
                  <a:pt x="355600" y="146050"/>
                  <a:pt x="711200" y="292100"/>
                  <a:pt x="1016000" y="317500"/>
                </a:cubicBezTo>
                <a:cubicBezTo>
                  <a:pt x="1320800" y="342900"/>
                  <a:pt x="1828800" y="152400"/>
                  <a:pt x="1828800" y="1524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3" name="手繪多邊形 82"/>
          <p:cNvSpPr/>
          <p:nvPr/>
        </p:nvSpPr>
        <p:spPr>
          <a:xfrm>
            <a:off x="8159889" y="6467006"/>
            <a:ext cx="5124450" cy="936662"/>
          </a:xfrm>
          <a:custGeom>
            <a:avLst/>
            <a:gdLst>
              <a:gd name="connsiteX0" fmla="*/ 0 w 3416300"/>
              <a:gd name="connsiteY0" fmla="*/ 0 h 624441"/>
              <a:gd name="connsiteX1" fmla="*/ 1854200 w 3416300"/>
              <a:gd name="connsiteY1" fmla="*/ 622300 h 624441"/>
              <a:gd name="connsiteX2" fmla="*/ 3416300 w 3416300"/>
              <a:gd name="connsiteY2" fmla="*/ 165100 h 62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16300" h="624441">
                <a:moveTo>
                  <a:pt x="0" y="0"/>
                </a:moveTo>
                <a:cubicBezTo>
                  <a:pt x="642408" y="297391"/>
                  <a:pt x="1284817" y="594783"/>
                  <a:pt x="1854200" y="622300"/>
                </a:cubicBezTo>
                <a:cubicBezTo>
                  <a:pt x="2423583" y="649817"/>
                  <a:pt x="2919941" y="407458"/>
                  <a:pt x="3416300" y="165100"/>
                </a:cubicBezTo>
              </a:path>
            </a:pathLst>
          </a:cu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4" name="手繪多邊形 83"/>
          <p:cNvSpPr/>
          <p:nvPr/>
        </p:nvSpPr>
        <p:spPr>
          <a:xfrm>
            <a:off x="5740539" y="6447956"/>
            <a:ext cx="5219700" cy="766832"/>
          </a:xfrm>
          <a:custGeom>
            <a:avLst/>
            <a:gdLst>
              <a:gd name="connsiteX0" fmla="*/ 0 w 3479800"/>
              <a:gd name="connsiteY0" fmla="*/ 0 h 511221"/>
              <a:gd name="connsiteX1" fmla="*/ 1600200 w 3479800"/>
              <a:gd name="connsiteY1" fmla="*/ 508000 h 511221"/>
              <a:gd name="connsiteX2" fmla="*/ 3479800 w 3479800"/>
              <a:gd name="connsiteY2" fmla="*/ 177800 h 51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511221">
                <a:moveTo>
                  <a:pt x="0" y="0"/>
                </a:moveTo>
                <a:cubicBezTo>
                  <a:pt x="510116" y="239183"/>
                  <a:pt x="1020233" y="478367"/>
                  <a:pt x="1600200" y="508000"/>
                </a:cubicBezTo>
                <a:cubicBezTo>
                  <a:pt x="2180167" y="537633"/>
                  <a:pt x="2829983" y="357716"/>
                  <a:pt x="3479800" y="1778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5" name="手繪多邊形 84"/>
          <p:cNvSpPr/>
          <p:nvPr/>
        </p:nvSpPr>
        <p:spPr>
          <a:xfrm>
            <a:off x="5759589" y="6447956"/>
            <a:ext cx="7715250" cy="1507478"/>
          </a:xfrm>
          <a:custGeom>
            <a:avLst/>
            <a:gdLst>
              <a:gd name="connsiteX0" fmla="*/ 0 w 5143500"/>
              <a:gd name="connsiteY0" fmla="*/ 0 h 1004985"/>
              <a:gd name="connsiteX1" fmla="*/ 2438400 w 5143500"/>
              <a:gd name="connsiteY1" fmla="*/ 1003300 h 1004985"/>
              <a:gd name="connsiteX2" fmla="*/ 5143500 w 5143500"/>
              <a:gd name="connsiteY2" fmla="*/ 190500 h 10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3500" h="1004985">
                <a:moveTo>
                  <a:pt x="0" y="0"/>
                </a:moveTo>
                <a:cubicBezTo>
                  <a:pt x="790575" y="485775"/>
                  <a:pt x="1581150" y="971550"/>
                  <a:pt x="2438400" y="1003300"/>
                </a:cubicBezTo>
                <a:cubicBezTo>
                  <a:pt x="3295650" y="1035050"/>
                  <a:pt x="4219575" y="612775"/>
                  <a:pt x="5143500" y="190500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6" name="手繪多邊形 85"/>
          <p:cNvSpPr/>
          <p:nvPr/>
        </p:nvSpPr>
        <p:spPr>
          <a:xfrm>
            <a:off x="10700073" y="3452291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7" name="手繪多邊形 86"/>
          <p:cNvSpPr/>
          <p:nvPr/>
        </p:nvSpPr>
        <p:spPr>
          <a:xfrm>
            <a:off x="13076595" y="3479378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8" name="手繪多邊形 87"/>
          <p:cNvSpPr/>
          <p:nvPr/>
        </p:nvSpPr>
        <p:spPr>
          <a:xfrm>
            <a:off x="13106072" y="6006690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9" name="手繪多邊形 88"/>
          <p:cNvSpPr/>
          <p:nvPr/>
        </p:nvSpPr>
        <p:spPr>
          <a:xfrm>
            <a:off x="10749111" y="5975000"/>
            <a:ext cx="628721" cy="548238"/>
          </a:xfrm>
          <a:custGeom>
            <a:avLst/>
            <a:gdLst>
              <a:gd name="connsiteX0" fmla="*/ 0 w 838200"/>
              <a:gd name="connsiteY0" fmla="*/ 619836 h 619836"/>
              <a:gd name="connsiteX1" fmla="*/ 361950 w 838200"/>
              <a:gd name="connsiteY1" fmla="*/ 486486 h 619836"/>
              <a:gd name="connsiteX2" fmla="*/ 457200 w 838200"/>
              <a:gd name="connsiteY2" fmla="*/ 257886 h 619836"/>
              <a:gd name="connsiteX3" fmla="*/ 552450 w 838200"/>
              <a:gd name="connsiteY3" fmla="*/ 29286 h 619836"/>
              <a:gd name="connsiteX4" fmla="*/ 838200 w 838200"/>
              <a:gd name="connsiteY4" fmla="*/ 10236 h 61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619836">
                <a:moveTo>
                  <a:pt x="0" y="619836"/>
                </a:moveTo>
                <a:cubicBezTo>
                  <a:pt x="142875" y="583323"/>
                  <a:pt x="285750" y="546811"/>
                  <a:pt x="361950" y="486486"/>
                </a:cubicBezTo>
                <a:cubicBezTo>
                  <a:pt x="438150" y="426161"/>
                  <a:pt x="457200" y="257886"/>
                  <a:pt x="457200" y="257886"/>
                </a:cubicBezTo>
                <a:cubicBezTo>
                  <a:pt x="488950" y="181686"/>
                  <a:pt x="488950" y="70561"/>
                  <a:pt x="552450" y="29286"/>
                </a:cubicBezTo>
                <a:cubicBezTo>
                  <a:pt x="615950" y="-11989"/>
                  <a:pt x="727075" y="-877"/>
                  <a:pt x="838200" y="1023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0" name="手繪多邊形 89"/>
          <p:cNvSpPr/>
          <p:nvPr/>
        </p:nvSpPr>
        <p:spPr>
          <a:xfrm>
            <a:off x="5798091" y="4801964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1" name="文字方塊 90"/>
          <p:cNvSpPr txBox="1"/>
          <p:nvPr/>
        </p:nvSpPr>
        <p:spPr>
          <a:xfrm>
            <a:off x="6281088" y="4534557"/>
            <a:ext cx="1451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copy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92" name="手繪多邊形 91"/>
          <p:cNvSpPr/>
          <p:nvPr/>
        </p:nvSpPr>
        <p:spPr>
          <a:xfrm>
            <a:off x="8215190" y="4799859"/>
            <a:ext cx="5138672" cy="1102397"/>
          </a:xfrm>
          <a:custGeom>
            <a:avLst/>
            <a:gdLst>
              <a:gd name="connsiteX0" fmla="*/ 3425781 w 3425781"/>
              <a:gd name="connsiteY0" fmla="*/ 619021 h 734931"/>
              <a:gd name="connsiteX1" fmla="*/ 1854558 w 3425781"/>
              <a:gd name="connsiteY1" fmla="*/ 835 h 734931"/>
              <a:gd name="connsiteX2" fmla="*/ 0 w 3425781"/>
              <a:gd name="connsiteY2" fmla="*/ 734931 h 73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5781" h="734931">
                <a:moveTo>
                  <a:pt x="3425781" y="619021"/>
                </a:moveTo>
                <a:cubicBezTo>
                  <a:pt x="2925651" y="300269"/>
                  <a:pt x="2425521" y="-18483"/>
                  <a:pt x="1854558" y="835"/>
                </a:cubicBezTo>
                <a:cubicBezTo>
                  <a:pt x="1283594" y="20153"/>
                  <a:pt x="641797" y="377542"/>
                  <a:pt x="0" y="734931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/>
              <p:cNvSpPr txBox="1"/>
              <p:nvPr/>
            </p:nvSpPr>
            <p:spPr>
              <a:xfrm>
                <a:off x="8718374" y="7207715"/>
                <a:ext cx="464185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3" name="文字方塊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374" y="7207715"/>
                <a:ext cx="464185" cy="645795"/>
              </a:xfrm>
              <a:prstGeom prst="rect">
                <a:avLst/>
              </a:prstGeom>
              <a:blipFill rotWithShape="1">
                <a:blip r:embed="rId15"/>
                <a:stretch>
                  <a:fillRect l="-99" t="-72" r="-17959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單箭頭接點 94"/>
          <p:cNvCxnSpPr/>
          <p:nvPr/>
        </p:nvCxnSpPr>
        <p:spPr>
          <a:xfrm flipH="1">
            <a:off x="6474119" y="7682628"/>
            <a:ext cx="1613481" cy="4752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Unfortunately ……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RNN-based network is not always easy to learn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474" y="4023602"/>
            <a:ext cx="11077053" cy="6053327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5319974" y="3474948"/>
            <a:ext cx="90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Real experiments on Language modeling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2484182" y="7037997"/>
            <a:ext cx="1444460" cy="6451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Lucky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1082195" y="5503049"/>
            <a:ext cx="2390349" cy="11988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sometimes</a:t>
            </a:r>
            <a:endParaRPr lang="zh-TW" altLang="en-US" sz="3600" dirty="0"/>
          </a:p>
        </p:txBody>
      </p:sp>
      <p:sp>
        <p:nvSpPr>
          <p:cNvPr id="11" name="向下箭號 10"/>
          <p:cNvSpPr/>
          <p:nvPr/>
        </p:nvSpPr>
        <p:spPr>
          <a:xfrm>
            <a:off x="12787596" y="7788218"/>
            <a:ext cx="871254" cy="511791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向下箭號 11"/>
          <p:cNvSpPr/>
          <p:nvPr/>
        </p:nvSpPr>
        <p:spPr>
          <a:xfrm rot="5400000">
            <a:off x="10289523" y="5632341"/>
            <a:ext cx="871254" cy="511791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文字方塊 4"/>
          <p:cNvSpPr txBox="1"/>
          <p:nvPr/>
        </p:nvSpPr>
        <p:spPr>
          <a:xfrm rot="16200000">
            <a:off x="2787582" y="6155733"/>
            <a:ext cx="2227490" cy="11988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Total Loss</a:t>
            </a:r>
            <a:endParaRPr lang="zh-TW" altLang="en-US" sz="3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8205026" y="9408780"/>
            <a:ext cx="2227490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Epoch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  <p:bldP spid="10" grpId="0" bldLvl="0" animBg="1"/>
      <p:bldP spid="11" grpId="0" bldLvl="0" animBg="1"/>
      <p:bldP spid="12" grpId="0" bldLvl="0" animBg="1"/>
      <p:bldP spid="5" grpId="0" bldLvl="0" animBg="1"/>
      <p:bldP spid="1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error surface is rough.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818" y="2536034"/>
            <a:ext cx="10264313" cy="6950504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8686800" y="9054867"/>
            <a:ext cx="1466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3472100" y="8058965"/>
            <a:ext cx="1466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9" name="文字方塊 8"/>
          <p:cNvSpPr txBox="1"/>
          <p:nvPr/>
        </p:nvSpPr>
        <p:spPr>
          <a:xfrm rot="5400000">
            <a:off x="12860481" y="5951820"/>
            <a:ext cx="226449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Cost</a:t>
            </a:r>
            <a:endParaRPr lang="zh-TW" altLang="en-US" sz="3600" baseline="30000" dirty="0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659">
            <a:off x="10325100" y="4622591"/>
            <a:ext cx="1438277" cy="1438277"/>
          </a:xfrm>
          <a:prstGeom prst="rect">
            <a:avLst/>
          </a:prstGeom>
        </p:spPr>
      </p:pic>
      <p:sp>
        <p:nvSpPr>
          <p:cNvPr id="3" name="橢圓 2"/>
          <p:cNvSpPr/>
          <p:nvPr/>
        </p:nvSpPr>
        <p:spPr>
          <a:xfrm>
            <a:off x="8943974" y="6656025"/>
            <a:ext cx="220665" cy="21590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8229599" y="6913496"/>
            <a:ext cx="220665" cy="21590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>
            <a:off x="7429658" y="7139511"/>
            <a:ext cx="220665" cy="21590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橢圓 11"/>
          <p:cNvSpPr/>
          <p:nvPr/>
        </p:nvSpPr>
        <p:spPr>
          <a:xfrm>
            <a:off x="6719742" y="3885671"/>
            <a:ext cx="220665" cy="21590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手繪多邊形 4"/>
          <p:cNvSpPr/>
          <p:nvPr/>
        </p:nvSpPr>
        <p:spPr>
          <a:xfrm rot="21409801">
            <a:off x="7019744" y="4039656"/>
            <a:ext cx="1223010" cy="2903220"/>
          </a:xfrm>
          <a:custGeom>
            <a:avLst/>
            <a:gdLst>
              <a:gd name="connsiteX0" fmla="*/ 815340 w 815340"/>
              <a:gd name="connsiteY0" fmla="*/ 1935480 h 1935480"/>
              <a:gd name="connsiteX1" fmla="*/ 670560 w 815340"/>
              <a:gd name="connsiteY1" fmla="*/ 982980 h 1935480"/>
              <a:gd name="connsiteX2" fmla="*/ 0 w 815340"/>
              <a:gd name="connsiteY2" fmla="*/ 0 h 19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5340" h="1935480">
                <a:moveTo>
                  <a:pt x="815340" y="1935480"/>
                </a:moveTo>
                <a:cubicBezTo>
                  <a:pt x="810895" y="1620520"/>
                  <a:pt x="806450" y="1305560"/>
                  <a:pt x="670560" y="982980"/>
                </a:cubicBezTo>
                <a:cubicBezTo>
                  <a:pt x="534670" y="660400"/>
                  <a:pt x="267335" y="330200"/>
                  <a:pt x="0" y="0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文字方塊 9"/>
          <p:cNvSpPr txBox="1"/>
          <p:nvPr/>
        </p:nvSpPr>
        <p:spPr>
          <a:xfrm>
            <a:off x="9189006" y="2664024"/>
            <a:ext cx="5547719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The error surface is either very flat or very steep.</a:t>
            </a:r>
            <a:endParaRPr lang="zh-TW" altLang="en-US" sz="3600" dirty="0"/>
          </a:p>
        </p:txBody>
      </p:sp>
      <p:sp>
        <p:nvSpPr>
          <p:cNvPr id="16" name="橢圓 15"/>
          <p:cNvSpPr/>
          <p:nvPr/>
        </p:nvSpPr>
        <p:spPr>
          <a:xfrm>
            <a:off x="10133207" y="6969327"/>
            <a:ext cx="220665" cy="21590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橢圓 16"/>
          <p:cNvSpPr/>
          <p:nvPr/>
        </p:nvSpPr>
        <p:spPr>
          <a:xfrm>
            <a:off x="9418832" y="7226798"/>
            <a:ext cx="220665" cy="21590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8618891" y="7452813"/>
            <a:ext cx="220665" cy="21590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文字方塊 10"/>
          <p:cNvSpPr txBox="1"/>
          <p:nvPr/>
        </p:nvSpPr>
        <p:spPr>
          <a:xfrm>
            <a:off x="8743752" y="5566559"/>
            <a:ext cx="1838592" cy="5539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schemeClr val="tx1"/>
                </a:solidFill>
              </a:rPr>
              <a:t>Clipping </a:t>
            </a:r>
            <a:endParaRPr lang="zh-TW" altLang="en-US" sz="30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788104" y="9188496"/>
            <a:ext cx="1254760" cy="1066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100" dirty="0">
                <a:solidFill>
                  <a:srgbClr val="0000FF"/>
                </a:solidFill>
              </a:rPr>
              <a:t>[Razvan Pascanu, ICML’13]</a:t>
            </a:r>
            <a:endParaRPr lang="zh-TW" altLang="en-US" sz="100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 rot="5400000" flipH="1">
            <a:off x="12719084" y="6156932"/>
            <a:ext cx="2802623" cy="646331"/>
          </a:xfrm>
          <a:prstGeom prst="rect">
            <a:avLst/>
          </a:prstGeom>
          <a:solidFill>
            <a:srgbClr val="FCFCFC"/>
          </a:solidFill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Total Loss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3" grpId="0" bldLvl="0" animBg="1"/>
      <p:bldP spid="13" grpId="0" bldLvl="0" animBg="1"/>
      <p:bldP spid="15" grpId="0" bldLvl="0" animBg="1"/>
      <p:bldP spid="12" grpId="0" bldLvl="0" animBg="1"/>
      <p:bldP spid="12" grpId="1" bldLvl="0" animBg="1"/>
      <p:bldP spid="5" grpId="0" bldLvl="0" animBg="1"/>
      <p:bldP spid="5" grpId="1" bldLvl="0" animBg="1"/>
      <p:bldP spid="10" grpId="0" bldLvl="0" animBg="1"/>
      <p:bldP spid="16" grpId="0" bldLvl="0" animBg="1"/>
      <p:bldP spid="17" grpId="0" bldLvl="0" animBg="1"/>
      <p:bldP spid="18" grpId="0" bldLvl="0" animBg="1"/>
      <p:bldP spid="11" grpId="0" bldLvl="0" animBg="1"/>
      <p:bldP spid="2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2912483" y="3715418"/>
            <a:ext cx="6836124" cy="13101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矩形 13"/>
          <p:cNvSpPr/>
          <p:nvPr/>
        </p:nvSpPr>
        <p:spPr>
          <a:xfrm>
            <a:off x="2889300" y="2221340"/>
            <a:ext cx="6859305" cy="13101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Why? 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6038895" y="7483472"/>
            <a:ext cx="942975" cy="94297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6285750" y="9208965"/>
            <a:ext cx="585788" cy="6042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6460376" y="8482029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6205982" y="5926783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cxnSp>
        <p:nvCxnSpPr>
          <p:cNvPr id="28" name="直線單箭頭接點 27"/>
          <p:cNvCxnSpPr/>
          <p:nvPr/>
        </p:nvCxnSpPr>
        <p:spPr>
          <a:xfrm rot="16200000">
            <a:off x="6153405" y="8791263"/>
            <a:ext cx="81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6526868" y="6597930"/>
            <a:ext cx="0" cy="81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8401887" y="7483472"/>
            <a:ext cx="942975" cy="94297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5" name="矩形 34"/>
          <p:cNvSpPr/>
          <p:nvPr/>
        </p:nvSpPr>
        <p:spPr>
          <a:xfrm>
            <a:off x="8648742" y="9208965"/>
            <a:ext cx="585788" cy="6042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8823368" y="8482029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7405337" y="7860947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endParaRPr lang="zh-TW" altLang="en-US" sz="3600" baseline="-250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8568974" y="5926783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cxnSp>
        <p:nvCxnSpPr>
          <p:cNvPr id="39" name="直線單箭頭接點 38"/>
          <p:cNvCxnSpPr/>
          <p:nvPr/>
        </p:nvCxnSpPr>
        <p:spPr>
          <a:xfrm>
            <a:off x="7131888" y="7980359"/>
            <a:ext cx="12446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rot="16200000">
            <a:off x="8516397" y="8791263"/>
            <a:ext cx="81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V="1">
            <a:off x="8889860" y="6597930"/>
            <a:ext cx="0" cy="81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橢圓 42"/>
          <p:cNvSpPr/>
          <p:nvPr/>
        </p:nvSpPr>
        <p:spPr>
          <a:xfrm>
            <a:off x="10713276" y="7457391"/>
            <a:ext cx="942975" cy="94297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4" name="矩形 43"/>
          <p:cNvSpPr/>
          <p:nvPr/>
        </p:nvSpPr>
        <p:spPr>
          <a:xfrm>
            <a:off x="10960131" y="9182885"/>
            <a:ext cx="585788" cy="6042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1134757" y="8455949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9716726" y="7834866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endParaRPr lang="zh-TW" altLang="en-US" sz="3600" baseline="-250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10880362" y="5900703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cxnSp>
        <p:nvCxnSpPr>
          <p:cNvPr id="48" name="直線單箭頭接點 47"/>
          <p:cNvCxnSpPr/>
          <p:nvPr/>
        </p:nvCxnSpPr>
        <p:spPr>
          <a:xfrm>
            <a:off x="9443277" y="7954278"/>
            <a:ext cx="12446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rot="16200000">
            <a:off x="10827786" y="8765183"/>
            <a:ext cx="81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11201249" y="6571850"/>
            <a:ext cx="0" cy="81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/>
          <p:cNvSpPr/>
          <p:nvPr/>
        </p:nvSpPr>
        <p:spPr>
          <a:xfrm>
            <a:off x="13863669" y="7457391"/>
            <a:ext cx="942975" cy="94297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3" name="矩形 52"/>
          <p:cNvSpPr/>
          <p:nvPr/>
        </p:nvSpPr>
        <p:spPr>
          <a:xfrm>
            <a:off x="14110524" y="9182885"/>
            <a:ext cx="585788" cy="6042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14285150" y="8455949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2867119" y="7834866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</a:t>
            </a:r>
            <a:endParaRPr lang="zh-TW" altLang="en-US" sz="3600" baseline="-250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13905440" y="5900703"/>
            <a:ext cx="14968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y</a:t>
            </a:r>
            <a:r>
              <a:rPr lang="en-US" altLang="zh-TW" sz="3600" baseline="30000" dirty="0"/>
              <a:t>1000</a:t>
            </a:r>
            <a:endParaRPr lang="zh-TW" altLang="en-US" sz="3600" baseline="30000" dirty="0"/>
          </a:p>
        </p:txBody>
      </p:sp>
      <p:cxnSp>
        <p:nvCxnSpPr>
          <p:cNvPr id="57" name="直線單箭頭接點 56"/>
          <p:cNvCxnSpPr/>
          <p:nvPr/>
        </p:nvCxnSpPr>
        <p:spPr>
          <a:xfrm>
            <a:off x="12593670" y="7954278"/>
            <a:ext cx="12446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 rot="16200000">
            <a:off x="13978179" y="8765183"/>
            <a:ext cx="81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V="1">
            <a:off x="14351642" y="6571850"/>
            <a:ext cx="0" cy="81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11520519" y="7457391"/>
            <a:ext cx="12434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……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/>
              <p:cNvSpPr txBox="1"/>
              <p:nvPr/>
            </p:nvSpPr>
            <p:spPr>
              <a:xfrm>
                <a:off x="3191361" y="2210636"/>
                <a:ext cx="12503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361" y="2210636"/>
                <a:ext cx="1250315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39" t="-36" r="-5599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/>
              <p:cNvSpPr txBox="1"/>
              <p:nvPr/>
            </p:nvSpPr>
            <p:spPr>
              <a:xfrm>
                <a:off x="3194057" y="2925768"/>
                <a:ext cx="18522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=1.01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9" name="文字方塊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057" y="2925768"/>
                <a:ext cx="1852295" cy="553720"/>
              </a:xfrm>
              <a:prstGeom prst="rect">
                <a:avLst/>
              </a:prstGeom>
              <a:blipFill rotWithShape="1">
                <a:blip r:embed="rId4"/>
                <a:stretch>
                  <a:fillRect t="-58" r="-3771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向右箭號 9"/>
          <p:cNvSpPr/>
          <p:nvPr/>
        </p:nvSpPr>
        <p:spPr>
          <a:xfrm>
            <a:off x="5451125" y="2351319"/>
            <a:ext cx="789363" cy="3301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0" name="向右箭號 69"/>
          <p:cNvSpPr/>
          <p:nvPr/>
        </p:nvSpPr>
        <p:spPr>
          <a:xfrm>
            <a:off x="5459013" y="3083513"/>
            <a:ext cx="789363" cy="3301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6724253" y="2203916"/>
                <a:ext cx="1957070" cy="537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253" y="2203916"/>
                <a:ext cx="1957070" cy="537210"/>
              </a:xfrm>
              <a:prstGeom prst="rect">
                <a:avLst/>
              </a:prstGeom>
              <a:blipFill rotWithShape="1">
                <a:blip r:embed="rId5"/>
                <a:stretch>
                  <a:fillRect l="-12" t="-87" r="-3395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接點 11"/>
          <p:cNvCxnSpPr/>
          <p:nvPr/>
        </p:nvCxnSpPr>
        <p:spPr>
          <a:xfrm flipH="1">
            <a:off x="6219795" y="7662611"/>
            <a:ext cx="586970" cy="58697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 flipH="1">
            <a:off x="8616201" y="7677183"/>
            <a:ext cx="586970" cy="58697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 flipH="1">
            <a:off x="10890128" y="7608125"/>
            <a:ext cx="586970" cy="58697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H="1">
            <a:off x="14089694" y="7621215"/>
            <a:ext cx="586970" cy="58697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6707291" y="2895732"/>
                <a:ext cx="2968625" cy="537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3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291" y="2895732"/>
                <a:ext cx="2968625" cy="537210"/>
              </a:xfrm>
              <a:prstGeom prst="rect">
                <a:avLst/>
              </a:prstGeom>
              <a:blipFill rotWithShape="1">
                <a:blip r:embed="rId6"/>
                <a:stretch>
                  <a:fillRect l="-14" t="-25" r="-2189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3217241" y="3723168"/>
                <a:ext cx="18522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=0.99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241" y="3723168"/>
                <a:ext cx="185229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" t="-29" r="-3753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3245816" y="4466876"/>
                <a:ext cx="18522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816" y="4466876"/>
                <a:ext cx="1852295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18" t="-52" r="-3753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向右箭號 77"/>
          <p:cNvSpPr/>
          <p:nvPr/>
        </p:nvSpPr>
        <p:spPr>
          <a:xfrm>
            <a:off x="5502884" y="3863852"/>
            <a:ext cx="789363" cy="3301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9" name="向右箭號 78"/>
          <p:cNvSpPr/>
          <p:nvPr/>
        </p:nvSpPr>
        <p:spPr>
          <a:xfrm>
            <a:off x="5510772" y="4624620"/>
            <a:ext cx="789363" cy="3301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/>
              <p:cNvSpPr txBox="1"/>
              <p:nvPr/>
            </p:nvSpPr>
            <p:spPr>
              <a:xfrm>
                <a:off x="6708032" y="3687161"/>
                <a:ext cx="1951990" cy="537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0" name="文字方塊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032" y="3687161"/>
                <a:ext cx="1951990" cy="537210"/>
              </a:xfrm>
              <a:prstGeom prst="rect">
                <a:avLst/>
              </a:prstGeom>
              <a:blipFill rotWithShape="1">
                <a:blip r:embed="rId9"/>
                <a:stretch>
                  <a:fillRect l="-27" t="-65" r="-3389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/>
              <p:cNvSpPr txBox="1"/>
              <p:nvPr/>
            </p:nvSpPr>
            <p:spPr>
              <a:xfrm>
                <a:off x="6707291" y="4488599"/>
                <a:ext cx="1951990" cy="537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1" name="文字方塊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291" y="4488599"/>
                <a:ext cx="1951990" cy="537210"/>
              </a:xfrm>
              <a:prstGeom prst="rect">
                <a:avLst/>
              </a:prstGeom>
              <a:blipFill rotWithShape="1">
                <a:blip r:embed="rId9"/>
                <a:stretch>
                  <a:fillRect l="-22" t="-78" r="-3394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字方塊 59"/>
          <p:cNvSpPr txBox="1"/>
          <p:nvPr/>
        </p:nvSpPr>
        <p:spPr>
          <a:xfrm>
            <a:off x="6405878" y="6776705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8768870" y="6776705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11080258" y="6750624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4230652" y="6750624"/>
            <a:ext cx="771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9985059" y="2221590"/>
                <a:ext cx="2393200" cy="119888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Large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059" y="2221590"/>
                <a:ext cx="2393200" cy="1198880"/>
              </a:xfrm>
              <a:prstGeom prst="rect">
                <a:avLst/>
              </a:prstGeom>
              <a:blipFill>
                <a:blip r:embed="rId10"/>
                <a:stretch>
                  <a:fillRect t="-7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文字方塊 83"/>
          <p:cNvSpPr txBox="1"/>
          <p:nvPr/>
        </p:nvSpPr>
        <p:spPr>
          <a:xfrm>
            <a:off x="12767632" y="2223312"/>
            <a:ext cx="3191837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Small Learning rate?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9995806" y="3810531"/>
                <a:ext cx="2393200" cy="119888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small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zh-TW" alt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806" y="3810531"/>
                <a:ext cx="2393200" cy="1198880"/>
              </a:xfrm>
              <a:prstGeom prst="rect">
                <a:avLst/>
              </a:prstGeom>
              <a:blipFill>
                <a:blip r:embed="rId11"/>
                <a:stretch>
                  <a:fillRect t="-7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/>
          <p:cNvSpPr txBox="1"/>
          <p:nvPr/>
        </p:nvSpPr>
        <p:spPr>
          <a:xfrm>
            <a:off x="12767632" y="3830234"/>
            <a:ext cx="3191837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Large Learning rate?</a:t>
            </a:r>
            <a:endParaRPr lang="zh-TW" altLang="en-US" sz="3600" dirty="0"/>
          </a:p>
        </p:txBody>
      </p:sp>
      <p:sp>
        <p:nvSpPr>
          <p:cNvPr id="16" name="向右箭號 15"/>
          <p:cNvSpPr/>
          <p:nvPr/>
        </p:nvSpPr>
        <p:spPr>
          <a:xfrm>
            <a:off x="12127316" y="2583738"/>
            <a:ext cx="716445" cy="59944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7" name="向右箭號 86"/>
          <p:cNvSpPr/>
          <p:nvPr/>
        </p:nvSpPr>
        <p:spPr>
          <a:xfrm>
            <a:off x="12058133" y="4154103"/>
            <a:ext cx="716445" cy="59944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矩形 2"/>
          <p:cNvSpPr/>
          <p:nvPr/>
        </p:nvSpPr>
        <p:spPr>
          <a:xfrm>
            <a:off x="2864363" y="6273031"/>
            <a:ext cx="345186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Toy Example</a:t>
            </a:r>
            <a:endParaRPr lang="zh-TW" altLang="en-US" sz="4200" b="1" i="1" u="sng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3922510" y="5248422"/>
            <a:ext cx="14968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=w</a:t>
            </a:r>
            <a:r>
              <a:rPr lang="en-US" altLang="zh-TW" sz="3600" baseline="30000" dirty="0">
                <a:solidFill>
                  <a:srgbClr val="0000FF"/>
                </a:solidFill>
              </a:rPr>
              <a:t>999</a:t>
            </a:r>
            <a:endParaRPr lang="zh-TW" altLang="en-US" sz="3600" baseline="30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bldLvl="0" animBg="1"/>
      <p:bldP spid="14" grpId="0" bldLvl="0" animBg="1"/>
      <p:bldP spid="68" grpId="0"/>
      <p:bldP spid="69" grpId="0"/>
      <p:bldP spid="10" grpId="0" bldLvl="0" animBg="1"/>
      <p:bldP spid="70" grpId="0" bldLvl="0" animBg="1"/>
      <p:bldP spid="71" grpId="0"/>
      <p:bldP spid="75" grpId="0"/>
      <p:bldP spid="76" grpId="0"/>
      <p:bldP spid="77" grpId="0"/>
      <p:bldP spid="78" grpId="0" bldLvl="0" animBg="1"/>
      <p:bldP spid="79" grpId="0" bldLvl="0" animBg="1"/>
      <p:bldP spid="80" grpId="0"/>
      <p:bldP spid="81" grpId="0"/>
      <p:bldP spid="15" grpId="0" bldLvl="0" animBg="1"/>
      <p:bldP spid="84" grpId="0" bldLvl="0" animBg="1"/>
      <p:bldP spid="85" grpId="0" bldLvl="0" animBg="1"/>
      <p:bldP spid="86" grpId="0" bldLvl="0" animBg="1"/>
      <p:bldP spid="16" grpId="0" bldLvl="0" animBg="1"/>
      <p:bldP spid="87" grpId="0" bldLvl="0" animBg="1"/>
      <p:bldP spid="6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/>
</ds:datastoreItem>
</file>

<file path=customXml/itemProps2.xml><?xml version="1.0" encoding="utf-8"?>
<ds:datastoreItem xmlns:ds="http://schemas.openxmlformats.org/officeDocument/2006/customXml" ds:itemID="{BFA838ED-C12F-4A42-8E88-98BAC73D2147}">
  <ds:schemaRefs/>
</ds:datastoreItem>
</file>

<file path=customXml/itemProps3.xml><?xml version="1.0" encoding="utf-8"?>
<ds:datastoreItem xmlns:ds="http://schemas.openxmlformats.org/officeDocument/2006/customXml" ds:itemID="{9636FAAA-BCD0-4737-B7BF-714C4CFDEB5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191</Words>
  <Application>Microsoft Macintosh PowerPoint</Application>
  <PresentationFormat>Custom</PresentationFormat>
  <Paragraphs>103</Paragraphs>
  <Slides>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等线</vt:lpstr>
      <vt:lpstr>Arial</vt:lpstr>
      <vt:lpstr>Cambria Math</vt:lpstr>
      <vt:lpstr>Wingdings 2</vt:lpstr>
      <vt:lpstr>Breeze</vt:lpstr>
      <vt:lpstr>方程式</vt:lpstr>
      <vt:lpstr> Learning on RNN</vt:lpstr>
      <vt:lpstr>PowerPoint Presentation</vt:lpstr>
      <vt:lpstr>Learning</vt:lpstr>
      <vt:lpstr>Unfortunately …… </vt:lpstr>
      <vt:lpstr>The error surface is rough.</vt:lpstr>
      <vt:lpstr>Why? 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23</cp:revision>
  <dcterms:created xsi:type="dcterms:W3CDTF">2019-02-13T16:04:00Z</dcterms:created>
  <dcterms:modified xsi:type="dcterms:W3CDTF">2024-04-01T20:26:13Z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