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2"/>
  </p:notesMasterIdLst>
  <p:sldIdLst>
    <p:sldId id="266" r:id="rId5"/>
    <p:sldId id="281" r:id="rId6"/>
    <p:sldId id="282" r:id="rId7"/>
    <p:sldId id="283" r:id="rId8"/>
    <p:sldId id="284" r:id="rId9"/>
    <p:sldId id="285" r:id="rId10"/>
    <p:sldId id="286" r:id="rId11"/>
  </p:sldIdLst>
  <p:sldSz cx="18288000" cy="10287000"/>
  <p:notesSz cx="6858000" cy="9144000"/>
  <p:custDataLst>
    <p:tags r:id="rId13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1" userDrawn="1">
          <p15:clr>
            <a:srgbClr val="A4A3A4"/>
          </p15:clr>
        </p15:guide>
        <p15:guide id="2" pos="57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D6C0EC-BE16-4A32-92EB-EABB78F5B772}" v="47" dt="2024-03-18T00:05:41.3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68"/>
    <p:restoredTop sz="93750"/>
  </p:normalViewPr>
  <p:slideViewPr>
    <p:cSldViewPr snapToGrid="0" snapToObjects="1" showGuides="1">
      <p:cViewPr varScale="1">
        <p:scale>
          <a:sx n="70" d="100"/>
          <a:sy n="70" d="100"/>
        </p:scale>
        <p:origin x="848" y="208"/>
      </p:cViewPr>
      <p:guideLst>
        <p:guide orient="horz" pos="3241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ang Wen" userId="a219f04c-ae7d-4ada-9001-a33e528312f1" providerId="ADAL" clId="{F9D6C0EC-BE16-4A32-92EB-EABB78F5B772}"/>
    <pc:docChg chg="undo custSel modSld">
      <pc:chgData name="Kaiang Wen" userId="a219f04c-ae7d-4ada-9001-a33e528312f1" providerId="ADAL" clId="{F9D6C0EC-BE16-4A32-92EB-EABB78F5B772}" dt="2024-03-18T00:05:58.271" v="116" actId="1076"/>
      <pc:docMkLst>
        <pc:docMk/>
      </pc:docMkLst>
      <pc:sldChg chg="modSp mod modAnim">
        <pc:chgData name="Kaiang Wen" userId="a219f04c-ae7d-4ada-9001-a33e528312f1" providerId="ADAL" clId="{F9D6C0EC-BE16-4A32-92EB-EABB78F5B772}" dt="2024-03-18T00:01:23.025" v="9"/>
        <pc:sldMkLst>
          <pc:docMk/>
          <pc:sldMk cId="0" sldId="281"/>
        </pc:sldMkLst>
        <pc:spChg chg="mod">
          <ac:chgData name="Kaiang Wen" userId="a219f04c-ae7d-4ada-9001-a33e528312f1" providerId="ADAL" clId="{F9D6C0EC-BE16-4A32-92EB-EABB78F5B772}" dt="2024-03-18T00:00:51.076" v="2" actId="1076"/>
          <ac:spMkLst>
            <pc:docMk/>
            <pc:sldMk cId="0" sldId="281"/>
            <ac:spMk id="5" creationId="{00000000-0000-0000-0000-000000000000}"/>
          </ac:spMkLst>
        </pc:spChg>
        <pc:spChg chg="mod">
          <ac:chgData name="Kaiang Wen" userId="a219f04c-ae7d-4ada-9001-a33e528312f1" providerId="ADAL" clId="{F9D6C0EC-BE16-4A32-92EB-EABB78F5B772}" dt="2024-03-18T00:00:40.782" v="0" actId="207"/>
          <ac:spMkLst>
            <pc:docMk/>
            <pc:sldMk cId="0" sldId="281"/>
            <ac:spMk id="8" creationId="{00000000-0000-0000-0000-000000000000}"/>
          </ac:spMkLst>
        </pc:spChg>
      </pc:sldChg>
      <pc:sldChg chg="modSp mod">
        <pc:chgData name="Kaiang Wen" userId="a219f04c-ae7d-4ada-9001-a33e528312f1" providerId="ADAL" clId="{F9D6C0EC-BE16-4A32-92EB-EABB78F5B772}" dt="2024-03-18T00:04:45.735" v="111" actId="20577"/>
        <pc:sldMkLst>
          <pc:docMk/>
          <pc:sldMk cId="0" sldId="283"/>
        </pc:sldMkLst>
        <pc:spChg chg="mod">
          <ac:chgData name="Kaiang Wen" userId="a219f04c-ae7d-4ada-9001-a33e528312f1" providerId="ADAL" clId="{F9D6C0EC-BE16-4A32-92EB-EABB78F5B772}" dt="2024-03-18T00:03:28.439" v="72" actId="404"/>
          <ac:spMkLst>
            <pc:docMk/>
            <pc:sldMk cId="0" sldId="283"/>
            <ac:spMk id="3" creationId="{00000000-0000-0000-0000-000000000000}"/>
          </ac:spMkLst>
        </pc:spChg>
        <pc:spChg chg="mod">
          <ac:chgData name="Kaiang Wen" userId="a219f04c-ae7d-4ada-9001-a33e528312f1" providerId="ADAL" clId="{F9D6C0EC-BE16-4A32-92EB-EABB78F5B772}" dt="2024-03-18T00:03:28.439" v="72" actId="404"/>
          <ac:spMkLst>
            <pc:docMk/>
            <pc:sldMk cId="0" sldId="283"/>
            <ac:spMk id="4" creationId="{00000000-0000-0000-0000-000000000000}"/>
          </ac:spMkLst>
        </pc:spChg>
        <pc:spChg chg="mod">
          <ac:chgData name="Kaiang Wen" userId="a219f04c-ae7d-4ada-9001-a33e528312f1" providerId="ADAL" clId="{F9D6C0EC-BE16-4A32-92EB-EABB78F5B772}" dt="2024-03-18T00:03:28.439" v="72" actId="404"/>
          <ac:spMkLst>
            <pc:docMk/>
            <pc:sldMk cId="0" sldId="283"/>
            <ac:spMk id="10" creationId="{00000000-0000-0000-0000-000000000000}"/>
          </ac:spMkLst>
        </pc:spChg>
        <pc:spChg chg="mod">
          <ac:chgData name="Kaiang Wen" userId="a219f04c-ae7d-4ada-9001-a33e528312f1" providerId="ADAL" clId="{F9D6C0EC-BE16-4A32-92EB-EABB78F5B772}" dt="2024-03-18T00:03:28.439" v="72" actId="404"/>
          <ac:spMkLst>
            <pc:docMk/>
            <pc:sldMk cId="0" sldId="283"/>
            <ac:spMk id="11" creationId="{00000000-0000-0000-0000-000000000000}"/>
          </ac:spMkLst>
        </pc:spChg>
        <pc:spChg chg="mod">
          <ac:chgData name="Kaiang Wen" userId="a219f04c-ae7d-4ada-9001-a33e528312f1" providerId="ADAL" clId="{F9D6C0EC-BE16-4A32-92EB-EABB78F5B772}" dt="2024-03-18T00:03:28.439" v="72" actId="404"/>
          <ac:spMkLst>
            <pc:docMk/>
            <pc:sldMk cId="0" sldId="283"/>
            <ac:spMk id="14" creationId="{00000000-0000-0000-0000-000000000000}"/>
          </ac:spMkLst>
        </pc:spChg>
        <pc:spChg chg="mod">
          <ac:chgData name="Kaiang Wen" userId="a219f04c-ae7d-4ada-9001-a33e528312f1" providerId="ADAL" clId="{F9D6C0EC-BE16-4A32-92EB-EABB78F5B772}" dt="2024-03-18T00:04:42.367" v="107" actId="20577"/>
          <ac:spMkLst>
            <pc:docMk/>
            <pc:sldMk cId="0" sldId="283"/>
            <ac:spMk id="24" creationId="{00000000-0000-0000-0000-000000000000}"/>
          </ac:spMkLst>
        </pc:spChg>
        <pc:spChg chg="mod">
          <ac:chgData name="Kaiang Wen" userId="a219f04c-ae7d-4ada-9001-a33e528312f1" providerId="ADAL" clId="{F9D6C0EC-BE16-4A32-92EB-EABB78F5B772}" dt="2024-03-18T00:04:43.310" v="108" actId="20577"/>
          <ac:spMkLst>
            <pc:docMk/>
            <pc:sldMk cId="0" sldId="283"/>
            <ac:spMk id="25" creationId="{00000000-0000-0000-0000-000000000000}"/>
          </ac:spMkLst>
        </pc:spChg>
        <pc:spChg chg="mod">
          <ac:chgData name="Kaiang Wen" userId="a219f04c-ae7d-4ada-9001-a33e528312f1" providerId="ADAL" clId="{F9D6C0EC-BE16-4A32-92EB-EABB78F5B772}" dt="2024-03-18T00:04:44.129" v="109" actId="20577"/>
          <ac:spMkLst>
            <pc:docMk/>
            <pc:sldMk cId="0" sldId="283"/>
            <ac:spMk id="26" creationId="{00000000-0000-0000-0000-000000000000}"/>
          </ac:spMkLst>
        </pc:spChg>
        <pc:spChg chg="mod">
          <ac:chgData name="Kaiang Wen" userId="a219f04c-ae7d-4ada-9001-a33e528312f1" providerId="ADAL" clId="{F9D6C0EC-BE16-4A32-92EB-EABB78F5B772}" dt="2024-03-18T00:04:44.964" v="110" actId="20577"/>
          <ac:spMkLst>
            <pc:docMk/>
            <pc:sldMk cId="0" sldId="283"/>
            <ac:spMk id="27" creationId="{00000000-0000-0000-0000-000000000000}"/>
          </ac:spMkLst>
        </pc:spChg>
        <pc:spChg chg="mod">
          <ac:chgData name="Kaiang Wen" userId="a219f04c-ae7d-4ada-9001-a33e528312f1" providerId="ADAL" clId="{F9D6C0EC-BE16-4A32-92EB-EABB78F5B772}" dt="2024-03-18T00:04:45.735" v="111" actId="20577"/>
          <ac:spMkLst>
            <pc:docMk/>
            <pc:sldMk cId="0" sldId="283"/>
            <ac:spMk id="28" creationId="{00000000-0000-0000-0000-000000000000}"/>
          </ac:spMkLst>
        </pc:spChg>
        <pc:spChg chg="mod">
          <ac:chgData name="Kaiang Wen" userId="a219f04c-ae7d-4ada-9001-a33e528312f1" providerId="ADAL" clId="{F9D6C0EC-BE16-4A32-92EB-EABB78F5B772}" dt="2024-03-18T00:03:28.439" v="72" actId="404"/>
          <ac:spMkLst>
            <pc:docMk/>
            <pc:sldMk cId="0" sldId="283"/>
            <ac:spMk id="29" creationId="{00000000-0000-0000-0000-000000000000}"/>
          </ac:spMkLst>
        </pc:spChg>
      </pc:sldChg>
      <pc:sldChg chg="modSp mod">
        <pc:chgData name="Kaiang Wen" userId="a219f04c-ae7d-4ada-9001-a33e528312f1" providerId="ADAL" clId="{F9D6C0EC-BE16-4A32-92EB-EABB78F5B772}" dt="2024-03-18T00:05:58.271" v="116" actId="1076"/>
        <pc:sldMkLst>
          <pc:docMk/>
          <pc:sldMk cId="0" sldId="286"/>
        </pc:sldMkLst>
        <pc:spChg chg="mod">
          <ac:chgData name="Kaiang Wen" userId="a219f04c-ae7d-4ada-9001-a33e528312f1" providerId="ADAL" clId="{F9D6C0EC-BE16-4A32-92EB-EABB78F5B772}" dt="2024-03-18T00:05:37.538" v="113" actId="1076"/>
          <ac:spMkLst>
            <pc:docMk/>
            <pc:sldMk cId="0" sldId="286"/>
            <ac:spMk id="54" creationId="{00000000-0000-0000-0000-000000000000}"/>
          </ac:spMkLst>
        </pc:spChg>
        <pc:spChg chg="mod">
          <ac:chgData name="Kaiang Wen" userId="a219f04c-ae7d-4ada-9001-a33e528312f1" providerId="ADAL" clId="{F9D6C0EC-BE16-4A32-92EB-EABB78F5B772}" dt="2024-03-18T00:05:48.874" v="115" actId="1076"/>
          <ac:spMkLst>
            <pc:docMk/>
            <pc:sldMk cId="0" sldId="286"/>
            <ac:spMk id="66" creationId="{00000000-0000-0000-0000-000000000000}"/>
          </ac:spMkLst>
        </pc:spChg>
        <pc:spChg chg="mod">
          <ac:chgData name="Kaiang Wen" userId="a219f04c-ae7d-4ada-9001-a33e528312f1" providerId="ADAL" clId="{F9D6C0EC-BE16-4A32-92EB-EABB78F5B772}" dt="2024-03-18T00:05:58.271" v="116" actId="1076"/>
          <ac:spMkLst>
            <pc:docMk/>
            <pc:sldMk cId="0" sldId="286"/>
            <ac:spMk id="8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B3EA9-8A8A-4E6A-8D24-8CF68123622F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2F45B-314B-45C8-B772-D24407714C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83D9E2-21C9-4F43-833B-72DB5414AF97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525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0322" y="1778000"/>
            <a:ext cx="15667355" cy="25876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6600" dirty="0"/>
            </a:br>
            <a:r>
              <a:rPr lang="en-US" sz="6600" dirty="0"/>
              <a:t>Recurrent Neural Network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54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Application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Slot Filling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5048927" y="4072160"/>
            <a:ext cx="97644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/>
              <a:t>I would like to arrive </a:t>
            </a:r>
            <a:r>
              <a:rPr lang="en-US" altLang="zh-TW" sz="3200" dirty="0">
                <a:solidFill>
                  <a:srgbClr val="FF0000"/>
                </a:solidFill>
              </a:rPr>
              <a:t>Taipei </a:t>
            </a:r>
            <a:r>
              <a:rPr lang="en-US" altLang="zh-TW" sz="3200" dirty="0"/>
              <a:t>on </a:t>
            </a:r>
            <a:r>
              <a:rPr lang="en-US" altLang="zh-TW" sz="3200" dirty="0">
                <a:solidFill>
                  <a:srgbClr val="0000FF"/>
                </a:solidFill>
              </a:rPr>
              <a:t>November 2</a:t>
            </a:r>
            <a:r>
              <a:rPr lang="en-US" altLang="zh-TW" sz="3200" baseline="30000" dirty="0">
                <a:solidFill>
                  <a:srgbClr val="0000FF"/>
                </a:solidFill>
              </a:rPr>
              <a:t>nd</a:t>
            </a:r>
            <a:r>
              <a:rPr lang="en-US" altLang="zh-TW" sz="3200" dirty="0">
                <a:solidFill>
                  <a:srgbClr val="CC0099"/>
                </a:solidFill>
              </a:rPr>
              <a:t>.</a:t>
            </a:r>
            <a:r>
              <a:rPr lang="en-US" altLang="zh-TW" sz="3200" dirty="0"/>
              <a:t> </a:t>
            </a:r>
            <a:endParaRPr lang="en-US" altLang="zh-TW" sz="3200" dirty="0">
              <a:solidFill>
                <a:srgbClr val="FFC000"/>
              </a:solidFill>
            </a:endParaRPr>
          </a:p>
        </p:txBody>
      </p:sp>
      <p:pic>
        <p:nvPicPr>
          <p:cNvPr id="7" name="Picture 8" descr="User Symbol Blue Clip Ar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980" y="4859339"/>
            <a:ext cx="745671" cy="114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圓角矩形圖說文字 5"/>
          <p:cNvSpPr/>
          <p:nvPr/>
        </p:nvSpPr>
        <p:spPr>
          <a:xfrm>
            <a:off x="5757182" y="4019283"/>
            <a:ext cx="8839200" cy="767790"/>
          </a:xfrm>
          <a:prstGeom prst="wedgeRoundRectCallout">
            <a:avLst>
              <a:gd name="adj1" fmla="val -50882"/>
              <a:gd name="adj2" fmla="val 105034"/>
              <a:gd name="adj3" fmla="val 16667"/>
            </a:avLst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矩形 7"/>
          <p:cNvSpPr/>
          <p:nvPr/>
        </p:nvSpPr>
        <p:spPr>
          <a:xfrm>
            <a:off x="7991469" y="5935691"/>
            <a:ext cx="4713515" cy="91368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tx1"/>
                </a:solidFill>
              </a:rPr>
              <a:t>ticket booking system</a:t>
            </a:r>
            <a:endParaRPr lang="zh-TW" altLang="en-US" sz="3600" dirty="0">
              <a:solidFill>
                <a:schemeClr val="tx1"/>
              </a:solidFill>
            </a:endParaRPr>
          </a:p>
        </p:txBody>
      </p:sp>
      <p:sp>
        <p:nvSpPr>
          <p:cNvPr id="10" name="向下箭號 9"/>
          <p:cNvSpPr/>
          <p:nvPr/>
        </p:nvSpPr>
        <p:spPr>
          <a:xfrm>
            <a:off x="9931170" y="5086335"/>
            <a:ext cx="834119" cy="74295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向下箭號 11"/>
          <p:cNvSpPr/>
          <p:nvPr/>
        </p:nvSpPr>
        <p:spPr>
          <a:xfrm>
            <a:off x="9931170" y="7051775"/>
            <a:ext cx="834119" cy="74295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文字方塊 10"/>
          <p:cNvSpPr txBox="1"/>
          <p:nvPr/>
        </p:nvSpPr>
        <p:spPr>
          <a:xfrm>
            <a:off x="7351256" y="7997129"/>
            <a:ext cx="29969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Destination:</a:t>
            </a:r>
            <a:endParaRPr lang="zh-TW" altLang="en-US" sz="36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7351256" y="8775351"/>
            <a:ext cx="29969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time of arrival:</a:t>
            </a:r>
            <a:endParaRPr lang="zh-TW" altLang="en-US" sz="36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10771409" y="7997129"/>
            <a:ext cx="159204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Taipei</a:t>
            </a:r>
            <a:endParaRPr lang="zh-TW" altLang="en-US" sz="36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10788904" y="8775351"/>
            <a:ext cx="473684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November 2</a:t>
            </a:r>
            <a:r>
              <a:rPr lang="en-US" altLang="zh-TW" sz="3600" baseline="30000" dirty="0"/>
              <a:t>nd</a:t>
            </a:r>
            <a:r>
              <a:rPr lang="en-US" altLang="zh-TW" sz="3600" dirty="0"/>
              <a:t> </a:t>
            </a:r>
            <a:endParaRPr lang="zh-TW" altLang="en-US" sz="3600" dirty="0"/>
          </a:p>
        </p:txBody>
      </p:sp>
      <p:grpSp>
        <p:nvGrpSpPr>
          <p:cNvPr id="13" name="群組 12"/>
          <p:cNvGrpSpPr/>
          <p:nvPr/>
        </p:nvGrpSpPr>
        <p:grpSpPr>
          <a:xfrm>
            <a:off x="5348651" y="7853064"/>
            <a:ext cx="2002605" cy="1673124"/>
            <a:chOff x="2041767" y="5235376"/>
            <a:chExt cx="1335070" cy="1115416"/>
          </a:xfrm>
        </p:grpSpPr>
        <p:sp>
          <p:nvSpPr>
            <p:cNvPr id="4" name="文字方塊 3"/>
            <p:cNvSpPr txBox="1"/>
            <p:nvPr/>
          </p:nvSpPr>
          <p:spPr>
            <a:xfrm>
              <a:off x="2041767" y="5524129"/>
              <a:ext cx="898744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dirty="0"/>
                <a:t>Slot</a:t>
              </a:r>
              <a:endParaRPr lang="zh-TW" altLang="en-US" sz="4200" dirty="0"/>
            </a:p>
          </p:txBody>
        </p:sp>
        <p:sp>
          <p:nvSpPr>
            <p:cNvPr id="9" name="左大括弧 8"/>
            <p:cNvSpPr/>
            <p:nvPr/>
          </p:nvSpPr>
          <p:spPr>
            <a:xfrm>
              <a:off x="2938072" y="5235376"/>
              <a:ext cx="438765" cy="1115416"/>
            </a:xfrm>
            <a:prstGeom prst="leftBrace">
              <a:avLst>
                <a:gd name="adj1" fmla="val 35665"/>
                <a:gd name="adj2" fmla="val 50000"/>
              </a:avLst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ldLvl="0" animBg="1"/>
      <p:bldP spid="8" grpId="0" bldLvl="0" animBg="1"/>
      <p:bldP spid="10" grpId="0" bldLvl="0" animBg="1"/>
      <p:bldP spid="12" grpId="0" bldLvl="0" animBg="1"/>
      <p:bldP spid="11" grpId="0"/>
      <p:bldP spid="14" grpId="0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Application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 rot="16200000">
            <a:off x="13248843" y="3692462"/>
            <a:ext cx="9834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rot="16200000">
            <a:off x="10778364" y="3643935"/>
            <a:ext cx="9735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10980749" y="8525813"/>
            <a:ext cx="514350" cy="692943"/>
            <a:chOff x="1882729" y="2137119"/>
            <a:chExt cx="342900" cy="461962"/>
          </a:xfrm>
        </p:grpSpPr>
        <p:sp>
          <p:nvSpPr>
            <p:cNvPr id="7" name="矩形 6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2" imgW="3657600" imgH="5181600" progId="Equation.3">
                    <p:embed/>
                  </p:oleObj>
                </mc:Choice>
                <mc:Fallback>
                  <p:oleObj name="方程式" r:id="rId2" imgW="3657600" imgH="5181600" progId="Equation.3">
                    <p:embed/>
                    <p:pic>
                      <p:nvPicPr>
                        <p:cNvPr id="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群組 8"/>
          <p:cNvGrpSpPr/>
          <p:nvPr/>
        </p:nvGrpSpPr>
        <p:grpSpPr>
          <a:xfrm>
            <a:off x="13391645" y="8572500"/>
            <a:ext cx="564357" cy="692945"/>
            <a:chOff x="1876911" y="2719848"/>
            <a:chExt cx="376238" cy="461963"/>
          </a:xfrm>
        </p:grpSpPr>
        <p:sp>
          <p:nvSpPr>
            <p:cNvPr id="10" name="矩形 9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4" imgW="3962400" imgH="5181600" progId="Equation.3">
                    <p:embed/>
                  </p:oleObj>
                </mc:Choice>
                <mc:Fallback>
                  <p:oleObj name="方程式" r:id="rId4" imgW="3962400" imgH="518160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 rot="16200000">
            <a:off x="10885013" y="6160817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 rot="16200000">
            <a:off x="13206555" y="6221283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橢圓 13"/>
          <p:cNvSpPr/>
          <p:nvPr/>
        </p:nvSpPr>
        <p:spPr>
          <a:xfrm rot="16200000">
            <a:off x="10834502" y="3643935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橢圓 14"/>
          <p:cNvSpPr/>
          <p:nvPr/>
        </p:nvSpPr>
        <p:spPr>
          <a:xfrm rot="16200000">
            <a:off x="13193516" y="3659094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6" name="群組 15"/>
          <p:cNvGrpSpPr/>
          <p:nvPr/>
        </p:nvGrpSpPr>
        <p:grpSpPr>
          <a:xfrm rot="16200000">
            <a:off x="11696621" y="6619485"/>
            <a:ext cx="1555833" cy="2457450"/>
            <a:chOff x="1013669" y="3459098"/>
            <a:chExt cx="1588876" cy="1638300"/>
          </a:xfrm>
        </p:grpSpPr>
        <p:cxnSp>
          <p:nvCxnSpPr>
            <p:cNvPr id="17" name="直線單箭頭接點 16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群組 17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19" name="直線單箭頭接點 18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單箭頭接點 19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單箭頭接點 20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22" name="Object 12"/>
          <p:cNvGraphicFramePr>
            <a:graphicFrameLocks noChangeAspect="1"/>
          </p:cNvGraphicFramePr>
          <p:nvPr/>
        </p:nvGraphicFramePr>
        <p:xfrm>
          <a:off x="13456025" y="2343131"/>
          <a:ext cx="56911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4267200" imgH="5181600" progId="Equation.3">
                  <p:embed/>
                </p:oleObj>
              </mc:Choice>
              <mc:Fallback>
                <p:oleObj name="方程式" r:id="rId6" imgW="4267200" imgH="5181600" progId="Equation.3">
                  <p:embed/>
                  <p:pic>
                    <p:nvPicPr>
                      <p:cNvPr id="2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56025" y="2343131"/>
                        <a:ext cx="56911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2"/>
          <p:cNvGraphicFramePr>
            <a:graphicFrameLocks noChangeAspect="1"/>
          </p:cNvGraphicFramePr>
          <p:nvPr/>
        </p:nvGraphicFramePr>
        <p:xfrm>
          <a:off x="11080832" y="2348255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3962400" imgH="5181600" progId="Equation.3">
                  <p:embed/>
                </p:oleObj>
              </mc:Choice>
              <mc:Fallback>
                <p:oleObj name="方程式" r:id="rId8" imgW="3962400" imgH="5181600" progId="Equation.3">
                  <p:embed/>
                  <p:pic>
                    <p:nvPicPr>
                      <p:cNvPr id="2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0832" y="2348255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群組 29"/>
          <p:cNvGrpSpPr/>
          <p:nvPr/>
        </p:nvGrpSpPr>
        <p:grpSpPr>
          <a:xfrm rot="16200000">
            <a:off x="11696621" y="4125698"/>
            <a:ext cx="1555833" cy="2457450"/>
            <a:chOff x="1013669" y="3459098"/>
            <a:chExt cx="1588876" cy="1638300"/>
          </a:xfrm>
        </p:grpSpPr>
        <p:cxnSp>
          <p:nvCxnSpPr>
            <p:cNvPr id="31" name="直線單箭頭接點 30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群組 31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33" name="直線單箭頭接點 32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單箭頭接點 33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線單箭頭接點 34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0" name="手繪多邊形 39"/>
          <p:cNvSpPr/>
          <p:nvPr/>
        </p:nvSpPr>
        <p:spPr>
          <a:xfrm>
            <a:off x="10950759" y="3807929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1" name="手繪多邊形 40"/>
          <p:cNvSpPr/>
          <p:nvPr/>
        </p:nvSpPr>
        <p:spPr>
          <a:xfrm>
            <a:off x="13327281" y="3835016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2" name="手繪多邊形 41"/>
          <p:cNvSpPr/>
          <p:nvPr/>
        </p:nvSpPr>
        <p:spPr>
          <a:xfrm>
            <a:off x="13356758" y="6362328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3" name="手繪多邊形 42"/>
          <p:cNvSpPr/>
          <p:nvPr/>
        </p:nvSpPr>
        <p:spPr>
          <a:xfrm>
            <a:off x="10999797" y="6330638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7" name="矩形 46"/>
          <p:cNvSpPr/>
          <p:nvPr/>
        </p:nvSpPr>
        <p:spPr>
          <a:xfrm>
            <a:off x="7600295" y="8525813"/>
            <a:ext cx="1576070" cy="7372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200" dirty="0">
                <a:solidFill>
                  <a:srgbClr val="FF0000"/>
                </a:solidFill>
              </a:rPr>
              <a:t>Taipei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  <p:sp>
        <p:nvSpPr>
          <p:cNvPr id="48" name="向右箭號 47"/>
          <p:cNvSpPr/>
          <p:nvPr/>
        </p:nvSpPr>
        <p:spPr>
          <a:xfrm>
            <a:off x="9186150" y="8668688"/>
            <a:ext cx="1302921" cy="5967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9" name="矩形 48"/>
          <p:cNvSpPr/>
          <p:nvPr/>
        </p:nvSpPr>
        <p:spPr>
          <a:xfrm>
            <a:off x="10834502" y="8461124"/>
            <a:ext cx="3220252" cy="8612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4" name="文字方塊 23"/>
          <p:cNvSpPr txBox="1"/>
          <p:nvPr/>
        </p:nvSpPr>
        <p:spPr>
          <a:xfrm>
            <a:off x="3537265" y="4004790"/>
            <a:ext cx="300445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Input: a word</a:t>
            </a:r>
            <a:endParaRPr lang="zh-TW" altLang="en-US" sz="3600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4754570" y="4704168"/>
            <a:ext cx="515086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(Each word is represented as a vector)</a:t>
            </a:r>
            <a:endParaRPr lang="zh-TW" altLang="en-US" sz="3600" dirty="0"/>
          </a:p>
        </p:txBody>
      </p:sp>
      <p:sp>
        <p:nvSpPr>
          <p:cNvPr id="70" name="文字方塊 69"/>
          <p:cNvSpPr txBox="1"/>
          <p:nvPr/>
        </p:nvSpPr>
        <p:spPr>
          <a:xfrm>
            <a:off x="3537266" y="2677313"/>
            <a:ext cx="544010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Solving slot filling by Feedforward network?</a:t>
            </a:r>
            <a:endParaRPr lang="zh-TW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 bldLvl="0" animBg="1"/>
      <p:bldP spid="49" grpId="0" bldLvl="0" animBg="1"/>
      <p:bldP spid="24" grpId="0"/>
      <p:bldP spid="6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1-of-N encoding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814809" y="5840756"/>
            <a:ext cx="7201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Each dimension corresponds to a word in the lexicon 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1814810" y="7341165"/>
            <a:ext cx="66618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zh-TW" sz="3600" dirty="0"/>
              <a:t>The dimension for the word</a:t>
            </a:r>
            <a:r>
              <a:rPr lang="en-US" altLang="zh-TW" sz="3600" baseline="-25000" dirty="0"/>
              <a:t> </a:t>
            </a:r>
            <a:r>
              <a:rPr lang="en-US" altLang="zh-TW" sz="3600" dirty="0"/>
              <a:t>is 1, and others are 0</a:t>
            </a:r>
            <a:endParaRPr lang="en-US" altLang="zh-TW" sz="36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583631" y="4070961"/>
            <a:ext cx="10982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lexicon = {apple, bag, cat, dog, elephant}</a:t>
            </a:r>
            <a:endParaRPr lang="zh-TW" altLang="en-US" sz="36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0297086" y="4926365"/>
            <a:ext cx="6094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apple     = [ 1   0   0   0   0]</a:t>
            </a:r>
            <a:endParaRPr lang="zh-TW" altLang="en-US" sz="36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10297083" y="5611428"/>
            <a:ext cx="6094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bag      = [ 0   1   0   0   0]</a:t>
            </a:r>
            <a:endParaRPr lang="zh-TW" altLang="en-US" sz="36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10297082" y="6429123"/>
            <a:ext cx="6094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cat       = [ 0   0   1   0   0]</a:t>
            </a:r>
            <a:endParaRPr lang="zh-TW" altLang="en-US" sz="36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10297081" y="7166358"/>
            <a:ext cx="6094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dog      = [ 0   0   0   1   0]</a:t>
            </a:r>
            <a:endParaRPr lang="zh-TW" altLang="en-US" sz="36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10297080" y="7935813"/>
            <a:ext cx="6094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elephant  = [ 0   0   0   0   1]</a:t>
            </a:r>
            <a:endParaRPr lang="zh-TW" altLang="en-US" sz="36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814810" y="5055926"/>
            <a:ext cx="6661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The vector is lexicon size.</a:t>
            </a:r>
            <a:endParaRPr lang="zh-TW" altLang="en-US" sz="3600" dirty="0"/>
          </a:p>
        </p:txBody>
      </p:sp>
      <p:sp>
        <p:nvSpPr>
          <p:cNvPr id="3" name="矩形 2"/>
          <p:cNvSpPr/>
          <p:nvPr/>
        </p:nvSpPr>
        <p:spPr>
          <a:xfrm>
            <a:off x="1807609" y="4061709"/>
            <a:ext cx="37497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b="1" i="1" u="sng" dirty="0"/>
              <a:t>1-of-N Encoding</a:t>
            </a:r>
            <a:endParaRPr lang="zh-TW" altLang="en-US" sz="3600" b="1" i="1" u="sng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2547608" y="3150258"/>
            <a:ext cx="10817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How to represent each word as a vector?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4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Beyond 1-of-N encoding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2699117" y="7948590"/>
            <a:ext cx="285369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w = “apple” </a:t>
            </a:r>
            <a:endParaRPr lang="zh-TW" altLang="en-US" sz="4200" dirty="0"/>
          </a:p>
        </p:txBody>
      </p:sp>
      <p:sp>
        <p:nvSpPr>
          <p:cNvPr id="12" name="矩形 11"/>
          <p:cNvSpPr/>
          <p:nvPr/>
        </p:nvSpPr>
        <p:spPr>
          <a:xfrm rot="5400000">
            <a:off x="9039675" y="5767650"/>
            <a:ext cx="5057246" cy="79938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 rot="5400000">
            <a:off x="11347557" y="3797060"/>
            <a:ext cx="475659" cy="475659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橢圓 13"/>
          <p:cNvSpPr/>
          <p:nvPr/>
        </p:nvSpPr>
        <p:spPr>
          <a:xfrm rot="5400000">
            <a:off x="11367923" y="4376694"/>
            <a:ext cx="475659" cy="475659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橢圓 14"/>
          <p:cNvSpPr/>
          <p:nvPr/>
        </p:nvSpPr>
        <p:spPr>
          <a:xfrm rot="5400000">
            <a:off x="11347557" y="5363670"/>
            <a:ext cx="475659" cy="475659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" name="文字方塊 19"/>
          <p:cNvSpPr txBox="1"/>
          <p:nvPr/>
        </p:nvSpPr>
        <p:spPr>
          <a:xfrm>
            <a:off x="9460931" y="3678948"/>
            <a:ext cx="15134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a-a-a</a:t>
            </a:r>
            <a:endParaRPr lang="zh-TW" altLang="en-US" sz="36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9474900" y="4315473"/>
            <a:ext cx="15134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a-a-b</a:t>
            </a:r>
            <a:endParaRPr lang="zh-TW" altLang="en-US" sz="36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9472800" y="7300115"/>
            <a:ext cx="15134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p-p-l</a:t>
            </a:r>
            <a:endParaRPr lang="zh-TW" altLang="en-US" sz="36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2794439" y="5838729"/>
            <a:ext cx="35504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26 X 26 X 26</a:t>
            </a:r>
            <a:endParaRPr lang="zh-TW" altLang="en-US" sz="4200" b="1" dirty="0"/>
          </a:p>
        </p:txBody>
      </p:sp>
      <p:sp>
        <p:nvSpPr>
          <p:cNvPr id="25" name="文字方塊 24"/>
          <p:cNvSpPr txBox="1"/>
          <p:nvPr/>
        </p:nvSpPr>
        <p:spPr>
          <a:xfrm rot="5400000">
            <a:off x="9939062" y="4733991"/>
            <a:ext cx="54238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26" name="文字方塊 25"/>
          <p:cNvSpPr txBox="1"/>
          <p:nvPr/>
        </p:nvSpPr>
        <p:spPr>
          <a:xfrm rot="5400000">
            <a:off x="9936119" y="5684253"/>
            <a:ext cx="54238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9474900" y="5216082"/>
            <a:ext cx="15134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a-p-p</a:t>
            </a:r>
            <a:endParaRPr lang="zh-TW" altLang="en-US" sz="3600" dirty="0"/>
          </a:p>
        </p:txBody>
      </p:sp>
      <p:sp>
        <p:nvSpPr>
          <p:cNvPr id="28" name="文字方塊 27"/>
          <p:cNvSpPr txBox="1"/>
          <p:nvPr/>
        </p:nvSpPr>
        <p:spPr>
          <a:xfrm rot="5400000">
            <a:off x="9924384" y="7855721"/>
            <a:ext cx="54238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503631" y="6289712"/>
            <a:ext cx="15134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p-l-e</a:t>
            </a:r>
            <a:endParaRPr lang="zh-TW" altLang="en-US" sz="3600" dirty="0"/>
          </a:p>
        </p:txBody>
      </p:sp>
      <p:sp>
        <p:nvSpPr>
          <p:cNvPr id="30" name="文字方塊 29"/>
          <p:cNvSpPr txBox="1"/>
          <p:nvPr/>
        </p:nvSpPr>
        <p:spPr>
          <a:xfrm rot="5400000">
            <a:off x="9931484" y="6753540"/>
            <a:ext cx="54238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33" name="文字方塊 32"/>
          <p:cNvSpPr txBox="1"/>
          <p:nvPr/>
        </p:nvSpPr>
        <p:spPr>
          <a:xfrm rot="5400000">
            <a:off x="11484600" y="4692408"/>
            <a:ext cx="54238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34" name="文字方塊 33"/>
          <p:cNvSpPr txBox="1"/>
          <p:nvPr/>
        </p:nvSpPr>
        <p:spPr>
          <a:xfrm rot="5400000">
            <a:off x="11477210" y="5717505"/>
            <a:ext cx="54238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35" name="文字方塊 34"/>
          <p:cNvSpPr txBox="1"/>
          <p:nvPr/>
        </p:nvSpPr>
        <p:spPr>
          <a:xfrm rot="5400000">
            <a:off x="11463033" y="7756577"/>
            <a:ext cx="54238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36" name="文字方塊 35"/>
          <p:cNvSpPr txBox="1"/>
          <p:nvPr/>
        </p:nvSpPr>
        <p:spPr>
          <a:xfrm rot="5400000">
            <a:off x="11452677" y="6728555"/>
            <a:ext cx="54238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37" name="橢圓 36"/>
          <p:cNvSpPr/>
          <p:nvPr/>
        </p:nvSpPr>
        <p:spPr>
          <a:xfrm rot="5400000">
            <a:off x="11347557" y="6391692"/>
            <a:ext cx="475659" cy="475659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8" name="橢圓 37"/>
          <p:cNvSpPr/>
          <p:nvPr/>
        </p:nvSpPr>
        <p:spPr>
          <a:xfrm rot="5400000">
            <a:off x="11314395" y="7408533"/>
            <a:ext cx="475659" cy="475659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9" name="文字方塊 38"/>
          <p:cNvSpPr txBox="1"/>
          <p:nvPr/>
        </p:nvSpPr>
        <p:spPr>
          <a:xfrm>
            <a:off x="11323845" y="5243976"/>
            <a:ext cx="56381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</a:rPr>
              <a:t>1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11320256" y="6291308"/>
            <a:ext cx="56381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00B050"/>
                </a:solidFill>
              </a:rPr>
              <a:t>1</a:t>
            </a:r>
            <a:endParaRPr lang="zh-TW" altLang="en-US" sz="3600" b="1" dirty="0">
              <a:solidFill>
                <a:srgbClr val="00B05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11320256" y="7323803"/>
            <a:ext cx="56381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11328846" y="3667824"/>
            <a:ext cx="56381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11345814" y="4294679"/>
            <a:ext cx="56381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44" name="左大括弧 43"/>
          <p:cNvSpPr/>
          <p:nvPr/>
        </p:nvSpPr>
        <p:spPr>
          <a:xfrm flipH="1">
            <a:off x="12186870" y="3667824"/>
            <a:ext cx="473583" cy="5065596"/>
          </a:xfrm>
          <a:prstGeom prst="leftBrace">
            <a:avLst>
              <a:gd name="adj1" fmla="val 104874"/>
              <a:gd name="adj2" fmla="val 50000"/>
            </a:avLst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矩形 6"/>
          <p:cNvSpPr/>
          <p:nvPr/>
        </p:nvSpPr>
        <p:spPr>
          <a:xfrm>
            <a:off x="10286379" y="2536033"/>
            <a:ext cx="3727450" cy="7372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200" b="1" i="1" u="sng" dirty="0"/>
              <a:t>Word hashing</a:t>
            </a:r>
            <a:endParaRPr lang="zh-TW" altLang="en-US" sz="4200" b="1" i="1" u="sng" dirty="0"/>
          </a:p>
        </p:txBody>
      </p:sp>
      <p:sp>
        <p:nvSpPr>
          <p:cNvPr id="45" name="矩形 44"/>
          <p:cNvSpPr/>
          <p:nvPr/>
        </p:nvSpPr>
        <p:spPr>
          <a:xfrm>
            <a:off x="3128922" y="2521749"/>
            <a:ext cx="5871845" cy="7372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200" b="1" i="1" u="sng" dirty="0"/>
              <a:t>Dimension for “Other”</a:t>
            </a:r>
            <a:endParaRPr lang="zh-TW" altLang="en-US" sz="4200" b="1" i="1" u="sng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5748576" y="9075563"/>
            <a:ext cx="339542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 = “</a:t>
            </a:r>
            <a:r>
              <a:rPr lang="en-US" altLang="zh-TW" sz="3600" dirty="0" err="1"/>
              <a:t>Sauron</a:t>
            </a:r>
            <a:r>
              <a:rPr lang="en-US" altLang="zh-TW" sz="3600" dirty="0"/>
              <a:t>” </a:t>
            </a:r>
            <a:endParaRPr lang="zh-TW" altLang="en-US" sz="3600" dirty="0"/>
          </a:p>
        </p:txBody>
      </p:sp>
      <p:grpSp>
        <p:nvGrpSpPr>
          <p:cNvPr id="63" name="群組 62"/>
          <p:cNvGrpSpPr/>
          <p:nvPr/>
        </p:nvGrpSpPr>
        <p:grpSpPr>
          <a:xfrm>
            <a:off x="5555447" y="3711464"/>
            <a:ext cx="891668" cy="4662221"/>
            <a:chOff x="5573899" y="1757769"/>
            <a:chExt cx="594445" cy="3108147"/>
          </a:xfrm>
        </p:grpSpPr>
        <p:grpSp>
          <p:nvGrpSpPr>
            <p:cNvPr id="71" name="群組 70"/>
            <p:cNvGrpSpPr/>
            <p:nvPr/>
          </p:nvGrpSpPr>
          <p:grpSpPr>
            <a:xfrm>
              <a:off x="5573899" y="1757769"/>
              <a:ext cx="594445" cy="3108147"/>
              <a:chOff x="5720499" y="4355529"/>
              <a:chExt cx="594445" cy="3108147"/>
            </a:xfrm>
          </p:grpSpPr>
          <p:grpSp>
            <p:nvGrpSpPr>
              <p:cNvPr id="74" name="群組 73"/>
              <p:cNvGrpSpPr/>
              <p:nvPr/>
            </p:nvGrpSpPr>
            <p:grpSpPr>
              <a:xfrm rot="5400000">
                <a:off x="4463648" y="5612380"/>
                <a:ext cx="3108147" cy="594445"/>
                <a:chOff x="-1832609" y="4494767"/>
                <a:chExt cx="4854734" cy="928487"/>
              </a:xfrm>
            </p:grpSpPr>
            <p:sp>
              <p:nvSpPr>
                <p:cNvPr id="76" name="矩形 75"/>
                <p:cNvSpPr/>
                <p:nvPr/>
              </p:nvSpPr>
              <p:spPr>
                <a:xfrm>
                  <a:off x="-1832609" y="4713637"/>
                  <a:ext cx="4854734" cy="709617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0"/>
                </a:p>
              </p:txBody>
            </p:sp>
            <p:sp>
              <p:nvSpPr>
                <p:cNvPr id="77" name="橢圓 76"/>
                <p:cNvSpPr/>
                <p:nvPr/>
              </p:nvSpPr>
              <p:spPr>
                <a:xfrm>
                  <a:off x="-1671298" y="4820782"/>
                  <a:ext cx="495300" cy="495300"/>
                </a:xfrm>
                <a:prstGeom prst="ellipse">
                  <a:avLst/>
                </a:prstGeom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0"/>
                </a:p>
              </p:txBody>
            </p:sp>
            <p:sp>
              <p:nvSpPr>
                <p:cNvPr id="78" name="橢圓 77"/>
                <p:cNvSpPr/>
                <p:nvPr/>
              </p:nvSpPr>
              <p:spPr>
                <a:xfrm>
                  <a:off x="-966448" y="4820782"/>
                  <a:ext cx="495300" cy="495300"/>
                </a:xfrm>
                <a:prstGeom prst="ellipse">
                  <a:avLst/>
                </a:prstGeom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0"/>
                </a:p>
              </p:txBody>
            </p:sp>
            <p:sp>
              <p:nvSpPr>
                <p:cNvPr id="79" name="文字方塊 78"/>
                <p:cNvSpPr txBox="1"/>
                <p:nvPr/>
              </p:nvSpPr>
              <p:spPr>
                <a:xfrm>
                  <a:off x="1782914" y="4494767"/>
                  <a:ext cx="662543" cy="7676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4200" b="1" dirty="0"/>
                    <a:t>…</a:t>
                  </a:r>
                  <a:endParaRPr lang="zh-TW" altLang="en-US" sz="4200" b="1" dirty="0"/>
                </a:p>
              </p:txBody>
            </p:sp>
          </p:grpSp>
          <p:sp>
            <p:nvSpPr>
              <p:cNvPr id="75" name="橢圓 74"/>
              <p:cNvSpPr/>
              <p:nvPr/>
            </p:nvSpPr>
            <p:spPr>
              <a:xfrm rot="5400000">
                <a:off x="5789104" y="5354358"/>
                <a:ext cx="317106" cy="317107"/>
              </a:xfrm>
              <a:prstGeom prst="ellipse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</p:grpSp>
        <p:sp>
          <p:nvSpPr>
            <p:cNvPr id="72" name="橢圓 71"/>
            <p:cNvSpPr/>
            <p:nvPr/>
          </p:nvSpPr>
          <p:spPr>
            <a:xfrm rot="5400000">
              <a:off x="5642504" y="3213561"/>
              <a:ext cx="317106" cy="317107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73" name="橢圓 72"/>
            <p:cNvSpPr/>
            <p:nvPr/>
          </p:nvSpPr>
          <p:spPr>
            <a:xfrm rot="5400000">
              <a:off x="5649614" y="3672267"/>
              <a:ext cx="317106" cy="317107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sp>
        <p:nvSpPr>
          <p:cNvPr id="64" name="文字方塊 63"/>
          <p:cNvSpPr txBox="1"/>
          <p:nvPr/>
        </p:nvSpPr>
        <p:spPr>
          <a:xfrm>
            <a:off x="4155947" y="3711462"/>
            <a:ext cx="141657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apple</a:t>
            </a:r>
            <a:endParaRPr lang="zh-TW" altLang="en-US" sz="3600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4444497" y="4342035"/>
            <a:ext cx="11103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bag</a:t>
            </a:r>
            <a:endParaRPr lang="zh-TW" altLang="en-US" sz="3600" dirty="0"/>
          </a:p>
        </p:txBody>
      </p:sp>
      <p:sp>
        <p:nvSpPr>
          <p:cNvPr id="66" name="文字方塊 65"/>
          <p:cNvSpPr txBox="1"/>
          <p:nvPr/>
        </p:nvSpPr>
        <p:spPr>
          <a:xfrm>
            <a:off x="4487411" y="5045282"/>
            <a:ext cx="11103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cat</a:t>
            </a:r>
            <a:endParaRPr lang="zh-TW" altLang="en-US" sz="3600" dirty="0"/>
          </a:p>
        </p:txBody>
      </p:sp>
      <p:sp>
        <p:nvSpPr>
          <p:cNvPr id="67" name="文字方塊 66"/>
          <p:cNvSpPr txBox="1"/>
          <p:nvPr/>
        </p:nvSpPr>
        <p:spPr>
          <a:xfrm>
            <a:off x="4496256" y="5732439"/>
            <a:ext cx="11103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dog</a:t>
            </a:r>
            <a:endParaRPr lang="zh-TW" altLang="en-US" sz="3600" dirty="0"/>
          </a:p>
        </p:txBody>
      </p:sp>
      <p:sp>
        <p:nvSpPr>
          <p:cNvPr id="68" name="橢圓 67"/>
          <p:cNvSpPr/>
          <p:nvPr/>
        </p:nvSpPr>
        <p:spPr>
          <a:xfrm rot="5400000">
            <a:off x="5658315" y="7803411"/>
            <a:ext cx="475659" cy="475661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9" name="文字方塊 68"/>
          <p:cNvSpPr txBox="1"/>
          <p:nvPr/>
        </p:nvSpPr>
        <p:spPr>
          <a:xfrm>
            <a:off x="3599103" y="6457320"/>
            <a:ext cx="20164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elephant</a:t>
            </a:r>
            <a:endParaRPr lang="zh-TW" altLang="en-US" sz="3600" dirty="0"/>
          </a:p>
        </p:txBody>
      </p:sp>
      <p:sp>
        <p:nvSpPr>
          <p:cNvPr id="70" name="文字方塊 69"/>
          <p:cNvSpPr txBox="1"/>
          <p:nvPr/>
        </p:nvSpPr>
        <p:spPr>
          <a:xfrm>
            <a:off x="3629934" y="7710658"/>
            <a:ext cx="193746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“other”</a:t>
            </a:r>
            <a:endParaRPr lang="zh-TW" altLang="en-US" sz="36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6310080" y="3777168"/>
            <a:ext cx="457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6310080" y="4452119"/>
            <a:ext cx="457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6310080" y="5121411"/>
            <a:ext cx="457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6310080" y="5753231"/>
            <a:ext cx="457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6322767" y="6451511"/>
            <a:ext cx="457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6259233" y="7715190"/>
            <a:ext cx="457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2694037" y="9127262"/>
            <a:ext cx="339542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 = “Gandalf” </a:t>
            </a:r>
            <a:endParaRPr lang="zh-TW" altLang="en-US" sz="3600" dirty="0"/>
          </a:p>
        </p:txBody>
      </p:sp>
      <p:cxnSp>
        <p:nvCxnSpPr>
          <p:cNvPr id="4" name="直線單箭頭接點 3"/>
          <p:cNvCxnSpPr/>
          <p:nvPr/>
        </p:nvCxnSpPr>
        <p:spPr>
          <a:xfrm flipV="1">
            <a:off x="4556520" y="8010617"/>
            <a:ext cx="1350170" cy="12175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 flipH="1" flipV="1">
            <a:off x="5945354" y="8041241"/>
            <a:ext cx="467948" cy="12002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13867851" y="8695968"/>
            <a:ext cx="8328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>
            <a:off x="14125965" y="8782661"/>
            <a:ext cx="832856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14499528" y="8871725"/>
            <a:ext cx="816671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C5A9EFA0-3966-4D15-8C7E-765B7BB5697B}" type="slidenum">
              <a:rPr lang="zh-TW" altLang="en-US" sz="100" smtClean="0"/>
              <a:t>5</a:t>
            </a:fld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bldLvl="0" animBg="1"/>
      <p:bldP spid="13" grpId="0" bldLvl="0" animBg="1"/>
      <p:bldP spid="14" grpId="0" bldLvl="0" animBg="1"/>
      <p:bldP spid="15" grpId="0" bldLvl="0" animBg="1"/>
      <p:bldP spid="20" grpId="0"/>
      <p:bldP spid="21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3" grpId="0"/>
      <p:bldP spid="34" grpId="0"/>
      <p:bldP spid="35" grpId="0"/>
      <p:bldP spid="36" grpId="0"/>
      <p:bldP spid="37" grpId="0" bldLvl="0" animBg="1"/>
      <p:bldP spid="38" grpId="0" bldLvl="0" animBg="1"/>
      <p:bldP spid="39" grpId="0"/>
      <p:bldP spid="40" grpId="0"/>
      <p:bldP spid="41" grpId="0"/>
      <p:bldP spid="42" grpId="0"/>
      <p:bldP spid="43" grpId="0"/>
      <p:bldP spid="44" grpId="0" bldLvl="0" animBg="1"/>
      <p:bldP spid="46" grpId="0"/>
      <p:bldP spid="64" grpId="0"/>
      <p:bldP spid="65" grpId="0"/>
      <p:bldP spid="66" grpId="0"/>
      <p:bldP spid="67" grpId="0"/>
      <p:bldP spid="68" grpId="0" bldLvl="0" animBg="1"/>
      <p:bldP spid="69" grpId="0"/>
      <p:bldP spid="70" grpId="0"/>
      <p:bldP spid="80" grpId="0"/>
      <p:bldP spid="81" grpId="0"/>
      <p:bldP spid="82" grpId="0"/>
      <p:bldP spid="83" grpId="0"/>
      <p:bldP spid="84" grpId="0"/>
      <p:bldP spid="85" grpId="0"/>
      <p:bldP spid="5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Application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 rot="16200000">
            <a:off x="13248843" y="3692462"/>
            <a:ext cx="9834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rot="16200000">
            <a:off x="10778364" y="3643935"/>
            <a:ext cx="9735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10980749" y="8525813"/>
            <a:ext cx="514350" cy="692943"/>
            <a:chOff x="1882729" y="2137119"/>
            <a:chExt cx="342900" cy="461962"/>
          </a:xfrm>
        </p:grpSpPr>
        <p:sp>
          <p:nvSpPr>
            <p:cNvPr id="7" name="矩形 6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2" imgW="3657600" imgH="5181600" progId="Equation.3">
                    <p:embed/>
                  </p:oleObj>
                </mc:Choice>
                <mc:Fallback>
                  <p:oleObj name="方程式" r:id="rId2" imgW="3657600" imgH="5181600" progId="Equation.3">
                    <p:embed/>
                    <p:pic>
                      <p:nvPicPr>
                        <p:cNvPr id="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群組 8"/>
          <p:cNvGrpSpPr/>
          <p:nvPr/>
        </p:nvGrpSpPr>
        <p:grpSpPr>
          <a:xfrm>
            <a:off x="13391645" y="8572500"/>
            <a:ext cx="564357" cy="692945"/>
            <a:chOff x="1876911" y="2719848"/>
            <a:chExt cx="376238" cy="461963"/>
          </a:xfrm>
        </p:grpSpPr>
        <p:sp>
          <p:nvSpPr>
            <p:cNvPr id="10" name="矩形 9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4" imgW="3962400" imgH="5181600" progId="Equation.3">
                    <p:embed/>
                  </p:oleObj>
                </mc:Choice>
                <mc:Fallback>
                  <p:oleObj name="方程式" r:id="rId4" imgW="3962400" imgH="518160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 rot="16200000">
            <a:off x="10885013" y="6160817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 rot="16200000">
            <a:off x="13206555" y="6221283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橢圓 13"/>
          <p:cNvSpPr/>
          <p:nvPr/>
        </p:nvSpPr>
        <p:spPr>
          <a:xfrm rot="16200000">
            <a:off x="10834502" y="3643935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橢圓 14"/>
          <p:cNvSpPr/>
          <p:nvPr/>
        </p:nvSpPr>
        <p:spPr>
          <a:xfrm rot="16200000">
            <a:off x="13193516" y="3659094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6" name="群組 15"/>
          <p:cNvGrpSpPr/>
          <p:nvPr/>
        </p:nvGrpSpPr>
        <p:grpSpPr>
          <a:xfrm rot="16200000">
            <a:off x="11696621" y="6619485"/>
            <a:ext cx="1555833" cy="2457450"/>
            <a:chOff x="1013669" y="3459098"/>
            <a:chExt cx="1588876" cy="1638300"/>
          </a:xfrm>
        </p:grpSpPr>
        <p:cxnSp>
          <p:nvCxnSpPr>
            <p:cNvPr id="17" name="直線單箭頭接點 16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群組 17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19" name="直線單箭頭接點 18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單箭頭接點 19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單箭頭接點 20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22" name="Object 12"/>
          <p:cNvGraphicFramePr>
            <a:graphicFrameLocks noChangeAspect="1"/>
          </p:cNvGraphicFramePr>
          <p:nvPr/>
        </p:nvGraphicFramePr>
        <p:xfrm>
          <a:off x="13456025" y="2343131"/>
          <a:ext cx="56911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4267200" imgH="5181600" progId="Equation.3">
                  <p:embed/>
                </p:oleObj>
              </mc:Choice>
              <mc:Fallback>
                <p:oleObj name="方程式" r:id="rId6" imgW="4267200" imgH="5181600" progId="Equation.3">
                  <p:embed/>
                  <p:pic>
                    <p:nvPicPr>
                      <p:cNvPr id="2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56025" y="2343131"/>
                        <a:ext cx="56911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2"/>
          <p:cNvGraphicFramePr>
            <a:graphicFrameLocks noChangeAspect="1"/>
          </p:cNvGraphicFramePr>
          <p:nvPr/>
        </p:nvGraphicFramePr>
        <p:xfrm>
          <a:off x="11080832" y="2348255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3962400" imgH="5181600" progId="Equation.3">
                  <p:embed/>
                </p:oleObj>
              </mc:Choice>
              <mc:Fallback>
                <p:oleObj name="方程式" r:id="rId8" imgW="3962400" imgH="5181600" progId="Equation.3">
                  <p:embed/>
                  <p:pic>
                    <p:nvPicPr>
                      <p:cNvPr id="2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0832" y="2348255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群組 29"/>
          <p:cNvGrpSpPr/>
          <p:nvPr/>
        </p:nvGrpSpPr>
        <p:grpSpPr>
          <a:xfrm rot="16200000">
            <a:off x="11696621" y="4125698"/>
            <a:ext cx="1555833" cy="2457450"/>
            <a:chOff x="1013669" y="3459098"/>
            <a:chExt cx="1588876" cy="1638300"/>
          </a:xfrm>
        </p:grpSpPr>
        <p:cxnSp>
          <p:nvCxnSpPr>
            <p:cNvPr id="31" name="直線單箭頭接點 30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群組 31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33" name="直線單箭頭接點 32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單箭頭接點 33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線單箭頭接點 34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0" name="手繪多邊形 39"/>
          <p:cNvSpPr/>
          <p:nvPr/>
        </p:nvSpPr>
        <p:spPr>
          <a:xfrm>
            <a:off x="10950759" y="3807929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1" name="手繪多邊形 40"/>
          <p:cNvSpPr/>
          <p:nvPr/>
        </p:nvSpPr>
        <p:spPr>
          <a:xfrm>
            <a:off x="13327281" y="3835016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2" name="手繪多邊形 41"/>
          <p:cNvSpPr/>
          <p:nvPr/>
        </p:nvSpPr>
        <p:spPr>
          <a:xfrm>
            <a:off x="13356758" y="6362328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3" name="手繪多邊形 42"/>
          <p:cNvSpPr/>
          <p:nvPr/>
        </p:nvSpPr>
        <p:spPr>
          <a:xfrm>
            <a:off x="10999797" y="6330638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7" name="矩形 46"/>
          <p:cNvSpPr/>
          <p:nvPr/>
        </p:nvSpPr>
        <p:spPr>
          <a:xfrm>
            <a:off x="7600295" y="8525813"/>
            <a:ext cx="1576070" cy="7372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200" dirty="0">
                <a:solidFill>
                  <a:srgbClr val="FF0000"/>
                </a:solidFill>
              </a:rPr>
              <a:t>Taipei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  <p:sp>
        <p:nvSpPr>
          <p:cNvPr id="48" name="向右箭號 47"/>
          <p:cNvSpPr/>
          <p:nvPr/>
        </p:nvSpPr>
        <p:spPr>
          <a:xfrm>
            <a:off x="9186150" y="8668688"/>
            <a:ext cx="1302921" cy="5967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9" name="矩形 48"/>
          <p:cNvSpPr/>
          <p:nvPr/>
        </p:nvSpPr>
        <p:spPr>
          <a:xfrm>
            <a:off x="10629693" y="8461124"/>
            <a:ext cx="3754569" cy="9420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0" name="文字方塊 49"/>
          <p:cNvSpPr txBox="1"/>
          <p:nvPr/>
        </p:nvSpPr>
        <p:spPr>
          <a:xfrm>
            <a:off x="10777839" y="1765302"/>
            <a:ext cx="142022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 err="1">
                <a:solidFill>
                  <a:srgbClr val="FF0000"/>
                </a:solidFill>
              </a:rPr>
              <a:t>dest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12952146" y="1245738"/>
            <a:ext cx="325611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time of departure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537265" y="4004790"/>
            <a:ext cx="300445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Input: a word</a:t>
            </a:r>
            <a:endParaRPr lang="zh-TW" altLang="en-US" sz="3600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4754570" y="4704168"/>
            <a:ext cx="515086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(Each word is represented as a vector)</a:t>
            </a:r>
            <a:endParaRPr lang="zh-TW" altLang="en-US" sz="3600" dirty="0"/>
          </a:p>
        </p:txBody>
      </p:sp>
      <p:sp>
        <p:nvSpPr>
          <p:cNvPr id="68" name="文字方塊 67"/>
          <p:cNvSpPr txBox="1"/>
          <p:nvPr/>
        </p:nvSpPr>
        <p:spPr>
          <a:xfrm>
            <a:off x="3537264" y="5995824"/>
            <a:ext cx="300445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Output:</a:t>
            </a:r>
            <a:endParaRPr lang="zh-TW" altLang="en-US" sz="3600" dirty="0"/>
          </a:p>
        </p:txBody>
      </p:sp>
      <p:sp>
        <p:nvSpPr>
          <p:cNvPr id="69" name="文字方塊 68"/>
          <p:cNvSpPr txBox="1"/>
          <p:nvPr/>
        </p:nvSpPr>
        <p:spPr>
          <a:xfrm>
            <a:off x="4350197" y="6710990"/>
            <a:ext cx="59596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Probability distribution that the input word belonging to the slots</a:t>
            </a:r>
            <a:endParaRPr lang="zh-TW" altLang="en-US" sz="3600" dirty="0"/>
          </a:p>
        </p:txBody>
      </p:sp>
      <p:sp>
        <p:nvSpPr>
          <p:cNvPr id="70" name="文字方塊 69"/>
          <p:cNvSpPr txBox="1"/>
          <p:nvPr/>
        </p:nvSpPr>
        <p:spPr>
          <a:xfrm>
            <a:off x="3537266" y="2677313"/>
            <a:ext cx="544010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Solving slot filling by Feedforward network?</a:t>
            </a:r>
            <a:endParaRPr lang="zh-TW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68" grpId="0"/>
      <p:bldP spid="6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Application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 rot="16200000">
            <a:off x="13248843" y="3692462"/>
            <a:ext cx="9834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rot="16200000">
            <a:off x="10778364" y="3643935"/>
            <a:ext cx="9735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10980749" y="8525813"/>
            <a:ext cx="514350" cy="692943"/>
            <a:chOff x="1882729" y="2137119"/>
            <a:chExt cx="342900" cy="461962"/>
          </a:xfrm>
        </p:grpSpPr>
        <p:sp>
          <p:nvSpPr>
            <p:cNvPr id="7" name="矩形 6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2" imgW="3657600" imgH="5181600" progId="Equation.3">
                    <p:embed/>
                  </p:oleObj>
                </mc:Choice>
                <mc:Fallback>
                  <p:oleObj name="方程式" r:id="rId2" imgW="3657600" imgH="5181600" progId="Equation.3">
                    <p:embed/>
                    <p:pic>
                      <p:nvPicPr>
                        <p:cNvPr id="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群組 8"/>
          <p:cNvGrpSpPr/>
          <p:nvPr/>
        </p:nvGrpSpPr>
        <p:grpSpPr>
          <a:xfrm>
            <a:off x="13391645" y="8572500"/>
            <a:ext cx="564357" cy="692945"/>
            <a:chOff x="1876911" y="2719848"/>
            <a:chExt cx="376238" cy="461963"/>
          </a:xfrm>
        </p:grpSpPr>
        <p:sp>
          <p:nvSpPr>
            <p:cNvPr id="10" name="矩形 9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4" imgW="3962400" imgH="5181600" progId="Equation.3">
                    <p:embed/>
                  </p:oleObj>
                </mc:Choice>
                <mc:Fallback>
                  <p:oleObj name="方程式" r:id="rId4" imgW="3962400" imgH="518160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 rot="16200000">
            <a:off x="10885013" y="6160817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 rot="16200000">
            <a:off x="13206555" y="6221283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橢圓 13"/>
          <p:cNvSpPr/>
          <p:nvPr/>
        </p:nvSpPr>
        <p:spPr>
          <a:xfrm rot="16200000">
            <a:off x="10834502" y="3643935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橢圓 14"/>
          <p:cNvSpPr/>
          <p:nvPr/>
        </p:nvSpPr>
        <p:spPr>
          <a:xfrm rot="16200000">
            <a:off x="13193516" y="3659094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6" name="群組 15"/>
          <p:cNvGrpSpPr/>
          <p:nvPr/>
        </p:nvGrpSpPr>
        <p:grpSpPr>
          <a:xfrm rot="16200000">
            <a:off x="11696621" y="6619485"/>
            <a:ext cx="1555833" cy="2457450"/>
            <a:chOff x="1013669" y="3459098"/>
            <a:chExt cx="1588876" cy="1638300"/>
          </a:xfrm>
        </p:grpSpPr>
        <p:cxnSp>
          <p:nvCxnSpPr>
            <p:cNvPr id="17" name="直線單箭頭接點 16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群組 17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19" name="直線單箭頭接點 18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單箭頭接點 19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單箭頭接點 20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22" name="Object 12"/>
          <p:cNvGraphicFramePr>
            <a:graphicFrameLocks noChangeAspect="1"/>
          </p:cNvGraphicFramePr>
          <p:nvPr/>
        </p:nvGraphicFramePr>
        <p:xfrm>
          <a:off x="13456025" y="2343131"/>
          <a:ext cx="56911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4267200" imgH="5181600" progId="Equation.3">
                  <p:embed/>
                </p:oleObj>
              </mc:Choice>
              <mc:Fallback>
                <p:oleObj name="方程式" r:id="rId6" imgW="4267200" imgH="5181600" progId="Equation.3">
                  <p:embed/>
                  <p:pic>
                    <p:nvPicPr>
                      <p:cNvPr id="2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56025" y="2343131"/>
                        <a:ext cx="56911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2"/>
          <p:cNvGraphicFramePr>
            <a:graphicFrameLocks noChangeAspect="1"/>
          </p:cNvGraphicFramePr>
          <p:nvPr/>
        </p:nvGraphicFramePr>
        <p:xfrm>
          <a:off x="11080832" y="2348255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3962400" imgH="5181600" progId="Equation.3">
                  <p:embed/>
                </p:oleObj>
              </mc:Choice>
              <mc:Fallback>
                <p:oleObj name="方程式" r:id="rId8" imgW="3962400" imgH="5181600" progId="Equation.3">
                  <p:embed/>
                  <p:pic>
                    <p:nvPicPr>
                      <p:cNvPr id="2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0832" y="2348255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群組 29"/>
          <p:cNvGrpSpPr/>
          <p:nvPr/>
        </p:nvGrpSpPr>
        <p:grpSpPr>
          <a:xfrm rot="16200000">
            <a:off x="11696621" y="4125698"/>
            <a:ext cx="1555833" cy="2457450"/>
            <a:chOff x="1013669" y="3459098"/>
            <a:chExt cx="1588876" cy="1638300"/>
          </a:xfrm>
        </p:grpSpPr>
        <p:cxnSp>
          <p:nvCxnSpPr>
            <p:cNvPr id="31" name="直線單箭頭接點 30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群組 31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33" name="直線單箭頭接點 32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單箭頭接點 33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線單箭頭接點 34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0" name="手繪多邊形 39"/>
          <p:cNvSpPr/>
          <p:nvPr/>
        </p:nvSpPr>
        <p:spPr>
          <a:xfrm>
            <a:off x="10950759" y="3807929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1" name="手繪多邊形 40"/>
          <p:cNvSpPr/>
          <p:nvPr/>
        </p:nvSpPr>
        <p:spPr>
          <a:xfrm>
            <a:off x="13327281" y="3835016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2" name="手繪多邊形 41"/>
          <p:cNvSpPr/>
          <p:nvPr/>
        </p:nvSpPr>
        <p:spPr>
          <a:xfrm>
            <a:off x="13356758" y="6362328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3" name="手繪多邊形 42"/>
          <p:cNvSpPr/>
          <p:nvPr/>
        </p:nvSpPr>
        <p:spPr>
          <a:xfrm>
            <a:off x="10999797" y="6330638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7" name="矩形 46"/>
          <p:cNvSpPr/>
          <p:nvPr/>
        </p:nvSpPr>
        <p:spPr>
          <a:xfrm>
            <a:off x="7600295" y="8525813"/>
            <a:ext cx="1576070" cy="7372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200" dirty="0">
                <a:solidFill>
                  <a:srgbClr val="FF0000"/>
                </a:solidFill>
              </a:rPr>
              <a:t>Taipei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  <p:sp>
        <p:nvSpPr>
          <p:cNvPr id="48" name="向右箭號 47"/>
          <p:cNvSpPr/>
          <p:nvPr/>
        </p:nvSpPr>
        <p:spPr>
          <a:xfrm>
            <a:off x="9186150" y="8668688"/>
            <a:ext cx="1302921" cy="5967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9" name="矩形 48"/>
          <p:cNvSpPr/>
          <p:nvPr/>
        </p:nvSpPr>
        <p:spPr>
          <a:xfrm>
            <a:off x="10629693" y="8461124"/>
            <a:ext cx="3754569" cy="9420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4" name="矩形 53"/>
          <p:cNvSpPr/>
          <p:nvPr/>
        </p:nvSpPr>
        <p:spPr>
          <a:xfrm>
            <a:off x="2025935" y="2764224"/>
            <a:ext cx="83826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/>
              <a:t>arrive     </a:t>
            </a:r>
            <a:r>
              <a:rPr lang="en-US" altLang="zh-TW" sz="3200" dirty="0">
                <a:solidFill>
                  <a:srgbClr val="FF0000"/>
                </a:solidFill>
              </a:rPr>
              <a:t>Taipei     </a:t>
            </a:r>
            <a:r>
              <a:rPr lang="en-US" altLang="zh-TW" sz="3200" dirty="0"/>
              <a:t>on     </a:t>
            </a:r>
            <a:r>
              <a:rPr lang="en-US" altLang="zh-TW" sz="3200" dirty="0">
                <a:solidFill>
                  <a:srgbClr val="0000FF"/>
                </a:solidFill>
              </a:rPr>
              <a:t>November     2</a:t>
            </a:r>
            <a:r>
              <a:rPr lang="en-US" altLang="zh-TW" sz="3200" baseline="30000" dirty="0">
                <a:solidFill>
                  <a:srgbClr val="0000FF"/>
                </a:solidFill>
              </a:rPr>
              <a:t>nd</a:t>
            </a:r>
            <a:r>
              <a:rPr lang="en-US" altLang="zh-TW" sz="3200" dirty="0"/>
              <a:t> </a:t>
            </a:r>
            <a:endParaRPr lang="en-US" altLang="zh-TW" sz="3200" dirty="0">
              <a:solidFill>
                <a:srgbClr val="FFC000"/>
              </a:solidFill>
            </a:endParaRPr>
          </a:p>
        </p:txBody>
      </p:sp>
      <p:cxnSp>
        <p:nvCxnSpPr>
          <p:cNvPr id="55" name="直線單箭頭接點 54"/>
          <p:cNvCxnSpPr/>
          <p:nvPr/>
        </p:nvCxnSpPr>
        <p:spPr>
          <a:xfrm>
            <a:off x="3395526" y="3390956"/>
            <a:ext cx="0" cy="6762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>
            <a:off x="5152205" y="3390956"/>
            <a:ext cx="0" cy="6762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6433938" y="3390956"/>
            <a:ext cx="0" cy="6762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>
            <a:off x="8121224" y="3390956"/>
            <a:ext cx="0" cy="6762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9664418" y="3390956"/>
            <a:ext cx="0" cy="6762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/>
          <p:cNvSpPr txBox="1"/>
          <p:nvPr/>
        </p:nvSpPr>
        <p:spPr>
          <a:xfrm>
            <a:off x="2806104" y="4122606"/>
            <a:ext cx="14052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>
              <a:defRPr/>
            </a:pPr>
            <a:r>
              <a:rPr lang="en-US" altLang="zh-TW" sz="3600" dirty="0"/>
              <a:t>other</a:t>
            </a:r>
            <a:endParaRPr lang="zh-TW" altLang="en-US" sz="36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5744516" y="4134046"/>
            <a:ext cx="14052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>
              <a:defRPr/>
            </a:pPr>
            <a:r>
              <a:rPr lang="en-US" altLang="zh-TW" sz="3600" dirty="0"/>
              <a:t>other</a:t>
            </a:r>
            <a:endParaRPr lang="zh-TW" altLang="en-US" sz="36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4503134" y="4081176"/>
            <a:ext cx="129814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>
                <a:solidFill>
                  <a:srgbClr val="FF0000"/>
                </a:solidFill>
              </a:rPr>
              <a:t>dest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7406637" y="4119753"/>
            <a:ext cx="142917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time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9028842" y="4130691"/>
            <a:ext cx="142917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time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2126111" y="6087979"/>
            <a:ext cx="83826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/>
              <a:t>leave     </a:t>
            </a:r>
            <a:r>
              <a:rPr lang="en-US" altLang="zh-TW" sz="3200" dirty="0">
                <a:solidFill>
                  <a:srgbClr val="00B050"/>
                </a:solidFill>
              </a:rPr>
              <a:t>Taipei</a:t>
            </a:r>
            <a:r>
              <a:rPr lang="en-US" altLang="zh-TW" sz="3200" dirty="0">
                <a:solidFill>
                  <a:srgbClr val="FF0000"/>
                </a:solidFill>
              </a:rPr>
              <a:t>     </a:t>
            </a:r>
            <a:r>
              <a:rPr lang="en-US" altLang="zh-TW" sz="3200" dirty="0"/>
              <a:t>on     </a:t>
            </a:r>
            <a:r>
              <a:rPr lang="en-US" altLang="zh-TW" sz="3200" dirty="0">
                <a:solidFill>
                  <a:srgbClr val="0000FF"/>
                </a:solidFill>
              </a:rPr>
              <a:t>November     2</a:t>
            </a:r>
            <a:r>
              <a:rPr lang="en-US" altLang="zh-TW" sz="3200" baseline="30000" dirty="0">
                <a:solidFill>
                  <a:srgbClr val="0000FF"/>
                </a:solidFill>
              </a:rPr>
              <a:t>nd</a:t>
            </a:r>
            <a:r>
              <a:rPr lang="en-US" altLang="zh-TW" sz="3200" dirty="0"/>
              <a:t> </a:t>
            </a:r>
            <a:endParaRPr lang="en-US" altLang="zh-TW" sz="3200" dirty="0">
              <a:solidFill>
                <a:srgbClr val="FFC000"/>
              </a:solidFill>
            </a:endParaRPr>
          </a:p>
        </p:txBody>
      </p:sp>
      <p:cxnSp>
        <p:nvCxnSpPr>
          <p:cNvPr id="77" name="直線單箭頭接點 76"/>
          <p:cNvCxnSpPr/>
          <p:nvPr/>
        </p:nvCxnSpPr>
        <p:spPr>
          <a:xfrm>
            <a:off x="5155712" y="6723359"/>
            <a:ext cx="0" cy="6762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方塊 77"/>
          <p:cNvSpPr txBox="1"/>
          <p:nvPr/>
        </p:nvSpPr>
        <p:spPr>
          <a:xfrm>
            <a:off x="3395526" y="7374311"/>
            <a:ext cx="438809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B050"/>
                </a:solidFill>
              </a:rPr>
              <a:t>place of departure</a:t>
            </a:r>
            <a:endParaRPr lang="zh-TW" altLang="en-US" sz="3600" dirty="0">
              <a:solidFill>
                <a:srgbClr val="00B050"/>
              </a:solidFill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2695683" y="8365209"/>
            <a:ext cx="4614500" cy="1383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4200" dirty="0"/>
              <a:t>Neural network needs memory!</a:t>
            </a:r>
            <a:endParaRPr lang="zh-TW" altLang="en-US" sz="42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10777839" y="1765302"/>
            <a:ext cx="142022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 err="1">
                <a:solidFill>
                  <a:srgbClr val="FF0000"/>
                </a:solidFill>
              </a:rPr>
              <a:t>dest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12952146" y="1245738"/>
            <a:ext cx="325611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time of departure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648752" y="4956019"/>
            <a:ext cx="2635082" cy="73723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4200" dirty="0"/>
              <a:t>Problem?</a:t>
            </a:r>
            <a:endParaRPr lang="zh-TW" altLang="en-US" sz="4200" dirty="0"/>
          </a:p>
        </p:txBody>
      </p:sp>
      <p:sp>
        <p:nvSpPr>
          <p:cNvPr id="85" name="圓角矩形圖說文字 84"/>
          <p:cNvSpPr/>
          <p:nvPr/>
        </p:nvSpPr>
        <p:spPr>
          <a:xfrm>
            <a:off x="2648753" y="2646722"/>
            <a:ext cx="7809261" cy="767790"/>
          </a:xfrm>
          <a:prstGeom prst="wedgeRoundRectCallout">
            <a:avLst>
              <a:gd name="adj1" fmla="val -55064"/>
              <a:gd name="adj2" fmla="val 51158"/>
              <a:gd name="adj3" fmla="val 16667"/>
            </a:avLst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6" name="圓角矩形圖說文字 85"/>
          <p:cNvSpPr/>
          <p:nvPr/>
        </p:nvSpPr>
        <p:spPr>
          <a:xfrm>
            <a:off x="2647032" y="6010964"/>
            <a:ext cx="7809261" cy="767790"/>
          </a:xfrm>
          <a:prstGeom prst="wedgeRoundRectCallout">
            <a:avLst>
              <a:gd name="adj1" fmla="val -55064"/>
              <a:gd name="adj2" fmla="val 51158"/>
              <a:gd name="adj3" fmla="val 16667"/>
            </a:avLst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7" name="矩形 86"/>
          <p:cNvSpPr/>
          <p:nvPr/>
        </p:nvSpPr>
        <p:spPr>
          <a:xfrm>
            <a:off x="2806104" y="2807762"/>
            <a:ext cx="1393245" cy="506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8" name="矩形 87"/>
          <p:cNvSpPr/>
          <p:nvPr/>
        </p:nvSpPr>
        <p:spPr>
          <a:xfrm>
            <a:off x="2826963" y="6141839"/>
            <a:ext cx="1393245" cy="506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0" grpId="0"/>
      <p:bldP spid="61" grpId="0"/>
      <p:bldP spid="62" grpId="0"/>
      <p:bldP spid="63" grpId="0"/>
      <p:bldP spid="64" grpId="0"/>
      <p:bldP spid="66" grpId="0"/>
      <p:bldP spid="78" grpId="0"/>
      <p:bldP spid="79" grpId="0" bldLvl="0" animBg="1"/>
      <p:bldP spid="84" grpId="0" bldLvl="0" animBg="1"/>
      <p:bldP spid="85" grpId="0" bldLvl="0" animBg="1"/>
      <p:bldP spid="86" grpId="0" bldLvl="0" animBg="1"/>
      <p:bldP spid="87" grpId="0" bldLvl="0" animBg="1"/>
      <p:bldP spid="88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wYzUxNzkwY2E3N2U1OThkZGUzYTRjZDY0NTk2MD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36FAAA-BCD0-4737-B7BF-714C4CFDEB51}">
  <ds:schemaRefs/>
</ds:datastoreItem>
</file>

<file path=customXml/itemProps2.xml><?xml version="1.0" encoding="utf-8"?>
<ds:datastoreItem xmlns:ds="http://schemas.openxmlformats.org/officeDocument/2006/customXml" ds:itemID="{3C6A4EEA-2556-441D-B20B-0657893061DE}">
  <ds:schemaRefs/>
</ds:datastoreItem>
</file>

<file path=customXml/itemProps3.xml><?xml version="1.0" encoding="utf-8"?>
<ds:datastoreItem xmlns:ds="http://schemas.openxmlformats.org/officeDocument/2006/customXml" ds:itemID="{BFA838ED-C12F-4A42-8E88-98BAC73D214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296</Words>
  <Application>Microsoft Macintosh PowerPoint</Application>
  <PresentationFormat>Custom</PresentationFormat>
  <Paragraphs>93</Paragraphs>
  <Slides>7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等线</vt:lpstr>
      <vt:lpstr>Arial</vt:lpstr>
      <vt:lpstr>Wingdings 2</vt:lpstr>
      <vt:lpstr>Breeze</vt:lpstr>
      <vt:lpstr>方程式</vt:lpstr>
      <vt:lpstr> Recurrent Neural Network</vt:lpstr>
      <vt:lpstr>Example Application</vt:lpstr>
      <vt:lpstr>Example Application</vt:lpstr>
      <vt:lpstr>1-of-N encoding</vt:lpstr>
      <vt:lpstr>Beyond 1-of-N encoding</vt:lpstr>
      <vt:lpstr>Example Application</vt:lpstr>
      <vt:lpstr>Example Application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23</cp:revision>
  <dcterms:created xsi:type="dcterms:W3CDTF">2019-02-13T16:04:00Z</dcterms:created>
  <dcterms:modified xsi:type="dcterms:W3CDTF">2024-04-02T14:30:13Z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2FDE17E7A9D6443A9C0CF1913E2AA2B7_12</vt:lpwstr>
  </property>
  <property fmtid="{D5CDD505-2E9C-101B-9397-08002B2CF9AE}" pid="5" name="KSOProductBuildVer">
    <vt:lpwstr>2052-12.1.0.16364</vt:lpwstr>
  </property>
</Properties>
</file>