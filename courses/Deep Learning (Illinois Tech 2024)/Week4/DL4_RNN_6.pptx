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66" r:id="rId5"/>
    <p:sldId id="292" r:id="rId6"/>
    <p:sldId id="293" r:id="rId7"/>
    <p:sldId id="294" r:id="rId8"/>
    <p:sldId id="295" r:id="rId9"/>
    <p:sldId id="296" r:id="rId10"/>
    <p:sldId id="297" r:id="rId11"/>
  </p:sldIdLst>
  <p:sldSz cx="18288000" cy="10287000"/>
  <p:notesSz cx="6858000" cy="9144000"/>
  <p:custDataLst>
    <p:tags r:id="rId1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14D70-CB4A-4E29-8919-69450F4BBD59}" v="16" dt="2024-03-18T02:53:43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23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C8C14D70-CB4A-4E29-8919-69450F4BBD59}"/>
    <pc:docChg chg="undo custSel modSld">
      <pc:chgData name="Kaiang Wen" userId="a219f04c-ae7d-4ada-9001-a33e528312f1" providerId="ADAL" clId="{C8C14D70-CB4A-4E29-8919-69450F4BBD59}" dt="2024-03-18T02:53:47.841" v="120" actId="167"/>
      <pc:docMkLst>
        <pc:docMk/>
      </pc:docMkLst>
      <pc:sldChg chg="modSp mod">
        <pc:chgData name="Kaiang Wen" userId="a219f04c-ae7d-4ada-9001-a33e528312f1" providerId="ADAL" clId="{C8C14D70-CB4A-4E29-8919-69450F4BBD59}" dt="2024-03-18T02:53:47.841" v="120" actId="167"/>
        <pc:sldMkLst>
          <pc:docMk/>
          <pc:sldMk cId="0" sldId="292"/>
        </pc:sldMkLst>
        <pc:spChg chg="mod">
          <ac:chgData name="Kaiang Wen" userId="a219f04c-ae7d-4ada-9001-a33e528312f1" providerId="ADAL" clId="{C8C14D70-CB4A-4E29-8919-69450F4BBD59}" dt="2024-03-18T02:53:43.949" v="118" actId="167"/>
          <ac:spMkLst>
            <pc:docMk/>
            <pc:sldMk cId="0" sldId="292"/>
            <ac:spMk id="3" creationId="{00000000-0000-0000-0000-000000000000}"/>
          </ac:spMkLst>
        </pc:spChg>
        <pc:spChg chg="mod ord">
          <ac:chgData name="Kaiang Wen" userId="a219f04c-ae7d-4ada-9001-a33e528312f1" providerId="ADAL" clId="{C8C14D70-CB4A-4E29-8919-69450F4BBD59}" dt="2024-03-18T02:53:47.841" v="120" actId="167"/>
          <ac:spMkLst>
            <pc:docMk/>
            <pc:sldMk cId="0" sldId="292"/>
            <ac:spMk id="4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5:47.264" v="108" actId="1035"/>
          <ac:spMkLst>
            <pc:docMk/>
            <pc:sldMk cId="0" sldId="292"/>
            <ac:spMk id="14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5:23.408" v="63" actId="1036"/>
          <ac:spMkLst>
            <pc:docMk/>
            <pc:sldMk cId="0" sldId="292"/>
            <ac:spMk id="22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5:23.408" v="63" actId="1036"/>
          <ac:spMkLst>
            <pc:docMk/>
            <pc:sldMk cId="0" sldId="292"/>
            <ac:spMk id="23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5:38.091" v="97" actId="1037"/>
          <ac:spMkLst>
            <pc:docMk/>
            <pc:sldMk cId="0" sldId="292"/>
            <ac:spMk id="24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5:38.091" v="97" actId="1037"/>
          <ac:spMkLst>
            <pc:docMk/>
            <pc:sldMk cId="0" sldId="292"/>
            <ac:spMk id="25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5:38.091" v="97" actId="1037"/>
          <ac:spMkLst>
            <pc:docMk/>
            <pc:sldMk cId="0" sldId="292"/>
            <ac:spMk id="26" creationId="{00000000-0000-0000-0000-000000000000}"/>
          </ac:spMkLst>
        </pc:spChg>
      </pc:sldChg>
      <pc:sldChg chg="modSp mod">
        <pc:chgData name="Kaiang Wen" userId="a219f04c-ae7d-4ada-9001-a33e528312f1" providerId="ADAL" clId="{C8C14D70-CB4A-4E29-8919-69450F4BBD59}" dt="2024-03-18T01:56:27.564" v="112" actId="255"/>
        <pc:sldMkLst>
          <pc:docMk/>
          <pc:sldMk cId="0" sldId="293"/>
        </pc:sldMkLst>
        <pc:spChg chg="mod ord">
          <ac:chgData name="Kaiang Wen" userId="a219f04c-ae7d-4ada-9001-a33e528312f1" providerId="ADAL" clId="{C8C14D70-CB4A-4E29-8919-69450F4BBD59}" dt="2024-03-18T01:56:27.564" v="112" actId="255"/>
          <ac:spMkLst>
            <pc:docMk/>
            <pc:sldMk cId="0" sldId="293"/>
            <ac:spMk id="9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6:05.282" v="109" actId="255"/>
          <ac:spMkLst>
            <pc:docMk/>
            <pc:sldMk cId="0" sldId="293"/>
            <ac:spMk id="11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6:05.282" v="109" actId="255"/>
          <ac:spMkLst>
            <pc:docMk/>
            <pc:sldMk cId="0" sldId="293"/>
            <ac:spMk id="13" creationId="{00000000-0000-0000-0000-000000000000}"/>
          </ac:spMkLst>
        </pc:spChg>
      </pc:sldChg>
      <pc:sldChg chg="modSp mod">
        <pc:chgData name="Kaiang Wen" userId="a219f04c-ae7d-4ada-9001-a33e528312f1" providerId="ADAL" clId="{C8C14D70-CB4A-4E29-8919-69450F4BBD59}" dt="2024-03-18T01:52:58.473" v="5" actId="1076"/>
        <pc:sldMkLst>
          <pc:docMk/>
          <pc:sldMk cId="0" sldId="294"/>
        </pc:sldMkLst>
        <pc:spChg chg="mod">
          <ac:chgData name="Kaiang Wen" userId="a219f04c-ae7d-4ada-9001-a33e528312f1" providerId="ADAL" clId="{C8C14D70-CB4A-4E29-8919-69450F4BBD59}" dt="2024-03-18T01:52:58.473" v="5" actId="1076"/>
          <ac:spMkLst>
            <pc:docMk/>
            <pc:sldMk cId="0" sldId="294"/>
            <ac:spMk id="38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2:49.192" v="3" actId="13822"/>
          <ac:spMkLst>
            <pc:docMk/>
            <pc:sldMk cId="0" sldId="294"/>
            <ac:spMk id="47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2:49.192" v="3" actId="13822"/>
          <ac:spMkLst>
            <pc:docMk/>
            <pc:sldMk cId="0" sldId="294"/>
            <ac:spMk id="48" creationId="{00000000-0000-0000-0000-000000000000}"/>
          </ac:spMkLst>
        </pc:spChg>
      </pc:sldChg>
      <pc:sldChg chg="modSp mod">
        <pc:chgData name="Kaiang Wen" userId="a219f04c-ae7d-4ada-9001-a33e528312f1" providerId="ADAL" clId="{C8C14D70-CB4A-4E29-8919-69450F4BBD59}" dt="2024-03-18T01:53:30.166" v="9" actId="1076"/>
        <pc:sldMkLst>
          <pc:docMk/>
          <pc:sldMk cId="0" sldId="295"/>
        </pc:sldMkLst>
        <pc:spChg chg="mod">
          <ac:chgData name="Kaiang Wen" userId="a219f04c-ae7d-4ada-9001-a33e528312f1" providerId="ADAL" clId="{C8C14D70-CB4A-4E29-8919-69450F4BBD59}" dt="2024-03-18T01:53:30.166" v="9" actId="1076"/>
          <ac:spMkLst>
            <pc:docMk/>
            <pc:sldMk cId="0" sldId="295"/>
            <ac:spMk id="10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3:15.972" v="8" actId="255"/>
          <ac:spMkLst>
            <pc:docMk/>
            <pc:sldMk cId="0" sldId="295"/>
            <ac:spMk id="64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3:15.972" v="8" actId="255"/>
          <ac:spMkLst>
            <pc:docMk/>
            <pc:sldMk cId="0" sldId="295"/>
            <ac:spMk id="65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3:15.972" v="8" actId="255"/>
          <ac:spMkLst>
            <pc:docMk/>
            <pc:sldMk cId="0" sldId="295"/>
            <ac:spMk id="66" creationId="{00000000-0000-0000-0000-000000000000}"/>
          </ac:spMkLst>
        </pc:spChg>
      </pc:sldChg>
      <pc:sldChg chg="modSp mod">
        <pc:chgData name="Kaiang Wen" userId="a219f04c-ae7d-4ada-9001-a33e528312f1" providerId="ADAL" clId="{C8C14D70-CB4A-4E29-8919-69450F4BBD59}" dt="2024-03-18T01:54:08.833" v="15" actId="13822"/>
        <pc:sldMkLst>
          <pc:docMk/>
          <pc:sldMk cId="0" sldId="296"/>
        </pc:sldMkLst>
        <pc:spChg chg="mod">
          <ac:chgData name="Kaiang Wen" userId="a219f04c-ae7d-4ada-9001-a33e528312f1" providerId="ADAL" clId="{C8C14D70-CB4A-4E29-8919-69450F4BBD59}" dt="2024-03-18T01:53:45.275" v="10" actId="167"/>
          <ac:spMkLst>
            <pc:docMk/>
            <pc:sldMk cId="0" sldId="296"/>
            <ac:spMk id="3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4:01.739" v="14" actId="1076"/>
          <ac:spMkLst>
            <pc:docMk/>
            <pc:sldMk cId="0" sldId="296"/>
            <ac:spMk id="42" creationId="{00000000-0000-0000-0000-000000000000}"/>
          </ac:spMkLst>
        </pc:spChg>
        <pc:spChg chg="mod">
          <ac:chgData name="Kaiang Wen" userId="a219f04c-ae7d-4ada-9001-a33e528312f1" providerId="ADAL" clId="{C8C14D70-CB4A-4E29-8919-69450F4BBD59}" dt="2024-03-18T01:54:08.833" v="15" actId="13822"/>
          <ac:spMkLst>
            <pc:docMk/>
            <pc:sldMk cId="0" sldId="296"/>
            <ac:spMk id="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05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57300" y="9534527"/>
            <a:ext cx="4114800" cy="547688"/>
          </a:xfrm>
        </p:spPr>
        <p:txBody>
          <a:bodyPr/>
          <a:lstStyle/>
          <a:p>
            <a:fld id="{CEBBACED-B8E9-4509-8BE7-E750025DDBA8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57900" y="9534527"/>
            <a:ext cx="6172200" cy="54768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915900" y="9534527"/>
            <a:ext cx="4114800" cy="547688"/>
          </a:xfrm>
        </p:spPr>
        <p:txBody>
          <a:bodyPr/>
          <a:lstStyle/>
          <a:p>
            <a:fld id="{DBA3D241-4C98-4CC4-A8E0-1604E5745E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Helpful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84005" y="2725969"/>
            <a:ext cx="7769583" cy="7066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28975" y="2738436"/>
            <a:ext cx="14463602" cy="7205663"/>
          </a:xfrm>
        </p:spPr>
        <p:txBody>
          <a:bodyPr>
            <a:normAutofit/>
          </a:bodyPr>
          <a:lstStyle/>
          <a:p>
            <a:r>
              <a:rPr lang="en-US" altLang="zh-TW" dirty="0"/>
              <a:t>Long Short-term Memory (LSTM)</a:t>
            </a:r>
          </a:p>
          <a:p>
            <a:pPr lvl="1"/>
            <a:r>
              <a:rPr lang="en-US" altLang="zh-TW" sz="4000" dirty="0"/>
              <a:t>Can deal with gradient vanishing (not gradient explode)</a:t>
            </a:r>
          </a:p>
          <a:p>
            <a:pPr lvl="1"/>
            <a:endParaRPr lang="en-US" altLang="zh-TW" dirty="0"/>
          </a:p>
        </p:txBody>
      </p:sp>
      <p:grpSp>
        <p:nvGrpSpPr>
          <p:cNvPr id="27" name="群組 26"/>
          <p:cNvGrpSpPr/>
          <p:nvPr/>
        </p:nvGrpSpPr>
        <p:grpSpPr>
          <a:xfrm>
            <a:off x="10555337" y="4349681"/>
            <a:ext cx="4260650" cy="5594418"/>
            <a:chOff x="5674917" y="905495"/>
            <a:chExt cx="2840433" cy="3729612"/>
          </a:xfrm>
        </p:grpSpPr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4917" y="905495"/>
              <a:ext cx="2840433" cy="3729612"/>
            </a:xfrm>
            <a:prstGeom prst="rect">
              <a:avLst/>
            </a:prstGeom>
          </p:spPr>
        </p:pic>
        <p:sp>
          <p:nvSpPr>
            <p:cNvPr id="21" name="文字方塊 20"/>
            <p:cNvSpPr txBox="1"/>
            <p:nvPr/>
          </p:nvSpPr>
          <p:spPr>
            <a:xfrm>
              <a:off x="7176980" y="3010324"/>
              <a:ext cx="948862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FF0000"/>
                  </a:solidFill>
                </a:rPr>
                <a:t>add</a:t>
              </a:r>
              <a:endParaRPr lang="zh-TW" altLang="en-US" sz="3600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Helpful Techniques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3999206" y="4268593"/>
            <a:ext cx="54477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3600" dirty="0"/>
              <a:t>Memory and input are </a:t>
            </a:r>
            <a:r>
              <a:rPr lang="en-US" altLang="zh-TW" sz="3600" b="1" i="1" u="sng" dirty="0"/>
              <a:t>added</a:t>
            </a:r>
            <a:endParaRPr lang="zh-TW" altLang="en-US" sz="3600" b="1" i="1" u="sng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999206" y="5538886"/>
            <a:ext cx="690269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3600" dirty="0"/>
              <a:t>The influence never disappears unless forget gate is closed</a:t>
            </a:r>
            <a:endParaRPr lang="zh-TW" altLang="en-US" sz="3600" dirty="0"/>
          </a:p>
        </p:txBody>
      </p:sp>
      <p:sp>
        <p:nvSpPr>
          <p:cNvPr id="24" name="向右箭號 23"/>
          <p:cNvSpPr/>
          <p:nvPr/>
        </p:nvSpPr>
        <p:spPr>
          <a:xfrm>
            <a:off x="4218911" y="7363181"/>
            <a:ext cx="936171" cy="5998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文字方塊 24"/>
          <p:cNvSpPr txBox="1"/>
          <p:nvPr/>
        </p:nvSpPr>
        <p:spPr>
          <a:xfrm>
            <a:off x="5289091" y="7282559"/>
            <a:ext cx="49594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No Gradient vanishing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289089" y="7831209"/>
            <a:ext cx="5645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(If forget gate is opened.)</a:t>
            </a:r>
            <a:endParaRPr lang="zh-TW" altLang="en-US" sz="3600" dirty="0"/>
          </a:p>
        </p:txBody>
      </p:sp>
      <p:sp>
        <p:nvSpPr>
          <p:cNvPr id="13" name="矩形 12"/>
          <p:cNvSpPr/>
          <p:nvPr/>
        </p:nvSpPr>
        <p:spPr>
          <a:xfrm>
            <a:off x="9144000" y="9589988"/>
            <a:ext cx="3059078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[Cho, EMNLP’14]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2121151" y="8706101"/>
            <a:ext cx="7325833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Gated Recurrent Unit (GRU): </a:t>
            </a:r>
          </a:p>
          <a:p>
            <a:pPr algn="ctr"/>
            <a:r>
              <a:rPr lang="en-US" altLang="zh-TW" sz="4200" dirty="0"/>
              <a:t>simpler than LSTM 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bldLvl="0" animBg="1"/>
      <p:bldP spid="25" grpId="0"/>
      <p:bldP spid="26" grpId="0"/>
      <p:bldP spid="13" grpId="0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967723" y="7885880"/>
            <a:ext cx="1157643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Vanilla</a:t>
            </a:r>
            <a:r>
              <a:rPr lang="zh-TW" altLang="en-US" sz="3600" dirty="0"/>
              <a:t> </a:t>
            </a:r>
            <a:r>
              <a:rPr lang="en-US" altLang="zh-TW" sz="3600" dirty="0"/>
              <a:t>RNN Initialized with Identity matrix + ReLU activation function </a:t>
            </a:r>
            <a:r>
              <a:rPr lang="en-US" altLang="zh-TW" sz="2000" dirty="0">
                <a:solidFill>
                  <a:srgbClr val="0000FF"/>
                </a:solidFill>
              </a:rPr>
              <a:t>[V. </a:t>
            </a:r>
            <a:r>
              <a:rPr lang="en-US" altLang="zh-TW" sz="2000" dirty="0" err="1">
                <a:solidFill>
                  <a:srgbClr val="0000FF"/>
                </a:solidFill>
              </a:rPr>
              <a:t>LQuoce</a:t>
            </a:r>
            <a:r>
              <a:rPr lang="en-US" altLang="zh-TW" sz="2000" dirty="0">
                <a:solidFill>
                  <a:srgbClr val="0000FF"/>
                </a:solidFill>
              </a:rPr>
              <a:t>, arXiv’15]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Helpful Techniques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425" y="3953945"/>
            <a:ext cx="4747535" cy="265434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67723" y="9122331"/>
            <a:ext cx="1278171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3600" dirty="0"/>
              <a:t>Outperform or be comparable with LSTM in 4 different tasks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5839323" y="6914466"/>
            <a:ext cx="38020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[Jan </a:t>
            </a:r>
            <a:r>
              <a:rPr lang="en-US" altLang="zh-TW" sz="2000" dirty="0" err="1">
                <a:solidFill>
                  <a:srgbClr val="0000FF"/>
                </a:solidFill>
              </a:rPr>
              <a:t>Koutnik</a:t>
            </a:r>
            <a:r>
              <a:rPr lang="en-US" altLang="zh-TW" sz="2000" dirty="0">
                <a:solidFill>
                  <a:srgbClr val="0000FF"/>
                </a:solidFill>
              </a:rPr>
              <a:t>, JMLR’14]</a:t>
            </a:r>
          </a:p>
        </p:txBody>
      </p:sp>
      <p:sp>
        <p:nvSpPr>
          <p:cNvPr id="12" name="矩形 11"/>
          <p:cNvSpPr/>
          <p:nvPr/>
        </p:nvSpPr>
        <p:spPr>
          <a:xfrm>
            <a:off x="4390164" y="2930019"/>
            <a:ext cx="3484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3600" dirty="0"/>
              <a:t>Clockwise RNN </a:t>
            </a:r>
          </a:p>
        </p:txBody>
      </p:sp>
      <p:sp>
        <p:nvSpPr>
          <p:cNvPr id="13" name="矩形 12"/>
          <p:cNvSpPr/>
          <p:nvPr/>
        </p:nvSpPr>
        <p:spPr>
          <a:xfrm>
            <a:off x="11596932" y="6846176"/>
            <a:ext cx="39696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FF"/>
                </a:solidFill>
              </a:rPr>
              <a:t>[Tomas </a:t>
            </a:r>
            <a:r>
              <a:rPr lang="en-US" altLang="zh-TW" sz="2000" dirty="0" err="1">
                <a:solidFill>
                  <a:srgbClr val="0000FF"/>
                </a:solidFill>
              </a:rPr>
              <a:t>Mikolov</a:t>
            </a:r>
            <a:r>
              <a:rPr lang="en-US" altLang="zh-TW" sz="2000" dirty="0">
                <a:solidFill>
                  <a:srgbClr val="0000FF"/>
                </a:solidFill>
              </a:rPr>
              <a:t>, ICLR’15]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41351" y="2654786"/>
            <a:ext cx="566768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3600" dirty="0"/>
              <a:t>Structurally Constrained Recurrent Network (SCRN)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723" y="3928752"/>
            <a:ext cx="6728186" cy="27770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Applications ……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58841" y="7244801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4287414" y="5522484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4258841" y="3840446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8413988" y="7223190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8442561" y="5552633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 8"/>
          <p:cNvSpPr/>
          <p:nvPr/>
        </p:nvSpPr>
        <p:spPr>
          <a:xfrm>
            <a:off x="6128165" y="5486156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8442561" y="3851747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12639173" y="723251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12667746" y="5561960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10353350" y="5552633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12702176" y="3880175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上箭號 14"/>
          <p:cNvSpPr/>
          <p:nvPr/>
        </p:nvSpPr>
        <p:spPr>
          <a:xfrm>
            <a:off x="4775142" y="626786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向上箭號 15"/>
          <p:cNvSpPr/>
          <p:nvPr/>
        </p:nvSpPr>
        <p:spPr>
          <a:xfrm>
            <a:off x="4775144" y="455249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文字方塊 16"/>
          <p:cNvSpPr txBox="1"/>
          <p:nvPr/>
        </p:nvSpPr>
        <p:spPr>
          <a:xfrm>
            <a:off x="6312461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8" name="手繪多邊形 17"/>
          <p:cNvSpPr/>
          <p:nvPr/>
        </p:nvSpPr>
        <p:spPr>
          <a:xfrm flipH="1">
            <a:off x="5878839" y="5139458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文字方塊 18"/>
          <p:cNvSpPr txBox="1"/>
          <p:nvPr/>
        </p:nvSpPr>
        <p:spPr>
          <a:xfrm>
            <a:off x="10462944" y="4623954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store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460333" y="720742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8571882" y="72231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831497" y="721791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4384470" y="381959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8602256" y="379137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2897815" y="3827762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26" name="向上箭號 25"/>
          <p:cNvSpPr/>
          <p:nvPr/>
        </p:nvSpPr>
        <p:spPr>
          <a:xfrm>
            <a:off x="8967665" y="6308112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向上箭號 26"/>
          <p:cNvSpPr/>
          <p:nvPr/>
        </p:nvSpPr>
        <p:spPr>
          <a:xfrm>
            <a:off x="8967666" y="4592736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向上箭號 27"/>
          <p:cNvSpPr/>
          <p:nvPr/>
        </p:nvSpPr>
        <p:spPr>
          <a:xfrm>
            <a:off x="13194237" y="6314213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向上箭號 28"/>
          <p:cNvSpPr/>
          <p:nvPr/>
        </p:nvSpPr>
        <p:spPr>
          <a:xfrm>
            <a:off x="13194239" y="4598837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弧形箭號 (上彎) 29"/>
          <p:cNvSpPr/>
          <p:nvPr/>
        </p:nvSpPr>
        <p:spPr>
          <a:xfrm>
            <a:off x="6960971" y="6199893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1" name="弧形箭號 (上彎) 30"/>
          <p:cNvSpPr/>
          <p:nvPr/>
        </p:nvSpPr>
        <p:spPr>
          <a:xfrm>
            <a:off x="11061492" y="6207786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32" name="手繪多邊形 31"/>
          <p:cNvSpPr/>
          <p:nvPr/>
        </p:nvSpPr>
        <p:spPr>
          <a:xfrm flipH="1">
            <a:off x="10023018" y="5129015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文字方塊 32"/>
          <p:cNvSpPr txBox="1"/>
          <p:nvPr/>
        </p:nvSpPr>
        <p:spPr>
          <a:xfrm>
            <a:off x="4917102" y="495996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405038" y="5454860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559506" y="551171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9315318" y="4989854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3561580" y="4977281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38" name="矩形 37"/>
          <p:cNvSpPr/>
          <p:nvPr/>
        </p:nvSpPr>
        <p:spPr>
          <a:xfrm>
            <a:off x="4949477" y="8856375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pic>
        <p:nvPicPr>
          <p:cNvPr id="39" name="Picture 8" descr="User Symbol Blue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579" y="8812922"/>
            <a:ext cx="745671" cy="114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圓角矩形圖說文字 39"/>
          <p:cNvSpPr/>
          <p:nvPr/>
        </p:nvSpPr>
        <p:spPr>
          <a:xfrm>
            <a:off x="5581371" y="8812922"/>
            <a:ext cx="7980209" cy="767790"/>
          </a:xfrm>
          <a:prstGeom prst="wedgeRoundRectCallout">
            <a:avLst>
              <a:gd name="adj1" fmla="val -61795"/>
              <a:gd name="adj2" fmla="val 34144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1" name="直線單箭頭接點 40"/>
          <p:cNvCxnSpPr>
            <a:endCxn id="20" idx="2"/>
          </p:cNvCxnSpPr>
          <p:nvPr/>
        </p:nvCxnSpPr>
        <p:spPr>
          <a:xfrm flipH="1" flipV="1">
            <a:off x="9997809" y="11778505"/>
            <a:ext cx="1317983" cy="1178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V="1">
            <a:off x="7991729" y="7865891"/>
            <a:ext cx="1175559" cy="11910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9438582" y="7925165"/>
            <a:ext cx="3755655" cy="1124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3141443" y="2430581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“arrive” in each slot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494278" y="2417846"/>
            <a:ext cx="40461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</a:t>
            </a:r>
            <a:r>
              <a:rPr lang="en-US" altLang="zh-TW" sz="3600" dirty="0">
                <a:solidFill>
                  <a:srgbClr val="FF0000"/>
                </a:solidFill>
              </a:rPr>
              <a:t>Taipei</a:t>
            </a:r>
            <a:r>
              <a:rPr lang="en-US" altLang="zh-TW" sz="3600" dirty="0"/>
              <a:t>” in each slot</a:t>
            </a:r>
            <a:endParaRPr lang="zh-TW" altLang="en-US" sz="36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11867829" y="2433503"/>
            <a:ext cx="349788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Probability of “on” in each slot</a:t>
            </a:r>
            <a:endParaRPr lang="zh-TW" altLang="en-US" sz="36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206237" y="4372865"/>
            <a:ext cx="8464688" cy="1383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Input and output are both sequences with the same length</a:t>
            </a:r>
            <a:endParaRPr lang="zh-TW" altLang="en-US" sz="42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5214752" y="6209960"/>
            <a:ext cx="8464688" cy="7372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RNN can do more than that!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Many to one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Input is a vector sequence, but output is only one vector</a:t>
            </a:r>
            <a:endParaRPr lang="zh-TW" altLang="en-US" sz="3600" b="1" i="1" u="sng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741248" y="3158257"/>
            <a:ext cx="407181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i="1" u="sng" dirty="0"/>
              <a:t>Sentiment Analysis</a:t>
            </a:r>
            <a:endParaRPr lang="zh-TW" altLang="en-US" sz="3600" b="1" i="1" u="sng" dirty="0"/>
          </a:p>
        </p:txBody>
      </p:sp>
      <p:sp>
        <p:nvSpPr>
          <p:cNvPr id="18" name="矩形 17"/>
          <p:cNvSpPr/>
          <p:nvPr/>
        </p:nvSpPr>
        <p:spPr>
          <a:xfrm>
            <a:off x="4168133" y="7423890"/>
            <a:ext cx="692499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9" name="矩形 18"/>
          <p:cNvSpPr/>
          <p:nvPr/>
        </p:nvSpPr>
        <p:spPr>
          <a:xfrm>
            <a:off x="5606519" y="7423890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0" name="矩形 19"/>
          <p:cNvSpPr/>
          <p:nvPr/>
        </p:nvSpPr>
        <p:spPr>
          <a:xfrm>
            <a:off x="10199736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1" name="矩形 20"/>
          <p:cNvSpPr/>
          <p:nvPr/>
        </p:nvSpPr>
        <p:spPr>
          <a:xfrm>
            <a:off x="11643353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矩形 21"/>
          <p:cNvSpPr/>
          <p:nvPr/>
        </p:nvSpPr>
        <p:spPr>
          <a:xfrm>
            <a:off x="13086969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13420764" y="6943638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19" idx="1"/>
          </p:cNvCxnSpPr>
          <p:nvPr/>
        </p:nvCxnSpPr>
        <p:spPr>
          <a:xfrm>
            <a:off x="4888082" y="809889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6313713" y="8103053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10913883" y="8111378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12339504" y="811554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9481299" y="8103053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4545539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5978567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8451300" y="7582151"/>
            <a:ext cx="16546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B050"/>
                </a:solidFill>
              </a:rPr>
              <a:t>……</a:t>
            </a:r>
            <a:endParaRPr lang="zh-TW" altLang="en-US" sz="4200" dirty="0">
              <a:solidFill>
                <a:srgbClr val="00B050"/>
              </a:solidFill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10559793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12017759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13465566" y="8773890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055688" y="9247947"/>
            <a:ext cx="1046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This</a:t>
            </a:r>
          </a:p>
        </p:txBody>
      </p:sp>
      <p:sp>
        <p:nvSpPr>
          <p:cNvPr id="47" name="矩形 46"/>
          <p:cNvSpPr/>
          <p:nvPr/>
        </p:nvSpPr>
        <p:spPr>
          <a:xfrm>
            <a:off x="7082021" y="7428053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7789215" y="8107215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7454069" y="8778053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295597" y="9247947"/>
            <a:ext cx="151746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/>
              <a:t>movie</a:t>
            </a:r>
            <a:endParaRPr lang="en-US" altLang="zh-TW" sz="3600" dirty="0"/>
          </a:p>
        </p:txBody>
      </p:sp>
      <p:sp>
        <p:nvSpPr>
          <p:cNvPr id="51" name="矩形 50"/>
          <p:cNvSpPr/>
          <p:nvPr/>
        </p:nvSpPr>
        <p:spPr>
          <a:xfrm>
            <a:off x="10199736" y="9304241"/>
            <a:ext cx="1275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really</a:t>
            </a:r>
          </a:p>
        </p:txBody>
      </p:sp>
      <p:sp>
        <p:nvSpPr>
          <p:cNvPr id="52" name="矩形 51"/>
          <p:cNvSpPr/>
          <p:nvPr/>
        </p:nvSpPr>
        <p:spPr>
          <a:xfrm>
            <a:off x="7084736" y="9260340"/>
            <a:ext cx="51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is</a:t>
            </a:r>
          </a:p>
        </p:txBody>
      </p:sp>
      <p:sp>
        <p:nvSpPr>
          <p:cNvPr id="53" name="矩形 52"/>
          <p:cNvSpPr/>
          <p:nvPr/>
        </p:nvSpPr>
        <p:spPr>
          <a:xfrm>
            <a:off x="11653706" y="9310415"/>
            <a:ext cx="817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too</a:t>
            </a:r>
          </a:p>
        </p:txBody>
      </p:sp>
      <p:sp>
        <p:nvSpPr>
          <p:cNvPr id="54" name="矩形 53"/>
          <p:cNvSpPr/>
          <p:nvPr/>
        </p:nvSpPr>
        <p:spPr>
          <a:xfrm>
            <a:off x="13016982" y="9325154"/>
            <a:ext cx="944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/>
              <a:t>bad</a:t>
            </a:r>
            <a:endParaRPr lang="en-US" altLang="zh-TW" sz="3600" dirty="0"/>
          </a:p>
        </p:txBody>
      </p:sp>
      <p:grpSp>
        <p:nvGrpSpPr>
          <p:cNvPr id="11" name="群組 10"/>
          <p:cNvGrpSpPr/>
          <p:nvPr/>
        </p:nvGrpSpPr>
        <p:grpSpPr>
          <a:xfrm>
            <a:off x="13022025" y="3558827"/>
            <a:ext cx="697730" cy="3384921"/>
            <a:chOff x="6774969" y="2139801"/>
            <a:chExt cx="465153" cy="2256614"/>
          </a:xfrm>
        </p:grpSpPr>
        <p:sp>
          <p:nvSpPr>
            <p:cNvPr id="26" name="矩形 25"/>
            <p:cNvSpPr/>
            <p:nvPr/>
          </p:nvSpPr>
          <p:spPr>
            <a:xfrm>
              <a:off x="6774969" y="2139801"/>
              <a:ext cx="465153" cy="225661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p:sp>
          <p:nvSpPr>
            <p:cNvPr id="4" name="橢圓 3"/>
            <p:cNvSpPr/>
            <p:nvPr/>
          </p:nvSpPr>
          <p:spPr>
            <a:xfrm>
              <a:off x="6816791" y="2587914"/>
              <a:ext cx="381507" cy="3815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5" name="橢圓 54"/>
            <p:cNvSpPr/>
            <p:nvPr/>
          </p:nvSpPr>
          <p:spPr>
            <a:xfrm>
              <a:off x="6816791" y="3499459"/>
              <a:ext cx="381507" cy="38150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6" name="橢圓 55"/>
            <p:cNvSpPr/>
            <p:nvPr/>
          </p:nvSpPr>
          <p:spPr>
            <a:xfrm>
              <a:off x="6816791" y="3037957"/>
              <a:ext cx="381507" cy="38150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7" name="橢圓 56"/>
            <p:cNvSpPr/>
            <p:nvPr/>
          </p:nvSpPr>
          <p:spPr>
            <a:xfrm>
              <a:off x="6818786" y="3934184"/>
              <a:ext cx="381507" cy="38150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58" name="橢圓 57"/>
            <p:cNvSpPr/>
            <p:nvPr/>
          </p:nvSpPr>
          <p:spPr>
            <a:xfrm>
              <a:off x="6816791" y="2156426"/>
              <a:ext cx="381507" cy="3815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59" name="矩形 58"/>
          <p:cNvSpPr/>
          <p:nvPr/>
        </p:nvSpPr>
        <p:spPr>
          <a:xfrm>
            <a:off x="13734369" y="3522938"/>
            <a:ext cx="218059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Awesome</a:t>
            </a:r>
            <a:endParaRPr lang="zh-TW" altLang="en-US" sz="3600" dirty="0"/>
          </a:p>
        </p:txBody>
      </p:sp>
      <p:sp>
        <p:nvSpPr>
          <p:cNvPr id="60" name="矩形 59"/>
          <p:cNvSpPr/>
          <p:nvPr/>
        </p:nvSpPr>
        <p:spPr>
          <a:xfrm>
            <a:off x="13738925" y="4170876"/>
            <a:ext cx="1300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Good</a:t>
            </a:r>
            <a:endParaRPr lang="zh-TW" altLang="en-US" sz="3600" dirty="0"/>
          </a:p>
        </p:txBody>
      </p:sp>
      <p:sp>
        <p:nvSpPr>
          <p:cNvPr id="61" name="矩形 60"/>
          <p:cNvSpPr/>
          <p:nvPr/>
        </p:nvSpPr>
        <p:spPr>
          <a:xfrm>
            <a:off x="13718391" y="4818815"/>
            <a:ext cx="1656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Normal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3728657" y="5535032"/>
            <a:ext cx="995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Bad</a:t>
            </a:r>
            <a:endParaRPr lang="zh-TW" altLang="en-US" sz="3600" dirty="0"/>
          </a:p>
        </p:txBody>
      </p:sp>
      <p:sp>
        <p:nvSpPr>
          <p:cNvPr id="63" name="矩形 62"/>
          <p:cNvSpPr/>
          <p:nvPr/>
        </p:nvSpPr>
        <p:spPr>
          <a:xfrm>
            <a:off x="13759242" y="6182970"/>
            <a:ext cx="1681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Terrible</a:t>
            </a:r>
            <a:endParaRPr lang="zh-TW" altLang="en-US" sz="3600" dirty="0"/>
          </a:p>
        </p:txBody>
      </p:sp>
      <p:sp>
        <p:nvSpPr>
          <p:cNvPr id="64" name="摺角紙張 63"/>
          <p:cNvSpPr/>
          <p:nvPr/>
        </p:nvSpPr>
        <p:spPr>
          <a:xfrm>
            <a:off x="3293093" y="4637756"/>
            <a:ext cx="2743200" cy="1333647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600" dirty="0"/>
              <a:t>Feel great after watching this movie …….</a:t>
            </a:r>
            <a:endParaRPr lang="zh-TW" altLang="en-US" sz="2600" dirty="0"/>
          </a:p>
        </p:txBody>
      </p:sp>
      <p:sp>
        <p:nvSpPr>
          <p:cNvPr id="65" name="摺角紙張 64"/>
          <p:cNvSpPr/>
          <p:nvPr/>
        </p:nvSpPr>
        <p:spPr>
          <a:xfrm>
            <a:off x="6433449" y="4662407"/>
            <a:ext cx="2743200" cy="1333647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600" dirty="0"/>
              <a:t>This movie is too bad</a:t>
            </a:r>
          </a:p>
          <a:p>
            <a:pPr algn="ctr"/>
            <a:r>
              <a:rPr lang="en-US" altLang="zh-TW" sz="2600" dirty="0"/>
              <a:t>…….</a:t>
            </a:r>
            <a:endParaRPr lang="zh-TW" altLang="en-US" sz="2600" dirty="0"/>
          </a:p>
        </p:txBody>
      </p:sp>
      <p:sp>
        <p:nvSpPr>
          <p:cNvPr id="66" name="摺角紙張 65"/>
          <p:cNvSpPr/>
          <p:nvPr/>
        </p:nvSpPr>
        <p:spPr>
          <a:xfrm>
            <a:off x="9590121" y="4637756"/>
            <a:ext cx="2743200" cy="1333647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2600" dirty="0"/>
          </a:p>
          <a:p>
            <a:pPr algn="ctr"/>
            <a:r>
              <a:rPr lang="en-US" altLang="zh-TW" sz="2600" dirty="0"/>
              <a:t>This movie is awesome …….</a:t>
            </a:r>
            <a:endParaRPr lang="zh-TW" altLang="en-US" sz="26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3640589" y="6025621"/>
            <a:ext cx="21060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Positive 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885486" y="5986313"/>
            <a:ext cx="215222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Negative 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0176588" y="5993844"/>
            <a:ext cx="20421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>
                <a:solidFill>
                  <a:srgbClr val="FF0000"/>
                </a:solidFill>
              </a:rPr>
              <a:t>Positive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527445" y="9108209"/>
            <a:ext cx="16546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42" grpId="0"/>
      <p:bldP spid="46" grpId="0"/>
      <p:bldP spid="47" grpId="0" bldLvl="0" animBg="1"/>
      <p:bldP spid="50" grpId="0"/>
      <p:bldP spid="51" grpId="0"/>
      <p:bldP spid="52" grpId="0"/>
      <p:bldP spid="53" grpId="0"/>
      <p:bldP spid="54" grpId="0"/>
      <p:bldP spid="59" grpId="0"/>
      <p:bldP spid="60" grpId="0"/>
      <p:bldP spid="61" grpId="0"/>
      <p:bldP spid="62" grpId="0"/>
      <p:bldP spid="63" grpId="0"/>
      <p:bldP spid="64" grpId="0" bldLvl="0" animBg="1"/>
      <p:bldP spid="65" grpId="0" bldLvl="0" animBg="1"/>
      <p:bldP spid="66" grpId="0" bldLvl="0" animBg="1"/>
      <p:bldP spid="67" grpId="0"/>
      <p:bldP spid="68" grpId="0"/>
      <p:bldP spid="69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Input an image, but output a sequence of words</a:t>
            </a:r>
            <a:endParaRPr lang="zh-TW" altLang="en-US" sz="3600" b="1" i="1" u="sng" dirty="0"/>
          </a:p>
          <a:p>
            <a:endParaRPr lang="zh-TW" altLang="en-US" sz="36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Demo: Image Caption Generation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613" y="7552533"/>
            <a:ext cx="2138735" cy="213873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5550986" y="7998651"/>
            <a:ext cx="22266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 image</a:t>
            </a:r>
            <a:endParaRPr lang="zh-TW" altLang="en-US" sz="3600" dirty="0"/>
          </a:p>
        </p:txBody>
      </p:sp>
      <p:sp>
        <p:nvSpPr>
          <p:cNvPr id="21" name="矩形 20"/>
          <p:cNvSpPr/>
          <p:nvPr/>
        </p:nvSpPr>
        <p:spPr>
          <a:xfrm>
            <a:off x="7746186" y="5791706"/>
            <a:ext cx="692499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" name="矩形 21"/>
          <p:cNvSpPr/>
          <p:nvPr/>
        </p:nvSpPr>
        <p:spPr>
          <a:xfrm>
            <a:off x="9184572" y="5791706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3" name="矩形 22"/>
          <p:cNvSpPr/>
          <p:nvPr/>
        </p:nvSpPr>
        <p:spPr>
          <a:xfrm>
            <a:off x="10628189" y="5791706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600469" y="457517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8566228" y="4575174"/>
            <a:ext cx="1804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woman</a:t>
            </a:r>
            <a:endParaRPr lang="zh-TW" altLang="en-US" sz="3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0477590" y="457517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is</a:t>
            </a:r>
            <a:endParaRPr lang="zh-TW" altLang="en-US" sz="3600" dirty="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8115539" y="7126827"/>
            <a:ext cx="0" cy="4690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8071956" y="5332338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9515573" y="5332338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10959189" y="5307291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endCxn id="22" idx="1"/>
          </p:cNvCxnSpPr>
          <p:nvPr/>
        </p:nvCxnSpPr>
        <p:spPr>
          <a:xfrm>
            <a:off x="8466135" y="6466706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9891767" y="6470868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11390136" y="645795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12170300" y="5956302"/>
            <a:ext cx="16546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B050"/>
                </a:solidFill>
              </a:rPr>
              <a:t>……</a:t>
            </a:r>
            <a:endParaRPr lang="zh-TW" altLang="en-US" sz="4200" dirty="0">
              <a:solidFill>
                <a:srgbClr val="00B050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975308" y="5801549"/>
            <a:ext cx="697730" cy="135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51" name="文字方塊 50"/>
          <p:cNvSpPr txBox="1"/>
          <p:nvPr/>
        </p:nvSpPr>
        <p:spPr>
          <a:xfrm rot="10800000">
            <a:off x="13605554" y="4603361"/>
            <a:ext cx="137230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===</a:t>
            </a:r>
            <a:endParaRPr lang="zh-TW" altLang="en-US" sz="3600" b="1" dirty="0"/>
          </a:p>
        </p:txBody>
      </p:sp>
      <p:cxnSp>
        <p:nvCxnSpPr>
          <p:cNvPr id="52" name="直線單箭頭接點 51"/>
          <p:cNvCxnSpPr/>
          <p:nvPr/>
        </p:nvCxnSpPr>
        <p:spPr>
          <a:xfrm flipV="1">
            <a:off x="14309103" y="5317134"/>
            <a:ext cx="0" cy="469062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13199327" y="6475070"/>
            <a:ext cx="71843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梯形 43"/>
          <p:cNvSpPr/>
          <p:nvPr/>
        </p:nvSpPr>
        <p:spPr>
          <a:xfrm>
            <a:off x="3146909" y="5766867"/>
            <a:ext cx="2404077" cy="1359843"/>
          </a:xfrm>
          <a:prstGeom prst="trapezoi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CNN</a:t>
            </a:r>
            <a:endParaRPr lang="zh-TW" altLang="en-US" sz="3600" dirty="0"/>
          </a:p>
        </p:txBody>
      </p:sp>
      <p:sp>
        <p:nvSpPr>
          <p:cNvPr id="50" name="矩形 49"/>
          <p:cNvSpPr/>
          <p:nvPr/>
        </p:nvSpPr>
        <p:spPr>
          <a:xfrm>
            <a:off x="4002698" y="3915603"/>
            <a:ext cx="692499" cy="1169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55" name="直線單箭頭接點 54"/>
          <p:cNvCxnSpPr/>
          <p:nvPr/>
        </p:nvCxnSpPr>
        <p:spPr>
          <a:xfrm flipV="1">
            <a:off x="4373544" y="7105311"/>
            <a:ext cx="0" cy="12362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4348947" y="5059110"/>
            <a:ext cx="0" cy="7077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7773636" y="7595889"/>
            <a:ext cx="692499" cy="1169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64" name="直線單箭頭接點 63"/>
          <p:cNvCxnSpPr/>
          <p:nvPr/>
        </p:nvCxnSpPr>
        <p:spPr>
          <a:xfrm>
            <a:off x="8285300" y="5038787"/>
            <a:ext cx="876362" cy="11805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>
            <a:off x="9616029" y="5148852"/>
            <a:ext cx="1012160" cy="10704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11065899" y="5222370"/>
            <a:ext cx="1052258" cy="996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834463" y="3568050"/>
            <a:ext cx="22266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 vector for whole image</a:t>
            </a:r>
            <a:endParaRPr lang="zh-TW" altLang="en-US" sz="3600" dirty="0"/>
          </a:p>
        </p:txBody>
      </p:sp>
      <p:sp>
        <p:nvSpPr>
          <p:cNvPr id="4" name="手繪多邊形 3"/>
          <p:cNvSpPr/>
          <p:nvPr/>
        </p:nvSpPr>
        <p:spPr>
          <a:xfrm>
            <a:off x="6400800" y="5038787"/>
            <a:ext cx="1371600" cy="3190814"/>
          </a:xfrm>
          <a:custGeom>
            <a:avLst/>
            <a:gdLst>
              <a:gd name="connsiteX0" fmla="*/ 0 w 914400"/>
              <a:gd name="connsiteY0" fmla="*/ 0 h 2114550"/>
              <a:gd name="connsiteX1" fmla="*/ 285750 w 914400"/>
              <a:gd name="connsiteY1" fmla="*/ 476250 h 2114550"/>
              <a:gd name="connsiteX2" fmla="*/ 381000 w 914400"/>
              <a:gd name="connsiteY2" fmla="*/ 1828800 h 2114550"/>
              <a:gd name="connsiteX3" fmla="*/ 914400 w 914400"/>
              <a:gd name="connsiteY3" fmla="*/ 2114550 h 211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2114550">
                <a:moveTo>
                  <a:pt x="0" y="0"/>
                </a:moveTo>
                <a:cubicBezTo>
                  <a:pt x="111125" y="85725"/>
                  <a:pt x="222250" y="171450"/>
                  <a:pt x="285750" y="476250"/>
                </a:cubicBezTo>
                <a:cubicBezTo>
                  <a:pt x="349250" y="781050"/>
                  <a:pt x="276225" y="1555750"/>
                  <a:pt x="381000" y="1828800"/>
                </a:cubicBezTo>
                <a:cubicBezTo>
                  <a:pt x="485775" y="2101850"/>
                  <a:pt x="700087" y="2108200"/>
                  <a:pt x="914400" y="211455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9294834" y="2775971"/>
            <a:ext cx="4423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[Kelvin Xu, arXiv’15][Li Yao, ICCV’15]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9659481" y="8564013"/>
            <a:ext cx="5013558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Caption Generation</a:t>
            </a:r>
            <a:endParaRPr lang="zh-TW" altLang="en-US" sz="42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 bldLvl="0" animBg="1"/>
      <p:bldP spid="22" grpId="0" bldLvl="0" animBg="1"/>
      <p:bldP spid="23" grpId="0" bldLvl="0" animBg="1"/>
      <p:bldP spid="30" grpId="0"/>
      <p:bldP spid="31" grpId="0"/>
      <p:bldP spid="32" grpId="0"/>
      <p:bldP spid="47" grpId="0"/>
      <p:bldP spid="49" grpId="0" bldLvl="0" animBg="1"/>
      <p:bldP spid="51" grpId="0"/>
      <p:bldP spid="44" grpId="0" bldLvl="0" animBg="1"/>
      <p:bldP spid="50" grpId="0" bldLvl="0" animBg="1"/>
      <p:bldP spid="57" grpId="0" bldLvl="0" animBg="1"/>
      <p:bldP spid="67" grpId="0"/>
      <p:bldP spid="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 Learn More ……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Unreasonable Effectiveness of Recurrent Neural Networks</a:t>
            </a:r>
          </a:p>
          <a:p>
            <a:pPr lvl="1"/>
            <a:r>
              <a:rPr lang="en-US" altLang="zh-TW" sz="4200" dirty="0"/>
              <a:t>http://karpathy.github.io/2015/05/21/rnn-effectiveness/</a:t>
            </a:r>
          </a:p>
          <a:p>
            <a:r>
              <a:rPr lang="en-US" altLang="zh-TW" dirty="0"/>
              <a:t>Understanding LSTM Networks</a:t>
            </a:r>
          </a:p>
          <a:p>
            <a:pPr lvl="1"/>
            <a:r>
              <a:rPr lang="en-US" altLang="zh-TW" sz="4200" dirty="0"/>
              <a:t>http://colah.github.io/posts/2015-08-Understanding-LSTMs/</a:t>
            </a:r>
          </a:p>
          <a:p>
            <a:pPr lvl="1"/>
            <a:endParaRPr lang="zh-TW" altLang="en-US" sz="4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BFA838ED-C12F-4A42-8E88-98BAC73D21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313</Words>
  <Application>Microsoft Macintosh PowerPoint</Application>
  <PresentationFormat>Custom</PresentationFormat>
  <Paragraphs>86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Arial</vt:lpstr>
      <vt:lpstr>Wingdings</vt:lpstr>
      <vt:lpstr>Wingdings 2</vt:lpstr>
      <vt:lpstr>Breeze</vt:lpstr>
      <vt:lpstr> Helpful Techniques</vt:lpstr>
      <vt:lpstr>Helpful Techniques</vt:lpstr>
      <vt:lpstr>Helpful Techniques</vt:lpstr>
      <vt:lpstr>More Applications ……</vt:lpstr>
      <vt:lpstr>Many to one</vt:lpstr>
      <vt:lpstr>Demo: Image Caption Generation</vt:lpstr>
      <vt:lpstr>To Learn More ……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24</cp:revision>
  <dcterms:created xsi:type="dcterms:W3CDTF">2019-02-13T16:04:00Z</dcterms:created>
  <dcterms:modified xsi:type="dcterms:W3CDTF">2024-04-02T14:51:38Z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