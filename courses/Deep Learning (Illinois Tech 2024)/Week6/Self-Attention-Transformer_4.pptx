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336" r:id="rId2"/>
    <p:sldId id="267" r:id="rId3"/>
    <p:sldId id="268" r:id="rId4"/>
    <p:sldId id="269" r:id="rId5"/>
    <p:sldId id="330" r:id="rId6"/>
    <p:sldId id="331" r:id="rId7"/>
    <p:sldId id="332" r:id="rId8"/>
    <p:sldId id="333" r:id="rId9"/>
    <p:sldId id="334" r:id="rId10"/>
    <p:sldId id="335" r:id="rId11"/>
    <p:sldId id="458" r:id="rId12"/>
    <p:sldId id="454" r:id="rId13"/>
    <p:sldId id="455" r:id="rId14"/>
    <p:sldId id="456" r:id="rId15"/>
    <p:sldId id="457" r:id="rId16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7">
          <p15:clr>
            <a:srgbClr val="A4A3A4"/>
          </p15:clr>
        </p15:guide>
        <p15:guide id="2" pos="58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79"/>
    <p:restoredTop sz="93300"/>
  </p:normalViewPr>
  <p:slideViewPr>
    <p:cSldViewPr snapToGrid="0" snapToObjects="1">
      <p:cViewPr varScale="1">
        <p:scale>
          <a:sx n="41" d="100"/>
          <a:sy n="41" d="100"/>
        </p:scale>
        <p:origin x="632" y="200"/>
      </p:cViewPr>
      <p:guideLst>
        <p:guide orient="horz" pos="3287"/>
        <p:guide pos="5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4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172.png"/><Relationship Id="rId10" Type="http://schemas.openxmlformats.org/officeDocument/2006/relationships/image" Target="../media/image177.png"/><Relationship Id="rId4" Type="http://schemas.openxmlformats.org/officeDocument/2006/relationships/image" Target="../media/image12.png"/><Relationship Id="rId9" Type="http://schemas.openxmlformats.org/officeDocument/2006/relationships/image" Target="../media/image1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11" Type="http://schemas.openxmlformats.org/officeDocument/2006/relationships/image" Target="../media/image9.jpeg"/><Relationship Id="rId5" Type="http://schemas.openxmlformats.org/officeDocument/2006/relationships/image" Target="../media/image174.png"/><Relationship Id="rId10" Type="http://schemas.openxmlformats.org/officeDocument/2006/relationships/image" Target="../media/image179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9.jpe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5.jpeg"/><Relationship Id="rId9" Type="http://schemas.openxmlformats.org/officeDocument/2006/relationships/image" Target="../media/image18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14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172.png"/><Relationship Id="rId10" Type="http://schemas.openxmlformats.org/officeDocument/2006/relationships/image" Target="../media/image177.png"/><Relationship Id="rId4" Type="http://schemas.openxmlformats.org/officeDocument/2006/relationships/image" Target="../media/image12.png"/><Relationship Id="rId9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Transformer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Seq2seq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/>
              <a:t>Encoder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Sequence-to-sequence (Seq2seq)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479030" y="2684145"/>
            <a:ext cx="2974975" cy="591947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479030" y="3110865"/>
            <a:ext cx="30765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2"/>
                </a:solidFill>
              </a:rPr>
              <a:t>Speech Recognition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479030" y="5044440"/>
            <a:ext cx="30765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2"/>
                </a:solidFill>
              </a:rPr>
              <a:t>Machine </a:t>
            </a:r>
          </a:p>
          <a:p>
            <a:pPr algn="ctr"/>
            <a:r>
              <a:rPr lang="en-US" sz="3600" b="1">
                <a:solidFill>
                  <a:schemeClr val="bg2"/>
                </a:solidFill>
              </a:rPr>
              <a:t>Translation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479030" y="6978015"/>
            <a:ext cx="30765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2"/>
                </a:solidFill>
              </a:rPr>
              <a:t>Speech</a:t>
            </a:r>
          </a:p>
          <a:p>
            <a:pPr algn="ctr"/>
            <a:r>
              <a:rPr lang="en-US" sz="3600" b="1">
                <a:solidFill>
                  <a:schemeClr val="bg2"/>
                </a:solidFill>
              </a:rPr>
              <a:t>Translation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53073" y="1730038"/>
            <a:ext cx="6904454" cy="95410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en-US" sz="2800" dirty="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Input a sequence, output a sequence. </a:t>
            </a:r>
          </a:p>
          <a:p>
            <a:r>
              <a:rPr lang="en-US" altLang="en-US" sz="2800" dirty="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The output length is determined by model.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81525" y="5044440"/>
            <a:ext cx="2621280" cy="5257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10730230" y="5044440"/>
            <a:ext cx="2621280" cy="5257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1228725" y="5044440"/>
            <a:ext cx="3076575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600" b="1">
                <a:solidFill>
                  <a:schemeClr val="bg2"/>
                </a:solidFill>
              </a:rPr>
              <a:t>深度学习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13627735" y="3058160"/>
            <a:ext cx="3076575" cy="11988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2"/>
                </a:solidFill>
              </a:rPr>
              <a:t>Deep </a:t>
            </a:r>
          </a:p>
          <a:p>
            <a:pPr algn="ctr"/>
            <a:r>
              <a:rPr lang="en-US" sz="3600" b="1">
                <a:solidFill>
                  <a:schemeClr val="bg2"/>
                </a:solidFill>
              </a:rPr>
              <a:t>Learning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13627735" y="4767580"/>
            <a:ext cx="3076575" cy="11988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2"/>
                </a:solidFill>
              </a:rPr>
              <a:t>Deep</a:t>
            </a:r>
          </a:p>
          <a:p>
            <a:pPr algn="ctr"/>
            <a:r>
              <a:rPr lang="en-US" sz="3600" b="1">
                <a:solidFill>
                  <a:schemeClr val="bg2"/>
                </a:solidFill>
              </a:rPr>
              <a:t>Learning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13627735" y="7416800"/>
            <a:ext cx="3076575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600" b="1">
                <a:solidFill>
                  <a:schemeClr val="bg2"/>
                </a:solidFill>
              </a:rPr>
              <a:t>深度学习</a:t>
            </a:r>
          </a:p>
        </p:txBody>
      </p:sp>
      <p:pic>
        <p:nvPicPr>
          <p:cNvPr id="102" name="Content Placeholder 10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28725" y="6925310"/>
            <a:ext cx="3076575" cy="13036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Content Placeholder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" y="3006090"/>
            <a:ext cx="3076575" cy="1303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14114145" y="8070850"/>
            <a:ext cx="210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(Chinese)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3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Seq2seq for Chatbot</a:t>
            </a:r>
            <a:endParaRPr lang="en-US" altLang="en-US"/>
          </a:p>
        </p:txBody>
      </p:sp>
      <p:sp>
        <p:nvSpPr>
          <p:cNvPr id="2" name="Rounded Rectangle 1"/>
          <p:cNvSpPr/>
          <p:nvPr/>
        </p:nvSpPr>
        <p:spPr>
          <a:xfrm>
            <a:off x="7457440" y="3918585"/>
            <a:ext cx="3409315" cy="160083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None/>
            </a:pPr>
            <a:r>
              <a:rPr lang="en-US" sz="3600" b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Seq2Seq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1141095" y="4119880"/>
            <a:ext cx="3170555" cy="11988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2"/>
                </a:solidFill>
              </a:rPr>
              <a:t>Input</a:t>
            </a:r>
          </a:p>
          <a:p>
            <a:pPr algn="ctr"/>
            <a:r>
              <a:rPr lang="en-US" altLang="zh-CN" sz="3600" b="1">
                <a:solidFill>
                  <a:schemeClr val="bg2"/>
                </a:solidFill>
              </a:rPr>
              <a:t>“Hey there!”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012545" y="4396740"/>
            <a:ext cx="3170555" cy="6451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2"/>
                </a:solidFill>
              </a:rPr>
              <a:t>Reponse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1017250" y="2582545"/>
            <a:ext cx="6779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“</a:t>
            </a:r>
            <a:r>
              <a:rPr lang="en-US" sz="3200" b="1">
                <a:sym typeface="+mn-ea"/>
              </a:rPr>
              <a:t> Hi! How's your day going?</a:t>
            </a:r>
            <a:r>
              <a:rPr lang="en-US" sz="3200" b="1"/>
              <a:t>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33925" y="4396740"/>
            <a:ext cx="2300605" cy="645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1266170" y="4396740"/>
            <a:ext cx="2346325" cy="645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5" idx="2"/>
          </p:cNvCxnSpPr>
          <p:nvPr/>
        </p:nvCxnSpPr>
        <p:spPr>
          <a:xfrm>
            <a:off x="14407515" y="3166110"/>
            <a:ext cx="885190" cy="953770"/>
          </a:xfrm>
          <a:prstGeom prst="straightConnector1">
            <a:avLst/>
          </a:prstGeom>
          <a:ln w="57150" cmpd="sng">
            <a:solidFill>
              <a:schemeClr val="accent1">
                <a:shade val="50000"/>
              </a:schemeClr>
            </a:solidFill>
            <a:prstDash val="solid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495935" y="7727315"/>
            <a:ext cx="3078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Training Data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724910" y="6327139"/>
            <a:ext cx="10937021" cy="34302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sz="2400" dirty="0"/>
              <a:t>[PERSON A:] Hey there!</a:t>
            </a:r>
          </a:p>
          <a:p>
            <a:r>
              <a:rPr lang="en-US" sz="2400" dirty="0"/>
              <a:t>[PERSON B:] Hi! How's your day going?</a:t>
            </a:r>
          </a:p>
          <a:p>
            <a:r>
              <a:rPr lang="en-US" sz="2400" dirty="0"/>
              <a:t>[PERSON A:] Pretty well, thanks! Just finished some work. How about you?</a:t>
            </a:r>
          </a:p>
          <a:p>
            <a:r>
              <a:rPr lang="en-US" sz="2400" dirty="0"/>
              <a:t>[PERSON B:] All good! I was about to settle in with a book. What do you do for work?</a:t>
            </a:r>
          </a:p>
          <a:p>
            <a:r>
              <a:rPr lang="en-US" sz="2400" dirty="0"/>
              <a:t>[PERSON A:] I'm a web designer. How about you? Do you work or study?</a:t>
            </a:r>
          </a:p>
          <a:p>
            <a:r>
              <a:rPr lang="en-US" sz="2400" dirty="0"/>
              <a:t>[PERSON B:] I'm actually a teacher, and I also have three kids to keep me busy. They're aged between 8 and 16.</a:t>
            </a:r>
          </a:p>
          <a:p>
            <a:r>
              <a:rPr lang="en-US" sz="2400" dirty="0"/>
              <a:t>[PERSON A:] Wow, that's quite the range. I don't have kids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3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/>
              <a:t>Application of Seq2Seq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70915" y="1915795"/>
            <a:ext cx="13416280" cy="45231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en-US" sz="360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Most Natural Language Processing applications …  </a:t>
            </a:r>
          </a:p>
          <a:p>
            <a:pPr algn="l"/>
            <a:r>
              <a:rPr lang="en-US" altLang="en-US" sz="3600">
                <a:solidFill>
                  <a:schemeClr val="tx1"/>
                </a:solidFill>
                <a:latin typeface="+mj-lt"/>
                <a:cs typeface="+mj-cs"/>
                <a:sym typeface="+mn-ea"/>
              </a:rPr>
              <a:t>	As long as transforming the task to Question Answering(QA) </a:t>
            </a:r>
          </a:p>
          <a:p>
            <a:pPr algn="l"/>
            <a:r>
              <a:rPr lang="en-US" altLang="en-US" sz="3600">
                <a:solidFill>
                  <a:schemeClr val="tx1"/>
                </a:solidFill>
                <a:latin typeface="+mj-lt"/>
                <a:cs typeface="+mj-cs"/>
                <a:sym typeface="+mn-ea"/>
              </a:rPr>
              <a:t>QA can be done by seq2seq, tasks for example:   </a:t>
            </a:r>
          </a:p>
          <a:p>
            <a:pPr algn="l"/>
            <a:endParaRPr lang="en-US" altLang="en-US" sz="3600">
              <a:solidFill>
                <a:schemeClr val="tx1"/>
              </a:solidFill>
              <a:latin typeface="+mj-lt"/>
              <a:cs typeface="+mj-cs"/>
              <a:sym typeface="+mn-ea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>
                <a:sym typeface="+mn-ea"/>
              </a:rPr>
              <a:t>Syntactic Parsing</a:t>
            </a:r>
            <a:endParaRPr lang="en-US" sz="36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>
                <a:sym typeface="+mn-ea"/>
              </a:rPr>
              <a:t>Multi-label Classification</a:t>
            </a:r>
            <a:endParaRPr lang="en-US" sz="36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>
                <a:sym typeface="+mn-ea"/>
              </a:rPr>
              <a:t>Even: Obejct Detection</a:t>
            </a:r>
            <a:endParaRPr lang="en-US" sz="3600"/>
          </a:p>
          <a:p>
            <a:pPr algn="l"/>
            <a:endParaRPr lang="en-US" altLang="en-US" sz="3600">
              <a:solidFill>
                <a:schemeClr val="tx1"/>
              </a:solidFill>
              <a:latin typeface="+mj-lt"/>
              <a:cs typeface="+mj-cs"/>
              <a:sym typeface="+mn-ea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39660" y="6643370"/>
            <a:ext cx="3409315" cy="160083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  <a:buSzTx/>
              <a:buNone/>
            </a:pPr>
            <a:r>
              <a:rPr lang="en-US" sz="3600" b="1">
                <a:solidFill>
                  <a:schemeClr val="bg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Seq2Seq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1123315" y="6844665"/>
            <a:ext cx="3170555" cy="11988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2"/>
                </a:solidFill>
              </a:rPr>
              <a:t>question/</a:t>
            </a:r>
          </a:p>
          <a:p>
            <a:pPr algn="ctr"/>
            <a:r>
              <a:rPr lang="en-US" altLang="zh-CN" sz="3600" b="1">
                <a:solidFill>
                  <a:schemeClr val="bg2"/>
                </a:solidFill>
              </a:rPr>
              <a:t>context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13994765" y="7121525"/>
            <a:ext cx="3170555" cy="6451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2"/>
                </a:solidFill>
              </a:rPr>
              <a:t>answer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716145" y="7121525"/>
            <a:ext cx="2300605" cy="645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11248390" y="7121525"/>
            <a:ext cx="2346325" cy="645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498761" y="8830407"/>
            <a:ext cx="963549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200" dirty="0"/>
              <a:t>deep      learning</a:t>
            </a:r>
            <a:r>
              <a:rPr lang="zh-TW" altLang="en-US" sz="4200" dirty="0"/>
              <a:t>  </a:t>
            </a:r>
            <a:r>
              <a:rPr lang="en-US" altLang="zh-TW" sz="4200" dirty="0"/>
              <a:t> is</a:t>
            </a:r>
            <a:r>
              <a:rPr lang="zh-TW" altLang="en-US" sz="4200" dirty="0"/>
              <a:t>     </a:t>
            </a:r>
            <a:r>
              <a:rPr lang="en-US" altLang="zh-TW" sz="4200" dirty="0"/>
              <a:t>very</a:t>
            </a:r>
            <a:r>
              <a:rPr lang="zh-TW" altLang="en-US" sz="4200" dirty="0"/>
              <a:t>     </a:t>
            </a:r>
            <a:r>
              <a:rPr lang="en-US" altLang="zh-TW" sz="4200" dirty="0"/>
              <a:t> powerful</a:t>
            </a:r>
            <a:endParaRPr lang="zh-TW" altLang="en-US" sz="4200" dirty="0"/>
          </a:p>
        </p:txBody>
      </p:sp>
      <p:sp>
        <p:nvSpPr>
          <p:cNvPr id="5" name="圓角矩形 4"/>
          <p:cNvSpPr/>
          <p:nvPr/>
        </p:nvSpPr>
        <p:spPr>
          <a:xfrm>
            <a:off x="4498761" y="8830407"/>
            <a:ext cx="1455993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圓角矩形 5"/>
          <p:cNvSpPr/>
          <p:nvPr/>
        </p:nvSpPr>
        <p:spPr>
          <a:xfrm>
            <a:off x="6229589" y="8830407"/>
            <a:ext cx="2228879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圓角矩形 6"/>
          <p:cNvSpPr/>
          <p:nvPr/>
        </p:nvSpPr>
        <p:spPr>
          <a:xfrm>
            <a:off x="8733302" y="8830407"/>
            <a:ext cx="900824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圓角矩形 7"/>
          <p:cNvSpPr/>
          <p:nvPr/>
        </p:nvSpPr>
        <p:spPr>
          <a:xfrm>
            <a:off x="9908960" y="8830407"/>
            <a:ext cx="1575738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圓角矩形 8"/>
          <p:cNvSpPr/>
          <p:nvPr/>
        </p:nvSpPr>
        <p:spPr>
          <a:xfrm>
            <a:off x="11733657" y="8830407"/>
            <a:ext cx="2458889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圓角矩形 9"/>
          <p:cNvSpPr/>
          <p:nvPr/>
        </p:nvSpPr>
        <p:spPr>
          <a:xfrm>
            <a:off x="8715633" y="5882330"/>
            <a:ext cx="5476913" cy="7558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VP</a:t>
            </a:r>
            <a:endParaRPr lang="zh-TW" altLang="en-US" sz="3600" dirty="0"/>
          </a:p>
        </p:txBody>
      </p:sp>
      <p:sp>
        <p:nvSpPr>
          <p:cNvPr id="11" name="圓角矩形 10"/>
          <p:cNvSpPr/>
          <p:nvPr/>
        </p:nvSpPr>
        <p:spPr>
          <a:xfrm>
            <a:off x="4554077" y="4467578"/>
            <a:ext cx="9638469" cy="75587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</a:t>
            </a:r>
            <a:endParaRPr lang="zh-TW" altLang="en-US" sz="3600" dirty="0"/>
          </a:p>
        </p:txBody>
      </p:sp>
      <p:sp>
        <p:nvSpPr>
          <p:cNvPr id="12" name="圓角矩形 11"/>
          <p:cNvSpPr/>
          <p:nvPr/>
        </p:nvSpPr>
        <p:spPr>
          <a:xfrm>
            <a:off x="4554077" y="7400444"/>
            <a:ext cx="3967965" cy="75587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NP</a:t>
            </a:r>
            <a:endParaRPr lang="zh-TW" altLang="en-US" sz="3600" dirty="0"/>
          </a:p>
        </p:txBody>
      </p:sp>
      <p:sp>
        <p:nvSpPr>
          <p:cNvPr id="13" name="圓角矩形 12"/>
          <p:cNvSpPr/>
          <p:nvPr/>
        </p:nvSpPr>
        <p:spPr>
          <a:xfrm>
            <a:off x="9908960" y="7359251"/>
            <a:ext cx="4283586" cy="75587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ADJV</a:t>
            </a:r>
            <a:endParaRPr lang="zh-TW" altLang="en-US" sz="3600" dirty="0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5236296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7380782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10744467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12997811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12050753" y="6685161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9183713" y="6685161"/>
            <a:ext cx="0" cy="21040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11484698" y="5208240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 flipV="1">
            <a:off x="6577929" y="5223452"/>
            <a:ext cx="0" cy="21915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2553036" y="8599574"/>
            <a:ext cx="166437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Model</a:t>
            </a:r>
          </a:p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Input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2553036" y="5695980"/>
            <a:ext cx="166437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Model</a:t>
            </a:r>
          </a:p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Output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矩形: 圓角 2"/>
          <p:cNvSpPr/>
          <p:nvPr/>
        </p:nvSpPr>
        <p:spPr>
          <a:xfrm>
            <a:off x="4368135" y="8702130"/>
            <a:ext cx="10066314" cy="10568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矩形: 圓角 54"/>
          <p:cNvSpPr/>
          <p:nvPr/>
        </p:nvSpPr>
        <p:spPr>
          <a:xfrm>
            <a:off x="4368135" y="4359039"/>
            <a:ext cx="10066314" cy="41993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文字方塊 40"/>
          <p:cNvSpPr txBox="1"/>
          <p:nvPr/>
        </p:nvSpPr>
        <p:spPr>
          <a:xfrm>
            <a:off x="6371372" y="3418548"/>
            <a:ext cx="607449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b="1" dirty="0"/>
              <a:t>Is it a sequence?</a:t>
            </a:r>
            <a:endParaRPr lang="zh-TW" altLang="en-US" sz="4800" b="1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5</a:t>
            </a:fld>
            <a:endParaRPr lang="zh-TW" altLang="en-US" sz="100"/>
          </a:p>
        </p:txBody>
      </p:sp>
      <p:sp>
        <p:nvSpPr>
          <p:cNvPr id="2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Seq2seq for Syntactic Parsing 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3" grpId="0" bldLvl="0" animBg="1"/>
      <p:bldP spid="2" grpId="0"/>
      <p:bldP spid="53" grpId="0"/>
      <p:bldP spid="3" grpId="0" bldLvl="0" animBg="1"/>
      <p:bldP spid="55" grpId="0" bldLvl="0" animBg="1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498761" y="8830407"/>
            <a:ext cx="963549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200" dirty="0"/>
              <a:t>deep      learning</a:t>
            </a:r>
            <a:r>
              <a:rPr lang="zh-TW" altLang="en-US" sz="4200" dirty="0"/>
              <a:t> </a:t>
            </a:r>
            <a:r>
              <a:rPr lang="en-US" altLang="zh-TW" sz="4200" dirty="0"/>
              <a:t>  is</a:t>
            </a:r>
            <a:r>
              <a:rPr lang="zh-TW" altLang="en-US" sz="4200" dirty="0"/>
              <a:t>    </a:t>
            </a:r>
            <a:r>
              <a:rPr lang="en-US" altLang="zh-TW" sz="4200" dirty="0"/>
              <a:t> very</a:t>
            </a:r>
            <a:r>
              <a:rPr lang="zh-TW" altLang="en-US" sz="4200" dirty="0"/>
              <a:t>     </a:t>
            </a:r>
            <a:r>
              <a:rPr lang="en-US" altLang="zh-TW" sz="4200" dirty="0"/>
              <a:t> powerful</a:t>
            </a:r>
            <a:endParaRPr lang="zh-TW" altLang="en-US" sz="4200" dirty="0"/>
          </a:p>
        </p:txBody>
      </p:sp>
      <p:sp>
        <p:nvSpPr>
          <p:cNvPr id="5" name="圓角矩形 4"/>
          <p:cNvSpPr/>
          <p:nvPr/>
        </p:nvSpPr>
        <p:spPr>
          <a:xfrm>
            <a:off x="4498761" y="8830407"/>
            <a:ext cx="1455993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圓角矩形 5"/>
          <p:cNvSpPr/>
          <p:nvPr/>
        </p:nvSpPr>
        <p:spPr>
          <a:xfrm>
            <a:off x="6229589" y="8830407"/>
            <a:ext cx="2228879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圓角矩形 6"/>
          <p:cNvSpPr/>
          <p:nvPr/>
        </p:nvSpPr>
        <p:spPr>
          <a:xfrm>
            <a:off x="8733302" y="8830407"/>
            <a:ext cx="900824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圓角矩形 7"/>
          <p:cNvSpPr/>
          <p:nvPr/>
        </p:nvSpPr>
        <p:spPr>
          <a:xfrm>
            <a:off x="9908960" y="8830407"/>
            <a:ext cx="1575738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圓角矩形 8"/>
          <p:cNvSpPr/>
          <p:nvPr/>
        </p:nvSpPr>
        <p:spPr>
          <a:xfrm>
            <a:off x="11733657" y="8830407"/>
            <a:ext cx="2458889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圓角矩形 9"/>
          <p:cNvSpPr/>
          <p:nvPr/>
        </p:nvSpPr>
        <p:spPr>
          <a:xfrm>
            <a:off x="8715633" y="5882330"/>
            <a:ext cx="5476913" cy="7558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VP</a:t>
            </a:r>
            <a:endParaRPr lang="zh-TW" altLang="en-US" sz="3600" dirty="0"/>
          </a:p>
        </p:txBody>
      </p:sp>
      <p:sp>
        <p:nvSpPr>
          <p:cNvPr id="11" name="圓角矩形 10"/>
          <p:cNvSpPr/>
          <p:nvPr/>
        </p:nvSpPr>
        <p:spPr>
          <a:xfrm>
            <a:off x="4554077" y="4467578"/>
            <a:ext cx="9638469" cy="75587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</a:t>
            </a:r>
            <a:endParaRPr lang="zh-TW" altLang="en-US" sz="3600" dirty="0"/>
          </a:p>
        </p:txBody>
      </p:sp>
      <p:sp>
        <p:nvSpPr>
          <p:cNvPr id="12" name="圓角矩形 11"/>
          <p:cNvSpPr/>
          <p:nvPr/>
        </p:nvSpPr>
        <p:spPr>
          <a:xfrm>
            <a:off x="4554077" y="7400444"/>
            <a:ext cx="3967965" cy="75587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NP</a:t>
            </a:r>
            <a:endParaRPr lang="zh-TW" altLang="en-US" sz="3600" dirty="0"/>
          </a:p>
        </p:txBody>
      </p:sp>
      <p:sp>
        <p:nvSpPr>
          <p:cNvPr id="13" name="圓角矩形 12"/>
          <p:cNvSpPr/>
          <p:nvPr/>
        </p:nvSpPr>
        <p:spPr>
          <a:xfrm>
            <a:off x="9908960" y="7359251"/>
            <a:ext cx="4283586" cy="75587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ADJV</a:t>
            </a:r>
            <a:endParaRPr lang="zh-TW" altLang="en-US" sz="3600" dirty="0"/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5236296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7380782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10744467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12997811" y="8156318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12050753" y="6685161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9183713" y="6685161"/>
            <a:ext cx="0" cy="21040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11484698" y="5208240"/>
            <a:ext cx="0" cy="6740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 flipV="1">
            <a:off x="6577929" y="5223452"/>
            <a:ext cx="0" cy="21915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3631565" y="3302000"/>
            <a:ext cx="34429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Seq2seq! 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3357354" y="3588545"/>
            <a:ext cx="0" cy="569981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 flipV="1">
            <a:off x="3368699" y="9244116"/>
            <a:ext cx="1054173" cy="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3368699" y="2722581"/>
            <a:ext cx="933222" cy="8989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圓角 52"/>
          <p:cNvSpPr/>
          <p:nvPr/>
        </p:nvSpPr>
        <p:spPr>
          <a:xfrm>
            <a:off x="4368135" y="4359039"/>
            <a:ext cx="10066314" cy="41993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42" name="群組 41"/>
          <p:cNvGrpSpPr/>
          <p:nvPr/>
        </p:nvGrpSpPr>
        <p:grpSpPr>
          <a:xfrm>
            <a:off x="4392878" y="1231409"/>
            <a:ext cx="10349994" cy="2070776"/>
            <a:chOff x="1404585" y="820939"/>
            <a:chExt cx="6899996" cy="1380517"/>
          </a:xfrm>
        </p:grpSpPr>
        <p:grpSp>
          <p:nvGrpSpPr>
            <p:cNvPr id="3" name="群組 2"/>
            <p:cNvGrpSpPr/>
            <p:nvPr/>
          </p:nvGrpSpPr>
          <p:grpSpPr>
            <a:xfrm>
              <a:off x="1558276" y="946197"/>
              <a:ext cx="6746305" cy="430107"/>
              <a:chOff x="1500220" y="946197"/>
              <a:chExt cx="6746305" cy="430107"/>
            </a:xfrm>
          </p:grpSpPr>
          <p:sp>
            <p:nvSpPr>
              <p:cNvPr id="23" name="文字方塊 22"/>
              <p:cNvSpPr txBox="1"/>
              <p:nvPr/>
            </p:nvSpPr>
            <p:spPr>
              <a:xfrm>
                <a:off x="1500220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(S</a:t>
                </a:r>
                <a:endParaRPr lang="zh-TW" altLang="en-US" sz="3600" dirty="0"/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2243456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(NP</a:t>
                </a:r>
                <a:endParaRPr lang="zh-TW" altLang="en-US" sz="3600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3134292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deep</a:t>
                </a:r>
                <a:endParaRPr lang="zh-TW" altLang="en-US" sz="3600" dirty="0"/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4157361" y="946197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learning</a:t>
                </a:r>
                <a:endParaRPr lang="zh-TW" altLang="en-US" sz="3600" dirty="0"/>
              </a:p>
            </p:txBody>
          </p:sp>
          <p:sp>
            <p:nvSpPr>
              <p:cNvPr id="27" name="文字方塊 26"/>
              <p:cNvSpPr txBox="1"/>
              <p:nvPr/>
            </p:nvSpPr>
            <p:spPr>
              <a:xfrm>
                <a:off x="5525060" y="946197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  <p:sp>
            <p:nvSpPr>
              <p:cNvPr id="57" name="文字方塊 56"/>
              <p:cNvSpPr txBox="1"/>
              <p:nvPr/>
            </p:nvSpPr>
            <p:spPr>
              <a:xfrm>
                <a:off x="6028784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(VP</a:t>
                </a:r>
                <a:endParaRPr lang="zh-TW" altLang="en-US" sz="3600" dirty="0"/>
              </a:p>
            </p:txBody>
          </p:sp>
          <p:sp>
            <p:nvSpPr>
              <p:cNvPr id="58" name="文字方塊 57"/>
              <p:cNvSpPr txBox="1"/>
              <p:nvPr/>
            </p:nvSpPr>
            <p:spPr>
              <a:xfrm>
                <a:off x="6904559" y="946197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is</a:t>
                </a:r>
                <a:endParaRPr lang="zh-TW" altLang="en-US" sz="3600" dirty="0"/>
              </a:p>
            </p:txBody>
          </p:sp>
        </p:grpSp>
        <p:grpSp>
          <p:nvGrpSpPr>
            <p:cNvPr id="41" name="群組 40"/>
            <p:cNvGrpSpPr/>
            <p:nvPr/>
          </p:nvGrpSpPr>
          <p:grpSpPr>
            <a:xfrm>
              <a:off x="2558943" y="1528283"/>
              <a:ext cx="5730219" cy="430107"/>
              <a:chOff x="2601621" y="1815054"/>
              <a:chExt cx="5730219" cy="430107"/>
            </a:xfrm>
          </p:grpSpPr>
          <p:sp>
            <p:nvSpPr>
              <p:cNvPr id="59" name="文字方塊 58"/>
              <p:cNvSpPr txBox="1"/>
              <p:nvPr/>
            </p:nvSpPr>
            <p:spPr>
              <a:xfrm>
                <a:off x="2601621" y="1815054"/>
                <a:ext cx="1140519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(ADJV</a:t>
                </a:r>
                <a:endParaRPr lang="zh-TW" altLang="en-US" sz="3600" dirty="0"/>
              </a:p>
            </p:txBody>
          </p:sp>
          <p:sp>
            <p:nvSpPr>
              <p:cNvPr id="60" name="文字方塊 59"/>
              <p:cNvSpPr txBox="1"/>
              <p:nvPr/>
            </p:nvSpPr>
            <p:spPr>
              <a:xfrm>
                <a:off x="3936605" y="1815054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very</a:t>
                </a:r>
                <a:endParaRPr lang="zh-TW" altLang="en-US" sz="3600" dirty="0"/>
              </a:p>
            </p:txBody>
          </p:sp>
          <p:sp>
            <p:nvSpPr>
              <p:cNvPr id="61" name="文字方塊 60"/>
              <p:cNvSpPr txBox="1"/>
              <p:nvPr/>
            </p:nvSpPr>
            <p:spPr>
              <a:xfrm>
                <a:off x="5108622" y="1815054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powerful</a:t>
                </a:r>
                <a:endParaRPr lang="zh-TW" altLang="en-US" sz="3600" dirty="0"/>
              </a:p>
            </p:txBody>
          </p:sp>
          <p:sp>
            <p:nvSpPr>
              <p:cNvPr id="62" name="文字方塊 61"/>
              <p:cNvSpPr txBox="1"/>
              <p:nvPr/>
            </p:nvSpPr>
            <p:spPr>
              <a:xfrm>
                <a:off x="6713078" y="1815054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  <p:sp>
            <p:nvSpPr>
              <p:cNvPr id="63" name="文字方塊 62"/>
              <p:cNvSpPr txBox="1"/>
              <p:nvPr/>
            </p:nvSpPr>
            <p:spPr>
              <a:xfrm>
                <a:off x="7296329" y="1815054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  <p:sp>
            <p:nvSpPr>
              <p:cNvPr id="64" name="文字方塊 63"/>
              <p:cNvSpPr txBox="1"/>
              <p:nvPr/>
            </p:nvSpPr>
            <p:spPr>
              <a:xfrm>
                <a:off x="7828116" y="1815054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</p:grpSp>
        <p:sp>
          <p:nvSpPr>
            <p:cNvPr id="55" name="矩形: 圓角 54"/>
            <p:cNvSpPr/>
            <p:nvPr/>
          </p:nvSpPr>
          <p:spPr>
            <a:xfrm>
              <a:off x="1404585" y="820939"/>
              <a:ext cx="6710876" cy="1380517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66" name="矩形: 圓角 65"/>
          <p:cNvSpPr/>
          <p:nvPr/>
        </p:nvSpPr>
        <p:spPr>
          <a:xfrm>
            <a:off x="4368135" y="8702130"/>
            <a:ext cx="10066314" cy="10568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6</a:t>
            </a:fld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498761" y="8830407"/>
            <a:ext cx="963549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200" dirty="0"/>
              <a:t>deep      learning</a:t>
            </a:r>
            <a:r>
              <a:rPr lang="zh-TW" altLang="en-US" sz="4200" dirty="0"/>
              <a:t>  </a:t>
            </a:r>
            <a:r>
              <a:rPr lang="en-US" altLang="zh-TW" sz="4200" dirty="0"/>
              <a:t> is</a:t>
            </a:r>
            <a:r>
              <a:rPr lang="zh-TW" altLang="en-US" sz="4200" dirty="0"/>
              <a:t>    </a:t>
            </a:r>
            <a:r>
              <a:rPr lang="en-US" altLang="zh-TW" sz="4200" dirty="0"/>
              <a:t> very</a:t>
            </a:r>
            <a:r>
              <a:rPr lang="zh-TW" altLang="en-US" sz="4200" dirty="0"/>
              <a:t>     </a:t>
            </a:r>
            <a:r>
              <a:rPr lang="en-US" altLang="zh-TW" sz="4200" dirty="0"/>
              <a:t> powerful</a:t>
            </a:r>
            <a:endParaRPr lang="zh-TW" altLang="en-US" sz="4200" dirty="0"/>
          </a:p>
        </p:txBody>
      </p:sp>
      <p:sp>
        <p:nvSpPr>
          <p:cNvPr id="5" name="圓角矩形 4"/>
          <p:cNvSpPr/>
          <p:nvPr/>
        </p:nvSpPr>
        <p:spPr>
          <a:xfrm>
            <a:off x="4498761" y="8830407"/>
            <a:ext cx="1455993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圓角矩形 5"/>
          <p:cNvSpPr/>
          <p:nvPr/>
        </p:nvSpPr>
        <p:spPr>
          <a:xfrm>
            <a:off x="6229589" y="8830407"/>
            <a:ext cx="2228879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圓角矩形 6"/>
          <p:cNvSpPr/>
          <p:nvPr/>
        </p:nvSpPr>
        <p:spPr>
          <a:xfrm>
            <a:off x="8733302" y="8830407"/>
            <a:ext cx="900824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圓角矩形 7"/>
          <p:cNvSpPr/>
          <p:nvPr/>
        </p:nvSpPr>
        <p:spPr>
          <a:xfrm>
            <a:off x="9908960" y="8830407"/>
            <a:ext cx="1575738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圓角矩形 8"/>
          <p:cNvSpPr/>
          <p:nvPr/>
        </p:nvSpPr>
        <p:spPr>
          <a:xfrm>
            <a:off x="11733657" y="8830407"/>
            <a:ext cx="2458889" cy="784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3357354" y="3588545"/>
            <a:ext cx="0" cy="569981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 flipV="1">
            <a:off x="3368699" y="9244116"/>
            <a:ext cx="1054173" cy="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3368699" y="2722581"/>
            <a:ext cx="933222" cy="8989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群組 41"/>
          <p:cNvGrpSpPr/>
          <p:nvPr/>
        </p:nvGrpSpPr>
        <p:grpSpPr>
          <a:xfrm>
            <a:off x="4392878" y="1231409"/>
            <a:ext cx="10349994" cy="2070776"/>
            <a:chOff x="1404585" y="820939"/>
            <a:chExt cx="6899996" cy="1380517"/>
          </a:xfrm>
        </p:grpSpPr>
        <p:grpSp>
          <p:nvGrpSpPr>
            <p:cNvPr id="3" name="群組 2"/>
            <p:cNvGrpSpPr/>
            <p:nvPr/>
          </p:nvGrpSpPr>
          <p:grpSpPr>
            <a:xfrm>
              <a:off x="1558276" y="946197"/>
              <a:ext cx="6746305" cy="430107"/>
              <a:chOff x="1500220" y="946197"/>
              <a:chExt cx="6746305" cy="430107"/>
            </a:xfrm>
          </p:grpSpPr>
          <p:sp>
            <p:nvSpPr>
              <p:cNvPr id="23" name="文字方塊 22"/>
              <p:cNvSpPr txBox="1"/>
              <p:nvPr/>
            </p:nvSpPr>
            <p:spPr>
              <a:xfrm>
                <a:off x="1500220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(S</a:t>
                </a:r>
                <a:endParaRPr lang="zh-TW" altLang="en-US" sz="3600" dirty="0"/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2243456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(NP</a:t>
                </a:r>
                <a:endParaRPr lang="zh-TW" altLang="en-US" sz="3600" dirty="0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3134292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deep</a:t>
                </a:r>
                <a:endParaRPr lang="zh-TW" altLang="en-US" sz="3600" dirty="0"/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4157361" y="946197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learning</a:t>
                </a:r>
                <a:endParaRPr lang="zh-TW" altLang="en-US" sz="3600" dirty="0"/>
              </a:p>
            </p:txBody>
          </p:sp>
          <p:sp>
            <p:nvSpPr>
              <p:cNvPr id="27" name="文字方塊 26"/>
              <p:cNvSpPr txBox="1"/>
              <p:nvPr/>
            </p:nvSpPr>
            <p:spPr>
              <a:xfrm>
                <a:off x="5525060" y="946197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  <p:sp>
            <p:nvSpPr>
              <p:cNvPr id="57" name="文字方塊 56"/>
              <p:cNvSpPr txBox="1"/>
              <p:nvPr/>
            </p:nvSpPr>
            <p:spPr>
              <a:xfrm>
                <a:off x="6028784" y="946197"/>
                <a:ext cx="89083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(VP</a:t>
                </a:r>
                <a:endParaRPr lang="zh-TW" altLang="en-US" sz="3600" dirty="0"/>
              </a:p>
            </p:txBody>
          </p:sp>
          <p:sp>
            <p:nvSpPr>
              <p:cNvPr id="58" name="文字方塊 57"/>
              <p:cNvSpPr txBox="1"/>
              <p:nvPr/>
            </p:nvSpPr>
            <p:spPr>
              <a:xfrm>
                <a:off x="6904559" y="946197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is</a:t>
                </a:r>
                <a:endParaRPr lang="zh-TW" altLang="en-US" sz="3600" dirty="0"/>
              </a:p>
            </p:txBody>
          </p:sp>
        </p:grpSp>
        <p:grpSp>
          <p:nvGrpSpPr>
            <p:cNvPr id="41" name="群組 40"/>
            <p:cNvGrpSpPr/>
            <p:nvPr/>
          </p:nvGrpSpPr>
          <p:grpSpPr>
            <a:xfrm>
              <a:off x="2558943" y="1528283"/>
              <a:ext cx="5730219" cy="430107"/>
              <a:chOff x="2601621" y="1815054"/>
              <a:chExt cx="5730219" cy="430107"/>
            </a:xfrm>
          </p:grpSpPr>
          <p:sp>
            <p:nvSpPr>
              <p:cNvPr id="59" name="文字方塊 58"/>
              <p:cNvSpPr txBox="1"/>
              <p:nvPr/>
            </p:nvSpPr>
            <p:spPr>
              <a:xfrm>
                <a:off x="2601621" y="1815054"/>
                <a:ext cx="1140519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(ADJV</a:t>
                </a:r>
                <a:endParaRPr lang="zh-TW" altLang="en-US" sz="3600" dirty="0"/>
              </a:p>
            </p:txBody>
          </p:sp>
          <p:sp>
            <p:nvSpPr>
              <p:cNvPr id="60" name="文字方塊 59"/>
              <p:cNvSpPr txBox="1"/>
              <p:nvPr/>
            </p:nvSpPr>
            <p:spPr>
              <a:xfrm>
                <a:off x="3936605" y="1815054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very</a:t>
                </a:r>
                <a:endParaRPr lang="zh-TW" altLang="en-US" sz="3600" dirty="0"/>
              </a:p>
            </p:txBody>
          </p:sp>
          <p:sp>
            <p:nvSpPr>
              <p:cNvPr id="61" name="文字方塊 60"/>
              <p:cNvSpPr txBox="1"/>
              <p:nvPr/>
            </p:nvSpPr>
            <p:spPr>
              <a:xfrm>
                <a:off x="5108622" y="1815054"/>
                <a:ext cx="1341966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powerful</a:t>
                </a:r>
                <a:endParaRPr lang="zh-TW" altLang="en-US" sz="3600" dirty="0"/>
              </a:p>
            </p:txBody>
          </p:sp>
          <p:sp>
            <p:nvSpPr>
              <p:cNvPr id="62" name="文字方塊 61"/>
              <p:cNvSpPr txBox="1"/>
              <p:nvPr/>
            </p:nvSpPr>
            <p:spPr>
              <a:xfrm>
                <a:off x="6713078" y="1815054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  <p:sp>
            <p:nvSpPr>
              <p:cNvPr id="63" name="文字方塊 62"/>
              <p:cNvSpPr txBox="1"/>
              <p:nvPr/>
            </p:nvSpPr>
            <p:spPr>
              <a:xfrm>
                <a:off x="7296329" y="1815054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  <p:sp>
            <p:nvSpPr>
              <p:cNvPr id="64" name="文字方塊 63"/>
              <p:cNvSpPr txBox="1"/>
              <p:nvPr/>
            </p:nvSpPr>
            <p:spPr>
              <a:xfrm>
                <a:off x="7828116" y="1815054"/>
                <a:ext cx="503724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)</a:t>
                </a:r>
                <a:endParaRPr lang="zh-TW" altLang="en-US" sz="3600" dirty="0"/>
              </a:p>
            </p:txBody>
          </p:sp>
        </p:grpSp>
        <p:sp>
          <p:nvSpPr>
            <p:cNvPr id="55" name="矩形: 圓角 54"/>
            <p:cNvSpPr/>
            <p:nvPr/>
          </p:nvSpPr>
          <p:spPr>
            <a:xfrm>
              <a:off x="1404585" y="820939"/>
              <a:ext cx="6710876" cy="1380517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sp>
        <p:nvSpPr>
          <p:cNvPr id="66" name="矩形: 圓角 65"/>
          <p:cNvSpPr/>
          <p:nvPr/>
        </p:nvSpPr>
        <p:spPr>
          <a:xfrm>
            <a:off x="4368135" y="8702130"/>
            <a:ext cx="10066314" cy="10568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364" y="3621483"/>
            <a:ext cx="8587823" cy="4639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5" name="文字方塊 44"/>
          <p:cNvSpPr txBox="1"/>
          <p:nvPr/>
        </p:nvSpPr>
        <p:spPr>
          <a:xfrm>
            <a:off x="13198446" y="7312025"/>
            <a:ext cx="2655969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TW" altLang="en-US" sz="100" dirty="0"/>
              <a:t>https://arxiv.org/abs/1412.7449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7</a:t>
            </a:fld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ãdocument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316" y="3319326"/>
            <a:ext cx="1311167" cy="1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ãdocument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110" y="3319326"/>
            <a:ext cx="1311167" cy="1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ãdocument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31" y="3319326"/>
            <a:ext cx="1311167" cy="1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ãdocument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9552" y="3293661"/>
            <a:ext cx="1311167" cy="1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: 圓角 8"/>
          <p:cNvSpPr/>
          <p:nvPr/>
        </p:nvSpPr>
        <p:spPr>
          <a:xfrm>
            <a:off x="6717411" y="6917427"/>
            <a:ext cx="3035480" cy="139715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Seq2seq</a:t>
            </a:r>
            <a:endParaRPr lang="zh-TW" altLang="en-US" sz="3600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4884195" y="7676654"/>
            <a:ext cx="16616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9861995" y="7676654"/>
            <a:ext cx="97541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11218203" y="7461890"/>
            <a:ext cx="405000" cy="405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>
            <a:off x="12526670" y="7474154"/>
            <a:ext cx="405000" cy="405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橢圓 14"/>
          <p:cNvSpPr/>
          <p:nvPr/>
        </p:nvSpPr>
        <p:spPr>
          <a:xfrm>
            <a:off x="13835136" y="7474154"/>
            <a:ext cx="405000" cy="405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0" name="Picture 2" descr="ãdocumentãçåçæå°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029" y="6917427"/>
            <a:ext cx="1311167" cy="139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字方塊 22"/>
          <p:cNvSpPr txBox="1"/>
          <p:nvPr/>
        </p:nvSpPr>
        <p:spPr>
          <a:xfrm>
            <a:off x="10763567" y="7963743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9</a:t>
            </a:r>
            <a:endParaRPr lang="zh-TW" altLang="en-US" sz="1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2108621" y="7976007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7</a:t>
            </a:r>
            <a:endParaRPr lang="zh-TW" altLang="en-US" sz="1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13447053" y="7988271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13</a:t>
            </a:r>
            <a:endParaRPr lang="zh-TW" altLang="en-US" sz="1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892889" y="4758441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1</a:t>
            </a:r>
            <a:endParaRPr lang="zh-TW" altLang="en-US" sz="1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892889" y="5233614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3</a:t>
            </a:r>
            <a:endParaRPr lang="zh-TW" altLang="en-US" sz="1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9655110" y="4706097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1</a:t>
            </a:r>
            <a:endParaRPr lang="zh-TW" altLang="en-US" sz="1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1425460" y="4758441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3</a:t>
            </a:r>
            <a:endParaRPr lang="zh-TW" altLang="en-US" sz="1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11425460" y="5233614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9</a:t>
            </a:r>
            <a:endParaRPr lang="zh-TW" altLang="en-US" sz="1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237023" y="4701990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10</a:t>
            </a:r>
            <a:endParaRPr lang="zh-TW" altLang="en-US" sz="1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1459082" y="5730896"/>
            <a:ext cx="1646099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" dirty="0"/>
              <a:t>Class 17</a:t>
            </a:r>
            <a:endParaRPr lang="zh-TW" altLang="en-US" sz="1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3017576" y="3479970"/>
            <a:ext cx="4366727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1"/>
                </a:solidFill>
                <a:latin typeface="+mj-lt"/>
                <a:cs typeface="+mj-cs"/>
              </a:rPr>
              <a:t>An object can belong to multiple classes.</a:t>
            </a: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8</a:t>
            </a:fld>
            <a:endParaRPr lang="zh-TW" altLang="en-US" sz="100"/>
          </a:p>
        </p:txBody>
      </p:sp>
      <p:sp>
        <p:nvSpPr>
          <p:cNvPr id="17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>
                <a:sym typeface="+mn-ea"/>
              </a:rPr>
              <a:t>Seq2seq for </a:t>
            </a:r>
            <a:br>
              <a:rPr lang="en-US" altLang="zh-TW" dirty="0">
                <a:sym typeface="+mn-ea"/>
              </a:rPr>
            </a:br>
            <a:r>
              <a:rPr lang="en-US" altLang="zh-TW" dirty="0">
                <a:sym typeface="+mn-ea"/>
              </a:rPr>
              <a:t>Multi-label Classification</a:t>
            </a:r>
            <a:endParaRPr lang="zh-TW" altLang="en-US" dirty="0"/>
          </a:p>
        </p:txBody>
      </p:sp>
      <p:sp>
        <p:nvSpPr>
          <p:cNvPr id="18" name="文字方塊 27"/>
          <p:cNvSpPr txBox="1"/>
          <p:nvPr/>
        </p:nvSpPr>
        <p:spPr>
          <a:xfrm>
            <a:off x="7893366" y="4869014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1</a:t>
            </a:r>
            <a:endParaRPr lang="zh-TW" altLang="en-US" dirty="0"/>
          </a:p>
        </p:txBody>
      </p:sp>
      <p:sp>
        <p:nvSpPr>
          <p:cNvPr id="19" name="文字方塊 28"/>
          <p:cNvSpPr txBox="1"/>
          <p:nvPr/>
        </p:nvSpPr>
        <p:spPr>
          <a:xfrm>
            <a:off x="7893366" y="5185796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3</a:t>
            </a:r>
            <a:endParaRPr lang="zh-TW" altLang="en-US" dirty="0"/>
          </a:p>
        </p:txBody>
      </p:sp>
      <p:sp>
        <p:nvSpPr>
          <p:cNvPr id="21" name="文字方塊 29"/>
          <p:cNvSpPr txBox="1"/>
          <p:nvPr/>
        </p:nvSpPr>
        <p:spPr>
          <a:xfrm>
            <a:off x="9800970" y="4869043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1</a:t>
            </a:r>
            <a:endParaRPr lang="zh-TW" altLang="en-US" dirty="0"/>
          </a:p>
        </p:txBody>
      </p:sp>
      <p:sp>
        <p:nvSpPr>
          <p:cNvPr id="22" name="文字方塊 31"/>
          <p:cNvSpPr txBox="1"/>
          <p:nvPr/>
        </p:nvSpPr>
        <p:spPr>
          <a:xfrm>
            <a:off x="11708913" y="4907114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3</a:t>
            </a:r>
            <a:endParaRPr lang="zh-TW" altLang="en-US" dirty="0"/>
          </a:p>
        </p:txBody>
      </p:sp>
      <p:sp>
        <p:nvSpPr>
          <p:cNvPr id="26" name="文字方塊 32"/>
          <p:cNvSpPr txBox="1"/>
          <p:nvPr/>
        </p:nvSpPr>
        <p:spPr>
          <a:xfrm>
            <a:off x="11708913" y="5223896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9</a:t>
            </a:r>
            <a:endParaRPr lang="zh-TW" altLang="en-US" dirty="0"/>
          </a:p>
        </p:txBody>
      </p:sp>
      <p:sp>
        <p:nvSpPr>
          <p:cNvPr id="31" name="文字方塊 35"/>
          <p:cNvSpPr txBox="1"/>
          <p:nvPr/>
        </p:nvSpPr>
        <p:spPr>
          <a:xfrm>
            <a:off x="11731328" y="5555417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17</a:t>
            </a:r>
            <a:endParaRPr lang="zh-TW" altLang="en-US" dirty="0"/>
          </a:p>
        </p:txBody>
      </p:sp>
      <p:sp>
        <p:nvSpPr>
          <p:cNvPr id="35" name="文字方塊 33"/>
          <p:cNvSpPr txBox="1"/>
          <p:nvPr/>
        </p:nvSpPr>
        <p:spPr>
          <a:xfrm>
            <a:off x="13488757" y="4971080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10</a:t>
            </a:r>
            <a:endParaRPr lang="zh-TW" altLang="en-US" dirty="0"/>
          </a:p>
        </p:txBody>
      </p:sp>
      <p:sp>
        <p:nvSpPr>
          <p:cNvPr id="37" name="Text Box 36"/>
          <p:cNvSpPr txBox="1"/>
          <p:nvPr/>
        </p:nvSpPr>
        <p:spPr>
          <a:xfrm>
            <a:off x="3573145" y="9288780"/>
            <a:ext cx="40500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TW" altLang="en-US" dirty="0">
                <a:sym typeface="+mn-ea"/>
              </a:rPr>
              <a:t>https://arxiv.org/abs/1909.03434</a:t>
            </a:r>
            <a:endParaRPr lang="en-US" altLang="zh-TW" dirty="0"/>
          </a:p>
          <a:p>
            <a:r>
              <a:rPr lang="en-US" altLang="zh-TW" dirty="0">
                <a:sym typeface="+mn-ea"/>
              </a:rPr>
              <a:t>https://arxiv.org/abs/1707.05495</a:t>
            </a:r>
            <a:endParaRPr lang="en-US"/>
          </a:p>
        </p:txBody>
      </p:sp>
      <p:sp>
        <p:nvSpPr>
          <p:cNvPr id="38" name="文字方塊 22"/>
          <p:cNvSpPr txBox="1"/>
          <p:nvPr/>
        </p:nvSpPr>
        <p:spPr>
          <a:xfrm>
            <a:off x="10872046" y="7988227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9</a:t>
            </a:r>
            <a:endParaRPr lang="zh-TW" altLang="en-US" dirty="0"/>
          </a:p>
        </p:txBody>
      </p:sp>
      <p:sp>
        <p:nvSpPr>
          <p:cNvPr id="39" name="文字方塊 23"/>
          <p:cNvSpPr txBox="1"/>
          <p:nvPr/>
        </p:nvSpPr>
        <p:spPr>
          <a:xfrm>
            <a:off x="12182769" y="7976083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7</a:t>
            </a:r>
            <a:endParaRPr lang="zh-TW" altLang="en-US" dirty="0"/>
          </a:p>
        </p:txBody>
      </p:sp>
      <p:sp>
        <p:nvSpPr>
          <p:cNvPr id="40" name="文字方塊 24"/>
          <p:cNvSpPr txBox="1"/>
          <p:nvPr/>
        </p:nvSpPr>
        <p:spPr>
          <a:xfrm>
            <a:off x="13492887" y="7988069"/>
            <a:ext cx="109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Class 13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 bldLvl="0" animBg="1"/>
      <p:bldP spid="14" grpId="0" bldLvl="0" animBg="1"/>
      <p:bldP spid="15" grpId="0" bldLvl="0" animBg="1"/>
      <p:bldP spid="23" grpId="0"/>
      <p:bldP spid="24" grpId="0"/>
      <p:bldP spid="25" grpId="0"/>
      <p:bldP spid="28" grpId="0"/>
      <p:bldP spid="29" grpId="0"/>
      <p:bldP spid="30" grpId="0"/>
      <p:bldP spid="32" grpId="0"/>
      <p:bldP spid="33" grpId="0"/>
      <p:bldP spid="34" grpId="0"/>
      <p:bldP spid="36" grpId="0"/>
      <p:bldP spid="3" grpId="0"/>
      <p:bldP spid="18" grpId="0"/>
      <p:bldP spid="19" grpId="0"/>
      <p:bldP spid="21" grpId="0"/>
      <p:bldP spid="22" grpId="0"/>
      <p:bldP spid="26" grpId="0"/>
      <p:bldP spid="31" grpId="0"/>
      <p:bldP spid="35" grpId="0"/>
      <p:bldP spid="38" grpId="0"/>
      <p:bldP spid="39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360" y="1468120"/>
            <a:ext cx="7305040" cy="761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79980" y="830580"/>
            <a:ext cx="9827260" cy="1551305"/>
          </a:xfrm>
        </p:spPr>
        <p:txBody>
          <a:bodyPr/>
          <a:lstStyle/>
          <a:p>
            <a:pPr algn="l"/>
            <a:r>
              <a:rPr lang="en-US" altLang="zh-TW" dirty="0"/>
              <a:t>Seq2seq for </a:t>
            </a:r>
            <a:br>
              <a:rPr lang="en-US" altLang="zh-TW" dirty="0"/>
            </a:br>
            <a:r>
              <a:rPr lang="en-US" altLang="zh-TW" dirty="0"/>
              <a:t>Object Detection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15201900" y="9534525"/>
            <a:ext cx="3086100" cy="548005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9</a:t>
            </a:fld>
            <a:endParaRPr lang="zh-TW" altLang="en-US" sz="10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40330" y="4196080"/>
            <a:ext cx="3670300" cy="46812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2760980" y="9534525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TW" altLang="en-US" dirty="0">
                <a:sym typeface="+mn-ea"/>
              </a:rPr>
              <a:t>https://arxiv.org/abs/2005.12872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9"/>
          <p:cNvSpPr/>
          <p:nvPr/>
        </p:nvSpPr>
        <p:spPr>
          <a:xfrm>
            <a:off x="3090759" y="3447983"/>
            <a:ext cx="2486565" cy="1257233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Encoder</a:t>
            </a:r>
            <a:endParaRPr lang="zh-TW" altLang="en-US" sz="4200" dirty="0"/>
          </a:p>
        </p:txBody>
      </p:sp>
      <p:sp>
        <p:nvSpPr>
          <p:cNvPr id="12" name="矩形: 圓角 11"/>
          <p:cNvSpPr/>
          <p:nvPr/>
        </p:nvSpPr>
        <p:spPr>
          <a:xfrm>
            <a:off x="6321882" y="3462320"/>
            <a:ext cx="2426379" cy="1260354"/>
          </a:xfrm>
          <a:prstGeom prst="roundRect">
            <a:avLst/>
          </a:prstGeom>
          <a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Decoder</a:t>
            </a:r>
            <a:endParaRPr lang="zh-TW" altLang="en-US" sz="4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261196" y="5205647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 sequence </a:t>
            </a:r>
            <a:endParaRPr lang="zh-TW" altLang="en-US" sz="3600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661638" y="4047302"/>
            <a:ext cx="5759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4364048" y="4761117"/>
            <a:ext cx="0" cy="583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5520174" y="2129786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 sequence </a:t>
            </a:r>
            <a:endParaRPr lang="zh-TW" altLang="en-US" sz="3600" dirty="0"/>
          </a:p>
        </p:txBody>
      </p:sp>
      <p:cxnSp>
        <p:nvCxnSpPr>
          <p:cNvPr id="21" name="直線單箭頭接點 20"/>
          <p:cNvCxnSpPr/>
          <p:nvPr/>
        </p:nvCxnSpPr>
        <p:spPr>
          <a:xfrm flipV="1">
            <a:off x="7562387" y="2806868"/>
            <a:ext cx="0" cy="583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903970" y="8569272"/>
            <a:ext cx="6288014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" i="0" dirty="0">
                <a:solidFill>
                  <a:srgbClr val="000000"/>
                </a:solidFill>
                <a:effectLst/>
                <a:latin typeface="Lucida Grande"/>
              </a:rPr>
              <a:t>Sequence to Sequence Learning with Neural Networks</a:t>
            </a: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" y="6681470"/>
            <a:ext cx="9921240" cy="21120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文字方塊 24"/>
          <p:cNvSpPr txBox="1"/>
          <p:nvPr/>
        </p:nvSpPr>
        <p:spPr>
          <a:xfrm>
            <a:off x="10830215" y="8911044"/>
            <a:ext cx="393647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i="0" dirty="0">
                <a:solidFill>
                  <a:srgbClr val="000000"/>
                </a:solidFill>
                <a:effectLst/>
                <a:latin typeface="Lucida Grande"/>
              </a:rPr>
              <a:t>Transformer 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2441" y="188280"/>
            <a:ext cx="6150486" cy="87223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10</a:t>
            </a:fld>
            <a:endParaRPr lang="zh-TW" altLang="en-US" sz="100"/>
          </a:p>
        </p:txBody>
      </p:sp>
      <p:sp>
        <p:nvSpPr>
          <p:cNvPr id="17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zh-TW" dirty="0">
                <a:sym typeface="+mn-ea"/>
              </a:rPr>
              <a:t>Seq2seq</a:t>
            </a:r>
            <a:endParaRPr lang="zh-TW" alt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908685" y="6103620"/>
            <a:ext cx="758761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sz="2400" dirty="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Sequence to Sequence Learning with Neural Networks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908685" y="8910955"/>
            <a:ext cx="3302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TW" altLang="en-US" dirty="0">
                <a:sym typeface="+mn-ea"/>
              </a:rPr>
              <a:t>https://arxiv.org/abs/1409.3215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1458575" y="9714230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TW" altLang="en-US" dirty="0">
                <a:sym typeface="+mn-ea"/>
              </a:rPr>
              <a:t>https://arxiv.org/abs/1706.03762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字方塊 14"/>
          <p:cNvSpPr txBox="1"/>
          <p:nvPr/>
        </p:nvSpPr>
        <p:spPr>
          <a:xfrm>
            <a:off x="2446319" y="8962182"/>
            <a:ext cx="3802077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(</a:t>
            </a:r>
            <a:r>
              <a:rPr lang="zh-TW" altLang="en-US" sz="100" dirty="0"/>
              <a:t> </a:t>
            </a:r>
            <a:r>
              <a:rPr lang="en-US" altLang="zh-TW" sz="100" dirty="0"/>
              <a:t>I love machine learning</a:t>
            </a:r>
            <a:r>
              <a:rPr lang="zh-TW" altLang="en-US" sz="100" dirty="0"/>
              <a:t> </a:t>
            </a:r>
            <a:r>
              <a:rPr lang="en-US" altLang="zh-TW" sz="100" dirty="0"/>
              <a:t>)</a:t>
            </a:r>
            <a:endParaRPr lang="zh-TW" altLang="en-US" sz="1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11</a:t>
            </a:fld>
            <a:endParaRPr lang="zh-TW" altLang="en-US" sz="100"/>
          </a:p>
        </p:txBody>
      </p:sp>
      <p:sp>
        <p:nvSpPr>
          <p:cNvPr id="5" name="標題 1"/>
          <p:cNvSpPr>
            <a:spLocks noGrp="1"/>
          </p:cNvSpPr>
          <p:nvPr/>
        </p:nvSpPr>
        <p:spPr>
          <a:xfrm>
            <a:off x="1225550" y="2883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>
                <a:sym typeface="+mn-ea"/>
              </a:rPr>
              <a:t>Encoder</a:t>
            </a:r>
          </a:p>
        </p:txBody>
      </p:sp>
      <p:sp>
        <p:nvSpPr>
          <p:cNvPr id="8" name="矩形: 圓角 16"/>
          <p:cNvSpPr/>
          <p:nvPr/>
        </p:nvSpPr>
        <p:spPr>
          <a:xfrm>
            <a:off x="5076567" y="4445382"/>
            <a:ext cx="3768966" cy="1936514"/>
          </a:xfrm>
          <a:prstGeom prst="roundRect">
            <a:avLst/>
          </a:prstGeom>
          <a:blipFill rotWithShape="1"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Encoder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矩形: 圓角 22"/>
          <p:cNvSpPr/>
          <p:nvPr/>
        </p:nvSpPr>
        <p:spPr>
          <a:xfrm>
            <a:off x="10454119" y="4445381"/>
            <a:ext cx="3768966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4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Decoder</a:t>
            </a:r>
            <a:endParaRPr kumimoji="0" lang="zh-TW" alt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858198" y="6965861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9061764" y="5428866"/>
            <a:ext cx="12759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10235751" y="3119388"/>
            <a:ext cx="42057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output sequence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12338602" y="3861416"/>
            <a:ext cx="0" cy="583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圓角 3"/>
          <p:cNvSpPr/>
          <p:nvPr/>
        </p:nvSpPr>
        <p:spPr>
          <a:xfrm>
            <a:off x="4722996" y="4185160"/>
            <a:ext cx="4338423" cy="36428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/>
        </p:nvGrpSpPr>
        <p:grpSpPr>
          <a:xfrm>
            <a:off x="10192936" y="0"/>
            <a:ext cx="5808429" cy="472952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/>
            <p:cNvSpPr/>
            <p:nvPr/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4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5"/>
            <p:cNvSpPr/>
            <p:nvPr/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/>
          <p:cNvGrpSpPr>
            <a:grpSpLocks noGrp="1" noUngrp="1" noRot="1" noChangeAspect="1" noMove="1" noResize="1"/>
          </p:cNvGrpSpPr>
          <p:nvPr/>
        </p:nvGrpSpPr>
        <p:grpSpPr>
          <a:xfrm rot="10800000" flipH="1">
            <a:off x="2321218" y="6219465"/>
            <a:ext cx="3535199" cy="4075208"/>
            <a:chOff x="-305" y="-4155"/>
            <a:chExt cx="2514948" cy="2174333"/>
          </a:xfrm>
        </p:grpSpPr>
        <p:sp>
          <p:nvSpPr>
            <p:cNvPr id="20" name="Freeform: Shape 18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19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0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1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Encoder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757" y="2996037"/>
            <a:ext cx="3756491" cy="6906162"/>
          </a:xfrm>
          <a:prstGeom prst="rect">
            <a:avLst/>
          </a:prstGeom>
        </p:spPr>
      </p:pic>
      <p:cxnSp>
        <p:nvCxnSpPr>
          <p:cNvPr id="5" name="直線單箭頭接點 4"/>
          <p:cNvCxnSpPr/>
          <p:nvPr/>
        </p:nvCxnSpPr>
        <p:spPr>
          <a:xfrm flipV="1">
            <a:off x="3983778" y="764563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5425161" y="764563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 flipV="1">
            <a:off x="6880983" y="761730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8365680" y="761730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V="1">
            <a:off x="3934791" y="483449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5376174" y="4834496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6831996" y="480616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8316693" y="480616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663897" y="8567048"/>
            <a:ext cx="697730" cy="9982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4" name="矩形 13"/>
          <p:cNvSpPr/>
          <p:nvPr/>
        </p:nvSpPr>
        <p:spPr>
          <a:xfrm>
            <a:off x="8052650" y="8548874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3541274" y="8697306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7910088" y="8697306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17" name="矩形 16"/>
          <p:cNvSpPr/>
          <p:nvPr/>
        </p:nvSpPr>
        <p:spPr>
          <a:xfrm>
            <a:off x="5100342" y="8548874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977719" y="8697306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19" name="矩形 18"/>
          <p:cNvSpPr/>
          <p:nvPr/>
        </p:nvSpPr>
        <p:spPr>
          <a:xfrm>
            <a:off x="6543713" y="8548874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6411120" y="8697306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21" name="矩形: 圓角 20"/>
          <p:cNvSpPr/>
          <p:nvPr/>
        </p:nvSpPr>
        <p:spPr>
          <a:xfrm>
            <a:off x="3228975" y="5641131"/>
            <a:ext cx="5624081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Encoder</a:t>
            </a:r>
            <a:endParaRPr lang="zh-TW" altLang="en-US" sz="4200" dirty="0"/>
          </a:p>
        </p:txBody>
      </p:sp>
      <p:sp>
        <p:nvSpPr>
          <p:cNvPr id="22" name="矩形 21"/>
          <p:cNvSpPr/>
          <p:nvPr/>
        </p:nvSpPr>
        <p:spPr>
          <a:xfrm>
            <a:off x="3608471" y="3873266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3" name="矩形 22"/>
          <p:cNvSpPr/>
          <p:nvPr/>
        </p:nvSpPr>
        <p:spPr>
          <a:xfrm>
            <a:off x="5046857" y="387326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4" name="矩形 23"/>
          <p:cNvSpPr/>
          <p:nvPr/>
        </p:nvSpPr>
        <p:spPr>
          <a:xfrm>
            <a:off x="6490473" y="387326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5" name="矩形 24"/>
          <p:cNvSpPr/>
          <p:nvPr/>
        </p:nvSpPr>
        <p:spPr>
          <a:xfrm>
            <a:off x="7967829" y="387326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7780322" y="4004506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322" y="4004506"/>
                <a:ext cx="1072742" cy="645160"/>
              </a:xfrm>
              <a:prstGeom prst="rect">
                <a:avLst/>
              </a:prstGeom>
              <a:blipFill rotWithShape="1">
                <a:blip r:embed="rId5"/>
                <a:stretch>
                  <a:fillRect l="-28" t="-30" r="49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6316023" y="401562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023" y="4015625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29" t="-80" r="50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4872407" y="404462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407" y="4044627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5" t="-48" r="26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3462207" y="397715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207" y="3977154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17" t="-23" r="39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7910088" y="8725637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088" y="8725637"/>
                <a:ext cx="1072742" cy="645160"/>
              </a:xfrm>
              <a:prstGeom prst="rect">
                <a:avLst/>
              </a:prstGeom>
              <a:blipFill rotWithShape="1">
                <a:blip r:embed="rId9"/>
                <a:stretch>
                  <a:fillRect l="-49" t="-16" r="11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6445790" y="872563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790" y="8725637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50" t="-16" r="12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982295" y="872563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295" y="8725637"/>
                <a:ext cx="1072742" cy="646430"/>
              </a:xfrm>
              <a:prstGeom prst="rect">
                <a:avLst/>
              </a:prstGeom>
              <a:blipFill rotWithShape="1">
                <a:blip r:embed="rId11"/>
                <a:stretch>
                  <a:fillRect l="-8" t="-16" r="29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3552218" y="872563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218" y="8725637"/>
                <a:ext cx="1072742" cy="646430"/>
              </a:xfrm>
              <a:prstGeom prst="rect">
                <a:avLst/>
              </a:prstGeom>
              <a:blipFill rotWithShape="1">
                <a:blip r:embed="rId12"/>
                <a:stretch>
                  <a:fillRect l="-3" t="-16" r="24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左大括弧 33"/>
          <p:cNvSpPr/>
          <p:nvPr/>
        </p:nvSpPr>
        <p:spPr>
          <a:xfrm>
            <a:off x="9230525" y="3022709"/>
            <a:ext cx="1383171" cy="6906162"/>
          </a:xfrm>
          <a:prstGeom prst="leftBrace">
            <a:avLst>
              <a:gd name="adj1" fmla="val 8333"/>
              <a:gd name="adj2" fmla="val 5386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文字方塊 35"/>
          <p:cNvSpPr txBox="1"/>
          <p:nvPr/>
        </p:nvSpPr>
        <p:spPr>
          <a:xfrm>
            <a:off x="10205085" y="2075815"/>
            <a:ext cx="473900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>
                <a:solidFill>
                  <a:schemeClr val="accent1"/>
                </a:solidFill>
                <a:latin typeface="+mj-lt"/>
                <a:cs typeface="+mj-cs"/>
              </a:rPr>
              <a:t>Transformer’s Encoder 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3608705" y="2922905"/>
            <a:ext cx="53117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>
                <a:solidFill>
                  <a:schemeClr val="accent1"/>
                </a:solidFill>
                <a:latin typeface="+mj-lt"/>
                <a:cs typeface="+mj-cs"/>
              </a:rPr>
              <a:t>You can use </a:t>
            </a:r>
            <a:r>
              <a:rPr lang="en-US" altLang="en-US" sz="3200" b="1">
                <a:solidFill>
                  <a:schemeClr val="accent1"/>
                </a:solidFill>
                <a:latin typeface="+mj-lt"/>
                <a:cs typeface="+mj-cs"/>
              </a:rPr>
              <a:t>RNN </a:t>
            </a:r>
            <a:r>
              <a:rPr lang="en-US" altLang="en-US" sz="3200">
                <a:solidFill>
                  <a:schemeClr val="accent1"/>
                </a:solidFill>
                <a:latin typeface="+mj-lt"/>
                <a:cs typeface="+mj-cs"/>
              </a:rPr>
              <a:t>or </a:t>
            </a:r>
            <a:r>
              <a:rPr lang="en-US" altLang="en-US" sz="3200" b="1">
                <a:solidFill>
                  <a:schemeClr val="accent1"/>
                </a:solidFill>
                <a:latin typeface="+mj-lt"/>
                <a:cs typeface="+mj-cs"/>
              </a:rPr>
              <a:t>CNN</a:t>
            </a:r>
            <a:r>
              <a:rPr lang="en-US" altLang="en-US" sz="3200">
                <a:solidFill>
                  <a:schemeClr val="accent1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35" name="投影片編號版面配置區 34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12</a:t>
            </a:fld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6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直線單箭頭接點 55"/>
          <p:cNvCxnSpPr/>
          <p:nvPr/>
        </p:nvCxnSpPr>
        <p:spPr>
          <a:xfrm flipV="1">
            <a:off x="2441537" y="481983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3882920" y="481983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V="1">
            <a:off x="5338742" y="479150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V="1">
            <a:off x="6823439" y="479150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3"/>
          <p:cNvCxnSpPr/>
          <p:nvPr/>
        </p:nvCxnSpPr>
        <p:spPr>
          <a:xfrm flipV="1">
            <a:off x="2492294" y="793327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flipV="1">
            <a:off x="3933677" y="7933275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flipV="1">
            <a:off x="5389499" y="790494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 flipV="1">
            <a:off x="6874196" y="790494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V="1">
            <a:off x="2352769" y="153270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3794153" y="153270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5249975" y="150437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6734672" y="1504374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171965" y="8464326"/>
            <a:ext cx="697730" cy="9982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4" name="矩形 13"/>
          <p:cNvSpPr/>
          <p:nvPr/>
        </p:nvSpPr>
        <p:spPr>
          <a:xfrm>
            <a:off x="6560718" y="8446152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049342" y="859458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b="1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6418157" y="859458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b="1" dirty="0"/>
          </a:p>
        </p:txBody>
      </p:sp>
      <p:sp>
        <p:nvSpPr>
          <p:cNvPr id="17" name="矩形 16"/>
          <p:cNvSpPr/>
          <p:nvPr/>
        </p:nvSpPr>
        <p:spPr>
          <a:xfrm>
            <a:off x="3608411" y="8446152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485787" y="859458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b="1" dirty="0"/>
          </a:p>
        </p:txBody>
      </p:sp>
      <p:sp>
        <p:nvSpPr>
          <p:cNvPr id="19" name="矩形 18"/>
          <p:cNvSpPr/>
          <p:nvPr/>
        </p:nvSpPr>
        <p:spPr>
          <a:xfrm>
            <a:off x="5051781" y="8446152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4919189" y="8594584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b="1" dirty="0"/>
          </a:p>
        </p:txBody>
      </p:sp>
      <p:sp>
        <p:nvSpPr>
          <p:cNvPr id="22" name="矩形 21"/>
          <p:cNvSpPr/>
          <p:nvPr/>
        </p:nvSpPr>
        <p:spPr>
          <a:xfrm>
            <a:off x="2026449" y="571474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23" name="矩形 22"/>
          <p:cNvSpPr/>
          <p:nvPr/>
        </p:nvSpPr>
        <p:spPr>
          <a:xfrm>
            <a:off x="3464835" y="571473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24" name="矩形 23"/>
          <p:cNvSpPr/>
          <p:nvPr/>
        </p:nvSpPr>
        <p:spPr>
          <a:xfrm>
            <a:off x="4908452" y="571473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25" name="矩形 24"/>
          <p:cNvSpPr/>
          <p:nvPr/>
        </p:nvSpPr>
        <p:spPr>
          <a:xfrm>
            <a:off x="6385808" y="571473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6198300" y="70271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300" y="702715"/>
                <a:ext cx="1072742" cy="645160"/>
              </a:xfrm>
              <a:prstGeom prst="rect">
                <a:avLst/>
              </a:prstGeom>
              <a:blipFill rotWithShape="1">
                <a:blip r:embed="rId3"/>
                <a:stretch>
                  <a:fillRect l="-6" t="-63" r="27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4734002" y="713833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002" y="713833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l="-7" t="-14" r="28" b="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3290385" y="74283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385" y="742836"/>
                <a:ext cx="1072742" cy="646430"/>
              </a:xfrm>
              <a:prstGeom prst="rect">
                <a:avLst/>
              </a:prstGeom>
              <a:blipFill rotWithShape="1">
                <a:blip r:embed="rId5"/>
                <a:stretch>
                  <a:fillRect l="-42" t="-81" r="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880186" y="675363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186" y="675363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55" t="-55" r="16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6418157" y="862291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157" y="8622915"/>
                <a:ext cx="1072742" cy="645160"/>
              </a:xfrm>
              <a:prstGeom prst="rect">
                <a:avLst/>
              </a:prstGeom>
              <a:blipFill rotWithShape="1">
                <a:blip r:embed="rId7"/>
                <a:stretch>
                  <a:fillRect l="-20" t="-39" r="41" b="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4953858" y="862291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858" y="8622915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21" t="-39" r="42" b="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3510242" y="862291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242" y="8622915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56" t="-39" r="18" b="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2100042" y="862291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042" y="8622915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9" t="-39" r="30" b="3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圓角 34"/>
          <p:cNvSpPr/>
          <p:nvPr/>
        </p:nvSpPr>
        <p:spPr>
          <a:xfrm>
            <a:off x="1686605" y="3708072"/>
            <a:ext cx="5624081" cy="1016385"/>
          </a:xfrm>
          <a:prstGeom prst="roundRect">
            <a:avLst/>
          </a:prstGeom>
          <a:blipFill>
            <a:blip r:embed="rId11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Block</a:t>
            </a:r>
            <a:endParaRPr lang="zh-TW" altLang="en-US" sz="4200" dirty="0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2441537" y="630889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3882920" y="6308898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5338742" y="628056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6823439" y="6280567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100489" y="5359837"/>
            <a:ext cx="692499" cy="9087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3" name="矩形 42"/>
          <p:cNvSpPr/>
          <p:nvPr/>
        </p:nvSpPr>
        <p:spPr>
          <a:xfrm>
            <a:off x="3538875" y="5359836"/>
            <a:ext cx="697730" cy="9087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5" name="矩形 44"/>
          <p:cNvSpPr/>
          <p:nvPr/>
        </p:nvSpPr>
        <p:spPr>
          <a:xfrm>
            <a:off x="4982492" y="5359836"/>
            <a:ext cx="697730" cy="9087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47" name="矩形 46"/>
          <p:cNvSpPr/>
          <p:nvPr/>
        </p:nvSpPr>
        <p:spPr>
          <a:xfrm>
            <a:off x="6459848" y="5359836"/>
            <a:ext cx="697730" cy="9087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1" name="矩形: 圓角 20"/>
          <p:cNvSpPr/>
          <p:nvPr/>
        </p:nvSpPr>
        <p:spPr>
          <a:xfrm>
            <a:off x="1737490" y="6848898"/>
            <a:ext cx="5624081" cy="1016385"/>
          </a:xfrm>
          <a:prstGeom prst="roundRect">
            <a:avLst/>
          </a:prstGeom>
          <a:blipFill>
            <a:blip r:embed="rId11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Block</a:t>
            </a:r>
            <a:endParaRPr lang="zh-TW" altLang="en-US" sz="4200" dirty="0"/>
          </a:p>
        </p:txBody>
      </p:sp>
      <p:sp>
        <p:nvSpPr>
          <p:cNvPr id="73" name="矩形: 圓角 72"/>
          <p:cNvSpPr/>
          <p:nvPr/>
        </p:nvSpPr>
        <p:spPr>
          <a:xfrm>
            <a:off x="1689085" y="2079658"/>
            <a:ext cx="5624081" cy="1016385"/>
          </a:xfrm>
          <a:prstGeom prst="roundRect">
            <a:avLst/>
          </a:prstGeom>
          <a:blipFill>
            <a:blip r:embed="rId11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Block</a:t>
            </a:r>
            <a:endParaRPr lang="zh-TW" altLang="en-US" sz="4200" dirty="0"/>
          </a:p>
        </p:txBody>
      </p:sp>
      <p:sp>
        <p:nvSpPr>
          <p:cNvPr id="74" name="文字方塊 73"/>
          <p:cNvSpPr txBox="1"/>
          <p:nvPr/>
        </p:nvSpPr>
        <p:spPr>
          <a:xfrm rot="5400000">
            <a:off x="1796013" y="3448720"/>
            <a:ext cx="152214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76" name="文字方塊 75"/>
          <p:cNvSpPr txBox="1"/>
          <p:nvPr/>
        </p:nvSpPr>
        <p:spPr>
          <a:xfrm rot="5400000">
            <a:off x="3209640" y="3425110"/>
            <a:ext cx="152214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78" name="文字方塊 77"/>
          <p:cNvSpPr txBox="1"/>
          <p:nvPr/>
        </p:nvSpPr>
        <p:spPr>
          <a:xfrm rot="5400000">
            <a:off x="4708677" y="3436077"/>
            <a:ext cx="152214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80" name="文字方塊 79"/>
          <p:cNvSpPr txBox="1"/>
          <p:nvPr/>
        </p:nvSpPr>
        <p:spPr>
          <a:xfrm rot="5400000">
            <a:off x="6104961" y="3414862"/>
            <a:ext cx="152214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101" name="矩形: 圓角 100"/>
          <p:cNvSpPr/>
          <p:nvPr/>
        </p:nvSpPr>
        <p:spPr>
          <a:xfrm>
            <a:off x="8138043" y="3510700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02" name="矩形: 圓角 101"/>
          <p:cNvSpPr/>
          <p:nvPr/>
        </p:nvSpPr>
        <p:spPr>
          <a:xfrm>
            <a:off x="9736311" y="3510700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03" name="矩形: 圓角 102"/>
          <p:cNvSpPr/>
          <p:nvPr/>
        </p:nvSpPr>
        <p:spPr>
          <a:xfrm>
            <a:off x="11354177" y="3479652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sp>
        <p:nvSpPr>
          <p:cNvPr id="105" name="矩形: 圓角 104"/>
          <p:cNvSpPr/>
          <p:nvPr/>
        </p:nvSpPr>
        <p:spPr>
          <a:xfrm>
            <a:off x="12967565" y="3470773"/>
            <a:ext cx="1394292" cy="11356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cxnSp>
        <p:nvCxnSpPr>
          <p:cNvPr id="111" name="直線單箭頭接點 110"/>
          <p:cNvCxnSpPr/>
          <p:nvPr/>
        </p:nvCxnSpPr>
        <p:spPr>
          <a:xfrm flipH="1" flipV="1">
            <a:off x="8825696" y="7994838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/>
          <p:nvPr/>
        </p:nvCxnSpPr>
        <p:spPr>
          <a:xfrm flipH="1" flipV="1">
            <a:off x="10444690" y="7988590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 flipH="1" flipV="1">
            <a:off x="12071201" y="794826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 flipH="1" flipV="1">
            <a:off x="13695822" y="7970435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圓角 119"/>
          <p:cNvSpPr/>
          <p:nvPr/>
        </p:nvSpPr>
        <p:spPr>
          <a:xfrm>
            <a:off x="8647508" y="5244607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1" name="矩形: 圓角 120"/>
          <p:cNvSpPr/>
          <p:nvPr/>
        </p:nvSpPr>
        <p:spPr>
          <a:xfrm>
            <a:off x="10265579" y="5244607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2" name="矩形: 圓角 121"/>
          <p:cNvSpPr/>
          <p:nvPr/>
        </p:nvSpPr>
        <p:spPr>
          <a:xfrm>
            <a:off x="11883444" y="5213560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矩形: 圓角 122"/>
          <p:cNvSpPr/>
          <p:nvPr/>
        </p:nvSpPr>
        <p:spPr>
          <a:xfrm>
            <a:off x="13498175" y="5204682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3" name="矩形: 圓角 132"/>
          <p:cNvSpPr/>
          <p:nvPr/>
        </p:nvSpPr>
        <p:spPr>
          <a:xfrm>
            <a:off x="8659082" y="8612707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: 圓角 133"/>
          <p:cNvSpPr/>
          <p:nvPr/>
        </p:nvSpPr>
        <p:spPr>
          <a:xfrm>
            <a:off x="10278075" y="8612707"/>
            <a:ext cx="376995" cy="10044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5" name="矩形: 圓角 134"/>
          <p:cNvSpPr/>
          <p:nvPr/>
        </p:nvSpPr>
        <p:spPr>
          <a:xfrm>
            <a:off x="11895941" y="8581660"/>
            <a:ext cx="376995" cy="100441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6" name="矩形: 圓角 135"/>
          <p:cNvSpPr/>
          <p:nvPr/>
        </p:nvSpPr>
        <p:spPr>
          <a:xfrm>
            <a:off x="13510671" y="8572782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7" name="直線單箭頭接點 136"/>
          <p:cNvCxnSpPr/>
          <p:nvPr/>
        </p:nvCxnSpPr>
        <p:spPr>
          <a:xfrm flipH="1" flipV="1">
            <a:off x="8825696" y="626454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 flipH="1" flipV="1">
            <a:off x="10444690" y="625829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38"/>
          <p:cNvCxnSpPr/>
          <p:nvPr/>
        </p:nvCxnSpPr>
        <p:spPr>
          <a:xfrm flipH="1" flipV="1">
            <a:off x="12051323" y="6217973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H="1" flipV="1">
            <a:off x="13675944" y="6240142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 flipH="1" flipV="1">
            <a:off x="8826525" y="4675752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/>
          <p:cNvCxnSpPr/>
          <p:nvPr/>
        </p:nvCxnSpPr>
        <p:spPr>
          <a:xfrm flipH="1" flipV="1">
            <a:off x="10445520" y="466950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/>
          <p:nvPr/>
        </p:nvCxnSpPr>
        <p:spPr>
          <a:xfrm flipH="1" flipV="1">
            <a:off x="12052152" y="4629181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/>
          <p:nvPr/>
        </p:nvCxnSpPr>
        <p:spPr>
          <a:xfrm flipH="1" flipV="1">
            <a:off x="13676773" y="4651349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: 圓角 149"/>
          <p:cNvSpPr/>
          <p:nvPr/>
        </p:nvSpPr>
        <p:spPr>
          <a:xfrm>
            <a:off x="8147213" y="6860946"/>
            <a:ext cx="6214640" cy="1016385"/>
          </a:xfrm>
          <a:prstGeom prst="roundRect">
            <a:avLst/>
          </a:prstGeom>
          <a:blipFill>
            <a:blip r:embed="rId11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Self-attention</a:t>
            </a:r>
            <a:endParaRPr lang="zh-TW" altLang="en-US" sz="4200" dirty="0"/>
          </a:p>
        </p:txBody>
      </p:sp>
      <p:cxnSp>
        <p:nvCxnSpPr>
          <p:cNvPr id="151" name="直線單箭頭接點 150"/>
          <p:cNvCxnSpPr/>
          <p:nvPr/>
        </p:nvCxnSpPr>
        <p:spPr>
          <a:xfrm flipH="1" flipV="1">
            <a:off x="8845574" y="2942596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 flipH="1" flipV="1">
            <a:off x="10464569" y="2936349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 flipH="1" flipV="1">
            <a:off x="12071201" y="2896026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/>
          <p:nvPr/>
        </p:nvCxnSpPr>
        <p:spPr>
          <a:xfrm flipH="1" flipV="1">
            <a:off x="13695822" y="291819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: 圓角 154"/>
          <p:cNvSpPr/>
          <p:nvPr/>
        </p:nvSpPr>
        <p:spPr>
          <a:xfrm>
            <a:off x="8672252" y="1882122"/>
            <a:ext cx="376995" cy="1004414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6" name="矩形: 圓角 155"/>
          <p:cNvSpPr/>
          <p:nvPr/>
        </p:nvSpPr>
        <p:spPr>
          <a:xfrm>
            <a:off x="10291245" y="1882122"/>
            <a:ext cx="376995" cy="1004414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7" name="矩形: 圓角 156"/>
          <p:cNvSpPr/>
          <p:nvPr/>
        </p:nvSpPr>
        <p:spPr>
          <a:xfrm>
            <a:off x="11909111" y="1851074"/>
            <a:ext cx="376995" cy="1004414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8" name="矩形: 圓角 157"/>
          <p:cNvSpPr/>
          <p:nvPr/>
        </p:nvSpPr>
        <p:spPr>
          <a:xfrm>
            <a:off x="13523841" y="1842196"/>
            <a:ext cx="376995" cy="1004414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9" name="左大括弧 158"/>
          <p:cNvSpPr/>
          <p:nvPr/>
        </p:nvSpPr>
        <p:spPr>
          <a:xfrm>
            <a:off x="7385598" y="1842194"/>
            <a:ext cx="915803" cy="7887992"/>
          </a:xfrm>
          <a:prstGeom prst="leftBrace">
            <a:avLst>
              <a:gd name="adj1" fmla="val 21327"/>
              <a:gd name="adj2" fmla="val 7063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0635615" y="952436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13</a:t>
            </a:fld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bldLvl="0" animBg="1"/>
      <p:bldP spid="102" grpId="0" bldLvl="0" animBg="1"/>
      <p:bldP spid="103" grpId="0" bldLvl="0" animBg="1"/>
      <p:bldP spid="105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33" grpId="0" bldLvl="0" animBg="1"/>
      <p:bldP spid="134" grpId="0" bldLvl="0" animBg="1"/>
      <p:bldP spid="135" grpId="0" bldLvl="0" animBg="1"/>
      <p:bldP spid="136" grpId="0" bldLvl="0" animBg="1"/>
      <p:bldP spid="150" grpId="0" bldLvl="0" animBg="1"/>
      <p:bldP spid="155" grpId="0" bldLvl="0" animBg="1"/>
      <p:bldP spid="156" grpId="0" bldLvl="0" animBg="1"/>
      <p:bldP spid="157" grpId="0" bldLvl="0" animBg="1"/>
      <p:bldP spid="158" grpId="0" bldLvl="0" animBg="1"/>
      <p:bldP spid="15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直線單箭頭接點 160"/>
          <p:cNvCxnSpPr/>
          <p:nvPr/>
        </p:nvCxnSpPr>
        <p:spPr>
          <a:xfrm flipV="1">
            <a:off x="13545440" y="2170386"/>
            <a:ext cx="0" cy="471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 flipH="1" flipV="1">
            <a:off x="4513041" y="3812487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 flipH="1" flipV="1">
            <a:off x="5074170" y="8422443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/>
          <p:nvPr/>
        </p:nvCxnSpPr>
        <p:spPr>
          <a:xfrm flipH="1" flipV="1">
            <a:off x="8139947" y="8376270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 flipH="1" flipV="1">
            <a:off x="11575977" y="8370302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 flipH="1" flipV="1">
            <a:off x="15033132" y="8398041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圓角 119"/>
          <p:cNvSpPr/>
          <p:nvPr/>
        </p:nvSpPr>
        <p:spPr>
          <a:xfrm>
            <a:off x="4886489" y="5624387"/>
            <a:ext cx="376995" cy="1004414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3" name="矩形: 圓角 132"/>
          <p:cNvSpPr/>
          <p:nvPr/>
        </p:nvSpPr>
        <p:spPr>
          <a:xfrm>
            <a:off x="4887678" y="9040313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4" name="矩形: 圓角 133"/>
          <p:cNvSpPr/>
          <p:nvPr/>
        </p:nvSpPr>
        <p:spPr>
          <a:xfrm>
            <a:off x="7953453" y="9000387"/>
            <a:ext cx="376995" cy="10044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5" name="矩形: 圓角 134"/>
          <p:cNvSpPr/>
          <p:nvPr/>
        </p:nvSpPr>
        <p:spPr>
          <a:xfrm>
            <a:off x="11400717" y="9003695"/>
            <a:ext cx="376995" cy="100441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6" name="矩形: 圓角 135"/>
          <p:cNvSpPr/>
          <p:nvPr/>
        </p:nvSpPr>
        <p:spPr>
          <a:xfrm>
            <a:off x="14847981" y="9000387"/>
            <a:ext cx="376995" cy="10044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37" name="直線單箭頭接點 136"/>
          <p:cNvCxnSpPr/>
          <p:nvPr/>
        </p:nvCxnSpPr>
        <p:spPr>
          <a:xfrm flipH="1" flipV="1">
            <a:off x="5064677" y="6644324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 flipH="1" flipV="1">
            <a:off x="4517673" y="5273769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: 圓角 149"/>
          <p:cNvSpPr/>
          <p:nvPr/>
        </p:nvSpPr>
        <p:spPr>
          <a:xfrm>
            <a:off x="3419072" y="7288551"/>
            <a:ext cx="12125721" cy="1016385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Self-attention</a:t>
            </a:r>
            <a:endParaRPr lang="zh-TW" altLang="en-US" sz="4200" dirty="0"/>
          </a:p>
        </p:txBody>
      </p:sp>
      <p:sp>
        <p:nvSpPr>
          <p:cNvPr id="84" name="矩形: 圓角 83"/>
          <p:cNvSpPr/>
          <p:nvPr/>
        </p:nvSpPr>
        <p:spPr>
          <a:xfrm>
            <a:off x="4309298" y="4253721"/>
            <a:ext cx="376995" cy="1004414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5" name="矩形: 圓角 84"/>
          <p:cNvSpPr/>
          <p:nvPr/>
        </p:nvSpPr>
        <p:spPr>
          <a:xfrm>
            <a:off x="3786483" y="5625597"/>
            <a:ext cx="376995" cy="1004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文字方塊 2"/>
          <p:cNvSpPr txBox="1"/>
          <p:nvPr/>
        </p:nvSpPr>
        <p:spPr>
          <a:xfrm>
            <a:off x="4097610" y="5762763"/>
            <a:ext cx="85474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+</a:t>
            </a:r>
            <a:endParaRPr lang="zh-TW" altLang="en-US" sz="4200" b="1" dirty="0"/>
          </a:p>
        </p:txBody>
      </p:sp>
      <p:cxnSp>
        <p:nvCxnSpPr>
          <p:cNvPr id="88" name="直線單箭頭接點 87"/>
          <p:cNvCxnSpPr/>
          <p:nvPr/>
        </p:nvCxnSpPr>
        <p:spPr>
          <a:xfrm flipH="1">
            <a:off x="3974981" y="9521087"/>
            <a:ext cx="84092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3974981" y="6659367"/>
            <a:ext cx="0" cy="28188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flipH="1" flipV="1">
            <a:off x="4497795" y="2660108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: 圓角 94"/>
          <p:cNvSpPr/>
          <p:nvPr/>
        </p:nvSpPr>
        <p:spPr>
          <a:xfrm>
            <a:off x="3818420" y="3129726"/>
            <a:ext cx="1394292" cy="68316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norm</a:t>
            </a:r>
            <a:endParaRPr lang="zh-TW" altLang="en-US" sz="3600" dirty="0"/>
          </a:p>
        </p:txBody>
      </p:sp>
      <p:sp>
        <p:nvSpPr>
          <p:cNvPr id="94" name="矩形: 圓角 93"/>
          <p:cNvSpPr/>
          <p:nvPr/>
        </p:nvSpPr>
        <p:spPr>
          <a:xfrm>
            <a:off x="4307468" y="1634100"/>
            <a:ext cx="376995" cy="100441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0" name="矩形: 圓角 99"/>
          <p:cNvSpPr/>
          <p:nvPr/>
        </p:nvSpPr>
        <p:spPr>
          <a:xfrm>
            <a:off x="13344312" y="248255"/>
            <a:ext cx="376995" cy="1004414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4" name="矩形: 圓角 103"/>
          <p:cNvSpPr/>
          <p:nvPr/>
        </p:nvSpPr>
        <p:spPr>
          <a:xfrm>
            <a:off x="12695742" y="3641472"/>
            <a:ext cx="376995" cy="100441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6" name="矩形: 圓角 105"/>
          <p:cNvSpPr/>
          <p:nvPr/>
        </p:nvSpPr>
        <p:spPr>
          <a:xfrm>
            <a:off x="13980534" y="3680928"/>
            <a:ext cx="376995" cy="1004414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08" name="直線單箭頭接點 107"/>
          <p:cNvCxnSpPr/>
          <p:nvPr/>
        </p:nvCxnSpPr>
        <p:spPr>
          <a:xfrm flipV="1">
            <a:off x="13528158" y="3493647"/>
            <a:ext cx="0" cy="4944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 flipH="1" flipV="1">
            <a:off x="13523664" y="1278395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: 圓角 111"/>
          <p:cNvSpPr/>
          <p:nvPr/>
        </p:nvSpPr>
        <p:spPr>
          <a:xfrm>
            <a:off x="12844308" y="1655960"/>
            <a:ext cx="1394292" cy="494771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norm</a:t>
            </a:r>
            <a:endParaRPr lang="zh-TW" altLang="en-US" sz="3600" dirty="0"/>
          </a:p>
        </p:txBody>
      </p:sp>
      <p:cxnSp>
        <p:nvCxnSpPr>
          <p:cNvPr id="116" name="直線單箭頭接點 115"/>
          <p:cNvCxnSpPr/>
          <p:nvPr/>
        </p:nvCxnSpPr>
        <p:spPr>
          <a:xfrm flipH="1" flipV="1">
            <a:off x="4495965" y="1059749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 rot="5400000">
            <a:off x="3935361" y="430023"/>
            <a:ext cx="139428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117" name="矩形: 圓角 116"/>
          <p:cNvSpPr/>
          <p:nvPr/>
        </p:nvSpPr>
        <p:spPr>
          <a:xfrm>
            <a:off x="7061817" y="3368379"/>
            <a:ext cx="1394292" cy="68316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norm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7302455" y="4631903"/>
                <a:ext cx="944245" cy="20326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TW" altLang="en-US" sz="36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455" y="4631903"/>
                <a:ext cx="944245" cy="2032635"/>
              </a:xfrm>
              <a:prstGeom prst="rect">
                <a:avLst/>
              </a:prstGeom>
              <a:blipFill rotWithShape="1">
                <a:blip r:embed="rId5"/>
                <a:stretch>
                  <a:fillRect l="-62" t="-10" r="-7470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/>
              <p:cNvSpPr txBox="1"/>
              <p:nvPr/>
            </p:nvSpPr>
            <p:spPr>
              <a:xfrm>
                <a:off x="7302455" y="599892"/>
                <a:ext cx="911225" cy="21945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TW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TW" altLang="en-US" sz="36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18" name="文字方塊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455" y="599892"/>
                <a:ext cx="911225" cy="2194560"/>
              </a:xfrm>
              <a:prstGeom prst="rect">
                <a:avLst/>
              </a:prstGeom>
              <a:blipFill rotWithShape="1">
                <a:blip r:embed="rId6"/>
                <a:stretch>
                  <a:fillRect l="-65" t="-21" r="-9552" b="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9012750" y="4861089"/>
                <a:ext cx="165354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600" b="0" dirty="0"/>
                  <a:t>mean </a:t>
                </a:r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750" y="4861089"/>
                <a:ext cx="1653540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2" t="-30" r="-6133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矩形 118"/>
          <p:cNvSpPr/>
          <p:nvPr/>
        </p:nvSpPr>
        <p:spPr>
          <a:xfrm>
            <a:off x="8730843" y="3421448"/>
            <a:ext cx="2672444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/>
              <a:t>https://arxiv.org/abs/1607.06450</a:t>
            </a:r>
            <a:endParaRPr lang="zh-TW" altLang="en-US" sz="100" dirty="0"/>
          </a:p>
        </p:txBody>
      </p:sp>
      <p:sp>
        <p:nvSpPr>
          <p:cNvPr id="124" name="文字方塊 123"/>
          <p:cNvSpPr txBox="1"/>
          <p:nvPr/>
        </p:nvSpPr>
        <p:spPr>
          <a:xfrm>
            <a:off x="8592843" y="3368530"/>
            <a:ext cx="353327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Layer Norm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/>
              <p:cNvSpPr txBox="1"/>
              <p:nvPr/>
            </p:nvSpPr>
            <p:spPr>
              <a:xfrm>
                <a:off x="8686781" y="1159131"/>
                <a:ext cx="2364105" cy="939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5" name="文字方塊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781" y="1159131"/>
                <a:ext cx="2364105" cy="939800"/>
              </a:xfrm>
              <a:prstGeom prst="rect">
                <a:avLst/>
              </a:prstGeom>
              <a:blipFill rotWithShape="1">
                <a:blip r:embed="rId8"/>
                <a:stretch>
                  <a:fillRect l="-26" t="-27" r="-2526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/>
              <p:cNvSpPr txBox="1"/>
              <p:nvPr/>
            </p:nvSpPr>
            <p:spPr>
              <a:xfrm>
                <a:off x="9001836" y="5484963"/>
                <a:ext cx="2310584" cy="11074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600" b="0" dirty="0"/>
                  <a:t>standard deviation 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6" name="文字方塊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836" y="5484963"/>
                <a:ext cx="2310584" cy="1107440"/>
              </a:xfrm>
              <a:prstGeom prst="rect">
                <a:avLst/>
              </a:prstGeom>
              <a:blipFill rotWithShape="1">
                <a:blip r:embed="rId9"/>
                <a:stretch>
                  <a:fillRect l="-3" t="-42" r="23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右大括弧 48"/>
          <p:cNvSpPr/>
          <p:nvPr/>
        </p:nvSpPr>
        <p:spPr>
          <a:xfrm>
            <a:off x="8307923" y="4631903"/>
            <a:ext cx="376995" cy="2133998"/>
          </a:xfrm>
          <a:prstGeom prst="rightBrace">
            <a:avLst>
              <a:gd name="adj1" fmla="val 47747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28" name="直線單箭頭接點 127"/>
          <p:cNvCxnSpPr/>
          <p:nvPr/>
        </p:nvCxnSpPr>
        <p:spPr>
          <a:xfrm flipH="1" flipV="1">
            <a:off x="7772198" y="4027625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/>
          <p:nvPr/>
        </p:nvCxnSpPr>
        <p:spPr>
          <a:xfrm flipH="1" flipV="1">
            <a:off x="7747821" y="2823728"/>
            <a:ext cx="0" cy="5743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圓角 49"/>
          <p:cNvSpPr/>
          <p:nvPr/>
        </p:nvSpPr>
        <p:spPr>
          <a:xfrm>
            <a:off x="6718692" y="376829"/>
            <a:ext cx="4950338" cy="656234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0" name="矩形: 圓角 129"/>
          <p:cNvSpPr/>
          <p:nvPr/>
        </p:nvSpPr>
        <p:spPr>
          <a:xfrm>
            <a:off x="13337064" y="2480558"/>
            <a:ext cx="376995" cy="1004414"/>
          </a:xfrm>
          <a:prstGeom prst="roundRect">
            <a:avLst/>
          </a:prstGeom>
          <a:ln w="38100">
            <a:solidFill>
              <a:srgbClr val="00B05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2" name="文字方塊 131"/>
          <p:cNvSpPr txBox="1"/>
          <p:nvPr/>
        </p:nvSpPr>
        <p:spPr>
          <a:xfrm>
            <a:off x="13124238" y="3787775"/>
            <a:ext cx="85474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+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5218052" y="5737707"/>
                <a:ext cx="60896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052" y="5737707"/>
                <a:ext cx="608960" cy="645160"/>
              </a:xfrm>
              <a:prstGeom prst="rect">
                <a:avLst/>
              </a:prstGeom>
              <a:blipFill rotWithShape="1">
                <a:blip r:embed="rId10"/>
                <a:stretch>
                  <a:fillRect l="-42" t="-75" r="41" b="7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3174703" y="5795782"/>
                <a:ext cx="60896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703" y="5795782"/>
                <a:ext cx="608960" cy="645160"/>
              </a:xfrm>
              <a:prstGeom prst="rect">
                <a:avLst/>
              </a:prstGeom>
              <a:blipFill rotWithShape="1">
                <a:blip r:embed="rId11"/>
                <a:stretch>
                  <a:fillRect l="-56" t="-21" r="55" b="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字方塊 141"/>
              <p:cNvSpPr txBox="1"/>
              <p:nvPr/>
            </p:nvSpPr>
            <p:spPr>
              <a:xfrm>
                <a:off x="4742016" y="4412288"/>
                <a:ext cx="1401558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TW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2" name="文字方塊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016" y="4412288"/>
                <a:ext cx="1401558" cy="645160"/>
              </a:xfrm>
              <a:prstGeom prst="rect">
                <a:avLst/>
              </a:prstGeom>
              <a:blipFill rotWithShape="1">
                <a:blip r:embed="rId12"/>
                <a:stretch>
                  <a:fillRect l="-34" t="-48" r="42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直線單箭頭接點 142"/>
          <p:cNvCxnSpPr/>
          <p:nvPr/>
        </p:nvCxnSpPr>
        <p:spPr>
          <a:xfrm flipV="1">
            <a:off x="14186910" y="5700618"/>
            <a:ext cx="0" cy="471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 flipV="1">
            <a:off x="14183319" y="4713390"/>
            <a:ext cx="0" cy="4718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: 圓角 97"/>
          <p:cNvSpPr/>
          <p:nvPr/>
        </p:nvSpPr>
        <p:spPr>
          <a:xfrm>
            <a:off x="13480041" y="5058303"/>
            <a:ext cx="1394292" cy="65801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FC</a:t>
            </a:r>
            <a:endParaRPr lang="zh-TW" altLang="en-US" sz="3600" dirty="0"/>
          </a:p>
        </p:txBody>
      </p:sp>
      <p:cxnSp>
        <p:nvCxnSpPr>
          <p:cNvPr id="149" name="直線單箭頭接點 148"/>
          <p:cNvCxnSpPr/>
          <p:nvPr/>
        </p:nvCxnSpPr>
        <p:spPr>
          <a:xfrm flipH="1">
            <a:off x="12839546" y="6517149"/>
            <a:ext cx="136958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 flipV="1">
            <a:off x="12865190" y="4678464"/>
            <a:ext cx="0" cy="18414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: 圓角 130"/>
          <p:cNvSpPr/>
          <p:nvPr/>
        </p:nvSpPr>
        <p:spPr>
          <a:xfrm>
            <a:off x="13998413" y="6072093"/>
            <a:ext cx="376995" cy="100441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8" name="文字方塊 57"/>
          <p:cNvSpPr txBox="1"/>
          <p:nvPr/>
        </p:nvSpPr>
        <p:spPr>
          <a:xfrm>
            <a:off x="659369" y="4384148"/>
            <a:ext cx="365840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3600" b="0" i="0" dirty="0">
                <a:effectLst/>
                <a:latin typeface="Arial" panose="020B0604020202020204" pitchFamily="34" charset="0"/>
              </a:rPr>
              <a:t>residual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14</a:t>
            </a:fld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5" grpId="0" bldLvl="0" animBg="1"/>
      <p:bldP spid="3" grpId="0"/>
      <p:bldP spid="95" grpId="0" bldLvl="0" animBg="1"/>
      <p:bldP spid="94" grpId="0" bldLvl="0" animBg="1"/>
      <p:bldP spid="100" grpId="0" bldLvl="0" animBg="1"/>
      <p:bldP spid="104" grpId="0" bldLvl="0" animBg="1"/>
      <p:bldP spid="106" grpId="0" bldLvl="0" animBg="1"/>
      <p:bldP spid="112" grpId="0" bldLvl="0" animBg="1"/>
      <p:bldP spid="44" grpId="0"/>
      <p:bldP spid="117" grpId="0" bldLvl="0" animBg="1"/>
      <p:bldP spid="46" grpId="0"/>
      <p:bldP spid="118" grpId="0"/>
      <p:bldP spid="48" grpId="0"/>
      <p:bldP spid="119" grpId="0"/>
      <p:bldP spid="124" grpId="0"/>
      <p:bldP spid="125" grpId="0"/>
      <p:bldP spid="126" grpId="0"/>
      <p:bldP spid="49" grpId="0" bldLvl="0" animBg="1"/>
      <p:bldP spid="50" grpId="0" bldLvl="0" animBg="1"/>
      <p:bldP spid="130" grpId="0" bldLvl="0" animBg="1"/>
      <p:bldP spid="132" grpId="0"/>
      <p:bldP spid="52" grpId="0"/>
      <p:bldP spid="141" grpId="0"/>
      <p:bldP spid="142" grpId="0"/>
      <p:bldP spid="98" grpId="0" bldLvl="0" animBg="1"/>
      <p:bldP spid="131" grpId="0" bldLvl="0" animBg="1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221" y="1690338"/>
            <a:ext cx="3756491" cy="6906162"/>
          </a:xfrm>
          <a:prstGeom prst="rect">
            <a:avLst/>
          </a:prstGeom>
        </p:spPr>
      </p:pic>
      <p:cxnSp>
        <p:nvCxnSpPr>
          <p:cNvPr id="89" name="直線單箭頭接點 88"/>
          <p:cNvCxnSpPr/>
          <p:nvPr/>
        </p:nvCxnSpPr>
        <p:spPr>
          <a:xfrm flipV="1">
            <a:off x="3962823" y="6392782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 flipV="1">
            <a:off x="5404206" y="6392782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6860028" y="636445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 flipV="1">
            <a:off x="8344725" y="636445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/>
          <p:nvPr/>
        </p:nvCxnSpPr>
        <p:spPr>
          <a:xfrm flipV="1">
            <a:off x="3913836" y="358164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flipV="1">
            <a:off x="5355219" y="3581641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 flipV="1">
            <a:off x="6811041" y="355331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 flipV="1">
            <a:off x="8295738" y="3553310"/>
            <a:ext cx="0" cy="1080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3642942" y="7314192"/>
            <a:ext cx="697730" cy="9982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08" name="矩形 107"/>
          <p:cNvSpPr/>
          <p:nvPr/>
        </p:nvSpPr>
        <p:spPr>
          <a:xfrm>
            <a:off x="8031695" y="7296019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10" name="文字方塊 109"/>
          <p:cNvSpPr txBox="1"/>
          <p:nvPr/>
        </p:nvSpPr>
        <p:spPr>
          <a:xfrm>
            <a:off x="3520319" y="7444451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112" name="文字方塊 111"/>
          <p:cNvSpPr txBox="1"/>
          <p:nvPr/>
        </p:nvSpPr>
        <p:spPr>
          <a:xfrm>
            <a:off x="7889133" y="7444451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116" name="矩形 115"/>
          <p:cNvSpPr/>
          <p:nvPr/>
        </p:nvSpPr>
        <p:spPr>
          <a:xfrm>
            <a:off x="5079387" y="7296019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4956764" y="7444451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118" name="矩形 117"/>
          <p:cNvSpPr/>
          <p:nvPr/>
        </p:nvSpPr>
        <p:spPr>
          <a:xfrm>
            <a:off x="6522757" y="7296019"/>
            <a:ext cx="697730" cy="10163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19" name="文字方塊 118"/>
          <p:cNvSpPr txBox="1"/>
          <p:nvPr/>
        </p:nvSpPr>
        <p:spPr>
          <a:xfrm>
            <a:off x="6390165" y="7444451"/>
            <a:ext cx="94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TW" altLang="en-US" sz="3600" dirty="0"/>
          </a:p>
        </p:txBody>
      </p:sp>
      <p:sp>
        <p:nvSpPr>
          <p:cNvPr id="124" name="矩形: 圓角 123"/>
          <p:cNvSpPr/>
          <p:nvPr/>
        </p:nvSpPr>
        <p:spPr>
          <a:xfrm>
            <a:off x="3208020" y="4388276"/>
            <a:ext cx="5624081" cy="1936514"/>
          </a:xfrm>
          <a:prstGeom prst="roundRect">
            <a:avLst/>
          </a:prstGeom>
          <a:blipFill rotWithShape="1">
            <a:blip r:embed="rId4"/>
            <a:tile tx="0" ty="0" sx="100000" sy="100000" flip="none" algn="tl"/>
          </a:blipFill>
          <a:ln w="38100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Encoder</a:t>
            </a:r>
            <a:endParaRPr lang="zh-TW" altLang="en-US" sz="4200" dirty="0"/>
          </a:p>
        </p:txBody>
      </p:sp>
      <p:sp>
        <p:nvSpPr>
          <p:cNvPr id="125" name="矩形 124"/>
          <p:cNvSpPr/>
          <p:nvPr/>
        </p:nvSpPr>
        <p:spPr>
          <a:xfrm>
            <a:off x="3587516" y="262041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26" name="矩形 125"/>
          <p:cNvSpPr/>
          <p:nvPr/>
        </p:nvSpPr>
        <p:spPr>
          <a:xfrm>
            <a:off x="5025902" y="262040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27" name="矩形 126"/>
          <p:cNvSpPr/>
          <p:nvPr/>
        </p:nvSpPr>
        <p:spPr>
          <a:xfrm>
            <a:off x="6469518" y="262040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28" name="矩形 127"/>
          <p:cNvSpPr/>
          <p:nvPr/>
        </p:nvSpPr>
        <p:spPr>
          <a:xfrm>
            <a:off x="7946874" y="262040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/>
              <p:cNvSpPr txBox="1"/>
              <p:nvPr/>
            </p:nvSpPr>
            <p:spPr>
              <a:xfrm>
                <a:off x="7759367" y="2751651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29" name="文字方塊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367" y="2751651"/>
                <a:ext cx="1072742" cy="645160"/>
              </a:xfrm>
              <a:prstGeom prst="rect">
                <a:avLst/>
              </a:prstGeom>
              <a:blipFill rotWithShape="1">
                <a:blip r:embed="rId5"/>
                <a:stretch>
                  <a:fillRect l="-28" t="-30" r="49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/>
              <p:cNvSpPr txBox="1"/>
              <p:nvPr/>
            </p:nvSpPr>
            <p:spPr>
              <a:xfrm>
                <a:off x="6295068" y="2762770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0" name="文字方塊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068" y="2762770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29" t="-80" r="50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/>
              <p:cNvSpPr txBox="1"/>
              <p:nvPr/>
            </p:nvSpPr>
            <p:spPr>
              <a:xfrm>
                <a:off x="4851452" y="2791772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1" name="文字方塊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452" y="2791772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5" t="-48" r="26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3441252" y="272429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52" y="2724299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17" t="-23" r="39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7889133" y="7472782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133" y="7472782"/>
                <a:ext cx="1072742" cy="645160"/>
              </a:xfrm>
              <a:prstGeom prst="rect">
                <a:avLst/>
              </a:prstGeom>
              <a:blipFill rotWithShape="1">
                <a:blip r:embed="rId9"/>
                <a:stretch>
                  <a:fillRect l="-49" t="-16" r="11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字方塊 141"/>
              <p:cNvSpPr txBox="1"/>
              <p:nvPr/>
            </p:nvSpPr>
            <p:spPr>
              <a:xfrm>
                <a:off x="6424835" y="7472782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2" name="文字方塊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835" y="7472782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50" t="-16" r="12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字方塊 142"/>
              <p:cNvSpPr txBox="1"/>
              <p:nvPr/>
            </p:nvSpPr>
            <p:spPr>
              <a:xfrm>
                <a:off x="4961340" y="7472782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3" name="文字方塊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340" y="7472782"/>
                <a:ext cx="1072742" cy="646430"/>
              </a:xfrm>
              <a:prstGeom prst="rect">
                <a:avLst/>
              </a:prstGeom>
              <a:blipFill rotWithShape="1">
                <a:blip r:embed="rId11"/>
                <a:stretch>
                  <a:fillRect l="-8" t="-16" r="29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/>
              <p:cNvSpPr txBox="1"/>
              <p:nvPr/>
            </p:nvSpPr>
            <p:spPr>
              <a:xfrm>
                <a:off x="3531263" y="7472782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4" name="文字方塊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263" y="7472782"/>
                <a:ext cx="1072742" cy="646430"/>
              </a:xfrm>
              <a:prstGeom prst="rect">
                <a:avLst/>
              </a:prstGeom>
              <a:blipFill rotWithShape="1">
                <a:blip r:embed="rId12"/>
                <a:stretch>
                  <a:fillRect l="-3" t="-16" r="24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左大括弧 47"/>
          <p:cNvSpPr/>
          <p:nvPr/>
        </p:nvSpPr>
        <p:spPr>
          <a:xfrm>
            <a:off x="8729424" y="1690340"/>
            <a:ext cx="1383171" cy="6906162"/>
          </a:xfrm>
          <a:prstGeom prst="leftBrace">
            <a:avLst>
              <a:gd name="adj1" fmla="val 8333"/>
              <a:gd name="adj2" fmla="val 5386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文字方塊 1"/>
          <p:cNvSpPr txBox="1"/>
          <p:nvPr/>
        </p:nvSpPr>
        <p:spPr>
          <a:xfrm>
            <a:off x="13759815" y="5143500"/>
            <a:ext cx="3223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Residual</a:t>
            </a:r>
          </a:p>
          <a:p>
            <a:r>
              <a:rPr lang="en-US" altLang="zh-TW" sz="3600" dirty="0"/>
              <a:t>+ Layer norm </a:t>
            </a:r>
            <a:endParaRPr lang="zh-TW" altLang="en-US" sz="3600" dirty="0"/>
          </a:p>
        </p:txBody>
      </p:sp>
      <p:cxnSp>
        <p:nvCxnSpPr>
          <p:cNvPr id="4" name="直線單箭頭接點 3"/>
          <p:cNvCxnSpPr/>
          <p:nvPr/>
        </p:nvCxnSpPr>
        <p:spPr>
          <a:xfrm flipH="1" flipV="1">
            <a:off x="13123068" y="4006632"/>
            <a:ext cx="1274043" cy="1042838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H="1" flipV="1">
            <a:off x="13123067" y="2076908"/>
            <a:ext cx="1438938" cy="2972562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11951970" y="8281672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15</a:t>
            </a:fld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0AED6F87-6852-42CF-B75A-394ED23C0C9F}"/>
</file>

<file path=customXml/itemProps2.xml><?xml version="1.0" encoding="utf-8"?>
<ds:datastoreItem xmlns:ds="http://schemas.openxmlformats.org/officeDocument/2006/customXml" ds:itemID="{1075242B-6923-4E52-9E88-660295C79E38}"/>
</file>

<file path=customXml/itemProps3.xml><?xml version="1.0" encoding="utf-8"?>
<ds:datastoreItem xmlns:ds="http://schemas.openxmlformats.org/officeDocument/2006/customXml" ds:itemID="{C4961C2B-1E87-4479-AEE5-69CF7D4EC360}"/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556</Words>
  <Application>Microsoft Macintosh PowerPoint</Application>
  <PresentationFormat>Custom</PresentationFormat>
  <Paragraphs>214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Lucida Grande</vt:lpstr>
      <vt:lpstr>Wingdings 2</vt:lpstr>
      <vt:lpstr>Breeze</vt:lpstr>
      <vt:lpstr>Transformer</vt:lpstr>
      <vt:lpstr>Sequence-to-sequence (Seq2seq)</vt:lpstr>
      <vt:lpstr>Seq2seq for Chatbot</vt:lpstr>
      <vt:lpstr>Application of Seq2Seq</vt:lpstr>
      <vt:lpstr>Seq2seq for Syntactic Parsing </vt:lpstr>
      <vt:lpstr>PowerPoint Presentation</vt:lpstr>
      <vt:lpstr>PowerPoint Presentation</vt:lpstr>
      <vt:lpstr>PowerPoint Presentation</vt:lpstr>
      <vt:lpstr>Seq2seq for  Object Detection</vt:lpstr>
      <vt:lpstr>PowerPoint Presentation</vt:lpstr>
      <vt:lpstr>PowerPoint Presentation</vt:lpstr>
      <vt:lpstr>Encoder </vt:lpstr>
      <vt:lpstr>PowerPoint Presentation</vt:lpstr>
      <vt:lpstr>PowerPoint Presentation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57</cp:revision>
  <dcterms:created xsi:type="dcterms:W3CDTF">2019-02-13T16:04:00Z</dcterms:created>
  <dcterms:modified xsi:type="dcterms:W3CDTF">2024-04-04T16:31:43Z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50DE81DFFB894CF5B0553D916DF12CAC</vt:lpwstr>
  </property>
  <property fmtid="{D5CDD505-2E9C-101B-9397-08002B2CF9AE}" pid="5" name="KSOProductBuildVer">
    <vt:lpwstr>1033-11.2.0.11225</vt:lpwstr>
  </property>
</Properties>
</file>