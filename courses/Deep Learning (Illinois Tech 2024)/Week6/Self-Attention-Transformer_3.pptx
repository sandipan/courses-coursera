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320" r:id="rId2"/>
    <p:sldId id="321" r:id="rId3"/>
    <p:sldId id="322" r:id="rId4"/>
    <p:sldId id="323" r:id="rId5"/>
    <p:sldId id="324" r:id="rId6"/>
    <p:sldId id="325" r:id="rId7"/>
    <p:sldId id="326" r:id="rId8"/>
    <p:sldId id="328" r:id="rId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7">
          <p15:clr>
            <a:srgbClr val="A4A3A4"/>
          </p15:clr>
        </p15:guide>
        <p15:guide id="2" pos="58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27"/>
    <p:restoredTop sz="93772"/>
  </p:normalViewPr>
  <p:slideViewPr>
    <p:cSldViewPr snapToGrid="0" snapToObjects="1">
      <p:cViewPr varScale="1">
        <p:scale>
          <a:sx n="47" d="100"/>
          <a:sy n="47" d="100"/>
        </p:scale>
        <p:origin x="264" y="656"/>
      </p:cViewPr>
      <p:guideLst>
        <p:guide orient="horz" pos="3287"/>
        <p:guide pos="58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4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7.png"/><Relationship Id="rId5" Type="http://schemas.openxmlformats.org/officeDocument/2006/relationships/image" Target="../media/image124.png"/><Relationship Id="rId10" Type="http://schemas.openxmlformats.org/officeDocument/2006/relationships/image" Target="../media/image5.png"/><Relationship Id="rId4" Type="http://schemas.openxmlformats.org/officeDocument/2006/relationships/image" Target="../media/image125.png"/><Relationship Id="rId9" Type="http://schemas.openxmlformats.org/officeDocument/2006/relationships/image" Target="../media/image15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7.png"/><Relationship Id="rId3" Type="http://schemas.openxmlformats.org/officeDocument/2006/relationships/image" Target="../media/image111.png"/><Relationship Id="rId7" Type="http://schemas.openxmlformats.org/officeDocument/2006/relationships/image" Target="../media/image6.png"/><Relationship Id="rId12" Type="http://schemas.openxmlformats.org/officeDocument/2006/relationships/image" Target="../media/image12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0.png"/><Relationship Id="rId5" Type="http://schemas.openxmlformats.org/officeDocument/2006/relationships/image" Target="../media/image48.png"/><Relationship Id="rId10" Type="http://schemas.openxmlformats.org/officeDocument/2006/relationships/image" Target="../media/image9.png"/><Relationship Id="rId4" Type="http://schemas.openxmlformats.org/officeDocument/2006/relationships/image" Target="../media/image110.png"/><Relationship Id="rId9" Type="http://schemas.openxmlformats.org/officeDocument/2006/relationships/image" Target="../media/image8.png"/><Relationship Id="rId14" Type="http://schemas.openxmlformats.org/officeDocument/2006/relationships/image" Target="../media/image15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Self- 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Positional Encoding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/>
              <a:t>Appications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Positional Encoding 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2120" y="2085975"/>
                <a:ext cx="9046210" cy="6515100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600" dirty="0"/>
                  <a:t>Self-attention lacks positional information.</a:t>
                </a:r>
              </a:p>
              <a:p>
                <a:r>
                  <a:rPr lang="en-US" altLang="zh-TW" sz="3600" dirty="0"/>
                  <a:t>A distinct positional vector,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TW" sz="3600" dirty="0"/>
                  <a:t>is assigned to each position.</a:t>
                </a:r>
              </a:p>
              <a:p>
                <a:r>
                  <a:rPr lang="en-US" altLang="zh-TW" sz="3600" dirty="0"/>
                  <a:t>hand-crafted</a:t>
                </a:r>
              </a:p>
              <a:p>
                <a:r>
                  <a:rPr lang="en-US" altLang="zh-TW" sz="3600" dirty="0"/>
                  <a:t>learn from data</a:t>
                </a:r>
                <a:endParaRPr lang="zh-TW" altLang="en-US" sz="3600" dirty="0"/>
              </a:p>
              <a:p>
                <a:endParaRPr lang="zh-TW" altLang="en-US" sz="36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2120" y="2085975"/>
                <a:ext cx="9046210" cy="6515100"/>
              </a:xfrm>
              <a:blipFill>
                <a:blip r:embed="rId3"/>
                <a:stretch>
                  <a:fillRect l="-1683" t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矩形 84"/>
          <p:cNvSpPr/>
          <p:nvPr/>
        </p:nvSpPr>
        <p:spPr>
          <a:xfrm>
            <a:off x="5821733" y="8539406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grpSp>
        <p:nvGrpSpPr>
          <p:cNvPr id="73" name="群組 72"/>
          <p:cNvGrpSpPr/>
          <p:nvPr/>
        </p:nvGrpSpPr>
        <p:grpSpPr>
          <a:xfrm>
            <a:off x="4825194" y="6922160"/>
            <a:ext cx="2759052" cy="1579235"/>
            <a:chOff x="401919" y="3795863"/>
            <a:chExt cx="1839368" cy="1052823"/>
          </a:xfrm>
        </p:grpSpPr>
        <p:sp>
          <p:nvSpPr>
            <p:cNvPr id="75" name="矩形 74"/>
            <p:cNvSpPr/>
            <p:nvPr/>
          </p:nvSpPr>
          <p:spPr>
            <a:xfrm>
              <a:off x="1717885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/>
                <p:cNvSpPr txBox="1"/>
                <p:nvPr/>
              </p:nvSpPr>
              <p:spPr>
                <a:xfrm>
                  <a:off x="1526126" y="3833406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76" name="文字方塊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33406"/>
                  <a:ext cx="715161" cy="43222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矩形 76"/>
            <p:cNvSpPr/>
            <p:nvPr/>
          </p:nvSpPr>
          <p:spPr>
            <a:xfrm>
              <a:off x="1145507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/>
                <p:cNvSpPr txBox="1"/>
                <p:nvPr/>
              </p:nvSpPr>
              <p:spPr>
                <a:xfrm>
                  <a:off x="964022" y="3843680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78" name="文字方塊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43680"/>
                  <a:ext cx="715161" cy="43222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矩形 78"/>
            <p:cNvSpPr/>
            <p:nvPr/>
          </p:nvSpPr>
          <p:spPr>
            <a:xfrm>
              <a:off x="583404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/>
                <p:cNvSpPr txBox="1"/>
                <p:nvPr/>
              </p:nvSpPr>
              <p:spPr>
                <a:xfrm>
                  <a:off x="401919" y="3843680"/>
                  <a:ext cx="715161" cy="428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80" name="文字方塊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19" y="3843680"/>
                  <a:ext cx="715161" cy="428413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直線單箭頭接點 80"/>
            <p:cNvCxnSpPr/>
            <p:nvPr/>
          </p:nvCxnSpPr>
          <p:spPr>
            <a:xfrm flipV="1">
              <a:off x="1298095" y="4339810"/>
              <a:ext cx="0" cy="508876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/>
            <p:nvPr/>
          </p:nvCxnSpPr>
          <p:spPr>
            <a:xfrm>
              <a:off x="716018" y="4619649"/>
              <a:ext cx="1145867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V="1">
              <a:off x="716018" y="4337800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V="1">
              <a:off x="1861885" y="4337800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5683020" y="8642012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020" y="8642012"/>
                <a:ext cx="1072742" cy="648335"/>
              </a:xfrm>
              <a:prstGeom prst="rect">
                <a:avLst/>
              </a:prstGeom>
              <a:blipFill rotWithShape="1">
                <a:blip r:embed="rId7"/>
                <a:stretch>
                  <a:fillRect l="-38" t="-46" r="59" b="4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20"/>
          <p:cNvGrpSpPr/>
          <p:nvPr/>
        </p:nvGrpSpPr>
        <p:grpSpPr>
          <a:xfrm>
            <a:off x="4302807" y="8559129"/>
            <a:ext cx="1072742" cy="908720"/>
            <a:chOff x="6596954" y="2212974"/>
            <a:chExt cx="715161" cy="605813"/>
          </a:xfrm>
        </p:grpSpPr>
        <p:sp>
          <p:nvSpPr>
            <p:cNvPr id="92" name="矩形 91"/>
            <p:cNvSpPr/>
            <p:nvPr/>
          </p:nvSpPr>
          <p:spPr>
            <a:xfrm>
              <a:off x="6714726" y="2212974"/>
              <a:ext cx="461666" cy="60581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/>
                <p:cNvSpPr txBox="1"/>
                <p:nvPr/>
              </p:nvSpPr>
              <p:spPr>
                <a:xfrm>
                  <a:off x="6596954" y="2265820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89" name="文字方塊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6954" y="2265820"/>
                  <a:ext cx="715161" cy="432223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文字方塊 22"/>
          <p:cNvSpPr txBox="1"/>
          <p:nvPr/>
        </p:nvSpPr>
        <p:spPr>
          <a:xfrm>
            <a:off x="5204739" y="8579780"/>
            <a:ext cx="676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+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0466705" y="1851025"/>
                <a:ext cx="7245985" cy="1246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Each column represents a positional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6705" y="1851025"/>
                <a:ext cx="7245985" cy="124650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9680575" y="9290050"/>
            <a:ext cx="4196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https://arxiv.org/abs/2003.09229</a:t>
            </a:r>
            <a:endParaRPr lang="zh-TW" alt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10"/>
          <a:stretch>
            <a:fillRect/>
          </a:stretch>
        </p:blipFill>
        <p:spPr>
          <a:xfrm>
            <a:off x="9679940" y="3165475"/>
            <a:ext cx="8395970" cy="4992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Self-attention for Speech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9261475" y="8946515"/>
            <a:ext cx="5113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accent1"/>
                </a:solidFill>
                <a:latin typeface="+mj-lt"/>
                <a:cs typeface="+mj-cs"/>
              </a:rPr>
              <a:t>Truncated Self-attention</a:t>
            </a:r>
          </a:p>
        </p:txBody>
      </p:sp>
      <p:cxnSp>
        <p:nvCxnSpPr>
          <p:cNvPr id="9" name="直線單箭頭接點 8"/>
          <p:cNvCxnSpPr/>
          <p:nvPr/>
        </p:nvCxnSpPr>
        <p:spPr>
          <a:xfrm flipV="1">
            <a:off x="9993129" y="660967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V="1">
            <a:off x="11434512" y="660967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V="1">
            <a:off x="12890334" y="658134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14375031" y="658134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V="1">
            <a:off x="9944142" y="3798537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V="1">
            <a:off x="11385525" y="3798537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V="1">
            <a:off x="12841347" y="3770207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14326044" y="3770207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9673248" y="7531089"/>
            <a:ext cx="697730" cy="9982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8" name="矩形 17"/>
          <p:cNvSpPr/>
          <p:nvPr/>
        </p:nvSpPr>
        <p:spPr>
          <a:xfrm>
            <a:off x="14062001" y="7512915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9550625" y="7661348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3919439" y="7661348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21" name="矩形 20"/>
          <p:cNvSpPr/>
          <p:nvPr/>
        </p:nvSpPr>
        <p:spPr>
          <a:xfrm>
            <a:off x="11109693" y="7512915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987070" y="7661348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23" name="矩形 22"/>
          <p:cNvSpPr/>
          <p:nvPr/>
        </p:nvSpPr>
        <p:spPr>
          <a:xfrm>
            <a:off x="12553064" y="7512915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2420471" y="7661348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25" name="矩形: 圓角 24"/>
          <p:cNvSpPr/>
          <p:nvPr/>
        </p:nvSpPr>
        <p:spPr>
          <a:xfrm>
            <a:off x="9238326" y="4605173"/>
            <a:ext cx="5624081" cy="1936514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4200" dirty="0"/>
          </a:p>
        </p:txBody>
      </p:sp>
      <p:sp>
        <p:nvSpPr>
          <p:cNvPr id="26" name="矩形 25"/>
          <p:cNvSpPr/>
          <p:nvPr/>
        </p:nvSpPr>
        <p:spPr>
          <a:xfrm>
            <a:off x="9617822" y="2837307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7" name="矩形 26"/>
          <p:cNvSpPr/>
          <p:nvPr/>
        </p:nvSpPr>
        <p:spPr>
          <a:xfrm>
            <a:off x="11056208" y="283730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8" name="矩形 27"/>
          <p:cNvSpPr/>
          <p:nvPr/>
        </p:nvSpPr>
        <p:spPr>
          <a:xfrm>
            <a:off x="12499824" y="283730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9" name="矩形 28"/>
          <p:cNvSpPr/>
          <p:nvPr/>
        </p:nvSpPr>
        <p:spPr>
          <a:xfrm>
            <a:off x="13977180" y="283730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13789673" y="2968548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9673" y="2968548"/>
                <a:ext cx="1072742" cy="645160"/>
              </a:xfrm>
              <a:prstGeom prst="rect">
                <a:avLst/>
              </a:prstGeom>
              <a:blipFill rotWithShape="1">
                <a:blip r:embed="rId3"/>
                <a:stretch>
                  <a:fillRect l="-1" t="-86" r="22" b="8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12325374" y="297966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5374" y="2979666"/>
                <a:ext cx="1072742" cy="646430"/>
              </a:xfrm>
              <a:prstGeom prst="rect">
                <a:avLst/>
              </a:prstGeom>
              <a:blipFill rotWithShape="1">
                <a:blip r:embed="rId4"/>
                <a:stretch>
                  <a:fillRect l="-2" t="-38" r="23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0881758" y="3008669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758" y="3008669"/>
                <a:ext cx="1072742" cy="646430"/>
              </a:xfrm>
              <a:prstGeom prst="rect">
                <a:avLst/>
              </a:prstGeom>
              <a:blipFill rotWithShape="1">
                <a:blip r:embed="rId5"/>
                <a:stretch>
                  <a:fillRect l="-37" t="-6" r="58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9471558" y="294119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558" y="2941196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50" t="-79" r="12" b="7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13919439" y="7689678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439" y="7689678"/>
                <a:ext cx="1072742" cy="645160"/>
              </a:xfrm>
              <a:prstGeom prst="rect">
                <a:avLst/>
              </a:prstGeom>
              <a:blipFill rotWithShape="1">
                <a:blip r:embed="rId7"/>
                <a:stretch>
                  <a:fillRect l="-22" t="-72" r="43" b="7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12455141" y="7689678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5141" y="7689678"/>
                <a:ext cx="1072742" cy="646430"/>
              </a:xfrm>
              <a:prstGeom prst="rect">
                <a:avLst/>
              </a:prstGeom>
              <a:blipFill rotWithShape="1">
                <a:blip r:embed="rId8"/>
                <a:stretch>
                  <a:fillRect l="-23" t="-72" r="45" b="7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11011524" y="7689678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1524" y="7689678"/>
                <a:ext cx="1072742" cy="646430"/>
              </a:xfrm>
              <a:prstGeom prst="rect">
                <a:avLst/>
              </a:prstGeom>
              <a:blipFill rotWithShape="1">
                <a:blip r:embed="rId9"/>
                <a:stretch>
                  <a:fillRect l="-58" t="-72" r="20" b="7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9601325" y="7689678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325" y="7689678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l="-12" t="-72" r="33" b="7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/>
          <p:cNvSpPr/>
          <p:nvPr/>
        </p:nvSpPr>
        <p:spPr>
          <a:xfrm>
            <a:off x="9388823" y="2552594"/>
            <a:ext cx="1179738" cy="6393822"/>
          </a:xfrm>
          <a:prstGeom prst="rect">
            <a:avLst/>
          </a:prstGeom>
          <a:solidFill>
            <a:srgbClr val="000000">
              <a:alpha val="25098"/>
            </a:srgbClr>
          </a:solidFill>
          <a:effectLst>
            <a:softEdge rad="63500"/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9" name="文字方塊 38"/>
          <p:cNvSpPr txBox="1"/>
          <p:nvPr/>
        </p:nvSpPr>
        <p:spPr>
          <a:xfrm>
            <a:off x="9992977" y="1728711"/>
            <a:ext cx="56240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Attention in a range</a:t>
            </a:r>
            <a:endParaRPr lang="zh-TW" altLang="en-US" sz="3600" dirty="0"/>
          </a:p>
        </p:txBody>
      </p:sp>
      <p:sp>
        <p:nvSpPr>
          <p:cNvPr id="40" name="矩形 39"/>
          <p:cNvSpPr/>
          <p:nvPr/>
        </p:nvSpPr>
        <p:spPr>
          <a:xfrm>
            <a:off x="12420471" y="7269111"/>
            <a:ext cx="994257" cy="15426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手繪多邊形: 圖案 40"/>
          <p:cNvSpPr/>
          <p:nvPr/>
        </p:nvSpPr>
        <p:spPr>
          <a:xfrm>
            <a:off x="11365577" y="5843979"/>
            <a:ext cx="1543050" cy="428900"/>
          </a:xfrm>
          <a:custGeom>
            <a:avLst/>
            <a:gdLst>
              <a:gd name="connsiteX0" fmla="*/ 1028700 w 1028700"/>
              <a:gd name="connsiteY0" fmla="*/ 285933 h 285933"/>
              <a:gd name="connsiteX1" fmla="*/ 742950 w 1028700"/>
              <a:gd name="connsiteY1" fmla="*/ 183 h 285933"/>
              <a:gd name="connsiteX2" fmla="*/ 0 w 1028700"/>
              <a:gd name="connsiteY2" fmla="*/ 251643 h 28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8700" h="285933">
                <a:moveTo>
                  <a:pt x="1028700" y="285933"/>
                </a:moveTo>
                <a:cubicBezTo>
                  <a:pt x="971550" y="145915"/>
                  <a:pt x="914400" y="5898"/>
                  <a:pt x="742950" y="183"/>
                </a:cubicBezTo>
                <a:cubicBezTo>
                  <a:pt x="571500" y="-5532"/>
                  <a:pt x="285750" y="123055"/>
                  <a:pt x="0" y="251643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手繪多邊形: 圖案 41"/>
          <p:cNvSpPr/>
          <p:nvPr/>
        </p:nvSpPr>
        <p:spPr>
          <a:xfrm flipH="1">
            <a:off x="12924200" y="5832206"/>
            <a:ext cx="1543050" cy="428900"/>
          </a:xfrm>
          <a:custGeom>
            <a:avLst/>
            <a:gdLst>
              <a:gd name="connsiteX0" fmla="*/ 1028700 w 1028700"/>
              <a:gd name="connsiteY0" fmla="*/ 285933 h 285933"/>
              <a:gd name="connsiteX1" fmla="*/ 742950 w 1028700"/>
              <a:gd name="connsiteY1" fmla="*/ 183 h 285933"/>
              <a:gd name="connsiteX2" fmla="*/ 0 w 1028700"/>
              <a:gd name="connsiteY2" fmla="*/ 251643 h 28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8700" h="285933">
                <a:moveTo>
                  <a:pt x="1028700" y="285933"/>
                </a:moveTo>
                <a:cubicBezTo>
                  <a:pt x="971550" y="145915"/>
                  <a:pt x="914400" y="5898"/>
                  <a:pt x="742950" y="183"/>
                </a:cubicBezTo>
                <a:cubicBezTo>
                  <a:pt x="571500" y="-5532"/>
                  <a:pt x="285750" y="123055"/>
                  <a:pt x="0" y="251643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手繪多邊形: 圖案 42"/>
          <p:cNvSpPr/>
          <p:nvPr/>
        </p:nvSpPr>
        <p:spPr>
          <a:xfrm>
            <a:off x="9970577" y="4975959"/>
            <a:ext cx="2945837" cy="1241745"/>
          </a:xfrm>
          <a:custGeom>
            <a:avLst/>
            <a:gdLst>
              <a:gd name="connsiteX0" fmla="*/ 1028700 w 1028700"/>
              <a:gd name="connsiteY0" fmla="*/ 285933 h 285933"/>
              <a:gd name="connsiteX1" fmla="*/ 742950 w 1028700"/>
              <a:gd name="connsiteY1" fmla="*/ 183 h 285933"/>
              <a:gd name="connsiteX2" fmla="*/ 0 w 1028700"/>
              <a:gd name="connsiteY2" fmla="*/ 251643 h 28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8700" h="285933">
                <a:moveTo>
                  <a:pt x="1028700" y="285933"/>
                </a:moveTo>
                <a:cubicBezTo>
                  <a:pt x="971550" y="145915"/>
                  <a:pt x="914400" y="5898"/>
                  <a:pt x="742950" y="183"/>
                </a:cubicBezTo>
                <a:cubicBezTo>
                  <a:pt x="571500" y="-5532"/>
                  <a:pt x="285750" y="123055"/>
                  <a:pt x="0" y="251643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44" name="群組 43"/>
          <p:cNvGrpSpPr/>
          <p:nvPr/>
        </p:nvGrpSpPr>
        <p:grpSpPr>
          <a:xfrm>
            <a:off x="10710459" y="5217645"/>
            <a:ext cx="472322" cy="449798"/>
            <a:chOff x="4839733" y="3148800"/>
            <a:chExt cx="314881" cy="299865"/>
          </a:xfrm>
        </p:grpSpPr>
        <p:cxnSp>
          <p:nvCxnSpPr>
            <p:cNvPr id="45" name="直線接點 44"/>
            <p:cNvCxnSpPr/>
            <p:nvPr/>
          </p:nvCxnSpPr>
          <p:spPr>
            <a:xfrm>
              <a:off x="4839733" y="3181584"/>
              <a:ext cx="314881" cy="24741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 flipH="1">
              <a:off x="4880472" y="3148800"/>
              <a:ext cx="216040" cy="29986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右大括弧 46"/>
          <p:cNvSpPr/>
          <p:nvPr/>
        </p:nvSpPr>
        <p:spPr>
          <a:xfrm rot="16200000">
            <a:off x="12650024" y="605775"/>
            <a:ext cx="463257" cy="3998894"/>
          </a:xfrm>
          <a:prstGeom prst="rightBrace">
            <a:avLst>
              <a:gd name="adj1" fmla="val 62879"/>
              <a:gd name="adj2" fmla="val 50000"/>
            </a:avLst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8" name="文字方塊 47"/>
          <p:cNvSpPr txBox="1"/>
          <p:nvPr/>
        </p:nvSpPr>
        <p:spPr>
          <a:xfrm>
            <a:off x="2218055" y="2499360"/>
            <a:ext cx="60902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Speech is a very long vector sequence.</a:t>
            </a:r>
            <a:endParaRPr lang="zh-TW" altLang="en-US" sz="3600" dirty="0"/>
          </a:p>
        </p:txBody>
      </p:sp>
      <p:pic>
        <p:nvPicPr>
          <p:cNvPr id="49" name="圖片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425" y="3967800"/>
            <a:ext cx="3079311" cy="996621"/>
          </a:xfrm>
          <a:prstGeom prst="rect">
            <a:avLst/>
          </a:prstGeom>
        </p:spPr>
      </p:pic>
      <p:grpSp>
        <p:nvGrpSpPr>
          <p:cNvPr id="50" name="群組 49"/>
          <p:cNvGrpSpPr/>
          <p:nvPr/>
        </p:nvGrpSpPr>
        <p:grpSpPr>
          <a:xfrm>
            <a:off x="5505141" y="3924935"/>
            <a:ext cx="2469227" cy="1004415"/>
            <a:chOff x="1298905" y="4800778"/>
            <a:chExt cx="1646151" cy="669610"/>
          </a:xfrm>
        </p:grpSpPr>
        <p:sp>
          <p:nvSpPr>
            <p:cNvPr id="51" name="矩形: 圓角 50"/>
            <p:cNvSpPr/>
            <p:nvPr/>
          </p:nvSpPr>
          <p:spPr>
            <a:xfrm>
              <a:off x="1298905" y="4800778"/>
              <a:ext cx="251330" cy="66960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2" name="矩形: 圓角 51"/>
            <p:cNvSpPr/>
            <p:nvPr/>
          </p:nvSpPr>
          <p:spPr>
            <a:xfrm>
              <a:off x="1795782" y="4800778"/>
              <a:ext cx="251330" cy="669609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3" name="矩形: 圓角 52"/>
            <p:cNvSpPr/>
            <p:nvPr/>
          </p:nvSpPr>
          <p:spPr>
            <a:xfrm>
              <a:off x="2254913" y="4800778"/>
              <a:ext cx="251330" cy="669609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4" name="矩形: 圓角 53"/>
            <p:cNvSpPr/>
            <p:nvPr/>
          </p:nvSpPr>
          <p:spPr>
            <a:xfrm>
              <a:off x="2693726" y="4800779"/>
              <a:ext cx="251330" cy="66960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55" name="文字方塊 54"/>
          <p:cNvSpPr txBox="1"/>
          <p:nvPr/>
        </p:nvSpPr>
        <p:spPr>
          <a:xfrm>
            <a:off x="7148431" y="3253869"/>
            <a:ext cx="14340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10ms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/>
              <p:cNvSpPr/>
              <p:nvPr/>
            </p:nvSpPr>
            <p:spPr>
              <a:xfrm>
                <a:off x="5954367" y="6643098"/>
                <a:ext cx="2354319" cy="22333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56" name="矩形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367" y="6643098"/>
                <a:ext cx="2354319" cy="2233358"/>
              </a:xfrm>
              <a:prstGeom prst="rect">
                <a:avLst/>
              </a:prstGeom>
              <a:blipFill rotWithShape="1">
                <a:blip r:embed="rId12"/>
                <a:stretch>
                  <a:fillRect l="-295" t="-301" r="-255" b="-265"/>
                </a:stretch>
              </a:blip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56"/>
          <p:cNvSpPr txBox="1"/>
          <p:nvPr/>
        </p:nvSpPr>
        <p:spPr>
          <a:xfrm>
            <a:off x="1970405" y="8465185"/>
            <a:ext cx="4144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i="1" dirty="0"/>
              <a:t>Attention Matrix</a:t>
            </a:r>
            <a:endParaRPr lang="zh-TW" altLang="en-US" sz="36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2179955" y="5459095"/>
                <a:ext cx="648271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If input sequence is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3600" i="0" dirty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955" y="5459095"/>
                <a:ext cx="6482715" cy="64516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/>
              <p:cNvSpPr txBox="1"/>
              <p:nvPr/>
            </p:nvSpPr>
            <p:spPr>
              <a:xfrm>
                <a:off x="5016246" y="7413527"/>
                <a:ext cx="120132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3600" i="0" dirty="0"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0" name="文字方塊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246" y="7413527"/>
                <a:ext cx="1201325" cy="645160"/>
              </a:xfrm>
              <a:prstGeom prst="rect">
                <a:avLst/>
              </a:prstGeom>
              <a:blipFill rotWithShape="1">
                <a:blip r:embed="rId14"/>
                <a:stretch>
                  <a:fillRect l="-32" t="-83" r="24" b="8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6515373" y="8876456"/>
                <a:ext cx="120132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3600" i="0" dirty="0"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373" y="8876456"/>
                <a:ext cx="1201325" cy="645160"/>
              </a:xfrm>
              <a:prstGeom prst="rect">
                <a:avLst/>
              </a:prstGeom>
              <a:blipFill rotWithShape="1">
                <a:blip r:embed="rId14"/>
                <a:stretch>
                  <a:fillRect l="-23" t="-66" r="15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/>
          <p:cNvSpPr txBox="1"/>
          <p:nvPr/>
        </p:nvSpPr>
        <p:spPr>
          <a:xfrm>
            <a:off x="10723563" y="244436"/>
            <a:ext cx="5278437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" dirty="0"/>
              <a:t>https://arxiv.org/abs/1910.12977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8" grpId="0" bldLvl="0" animBg="1"/>
      <p:bldP spid="39" grpId="0"/>
      <p:bldP spid="40" grpId="0" bldLvl="0" animBg="1"/>
      <p:bldP spid="41" grpId="0" bldLvl="0" animBg="1"/>
      <p:bldP spid="42" grpId="0" bldLvl="0" animBg="1"/>
      <p:bldP spid="43" grpId="0" bldLvl="0" animBg="1"/>
      <p:bldP spid="47" grpId="0" bldLvl="0" animBg="1"/>
      <p:bldP spid="48" grpId="0"/>
      <p:bldP spid="55" grpId="0"/>
      <p:bldP spid="56" grpId="0" bldLvl="0" animBg="1"/>
      <p:bldP spid="57" grpId="0"/>
      <p:bldP spid="58" grpId="0"/>
      <p:bldP spid="60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s 6"/>
          <p:cNvSpPr/>
          <p:nvPr/>
        </p:nvSpPr>
        <p:spPr>
          <a:xfrm>
            <a:off x="11587480" y="3493135"/>
            <a:ext cx="4132580" cy="33572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Self-attention for Image</a:t>
            </a:r>
            <a:endParaRPr lang="zh-TW" altLang="en-US" dirty="0"/>
          </a:p>
        </p:txBody>
      </p:sp>
      <p:sp>
        <p:nvSpPr>
          <p:cNvPr id="9" name="Rectangles 8"/>
          <p:cNvSpPr/>
          <p:nvPr/>
        </p:nvSpPr>
        <p:spPr>
          <a:xfrm>
            <a:off x="10931525" y="4239260"/>
            <a:ext cx="4132580" cy="33572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0238740" y="4925060"/>
            <a:ext cx="4132580" cy="33572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群組 31"/>
          <p:cNvGrpSpPr/>
          <p:nvPr/>
        </p:nvGrpSpPr>
        <p:grpSpPr>
          <a:xfrm>
            <a:off x="13891575" y="3485910"/>
            <a:ext cx="1828802" cy="1896111"/>
            <a:chOff x="7421243" y="2285840"/>
            <a:chExt cx="1219201" cy="1264074"/>
          </a:xfrm>
        </p:grpSpPr>
        <p:cxnSp>
          <p:nvCxnSpPr>
            <p:cNvPr id="27" name="直線接點 26"/>
            <p:cNvCxnSpPr/>
            <p:nvPr/>
          </p:nvCxnSpPr>
          <p:spPr>
            <a:xfrm flipH="1">
              <a:off x="7421880" y="2285840"/>
              <a:ext cx="899160" cy="9602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H="1">
              <a:off x="7741284" y="2300969"/>
              <a:ext cx="899160" cy="9602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 flipH="1">
              <a:off x="7741284" y="2588101"/>
              <a:ext cx="899160" cy="9602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>
              <a:off x="7421244" y="3268790"/>
              <a:ext cx="636" cy="2795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>
              <a:off x="7740648" y="3246120"/>
              <a:ext cx="636" cy="2795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rot="5400000">
              <a:off x="7580628" y="3105656"/>
              <a:ext cx="636" cy="2795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 rot="5400000">
              <a:off x="7560721" y="3409800"/>
              <a:ext cx="636" cy="2795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>
              <a:off x="8638536" y="2313591"/>
              <a:ext cx="636" cy="2795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字方塊 36"/>
          <p:cNvSpPr txBox="1"/>
          <p:nvPr/>
        </p:nvSpPr>
        <p:spPr>
          <a:xfrm>
            <a:off x="11673535" y="2134052"/>
            <a:ext cx="38576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A vector.</a:t>
            </a:r>
            <a:endParaRPr lang="zh-TW" altLang="en-US" sz="4200" dirty="0"/>
          </a:p>
        </p:txBody>
      </p:sp>
      <p:cxnSp>
        <p:nvCxnSpPr>
          <p:cNvPr id="39" name="直線單箭頭接點 38"/>
          <p:cNvCxnSpPr/>
          <p:nvPr/>
        </p:nvCxnSpPr>
        <p:spPr>
          <a:xfrm flipH="1" flipV="1">
            <a:off x="13504817" y="2825289"/>
            <a:ext cx="1443659" cy="12872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3293057" y="2401018"/>
            <a:ext cx="58816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An </a:t>
            </a:r>
            <a:r>
              <a:rPr lang="en-US" altLang="zh-TW" sz="3600" b="1" dirty="0"/>
              <a:t>image </a:t>
            </a:r>
            <a:r>
              <a:rPr lang="en-US" altLang="zh-TW" sz="3600" dirty="0"/>
              <a:t>can also be viewed as a set of </a:t>
            </a:r>
            <a:r>
              <a:rPr lang="en-US" altLang="zh-TW" sz="3600" b="1" dirty="0"/>
              <a:t>vectors</a:t>
            </a:r>
            <a:r>
              <a:rPr lang="en-US" altLang="zh-TW" sz="3600" dirty="0"/>
              <a:t>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15201900" y="9534525"/>
            <a:ext cx="3086100" cy="548005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4</a:t>
            </a:fld>
            <a:endParaRPr lang="zh-TW" altLang="en-US" sz="100"/>
          </a:p>
        </p:txBody>
      </p:sp>
      <p:pic>
        <p:nvPicPr>
          <p:cNvPr id="102" name="Content Placeholder 101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01390" y="3903345"/>
            <a:ext cx="4133215" cy="33572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10148220" y="9502851"/>
            <a:ext cx="7072311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" dirty="0"/>
              <a:t>https://arxiv.org/abs/2005.12872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15201900" y="9534525"/>
            <a:ext cx="3086100" cy="548005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5</a:t>
            </a:fld>
            <a:endParaRPr lang="zh-TW" altLang="en-US" sz="100"/>
          </a:p>
        </p:txBody>
      </p:sp>
      <p:sp>
        <p:nvSpPr>
          <p:cNvPr id="13" name="Text Box 12"/>
          <p:cNvSpPr txBox="1"/>
          <p:nvPr/>
        </p:nvSpPr>
        <p:spPr>
          <a:xfrm>
            <a:off x="1644650" y="6975475"/>
            <a:ext cx="41713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https://arxiv.org/abs/2005.12872</a:t>
            </a:r>
          </a:p>
        </p:txBody>
      </p:sp>
      <p:sp>
        <p:nvSpPr>
          <p:cNvPr id="14" name="標題 1"/>
          <p:cNvSpPr>
            <a:spLocks noGrp="1"/>
          </p:cNvSpPr>
          <p:nvPr/>
        </p:nvSpPr>
        <p:spPr>
          <a:xfrm>
            <a:off x="1098550" y="1613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>
                <a:sym typeface="+mn-ea"/>
              </a:rPr>
              <a:t>DEtection Transformer (DETR)</a:t>
            </a:r>
            <a:endParaRPr lang="zh-TW" alt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223645" y="2927985"/>
            <a:ext cx="15380970" cy="3896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4595" y="-102792"/>
            <a:ext cx="16084552" cy="1551434"/>
          </a:xfrm>
        </p:spPr>
        <p:txBody>
          <a:bodyPr/>
          <a:lstStyle/>
          <a:p>
            <a:r>
              <a:rPr lang="en-US" altLang="zh-TW" dirty="0"/>
              <a:t>Self-attention </a:t>
            </a:r>
            <a:r>
              <a:rPr lang="en-US" altLang="zh-TW" dirty="0" err="1"/>
              <a:t>v.s</a:t>
            </a:r>
            <a:r>
              <a:rPr lang="en-US" altLang="zh-TW" dirty="0"/>
              <a:t>. CNN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6</a:t>
            </a:fld>
            <a:endParaRPr lang="zh-TW" altLang="en-US" sz="100"/>
          </a:p>
        </p:txBody>
      </p:sp>
      <p:graphicFrame>
        <p:nvGraphicFramePr>
          <p:cNvPr id="8" name="內容版面配置區 3"/>
          <p:cNvGraphicFramePr/>
          <p:nvPr/>
        </p:nvGraphicFramePr>
        <p:xfrm>
          <a:off x="1221105" y="2537460"/>
          <a:ext cx="4080510" cy="4498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32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0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0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0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0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50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600" dirty="0">
                        <a:solidFill>
                          <a:srgbClr val="0000FF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/>
                        <a:t>0</a:t>
                      </a:r>
                      <a:endParaRPr lang="zh-TW" altLang="en-US" sz="36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3251945" y="4801860"/>
            <a:ext cx="715617" cy="6835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矩形 18"/>
          <p:cNvSpPr/>
          <p:nvPr/>
        </p:nvSpPr>
        <p:spPr>
          <a:xfrm>
            <a:off x="4655212" y="6352227"/>
            <a:ext cx="715617" cy="6835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手繪多邊形: 圖案 19"/>
          <p:cNvSpPr/>
          <p:nvPr/>
        </p:nvSpPr>
        <p:spPr>
          <a:xfrm>
            <a:off x="3947685" y="5246896"/>
            <a:ext cx="1081515" cy="1105332"/>
          </a:xfrm>
          <a:custGeom>
            <a:avLst/>
            <a:gdLst>
              <a:gd name="connsiteX0" fmla="*/ 0 w 1099930"/>
              <a:gd name="connsiteY0" fmla="*/ 0 h 1060174"/>
              <a:gd name="connsiteX1" fmla="*/ 569844 w 1099930"/>
              <a:gd name="connsiteY1" fmla="*/ 291548 h 1060174"/>
              <a:gd name="connsiteX2" fmla="*/ 1099930 w 1099930"/>
              <a:gd name="connsiteY2" fmla="*/ 1060174 h 106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9930" h="1060174">
                <a:moveTo>
                  <a:pt x="0" y="0"/>
                </a:moveTo>
                <a:cubicBezTo>
                  <a:pt x="193261" y="57426"/>
                  <a:pt x="386522" y="114852"/>
                  <a:pt x="569844" y="291548"/>
                </a:cubicBezTo>
                <a:cubicBezTo>
                  <a:pt x="753166" y="468244"/>
                  <a:pt x="926548" y="764209"/>
                  <a:pt x="1099930" y="1060174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矩形 20"/>
          <p:cNvSpPr/>
          <p:nvPr/>
        </p:nvSpPr>
        <p:spPr>
          <a:xfrm>
            <a:off x="2536329" y="4106380"/>
            <a:ext cx="2146851" cy="20747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348855" y="2537460"/>
            <a:ext cx="9046210" cy="6515100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sym typeface="+mn-ea"/>
              </a:rPr>
              <a:t>CNN: self-attention that can only attends in a receptive field</a:t>
            </a:r>
            <a:endParaRPr lang="zh-TW" altLang="en-US" sz="3200" dirty="0"/>
          </a:p>
          <a:p>
            <a:r>
              <a:rPr lang="en-US" altLang="zh-TW" sz="3200" dirty="0">
                <a:sym typeface="+mn-ea"/>
              </a:rPr>
              <a:t>CNN is simplified self-attention. </a:t>
            </a:r>
            <a:endParaRPr lang="zh-TW" altLang="en-US" sz="3200" dirty="0"/>
          </a:p>
          <a:p>
            <a:r>
              <a:rPr lang="en-US" altLang="zh-TW" sz="3200" dirty="0">
                <a:sym typeface="+mn-ea"/>
              </a:rPr>
              <a:t>Self-attention: CNN with learnable receptive field</a:t>
            </a:r>
            <a:endParaRPr lang="zh-TW" altLang="en-US" sz="3200" dirty="0"/>
          </a:p>
          <a:p>
            <a:r>
              <a:rPr lang="en-US" altLang="zh-TW" sz="3200" dirty="0">
                <a:sym typeface="+mn-ea"/>
              </a:rPr>
              <a:t>Self-attention is the complex version of CNN.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025C5A53-6B72-3086-7122-0C6E2B14345F}"/>
              </a:ext>
            </a:extLst>
          </p:cNvPr>
          <p:cNvSpPr txBox="1">
            <a:spLocks/>
          </p:cNvSpPr>
          <p:nvPr/>
        </p:nvSpPr>
        <p:spPr bwMode="auto">
          <a:xfrm>
            <a:off x="1794510" y="8322201"/>
            <a:ext cx="14600555" cy="1423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698500" indent="-698500" algn="l" rtl="0" fontAlgn="base">
              <a:spcBef>
                <a:spcPts val="4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5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200">
                <a:sym typeface="+mn-ea"/>
              </a:rPr>
              <a:t>On the Relationship between Self-Attention and Convolutional Layers</a:t>
            </a:r>
            <a:endParaRPr lang="en-US" altLang="zh-TW" sz="3200" dirty="0">
              <a:sym typeface="+mn-ea"/>
            </a:endParaRPr>
          </a:p>
        </p:txBody>
      </p:sp>
      <p:grpSp>
        <p:nvGrpSpPr>
          <p:cNvPr id="6" name="群組 13">
            <a:extLst>
              <a:ext uri="{FF2B5EF4-FFF2-40B4-BE49-F238E27FC236}">
                <a16:creationId xmlns:a16="http://schemas.microsoft.com/office/drawing/2014/main" id="{4D1AC3A4-4026-2DDD-4CDF-B4CADAA7F1C1}"/>
              </a:ext>
            </a:extLst>
          </p:cNvPr>
          <p:cNvGrpSpPr/>
          <p:nvPr/>
        </p:nvGrpSpPr>
        <p:grpSpPr>
          <a:xfrm>
            <a:off x="13181372" y="-39189"/>
            <a:ext cx="4811395" cy="2689860"/>
            <a:chOff x="7317252" y="321019"/>
            <a:chExt cx="3123027" cy="1701068"/>
          </a:xfrm>
        </p:grpSpPr>
        <p:sp>
          <p:nvSpPr>
            <p:cNvPr id="7" name="橢圓 9">
              <a:extLst>
                <a:ext uri="{FF2B5EF4-FFF2-40B4-BE49-F238E27FC236}">
                  <a16:creationId xmlns:a16="http://schemas.microsoft.com/office/drawing/2014/main" id="{6AF02A69-FCA3-956A-40B9-EE336C0F3724}"/>
                </a:ext>
              </a:extLst>
            </p:cNvPr>
            <p:cNvSpPr/>
            <p:nvPr/>
          </p:nvSpPr>
          <p:spPr>
            <a:xfrm>
              <a:off x="7317252" y="321019"/>
              <a:ext cx="3123027" cy="1701068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橢圓 10">
              <a:extLst>
                <a:ext uri="{FF2B5EF4-FFF2-40B4-BE49-F238E27FC236}">
                  <a16:creationId xmlns:a16="http://schemas.microsoft.com/office/drawing/2014/main" id="{FE6CD43C-7B0F-A598-726E-743584D36257}"/>
                </a:ext>
              </a:extLst>
            </p:cNvPr>
            <p:cNvSpPr/>
            <p:nvPr/>
          </p:nvSpPr>
          <p:spPr>
            <a:xfrm>
              <a:off x="8319726" y="971060"/>
              <a:ext cx="1589649" cy="95347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" name="文字方塊 11">
              <a:extLst>
                <a:ext uri="{FF2B5EF4-FFF2-40B4-BE49-F238E27FC236}">
                  <a16:creationId xmlns:a16="http://schemas.microsoft.com/office/drawing/2014/main" id="{14482BF3-1EBA-CF74-0246-194DE18A3708}"/>
                </a:ext>
              </a:extLst>
            </p:cNvPr>
            <p:cNvSpPr txBox="1"/>
            <p:nvPr/>
          </p:nvSpPr>
          <p:spPr>
            <a:xfrm>
              <a:off x="8622350" y="1203663"/>
              <a:ext cx="984738" cy="407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chemeClr val="bg1"/>
                  </a:solidFill>
                </a:rPr>
                <a:t>CNN</a:t>
              </a:r>
              <a:endParaRPr lang="zh-TW" altLang="en-US" sz="3600" dirty="0">
                <a:solidFill>
                  <a:schemeClr val="bg1"/>
                </a:solidFill>
              </a:endParaRPr>
            </a:p>
          </p:txBody>
        </p:sp>
        <p:sp>
          <p:nvSpPr>
            <p:cNvPr id="11" name="文字方塊 12">
              <a:extLst>
                <a:ext uri="{FF2B5EF4-FFF2-40B4-BE49-F238E27FC236}">
                  <a16:creationId xmlns:a16="http://schemas.microsoft.com/office/drawing/2014/main" id="{1E653D98-478A-4670-AC72-6512DD0EA996}"/>
                </a:ext>
              </a:extLst>
            </p:cNvPr>
            <p:cNvSpPr txBox="1"/>
            <p:nvPr/>
          </p:nvSpPr>
          <p:spPr>
            <a:xfrm>
              <a:off x="7828672" y="509671"/>
              <a:ext cx="1979148" cy="407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Self-attention</a:t>
              </a:r>
              <a:endParaRPr lang="zh-TW" altLang="en-US" sz="36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9" grpId="0" bldLvl="0" animBg="1"/>
      <p:bldP spid="20" grpId="0" bldLvl="0" animBg="1"/>
      <p:bldP spid="21" grpId="0" bldLvl="0" animBg="1"/>
      <p:bldP spid="3" grpId="0" uiExpand="1" build="p"/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Self-attention </a:t>
            </a:r>
            <a:r>
              <a:rPr lang="en-US" altLang="zh-TW" dirty="0" err="1"/>
              <a:t>v.s</a:t>
            </a:r>
            <a:r>
              <a:rPr lang="en-US" altLang="zh-TW" dirty="0"/>
              <a:t>. CNN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922119" y="9185313"/>
            <a:ext cx="6858000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" dirty="0"/>
              <a:t>https://arxiv.org/abs/1911.03584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405" y="2936824"/>
            <a:ext cx="12160359" cy="5372850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7</a:t>
            </a:fld>
            <a:endParaRPr lang="zh-TW" altLang="en-US" sz="100"/>
          </a:p>
        </p:txBody>
      </p:sp>
      <p:sp>
        <p:nvSpPr>
          <p:cNvPr id="4" name="內容版面配置區 2"/>
          <p:cNvSpPr>
            <a:spLocks noGrp="1"/>
          </p:cNvSpPr>
          <p:nvPr>
            <p:ph sz="half" idx="1"/>
          </p:nvPr>
        </p:nvSpPr>
        <p:spPr>
          <a:xfrm>
            <a:off x="2272665" y="8494395"/>
            <a:ext cx="14600555" cy="1423035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sym typeface="+mn-ea"/>
              </a:rPr>
              <a:t>On the Relationship between Self-Attention and Convolutional Layers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: 圓角 36"/>
          <p:cNvSpPr/>
          <p:nvPr/>
        </p:nvSpPr>
        <p:spPr>
          <a:xfrm>
            <a:off x="10699190" y="3455603"/>
            <a:ext cx="376995" cy="10044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: 圓角 5"/>
          <p:cNvSpPr/>
          <p:nvPr/>
        </p:nvSpPr>
        <p:spPr>
          <a:xfrm>
            <a:off x="5736320" y="3455603"/>
            <a:ext cx="376995" cy="1004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: 圓角 9"/>
          <p:cNvSpPr/>
          <p:nvPr/>
        </p:nvSpPr>
        <p:spPr>
          <a:xfrm>
            <a:off x="5246721" y="2129721"/>
            <a:ext cx="1394294" cy="100441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RNN</a:t>
            </a:r>
            <a:endParaRPr lang="zh-TW" altLang="en-US" sz="3600" dirty="0"/>
          </a:p>
        </p:txBody>
      </p:sp>
      <p:sp>
        <p:nvSpPr>
          <p:cNvPr id="12" name="矩形: 圓角 11"/>
          <p:cNvSpPr/>
          <p:nvPr/>
        </p:nvSpPr>
        <p:spPr>
          <a:xfrm>
            <a:off x="6756468" y="1117787"/>
            <a:ext cx="882882" cy="6619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13" name="矩形: 圓角 12"/>
          <p:cNvSpPr/>
          <p:nvPr/>
        </p:nvSpPr>
        <p:spPr>
          <a:xfrm>
            <a:off x="6993303" y="2129721"/>
            <a:ext cx="376995" cy="1004414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: 圓角 13"/>
          <p:cNvSpPr/>
          <p:nvPr/>
        </p:nvSpPr>
        <p:spPr>
          <a:xfrm>
            <a:off x="4475865" y="2129720"/>
            <a:ext cx="376995" cy="100441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2" name="直線單箭頭接點 21"/>
          <p:cNvCxnSpPr/>
          <p:nvPr/>
        </p:nvCxnSpPr>
        <p:spPr>
          <a:xfrm flipV="1">
            <a:off x="5927261" y="3134133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V="1">
            <a:off x="7184561" y="1808250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rot="5400000" flipV="1">
            <a:off x="6802551" y="2479764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rot="5400000" flipV="1">
            <a:off x="5090174" y="2471192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圓角 26"/>
          <p:cNvSpPr/>
          <p:nvPr/>
        </p:nvSpPr>
        <p:spPr>
          <a:xfrm>
            <a:off x="8207196" y="3455603"/>
            <a:ext cx="376995" cy="100441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矩形: 圓角 27"/>
          <p:cNvSpPr/>
          <p:nvPr/>
        </p:nvSpPr>
        <p:spPr>
          <a:xfrm>
            <a:off x="7717598" y="2129721"/>
            <a:ext cx="1394294" cy="100441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RNN</a:t>
            </a:r>
            <a:endParaRPr lang="zh-TW" altLang="en-US" sz="3600" dirty="0"/>
          </a:p>
        </p:txBody>
      </p:sp>
      <p:sp>
        <p:nvSpPr>
          <p:cNvPr id="29" name="矩形: 圓角 28"/>
          <p:cNvSpPr/>
          <p:nvPr/>
        </p:nvSpPr>
        <p:spPr>
          <a:xfrm>
            <a:off x="9227345" y="1117787"/>
            <a:ext cx="882882" cy="6619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30" name="矩形: 圓角 29"/>
          <p:cNvSpPr/>
          <p:nvPr/>
        </p:nvSpPr>
        <p:spPr>
          <a:xfrm>
            <a:off x="9464180" y="2129721"/>
            <a:ext cx="376995" cy="1004414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1" name="直線單箭頭接點 30"/>
          <p:cNvCxnSpPr/>
          <p:nvPr/>
        </p:nvCxnSpPr>
        <p:spPr>
          <a:xfrm flipV="1">
            <a:off x="8398137" y="3134133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V="1">
            <a:off x="9655437" y="1808250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rot="5400000" flipV="1">
            <a:off x="9273428" y="2479764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rot="5400000" flipV="1">
            <a:off x="7561050" y="2471192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圓角 37"/>
          <p:cNvSpPr/>
          <p:nvPr/>
        </p:nvSpPr>
        <p:spPr>
          <a:xfrm>
            <a:off x="10209591" y="2129721"/>
            <a:ext cx="1394294" cy="100441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RNN</a:t>
            </a:r>
            <a:endParaRPr lang="zh-TW" altLang="en-US" sz="3600" dirty="0"/>
          </a:p>
        </p:txBody>
      </p:sp>
      <p:sp>
        <p:nvSpPr>
          <p:cNvPr id="39" name="矩形: 圓角 38"/>
          <p:cNvSpPr/>
          <p:nvPr/>
        </p:nvSpPr>
        <p:spPr>
          <a:xfrm>
            <a:off x="11719338" y="1117787"/>
            <a:ext cx="882882" cy="6619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40" name="矩形: 圓角 39"/>
          <p:cNvSpPr/>
          <p:nvPr/>
        </p:nvSpPr>
        <p:spPr>
          <a:xfrm>
            <a:off x="11956173" y="2129721"/>
            <a:ext cx="376995" cy="1004414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1" name="直線單箭頭接點 40"/>
          <p:cNvCxnSpPr/>
          <p:nvPr/>
        </p:nvCxnSpPr>
        <p:spPr>
          <a:xfrm flipV="1">
            <a:off x="10890131" y="3134133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V="1">
            <a:off x="12147431" y="1808250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rot="5400000" flipV="1">
            <a:off x="11765421" y="2479764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rot="5400000" flipV="1">
            <a:off x="10053044" y="2471192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: 圓角 45"/>
          <p:cNvSpPr/>
          <p:nvPr/>
        </p:nvSpPr>
        <p:spPr>
          <a:xfrm>
            <a:off x="13170809" y="3455603"/>
            <a:ext cx="376995" cy="10044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矩形: 圓角 46"/>
          <p:cNvSpPr/>
          <p:nvPr/>
        </p:nvSpPr>
        <p:spPr>
          <a:xfrm>
            <a:off x="12681210" y="2129721"/>
            <a:ext cx="1394294" cy="100441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RNN</a:t>
            </a:r>
            <a:endParaRPr lang="zh-TW" altLang="en-US" sz="3600" dirty="0"/>
          </a:p>
        </p:txBody>
      </p:sp>
      <p:sp>
        <p:nvSpPr>
          <p:cNvPr id="48" name="矩形: 圓角 47"/>
          <p:cNvSpPr/>
          <p:nvPr/>
        </p:nvSpPr>
        <p:spPr>
          <a:xfrm>
            <a:off x="14190957" y="1117787"/>
            <a:ext cx="882882" cy="6619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49" name="矩形: 圓角 48"/>
          <p:cNvSpPr/>
          <p:nvPr/>
        </p:nvSpPr>
        <p:spPr>
          <a:xfrm>
            <a:off x="14427792" y="2129721"/>
            <a:ext cx="376995" cy="1004414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0" name="直線單箭頭接點 49"/>
          <p:cNvCxnSpPr/>
          <p:nvPr/>
        </p:nvCxnSpPr>
        <p:spPr>
          <a:xfrm flipV="1">
            <a:off x="13361750" y="3134133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 flipV="1">
            <a:off x="14619050" y="1808250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rot="5400000" flipV="1">
            <a:off x="14237040" y="2479764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rot="5400000" flipV="1">
            <a:off x="12524663" y="2471192"/>
            <a:ext cx="0" cy="321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: 圓角 66"/>
          <p:cNvSpPr/>
          <p:nvPr/>
        </p:nvSpPr>
        <p:spPr>
          <a:xfrm>
            <a:off x="14310387" y="2095875"/>
            <a:ext cx="594159" cy="10954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8" name="矩形: 圓角 67"/>
          <p:cNvSpPr/>
          <p:nvPr/>
        </p:nvSpPr>
        <p:spPr>
          <a:xfrm>
            <a:off x="13051763" y="4882188"/>
            <a:ext cx="594159" cy="126610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9" name="文字方塊 68"/>
          <p:cNvSpPr txBox="1"/>
          <p:nvPr/>
        </p:nvSpPr>
        <p:spPr>
          <a:xfrm>
            <a:off x="3420466" y="5126706"/>
            <a:ext cx="1816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>
                <a:solidFill>
                  <a:srgbClr val="0070C0"/>
                </a:solidFill>
              </a:rPr>
              <a:t>parallel</a:t>
            </a:r>
            <a:endParaRPr lang="zh-TW" altLang="en-US" sz="3600" dirty="0">
              <a:solidFill>
                <a:srgbClr val="0070C0"/>
              </a:solidFill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13729842" y="3962436"/>
            <a:ext cx="2455272" cy="64516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nonparallel</a:t>
            </a:r>
          </a:p>
        </p:txBody>
      </p:sp>
      <p:sp>
        <p:nvSpPr>
          <p:cNvPr id="72" name="文字方塊 71"/>
          <p:cNvSpPr txBox="1"/>
          <p:nvPr/>
        </p:nvSpPr>
        <p:spPr>
          <a:xfrm>
            <a:off x="3077360" y="3320748"/>
            <a:ext cx="254405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hard to consider</a:t>
            </a:r>
            <a:endParaRPr lang="zh-TW" altLang="en-US" sz="36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3430626" y="7660004"/>
            <a:ext cx="20904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easy to consider</a:t>
            </a:r>
            <a:endParaRPr lang="zh-TW" altLang="en-US" sz="36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10618822" y="9527471"/>
            <a:ext cx="5173020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" dirty="0"/>
              <a:t>https://arxiv.org/abs/2006.16236</a:t>
            </a:r>
          </a:p>
        </p:txBody>
      </p:sp>
      <p:sp>
        <p:nvSpPr>
          <p:cNvPr id="78" name="矩形: 圓角 77"/>
          <p:cNvSpPr/>
          <p:nvPr/>
        </p:nvSpPr>
        <p:spPr>
          <a:xfrm>
            <a:off x="5619240" y="3386265"/>
            <a:ext cx="594159" cy="10954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9" name="矩形: 圓角 78"/>
          <p:cNvSpPr/>
          <p:nvPr/>
        </p:nvSpPr>
        <p:spPr>
          <a:xfrm>
            <a:off x="5643398" y="7753508"/>
            <a:ext cx="594159" cy="10954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5715203" y="4970750"/>
            <a:ext cx="7825898" cy="1621596"/>
            <a:chOff x="2286135" y="3313833"/>
            <a:chExt cx="5217265" cy="1081064"/>
          </a:xfrm>
        </p:grpSpPr>
        <p:cxnSp>
          <p:nvCxnSpPr>
            <p:cNvPr id="63" name="直線單箭頭接點 62"/>
            <p:cNvCxnSpPr/>
            <p:nvPr/>
          </p:nvCxnSpPr>
          <p:spPr>
            <a:xfrm flipV="1">
              <a:off x="7383833" y="4034897"/>
              <a:ext cx="0" cy="36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: 圓角 65"/>
            <p:cNvSpPr/>
            <p:nvPr/>
          </p:nvSpPr>
          <p:spPr>
            <a:xfrm>
              <a:off x="7252070" y="3344313"/>
              <a:ext cx="251330" cy="669609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0" name="矩形: 圓角 79"/>
            <p:cNvSpPr/>
            <p:nvPr/>
          </p:nvSpPr>
          <p:spPr>
            <a:xfrm>
              <a:off x="5608793" y="3313835"/>
              <a:ext cx="251330" cy="669609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1" name="矩形: 圓角 80"/>
            <p:cNvSpPr/>
            <p:nvPr/>
          </p:nvSpPr>
          <p:spPr>
            <a:xfrm>
              <a:off x="3947464" y="3313834"/>
              <a:ext cx="251330" cy="669609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2" name="矩形: 圓角 81"/>
            <p:cNvSpPr/>
            <p:nvPr/>
          </p:nvSpPr>
          <p:spPr>
            <a:xfrm>
              <a:off x="2286135" y="3313833"/>
              <a:ext cx="251330" cy="669609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83" name="直線單箭頭接點 82"/>
            <p:cNvCxnSpPr/>
            <p:nvPr/>
          </p:nvCxnSpPr>
          <p:spPr>
            <a:xfrm flipV="1">
              <a:off x="5728570" y="4018967"/>
              <a:ext cx="0" cy="36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V="1">
              <a:off x="4074590" y="4018967"/>
              <a:ext cx="0" cy="36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/>
            <p:nvPr/>
          </p:nvCxnSpPr>
          <p:spPr>
            <a:xfrm flipV="1">
              <a:off x="2411800" y="4018967"/>
              <a:ext cx="0" cy="36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群組 1"/>
          <p:cNvGrpSpPr/>
          <p:nvPr/>
        </p:nvGrpSpPr>
        <p:grpSpPr>
          <a:xfrm>
            <a:off x="5250821" y="6457794"/>
            <a:ext cx="8661336" cy="2345622"/>
            <a:chOff x="1976547" y="4305196"/>
            <a:chExt cx="5774224" cy="1563748"/>
          </a:xfrm>
        </p:grpSpPr>
        <p:sp>
          <p:nvSpPr>
            <p:cNvPr id="54" name="矩形: 圓角 53"/>
            <p:cNvSpPr/>
            <p:nvPr/>
          </p:nvSpPr>
          <p:spPr>
            <a:xfrm>
              <a:off x="5610422" y="5199335"/>
              <a:ext cx="251330" cy="669609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5" name="矩形: 圓角 54"/>
            <p:cNvSpPr/>
            <p:nvPr/>
          </p:nvSpPr>
          <p:spPr>
            <a:xfrm>
              <a:off x="2301842" y="5199335"/>
              <a:ext cx="251330" cy="66960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6" name="矩形: 圓角 55"/>
            <p:cNvSpPr/>
            <p:nvPr/>
          </p:nvSpPr>
          <p:spPr>
            <a:xfrm>
              <a:off x="3949093" y="5199335"/>
              <a:ext cx="251330" cy="669609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7" name="矩形: 圓角 56"/>
            <p:cNvSpPr/>
            <p:nvPr/>
          </p:nvSpPr>
          <p:spPr>
            <a:xfrm>
              <a:off x="7258168" y="5199335"/>
              <a:ext cx="251330" cy="66960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59" name="直線單箭頭接點 58"/>
            <p:cNvCxnSpPr/>
            <p:nvPr/>
          </p:nvCxnSpPr>
          <p:spPr>
            <a:xfrm flipV="1">
              <a:off x="7387928" y="4972322"/>
              <a:ext cx="0" cy="214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 flipV="1">
              <a:off x="5744277" y="4972322"/>
              <a:ext cx="0" cy="214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/>
            <p:cNvCxnSpPr/>
            <p:nvPr/>
          </p:nvCxnSpPr>
          <p:spPr>
            <a:xfrm flipV="1">
              <a:off x="4090297" y="4972322"/>
              <a:ext cx="0" cy="214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/>
            <p:nvPr/>
          </p:nvCxnSpPr>
          <p:spPr>
            <a:xfrm flipV="1">
              <a:off x="2427507" y="4972322"/>
              <a:ext cx="0" cy="214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: 圓角 57"/>
            <p:cNvSpPr/>
            <p:nvPr/>
          </p:nvSpPr>
          <p:spPr>
            <a:xfrm>
              <a:off x="1976547" y="4305196"/>
              <a:ext cx="5774224" cy="669609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Self-attention</a:t>
              </a:r>
              <a:endParaRPr lang="zh-TW" altLang="en-US" sz="3600" dirty="0"/>
            </a:p>
          </p:txBody>
        </p:sp>
      </p:grpSp>
      <p:pic>
        <p:nvPicPr>
          <p:cNvPr id="87" name="Picture 2" descr="Win PNG Photos | PNG M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6185" y="6285311"/>
            <a:ext cx="1641963" cy="141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矩形: 圓角 87"/>
          <p:cNvSpPr/>
          <p:nvPr/>
        </p:nvSpPr>
        <p:spPr>
          <a:xfrm>
            <a:off x="5246721" y="4829039"/>
            <a:ext cx="8661336" cy="1387737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89" name="直線單箭頭接點 88"/>
          <p:cNvCxnSpPr/>
          <p:nvPr/>
        </p:nvCxnSpPr>
        <p:spPr>
          <a:xfrm>
            <a:off x="14632398" y="3134133"/>
            <a:ext cx="0" cy="828344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>
            <a:off x="12472670" y="3098165"/>
            <a:ext cx="1955165" cy="815975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/>
          <p:nvPr/>
        </p:nvCxnSpPr>
        <p:spPr>
          <a:xfrm>
            <a:off x="9627333" y="3100622"/>
            <a:ext cx="4583295" cy="832587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7139132" y="3109194"/>
            <a:ext cx="6678153" cy="804965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2612364" y="2308836"/>
            <a:ext cx="1887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memory</a:t>
            </a:r>
            <a:endParaRPr lang="zh-TW" altLang="en-US" sz="3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8</a:t>
            </a:fld>
            <a:endParaRPr lang="zh-TW" altLang="en-US" sz="10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230505" y="-125655"/>
            <a:ext cx="16084552" cy="1551434"/>
          </a:xfrm>
        </p:spPr>
        <p:txBody>
          <a:bodyPr/>
          <a:lstStyle/>
          <a:p>
            <a:pPr algn="l"/>
            <a:r>
              <a:rPr lang="en-US" altLang="zh-TW" sz="4000" dirty="0"/>
              <a:t>Self-attention </a:t>
            </a:r>
            <a:r>
              <a:rPr lang="en-US" altLang="zh-TW" sz="4000" dirty="0" err="1"/>
              <a:t>v.s</a:t>
            </a:r>
            <a:r>
              <a:rPr lang="en-US" altLang="zh-TW" sz="4000" dirty="0"/>
              <a:t>. RNN</a:t>
            </a:r>
          </a:p>
        </p:txBody>
      </p:sp>
      <p:sp>
        <p:nvSpPr>
          <p:cNvPr id="8" name="內容版面配置區 2"/>
          <p:cNvSpPr>
            <a:spLocks noGrp="1"/>
          </p:cNvSpPr>
          <p:nvPr>
            <p:ph sz="half" idx="1"/>
          </p:nvPr>
        </p:nvSpPr>
        <p:spPr>
          <a:xfrm>
            <a:off x="1420495" y="8869680"/>
            <a:ext cx="13384530" cy="1423035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sym typeface="+mn-ea"/>
              </a:rPr>
              <a:t>Transformers are RNNs: Fast Autoregressive Transformers with Linear Attention</a:t>
            </a:r>
            <a:endParaRPr lang="en-US" altLang="zh-TW" sz="320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6" grpId="0" bldLvl="0" animBg="1"/>
      <p:bldP spid="10" grpId="0" bldLvl="0" animBg="1"/>
      <p:bldP spid="12" grpId="0" bldLvl="0" animBg="1"/>
      <p:bldP spid="13" grpId="0" bldLvl="0" animBg="1"/>
      <p:bldP spid="14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8" grpId="0" bldLvl="0" animBg="1"/>
      <p:bldP spid="39" grpId="0" bldLvl="0" animBg="1"/>
      <p:bldP spid="40" grpId="0" bldLvl="0" animBg="1"/>
      <p:bldP spid="46" grpId="0" bldLvl="0" animBg="1"/>
      <p:bldP spid="47" grpId="0" bldLvl="0" animBg="1"/>
      <p:bldP spid="48" grpId="0" bldLvl="0" animBg="1"/>
      <p:bldP spid="49" grpId="0" bldLvl="0" animBg="1"/>
      <p:bldP spid="67" grpId="0" bldLvl="0" animBg="1"/>
      <p:bldP spid="68" grpId="0" bldLvl="0" animBg="1"/>
      <p:bldP spid="69" grpId="0"/>
      <p:bldP spid="70" grpId="0" bldLvl="0" animBg="1"/>
      <p:bldP spid="72" grpId="0"/>
      <p:bldP spid="73" grpId="0"/>
      <p:bldP spid="75" grpId="0"/>
      <p:bldP spid="78" grpId="0" bldLvl="0" animBg="1"/>
      <p:bldP spid="79" grpId="0" bldLvl="0" animBg="1"/>
      <p:bldP spid="88" grpId="0" bldLvl="0" animBg="1"/>
      <p:bldP spid="71" grpId="0"/>
      <p:bldP spid="8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4A6944D3-A8BA-4695-9508-6968B891360A}"/>
</file>

<file path=customXml/itemProps2.xml><?xml version="1.0" encoding="utf-8"?>
<ds:datastoreItem xmlns:ds="http://schemas.openxmlformats.org/officeDocument/2006/customXml" ds:itemID="{2EEF5B7E-09B7-45C8-8DC0-53F9DDD10EDA}"/>
</file>

<file path=customXml/itemProps3.xml><?xml version="1.0" encoding="utf-8"?>
<ds:datastoreItem xmlns:ds="http://schemas.openxmlformats.org/officeDocument/2006/customXml" ds:itemID="{6E918E66-8AA3-4256-A62F-F8FE1649332D}"/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296</Words>
  <Application>Microsoft Macintosh PowerPoint</Application>
  <PresentationFormat>Custom</PresentationFormat>
  <Paragraphs>114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Wingdings 2</vt:lpstr>
      <vt:lpstr>Breeze</vt:lpstr>
      <vt:lpstr>Self- Attention</vt:lpstr>
      <vt:lpstr>Positional Encoding </vt:lpstr>
      <vt:lpstr>Self-attention for Speech</vt:lpstr>
      <vt:lpstr>Self-attention for Image</vt:lpstr>
      <vt:lpstr>PowerPoint Presentation</vt:lpstr>
      <vt:lpstr>Self-attention v.s. CNN</vt:lpstr>
      <vt:lpstr>Self-attention v.s. CNN</vt:lpstr>
      <vt:lpstr>Self-attention v.s. RNN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63</cp:revision>
  <dcterms:created xsi:type="dcterms:W3CDTF">2019-02-13T16:04:00Z</dcterms:created>
  <dcterms:modified xsi:type="dcterms:W3CDTF">2024-04-04T15:50:58Z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50DE81DFFB894CF5B0553D916DF12CAC</vt:lpwstr>
  </property>
  <property fmtid="{D5CDD505-2E9C-101B-9397-08002B2CF9AE}" pid="5" name="KSOProductBuildVer">
    <vt:lpwstr>1033-11.2.0.11225</vt:lpwstr>
  </property>
</Properties>
</file>