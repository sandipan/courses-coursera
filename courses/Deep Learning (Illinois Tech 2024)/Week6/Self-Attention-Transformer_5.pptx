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337" r:id="rId2"/>
    <p:sldId id="448" r:id="rId3"/>
    <p:sldId id="449" r:id="rId4"/>
    <p:sldId id="340" r:id="rId5"/>
    <p:sldId id="341" r:id="rId6"/>
    <p:sldId id="346" r:id="rId7"/>
    <p:sldId id="342" r:id="rId8"/>
    <p:sldId id="343" r:id="rId9"/>
    <p:sldId id="344" r:id="rId10"/>
    <p:sldId id="345" r:id="rId11"/>
    <p:sldId id="347" r:id="rId12"/>
    <p:sldId id="348" r:id="rId13"/>
    <p:sldId id="349" r:id="rId14"/>
    <p:sldId id="450" r:id="rId15"/>
    <p:sldId id="351" r:id="rId16"/>
    <p:sldId id="451" r:id="rId17"/>
    <p:sldId id="452" r:id="rId18"/>
    <p:sldId id="354" r:id="rId19"/>
    <p:sldId id="355" r:id="rId20"/>
    <p:sldId id="357" r:id="rId2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7">
          <p15:clr>
            <a:srgbClr val="A4A3A4"/>
          </p15:clr>
        </p15:guide>
        <p15:guide id="2" pos="58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1"/>
    <p:restoredTop sz="93760"/>
  </p:normalViewPr>
  <p:slideViewPr>
    <p:cSldViewPr snapToGrid="0" snapToObjects="1">
      <p:cViewPr varScale="1">
        <p:scale>
          <a:sx n="68" d="100"/>
          <a:sy n="68" d="100"/>
        </p:scale>
        <p:origin x="432" y="208"/>
      </p:cViewPr>
      <p:guideLst>
        <p:guide orient="horz" pos="3287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013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0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0.png"/><Relationship Id="rId10" Type="http://schemas.openxmlformats.org/officeDocument/2006/relationships/image" Target="../media/image11.png"/><Relationship Id="rId4" Type="http://schemas.openxmlformats.org/officeDocument/2006/relationships/image" Target="../media/image70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44.png"/><Relationship Id="rId18" Type="http://schemas.openxmlformats.org/officeDocument/2006/relationships/image" Target="../media/image60.png"/><Relationship Id="rId3" Type="http://schemas.openxmlformats.org/officeDocument/2006/relationships/image" Target="../media/image36.png"/><Relationship Id="rId21" Type="http://schemas.openxmlformats.org/officeDocument/2006/relationships/image" Target="../media/image9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7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5" Type="http://schemas.openxmlformats.org/officeDocument/2006/relationships/image" Target="../media/image28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10" Type="http://schemas.openxmlformats.org/officeDocument/2006/relationships/image" Target="../media/image17.png"/><Relationship Id="rId19" Type="http://schemas.openxmlformats.org/officeDocument/2006/relationships/image" Target="../media/image70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14" Type="http://schemas.openxmlformats.org/officeDocument/2006/relationships/image" Target="../media/image45.png"/><Relationship Id="rId22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.png"/><Relationship Id="rId1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193.png"/><Relationship Id="rId12" Type="http://schemas.openxmlformats.org/officeDocument/2006/relationships/image" Target="../media/image196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95.png"/><Relationship Id="rId5" Type="http://schemas.openxmlformats.org/officeDocument/2006/relationships/image" Target="../media/image70.png"/><Relationship Id="rId15" Type="http://schemas.openxmlformats.org/officeDocument/2006/relationships/image" Target="../media/image29.png"/><Relationship Id="rId10" Type="http://schemas.openxmlformats.org/officeDocument/2006/relationships/image" Target="../media/image194.png"/><Relationship Id="rId19" Type="http://schemas.openxmlformats.org/officeDocument/2006/relationships/image" Target="../media/image17.png"/><Relationship Id="rId4" Type="http://schemas.openxmlformats.org/officeDocument/2006/relationships/image" Target="../media/image80.png"/><Relationship Id="rId9" Type="http://schemas.openxmlformats.org/officeDocument/2006/relationships/image" Target="../media/image4.png"/><Relationship Id="rId1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36.png"/><Relationship Id="rId18" Type="http://schemas.openxmlformats.org/officeDocument/2006/relationships/image" Target="../media/image17.png"/><Relationship Id="rId3" Type="http://schemas.openxmlformats.org/officeDocument/2006/relationships/image" Target="../media/image197.png"/><Relationship Id="rId7" Type="http://schemas.openxmlformats.org/officeDocument/2006/relationships/image" Target="../media/image195.png"/><Relationship Id="rId12" Type="http://schemas.openxmlformats.org/officeDocument/2006/relationships/image" Target="../media/image70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80.png"/><Relationship Id="rId5" Type="http://schemas.openxmlformats.org/officeDocument/2006/relationships/image" Target="../media/image6.png"/><Relationship Id="rId15" Type="http://schemas.openxmlformats.org/officeDocument/2006/relationships/image" Target="../media/image37.png"/><Relationship Id="rId10" Type="http://schemas.openxmlformats.org/officeDocument/2006/relationships/image" Target="../media/image9.png"/><Relationship Id="rId19" Type="http://schemas.openxmlformats.org/officeDocument/2006/relationships/image" Target="../media/image4.png"/><Relationship Id="rId4" Type="http://schemas.openxmlformats.org/officeDocument/2006/relationships/image" Target="../media/image198.png"/><Relationship Id="rId9" Type="http://schemas.openxmlformats.org/officeDocument/2006/relationships/image" Target="../media/image5.pn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Transformer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Decoder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/>
              <a:t>Cross attention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2</a:t>
            </a:fld>
            <a:endParaRPr lang="zh-TW" altLang="en-US" sz="100"/>
          </a:p>
        </p:txBody>
      </p:sp>
      <p:sp>
        <p:nvSpPr>
          <p:cNvPr id="5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Decoder</a:t>
            </a:r>
          </a:p>
        </p:txBody>
      </p:sp>
      <p:sp>
        <p:nvSpPr>
          <p:cNvPr id="8" name="矩形: 圓角 16"/>
          <p:cNvSpPr/>
          <p:nvPr/>
        </p:nvSpPr>
        <p:spPr>
          <a:xfrm>
            <a:off x="5076567" y="4445382"/>
            <a:ext cx="3768966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矩形: 圓角 22"/>
          <p:cNvSpPr/>
          <p:nvPr/>
        </p:nvSpPr>
        <p:spPr>
          <a:xfrm>
            <a:off x="10454119" y="4445381"/>
            <a:ext cx="3768966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58198" y="6965861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9061764" y="5428866"/>
            <a:ext cx="12759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235751" y="3119388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output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12338602" y="3861416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3"/>
          <p:cNvSpPr/>
          <p:nvPr/>
        </p:nvSpPr>
        <p:spPr>
          <a:xfrm>
            <a:off x="10169391" y="3100580"/>
            <a:ext cx="4338423" cy="3642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10192936" y="0"/>
            <a:ext cx="5808429" cy="472952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4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5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>
            <a:grpSpLocks noGrp="1" noUngrp="1" noRot="1" noChangeAspect="1" noMove="1" noResize="1"/>
          </p:cNvGrpSpPr>
          <p:nvPr/>
        </p:nvGrpSpPr>
        <p:grpSpPr>
          <a:xfrm rot="10800000" flipH="1">
            <a:off x="2321218" y="6219465"/>
            <a:ext cx="3535199" cy="4075208"/>
            <a:chOff x="-305" y="-4155"/>
            <a:chExt cx="2514948" cy="2174333"/>
          </a:xfrm>
        </p:grpSpPr>
        <p:sp>
          <p:nvSpPr>
            <p:cNvPr id="20" name="Freeform: Shape 1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19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0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0" name="直線單箭頭接點 25"/>
          <p:cNvCxnSpPr/>
          <p:nvPr/>
        </p:nvCxnSpPr>
        <p:spPr>
          <a:xfrm flipV="1">
            <a:off x="6794500" y="6485255"/>
            <a:ext cx="0" cy="58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3</a:t>
            </a:fld>
            <a:endParaRPr lang="zh-TW" altLang="en-US" sz="100"/>
          </a:p>
        </p:txBody>
      </p:sp>
      <p:sp>
        <p:nvSpPr>
          <p:cNvPr id="8" name="矩形: 圓角 16"/>
          <p:cNvSpPr/>
          <p:nvPr/>
        </p:nvSpPr>
        <p:spPr>
          <a:xfrm>
            <a:off x="5076567" y="4445382"/>
            <a:ext cx="3768966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矩形: 圓角 22"/>
          <p:cNvSpPr/>
          <p:nvPr/>
        </p:nvSpPr>
        <p:spPr>
          <a:xfrm>
            <a:off x="10454119" y="4445381"/>
            <a:ext cx="3768966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58198" y="6965861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9061764" y="5428866"/>
            <a:ext cx="12759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235751" y="3119388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output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12338602" y="3861416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3"/>
          <p:cNvSpPr/>
          <p:nvPr/>
        </p:nvSpPr>
        <p:spPr>
          <a:xfrm>
            <a:off x="10169391" y="3100580"/>
            <a:ext cx="4338423" cy="3642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Decoder 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– Autoregressive (AT)  </a:t>
            </a:r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10192936" y="0"/>
            <a:ext cx="5808429" cy="472952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14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 rot="10800000" flipH="1">
            <a:off x="2321218" y="6219465"/>
            <a:ext cx="3535199" cy="4075208"/>
            <a:chOff x="-305" y="-4155"/>
            <a:chExt cx="2514948" cy="2174333"/>
          </a:xfrm>
        </p:grpSpPr>
        <p:sp>
          <p:nvSpPr>
            <p:cNvPr id="19" name="Freeform: Shape 1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0" name="直線單箭頭接點 25"/>
          <p:cNvCxnSpPr/>
          <p:nvPr/>
        </p:nvCxnSpPr>
        <p:spPr>
          <a:xfrm flipV="1">
            <a:off x="6794500" y="6485255"/>
            <a:ext cx="0" cy="58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直線單箭頭接點 48"/>
          <p:cNvCxnSpPr/>
          <p:nvPr/>
        </p:nvCxnSpPr>
        <p:spPr>
          <a:xfrm flipV="1">
            <a:off x="7568786" y="306698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7547015" y="496739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Autoregressive </a:t>
            </a:r>
            <a:endParaRPr lang="zh-TW" altLang="en-US" dirty="0"/>
          </a:p>
        </p:txBody>
      </p:sp>
      <p:sp>
        <p:nvSpPr>
          <p:cNvPr id="45" name="矩形: 圓角 44"/>
          <p:cNvSpPr/>
          <p:nvPr/>
        </p:nvSpPr>
        <p:spPr>
          <a:xfrm>
            <a:off x="6777542" y="5736761"/>
            <a:ext cx="8281484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61" name="矩形 60"/>
          <p:cNvSpPr/>
          <p:nvPr/>
        </p:nvSpPr>
        <p:spPr>
          <a:xfrm>
            <a:off x="3290423" y="4325630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2" name="直線單箭頭接點 61"/>
          <p:cNvCxnSpPr/>
          <p:nvPr/>
        </p:nvCxnSpPr>
        <p:spPr>
          <a:xfrm>
            <a:off x="5536670" y="4887761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6161321" y="6719603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6161321" y="4866470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3162300" y="4479369"/>
            <a:ext cx="2383352" cy="4482813"/>
            <a:chOff x="553420" y="2633912"/>
            <a:chExt cx="1588901" cy="2988542"/>
          </a:xfrm>
        </p:grpSpPr>
        <p:sp>
          <p:nvSpPr>
            <p:cNvPr id="21" name="矩形: 圓角 20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4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53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54" name="Picture 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7" name="矩形 56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79" name="直線單箭頭接點 78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群組 36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群組 37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1" name="直線單箭頭接點 80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2" name="直線單箭頭接點 81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直線單箭頭接點 8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線單箭頭接點 86"/>
          <p:cNvCxnSpPr/>
          <p:nvPr/>
        </p:nvCxnSpPr>
        <p:spPr>
          <a:xfrm flipV="1">
            <a:off x="7547015" y="767327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6787320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90" name="矩形 89"/>
          <p:cNvSpPr/>
          <p:nvPr/>
        </p:nvSpPr>
        <p:spPr>
          <a:xfrm>
            <a:off x="7367628" y="3798444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56" name="表格 52"/>
          <p:cNvGraphicFramePr>
            <a:graphicFrameLocks noGrp="1"/>
          </p:cNvGraphicFramePr>
          <p:nvPr/>
        </p:nvGraphicFramePr>
        <p:xfrm>
          <a:off x="9621759" y="1731753"/>
          <a:ext cx="3169920" cy="26543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/>
                        <a:t>love</a:t>
                      </a:r>
                      <a:endParaRPr lang="en-US" altLang="zh-TW" sz="2400" b="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 dirty="0"/>
                        <a:t>I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0.8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4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deep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 dirty="0"/>
                        <a:t>learning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……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……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/>
          <p:nvPr/>
        </p:nvCxnSpPr>
        <p:spPr>
          <a:xfrm>
            <a:off x="7803492" y="4146984"/>
            <a:ext cx="1681554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左大括弧 68"/>
          <p:cNvSpPr/>
          <p:nvPr/>
        </p:nvSpPr>
        <p:spPr>
          <a:xfrm flipH="1">
            <a:off x="12932924" y="1673183"/>
            <a:ext cx="359369" cy="2781300"/>
          </a:xfrm>
          <a:prstGeom prst="leftBrace">
            <a:avLst>
              <a:gd name="adj1" fmla="val 4429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文字方塊 70"/>
          <p:cNvSpPr txBox="1"/>
          <p:nvPr/>
        </p:nvSpPr>
        <p:spPr>
          <a:xfrm>
            <a:off x="13504545" y="2704465"/>
            <a:ext cx="3082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Size V</a:t>
            </a:r>
          </a:p>
        </p:txBody>
      </p:sp>
      <p:sp>
        <p:nvSpPr>
          <p:cNvPr id="72" name="文字方塊 71"/>
          <p:cNvSpPr txBox="1"/>
          <p:nvPr/>
        </p:nvSpPr>
        <p:spPr>
          <a:xfrm>
            <a:off x="13479780" y="3263900"/>
            <a:ext cx="4156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(common characters)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634279" y="4955318"/>
            <a:ext cx="18507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softmax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9974648" y="916653"/>
            <a:ext cx="24639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distribution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386576" y="8980529"/>
            <a:ext cx="4029062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grpSp>
        <p:nvGrpSpPr>
          <p:cNvPr id="17" name="群組 16"/>
          <p:cNvGrpSpPr/>
          <p:nvPr/>
        </p:nvGrpSpPr>
        <p:grpSpPr>
          <a:xfrm>
            <a:off x="7380521" y="8174742"/>
            <a:ext cx="359370" cy="1080000"/>
            <a:chOff x="3445729" y="5741259"/>
            <a:chExt cx="239580" cy="720000"/>
          </a:xfrm>
        </p:grpSpPr>
        <p:sp>
          <p:nvSpPr>
            <p:cNvPr id="77" name="矩形 7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橢圓 15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48" name="矩形: 圓角 47"/>
          <p:cNvSpPr/>
          <p:nvPr/>
        </p:nvSpPr>
        <p:spPr>
          <a:xfrm>
            <a:off x="9657635" y="2225190"/>
            <a:ext cx="3169005" cy="509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669441" y="3050647"/>
            <a:ext cx="18507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dirty="0"/>
              <a:t>max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047624" y="2519990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415638" y="9163364"/>
            <a:ext cx="4637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BEGIN (special token)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4</a:t>
            </a:fld>
            <a:endParaRPr lang="zh-TW" altLang="en-US" sz="100"/>
          </a:p>
        </p:txBody>
      </p:sp>
      <p:sp>
        <p:nvSpPr>
          <p:cNvPr id="7" name="Text Box 6"/>
          <p:cNvSpPr txBox="1"/>
          <p:nvPr/>
        </p:nvSpPr>
        <p:spPr>
          <a:xfrm>
            <a:off x="1098550" y="1731645"/>
            <a:ext cx="52787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280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Speech Recognition as example</a:t>
            </a:r>
          </a:p>
        </p:txBody>
      </p:sp>
      <p:sp>
        <p:nvSpPr>
          <p:cNvPr id="10" name="文字方塊 132"/>
          <p:cNvSpPr txBox="1"/>
          <p:nvPr/>
        </p:nvSpPr>
        <p:spPr>
          <a:xfrm>
            <a:off x="2661920" y="9102090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  <p:sp>
        <p:nvSpPr>
          <p:cNvPr id="3" name="文字方塊 51">
            <a:extLst>
              <a:ext uri="{FF2B5EF4-FFF2-40B4-BE49-F238E27FC236}">
                <a16:creationId xmlns:a16="http://schemas.microsoft.com/office/drawing/2014/main" id="{C25871FD-B04C-0F44-42A1-F4C17B6BA033}"/>
              </a:ext>
            </a:extLst>
          </p:cNvPr>
          <p:cNvSpPr txBox="1"/>
          <p:nvPr/>
        </p:nvSpPr>
        <p:spPr>
          <a:xfrm>
            <a:off x="5822950" y="2353810"/>
            <a:ext cx="18507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dirty="0"/>
              <a:t>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61" grpId="0" bldLvl="0" animBg="1"/>
      <p:bldP spid="88" grpId="0"/>
      <p:bldP spid="90" grpId="0" bldLvl="0" animBg="1"/>
      <p:bldP spid="69" grpId="0" bldLvl="0" animBg="1"/>
      <p:bldP spid="71" grpId="0"/>
      <p:bldP spid="72" grpId="0"/>
      <p:bldP spid="6" grpId="0"/>
      <p:bldP spid="73" grpId="0"/>
      <p:bldP spid="48" grpId="0" bldLvl="0" animBg="1"/>
      <p:bldP spid="52" grpId="0"/>
      <p:bldP spid="58" grpId="0"/>
      <p:bldP spid="4" grpId="0"/>
      <p:bldP spid="10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直線單箭頭接點 127"/>
          <p:cNvCxnSpPr/>
          <p:nvPr/>
        </p:nvCxnSpPr>
        <p:spPr>
          <a:xfrm flipV="1">
            <a:off x="9231588" y="306446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字方塊 129"/>
          <p:cNvSpPr txBox="1"/>
          <p:nvPr/>
        </p:nvSpPr>
        <p:spPr>
          <a:xfrm>
            <a:off x="8710427" y="2517465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31" name="直線單箭頭接點 130"/>
          <p:cNvCxnSpPr/>
          <p:nvPr/>
        </p:nvCxnSpPr>
        <p:spPr>
          <a:xfrm flipV="1">
            <a:off x="10871114" y="305826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8971769" y="3041930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10073424" y="252840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</a:p>
        </p:txBody>
      </p:sp>
      <p:cxnSp>
        <p:nvCxnSpPr>
          <p:cNvPr id="134" name="直線單箭頭接點 133"/>
          <p:cNvCxnSpPr/>
          <p:nvPr/>
        </p:nvCxnSpPr>
        <p:spPr>
          <a:xfrm flipV="1">
            <a:off x="12579680" y="30513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字方塊 134"/>
          <p:cNvSpPr txBox="1"/>
          <p:nvPr/>
        </p:nvSpPr>
        <p:spPr>
          <a:xfrm>
            <a:off x="10680335" y="3035042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136" name="文字方塊 135"/>
          <p:cNvSpPr txBox="1"/>
          <p:nvPr/>
        </p:nvSpPr>
        <p:spPr>
          <a:xfrm>
            <a:off x="11913925" y="2522549"/>
            <a:ext cx="1546802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learning</a:t>
            </a:r>
            <a:endParaRPr lang="zh-TW" altLang="en-US" sz="100" b="0" dirty="0"/>
          </a:p>
        </p:txBody>
      </p:sp>
      <p:cxnSp>
        <p:nvCxnSpPr>
          <p:cNvPr id="49" name="直線單箭頭接點 48"/>
          <p:cNvCxnSpPr/>
          <p:nvPr/>
        </p:nvCxnSpPr>
        <p:spPr>
          <a:xfrm flipV="1">
            <a:off x="7568786" y="306698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7547015" y="496739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Autoregressive 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290423" y="4325630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2" name="直線單箭頭接點 61"/>
          <p:cNvCxnSpPr/>
          <p:nvPr/>
        </p:nvCxnSpPr>
        <p:spPr>
          <a:xfrm>
            <a:off x="5536670" y="4887761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6161321" y="6719603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6161321" y="4866470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3162300" y="4479369"/>
            <a:ext cx="2383352" cy="4482813"/>
            <a:chOff x="553420" y="2633912"/>
            <a:chExt cx="1588901" cy="2988542"/>
          </a:xfrm>
        </p:grpSpPr>
        <p:sp>
          <p:nvSpPr>
            <p:cNvPr id="21" name="矩形: 圓角 20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3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53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54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7" name="矩形 56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79" name="直線單箭頭接點 78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群組 36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群組 37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1" name="直線單箭頭接點 80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2" name="直線單箭頭接點 81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直線單箭頭接點 8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線單箭頭接點 86"/>
          <p:cNvCxnSpPr/>
          <p:nvPr/>
        </p:nvCxnSpPr>
        <p:spPr>
          <a:xfrm flipV="1">
            <a:off x="7547015" y="767327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6787320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90" name="矩形 89"/>
          <p:cNvSpPr/>
          <p:nvPr/>
        </p:nvSpPr>
        <p:spPr>
          <a:xfrm>
            <a:off x="7367628" y="3798444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grpSp>
        <p:nvGrpSpPr>
          <p:cNvPr id="17" name="群組 16"/>
          <p:cNvGrpSpPr/>
          <p:nvPr/>
        </p:nvGrpSpPr>
        <p:grpSpPr>
          <a:xfrm>
            <a:off x="7380521" y="8174742"/>
            <a:ext cx="359370" cy="1080000"/>
            <a:chOff x="3445729" y="5741259"/>
            <a:chExt cx="239580" cy="720000"/>
          </a:xfrm>
        </p:grpSpPr>
        <p:sp>
          <p:nvSpPr>
            <p:cNvPr id="77" name="矩形 7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橢圓 15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5669441" y="3050647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7047624" y="2519990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cxnSp>
        <p:nvCxnSpPr>
          <p:cNvPr id="70" name="直線單箭頭接點 69"/>
          <p:cNvCxnSpPr/>
          <p:nvPr/>
        </p:nvCxnSpPr>
        <p:spPr>
          <a:xfrm flipV="1">
            <a:off x="9227390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9048003" y="3815010"/>
            <a:ext cx="359370" cy="108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8454504" y="926302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91" name="群組 90"/>
          <p:cNvGrpSpPr/>
          <p:nvPr/>
        </p:nvGrpSpPr>
        <p:grpSpPr>
          <a:xfrm>
            <a:off x="9048003" y="8170614"/>
            <a:ext cx="359370" cy="1080000"/>
            <a:chOff x="3445729" y="5741259"/>
            <a:chExt cx="239580" cy="720000"/>
          </a:xfrm>
        </p:grpSpPr>
        <p:sp>
          <p:nvSpPr>
            <p:cNvPr id="93" name="矩形 92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94" name="橢圓 93"/>
            <p:cNvSpPr/>
            <p:nvPr/>
          </p:nvSpPr>
          <p:spPr>
            <a:xfrm>
              <a:off x="3483679" y="5963721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92" name="直線單箭頭接點 91"/>
          <p:cNvCxnSpPr/>
          <p:nvPr/>
        </p:nvCxnSpPr>
        <p:spPr>
          <a:xfrm flipV="1">
            <a:off x="9239928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V="1">
            <a:off x="10894275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0714889" y="3815010"/>
            <a:ext cx="359370" cy="108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0121688" y="923534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98" name="群組 97"/>
          <p:cNvGrpSpPr/>
          <p:nvPr/>
        </p:nvGrpSpPr>
        <p:grpSpPr>
          <a:xfrm>
            <a:off x="10714889" y="8170614"/>
            <a:ext cx="359370" cy="1080000"/>
            <a:chOff x="3445729" y="5741259"/>
            <a:chExt cx="239580" cy="720000"/>
          </a:xfrm>
        </p:grpSpPr>
        <p:sp>
          <p:nvSpPr>
            <p:cNvPr id="99" name="矩形 98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00" name="橢圓 99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101" name="直線單箭頭接點 100"/>
          <p:cNvCxnSpPr/>
          <p:nvPr/>
        </p:nvCxnSpPr>
        <p:spPr>
          <a:xfrm flipV="1">
            <a:off x="10906814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V="1">
            <a:off x="12561461" y="4983173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12382074" y="3814227"/>
            <a:ext cx="359370" cy="108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05" name="群組 104"/>
          <p:cNvGrpSpPr/>
          <p:nvPr/>
        </p:nvGrpSpPr>
        <p:grpSpPr>
          <a:xfrm>
            <a:off x="12382074" y="8169831"/>
            <a:ext cx="359370" cy="1080000"/>
            <a:chOff x="3445729" y="5741259"/>
            <a:chExt cx="239580" cy="720000"/>
          </a:xfrm>
        </p:grpSpPr>
        <p:sp>
          <p:nvSpPr>
            <p:cNvPr id="106" name="矩形 105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07" name="橢圓 106"/>
            <p:cNvSpPr/>
            <p:nvPr/>
          </p:nvSpPr>
          <p:spPr>
            <a:xfrm>
              <a:off x="3483679" y="6137892"/>
              <a:ext cx="180000" cy="1800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108" name="直線單箭頭接點 107"/>
          <p:cNvCxnSpPr/>
          <p:nvPr/>
        </p:nvCxnSpPr>
        <p:spPr>
          <a:xfrm flipV="1">
            <a:off x="12573999" y="769154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圓角 44"/>
          <p:cNvSpPr/>
          <p:nvPr/>
        </p:nvSpPr>
        <p:spPr>
          <a:xfrm>
            <a:off x="6777542" y="5736761"/>
            <a:ext cx="8281484" cy="1936514"/>
          </a:xfrm>
          <a:prstGeom prst="roundRect">
            <a:avLst/>
          </a:prstGeom>
          <a:blipFill rotWithShape="1">
            <a:blip r:embed="rId5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129" name="文字方塊 128"/>
          <p:cNvSpPr txBox="1"/>
          <p:nvPr/>
        </p:nvSpPr>
        <p:spPr>
          <a:xfrm>
            <a:off x="7332243" y="3048123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5</a:t>
            </a:fld>
            <a:endParaRPr lang="zh-TW" altLang="en-US" sz="100"/>
          </a:p>
        </p:txBody>
      </p:sp>
      <p:sp>
        <p:nvSpPr>
          <p:cNvPr id="4" name="文字方塊 88"/>
          <p:cNvSpPr txBox="1"/>
          <p:nvPr/>
        </p:nvSpPr>
        <p:spPr>
          <a:xfrm>
            <a:off x="6800329" y="254472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文字方塊 132"/>
          <p:cNvSpPr txBox="1"/>
          <p:nvPr/>
        </p:nvSpPr>
        <p:spPr>
          <a:xfrm>
            <a:off x="11787924" y="923527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</a:p>
        </p:txBody>
      </p:sp>
      <p:sp>
        <p:nvSpPr>
          <p:cNvPr id="8" name="文字方塊 132"/>
          <p:cNvSpPr txBox="1"/>
          <p:nvPr/>
        </p:nvSpPr>
        <p:spPr>
          <a:xfrm>
            <a:off x="11806339" y="256015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</a:p>
        </p:txBody>
      </p:sp>
      <p:sp>
        <p:nvSpPr>
          <p:cNvPr id="9" name="文字方塊 132"/>
          <p:cNvSpPr txBox="1"/>
          <p:nvPr/>
        </p:nvSpPr>
        <p:spPr>
          <a:xfrm>
            <a:off x="6777139" y="923527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</a:p>
        </p:txBody>
      </p:sp>
      <p:sp>
        <p:nvSpPr>
          <p:cNvPr id="10" name="文字方塊 132"/>
          <p:cNvSpPr txBox="1"/>
          <p:nvPr/>
        </p:nvSpPr>
        <p:spPr>
          <a:xfrm>
            <a:off x="2661920" y="9102090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2" grpId="0"/>
      <p:bldP spid="133" grpId="0"/>
      <p:bldP spid="135" grpId="0"/>
      <p:bldP spid="136" grpId="0"/>
      <p:bldP spid="78" grpId="0" bldLvl="0" animBg="1"/>
      <p:bldP spid="89" grpId="0"/>
      <p:bldP spid="96" grpId="0" bldLvl="0" animBg="1"/>
      <p:bldP spid="97" grpId="0"/>
      <p:bldP spid="103" grpId="0" bldLvl="0" animBg="1"/>
      <p:bldP spid="129" grpId="0"/>
      <p:bldP spid="4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直線單箭頭接點 127"/>
          <p:cNvCxnSpPr/>
          <p:nvPr/>
        </p:nvCxnSpPr>
        <p:spPr>
          <a:xfrm flipV="1">
            <a:off x="9231588" y="306446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字方塊 129"/>
          <p:cNvSpPr txBox="1"/>
          <p:nvPr/>
        </p:nvSpPr>
        <p:spPr>
          <a:xfrm>
            <a:off x="8710427" y="2517465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31" name="直線單箭頭接點 130"/>
          <p:cNvCxnSpPr/>
          <p:nvPr/>
        </p:nvCxnSpPr>
        <p:spPr>
          <a:xfrm flipV="1">
            <a:off x="10871114" y="305826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字方塊 132"/>
          <p:cNvSpPr txBox="1"/>
          <p:nvPr/>
        </p:nvSpPr>
        <p:spPr>
          <a:xfrm>
            <a:off x="10171358" y="2529771"/>
            <a:ext cx="1508039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34" name="直線單箭頭接點 133"/>
          <p:cNvCxnSpPr/>
          <p:nvPr/>
        </p:nvCxnSpPr>
        <p:spPr>
          <a:xfrm flipV="1">
            <a:off x="12579680" y="30513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12058518" y="2504384"/>
            <a:ext cx="1433514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learning</a:t>
            </a:r>
            <a:endParaRPr lang="zh-TW" altLang="en-US" sz="100" b="0" dirty="0"/>
          </a:p>
        </p:txBody>
      </p:sp>
      <p:cxnSp>
        <p:nvCxnSpPr>
          <p:cNvPr id="49" name="直線單箭頭接點 48"/>
          <p:cNvCxnSpPr/>
          <p:nvPr/>
        </p:nvCxnSpPr>
        <p:spPr>
          <a:xfrm flipV="1">
            <a:off x="7568786" y="306698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7547015" y="496739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Autoregressive 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290423" y="4325630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2" name="直線單箭頭接點 61"/>
          <p:cNvCxnSpPr/>
          <p:nvPr/>
        </p:nvCxnSpPr>
        <p:spPr>
          <a:xfrm>
            <a:off x="5536670" y="4887761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6161321" y="6719603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6161321" y="4866470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3162300" y="4479369"/>
            <a:ext cx="2383352" cy="4482813"/>
            <a:chOff x="553420" y="2633912"/>
            <a:chExt cx="1588901" cy="2988542"/>
          </a:xfrm>
        </p:grpSpPr>
        <p:sp>
          <p:nvSpPr>
            <p:cNvPr id="21" name="矩形: 圓角 20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3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53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54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7" name="矩形 56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79" name="直線單箭頭接點 78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群組 36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群組 37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1" name="直線單箭頭接點 80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2" name="直線單箭頭接點 81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直線單箭頭接點 8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線單箭頭接點 86"/>
          <p:cNvCxnSpPr/>
          <p:nvPr/>
        </p:nvCxnSpPr>
        <p:spPr>
          <a:xfrm flipV="1">
            <a:off x="7547015" y="767327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6787320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90" name="矩形 89"/>
          <p:cNvSpPr/>
          <p:nvPr/>
        </p:nvSpPr>
        <p:spPr>
          <a:xfrm>
            <a:off x="7367628" y="3798444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文字方塊 14"/>
          <p:cNvSpPr txBox="1"/>
          <p:nvPr/>
        </p:nvSpPr>
        <p:spPr>
          <a:xfrm>
            <a:off x="2408902" y="8980529"/>
            <a:ext cx="3786408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grpSp>
        <p:nvGrpSpPr>
          <p:cNvPr id="17" name="群組 16"/>
          <p:cNvGrpSpPr/>
          <p:nvPr/>
        </p:nvGrpSpPr>
        <p:grpSpPr>
          <a:xfrm>
            <a:off x="7380521" y="8174742"/>
            <a:ext cx="359370" cy="1080000"/>
            <a:chOff x="3445729" y="5741259"/>
            <a:chExt cx="239580" cy="720000"/>
          </a:xfrm>
        </p:grpSpPr>
        <p:sp>
          <p:nvSpPr>
            <p:cNvPr id="77" name="矩形 7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橢圓 15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5669441" y="3050647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7047624" y="2519990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cxnSp>
        <p:nvCxnSpPr>
          <p:cNvPr id="70" name="直線單箭頭接點 69"/>
          <p:cNvCxnSpPr/>
          <p:nvPr/>
        </p:nvCxnSpPr>
        <p:spPr>
          <a:xfrm flipV="1">
            <a:off x="9227390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9048003" y="3815010"/>
            <a:ext cx="359370" cy="108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8454504" y="926302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91" name="群組 90"/>
          <p:cNvGrpSpPr/>
          <p:nvPr/>
        </p:nvGrpSpPr>
        <p:grpSpPr>
          <a:xfrm>
            <a:off x="9048003" y="8170614"/>
            <a:ext cx="359370" cy="1080000"/>
            <a:chOff x="3445729" y="5741259"/>
            <a:chExt cx="239580" cy="720000"/>
          </a:xfrm>
        </p:grpSpPr>
        <p:sp>
          <p:nvSpPr>
            <p:cNvPr id="93" name="矩形 92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94" name="橢圓 93"/>
            <p:cNvSpPr/>
            <p:nvPr/>
          </p:nvSpPr>
          <p:spPr>
            <a:xfrm>
              <a:off x="3483679" y="5963721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92" name="直線單箭頭接點 91"/>
          <p:cNvCxnSpPr/>
          <p:nvPr/>
        </p:nvCxnSpPr>
        <p:spPr>
          <a:xfrm flipV="1">
            <a:off x="9239928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V="1">
            <a:off x="10894275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0714889" y="3815010"/>
            <a:ext cx="359370" cy="108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0121688" y="923534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98" name="群組 97"/>
          <p:cNvGrpSpPr/>
          <p:nvPr/>
        </p:nvGrpSpPr>
        <p:grpSpPr>
          <a:xfrm>
            <a:off x="10714889" y="8170614"/>
            <a:ext cx="359370" cy="1080000"/>
            <a:chOff x="3445729" y="5741259"/>
            <a:chExt cx="239580" cy="720000"/>
          </a:xfrm>
        </p:grpSpPr>
        <p:sp>
          <p:nvSpPr>
            <p:cNvPr id="99" name="矩形 98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00" name="橢圓 99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101" name="直線單箭頭接點 100"/>
          <p:cNvCxnSpPr/>
          <p:nvPr/>
        </p:nvCxnSpPr>
        <p:spPr>
          <a:xfrm flipV="1">
            <a:off x="10906814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V="1">
            <a:off x="12561461" y="4983173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12382074" y="3814227"/>
            <a:ext cx="359370" cy="108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11697854" y="9253260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</a:p>
        </p:txBody>
      </p:sp>
      <p:grpSp>
        <p:nvGrpSpPr>
          <p:cNvPr id="105" name="群組 104"/>
          <p:cNvGrpSpPr/>
          <p:nvPr/>
        </p:nvGrpSpPr>
        <p:grpSpPr>
          <a:xfrm>
            <a:off x="12382074" y="8169831"/>
            <a:ext cx="359370" cy="1080000"/>
            <a:chOff x="3445729" y="5741259"/>
            <a:chExt cx="239580" cy="720000"/>
          </a:xfrm>
        </p:grpSpPr>
        <p:sp>
          <p:nvSpPr>
            <p:cNvPr id="106" name="矩形 105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07" name="橢圓 106"/>
            <p:cNvSpPr/>
            <p:nvPr/>
          </p:nvSpPr>
          <p:spPr>
            <a:xfrm>
              <a:off x="3483679" y="6137892"/>
              <a:ext cx="180000" cy="1800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108" name="直線單箭頭接點 107"/>
          <p:cNvCxnSpPr/>
          <p:nvPr/>
        </p:nvCxnSpPr>
        <p:spPr>
          <a:xfrm flipV="1">
            <a:off x="12573999" y="769154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圓角 44"/>
          <p:cNvSpPr/>
          <p:nvPr/>
        </p:nvSpPr>
        <p:spPr>
          <a:xfrm>
            <a:off x="6777542" y="5736761"/>
            <a:ext cx="8281484" cy="1936514"/>
          </a:xfrm>
          <a:prstGeom prst="roundRect">
            <a:avLst/>
          </a:prstGeom>
          <a:blipFill rotWithShape="1">
            <a:blip r:embed="rId5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8842379" y="2562992"/>
            <a:ext cx="730379" cy="553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接點 137"/>
          <p:cNvCxnSpPr/>
          <p:nvPr/>
        </p:nvCxnSpPr>
        <p:spPr>
          <a:xfrm>
            <a:off x="10553093" y="9309795"/>
            <a:ext cx="730379" cy="553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200801" y="2046847"/>
            <a:ext cx="99172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>
                <a:solidFill>
                  <a:srgbClr val="FF0000"/>
                </a:solidFill>
              </a:rPr>
              <a:t>hate</a:t>
            </a:r>
            <a:endParaRPr lang="zh-TW" altLang="en-US" sz="100" dirty="0">
              <a:solidFill>
                <a:srgbClr val="FF0000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11104653" y="9238833"/>
            <a:ext cx="97718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>
                <a:solidFill>
                  <a:srgbClr val="FF0000"/>
                </a:solidFill>
              </a:rPr>
              <a:t>hate</a:t>
            </a:r>
            <a:endParaRPr lang="zh-TW" altLang="en-US" sz="100" dirty="0">
              <a:solidFill>
                <a:srgbClr val="FF0000"/>
              </a:solidFill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7775282" y="2788530"/>
            <a:ext cx="61197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/>
          <p:cNvCxnSpPr/>
          <p:nvPr/>
        </p:nvCxnSpPr>
        <p:spPr>
          <a:xfrm flipH="1">
            <a:off x="8387261" y="2788530"/>
            <a:ext cx="0" cy="598577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/>
          <p:cNvCxnSpPr/>
          <p:nvPr/>
        </p:nvCxnSpPr>
        <p:spPr>
          <a:xfrm flipV="1">
            <a:off x="8377422" y="8730492"/>
            <a:ext cx="670581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6</a:t>
            </a:fld>
            <a:endParaRPr lang="zh-TW" altLang="en-US" sz="100"/>
          </a:p>
        </p:txBody>
      </p:sp>
      <p:cxnSp>
        <p:nvCxnSpPr>
          <p:cNvPr id="109" name="直線接點 108"/>
          <p:cNvCxnSpPr/>
          <p:nvPr/>
        </p:nvCxnSpPr>
        <p:spPr>
          <a:xfrm>
            <a:off x="9448590" y="2788530"/>
            <a:ext cx="61197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 flipH="1">
            <a:off x="10060569" y="2788530"/>
            <a:ext cx="0" cy="598577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 flipV="1">
            <a:off x="10050731" y="8730492"/>
            <a:ext cx="670581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>
            <a:off x="11109489" y="2715923"/>
            <a:ext cx="61197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 flipH="1">
            <a:off x="11721468" y="2715923"/>
            <a:ext cx="0" cy="598577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 flipV="1">
            <a:off x="11711630" y="8657885"/>
            <a:ext cx="670581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: 圓角 114"/>
          <p:cNvSpPr/>
          <p:nvPr/>
        </p:nvSpPr>
        <p:spPr>
          <a:xfrm>
            <a:off x="8068823" y="7984742"/>
            <a:ext cx="5041046" cy="19365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13188950" y="8265160"/>
            <a:ext cx="39630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accent1"/>
                </a:solidFill>
                <a:latin typeface="+mj-lt"/>
                <a:cs typeface="+mj-cs"/>
              </a:rPr>
              <a:t>Decoder </a:t>
            </a:r>
          </a:p>
          <a:p>
            <a:r>
              <a:rPr lang="en-US" altLang="zh-TW" sz="2800" b="1" dirty="0">
                <a:solidFill>
                  <a:schemeClr val="accent1"/>
                </a:solidFill>
                <a:latin typeface="+mj-lt"/>
                <a:cs typeface="+mj-cs"/>
              </a:rPr>
              <a:t>Output</a:t>
            </a:r>
          </a:p>
        </p:txBody>
      </p:sp>
      <p:sp>
        <p:nvSpPr>
          <p:cNvPr id="3" name="文字方塊 88"/>
          <p:cNvSpPr txBox="1"/>
          <p:nvPr/>
        </p:nvSpPr>
        <p:spPr>
          <a:xfrm>
            <a:off x="6777469" y="255805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文字方塊 132"/>
          <p:cNvSpPr txBox="1"/>
          <p:nvPr/>
        </p:nvSpPr>
        <p:spPr>
          <a:xfrm>
            <a:off x="11826168" y="2562791"/>
            <a:ext cx="1508039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文字方塊 132"/>
          <p:cNvSpPr txBox="1"/>
          <p:nvPr/>
        </p:nvSpPr>
        <p:spPr>
          <a:xfrm>
            <a:off x="2608580" y="8980805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  <p:sp>
        <p:nvSpPr>
          <p:cNvPr id="42" name="文字方塊 65"/>
          <p:cNvSpPr txBox="1"/>
          <p:nvPr/>
        </p:nvSpPr>
        <p:spPr>
          <a:xfrm>
            <a:off x="6774929" y="923571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文字方塊 132"/>
          <p:cNvSpPr txBox="1"/>
          <p:nvPr/>
        </p:nvSpPr>
        <p:spPr>
          <a:xfrm>
            <a:off x="10771433" y="9027726"/>
            <a:ext cx="1508039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study</a:t>
            </a:r>
          </a:p>
        </p:txBody>
      </p:sp>
      <p:sp>
        <p:nvSpPr>
          <p:cNvPr id="7" name="文字方塊 132"/>
          <p:cNvSpPr txBox="1"/>
          <p:nvPr/>
        </p:nvSpPr>
        <p:spPr>
          <a:xfrm>
            <a:off x="8472733" y="2153216"/>
            <a:ext cx="1508039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study</a:t>
            </a:r>
          </a:p>
        </p:txBody>
      </p:sp>
    </p:spTree>
    <p:extLst>
      <p:ext uri="{BB962C8B-B14F-4D97-AF65-F5344CB8AC3E}">
        <p14:creationId xmlns:p14="http://schemas.microsoft.com/office/powerpoint/2010/main" val="24973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9" grpId="0"/>
      <p:bldP spid="115" grpId="0" bldLvl="0" animBg="1"/>
      <p:bldP spid="11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直線單箭頭接點 56"/>
          <p:cNvCxnSpPr/>
          <p:nvPr/>
        </p:nvCxnSpPr>
        <p:spPr>
          <a:xfrm flipV="1">
            <a:off x="6335985" y="298236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7975511" y="297617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6076166" y="2959839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62" name="直線單箭頭接點 61"/>
          <p:cNvCxnSpPr/>
          <p:nvPr/>
        </p:nvCxnSpPr>
        <p:spPr>
          <a:xfrm flipV="1">
            <a:off x="9684077" y="296928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7784731" y="2952951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65" name="直線單箭頭接點 64"/>
          <p:cNvCxnSpPr/>
          <p:nvPr/>
        </p:nvCxnSpPr>
        <p:spPr>
          <a:xfrm flipV="1">
            <a:off x="4673183" y="298489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2773838" y="2968557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4436640" y="2966033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grpSp>
        <p:nvGrpSpPr>
          <p:cNvPr id="8" name="群組 7"/>
          <p:cNvGrpSpPr/>
          <p:nvPr/>
        </p:nvGrpSpPr>
        <p:grpSpPr>
          <a:xfrm>
            <a:off x="3879134" y="3760484"/>
            <a:ext cx="1545771" cy="5543585"/>
            <a:chOff x="3000880" y="2532296"/>
            <a:chExt cx="1030514" cy="3695723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3507343" y="3311593"/>
              <a:ext cx="0" cy="7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V="1">
              <a:off x="3520043" y="5115516"/>
              <a:ext cx="0" cy="33358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/>
            <p:cNvSpPr txBox="1"/>
            <p:nvPr/>
          </p:nvSpPr>
          <p:spPr>
            <a:xfrm>
              <a:off x="3000880" y="6156899"/>
              <a:ext cx="1030514" cy="71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" dirty="0"/>
                <a:t>START</a:t>
              </a:r>
              <a:endParaRPr lang="zh-TW" altLang="en-US" sz="100" dirty="0"/>
            </a:p>
          </p:txBody>
        </p:sp>
        <p:sp>
          <p:nvSpPr>
            <p:cNvPr id="90" name="矩形 89"/>
            <p:cNvSpPr/>
            <p:nvPr/>
          </p:nvSpPr>
          <p:spPr>
            <a:xfrm>
              <a:off x="3387752" y="2532296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7" name="群組 16"/>
            <p:cNvGrpSpPr/>
            <p:nvPr/>
          </p:nvGrpSpPr>
          <p:grpSpPr>
            <a:xfrm>
              <a:off x="3396347" y="5449828"/>
              <a:ext cx="239580" cy="720000"/>
              <a:chOff x="3445729" y="5741259"/>
              <a:chExt cx="239580" cy="720000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3445729" y="5741259"/>
                <a:ext cx="23958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3483679" y="6179621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</p:grpSp>
      <p:grpSp>
        <p:nvGrpSpPr>
          <p:cNvPr id="9" name="群組 8"/>
          <p:cNvGrpSpPr/>
          <p:nvPr/>
        </p:nvGrpSpPr>
        <p:grpSpPr>
          <a:xfrm>
            <a:off x="5546318" y="3777050"/>
            <a:ext cx="1545771" cy="5554694"/>
            <a:chOff x="4142089" y="2543340"/>
            <a:chExt cx="1030514" cy="3703129"/>
          </a:xfrm>
        </p:grpSpPr>
        <p:cxnSp>
          <p:nvCxnSpPr>
            <p:cNvPr id="94" name="直線單箭頭接點 93"/>
            <p:cNvCxnSpPr/>
            <p:nvPr/>
          </p:nvCxnSpPr>
          <p:spPr>
            <a:xfrm flipV="1">
              <a:off x="4657346" y="3322637"/>
              <a:ext cx="0" cy="7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 94"/>
            <p:cNvSpPr/>
            <p:nvPr/>
          </p:nvSpPr>
          <p:spPr>
            <a:xfrm>
              <a:off x="4537755" y="2543340"/>
              <a:ext cx="239580" cy="72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4142089" y="6175349"/>
              <a:ext cx="1030514" cy="71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" dirty="0"/>
                <a:t>I</a:t>
              </a:r>
              <a:endParaRPr lang="zh-TW" altLang="en-US" sz="100" dirty="0"/>
            </a:p>
          </p:txBody>
        </p:sp>
        <p:grpSp>
          <p:nvGrpSpPr>
            <p:cNvPr id="56" name="群組 55"/>
            <p:cNvGrpSpPr/>
            <p:nvPr/>
          </p:nvGrpSpPr>
          <p:grpSpPr>
            <a:xfrm>
              <a:off x="4537755" y="5447076"/>
              <a:ext cx="239580" cy="720000"/>
              <a:chOff x="3445729" y="5741259"/>
              <a:chExt cx="239580" cy="720000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3445729" y="5741259"/>
                <a:ext cx="239580" cy="7200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9" name="橢圓 68"/>
              <p:cNvSpPr/>
              <p:nvPr/>
            </p:nvSpPr>
            <p:spPr>
              <a:xfrm>
                <a:off x="3483679" y="5963721"/>
                <a:ext cx="180000" cy="180000"/>
              </a:xfrm>
              <a:prstGeom prst="ellips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</p:grpSp>
        <p:cxnSp>
          <p:nvCxnSpPr>
            <p:cNvPr id="71" name="直線單箭頭接點 70"/>
            <p:cNvCxnSpPr/>
            <p:nvPr/>
          </p:nvCxnSpPr>
          <p:spPr>
            <a:xfrm flipV="1">
              <a:off x="4665705" y="5128216"/>
              <a:ext cx="0" cy="33358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線單箭頭接點 95"/>
          <p:cNvCxnSpPr/>
          <p:nvPr/>
        </p:nvCxnSpPr>
        <p:spPr>
          <a:xfrm flipV="1">
            <a:off x="7986089" y="494599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7806702" y="3777050"/>
            <a:ext cx="359370" cy="108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8" name="文字方塊 97"/>
          <p:cNvSpPr txBox="1"/>
          <p:nvPr/>
        </p:nvSpPr>
        <p:spPr>
          <a:xfrm>
            <a:off x="7213502" y="9197388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love</a:t>
            </a:r>
            <a:endParaRPr lang="zh-TW" altLang="en-US" sz="100" dirty="0"/>
          </a:p>
        </p:txBody>
      </p:sp>
      <p:grpSp>
        <p:nvGrpSpPr>
          <p:cNvPr id="99" name="群組 98"/>
          <p:cNvGrpSpPr/>
          <p:nvPr/>
        </p:nvGrpSpPr>
        <p:grpSpPr>
          <a:xfrm>
            <a:off x="7806702" y="8132654"/>
            <a:ext cx="359370" cy="1080000"/>
            <a:chOff x="3445729" y="5741259"/>
            <a:chExt cx="239580" cy="720000"/>
          </a:xfrm>
        </p:grpSpPr>
        <p:sp>
          <p:nvSpPr>
            <p:cNvPr id="100" name="矩形 99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1" name="橢圓 100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102" name="直線單箭頭接點 101"/>
          <p:cNvCxnSpPr/>
          <p:nvPr/>
        </p:nvCxnSpPr>
        <p:spPr>
          <a:xfrm flipV="1">
            <a:off x="7998627" y="765436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 flipV="1">
            <a:off x="9653274" y="4945212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9473888" y="3776267"/>
            <a:ext cx="359370" cy="108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5" name="文字方塊 104"/>
          <p:cNvSpPr txBox="1"/>
          <p:nvPr/>
        </p:nvSpPr>
        <p:spPr>
          <a:xfrm>
            <a:off x="8880687" y="9196605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machine</a:t>
            </a:r>
            <a:endParaRPr lang="zh-TW" altLang="en-US" sz="100" dirty="0"/>
          </a:p>
        </p:txBody>
      </p:sp>
      <p:grpSp>
        <p:nvGrpSpPr>
          <p:cNvPr id="106" name="群組 105"/>
          <p:cNvGrpSpPr/>
          <p:nvPr/>
        </p:nvGrpSpPr>
        <p:grpSpPr>
          <a:xfrm>
            <a:off x="9473888" y="8131871"/>
            <a:ext cx="359370" cy="1080000"/>
            <a:chOff x="3445729" y="5741259"/>
            <a:chExt cx="239580" cy="720000"/>
          </a:xfrm>
        </p:grpSpPr>
        <p:sp>
          <p:nvSpPr>
            <p:cNvPr id="107" name="矩形 10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8" name="橢圓 107"/>
            <p:cNvSpPr/>
            <p:nvPr/>
          </p:nvSpPr>
          <p:spPr>
            <a:xfrm>
              <a:off x="3483679" y="6137892"/>
              <a:ext cx="180000" cy="1800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109" name="直線單箭頭接點 108"/>
          <p:cNvCxnSpPr/>
          <p:nvPr/>
        </p:nvCxnSpPr>
        <p:spPr>
          <a:xfrm flipV="1">
            <a:off x="9665813" y="765358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圓角 44"/>
          <p:cNvSpPr/>
          <p:nvPr/>
        </p:nvSpPr>
        <p:spPr>
          <a:xfrm>
            <a:off x="3869357" y="5698800"/>
            <a:ext cx="6372402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125" name="左大括弧 124"/>
          <p:cNvSpPr/>
          <p:nvPr/>
        </p:nvSpPr>
        <p:spPr>
          <a:xfrm>
            <a:off x="10397298" y="369603"/>
            <a:ext cx="1408866" cy="9471873"/>
          </a:xfrm>
          <a:prstGeom prst="leftBrace">
            <a:avLst>
              <a:gd name="adj1" fmla="val 8333"/>
              <a:gd name="adj2" fmla="val 6670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7</a:t>
            </a:fld>
            <a:endParaRPr lang="zh-TW" altLang="en-US" sz="100"/>
          </a:p>
        </p:txBody>
      </p:sp>
      <p:sp>
        <p:nvSpPr>
          <p:cNvPr id="130" name="文字方塊 129"/>
          <p:cNvSpPr txBox="1"/>
          <p:nvPr/>
        </p:nvSpPr>
        <p:spPr>
          <a:xfrm>
            <a:off x="5918332" y="2451425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7281329" y="246236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</a:p>
        </p:txBody>
      </p:sp>
      <p:sp>
        <p:nvSpPr>
          <p:cNvPr id="136" name="文字方塊 135"/>
          <p:cNvSpPr txBox="1"/>
          <p:nvPr/>
        </p:nvSpPr>
        <p:spPr>
          <a:xfrm>
            <a:off x="9121830" y="2456509"/>
            <a:ext cx="1546802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learning</a:t>
            </a:r>
            <a:endParaRPr lang="zh-TW" altLang="en-US" sz="100" b="0" dirty="0"/>
          </a:p>
        </p:txBody>
      </p:sp>
      <p:sp>
        <p:nvSpPr>
          <p:cNvPr id="4" name="文字方塊 57"/>
          <p:cNvSpPr txBox="1"/>
          <p:nvPr/>
        </p:nvSpPr>
        <p:spPr>
          <a:xfrm>
            <a:off x="4147579" y="2453950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sp>
        <p:nvSpPr>
          <p:cNvPr id="5" name="文字方塊 88"/>
          <p:cNvSpPr txBox="1"/>
          <p:nvPr/>
        </p:nvSpPr>
        <p:spPr>
          <a:xfrm>
            <a:off x="3900284" y="247868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文字方塊 132"/>
          <p:cNvSpPr txBox="1"/>
          <p:nvPr/>
        </p:nvSpPr>
        <p:spPr>
          <a:xfrm>
            <a:off x="9014244" y="249411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</a:p>
        </p:txBody>
      </p:sp>
      <p:sp>
        <p:nvSpPr>
          <p:cNvPr id="7" name="文字方塊 87"/>
          <p:cNvSpPr txBox="1"/>
          <p:nvPr/>
        </p:nvSpPr>
        <p:spPr>
          <a:xfrm>
            <a:off x="3868225" y="922518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10" name="文字方塊 88"/>
          <p:cNvSpPr txBox="1"/>
          <p:nvPr/>
        </p:nvSpPr>
        <p:spPr>
          <a:xfrm>
            <a:off x="5535409" y="925286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文字方塊 96"/>
          <p:cNvSpPr txBox="1"/>
          <p:nvPr/>
        </p:nvSpPr>
        <p:spPr>
          <a:xfrm>
            <a:off x="7202593" y="922518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文字方塊 132"/>
          <p:cNvSpPr txBox="1"/>
          <p:nvPr/>
        </p:nvSpPr>
        <p:spPr>
          <a:xfrm>
            <a:off x="8868829" y="922511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</a:p>
        </p:txBody>
      </p:sp>
      <p:sp>
        <p:nvSpPr>
          <p:cNvPr id="13" name="文字方塊 132"/>
          <p:cNvSpPr txBox="1"/>
          <p:nvPr/>
        </p:nvSpPr>
        <p:spPr>
          <a:xfrm>
            <a:off x="3858044" y="9225112"/>
            <a:ext cx="154680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942445" y="369570"/>
            <a:ext cx="2969895" cy="882650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4074795" y="1429385"/>
            <a:ext cx="624713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280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Ignore the input from the encoder here</a:t>
            </a:r>
            <a:endParaRPr lang="en-US" altLang="en-US" sz="2800">
              <a:solidFill>
                <a:schemeClr val="accent1"/>
              </a:solidFill>
              <a:latin typeface="+mj-lt"/>
              <a:cs typeface="+mj-cs"/>
            </a:endParaRPr>
          </a:p>
          <a:p>
            <a:pPr algn="l"/>
            <a:endParaRPr lang="en-US" altLang="en-US" sz="2800">
              <a:solidFill>
                <a:schemeClr val="accent1"/>
              </a:solidFill>
              <a:latin typeface="+mj-lt"/>
              <a:cs typeface="+mj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bldLvl="0" animBg="1"/>
      <p:bldP spid="130" grpId="0"/>
      <p:bldP spid="133" grpId="0"/>
      <p:bldP spid="136" grpId="0"/>
      <p:bldP spid="5" grpId="0"/>
      <p:bldP spid="6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Content Placeholder 99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5670" y="781685"/>
            <a:ext cx="6862445" cy="9029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: 圓角 4"/>
          <p:cNvSpPr/>
          <p:nvPr/>
        </p:nvSpPr>
        <p:spPr>
          <a:xfrm>
            <a:off x="8438515" y="3992245"/>
            <a:ext cx="1984375" cy="14452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: 圓角 8"/>
          <p:cNvSpPr/>
          <p:nvPr/>
        </p:nvSpPr>
        <p:spPr>
          <a:xfrm>
            <a:off x="8724899" y="5899472"/>
            <a:ext cx="1092995" cy="2643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8</a:t>
            </a:fld>
            <a:endParaRPr lang="zh-TW" altLang="en-US" sz="100"/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750570" y="2636520"/>
            <a:ext cx="3691890" cy="994410"/>
          </a:xfrm>
        </p:spPr>
        <p:txBody>
          <a:bodyPr/>
          <a:lstStyle/>
          <a:p>
            <a:r>
              <a:rPr lang="en-US" altLang="zh-TW" sz="4000" dirty="0"/>
              <a:t>Encoder</a:t>
            </a:r>
          </a:p>
        </p:txBody>
      </p:sp>
      <p:sp>
        <p:nvSpPr>
          <p:cNvPr id="14" name="標題 1"/>
          <p:cNvSpPr>
            <a:spLocks noGrp="1"/>
          </p:cNvSpPr>
          <p:nvPr/>
        </p:nvSpPr>
        <p:spPr>
          <a:xfrm>
            <a:off x="12021185" y="2827020"/>
            <a:ext cx="3042920" cy="8039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sz="4000" dirty="0"/>
              <a:t>Decoder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920490" y="3543935"/>
            <a:ext cx="1645920" cy="115951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0696575" y="3630930"/>
            <a:ext cx="2099945" cy="1072515"/>
          </a:xfrm>
          <a:prstGeom prst="straightConnector1">
            <a:avLst/>
          </a:prstGeom>
          <a:ln w="381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48" name="矩形 47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49" name="矩形 48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50" name="矩形 49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 58"/>
          <p:cNvSpPr/>
          <p:nvPr/>
        </p:nvSpPr>
        <p:spPr>
          <a:xfrm>
            <a:off x="3864315" y="1543070"/>
            <a:ext cx="692499" cy="90872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60" name="矩形 59"/>
          <p:cNvSpPr/>
          <p:nvPr/>
        </p:nvSpPr>
        <p:spPr>
          <a:xfrm>
            <a:off x="7278002" y="1543068"/>
            <a:ext cx="697730" cy="908721"/>
          </a:xfrm>
          <a:prstGeom prst="rect">
            <a:avLst/>
          </a:prstGeom>
          <a:solidFill>
            <a:schemeClr val="accent2">
              <a:lumMod val="40000"/>
              <a:lumOff val="6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61" name="矩形 60"/>
          <p:cNvSpPr/>
          <p:nvPr/>
        </p:nvSpPr>
        <p:spPr>
          <a:xfrm>
            <a:off x="10626489" y="1565373"/>
            <a:ext cx="697730" cy="908721"/>
          </a:xfrm>
          <a:prstGeom prst="rect">
            <a:avLst/>
          </a:prstGeom>
          <a:solidFill>
            <a:schemeClr val="accent2">
              <a:lumMod val="40000"/>
              <a:lumOff val="6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62" name="矩形 61"/>
          <p:cNvSpPr/>
          <p:nvPr/>
        </p:nvSpPr>
        <p:spPr>
          <a:xfrm>
            <a:off x="14003685" y="1590575"/>
            <a:ext cx="697730" cy="908721"/>
          </a:xfrm>
          <a:prstGeom prst="rect">
            <a:avLst/>
          </a:prstGeom>
          <a:solidFill>
            <a:schemeClr val="accent2">
              <a:lumMod val="60000"/>
              <a:lumOff val="40000"/>
              <a:alpha val="1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/>
              <p:cNvSpPr txBox="1"/>
              <p:nvPr/>
            </p:nvSpPr>
            <p:spPr>
              <a:xfrm>
                <a:off x="13855158" y="1673484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5158" y="1673484"/>
                <a:ext cx="1072742" cy="645160"/>
              </a:xfrm>
              <a:prstGeom prst="rect">
                <a:avLst/>
              </a:prstGeom>
              <a:blipFill rotWithShape="1">
                <a:blip r:embed="rId7"/>
                <a:stretch>
                  <a:fillRect l="-9" t="-40" r="30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10483647" y="165687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647" y="1656875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40" t="-25" r="2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7165264" y="165687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264" y="165687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2" t="-25" r="14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3725603" y="164567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603" y="1645676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5" t="-60" r="27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矩形: 圓角 66"/>
          <p:cNvSpPr/>
          <p:nvPr/>
        </p:nvSpPr>
        <p:spPr>
          <a:xfrm>
            <a:off x="3214475" y="3123029"/>
            <a:ext cx="12112275" cy="3613659"/>
          </a:xfrm>
          <a:prstGeom prst="roundRect">
            <a:avLst/>
          </a:prstGeom>
          <a:blipFill rotWithShape="1">
            <a:blip r:embed="rId11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cxnSp>
        <p:nvCxnSpPr>
          <p:cNvPr id="68" name="直線單箭頭接點 67"/>
          <p:cNvCxnSpPr/>
          <p:nvPr/>
        </p:nvCxnSpPr>
        <p:spPr>
          <a:xfrm flipH="1" flipV="1">
            <a:off x="4247592" y="670441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H="1" flipV="1">
            <a:off x="7697700" y="670441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H="1" flipV="1">
            <a:off x="11022690" y="678419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 flipV="1">
            <a:off x="14368805" y="678419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群組 79"/>
          <p:cNvGrpSpPr/>
          <p:nvPr/>
        </p:nvGrpSpPr>
        <p:grpSpPr>
          <a:xfrm>
            <a:off x="4210005" y="2481326"/>
            <a:ext cx="10121213" cy="654129"/>
            <a:chOff x="1460128" y="4622011"/>
            <a:chExt cx="6747475" cy="436086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1460128" y="4622011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3760200" y="4622011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5976860" y="4675196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/>
            <p:nvPr/>
          </p:nvCxnSpPr>
          <p:spPr>
            <a:xfrm flipH="1" flipV="1">
              <a:off x="8207603" y="4675196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線單箭頭接點 81"/>
          <p:cNvCxnSpPr/>
          <p:nvPr/>
        </p:nvCxnSpPr>
        <p:spPr>
          <a:xfrm flipH="1" flipV="1">
            <a:off x="4199309" y="3224142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4372712" y="3246447"/>
            <a:ext cx="3275259" cy="345797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4556814" y="3246447"/>
            <a:ext cx="6416145" cy="349024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H="1" flipV="1">
            <a:off x="4819446" y="3224142"/>
            <a:ext cx="9572082" cy="347013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H="1" flipV="1">
            <a:off x="7635971" y="3219072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H="1" flipV="1">
            <a:off x="11005436" y="3214005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H="1" flipV="1">
            <a:off x="14352549" y="3214004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4295876" y="3224144"/>
            <a:ext cx="3250547" cy="347013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flipH="1" flipV="1">
            <a:off x="7743191" y="3246446"/>
            <a:ext cx="3220982" cy="342570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H="1" flipV="1">
            <a:off x="7855643" y="3235248"/>
            <a:ext cx="6496907" cy="345903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H="1" flipV="1">
            <a:off x="11084633" y="3201756"/>
            <a:ext cx="3284172" cy="347039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V="1">
            <a:off x="7668449" y="3208938"/>
            <a:ext cx="3264903" cy="349547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V="1">
            <a:off x="4295876" y="3208938"/>
            <a:ext cx="6480960" cy="3506676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 flipV="1">
            <a:off x="4208615" y="3235248"/>
            <a:ext cx="9783510" cy="350143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 flipV="1">
            <a:off x="7668449" y="3271649"/>
            <a:ext cx="6448482" cy="344290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V="1">
            <a:off x="11059730" y="3270585"/>
            <a:ext cx="3193334" cy="341769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字方塊 125"/>
          <p:cNvSpPr txBox="1"/>
          <p:nvPr/>
        </p:nvSpPr>
        <p:spPr>
          <a:xfrm>
            <a:off x="4718685" y="8889365"/>
            <a:ext cx="9269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Can be either </a:t>
            </a:r>
            <a:r>
              <a:rPr lang="en-US" altLang="zh-TW" sz="3600" b="1" dirty="0"/>
              <a:t>input</a:t>
            </a:r>
            <a:r>
              <a:rPr lang="en-US" altLang="zh-TW" sz="3600" dirty="0"/>
              <a:t> or </a:t>
            </a:r>
            <a:r>
              <a:rPr lang="en-US" altLang="zh-TW" sz="3600" b="1" dirty="0"/>
              <a:t>a hidden layer</a:t>
            </a:r>
            <a:endParaRPr lang="zh-TW" altLang="en-US" sz="3600" b="1" dirty="0"/>
          </a:p>
        </p:txBody>
      </p:sp>
      <p:sp>
        <p:nvSpPr>
          <p:cNvPr id="127" name="右大括弧 126"/>
          <p:cNvSpPr/>
          <p:nvPr/>
        </p:nvSpPr>
        <p:spPr>
          <a:xfrm rot="5400000">
            <a:off x="8948399" y="2651292"/>
            <a:ext cx="705000" cy="11770665"/>
          </a:xfrm>
          <a:prstGeom prst="rightBrace">
            <a:avLst>
              <a:gd name="adj1" fmla="val 75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9</a:t>
            </a:fld>
            <a:endParaRPr lang="zh-TW" altLang="en-US" sz="10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7394817" y="866232"/>
            <a:ext cx="832340" cy="14468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1379855" y="198120"/>
            <a:ext cx="14830425" cy="994410"/>
          </a:xfrm>
        </p:spPr>
        <p:txBody>
          <a:bodyPr/>
          <a:lstStyle/>
          <a:p>
            <a:r>
              <a:rPr lang="en-US" altLang="zh-TW" sz="4000" dirty="0"/>
              <a:t>Self-attention          Masked Self-attention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線單箭頭接點 108"/>
          <p:cNvCxnSpPr/>
          <p:nvPr/>
        </p:nvCxnSpPr>
        <p:spPr>
          <a:xfrm flipH="1" flipV="1">
            <a:off x="7244502" y="4196309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79" idx="0"/>
            <a:endCxn id="8" idx="5"/>
          </p:cNvCxnSpPr>
          <p:nvPr/>
        </p:nvCxnSpPr>
        <p:spPr>
          <a:xfrm flipH="1" flipV="1">
            <a:off x="3930650" y="4142105"/>
            <a:ext cx="2908935" cy="1598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2888879" y="5693795"/>
            <a:ext cx="2759052" cy="1579235"/>
            <a:chOff x="401919" y="3795863"/>
            <a:chExt cx="1839368" cy="1052823"/>
          </a:xfrm>
        </p:grpSpPr>
        <p:sp>
          <p:nvSpPr>
            <p:cNvPr id="25" name="矩形 24"/>
            <p:cNvSpPr/>
            <p:nvPr/>
          </p:nvSpPr>
          <p:spPr>
            <a:xfrm>
              <a:off x="1717885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583404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401919" y="3843680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19" y="3843680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線單箭頭接點 67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/>
            <p:nvPr/>
          </p:nvCxnSpPr>
          <p:spPr>
            <a:xfrm>
              <a:off x="716018" y="4619649"/>
              <a:ext cx="1145867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 flipV="1">
              <a:off x="716018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 flipV="1">
              <a:off x="1861885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矩形 73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3" t="-29" r="15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blipFill rotWithShape="1">
                <a:blip r:embed="rId8"/>
                <a:stretch>
                  <a:fillRect l="-17" t="-56" r="3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9"/>
          <p:cNvCxnSpPr/>
          <p:nvPr/>
        </p:nvCxnSpPr>
        <p:spPr>
          <a:xfrm flipV="1">
            <a:off x="7647461" y="6484320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>
            <a:off x="7617797" y="6904079"/>
            <a:ext cx="87534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6774345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8493146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7" t="-32" r="19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 86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8" name="文字方塊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單箭頭接點 90"/>
          <p:cNvCxnSpPr/>
          <p:nvPr/>
        </p:nvCxnSpPr>
        <p:spPr>
          <a:xfrm flipV="1">
            <a:off x="11013635" y="6500211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11013635" y="6919970"/>
            <a:ext cx="845685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V="1">
            <a:off x="11859320" y="649719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blipFill rotWithShape="1">
                <a:blip r:embed="rId11"/>
                <a:stretch>
                  <a:fillRect l="-18" t="-41" r="40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單箭頭接點 101"/>
          <p:cNvCxnSpPr/>
          <p:nvPr/>
        </p:nvCxnSpPr>
        <p:spPr>
          <a:xfrm flipV="1">
            <a:off x="14392691" y="6520593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14392691" y="6940352"/>
            <a:ext cx="845685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 flipV="1">
            <a:off x="15238376" y="651757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橢圓 110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橢圓 113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5" name="直線單箭頭接點 114"/>
          <p:cNvCxnSpPr>
            <a:stCxn id="78" idx="0"/>
            <a:endCxn id="114" idx="4"/>
          </p:cNvCxnSpPr>
          <p:nvPr/>
        </p:nvCxnSpPr>
        <p:spPr>
          <a:xfrm flipV="1">
            <a:off x="6791424" y="4245632"/>
            <a:ext cx="7174662" cy="1422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78" idx="0"/>
            <a:endCxn id="111" idx="4"/>
          </p:cNvCxnSpPr>
          <p:nvPr/>
        </p:nvCxnSpPr>
        <p:spPr>
          <a:xfrm flipV="1">
            <a:off x="6791424" y="4207530"/>
            <a:ext cx="3798222" cy="14608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78" idx="0"/>
            <a:endCxn id="108" idx="4"/>
          </p:cNvCxnSpPr>
          <p:nvPr/>
        </p:nvCxnSpPr>
        <p:spPr>
          <a:xfrm flipV="1">
            <a:off x="6791424" y="4194243"/>
            <a:ext cx="490109" cy="14741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endCxn id="8" idx="4"/>
          </p:cNvCxnSpPr>
          <p:nvPr/>
        </p:nvCxnSpPr>
        <p:spPr>
          <a:xfrm flipH="1" flipV="1">
            <a:off x="3835017" y="4181543"/>
            <a:ext cx="372975" cy="13838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3585891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91" y="3283851"/>
                <a:ext cx="800100" cy="556260"/>
              </a:xfrm>
              <a:prstGeom prst="rect">
                <a:avLst/>
              </a:prstGeom>
              <a:blipFill rotWithShape="1">
                <a:blip r:embed="rId13"/>
                <a:stretch>
                  <a:fillRect l="-6" t="-48" r="-9042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/>
              <p:cNvSpPr txBox="1"/>
              <p:nvPr/>
            </p:nvSpPr>
            <p:spPr>
              <a:xfrm>
                <a:off x="6994788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4" name="文字方塊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88" y="3283851"/>
                <a:ext cx="800100" cy="556260"/>
              </a:xfrm>
              <a:prstGeom prst="rect">
                <a:avLst/>
              </a:prstGeom>
              <a:blipFill rotWithShape="1">
                <a:blip r:embed="rId14"/>
                <a:stretch>
                  <a:fillRect l="-33" t="-48" r="-9015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/>
              <p:cNvSpPr txBox="1"/>
              <p:nvPr/>
            </p:nvSpPr>
            <p:spPr>
              <a:xfrm>
                <a:off x="10221585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8" name="文字方塊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585" y="3283851"/>
                <a:ext cx="800100" cy="556260"/>
              </a:xfrm>
              <a:prstGeom prst="rect">
                <a:avLst/>
              </a:prstGeom>
              <a:blipFill rotWithShape="1">
                <a:blip r:embed="rId15"/>
                <a:stretch>
                  <a:fillRect l="-78" t="-48" r="-8970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/>
              <p:cNvSpPr txBox="1"/>
              <p:nvPr/>
            </p:nvSpPr>
            <p:spPr>
              <a:xfrm>
                <a:off x="13755383" y="3308186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9" name="文字方塊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383" y="3308186"/>
                <a:ext cx="800100" cy="556260"/>
              </a:xfrm>
              <a:prstGeom prst="rect">
                <a:avLst/>
              </a:prstGeom>
              <a:blipFill rotWithShape="1">
                <a:blip r:embed="rId16"/>
                <a:stretch>
                  <a:fillRect l="-2" t="-85" r="-9046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/>
          <p:cNvGrpSpPr/>
          <p:nvPr/>
        </p:nvGrpSpPr>
        <p:grpSpPr>
          <a:xfrm>
            <a:off x="7124867" y="1915944"/>
            <a:ext cx="1072742" cy="908720"/>
            <a:chOff x="635402" y="1337615"/>
            <a:chExt cx="715161" cy="605813"/>
          </a:xfrm>
        </p:grpSpPr>
        <p:sp>
          <p:nvSpPr>
            <p:cNvPr id="116" name="矩形 115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字方塊 116"/>
                <p:cNvSpPr txBox="1"/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17" name="文字方塊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/>
          <p:cNvCxnSpPr>
            <a:endCxn id="11" idx="2"/>
          </p:cNvCxnSpPr>
          <p:nvPr/>
        </p:nvCxnSpPr>
        <p:spPr>
          <a:xfrm flipH="1" flipV="1">
            <a:off x="5077245" y="4316186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/>
          <p:cNvGrpSpPr/>
          <p:nvPr/>
        </p:nvGrpSpPr>
        <p:grpSpPr>
          <a:xfrm>
            <a:off x="4853457" y="3851166"/>
            <a:ext cx="447575" cy="465020"/>
            <a:chOff x="-105878" y="1740168"/>
            <a:chExt cx="461666" cy="461665"/>
          </a:xfrm>
        </p:grpSpPr>
        <p:sp>
          <p:nvSpPr>
            <p:cNvPr id="11" name="矩形 1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4" name="群組 2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3" name="直線接點 2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2" name="直線單箭頭接點 121"/>
          <p:cNvCxnSpPr>
            <a:endCxn id="129" idx="2"/>
          </p:cNvCxnSpPr>
          <p:nvPr/>
        </p:nvCxnSpPr>
        <p:spPr>
          <a:xfrm flipH="1" flipV="1">
            <a:off x="8471114" y="4327553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8247326" y="3862533"/>
            <a:ext cx="447575" cy="465020"/>
            <a:chOff x="-105878" y="1740168"/>
            <a:chExt cx="461666" cy="461665"/>
          </a:xfrm>
        </p:grpSpPr>
        <p:sp>
          <p:nvSpPr>
            <p:cNvPr id="129" name="矩形 128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33" name="群組 132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35" name="直線接點 13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直線單箭頭接點 136"/>
          <p:cNvCxnSpPr>
            <a:endCxn id="146" idx="2"/>
          </p:cNvCxnSpPr>
          <p:nvPr/>
        </p:nvCxnSpPr>
        <p:spPr>
          <a:xfrm flipH="1" flipV="1">
            <a:off x="11863248" y="4351538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群組 144"/>
          <p:cNvGrpSpPr/>
          <p:nvPr/>
        </p:nvGrpSpPr>
        <p:grpSpPr>
          <a:xfrm>
            <a:off x="11639460" y="3886518"/>
            <a:ext cx="447575" cy="465020"/>
            <a:chOff x="-105878" y="1740168"/>
            <a:chExt cx="461666" cy="461665"/>
          </a:xfrm>
        </p:grpSpPr>
        <p:sp>
          <p:nvSpPr>
            <p:cNvPr id="146" name="矩形 145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47" name="群組 146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48" name="直線接點 147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50" name="直線單箭頭接點 149"/>
          <p:cNvCxnSpPr>
            <a:endCxn id="152" idx="2"/>
          </p:cNvCxnSpPr>
          <p:nvPr/>
        </p:nvCxnSpPr>
        <p:spPr>
          <a:xfrm flipH="1" flipV="1">
            <a:off x="15208398" y="4376562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群組 150"/>
          <p:cNvGrpSpPr/>
          <p:nvPr/>
        </p:nvGrpSpPr>
        <p:grpSpPr>
          <a:xfrm>
            <a:off x="14984610" y="3911543"/>
            <a:ext cx="447575" cy="465020"/>
            <a:chOff x="-105878" y="1740168"/>
            <a:chExt cx="461666" cy="461665"/>
          </a:xfrm>
        </p:grpSpPr>
        <p:sp>
          <p:nvSpPr>
            <p:cNvPr id="152" name="矩形 151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53" name="群組 152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54" name="直線接點 153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線接點 154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56" name="直線單箭頭接點 155"/>
          <p:cNvCxnSpPr/>
          <p:nvPr/>
        </p:nvCxnSpPr>
        <p:spPr>
          <a:xfrm flipV="1">
            <a:off x="5090495" y="2402793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470956" y="2397407"/>
            <a:ext cx="0" cy="1480823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11859761" y="2317422"/>
            <a:ext cx="0" cy="15545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 flipH="1" flipV="1">
            <a:off x="15206366" y="2347418"/>
            <a:ext cx="0" cy="1580804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>
            <a:endCxn id="11" idx="1"/>
          </p:cNvCxnSpPr>
          <p:nvPr/>
        </p:nvCxnSpPr>
        <p:spPr>
          <a:xfrm>
            <a:off x="4018502" y="406453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59037" y="4092045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/>
          <p:nvPr/>
        </p:nvCxnSpPr>
        <p:spPr>
          <a:xfrm>
            <a:off x="10804505" y="4119027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>
            <a:off x="14111508" y="414405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H="1">
            <a:off x="7989509" y="2347418"/>
            <a:ext cx="49540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>
            <a:off x="5077509" y="2347418"/>
            <a:ext cx="207623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404108" y="5513805"/>
            <a:ext cx="772769" cy="1157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b="1"/>
          </a:p>
        </p:txBody>
      </p:sp>
      <p:sp>
        <p:nvSpPr>
          <p:cNvPr id="127" name="矩形 126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30" name="矩形 129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31" name="矩形 130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65" name="矩形 164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字方塊 165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6" name="文字方塊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18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7" name="文字方塊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19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字方塊 167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8" name="文字方塊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20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字方塊 168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9" name="文字方塊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21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/>
          <p:cNvGrpSpPr/>
          <p:nvPr/>
        </p:nvGrpSpPr>
        <p:grpSpPr>
          <a:xfrm>
            <a:off x="13048427" y="5704673"/>
            <a:ext cx="1316834" cy="1235679"/>
            <a:chOff x="7174951" y="3803115"/>
            <a:chExt cx="877889" cy="823786"/>
          </a:xfrm>
        </p:grpSpPr>
        <p:sp>
          <p:nvSpPr>
            <p:cNvPr id="100" name="矩形 99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/>
                <p:cNvSpPr txBox="1"/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01" name="文字方塊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直線單箭頭接點 103"/>
            <p:cNvCxnSpPr/>
            <p:nvPr/>
          </p:nvCxnSpPr>
          <p:spPr>
            <a:xfrm flipV="1">
              <a:off x="7489050" y="4345052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單箭頭接點 173"/>
            <p:cNvCxnSpPr/>
            <p:nvPr/>
          </p:nvCxnSpPr>
          <p:spPr>
            <a:xfrm>
              <a:off x="7489050" y="4626901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3"/>
          <p:cNvGrpSpPr/>
          <p:nvPr/>
        </p:nvGrpSpPr>
        <p:grpSpPr>
          <a:xfrm>
            <a:off x="9669371" y="5684291"/>
            <a:ext cx="1340736" cy="1229651"/>
            <a:chOff x="4922247" y="3789527"/>
            <a:chExt cx="893824" cy="819767"/>
          </a:xfrm>
        </p:grpSpPr>
        <p:sp>
          <p:nvSpPr>
            <p:cNvPr id="89" name="矩形 88"/>
            <p:cNvSpPr/>
            <p:nvPr/>
          </p:nvSpPr>
          <p:spPr>
            <a:xfrm>
              <a:off x="5103732" y="3789527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/>
                <p:cNvSpPr txBox="1"/>
                <p:nvPr/>
              </p:nvSpPr>
              <p:spPr>
                <a:xfrm>
                  <a:off x="4922247" y="3837344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90" name="文字方塊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2247" y="3837344"/>
                  <a:ext cx="715161" cy="427143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線單箭頭接點 92"/>
            <p:cNvCxnSpPr/>
            <p:nvPr/>
          </p:nvCxnSpPr>
          <p:spPr>
            <a:xfrm flipV="1">
              <a:off x="5236346" y="4331464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線單箭頭接點 174"/>
            <p:cNvCxnSpPr/>
            <p:nvPr/>
          </p:nvCxnSpPr>
          <p:spPr>
            <a:xfrm>
              <a:off x="5252281" y="4609294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直線單箭頭接點 112"/>
          <p:cNvCxnSpPr/>
          <p:nvPr/>
        </p:nvCxnSpPr>
        <p:spPr>
          <a:xfrm>
            <a:off x="6763766" y="6918230"/>
            <a:ext cx="87534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10</a:t>
            </a:fld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3045143" y="8638755"/>
            <a:ext cx="74915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accent1"/>
                </a:solidFill>
                <a:latin typeface="+mj-lt"/>
                <a:cs typeface="+mj-cs"/>
              </a:rPr>
              <a:t>Why masked?</a:t>
            </a:r>
          </a:p>
        </p:txBody>
      </p:sp>
      <p:sp>
        <p:nvSpPr>
          <p:cNvPr id="143" name="文字方塊 142"/>
          <p:cNvSpPr txBox="1"/>
          <p:nvPr/>
        </p:nvSpPr>
        <p:spPr>
          <a:xfrm>
            <a:off x="6303178" y="8638774"/>
            <a:ext cx="868088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Consider how does decoder work</a:t>
            </a:r>
          </a:p>
        </p:txBody>
      </p:sp>
      <p:cxnSp>
        <p:nvCxnSpPr>
          <p:cNvPr id="144" name="直線單箭頭接點 143"/>
          <p:cNvCxnSpPr/>
          <p:nvPr/>
        </p:nvCxnSpPr>
        <p:spPr>
          <a:xfrm flipH="1">
            <a:off x="8484914" y="2347418"/>
            <a:ext cx="6721452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3"/>
          <p:cNvCxnSpPr/>
          <p:nvPr/>
        </p:nvCxnSpPr>
        <p:spPr>
          <a:xfrm>
            <a:off x="7394817" y="866232"/>
            <a:ext cx="832340" cy="14468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1379855" y="198120"/>
            <a:ext cx="14830425" cy="994410"/>
          </a:xfrm>
        </p:spPr>
        <p:txBody>
          <a:bodyPr/>
          <a:lstStyle/>
          <a:p>
            <a:r>
              <a:rPr lang="en-US" altLang="zh-TW" sz="4000" dirty="0"/>
              <a:t>Self-attention          Masked Self-attention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ldLvl="0" animBg="1"/>
      <p:bldP spid="86" grpId="0"/>
      <p:bldP spid="87" grpId="0" bldLvl="0" animBg="1"/>
      <p:bldP spid="88" grpId="0"/>
      <p:bldP spid="96" grpId="0" bldLvl="0" animBg="1"/>
      <p:bldP spid="97" grpId="0"/>
      <p:bldP spid="98" grpId="0" bldLvl="0" animBg="1"/>
      <p:bldP spid="99" grpId="0"/>
      <p:bldP spid="111" grpId="0" bldLvl="0" animBg="1"/>
      <p:bldP spid="114" grpId="0" bldLvl="0" animBg="1"/>
      <p:bldP spid="138" grpId="0"/>
      <p:bldP spid="139" grpId="0"/>
      <p:bldP spid="131" grpId="0" bldLvl="0" animBg="1"/>
      <p:bldP spid="165" grpId="0" bldLvl="0" animBg="1"/>
      <p:bldP spid="166" grpId="0"/>
      <p:bldP spid="167" grpId="0"/>
      <p:bldP spid="6" grpId="0"/>
      <p:bldP spid="1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Autoregressive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005866" y="3039852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13498312" y="309988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12901931" y="2507450"/>
            <a:ext cx="120008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dirty="0"/>
              <a:t>habit</a:t>
            </a:r>
            <a:endParaRPr lang="zh-TW" altLang="en-US" sz="100" b="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598967" y="3083548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2626848" y="4314835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4873095" y="4876966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5497746" y="6708808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497746" y="4855675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群組 11"/>
          <p:cNvGrpSpPr/>
          <p:nvPr/>
        </p:nvGrpSpPr>
        <p:grpSpPr>
          <a:xfrm>
            <a:off x="2498725" y="4468574"/>
            <a:ext cx="2383352" cy="4482813"/>
            <a:chOff x="553420" y="2633912"/>
            <a:chExt cx="1588901" cy="2988542"/>
          </a:xfrm>
        </p:grpSpPr>
        <p:sp>
          <p:nvSpPr>
            <p:cNvPr id="13" name="矩形: 圓角 12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2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14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35" name="Picture 9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9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矩形 14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4" name="直線單箭頭接點 33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群組 19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2" name="直線單箭頭接點 31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群組 20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0" name="直線單箭頭接點 29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群組 21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28" name="直線單箭頭接點 27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直線單箭頭接點 2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線單箭頭接點 36"/>
          <p:cNvCxnSpPr/>
          <p:nvPr/>
        </p:nvCxnSpPr>
        <p:spPr>
          <a:xfrm flipV="1">
            <a:off x="13500927" y="497316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3321540" y="3804215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文字方塊 38"/>
          <p:cNvSpPr txBox="1"/>
          <p:nvPr/>
        </p:nvSpPr>
        <p:spPr>
          <a:xfrm>
            <a:off x="12728340" y="9224554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altLang="zh-TW" sz="100" dirty="0"/>
              <a:t>learning</a:t>
            </a:r>
            <a:endParaRPr lang="zh-TW" altLang="en-US" sz="1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3321540" y="8159819"/>
            <a:ext cx="359370" cy="1080000"/>
            <a:chOff x="3445729" y="5741259"/>
            <a:chExt cx="239580" cy="720000"/>
          </a:xfrm>
        </p:grpSpPr>
        <p:sp>
          <p:nvSpPr>
            <p:cNvPr id="41" name="矩形 40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" name="橢圓 41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43" name="直線單箭頭接點 42"/>
          <p:cNvCxnSpPr/>
          <p:nvPr/>
        </p:nvCxnSpPr>
        <p:spPr>
          <a:xfrm flipV="1">
            <a:off x="13513465" y="7681529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14525975" y="2360163"/>
            <a:ext cx="10661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……</a:t>
            </a:r>
            <a:endParaRPr lang="zh-TW" altLang="en-US" sz="36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755432" y="8969734"/>
            <a:ext cx="384363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cxnSp>
        <p:nvCxnSpPr>
          <p:cNvPr id="47" name="直線單箭頭接點 46"/>
          <p:cNvCxnSpPr/>
          <p:nvPr/>
        </p:nvCxnSpPr>
        <p:spPr>
          <a:xfrm flipV="1">
            <a:off x="8568013" y="305366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8046852" y="2506670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9" name="直線單箭頭接點 48"/>
          <p:cNvCxnSpPr/>
          <p:nvPr/>
        </p:nvCxnSpPr>
        <p:spPr>
          <a:xfrm flipV="1">
            <a:off x="10207539" y="304747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8308194" y="3031135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9479367" y="2500477"/>
            <a:ext cx="1502664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52" name="直線單箭頭接點 51"/>
          <p:cNvCxnSpPr/>
          <p:nvPr/>
        </p:nvCxnSpPr>
        <p:spPr>
          <a:xfrm flipV="1">
            <a:off x="11916105" y="3040583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10016760" y="3024247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2058518" y="2504384"/>
            <a:ext cx="143305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learning</a:t>
            </a:r>
            <a:endParaRPr lang="zh-TW" altLang="en-US" sz="100" b="0" dirty="0"/>
          </a:p>
        </p:txBody>
      </p:sp>
      <p:cxnSp>
        <p:nvCxnSpPr>
          <p:cNvPr id="55" name="直線單箭頭接點 54"/>
          <p:cNvCxnSpPr/>
          <p:nvPr/>
        </p:nvCxnSpPr>
        <p:spPr>
          <a:xfrm flipV="1">
            <a:off x="6905211" y="305618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6883440" y="495659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6883440" y="7662479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6123745" y="9224554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59" name="矩形 58"/>
          <p:cNvSpPr/>
          <p:nvPr/>
        </p:nvSpPr>
        <p:spPr>
          <a:xfrm>
            <a:off x="6704053" y="3787649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60" name="群組 59"/>
          <p:cNvGrpSpPr/>
          <p:nvPr/>
        </p:nvGrpSpPr>
        <p:grpSpPr>
          <a:xfrm>
            <a:off x="6716946" y="8163947"/>
            <a:ext cx="359370" cy="1080000"/>
            <a:chOff x="3445729" y="5741259"/>
            <a:chExt cx="239580" cy="720000"/>
          </a:xfrm>
        </p:grpSpPr>
        <p:sp>
          <p:nvSpPr>
            <p:cNvPr id="61" name="矩形 60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2" name="橢圓 61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3" name="文字方塊 62"/>
          <p:cNvSpPr txBox="1"/>
          <p:nvPr/>
        </p:nvSpPr>
        <p:spPr>
          <a:xfrm>
            <a:off x="6384049" y="2509195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cxnSp>
        <p:nvCxnSpPr>
          <p:cNvPr id="64" name="直線單箭頭接點 63"/>
          <p:cNvCxnSpPr/>
          <p:nvPr/>
        </p:nvCxnSpPr>
        <p:spPr>
          <a:xfrm flipV="1">
            <a:off x="8563815" y="497316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8384428" y="3804215"/>
            <a:ext cx="359370" cy="108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790929" y="925222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67" name="群組 66"/>
          <p:cNvGrpSpPr/>
          <p:nvPr/>
        </p:nvGrpSpPr>
        <p:grpSpPr>
          <a:xfrm>
            <a:off x="8384428" y="8159819"/>
            <a:ext cx="359370" cy="1080000"/>
            <a:chOff x="3445729" y="5741259"/>
            <a:chExt cx="239580" cy="720000"/>
          </a:xfrm>
        </p:grpSpPr>
        <p:sp>
          <p:nvSpPr>
            <p:cNvPr id="68" name="矩形 67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3483679" y="5963721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70" name="直線單箭頭接點 69"/>
          <p:cNvCxnSpPr/>
          <p:nvPr/>
        </p:nvCxnSpPr>
        <p:spPr>
          <a:xfrm flipV="1">
            <a:off x="8576353" y="7681529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10230700" y="497316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10051314" y="3804215"/>
            <a:ext cx="359370" cy="108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9458113" y="922455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74" name="群組 73"/>
          <p:cNvGrpSpPr/>
          <p:nvPr/>
        </p:nvGrpSpPr>
        <p:grpSpPr>
          <a:xfrm>
            <a:off x="10051314" y="8159819"/>
            <a:ext cx="359370" cy="1080000"/>
            <a:chOff x="3445729" y="5741259"/>
            <a:chExt cx="239580" cy="720000"/>
          </a:xfrm>
        </p:grpSpPr>
        <p:sp>
          <p:nvSpPr>
            <p:cNvPr id="75" name="矩形 74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76" name="橢圓 75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77" name="直線單箭頭接點 76"/>
          <p:cNvCxnSpPr/>
          <p:nvPr/>
        </p:nvCxnSpPr>
        <p:spPr>
          <a:xfrm flipV="1">
            <a:off x="10243239" y="7681529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11897886" y="49723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1718499" y="3803432"/>
            <a:ext cx="359370" cy="108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11125299" y="9223771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81" name="群組 80"/>
          <p:cNvGrpSpPr/>
          <p:nvPr/>
        </p:nvGrpSpPr>
        <p:grpSpPr>
          <a:xfrm>
            <a:off x="11718499" y="8159036"/>
            <a:ext cx="359370" cy="1080000"/>
            <a:chOff x="3445729" y="5741259"/>
            <a:chExt cx="239580" cy="720000"/>
          </a:xfrm>
        </p:grpSpPr>
        <p:sp>
          <p:nvSpPr>
            <p:cNvPr id="82" name="矩形 81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83" name="橢圓 82"/>
            <p:cNvSpPr/>
            <p:nvPr/>
          </p:nvSpPr>
          <p:spPr>
            <a:xfrm>
              <a:off x="3483679" y="6137892"/>
              <a:ext cx="180000" cy="1800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84" name="直線單箭頭接點 83"/>
          <p:cNvCxnSpPr/>
          <p:nvPr/>
        </p:nvCxnSpPr>
        <p:spPr>
          <a:xfrm flipV="1">
            <a:off x="11910424" y="768074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6668668" y="3037328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2536190" y="1824990"/>
            <a:ext cx="10785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2800">
                <a:solidFill>
                  <a:schemeClr val="accent1"/>
                </a:solidFill>
                <a:latin typeface="+mj-lt"/>
                <a:cs typeface="+mj-cs"/>
              </a:rPr>
              <a:t>We do not know the correct output length.</a:t>
            </a:r>
          </a:p>
        </p:txBody>
      </p:sp>
      <p:sp>
        <p:nvSpPr>
          <p:cNvPr id="44" name="矩形: 圓角 43"/>
          <p:cNvSpPr/>
          <p:nvPr/>
        </p:nvSpPr>
        <p:spPr>
          <a:xfrm>
            <a:off x="6124127" y="5725966"/>
            <a:ext cx="8281484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12901649" y="1855513"/>
            <a:ext cx="27803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accent1"/>
                </a:solidFill>
                <a:latin typeface="+mj-lt"/>
                <a:cs typeface="+mj-cs"/>
              </a:rPr>
              <a:t>Never stop!</a:t>
            </a:r>
          </a:p>
        </p:txBody>
      </p:sp>
      <p:sp>
        <p:nvSpPr>
          <p:cNvPr id="88" name="投影片編號版面配置區 87"/>
          <p:cNvSpPr>
            <a:spLocks noGrp="1"/>
          </p:cNvSpPr>
          <p:nvPr>
            <p:ph type="sldNum" sz="quarter" idx="12"/>
          </p:nvPr>
        </p:nvSpPr>
        <p:spPr>
          <a:xfrm>
            <a:off x="11309350" y="9523732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11</a:t>
            </a:fld>
            <a:endParaRPr lang="zh-TW" altLang="en-US" sz="100" dirty="0"/>
          </a:p>
        </p:txBody>
      </p:sp>
      <p:sp>
        <p:nvSpPr>
          <p:cNvPr id="3" name="文字方塊 47"/>
          <p:cNvSpPr txBox="1"/>
          <p:nvPr/>
        </p:nvSpPr>
        <p:spPr>
          <a:xfrm>
            <a:off x="6413632" y="2530165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9" name="文字方塊 47"/>
          <p:cNvSpPr txBox="1"/>
          <p:nvPr/>
        </p:nvSpPr>
        <p:spPr>
          <a:xfrm>
            <a:off x="11183620" y="2500630"/>
            <a:ext cx="14287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0" name="文字方塊 47"/>
          <p:cNvSpPr txBox="1"/>
          <p:nvPr/>
        </p:nvSpPr>
        <p:spPr>
          <a:xfrm>
            <a:off x="12828270" y="2508885"/>
            <a:ext cx="14287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class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1" name="文字方塊 79"/>
          <p:cNvSpPr txBox="1"/>
          <p:nvPr/>
        </p:nvSpPr>
        <p:spPr>
          <a:xfrm>
            <a:off x="12729309" y="9251711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3" name="文字方塊 65"/>
          <p:cNvSpPr txBox="1"/>
          <p:nvPr/>
        </p:nvSpPr>
        <p:spPr>
          <a:xfrm>
            <a:off x="6136754" y="922492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4" name="文字方塊 132"/>
          <p:cNvSpPr txBox="1"/>
          <p:nvPr/>
        </p:nvSpPr>
        <p:spPr>
          <a:xfrm>
            <a:off x="1883410" y="9091295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8" grpId="0" bldLvl="0" animBg="1"/>
      <p:bldP spid="39" grpId="0"/>
      <p:bldP spid="45" grpId="0"/>
      <p:bldP spid="86" grpId="0"/>
      <p:bldP spid="87" grpId="0"/>
      <p:bldP spid="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線單箭頭接點 49"/>
          <p:cNvCxnSpPr/>
          <p:nvPr/>
        </p:nvCxnSpPr>
        <p:spPr>
          <a:xfrm flipV="1">
            <a:off x="7547015" y="496739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5" name="矩形: 圓角 44"/>
          <p:cNvSpPr/>
          <p:nvPr/>
        </p:nvSpPr>
        <p:spPr>
          <a:xfrm>
            <a:off x="6777542" y="5736761"/>
            <a:ext cx="8281484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61" name="矩形 60"/>
          <p:cNvSpPr/>
          <p:nvPr/>
        </p:nvSpPr>
        <p:spPr>
          <a:xfrm>
            <a:off x="3290423" y="4325630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2" name="直線單箭頭接點 61"/>
          <p:cNvCxnSpPr/>
          <p:nvPr/>
        </p:nvCxnSpPr>
        <p:spPr>
          <a:xfrm>
            <a:off x="5536670" y="4887761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6161321" y="6719603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6161321" y="4866470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3162300" y="4479369"/>
            <a:ext cx="2383352" cy="4482813"/>
            <a:chOff x="553420" y="2633912"/>
            <a:chExt cx="1588901" cy="2988542"/>
          </a:xfrm>
        </p:grpSpPr>
        <p:sp>
          <p:nvSpPr>
            <p:cNvPr id="21" name="矩形: 圓角 20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4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53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54" name="Picture 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7" name="矩形 56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79" name="直線單箭頭接點 78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群組 36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群組 37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1" name="直線單箭頭接點 80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2" name="直線單箭頭接點 81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直線單箭頭接點 8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線單箭頭接點 86"/>
          <p:cNvCxnSpPr/>
          <p:nvPr/>
        </p:nvCxnSpPr>
        <p:spPr>
          <a:xfrm flipV="1">
            <a:off x="7547015" y="767327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6787320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90" name="矩形 89"/>
          <p:cNvSpPr/>
          <p:nvPr/>
        </p:nvSpPr>
        <p:spPr>
          <a:xfrm>
            <a:off x="7367628" y="3798444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7634279" y="4955318"/>
            <a:ext cx="18507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softmax</a:t>
            </a:r>
            <a:endParaRPr lang="zh-TW" altLang="en-US" sz="3600" dirty="0"/>
          </a:p>
        </p:txBody>
      </p:sp>
      <p:grpSp>
        <p:nvGrpSpPr>
          <p:cNvPr id="17" name="群組 16"/>
          <p:cNvGrpSpPr/>
          <p:nvPr/>
        </p:nvGrpSpPr>
        <p:grpSpPr>
          <a:xfrm>
            <a:off x="7380521" y="8174742"/>
            <a:ext cx="359370" cy="1080000"/>
            <a:chOff x="3445729" y="5741259"/>
            <a:chExt cx="239580" cy="720000"/>
          </a:xfrm>
        </p:grpSpPr>
        <p:sp>
          <p:nvSpPr>
            <p:cNvPr id="77" name="矩形 7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橢圓 15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58" name="直線單箭頭接點 57"/>
          <p:cNvCxnSpPr/>
          <p:nvPr/>
        </p:nvCxnSpPr>
        <p:spPr>
          <a:xfrm>
            <a:off x="7803492" y="4146984"/>
            <a:ext cx="1298553" cy="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左大括弧 59"/>
          <p:cNvSpPr/>
          <p:nvPr/>
        </p:nvSpPr>
        <p:spPr>
          <a:xfrm flipH="1">
            <a:off x="12498210" y="1673184"/>
            <a:ext cx="359369" cy="2781300"/>
          </a:xfrm>
          <a:prstGeom prst="leftBrace">
            <a:avLst>
              <a:gd name="adj1" fmla="val 4429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文字方塊 88"/>
          <p:cNvSpPr txBox="1"/>
          <p:nvPr/>
        </p:nvSpPr>
        <p:spPr>
          <a:xfrm>
            <a:off x="9539934" y="916655"/>
            <a:ext cx="24639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distribution</a:t>
            </a:r>
            <a:endParaRPr lang="zh-TW" altLang="en-US" sz="3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26795" y="460375"/>
            <a:ext cx="72275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600" b="1" dirty="0">
                <a:solidFill>
                  <a:schemeClr val="accent1"/>
                </a:solidFill>
                <a:latin typeface="+mj-lt"/>
                <a:cs typeface="+mj-cs"/>
              </a:rPr>
              <a:t>Adding “Stop Token”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12</a:t>
            </a:fld>
            <a:endParaRPr lang="zh-TW" altLang="en-US" sz="100"/>
          </a:p>
        </p:txBody>
      </p:sp>
      <p:sp>
        <p:nvSpPr>
          <p:cNvPr id="51" name="文字方塊 50"/>
          <p:cNvSpPr txBox="1"/>
          <p:nvPr/>
        </p:nvSpPr>
        <p:spPr>
          <a:xfrm>
            <a:off x="2286002" y="8962182"/>
            <a:ext cx="396239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graphicFrame>
        <p:nvGraphicFramePr>
          <p:cNvPr id="56" name="表格 52"/>
          <p:cNvGraphicFramePr>
            <a:graphicFrameLocks noGrp="1"/>
          </p:cNvGraphicFramePr>
          <p:nvPr/>
        </p:nvGraphicFramePr>
        <p:xfrm>
          <a:off x="9102329" y="1698733"/>
          <a:ext cx="3169920" cy="31572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/>
                        <a:t>love</a:t>
                      </a:r>
                      <a:endParaRPr lang="en-US" altLang="zh-TW" sz="2400" b="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 dirty="0"/>
                        <a:t>I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0.8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4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deep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 dirty="0"/>
                        <a:t>learning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0.1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……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……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400" b="0" dirty="0"/>
                        <a:t>END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400" b="0" dirty="0"/>
                        <a:t>0.0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矩形: 圓角 67"/>
          <p:cNvSpPr/>
          <p:nvPr/>
        </p:nvSpPr>
        <p:spPr>
          <a:xfrm>
            <a:off x="9102045" y="4325580"/>
            <a:ext cx="3169005" cy="509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13109575" y="2717165"/>
            <a:ext cx="3082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Size V</a:t>
            </a:r>
          </a:p>
        </p:txBody>
      </p:sp>
      <p:sp>
        <p:nvSpPr>
          <p:cNvPr id="72" name="文字方塊 71"/>
          <p:cNvSpPr txBox="1"/>
          <p:nvPr/>
        </p:nvSpPr>
        <p:spPr>
          <a:xfrm>
            <a:off x="13084810" y="3276600"/>
            <a:ext cx="4156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(common characters)</a:t>
            </a:r>
          </a:p>
        </p:txBody>
      </p:sp>
      <p:sp>
        <p:nvSpPr>
          <p:cNvPr id="93" name="文字方塊 65"/>
          <p:cNvSpPr txBox="1"/>
          <p:nvPr/>
        </p:nvSpPr>
        <p:spPr>
          <a:xfrm>
            <a:off x="6800329" y="923571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文字方塊 132"/>
          <p:cNvSpPr txBox="1"/>
          <p:nvPr/>
        </p:nvSpPr>
        <p:spPr>
          <a:xfrm>
            <a:off x="2473960" y="9035415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  <p:bldP spid="71" grpId="0"/>
      <p:bldP spid="72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Autoregressive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848386" y="3050647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2469368" y="4325630"/>
            <a:ext cx="2100798" cy="118176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4715615" y="4887761"/>
            <a:ext cx="6177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5340266" y="6719603"/>
            <a:ext cx="5509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340266" y="4866470"/>
            <a:ext cx="0" cy="18231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群組 11"/>
          <p:cNvGrpSpPr/>
          <p:nvPr/>
        </p:nvGrpSpPr>
        <p:grpSpPr>
          <a:xfrm>
            <a:off x="2341245" y="4479369"/>
            <a:ext cx="2383352" cy="4482813"/>
            <a:chOff x="553420" y="2633912"/>
            <a:chExt cx="1588901" cy="2988542"/>
          </a:xfrm>
        </p:grpSpPr>
        <p:sp>
          <p:nvSpPr>
            <p:cNvPr id="13" name="矩形: 圓角 12"/>
            <p:cNvSpPr/>
            <p:nvPr/>
          </p:nvSpPr>
          <p:spPr>
            <a:xfrm>
              <a:off x="553420" y="3459473"/>
              <a:ext cx="1582913" cy="1291009"/>
            </a:xfrm>
            <a:prstGeom prst="roundRect">
              <a:avLst/>
            </a:prstGeom>
            <a:blipFill rotWithShape="1">
              <a:blip r:embed="rId3"/>
              <a:tile tx="0" ty="0" sx="100000" sy="100000" flip="none" algn="tl"/>
            </a:blipFill>
            <a:ln w="381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200" dirty="0"/>
                <a:t>Encoder</a:t>
              </a:r>
              <a:endParaRPr lang="zh-TW" altLang="en-US" sz="4200" dirty="0"/>
            </a:p>
          </p:txBody>
        </p:sp>
        <p:grpSp>
          <p:nvGrpSpPr>
            <p:cNvPr id="14" name="群組 106"/>
            <p:cNvGrpSpPr/>
            <p:nvPr/>
          </p:nvGrpSpPr>
          <p:grpSpPr bwMode="auto">
            <a:xfrm flipH="1">
              <a:off x="628650" y="5096765"/>
              <a:ext cx="1513671" cy="525689"/>
              <a:chOff x="467932" y="3914400"/>
              <a:chExt cx="2909888" cy="576263"/>
            </a:xfrm>
          </p:grpSpPr>
          <p:pic>
            <p:nvPicPr>
              <p:cNvPr id="35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932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3807" y="3914400"/>
                <a:ext cx="1624013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" name="矩形 14"/>
            <p:cNvSpPr/>
            <p:nvPr/>
          </p:nvSpPr>
          <p:spPr>
            <a:xfrm>
              <a:off x="764648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1114984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444296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96860" y="5075754"/>
              <a:ext cx="154466" cy="5256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764648" y="2633912"/>
              <a:ext cx="154466" cy="825561"/>
              <a:chOff x="821798" y="2633912"/>
              <a:chExt cx="154466" cy="825561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821798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4" name="直線單箭頭接點 33"/>
              <p:cNvCxnSpPr/>
              <p:nvPr/>
            </p:nvCxnSpPr>
            <p:spPr>
              <a:xfrm flipV="1">
                <a:off x="900021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群組 19"/>
            <p:cNvGrpSpPr/>
            <p:nvPr/>
          </p:nvGrpSpPr>
          <p:grpSpPr>
            <a:xfrm>
              <a:off x="1104472" y="2633912"/>
              <a:ext cx="154466" cy="825561"/>
              <a:chOff x="1069744" y="2633912"/>
              <a:chExt cx="154466" cy="825561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069744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2" name="直線單箭頭接點 31"/>
              <p:cNvCxnSpPr/>
              <p:nvPr/>
            </p:nvCxnSpPr>
            <p:spPr>
              <a:xfrm flipV="1">
                <a:off x="1146977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群組 20"/>
            <p:cNvGrpSpPr/>
            <p:nvPr/>
          </p:nvGrpSpPr>
          <p:grpSpPr>
            <a:xfrm>
              <a:off x="1444296" y="2633912"/>
              <a:ext cx="154466" cy="825561"/>
              <a:chOff x="1326625" y="2633912"/>
              <a:chExt cx="154466" cy="825561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26625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30" name="直線單箭頭接點 29"/>
              <p:cNvCxnSpPr/>
              <p:nvPr/>
            </p:nvCxnSpPr>
            <p:spPr>
              <a:xfrm flipV="1">
                <a:off x="1401485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群組 21"/>
            <p:cNvGrpSpPr/>
            <p:nvPr/>
          </p:nvGrpSpPr>
          <p:grpSpPr>
            <a:xfrm>
              <a:off x="1784120" y="2633912"/>
              <a:ext cx="154466" cy="825561"/>
              <a:chOff x="1574570" y="2633912"/>
              <a:chExt cx="154466" cy="825561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574570" y="2633912"/>
                <a:ext cx="154466" cy="52568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28" name="直線單箭頭接點 27"/>
              <p:cNvCxnSpPr/>
              <p:nvPr/>
            </p:nvCxnSpPr>
            <p:spPr>
              <a:xfrm flipV="1">
                <a:off x="1651803" y="3159601"/>
                <a:ext cx="0" cy="299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直線單箭頭接點 22"/>
            <p:cNvCxnSpPr/>
            <p:nvPr/>
          </p:nvCxnSpPr>
          <p:spPr>
            <a:xfrm flipV="1">
              <a:off x="86149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 flipV="1">
              <a:off x="1200197" y="4754871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 flipV="1">
              <a:off x="1538902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flipV="1">
              <a:off x="1877608" y="4763182"/>
              <a:ext cx="0" cy="2998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/>
          <p:cNvSpPr txBox="1"/>
          <p:nvPr/>
        </p:nvSpPr>
        <p:spPr>
          <a:xfrm>
            <a:off x="12570860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altLang="zh-TW" sz="100" dirty="0"/>
              <a:t>learning</a:t>
            </a:r>
            <a:endParaRPr lang="zh-TW" altLang="en-US" sz="100" dirty="0"/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13355985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1680629" y="8962182"/>
            <a:ext cx="38133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cxnSp>
        <p:nvCxnSpPr>
          <p:cNvPr id="47" name="直線單箭頭接點 46"/>
          <p:cNvCxnSpPr/>
          <p:nvPr/>
        </p:nvCxnSpPr>
        <p:spPr>
          <a:xfrm flipV="1">
            <a:off x="8410533" y="306446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10050059" y="305826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8150714" y="3041930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52" name="直線單箭頭接點 51"/>
          <p:cNvCxnSpPr/>
          <p:nvPr/>
        </p:nvCxnSpPr>
        <p:spPr>
          <a:xfrm flipV="1">
            <a:off x="11758625" y="30513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9859280" y="3035042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1781166" y="2477517"/>
            <a:ext cx="1458408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learning</a:t>
            </a:r>
            <a:endParaRPr lang="zh-TW" altLang="en-US" sz="100" b="0" dirty="0"/>
          </a:p>
        </p:txBody>
      </p:sp>
      <p:cxnSp>
        <p:nvCxnSpPr>
          <p:cNvPr id="55" name="直線單箭頭接點 54"/>
          <p:cNvCxnSpPr/>
          <p:nvPr/>
        </p:nvCxnSpPr>
        <p:spPr>
          <a:xfrm flipV="1">
            <a:off x="6747731" y="306698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6725960" y="496739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6725960" y="767327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5966265" y="9235349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sp>
        <p:nvSpPr>
          <p:cNvPr id="59" name="矩形 58"/>
          <p:cNvSpPr/>
          <p:nvPr/>
        </p:nvSpPr>
        <p:spPr>
          <a:xfrm>
            <a:off x="6546573" y="3798444"/>
            <a:ext cx="359370" cy="108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60" name="群組 59"/>
          <p:cNvGrpSpPr/>
          <p:nvPr/>
        </p:nvGrpSpPr>
        <p:grpSpPr>
          <a:xfrm>
            <a:off x="6559466" y="8174742"/>
            <a:ext cx="359370" cy="1080000"/>
            <a:chOff x="3445729" y="5741259"/>
            <a:chExt cx="239580" cy="720000"/>
          </a:xfrm>
        </p:grpSpPr>
        <p:sp>
          <p:nvSpPr>
            <p:cNvPr id="61" name="矩形 60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2" name="橢圓 61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3" name="文字方塊 62"/>
          <p:cNvSpPr txBox="1"/>
          <p:nvPr/>
        </p:nvSpPr>
        <p:spPr>
          <a:xfrm>
            <a:off x="6917449" y="2475540"/>
            <a:ext cx="99172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" b="0" dirty="0"/>
              <a:t>I</a:t>
            </a:r>
            <a:endParaRPr lang="zh-TW" altLang="en-US" sz="100" b="0" dirty="0"/>
          </a:p>
        </p:txBody>
      </p:sp>
      <p:cxnSp>
        <p:nvCxnSpPr>
          <p:cNvPr id="64" name="直線單箭頭接點 63"/>
          <p:cNvCxnSpPr/>
          <p:nvPr/>
        </p:nvCxnSpPr>
        <p:spPr>
          <a:xfrm flipV="1">
            <a:off x="8406335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8226948" y="3815010"/>
            <a:ext cx="359370" cy="108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633449" y="926302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67" name="群組 66"/>
          <p:cNvGrpSpPr/>
          <p:nvPr/>
        </p:nvGrpSpPr>
        <p:grpSpPr>
          <a:xfrm>
            <a:off x="8226948" y="8170614"/>
            <a:ext cx="359370" cy="1080000"/>
            <a:chOff x="3445729" y="5741259"/>
            <a:chExt cx="239580" cy="720000"/>
          </a:xfrm>
        </p:grpSpPr>
        <p:sp>
          <p:nvSpPr>
            <p:cNvPr id="68" name="矩形 67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9" name="橢圓 68"/>
            <p:cNvSpPr/>
            <p:nvPr/>
          </p:nvSpPr>
          <p:spPr>
            <a:xfrm>
              <a:off x="3483679" y="5963721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70" name="直線單箭頭接點 69"/>
          <p:cNvCxnSpPr/>
          <p:nvPr/>
        </p:nvCxnSpPr>
        <p:spPr>
          <a:xfrm flipV="1">
            <a:off x="8418873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10073220" y="498395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9893834" y="3815010"/>
            <a:ext cx="359370" cy="108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9300633" y="923534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74" name="群組 73"/>
          <p:cNvGrpSpPr/>
          <p:nvPr/>
        </p:nvGrpSpPr>
        <p:grpSpPr>
          <a:xfrm>
            <a:off x="9893834" y="8170614"/>
            <a:ext cx="359370" cy="1080000"/>
            <a:chOff x="3445729" y="5741259"/>
            <a:chExt cx="239580" cy="720000"/>
          </a:xfrm>
        </p:grpSpPr>
        <p:sp>
          <p:nvSpPr>
            <p:cNvPr id="75" name="矩形 74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76" name="橢圓 75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77" name="直線單箭頭接點 76"/>
          <p:cNvCxnSpPr/>
          <p:nvPr/>
        </p:nvCxnSpPr>
        <p:spPr>
          <a:xfrm flipV="1">
            <a:off x="10085759" y="769232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11740406" y="4983173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1561019" y="3814227"/>
            <a:ext cx="359370" cy="108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10967819" y="9234566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27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deep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81" name="群組 80"/>
          <p:cNvGrpSpPr/>
          <p:nvPr/>
        </p:nvGrpSpPr>
        <p:grpSpPr>
          <a:xfrm>
            <a:off x="11561019" y="8169831"/>
            <a:ext cx="359370" cy="1080000"/>
            <a:chOff x="3445729" y="5741259"/>
            <a:chExt cx="239580" cy="720000"/>
          </a:xfrm>
        </p:grpSpPr>
        <p:sp>
          <p:nvSpPr>
            <p:cNvPr id="82" name="矩形 81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83" name="橢圓 82"/>
            <p:cNvSpPr/>
            <p:nvPr/>
          </p:nvSpPr>
          <p:spPr>
            <a:xfrm>
              <a:off x="3483679" y="6137892"/>
              <a:ext cx="180000" cy="1800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84" name="直線單箭頭接點 83"/>
          <p:cNvCxnSpPr/>
          <p:nvPr/>
        </p:nvCxnSpPr>
        <p:spPr>
          <a:xfrm flipV="1">
            <a:off x="11752944" y="769154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6511188" y="3048123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13340832" y="3110679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/>
          <p:cNvSpPr txBox="1"/>
          <p:nvPr/>
        </p:nvSpPr>
        <p:spPr>
          <a:xfrm>
            <a:off x="13435331" y="2473795"/>
            <a:ext cx="120008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00" dirty="0"/>
              <a:t>END</a:t>
            </a:r>
            <a:endParaRPr lang="zh-TW" altLang="en-US" sz="1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11441487" y="3094343"/>
            <a:ext cx="18507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max</a:t>
            </a:r>
            <a:endParaRPr lang="zh-TW" altLang="en-US" sz="3600" dirty="0"/>
          </a:p>
        </p:txBody>
      </p:sp>
      <p:cxnSp>
        <p:nvCxnSpPr>
          <p:cNvPr id="91" name="直線單箭頭接點 90"/>
          <p:cNvCxnSpPr/>
          <p:nvPr/>
        </p:nvCxnSpPr>
        <p:spPr>
          <a:xfrm flipV="1">
            <a:off x="13404999" y="4983173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13164060" y="3815010"/>
            <a:ext cx="359370" cy="1080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: 圓角 43"/>
          <p:cNvSpPr/>
          <p:nvPr/>
        </p:nvSpPr>
        <p:spPr>
          <a:xfrm>
            <a:off x="5956487" y="5736761"/>
            <a:ext cx="8281484" cy="1936514"/>
          </a:xfrm>
          <a:prstGeom prst="roundRect">
            <a:avLst/>
          </a:prstGeom>
          <a:blipFill rotWithShape="1">
            <a:blip r:embed="rId5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grpSp>
        <p:nvGrpSpPr>
          <p:cNvPr id="86" name="群組 85"/>
          <p:cNvGrpSpPr/>
          <p:nvPr/>
        </p:nvGrpSpPr>
        <p:grpSpPr>
          <a:xfrm>
            <a:off x="13176300" y="8199138"/>
            <a:ext cx="359370" cy="1080000"/>
            <a:chOff x="3445729" y="5741259"/>
            <a:chExt cx="239580" cy="720000"/>
          </a:xfrm>
        </p:grpSpPr>
        <p:sp>
          <p:nvSpPr>
            <p:cNvPr id="87" name="矩形 8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4" name="橢圓 93"/>
            <p:cNvSpPr/>
            <p:nvPr/>
          </p:nvSpPr>
          <p:spPr>
            <a:xfrm>
              <a:off x="3483679" y="5818579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11151870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13</a:t>
            </a:fld>
            <a:endParaRPr lang="zh-TW" altLang="en-US" sz="100"/>
          </a:p>
        </p:txBody>
      </p:sp>
      <p:sp>
        <p:nvSpPr>
          <p:cNvPr id="3" name="文字方塊 86"/>
          <p:cNvSpPr txBox="1"/>
          <p:nvPr/>
        </p:nvSpPr>
        <p:spPr>
          <a:xfrm>
            <a:off x="12481914" y="1855513"/>
            <a:ext cx="27803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Stop at here!</a:t>
            </a:r>
            <a:endParaRPr lang="en-US" altLang="zh-TW" sz="2400" b="1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6" name="文字方塊 47"/>
          <p:cNvSpPr txBox="1"/>
          <p:nvPr/>
        </p:nvSpPr>
        <p:spPr>
          <a:xfrm>
            <a:off x="7916677" y="2462220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love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文字方塊 50"/>
          <p:cNvSpPr txBox="1"/>
          <p:nvPr/>
        </p:nvSpPr>
        <p:spPr>
          <a:xfrm>
            <a:off x="9349192" y="2456027"/>
            <a:ext cx="1502664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deep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文字方塊 47"/>
          <p:cNvSpPr txBox="1"/>
          <p:nvPr/>
        </p:nvSpPr>
        <p:spPr>
          <a:xfrm>
            <a:off x="6283457" y="2485715"/>
            <a:ext cx="9917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8" name="文字方塊 47"/>
          <p:cNvSpPr txBox="1"/>
          <p:nvPr/>
        </p:nvSpPr>
        <p:spPr>
          <a:xfrm>
            <a:off x="11053445" y="2456180"/>
            <a:ext cx="14287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0" name="文字方塊 47"/>
          <p:cNvSpPr txBox="1"/>
          <p:nvPr/>
        </p:nvSpPr>
        <p:spPr>
          <a:xfrm>
            <a:off x="12698095" y="2464435"/>
            <a:ext cx="14287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END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1" name="文字方塊 79"/>
          <p:cNvSpPr txBox="1"/>
          <p:nvPr/>
        </p:nvSpPr>
        <p:spPr>
          <a:xfrm>
            <a:off x="12632154" y="9234566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2" name="文字方塊 65"/>
          <p:cNvSpPr txBox="1"/>
          <p:nvPr/>
        </p:nvSpPr>
        <p:spPr>
          <a:xfrm>
            <a:off x="6006579" y="9235084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5" name="文字方塊 132"/>
          <p:cNvSpPr txBox="1"/>
          <p:nvPr/>
        </p:nvSpPr>
        <p:spPr>
          <a:xfrm>
            <a:off x="1726565" y="9027795"/>
            <a:ext cx="35864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(I love deep learning)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9" grpId="0"/>
      <p:bldP spid="90" grpId="0"/>
      <p:bldP spid="92" grpId="0" bldLvl="0" animBg="1"/>
      <p:bldP spid="3" grpId="0"/>
      <p:bldP spid="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14</a:t>
            </a:fld>
            <a:endParaRPr lang="zh-TW" altLang="en-US" sz="100"/>
          </a:p>
        </p:txBody>
      </p:sp>
      <p:sp>
        <p:nvSpPr>
          <p:cNvPr id="8" name="矩形: 圓角 16"/>
          <p:cNvSpPr/>
          <p:nvPr/>
        </p:nvSpPr>
        <p:spPr>
          <a:xfrm>
            <a:off x="5076567" y="4445382"/>
            <a:ext cx="3768966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矩形: 圓角 22"/>
          <p:cNvSpPr/>
          <p:nvPr/>
        </p:nvSpPr>
        <p:spPr>
          <a:xfrm>
            <a:off x="10454119" y="4445381"/>
            <a:ext cx="3768966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58198" y="6965861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9061764" y="5428866"/>
            <a:ext cx="12759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235751" y="3119388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output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12338602" y="3861416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3"/>
          <p:cNvSpPr/>
          <p:nvPr/>
        </p:nvSpPr>
        <p:spPr>
          <a:xfrm>
            <a:off x="10169391" y="3100580"/>
            <a:ext cx="4338423" cy="3642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Decoder 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– Non-autoregressive (NAT)  </a:t>
            </a:r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10192936" y="0"/>
            <a:ext cx="5808429" cy="472952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14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 rot="10800000" flipH="1">
            <a:off x="2321218" y="6219465"/>
            <a:ext cx="3535199" cy="4075208"/>
            <a:chOff x="-305" y="-4155"/>
            <a:chExt cx="2514948" cy="2174333"/>
          </a:xfrm>
        </p:grpSpPr>
        <p:sp>
          <p:nvSpPr>
            <p:cNvPr id="19" name="Freeform: Shape 1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0" name="直線單箭頭接點 25"/>
          <p:cNvCxnSpPr/>
          <p:nvPr/>
        </p:nvCxnSpPr>
        <p:spPr>
          <a:xfrm flipV="1">
            <a:off x="6794500" y="6485255"/>
            <a:ext cx="0" cy="58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 </a:t>
            </a:r>
            <a:r>
              <a:rPr lang="en-US" altLang="zh-TW" dirty="0" err="1"/>
              <a:t>v.s</a:t>
            </a:r>
            <a:r>
              <a:rPr lang="en-US" altLang="zh-TW" dirty="0"/>
              <a:t>. NAT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4117365" y="501315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5448324" y="503220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6772305" y="503220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8075160" y="5031423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圓角 45"/>
          <p:cNvSpPr/>
          <p:nvPr/>
        </p:nvSpPr>
        <p:spPr>
          <a:xfrm>
            <a:off x="3328844" y="3250005"/>
            <a:ext cx="5424662" cy="1763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AT</a:t>
            </a:r>
            <a:r>
              <a:rPr lang="zh-TW" altLang="en-US" sz="4200" dirty="0"/>
              <a:t> </a:t>
            </a:r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4987986" y="5419711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6277563" y="5436278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331181" y="5467655"/>
            <a:ext cx="15405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START</a:t>
            </a:r>
            <a:endParaRPr lang="en-US" altLang="zh-TW" sz="3200" baseline="-25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7599576" y="5433066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7356581" y="2071845"/>
            <a:ext cx="154057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END</a:t>
            </a:r>
            <a:endParaRPr lang="zh-TW" altLang="en-US" sz="3600" baseline="-25000" dirty="0"/>
          </a:p>
        </p:txBody>
      </p:sp>
      <p:cxnSp>
        <p:nvCxnSpPr>
          <p:cNvPr id="53" name="直線單箭頭接點 52"/>
          <p:cNvCxnSpPr/>
          <p:nvPr/>
        </p:nvCxnSpPr>
        <p:spPr>
          <a:xfrm flipV="1">
            <a:off x="4117365" y="273136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V="1">
            <a:off x="5448324" y="275041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V="1">
            <a:off x="6772305" y="275041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8075160" y="274963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731442" y="1998267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4987986" y="2017506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359738" y="2009223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cxnSp>
        <p:nvCxnSpPr>
          <p:cNvPr id="60" name="直線單箭頭接點 59"/>
          <p:cNvCxnSpPr/>
          <p:nvPr/>
        </p:nvCxnSpPr>
        <p:spPr>
          <a:xfrm flipV="1">
            <a:off x="10404803" y="501315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11735762" y="503220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13059743" y="503220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4362598" y="5031423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圓角 63"/>
          <p:cNvSpPr/>
          <p:nvPr/>
        </p:nvSpPr>
        <p:spPr>
          <a:xfrm>
            <a:off x="9616281" y="3250005"/>
            <a:ext cx="5424662" cy="1763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NAT</a:t>
            </a:r>
            <a:r>
              <a:rPr lang="zh-TW" altLang="en-US" sz="4200" dirty="0"/>
              <a:t> </a:t>
            </a:r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9618618" y="5467655"/>
            <a:ext cx="15405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START</a:t>
            </a:r>
            <a:endParaRPr lang="en-US" altLang="zh-TW" sz="3200" baseline="-25000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13644018" y="2071845"/>
            <a:ext cx="154057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4</a:t>
            </a:r>
            <a:endParaRPr lang="zh-TW" altLang="en-US" sz="3600" baseline="-25000" dirty="0"/>
          </a:p>
        </p:txBody>
      </p:sp>
      <p:cxnSp>
        <p:nvCxnSpPr>
          <p:cNvPr id="70" name="直線單箭頭接點 69"/>
          <p:cNvCxnSpPr/>
          <p:nvPr/>
        </p:nvCxnSpPr>
        <p:spPr>
          <a:xfrm flipV="1">
            <a:off x="10404803" y="273136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11735762" y="275041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13059743" y="2750414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14362598" y="2749631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0018880" y="1998267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11275424" y="2017506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2647175" y="2009223"/>
            <a:ext cx="96440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10961985" y="5467653"/>
            <a:ext cx="15405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START</a:t>
            </a:r>
            <a:endParaRPr lang="en-US" altLang="zh-TW" sz="32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12285273" y="5467652"/>
            <a:ext cx="15405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START</a:t>
            </a:r>
            <a:endParaRPr lang="en-US" altLang="zh-TW" sz="32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3680642" y="5467652"/>
            <a:ext cx="15405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START</a:t>
            </a:r>
            <a:endParaRPr lang="en-US" altLang="zh-TW" sz="3200" baseline="-25000" dirty="0"/>
          </a:p>
        </p:txBody>
      </p:sp>
      <p:sp>
        <p:nvSpPr>
          <p:cNvPr id="3" name="矩形: 圓角 2"/>
          <p:cNvSpPr/>
          <p:nvPr/>
        </p:nvSpPr>
        <p:spPr>
          <a:xfrm>
            <a:off x="12423339" y="1974341"/>
            <a:ext cx="1264443" cy="68391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END</a:t>
            </a:r>
            <a:endParaRPr lang="zh-TW" altLang="en-US" sz="3600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2712720" y="6309360"/>
            <a:ext cx="16084550" cy="3017520"/>
          </a:xfrm>
        </p:spPr>
        <p:txBody>
          <a:bodyPr/>
          <a:lstStyle/>
          <a:p>
            <a:r>
              <a:rPr lang="en-US" altLang="zh-TW" sz="3600" dirty="0">
                <a:sym typeface="+mn-ea"/>
              </a:rPr>
              <a:t>How to decide the output length for NAT</a:t>
            </a:r>
            <a:r>
              <a:rPr lang="zh-TW" altLang="en-US" sz="3600" dirty="0">
                <a:sym typeface="+mn-ea"/>
              </a:rPr>
              <a:t> </a:t>
            </a:r>
            <a:r>
              <a:rPr lang="en-US" altLang="zh-TW" sz="3600" dirty="0">
                <a:sym typeface="+mn-ea"/>
              </a:rPr>
              <a:t>decoder?</a:t>
            </a:r>
          </a:p>
          <a:p>
            <a:pPr lvl="1"/>
            <a:r>
              <a:rPr lang="en-US" altLang="zh-TW" sz="3200" dirty="0">
                <a:sym typeface="+mn-ea"/>
              </a:rPr>
              <a:t>Another predictor for output length  </a:t>
            </a:r>
            <a:endParaRPr lang="en-US" altLang="zh-TW" sz="3200" dirty="0"/>
          </a:p>
          <a:p>
            <a:pPr lvl="1"/>
            <a:r>
              <a:rPr lang="en-US" altLang="zh-TW" sz="3200" dirty="0">
                <a:sym typeface="+mn-ea"/>
              </a:rPr>
              <a:t>Output a very long sequence, ignore tokens after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內容版面配置區 2"/>
          <p:cNvSpPr>
            <a:spLocks noGrp="1"/>
          </p:cNvSpPr>
          <p:nvPr/>
        </p:nvSpPr>
        <p:spPr>
          <a:xfrm>
            <a:off x="2712720" y="8531860"/>
            <a:ext cx="16084550" cy="18808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200" dirty="0">
                <a:sym typeface="+mn-ea"/>
              </a:rPr>
              <a:t>Advantage: parallel, more stable generation </a:t>
            </a:r>
          </a:p>
          <a:p>
            <a:r>
              <a:rPr lang="zh-TW" altLang="en-US" sz="3200" dirty="0">
                <a:sym typeface="+mn-ea"/>
              </a:rPr>
              <a:t>NAT </a:t>
            </a:r>
            <a:r>
              <a:rPr lang="en-US" altLang="zh-TW" sz="3200" dirty="0">
                <a:sym typeface="+mn-ea"/>
              </a:rPr>
              <a:t>is usually worse than AT</a:t>
            </a:r>
            <a:endParaRPr lang="en-US" altLang="zh-TW" sz="3200" dirty="0"/>
          </a:p>
          <a:p>
            <a:endParaRPr lang="en-US" altLang="zh-TW" sz="3200" dirty="0"/>
          </a:p>
          <a:p>
            <a:pPr marL="0" indent="0">
              <a:buNone/>
            </a:pPr>
            <a:endParaRPr lang="en-US" altLang="zh-TW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7" grpId="0"/>
      <p:bldP spid="48" grpId="0"/>
      <p:bldP spid="49" grpId="0"/>
      <p:bldP spid="50" grpId="0"/>
      <p:bldP spid="52" grpId="0"/>
      <p:bldP spid="57" grpId="0"/>
      <p:bldP spid="58" grpId="0"/>
      <p:bldP spid="59" grpId="0"/>
      <p:bldP spid="64" grpId="0" bldLvl="0" animBg="1"/>
      <p:bldP spid="67" grpId="0"/>
      <p:bldP spid="69" grpId="0"/>
      <p:bldP spid="74" grpId="0"/>
      <p:bldP spid="75" grpId="0"/>
      <p:bldP spid="76" grpId="0"/>
      <p:bldP spid="77" grpId="0"/>
      <p:bldP spid="78" grpId="0"/>
      <p:bldP spid="79" grpId="0"/>
      <p:bldP spid="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16</a:t>
            </a:fld>
            <a:endParaRPr lang="zh-TW" altLang="en-US" sz="100"/>
          </a:p>
        </p:txBody>
      </p:sp>
      <p:sp>
        <p:nvSpPr>
          <p:cNvPr id="8" name="矩形: 圓角 16"/>
          <p:cNvSpPr/>
          <p:nvPr/>
        </p:nvSpPr>
        <p:spPr>
          <a:xfrm>
            <a:off x="5076567" y="4445382"/>
            <a:ext cx="3768966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矩形: 圓角 22"/>
          <p:cNvSpPr/>
          <p:nvPr/>
        </p:nvSpPr>
        <p:spPr>
          <a:xfrm>
            <a:off x="10454119" y="4445381"/>
            <a:ext cx="3768966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58198" y="6965861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9061764" y="5428866"/>
            <a:ext cx="12759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235751" y="3119388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output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12338602" y="3861416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Encoder-Decoder  </a:t>
            </a:r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10192936" y="0"/>
            <a:ext cx="5808429" cy="472952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14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 rot="10800000" flipH="1">
            <a:off x="2321218" y="6219465"/>
            <a:ext cx="3535199" cy="4075208"/>
            <a:chOff x="-305" y="-4155"/>
            <a:chExt cx="2514948" cy="2174333"/>
          </a:xfrm>
        </p:grpSpPr>
        <p:sp>
          <p:nvSpPr>
            <p:cNvPr id="19" name="Freeform: Shape 1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矩形: 圓角 3"/>
          <p:cNvSpPr/>
          <p:nvPr/>
        </p:nvSpPr>
        <p:spPr>
          <a:xfrm>
            <a:off x="4874816" y="3056978"/>
            <a:ext cx="9649616" cy="47295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0" name="直線單箭頭接點 25"/>
          <p:cNvCxnSpPr/>
          <p:nvPr/>
        </p:nvCxnSpPr>
        <p:spPr>
          <a:xfrm flipV="1">
            <a:off x="6794500" y="6485255"/>
            <a:ext cx="0" cy="58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Content Placeholder 99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5670" y="781685"/>
            <a:ext cx="6862445" cy="9029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: 圓角 8"/>
          <p:cNvSpPr/>
          <p:nvPr/>
        </p:nvSpPr>
        <p:spPr>
          <a:xfrm>
            <a:off x="8724899" y="5899472"/>
            <a:ext cx="1092995" cy="2643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17</a:t>
            </a:fld>
            <a:endParaRPr lang="zh-TW" altLang="en-US" sz="100"/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750570" y="2636520"/>
            <a:ext cx="3691890" cy="994410"/>
          </a:xfrm>
        </p:spPr>
        <p:txBody>
          <a:bodyPr/>
          <a:lstStyle/>
          <a:p>
            <a:r>
              <a:rPr lang="en-US" altLang="zh-TW" sz="4000" dirty="0"/>
              <a:t>Encoder</a:t>
            </a:r>
          </a:p>
        </p:txBody>
      </p:sp>
      <p:sp>
        <p:nvSpPr>
          <p:cNvPr id="14" name="標題 1"/>
          <p:cNvSpPr>
            <a:spLocks noGrp="1"/>
          </p:cNvSpPr>
          <p:nvPr/>
        </p:nvSpPr>
        <p:spPr>
          <a:xfrm>
            <a:off x="11800205" y="5899785"/>
            <a:ext cx="3042920" cy="8039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sz="4000" dirty="0"/>
              <a:t>Decoder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920490" y="3543935"/>
            <a:ext cx="1645920" cy="1159510"/>
          </a:xfrm>
          <a:prstGeom prst="straightConnector1">
            <a:avLst/>
          </a:prstGeom>
          <a:ln w="381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0506075" y="6406515"/>
            <a:ext cx="1685290" cy="565785"/>
          </a:xfrm>
          <a:prstGeom prst="straightConnector1">
            <a:avLst/>
          </a:prstGeom>
          <a:ln w="381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TW" dirty="0">
                <a:sym typeface="+mn-ea"/>
              </a:rPr>
              <a:t>Transformer</a:t>
            </a:r>
          </a:p>
        </p:txBody>
      </p:sp>
      <p:sp>
        <p:nvSpPr>
          <p:cNvPr id="7" name="矩形: 圓角 6"/>
          <p:cNvSpPr/>
          <p:nvPr/>
        </p:nvSpPr>
        <p:spPr>
          <a:xfrm>
            <a:off x="8259140" y="3999428"/>
            <a:ext cx="2247035" cy="16968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516553" y="2982740"/>
            <a:ext cx="242614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Cross attention</a:t>
            </a:r>
            <a:endParaRPr lang="zh-TW" altLang="en-US" sz="3600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10481945" y="3630930"/>
            <a:ext cx="1106170" cy="7429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8364416" y="4971098"/>
            <a:ext cx="463355" cy="421170"/>
          </a:xfrm>
          <a:prstGeom prst="ellipse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8971940" y="4971098"/>
            <a:ext cx="463355" cy="421170"/>
          </a:xfrm>
          <a:prstGeom prst="ellipse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" name="橢圓 12"/>
          <p:cNvSpPr/>
          <p:nvPr/>
        </p:nvSpPr>
        <p:spPr>
          <a:xfrm>
            <a:off x="9577484" y="4960538"/>
            <a:ext cx="463355" cy="42117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8" grpId="0"/>
      <p:bldP spid="11" grpId="0" bldLvl="0" animBg="1"/>
      <p:bldP spid="12" grpId="0" bldLvl="0" animBg="1"/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直線單箭頭接點 279"/>
          <p:cNvCxnSpPr/>
          <p:nvPr/>
        </p:nvCxnSpPr>
        <p:spPr>
          <a:xfrm flipV="1">
            <a:off x="11335224" y="420197"/>
            <a:ext cx="0" cy="568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單箭頭接點 276"/>
          <p:cNvCxnSpPr/>
          <p:nvPr/>
        </p:nvCxnSpPr>
        <p:spPr>
          <a:xfrm flipV="1">
            <a:off x="7123371" y="2203916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單箭頭接點 277"/>
          <p:cNvCxnSpPr/>
          <p:nvPr/>
        </p:nvCxnSpPr>
        <p:spPr>
          <a:xfrm flipV="1">
            <a:off x="4734455" y="2203916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線單箭頭接點 225"/>
          <p:cNvCxnSpPr/>
          <p:nvPr/>
        </p:nvCxnSpPr>
        <p:spPr>
          <a:xfrm flipV="1">
            <a:off x="11381280" y="8468498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>
            <a:stCxn id="170" idx="0"/>
            <a:endCxn id="46" idx="4"/>
          </p:cNvCxnSpPr>
          <p:nvPr/>
        </p:nvCxnSpPr>
        <p:spPr>
          <a:xfrm flipH="1" flipV="1">
            <a:off x="8306603" y="3663041"/>
            <a:ext cx="3062724" cy="122162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 flipV="1">
            <a:off x="4242674" y="6084815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3726939" y="606637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4756496" y="565913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8171603" y="3393041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5" name="直線單箭頭接點 64"/>
          <p:cNvCxnSpPr/>
          <p:nvPr/>
        </p:nvCxnSpPr>
        <p:spPr>
          <a:xfrm flipV="1">
            <a:off x="11328842" y="1485519"/>
            <a:ext cx="0" cy="568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endCxn id="73" idx="2"/>
          </p:cNvCxnSpPr>
          <p:nvPr/>
        </p:nvCxnSpPr>
        <p:spPr>
          <a:xfrm flipH="1" flipV="1">
            <a:off x="4734456" y="3742928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4510668" y="3277908"/>
            <a:ext cx="447575" cy="465020"/>
            <a:chOff x="-105878" y="1740168"/>
            <a:chExt cx="461666" cy="461665"/>
          </a:xfrm>
        </p:grpSpPr>
        <p:sp>
          <p:nvSpPr>
            <p:cNvPr id="73" name="矩形 72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4" name="群組 7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75" name="直線接點 7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3" name="直線單箭頭接點 82"/>
          <p:cNvCxnSpPr/>
          <p:nvPr/>
        </p:nvCxnSpPr>
        <p:spPr>
          <a:xfrm flipV="1">
            <a:off x="9400091" y="2217860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>
            <a:off x="3858639" y="3510417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4706676" y="2223486"/>
            <a:ext cx="640873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群組 114"/>
          <p:cNvGrpSpPr/>
          <p:nvPr/>
        </p:nvGrpSpPr>
        <p:grpSpPr>
          <a:xfrm>
            <a:off x="3723458" y="6430190"/>
            <a:ext cx="1072742" cy="810000"/>
            <a:chOff x="973803" y="4896393"/>
            <a:chExt cx="715161" cy="540000"/>
          </a:xfrm>
        </p:grpSpPr>
        <p:sp>
          <p:nvSpPr>
            <p:cNvPr id="114" name="矩形 113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01" name="文字方塊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7" name="直線單箭頭接點 126"/>
          <p:cNvCxnSpPr/>
          <p:nvPr/>
        </p:nvCxnSpPr>
        <p:spPr>
          <a:xfrm flipV="1">
            <a:off x="3702408" y="5677574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 flipH="1" flipV="1">
            <a:off x="6587673" y="6104109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V="1">
            <a:off x="7101495" y="567843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群組 138"/>
          <p:cNvGrpSpPr/>
          <p:nvPr/>
        </p:nvGrpSpPr>
        <p:grpSpPr>
          <a:xfrm>
            <a:off x="6068457" y="6449484"/>
            <a:ext cx="1072742" cy="810000"/>
            <a:chOff x="973803" y="4896393"/>
            <a:chExt cx="715161" cy="540000"/>
          </a:xfrm>
        </p:grpSpPr>
        <p:sp>
          <p:nvSpPr>
            <p:cNvPr id="140" name="矩形 139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字方塊 140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1" name="文字方塊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2" name="直線單箭頭接點 141"/>
          <p:cNvCxnSpPr/>
          <p:nvPr/>
        </p:nvCxnSpPr>
        <p:spPr>
          <a:xfrm flipV="1">
            <a:off x="6047408" y="569686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 flipH="1" flipV="1">
            <a:off x="8868336" y="6101906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 flipV="1">
            <a:off x="9382158" y="5676227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群組 151"/>
          <p:cNvGrpSpPr/>
          <p:nvPr/>
        </p:nvGrpSpPr>
        <p:grpSpPr>
          <a:xfrm>
            <a:off x="8349120" y="6447281"/>
            <a:ext cx="1072742" cy="810000"/>
            <a:chOff x="973803" y="4896393"/>
            <a:chExt cx="715161" cy="540000"/>
          </a:xfrm>
        </p:grpSpPr>
        <p:sp>
          <p:nvSpPr>
            <p:cNvPr id="153" name="矩形 152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字方塊 153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54" name="文字方塊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直線單箭頭接點 154"/>
          <p:cNvCxnSpPr/>
          <p:nvPr/>
        </p:nvCxnSpPr>
        <p:spPr>
          <a:xfrm flipV="1">
            <a:off x="8328071" y="569466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群組 168"/>
          <p:cNvGrpSpPr/>
          <p:nvPr/>
        </p:nvGrpSpPr>
        <p:grpSpPr>
          <a:xfrm>
            <a:off x="10865688" y="4884665"/>
            <a:ext cx="1072742" cy="810000"/>
            <a:chOff x="1526126" y="3842357"/>
            <a:chExt cx="715161" cy="540000"/>
          </a:xfrm>
        </p:grpSpPr>
        <p:sp>
          <p:nvSpPr>
            <p:cNvPr id="170" name="矩形 169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字方塊 170"/>
                <p:cNvSpPr txBox="1"/>
                <p:nvPr/>
              </p:nvSpPr>
              <p:spPr>
                <a:xfrm>
                  <a:off x="1526126" y="3879900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1" name="文字方塊 1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10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7" name="直線單箭頭接點 176"/>
          <p:cNvCxnSpPr/>
          <p:nvPr/>
        </p:nvCxnSpPr>
        <p:spPr>
          <a:xfrm flipV="1">
            <a:off x="11393520" y="5747103"/>
            <a:ext cx="0" cy="769235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群組 177"/>
          <p:cNvGrpSpPr/>
          <p:nvPr/>
        </p:nvGrpSpPr>
        <p:grpSpPr>
          <a:xfrm>
            <a:off x="10890315" y="6483065"/>
            <a:ext cx="1072742" cy="810000"/>
            <a:chOff x="973803" y="4896393"/>
            <a:chExt cx="715161" cy="540000"/>
          </a:xfrm>
        </p:grpSpPr>
        <p:sp>
          <p:nvSpPr>
            <p:cNvPr id="179" name="矩形 178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p:sp>
          <p:nvSpPr>
            <p:cNvPr id="180" name="文字方塊 179"/>
            <p:cNvSpPr txBox="1"/>
            <p:nvPr/>
          </p:nvSpPr>
          <p:spPr>
            <a:xfrm>
              <a:off x="973803" y="4942431"/>
              <a:ext cx="71516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3600" b="1" dirty="0"/>
            </a:p>
          </p:txBody>
        </p:sp>
      </p:grpSp>
      <p:grpSp>
        <p:nvGrpSpPr>
          <p:cNvPr id="199" name="群組 198"/>
          <p:cNvGrpSpPr/>
          <p:nvPr/>
        </p:nvGrpSpPr>
        <p:grpSpPr>
          <a:xfrm>
            <a:off x="10832955" y="1818486"/>
            <a:ext cx="1072742" cy="810000"/>
            <a:chOff x="973803" y="4896393"/>
            <a:chExt cx="715161" cy="540000"/>
          </a:xfrm>
        </p:grpSpPr>
        <p:sp>
          <p:nvSpPr>
            <p:cNvPr id="200" name="矩形 199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字方塊 200"/>
                <p:cNvSpPr txBox="1"/>
                <p:nvPr/>
              </p:nvSpPr>
              <p:spPr>
                <a:xfrm>
                  <a:off x="973803" y="4942431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01" name="文字方塊 2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10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2" name="矩形: 圓角 201"/>
          <p:cNvSpPr/>
          <p:nvPr/>
        </p:nvSpPr>
        <p:spPr>
          <a:xfrm>
            <a:off x="10728486" y="747096"/>
            <a:ext cx="1200711" cy="705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grpSp>
        <p:nvGrpSpPr>
          <p:cNvPr id="206" name="群組 106"/>
          <p:cNvGrpSpPr/>
          <p:nvPr/>
        </p:nvGrpSpPr>
        <p:grpSpPr bwMode="auto">
          <a:xfrm flipH="1">
            <a:off x="3583436" y="9147603"/>
            <a:ext cx="5980046" cy="788534"/>
            <a:chOff x="467932" y="3914400"/>
            <a:chExt cx="2909888" cy="576263"/>
          </a:xfrm>
        </p:grpSpPr>
        <p:pic>
          <p:nvPicPr>
            <p:cNvPr id="207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32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807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10" name="直線單箭頭接點 209"/>
          <p:cNvCxnSpPr/>
          <p:nvPr/>
        </p:nvCxnSpPr>
        <p:spPr>
          <a:xfrm flipV="1">
            <a:off x="4221909" y="7278167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單箭頭接點 210"/>
          <p:cNvCxnSpPr/>
          <p:nvPr/>
        </p:nvCxnSpPr>
        <p:spPr>
          <a:xfrm flipV="1">
            <a:off x="6609444" y="7240944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單箭頭接點 211"/>
          <p:cNvCxnSpPr/>
          <p:nvPr/>
        </p:nvCxnSpPr>
        <p:spPr>
          <a:xfrm flipV="1">
            <a:off x="8885490" y="7278165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單箭頭接點 215"/>
          <p:cNvCxnSpPr/>
          <p:nvPr/>
        </p:nvCxnSpPr>
        <p:spPr>
          <a:xfrm flipV="1">
            <a:off x="4225422" y="8787803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單箭頭接點 216"/>
          <p:cNvCxnSpPr/>
          <p:nvPr/>
        </p:nvCxnSpPr>
        <p:spPr>
          <a:xfrm flipV="1">
            <a:off x="6627135" y="8797452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單箭頭接點 217"/>
          <p:cNvCxnSpPr/>
          <p:nvPr/>
        </p:nvCxnSpPr>
        <p:spPr>
          <a:xfrm flipV="1">
            <a:off x="8885490" y="8755641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4106060" y="9172421"/>
            <a:ext cx="231699" cy="788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4" name="矩形 213"/>
          <p:cNvSpPr/>
          <p:nvPr/>
        </p:nvSpPr>
        <p:spPr>
          <a:xfrm>
            <a:off x="6489515" y="9140259"/>
            <a:ext cx="231699" cy="7885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5" name="矩形 214"/>
          <p:cNvSpPr/>
          <p:nvPr/>
        </p:nvSpPr>
        <p:spPr>
          <a:xfrm>
            <a:off x="8760389" y="9144363"/>
            <a:ext cx="231699" cy="7885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6" name="矩形: 圓角 195"/>
          <p:cNvSpPr/>
          <p:nvPr/>
        </p:nvSpPr>
        <p:spPr>
          <a:xfrm>
            <a:off x="3266009" y="7717928"/>
            <a:ext cx="6596391" cy="1040379"/>
          </a:xfrm>
          <a:prstGeom prst="roundRect">
            <a:avLst/>
          </a:prstGeom>
          <a:blipFill rotWithShape="1">
            <a:blip r:embed="rId9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Encoder</a:t>
            </a:r>
            <a:endParaRPr lang="zh-TW" altLang="en-US" sz="3600" dirty="0"/>
          </a:p>
        </p:txBody>
      </p:sp>
      <p:sp>
        <p:nvSpPr>
          <p:cNvPr id="222" name="文字方塊 221"/>
          <p:cNvSpPr txBox="1"/>
          <p:nvPr/>
        </p:nvSpPr>
        <p:spPr>
          <a:xfrm>
            <a:off x="9869169" y="9175836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grpSp>
        <p:nvGrpSpPr>
          <p:cNvPr id="223" name="群組 222"/>
          <p:cNvGrpSpPr/>
          <p:nvPr/>
        </p:nvGrpSpPr>
        <p:grpSpPr>
          <a:xfrm>
            <a:off x="11201595" y="8877041"/>
            <a:ext cx="359370" cy="1080000"/>
            <a:chOff x="3445729" y="5741259"/>
            <a:chExt cx="239580" cy="720000"/>
          </a:xfrm>
        </p:grpSpPr>
        <p:sp>
          <p:nvSpPr>
            <p:cNvPr id="224" name="矩形 223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5" name="橢圓 224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227" name="直線單箭頭接點 226"/>
          <p:cNvCxnSpPr/>
          <p:nvPr/>
        </p:nvCxnSpPr>
        <p:spPr>
          <a:xfrm flipV="1">
            <a:off x="11381280" y="7333310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橢圓 230"/>
          <p:cNvSpPr/>
          <p:nvPr/>
        </p:nvSpPr>
        <p:spPr>
          <a:xfrm>
            <a:off x="5917349" y="33840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3" name="橢圓 232"/>
          <p:cNvSpPr/>
          <p:nvPr/>
        </p:nvSpPr>
        <p:spPr>
          <a:xfrm>
            <a:off x="3552468" y="332681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34" name="直線單箭頭接點 233"/>
          <p:cNvCxnSpPr>
            <a:stCxn id="13" idx="0"/>
          </p:cNvCxnSpPr>
          <p:nvPr/>
        </p:nvCxnSpPr>
        <p:spPr>
          <a:xfrm flipH="1" flipV="1">
            <a:off x="3707041" y="3619916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/>
              <p:cNvSpPr txBox="1"/>
              <p:nvPr/>
            </p:nvSpPr>
            <p:spPr>
              <a:xfrm>
                <a:off x="3453558" y="2713728"/>
                <a:ext cx="53276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5" name="文字方塊 2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558" y="2713728"/>
                <a:ext cx="532765" cy="553720"/>
              </a:xfrm>
              <a:prstGeom prst="rect">
                <a:avLst/>
              </a:prstGeom>
              <a:blipFill rotWithShape="1">
                <a:blip r:embed="rId10"/>
                <a:stretch>
                  <a:fillRect l="-80" t="-67" r="-14342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/>
              <p:cNvSpPr txBox="1"/>
              <p:nvPr/>
            </p:nvSpPr>
            <p:spPr>
              <a:xfrm>
                <a:off x="5837531" y="2724617"/>
                <a:ext cx="5384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6" name="文字方塊 2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531" y="2724617"/>
                <a:ext cx="538480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113" t="-84" r="-13566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字方塊 236"/>
              <p:cNvSpPr txBox="1"/>
              <p:nvPr/>
            </p:nvSpPr>
            <p:spPr>
              <a:xfrm>
                <a:off x="8047328" y="2735502"/>
                <a:ext cx="53848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7" name="文字方塊 2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328" y="2735502"/>
                <a:ext cx="538480" cy="556260"/>
              </a:xfrm>
              <a:prstGeom prst="rect">
                <a:avLst/>
              </a:prstGeom>
              <a:blipFill rotWithShape="1">
                <a:blip r:embed="rId12"/>
                <a:stretch>
                  <a:fillRect l="-113" t="-100" r="-13566" b="1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直線單箭頭接點 238"/>
          <p:cNvCxnSpPr>
            <a:stCxn id="170" idx="0"/>
            <a:endCxn id="233" idx="4"/>
          </p:cNvCxnSpPr>
          <p:nvPr/>
        </p:nvCxnSpPr>
        <p:spPr>
          <a:xfrm flipH="1" flipV="1">
            <a:off x="3687468" y="3596810"/>
            <a:ext cx="7681859" cy="128785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單箭頭接點 241"/>
          <p:cNvCxnSpPr>
            <a:stCxn id="170" idx="0"/>
            <a:endCxn id="231" idx="4"/>
          </p:cNvCxnSpPr>
          <p:nvPr/>
        </p:nvCxnSpPr>
        <p:spPr>
          <a:xfrm flipH="1" flipV="1">
            <a:off x="6052349" y="3654030"/>
            <a:ext cx="5316978" cy="123063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單箭頭接點 249"/>
          <p:cNvCxnSpPr/>
          <p:nvPr/>
        </p:nvCxnSpPr>
        <p:spPr>
          <a:xfrm flipH="1" flipV="1">
            <a:off x="6034734" y="3633860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/>
          <p:cNvCxnSpPr/>
          <p:nvPr/>
        </p:nvCxnSpPr>
        <p:spPr>
          <a:xfrm flipH="1" flipV="1">
            <a:off x="8324295" y="3663458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線單箭頭接點 258"/>
          <p:cNvCxnSpPr>
            <a:endCxn id="261" idx="2"/>
          </p:cNvCxnSpPr>
          <p:nvPr/>
        </p:nvCxnSpPr>
        <p:spPr>
          <a:xfrm flipH="1" flipV="1">
            <a:off x="7095882" y="3819368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群組 259"/>
          <p:cNvGrpSpPr/>
          <p:nvPr/>
        </p:nvGrpSpPr>
        <p:grpSpPr>
          <a:xfrm>
            <a:off x="6872094" y="3354348"/>
            <a:ext cx="447575" cy="465020"/>
            <a:chOff x="-105878" y="1740168"/>
            <a:chExt cx="461666" cy="461665"/>
          </a:xfrm>
        </p:grpSpPr>
        <p:sp>
          <p:nvSpPr>
            <p:cNvPr id="261" name="矩形 26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62" name="群組 261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63" name="直線接點 26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線接點 263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6" name="直線單箭頭接點 265"/>
          <p:cNvCxnSpPr/>
          <p:nvPr/>
        </p:nvCxnSpPr>
        <p:spPr>
          <a:xfrm flipH="1" flipV="1">
            <a:off x="9389559" y="3804393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群組 266"/>
          <p:cNvGrpSpPr/>
          <p:nvPr/>
        </p:nvGrpSpPr>
        <p:grpSpPr>
          <a:xfrm>
            <a:off x="9144000" y="3339374"/>
            <a:ext cx="447575" cy="465020"/>
            <a:chOff x="-105878" y="1740168"/>
            <a:chExt cx="461666" cy="461665"/>
          </a:xfrm>
        </p:grpSpPr>
        <p:sp>
          <p:nvSpPr>
            <p:cNvPr id="268" name="矩形 267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69" name="群組 268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70" name="直線接點 269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線接點 270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4" name="直線單箭頭接點 273"/>
          <p:cNvCxnSpPr/>
          <p:nvPr/>
        </p:nvCxnSpPr>
        <p:spPr>
          <a:xfrm>
            <a:off x="6243177" y="3559416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單箭頭接點 274"/>
          <p:cNvCxnSpPr/>
          <p:nvPr/>
        </p:nvCxnSpPr>
        <p:spPr>
          <a:xfrm>
            <a:off x="8502069" y="3550112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矩形: 圓角 197"/>
          <p:cNvSpPr/>
          <p:nvPr/>
        </p:nvSpPr>
        <p:spPr>
          <a:xfrm>
            <a:off x="10804502" y="7659455"/>
            <a:ext cx="4594485" cy="788534"/>
          </a:xfrm>
          <a:prstGeom prst="roundRect">
            <a:avLst/>
          </a:prstGeom>
          <a:blipFill rotWithShape="1">
            <a:blip r:embed="rId1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Self-attention (Mask)</a:t>
            </a:r>
            <a:endParaRPr lang="zh-TW" altLang="en-US" sz="3600" dirty="0"/>
          </a:p>
        </p:txBody>
      </p:sp>
      <p:sp>
        <p:nvSpPr>
          <p:cNvPr id="282" name="左大括弧 281"/>
          <p:cNvSpPr/>
          <p:nvPr/>
        </p:nvSpPr>
        <p:spPr>
          <a:xfrm flipH="1">
            <a:off x="12233063" y="1818486"/>
            <a:ext cx="864143" cy="4733637"/>
          </a:xfrm>
          <a:prstGeom prst="leftBrace">
            <a:avLst>
              <a:gd name="adj1" fmla="val 2353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3" name="文字方塊 282"/>
          <p:cNvSpPr txBox="1"/>
          <p:nvPr/>
        </p:nvSpPr>
        <p:spPr>
          <a:xfrm>
            <a:off x="13283178" y="3487215"/>
            <a:ext cx="242614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Cross attention</a:t>
            </a:r>
            <a:endParaRPr lang="zh-TW" altLang="en-US" sz="3600" dirty="0"/>
          </a:p>
        </p:txBody>
      </p:sp>
      <p:grpSp>
        <p:nvGrpSpPr>
          <p:cNvPr id="129" name="群組 128"/>
          <p:cNvGrpSpPr/>
          <p:nvPr/>
        </p:nvGrpSpPr>
        <p:grpSpPr>
          <a:xfrm>
            <a:off x="4249728" y="4825889"/>
            <a:ext cx="1072742" cy="810000"/>
            <a:chOff x="1526126" y="3842357"/>
            <a:chExt cx="715161" cy="540000"/>
          </a:xfrm>
        </p:grpSpPr>
        <p:sp>
          <p:nvSpPr>
            <p:cNvPr id="10" name="矩形 9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1" name="文字方塊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群組 127"/>
          <p:cNvGrpSpPr/>
          <p:nvPr/>
        </p:nvGrpSpPr>
        <p:grpSpPr>
          <a:xfrm>
            <a:off x="3170703" y="4828176"/>
            <a:ext cx="1072742" cy="810000"/>
            <a:chOff x="964022" y="3842357"/>
            <a:chExt cx="715161" cy="540000"/>
          </a:xfrm>
        </p:grpSpPr>
        <p:sp>
          <p:nvSpPr>
            <p:cNvPr id="12" name="矩形 11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群組 129"/>
          <p:cNvGrpSpPr/>
          <p:nvPr/>
        </p:nvGrpSpPr>
        <p:grpSpPr>
          <a:xfrm>
            <a:off x="6594728" y="4845183"/>
            <a:ext cx="1072742" cy="810000"/>
            <a:chOff x="1526126" y="3842357"/>
            <a:chExt cx="715161" cy="540000"/>
          </a:xfrm>
        </p:grpSpPr>
        <p:sp>
          <p:nvSpPr>
            <p:cNvPr id="131" name="矩形 130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2" name="文字方塊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群組 132"/>
          <p:cNvGrpSpPr/>
          <p:nvPr/>
        </p:nvGrpSpPr>
        <p:grpSpPr>
          <a:xfrm>
            <a:off x="5515703" y="4847471"/>
            <a:ext cx="1072742" cy="810000"/>
            <a:chOff x="964022" y="3842357"/>
            <a:chExt cx="715161" cy="540000"/>
          </a:xfrm>
        </p:grpSpPr>
        <p:sp>
          <p:nvSpPr>
            <p:cNvPr id="134" name="矩形 133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5" name="文字方塊 1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群組 142"/>
          <p:cNvGrpSpPr/>
          <p:nvPr/>
        </p:nvGrpSpPr>
        <p:grpSpPr>
          <a:xfrm>
            <a:off x="8875391" y="4842980"/>
            <a:ext cx="1072742" cy="810000"/>
            <a:chOff x="1526126" y="3842357"/>
            <a:chExt cx="715161" cy="540000"/>
          </a:xfrm>
        </p:grpSpPr>
        <p:sp>
          <p:nvSpPr>
            <p:cNvPr id="144" name="矩形 143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群組 145"/>
          <p:cNvGrpSpPr/>
          <p:nvPr/>
        </p:nvGrpSpPr>
        <p:grpSpPr>
          <a:xfrm>
            <a:off x="7796366" y="4845267"/>
            <a:ext cx="1072742" cy="810000"/>
            <a:chOff x="964022" y="3842357"/>
            <a:chExt cx="715161" cy="540000"/>
          </a:xfrm>
        </p:grpSpPr>
        <p:sp>
          <p:nvSpPr>
            <p:cNvPr id="147" name="矩形 146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8" name="文字方塊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5" name="直線單箭頭接點 284"/>
          <p:cNvCxnSpPr/>
          <p:nvPr/>
        </p:nvCxnSpPr>
        <p:spPr>
          <a:xfrm flipV="1">
            <a:off x="4258397" y="606191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單箭頭接點 289"/>
          <p:cNvCxnSpPr/>
          <p:nvPr/>
        </p:nvCxnSpPr>
        <p:spPr>
          <a:xfrm flipV="1">
            <a:off x="6027213" y="606637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線單箭頭接點 290"/>
          <p:cNvCxnSpPr/>
          <p:nvPr/>
        </p:nvCxnSpPr>
        <p:spPr>
          <a:xfrm flipV="1">
            <a:off x="6558671" y="606191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線單箭頭接點 291"/>
          <p:cNvCxnSpPr/>
          <p:nvPr/>
        </p:nvCxnSpPr>
        <p:spPr>
          <a:xfrm flipV="1">
            <a:off x="8343866" y="610636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單箭頭接點 292"/>
          <p:cNvCxnSpPr/>
          <p:nvPr/>
        </p:nvCxnSpPr>
        <p:spPr>
          <a:xfrm flipV="1">
            <a:off x="8875323" y="610190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65"/>
          <p:cNvSpPr txBox="1"/>
          <p:nvPr/>
        </p:nvSpPr>
        <p:spPr>
          <a:xfrm>
            <a:off x="9713074" y="941605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202" grpId="0" bldLvl="0" animBg="1"/>
      <p:bldP spid="222" grpId="0"/>
      <p:bldP spid="231" grpId="0" bldLvl="0" animBg="1"/>
      <p:bldP spid="233" grpId="0" bldLvl="0" animBg="1"/>
      <p:bldP spid="235" grpId="0"/>
      <p:bldP spid="236" grpId="0"/>
      <p:bldP spid="237" grpId="0"/>
      <p:bldP spid="198" grpId="0" bldLvl="0" animBg="1"/>
      <p:bldP spid="282" grpId="0" bldLvl="0" animBg="1"/>
      <p:bldP spid="2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直線單箭頭接點 279"/>
          <p:cNvCxnSpPr/>
          <p:nvPr/>
        </p:nvCxnSpPr>
        <p:spPr>
          <a:xfrm flipV="1">
            <a:off x="13171775" y="420197"/>
            <a:ext cx="0" cy="568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線單箭頭接點 276"/>
          <p:cNvCxnSpPr/>
          <p:nvPr/>
        </p:nvCxnSpPr>
        <p:spPr>
          <a:xfrm flipV="1">
            <a:off x="7123371" y="2203916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單箭頭接點 277"/>
          <p:cNvCxnSpPr/>
          <p:nvPr/>
        </p:nvCxnSpPr>
        <p:spPr>
          <a:xfrm flipV="1">
            <a:off x="4734455" y="2203916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線單箭頭接點 225"/>
          <p:cNvCxnSpPr/>
          <p:nvPr/>
        </p:nvCxnSpPr>
        <p:spPr>
          <a:xfrm flipV="1">
            <a:off x="11381280" y="8468498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>
            <a:stCxn id="170" idx="0"/>
            <a:endCxn id="46" idx="4"/>
          </p:cNvCxnSpPr>
          <p:nvPr/>
        </p:nvCxnSpPr>
        <p:spPr>
          <a:xfrm flipH="1" flipV="1">
            <a:off x="8306603" y="3663041"/>
            <a:ext cx="4852776" cy="122162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8171603" y="3393041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5" name="直線單箭頭接點 64"/>
          <p:cNvCxnSpPr/>
          <p:nvPr/>
        </p:nvCxnSpPr>
        <p:spPr>
          <a:xfrm flipV="1">
            <a:off x="13165392" y="1485519"/>
            <a:ext cx="0" cy="568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endCxn id="73" idx="2"/>
          </p:cNvCxnSpPr>
          <p:nvPr/>
        </p:nvCxnSpPr>
        <p:spPr>
          <a:xfrm flipH="1" flipV="1">
            <a:off x="4734456" y="3742928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4510668" y="3277908"/>
            <a:ext cx="447575" cy="465020"/>
            <a:chOff x="-105878" y="1740168"/>
            <a:chExt cx="461666" cy="461665"/>
          </a:xfrm>
        </p:grpSpPr>
        <p:sp>
          <p:nvSpPr>
            <p:cNvPr id="73" name="矩形 72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4" name="群組 7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75" name="直線接點 7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3" name="直線單箭頭接點 82"/>
          <p:cNvCxnSpPr/>
          <p:nvPr/>
        </p:nvCxnSpPr>
        <p:spPr>
          <a:xfrm flipV="1">
            <a:off x="9400091" y="2217860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>
            <a:off x="3858639" y="3510417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4706676" y="2203916"/>
            <a:ext cx="824528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群組 168"/>
          <p:cNvGrpSpPr/>
          <p:nvPr/>
        </p:nvGrpSpPr>
        <p:grpSpPr>
          <a:xfrm>
            <a:off x="12655740" y="4884665"/>
            <a:ext cx="1072742" cy="810000"/>
            <a:chOff x="1526126" y="3842357"/>
            <a:chExt cx="715161" cy="540000"/>
          </a:xfrm>
        </p:grpSpPr>
        <p:sp>
          <p:nvSpPr>
            <p:cNvPr id="170" name="矩形 169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字方塊 170"/>
                <p:cNvSpPr txBox="1"/>
                <p:nvPr/>
              </p:nvSpPr>
              <p:spPr>
                <a:xfrm>
                  <a:off x="1526126" y="3879900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1" name="文字方塊 1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10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7" name="直線單箭頭接點 176"/>
          <p:cNvCxnSpPr/>
          <p:nvPr/>
        </p:nvCxnSpPr>
        <p:spPr>
          <a:xfrm flipV="1">
            <a:off x="13183572" y="5747103"/>
            <a:ext cx="0" cy="769235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群組 177"/>
          <p:cNvGrpSpPr/>
          <p:nvPr/>
        </p:nvGrpSpPr>
        <p:grpSpPr>
          <a:xfrm>
            <a:off x="10890315" y="6483065"/>
            <a:ext cx="1072742" cy="810000"/>
            <a:chOff x="973803" y="4896393"/>
            <a:chExt cx="715161" cy="540000"/>
          </a:xfrm>
        </p:grpSpPr>
        <p:sp>
          <p:nvSpPr>
            <p:cNvPr id="179" name="矩形 178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p:sp>
          <p:nvSpPr>
            <p:cNvPr id="180" name="文字方塊 179"/>
            <p:cNvSpPr txBox="1"/>
            <p:nvPr/>
          </p:nvSpPr>
          <p:spPr>
            <a:xfrm>
              <a:off x="973803" y="4942431"/>
              <a:ext cx="71516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3600" b="1" dirty="0"/>
            </a:p>
          </p:txBody>
        </p:sp>
      </p:grpSp>
      <p:grpSp>
        <p:nvGrpSpPr>
          <p:cNvPr id="199" name="群組 198"/>
          <p:cNvGrpSpPr/>
          <p:nvPr/>
        </p:nvGrpSpPr>
        <p:grpSpPr>
          <a:xfrm>
            <a:off x="12669506" y="1818486"/>
            <a:ext cx="1072742" cy="810000"/>
            <a:chOff x="973803" y="4896393"/>
            <a:chExt cx="715161" cy="540000"/>
          </a:xfrm>
        </p:grpSpPr>
        <p:sp>
          <p:nvSpPr>
            <p:cNvPr id="200" name="矩形 199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字方塊 200"/>
                <p:cNvSpPr txBox="1"/>
                <p:nvPr/>
              </p:nvSpPr>
              <p:spPr>
                <a:xfrm>
                  <a:off x="973803" y="4942431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TW" sz="36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01" name="文字方塊 2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10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2" name="矩形: 圓角 201"/>
          <p:cNvSpPr/>
          <p:nvPr/>
        </p:nvSpPr>
        <p:spPr>
          <a:xfrm>
            <a:off x="12565037" y="747096"/>
            <a:ext cx="1200711" cy="705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grpSp>
        <p:nvGrpSpPr>
          <p:cNvPr id="206" name="群組 106"/>
          <p:cNvGrpSpPr/>
          <p:nvPr/>
        </p:nvGrpSpPr>
        <p:grpSpPr bwMode="auto">
          <a:xfrm flipH="1">
            <a:off x="3583436" y="9147603"/>
            <a:ext cx="5980046" cy="788534"/>
            <a:chOff x="467932" y="3914400"/>
            <a:chExt cx="2909888" cy="576263"/>
          </a:xfrm>
        </p:grpSpPr>
        <p:pic>
          <p:nvPicPr>
            <p:cNvPr id="207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32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807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16" name="直線單箭頭接點 215"/>
          <p:cNvCxnSpPr/>
          <p:nvPr/>
        </p:nvCxnSpPr>
        <p:spPr>
          <a:xfrm flipV="1">
            <a:off x="4225422" y="8787803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單箭頭接點 216"/>
          <p:cNvCxnSpPr/>
          <p:nvPr/>
        </p:nvCxnSpPr>
        <p:spPr>
          <a:xfrm flipV="1">
            <a:off x="6627135" y="8797452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單箭頭接點 217"/>
          <p:cNvCxnSpPr/>
          <p:nvPr/>
        </p:nvCxnSpPr>
        <p:spPr>
          <a:xfrm flipV="1">
            <a:off x="8885490" y="8755641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4106060" y="9172421"/>
            <a:ext cx="231699" cy="788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4" name="矩形 213"/>
          <p:cNvSpPr/>
          <p:nvPr/>
        </p:nvSpPr>
        <p:spPr>
          <a:xfrm>
            <a:off x="6489515" y="9140259"/>
            <a:ext cx="231699" cy="7885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5" name="矩形 214"/>
          <p:cNvSpPr/>
          <p:nvPr/>
        </p:nvSpPr>
        <p:spPr>
          <a:xfrm>
            <a:off x="8760389" y="9144363"/>
            <a:ext cx="231699" cy="7885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2" name="文字方塊 221"/>
          <p:cNvSpPr txBox="1"/>
          <p:nvPr/>
        </p:nvSpPr>
        <p:spPr>
          <a:xfrm>
            <a:off x="9869169" y="9175836"/>
            <a:ext cx="154577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START</a:t>
            </a:r>
            <a:endParaRPr lang="zh-TW" altLang="en-US" sz="100" dirty="0"/>
          </a:p>
        </p:txBody>
      </p:sp>
      <p:grpSp>
        <p:nvGrpSpPr>
          <p:cNvPr id="223" name="群組 222"/>
          <p:cNvGrpSpPr/>
          <p:nvPr/>
        </p:nvGrpSpPr>
        <p:grpSpPr>
          <a:xfrm>
            <a:off x="11201595" y="8877041"/>
            <a:ext cx="359370" cy="1080000"/>
            <a:chOff x="3445729" y="5741259"/>
            <a:chExt cx="239580" cy="720000"/>
          </a:xfrm>
        </p:grpSpPr>
        <p:sp>
          <p:nvSpPr>
            <p:cNvPr id="224" name="矩形 223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5" name="橢圓 224"/>
            <p:cNvSpPr/>
            <p:nvPr/>
          </p:nvSpPr>
          <p:spPr>
            <a:xfrm>
              <a:off x="3483679" y="6179621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227" name="直線單箭頭接點 226"/>
          <p:cNvCxnSpPr/>
          <p:nvPr/>
        </p:nvCxnSpPr>
        <p:spPr>
          <a:xfrm flipV="1">
            <a:off x="11381280" y="7333310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橢圓 230"/>
          <p:cNvSpPr/>
          <p:nvPr/>
        </p:nvSpPr>
        <p:spPr>
          <a:xfrm>
            <a:off x="5917349" y="33840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3" name="橢圓 232"/>
          <p:cNvSpPr/>
          <p:nvPr/>
        </p:nvSpPr>
        <p:spPr>
          <a:xfrm>
            <a:off x="3552468" y="332681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34" name="直線單箭頭接點 233"/>
          <p:cNvCxnSpPr/>
          <p:nvPr/>
        </p:nvCxnSpPr>
        <p:spPr>
          <a:xfrm flipH="1" flipV="1">
            <a:off x="3698786" y="3619916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/>
              <p:cNvSpPr txBox="1"/>
              <p:nvPr/>
            </p:nvSpPr>
            <p:spPr>
              <a:xfrm>
                <a:off x="3453558" y="2713728"/>
                <a:ext cx="53276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5" name="文字方塊 2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558" y="2713728"/>
                <a:ext cx="53276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80" t="-67" r="-14342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/>
              <p:cNvSpPr txBox="1"/>
              <p:nvPr/>
            </p:nvSpPr>
            <p:spPr>
              <a:xfrm>
                <a:off x="5837531" y="2724617"/>
                <a:ext cx="5384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6" name="文字方塊 2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531" y="2724617"/>
                <a:ext cx="538480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13" t="-84" r="-13566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字方塊 236"/>
              <p:cNvSpPr txBox="1"/>
              <p:nvPr/>
            </p:nvSpPr>
            <p:spPr>
              <a:xfrm>
                <a:off x="8047328" y="2735502"/>
                <a:ext cx="53848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7" name="文字方塊 2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328" y="2735502"/>
                <a:ext cx="538480" cy="556260"/>
              </a:xfrm>
              <a:prstGeom prst="rect">
                <a:avLst/>
              </a:prstGeom>
              <a:blipFill rotWithShape="1">
                <a:blip r:embed="rId8"/>
                <a:stretch>
                  <a:fillRect l="-113" t="-100" r="-13566" b="1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直線單箭頭接點 238"/>
          <p:cNvCxnSpPr>
            <a:stCxn id="170" idx="0"/>
            <a:endCxn id="233" idx="4"/>
          </p:cNvCxnSpPr>
          <p:nvPr/>
        </p:nvCxnSpPr>
        <p:spPr>
          <a:xfrm flipH="1" flipV="1">
            <a:off x="3687468" y="3596810"/>
            <a:ext cx="9471911" cy="128785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單箭頭接點 241"/>
          <p:cNvCxnSpPr>
            <a:stCxn id="170" idx="0"/>
            <a:endCxn id="231" idx="4"/>
          </p:cNvCxnSpPr>
          <p:nvPr/>
        </p:nvCxnSpPr>
        <p:spPr>
          <a:xfrm flipH="1" flipV="1">
            <a:off x="6052349" y="3654030"/>
            <a:ext cx="7107030" cy="123063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單箭頭接點 249"/>
          <p:cNvCxnSpPr/>
          <p:nvPr/>
        </p:nvCxnSpPr>
        <p:spPr>
          <a:xfrm flipH="1" flipV="1">
            <a:off x="6034734" y="3633860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/>
          <p:cNvCxnSpPr/>
          <p:nvPr/>
        </p:nvCxnSpPr>
        <p:spPr>
          <a:xfrm flipH="1" flipV="1">
            <a:off x="8324295" y="3663458"/>
            <a:ext cx="0" cy="12799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線單箭頭接點 258"/>
          <p:cNvCxnSpPr>
            <a:endCxn id="261" idx="2"/>
          </p:cNvCxnSpPr>
          <p:nvPr/>
        </p:nvCxnSpPr>
        <p:spPr>
          <a:xfrm flipH="1" flipV="1">
            <a:off x="7095882" y="3819368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群組 259"/>
          <p:cNvGrpSpPr/>
          <p:nvPr/>
        </p:nvGrpSpPr>
        <p:grpSpPr>
          <a:xfrm>
            <a:off x="6872094" y="3354348"/>
            <a:ext cx="447575" cy="465020"/>
            <a:chOff x="-105878" y="1740168"/>
            <a:chExt cx="461666" cy="461665"/>
          </a:xfrm>
        </p:grpSpPr>
        <p:sp>
          <p:nvSpPr>
            <p:cNvPr id="261" name="矩形 26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62" name="群組 261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63" name="直線接點 26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線接點 263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6" name="直線單箭頭接點 265"/>
          <p:cNvCxnSpPr/>
          <p:nvPr/>
        </p:nvCxnSpPr>
        <p:spPr>
          <a:xfrm flipH="1" flipV="1">
            <a:off x="9389559" y="3804393"/>
            <a:ext cx="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群組 266"/>
          <p:cNvGrpSpPr/>
          <p:nvPr/>
        </p:nvGrpSpPr>
        <p:grpSpPr>
          <a:xfrm>
            <a:off x="9144000" y="3339374"/>
            <a:ext cx="447575" cy="465020"/>
            <a:chOff x="-105878" y="1740168"/>
            <a:chExt cx="461666" cy="461665"/>
          </a:xfrm>
        </p:grpSpPr>
        <p:sp>
          <p:nvSpPr>
            <p:cNvPr id="268" name="矩形 267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69" name="群組 268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70" name="直線接點 269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線接點 270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4" name="直線單箭頭接點 273"/>
          <p:cNvCxnSpPr/>
          <p:nvPr/>
        </p:nvCxnSpPr>
        <p:spPr>
          <a:xfrm>
            <a:off x="6243177" y="3559416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單箭頭接點 274"/>
          <p:cNvCxnSpPr/>
          <p:nvPr/>
        </p:nvCxnSpPr>
        <p:spPr>
          <a:xfrm>
            <a:off x="8502069" y="3550112"/>
            <a:ext cx="6154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11917430" y="9158822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16" name="群組 115"/>
          <p:cNvGrpSpPr/>
          <p:nvPr/>
        </p:nvGrpSpPr>
        <p:grpSpPr>
          <a:xfrm>
            <a:off x="12979194" y="8956946"/>
            <a:ext cx="359370" cy="1080000"/>
            <a:chOff x="3445729" y="5741259"/>
            <a:chExt cx="239580" cy="720000"/>
          </a:xfrm>
        </p:grpSpPr>
        <p:sp>
          <p:nvSpPr>
            <p:cNvPr id="117" name="矩形 116"/>
            <p:cNvSpPr/>
            <p:nvPr/>
          </p:nvSpPr>
          <p:spPr>
            <a:xfrm>
              <a:off x="3445729" y="5741259"/>
              <a:ext cx="239580" cy="72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18" name="橢圓 117"/>
            <p:cNvSpPr/>
            <p:nvPr/>
          </p:nvSpPr>
          <p:spPr>
            <a:xfrm>
              <a:off x="3483679" y="5963721"/>
              <a:ext cx="180000" cy="18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cxnSp>
        <p:nvCxnSpPr>
          <p:cNvPr id="119" name="直線單箭頭接點 118"/>
          <p:cNvCxnSpPr/>
          <p:nvPr/>
        </p:nvCxnSpPr>
        <p:spPr>
          <a:xfrm flipV="1">
            <a:off x="13171119" y="8478656"/>
            <a:ext cx="0" cy="500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群組 122"/>
          <p:cNvGrpSpPr/>
          <p:nvPr/>
        </p:nvGrpSpPr>
        <p:grpSpPr>
          <a:xfrm>
            <a:off x="12653247" y="6479189"/>
            <a:ext cx="1072742" cy="810000"/>
            <a:chOff x="973803" y="4896393"/>
            <a:chExt cx="715161" cy="540000"/>
          </a:xfrm>
        </p:grpSpPr>
        <p:sp>
          <p:nvSpPr>
            <p:cNvPr id="124" name="矩形 123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973803" y="4942431"/>
              <a:ext cx="715161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3600" b="1" dirty="0"/>
            </a:p>
          </p:txBody>
        </p:sp>
      </p:grpSp>
      <p:cxnSp>
        <p:nvCxnSpPr>
          <p:cNvPr id="126" name="直線單箭頭接點 125"/>
          <p:cNvCxnSpPr/>
          <p:nvPr/>
        </p:nvCxnSpPr>
        <p:spPr>
          <a:xfrm flipV="1">
            <a:off x="13144212" y="7329434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矩形: 圓角 197"/>
          <p:cNvSpPr/>
          <p:nvPr/>
        </p:nvSpPr>
        <p:spPr>
          <a:xfrm>
            <a:off x="10804502" y="7659455"/>
            <a:ext cx="4594485" cy="788534"/>
          </a:xfrm>
          <a:prstGeom prst="roundRect">
            <a:avLst/>
          </a:prstGeom>
          <a:blipFill rotWithShape="1">
            <a:blip r:embed="rId9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Self-attention (Mask)</a:t>
            </a:r>
            <a:endParaRPr lang="zh-TW" altLang="en-US" sz="3600" dirty="0"/>
          </a:p>
        </p:txBody>
      </p:sp>
      <p:cxnSp>
        <p:nvCxnSpPr>
          <p:cNvPr id="156" name="直線單箭頭接點 155"/>
          <p:cNvCxnSpPr/>
          <p:nvPr/>
        </p:nvCxnSpPr>
        <p:spPr>
          <a:xfrm flipH="1" flipV="1">
            <a:off x="4242674" y="6084815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V="1">
            <a:off x="3726939" y="606637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V="1">
            <a:off x="4756496" y="565913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群組 158"/>
          <p:cNvGrpSpPr/>
          <p:nvPr/>
        </p:nvGrpSpPr>
        <p:grpSpPr>
          <a:xfrm>
            <a:off x="3723458" y="6430190"/>
            <a:ext cx="1072742" cy="810000"/>
            <a:chOff x="973803" y="4896393"/>
            <a:chExt cx="715161" cy="540000"/>
          </a:xfrm>
        </p:grpSpPr>
        <p:sp>
          <p:nvSpPr>
            <p:cNvPr id="160" name="矩形 159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61" name="文字方塊 1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2" name="直線單箭頭接點 161"/>
          <p:cNvCxnSpPr/>
          <p:nvPr/>
        </p:nvCxnSpPr>
        <p:spPr>
          <a:xfrm flipV="1">
            <a:off x="3702408" y="5677574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 flipH="1" flipV="1">
            <a:off x="6587673" y="6104109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V="1">
            <a:off x="7101495" y="567843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群組 164"/>
          <p:cNvGrpSpPr/>
          <p:nvPr/>
        </p:nvGrpSpPr>
        <p:grpSpPr>
          <a:xfrm>
            <a:off x="6068457" y="6449484"/>
            <a:ext cx="1072742" cy="810000"/>
            <a:chOff x="973803" y="4896393"/>
            <a:chExt cx="715161" cy="540000"/>
          </a:xfrm>
        </p:grpSpPr>
        <p:sp>
          <p:nvSpPr>
            <p:cNvPr id="166" name="矩形 165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字方塊 166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67" name="文字方塊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8" name="直線單箭頭接點 167"/>
          <p:cNvCxnSpPr/>
          <p:nvPr/>
        </p:nvCxnSpPr>
        <p:spPr>
          <a:xfrm flipV="1">
            <a:off x="6047408" y="569686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/>
          <p:nvPr/>
        </p:nvCxnSpPr>
        <p:spPr>
          <a:xfrm flipH="1" flipV="1">
            <a:off x="8868336" y="6101906"/>
            <a:ext cx="0" cy="343556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/>
          <p:cNvCxnSpPr/>
          <p:nvPr/>
        </p:nvCxnSpPr>
        <p:spPr>
          <a:xfrm flipV="1">
            <a:off x="9382158" y="5676227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群組 173"/>
          <p:cNvGrpSpPr/>
          <p:nvPr/>
        </p:nvGrpSpPr>
        <p:grpSpPr>
          <a:xfrm>
            <a:off x="8349120" y="6447281"/>
            <a:ext cx="1072742" cy="810000"/>
            <a:chOff x="973803" y="4896393"/>
            <a:chExt cx="715161" cy="540000"/>
          </a:xfrm>
        </p:grpSpPr>
        <p:sp>
          <p:nvSpPr>
            <p:cNvPr id="175" name="矩形 174"/>
            <p:cNvSpPr/>
            <p:nvPr/>
          </p:nvSpPr>
          <p:spPr>
            <a:xfrm>
              <a:off x="1162104" y="4896393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字方塊 175"/>
                <p:cNvSpPr txBox="1"/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6" name="文字方塊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3" y="4942431"/>
                  <a:ext cx="715161" cy="430953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1" name="直線單箭頭接點 180"/>
          <p:cNvCxnSpPr/>
          <p:nvPr/>
        </p:nvCxnSpPr>
        <p:spPr>
          <a:xfrm flipV="1">
            <a:off x="8328071" y="569466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/>
          <p:nvPr/>
        </p:nvCxnSpPr>
        <p:spPr>
          <a:xfrm flipV="1">
            <a:off x="4221909" y="7278167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/>
          <p:nvPr/>
        </p:nvCxnSpPr>
        <p:spPr>
          <a:xfrm flipV="1">
            <a:off x="6609444" y="7240944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/>
          <p:nvPr/>
        </p:nvCxnSpPr>
        <p:spPr>
          <a:xfrm flipV="1">
            <a:off x="8885490" y="7278165"/>
            <a:ext cx="0" cy="7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群組 184"/>
          <p:cNvGrpSpPr/>
          <p:nvPr/>
        </p:nvGrpSpPr>
        <p:grpSpPr>
          <a:xfrm>
            <a:off x="4249728" y="4825889"/>
            <a:ext cx="1072742" cy="810000"/>
            <a:chOff x="1526126" y="3842357"/>
            <a:chExt cx="715161" cy="540000"/>
          </a:xfrm>
        </p:grpSpPr>
        <p:sp>
          <p:nvSpPr>
            <p:cNvPr id="186" name="矩形 185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字方塊 186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87" name="文字方塊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8" name="群組 187"/>
          <p:cNvGrpSpPr/>
          <p:nvPr/>
        </p:nvGrpSpPr>
        <p:grpSpPr>
          <a:xfrm>
            <a:off x="3170703" y="4828176"/>
            <a:ext cx="1072742" cy="810000"/>
            <a:chOff x="964022" y="3842357"/>
            <a:chExt cx="715161" cy="540000"/>
          </a:xfrm>
        </p:grpSpPr>
        <p:sp>
          <p:nvSpPr>
            <p:cNvPr id="189" name="矩形 188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字方塊 189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0" name="文字方塊 1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1" name="群組 190"/>
          <p:cNvGrpSpPr/>
          <p:nvPr/>
        </p:nvGrpSpPr>
        <p:grpSpPr>
          <a:xfrm>
            <a:off x="6594728" y="4845183"/>
            <a:ext cx="1072742" cy="810000"/>
            <a:chOff x="1526126" y="3842357"/>
            <a:chExt cx="715161" cy="540000"/>
          </a:xfrm>
        </p:grpSpPr>
        <p:sp>
          <p:nvSpPr>
            <p:cNvPr id="192" name="矩形 191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3" name="文字方塊 1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4" name="群組 193"/>
          <p:cNvGrpSpPr/>
          <p:nvPr/>
        </p:nvGrpSpPr>
        <p:grpSpPr>
          <a:xfrm>
            <a:off x="5515703" y="4847471"/>
            <a:ext cx="1072742" cy="810000"/>
            <a:chOff x="964022" y="3842357"/>
            <a:chExt cx="715161" cy="540000"/>
          </a:xfrm>
        </p:grpSpPr>
        <p:sp>
          <p:nvSpPr>
            <p:cNvPr id="195" name="矩形 194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字方塊 196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7" name="文字方塊 1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3" name="群組 202"/>
          <p:cNvGrpSpPr/>
          <p:nvPr/>
        </p:nvGrpSpPr>
        <p:grpSpPr>
          <a:xfrm>
            <a:off x="8875391" y="4842980"/>
            <a:ext cx="1072742" cy="810000"/>
            <a:chOff x="1526126" y="3842357"/>
            <a:chExt cx="715161" cy="540000"/>
          </a:xfrm>
        </p:grpSpPr>
        <p:sp>
          <p:nvSpPr>
            <p:cNvPr id="204" name="矩形 203"/>
            <p:cNvSpPr/>
            <p:nvPr/>
          </p:nvSpPr>
          <p:spPr>
            <a:xfrm>
              <a:off x="171788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字方塊 204"/>
                <p:cNvSpPr txBox="1"/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05" name="文字方塊 2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79900"/>
                  <a:ext cx="715161" cy="43095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9" name="群組 208"/>
          <p:cNvGrpSpPr/>
          <p:nvPr/>
        </p:nvGrpSpPr>
        <p:grpSpPr>
          <a:xfrm>
            <a:off x="7796366" y="4845267"/>
            <a:ext cx="1072742" cy="810000"/>
            <a:chOff x="964022" y="3842357"/>
            <a:chExt cx="715161" cy="540000"/>
          </a:xfrm>
        </p:grpSpPr>
        <p:sp>
          <p:nvSpPr>
            <p:cNvPr id="219" name="矩形 218"/>
            <p:cNvSpPr/>
            <p:nvPr/>
          </p:nvSpPr>
          <p:spPr>
            <a:xfrm>
              <a:off x="1161005" y="3842357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字方塊 219"/>
                <p:cNvSpPr txBox="1"/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20" name="文字方塊 2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90174"/>
                  <a:ext cx="715161" cy="43095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1" name="直線單箭頭接點 220"/>
          <p:cNvCxnSpPr/>
          <p:nvPr/>
        </p:nvCxnSpPr>
        <p:spPr>
          <a:xfrm flipV="1">
            <a:off x="4258397" y="606191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單箭頭接點 227"/>
          <p:cNvCxnSpPr/>
          <p:nvPr/>
        </p:nvCxnSpPr>
        <p:spPr>
          <a:xfrm flipV="1">
            <a:off x="6027213" y="606637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單箭頭接點 228"/>
          <p:cNvCxnSpPr/>
          <p:nvPr/>
        </p:nvCxnSpPr>
        <p:spPr>
          <a:xfrm flipV="1">
            <a:off x="6558671" y="606191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 flipV="1">
            <a:off x="8343866" y="6106367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單箭頭接點 231"/>
          <p:cNvCxnSpPr/>
          <p:nvPr/>
        </p:nvCxnSpPr>
        <p:spPr>
          <a:xfrm flipV="1">
            <a:off x="8875323" y="6101906"/>
            <a:ext cx="494970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: 圓角 195"/>
          <p:cNvSpPr/>
          <p:nvPr/>
        </p:nvSpPr>
        <p:spPr>
          <a:xfrm>
            <a:off x="3253309" y="7715388"/>
            <a:ext cx="6596391" cy="1040379"/>
          </a:xfrm>
          <a:prstGeom prst="roundRect">
            <a:avLst/>
          </a:prstGeom>
          <a:blipFill rotWithShape="1">
            <a:blip r:embed="rId19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Encoder</a:t>
            </a:r>
            <a:endParaRPr lang="zh-TW" altLang="en-US" sz="3600" dirty="0"/>
          </a:p>
        </p:txBody>
      </p:sp>
      <p:sp>
        <p:nvSpPr>
          <p:cNvPr id="42" name="文字方塊 65"/>
          <p:cNvSpPr txBox="1"/>
          <p:nvPr/>
        </p:nvSpPr>
        <p:spPr>
          <a:xfrm>
            <a:off x="9713074" y="9450349"/>
            <a:ext cx="154577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START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202" grpId="0" bldLvl="0" animBg="1"/>
      <p:bldP spid="231" grpId="0" bldLvl="0" animBg="1"/>
      <p:bldP spid="233" grpId="0" bldLvl="0" animBg="1"/>
      <p:bldP spid="235" grpId="0"/>
      <p:bldP spid="236" grpId="0"/>
      <p:bldP spid="237" grpId="0"/>
      <p:bldP spid="1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22555" y="529590"/>
            <a:ext cx="12494260" cy="1551305"/>
          </a:xfrm>
        </p:spPr>
        <p:txBody>
          <a:bodyPr/>
          <a:lstStyle/>
          <a:p>
            <a:r>
              <a:rPr lang="en-US" altLang="zh-TW" dirty="0"/>
              <a:t>Cross</a:t>
            </a:r>
            <a:r>
              <a:rPr lang="zh-TW" altLang="en-US" dirty="0"/>
              <a:t> </a:t>
            </a:r>
            <a:r>
              <a:rPr lang="en-US" altLang="zh-TW" dirty="0"/>
              <a:t>Attention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20</a:t>
            </a:fld>
            <a:endParaRPr lang="zh-TW" altLang="en-US" sz="10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420" y="466090"/>
            <a:ext cx="3478530" cy="361759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78305" y="4481830"/>
            <a:ext cx="13967460" cy="41300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101850" y="875728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TW" altLang="en-US" dirty="0">
                <a:sym typeface="+mn-ea"/>
              </a:rPr>
              <a:t>https://arxiv.org/abs/2005.08081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12568FA6-C99C-4E0E-A6FC-6889548AB656}"/>
</file>

<file path=customXml/itemProps2.xml><?xml version="1.0" encoding="utf-8"?>
<ds:datastoreItem xmlns:ds="http://schemas.openxmlformats.org/officeDocument/2006/customXml" ds:itemID="{78201CB0-3F1B-4FDA-A3B9-8AE84FFABA42}"/>
</file>

<file path=customXml/itemProps3.xml><?xml version="1.0" encoding="utf-8"?>
<ds:datastoreItem xmlns:ds="http://schemas.openxmlformats.org/officeDocument/2006/customXml" ds:itemID="{7510E48D-3B3F-4014-BCFB-0BE3F57BE96B}"/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549</Words>
  <Application>Microsoft Macintosh PowerPoint</Application>
  <PresentationFormat>Custom</PresentationFormat>
  <Paragraphs>335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 2</vt:lpstr>
      <vt:lpstr>Breeze</vt:lpstr>
      <vt:lpstr>Transformer</vt:lpstr>
      <vt:lpstr>PowerPoint Presentation</vt:lpstr>
      <vt:lpstr>PowerPoint Presentation</vt:lpstr>
      <vt:lpstr>Autoregressive </vt:lpstr>
      <vt:lpstr>Autoregressive </vt:lpstr>
      <vt:lpstr>Autoregressive </vt:lpstr>
      <vt:lpstr>PowerPoint Presentation</vt:lpstr>
      <vt:lpstr>Encoder</vt:lpstr>
      <vt:lpstr>Self-attention          Masked Self-attention</vt:lpstr>
      <vt:lpstr>Self-attention          Masked Self-attention</vt:lpstr>
      <vt:lpstr>Autoregressive </vt:lpstr>
      <vt:lpstr> </vt:lpstr>
      <vt:lpstr>Autoregressive </vt:lpstr>
      <vt:lpstr>PowerPoint Presentation</vt:lpstr>
      <vt:lpstr>AT v.s. NAT</vt:lpstr>
      <vt:lpstr>PowerPoint Presentation</vt:lpstr>
      <vt:lpstr>Encoder</vt:lpstr>
      <vt:lpstr>PowerPoint Presentation</vt:lpstr>
      <vt:lpstr>PowerPoint Presentation</vt:lpstr>
      <vt:lpstr>Cross Attention 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60</cp:revision>
  <dcterms:created xsi:type="dcterms:W3CDTF">2019-02-13T16:04:00Z</dcterms:created>
  <dcterms:modified xsi:type="dcterms:W3CDTF">2024-04-04T17:16:15Z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50DE81DFFB894CF5B0553D916DF12CAC</vt:lpwstr>
  </property>
  <property fmtid="{D5CDD505-2E9C-101B-9397-08002B2CF9AE}" pid="5" name="KSOProductBuildVer">
    <vt:lpwstr>1033-11.2.0.11225</vt:lpwstr>
  </property>
</Properties>
</file>