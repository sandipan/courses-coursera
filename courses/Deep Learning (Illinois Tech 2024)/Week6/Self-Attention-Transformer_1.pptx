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2" r:id="rId2"/>
    <p:sldId id="373" r:id="rId3"/>
    <p:sldId id="375" r:id="rId4"/>
    <p:sldId id="376" r:id="rId5"/>
    <p:sldId id="282" r:id="rId6"/>
    <p:sldId id="1843" r:id="rId7"/>
    <p:sldId id="1844" r:id="rId8"/>
    <p:sldId id="311" r:id="rId9"/>
    <p:sldId id="1845" r:id="rId10"/>
    <p:sldId id="313" r:id="rId11"/>
    <p:sldId id="314" r:id="rId12"/>
    <p:sldId id="315" r:id="rId1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7">
          <p15:clr>
            <a:srgbClr val="A4A3A4"/>
          </p15:clr>
        </p15:guide>
        <p15:guide id="2" pos="58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49"/>
    <p:restoredTop sz="93797"/>
  </p:normalViewPr>
  <p:slideViewPr>
    <p:cSldViewPr snapToGrid="0" snapToObjects="1">
      <p:cViewPr varScale="1">
        <p:scale>
          <a:sx n="66" d="100"/>
          <a:sy n="66" d="100"/>
        </p:scale>
        <p:origin x="232" y="368"/>
      </p:cViewPr>
      <p:guideLst>
        <p:guide orient="horz" pos="3287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7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Does normalization important???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24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.png"/><Relationship Id="rId7" Type="http://schemas.openxmlformats.org/officeDocument/2006/relationships/image" Target="../media/image10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0.png"/><Relationship Id="rId18" Type="http://schemas.openxmlformats.org/officeDocument/2006/relationships/image" Target="../media/image260.png"/><Relationship Id="rId3" Type="http://schemas.openxmlformats.org/officeDocument/2006/relationships/image" Target="../media/image150.png"/><Relationship Id="rId7" Type="http://schemas.openxmlformats.org/officeDocument/2006/relationships/image" Target="../media/image90.png"/><Relationship Id="rId12" Type="http://schemas.openxmlformats.org/officeDocument/2006/relationships/image" Target="../media/image200.png"/><Relationship Id="rId17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90.png"/><Relationship Id="rId5" Type="http://schemas.openxmlformats.org/officeDocument/2006/relationships/image" Target="../media/image7.png"/><Relationship Id="rId15" Type="http://schemas.openxmlformats.org/officeDocument/2006/relationships/image" Target="../media/image230.png"/><Relationship Id="rId10" Type="http://schemas.openxmlformats.org/officeDocument/2006/relationships/image" Target="../media/image180.png"/><Relationship Id="rId19" Type="http://schemas.openxmlformats.org/officeDocument/2006/relationships/image" Target="../media/image270.png"/><Relationship Id="rId4" Type="http://schemas.openxmlformats.org/officeDocument/2006/relationships/image" Target="../media/image6.png"/><Relationship Id="rId9" Type="http://schemas.openxmlformats.org/officeDocument/2006/relationships/image" Target="../media/image170.png"/><Relationship Id="rId14" Type="http://schemas.openxmlformats.org/officeDocument/2006/relationships/image" Target="../media/image2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200.png"/><Relationship Id="rId18" Type="http://schemas.openxmlformats.org/officeDocument/2006/relationships/image" Target="../media/image29.png"/><Relationship Id="rId3" Type="http://schemas.openxmlformats.org/officeDocument/2006/relationships/image" Target="../media/image28.png"/><Relationship Id="rId21" Type="http://schemas.openxmlformats.org/officeDocument/2006/relationships/image" Target="../media/image32.png"/><Relationship Id="rId7" Type="http://schemas.openxmlformats.org/officeDocument/2006/relationships/image" Target="../media/image80.png"/><Relationship Id="rId12" Type="http://schemas.openxmlformats.org/officeDocument/2006/relationships/image" Target="../media/image190.png"/><Relationship Id="rId17" Type="http://schemas.openxmlformats.org/officeDocument/2006/relationships/image" Target="../media/image240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0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80.png"/><Relationship Id="rId24" Type="http://schemas.openxmlformats.org/officeDocument/2006/relationships/image" Target="../media/image35.png"/><Relationship Id="rId5" Type="http://schemas.openxmlformats.org/officeDocument/2006/relationships/image" Target="../media/image6.png"/><Relationship Id="rId15" Type="http://schemas.openxmlformats.org/officeDocument/2006/relationships/image" Target="../media/image220.png"/><Relationship Id="rId23" Type="http://schemas.openxmlformats.org/officeDocument/2006/relationships/image" Target="../media/image34.png"/><Relationship Id="rId10" Type="http://schemas.openxmlformats.org/officeDocument/2006/relationships/image" Target="../media/image170.png"/><Relationship Id="rId19" Type="http://schemas.openxmlformats.org/officeDocument/2006/relationships/image" Target="../media/image30.png"/><Relationship Id="rId4" Type="http://schemas.openxmlformats.org/officeDocument/2006/relationships/image" Target="../media/image150.png"/><Relationship Id="rId9" Type="http://schemas.openxmlformats.org/officeDocument/2006/relationships/image" Target="../media/image160.png"/><Relationship Id="rId14" Type="http://schemas.openxmlformats.org/officeDocument/2006/relationships/image" Target="../media/image210.png"/><Relationship Id="rId22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8.png"/><Relationship Id="rId18" Type="http://schemas.openxmlformats.org/officeDocument/2006/relationships/image" Target="../media/image80.png"/><Relationship Id="rId3" Type="http://schemas.openxmlformats.org/officeDocument/2006/relationships/image" Target="../media/image32.png"/><Relationship Id="rId21" Type="http://schemas.openxmlformats.org/officeDocument/2006/relationships/image" Target="../media/image40.png"/><Relationship Id="rId7" Type="http://schemas.openxmlformats.org/officeDocument/2006/relationships/image" Target="../media/image29.png"/><Relationship Id="rId12" Type="http://schemas.openxmlformats.org/officeDocument/2006/relationships/image" Target="../media/image170.png"/><Relationship Id="rId17" Type="http://schemas.openxmlformats.org/officeDocument/2006/relationships/image" Target="../media/image7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7.png"/><Relationship Id="rId24" Type="http://schemas.openxmlformats.org/officeDocument/2006/relationships/image" Target="../media/image43.png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2.png"/><Relationship Id="rId10" Type="http://schemas.openxmlformats.org/officeDocument/2006/relationships/image" Target="../media/image150.png"/><Relationship Id="rId19" Type="http://schemas.openxmlformats.org/officeDocument/2006/relationships/image" Target="../media/image90.png"/><Relationship Id="rId4" Type="http://schemas.openxmlformats.org/officeDocument/2006/relationships/image" Target="../media/image33.png"/><Relationship Id="rId9" Type="http://schemas.openxmlformats.org/officeDocument/2006/relationships/image" Target="../media/image360.png"/><Relationship Id="rId14" Type="http://schemas.openxmlformats.org/officeDocument/2006/relationships/image" Target="../media/image180.pn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Self-Attention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Idea and Principle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Sophisticated Input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1725" y="2035459"/>
            <a:ext cx="16084552" cy="6888006"/>
          </a:xfrm>
        </p:spPr>
        <p:txBody>
          <a:bodyPr/>
          <a:lstStyle/>
          <a:p>
            <a:r>
              <a:rPr lang="en-US" altLang="zh-TW" dirty="0"/>
              <a:t>Input is </a:t>
            </a:r>
            <a:r>
              <a:rPr lang="en-US" altLang="zh-TW" b="1" dirty="0"/>
              <a:t>a vector 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zh-TW" altLang="en-US" b="1" dirty="0"/>
          </a:p>
        </p:txBody>
      </p:sp>
      <p:sp>
        <p:nvSpPr>
          <p:cNvPr id="4" name="矩形: 圓角 3"/>
          <p:cNvSpPr/>
          <p:nvPr/>
        </p:nvSpPr>
        <p:spPr>
          <a:xfrm>
            <a:off x="8097618" y="3597215"/>
            <a:ext cx="2510286" cy="154628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Model</a:t>
            </a:r>
            <a:endParaRPr lang="zh-TW" altLang="en-US" sz="3600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6984809" y="4373592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10758864" y="4370357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1716395" y="4024107"/>
            <a:ext cx="398540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Scalar or Class</a:t>
            </a:r>
            <a:endParaRPr lang="zh-TW" altLang="en-US" sz="3600" dirty="0"/>
          </a:p>
        </p:txBody>
      </p:sp>
      <p:sp>
        <p:nvSpPr>
          <p:cNvPr id="10" name="矩形: 圓角 9"/>
          <p:cNvSpPr/>
          <p:nvPr/>
        </p:nvSpPr>
        <p:spPr>
          <a:xfrm>
            <a:off x="8097618" y="6952977"/>
            <a:ext cx="2510286" cy="154628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Model</a:t>
            </a:r>
            <a:endParaRPr lang="zh-TW" altLang="en-US" sz="3600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6984809" y="7729355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0758864" y="7726119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11716385" y="7379970"/>
            <a:ext cx="5466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Scalars or Classes</a:t>
            </a:r>
            <a:endParaRPr lang="zh-TW" altLang="en-US" sz="3600" dirty="0"/>
          </a:p>
        </p:txBody>
      </p:sp>
      <p:sp>
        <p:nvSpPr>
          <p:cNvPr id="20" name="矩形: 圓角 19"/>
          <p:cNvSpPr/>
          <p:nvPr/>
        </p:nvSpPr>
        <p:spPr>
          <a:xfrm>
            <a:off x="4234358" y="7201167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矩形: 圓角 20"/>
          <p:cNvSpPr/>
          <p:nvPr/>
        </p:nvSpPr>
        <p:spPr>
          <a:xfrm>
            <a:off x="4979673" y="7201167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矩形: 圓角 21"/>
          <p:cNvSpPr/>
          <p:nvPr/>
        </p:nvSpPr>
        <p:spPr>
          <a:xfrm>
            <a:off x="5668370" y="7201167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矩形: 圓角 22"/>
          <p:cNvSpPr/>
          <p:nvPr/>
        </p:nvSpPr>
        <p:spPr>
          <a:xfrm>
            <a:off x="6326589" y="7201169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矩形: 圓角 23"/>
          <p:cNvSpPr/>
          <p:nvPr/>
        </p:nvSpPr>
        <p:spPr>
          <a:xfrm>
            <a:off x="6326589" y="3864188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內容版面配置區 2"/>
          <p:cNvSpPr>
            <a:spLocks noGrp="1"/>
          </p:cNvSpPr>
          <p:nvPr/>
        </p:nvSpPr>
        <p:spPr>
          <a:xfrm>
            <a:off x="981710" y="2516505"/>
            <a:ext cx="16084550" cy="443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Input is </a:t>
            </a:r>
            <a:r>
              <a:rPr lang="en-US" altLang="zh-TW" b="1" dirty="0"/>
              <a:t>a set of vectors</a:t>
            </a:r>
            <a:endParaRPr lang="zh-TW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7B8FC-91E5-F43E-D9C1-E2A620D7C714}"/>
              </a:ext>
            </a:extLst>
          </p:cNvPr>
          <p:cNvSpPr txBox="1"/>
          <p:nvPr/>
        </p:nvSpPr>
        <p:spPr>
          <a:xfrm>
            <a:off x="4451985" y="845185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may change length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9" grpId="1"/>
      <p:bldP spid="10" grpId="0" animBg="1"/>
      <p:bldP spid="10" grpId="1" animBg="1"/>
      <p:bldP spid="14" grpId="0"/>
      <p:bldP spid="14" grpId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1" animBg="1"/>
      <p:bldP spid="16" grpId="0"/>
      <p:bldP spid="16" grpId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/>
          <p:cNvSpPr/>
          <p:nvPr/>
        </p:nvSpPr>
        <p:spPr>
          <a:xfrm>
            <a:off x="8912024" y="3150986"/>
            <a:ext cx="2510286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Model</a:t>
            </a:r>
            <a:endParaRPr lang="zh-TW" altLang="en-US" sz="3600" dirty="0"/>
          </a:p>
        </p:txBody>
      </p:sp>
      <p:cxnSp>
        <p:nvCxnSpPr>
          <p:cNvPr id="6" name="直線單箭頭接點 5"/>
          <p:cNvCxnSpPr/>
          <p:nvPr/>
        </p:nvCxnSpPr>
        <p:spPr>
          <a:xfrm>
            <a:off x="7799216" y="3755673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1573271" y="3752438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/>
          <p:cNvGrpSpPr/>
          <p:nvPr/>
        </p:nvGrpSpPr>
        <p:grpSpPr>
          <a:xfrm>
            <a:off x="5093782" y="3168749"/>
            <a:ext cx="2469227" cy="1004415"/>
            <a:chOff x="1298905" y="4800778"/>
            <a:chExt cx="1646151" cy="669610"/>
          </a:xfrm>
        </p:grpSpPr>
        <p:sp>
          <p:nvSpPr>
            <p:cNvPr id="23" name="矩形: 圓角 22"/>
            <p:cNvSpPr/>
            <p:nvPr/>
          </p:nvSpPr>
          <p:spPr>
            <a:xfrm>
              <a:off x="1298905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4" name="矩形: 圓角 23"/>
            <p:cNvSpPr/>
            <p:nvPr/>
          </p:nvSpPr>
          <p:spPr>
            <a:xfrm>
              <a:off x="1795782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5" name="矩形: 圓角 24"/>
            <p:cNvSpPr/>
            <p:nvPr/>
          </p:nvSpPr>
          <p:spPr>
            <a:xfrm>
              <a:off x="2254913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6" name="矩形: 圓角 25"/>
            <p:cNvSpPr/>
            <p:nvPr/>
          </p:nvSpPr>
          <p:spPr>
            <a:xfrm>
              <a:off x="2693726" y="4800779"/>
              <a:ext cx="251330" cy="66960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2771327" y="3539603"/>
            <a:ext cx="2305065" cy="450410"/>
            <a:chOff x="6308106" y="2144839"/>
            <a:chExt cx="1536710" cy="300273"/>
          </a:xfrm>
        </p:grpSpPr>
        <p:sp>
          <p:nvSpPr>
            <p:cNvPr id="28" name="橢圓 27"/>
            <p:cNvSpPr/>
            <p:nvPr/>
          </p:nvSpPr>
          <p:spPr>
            <a:xfrm>
              <a:off x="6308106" y="2144839"/>
              <a:ext cx="283779" cy="28377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9" name="橢圓 28"/>
            <p:cNvSpPr/>
            <p:nvPr/>
          </p:nvSpPr>
          <p:spPr>
            <a:xfrm>
              <a:off x="6725750" y="2161333"/>
              <a:ext cx="283779" cy="283779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橢圓 29"/>
            <p:cNvSpPr/>
            <p:nvPr/>
          </p:nvSpPr>
          <p:spPr>
            <a:xfrm>
              <a:off x="7143394" y="2161332"/>
              <a:ext cx="283779" cy="28377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橢圓 30"/>
            <p:cNvSpPr/>
            <p:nvPr/>
          </p:nvSpPr>
          <p:spPr>
            <a:xfrm>
              <a:off x="7561037" y="2161332"/>
              <a:ext cx="283779" cy="28377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33" name="右大括弧 32"/>
          <p:cNvSpPr/>
          <p:nvPr/>
        </p:nvSpPr>
        <p:spPr>
          <a:xfrm rot="5400000">
            <a:off x="6170039" y="2867094"/>
            <a:ext cx="425669" cy="2832681"/>
          </a:xfrm>
          <a:prstGeom prst="rightBrace">
            <a:avLst>
              <a:gd name="adj1" fmla="val 486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右大括弧 33"/>
          <p:cNvSpPr/>
          <p:nvPr/>
        </p:nvSpPr>
        <p:spPr>
          <a:xfrm rot="5400000">
            <a:off x="13734306" y="2915717"/>
            <a:ext cx="425669" cy="2832681"/>
          </a:xfrm>
          <a:prstGeom prst="rightBrace">
            <a:avLst>
              <a:gd name="adj1" fmla="val 486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文字方塊 34"/>
          <p:cNvSpPr txBox="1"/>
          <p:nvPr/>
        </p:nvSpPr>
        <p:spPr>
          <a:xfrm>
            <a:off x="5736542" y="4501132"/>
            <a:ext cx="12926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N</a:t>
            </a:r>
            <a:endParaRPr lang="zh-TW" altLang="en-US" sz="42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305744" y="4576248"/>
            <a:ext cx="12926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N</a:t>
            </a:r>
            <a:endParaRPr lang="zh-TW" altLang="en-US" sz="4200" dirty="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7907963" y="6601995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11682019" y="6598759"/>
            <a:ext cx="95753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5202530" y="6015070"/>
            <a:ext cx="2469227" cy="1004415"/>
            <a:chOff x="1298905" y="4800778"/>
            <a:chExt cx="1646151" cy="669610"/>
          </a:xfrm>
        </p:grpSpPr>
        <p:sp>
          <p:nvSpPr>
            <p:cNvPr id="41" name="矩形: 圓角 40"/>
            <p:cNvSpPr/>
            <p:nvPr/>
          </p:nvSpPr>
          <p:spPr>
            <a:xfrm>
              <a:off x="1298905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2" name="矩形: 圓角 41"/>
            <p:cNvSpPr/>
            <p:nvPr/>
          </p:nvSpPr>
          <p:spPr>
            <a:xfrm>
              <a:off x="1795782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3" name="矩形: 圓角 42"/>
            <p:cNvSpPr/>
            <p:nvPr/>
          </p:nvSpPr>
          <p:spPr>
            <a:xfrm>
              <a:off x="2254913" y="4800778"/>
              <a:ext cx="251330" cy="66960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4" name="矩形: 圓角 43"/>
            <p:cNvSpPr/>
            <p:nvPr/>
          </p:nvSpPr>
          <p:spPr>
            <a:xfrm>
              <a:off x="2693726" y="4800779"/>
              <a:ext cx="251330" cy="66960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46" name="橢圓 45"/>
          <p:cNvSpPr/>
          <p:nvPr/>
        </p:nvSpPr>
        <p:spPr>
          <a:xfrm>
            <a:off x="12880075" y="6385924"/>
            <a:ext cx="425669" cy="42566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矩形: 圓角 72"/>
          <p:cNvSpPr/>
          <p:nvPr/>
        </p:nvSpPr>
        <p:spPr>
          <a:xfrm>
            <a:off x="8994383" y="6000369"/>
            <a:ext cx="2510286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Model</a:t>
            </a:r>
            <a:endParaRPr lang="zh-TW" altLang="en-US" sz="3600" dirty="0"/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What is the output?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1101725" y="2035175"/>
            <a:ext cx="16084550" cy="765175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Each vector has a label. </a:t>
            </a:r>
            <a:r>
              <a:rPr lang="en-US" altLang="zh-TW" b="1" dirty="0"/>
              <a:t> </a:t>
            </a:r>
            <a:endParaRPr lang="zh-TW" altLang="en-US" b="1" dirty="0"/>
          </a:p>
        </p:txBody>
      </p:sp>
      <p:sp>
        <p:nvSpPr>
          <p:cNvPr id="8" name="內容版面配置區 2"/>
          <p:cNvSpPr>
            <a:spLocks noGrp="1"/>
          </p:cNvSpPr>
          <p:nvPr/>
        </p:nvSpPr>
        <p:spPr>
          <a:xfrm>
            <a:off x="982053" y="2834703"/>
            <a:ext cx="16084550" cy="9018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sym typeface="+mn-ea"/>
              </a:rPr>
              <a:t>The whole sequence has a label</a:t>
            </a:r>
            <a:endParaRPr lang="zh-TW" altLang="en-US" b="1" dirty="0"/>
          </a:p>
        </p:txBody>
      </p:sp>
      <p:sp>
        <p:nvSpPr>
          <p:cNvPr id="2" name="文字方塊 54">
            <a:extLst>
              <a:ext uri="{FF2B5EF4-FFF2-40B4-BE49-F238E27FC236}">
                <a16:creationId xmlns:a16="http://schemas.microsoft.com/office/drawing/2014/main" id="{431AA669-7B68-94A0-E20B-0FD9016D750C}"/>
              </a:ext>
            </a:extLst>
          </p:cNvPr>
          <p:cNvSpPr txBox="1"/>
          <p:nvPr/>
        </p:nvSpPr>
        <p:spPr>
          <a:xfrm>
            <a:off x="1148299" y="7771653"/>
            <a:ext cx="9983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4000" dirty="0"/>
              <a:t> Model decides the number of labels itself.</a:t>
            </a:r>
          </a:p>
        </p:txBody>
      </p:sp>
      <p:cxnSp>
        <p:nvCxnSpPr>
          <p:cNvPr id="9" name="直線單箭頭接點 55">
            <a:extLst>
              <a:ext uri="{FF2B5EF4-FFF2-40B4-BE49-F238E27FC236}">
                <a16:creationId xmlns:a16="http://schemas.microsoft.com/office/drawing/2014/main" id="{C611B8AA-2766-CE3D-68CD-B0226086403A}"/>
              </a:ext>
            </a:extLst>
          </p:cNvPr>
          <p:cNvCxnSpPr>
            <a:cxnSpLocks/>
          </p:cNvCxnSpPr>
          <p:nvPr/>
        </p:nvCxnSpPr>
        <p:spPr>
          <a:xfrm>
            <a:off x="7190610" y="9090561"/>
            <a:ext cx="63835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57">
            <a:extLst>
              <a:ext uri="{FF2B5EF4-FFF2-40B4-BE49-F238E27FC236}">
                <a16:creationId xmlns:a16="http://schemas.microsoft.com/office/drawing/2014/main" id="{3BF7B6AC-7CC1-0785-8920-85DCBD312448}"/>
              </a:ext>
            </a:extLst>
          </p:cNvPr>
          <p:cNvCxnSpPr>
            <a:cxnSpLocks/>
          </p:cNvCxnSpPr>
          <p:nvPr/>
        </p:nvCxnSpPr>
        <p:spPr>
          <a:xfrm>
            <a:off x="9706647" y="9088404"/>
            <a:ext cx="63835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58">
            <a:extLst>
              <a:ext uri="{FF2B5EF4-FFF2-40B4-BE49-F238E27FC236}">
                <a16:creationId xmlns:a16="http://schemas.microsoft.com/office/drawing/2014/main" id="{6CF50069-8516-F4A3-FAEB-6C07E7974D15}"/>
              </a:ext>
            </a:extLst>
          </p:cNvPr>
          <p:cNvSpPr/>
          <p:nvPr/>
        </p:nvSpPr>
        <p:spPr>
          <a:xfrm>
            <a:off x="5386988" y="8699278"/>
            <a:ext cx="251330" cy="66960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59">
            <a:extLst>
              <a:ext uri="{FF2B5EF4-FFF2-40B4-BE49-F238E27FC236}">
                <a16:creationId xmlns:a16="http://schemas.microsoft.com/office/drawing/2014/main" id="{B7A51BA6-033C-D5C5-80D0-F4A7744D4DF5}"/>
              </a:ext>
            </a:extLst>
          </p:cNvPr>
          <p:cNvSpPr/>
          <p:nvPr/>
        </p:nvSpPr>
        <p:spPr>
          <a:xfrm>
            <a:off x="5883865" y="8699278"/>
            <a:ext cx="251330" cy="6696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60">
            <a:extLst>
              <a:ext uri="{FF2B5EF4-FFF2-40B4-BE49-F238E27FC236}">
                <a16:creationId xmlns:a16="http://schemas.microsoft.com/office/drawing/2014/main" id="{B5E3CF98-FA65-481F-D757-8C348ED2C5A0}"/>
              </a:ext>
            </a:extLst>
          </p:cNvPr>
          <p:cNvSpPr/>
          <p:nvPr/>
        </p:nvSpPr>
        <p:spPr>
          <a:xfrm>
            <a:off x="6342996" y="8699278"/>
            <a:ext cx="251330" cy="6696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63">
            <a:extLst>
              <a:ext uri="{FF2B5EF4-FFF2-40B4-BE49-F238E27FC236}">
                <a16:creationId xmlns:a16="http://schemas.microsoft.com/office/drawing/2014/main" id="{F5468AFD-B691-2658-9C61-3A557DE717DF}"/>
              </a:ext>
            </a:extLst>
          </p:cNvPr>
          <p:cNvSpPr/>
          <p:nvPr/>
        </p:nvSpPr>
        <p:spPr>
          <a:xfrm>
            <a:off x="6781809" y="8699279"/>
            <a:ext cx="251330" cy="66960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64">
            <a:extLst>
              <a:ext uri="{FF2B5EF4-FFF2-40B4-BE49-F238E27FC236}">
                <a16:creationId xmlns:a16="http://schemas.microsoft.com/office/drawing/2014/main" id="{98AF9EF5-DC5B-201F-5B75-47663418C789}"/>
              </a:ext>
            </a:extLst>
          </p:cNvPr>
          <p:cNvSpPr/>
          <p:nvPr/>
        </p:nvSpPr>
        <p:spPr>
          <a:xfrm>
            <a:off x="11236959" y="8943768"/>
            <a:ext cx="283779" cy="283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65">
            <a:extLst>
              <a:ext uri="{FF2B5EF4-FFF2-40B4-BE49-F238E27FC236}">
                <a16:creationId xmlns:a16="http://schemas.microsoft.com/office/drawing/2014/main" id="{D6D5FC69-828B-1008-C8C8-51722B64F3A0}"/>
              </a:ext>
            </a:extLst>
          </p:cNvPr>
          <p:cNvSpPr/>
          <p:nvPr/>
        </p:nvSpPr>
        <p:spPr>
          <a:xfrm>
            <a:off x="10761384" y="8943767"/>
            <a:ext cx="283779" cy="28377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66">
            <a:extLst>
              <a:ext uri="{FF2B5EF4-FFF2-40B4-BE49-F238E27FC236}">
                <a16:creationId xmlns:a16="http://schemas.microsoft.com/office/drawing/2014/main" id="{0FEF8778-8ED8-4D57-A13D-D07754D43FFA}"/>
              </a:ext>
            </a:extLst>
          </p:cNvPr>
          <p:cNvSpPr/>
          <p:nvPr/>
        </p:nvSpPr>
        <p:spPr>
          <a:xfrm>
            <a:off x="11651083" y="8929013"/>
            <a:ext cx="283779" cy="28377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右大括弧 67">
            <a:extLst>
              <a:ext uri="{FF2B5EF4-FFF2-40B4-BE49-F238E27FC236}">
                <a16:creationId xmlns:a16="http://schemas.microsoft.com/office/drawing/2014/main" id="{FD4BA84F-B279-ECC7-9886-8CDDE12E63FD}"/>
              </a:ext>
            </a:extLst>
          </p:cNvPr>
          <p:cNvSpPr/>
          <p:nvPr/>
        </p:nvSpPr>
        <p:spPr>
          <a:xfrm rot="5400000">
            <a:off x="6104492" y="8498175"/>
            <a:ext cx="283779" cy="1888454"/>
          </a:xfrm>
          <a:prstGeom prst="rightBrace">
            <a:avLst>
              <a:gd name="adj1" fmla="val 486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右大括弧 68">
            <a:extLst>
              <a:ext uri="{FF2B5EF4-FFF2-40B4-BE49-F238E27FC236}">
                <a16:creationId xmlns:a16="http://schemas.microsoft.com/office/drawing/2014/main" id="{0F9EF1B5-F23B-05EB-BBAD-5D0643624CE3}"/>
              </a:ext>
            </a:extLst>
          </p:cNvPr>
          <p:cNvSpPr/>
          <p:nvPr/>
        </p:nvSpPr>
        <p:spPr>
          <a:xfrm rot="5400000">
            <a:off x="11272534" y="8605013"/>
            <a:ext cx="232494" cy="1503760"/>
          </a:xfrm>
          <a:prstGeom prst="rightBrace">
            <a:avLst>
              <a:gd name="adj1" fmla="val 486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69">
            <a:extLst>
              <a:ext uri="{FF2B5EF4-FFF2-40B4-BE49-F238E27FC236}">
                <a16:creationId xmlns:a16="http://schemas.microsoft.com/office/drawing/2014/main" id="{1DAE8114-37EB-DFC3-C8DA-A1D1D2CAF9F9}"/>
              </a:ext>
            </a:extLst>
          </p:cNvPr>
          <p:cNvSpPr txBox="1"/>
          <p:nvPr/>
        </p:nvSpPr>
        <p:spPr>
          <a:xfrm>
            <a:off x="5815494" y="9587534"/>
            <a:ext cx="861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</a:t>
            </a:r>
            <a:endParaRPr lang="zh-TW" altLang="en-US" sz="2800" dirty="0"/>
          </a:p>
        </p:txBody>
      </p:sp>
      <p:sp>
        <p:nvSpPr>
          <p:cNvPr id="21" name="文字方塊 71">
            <a:extLst>
              <a:ext uri="{FF2B5EF4-FFF2-40B4-BE49-F238E27FC236}">
                <a16:creationId xmlns:a16="http://schemas.microsoft.com/office/drawing/2014/main" id="{D5299C31-6D43-6319-F59E-8C5C32C5716B}"/>
              </a:ext>
            </a:extLst>
          </p:cNvPr>
          <p:cNvSpPr txBox="1"/>
          <p:nvPr/>
        </p:nvSpPr>
        <p:spPr>
          <a:xfrm>
            <a:off x="10994857" y="9560022"/>
            <a:ext cx="861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N’</a:t>
            </a:r>
            <a:endParaRPr lang="zh-TW" altLang="en-US" sz="2800" dirty="0"/>
          </a:p>
        </p:txBody>
      </p:sp>
      <p:sp>
        <p:nvSpPr>
          <p:cNvPr id="22" name="矩形: 圓角 74">
            <a:extLst>
              <a:ext uri="{FF2B5EF4-FFF2-40B4-BE49-F238E27FC236}">
                <a16:creationId xmlns:a16="http://schemas.microsoft.com/office/drawing/2014/main" id="{D907E395-89F3-BF83-D3FB-83BD5C4A46D2}"/>
              </a:ext>
            </a:extLst>
          </p:cNvPr>
          <p:cNvSpPr/>
          <p:nvPr/>
        </p:nvSpPr>
        <p:spPr>
          <a:xfrm>
            <a:off x="7907963" y="8707107"/>
            <a:ext cx="1673524" cy="75709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Model</a:t>
            </a:r>
            <a:endParaRPr lang="zh-TW" altLang="en-US" sz="3200" dirty="0"/>
          </a:p>
        </p:txBody>
      </p:sp>
      <p:sp>
        <p:nvSpPr>
          <p:cNvPr id="37" name="文字方塊 81">
            <a:extLst>
              <a:ext uri="{FF2B5EF4-FFF2-40B4-BE49-F238E27FC236}">
                <a16:creationId xmlns:a16="http://schemas.microsoft.com/office/drawing/2014/main" id="{E028EEBF-BFF8-6BAB-4980-F81240646693}"/>
              </a:ext>
            </a:extLst>
          </p:cNvPr>
          <p:cNvSpPr txBox="1"/>
          <p:nvPr/>
        </p:nvSpPr>
        <p:spPr>
          <a:xfrm>
            <a:off x="7269738" y="9473140"/>
            <a:ext cx="292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Translation</a:t>
            </a:r>
            <a:endParaRPr lang="zh-TW" altLang="en-US" sz="2400" b="1" dirty="0"/>
          </a:p>
        </p:txBody>
      </p:sp>
      <p:sp>
        <p:nvSpPr>
          <p:cNvPr id="45" name="文字方塊 92">
            <a:extLst>
              <a:ext uri="{FF2B5EF4-FFF2-40B4-BE49-F238E27FC236}">
                <a16:creationId xmlns:a16="http://schemas.microsoft.com/office/drawing/2014/main" id="{F0515661-6975-874C-FC14-BC9E00D8B942}"/>
              </a:ext>
            </a:extLst>
          </p:cNvPr>
          <p:cNvSpPr txBox="1"/>
          <p:nvPr/>
        </p:nvSpPr>
        <p:spPr>
          <a:xfrm>
            <a:off x="11227278" y="7840940"/>
            <a:ext cx="2170515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seq2seq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73" grpId="0" bldLvl="0" animBg="1"/>
      <p:bldP spid="8" grpId="0" uiExpand="1"/>
      <p:bldP spid="8" grpId="1"/>
      <p:bldP spid="2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37" grpId="0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Sequence Learning</a:t>
            </a:r>
            <a:endParaRPr lang="zh-TW" altLang="en-US" dirty="0"/>
          </a:p>
        </p:txBody>
      </p:sp>
      <p:sp>
        <p:nvSpPr>
          <p:cNvPr id="5" name="矩形: 圓角 4"/>
          <p:cNvSpPr/>
          <p:nvPr/>
        </p:nvSpPr>
        <p:spPr>
          <a:xfrm>
            <a:off x="2622944" y="7935912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: 圓角 5"/>
          <p:cNvSpPr/>
          <p:nvPr/>
        </p:nvSpPr>
        <p:spPr>
          <a:xfrm>
            <a:off x="5473832" y="7935912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: 圓角 6"/>
          <p:cNvSpPr/>
          <p:nvPr/>
        </p:nvSpPr>
        <p:spPr>
          <a:xfrm>
            <a:off x="8324719" y="7935912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: 圓角 7"/>
          <p:cNvSpPr/>
          <p:nvPr/>
        </p:nvSpPr>
        <p:spPr>
          <a:xfrm>
            <a:off x="11175609" y="7935912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: 圓角 8"/>
          <p:cNvSpPr/>
          <p:nvPr/>
        </p:nvSpPr>
        <p:spPr>
          <a:xfrm>
            <a:off x="2115143" y="5839454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2812289" y="7057807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5652734" y="7057807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8513219" y="7097565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11362764" y="7097565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圓角 15"/>
          <p:cNvSpPr/>
          <p:nvPr/>
        </p:nvSpPr>
        <p:spPr>
          <a:xfrm>
            <a:off x="4945305" y="5839454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7" name="矩形: 圓角 16"/>
          <p:cNvSpPr/>
          <p:nvPr/>
        </p:nvSpPr>
        <p:spPr>
          <a:xfrm>
            <a:off x="7796193" y="5839452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8" name="矩形: 圓角 17"/>
          <p:cNvSpPr/>
          <p:nvPr/>
        </p:nvSpPr>
        <p:spPr>
          <a:xfrm>
            <a:off x="10665618" y="5839452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2812289" y="4995435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5652734" y="4995435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8513219" y="5035193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11362764" y="5035193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2598606" y="4430354"/>
            <a:ext cx="425669" cy="42566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橢圓 24"/>
          <p:cNvSpPr/>
          <p:nvPr/>
        </p:nvSpPr>
        <p:spPr>
          <a:xfrm>
            <a:off x="5439898" y="4430354"/>
            <a:ext cx="425669" cy="42566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橢圓 25"/>
          <p:cNvSpPr/>
          <p:nvPr/>
        </p:nvSpPr>
        <p:spPr>
          <a:xfrm>
            <a:off x="8315802" y="4440725"/>
            <a:ext cx="425669" cy="42566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11137217" y="4440723"/>
            <a:ext cx="425669" cy="42566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2999939" y="7097567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5764335" y="7077686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8788210" y="7052664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200901" y="7167273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 flipV="1">
            <a:off x="2949785" y="7097565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 flipV="1">
            <a:off x="5843484" y="7114511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 flipV="1">
            <a:off x="8737184" y="7101548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 flipV="1">
            <a:off x="11449752" y="7074753"/>
            <a:ext cx="2473893" cy="698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2356874" y="8987927"/>
            <a:ext cx="9108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5122404" y="8987927"/>
            <a:ext cx="1079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saw</a:t>
            </a:r>
            <a:endParaRPr lang="zh-TW" altLang="en-US" sz="36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395845" y="9039225"/>
            <a:ext cx="223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</a:p>
        </p:txBody>
      </p:sp>
      <p:sp>
        <p:nvSpPr>
          <p:cNvPr id="42" name="文字方塊 41"/>
          <p:cNvSpPr txBox="1"/>
          <p:nvPr/>
        </p:nvSpPr>
        <p:spPr>
          <a:xfrm>
            <a:off x="10824210" y="9022080"/>
            <a:ext cx="2187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saw</a:t>
            </a:r>
          </a:p>
        </p:txBody>
      </p:sp>
      <p:grpSp>
        <p:nvGrpSpPr>
          <p:cNvPr id="45" name="群組 44"/>
          <p:cNvGrpSpPr/>
          <p:nvPr/>
        </p:nvGrpSpPr>
        <p:grpSpPr>
          <a:xfrm>
            <a:off x="13167577" y="4590470"/>
            <a:ext cx="4015585" cy="1198880"/>
            <a:chOff x="6249484" y="1684426"/>
            <a:chExt cx="2677057" cy="799253"/>
          </a:xfrm>
        </p:grpSpPr>
        <p:sp>
          <p:nvSpPr>
            <p:cNvPr id="43" name="矩形: 圓角 42"/>
            <p:cNvSpPr/>
            <p:nvPr/>
          </p:nvSpPr>
          <p:spPr>
            <a:xfrm>
              <a:off x="6249484" y="1719303"/>
              <a:ext cx="929528" cy="75709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FC</a:t>
              </a:r>
              <a:endParaRPr lang="zh-TW" altLang="en-US" sz="3600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7277279" y="1684426"/>
              <a:ext cx="1649262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Fully-connected</a:t>
              </a:r>
            </a:p>
          </p:txBody>
        </p:sp>
      </p:grpSp>
      <p:sp>
        <p:nvSpPr>
          <p:cNvPr id="49" name="矩形: 圓角 48"/>
          <p:cNvSpPr/>
          <p:nvPr/>
        </p:nvSpPr>
        <p:spPr>
          <a:xfrm>
            <a:off x="2446680" y="7770312"/>
            <a:ext cx="6431298" cy="13278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" name="文字方塊 3"/>
          <p:cNvSpPr txBox="1"/>
          <p:nvPr/>
        </p:nvSpPr>
        <p:spPr>
          <a:xfrm>
            <a:off x="427065" y="8045964"/>
            <a:ext cx="2019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>
                <a:solidFill>
                  <a:srgbClr val="FF0000"/>
                </a:solidFill>
              </a:rPr>
              <a:t>window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3267703" y="2735982"/>
            <a:ext cx="111664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2800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 FC can consider the neighbor, but how to consider the whole inputs? </a:t>
            </a:r>
          </a:p>
        </p:txBody>
      </p:sp>
      <p:sp>
        <p:nvSpPr>
          <p:cNvPr id="11" name="文字方塊 45"/>
          <p:cNvSpPr txBox="1"/>
          <p:nvPr/>
        </p:nvSpPr>
        <p:spPr>
          <a:xfrm>
            <a:off x="5206050" y="3239055"/>
            <a:ext cx="9862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 window cover the whole sequence?</a:t>
            </a:r>
          </a:p>
        </p:txBody>
      </p:sp>
      <p:sp>
        <p:nvSpPr>
          <p:cNvPr id="12" name="文字方塊 45">
            <a:extLst>
              <a:ext uri="{FF2B5EF4-FFF2-40B4-BE49-F238E27FC236}">
                <a16:creationId xmlns:a16="http://schemas.microsoft.com/office/drawing/2014/main" id="{E9F0A4E5-833D-16A8-EDBC-BC2F36608D55}"/>
              </a:ext>
            </a:extLst>
          </p:cNvPr>
          <p:cNvSpPr txBox="1"/>
          <p:nvPr/>
        </p:nvSpPr>
        <p:spPr>
          <a:xfrm>
            <a:off x="5206050" y="2161349"/>
            <a:ext cx="9862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Is it possible to consider the context?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6" grpId="0" bldLvl="0" animBg="1"/>
      <p:bldP spid="17" grpId="0" bldLvl="0" animBg="1"/>
      <p:bldP spid="18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39" grpId="0"/>
      <p:bldP spid="40" grpId="0"/>
      <p:bldP spid="41" grpId="0"/>
      <p:bldP spid="42" grpId="0"/>
      <p:bldP spid="49" grpId="0" bldLvl="0" animBg="1"/>
      <p:bldP spid="4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8" name="矩形: 圓角 7"/>
          <p:cNvSpPr/>
          <p:nvPr/>
        </p:nvSpPr>
        <p:spPr>
          <a:xfrm>
            <a:off x="2543000" y="4005090"/>
            <a:ext cx="929528" cy="75709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FC</a:t>
            </a:r>
            <a:endParaRPr lang="zh-TW" altLang="en-US" sz="2400" dirty="0"/>
          </a:p>
        </p:txBody>
      </p:sp>
      <p:sp>
        <p:nvSpPr>
          <p:cNvPr id="13" name="矩形: 圓角 12"/>
          <p:cNvSpPr/>
          <p:nvPr/>
        </p:nvSpPr>
        <p:spPr>
          <a:xfrm>
            <a:off x="4429775" y="4005090"/>
            <a:ext cx="929528" cy="75709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FC</a:t>
            </a:r>
            <a:endParaRPr lang="zh-TW" altLang="en-US" sz="2400" dirty="0"/>
          </a:p>
        </p:txBody>
      </p:sp>
      <p:sp>
        <p:nvSpPr>
          <p:cNvPr id="14" name="矩形: 圓角 13"/>
          <p:cNvSpPr/>
          <p:nvPr/>
        </p:nvSpPr>
        <p:spPr>
          <a:xfrm>
            <a:off x="6330367" y="4005089"/>
            <a:ext cx="929528" cy="75709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FC</a:t>
            </a:r>
            <a:endParaRPr lang="zh-TW" altLang="en-US" sz="2400" dirty="0"/>
          </a:p>
        </p:txBody>
      </p:sp>
      <p:sp>
        <p:nvSpPr>
          <p:cNvPr id="15" name="矩形: 圓角 14"/>
          <p:cNvSpPr/>
          <p:nvPr/>
        </p:nvSpPr>
        <p:spPr>
          <a:xfrm>
            <a:off x="8243317" y="4005089"/>
            <a:ext cx="929528" cy="75709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FC</a:t>
            </a:r>
            <a:endParaRPr lang="zh-TW" altLang="en-US" sz="2400" dirty="0"/>
          </a:p>
        </p:txBody>
      </p:sp>
      <p:cxnSp>
        <p:nvCxnSpPr>
          <p:cNvPr id="16" name="直線單箭頭接點 15"/>
          <p:cNvCxnSpPr/>
          <p:nvPr/>
        </p:nvCxnSpPr>
        <p:spPr>
          <a:xfrm flipV="1">
            <a:off x="3007764" y="3442411"/>
            <a:ext cx="0" cy="4924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4901394" y="3442411"/>
            <a:ext cx="0" cy="4924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6808384" y="3468916"/>
            <a:ext cx="0" cy="4924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8708081" y="3468916"/>
            <a:ext cx="0" cy="4924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865309" y="3065690"/>
            <a:ext cx="283779" cy="28377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4759504" y="3065690"/>
            <a:ext cx="283779" cy="283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676773" y="3072604"/>
            <a:ext cx="283779" cy="28377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8542476" y="3072603"/>
            <a:ext cx="283779" cy="28377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: 圓角 38"/>
          <p:cNvSpPr/>
          <p:nvPr/>
        </p:nvSpPr>
        <p:spPr>
          <a:xfrm>
            <a:off x="2537237" y="6227069"/>
            <a:ext cx="6629845" cy="75709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Self-attention</a:t>
            </a:r>
            <a:endParaRPr lang="zh-TW" altLang="en-US" sz="2400" dirty="0"/>
          </a:p>
        </p:txBody>
      </p:sp>
      <p:cxnSp>
        <p:nvCxnSpPr>
          <p:cNvPr id="40" name="直線單箭頭接點 39"/>
          <p:cNvCxnSpPr/>
          <p:nvPr/>
        </p:nvCxnSpPr>
        <p:spPr>
          <a:xfrm flipH="1" flipV="1">
            <a:off x="3001435" y="6994515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 flipV="1">
            <a:off x="4902028" y="6990350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 flipV="1">
            <a:off x="6795131" y="6984166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H="1" flipV="1">
            <a:off x="8702318" y="7004864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圓角 47"/>
          <p:cNvSpPr/>
          <p:nvPr/>
        </p:nvSpPr>
        <p:spPr>
          <a:xfrm>
            <a:off x="2882643" y="5161028"/>
            <a:ext cx="251330" cy="66960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: 圓角 48"/>
          <p:cNvSpPr/>
          <p:nvPr/>
        </p:nvSpPr>
        <p:spPr>
          <a:xfrm>
            <a:off x="4782620" y="5161028"/>
            <a:ext cx="251330" cy="66960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: 圓角 49"/>
          <p:cNvSpPr/>
          <p:nvPr/>
        </p:nvSpPr>
        <p:spPr>
          <a:xfrm>
            <a:off x="6683212" y="5161028"/>
            <a:ext cx="251330" cy="66960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: 圓角 50"/>
          <p:cNvSpPr/>
          <p:nvPr/>
        </p:nvSpPr>
        <p:spPr>
          <a:xfrm>
            <a:off x="8583805" y="5161028"/>
            <a:ext cx="251330" cy="66960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: 圓角 81"/>
          <p:cNvSpPr/>
          <p:nvPr/>
        </p:nvSpPr>
        <p:spPr>
          <a:xfrm>
            <a:off x="2875119" y="7406428"/>
            <a:ext cx="251330" cy="66960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: 圓角 82"/>
          <p:cNvSpPr/>
          <p:nvPr/>
        </p:nvSpPr>
        <p:spPr>
          <a:xfrm>
            <a:off x="4775711" y="7406428"/>
            <a:ext cx="251330" cy="6696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: 圓角 83"/>
          <p:cNvSpPr/>
          <p:nvPr/>
        </p:nvSpPr>
        <p:spPr>
          <a:xfrm>
            <a:off x="6676303" y="7406428"/>
            <a:ext cx="251330" cy="6696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/>
          <p:cNvSpPr/>
          <p:nvPr/>
        </p:nvSpPr>
        <p:spPr>
          <a:xfrm>
            <a:off x="8576896" y="7406428"/>
            <a:ext cx="251330" cy="66960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單箭頭接點 85"/>
          <p:cNvCxnSpPr/>
          <p:nvPr/>
        </p:nvCxnSpPr>
        <p:spPr>
          <a:xfrm flipH="1" flipV="1">
            <a:off x="3001435" y="5840986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4902028" y="5836821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/>
          <p:nvPr/>
        </p:nvCxnSpPr>
        <p:spPr>
          <a:xfrm flipH="1" flipV="1">
            <a:off x="6795131" y="5830637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H="1" flipV="1">
            <a:off x="8702318" y="5851335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 flipH="1" flipV="1">
            <a:off x="3001988" y="4781791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H="1" flipV="1">
            <a:off x="4902581" y="4777626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H="1" flipV="1">
            <a:off x="6795684" y="4771442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flipH="1" flipV="1">
            <a:off x="8702871" y="4792140"/>
            <a:ext cx="0" cy="38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方塊 93"/>
          <p:cNvSpPr txBox="1"/>
          <p:nvPr/>
        </p:nvSpPr>
        <p:spPr>
          <a:xfrm>
            <a:off x="288925" y="5111750"/>
            <a:ext cx="2537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with context</a:t>
            </a:r>
            <a:endParaRPr lang="zh-TW" altLang="en-US" sz="2400" dirty="0"/>
          </a:p>
        </p:txBody>
      </p:sp>
      <p:sp>
        <p:nvSpPr>
          <p:cNvPr id="5" name="Text Box 4"/>
          <p:cNvSpPr txBox="1"/>
          <p:nvPr/>
        </p:nvSpPr>
        <p:spPr>
          <a:xfrm>
            <a:off x="12981940" y="8474710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TW" altLang="en-US" dirty="0">
                <a:sym typeface="+mn-ea"/>
              </a:rPr>
              <a:t>https://arxiv.org/abs/1706.03762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7065" y="2813050"/>
            <a:ext cx="5238750" cy="5661660"/>
          </a:xfrm>
          <a:prstGeom prst="rect">
            <a:avLst/>
          </a:prstGeom>
        </p:spPr>
      </p:pic>
      <p:sp>
        <p:nvSpPr>
          <p:cNvPr id="7" name="Left Arrow 6"/>
          <p:cNvSpPr/>
          <p:nvPr/>
        </p:nvSpPr>
        <p:spPr>
          <a:xfrm>
            <a:off x="9858375" y="5175250"/>
            <a:ext cx="1694815" cy="337820"/>
          </a:xfrm>
          <a:prstGeom prst="leftArrow">
            <a:avLst/>
          </a:prstGeom>
          <a:blipFill>
            <a:blip r:embed="rId3"/>
            <a:tile tx="0" ty="0" sx="100000" sy="100000" flip="none" algn="tl"/>
          </a:blip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12505055" y="2291080"/>
            <a:ext cx="438277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2800" b="1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Attention is All You Need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3" grpId="0" bldLvl="0" animBg="1"/>
      <p:bldP spid="14" grpId="0" bldLvl="0" animBg="1"/>
      <p:bldP spid="15" grpId="0" bldLvl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39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94" grpId="0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圓角 7">
            <a:extLst>
              <a:ext uri="{FF2B5EF4-FFF2-40B4-BE49-F238E27FC236}">
                <a16:creationId xmlns:a16="http://schemas.microsoft.com/office/drawing/2014/main" id="{A344A933-0398-4C50-B415-DCBFF3F4E898}"/>
              </a:ext>
            </a:extLst>
          </p:cNvPr>
          <p:cNvSpPr/>
          <p:nvPr/>
        </p:nvSpPr>
        <p:spPr>
          <a:xfrm>
            <a:off x="4191494" y="4771627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887B525-DC95-4996-8249-41F2367DF0ED}"/>
              </a:ext>
            </a:extLst>
          </p:cNvPr>
          <p:cNvSpPr/>
          <p:nvPr/>
        </p:nvSpPr>
        <p:spPr>
          <a:xfrm>
            <a:off x="7021656" y="4771627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97309D0-C95A-4DEB-9C2B-CD1715C088BE}"/>
              </a:ext>
            </a:extLst>
          </p:cNvPr>
          <p:cNvSpPr/>
          <p:nvPr/>
        </p:nvSpPr>
        <p:spPr>
          <a:xfrm>
            <a:off x="9872544" y="4771625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DD846DB-7213-44CE-87EA-B5BB868293E4}"/>
              </a:ext>
            </a:extLst>
          </p:cNvPr>
          <p:cNvSpPr/>
          <p:nvPr/>
        </p:nvSpPr>
        <p:spPr>
          <a:xfrm>
            <a:off x="12741969" y="4771625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2832B640-3935-4125-A22F-F2843B10EBF2}"/>
              </a:ext>
            </a:extLst>
          </p:cNvPr>
          <p:cNvSpPr/>
          <p:nvPr/>
        </p:nvSpPr>
        <p:spPr>
          <a:xfrm>
            <a:off x="4171616" y="6536444"/>
            <a:ext cx="9944768" cy="1135646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Self-attention</a:t>
            </a:r>
            <a:endParaRPr lang="zh-TW" altLang="en-US" sz="3600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2B76B92-78A9-4A77-AFCA-F6BBA03412BE}"/>
              </a:ext>
            </a:extLst>
          </p:cNvPr>
          <p:cNvCxnSpPr>
            <a:cxnSpLocks/>
          </p:cNvCxnSpPr>
          <p:nvPr/>
        </p:nvCxnSpPr>
        <p:spPr>
          <a:xfrm flipH="1" flipV="1">
            <a:off x="4867913" y="768761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461FAD89-941D-4EAE-9C61-7210AD0DF888}"/>
              </a:ext>
            </a:extLst>
          </p:cNvPr>
          <p:cNvCxnSpPr>
            <a:cxnSpLocks/>
          </p:cNvCxnSpPr>
          <p:nvPr/>
        </p:nvCxnSpPr>
        <p:spPr>
          <a:xfrm flipH="1" flipV="1">
            <a:off x="7718802" y="768136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31D62354-08B3-459E-AC0E-AFD736CF2A40}"/>
              </a:ext>
            </a:extLst>
          </p:cNvPr>
          <p:cNvCxnSpPr>
            <a:cxnSpLocks/>
          </p:cNvCxnSpPr>
          <p:nvPr/>
        </p:nvCxnSpPr>
        <p:spPr>
          <a:xfrm flipH="1" flipV="1">
            <a:off x="10558457" y="7672090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7015A657-C578-44CD-9664-C506BBF799B8}"/>
              </a:ext>
            </a:extLst>
          </p:cNvPr>
          <p:cNvCxnSpPr>
            <a:cxnSpLocks/>
          </p:cNvCxnSpPr>
          <p:nvPr/>
        </p:nvCxnSpPr>
        <p:spPr>
          <a:xfrm flipH="1" flipV="1">
            <a:off x="13419237" y="770313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DAB20ADC-4B01-47C0-AA47-F69267A6847F}"/>
              </a:ext>
            </a:extLst>
          </p:cNvPr>
          <p:cNvSpPr/>
          <p:nvPr/>
        </p:nvSpPr>
        <p:spPr>
          <a:xfrm>
            <a:off x="4701299" y="8305483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795E40B0-AAED-4CEE-B47C-6F4523E0EE7F}"/>
              </a:ext>
            </a:extLst>
          </p:cNvPr>
          <p:cNvSpPr/>
          <p:nvPr/>
        </p:nvSpPr>
        <p:spPr>
          <a:xfrm>
            <a:off x="7552187" y="8305483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C010A3C1-6924-439A-834D-B68B6E3E9195}"/>
              </a:ext>
            </a:extLst>
          </p:cNvPr>
          <p:cNvSpPr/>
          <p:nvPr/>
        </p:nvSpPr>
        <p:spPr>
          <a:xfrm>
            <a:off x="10403075" y="8305483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B13FD4EC-E0DA-4993-B8E5-F35AE8ECFF2D}"/>
              </a:ext>
            </a:extLst>
          </p:cNvPr>
          <p:cNvSpPr/>
          <p:nvPr/>
        </p:nvSpPr>
        <p:spPr>
          <a:xfrm>
            <a:off x="13253964" y="8305483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91FD6098-305E-469F-8E2F-F05691D051BB}"/>
              </a:ext>
            </a:extLst>
          </p:cNvPr>
          <p:cNvCxnSpPr>
            <a:cxnSpLocks/>
          </p:cNvCxnSpPr>
          <p:nvPr/>
        </p:nvCxnSpPr>
        <p:spPr>
          <a:xfrm flipH="1" flipV="1">
            <a:off x="4867913" y="5957320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2841A0AD-21C5-4ECF-A473-5750324636C8}"/>
              </a:ext>
            </a:extLst>
          </p:cNvPr>
          <p:cNvCxnSpPr>
            <a:cxnSpLocks/>
          </p:cNvCxnSpPr>
          <p:nvPr/>
        </p:nvCxnSpPr>
        <p:spPr>
          <a:xfrm flipH="1" flipV="1">
            <a:off x="7718802" y="5951072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25908A39-2F2B-492E-845C-1032DEADF1EB}"/>
              </a:ext>
            </a:extLst>
          </p:cNvPr>
          <p:cNvCxnSpPr>
            <a:cxnSpLocks/>
          </p:cNvCxnSpPr>
          <p:nvPr/>
        </p:nvCxnSpPr>
        <p:spPr>
          <a:xfrm flipH="1" flipV="1">
            <a:off x="10558457" y="594179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1D9EC5C4-9E1E-459B-A8C0-333E88193385}"/>
              </a:ext>
            </a:extLst>
          </p:cNvPr>
          <p:cNvCxnSpPr>
            <a:cxnSpLocks/>
          </p:cNvCxnSpPr>
          <p:nvPr/>
        </p:nvCxnSpPr>
        <p:spPr>
          <a:xfrm flipH="1" flipV="1">
            <a:off x="13419237" y="597284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2FD5E9C7-CFE0-40E7-BEDC-9A21180986FB}"/>
              </a:ext>
            </a:extLst>
          </p:cNvPr>
          <p:cNvSpPr/>
          <p:nvPr/>
        </p:nvSpPr>
        <p:spPr>
          <a:xfrm>
            <a:off x="4191494" y="3004697"/>
            <a:ext cx="9944768" cy="113564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Self-attention</a:t>
            </a:r>
            <a:endParaRPr lang="zh-TW" altLang="en-US" sz="3600" dirty="0"/>
          </a:p>
        </p:txBody>
      </p: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B6EB8278-19B0-4B0D-AB14-818DF48F85E3}"/>
              </a:ext>
            </a:extLst>
          </p:cNvPr>
          <p:cNvCxnSpPr>
            <a:cxnSpLocks/>
          </p:cNvCxnSpPr>
          <p:nvPr/>
        </p:nvCxnSpPr>
        <p:spPr>
          <a:xfrm flipH="1" flipV="1">
            <a:off x="4887791" y="415586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0C0FD6DB-929B-4147-8D0B-95EF3A3E7B57}"/>
              </a:ext>
            </a:extLst>
          </p:cNvPr>
          <p:cNvCxnSpPr>
            <a:cxnSpLocks/>
          </p:cNvCxnSpPr>
          <p:nvPr/>
        </p:nvCxnSpPr>
        <p:spPr>
          <a:xfrm flipH="1" flipV="1">
            <a:off x="7738680" y="414961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EED8986D-C547-4A49-B78A-9E9D50D7E306}"/>
              </a:ext>
            </a:extLst>
          </p:cNvPr>
          <p:cNvCxnSpPr>
            <a:cxnSpLocks/>
          </p:cNvCxnSpPr>
          <p:nvPr/>
        </p:nvCxnSpPr>
        <p:spPr>
          <a:xfrm flipH="1" flipV="1">
            <a:off x="10578335" y="414034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60B8A04E-4550-4BAC-B0AD-2B8680C85205}"/>
              </a:ext>
            </a:extLst>
          </p:cNvPr>
          <p:cNvCxnSpPr>
            <a:cxnSpLocks/>
          </p:cNvCxnSpPr>
          <p:nvPr/>
        </p:nvCxnSpPr>
        <p:spPr>
          <a:xfrm flipH="1" flipV="1">
            <a:off x="13439115" y="4171390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50B48BB1-3D1C-4F5B-9598-9344384C92EB}"/>
              </a:ext>
            </a:extLst>
          </p:cNvPr>
          <p:cNvCxnSpPr>
            <a:cxnSpLocks/>
          </p:cNvCxnSpPr>
          <p:nvPr/>
        </p:nvCxnSpPr>
        <p:spPr>
          <a:xfrm flipH="1" flipV="1">
            <a:off x="4887791" y="242557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BCD5CAA8-CB6C-4EA4-801C-CFC83CFF538C}"/>
              </a:ext>
            </a:extLst>
          </p:cNvPr>
          <p:cNvCxnSpPr>
            <a:cxnSpLocks/>
          </p:cNvCxnSpPr>
          <p:nvPr/>
        </p:nvCxnSpPr>
        <p:spPr>
          <a:xfrm flipH="1" flipV="1">
            <a:off x="7738680" y="241932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50D1251B-6090-44F0-B04D-7C3ABCBFCBB3}"/>
              </a:ext>
            </a:extLst>
          </p:cNvPr>
          <p:cNvCxnSpPr>
            <a:cxnSpLocks/>
          </p:cNvCxnSpPr>
          <p:nvPr/>
        </p:nvCxnSpPr>
        <p:spPr>
          <a:xfrm flipH="1" flipV="1">
            <a:off x="10578335" y="241004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4491E4A6-C0D9-4021-81D4-0A0CF9064E59}"/>
              </a:ext>
            </a:extLst>
          </p:cNvPr>
          <p:cNvCxnSpPr>
            <a:cxnSpLocks/>
          </p:cNvCxnSpPr>
          <p:nvPr/>
        </p:nvCxnSpPr>
        <p:spPr>
          <a:xfrm flipH="1" flipV="1">
            <a:off x="13439115" y="244109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C603C6D-B581-4B34-B3E4-82BA0352EBCA}"/>
              </a:ext>
            </a:extLst>
          </p:cNvPr>
          <p:cNvCxnSpPr>
            <a:cxnSpLocks/>
          </p:cNvCxnSpPr>
          <p:nvPr/>
        </p:nvCxnSpPr>
        <p:spPr>
          <a:xfrm flipV="1">
            <a:off x="4858077" y="705161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7A99F931-4CF8-485B-9874-25AC07FF129D}"/>
              </a:ext>
            </a:extLst>
          </p:cNvPr>
          <p:cNvCxnSpPr>
            <a:cxnSpLocks/>
          </p:cNvCxnSpPr>
          <p:nvPr/>
        </p:nvCxnSpPr>
        <p:spPr>
          <a:xfrm flipV="1">
            <a:off x="7731075" y="725350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CEAFB9BA-20F8-4A04-A666-5A63935CCE8B}"/>
              </a:ext>
            </a:extLst>
          </p:cNvPr>
          <p:cNvCxnSpPr>
            <a:cxnSpLocks/>
          </p:cNvCxnSpPr>
          <p:nvPr/>
        </p:nvCxnSpPr>
        <p:spPr>
          <a:xfrm flipV="1">
            <a:off x="10578335" y="716563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97CEE731-AEDE-477A-89F7-9DD59F9449A3}"/>
              </a:ext>
            </a:extLst>
          </p:cNvPr>
          <p:cNvCxnSpPr>
            <a:cxnSpLocks/>
          </p:cNvCxnSpPr>
          <p:nvPr/>
        </p:nvCxnSpPr>
        <p:spPr>
          <a:xfrm flipV="1">
            <a:off x="13460886" y="726932"/>
            <a:ext cx="0" cy="738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>
            <a:extLst>
              <a:ext uri="{FF2B5EF4-FFF2-40B4-BE49-F238E27FC236}">
                <a16:creationId xmlns:a16="http://schemas.microsoft.com/office/drawing/2014/main" id="{2DEEC94D-6B8F-4903-BE20-D6561E2EAF96}"/>
              </a:ext>
            </a:extLst>
          </p:cNvPr>
          <p:cNvSpPr/>
          <p:nvPr/>
        </p:nvSpPr>
        <p:spPr>
          <a:xfrm>
            <a:off x="4676948" y="269123"/>
            <a:ext cx="425669" cy="42566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F1739675-A671-4D36-A4FB-4210BBD9A51B}"/>
              </a:ext>
            </a:extLst>
          </p:cNvPr>
          <p:cNvSpPr/>
          <p:nvPr/>
        </p:nvSpPr>
        <p:spPr>
          <a:xfrm>
            <a:off x="7518241" y="269123"/>
            <a:ext cx="425669" cy="42566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429FB898-E2A1-4C1A-867B-E070FC63A048}"/>
              </a:ext>
            </a:extLst>
          </p:cNvPr>
          <p:cNvSpPr/>
          <p:nvPr/>
        </p:nvSpPr>
        <p:spPr>
          <a:xfrm>
            <a:off x="10372373" y="279494"/>
            <a:ext cx="425669" cy="42566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3708AEDE-6AC7-4F43-8F47-5DE15F546993}"/>
              </a:ext>
            </a:extLst>
          </p:cNvPr>
          <p:cNvSpPr/>
          <p:nvPr/>
        </p:nvSpPr>
        <p:spPr>
          <a:xfrm>
            <a:off x="13215559" y="279493"/>
            <a:ext cx="425669" cy="42566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36BCC9F0-DEF7-43E8-99E3-FF724E621A3E}"/>
              </a:ext>
            </a:extLst>
          </p:cNvPr>
          <p:cNvSpPr/>
          <p:nvPr/>
        </p:nvSpPr>
        <p:spPr>
          <a:xfrm>
            <a:off x="4211372" y="1239880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E131EB9D-58BA-4453-B881-2D944D090DF7}"/>
              </a:ext>
            </a:extLst>
          </p:cNvPr>
          <p:cNvSpPr/>
          <p:nvPr/>
        </p:nvSpPr>
        <p:spPr>
          <a:xfrm>
            <a:off x="7041534" y="1239880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93C92468-5007-44EA-9775-A8C4EAF30990}"/>
              </a:ext>
            </a:extLst>
          </p:cNvPr>
          <p:cNvSpPr/>
          <p:nvPr/>
        </p:nvSpPr>
        <p:spPr>
          <a:xfrm>
            <a:off x="9892422" y="1239878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3F2E0071-2AB5-40EB-8EAF-D81C55F6CD4E}"/>
              </a:ext>
            </a:extLst>
          </p:cNvPr>
          <p:cNvSpPr/>
          <p:nvPr/>
        </p:nvSpPr>
        <p:spPr>
          <a:xfrm>
            <a:off x="12761847" y="1239878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EEDC44FE-5CAC-489B-8FC1-4911B1AE7FE8}"/>
              </a:ext>
            </a:extLst>
          </p:cNvPr>
          <p:cNvSpPr txBox="1"/>
          <p:nvPr/>
        </p:nvSpPr>
        <p:spPr>
          <a:xfrm>
            <a:off x="6457950" y="9758624"/>
            <a:ext cx="613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https://arxiv.org/abs/1706.03762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ABD623-AF39-43E7-8AC3-7525AC5F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FE7D4A-7B99-4F9B-9C7F-3AECE8C25A38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23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99" grpId="0" animBg="1"/>
      <p:bldP spid="100" grpId="0" animBg="1"/>
      <p:bldP spid="101" grpId="0" animBg="1"/>
      <p:bldP spid="102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E2231850-DB69-43BD-9E44-F816DED49FD7}"/>
              </a:ext>
            </a:extLst>
          </p:cNvPr>
          <p:cNvSpPr/>
          <p:nvPr/>
        </p:nvSpPr>
        <p:spPr>
          <a:xfrm>
            <a:off x="2683613" y="113008"/>
            <a:ext cx="41232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i="1" u="sng" dirty="0"/>
              <a:t>Self-attention</a:t>
            </a:r>
            <a:endParaRPr lang="zh-TW" altLang="en-US" sz="4800" b="1" i="1" u="sng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CE2B86E-F743-414B-92E4-90C89AB12F1B}"/>
              </a:ext>
            </a:extLst>
          </p:cNvPr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7329AA9-D8FD-4FAC-9977-11B29AE4DC05}"/>
              </a:ext>
            </a:extLst>
          </p:cNvPr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1D9B28F-03D6-4D76-8663-D1D3A055E246}"/>
              </a:ext>
            </a:extLst>
          </p:cNvPr>
          <p:cNvSpPr/>
          <p:nvPr/>
        </p:nvSpPr>
        <p:spPr>
          <a:xfrm>
            <a:off x="10647592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70B9706-0970-4DF2-912A-F82EBE603CB2}"/>
              </a:ext>
            </a:extLst>
          </p:cNvPr>
          <p:cNvSpPr/>
          <p:nvPr/>
        </p:nvSpPr>
        <p:spPr>
          <a:xfrm>
            <a:off x="14024788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8FAB9509-004F-447B-A522-D5E1CA40E1D3}"/>
                  </a:ext>
                </a:extLst>
              </p:cNvPr>
              <p:cNvSpPr txBox="1"/>
              <p:nvPr/>
            </p:nvSpPr>
            <p:spPr>
              <a:xfrm>
                <a:off x="13876261" y="7441455"/>
                <a:ext cx="1072742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8FAB9509-004F-447B-A522-D5E1CA40E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1" y="7441455"/>
                <a:ext cx="1072742" cy="6574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883CA45-E29A-4C5F-9F96-977CF6CF9AEC}"/>
                  </a:ext>
                </a:extLst>
              </p:cNvPr>
              <p:cNvSpPr txBox="1"/>
              <p:nvPr/>
            </p:nvSpPr>
            <p:spPr>
              <a:xfrm>
                <a:off x="10504750" y="7424846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883CA45-E29A-4C5F-9F96-977CF6CF9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50" y="7424846"/>
                <a:ext cx="1072742" cy="6588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3E7730C-598A-49C4-A742-F1F2CE7BD8AE}"/>
                  </a:ext>
                </a:extLst>
              </p:cNvPr>
              <p:cNvSpPr txBox="1"/>
              <p:nvPr/>
            </p:nvSpPr>
            <p:spPr>
              <a:xfrm>
                <a:off x="7186367" y="7424846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3E7730C-598A-49C4-A742-F1F2CE7BD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588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DDB1BD8-2005-486D-AE0B-B41F344F6586}"/>
                  </a:ext>
                </a:extLst>
              </p:cNvPr>
              <p:cNvSpPr txBox="1"/>
              <p:nvPr/>
            </p:nvSpPr>
            <p:spPr>
              <a:xfrm>
                <a:off x="3746705" y="7413647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0DDB1BD8-2005-486D-AE0B-B41F344F6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58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 58">
            <a:extLst>
              <a:ext uri="{FF2B5EF4-FFF2-40B4-BE49-F238E27FC236}">
                <a16:creationId xmlns:a16="http://schemas.microsoft.com/office/drawing/2014/main" id="{D119A153-93C5-430A-B78B-A68B14B94318}"/>
              </a:ext>
            </a:extLst>
          </p:cNvPr>
          <p:cNvSpPr/>
          <p:nvPr/>
        </p:nvSpPr>
        <p:spPr>
          <a:xfrm>
            <a:off x="3864315" y="1543070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5EAA158-2651-42F3-9DBD-56E011D1DB9E}"/>
              </a:ext>
            </a:extLst>
          </p:cNvPr>
          <p:cNvSpPr/>
          <p:nvPr/>
        </p:nvSpPr>
        <p:spPr>
          <a:xfrm>
            <a:off x="7278002" y="1543068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B572C23-6D54-4093-8C6C-BB39E5A5D8A1}"/>
              </a:ext>
            </a:extLst>
          </p:cNvPr>
          <p:cNvSpPr/>
          <p:nvPr/>
        </p:nvSpPr>
        <p:spPr>
          <a:xfrm>
            <a:off x="10626490" y="1565373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5C79123-7841-4C41-83A2-1153987FF191}"/>
              </a:ext>
            </a:extLst>
          </p:cNvPr>
          <p:cNvSpPr/>
          <p:nvPr/>
        </p:nvSpPr>
        <p:spPr>
          <a:xfrm>
            <a:off x="14003686" y="1590575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E165A32F-D888-4035-8B32-E411A59639F2}"/>
                  </a:ext>
                </a:extLst>
              </p:cNvPr>
              <p:cNvSpPr txBox="1"/>
              <p:nvPr/>
            </p:nvSpPr>
            <p:spPr>
              <a:xfrm>
                <a:off x="13855159" y="1673484"/>
                <a:ext cx="1072742" cy="65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E165A32F-D888-4035-8B32-E411A596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5159" y="1673484"/>
                <a:ext cx="1072742" cy="657424"/>
              </a:xfrm>
              <a:prstGeom prst="rect">
                <a:avLst/>
              </a:prstGeom>
              <a:blipFill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6B8B59A5-A5E0-4019-9A81-3C39E293B103}"/>
                  </a:ext>
                </a:extLst>
              </p:cNvPr>
              <p:cNvSpPr txBox="1"/>
              <p:nvPr/>
            </p:nvSpPr>
            <p:spPr>
              <a:xfrm>
                <a:off x="10483648" y="1656875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6B8B59A5-A5E0-4019-9A81-3C39E293B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648" y="1656875"/>
                <a:ext cx="1072742" cy="6588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FE6F2BF-4D4F-4F80-85EB-8A06B4DA0708}"/>
                  </a:ext>
                </a:extLst>
              </p:cNvPr>
              <p:cNvSpPr txBox="1"/>
              <p:nvPr/>
            </p:nvSpPr>
            <p:spPr>
              <a:xfrm>
                <a:off x="7165265" y="1656875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FE6F2BF-4D4F-4F80-85EB-8A06B4DA0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265" y="1656875"/>
                <a:ext cx="1072742" cy="6588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8B8F5BBD-3951-4EC7-835E-C6E258F64F2F}"/>
                  </a:ext>
                </a:extLst>
              </p:cNvPr>
              <p:cNvSpPr txBox="1"/>
              <p:nvPr/>
            </p:nvSpPr>
            <p:spPr>
              <a:xfrm>
                <a:off x="3725603" y="1645676"/>
                <a:ext cx="107274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8B8F5BBD-3951-4EC7-835E-C6E258F64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603" y="1645676"/>
                <a:ext cx="1072742" cy="6588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5D1166AA-2DE9-4893-8834-FEEA5522CEA4}"/>
              </a:ext>
            </a:extLst>
          </p:cNvPr>
          <p:cNvSpPr/>
          <p:nvPr/>
        </p:nvSpPr>
        <p:spPr>
          <a:xfrm>
            <a:off x="3214475" y="3123029"/>
            <a:ext cx="12112275" cy="3613659"/>
          </a:xfrm>
          <a:prstGeom prst="roundRect">
            <a:avLst/>
          </a:prstGeom>
          <a:blipFill>
            <a:blip r:embed="rId10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37714469-FC43-493B-AF84-CD689DB6F93B}"/>
              </a:ext>
            </a:extLst>
          </p:cNvPr>
          <p:cNvCxnSpPr>
            <a:cxnSpLocks/>
          </p:cNvCxnSpPr>
          <p:nvPr/>
        </p:nvCxnSpPr>
        <p:spPr>
          <a:xfrm flipH="1" flipV="1">
            <a:off x="4247592" y="670441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AF6C92A1-AC2F-4D3D-87B6-B8E91F171428}"/>
              </a:ext>
            </a:extLst>
          </p:cNvPr>
          <p:cNvCxnSpPr>
            <a:cxnSpLocks/>
          </p:cNvCxnSpPr>
          <p:nvPr/>
        </p:nvCxnSpPr>
        <p:spPr>
          <a:xfrm flipH="1" flipV="1">
            <a:off x="7697700" y="670441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C223437F-B76B-4D6D-B87A-BFD4379406A6}"/>
              </a:ext>
            </a:extLst>
          </p:cNvPr>
          <p:cNvCxnSpPr>
            <a:cxnSpLocks/>
          </p:cNvCxnSpPr>
          <p:nvPr/>
        </p:nvCxnSpPr>
        <p:spPr>
          <a:xfrm flipH="1" flipV="1">
            <a:off x="11022690" y="678419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F2F6AC61-235A-482B-845A-EAB0400B0D56}"/>
              </a:ext>
            </a:extLst>
          </p:cNvPr>
          <p:cNvCxnSpPr>
            <a:cxnSpLocks/>
          </p:cNvCxnSpPr>
          <p:nvPr/>
        </p:nvCxnSpPr>
        <p:spPr>
          <a:xfrm flipH="1" flipV="1">
            <a:off x="14368805" y="678419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F72241BB-C520-48FA-A8EF-06BECD92F11E}"/>
              </a:ext>
            </a:extLst>
          </p:cNvPr>
          <p:cNvGrpSpPr/>
          <p:nvPr/>
        </p:nvGrpSpPr>
        <p:grpSpPr>
          <a:xfrm>
            <a:off x="4210006" y="2481326"/>
            <a:ext cx="10121213" cy="654129"/>
            <a:chOff x="1460128" y="4622011"/>
            <a:chExt cx="6747475" cy="436086"/>
          </a:xfrm>
        </p:grpSpPr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8CF6E6CA-1692-4A9F-BB83-6FE7C782B5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0128" y="4622011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A2A34BA2-1246-4413-A21B-27E37150F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200" y="4622011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02B12CD8-3239-432A-B085-A257677A14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6860" y="4675196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>
              <a:extLst>
                <a:ext uri="{FF2B5EF4-FFF2-40B4-BE49-F238E27FC236}">
                  <a16:creationId xmlns:a16="http://schemas.microsoft.com/office/drawing/2014/main" id="{445E94BE-1DAE-4BD5-8955-800F0EA6C3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7603" y="4675196"/>
              <a:ext cx="0" cy="3829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F66A894F-653C-4E12-A16F-1215E9C67519}"/>
              </a:ext>
            </a:extLst>
          </p:cNvPr>
          <p:cNvCxnSpPr>
            <a:cxnSpLocks/>
          </p:cNvCxnSpPr>
          <p:nvPr/>
        </p:nvCxnSpPr>
        <p:spPr>
          <a:xfrm flipH="1" flipV="1">
            <a:off x="4199309" y="3224143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01F61AD9-4286-49F2-8C67-0CBC7E247491}"/>
              </a:ext>
            </a:extLst>
          </p:cNvPr>
          <p:cNvCxnSpPr>
            <a:cxnSpLocks/>
          </p:cNvCxnSpPr>
          <p:nvPr/>
        </p:nvCxnSpPr>
        <p:spPr>
          <a:xfrm flipH="1" flipV="1">
            <a:off x="4372712" y="3246448"/>
            <a:ext cx="3275259" cy="345797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0191D55B-A67F-4DE0-A325-CC553444DD5F}"/>
              </a:ext>
            </a:extLst>
          </p:cNvPr>
          <p:cNvCxnSpPr>
            <a:cxnSpLocks/>
          </p:cNvCxnSpPr>
          <p:nvPr/>
        </p:nvCxnSpPr>
        <p:spPr>
          <a:xfrm flipH="1" flipV="1">
            <a:off x="4556814" y="3246448"/>
            <a:ext cx="6416145" cy="349024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E2FCA6C7-5F83-4804-995D-8CE67676C9D9}"/>
              </a:ext>
            </a:extLst>
          </p:cNvPr>
          <p:cNvCxnSpPr>
            <a:cxnSpLocks/>
          </p:cNvCxnSpPr>
          <p:nvPr/>
        </p:nvCxnSpPr>
        <p:spPr>
          <a:xfrm flipH="1" flipV="1">
            <a:off x="4819446" y="3224143"/>
            <a:ext cx="9572082" cy="347013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E8A9EE1C-441E-4622-B4B2-8BF998AC0550}"/>
              </a:ext>
            </a:extLst>
          </p:cNvPr>
          <p:cNvCxnSpPr>
            <a:cxnSpLocks/>
          </p:cNvCxnSpPr>
          <p:nvPr/>
        </p:nvCxnSpPr>
        <p:spPr>
          <a:xfrm flipH="1" flipV="1">
            <a:off x="7635971" y="3219073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2DF6822A-E3CE-441B-9AF0-AFDF33172C32}"/>
              </a:ext>
            </a:extLst>
          </p:cNvPr>
          <p:cNvCxnSpPr>
            <a:cxnSpLocks/>
          </p:cNvCxnSpPr>
          <p:nvPr/>
        </p:nvCxnSpPr>
        <p:spPr>
          <a:xfrm flipH="1" flipV="1">
            <a:off x="11005436" y="3214006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D8D025A7-DECE-4A32-9D02-04A2A2B117F5}"/>
              </a:ext>
            </a:extLst>
          </p:cNvPr>
          <p:cNvCxnSpPr>
            <a:cxnSpLocks/>
          </p:cNvCxnSpPr>
          <p:nvPr/>
        </p:nvCxnSpPr>
        <p:spPr>
          <a:xfrm flipH="1" flipV="1">
            <a:off x="14352549" y="3214004"/>
            <a:ext cx="0" cy="348027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A44960EF-8D61-4BFA-B6DC-42C57B994B98}"/>
              </a:ext>
            </a:extLst>
          </p:cNvPr>
          <p:cNvCxnSpPr>
            <a:cxnSpLocks/>
          </p:cNvCxnSpPr>
          <p:nvPr/>
        </p:nvCxnSpPr>
        <p:spPr>
          <a:xfrm flipV="1">
            <a:off x="4295876" y="3224144"/>
            <a:ext cx="3250547" cy="347013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E7E7D47E-8DB3-408C-AFF5-CAA1100F8B57}"/>
              </a:ext>
            </a:extLst>
          </p:cNvPr>
          <p:cNvCxnSpPr>
            <a:cxnSpLocks/>
          </p:cNvCxnSpPr>
          <p:nvPr/>
        </p:nvCxnSpPr>
        <p:spPr>
          <a:xfrm flipH="1" flipV="1">
            <a:off x="7743191" y="3246446"/>
            <a:ext cx="3220982" cy="342570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C5DB8BB9-9C95-46C6-AA9F-341DC08D3C2F}"/>
              </a:ext>
            </a:extLst>
          </p:cNvPr>
          <p:cNvCxnSpPr>
            <a:cxnSpLocks/>
          </p:cNvCxnSpPr>
          <p:nvPr/>
        </p:nvCxnSpPr>
        <p:spPr>
          <a:xfrm flipH="1" flipV="1">
            <a:off x="7855643" y="3235248"/>
            <a:ext cx="6496907" cy="345903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92D104B1-3F88-42CF-B0E6-2A5F6670A2BF}"/>
              </a:ext>
            </a:extLst>
          </p:cNvPr>
          <p:cNvCxnSpPr>
            <a:cxnSpLocks/>
          </p:cNvCxnSpPr>
          <p:nvPr/>
        </p:nvCxnSpPr>
        <p:spPr>
          <a:xfrm flipH="1" flipV="1">
            <a:off x="11084633" y="3201756"/>
            <a:ext cx="3284172" cy="347039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D99073EE-BBC6-4592-832B-891D5E450753}"/>
              </a:ext>
            </a:extLst>
          </p:cNvPr>
          <p:cNvCxnSpPr>
            <a:cxnSpLocks/>
          </p:cNvCxnSpPr>
          <p:nvPr/>
        </p:nvCxnSpPr>
        <p:spPr>
          <a:xfrm flipV="1">
            <a:off x="7668449" y="3208938"/>
            <a:ext cx="3264903" cy="349547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E411756A-88FE-4C21-8700-F8F045CBA0C9}"/>
              </a:ext>
            </a:extLst>
          </p:cNvPr>
          <p:cNvCxnSpPr>
            <a:cxnSpLocks/>
          </p:cNvCxnSpPr>
          <p:nvPr/>
        </p:nvCxnSpPr>
        <p:spPr>
          <a:xfrm flipV="1">
            <a:off x="4295876" y="3208938"/>
            <a:ext cx="6480960" cy="3506676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4F4FAF98-3CE8-4F0B-9CC8-8FB8F9B88823}"/>
              </a:ext>
            </a:extLst>
          </p:cNvPr>
          <p:cNvCxnSpPr>
            <a:cxnSpLocks/>
          </p:cNvCxnSpPr>
          <p:nvPr/>
        </p:nvCxnSpPr>
        <p:spPr>
          <a:xfrm flipV="1">
            <a:off x="4208615" y="3235248"/>
            <a:ext cx="9783510" cy="350143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91BFC780-42D4-4471-B870-D96C78923FA5}"/>
              </a:ext>
            </a:extLst>
          </p:cNvPr>
          <p:cNvCxnSpPr>
            <a:cxnSpLocks/>
          </p:cNvCxnSpPr>
          <p:nvPr/>
        </p:nvCxnSpPr>
        <p:spPr>
          <a:xfrm flipV="1">
            <a:off x="7668449" y="3271649"/>
            <a:ext cx="6448482" cy="344290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4B7EC517-B06E-476C-BE80-0D939FB375BC}"/>
              </a:ext>
            </a:extLst>
          </p:cNvPr>
          <p:cNvCxnSpPr>
            <a:cxnSpLocks/>
          </p:cNvCxnSpPr>
          <p:nvPr/>
        </p:nvCxnSpPr>
        <p:spPr>
          <a:xfrm flipV="1">
            <a:off x="11059730" y="3270586"/>
            <a:ext cx="3193334" cy="341769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B0FF967A-CBFB-43F9-9D70-F2CC2DCCF1EC}"/>
              </a:ext>
            </a:extLst>
          </p:cNvPr>
          <p:cNvSpPr txBox="1"/>
          <p:nvPr/>
        </p:nvSpPr>
        <p:spPr>
          <a:xfrm>
            <a:off x="5418217" y="8939291"/>
            <a:ext cx="7765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Can be either </a:t>
            </a:r>
            <a:r>
              <a:rPr lang="en-US" altLang="zh-TW" sz="3600" b="1" dirty="0"/>
              <a:t>input</a:t>
            </a:r>
            <a:r>
              <a:rPr lang="en-US" altLang="zh-TW" sz="3600" dirty="0"/>
              <a:t> or </a:t>
            </a:r>
            <a:r>
              <a:rPr lang="en-US" altLang="zh-TW" sz="3600" b="1" dirty="0"/>
              <a:t>a hidden layer</a:t>
            </a:r>
            <a:endParaRPr lang="zh-TW" altLang="en-US" sz="3600" b="1" dirty="0"/>
          </a:p>
        </p:txBody>
      </p:sp>
      <p:sp>
        <p:nvSpPr>
          <p:cNvPr id="127" name="右大括弧 126">
            <a:extLst>
              <a:ext uri="{FF2B5EF4-FFF2-40B4-BE49-F238E27FC236}">
                <a16:creationId xmlns:a16="http://schemas.microsoft.com/office/drawing/2014/main" id="{D8897A21-6496-488E-B36E-453D3EA472F3}"/>
              </a:ext>
            </a:extLst>
          </p:cNvPr>
          <p:cNvSpPr/>
          <p:nvPr/>
        </p:nvSpPr>
        <p:spPr>
          <a:xfrm rot="5400000">
            <a:off x="8948399" y="2651292"/>
            <a:ext cx="705000" cy="11770665"/>
          </a:xfrm>
          <a:prstGeom prst="rightBrace">
            <a:avLst>
              <a:gd name="adj1" fmla="val 7558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952D00-BB53-4711-86C7-22A6E6CF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FE7D4A-7B99-4F9B-9C7F-3AECE8C25A38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91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5" grpId="0"/>
      <p:bldP spid="56" grpId="0"/>
      <p:bldP spid="57" grpId="0"/>
      <p:bldP spid="58" grpId="0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65" grpId="0"/>
      <p:bldP spid="66" grpId="0"/>
      <p:bldP spid="126" grpId="0"/>
      <p:bldP spid="1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圓角 25"/>
          <p:cNvSpPr/>
          <p:nvPr/>
        </p:nvSpPr>
        <p:spPr>
          <a:xfrm>
            <a:off x="2590905" y="3336388"/>
            <a:ext cx="12112275" cy="3613659"/>
          </a:xfrm>
          <a:prstGeom prst="roundRect">
            <a:avLst/>
          </a:prstGeom>
          <a:blipFill rotWithShape="1">
            <a:blip r:embed="rId2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cxnSp>
        <p:nvCxnSpPr>
          <p:cNvPr id="28" name="直線單箭頭接點 27"/>
          <p:cNvCxnSpPr/>
          <p:nvPr/>
        </p:nvCxnSpPr>
        <p:spPr>
          <a:xfrm flipH="1" flipV="1">
            <a:off x="3586435" y="269468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261847" y="752440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48" name="矩形 47"/>
          <p:cNvSpPr/>
          <p:nvPr/>
        </p:nvSpPr>
        <p:spPr>
          <a:xfrm>
            <a:off x="6675534" y="752439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49" name="矩形 48"/>
          <p:cNvSpPr/>
          <p:nvPr/>
        </p:nvSpPr>
        <p:spPr>
          <a:xfrm>
            <a:off x="10024021" y="754670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50" name="矩形 49"/>
          <p:cNvSpPr/>
          <p:nvPr/>
        </p:nvSpPr>
        <p:spPr>
          <a:xfrm>
            <a:off x="13401217" y="757190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3252690" y="765481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2690" y="7654815"/>
                <a:ext cx="1072742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9881179" y="763820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179" y="7638206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6562797" y="763820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797" y="7638206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3123135" y="762700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135" y="7627007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手繪多邊形: 圖案 71"/>
          <p:cNvSpPr/>
          <p:nvPr/>
        </p:nvSpPr>
        <p:spPr>
          <a:xfrm>
            <a:off x="3633133" y="6435782"/>
            <a:ext cx="3466034" cy="454614"/>
          </a:xfrm>
          <a:custGeom>
            <a:avLst/>
            <a:gdLst>
              <a:gd name="connsiteX0" fmla="*/ 0 w 1857829"/>
              <a:gd name="connsiteY0" fmla="*/ 275802 h 290317"/>
              <a:gd name="connsiteX1" fmla="*/ 856343 w 1857829"/>
              <a:gd name="connsiteY1" fmla="*/ 31 h 290317"/>
              <a:gd name="connsiteX2" fmla="*/ 1857829 w 1857829"/>
              <a:gd name="connsiteY2" fmla="*/ 290317 h 2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7829" h="290317">
                <a:moveTo>
                  <a:pt x="0" y="275802"/>
                </a:moveTo>
                <a:cubicBezTo>
                  <a:pt x="273352" y="136707"/>
                  <a:pt x="546705" y="-2388"/>
                  <a:pt x="856343" y="31"/>
                </a:cubicBezTo>
                <a:cubicBezTo>
                  <a:pt x="1165981" y="2450"/>
                  <a:pt x="1511905" y="146383"/>
                  <a:pt x="1857829" y="290317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手繪多邊形: 圖案 72"/>
          <p:cNvSpPr/>
          <p:nvPr/>
        </p:nvSpPr>
        <p:spPr>
          <a:xfrm>
            <a:off x="3581870" y="5865326"/>
            <a:ext cx="6791015" cy="1006701"/>
          </a:xfrm>
          <a:custGeom>
            <a:avLst/>
            <a:gdLst>
              <a:gd name="connsiteX0" fmla="*/ 0 w 1857829"/>
              <a:gd name="connsiteY0" fmla="*/ 275802 h 290317"/>
              <a:gd name="connsiteX1" fmla="*/ 856343 w 1857829"/>
              <a:gd name="connsiteY1" fmla="*/ 31 h 290317"/>
              <a:gd name="connsiteX2" fmla="*/ 1857829 w 1857829"/>
              <a:gd name="connsiteY2" fmla="*/ 290317 h 2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7829" h="290317">
                <a:moveTo>
                  <a:pt x="0" y="275802"/>
                </a:moveTo>
                <a:cubicBezTo>
                  <a:pt x="273352" y="136707"/>
                  <a:pt x="546705" y="-2388"/>
                  <a:pt x="856343" y="31"/>
                </a:cubicBezTo>
                <a:cubicBezTo>
                  <a:pt x="1165981" y="2450"/>
                  <a:pt x="1511905" y="146383"/>
                  <a:pt x="1857829" y="290317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手繪多邊形: 圖案 73"/>
          <p:cNvSpPr/>
          <p:nvPr/>
        </p:nvSpPr>
        <p:spPr>
          <a:xfrm>
            <a:off x="3581871" y="5342457"/>
            <a:ext cx="10163357" cy="1509020"/>
          </a:xfrm>
          <a:custGeom>
            <a:avLst/>
            <a:gdLst>
              <a:gd name="connsiteX0" fmla="*/ 0 w 1857829"/>
              <a:gd name="connsiteY0" fmla="*/ 275802 h 290317"/>
              <a:gd name="connsiteX1" fmla="*/ 856343 w 1857829"/>
              <a:gd name="connsiteY1" fmla="*/ 31 h 290317"/>
              <a:gd name="connsiteX2" fmla="*/ 1857829 w 1857829"/>
              <a:gd name="connsiteY2" fmla="*/ 290317 h 2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7829" h="290317">
                <a:moveTo>
                  <a:pt x="0" y="275802"/>
                </a:moveTo>
                <a:cubicBezTo>
                  <a:pt x="273352" y="136707"/>
                  <a:pt x="546705" y="-2388"/>
                  <a:pt x="856343" y="31"/>
                </a:cubicBezTo>
                <a:cubicBezTo>
                  <a:pt x="1165981" y="2450"/>
                  <a:pt x="1511905" y="146383"/>
                  <a:pt x="1857829" y="290317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文字方塊 74"/>
          <p:cNvSpPr txBox="1"/>
          <p:nvPr/>
        </p:nvSpPr>
        <p:spPr>
          <a:xfrm>
            <a:off x="9363876" y="4707118"/>
            <a:ext cx="320880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relevant?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8405544" y="4707308"/>
                <a:ext cx="3340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544" y="4707308"/>
                <a:ext cx="334010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5" t="-10" r="-21468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: 圓角 83"/>
          <p:cNvSpPr/>
          <p:nvPr/>
        </p:nvSpPr>
        <p:spPr>
          <a:xfrm>
            <a:off x="8219674" y="4585283"/>
            <a:ext cx="723390" cy="798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85" name="直線單箭頭接點 84"/>
          <p:cNvCxnSpPr/>
          <p:nvPr/>
        </p:nvCxnSpPr>
        <p:spPr>
          <a:xfrm flipH="1" flipV="1">
            <a:off x="3624022" y="691777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>
          <a:xfrm flipH="1" flipV="1">
            <a:off x="7074130" y="691777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/>
          <p:nvPr/>
        </p:nvCxnSpPr>
        <p:spPr>
          <a:xfrm flipH="1" flipV="1">
            <a:off x="10399120" y="699755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H="1" flipV="1">
            <a:off x="13745234" y="699755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: 圓角 89"/>
          <p:cNvSpPr/>
          <p:nvPr/>
        </p:nvSpPr>
        <p:spPr>
          <a:xfrm>
            <a:off x="3179706" y="7394895"/>
            <a:ext cx="888632" cy="119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2" name="矩形: 圓角 91"/>
          <p:cNvSpPr/>
          <p:nvPr/>
        </p:nvSpPr>
        <p:spPr>
          <a:xfrm>
            <a:off x="13300911" y="7429704"/>
            <a:ext cx="888632" cy="119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文字方塊 1"/>
          <p:cNvSpPr txBox="1"/>
          <p:nvPr/>
        </p:nvSpPr>
        <p:spPr>
          <a:xfrm>
            <a:off x="4417741" y="8847939"/>
            <a:ext cx="970544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Find the relevant vectors in a sequence </a:t>
            </a:r>
            <a:endParaRPr lang="zh-TW" altLang="en-US" sz="4200" dirty="0"/>
          </a:p>
        </p:txBody>
      </p:sp>
      <p:sp>
        <p:nvSpPr>
          <p:cNvPr id="24" name="矩形 23"/>
          <p:cNvSpPr/>
          <p:nvPr/>
        </p:nvSpPr>
        <p:spPr>
          <a:xfrm>
            <a:off x="3240745" y="1756430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102033" y="185903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033" y="1859036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5" t="-60" r="27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How to get the relavance?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73" grpId="0" bldLvl="0" animBg="1"/>
      <p:bldP spid="74" grpId="0" bldLvl="0" animBg="1"/>
      <p:bldP spid="75" grpId="0"/>
      <p:bldP spid="81" grpId="0"/>
      <p:bldP spid="84" grpId="0" bldLvl="0" animBg="1"/>
      <p:bldP spid="90" grpId="0" bldLvl="0" animBg="1"/>
      <p:bldP spid="92" grpId="0" bldLvl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DF97A9D6-BC46-412B-A2F8-5A77CEE62F19}"/>
              </a:ext>
            </a:extLst>
          </p:cNvPr>
          <p:cNvCxnSpPr>
            <a:cxnSpLocks/>
          </p:cNvCxnSpPr>
          <p:nvPr/>
        </p:nvCxnSpPr>
        <p:spPr>
          <a:xfrm flipV="1">
            <a:off x="6344009" y="4076120"/>
            <a:ext cx="0" cy="1228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C28E94BD-3CBF-4186-9152-A923350C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-135278"/>
            <a:ext cx="16084552" cy="1551434"/>
          </a:xfrm>
        </p:spPr>
        <p:txBody>
          <a:bodyPr/>
          <a:lstStyle/>
          <a:p>
            <a:r>
              <a:rPr lang="en-US" altLang="zh-TW" dirty="0"/>
              <a:t>Self-attention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6D7B9BE-0613-4E80-88A9-13FD17F60683}"/>
                  </a:ext>
                </a:extLst>
              </p:cNvPr>
              <p:cNvSpPr/>
              <p:nvPr/>
            </p:nvSpPr>
            <p:spPr>
              <a:xfrm>
                <a:off x="4467978" y="6593766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6D7B9BE-0613-4E80-88A9-13FD17F606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978" y="6593766"/>
                <a:ext cx="1572579" cy="111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7ADEB6-8C8C-4F97-B2B9-754A6A92FCCF}"/>
                  </a:ext>
                </a:extLst>
              </p:cNvPr>
              <p:cNvSpPr/>
              <p:nvPr/>
            </p:nvSpPr>
            <p:spPr>
              <a:xfrm>
                <a:off x="6676518" y="6589565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7ADEB6-8C8C-4F97-B2B9-754A6A92F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518" y="6589565"/>
                <a:ext cx="1572579" cy="1116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CA9919B3-D0CD-4319-BAE5-804288091D19}"/>
              </a:ext>
            </a:extLst>
          </p:cNvPr>
          <p:cNvSpPr txBox="1"/>
          <p:nvPr/>
        </p:nvSpPr>
        <p:spPr>
          <a:xfrm>
            <a:off x="3664604" y="2621471"/>
            <a:ext cx="5358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i="1" u="sng" dirty="0"/>
              <a:t>Dot-product</a:t>
            </a:r>
            <a:endParaRPr lang="zh-TW" altLang="en-US" sz="3600" b="1" i="1" u="sng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AD51C51-D59C-4348-90B7-62BA6C13948A}"/>
              </a:ext>
            </a:extLst>
          </p:cNvPr>
          <p:cNvSpPr/>
          <p:nvPr/>
        </p:nvSpPr>
        <p:spPr>
          <a:xfrm>
            <a:off x="6276509" y="5562212"/>
            <a:ext cx="135000" cy="135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1BEE58-0BA1-4727-B16F-FFB19B795E85}"/>
                  </a:ext>
                </a:extLst>
              </p:cNvPr>
              <p:cNvSpPr txBox="1"/>
              <p:nvPr/>
            </p:nvSpPr>
            <p:spPr>
              <a:xfrm>
                <a:off x="6174119" y="3504872"/>
                <a:ext cx="4195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1BEE58-0BA1-4727-B16F-FFB19B795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119" y="3504872"/>
                <a:ext cx="419538" cy="553998"/>
              </a:xfrm>
              <a:prstGeom prst="rect">
                <a:avLst/>
              </a:prstGeom>
              <a:blipFill>
                <a:blip r:embed="rId5"/>
                <a:stretch>
                  <a:fillRect l="-11765"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A49FF25A-331C-4515-A469-47DA77770910}"/>
              </a:ext>
            </a:extLst>
          </p:cNvPr>
          <p:cNvCxnSpPr>
            <a:cxnSpLocks/>
          </p:cNvCxnSpPr>
          <p:nvPr/>
        </p:nvCxnSpPr>
        <p:spPr>
          <a:xfrm flipH="1" flipV="1">
            <a:off x="5206193" y="7753839"/>
            <a:ext cx="0" cy="1076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19D243C5-230D-4616-B2BA-DC79873B09F1}"/>
              </a:ext>
            </a:extLst>
          </p:cNvPr>
          <p:cNvCxnSpPr>
            <a:cxnSpLocks/>
          </p:cNvCxnSpPr>
          <p:nvPr/>
        </p:nvCxnSpPr>
        <p:spPr>
          <a:xfrm flipH="1" flipV="1">
            <a:off x="7462808" y="7754684"/>
            <a:ext cx="0" cy="1076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43DDF2D2-0DE4-4C56-A6E8-AE8018BECC19}"/>
              </a:ext>
            </a:extLst>
          </p:cNvPr>
          <p:cNvCxnSpPr>
            <a:cxnSpLocks/>
          </p:cNvCxnSpPr>
          <p:nvPr/>
        </p:nvCxnSpPr>
        <p:spPr>
          <a:xfrm flipV="1">
            <a:off x="5230703" y="6153777"/>
            <a:ext cx="0" cy="565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D17B9CDA-F878-4CC7-BB3C-830EA1C0C172}"/>
              </a:ext>
            </a:extLst>
          </p:cNvPr>
          <p:cNvCxnSpPr>
            <a:cxnSpLocks/>
          </p:cNvCxnSpPr>
          <p:nvPr/>
        </p:nvCxnSpPr>
        <p:spPr>
          <a:xfrm flipV="1">
            <a:off x="7452152" y="6183059"/>
            <a:ext cx="0" cy="565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28F43298-4B7F-42B7-994E-8082E5BA0B3C}"/>
              </a:ext>
            </a:extLst>
          </p:cNvPr>
          <p:cNvCxnSpPr>
            <a:cxnSpLocks/>
          </p:cNvCxnSpPr>
          <p:nvPr/>
        </p:nvCxnSpPr>
        <p:spPr>
          <a:xfrm>
            <a:off x="5423265" y="5636097"/>
            <a:ext cx="6458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D4CF25CB-0EAF-4DD9-81D8-215B14C50A13}"/>
              </a:ext>
            </a:extLst>
          </p:cNvPr>
          <p:cNvCxnSpPr>
            <a:cxnSpLocks/>
          </p:cNvCxnSpPr>
          <p:nvPr/>
        </p:nvCxnSpPr>
        <p:spPr>
          <a:xfrm flipH="1">
            <a:off x="6608712" y="5622396"/>
            <a:ext cx="5977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085E5727-DC26-4629-98F2-460AAB007E4E}"/>
              </a:ext>
            </a:extLst>
          </p:cNvPr>
          <p:cNvSpPr/>
          <p:nvPr/>
        </p:nvSpPr>
        <p:spPr>
          <a:xfrm>
            <a:off x="4036052" y="4571012"/>
            <a:ext cx="4557840" cy="37520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8B662A62-876D-4D01-B429-933FE82E39B2}"/>
              </a:ext>
            </a:extLst>
          </p:cNvPr>
          <p:cNvSpPr/>
          <p:nvPr/>
        </p:nvSpPr>
        <p:spPr>
          <a:xfrm>
            <a:off x="5017695" y="5143501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D3C5CDD1-9299-4BAC-BAEC-5722D2F5456F}"/>
              </a:ext>
            </a:extLst>
          </p:cNvPr>
          <p:cNvSpPr/>
          <p:nvPr/>
        </p:nvSpPr>
        <p:spPr>
          <a:xfrm>
            <a:off x="7263654" y="5122643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EBFA7A7C-04F0-4D8F-877E-9E3D3576C0AE}"/>
                  </a:ext>
                </a:extLst>
              </p:cNvPr>
              <p:cNvSpPr txBox="1"/>
              <p:nvPr/>
            </p:nvSpPr>
            <p:spPr>
              <a:xfrm>
                <a:off x="4936345" y="5252618"/>
                <a:ext cx="5568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1" i="1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EBFA7A7C-04F0-4D8F-877E-9E3D3576C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345" y="5252618"/>
                <a:ext cx="556856" cy="646331"/>
              </a:xfrm>
              <a:prstGeom prst="rect">
                <a:avLst/>
              </a:prstGeom>
              <a:blipFill>
                <a:blip r:embed="rId6"/>
                <a:stretch>
                  <a:fillRect l="-4444" r="-4444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7B1E3FE-A51A-4238-91B1-6EB0DF84DED3}"/>
                  </a:ext>
                </a:extLst>
              </p:cNvPr>
              <p:cNvSpPr txBox="1"/>
              <p:nvPr/>
            </p:nvSpPr>
            <p:spPr>
              <a:xfrm>
                <a:off x="7173724" y="5304598"/>
                <a:ext cx="5568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1" i="1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7B1E3FE-A51A-4238-91B1-6EB0DF84D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724" y="5304598"/>
                <a:ext cx="556856" cy="646331"/>
              </a:xfrm>
              <a:prstGeom prst="rect">
                <a:avLst/>
              </a:prstGeom>
              <a:blipFill>
                <a:blip r:embed="rId7"/>
                <a:stretch>
                  <a:fillRect l="-2222"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034DE13-21C9-4F49-9FA0-ADC6AF6284B2}"/>
                  </a:ext>
                </a:extLst>
              </p:cNvPr>
              <p:cNvSpPr txBox="1"/>
              <p:nvPr/>
            </p:nvSpPr>
            <p:spPr>
              <a:xfrm>
                <a:off x="6507420" y="3479861"/>
                <a:ext cx="17416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TW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3600" b="1" i="1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034DE13-21C9-4F49-9FA0-ADC6AF628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420" y="3479861"/>
                <a:ext cx="1741677" cy="646331"/>
              </a:xfrm>
              <a:prstGeom prst="rect">
                <a:avLst/>
              </a:prstGeom>
              <a:blipFill>
                <a:blip r:embed="rId8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8685E813-C790-4CD5-8B7F-D9BDC56EAB5A}"/>
              </a:ext>
            </a:extLst>
          </p:cNvPr>
          <p:cNvSpPr txBox="1"/>
          <p:nvPr/>
        </p:nvSpPr>
        <p:spPr>
          <a:xfrm>
            <a:off x="8103617" y="1658066"/>
            <a:ext cx="273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i="1" u="sng" dirty="0"/>
              <a:t>Additive</a:t>
            </a:r>
            <a:endParaRPr lang="zh-TW" altLang="en-US" sz="36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6674566F-DDD3-499D-8B7C-2C5F3F237DBE}"/>
                  </a:ext>
                </a:extLst>
              </p:cNvPr>
              <p:cNvSpPr/>
              <p:nvPr/>
            </p:nvSpPr>
            <p:spPr>
              <a:xfrm>
                <a:off x="10933113" y="6721349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6674566F-DDD3-499D-8B7C-2C5F3F237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3113" y="6721349"/>
                <a:ext cx="1572579" cy="1116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7320FF3-4AB2-4F8A-B9DF-EB152C364D09}"/>
                  </a:ext>
                </a:extLst>
              </p:cNvPr>
              <p:cNvSpPr/>
              <p:nvPr/>
            </p:nvSpPr>
            <p:spPr>
              <a:xfrm>
                <a:off x="13141653" y="6717147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7320FF3-4AB2-4F8A-B9DF-EB152C364D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1653" y="6717147"/>
                <a:ext cx="1572579" cy="11163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4355E72-EF43-48DB-BCE1-CB520FED2230}"/>
                  </a:ext>
                </a:extLst>
              </p:cNvPr>
              <p:cNvSpPr txBox="1"/>
              <p:nvPr/>
            </p:nvSpPr>
            <p:spPr>
              <a:xfrm>
                <a:off x="12562076" y="483494"/>
                <a:ext cx="4195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4355E72-EF43-48DB-BCE1-CB520FED2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2076" y="483494"/>
                <a:ext cx="419538" cy="553998"/>
              </a:xfrm>
              <a:prstGeom prst="rect">
                <a:avLst/>
              </a:prstGeom>
              <a:blipFill>
                <a:blip r:embed="rId11"/>
                <a:stretch>
                  <a:fillRect l="-11765"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44E74249-F60B-4BD9-881B-1B2B32360805}"/>
              </a:ext>
            </a:extLst>
          </p:cNvPr>
          <p:cNvCxnSpPr>
            <a:cxnSpLocks/>
          </p:cNvCxnSpPr>
          <p:nvPr/>
        </p:nvCxnSpPr>
        <p:spPr>
          <a:xfrm flipH="1" flipV="1">
            <a:off x="11671328" y="7881422"/>
            <a:ext cx="0" cy="1076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A9D52B99-01AA-4C70-8B40-33A918F5147A}"/>
              </a:ext>
            </a:extLst>
          </p:cNvPr>
          <p:cNvCxnSpPr>
            <a:cxnSpLocks/>
          </p:cNvCxnSpPr>
          <p:nvPr/>
        </p:nvCxnSpPr>
        <p:spPr>
          <a:xfrm flipH="1" flipV="1">
            <a:off x="13927943" y="7882266"/>
            <a:ext cx="0" cy="1076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FCB6E5D0-4284-4107-8BE4-24205BA2E7D2}"/>
              </a:ext>
            </a:extLst>
          </p:cNvPr>
          <p:cNvCxnSpPr>
            <a:cxnSpLocks/>
          </p:cNvCxnSpPr>
          <p:nvPr/>
        </p:nvCxnSpPr>
        <p:spPr>
          <a:xfrm flipV="1">
            <a:off x="11671328" y="6270818"/>
            <a:ext cx="0" cy="565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7FED4FBF-15F7-4DD3-AA68-4CC39E2143AA}"/>
              </a:ext>
            </a:extLst>
          </p:cNvPr>
          <p:cNvCxnSpPr>
            <a:cxnSpLocks/>
          </p:cNvCxnSpPr>
          <p:nvPr/>
        </p:nvCxnSpPr>
        <p:spPr>
          <a:xfrm flipV="1">
            <a:off x="13917287" y="6310641"/>
            <a:ext cx="0" cy="565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F845A922-4763-48C8-B35B-719C0B5271D1}"/>
              </a:ext>
            </a:extLst>
          </p:cNvPr>
          <p:cNvCxnSpPr>
            <a:cxnSpLocks/>
          </p:cNvCxnSpPr>
          <p:nvPr/>
        </p:nvCxnSpPr>
        <p:spPr>
          <a:xfrm>
            <a:off x="11889794" y="5697212"/>
            <a:ext cx="6774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09E896F3-5C7C-45DE-BCA2-1C80468248F8}"/>
              </a:ext>
            </a:extLst>
          </p:cNvPr>
          <p:cNvCxnSpPr>
            <a:cxnSpLocks/>
          </p:cNvCxnSpPr>
          <p:nvPr/>
        </p:nvCxnSpPr>
        <p:spPr>
          <a:xfrm flipH="1">
            <a:off x="13051047" y="5683866"/>
            <a:ext cx="7203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86759E69-F376-4F10-9A52-E4EB5D251108}"/>
              </a:ext>
            </a:extLst>
          </p:cNvPr>
          <p:cNvSpPr/>
          <p:nvPr/>
        </p:nvSpPr>
        <p:spPr>
          <a:xfrm>
            <a:off x="10501187" y="1653265"/>
            <a:ext cx="4557840" cy="67974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233552D1-A089-43A7-A765-E17337FADF60}"/>
              </a:ext>
            </a:extLst>
          </p:cNvPr>
          <p:cNvGrpSpPr/>
          <p:nvPr/>
        </p:nvGrpSpPr>
        <p:grpSpPr>
          <a:xfrm>
            <a:off x="12503231" y="5305919"/>
            <a:ext cx="563424" cy="646331"/>
            <a:chOff x="4125717" y="1093631"/>
            <a:chExt cx="375616" cy="430887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8F8EBB2-85EE-4B5D-B9C8-2FF11BFB3D4B}"/>
                </a:ext>
              </a:extLst>
            </p:cNvPr>
            <p:cNvSpPr/>
            <p:nvPr/>
          </p:nvSpPr>
          <p:spPr>
            <a:xfrm>
              <a:off x="4154349" y="1197626"/>
              <a:ext cx="336579" cy="27068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E4FA2BB1-7DCE-4549-A0C3-173F749DD620}"/>
                    </a:ext>
                  </a:extLst>
                </p:cNvPr>
                <p:cNvSpPr/>
                <p:nvPr/>
              </p:nvSpPr>
              <p:spPr>
                <a:xfrm>
                  <a:off x="4125717" y="1093631"/>
                  <a:ext cx="37561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E4FA2BB1-7DCE-4549-A0C3-173F749DD6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5717" y="1093631"/>
                  <a:ext cx="375616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6667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9DFA879-ABCC-4D88-8BC6-B569577A7764}"/>
                  </a:ext>
                </a:extLst>
              </p:cNvPr>
              <p:cNvSpPr/>
              <p:nvPr/>
            </p:nvSpPr>
            <p:spPr>
              <a:xfrm>
                <a:off x="12021936" y="3684593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9DFA879-ABCC-4D88-8BC6-B569577A7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1936" y="3684593"/>
                <a:ext cx="1572579" cy="11163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5841DA54-84FB-4D2E-A870-AB9B8F8D3DE8}"/>
                  </a:ext>
                </a:extLst>
              </p:cNvPr>
              <p:cNvSpPr/>
              <p:nvPr/>
            </p:nvSpPr>
            <p:spPr>
              <a:xfrm>
                <a:off x="12021936" y="2189645"/>
                <a:ext cx="1572579" cy="111636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5841DA54-84FB-4D2E-A870-AB9B8F8D3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1936" y="2189645"/>
                <a:ext cx="1572579" cy="111636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663F2596-1BC4-47C0-9D79-042DD430F046}"/>
              </a:ext>
            </a:extLst>
          </p:cNvPr>
          <p:cNvCxnSpPr>
            <a:cxnSpLocks/>
          </p:cNvCxnSpPr>
          <p:nvPr/>
        </p:nvCxnSpPr>
        <p:spPr>
          <a:xfrm flipV="1">
            <a:off x="12786272" y="4733085"/>
            <a:ext cx="0" cy="7145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27B427E8-758B-41AA-A736-D82160E844F6}"/>
              </a:ext>
            </a:extLst>
          </p:cNvPr>
          <p:cNvCxnSpPr>
            <a:cxnSpLocks/>
          </p:cNvCxnSpPr>
          <p:nvPr/>
        </p:nvCxnSpPr>
        <p:spPr>
          <a:xfrm flipV="1">
            <a:off x="12807089" y="3292658"/>
            <a:ext cx="0" cy="424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A8EEFFFF-0F0D-4685-A9A0-D458393B4D5B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12759005" y="1037492"/>
            <a:ext cx="12840" cy="1152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BAFFE045-508B-4075-86A5-8123CE1F7E5E}"/>
              </a:ext>
            </a:extLst>
          </p:cNvPr>
          <p:cNvSpPr/>
          <p:nvPr/>
        </p:nvSpPr>
        <p:spPr>
          <a:xfrm>
            <a:off x="11472174" y="5196253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F6B79FE1-6692-4C13-BA72-628B7A3A2BDD}"/>
              </a:ext>
            </a:extLst>
          </p:cNvPr>
          <p:cNvSpPr/>
          <p:nvPr/>
        </p:nvSpPr>
        <p:spPr>
          <a:xfrm>
            <a:off x="13720028" y="5210414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99427F5-E775-49DA-9D31-31ECFE37ED25}"/>
              </a:ext>
            </a:extLst>
          </p:cNvPr>
          <p:cNvSpPr/>
          <p:nvPr/>
        </p:nvSpPr>
        <p:spPr>
          <a:xfrm>
            <a:off x="4808358" y="8841673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2B8D5C2-D767-4227-AB1C-2474651D4EAC}"/>
              </a:ext>
            </a:extLst>
          </p:cNvPr>
          <p:cNvSpPr/>
          <p:nvPr/>
        </p:nvSpPr>
        <p:spPr>
          <a:xfrm>
            <a:off x="7124471" y="8835890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24099C6-C813-41A1-B63E-6DB30C47FCF4}"/>
              </a:ext>
            </a:extLst>
          </p:cNvPr>
          <p:cNvSpPr/>
          <p:nvPr/>
        </p:nvSpPr>
        <p:spPr>
          <a:xfrm>
            <a:off x="11278403" y="8939968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32E5476-D89C-4490-8D27-5746CEF7778D}"/>
              </a:ext>
            </a:extLst>
          </p:cNvPr>
          <p:cNvSpPr/>
          <p:nvPr/>
        </p:nvSpPr>
        <p:spPr>
          <a:xfrm>
            <a:off x="13594515" y="8934185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93" name="矩形: 圓角 92">
            <a:extLst>
              <a:ext uri="{FF2B5EF4-FFF2-40B4-BE49-F238E27FC236}">
                <a16:creationId xmlns:a16="http://schemas.microsoft.com/office/drawing/2014/main" id="{5B81E0AB-DFA6-437D-B4F4-34777F21D89C}"/>
              </a:ext>
            </a:extLst>
          </p:cNvPr>
          <p:cNvSpPr/>
          <p:nvPr/>
        </p:nvSpPr>
        <p:spPr>
          <a:xfrm>
            <a:off x="3721979" y="2597870"/>
            <a:ext cx="5206652" cy="73458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B678160-66A0-421F-9B0E-0F3727C1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4FE7D4A-7B99-4F9B-9C7F-3AECE8C25A38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85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2" grpId="0" animBg="1"/>
      <p:bldP spid="48" grpId="0" animBg="1"/>
      <p:bldP spid="49" grpId="0" animBg="1"/>
      <p:bldP spid="50" grpId="0"/>
      <p:bldP spid="51" grpId="0"/>
      <p:bldP spid="52" grpId="0"/>
      <p:bldP spid="60" grpId="0" animBg="1"/>
      <p:bldP spid="61" grpId="0" animBg="1"/>
      <p:bldP spid="75" grpId="0" animBg="1"/>
      <p:bldP spid="76" grpId="0" animBg="1"/>
      <p:bldP spid="82" grpId="0" animBg="1"/>
      <p:bldP spid="83" grpId="0" animBg="1"/>
      <p:bldP spid="9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4233143" y="6904079"/>
            <a:ext cx="0" cy="368951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3360027" y="6929474"/>
            <a:ext cx="873116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3360027" y="650670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群組 72"/>
          <p:cNvGrpSpPr/>
          <p:nvPr/>
        </p:nvGrpSpPr>
        <p:grpSpPr>
          <a:xfrm>
            <a:off x="7146351" y="5668400"/>
            <a:ext cx="1072742" cy="1579235"/>
            <a:chOff x="964022" y="3795863"/>
            <a:chExt cx="715161" cy="1052823"/>
          </a:xfrm>
        </p:grpSpPr>
        <p:sp>
          <p:nvSpPr>
            <p:cNvPr id="76" name="矩形 75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單箭頭接點 79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矩形 105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7" name="矩形 106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8" name="矩形 107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9" name="矩形 108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1" name="文字方塊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4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4" name="文字方塊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字方塊 114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5" name="文字方塊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/>
              <p:cNvSpPr txBox="1"/>
              <p:nvPr/>
            </p:nvSpPr>
            <p:spPr>
              <a:xfrm>
                <a:off x="3161106" y="8601326"/>
                <a:ext cx="2322195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20" name="文字方塊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06" y="8601326"/>
                <a:ext cx="2322195" cy="549275"/>
              </a:xfrm>
              <a:prstGeom prst="rect">
                <a:avLst/>
              </a:prstGeom>
              <a:blipFill rotWithShape="1">
                <a:blip r:embed="rId8"/>
                <a:stretch>
                  <a:fillRect l="-3" t="-46" r="-3606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群組 120"/>
          <p:cNvGrpSpPr/>
          <p:nvPr/>
        </p:nvGrpSpPr>
        <p:grpSpPr>
          <a:xfrm>
            <a:off x="10504748" y="5754110"/>
            <a:ext cx="1072742" cy="1579235"/>
            <a:chOff x="964022" y="3795863"/>
            <a:chExt cx="715161" cy="1052823"/>
          </a:xfrm>
        </p:grpSpPr>
        <p:sp>
          <p:nvSpPr>
            <p:cNvPr id="122" name="矩形 121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3" name="文字方塊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直線單箭頭接點 123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13876260" y="5795439"/>
            <a:ext cx="1072742" cy="1579235"/>
            <a:chOff x="964022" y="3795863"/>
            <a:chExt cx="715161" cy="1052823"/>
          </a:xfrm>
        </p:grpSpPr>
        <p:sp>
          <p:nvSpPr>
            <p:cNvPr id="126" name="矩形 125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964022" y="3843680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10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線單箭頭接點 128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/>
              <p:cNvSpPr txBox="1"/>
              <p:nvPr/>
            </p:nvSpPr>
            <p:spPr>
              <a:xfrm>
                <a:off x="6445839" y="8635673"/>
                <a:ext cx="2322195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3" name="文字方塊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839" y="8635673"/>
                <a:ext cx="2322195" cy="554990"/>
              </a:xfrm>
              <a:prstGeom prst="rect">
                <a:avLst/>
              </a:prstGeom>
              <a:blipFill rotWithShape="1">
                <a:blip r:embed="rId11"/>
                <a:stretch>
                  <a:fillRect l="-25" t="-55" r="-3721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/>
              <p:cNvSpPr txBox="1"/>
              <p:nvPr/>
            </p:nvSpPr>
            <p:spPr>
              <a:xfrm>
                <a:off x="9839970" y="8635671"/>
                <a:ext cx="2327275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6" name="文字方塊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970" y="8635671"/>
                <a:ext cx="2327275" cy="554990"/>
              </a:xfrm>
              <a:prstGeom prst="rect">
                <a:avLst/>
              </a:prstGeom>
              <a:blipFill rotWithShape="1">
                <a:blip r:embed="rId12"/>
                <a:stretch>
                  <a:fillRect t="-55" r="-3628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/>
              <p:cNvSpPr txBox="1"/>
              <p:nvPr/>
            </p:nvSpPr>
            <p:spPr>
              <a:xfrm>
                <a:off x="13176222" y="8635670"/>
                <a:ext cx="23272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7" name="文字方塊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222" y="8635670"/>
                <a:ext cx="232727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26" t="-55" r="-3603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線單箭頭接點 138"/>
          <p:cNvCxnSpPr/>
          <p:nvPr/>
        </p:nvCxnSpPr>
        <p:spPr>
          <a:xfrm flipH="1" flipV="1">
            <a:off x="7253004" y="4150227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blipFill rotWithShape="1">
                <a:blip r:embed="rId14"/>
                <a:stretch>
                  <a:fillRect l="-35" t="-20" r="-9477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橢圓 144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6" name="橢圓 145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7" name="橢圓 146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8" name="直線單箭頭接點 147"/>
          <p:cNvCxnSpPr>
            <a:endCxn id="147" idx="4"/>
          </p:cNvCxnSpPr>
          <p:nvPr/>
        </p:nvCxnSpPr>
        <p:spPr>
          <a:xfrm flipV="1">
            <a:off x="3377106" y="4245632"/>
            <a:ext cx="10588980" cy="14481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146" idx="4"/>
          </p:cNvCxnSpPr>
          <p:nvPr/>
        </p:nvCxnSpPr>
        <p:spPr>
          <a:xfrm flipV="1">
            <a:off x="3377106" y="4207530"/>
            <a:ext cx="7212540" cy="1486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endCxn id="145" idx="4"/>
          </p:cNvCxnSpPr>
          <p:nvPr/>
        </p:nvCxnSpPr>
        <p:spPr>
          <a:xfrm flipV="1">
            <a:off x="3377106" y="4194243"/>
            <a:ext cx="3904427" cy="1499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/>
              <p:cNvSpPr txBox="1"/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2" name="文字方塊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blipFill rotWithShape="1">
                <a:blip r:embed="rId15"/>
                <a:stretch>
                  <a:fillRect l="-1" t="-20" r="-9511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blipFill rotWithShape="1">
                <a:blip r:embed="rId16"/>
                <a:stretch>
                  <a:fillRect l="-4" t="-57" r="-950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字方塊 153"/>
              <p:cNvSpPr txBox="1"/>
              <p:nvPr/>
            </p:nvSpPr>
            <p:spPr>
              <a:xfrm>
                <a:off x="5931441" y="2546618"/>
                <a:ext cx="2713990" cy="591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54" name="文字方塊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441" y="2546618"/>
                <a:ext cx="2713990" cy="591185"/>
              </a:xfrm>
              <a:prstGeom prst="rect">
                <a:avLst/>
              </a:prstGeom>
              <a:blipFill rotWithShape="1">
                <a:blip r:embed="rId17"/>
                <a:stretch>
                  <a:fillRect l="-20" t="-45" r="-3349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3683520" y="5733224"/>
            <a:ext cx="17665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query</a:t>
            </a:r>
            <a:endParaRPr lang="zh-TW" altLang="en-US" sz="4200" dirty="0"/>
          </a:p>
        </p:txBody>
      </p:sp>
      <p:sp>
        <p:nvSpPr>
          <p:cNvPr id="155" name="文字方塊 154"/>
          <p:cNvSpPr txBox="1"/>
          <p:nvPr/>
        </p:nvSpPr>
        <p:spPr>
          <a:xfrm>
            <a:off x="8048484" y="5688342"/>
            <a:ext cx="17665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key</a:t>
            </a:r>
            <a:endParaRPr lang="zh-TW" altLang="en-US" sz="4200" dirty="0"/>
          </a:p>
        </p:txBody>
      </p:sp>
      <p:sp>
        <p:nvSpPr>
          <p:cNvPr id="156" name="文字方塊 155"/>
          <p:cNvSpPr txBox="1"/>
          <p:nvPr/>
        </p:nvSpPr>
        <p:spPr>
          <a:xfrm>
            <a:off x="3748197" y="3482031"/>
            <a:ext cx="320880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attention score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/>
              <p:cNvSpPr txBox="1"/>
              <p:nvPr/>
            </p:nvSpPr>
            <p:spPr>
              <a:xfrm>
                <a:off x="9326028" y="2546618"/>
                <a:ext cx="2713990" cy="591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57" name="文字方塊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028" y="2546618"/>
                <a:ext cx="2713990" cy="591185"/>
              </a:xfrm>
              <a:prstGeom prst="rect">
                <a:avLst/>
              </a:prstGeom>
              <a:blipFill rotWithShape="1">
                <a:blip r:embed="rId18"/>
                <a:stretch>
                  <a:fillRect l="-15" t="-45" r="-3354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/>
              <p:cNvSpPr txBox="1"/>
              <p:nvPr/>
            </p:nvSpPr>
            <p:spPr>
              <a:xfrm>
                <a:off x="13042924" y="2542914"/>
                <a:ext cx="2713990" cy="591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58" name="文字方塊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2924" y="2542914"/>
                <a:ext cx="2713990" cy="591185"/>
              </a:xfrm>
              <a:prstGeom prst="rect">
                <a:avLst/>
              </a:prstGeom>
              <a:blipFill rotWithShape="1">
                <a:blip r:embed="rId19"/>
                <a:stretch>
                  <a:fillRect l="-1" t="-63" r="-3368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10</a:t>
            </a:fld>
            <a:endParaRPr lang="zh-TW" altLang="en-US" sz="100"/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Self-attention</a:t>
            </a:r>
            <a:endParaRPr lang="zh-TW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3079115" y="5795645"/>
            <a:ext cx="806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i="1">
                <a:latin typeface="Cambria Math" panose="02040503050406030204" pitchFamily="18" charset="0"/>
              </a:rPr>
              <a:t>q</a:t>
            </a:r>
            <a:r>
              <a:rPr lang="en-US" altLang="zh-TW" sz="4000" b="1" baseline="30000">
                <a:latin typeface="Cambria Math" panose="02040503050406030204" pitchFamily="18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120" grpId="0"/>
      <p:bldP spid="133" grpId="0"/>
      <p:bldP spid="136" grpId="0"/>
      <p:bldP spid="137" grpId="0"/>
      <p:bldP spid="144" grpId="0"/>
      <p:bldP spid="145" grpId="0" bldLvl="0" animBg="1"/>
      <p:bldP spid="146" grpId="0" bldLvl="0" animBg="1"/>
      <p:bldP spid="147" grpId="0" bldLvl="0" animBg="1"/>
      <p:bldP spid="152" grpId="0"/>
      <p:bldP spid="153" grpId="0"/>
      <p:bldP spid="154" grpId="0"/>
      <p:bldP spid="24" grpId="0"/>
      <p:bldP spid="155" grpId="0"/>
      <p:bldP spid="156" grpId="0"/>
      <p:bldP spid="157" grpId="0"/>
      <p:bldP spid="158" grpId="0"/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blipFill rotWithShape="1">
                <a:blip r:embed="rId3"/>
                <a:stretch>
                  <a:fillRect l="-25" t="-55" r="4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線單箭頭接點 67"/>
          <p:cNvCxnSpPr/>
          <p:nvPr/>
        </p:nvCxnSpPr>
        <p:spPr>
          <a:xfrm flipV="1">
            <a:off x="4233143" y="6904079"/>
            <a:ext cx="0" cy="368951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3360027" y="6929474"/>
            <a:ext cx="873116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3360027" y="650670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群組 72"/>
          <p:cNvGrpSpPr/>
          <p:nvPr/>
        </p:nvGrpSpPr>
        <p:grpSpPr>
          <a:xfrm>
            <a:off x="7146351" y="5668400"/>
            <a:ext cx="1072742" cy="1579235"/>
            <a:chOff x="964022" y="3795863"/>
            <a:chExt cx="715161" cy="1052823"/>
          </a:xfrm>
        </p:grpSpPr>
        <p:sp>
          <p:nvSpPr>
            <p:cNvPr id="76" name="矩形 75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77" name="文字方塊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單箭頭接點 79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矩形 105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7" name="矩形 106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8" name="矩形 107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9" name="矩形 108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1" name="文字方塊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4" name="文字方塊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字方塊 114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5" name="文字方塊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/>
              <p:cNvSpPr txBox="1"/>
              <p:nvPr/>
            </p:nvSpPr>
            <p:spPr>
              <a:xfrm>
                <a:off x="3161106" y="8601326"/>
                <a:ext cx="2322195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20" name="文字方塊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06" y="8601326"/>
                <a:ext cx="2322195" cy="549275"/>
              </a:xfrm>
              <a:prstGeom prst="rect">
                <a:avLst/>
              </a:prstGeom>
              <a:blipFill rotWithShape="1">
                <a:blip r:embed="rId9"/>
                <a:stretch>
                  <a:fillRect l="-3" t="-46" r="-3606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群組 120"/>
          <p:cNvGrpSpPr/>
          <p:nvPr/>
        </p:nvGrpSpPr>
        <p:grpSpPr>
          <a:xfrm>
            <a:off x="10504748" y="5754110"/>
            <a:ext cx="1072742" cy="1579235"/>
            <a:chOff x="964022" y="3795863"/>
            <a:chExt cx="715161" cy="1052823"/>
          </a:xfrm>
        </p:grpSpPr>
        <p:sp>
          <p:nvSpPr>
            <p:cNvPr id="122" name="矩形 121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字方塊 122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3" name="文字方塊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直線單箭頭接點 123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13876260" y="5795439"/>
            <a:ext cx="1072742" cy="1579235"/>
            <a:chOff x="964022" y="3795863"/>
            <a:chExt cx="715161" cy="1052823"/>
          </a:xfrm>
        </p:grpSpPr>
        <p:sp>
          <p:nvSpPr>
            <p:cNvPr id="126" name="矩形 125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964022" y="3843680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10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線單箭頭接點 128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/>
              <p:cNvSpPr txBox="1"/>
              <p:nvPr/>
            </p:nvSpPr>
            <p:spPr>
              <a:xfrm>
                <a:off x="6445839" y="8635673"/>
                <a:ext cx="2322195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3" name="文字方塊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839" y="8635673"/>
                <a:ext cx="2322195" cy="554990"/>
              </a:xfrm>
              <a:prstGeom prst="rect">
                <a:avLst/>
              </a:prstGeom>
              <a:blipFill rotWithShape="1">
                <a:blip r:embed="rId12"/>
                <a:stretch>
                  <a:fillRect l="-25" t="-55" r="-3721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/>
              <p:cNvSpPr txBox="1"/>
              <p:nvPr/>
            </p:nvSpPr>
            <p:spPr>
              <a:xfrm>
                <a:off x="9839970" y="8635671"/>
                <a:ext cx="2327275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6" name="文字方塊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970" y="8635671"/>
                <a:ext cx="2327275" cy="554990"/>
              </a:xfrm>
              <a:prstGeom prst="rect">
                <a:avLst/>
              </a:prstGeom>
              <a:blipFill rotWithShape="1">
                <a:blip r:embed="rId13"/>
                <a:stretch>
                  <a:fillRect t="-55" r="-3628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/>
              <p:cNvSpPr txBox="1"/>
              <p:nvPr/>
            </p:nvSpPr>
            <p:spPr>
              <a:xfrm>
                <a:off x="13176222" y="8635670"/>
                <a:ext cx="23272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7" name="文字方塊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222" y="8635670"/>
                <a:ext cx="2327275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26" t="-55" r="-3603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直線單箭頭接點 138"/>
          <p:cNvCxnSpPr/>
          <p:nvPr/>
        </p:nvCxnSpPr>
        <p:spPr>
          <a:xfrm flipH="1" flipV="1">
            <a:off x="7253004" y="4150227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blipFill rotWithShape="1">
                <a:blip r:embed="rId15"/>
                <a:stretch>
                  <a:fillRect l="-35" t="-20" r="-9477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橢圓 144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6" name="橢圓 145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7" name="橢圓 146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8" name="直線單箭頭接點 147"/>
          <p:cNvCxnSpPr>
            <a:endCxn id="147" idx="4"/>
          </p:cNvCxnSpPr>
          <p:nvPr/>
        </p:nvCxnSpPr>
        <p:spPr>
          <a:xfrm flipV="1">
            <a:off x="3377106" y="4245632"/>
            <a:ext cx="10588980" cy="14481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146" idx="4"/>
          </p:cNvCxnSpPr>
          <p:nvPr/>
        </p:nvCxnSpPr>
        <p:spPr>
          <a:xfrm flipV="1">
            <a:off x="3377106" y="4207530"/>
            <a:ext cx="7212540" cy="1486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endCxn id="145" idx="4"/>
          </p:cNvCxnSpPr>
          <p:nvPr/>
        </p:nvCxnSpPr>
        <p:spPr>
          <a:xfrm flipV="1">
            <a:off x="3377106" y="4194243"/>
            <a:ext cx="3904427" cy="1499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/>
              <p:cNvSpPr txBox="1"/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2" name="文字方塊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blipFill rotWithShape="1">
                <a:blip r:embed="rId16"/>
                <a:stretch>
                  <a:fillRect l="-1" t="-20" r="-9511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blipFill rotWithShape="1">
                <a:blip r:embed="rId17"/>
                <a:stretch>
                  <a:fillRect l="-4" t="-57" r="-950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/>
          <p:cNvGrpSpPr/>
          <p:nvPr/>
        </p:nvGrpSpPr>
        <p:grpSpPr>
          <a:xfrm>
            <a:off x="3722487" y="5748725"/>
            <a:ext cx="1072742" cy="1579235"/>
            <a:chOff x="964022" y="3795863"/>
            <a:chExt cx="715161" cy="1052823"/>
          </a:xfrm>
        </p:grpSpPr>
        <p:sp>
          <p:nvSpPr>
            <p:cNvPr id="48" name="矩形 47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49" name="文字方塊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3161106" y="9408144"/>
                <a:ext cx="2327275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06" y="9408144"/>
                <a:ext cx="2327275" cy="554990"/>
              </a:xfrm>
              <a:prstGeom prst="rect">
                <a:avLst/>
              </a:prstGeom>
              <a:blipFill rotWithShape="1">
                <a:blip r:embed="rId19"/>
                <a:stretch>
                  <a:fillRect l="-3" t="-112" r="-3626" b="1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單箭頭接點 51"/>
          <p:cNvCxnSpPr>
            <a:endCxn id="54" idx="4"/>
          </p:cNvCxnSpPr>
          <p:nvPr/>
        </p:nvCxnSpPr>
        <p:spPr>
          <a:xfrm flipH="1" flipV="1">
            <a:off x="3835017" y="418154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3574479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79" y="3357359"/>
                <a:ext cx="794385" cy="556895"/>
              </a:xfrm>
              <a:prstGeom prst="rect">
                <a:avLst/>
              </a:prstGeom>
              <a:blipFill rotWithShape="1">
                <a:blip r:embed="rId20"/>
                <a:stretch>
                  <a:fillRect l="-8" t="-20" r="-9504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橢圓 53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5" name="直線單箭頭接點 54"/>
          <p:cNvCxnSpPr>
            <a:endCxn id="54" idx="4"/>
          </p:cNvCxnSpPr>
          <p:nvPr/>
        </p:nvCxnSpPr>
        <p:spPr>
          <a:xfrm flipV="1">
            <a:off x="3377106" y="4181543"/>
            <a:ext cx="457911" cy="15122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 flipV="1">
            <a:off x="3819657" y="2167889"/>
            <a:ext cx="2" cy="1335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H="1" flipV="1">
            <a:off x="7297161" y="2136353"/>
            <a:ext cx="2" cy="1335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 flipV="1">
            <a:off x="10606709" y="2151144"/>
            <a:ext cx="2" cy="1335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H="1" flipV="1">
            <a:off x="14010638" y="2163458"/>
            <a:ext cx="2" cy="1335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圓角 59"/>
          <p:cNvSpPr/>
          <p:nvPr/>
        </p:nvSpPr>
        <p:spPr>
          <a:xfrm>
            <a:off x="3360027" y="2527469"/>
            <a:ext cx="11861270" cy="6546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Soft-max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3598527" y="1523844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27" y="1523844"/>
                <a:ext cx="794385" cy="555625"/>
              </a:xfrm>
              <a:prstGeom prst="rect">
                <a:avLst/>
              </a:prstGeom>
              <a:blipFill rotWithShape="1">
                <a:blip r:embed="rId21"/>
                <a:stretch>
                  <a:fillRect l="-78" t="-86" r="-9435" b="8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7007424" y="152384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424" y="1523844"/>
                <a:ext cx="794385" cy="556260"/>
              </a:xfrm>
              <a:prstGeom prst="rect">
                <a:avLst/>
              </a:prstGeom>
              <a:blipFill rotWithShape="1">
                <a:blip r:embed="rId22"/>
                <a:stretch>
                  <a:fillRect l="-25" t="-86" r="-9487" b="8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/>
              <p:cNvSpPr txBox="1"/>
              <p:nvPr/>
            </p:nvSpPr>
            <p:spPr>
              <a:xfrm>
                <a:off x="10234221" y="152384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221" y="1523844"/>
                <a:ext cx="794385" cy="556260"/>
              </a:xfrm>
              <a:prstGeom prst="rect">
                <a:avLst/>
              </a:prstGeom>
              <a:blipFill rotWithShape="1">
                <a:blip r:embed="rId23"/>
                <a:stretch>
                  <a:fillRect l="-71" t="-86" r="-9442" b="8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13768019" y="1548179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019" y="1548179"/>
                <a:ext cx="794385" cy="555625"/>
              </a:xfrm>
              <a:prstGeom prst="rect">
                <a:avLst/>
              </a:prstGeom>
              <a:blipFill rotWithShape="1">
                <a:blip r:embed="rId24"/>
                <a:stretch>
                  <a:fillRect l="-74" t="-9" r="-9439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11</a:t>
            </a:fld>
            <a:endParaRPr lang="zh-TW" altLang="en-US" sz="100"/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101724" y="-118275"/>
            <a:ext cx="16084552" cy="1551434"/>
          </a:xfrm>
        </p:spPr>
        <p:txBody>
          <a:bodyPr/>
          <a:lstStyle/>
          <a:p>
            <a:r>
              <a:rPr lang="en-US" altLang="zh-TW" dirty="0"/>
              <a:t>Self-attention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64">
                <a:extLst>
                  <a:ext uri="{FF2B5EF4-FFF2-40B4-BE49-F238E27FC236}">
                    <a16:creationId xmlns:a16="http://schemas.microsoft.com/office/drawing/2014/main" id="{5386BE03-36AB-8138-74A6-7B1B61F41159}"/>
                  </a:ext>
                </a:extLst>
              </p:cNvPr>
              <p:cNvSpPr txBox="1"/>
              <p:nvPr/>
            </p:nvSpPr>
            <p:spPr>
              <a:xfrm>
                <a:off x="12409749" y="636102"/>
                <a:ext cx="5078506" cy="845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TW" altLang="en-US" sz="2800" dirty="0"/>
                            <m:t>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TW" altLang="en-US" sz="28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64">
                <a:extLst>
                  <a:ext uri="{FF2B5EF4-FFF2-40B4-BE49-F238E27FC236}">
                    <a16:creationId xmlns:a16="http://schemas.microsoft.com/office/drawing/2014/main" id="{5386BE03-36AB-8138-74A6-7B1B61F4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9749" y="636102"/>
                <a:ext cx="5078506" cy="845296"/>
              </a:xfrm>
              <a:prstGeom prst="rect">
                <a:avLst/>
              </a:prstGeom>
              <a:blipFill>
                <a:blip r:embed="rId25"/>
                <a:stretch>
                  <a:fillRect l="-249" t="-188235" b="-26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  <p:bldP spid="54" grpId="0" bldLvl="0" animBg="1"/>
      <p:bldP spid="60" grpId="0" bldLvl="0" animBg="1"/>
      <p:bldP spid="61" grpId="0"/>
      <p:bldP spid="62" grpId="0"/>
      <p:bldP spid="63" grpId="0"/>
      <p:bldP spid="64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直線單箭頭接點 138"/>
          <p:cNvCxnSpPr/>
          <p:nvPr/>
        </p:nvCxnSpPr>
        <p:spPr>
          <a:xfrm flipH="1" flipV="1">
            <a:off x="7253004" y="4150227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橢圓 144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6" name="橢圓 145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7" name="橢圓 146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8" name="直線單箭頭接點 147"/>
          <p:cNvCxnSpPr>
            <a:endCxn id="147" idx="4"/>
          </p:cNvCxnSpPr>
          <p:nvPr/>
        </p:nvCxnSpPr>
        <p:spPr>
          <a:xfrm flipV="1">
            <a:off x="3377106" y="4245632"/>
            <a:ext cx="10588980" cy="14481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endCxn id="146" idx="4"/>
          </p:cNvCxnSpPr>
          <p:nvPr/>
        </p:nvCxnSpPr>
        <p:spPr>
          <a:xfrm flipV="1">
            <a:off x="3377106" y="4207530"/>
            <a:ext cx="7212540" cy="1486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endCxn id="145" idx="4"/>
          </p:cNvCxnSpPr>
          <p:nvPr/>
        </p:nvCxnSpPr>
        <p:spPr>
          <a:xfrm flipV="1">
            <a:off x="3377106" y="4194243"/>
            <a:ext cx="3904427" cy="1499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54" idx="4"/>
          </p:cNvCxnSpPr>
          <p:nvPr/>
        </p:nvCxnSpPr>
        <p:spPr>
          <a:xfrm flipH="1" flipV="1">
            <a:off x="3835017" y="418154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5" name="直線單箭頭接點 54"/>
          <p:cNvCxnSpPr>
            <a:endCxn id="54" idx="4"/>
          </p:cNvCxnSpPr>
          <p:nvPr/>
        </p:nvCxnSpPr>
        <p:spPr>
          <a:xfrm flipV="1">
            <a:off x="3377106" y="4181543"/>
            <a:ext cx="457911" cy="15122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3598527" y="3317474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27" y="3317474"/>
                <a:ext cx="794385" cy="555625"/>
              </a:xfrm>
              <a:prstGeom prst="rect">
                <a:avLst/>
              </a:prstGeom>
              <a:blipFill rotWithShape="1">
                <a:blip r:embed="rId3"/>
                <a:stretch>
                  <a:fillRect l="-78" t="-42" r="-9435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7007424" y="331747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424" y="3317474"/>
                <a:ext cx="794385" cy="556260"/>
              </a:xfrm>
              <a:prstGeom prst="rect">
                <a:avLst/>
              </a:prstGeom>
              <a:blipFill rotWithShape="1">
                <a:blip r:embed="rId4"/>
                <a:stretch>
                  <a:fillRect l="-25" t="-42" r="-9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/>
              <p:cNvSpPr txBox="1"/>
              <p:nvPr/>
            </p:nvSpPr>
            <p:spPr>
              <a:xfrm>
                <a:off x="10234221" y="331747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221" y="3317474"/>
                <a:ext cx="794385" cy="556260"/>
              </a:xfrm>
              <a:prstGeom prst="rect">
                <a:avLst/>
              </a:prstGeom>
              <a:blipFill rotWithShape="1">
                <a:blip r:embed="rId5"/>
                <a:stretch>
                  <a:fillRect l="-71" t="-42" r="-9442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13768019" y="3341808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019" y="3341808"/>
                <a:ext cx="794385" cy="555625"/>
              </a:xfrm>
              <a:prstGeom prst="rect">
                <a:avLst/>
              </a:prstGeom>
              <a:blipFill rotWithShape="1">
                <a:blip r:embed="rId6"/>
                <a:stretch>
                  <a:fillRect l="-74" t="-79" r="-9439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矩形 115"/>
          <p:cNvSpPr/>
          <p:nvPr/>
        </p:nvSpPr>
        <p:spPr>
          <a:xfrm>
            <a:off x="4004261" y="569379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116"/>
              <p:cNvSpPr txBox="1"/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7" name="文字方塊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13" t="-55" r="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矩形 117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/>
              <p:cNvSpPr txBox="1"/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19" name="文字方塊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blipFill rotWithShape="1">
                <a:blip r:embed="rId8"/>
                <a:stretch>
                  <a:fillRect l="-25" t="-55" r="4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線單箭頭接點 126"/>
          <p:cNvCxnSpPr/>
          <p:nvPr/>
        </p:nvCxnSpPr>
        <p:spPr>
          <a:xfrm flipV="1">
            <a:off x="4233143" y="6509715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3360027" y="6929474"/>
            <a:ext cx="908378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/>
          <p:nvPr/>
        </p:nvCxnSpPr>
        <p:spPr>
          <a:xfrm flipV="1">
            <a:off x="3360027" y="650670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4575189" y="5693795"/>
            <a:ext cx="1072742" cy="1220147"/>
            <a:chOff x="1526126" y="3795863"/>
            <a:chExt cx="715161" cy="813431"/>
          </a:xfrm>
        </p:grpSpPr>
        <p:sp>
          <p:nvSpPr>
            <p:cNvPr id="110" name="矩形 109"/>
            <p:cNvSpPr/>
            <p:nvPr/>
          </p:nvSpPr>
          <p:spPr>
            <a:xfrm>
              <a:off x="1717885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/>
                <p:cNvSpPr txBox="1"/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13" name="文字方塊 1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線單箭頭接點 131"/>
            <p:cNvCxnSpPr/>
            <p:nvPr/>
          </p:nvCxnSpPr>
          <p:spPr>
            <a:xfrm flipV="1">
              <a:off x="1861885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矩形 141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3" name="文字方塊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直線單箭頭接點 154"/>
          <p:cNvCxnSpPr/>
          <p:nvPr/>
        </p:nvCxnSpPr>
        <p:spPr>
          <a:xfrm flipV="1">
            <a:off x="7647461" y="6484320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/>
          <p:cNvGrpSpPr/>
          <p:nvPr/>
        </p:nvGrpSpPr>
        <p:grpSpPr>
          <a:xfrm>
            <a:off x="7647461" y="5668400"/>
            <a:ext cx="1414788" cy="1235679"/>
            <a:chOff x="3574307" y="3778933"/>
            <a:chExt cx="943192" cy="823786"/>
          </a:xfrm>
        </p:grpSpPr>
        <p:sp>
          <p:nvSpPr>
            <p:cNvPr id="135" name="矩形 134"/>
            <p:cNvSpPr/>
            <p:nvPr/>
          </p:nvSpPr>
          <p:spPr>
            <a:xfrm>
              <a:off x="3994097" y="3778933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字方塊 137"/>
                <p:cNvSpPr txBox="1"/>
                <p:nvPr/>
              </p:nvSpPr>
              <p:spPr>
                <a:xfrm>
                  <a:off x="3802338" y="3816476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8" name="文字方塊 1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338" y="3816476"/>
                  <a:ext cx="715161" cy="43095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直線單箭頭接點 155"/>
            <p:cNvCxnSpPr/>
            <p:nvPr/>
          </p:nvCxnSpPr>
          <p:spPr>
            <a:xfrm>
              <a:off x="3574307" y="4602719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單箭頭接點 157"/>
            <p:cNvCxnSpPr/>
            <p:nvPr/>
          </p:nvCxnSpPr>
          <p:spPr>
            <a:xfrm flipV="1">
              <a:off x="4138097" y="432087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矩形 161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字方塊 162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3" name="文字方塊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12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直線單箭頭接點 165"/>
          <p:cNvCxnSpPr/>
          <p:nvPr/>
        </p:nvCxnSpPr>
        <p:spPr>
          <a:xfrm flipV="1">
            <a:off x="11013635" y="6500211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群組 3"/>
          <p:cNvGrpSpPr/>
          <p:nvPr/>
        </p:nvGrpSpPr>
        <p:grpSpPr>
          <a:xfrm>
            <a:off x="11013635" y="5684291"/>
            <a:ext cx="1414788" cy="1235679"/>
            <a:chOff x="5818423" y="3789527"/>
            <a:chExt cx="943192" cy="823786"/>
          </a:xfrm>
        </p:grpSpPr>
        <p:sp>
          <p:nvSpPr>
            <p:cNvPr id="160" name="矩形 159"/>
            <p:cNvSpPr/>
            <p:nvPr/>
          </p:nvSpPr>
          <p:spPr>
            <a:xfrm>
              <a:off x="6238213" y="3789527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/>
                <p:cNvSpPr txBox="1"/>
                <p:nvPr/>
              </p:nvSpPr>
              <p:spPr>
                <a:xfrm>
                  <a:off x="6046454" y="382707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61" name="文字方塊 1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6454" y="3827070"/>
                  <a:ext cx="715161" cy="430953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直線單箭頭接點 166"/>
            <p:cNvCxnSpPr/>
            <p:nvPr/>
          </p:nvCxnSpPr>
          <p:spPr>
            <a:xfrm>
              <a:off x="5818423" y="4613313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9" name="直線單箭頭接點 168"/>
          <p:cNvCxnSpPr/>
          <p:nvPr/>
        </p:nvCxnSpPr>
        <p:spPr>
          <a:xfrm flipV="1">
            <a:off x="11859320" y="649719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4" name="文字方塊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4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直線單箭頭接點 176"/>
          <p:cNvCxnSpPr/>
          <p:nvPr/>
        </p:nvCxnSpPr>
        <p:spPr>
          <a:xfrm flipV="1">
            <a:off x="14392691" y="6520593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4"/>
          <p:cNvGrpSpPr/>
          <p:nvPr/>
        </p:nvGrpSpPr>
        <p:grpSpPr>
          <a:xfrm>
            <a:off x="14411189" y="5704673"/>
            <a:ext cx="1396290" cy="1235679"/>
            <a:chOff x="8083459" y="3803115"/>
            <a:chExt cx="930860" cy="823786"/>
          </a:xfrm>
        </p:grpSpPr>
        <p:sp>
          <p:nvSpPr>
            <p:cNvPr id="171" name="矩形 170"/>
            <p:cNvSpPr/>
            <p:nvPr/>
          </p:nvSpPr>
          <p:spPr>
            <a:xfrm>
              <a:off x="8490917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字方塊 171"/>
                <p:cNvSpPr txBox="1"/>
                <p:nvPr/>
              </p:nvSpPr>
              <p:spPr>
                <a:xfrm>
                  <a:off x="8299158" y="3840658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2" name="文字方塊 1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9158" y="3840658"/>
                  <a:ext cx="715161" cy="43010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8" name="直線單箭頭接點 177"/>
            <p:cNvCxnSpPr/>
            <p:nvPr/>
          </p:nvCxnSpPr>
          <p:spPr>
            <a:xfrm>
              <a:off x="8083459" y="4626901"/>
              <a:ext cx="551458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線單箭頭接點 179"/>
            <p:cNvCxnSpPr/>
            <p:nvPr/>
          </p:nvCxnSpPr>
          <p:spPr>
            <a:xfrm flipV="1">
              <a:off x="8634917" y="4345052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5" name="直線單箭頭接點 184"/>
          <p:cNvCxnSpPr/>
          <p:nvPr/>
        </p:nvCxnSpPr>
        <p:spPr>
          <a:xfrm>
            <a:off x="3360027" y="6929474"/>
            <a:ext cx="873116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87" name="矩形 186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88" name="矩形 187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89" name="矩形 188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字方塊 189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0" name="文字方塊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16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文字方塊 190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1" name="文字方塊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17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2" name="文字方塊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18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3" name="文字方塊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19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群組 193"/>
          <p:cNvGrpSpPr/>
          <p:nvPr/>
        </p:nvGrpSpPr>
        <p:grpSpPr>
          <a:xfrm>
            <a:off x="3722172" y="1898529"/>
            <a:ext cx="1072742" cy="908720"/>
            <a:chOff x="635402" y="1337615"/>
            <a:chExt cx="715161" cy="605813"/>
          </a:xfrm>
        </p:grpSpPr>
        <p:sp>
          <p:nvSpPr>
            <p:cNvPr id="195" name="矩形 194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字方塊 195"/>
                <p:cNvSpPr txBox="1"/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6" name="文字方塊 1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7" name="直線單箭頭接點 196"/>
          <p:cNvCxnSpPr>
            <a:endCxn id="199" idx="2"/>
          </p:cNvCxnSpPr>
          <p:nvPr/>
        </p:nvCxnSpPr>
        <p:spPr>
          <a:xfrm flipH="1" flipV="1">
            <a:off x="5077245" y="4316186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群組 197"/>
          <p:cNvGrpSpPr/>
          <p:nvPr/>
        </p:nvGrpSpPr>
        <p:grpSpPr>
          <a:xfrm>
            <a:off x="4853457" y="3851166"/>
            <a:ext cx="447575" cy="465020"/>
            <a:chOff x="-105878" y="1740168"/>
            <a:chExt cx="461666" cy="461665"/>
          </a:xfrm>
        </p:grpSpPr>
        <p:sp>
          <p:nvSpPr>
            <p:cNvPr id="199" name="矩形 198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00" name="群組 199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01" name="直線接點 200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接點 201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3" name="直線單箭頭接點 202"/>
          <p:cNvCxnSpPr>
            <a:endCxn id="205" idx="2"/>
          </p:cNvCxnSpPr>
          <p:nvPr/>
        </p:nvCxnSpPr>
        <p:spPr>
          <a:xfrm flipH="1" flipV="1">
            <a:off x="8471114" y="4327553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群組 203"/>
          <p:cNvGrpSpPr/>
          <p:nvPr/>
        </p:nvGrpSpPr>
        <p:grpSpPr>
          <a:xfrm>
            <a:off x="8247326" y="3862533"/>
            <a:ext cx="447575" cy="465020"/>
            <a:chOff x="-105878" y="1740168"/>
            <a:chExt cx="461666" cy="461665"/>
          </a:xfrm>
        </p:grpSpPr>
        <p:sp>
          <p:nvSpPr>
            <p:cNvPr id="205" name="矩形 204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06" name="群組 205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07" name="直線接點 206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接點 207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9" name="直線單箭頭接點 208"/>
          <p:cNvCxnSpPr>
            <a:endCxn id="211" idx="2"/>
          </p:cNvCxnSpPr>
          <p:nvPr/>
        </p:nvCxnSpPr>
        <p:spPr>
          <a:xfrm flipH="1" flipV="1">
            <a:off x="11863248" y="4351538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" name="群組 209"/>
          <p:cNvGrpSpPr/>
          <p:nvPr/>
        </p:nvGrpSpPr>
        <p:grpSpPr>
          <a:xfrm>
            <a:off x="11639460" y="3886518"/>
            <a:ext cx="447575" cy="465020"/>
            <a:chOff x="-105878" y="1740168"/>
            <a:chExt cx="461666" cy="461665"/>
          </a:xfrm>
        </p:grpSpPr>
        <p:sp>
          <p:nvSpPr>
            <p:cNvPr id="211" name="矩形 21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12" name="群組 211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13" name="直線接點 21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接點 213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5" name="直線單箭頭接點 214"/>
          <p:cNvCxnSpPr>
            <a:endCxn id="217" idx="2"/>
          </p:cNvCxnSpPr>
          <p:nvPr/>
        </p:nvCxnSpPr>
        <p:spPr>
          <a:xfrm flipH="1" flipV="1">
            <a:off x="15208398" y="4376562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群組 215"/>
          <p:cNvGrpSpPr/>
          <p:nvPr/>
        </p:nvGrpSpPr>
        <p:grpSpPr>
          <a:xfrm>
            <a:off x="14984610" y="3911543"/>
            <a:ext cx="447575" cy="465020"/>
            <a:chOff x="-105878" y="1740168"/>
            <a:chExt cx="461666" cy="461665"/>
          </a:xfrm>
        </p:grpSpPr>
        <p:sp>
          <p:nvSpPr>
            <p:cNvPr id="217" name="矩形 216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18" name="群組 217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19" name="直線接點 218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接點 219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直線單箭頭接點 220"/>
          <p:cNvCxnSpPr/>
          <p:nvPr/>
        </p:nvCxnSpPr>
        <p:spPr>
          <a:xfrm flipV="1">
            <a:off x="5090495" y="2402793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 flipH="1" flipV="1">
            <a:off x="8460207" y="2364060"/>
            <a:ext cx="0" cy="1480823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單箭頭接點 222"/>
          <p:cNvCxnSpPr/>
          <p:nvPr/>
        </p:nvCxnSpPr>
        <p:spPr>
          <a:xfrm flipH="1" flipV="1">
            <a:off x="11859761" y="2317422"/>
            <a:ext cx="0" cy="15545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線單箭頭接點 223"/>
          <p:cNvCxnSpPr/>
          <p:nvPr/>
        </p:nvCxnSpPr>
        <p:spPr>
          <a:xfrm flipH="1" flipV="1">
            <a:off x="15206366" y="2347418"/>
            <a:ext cx="0" cy="1580804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線單箭頭接點 224"/>
          <p:cNvCxnSpPr>
            <a:endCxn id="199" idx="1"/>
          </p:cNvCxnSpPr>
          <p:nvPr/>
        </p:nvCxnSpPr>
        <p:spPr>
          <a:xfrm>
            <a:off x="4018502" y="406453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線單箭頭接點 225"/>
          <p:cNvCxnSpPr/>
          <p:nvPr/>
        </p:nvCxnSpPr>
        <p:spPr>
          <a:xfrm>
            <a:off x="7459037" y="4092045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線單箭頭接點 226"/>
          <p:cNvCxnSpPr/>
          <p:nvPr/>
        </p:nvCxnSpPr>
        <p:spPr>
          <a:xfrm>
            <a:off x="10804505" y="4119027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單箭頭接點 227"/>
          <p:cNvCxnSpPr/>
          <p:nvPr/>
        </p:nvCxnSpPr>
        <p:spPr>
          <a:xfrm>
            <a:off x="14111508" y="414405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單箭頭接點 228"/>
          <p:cNvCxnSpPr/>
          <p:nvPr/>
        </p:nvCxnSpPr>
        <p:spPr>
          <a:xfrm flipH="1">
            <a:off x="4575188" y="2352888"/>
            <a:ext cx="106167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3161106" y="8601326"/>
                <a:ext cx="2307590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06" y="8601326"/>
                <a:ext cx="2307590" cy="554990"/>
              </a:xfrm>
              <a:prstGeom prst="rect">
                <a:avLst/>
              </a:prstGeom>
              <a:blipFill rotWithShape="1">
                <a:blip r:embed="rId21"/>
                <a:stretch>
                  <a:fillRect l="-3" t="-45" r="-3657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6445839" y="8635673"/>
                <a:ext cx="2307590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839" y="8635673"/>
                <a:ext cx="2307590" cy="554990"/>
              </a:xfrm>
              <a:prstGeom prst="rect">
                <a:avLst/>
              </a:prstGeom>
              <a:blipFill rotWithShape="1">
                <a:blip r:embed="rId22"/>
                <a:stretch>
                  <a:fillRect l="-26" t="-55" r="-36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/>
              <p:cNvSpPr txBox="1"/>
              <p:nvPr/>
            </p:nvSpPr>
            <p:spPr>
              <a:xfrm>
                <a:off x="9839970" y="8635671"/>
                <a:ext cx="2307590" cy="554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0" name="文字方塊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970" y="8635671"/>
                <a:ext cx="2307590" cy="554990"/>
              </a:xfrm>
              <a:prstGeom prst="rect">
                <a:avLst/>
              </a:prstGeom>
              <a:blipFill rotWithShape="1">
                <a:blip r:embed="rId23"/>
                <a:stretch>
                  <a:fillRect t="-55" r="-3659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/>
              <p:cNvSpPr txBox="1"/>
              <p:nvPr/>
            </p:nvSpPr>
            <p:spPr>
              <a:xfrm>
                <a:off x="13176222" y="8635670"/>
                <a:ext cx="23075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1" name="文字方塊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222" y="8635670"/>
                <a:ext cx="2307590" cy="553720"/>
              </a:xfrm>
              <a:prstGeom prst="rect">
                <a:avLst/>
              </a:prstGeom>
              <a:blipFill rotWithShape="1">
                <a:blip r:embed="rId24"/>
                <a:stretch>
                  <a:fillRect l="-26" t="-55" r="-36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單箭頭接點 102"/>
          <p:cNvCxnSpPr/>
          <p:nvPr/>
        </p:nvCxnSpPr>
        <p:spPr>
          <a:xfrm>
            <a:off x="4268405" y="6957855"/>
            <a:ext cx="845685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12</a:t>
            </a:fld>
            <a:endParaRPr lang="zh-TW" altLang="en-US" sz="10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1101724" y="-92797"/>
            <a:ext cx="16084552" cy="1551434"/>
          </a:xfrm>
        </p:spPr>
        <p:txBody>
          <a:bodyPr/>
          <a:lstStyle/>
          <a:p>
            <a:r>
              <a:rPr lang="en-US" altLang="zh-TW" dirty="0"/>
              <a:t>Self-attention</a:t>
            </a:r>
            <a:endParaRPr lang="zh-TW" altLang="en-US" dirty="0"/>
          </a:p>
        </p:txBody>
      </p:sp>
      <p:sp>
        <p:nvSpPr>
          <p:cNvPr id="8" name="文字方塊 230">
            <a:extLst>
              <a:ext uri="{FF2B5EF4-FFF2-40B4-BE49-F238E27FC236}">
                <a16:creationId xmlns:a16="http://schemas.microsoft.com/office/drawing/2014/main" id="{2EBB9CFA-2EC5-9536-821D-4EBA91493476}"/>
              </a:ext>
            </a:extLst>
          </p:cNvPr>
          <p:cNvSpPr txBox="1"/>
          <p:nvPr/>
        </p:nvSpPr>
        <p:spPr>
          <a:xfrm>
            <a:off x="6079723" y="1613982"/>
            <a:ext cx="7607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Extract information based on attention scores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229">
                <a:extLst>
                  <a:ext uri="{FF2B5EF4-FFF2-40B4-BE49-F238E27FC236}">
                    <a16:creationId xmlns:a16="http://schemas.microsoft.com/office/drawing/2014/main" id="{0D23663C-40E6-4D9D-4226-2630BEA92FD8}"/>
                  </a:ext>
                </a:extLst>
              </p:cNvPr>
              <p:cNvSpPr txBox="1"/>
              <p:nvPr/>
            </p:nvSpPr>
            <p:spPr>
              <a:xfrm>
                <a:off x="470614" y="1880021"/>
                <a:ext cx="2494273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TW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zh-TW" altLang="en-US" sz="2800" b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229">
                <a:extLst>
                  <a:ext uri="{FF2B5EF4-FFF2-40B4-BE49-F238E27FC236}">
                    <a16:creationId xmlns:a16="http://schemas.microsoft.com/office/drawing/2014/main" id="{0D23663C-40E6-4D9D-4226-2630BEA92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14" y="1880021"/>
                <a:ext cx="2494273" cy="1045543"/>
              </a:xfrm>
              <a:prstGeom prst="rect">
                <a:avLst/>
              </a:prstGeom>
              <a:blipFill>
                <a:blip r:embed="rId25"/>
                <a:stretch>
                  <a:fillRect l="-16162" t="-144048" r="-3535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9" grpId="0"/>
      <p:bldP spid="100" grpId="0"/>
      <p:bldP spid="101" grpId="0"/>
      <p:bldP spid="8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1C01F4B3-8838-4763-93E0-6770AB609F04}"/>
</file>

<file path=customXml/itemProps2.xml><?xml version="1.0" encoding="utf-8"?>
<ds:datastoreItem xmlns:ds="http://schemas.openxmlformats.org/officeDocument/2006/customXml" ds:itemID="{5D1D3DFC-8950-499F-80C0-F2870894D2A8}"/>
</file>

<file path=customXml/itemProps3.xml><?xml version="1.0" encoding="utf-8"?>
<ds:datastoreItem xmlns:ds="http://schemas.openxmlformats.org/officeDocument/2006/customXml" ds:itemID="{E97B3179-5DAC-451D-AAB9-B6B20CFD4674}"/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356</Words>
  <Application>Microsoft Macintosh PowerPoint</Application>
  <PresentationFormat>Custom</PresentationFormat>
  <Paragraphs>184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 2</vt:lpstr>
      <vt:lpstr>Breeze</vt:lpstr>
      <vt:lpstr>Self-Attention</vt:lpstr>
      <vt:lpstr>Sophisticated Input </vt:lpstr>
      <vt:lpstr>What is the output? </vt:lpstr>
      <vt:lpstr>Sequence Learning</vt:lpstr>
      <vt:lpstr>Self-attention</vt:lpstr>
      <vt:lpstr>PowerPoint Presentation</vt:lpstr>
      <vt:lpstr>PowerPoint Presentation</vt:lpstr>
      <vt:lpstr>How to get the relavance?</vt:lpstr>
      <vt:lpstr>Self-attention</vt:lpstr>
      <vt:lpstr>Self-attention</vt:lpstr>
      <vt:lpstr>Self-attention</vt:lpstr>
      <vt:lpstr>Self-attention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66</cp:revision>
  <dcterms:created xsi:type="dcterms:W3CDTF">2019-02-13T16:04:00Z</dcterms:created>
  <dcterms:modified xsi:type="dcterms:W3CDTF">2024-04-04T14:26:16Z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50DE81DFFB894CF5B0553D916DF12CAC</vt:lpwstr>
  </property>
  <property fmtid="{D5CDD505-2E9C-101B-9397-08002B2CF9AE}" pid="5" name="KSOProductBuildVer">
    <vt:lpwstr>1033-11.2.0.11225</vt:lpwstr>
  </property>
</Properties>
</file>