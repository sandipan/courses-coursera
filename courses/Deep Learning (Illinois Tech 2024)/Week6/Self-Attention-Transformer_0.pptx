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3"/>
  </p:sldMasterIdLst>
  <p:notesMasterIdLst>
    <p:notesMasterId r:id="rId6"/>
  </p:notesMasterIdLst>
  <p:sldIdLst>
    <p:sldId id="259" r:id="rId4"/>
    <p:sldId id="462" r:id="rId5"/>
  </p:sldIdLst>
  <p:sldSz cx="18288000" cy="10287000"/>
  <p:notesSz cx="6858000" cy="9144000"/>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3287">
          <p15:clr>
            <a:srgbClr val="A4A3A4"/>
          </p15:clr>
        </p15:guide>
        <p15:guide id="2" pos="581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7"/>
    <p:restoredTop sz="93813"/>
  </p:normalViewPr>
  <p:slideViewPr>
    <p:cSldViewPr snapToGrid="0" snapToObjects="1">
      <p:cViewPr varScale="1">
        <p:scale>
          <a:sx n="47" d="100"/>
          <a:sy n="47" d="100"/>
        </p:scale>
        <p:origin x="500" y="56"/>
      </p:cViewPr>
      <p:guideLst>
        <p:guide orient="horz" pos="3287"/>
        <p:guide pos="581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Master" Target="slideMasters/slideMaster1.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2.xml"/><Relationship Id="rId10"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6/13/2024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2"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2" charset="2"/>
              <a:buNone/>
              <a:defRPr sz="7200" b="1" kern="1200">
                <a:solidFill>
                  <a:schemeClr val="accent1"/>
                </a:solidFill>
                <a:latin typeface="+mj-lt"/>
                <a:ea typeface="+mj-ea"/>
                <a:cs typeface="+mj-cs"/>
              </a:defRPr>
            </a:lvl1pPr>
          </a:lstStyle>
          <a:p>
            <a:r>
              <a:rPr lang="en-US"/>
              <a:t>Click to edit Master title style</a:t>
            </a: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2"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dirty="0"/>
              <a:t>Click to edit Master subtitle style</a:t>
            </a:r>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en-US" altLang="en-US"/>
              <a:t>Click to edit Master title style</a:t>
            </a:r>
          </a:p>
        </p:txBody>
      </p:sp>
      <p:sp>
        <p:nvSpPr>
          <p:cNvPr id="1027" name="Text Placeholder 2"/>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ctr" rtl="0" fontAlgn="base">
        <a:spcBef>
          <a:spcPct val="0"/>
        </a:spcBef>
        <a:spcAft>
          <a:spcPct val="0"/>
        </a:spcAft>
        <a:defRPr sz="5600" b="1" kern="1200">
          <a:solidFill>
            <a:schemeClr val="accent1"/>
          </a:solidFill>
          <a:latin typeface="+mj-lt"/>
          <a:ea typeface="MS PGothic"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MS PGothic"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MS PGothic"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MS PGothic"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MS PGothic"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MS PGothic"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MS PGothic"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2"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2" charset="2"/>
        <a:buChar char=""/>
        <a:defRPr lang="en-US" sz="3600" kern="1200" dirty="0" smtClean="0">
          <a:solidFill>
            <a:schemeClr val="tx1">
              <a:lumMod val="65000"/>
              <a:lumOff val="35000"/>
            </a:schemeClr>
          </a:solidFill>
          <a:latin typeface="+mn-lt"/>
          <a:ea typeface="+mn-ea"/>
          <a:cs typeface="+mn-cs"/>
        </a:defRPr>
      </a:lvl7pPr>
      <a:lvl8pPr marL="4797425" indent="-565150" algn="l" defTabSz="1828800" rtl="0" eaLnBrk="1" latinLnBrk="0" hangingPunct="1">
        <a:spcBef>
          <a:spcPct val="20000"/>
        </a:spcBef>
        <a:buClr>
          <a:schemeClr val="accent2"/>
        </a:buClr>
        <a:buSzPct val="110000"/>
        <a:buFont typeface="Wingdings 2" pitchFamily="2"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2"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44777" y="2286001"/>
            <a:ext cx="12998450" cy="2587626"/>
          </a:xfrm>
        </p:spPr>
        <p:txBody>
          <a:bodyPr/>
          <a:lstStyle/>
          <a:p>
            <a:pPr fontAlgn="auto">
              <a:spcAft>
                <a:spcPts val="0"/>
              </a:spcAft>
              <a:defRPr/>
            </a:pPr>
            <a:r>
              <a:rPr lang="en-US"/>
              <a:t>Self-Attention&amp;Transformer</a:t>
            </a:r>
          </a:p>
        </p:txBody>
      </p:sp>
      <p:sp>
        <p:nvSpPr>
          <p:cNvPr id="3" name="Subtitle 2"/>
          <p:cNvSpPr>
            <a:spLocks noGrp="1"/>
          </p:cNvSpPr>
          <p:nvPr>
            <p:ph type="subTitle" idx="1"/>
          </p:nvPr>
        </p:nvSpPr>
        <p:spPr>
          <a:xfrm>
            <a:off x="2644775" y="5627160"/>
            <a:ext cx="12998450" cy="1374774"/>
          </a:xfrm>
        </p:spPr>
        <p:txBody>
          <a:bodyPr/>
          <a:lstStyle/>
          <a:p>
            <a:pPr fontAlgn="auto">
              <a:spcAft>
                <a:spcPts val="0"/>
              </a:spcAft>
              <a:defRPr/>
            </a:pPr>
            <a:r>
              <a:rPr lang="en-US" dirty="0"/>
              <a:t>Instructor: Dr. Yan Yan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Overview</a:t>
            </a:r>
            <a:endParaRPr lang="zh-TW" altLang="en-US" dirty="0"/>
          </a:p>
        </p:txBody>
      </p:sp>
      <p:sp>
        <p:nvSpPr>
          <p:cNvPr id="5" name="內容版面配置區 2">
            <a:extLst>
              <a:ext uri="{FF2B5EF4-FFF2-40B4-BE49-F238E27FC236}">
                <a16:creationId xmlns:a16="http://schemas.microsoft.com/office/drawing/2014/main" id="{7BC32825-CF8B-9A04-75AA-3B687D23012A}"/>
              </a:ext>
            </a:extLst>
          </p:cNvPr>
          <p:cNvSpPr>
            <a:spLocks noGrp="1"/>
          </p:cNvSpPr>
          <p:nvPr>
            <p:ph idx="1"/>
          </p:nvPr>
        </p:nvSpPr>
        <p:spPr>
          <a:xfrm>
            <a:off x="1098550" y="2206709"/>
            <a:ext cx="16571244" cy="6209158"/>
          </a:xfrm>
        </p:spPr>
        <p:txBody>
          <a:bodyPr/>
          <a:lstStyle/>
          <a:p>
            <a:pPr>
              <a:buFont typeface="Arial" panose="020B0604020202020204" pitchFamily="34" charset="0"/>
              <a:buChar char="•"/>
            </a:pPr>
            <a:r>
              <a:rPr lang="en-US" altLang="zh-TW" b="1" dirty="0"/>
              <a:t>Attention</a:t>
            </a:r>
          </a:p>
          <a:p>
            <a:pPr lvl="1">
              <a:buFont typeface="Arial" panose="020B0604020202020204" pitchFamily="34" charset="0"/>
              <a:buChar char="•"/>
            </a:pPr>
            <a:r>
              <a:rPr lang="en-US" sz="2800" dirty="0"/>
              <a:t>Attention is a mechanism which intuitively mimics cognitive attention. It calculates "soft" weights for each word, more precisely for its embedding, in the context window. These weights can be computed either in parallel (such as in transformers) or sequentially (such as recurrent neural networks). </a:t>
            </a:r>
            <a:endParaRPr lang="en-US" altLang="zh-TW" sz="2800" b="1" dirty="0"/>
          </a:p>
          <a:p>
            <a:pPr>
              <a:buFont typeface="Arial" panose="020B0604020202020204" pitchFamily="34" charset="0"/>
              <a:buChar char="•"/>
            </a:pPr>
            <a:r>
              <a:rPr lang="en-US" altLang="zh-TW" b="1" dirty="0"/>
              <a:t>Transformer</a:t>
            </a:r>
          </a:p>
          <a:p>
            <a:pPr lvl="1">
              <a:buFont typeface="Arial" panose="020B0604020202020204" pitchFamily="34" charset="0"/>
              <a:buChar char="•"/>
            </a:pPr>
            <a:r>
              <a:rPr lang="en-US" sz="2800" dirty="0"/>
              <a:t>Transformer model is based on an encoder-decoder architecture. Both the encoder and decoder consist of two and three sub-layers, respectively: </a:t>
            </a:r>
            <a:r>
              <a:rPr lang="en-US" sz="2800" b="1" dirty="0"/>
              <a:t>multi-head self-attention</a:t>
            </a:r>
            <a:r>
              <a:rPr lang="en-US" sz="2800" dirty="0"/>
              <a:t>, </a:t>
            </a:r>
            <a:r>
              <a:rPr lang="en-US" sz="2800" b="1" dirty="0"/>
              <a:t>a fully-connected feed forward network</a:t>
            </a:r>
            <a:r>
              <a:rPr lang="en-US" sz="2800" dirty="0"/>
              <a:t> and — in the case of the decoder — </a:t>
            </a:r>
            <a:r>
              <a:rPr lang="en-US" sz="2800" b="1" dirty="0"/>
              <a:t>encoder-decoder self-attention</a:t>
            </a:r>
            <a:r>
              <a:rPr lang="en-US" sz="2800" dirty="0"/>
              <a:t>.</a:t>
            </a:r>
            <a:endParaRPr lang="en-US" altLang="zh-TW" dirty="0"/>
          </a:p>
          <a:p>
            <a:pPr marL="0" indent="0">
              <a:buNone/>
            </a:pPr>
            <a:endParaRPr lang="zh-TW" altLang="en-US" b="1" dirty="0"/>
          </a:p>
        </p:txBody>
      </p:sp>
    </p:spTree>
    <p:extLst>
      <p:ext uri="{BB962C8B-B14F-4D97-AF65-F5344CB8AC3E}">
        <p14:creationId xmlns:p14="http://schemas.microsoft.com/office/powerpoint/2010/main" val="53769921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fillRect/>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6dd4d27a79178d964495491d99d85ab0">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5371f2543c27c65efb9018a9acd511a8"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960A021-33FC-4049-9655-65B5DD0F06C8}">
  <ds:schemaRefs>
    <ds:schemaRef ds:uri="http://schemas.microsoft.com/sharepoint/v3/contenttype/forms"/>
  </ds:schemaRefs>
</ds:datastoreItem>
</file>

<file path=customXml/itemProps2.xml><?xml version="1.0" encoding="utf-8"?>
<ds:datastoreItem xmlns:ds="http://schemas.openxmlformats.org/officeDocument/2006/customXml" ds:itemID="{6325598D-A70C-4620-9529-DA2F14D4237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31</TotalTime>
  <Words>109</Words>
  <Application>Microsoft Office PowerPoint</Application>
  <PresentationFormat>Custom</PresentationFormat>
  <Paragraphs>7</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Wingdings 2</vt:lpstr>
      <vt:lpstr>Breeze</vt:lpstr>
      <vt:lpstr>Self-Attention&amp;Transformer</vt:lpstr>
      <vt:lpstr>Overview</vt:lpstr>
    </vt:vector>
  </TitlesOfParts>
  <Company>Illinois Institute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creator>Sandra Laporte</dc:creator>
  <cp:lastModifiedBy>Kristin Swintek</cp:lastModifiedBy>
  <cp:revision>45</cp:revision>
  <dcterms:created xsi:type="dcterms:W3CDTF">2019-02-13T16:04:00Z</dcterms:created>
  <dcterms:modified xsi:type="dcterms:W3CDTF">2024-06-13T12:26:32Z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MediaServiceImageTags">
    <vt:lpwstr/>
  </property>
  <property fmtid="{D5CDD505-2E9C-101B-9397-08002B2CF9AE}" pid="4" name="ICV">
    <vt:lpwstr>50DE81DFFB894CF5B0553D916DF12CAC</vt:lpwstr>
  </property>
  <property fmtid="{D5CDD505-2E9C-101B-9397-08002B2CF9AE}" pid="5" name="KSOProductBuildVer">
    <vt:lpwstr>1033-11.2.0.11225</vt:lpwstr>
  </property>
</Properties>
</file>