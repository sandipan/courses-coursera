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26" r:id="rId2"/>
    <p:sldId id="280" r:id="rId3"/>
    <p:sldId id="302" r:id="rId4"/>
    <p:sldId id="282" r:id="rId5"/>
    <p:sldId id="260" r:id="rId6"/>
    <p:sldId id="284" r:id="rId7"/>
    <p:sldId id="287" r:id="rId8"/>
    <p:sldId id="288" r:id="rId9"/>
    <p:sldId id="289" r:id="rId10"/>
    <p:sldId id="285" r:id="rId11"/>
    <p:sldId id="286" r:id="rId12"/>
    <p:sldId id="291" r:id="rId13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04"/>
    <p:restoredTop sz="92016"/>
  </p:normalViewPr>
  <p:slideViewPr>
    <p:cSldViewPr snapToGrid="0" snapToObjects="1">
      <p:cViewPr varScale="1">
        <p:scale>
          <a:sx n="50" d="100"/>
          <a:sy n="50" d="100"/>
        </p:scale>
        <p:origin x="160" y="224"/>
      </p:cViewPr>
      <p:guideLst>
        <p:guide orient="horz" pos="3240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jpe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jpe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2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23.pn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27.jpe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7.jpeg"/><Relationship Id="rId7" Type="http://schemas.openxmlformats.org/officeDocument/2006/relationships/image" Target="../media/image39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45.png"/><Relationship Id="rId5" Type="http://schemas.openxmlformats.org/officeDocument/2006/relationships/image" Target="../media/image35.png"/><Relationship Id="rId10" Type="http://schemas.openxmlformats.org/officeDocument/2006/relationships/image" Target="../media/image44.png"/><Relationship Id="rId4" Type="http://schemas.openxmlformats.org/officeDocument/2006/relationships/image" Target="../media/image34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Diffusion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Principle and possibility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327" y="3430349"/>
            <a:ext cx="1874676" cy="187491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294055" y="2664558"/>
            <a:ext cx="4489133" cy="4489133"/>
            <a:chOff x="4862703" y="1776372"/>
            <a:chExt cx="2992755" cy="29927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1193" y="1776372"/>
              <a:ext cx="2274204" cy="29923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62703" y="2817114"/>
              <a:ext cx="684530" cy="171450"/>
            </a:xfrm>
            <a:custGeom>
              <a:avLst/>
              <a:gdLst/>
              <a:ahLst/>
              <a:cxnLst/>
              <a:rect l="l" t="t" r="r" b="b"/>
              <a:pathLst>
                <a:path w="684529" h="171450">
                  <a:moveTo>
                    <a:pt x="512825" y="0"/>
                  </a:moveTo>
                  <a:lnTo>
                    <a:pt x="512825" y="171450"/>
                  </a:lnTo>
                  <a:lnTo>
                    <a:pt x="627126" y="114300"/>
                  </a:lnTo>
                  <a:lnTo>
                    <a:pt x="541401" y="114300"/>
                  </a:lnTo>
                  <a:lnTo>
                    <a:pt x="541401" y="57150"/>
                  </a:lnTo>
                  <a:lnTo>
                    <a:pt x="627126" y="57150"/>
                  </a:lnTo>
                  <a:lnTo>
                    <a:pt x="512825" y="0"/>
                  </a:lnTo>
                  <a:close/>
                </a:path>
                <a:path w="684529" h="171450">
                  <a:moveTo>
                    <a:pt x="512825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512825" y="114300"/>
                  </a:lnTo>
                  <a:lnTo>
                    <a:pt x="512825" y="57150"/>
                  </a:lnTo>
                  <a:close/>
                </a:path>
                <a:path w="684529" h="171450">
                  <a:moveTo>
                    <a:pt x="627126" y="57150"/>
                  </a:moveTo>
                  <a:lnTo>
                    <a:pt x="541401" y="57150"/>
                  </a:lnTo>
                  <a:lnTo>
                    <a:pt x="541401" y="114300"/>
                  </a:lnTo>
                  <a:lnTo>
                    <a:pt x="627126" y="114300"/>
                  </a:lnTo>
                  <a:lnTo>
                    <a:pt x="684276" y="85725"/>
                  </a:lnTo>
                  <a:lnTo>
                    <a:pt x="627126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471416" y="3479291"/>
            <a:ext cx="2672715" cy="1745933"/>
            <a:chOff x="2980944" y="2319527"/>
            <a:chExt cx="1781810" cy="116395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9994" y="2338577"/>
              <a:ext cx="1743456" cy="11254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99994" y="2338577"/>
              <a:ext cx="1743710" cy="1125855"/>
            </a:xfrm>
            <a:custGeom>
              <a:avLst/>
              <a:gdLst/>
              <a:ahLst/>
              <a:cxnLst/>
              <a:rect l="l" t="t" r="r" b="b"/>
              <a:pathLst>
                <a:path w="1743710" h="1125854">
                  <a:moveTo>
                    <a:pt x="0" y="187579"/>
                  </a:moveTo>
                  <a:lnTo>
                    <a:pt x="6698" y="137700"/>
                  </a:lnTo>
                  <a:lnTo>
                    <a:pt x="25602" y="92888"/>
                  </a:lnTo>
                  <a:lnTo>
                    <a:pt x="54927" y="54927"/>
                  </a:lnTo>
                  <a:lnTo>
                    <a:pt x="92888" y="25602"/>
                  </a:lnTo>
                  <a:lnTo>
                    <a:pt x="137700" y="6698"/>
                  </a:lnTo>
                  <a:lnTo>
                    <a:pt x="187579" y="0"/>
                  </a:lnTo>
                  <a:lnTo>
                    <a:pt x="1555877" y="0"/>
                  </a:lnTo>
                  <a:lnTo>
                    <a:pt x="1605755" y="6698"/>
                  </a:lnTo>
                  <a:lnTo>
                    <a:pt x="1650567" y="25602"/>
                  </a:lnTo>
                  <a:lnTo>
                    <a:pt x="1688528" y="54927"/>
                  </a:lnTo>
                  <a:lnTo>
                    <a:pt x="1717853" y="92888"/>
                  </a:lnTo>
                  <a:lnTo>
                    <a:pt x="1736757" y="137700"/>
                  </a:lnTo>
                  <a:lnTo>
                    <a:pt x="1743456" y="187579"/>
                  </a:lnTo>
                  <a:lnTo>
                    <a:pt x="1743456" y="937895"/>
                  </a:lnTo>
                  <a:lnTo>
                    <a:pt x="1736757" y="987773"/>
                  </a:lnTo>
                  <a:lnTo>
                    <a:pt x="1717853" y="1032585"/>
                  </a:lnTo>
                  <a:lnTo>
                    <a:pt x="1688528" y="1070546"/>
                  </a:lnTo>
                  <a:lnTo>
                    <a:pt x="1650567" y="1099871"/>
                  </a:lnTo>
                  <a:lnTo>
                    <a:pt x="1605755" y="1118775"/>
                  </a:lnTo>
                  <a:lnTo>
                    <a:pt x="1555877" y="1125474"/>
                  </a:lnTo>
                  <a:lnTo>
                    <a:pt x="187579" y="1125474"/>
                  </a:lnTo>
                  <a:lnTo>
                    <a:pt x="137700" y="1118775"/>
                  </a:lnTo>
                  <a:lnTo>
                    <a:pt x="92888" y="1099871"/>
                  </a:lnTo>
                  <a:lnTo>
                    <a:pt x="54927" y="1070546"/>
                  </a:lnTo>
                  <a:lnTo>
                    <a:pt x="25602" y="1032585"/>
                  </a:lnTo>
                  <a:lnTo>
                    <a:pt x="6698" y="987773"/>
                  </a:lnTo>
                  <a:lnTo>
                    <a:pt x="0" y="937895"/>
                  </a:lnTo>
                  <a:lnTo>
                    <a:pt x="0" y="18757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852797" y="3979163"/>
            <a:ext cx="191071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latin typeface="Calibri" panose="020F0502020204030204"/>
                <a:cs typeface="Calibri" panose="020F0502020204030204"/>
              </a:rPr>
              <a:t>Network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1097" y="3883150"/>
            <a:ext cx="260033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𝑧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14410" y="4000500"/>
            <a:ext cx="28194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02697" y="4195952"/>
            <a:ext cx="1014413" cy="257175"/>
          </a:xfrm>
          <a:custGeom>
            <a:avLst/>
            <a:gdLst/>
            <a:ahLst/>
            <a:cxnLst/>
            <a:rect l="l" t="t" r="r" b="b"/>
            <a:pathLst>
              <a:path w="676275" h="171450">
                <a:moveTo>
                  <a:pt x="504698" y="0"/>
                </a:moveTo>
                <a:lnTo>
                  <a:pt x="504698" y="171450"/>
                </a:lnTo>
                <a:lnTo>
                  <a:pt x="618998" y="114300"/>
                </a:lnTo>
                <a:lnTo>
                  <a:pt x="533273" y="114300"/>
                </a:lnTo>
                <a:lnTo>
                  <a:pt x="533273" y="57150"/>
                </a:lnTo>
                <a:lnTo>
                  <a:pt x="618998" y="57150"/>
                </a:lnTo>
                <a:lnTo>
                  <a:pt x="504698" y="0"/>
                </a:lnTo>
                <a:close/>
              </a:path>
              <a:path w="676275" h="171450">
                <a:moveTo>
                  <a:pt x="504698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504698" y="114300"/>
                </a:lnTo>
                <a:lnTo>
                  <a:pt x="504698" y="57150"/>
                </a:lnTo>
                <a:close/>
              </a:path>
              <a:path w="676275" h="171450">
                <a:moveTo>
                  <a:pt x="618998" y="57150"/>
                </a:moveTo>
                <a:lnTo>
                  <a:pt x="533273" y="57150"/>
                </a:lnTo>
                <a:lnTo>
                  <a:pt x="533273" y="114300"/>
                </a:lnTo>
                <a:lnTo>
                  <a:pt x="618998" y="114300"/>
                </a:lnTo>
                <a:lnTo>
                  <a:pt x="676148" y="85725"/>
                </a:lnTo>
                <a:lnTo>
                  <a:pt x="618998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4" name="object 14"/>
          <p:cNvSpPr/>
          <p:nvPr/>
        </p:nvSpPr>
        <p:spPr>
          <a:xfrm>
            <a:off x="9764076" y="2377058"/>
            <a:ext cx="649605" cy="495300"/>
          </a:xfrm>
          <a:custGeom>
            <a:avLst/>
            <a:gdLst/>
            <a:ahLst/>
            <a:cxnLst/>
            <a:rect l="l" t="t" r="r" b="b"/>
            <a:pathLst>
              <a:path w="433070" h="330200">
                <a:moveTo>
                  <a:pt x="327406" y="0"/>
                </a:moveTo>
                <a:lnTo>
                  <a:pt x="322834" y="13462"/>
                </a:lnTo>
                <a:lnTo>
                  <a:pt x="341884" y="21724"/>
                </a:lnTo>
                <a:lnTo>
                  <a:pt x="358267" y="33178"/>
                </a:lnTo>
                <a:lnTo>
                  <a:pt x="383032" y="65659"/>
                </a:lnTo>
                <a:lnTo>
                  <a:pt x="397668" y="109474"/>
                </a:lnTo>
                <a:lnTo>
                  <a:pt x="402590" y="163195"/>
                </a:lnTo>
                <a:lnTo>
                  <a:pt x="401355" y="192246"/>
                </a:lnTo>
                <a:lnTo>
                  <a:pt x="391552" y="242347"/>
                </a:lnTo>
                <a:lnTo>
                  <a:pt x="371937" y="281547"/>
                </a:lnTo>
                <a:lnTo>
                  <a:pt x="342080" y="307939"/>
                </a:lnTo>
                <a:lnTo>
                  <a:pt x="323342" y="316230"/>
                </a:lnTo>
                <a:lnTo>
                  <a:pt x="327406" y="329692"/>
                </a:lnTo>
                <a:lnTo>
                  <a:pt x="372459" y="308578"/>
                </a:lnTo>
                <a:lnTo>
                  <a:pt x="405511" y="272034"/>
                </a:lnTo>
                <a:lnTo>
                  <a:pt x="425799" y="223170"/>
                </a:lnTo>
                <a:lnTo>
                  <a:pt x="432562" y="164973"/>
                </a:lnTo>
                <a:lnTo>
                  <a:pt x="430869" y="134705"/>
                </a:lnTo>
                <a:lnTo>
                  <a:pt x="417292" y="81123"/>
                </a:lnTo>
                <a:lnTo>
                  <a:pt x="390306" y="37540"/>
                </a:lnTo>
                <a:lnTo>
                  <a:pt x="351341" y="8671"/>
                </a:lnTo>
                <a:lnTo>
                  <a:pt x="327406" y="0"/>
                </a:lnTo>
                <a:close/>
              </a:path>
              <a:path w="433070" h="330200">
                <a:moveTo>
                  <a:pt x="105156" y="0"/>
                </a:moveTo>
                <a:lnTo>
                  <a:pt x="60261" y="21177"/>
                </a:lnTo>
                <a:lnTo>
                  <a:pt x="27178" y="57785"/>
                </a:lnTo>
                <a:lnTo>
                  <a:pt x="6778" y="106759"/>
                </a:lnTo>
                <a:lnTo>
                  <a:pt x="0" y="164973"/>
                </a:lnTo>
                <a:lnTo>
                  <a:pt x="1690" y="195238"/>
                </a:lnTo>
                <a:lnTo>
                  <a:pt x="15216" y="248769"/>
                </a:lnTo>
                <a:lnTo>
                  <a:pt x="42130" y="292223"/>
                </a:lnTo>
                <a:lnTo>
                  <a:pt x="81147" y="321075"/>
                </a:lnTo>
                <a:lnTo>
                  <a:pt x="105156" y="329692"/>
                </a:lnTo>
                <a:lnTo>
                  <a:pt x="109220" y="316230"/>
                </a:lnTo>
                <a:lnTo>
                  <a:pt x="90481" y="307939"/>
                </a:lnTo>
                <a:lnTo>
                  <a:pt x="74279" y="296386"/>
                </a:lnTo>
                <a:lnTo>
                  <a:pt x="49530" y="263398"/>
                </a:lnTo>
                <a:lnTo>
                  <a:pt x="34956" y="218630"/>
                </a:lnTo>
                <a:lnTo>
                  <a:pt x="30099" y="163195"/>
                </a:lnTo>
                <a:lnTo>
                  <a:pt x="31313" y="135096"/>
                </a:lnTo>
                <a:lnTo>
                  <a:pt x="41028" y="86328"/>
                </a:lnTo>
                <a:lnTo>
                  <a:pt x="60652" y="47823"/>
                </a:lnTo>
                <a:lnTo>
                  <a:pt x="90803" y="21724"/>
                </a:lnTo>
                <a:lnTo>
                  <a:pt x="109855" y="13462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5" name="object 15"/>
          <p:cNvSpPr txBox="1"/>
          <p:nvPr/>
        </p:nvSpPr>
        <p:spPr>
          <a:xfrm>
            <a:off x="9028937" y="2222754"/>
            <a:ext cx="125253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06425" algn="l"/>
              </a:tabLst>
            </a:pPr>
            <a:r>
              <a:rPr sz="4200" spc="40" dirty="0">
                <a:latin typeface="Cambria Math" panose="02040503050406030204"/>
                <a:cs typeface="Cambria Math" panose="02040503050406030204"/>
              </a:rPr>
              <a:t>𝑃</a:t>
            </a:r>
            <a:r>
              <a:rPr sz="4615" spc="60" baseline="-15000" dirty="0">
                <a:latin typeface="Cambria Math" panose="02040503050406030204"/>
                <a:cs typeface="Cambria Math" panose="02040503050406030204"/>
              </a:rPr>
              <a:t>𝜃</a:t>
            </a:r>
            <a:r>
              <a:rPr sz="4615" baseline="-15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89473" y="2805302"/>
            <a:ext cx="33909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𝜃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38198" y="2664558"/>
            <a:ext cx="3411306" cy="4488473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1671745" y="4314825"/>
            <a:ext cx="2010728" cy="257175"/>
          </a:xfrm>
          <a:custGeom>
            <a:avLst/>
            <a:gdLst/>
            <a:ahLst/>
            <a:cxnLst/>
            <a:rect l="l" t="t" r="r" b="b"/>
            <a:pathLst>
              <a:path w="1340484" h="171450">
                <a:moveTo>
                  <a:pt x="171450" y="0"/>
                </a:moveTo>
                <a:lnTo>
                  <a:pt x="0" y="85725"/>
                </a:lnTo>
                <a:lnTo>
                  <a:pt x="171450" y="171450"/>
                </a:lnTo>
                <a:lnTo>
                  <a:pt x="171450" y="114300"/>
                </a:lnTo>
                <a:lnTo>
                  <a:pt x="142875" y="114300"/>
                </a:lnTo>
                <a:lnTo>
                  <a:pt x="142875" y="57150"/>
                </a:lnTo>
                <a:lnTo>
                  <a:pt x="171450" y="57150"/>
                </a:lnTo>
                <a:lnTo>
                  <a:pt x="171450" y="0"/>
                </a:lnTo>
                <a:close/>
              </a:path>
              <a:path w="1340484" h="171450">
                <a:moveTo>
                  <a:pt x="171450" y="57150"/>
                </a:moveTo>
                <a:lnTo>
                  <a:pt x="142875" y="57150"/>
                </a:lnTo>
                <a:lnTo>
                  <a:pt x="142875" y="114300"/>
                </a:lnTo>
                <a:lnTo>
                  <a:pt x="171450" y="114300"/>
                </a:lnTo>
                <a:lnTo>
                  <a:pt x="171450" y="57150"/>
                </a:lnTo>
                <a:close/>
              </a:path>
              <a:path w="1340484" h="171450">
                <a:moveTo>
                  <a:pt x="200025" y="57150"/>
                </a:moveTo>
                <a:lnTo>
                  <a:pt x="171450" y="57150"/>
                </a:lnTo>
                <a:lnTo>
                  <a:pt x="171450" y="114300"/>
                </a:lnTo>
                <a:lnTo>
                  <a:pt x="200025" y="114300"/>
                </a:lnTo>
                <a:lnTo>
                  <a:pt x="200025" y="57150"/>
                </a:lnTo>
                <a:close/>
              </a:path>
              <a:path w="1340484" h="171450">
                <a:moveTo>
                  <a:pt x="314325" y="57150"/>
                </a:moveTo>
                <a:lnTo>
                  <a:pt x="257175" y="57150"/>
                </a:lnTo>
                <a:lnTo>
                  <a:pt x="257175" y="114300"/>
                </a:lnTo>
                <a:lnTo>
                  <a:pt x="314325" y="114300"/>
                </a:lnTo>
                <a:lnTo>
                  <a:pt x="314325" y="57150"/>
                </a:lnTo>
                <a:close/>
              </a:path>
              <a:path w="1340484" h="171450">
                <a:moveTo>
                  <a:pt x="428625" y="57150"/>
                </a:moveTo>
                <a:lnTo>
                  <a:pt x="371475" y="57150"/>
                </a:lnTo>
                <a:lnTo>
                  <a:pt x="371475" y="114300"/>
                </a:lnTo>
                <a:lnTo>
                  <a:pt x="428625" y="114300"/>
                </a:lnTo>
                <a:lnTo>
                  <a:pt x="428625" y="57150"/>
                </a:lnTo>
                <a:close/>
              </a:path>
              <a:path w="1340484" h="171450">
                <a:moveTo>
                  <a:pt x="542925" y="57150"/>
                </a:moveTo>
                <a:lnTo>
                  <a:pt x="485775" y="57150"/>
                </a:lnTo>
                <a:lnTo>
                  <a:pt x="485775" y="114300"/>
                </a:lnTo>
                <a:lnTo>
                  <a:pt x="542925" y="114300"/>
                </a:lnTo>
                <a:lnTo>
                  <a:pt x="542925" y="57150"/>
                </a:lnTo>
                <a:close/>
              </a:path>
              <a:path w="1340484" h="171450">
                <a:moveTo>
                  <a:pt x="657225" y="57150"/>
                </a:moveTo>
                <a:lnTo>
                  <a:pt x="600075" y="57150"/>
                </a:lnTo>
                <a:lnTo>
                  <a:pt x="600075" y="114300"/>
                </a:lnTo>
                <a:lnTo>
                  <a:pt x="657225" y="114300"/>
                </a:lnTo>
                <a:lnTo>
                  <a:pt x="657225" y="57150"/>
                </a:lnTo>
                <a:close/>
              </a:path>
              <a:path w="1340484" h="171450">
                <a:moveTo>
                  <a:pt x="771525" y="57150"/>
                </a:moveTo>
                <a:lnTo>
                  <a:pt x="714375" y="57150"/>
                </a:lnTo>
                <a:lnTo>
                  <a:pt x="714375" y="114300"/>
                </a:lnTo>
                <a:lnTo>
                  <a:pt x="771525" y="114300"/>
                </a:lnTo>
                <a:lnTo>
                  <a:pt x="771525" y="57150"/>
                </a:lnTo>
                <a:close/>
              </a:path>
              <a:path w="1340484" h="171450">
                <a:moveTo>
                  <a:pt x="885825" y="57150"/>
                </a:moveTo>
                <a:lnTo>
                  <a:pt x="828675" y="57150"/>
                </a:lnTo>
                <a:lnTo>
                  <a:pt x="828675" y="114300"/>
                </a:lnTo>
                <a:lnTo>
                  <a:pt x="885825" y="114300"/>
                </a:lnTo>
                <a:lnTo>
                  <a:pt x="885825" y="57150"/>
                </a:lnTo>
                <a:close/>
              </a:path>
              <a:path w="1340484" h="171450">
                <a:moveTo>
                  <a:pt x="1000125" y="57150"/>
                </a:moveTo>
                <a:lnTo>
                  <a:pt x="942975" y="57150"/>
                </a:lnTo>
                <a:lnTo>
                  <a:pt x="942975" y="114300"/>
                </a:lnTo>
                <a:lnTo>
                  <a:pt x="1000125" y="114300"/>
                </a:lnTo>
                <a:lnTo>
                  <a:pt x="1000125" y="57150"/>
                </a:lnTo>
                <a:close/>
              </a:path>
              <a:path w="1340484" h="171450">
                <a:moveTo>
                  <a:pt x="1114425" y="57150"/>
                </a:moveTo>
                <a:lnTo>
                  <a:pt x="1057275" y="57150"/>
                </a:lnTo>
                <a:lnTo>
                  <a:pt x="1057275" y="114300"/>
                </a:lnTo>
                <a:lnTo>
                  <a:pt x="1114425" y="114300"/>
                </a:lnTo>
                <a:lnTo>
                  <a:pt x="1114425" y="57150"/>
                </a:lnTo>
                <a:close/>
              </a:path>
              <a:path w="1340484" h="171450">
                <a:moveTo>
                  <a:pt x="1168907" y="0"/>
                </a:moveTo>
                <a:lnTo>
                  <a:pt x="1168907" y="171450"/>
                </a:lnTo>
                <a:lnTo>
                  <a:pt x="1283207" y="114300"/>
                </a:lnTo>
                <a:lnTo>
                  <a:pt x="1171575" y="114300"/>
                </a:lnTo>
                <a:lnTo>
                  <a:pt x="1171575" y="57150"/>
                </a:lnTo>
                <a:lnTo>
                  <a:pt x="1283207" y="57150"/>
                </a:lnTo>
                <a:lnTo>
                  <a:pt x="1168907" y="0"/>
                </a:lnTo>
                <a:close/>
              </a:path>
              <a:path w="1340484" h="171450">
                <a:moveTo>
                  <a:pt x="1197482" y="57150"/>
                </a:moveTo>
                <a:lnTo>
                  <a:pt x="1171575" y="57150"/>
                </a:lnTo>
                <a:lnTo>
                  <a:pt x="1171575" y="114300"/>
                </a:lnTo>
                <a:lnTo>
                  <a:pt x="1197482" y="114300"/>
                </a:lnTo>
                <a:lnTo>
                  <a:pt x="1197482" y="57150"/>
                </a:lnTo>
                <a:close/>
              </a:path>
              <a:path w="1340484" h="171450">
                <a:moveTo>
                  <a:pt x="1283207" y="57150"/>
                </a:moveTo>
                <a:lnTo>
                  <a:pt x="1197482" y="57150"/>
                </a:lnTo>
                <a:lnTo>
                  <a:pt x="1197482" y="114300"/>
                </a:lnTo>
                <a:lnTo>
                  <a:pt x="1283207" y="114300"/>
                </a:lnTo>
                <a:lnTo>
                  <a:pt x="1340357" y="85725"/>
                </a:lnTo>
                <a:lnTo>
                  <a:pt x="128320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9" name="object 19"/>
          <p:cNvSpPr txBox="1"/>
          <p:nvPr/>
        </p:nvSpPr>
        <p:spPr>
          <a:xfrm>
            <a:off x="14417421" y="2268854"/>
            <a:ext cx="1297304" cy="6483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300" spc="-15" baseline="11000" dirty="0">
                <a:latin typeface="Cambria Math" panose="02040503050406030204"/>
                <a:cs typeface="Cambria Math" panose="02040503050406030204"/>
              </a:rPr>
              <a:t>𝑃</a:t>
            </a:r>
            <a:r>
              <a:rPr sz="3075" spc="-10" dirty="0">
                <a:latin typeface="Cambria Math" panose="02040503050406030204"/>
                <a:cs typeface="Cambria Math" panose="02040503050406030204"/>
              </a:rPr>
              <a:t>𝑑𝑎𝑡𝑎</a:t>
            </a:r>
            <a:endParaRPr sz="307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733205" y="2314575"/>
            <a:ext cx="649605" cy="494348"/>
          </a:xfrm>
          <a:custGeom>
            <a:avLst/>
            <a:gdLst/>
            <a:ahLst/>
            <a:cxnLst/>
            <a:rect l="l" t="t" r="r" b="b"/>
            <a:pathLst>
              <a:path w="433070" h="329564">
                <a:moveTo>
                  <a:pt x="327532" y="0"/>
                </a:moveTo>
                <a:lnTo>
                  <a:pt x="322833" y="13335"/>
                </a:lnTo>
                <a:lnTo>
                  <a:pt x="341903" y="21597"/>
                </a:lnTo>
                <a:lnTo>
                  <a:pt x="358330" y="33051"/>
                </a:lnTo>
                <a:lnTo>
                  <a:pt x="383158" y="65532"/>
                </a:lnTo>
                <a:lnTo>
                  <a:pt x="397732" y="109347"/>
                </a:lnTo>
                <a:lnTo>
                  <a:pt x="402590" y="163067"/>
                </a:lnTo>
                <a:lnTo>
                  <a:pt x="401373" y="192192"/>
                </a:lnTo>
                <a:lnTo>
                  <a:pt x="391606" y="242345"/>
                </a:lnTo>
                <a:lnTo>
                  <a:pt x="372008" y="281475"/>
                </a:lnTo>
                <a:lnTo>
                  <a:pt x="342151" y="307867"/>
                </a:lnTo>
                <a:lnTo>
                  <a:pt x="323342" y="316229"/>
                </a:lnTo>
                <a:lnTo>
                  <a:pt x="327532" y="329564"/>
                </a:lnTo>
                <a:lnTo>
                  <a:pt x="372475" y="308498"/>
                </a:lnTo>
                <a:lnTo>
                  <a:pt x="405511" y="271907"/>
                </a:lnTo>
                <a:lnTo>
                  <a:pt x="425910" y="223043"/>
                </a:lnTo>
                <a:lnTo>
                  <a:pt x="432689" y="164846"/>
                </a:lnTo>
                <a:lnTo>
                  <a:pt x="430978" y="134649"/>
                </a:lnTo>
                <a:lnTo>
                  <a:pt x="417365" y="81067"/>
                </a:lnTo>
                <a:lnTo>
                  <a:pt x="390415" y="37415"/>
                </a:lnTo>
                <a:lnTo>
                  <a:pt x="351414" y="8598"/>
                </a:lnTo>
                <a:lnTo>
                  <a:pt x="327532" y="0"/>
                </a:lnTo>
                <a:close/>
              </a:path>
              <a:path w="433070" h="329564">
                <a:moveTo>
                  <a:pt x="105155" y="0"/>
                </a:moveTo>
                <a:lnTo>
                  <a:pt x="60325" y="21066"/>
                </a:lnTo>
                <a:lnTo>
                  <a:pt x="27304" y="57658"/>
                </a:lnTo>
                <a:lnTo>
                  <a:pt x="6842" y="106727"/>
                </a:lnTo>
                <a:lnTo>
                  <a:pt x="0" y="164846"/>
                </a:lnTo>
                <a:lnTo>
                  <a:pt x="1710" y="195111"/>
                </a:lnTo>
                <a:lnTo>
                  <a:pt x="15323" y="248642"/>
                </a:lnTo>
                <a:lnTo>
                  <a:pt x="42201" y="292149"/>
                </a:lnTo>
                <a:lnTo>
                  <a:pt x="81202" y="320966"/>
                </a:lnTo>
                <a:lnTo>
                  <a:pt x="105155" y="329564"/>
                </a:lnTo>
                <a:lnTo>
                  <a:pt x="109347" y="316229"/>
                </a:lnTo>
                <a:lnTo>
                  <a:pt x="90554" y="307867"/>
                </a:lnTo>
                <a:lnTo>
                  <a:pt x="74358" y="296290"/>
                </a:lnTo>
                <a:lnTo>
                  <a:pt x="49656" y="263398"/>
                </a:lnTo>
                <a:lnTo>
                  <a:pt x="34972" y="218614"/>
                </a:lnTo>
                <a:lnTo>
                  <a:pt x="30099" y="163067"/>
                </a:lnTo>
                <a:lnTo>
                  <a:pt x="31315" y="134969"/>
                </a:lnTo>
                <a:lnTo>
                  <a:pt x="41082" y="86201"/>
                </a:lnTo>
                <a:lnTo>
                  <a:pt x="60777" y="47696"/>
                </a:lnTo>
                <a:lnTo>
                  <a:pt x="90876" y="21597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21" name="object 21"/>
          <p:cNvSpPr txBox="1"/>
          <p:nvPr/>
        </p:nvSpPr>
        <p:spPr>
          <a:xfrm>
            <a:off x="15889985" y="2160270"/>
            <a:ext cx="3228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98141" y="8394953"/>
            <a:ext cx="3548063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We</a:t>
            </a:r>
            <a:r>
              <a:rPr sz="36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can</a:t>
            </a:r>
            <a:r>
              <a:rPr sz="36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compute</a:t>
            </a:r>
            <a:r>
              <a:rPr sz="3600" spc="-9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50" dirty="0">
                <a:latin typeface="Cambria Math" panose="02040503050406030204"/>
                <a:cs typeface="Cambria Math" panose="02040503050406030204"/>
              </a:rPr>
              <a:t>𝑃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06008" y="8612123"/>
            <a:ext cx="249555" cy="4235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25" spc="65" dirty="0">
                <a:latin typeface="Cambria Math" panose="02040503050406030204"/>
                <a:cs typeface="Cambria Math" panose="02040503050406030204"/>
              </a:rPr>
              <a:t>𝜃</a:t>
            </a:r>
            <a:endParaRPr sz="262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07380" y="8464733"/>
            <a:ext cx="745808" cy="552450"/>
          </a:xfrm>
          <a:custGeom>
            <a:avLst/>
            <a:gdLst/>
            <a:ahLst/>
            <a:cxnLst/>
            <a:rect l="l" t="t" r="r" b="b"/>
            <a:pathLst>
              <a:path w="497204" h="368300">
                <a:moveTo>
                  <a:pt x="400303" y="0"/>
                </a:moveTo>
                <a:lnTo>
                  <a:pt x="396620" y="12191"/>
                </a:lnTo>
                <a:lnTo>
                  <a:pt x="413529" y="20964"/>
                </a:lnTo>
                <a:lnTo>
                  <a:pt x="428259" y="33737"/>
                </a:lnTo>
                <a:lnTo>
                  <a:pt x="451230" y="71285"/>
                </a:lnTo>
                <a:lnTo>
                  <a:pt x="465058" y="122289"/>
                </a:lnTo>
                <a:lnTo>
                  <a:pt x="469645" y="184238"/>
                </a:lnTo>
                <a:lnTo>
                  <a:pt x="468501" y="216516"/>
                </a:lnTo>
                <a:lnTo>
                  <a:pt x="459305" y="272885"/>
                </a:lnTo>
                <a:lnTo>
                  <a:pt x="440822" y="317717"/>
                </a:lnTo>
                <a:lnTo>
                  <a:pt x="413529" y="347225"/>
                </a:lnTo>
                <a:lnTo>
                  <a:pt x="396620" y="355993"/>
                </a:lnTo>
                <a:lnTo>
                  <a:pt x="400303" y="368198"/>
                </a:lnTo>
                <a:lnTo>
                  <a:pt x="441451" y="346279"/>
                </a:lnTo>
                <a:lnTo>
                  <a:pt x="471931" y="304939"/>
                </a:lnTo>
                <a:lnTo>
                  <a:pt x="490791" y="249210"/>
                </a:lnTo>
                <a:lnTo>
                  <a:pt x="497077" y="184099"/>
                </a:lnTo>
                <a:lnTo>
                  <a:pt x="495506" y="150371"/>
                </a:lnTo>
                <a:lnTo>
                  <a:pt x="482933" y="89944"/>
                </a:lnTo>
                <a:lnTo>
                  <a:pt x="458025" y="40147"/>
                </a:lnTo>
                <a:lnTo>
                  <a:pt x="422211" y="8524"/>
                </a:lnTo>
                <a:lnTo>
                  <a:pt x="400303" y="0"/>
                </a:lnTo>
                <a:close/>
              </a:path>
              <a:path w="497204" h="368300">
                <a:moveTo>
                  <a:pt x="96774" y="0"/>
                </a:moveTo>
                <a:lnTo>
                  <a:pt x="55625" y="21907"/>
                </a:lnTo>
                <a:lnTo>
                  <a:pt x="25145" y="63245"/>
                </a:lnTo>
                <a:lnTo>
                  <a:pt x="6286" y="118986"/>
                </a:lnTo>
                <a:lnTo>
                  <a:pt x="0" y="184099"/>
                </a:lnTo>
                <a:lnTo>
                  <a:pt x="1571" y="217827"/>
                </a:lnTo>
                <a:lnTo>
                  <a:pt x="14144" y="278248"/>
                </a:lnTo>
                <a:lnTo>
                  <a:pt x="39052" y="328038"/>
                </a:lnTo>
                <a:lnTo>
                  <a:pt x="74866" y="359666"/>
                </a:lnTo>
                <a:lnTo>
                  <a:pt x="96774" y="368198"/>
                </a:lnTo>
                <a:lnTo>
                  <a:pt x="100456" y="355993"/>
                </a:lnTo>
                <a:lnTo>
                  <a:pt x="83548" y="347225"/>
                </a:lnTo>
                <a:lnTo>
                  <a:pt x="68818" y="334467"/>
                </a:lnTo>
                <a:lnTo>
                  <a:pt x="45846" y="296976"/>
                </a:lnTo>
                <a:lnTo>
                  <a:pt x="31956" y="246065"/>
                </a:lnTo>
                <a:lnTo>
                  <a:pt x="27310" y="184099"/>
                </a:lnTo>
                <a:lnTo>
                  <a:pt x="28469" y="151896"/>
                </a:lnTo>
                <a:lnTo>
                  <a:pt x="37752" y="95418"/>
                </a:lnTo>
                <a:lnTo>
                  <a:pt x="56255" y="50511"/>
                </a:lnTo>
                <a:lnTo>
                  <a:pt x="83548" y="20964"/>
                </a:lnTo>
                <a:lnTo>
                  <a:pt x="100456" y="12191"/>
                </a:lnTo>
                <a:lnTo>
                  <a:pt x="967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28" name="object 28"/>
          <p:cNvSpPr txBox="1"/>
          <p:nvPr/>
        </p:nvSpPr>
        <p:spPr>
          <a:xfrm>
            <a:off x="5815964" y="8006819"/>
            <a:ext cx="1108710" cy="1600200"/>
          </a:xfrm>
          <a:prstGeom prst="rect">
            <a:avLst/>
          </a:prstGeom>
        </p:spPr>
        <p:txBody>
          <a:bodyPr vert="horz" wrap="square" lIns="0" tIns="2400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5400" spc="104" baseline="-21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70" dirty="0">
                <a:latin typeface="Cambria Math" panose="02040503050406030204"/>
                <a:cs typeface="Cambria Math" panose="02040503050406030204"/>
              </a:rPr>
              <a:t>𝑖</a:t>
            </a:r>
            <a:endParaRPr sz="2625">
              <a:latin typeface="Cambria Math" panose="02040503050406030204"/>
              <a:cs typeface="Cambria Math" panose="02040503050406030204"/>
            </a:endParaRPr>
          </a:p>
          <a:p>
            <a:pPr marL="206375">
              <a:lnSpc>
                <a:spcPct val="100000"/>
              </a:lnSpc>
              <a:spcBef>
                <a:spcPts val="1360"/>
              </a:spcBef>
            </a:pPr>
            <a:r>
              <a:rPr sz="42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???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301346" y="4568570"/>
            <a:ext cx="77914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???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6" name="Picture 35" descr="CodeCogsEqn (5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165" y="7479030"/>
            <a:ext cx="7381875" cy="803910"/>
          </a:xfrm>
          <a:prstGeom prst="rect">
            <a:avLst/>
          </a:prstGeom>
        </p:spPr>
      </p:pic>
      <p:sp>
        <p:nvSpPr>
          <p:cNvPr id="6145" name="Title 1"/>
          <p:cNvSpPr>
            <a:spLocks noGrp="1"/>
          </p:cNvSpPr>
          <p:nvPr/>
        </p:nvSpPr>
        <p:spPr>
          <a:xfrm>
            <a:off x="1098551" y="161926"/>
            <a:ext cx="16084550" cy="1549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ym typeface="+mn-ea"/>
              </a:rPr>
              <a:t>Maximum Likelihood Estimation</a:t>
            </a:r>
            <a:endParaRPr lang="en-US" altLang="en-US"/>
          </a:p>
        </p:txBody>
      </p:sp>
      <p:pic>
        <p:nvPicPr>
          <p:cNvPr id="38" name="Picture 37" descr="CodeCogsEqn (62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7685" y="7580630"/>
            <a:ext cx="5027295" cy="1454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deCogsEqn (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564515"/>
            <a:ext cx="7138670" cy="777875"/>
          </a:xfrm>
          <a:prstGeom prst="rect">
            <a:avLst/>
          </a:prstGeom>
        </p:spPr>
      </p:pic>
      <p:pic>
        <p:nvPicPr>
          <p:cNvPr id="6" name="Picture 5" descr="CodeCogsEqn (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1653540"/>
            <a:ext cx="11059160" cy="2651125"/>
          </a:xfrm>
          <a:prstGeom prst="rect">
            <a:avLst/>
          </a:prstGeom>
        </p:spPr>
      </p:pic>
      <p:pic>
        <p:nvPicPr>
          <p:cNvPr id="8" name="Picture 7" descr="CodeCogsEqn (10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4640580"/>
            <a:ext cx="11162665" cy="989965"/>
          </a:xfrm>
          <a:prstGeom prst="rect">
            <a:avLst/>
          </a:prstGeom>
        </p:spPr>
      </p:pic>
      <p:pic>
        <p:nvPicPr>
          <p:cNvPr id="9" name="Picture 8" descr="CodeCogsEqn (1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6202680"/>
            <a:ext cx="11358245" cy="1057275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3798569" y="8105393"/>
            <a:ext cx="1021365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libri" panose="020F0502020204030204"/>
                <a:cs typeface="Calibri" panose="020F0502020204030204"/>
              </a:rPr>
              <a:t>Maximum</a:t>
            </a:r>
            <a:r>
              <a:rPr sz="42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4200" dirty="0">
                <a:latin typeface="Calibri" panose="020F0502020204030204"/>
                <a:cs typeface="Calibri" panose="020F0502020204030204"/>
              </a:rPr>
              <a:t>Likelihood</a:t>
            </a:r>
            <a:r>
              <a:rPr sz="42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4200" dirty="0">
                <a:latin typeface="Calibri" panose="020F0502020204030204"/>
                <a:cs typeface="Calibri" panose="020F0502020204030204"/>
              </a:rPr>
              <a:t>=</a:t>
            </a:r>
            <a:r>
              <a:rPr sz="42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4200" dirty="0">
                <a:latin typeface="Calibri" panose="020F0502020204030204"/>
                <a:cs typeface="Calibri" panose="020F0502020204030204"/>
              </a:rPr>
              <a:t>Minimize</a:t>
            </a:r>
            <a:r>
              <a:rPr sz="42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4200" dirty="0">
                <a:latin typeface="Calibri" panose="020F0502020204030204"/>
                <a:cs typeface="Calibri" panose="020F0502020204030204"/>
              </a:rPr>
              <a:t>KL</a:t>
            </a:r>
            <a:r>
              <a:rPr sz="42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4200" spc="-10" dirty="0">
                <a:latin typeface="Calibri" panose="020F0502020204030204"/>
                <a:cs typeface="Calibri" panose="020F0502020204030204"/>
              </a:rPr>
              <a:t>Divergence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211562" y="4063392"/>
            <a:ext cx="5407343" cy="60515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437005">
              <a:lnSpc>
                <a:spcPct val="100000"/>
              </a:lnSpc>
              <a:spcBef>
                <a:spcPts val="270"/>
              </a:spcBef>
            </a:pPr>
            <a:r>
              <a:rPr sz="36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(not</a:t>
            </a:r>
            <a:r>
              <a:rPr sz="360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related</a:t>
            </a:r>
            <a:r>
              <a:rPr sz="360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360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spc="-25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𝜃</a:t>
            </a:r>
            <a:r>
              <a:rPr sz="360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)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687049" y="5787771"/>
            <a:ext cx="6323648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Difference</a:t>
            </a:r>
            <a:r>
              <a:rPr sz="360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between</a:t>
            </a:r>
            <a:r>
              <a:rPr sz="360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𝑃</a:t>
            </a:r>
            <a:r>
              <a:rPr sz="3940" baseline="-1600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𝑑𝑎𝑡𝑎</a:t>
            </a:r>
            <a:r>
              <a:rPr sz="3940" spc="390" baseline="-1600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36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360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spc="25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𝑃</a:t>
            </a:r>
            <a:r>
              <a:rPr sz="3940" spc="37" baseline="-1600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𝜃</a:t>
            </a:r>
            <a:endParaRPr sz="3940" baseline="-16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4237355" algn="l"/>
              </a:tabLst>
            </a:pPr>
            <a:r>
              <a:rPr dirty="0"/>
              <a:t>VAE:</a:t>
            </a:r>
            <a:r>
              <a:rPr spc="-210" dirty="0"/>
              <a:t> </a:t>
            </a:r>
            <a:r>
              <a:rPr dirty="0"/>
              <a:t>Compute</a:t>
            </a:r>
            <a:r>
              <a:rPr spc="-204" dirty="0"/>
              <a:t> </a:t>
            </a:r>
            <a:r>
              <a:rPr spc="80" dirty="0">
                <a:latin typeface="Cambria Math" panose="02040503050406030204"/>
                <a:cs typeface="Cambria Math" panose="02040503050406030204"/>
              </a:rPr>
              <a:t>𝑃</a:t>
            </a:r>
            <a:r>
              <a:rPr sz="7200" spc="120" baseline="-16000" dirty="0">
                <a:latin typeface="Cambria Math" panose="02040503050406030204"/>
                <a:cs typeface="Cambria Math" panose="02040503050406030204"/>
              </a:rPr>
              <a:t>𝜃</a:t>
            </a:r>
            <a:r>
              <a:rPr lang="en-US" sz="7200" spc="12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6600" spc="-5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lang="en-US" sz="6600" spc="-50" dirty="0">
                <a:latin typeface="Cambria Math" panose="02040503050406030204"/>
                <a:cs typeface="Cambria Math" panose="02040503050406030204"/>
              </a:rPr>
              <a:t>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075" y="3274901"/>
            <a:ext cx="1874676" cy="187491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523796" y="2160591"/>
            <a:ext cx="4443413" cy="4488180"/>
            <a:chOff x="5042534" y="1412877"/>
            <a:chExt cx="2962275" cy="29921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0544" y="1412877"/>
              <a:ext cx="2274204" cy="299158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42534" y="2713482"/>
              <a:ext cx="684530" cy="171450"/>
            </a:xfrm>
            <a:custGeom>
              <a:avLst/>
              <a:gdLst/>
              <a:ahLst/>
              <a:cxnLst/>
              <a:rect l="l" t="t" r="r" b="b"/>
              <a:pathLst>
                <a:path w="684529" h="171450">
                  <a:moveTo>
                    <a:pt x="512825" y="0"/>
                  </a:moveTo>
                  <a:lnTo>
                    <a:pt x="512825" y="171450"/>
                  </a:lnTo>
                  <a:lnTo>
                    <a:pt x="627126" y="114300"/>
                  </a:lnTo>
                  <a:lnTo>
                    <a:pt x="541401" y="114300"/>
                  </a:lnTo>
                  <a:lnTo>
                    <a:pt x="541401" y="57150"/>
                  </a:lnTo>
                  <a:lnTo>
                    <a:pt x="627126" y="57150"/>
                  </a:lnTo>
                  <a:lnTo>
                    <a:pt x="512825" y="0"/>
                  </a:lnTo>
                  <a:close/>
                </a:path>
                <a:path w="684529" h="171450">
                  <a:moveTo>
                    <a:pt x="512825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512825" y="114300"/>
                  </a:lnTo>
                  <a:lnTo>
                    <a:pt x="512825" y="57150"/>
                  </a:lnTo>
                  <a:close/>
                </a:path>
                <a:path w="684529" h="171450">
                  <a:moveTo>
                    <a:pt x="627126" y="57150"/>
                  </a:moveTo>
                  <a:lnTo>
                    <a:pt x="541401" y="57150"/>
                  </a:lnTo>
                  <a:lnTo>
                    <a:pt x="541401" y="114300"/>
                  </a:lnTo>
                  <a:lnTo>
                    <a:pt x="627126" y="114300"/>
                  </a:lnTo>
                  <a:lnTo>
                    <a:pt x="684276" y="85725"/>
                  </a:lnTo>
                  <a:lnTo>
                    <a:pt x="627126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741164" y="3324986"/>
            <a:ext cx="2672715" cy="1745933"/>
            <a:chOff x="3160776" y="2216657"/>
            <a:chExt cx="1781810" cy="116395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9826" y="2235707"/>
              <a:ext cx="1743456" cy="11254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79826" y="2235707"/>
              <a:ext cx="1743710" cy="1125855"/>
            </a:xfrm>
            <a:custGeom>
              <a:avLst/>
              <a:gdLst/>
              <a:ahLst/>
              <a:cxnLst/>
              <a:rect l="l" t="t" r="r" b="b"/>
              <a:pathLst>
                <a:path w="1743710" h="1125854">
                  <a:moveTo>
                    <a:pt x="0" y="187578"/>
                  </a:moveTo>
                  <a:lnTo>
                    <a:pt x="6698" y="137700"/>
                  </a:lnTo>
                  <a:lnTo>
                    <a:pt x="25602" y="92888"/>
                  </a:lnTo>
                  <a:lnTo>
                    <a:pt x="54927" y="54927"/>
                  </a:lnTo>
                  <a:lnTo>
                    <a:pt x="92888" y="25602"/>
                  </a:lnTo>
                  <a:lnTo>
                    <a:pt x="137700" y="6698"/>
                  </a:lnTo>
                  <a:lnTo>
                    <a:pt x="187578" y="0"/>
                  </a:lnTo>
                  <a:lnTo>
                    <a:pt x="1555877" y="0"/>
                  </a:lnTo>
                  <a:lnTo>
                    <a:pt x="1605755" y="6698"/>
                  </a:lnTo>
                  <a:lnTo>
                    <a:pt x="1650567" y="25602"/>
                  </a:lnTo>
                  <a:lnTo>
                    <a:pt x="1688528" y="54927"/>
                  </a:lnTo>
                  <a:lnTo>
                    <a:pt x="1717853" y="92888"/>
                  </a:lnTo>
                  <a:lnTo>
                    <a:pt x="1736757" y="137700"/>
                  </a:lnTo>
                  <a:lnTo>
                    <a:pt x="1743456" y="187578"/>
                  </a:lnTo>
                  <a:lnTo>
                    <a:pt x="1743456" y="937894"/>
                  </a:lnTo>
                  <a:lnTo>
                    <a:pt x="1736757" y="987773"/>
                  </a:lnTo>
                  <a:lnTo>
                    <a:pt x="1717853" y="1032585"/>
                  </a:lnTo>
                  <a:lnTo>
                    <a:pt x="1688528" y="1070546"/>
                  </a:lnTo>
                  <a:lnTo>
                    <a:pt x="1650567" y="1099871"/>
                  </a:lnTo>
                  <a:lnTo>
                    <a:pt x="1605755" y="1118775"/>
                  </a:lnTo>
                  <a:lnTo>
                    <a:pt x="1555877" y="1125474"/>
                  </a:lnTo>
                  <a:lnTo>
                    <a:pt x="187578" y="1125474"/>
                  </a:lnTo>
                  <a:lnTo>
                    <a:pt x="137700" y="1118775"/>
                  </a:lnTo>
                  <a:lnTo>
                    <a:pt x="92888" y="1099871"/>
                  </a:lnTo>
                  <a:lnTo>
                    <a:pt x="54927" y="1070546"/>
                  </a:lnTo>
                  <a:lnTo>
                    <a:pt x="25602" y="1032585"/>
                  </a:lnTo>
                  <a:lnTo>
                    <a:pt x="6698" y="987773"/>
                  </a:lnTo>
                  <a:lnTo>
                    <a:pt x="0" y="937894"/>
                  </a:lnTo>
                  <a:lnTo>
                    <a:pt x="0" y="18757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50844" y="3728085"/>
            <a:ext cx="260033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𝑧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84157" y="3845050"/>
            <a:ext cx="281940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72445" y="4041648"/>
            <a:ext cx="1014413" cy="257175"/>
          </a:xfrm>
          <a:custGeom>
            <a:avLst/>
            <a:gdLst/>
            <a:ahLst/>
            <a:cxnLst/>
            <a:rect l="l" t="t" r="r" b="b"/>
            <a:pathLst>
              <a:path w="676275" h="171450">
                <a:moveTo>
                  <a:pt x="504698" y="0"/>
                </a:moveTo>
                <a:lnTo>
                  <a:pt x="504698" y="171450"/>
                </a:lnTo>
                <a:lnTo>
                  <a:pt x="618998" y="114300"/>
                </a:lnTo>
                <a:lnTo>
                  <a:pt x="533273" y="114300"/>
                </a:lnTo>
                <a:lnTo>
                  <a:pt x="533273" y="57150"/>
                </a:lnTo>
                <a:lnTo>
                  <a:pt x="618998" y="57150"/>
                </a:lnTo>
                <a:lnTo>
                  <a:pt x="504698" y="0"/>
                </a:lnTo>
                <a:close/>
              </a:path>
              <a:path w="676275" h="171450">
                <a:moveTo>
                  <a:pt x="504698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504698" y="114300"/>
                </a:lnTo>
                <a:lnTo>
                  <a:pt x="504698" y="57150"/>
                </a:lnTo>
                <a:close/>
              </a:path>
              <a:path w="676275" h="171450">
                <a:moveTo>
                  <a:pt x="618998" y="57150"/>
                </a:moveTo>
                <a:lnTo>
                  <a:pt x="533273" y="57150"/>
                </a:lnTo>
                <a:lnTo>
                  <a:pt x="533273" y="114300"/>
                </a:lnTo>
                <a:lnTo>
                  <a:pt x="618998" y="114300"/>
                </a:lnTo>
                <a:lnTo>
                  <a:pt x="676148" y="85725"/>
                </a:lnTo>
                <a:lnTo>
                  <a:pt x="618998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4" name="object 14"/>
          <p:cNvSpPr/>
          <p:nvPr/>
        </p:nvSpPr>
        <p:spPr>
          <a:xfrm>
            <a:off x="10033635" y="2222183"/>
            <a:ext cx="649605" cy="494348"/>
          </a:xfrm>
          <a:custGeom>
            <a:avLst/>
            <a:gdLst/>
            <a:ahLst/>
            <a:cxnLst/>
            <a:rect l="l" t="t" r="r" b="b"/>
            <a:pathLst>
              <a:path w="433070" h="329564">
                <a:moveTo>
                  <a:pt x="327532" y="0"/>
                </a:moveTo>
                <a:lnTo>
                  <a:pt x="322833" y="13335"/>
                </a:lnTo>
                <a:lnTo>
                  <a:pt x="341883" y="21671"/>
                </a:lnTo>
                <a:lnTo>
                  <a:pt x="358266" y="33162"/>
                </a:lnTo>
                <a:lnTo>
                  <a:pt x="383031" y="65659"/>
                </a:lnTo>
                <a:lnTo>
                  <a:pt x="397716" y="109426"/>
                </a:lnTo>
                <a:lnTo>
                  <a:pt x="402589" y="163195"/>
                </a:lnTo>
                <a:lnTo>
                  <a:pt x="401355" y="192246"/>
                </a:lnTo>
                <a:lnTo>
                  <a:pt x="391552" y="242347"/>
                </a:lnTo>
                <a:lnTo>
                  <a:pt x="371937" y="281493"/>
                </a:lnTo>
                <a:lnTo>
                  <a:pt x="342080" y="307921"/>
                </a:lnTo>
                <a:lnTo>
                  <a:pt x="323341" y="316230"/>
                </a:lnTo>
                <a:lnTo>
                  <a:pt x="327532" y="329565"/>
                </a:lnTo>
                <a:lnTo>
                  <a:pt x="372475" y="308514"/>
                </a:lnTo>
                <a:lnTo>
                  <a:pt x="405510" y="272034"/>
                </a:lnTo>
                <a:lnTo>
                  <a:pt x="425799" y="223154"/>
                </a:lnTo>
                <a:lnTo>
                  <a:pt x="432561" y="164846"/>
                </a:lnTo>
                <a:lnTo>
                  <a:pt x="430869" y="134651"/>
                </a:lnTo>
                <a:lnTo>
                  <a:pt x="417292" y="81121"/>
                </a:lnTo>
                <a:lnTo>
                  <a:pt x="390308" y="37522"/>
                </a:lnTo>
                <a:lnTo>
                  <a:pt x="351395" y="8618"/>
                </a:lnTo>
                <a:lnTo>
                  <a:pt x="327532" y="0"/>
                </a:lnTo>
                <a:close/>
              </a:path>
              <a:path w="433070" h="329564">
                <a:moveTo>
                  <a:pt x="105155" y="0"/>
                </a:moveTo>
                <a:lnTo>
                  <a:pt x="60261" y="21129"/>
                </a:lnTo>
                <a:lnTo>
                  <a:pt x="27177" y="57785"/>
                </a:lnTo>
                <a:lnTo>
                  <a:pt x="6778" y="106743"/>
                </a:lnTo>
                <a:lnTo>
                  <a:pt x="0" y="164846"/>
                </a:lnTo>
                <a:lnTo>
                  <a:pt x="1690" y="195185"/>
                </a:lnTo>
                <a:lnTo>
                  <a:pt x="15216" y="248767"/>
                </a:lnTo>
                <a:lnTo>
                  <a:pt x="42130" y="292203"/>
                </a:lnTo>
                <a:lnTo>
                  <a:pt x="81147" y="320968"/>
                </a:lnTo>
                <a:lnTo>
                  <a:pt x="105155" y="329565"/>
                </a:lnTo>
                <a:lnTo>
                  <a:pt x="109219" y="316230"/>
                </a:lnTo>
                <a:lnTo>
                  <a:pt x="90483" y="307921"/>
                </a:lnTo>
                <a:lnTo>
                  <a:pt x="74295" y="296338"/>
                </a:lnTo>
                <a:lnTo>
                  <a:pt x="49656" y="263398"/>
                </a:lnTo>
                <a:lnTo>
                  <a:pt x="34972" y="218630"/>
                </a:lnTo>
                <a:lnTo>
                  <a:pt x="30099" y="163195"/>
                </a:lnTo>
                <a:lnTo>
                  <a:pt x="31315" y="135078"/>
                </a:lnTo>
                <a:lnTo>
                  <a:pt x="41082" y="86274"/>
                </a:lnTo>
                <a:lnTo>
                  <a:pt x="60705" y="47821"/>
                </a:lnTo>
                <a:lnTo>
                  <a:pt x="90804" y="21671"/>
                </a:lnTo>
                <a:lnTo>
                  <a:pt x="109854" y="13335"/>
                </a:lnTo>
                <a:lnTo>
                  <a:pt x="1051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5" name="object 15"/>
          <p:cNvSpPr txBox="1"/>
          <p:nvPr/>
        </p:nvSpPr>
        <p:spPr>
          <a:xfrm>
            <a:off x="9298305" y="2068067"/>
            <a:ext cx="125253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607060" algn="l"/>
              </a:tabLst>
            </a:pPr>
            <a:r>
              <a:rPr sz="4200" spc="40" dirty="0">
                <a:latin typeface="Cambria Math" panose="02040503050406030204"/>
                <a:cs typeface="Cambria Math" panose="02040503050406030204"/>
              </a:rPr>
              <a:t>𝑃</a:t>
            </a:r>
            <a:r>
              <a:rPr sz="4615" spc="60" baseline="-15000" dirty="0">
                <a:latin typeface="Cambria Math" panose="02040503050406030204"/>
                <a:cs typeface="Cambria Math" panose="02040503050406030204"/>
              </a:rPr>
              <a:t>𝜃</a:t>
            </a:r>
            <a:r>
              <a:rPr sz="4615" baseline="-15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58839" y="2650236"/>
            <a:ext cx="33909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𝜃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981685" y="5212968"/>
            <a:ext cx="4117658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>
                <a:latin typeface="Microsoft JhengHei" panose="020B0604030504040204" charset="-120"/>
                <a:cs typeface="Microsoft JhengHei" panose="020B0604030504040204" charset="-120"/>
              </a:rPr>
              <a:t>Most likely be </a:t>
            </a:r>
            <a:r>
              <a:rPr sz="3600" dirty="0">
                <a:latin typeface="Microsoft JhengHei" panose="020B0604030504040204" charset="-120"/>
                <a:cs typeface="Microsoft JhengHei" panose="020B0604030504040204" charset="-120"/>
              </a:rPr>
              <a:t>0</a:t>
            </a:r>
            <a:r>
              <a:rPr sz="3600" spc="-5" dirty="0">
                <a:latin typeface="Microsoft JhengHei" panose="020B0604030504040204" charset="-120"/>
                <a:cs typeface="Microsoft JhengHei" panose="020B0604030504040204" charset="-120"/>
              </a:rPr>
              <a:t> </a:t>
            </a:r>
            <a:endParaRPr sz="3600">
              <a:latin typeface="Wingdings" panose="05000000000000000000"/>
              <a:cs typeface="Wingdings" panose="05000000000000000000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595807" y="6846665"/>
            <a:ext cx="2923394" cy="1962626"/>
            <a:chOff x="5063871" y="4564443"/>
            <a:chExt cx="1948929" cy="1308417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3987" y="4564443"/>
              <a:ext cx="1308813" cy="130841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063871" y="5111495"/>
              <a:ext cx="1116330" cy="171450"/>
            </a:xfrm>
            <a:custGeom>
              <a:avLst/>
              <a:gdLst/>
              <a:ahLst/>
              <a:cxnLst/>
              <a:rect l="l" t="t" r="r" b="b"/>
              <a:pathLst>
                <a:path w="1116329" h="171450">
                  <a:moveTo>
                    <a:pt x="944626" y="0"/>
                  </a:moveTo>
                  <a:lnTo>
                    <a:pt x="944626" y="171449"/>
                  </a:lnTo>
                  <a:lnTo>
                    <a:pt x="1058926" y="114299"/>
                  </a:lnTo>
                  <a:lnTo>
                    <a:pt x="973201" y="114299"/>
                  </a:lnTo>
                  <a:lnTo>
                    <a:pt x="973201" y="57149"/>
                  </a:lnTo>
                  <a:lnTo>
                    <a:pt x="1058926" y="57149"/>
                  </a:lnTo>
                  <a:lnTo>
                    <a:pt x="944626" y="0"/>
                  </a:lnTo>
                  <a:close/>
                </a:path>
                <a:path w="1116329" h="171450">
                  <a:moveTo>
                    <a:pt x="944626" y="57149"/>
                  </a:moveTo>
                  <a:lnTo>
                    <a:pt x="0" y="57149"/>
                  </a:lnTo>
                  <a:lnTo>
                    <a:pt x="0" y="114299"/>
                  </a:lnTo>
                  <a:lnTo>
                    <a:pt x="944626" y="114299"/>
                  </a:lnTo>
                  <a:lnTo>
                    <a:pt x="944626" y="57149"/>
                  </a:lnTo>
                  <a:close/>
                </a:path>
                <a:path w="1116329" h="171450">
                  <a:moveTo>
                    <a:pt x="1058926" y="57149"/>
                  </a:moveTo>
                  <a:lnTo>
                    <a:pt x="973201" y="57149"/>
                  </a:lnTo>
                  <a:lnTo>
                    <a:pt x="973201" y="114299"/>
                  </a:lnTo>
                  <a:lnTo>
                    <a:pt x="1058926" y="114299"/>
                  </a:lnTo>
                  <a:lnTo>
                    <a:pt x="1116076" y="85724"/>
                  </a:lnTo>
                  <a:lnTo>
                    <a:pt x="1058926" y="571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4774310" y="6939153"/>
            <a:ext cx="2672715" cy="1745933"/>
            <a:chOff x="3182873" y="4626102"/>
            <a:chExt cx="1781810" cy="1163955"/>
          </a:xfrm>
        </p:grpSpPr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1923" y="4645152"/>
              <a:ext cx="1743455" cy="112547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201923" y="4645152"/>
              <a:ext cx="1743710" cy="1125855"/>
            </a:xfrm>
            <a:custGeom>
              <a:avLst/>
              <a:gdLst/>
              <a:ahLst/>
              <a:cxnLst/>
              <a:rect l="l" t="t" r="r" b="b"/>
              <a:pathLst>
                <a:path w="1743710" h="1125854">
                  <a:moveTo>
                    <a:pt x="0" y="187579"/>
                  </a:moveTo>
                  <a:lnTo>
                    <a:pt x="6698" y="137700"/>
                  </a:lnTo>
                  <a:lnTo>
                    <a:pt x="25602" y="92888"/>
                  </a:lnTo>
                  <a:lnTo>
                    <a:pt x="54927" y="54927"/>
                  </a:lnTo>
                  <a:lnTo>
                    <a:pt x="92888" y="25602"/>
                  </a:lnTo>
                  <a:lnTo>
                    <a:pt x="137700" y="6698"/>
                  </a:lnTo>
                  <a:lnTo>
                    <a:pt x="187578" y="0"/>
                  </a:lnTo>
                  <a:lnTo>
                    <a:pt x="1555877" y="0"/>
                  </a:lnTo>
                  <a:lnTo>
                    <a:pt x="1605755" y="6698"/>
                  </a:lnTo>
                  <a:lnTo>
                    <a:pt x="1650567" y="25602"/>
                  </a:lnTo>
                  <a:lnTo>
                    <a:pt x="1688528" y="54927"/>
                  </a:lnTo>
                  <a:lnTo>
                    <a:pt x="1717853" y="92888"/>
                  </a:lnTo>
                  <a:lnTo>
                    <a:pt x="1736757" y="137700"/>
                  </a:lnTo>
                  <a:lnTo>
                    <a:pt x="1743455" y="187579"/>
                  </a:lnTo>
                  <a:lnTo>
                    <a:pt x="1743455" y="937895"/>
                  </a:lnTo>
                  <a:lnTo>
                    <a:pt x="1736757" y="987759"/>
                  </a:lnTo>
                  <a:lnTo>
                    <a:pt x="1717853" y="1032568"/>
                  </a:lnTo>
                  <a:lnTo>
                    <a:pt x="1688528" y="1070532"/>
                  </a:lnTo>
                  <a:lnTo>
                    <a:pt x="1650567" y="1099863"/>
                  </a:lnTo>
                  <a:lnTo>
                    <a:pt x="1605755" y="1118773"/>
                  </a:lnTo>
                  <a:lnTo>
                    <a:pt x="1555877" y="1125474"/>
                  </a:lnTo>
                  <a:lnTo>
                    <a:pt x="187578" y="1125474"/>
                  </a:lnTo>
                  <a:lnTo>
                    <a:pt x="137700" y="1118773"/>
                  </a:lnTo>
                  <a:lnTo>
                    <a:pt x="92888" y="1099863"/>
                  </a:lnTo>
                  <a:lnTo>
                    <a:pt x="54927" y="1070532"/>
                  </a:lnTo>
                  <a:lnTo>
                    <a:pt x="25602" y="1032568"/>
                  </a:lnTo>
                  <a:lnTo>
                    <a:pt x="6698" y="987759"/>
                  </a:lnTo>
                  <a:lnTo>
                    <a:pt x="0" y="937895"/>
                  </a:lnTo>
                  <a:lnTo>
                    <a:pt x="0" y="18757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41" name="object 41"/>
          <p:cNvSpPr/>
          <p:nvPr/>
        </p:nvSpPr>
        <p:spPr>
          <a:xfrm>
            <a:off x="3605594" y="7655814"/>
            <a:ext cx="1014413" cy="257175"/>
          </a:xfrm>
          <a:custGeom>
            <a:avLst/>
            <a:gdLst/>
            <a:ahLst/>
            <a:cxnLst/>
            <a:rect l="l" t="t" r="r" b="b"/>
            <a:pathLst>
              <a:path w="676275" h="171450">
                <a:moveTo>
                  <a:pt x="504697" y="0"/>
                </a:moveTo>
                <a:lnTo>
                  <a:pt x="504697" y="171450"/>
                </a:lnTo>
                <a:lnTo>
                  <a:pt x="618997" y="114300"/>
                </a:lnTo>
                <a:lnTo>
                  <a:pt x="533272" y="114300"/>
                </a:lnTo>
                <a:lnTo>
                  <a:pt x="533272" y="57150"/>
                </a:lnTo>
                <a:lnTo>
                  <a:pt x="618997" y="57150"/>
                </a:lnTo>
                <a:lnTo>
                  <a:pt x="504697" y="0"/>
                </a:lnTo>
                <a:close/>
              </a:path>
              <a:path w="676275" h="171450">
                <a:moveTo>
                  <a:pt x="504697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504697" y="114300"/>
                </a:lnTo>
                <a:lnTo>
                  <a:pt x="504697" y="57150"/>
                </a:lnTo>
                <a:close/>
              </a:path>
              <a:path w="676275" h="171450">
                <a:moveTo>
                  <a:pt x="618997" y="57150"/>
                </a:moveTo>
                <a:lnTo>
                  <a:pt x="533272" y="57150"/>
                </a:lnTo>
                <a:lnTo>
                  <a:pt x="533272" y="114300"/>
                </a:lnTo>
                <a:lnTo>
                  <a:pt x="618997" y="114300"/>
                </a:lnTo>
                <a:lnTo>
                  <a:pt x="676147" y="85725"/>
                </a:lnTo>
                <a:lnTo>
                  <a:pt x="61899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42" name="object 42"/>
          <p:cNvSpPr txBox="1"/>
          <p:nvPr/>
        </p:nvSpPr>
        <p:spPr>
          <a:xfrm>
            <a:off x="3087242" y="7448930"/>
            <a:ext cx="260033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Cambria Math" panose="02040503050406030204"/>
                <a:cs typeface="Cambria Math" panose="02040503050406030204"/>
              </a:rPr>
              <a:t>𝑧</a:t>
            </a:r>
            <a:endParaRPr sz="36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360285" y="8285480"/>
            <a:ext cx="5780405" cy="113982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681990">
              <a:lnSpc>
                <a:spcPct val="100000"/>
              </a:lnSpc>
              <a:spcBef>
                <a:spcPts val="100"/>
              </a:spcBef>
              <a:tabLst>
                <a:tab pos="1068705" algn="l"/>
              </a:tabLst>
            </a:pPr>
            <a:endParaRPr sz="3600" dirty="0">
              <a:latin typeface="Calibri" panose="020F0502020204030204"/>
              <a:cs typeface="Calibri" panose="020F0502020204030204"/>
            </a:endParaRPr>
          </a:p>
          <a:p>
            <a:pPr marL="681990">
              <a:lnSpc>
                <a:spcPct val="100000"/>
              </a:lnSpc>
              <a:spcBef>
                <a:spcPts val="100"/>
              </a:spcBef>
              <a:tabLst>
                <a:tab pos="1068705" algn="l"/>
              </a:tabLst>
            </a:pPr>
            <a:r>
              <a:rPr sz="3600" dirty="0">
                <a:latin typeface="Calibri" panose="020F0502020204030204"/>
                <a:cs typeface="Calibri" panose="020F0502020204030204"/>
              </a:rPr>
              <a:t>Mean</a:t>
            </a:r>
            <a:r>
              <a:rPr sz="36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of</a:t>
            </a:r>
            <a:r>
              <a:rPr lang="en-US" sz="360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Gaussian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6" name="object 4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34779" y="7611426"/>
            <a:ext cx="333375" cy="333374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62504" y="7643432"/>
            <a:ext cx="333375" cy="333375"/>
          </a:xfrm>
          <a:prstGeom prst="rect">
            <a:avLst/>
          </a:prstGeom>
        </p:spPr>
      </p:pic>
      <p:pic>
        <p:nvPicPr>
          <p:cNvPr id="2" name="Picture 1" descr="CodeCogsEqn (12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05055" y="1836420"/>
            <a:ext cx="4467225" cy="876300"/>
          </a:xfrm>
          <a:prstGeom prst="rect">
            <a:avLst/>
          </a:prstGeom>
        </p:spPr>
      </p:pic>
      <p:pic>
        <p:nvPicPr>
          <p:cNvPr id="52" name="Picture 51" descr="CodeCogsEqn (13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52350" y="3274695"/>
            <a:ext cx="4572000" cy="1232535"/>
          </a:xfrm>
          <a:prstGeom prst="rect">
            <a:avLst/>
          </a:prstGeom>
        </p:spPr>
      </p:pic>
      <p:pic>
        <p:nvPicPr>
          <p:cNvPr id="53" name="Picture 52" descr="CodeCogsEqn (14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6360" y="5303520"/>
            <a:ext cx="1821815" cy="481965"/>
          </a:xfrm>
          <a:prstGeom prst="rect">
            <a:avLst/>
          </a:prstGeom>
        </p:spPr>
      </p:pic>
      <p:pic>
        <p:nvPicPr>
          <p:cNvPr id="56" name="Content Placeholder 55" descr="CodeCogsEqn (14)"/>
          <p:cNvPicPr>
            <a:picLocks noGrp="1" noChangeAspect="1"/>
          </p:cNvPicPr>
          <p:nvPr>
            <p:ph idx="1"/>
          </p:nvPr>
        </p:nvPicPr>
        <p:blipFill>
          <a:blip r:embed="rId10"/>
          <a:stretch>
            <a:fillRect/>
          </a:stretch>
        </p:blipFill>
        <p:spPr>
          <a:xfrm>
            <a:off x="5390515" y="8809355"/>
            <a:ext cx="1476375" cy="390525"/>
          </a:xfrm>
          <a:prstGeom prst="rect">
            <a:avLst/>
          </a:prstGeom>
        </p:spPr>
      </p:pic>
      <p:pic>
        <p:nvPicPr>
          <p:cNvPr id="57" name="Picture 56" descr="CodeCogsEqn (15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6225" y="8083550"/>
            <a:ext cx="866775" cy="467995"/>
          </a:xfrm>
          <a:prstGeom prst="rect">
            <a:avLst/>
          </a:prstGeom>
        </p:spPr>
      </p:pic>
      <p:sp>
        <p:nvSpPr>
          <p:cNvPr id="58" name="Text Box 57"/>
          <p:cNvSpPr txBox="1"/>
          <p:nvPr/>
        </p:nvSpPr>
        <p:spPr>
          <a:xfrm>
            <a:off x="5050790" y="3917950"/>
            <a:ext cx="2007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/>
              <a:t>Network</a:t>
            </a:r>
          </a:p>
        </p:txBody>
      </p:sp>
      <p:sp>
        <p:nvSpPr>
          <p:cNvPr id="59" name="Text Box 58"/>
          <p:cNvSpPr txBox="1"/>
          <p:nvPr/>
        </p:nvSpPr>
        <p:spPr>
          <a:xfrm>
            <a:off x="5104130" y="7505700"/>
            <a:ext cx="2007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/>
              <a:t>Network</a:t>
            </a:r>
          </a:p>
        </p:txBody>
      </p:sp>
      <p:pic>
        <p:nvPicPr>
          <p:cNvPr id="60" name="Picture 59" descr="CodeCogsEqn (63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52350" y="6883400"/>
            <a:ext cx="4869180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cs typeface="Arial" panose="020B0604020202020204"/>
              </a:rPr>
              <a:t>hat is Data</a:t>
            </a:r>
            <a:endParaRPr lang="en-US" altLang="en-US" dirty="0">
              <a:cs typeface="Arial" panose="020B0604020202020204"/>
            </a:endParaRPr>
          </a:p>
        </p:txBody>
      </p:sp>
      <p:sp>
        <p:nvSpPr>
          <p:cNvPr id="5122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b="1"/>
              <a:t>Item 1</a:t>
            </a:r>
          </a:p>
          <a:p>
            <a:pPr lvl="1"/>
            <a:r>
              <a:rPr lang="en-US" altLang="en-US"/>
              <a:t>Descriptive content</a:t>
            </a:r>
          </a:p>
          <a:p>
            <a:r>
              <a:rPr lang="en-US" altLang="en-US" b="1"/>
              <a:t>Item 2</a:t>
            </a:r>
          </a:p>
          <a:p>
            <a:pPr lvl="1"/>
            <a:r>
              <a:rPr lang="en-US" altLang="en-US"/>
              <a:t>Descriptive content</a:t>
            </a:r>
          </a:p>
          <a:p>
            <a:pPr lvl="2"/>
            <a:r>
              <a:rPr lang="en-US" altLang="en-US"/>
              <a:t>Sub item</a:t>
            </a:r>
          </a:p>
        </p:txBody>
      </p:sp>
      <p:sp>
        <p:nvSpPr>
          <p:cNvPr id="2" name="Rectangles 1"/>
          <p:cNvSpPr/>
          <p:nvPr/>
        </p:nvSpPr>
        <p:spPr>
          <a:xfrm>
            <a:off x="-3175" y="-13335"/>
            <a:ext cx="18288000" cy="10300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99285" y="2085975"/>
            <a:ext cx="14483080" cy="7267575"/>
          </a:xfrm>
          <a:prstGeom prst="rect">
            <a:avLst/>
          </a:prstGeom>
        </p:spPr>
      </p:pic>
      <p:sp>
        <p:nvSpPr>
          <p:cNvPr id="4" name="object 3"/>
          <p:cNvSpPr txBox="1">
            <a:spLocks noGrp="1"/>
          </p:cNvSpPr>
          <p:nvPr/>
        </p:nvSpPr>
        <p:spPr>
          <a:xfrm>
            <a:off x="2651760" y="838200"/>
            <a:ext cx="12985115" cy="874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 panose="020F0302020204030204"/>
                <a:ea typeface="+mj-ea"/>
                <a:cs typeface="Calibri Light" panose="020F0302020204030204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6235065" algn="l"/>
              </a:tabLst>
            </a:pPr>
            <a:r>
              <a:rPr lang="en-US" altLang="en-US" sz="5600" b="1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rPr>
              <a:t>VAE: Lower bound of logP(x)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7120" y="1019175"/>
            <a:ext cx="11034395" cy="112649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825365" algn="l"/>
              </a:tabLst>
            </a:pPr>
            <a:r>
              <a:rPr dirty="0"/>
              <a:t>DDPM:</a:t>
            </a:r>
            <a:r>
              <a:rPr spc="-170" dirty="0"/>
              <a:t> </a:t>
            </a:r>
            <a:r>
              <a:rPr dirty="0"/>
              <a:t>Compute</a:t>
            </a:r>
            <a:r>
              <a:rPr spc="-165" dirty="0"/>
              <a:t> </a:t>
            </a:r>
            <a:r>
              <a:rPr spc="80" dirty="0">
                <a:latin typeface="Cambria Math" panose="02040503050406030204"/>
                <a:cs typeface="Cambria Math" panose="02040503050406030204"/>
              </a:rPr>
              <a:t>𝑃</a:t>
            </a:r>
            <a:r>
              <a:rPr sz="7200" spc="120" baseline="-16000" dirty="0">
                <a:latin typeface="Cambria Math" panose="02040503050406030204"/>
                <a:cs typeface="Cambria Math" panose="02040503050406030204"/>
              </a:rPr>
              <a:t>𝜃</a:t>
            </a:r>
            <a:r>
              <a:rPr lang="en-US" sz="7200" spc="12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6600" spc="-5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lang="en-US" sz="6600" spc="-50" dirty="0">
                <a:latin typeface="Cambria Math" panose="02040503050406030204"/>
                <a:cs typeface="Cambria Math" panose="02040503050406030204"/>
              </a:rPr>
              <a:t>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74721" y="2537786"/>
            <a:ext cx="8524875" cy="1604963"/>
            <a:chOff x="583147" y="1691857"/>
            <a:chExt cx="5683250" cy="10699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9951" y="1732243"/>
              <a:ext cx="1536331" cy="10290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147" y="1691857"/>
              <a:ext cx="1536331" cy="10290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3962" y="1757934"/>
              <a:ext cx="1291589" cy="94564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962" y="1757934"/>
              <a:ext cx="1291590" cy="946150"/>
            </a:xfrm>
            <a:custGeom>
              <a:avLst/>
              <a:gdLst/>
              <a:ahLst/>
              <a:cxnLst/>
              <a:rect l="l" t="t" r="r" b="b"/>
              <a:pathLst>
                <a:path w="1291589" h="946150">
                  <a:moveTo>
                    <a:pt x="0" y="157606"/>
                  </a:moveTo>
                  <a:lnTo>
                    <a:pt x="8039" y="107809"/>
                  </a:lnTo>
                  <a:lnTo>
                    <a:pt x="30423" y="64547"/>
                  </a:lnTo>
                  <a:lnTo>
                    <a:pt x="64547" y="30423"/>
                  </a:lnTo>
                  <a:lnTo>
                    <a:pt x="107809" y="8039"/>
                  </a:lnTo>
                  <a:lnTo>
                    <a:pt x="157606" y="0"/>
                  </a:lnTo>
                  <a:lnTo>
                    <a:pt x="1133983" y="0"/>
                  </a:lnTo>
                  <a:lnTo>
                    <a:pt x="1183780" y="8039"/>
                  </a:lnTo>
                  <a:lnTo>
                    <a:pt x="1227042" y="30423"/>
                  </a:lnTo>
                  <a:lnTo>
                    <a:pt x="1261166" y="64547"/>
                  </a:lnTo>
                  <a:lnTo>
                    <a:pt x="1283550" y="107809"/>
                  </a:lnTo>
                  <a:lnTo>
                    <a:pt x="1291589" y="157606"/>
                  </a:lnTo>
                  <a:lnTo>
                    <a:pt x="1291589" y="788035"/>
                  </a:lnTo>
                  <a:lnTo>
                    <a:pt x="1283550" y="837832"/>
                  </a:lnTo>
                  <a:lnTo>
                    <a:pt x="1261166" y="881094"/>
                  </a:lnTo>
                  <a:lnTo>
                    <a:pt x="1227042" y="915218"/>
                  </a:lnTo>
                  <a:lnTo>
                    <a:pt x="1183780" y="937602"/>
                  </a:lnTo>
                  <a:lnTo>
                    <a:pt x="1133983" y="945641"/>
                  </a:lnTo>
                  <a:lnTo>
                    <a:pt x="157606" y="945641"/>
                  </a:lnTo>
                  <a:lnTo>
                    <a:pt x="107809" y="937602"/>
                  </a:lnTo>
                  <a:lnTo>
                    <a:pt x="64547" y="915218"/>
                  </a:lnTo>
                  <a:lnTo>
                    <a:pt x="30423" y="881094"/>
                  </a:lnTo>
                  <a:lnTo>
                    <a:pt x="8039" y="837832"/>
                  </a:lnTo>
                  <a:lnTo>
                    <a:pt x="0" y="788035"/>
                  </a:lnTo>
                  <a:lnTo>
                    <a:pt x="0" y="15760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15586" y="3023235"/>
            <a:ext cx="154114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Denoise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381868" y="2608325"/>
            <a:ext cx="1994535" cy="1476375"/>
            <a:chOff x="6921245" y="1738883"/>
            <a:chExt cx="1329690" cy="98425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40295" y="1757933"/>
              <a:ext cx="1291589" cy="94564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940295" y="1757933"/>
              <a:ext cx="1291590" cy="946150"/>
            </a:xfrm>
            <a:custGeom>
              <a:avLst/>
              <a:gdLst/>
              <a:ahLst/>
              <a:cxnLst/>
              <a:rect l="l" t="t" r="r" b="b"/>
              <a:pathLst>
                <a:path w="1291590" h="946150">
                  <a:moveTo>
                    <a:pt x="0" y="157606"/>
                  </a:moveTo>
                  <a:lnTo>
                    <a:pt x="8039" y="107809"/>
                  </a:lnTo>
                  <a:lnTo>
                    <a:pt x="30423" y="64547"/>
                  </a:lnTo>
                  <a:lnTo>
                    <a:pt x="64547" y="30423"/>
                  </a:lnTo>
                  <a:lnTo>
                    <a:pt x="107809" y="8039"/>
                  </a:lnTo>
                  <a:lnTo>
                    <a:pt x="157606" y="0"/>
                  </a:lnTo>
                  <a:lnTo>
                    <a:pt x="1133982" y="0"/>
                  </a:lnTo>
                  <a:lnTo>
                    <a:pt x="1183780" y="8039"/>
                  </a:lnTo>
                  <a:lnTo>
                    <a:pt x="1227042" y="30423"/>
                  </a:lnTo>
                  <a:lnTo>
                    <a:pt x="1261166" y="64547"/>
                  </a:lnTo>
                  <a:lnTo>
                    <a:pt x="1283550" y="107809"/>
                  </a:lnTo>
                  <a:lnTo>
                    <a:pt x="1291589" y="157606"/>
                  </a:lnTo>
                  <a:lnTo>
                    <a:pt x="1291589" y="788035"/>
                  </a:lnTo>
                  <a:lnTo>
                    <a:pt x="1283550" y="837832"/>
                  </a:lnTo>
                  <a:lnTo>
                    <a:pt x="1261166" y="881094"/>
                  </a:lnTo>
                  <a:lnTo>
                    <a:pt x="1227042" y="915218"/>
                  </a:lnTo>
                  <a:lnTo>
                    <a:pt x="1183780" y="937602"/>
                  </a:lnTo>
                  <a:lnTo>
                    <a:pt x="1133982" y="945641"/>
                  </a:lnTo>
                  <a:lnTo>
                    <a:pt x="157606" y="945641"/>
                  </a:lnTo>
                  <a:lnTo>
                    <a:pt x="107809" y="937602"/>
                  </a:lnTo>
                  <a:lnTo>
                    <a:pt x="64547" y="915218"/>
                  </a:lnTo>
                  <a:lnTo>
                    <a:pt x="30423" y="881094"/>
                  </a:lnTo>
                  <a:lnTo>
                    <a:pt x="8039" y="837832"/>
                  </a:lnTo>
                  <a:lnTo>
                    <a:pt x="0" y="788035"/>
                  </a:lnTo>
                  <a:lnTo>
                    <a:pt x="0" y="15760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610088" y="3023235"/>
            <a:ext cx="154114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Denoise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64396" y="3217544"/>
            <a:ext cx="10106025" cy="278130"/>
          </a:xfrm>
          <a:custGeom>
            <a:avLst/>
            <a:gdLst/>
            <a:ahLst/>
            <a:cxnLst/>
            <a:rect l="l" t="t" r="r" b="b"/>
            <a:pathLst>
              <a:path w="6737350" h="185419">
                <a:moveTo>
                  <a:pt x="602742" y="85725"/>
                </a:moveTo>
                <a:lnTo>
                  <a:pt x="545592" y="57150"/>
                </a:lnTo>
                <a:lnTo>
                  <a:pt x="431292" y="0"/>
                </a:lnTo>
                <a:lnTo>
                  <a:pt x="431292" y="57150"/>
                </a:lnTo>
                <a:lnTo>
                  <a:pt x="0" y="57150"/>
                </a:lnTo>
                <a:lnTo>
                  <a:pt x="0" y="114300"/>
                </a:lnTo>
                <a:lnTo>
                  <a:pt x="431292" y="114300"/>
                </a:lnTo>
                <a:lnTo>
                  <a:pt x="431292" y="171450"/>
                </a:lnTo>
                <a:lnTo>
                  <a:pt x="545592" y="114300"/>
                </a:lnTo>
                <a:lnTo>
                  <a:pt x="602742" y="85725"/>
                </a:lnTo>
                <a:close/>
              </a:path>
              <a:path w="6737350" h="185419">
                <a:moveTo>
                  <a:pt x="2579370" y="95631"/>
                </a:moveTo>
                <a:lnTo>
                  <a:pt x="2522220" y="67056"/>
                </a:lnTo>
                <a:lnTo>
                  <a:pt x="2407920" y="9906"/>
                </a:lnTo>
                <a:lnTo>
                  <a:pt x="2407920" y="67056"/>
                </a:lnTo>
                <a:lnTo>
                  <a:pt x="1976628" y="67056"/>
                </a:lnTo>
                <a:lnTo>
                  <a:pt x="1976628" y="124206"/>
                </a:lnTo>
                <a:lnTo>
                  <a:pt x="2407920" y="124206"/>
                </a:lnTo>
                <a:lnTo>
                  <a:pt x="2407920" y="181356"/>
                </a:lnTo>
                <a:lnTo>
                  <a:pt x="2522220" y="124206"/>
                </a:lnTo>
                <a:lnTo>
                  <a:pt x="2579370" y="95631"/>
                </a:lnTo>
                <a:close/>
              </a:path>
              <a:path w="6737350" h="185419">
                <a:moveTo>
                  <a:pt x="4781550" y="99441"/>
                </a:moveTo>
                <a:lnTo>
                  <a:pt x="4724400" y="70866"/>
                </a:lnTo>
                <a:lnTo>
                  <a:pt x="4610100" y="13716"/>
                </a:lnTo>
                <a:lnTo>
                  <a:pt x="4610100" y="70866"/>
                </a:lnTo>
                <a:lnTo>
                  <a:pt x="4178808" y="70866"/>
                </a:lnTo>
                <a:lnTo>
                  <a:pt x="4178808" y="128016"/>
                </a:lnTo>
                <a:lnTo>
                  <a:pt x="4610100" y="128016"/>
                </a:lnTo>
                <a:lnTo>
                  <a:pt x="4610100" y="185166"/>
                </a:lnTo>
                <a:lnTo>
                  <a:pt x="4724400" y="128016"/>
                </a:lnTo>
                <a:lnTo>
                  <a:pt x="4781550" y="99441"/>
                </a:lnTo>
                <a:close/>
              </a:path>
              <a:path w="6737350" h="185419">
                <a:moveTo>
                  <a:pt x="6736842" y="95631"/>
                </a:moveTo>
                <a:lnTo>
                  <a:pt x="6679692" y="67056"/>
                </a:lnTo>
                <a:lnTo>
                  <a:pt x="6565392" y="9906"/>
                </a:lnTo>
                <a:lnTo>
                  <a:pt x="6565392" y="67056"/>
                </a:lnTo>
                <a:lnTo>
                  <a:pt x="6134100" y="67056"/>
                </a:lnTo>
                <a:lnTo>
                  <a:pt x="6134100" y="124206"/>
                </a:lnTo>
                <a:lnTo>
                  <a:pt x="6565392" y="124206"/>
                </a:lnTo>
                <a:lnTo>
                  <a:pt x="6565392" y="181356"/>
                </a:lnTo>
                <a:lnTo>
                  <a:pt x="6679692" y="124206"/>
                </a:lnTo>
                <a:lnTo>
                  <a:pt x="6736842" y="956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grpSp>
        <p:nvGrpSpPr>
          <p:cNvPr id="15" name="object 15"/>
          <p:cNvGrpSpPr/>
          <p:nvPr/>
        </p:nvGrpSpPr>
        <p:grpSpPr>
          <a:xfrm>
            <a:off x="14437805" y="2537459"/>
            <a:ext cx="3354705" cy="1620203"/>
            <a:chOff x="9625203" y="1691639"/>
            <a:chExt cx="2236470" cy="108013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40518" y="1691639"/>
              <a:ext cx="1620774" cy="107975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625203" y="2154935"/>
              <a:ext cx="603250" cy="171450"/>
            </a:xfrm>
            <a:custGeom>
              <a:avLst/>
              <a:gdLst/>
              <a:ahLst/>
              <a:cxnLst/>
              <a:rect l="l" t="t" r="r" b="b"/>
              <a:pathLst>
                <a:path w="603250" h="171450">
                  <a:moveTo>
                    <a:pt x="431292" y="0"/>
                  </a:moveTo>
                  <a:lnTo>
                    <a:pt x="431292" y="171450"/>
                  </a:lnTo>
                  <a:lnTo>
                    <a:pt x="545592" y="114300"/>
                  </a:lnTo>
                  <a:lnTo>
                    <a:pt x="459867" y="114300"/>
                  </a:lnTo>
                  <a:lnTo>
                    <a:pt x="459867" y="57150"/>
                  </a:lnTo>
                  <a:lnTo>
                    <a:pt x="545592" y="57150"/>
                  </a:lnTo>
                  <a:lnTo>
                    <a:pt x="431292" y="0"/>
                  </a:lnTo>
                  <a:close/>
                </a:path>
                <a:path w="603250" h="171450">
                  <a:moveTo>
                    <a:pt x="431292" y="57150"/>
                  </a:moveTo>
                  <a:lnTo>
                    <a:pt x="0" y="57150"/>
                  </a:lnTo>
                  <a:lnTo>
                    <a:pt x="0" y="114300"/>
                  </a:lnTo>
                  <a:lnTo>
                    <a:pt x="431292" y="114300"/>
                  </a:lnTo>
                  <a:lnTo>
                    <a:pt x="431292" y="57150"/>
                  </a:lnTo>
                  <a:close/>
                </a:path>
                <a:path w="603250" h="171450">
                  <a:moveTo>
                    <a:pt x="545592" y="57150"/>
                  </a:moveTo>
                  <a:lnTo>
                    <a:pt x="459867" y="57150"/>
                  </a:lnTo>
                  <a:lnTo>
                    <a:pt x="459867" y="114300"/>
                  </a:lnTo>
                  <a:lnTo>
                    <a:pt x="545592" y="114300"/>
                  </a:lnTo>
                  <a:lnTo>
                    <a:pt x="602742" y="85725"/>
                  </a:lnTo>
                  <a:lnTo>
                    <a:pt x="545592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446252" y="2875405"/>
            <a:ext cx="797243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latin typeface="Calibri" panose="020F0502020204030204"/>
                <a:cs typeface="Calibri" panose="020F0502020204030204"/>
              </a:rPr>
              <a:t>……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09750" y="3965828"/>
            <a:ext cx="574358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940" spc="-37" baseline="-16000" dirty="0">
                <a:latin typeface="Cambria Math" panose="02040503050406030204"/>
                <a:cs typeface="Cambria Math" panose="02040503050406030204"/>
              </a:rPr>
              <a:t>𝑇</a:t>
            </a:r>
            <a:endParaRPr sz="394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25537" y="4103369"/>
            <a:ext cx="1020128" cy="5588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400" spc="-30" baseline="12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2625" spc="-20" dirty="0">
                <a:latin typeface="Cambria Math" panose="02040503050406030204"/>
                <a:cs typeface="Cambria Math" panose="02040503050406030204"/>
              </a:rPr>
              <a:t>𝑇−1</a:t>
            </a:r>
            <a:endParaRPr sz="262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358235" y="3974592"/>
            <a:ext cx="54673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940" spc="-37" baseline="-16000" dirty="0">
                <a:latin typeface="Cambria Math" panose="02040503050406030204"/>
                <a:cs typeface="Cambria Math" panose="02040503050406030204"/>
              </a:rPr>
              <a:t>0</a:t>
            </a:r>
            <a:endParaRPr sz="3940" baseline="-160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162806" y="5319521"/>
            <a:ext cx="1994535" cy="1477328"/>
            <a:chOff x="2775204" y="3546347"/>
            <a:chExt cx="1329690" cy="984885"/>
          </a:xfrm>
        </p:grpSpPr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94254" y="3565397"/>
              <a:ext cx="1291590" cy="94640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794254" y="3565397"/>
              <a:ext cx="1291590" cy="946785"/>
            </a:xfrm>
            <a:custGeom>
              <a:avLst/>
              <a:gdLst/>
              <a:ahLst/>
              <a:cxnLst/>
              <a:rect l="l" t="t" r="r" b="b"/>
              <a:pathLst>
                <a:path w="1291589" h="946785">
                  <a:moveTo>
                    <a:pt x="0" y="157733"/>
                  </a:moveTo>
                  <a:lnTo>
                    <a:pt x="8040" y="107874"/>
                  </a:lnTo>
                  <a:lnTo>
                    <a:pt x="30431" y="64574"/>
                  </a:lnTo>
                  <a:lnTo>
                    <a:pt x="64574" y="30431"/>
                  </a:lnTo>
                  <a:lnTo>
                    <a:pt x="107874" y="8040"/>
                  </a:lnTo>
                  <a:lnTo>
                    <a:pt x="157733" y="0"/>
                  </a:lnTo>
                  <a:lnTo>
                    <a:pt x="1133856" y="0"/>
                  </a:lnTo>
                  <a:lnTo>
                    <a:pt x="1183715" y="8040"/>
                  </a:lnTo>
                  <a:lnTo>
                    <a:pt x="1227015" y="30431"/>
                  </a:lnTo>
                  <a:lnTo>
                    <a:pt x="1261158" y="64574"/>
                  </a:lnTo>
                  <a:lnTo>
                    <a:pt x="1283549" y="107874"/>
                  </a:lnTo>
                  <a:lnTo>
                    <a:pt x="1291590" y="157733"/>
                  </a:lnTo>
                  <a:lnTo>
                    <a:pt x="1291590" y="788669"/>
                  </a:lnTo>
                  <a:lnTo>
                    <a:pt x="1283549" y="838529"/>
                  </a:lnTo>
                  <a:lnTo>
                    <a:pt x="1261158" y="881829"/>
                  </a:lnTo>
                  <a:lnTo>
                    <a:pt x="1227015" y="915972"/>
                  </a:lnTo>
                  <a:lnTo>
                    <a:pt x="1183715" y="938363"/>
                  </a:lnTo>
                  <a:lnTo>
                    <a:pt x="1133856" y="946403"/>
                  </a:lnTo>
                  <a:lnTo>
                    <a:pt x="157733" y="946403"/>
                  </a:lnTo>
                  <a:lnTo>
                    <a:pt x="107874" y="938363"/>
                  </a:lnTo>
                  <a:lnTo>
                    <a:pt x="64574" y="915972"/>
                  </a:lnTo>
                  <a:lnTo>
                    <a:pt x="30431" y="881829"/>
                  </a:lnTo>
                  <a:lnTo>
                    <a:pt x="8040" y="838529"/>
                  </a:lnTo>
                  <a:lnTo>
                    <a:pt x="0" y="788669"/>
                  </a:lnTo>
                  <a:lnTo>
                    <a:pt x="0" y="15773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390643" y="5735191"/>
            <a:ext cx="154114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 panose="020F0502020204030204"/>
                <a:cs typeface="Calibri" panose="020F0502020204030204"/>
              </a:rPr>
              <a:t>Denoise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238691" y="5929883"/>
            <a:ext cx="3869055" cy="272415"/>
          </a:xfrm>
          <a:custGeom>
            <a:avLst/>
            <a:gdLst/>
            <a:ahLst/>
            <a:cxnLst/>
            <a:rect l="l" t="t" r="r" b="b"/>
            <a:pathLst>
              <a:path w="2579370" h="181610">
                <a:moveTo>
                  <a:pt x="602742" y="85725"/>
                </a:moveTo>
                <a:lnTo>
                  <a:pt x="545592" y="57150"/>
                </a:lnTo>
                <a:lnTo>
                  <a:pt x="431292" y="0"/>
                </a:lnTo>
                <a:lnTo>
                  <a:pt x="431292" y="57150"/>
                </a:lnTo>
                <a:lnTo>
                  <a:pt x="0" y="57150"/>
                </a:lnTo>
                <a:lnTo>
                  <a:pt x="0" y="114300"/>
                </a:lnTo>
                <a:lnTo>
                  <a:pt x="431292" y="114300"/>
                </a:lnTo>
                <a:lnTo>
                  <a:pt x="431292" y="171450"/>
                </a:lnTo>
                <a:lnTo>
                  <a:pt x="545592" y="114300"/>
                </a:lnTo>
                <a:lnTo>
                  <a:pt x="602742" y="85725"/>
                </a:lnTo>
                <a:close/>
              </a:path>
              <a:path w="2579370" h="181610">
                <a:moveTo>
                  <a:pt x="2579370" y="95631"/>
                </a:moveTo>
                <a:lnTo>
                  <a:pt x="2522220" y="67056"/>
                </a:lnTo>
                <a:lnTo>
                  <a:pt x="2407920" y="9906"/>
                </a:lnTo>
                <a:lnTo>
                  <a:pt x="2407920" y="67056"/>
                </a:lnTo>
                <a:lnTo>
                  <a:pt x="1976628" y="67056"/>
                </a:lnTo>
                <a:lnTo>
                  <a:pt x="1976628" y="124206"/>
                </a:lnTo>
                <a:lnTo>
                  <a:pt x="2407920" y="124206"/>
                </a:lnTo>
                <a:lnTo>
                  <a:pt x="2407920" y="181356"/>
                </a:lnTo>
                <a:lnTo>
                  <a:pt x="2522220" y="124206"/>
                </a:lnTo>
                <a:lnTo>
                  <a:pt x="2579370" y="956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697" y="5285585"/>
            <a:ext cx="2304497" cy="1544630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521333" y="6747510"/>
            <a:ext cx="501015" cy="5727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940" spc="-37" baseline="-16000" dirty="0">
                <a:latin typeface="Cambria Math" panose="02040503050406030204"/>
                <a:cs typeface="Cambria Math" panose="02040503050406030204"/>
              </a:rPr>
              <a:t>𝑡</a:t>
            </a:r>
            <a:endParaRPr sz="394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262495" y="5250180"/>
            <a:ext cx="2202180" cy="1482725"/>
          </a:xfrm>
          <a:custGeom>
            <a:avLst/>
            <a:gdLst/>
            <a:ahLst/>
            <a:cxnLst/>
            <a:rect l="l" t="t" r="r" b="b"/>
            <a:pathLst>
              <a:path w="1468120" h="988695">
                <a:moveTo>
                  <a:pt x="1467612" y="0"/>
                </a:moveTo>
                <a:lnTo>
                  <a:pt x="0" y="0"/>
                </a:lnTo>
                <a:lnTo>
                  <a:pt x="0" y="988314"/>
                </a:lnTo>
                <a:lnTo>
                  <a:pt x="1467612" y="988314"/>
                </a:lnTo>
                <a:lnTo>
                  <a:pt x="1467612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44" name="object 44"/>
          <p:cNvSpPr txBox="1"/>
          <p:nvPr/>
        </p:nvSpPr>
        <p:spPr>
          <a:xfrm>
            <a:off x="9617581" y="5429631"/>
            <a:ext cx="1706880" cy="112649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 panose="020F0502020204030204"/>
                <a:cs typeface="Calibri" panose="020F0502020204030204"/>
              </a:rPr>
              <a:t>Mean</a:t>
            </a:r>
            <a:r>
              <a:rPr sz="36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25" dirty="0">
                <a:latin typeface="Calibri" panose="020F0502020204030204"/>
                <a:cs typeface="Calibri" panose="020F0502020204030204"/>
              </a:rPr>
              <a:t>of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Gaussian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7262495" y="5250180"/>
            <a:ext cx="2202180" cy="1482725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 Box 54"/>
          <p:cNvSpPr txBox="1"/>
          <p:nvPr/>
        </p:nvSpPr>
        <p:spPr>
          <a:xfrm>
            <a:off x="7529830" y="5735320"/>
            <a:ext cx="1530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G(x</a:t>
            </a:r>
            <a:r>
              <a:rPr lang="en-US" sz="3600" baseline="-25000"/>
              <a:t>t</a:t>
            </a:r>
            <a:r>
              <a:rPr lang="en-US" sz="3200"/>
              <a:t>)</a:t>
            </a:r>
          </a:p>
        </p:txBody>
      </p:sp>
      <p:pic>
        <p:nvPicPr>
          <p:cNvPr id="45" name="Picture 44" descr="CodeCogsEqn (19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8575" y="7912100"/>
            <a:ext cx="12585065" cy="917575"/>
          </a:xfrm>
          <a:prstGeom prst="rect">
            <a:avLst/>
          </a:prstGeom>
        </p:spPr>
      </p:pic>
      <p:pic>
        <p:nvPicPr>
          <p:cNvPr id="53" name="Picture 52" descr="CodeCogsEqn (20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47575" y="5774690"/>
            <a:ext cx="4516120" cy="986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 txBox="1"/>
          <p:nvPr/>
        </p:nvSpPr>
        <p:spPr>
          <a:xfrm>
            <a:off x="1278636" y="3091815"/>
            <a:ext cx="911543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i="1" spc="-35" dirty="0">
                <a:latin typeface="Calibri" panose="020F0502020204030204"/>
                <a:cs typeface="Calibri" panose="020F0502020204030204"/>
              </a:rPr>
              <a:t>VAE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297647" y="3739323"/>
            <a:ext cx="873443" cy="17145"/>
          </a:xfrm>
          <a:custGeom>
            <a:avLst/>
            <a:gdLst/>
            <a:ahLst/>
            <a:cxnLst/>
            <a:rect l="l" t="t" r="r" b="b"/>
            <a:pathLst>
              <a:path w="582294" h="11430">
                <a:moveTo>
                  <a:pt x="582193" y="0"/>
                </a:moveTo>
                <a:lnTo>
                  <a:pt x="0" y="0"/>
                </a:lnTo>
                <a:lnTo>
                  <a:pt x="0" y="11429"/>
                </a:lnTo>
                <a:lnTo>
                  <a:pt x="582193" y="11429"/>
                </a:lnTo>
                <a:lnTo>
                  <a:pt x="5821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38" name="object 38"/>
          <p:cNvSpPr txBox="1"/>
          <p:nvPr/>
        </p:nvSpPr>
        <p:spPr>
          <a:xfrm>
            <a:off x="1275461" y="6021324"/>
            <a:ext cx="146208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i="1" u="sng" spc="-20" dirty="0">
                <a:uFill>
                  <a:solidFill>
                    <a:srgbClr val="000000"/>
                  </a:solidFill>
                </a:uFill>
                <a:latin typeface="Calibri" panose="020F0502020204030204"/>
                <a:cs typeface="Calibri" panose="020F0502020204030204"/>
              </a:rPr>
              <a:t>DDPM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6" name="Picture 45" descr="CodeCogsEqn (2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3004185"/>
            <a:ext cx="12026900" cy="1188720"/>
          </a:xfrm>
          <a:prstGeom prst="rect">
            <a:avLst/>
          </a:prstGeom>
        </p:spPr>
      </p:pic>
      <p:pic>
        <p:nvPicPr>
          <p:cNvPr id="47" name="Picture 46" descr="CodeCogsEqn (2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970" y="5721985"/>
            <a:ext cx="12018010" cy="1327785"/>
          </a:xfrm>
          <a:prstGeom prst="rect">
            <a:avLst/>
          </a:prstGeom>
        </p:spPr>
      </p:pic>
      <p:sp>
        <p:nvSpPr>
          <p:cNvPr id="48" name="Text Box 47"/>
          <p:cNvSpPr txBox="1"/>
          <p:nvPr/>
        </p:nvSpPr>
        <p:spPr>
          <a:xfrm>
            <a:off x="11299190" y="4300220"/>
            <a:ext cx="18999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2800" b="1" dirty="0">
                <a:solidFill>
                  <a:schemeClr val="accent1"/>
                </a:solidFill>
                <a:latin typeface="+mj-lt"/>
                <a:cs typeface="+mj-cs"/>
              </a:rPr>
              <a:t>Encoder</a:t>
            </a:r>
            <a:endParaRPr lang="en-US" sz="2800" b="1" dirty="0">
              <a:solidFill>
                <a:schemeClr val="accent1"/>
              </a:solidFill>
              <a:latin typeface="+mj-lt"/>
              <a:cs typeface="+mj-c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795125" y="3439160"/>
            <a:ext cx="908050" cy="617855"/>
          </a:xfrm>
          <a:prstGeom prst="roundRect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 Box 49"/>
          <p:cNvSpPr txBox="1"/>
          <p:nvPr/>
        </p:nvSpPr>
        <p:spPr>
          <a:xfrm>
            <a:off x="9112885" y="7233285"/>
            <a:ext cx="4064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+mj-lt"/>
                <a:cs typeface="+mj-cs"/>
              </a:rPr>
              <a:t>Forward Process</a:t>
            </a:r>
          </a:p>
          <a:p>
            <a:pPr algn="ctr"/>
            <a:r>
              <a:rPr lang="en-US" sz="2800" b="1" dirty="0">
                <a:solidFill>
                  <a:schemeClr val="accent1"/>
                </a:solidFill>
                <a:latin typeface="+mj-lt"/>
                <a:cs typeface="+mj-cs"/>
              </a:rPr>
              <a:t>(Diffusion Process)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33940" y="6021070"/>
            <a:ext cx="2313940" cy="724535"/>
          </a:xfrm>
          <a:prstGeom prst="roundRect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bject 3"/>
          <p:cNvSpPr txBox="1">
            <a:spLocks noGrp="1"/>
          </p:cNvSpPr>
          <p:nvPr/>
        </p:nvSpPr>
        <p:spPr>
          <a:xfrm>
            <a:off x="3627120" y="1264920"/>
            <a:ext cx="11034395" cy="88074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19050" rIns="0" bIns="0" numCol="1" rtlCol="0" anchor="b" anchorCtr="0" compatLnSpc="1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4825365" algn="l"/>
              </a:tabLst>
            </a:pPr>
            <a:r>
              <a:rPr dirty="0">
                <a:sym typeface="+mn-ea"/>
              </a:rPr>
              <a:t>DDPM:</a:t>
            </a:r>
            <a:r>
              <a:rPr spc="-95" dirty="0">
                <a:sym typeface="+mn-ea"/>
              </a:rPr>
              <a:t> </a:t>
            </a:r>
            <a:r>
              <a:rPr dirty="0">
                <a:sym typeface="+mn-ea"/>
              </a:rPr>
              <a:t>Lower</a:t>
            </a:r>
            <a:r>
              <a:rPr spc="-95" dirty="0">
                <a:sym typeface="+mn-ea"/>
              </a:rPr>
              <a:t> </a:t>
            </a:r>
            <a:r>
              <a:rPr dirty="0">
                <a:sym typeface="+mn-ea"/>
              </a:rPr>
              <a:t>bound</a:t>
            </a:r>
            <a:r>
              <a:rPr spc="-90" dirty="0">
                <a:sym typeface="+mn-ea"/>
              </a:rPr>
              <a:t> </a:t>
            </a:r>
            <a:r>
              <a:rPr dirty="0">
                <a:sym typeface="+mn-ea"/>
              </a:rPr>
              <a:t>of</a:t>
            </a:r>
            <a:r>
              <a:rPr spc="-85" dirty="0">
                <a:sym typeface="+mn-ea"/>
              </a:rPr>
              <a:t> </a:t>
            </a:r>
            <a:r>
              <a:rPr spc="-20" dirty="0">
                <a:latin typeface="Cambria Math" panose="02040503050406030204"/>
                <a:cs typeface="Cambria Math" panose="02040503050406030204"/>
                <a:sym typeface="+mn-ea"/>
              </a:rPr>
              <a:t>𝑙𝑜𝑔𝑃</a:t>
            </a:r>
            <a:r>
              <a:rPr lang="en-US" spc="-20" dirty="0">
                <a:latin typeface="Cambria Math" panose="02040503050406030204"/>
                <a:cs typeface="Cambria Math" panose="02040503050406030204"/>
                <a:sym typeface="+mn-ea"/>
              </a:rPr>
              <a:t>(</a:t>
            </a:r>
            <a:r>
              <a:rPr spc="-50" dirty="0">
                <a:latin typeface="Cambria Math" panose="02040503050406030204"/>
                <a:cs typeface="Cambria Math" panose="02040503050406030204"/>
                <a:sym typeface="+mn-ea"/>
              </a:rPr>
              <a:t>𝑥</a:t>
            </a:r>
            <a:r>
              <a:rPr lang="en-US" spc="-50" dirty="0">
                <a:latin typeface="Cambria Math" panose="02040503050406030204"/>
                <a:cs typeface="Cambria Math" panose="02040503050406030204"/>
                <a:sym typeface="+mn-ea"/>
              </a:rPr>
              <a:t>)</a:t>
            </a:r>
            <a:endParaRPr lang="en-US" sz="6600" spc="-50" dirty="0">
              <a:latin typeface="Cambria Math" panose="02040503050406030204"/>
              <a:cs typeface="Cambria Math" panose="02040503050406030204"/>
              <a:sym typeface="+mn-e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1FB113-E7FA-F5B0-CBB6-799F04243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965" y="8369935"/>
            <a:ext cx="62357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998" y="5382767"/>
            <a:ext cx="2432304" cy="161963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3404" y="5431100"/>
            <a:ext cx="2305605" cy="15435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5863" y="5431100"/>
            <a:ext cx="2305605" cy="15435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76324" y="5431100"/>
            <a:ext cx="2304497" cy="15435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08874" y="7419920"/>
            <a:ext cx="2305605" cy="15435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685334" y="5420813"/>
            <a:ext cx="2304497" cy="154354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91043" y="7398203"/>
            <a:ext cx="2304497" cy="154354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66821" y="7419920"/>
            <a:ext cx="2304497" cy="15435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43174" y="6813421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Calibri" panose="020F0502020204030204"/>
                <a:cs typeface="Calibri" panose="020F0502020204030204"/>
              </a:rPr>
              <a:t>+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9760" y="6803517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Calibri" panose="020F0502020204030204"/>
                <a:cs typeface="Calibri" panose="020F0502020204030204"/>
              </a:rPr>
              <a:t>+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24407" y="6774942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50" dirty="0">
                <a:latin typeface="Calibri" panose="020F0502020204030204"/>
                <a:cs typeface="Calibri" panose="020F0502020204030204"/>
              </a:rPr>
              <a:t>+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63618" y="6998969"/>
            <a:ext cx="441008" cy="413385"/>
          </a:xfrm>
          <a:custGeom>
            <a:avLst/>
            <a:gdLst/>
            <a:ahLst/>
            <a:cxnLst/>
            <a:rect l="l" t="t" r="r" b="b"/>
            <a:pathLst>
              <a:path w="294004" h="275589">
                <a:moveTo>
                  <a:pt x="197195" y="63972"/>
                </a:moveTo>
                <a:lnTo>
                  <a:pt x="0" y="247650"/>
                </a:lnTo>
                <a:lnTo>
                  <a:pt x="25907" y="275589"/>
                </a:lnTo>
                <a:lnTo>
                  <a:pt x="223169" y="91850"/>
                </a:lnTo>
                <a:lnTo>
                  <a:pt x="197195" y="63972"/>
                </a:lnTo>
                <a:close/>
              </a:path>
              <a:path w="294004" h="275589">
                <a:moveTo>
                  <a:pt x="274868" y="50926"/>
                </a:moveTo>
                <a:lnTo>
                  <a:pt x="211200" y="50926"/>
                </a:lnTo>
                <a:lnTo>
                  <a:pt x="237108" y="78866"/>
                </a:lnTo>
                <a:lnTo>
                  <a:pt x="223169" y="91850"/>
                </a:lnTo>
                <a:lnTo>
                  <a:pt x="249173" y="119760"/>
                </a:lnTo>
                <a:lnTo>
                  <a:pt x="274868" y="50926"/>
                </a:lnTo>
                <a:close/>
              </a:path>
              <a:path w="294004" h="275589">
                <a:moveTo>
                  <a:pt x="211200" y="50926"/>
                </a:moveTo>
                <a:lnTo>
                  <a:pt x="197195" y="63972"/>
                </a:lnTo>
                <a:lnTo>
                  <a:pt x="223169" y="91850"/>
                </a:lnTo>
                <a:lnTo>
                  <a:pt x="237108" y="78866"/>
                </a:lnTo>
                <a:lnTo>
                  <a:pt x="211200" y="50926"/>
                </a:lnTo>
                <a:close/>
              </a:path>
              <a:path w="294004" h="275589">
                <a:moveTo>
                  <a:pt x="293878" y="0"/>
                </a:moveTo>
                <a:lnTo>
                  <a:pt x="171195" y="36067"/>
                </a:lnTo>
                <a:lnTo>
                  <a:pt x="197195" y="63972"/>
                </a:lnTo>
                <a:lnTo>
                  <a:pt x="211200" y="50926"/>
                </a:lnTo>
                <a:lnTo>
                  <a:pt x="274868" y="50926"/>
                </a:lnTo>
                <a:lnTo>
                  <a:pt x="2938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4" name="object 14"/>
          <p:cNvSpPr/>
          <p:nvPr/>
        </p:nvSpPr>
        <p:spPr>
          <a:xfrm>
            <a:off x="8495537" y="6965822"/>
            <a:ext cx="441008" cy="413385"/>
          </a:xfrm>
          <a:custGeom>
            <a:avLst/>
            <a:gdLst/>
            <a:ahLst/>
            <a:cxnLst/>
            <a:rect l="l" t="t" r="r" b="b"/>
            <a:pathLst>
              <a:path w="294004" h="275589">
                <a:moveTo>
                  <a:pt x="197195" y="63972"/>
                </a:moveTo>
                <a:lnTo>
                  <a:pt x="0" y="247650"/>
                </a:lnTo>
                <a:lnTo>
                  <a:pt x="25907" y="275589"/>
                </a:lnTo>
                <a:lnTo>
                  <a:pt x="223169" y="91850"/>
                </a:lnTo>
                <a:lnTo>
                  <a:pt x="197195" y="63972"/>
                </a:lnTo>
                <a:close/>
              </a:path>
              <a:path w="294004" h="275589">
                <a:moveTo>
                  <a:pt x="274868" y="50926"/>
                </a:moveTo>
                <a:lnTo>
                  <a:pt x="211200" y="50926"/>
                </a:lnTo>
                <a:lnTo>
                  <a:pt x="237108" y="78867"/>
                </a:lnTo>
                <a:lnTo>
                  <a:pt x="223169" y="91850"/>
                </a:lnTo>
                <a:lnTo>
                  <a:pt x="249174" y="119761"/>
                </a:lnTo>
                <a:lnTo>
                  <a:pt x="274868" y="50926"/>
                </a:lnTo>
                <a:close/>
              </a:path>
              <a:path w="294004" h="275589">
                <a:moveTo>
                  <a:pt x="211200" y="50926"/>
                </a:moveTo>
                <a:lnTo>
                  <a:pt x="197195" y="63972"/>
                </a:lnTo>
                <a:lnTo>
                  <a:pt x="223169" y="91850"/>
                </a:lnTo>
                <a:lnTo>
                  <a:pt x="237108" y="78867"/>
                </a:lnTo>
                <a:lnTo>
                  <a:pt x="211200" y="50926"/>
                </a:lnTo>
                <a:close/>
              </a:path>
              <a:path w="294004" h="275589">
                <a:moveTo>
                  <a:pt x="293877" y="0"/>
                </a:moveTo>
                <a:lnTo>
                  <a:pt x="171195" y="36068"/>
                </a:lnTo>
                <a:lnTo>
                  <a:pt x="197195" y="63972"/>
                </a:lnTo>
                <a:lnTo>
                  <a:pt x="211200" y="50926"/>
                </a:lnTo>
                <a:lnTo>
                  <a:pt x="274868" y="50926"/>
                </a:lnTo>
                <a:lnTo>
                  <a:pt x="2938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5" name="object 15"/>
          <p:cNvSpPr/>
          <p:nvPr/>
        </p:nvSpPr>
        <p:spPr>
          <a:xfrm>
            <a:off x="16059912" y="6998969"/>
            <a:ext cx="441008" cy="413385"/>
          </a:xfrm>
          <a:custGeom>
            <a:avLst/>
            <a:gdLst/>
            <a:ahLst/>
            <a:cxnLst/>
            <a:rect l="l" t="t" r="r" b="b"/>
            <a:pathLst>
              <a:path w="294004" h="275589">
                <a:moveTo>
                  <a:pt x="197195" y="63972"/>
                </a:moveTo>
                <a:lnTo>
                  <a:pt x="0" y="247650"/>
                </a:lnTo>
                <a:lnTo>
                  <a:pt x="25907" y="275589"/>
                </a:lnTo>
                <a:lnTo>
                  <a:pt x="223169" y="91850"/>
                </a:lnTo>
                <a:lnTo>
                  <a:pt x="197195" y="63972"/>
                </a:lnTo>
                <a:close/>
              </a:path>
              <a:path w="294004" h="275589">
                <a:moveTo>
                  <a:pt x="274868" y="50926"/>
                </a:moveTo>
                <a:lnTo>
                  <a:pt x="211200" y="50926"/>
                </a:lnTo>
                <a:lnTo>
                  <a:pt x="237108" y="78866"/>
                </a:lnTo>
                <a:lnTo>
                  <a:pt x="223169" y="91850"/>
                </a:lnTo>
                <a:lnTo>
                  <a:pt x="249173" y="119760"/>
                </a:lnTo>
                <a:lnTo>
                  <a:pt x="274868" y="50926"/>
                </a:lnTo>
                <a:close/>
              </a:path>
              <a:path w="294004" h="275589">
                <a:moveTo>
                  <a:pt x="211200" y="50926"/>
                </a:moveTo>
                <a:lnTo>
                  <a:pt x="197195" y="63972"/>
                </a:lnTo>
                <a:lnTo>
                  <a:pt x="223169" y="91850"/>
                </a:lnTo>
                <a:lnTo>
                  <a:pt x="237108" y="78866"/>
                </a:lnTo>
                <a:lnTo>
                  <a:pt x="211200" y="50926"/>
                </a:lnTo>
                <a:close/>
              </a:path>
              <a:path w="294004" h="275589">
                <a:moveTo>
                  <a:pt x="293877" y="0"/>
                </a:moveTo>
                <a:lnTo>
                  <a:pt x="171195" y="36067"/>
                </a:lnTo>
                <a:lnTo>
                  <a:pt x="197195" y="63972"/>
                </a:lnTo>
                <a:lnTo>
                  <a:pt x="211200" y="50926"/>
                </a:lnTo>
                <a:lnTo>
                  <a:pt x="274868" y="50926"/>
                </a:lnTo>
                <a:lnTo>
                  <a:pt x="2938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6" name="object 16"/>
          <p:cNvSpPr txBox="1"/>
          <p:nvPr/>
        </p:nvSpPr>
        <p:spPr>
          <a:xfrm>
            <a:off x="11007090" y="5787390"/>
            <a:ext cx="797243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latin typeface="Calibri" panose="020F0502020204030204"/>
                <a:cs typeface="Calibri" panose="020F0502020204030204"/>
              </a:rPr>
              <a:t>……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583" y="1683992"/>
            <a:ext cx="2305605" cy="154463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7194" y="1737686"/>
            <a:ext cx="2304497" cy="154354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814952" y="2148840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libri" panose="020F0502020204030204"/>
                <a:cs typeface="Calibri" panose="020F0502020204030204"/>
              </a:rPr>
              <a:t>=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689835" y="3336415"/>
            <a:ext cx="281178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40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60" baseline="-15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4200" spc="-4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0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0" baseline="-15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4200" spc="-2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4200" spc="-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dirty="0">
                <a:latin typeface="Cambria Math" panose="02040503050406030204"/>
                <a:cs typeface="Cambria Math" panose="02040503050406030204"/>
              </a:rPr>
              <a:t>…</a:t>
            </a:r>
            <a:r>
              <a:rPr sz="4200" spc="-1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1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𝑇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68963" y="2230754"/>
            <a:ext cx="1811655" cy="662939"/>
          </a:xfrm>
          <a:custGeom>
            <a:avLst/>
            <a:gdLst/>
            <a:ahLst/>
            <a:cxnLst/>
            <a:rect l="l" t="t" r="r" b="b"/>
            <a:pathLst>
              <a:path w="1207770" h="441960">
                <a:moveTo>
                  <a:pt x="1207770" y="0"/>
                </a:moveTo>
                <a:lnTo>
                  <a:pt x="258318" y="0"/>
                </a:lnTo>
                <a:lnTo>
                  <a:pt x="222504" y="0"/>
                </a:lnTo>
                <a:lnTo>
                  <a:pt x="117093" y="395350"/>
                </a:lnTo>
                <a:lnTo>
                  <a:pt x="57023" y="261238"/>
                </a:lnTo>
                <a:lnTo>
                  <a:pt x="0" y="287274"/>
                </a:lnTo>
                <a:lnTo>
                  <a:pt x="5333" y="300227"/>
                </a:lnTo>
                <a:lnTo>
                  <a:pt x="34670" y="287274"/>
                </a:lnTo>
                <a:lnTo>
                  <a:pt x="106680" y="441832"/>
                </a:lnTo>
                <a:lnTo>
                  <a:pt x="123570" y="441832"/>
                </a:lnTo>
                <a:lnTo>
                  <a:pt x="236473" y="23113"/>
                </a:lnTo>
                <a:lnTo>
                  <a:pt x="271144" y="23113"/>
                </a:lnTo>
                <a:lnTo>
                  <a:pt x="271144" y="22859"/>
                </a:lnTo>
                <a:lnTo>
                  <a:pt x="1207770" y="22859"/>
                </a:lnTo>
                <a:lnTo>
                  <a:pt x="12077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22" name="object 22"/>
          <p:cNvSpPr txBox="1"/>
          <p:nvPr/>
        </p:nvSpPr>
        <p:spPr>
          <a:xfrm>
            <a:off x="4999482" y="2174748"/>
            <a:ext cx="1504950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𝑡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646282" y="2246946"/>
            <a:ext cx="882015" cy="662939"/>
          </a:xfrm>
          <a:custGeom>
            <a:avLst/>
            <a:gdLst/>
            <a:ahLst/>
            <a:cxnLst/>
            <a:rect l="l" t="t" r="r" b="b"/>
            <a:pathLst>
              <a:path w="588009" h="441960">
                <a:moveTo>
                  <a:pt x="587501" y="0"/>
                </a:moveTo>
                <a:lnTo>
                  <a:pt x="258318" y="0"/>
                </a:lnTo>
                <a:lnTo>
                  <a:pt x="222503" y="0"/>
                </a:lnTo>
                <a:lnTo>
                  <a:pt x="117094" y="395350"/>
                </a:lnTo>
                <a:lnTo>
                  <a:pt x="56896" y="261238"/>
                </a:lnTo>
                <a:lnTo>
                  <a:pt x="0" y="287274"/>
                </a:lnTo>
                <a:lnTo>
                  <a:pt x="5333" y="300355"/>
                </a:lnTo>
                <a:lnTo>
                  <a:pt x="34671" y="287274"/>
                </a:lnTo>
                <a:lnTo>
                  <a:pt x="106679" y="441960"/>
                </a:lnTo>
                <a:lnTo>
                  <a:pt x="123444" y="441960"/>
                </a:lnTo>
                <a:lnTo>
                  <a:pt x="236474" y="23113"/>
                </a:lnTo>
                <a:lnTo>
                  <a:pt x="271145" y="23113"/>
                </a:lnTo>
                <a:lnTo>
                  <a:pt x="271145" y="22860"/>
                </a:lnTo>
                <a:lnTo>
                  <a:pt x="587501" y="22860"/>
                </a:lnTo>
                <a:lnTo>
                  <a:pt x="587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24" name="object 24"/>
          <p:cNvSpPr txBox="1"/>
          <p:nvPr/>
        </p:nvSpPr>
        <p:spPr>
          <a:xfrm>
            <a:off x="10977371" y="2191512"/>
            <a:ext cx="57531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𝑡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678162" y="2133981"/>
            <a:ext cx="4371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275752" y="594045"/>
            <a:ext cx="1157793" cy="77558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24121" y="1737686"/>
            <a:ext cx="2305605" cy="154354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7825358" y="3145154"/>
            <a:ext cx="56578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𝑡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37309" y="3243834"/>
            <a:ext cx="1082993" cy="64897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6300" spc="-30" baseline="11000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3075" spc="-20" dirty="0">
                <a:latin typeface="Cambria Math" panose="02040503050406030204"/>
                <a:cs typeface="Cambria Math" panose="02040503050406030204"/>
              </a:rPr>
              <a:t>𝑡−1</a:t>
            </a:r>
            <a:endParaRPr sz="307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920209" y="6857238"/>
            <a:ext cx="56578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𝑡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04138" y="6863333"/>
            <a:ext cx="61912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0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40" name="Picture 39" descr="CodeCogsEqn (24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280" y="713105"/>
            <a:ext cx="2493645" cy="516890"/>
          </a:xfrm>
          <a:prstGeom prst="rect">
            <a:avLst/>
          </a:prstGeom>
        </p:spPr>
      </p:pic>
      <p:pic>
        <p:nvPicPr>
          <p:cNvPr id="41" name="Picture 40" descr="CodeCogsEqn (25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465" y="4437380"/>
            <a:ext cx="2048510" cy="527685"/>
          </a:xfrm>
          <a:prstGeom prst="rect">
            <a:avLst/>
          </a:prstGeom>
        </p:spPr>
      </p:pic>
      <p:sp>
        <p:nvSpPr>
          <p:cNvPr id="42" name="object 4"/>
          <p:cNvSpPr txBox="1">
            <a:spLocks noGrp="1"/>
          </p:cNvSpPr>
          <p:nvPr>
            <p:ph type="title"/>
          </p:nvPr>
        </p:nvSpPr>
        <p:spPr>
          <a:xfrm>
            <a:off x="14861760" y="658059"/>
            <a:ext cx="3617215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2795" algn="l"/>
              </a:tabLst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~𝒩</a:t>
            </a:r>
            <a:r>
              <a:rPr lang="en-US" sz="42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4200" spc="-10" dirty="0">
                <a:latin typeface="Cambria Math" panose="02040503050406030204"/>
                <a:cs typeface="Cambria Math" panose="02040503050406030204"/>
              </a:rPr>
              <a:t>𝟎,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𝐼</a:t>
            </a:r>
            <a:r>
              <a:rPr lang="en-US" sz="4200" spc="-50" dirty="0">
                <a:latin typeface="Cambria Math" panose="02040503050406030204"/>
                <a:cs typeface="Cambria Math" panose="02040503050406030204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66284" y="858393"/>
            <a:ext cx="304800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spc="-50" dirty="0">
                <a:latin typeface="Calibri" panose="020F0502020204030204"/>
                <a:cs typeface="Calibri" panose="020F0502020204030204"/>
              </a:rPr>
              <a:t>=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04295" y="940878"/>
            <a:ext cx="1844040" cy="662939"/>
          </a:xfrm>
          <a:custGeom>
            <a:avLst/>
            <a:gdLst/>
            <a:ahLst/>
            <a:cxnLst/>
            <a:rect l="l" t="t" r="r" b="b"/>
            <a:pathLst>
              <a:path w="1229360" h="441959">
                <a:moveTo>
                  <a:pt x="1229106" y="0"/>
                </a:moveTo>
                <a:lnTo>
                  <a:pt x="258317" y="126"/>
                </a:lnTo>
                <a:lnTo>
                  <a:pt x="222503" y="126"/>
                </a:lnTo>
                <a:lnTo>
                  <a:pt x="117094" y="395350"/>
                </a:lnTo>
                <a:lnTo>
                  <a:pt x="57023" y="261238"/>
                </a:lnTo>
                <a:lnTo>
                  <a:pt x="0" y="287274"/>
                </a:lnTo>
                <a:lnTo>
                  <a:pt x="5334" y="300355"/>
                </a:lnTo>
                <a:lnTo>
                  <a:pt x="34671" y="287274"/>
                </a:lnTo>
                <a:lnTo>
                  <a:pt x="106679" y="441960"/>
                </a:lnTo>
                <a:lnTo>
                  <a:pt x="123571" y="441960"/>
                </a:lnTo>
                <a:lnTo>
                  <a:pt x="236474" y="23241"/>
                </a:lnTo>
                <a:lnTo>
                  <a:pt x="271272" y="23241"/>
                </a:lnTo>
                <a:lnTo>
                  <a:pt x="271272" y="22860"/>
                </a:lnTo>
                <a:lnTo>
                  <a:pt x="1229106" y="22860"/>
                </a:lnTo>
                <a:lnTo>
                  <a:pt x="12291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4" name="object 4"/>
          <p:cNvSpPr txBox="1"/>
          <p:nvPr/>
        </p:nvSpPr>
        <p:spPr>
          <a:xfrm>
            <a:off x="5753862" y="885443"/>
            <a:ext cx="152781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81613" y="957072"/>
            <a:ext cx="913448" cy="662939"/>
          </a:xfrm>
          <a:custGeom>
            <a:avLst/>
            <a:gdLst/>
            <a:ahLst/>
            <a:cxnLst/>
            <a:rect l="l" t="t" r="r" b="b"/>
            <a:pathLst>
              <a:path w="608965" h="441959">
                <a:moveTo>
                  <a:pt x="608837" y="0"/>
                </a:moveTo>
                <a:lnTo>
                  <a:pt x="258317" y="126"/>
                </a:lnTo>
                <a:lnTo>
                  <a:pt x="222503" y="126"/>
                </a:lnTo>
                <a:lnTo>
                  <a:pt x="117093" y="395350"/>
                </a:lnTo>
                <a:lnTo>
                  <a:pt x="56896" y="261238"/>
                </a:lnTo>
                <a:lnTo>
                  <a:pt x="0" y="287274"/>
                </a:lnTo>
                <a:lnTo>
                  <a:pt x="5333" y="300354"/>
                </a:lnTo>
                <a:lnTo>
                  <a:pt x="34671" y="287274"/>
                </a:lnTo>
                <a:lnTo>
                  <a:pt x="106679" y="441960"/>
                </a:lnTo>
                <a:lnTo>
                  <a:pt x="123443" y="441960"/>
                </a:lnTo>
                <a:lnTo>
                  <a:pt x="236474" y="23240"/>
                </a:lnTo>
                <a:lnTo>
                  <a:pt x="271144" y="23240"/>
                </a:lnTo>
                <a:lnTo>
                  <a:pt x="271144" y="22860"/>
                </a:lnTo>
                <a:lnTo>
                  <a:pt x="608837" y="22860"/>
                </a:lnTo>
                <a:lnTo>
                  <a:pt x="6088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6" name="object 6"/>
          <p:cNvSpPr txBox="1"/>
          <p:nvPr/>
        </p:nvSpPr>
        <p:spPr>
          <a:xfrm>
            <a:off x="11731752" y="901064"/>
            <a:ext cx="598170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48543" y="843915"/>
            <a:ext cx="41814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3142" y="3760088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libri" panose="020F0502020204030204"/>
                <a:cs typeface="Calibri" panose="020F0502020204030204"/>
              </a:rPr>
              <a:t>=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04295" y="3841812"/>
            <a:ext cx="1856423" cy="662939"/>
          </a:xfrm>
          <a:custGeom>
            <a:avLst/>
            <a:gdLst/>
            <a:ahLst/>
            <a:cxnLst/>
            <a:rect l="l" t="t" r="r" b="b"/>
            <a:pathLst>
              <a:path w="1237614" h="441960">
                <a:moveTo>
                  <a:pt x="1237614" y="0"/>
                </a:moveTo>
                <a:lnTo>
                  <a:pt x="258445" y="126"/>
                </a:lnTo>
                <a:lnTo>
                  <a:pt x="222631" y="126"/>
                </a:lnTo>
                <a:lnTo>
                  <a:pt x="117221" y="395350"/>
                </a:lnTo>
                <a:lnTo>
                  <a:pt x="57023" y="261238"/>
                </a:lnTo>
                <a:lnTo>
                  <a:pt x="0" y="287274"/>
                </a:lnTo>
                <a:lnTo>
                  <a:pt x="5461" y="300354"/>
                </a:lnTo>
                <a:lnTo>
                  <a:pt x="34798" y="287274"/>
                </a:lnTo>
                <a:lnTo>
                  <a:pt x="106679" y="441960"/>
                </a:lnTo>
                <a:lnTo>
                  <a:pt x="123571" y="441960"/>
                </a:lnTo>
                <a:lnTo>
                  <a:pt x="236474" y="23240"/>
                </a:lnTo>
                <a:lnTo>
                  <a:pt x="271272" y="23240"/>
                </a:lnTo>
                <a:lnTo>
                  <a:pt x="271272" y="22860"/>
                </a:lnTo>
                <a:lnTo>
                  <a:pt x="1237614" y="22860"/>
                </a:lnTo>
                <a:lnTo>
                  <a:pt x="12376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grpSp>
        <p:nvGrpSpPr>
          <p:cNvPr id="10" name="object 10"/>
          <p:cNvGrpSpPr/>
          <p:nvPr/>
        </p:nvGrpSpPr>
        <p:grpSpPr>
          <a:xfrm>
            <a:off x="7452360" y="411480"/>
            <a:ext cx="7528560" cy="4481513"/>
            <a:chOff x="4968240" y="274320"/>
            <a:chExt cx="5019040" cy="298767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0798" y="298177"/>
              <a:ext cx="1536331" cy="10297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8240" y="274320"/>
              <a:ext cx="1572005" cy="10477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3909" y="2219483"/>
              <a:ext cx="1554814" cy="104209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735191" y="3786758"/>
            <a:ext cx="155829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1 −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382756" y="3858006"/>
            <a:ext cx="925830" cy="662939"/>
          </a:xfrm>
          <a:custGeom>
            <a:avLst/>
            <a:gdLst/>
            <a:ahLst/>
            <a:cxnLst/>
            <a:rect l="l" t="t" r="r" b="b"/>
            <a:pathLst>
              <a:path w="617220" h="441960">
                <a:moveTo>
                  <a:pt x="617220" y="0"/>
                </a:moveTo>
                <a:lnTo>
                  <a:pt x="258318" y="126"/>
                </a:lnTo>
                <a:lnTo>
                  <a:pt x="222630" y="126"/>
                </a:lnTo>
                <a:lnTo>
                  <a:pt x="117094" y="395478"/>
                </a:lnTo>
                <a:lnTo>
                  <a:pt x="57023" y="261238"/>
                </a:lnTo>
                <a:lnTo>
                  <a:pt x="0" y="287400"/>
                </a:lnTo>
                <a:lnTo>
                  <a:pt x="5461" y="300355"/>
                </a:lnTo>
                <a:lnTo>
                  <a:pt x="34798" y="287400"/>
                </a:lnTo>
                <a:lnTo>
                  <a:pt x="106679" y="441960"/>
                </a:lnTo>
                <a:lnTo>
                  <a:pt x="123571" y="441960"/>
                </a:lnTo>
                <a:lnTo>
                  <a:pt x="236474" y="23241"/>
                </a:lnTo>
                <a:lnTo>
                  <a:pt x="271272" y="23241"/>
                </a:lnTo>
                <a:lnTo>
                  <a:pt x="271272" y="22860"/>
                </a:lnTo>
                <a:lnTo>
                  <a:pt x="617220" y="22860"/>
                </a:lnTo>
                <a:lnTo>
                  <a:pt x="617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6" name="object 16"/>
          <p:cNvSpPr txBox="1"/>
          <p:nvPr/>
        </p:nvSpPr>
        <p:spPr>
          <a:xfrm>
            <a:off x="11713845" y="3802761"/>
            <a:ext cx="629601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36352" y="3745229"/>
            <a:ext cx="4371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83054" y="3349316"/>
            <a:ext cx="2309931" cy="154354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5112" y="401519"/>
            <a:ext cx="2305605" cy="154354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42836" y="3393893"/>
            <a:ext cx="2305605" cy="154354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248650" y="1846326"/>
            <a:ext cx="61912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0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00680" y="1834515"/>
            <a:ext cx="606743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07907" y="4745354"/>
            <a:ext cx="606743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46602" y="4733543"/>
            <a:ext cx="61912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4302" y="2198817"/>
            <a:ext cx="1157793" cy="77558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04302" y="5161473"/>
            <a:ext cx="1160523" cy="775583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6425671" y="3670172"/>
            <a:ext cx="86772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Ind.</a:t>
            </a:r>
            <a:endParaRPr sz="42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6028289" y="3118676"/>
            <a:ext cx="257175" cy="1858328"/>
          </a:xfrm>
          <a:custGeom>
            <a:avLst/>
            <a:gdLst/>
            <a:ahLst/>
            <a:cxnLst/>
            <a:rect l="l" t="t" r="r" b="b"/>
            <a:pathLst>
              <a:path w="171450" h="1238885">
                <a:moveTo>
                  <a:pt x="114300" y="142875"/>
                </a:moveTo>
                <a:lnTo>
                  <a:pt x="57150" y="142875"/>
                </a:lnTo>
                <a:lnTo>
                  <a:pt x="57150" y="200025"/>
                </a:lnTo>
                <a:lnTo>
                  <a:pt x="114300" y="200025"/>
                </a:lnTo>
                <a:lnTo>
                  <a:pt x="114300" y="142875"/>
                </a:lnTo>
                <a:close/>
              </a:path>
              <a:path w="171450" h="1238885">
                <a:moveTo>
                  <a:pt x="85725" y="0"/>
                </a:moveTo>
                <a:lnTo>
                  <a:pt x="0" y="171450"/>
                </a:lnTo>
                <a:lnTo>
                  <a:pt x="57150" y="171450"/>
                </a:lnTo>
                <a:lnTo>
                  <a:pt x="57150" y="142875"/>
                </a:lnTo>
                <a:lnTo>
                  <a:pt x="157162" y="142875"/>
                </a:lnTo>
                <a:lnTo>
                  <a:pt x="85725" y="0"/>
                </a:lnTo>
                <a:close/>
              </a:path>
              <a:path w="171450" h="1238885">
                <a:moveTo>
                  <a:pt x="157162" y="142875"/>
                </a:moveTo>
                <a:lnTo>
                  <a:pt x="114300" y="142875"/>
                </a:lnTo>
                <a:lnTo>
                  <a:pt x="114300" y="171450"/>
                </a:lnTo>
                <a:lnTo>
                  <a:pt x="171450" y="171450"/>
                </a:lnTo>
                <a:lnTo>
                  <a:pt x="157162" y="142875"/>
                </a:lnTo>
                <a:close/>
              </a:path>
              <a:path w="171450" h="1238885">
                <a:moveTo>
                  <a:pt x="114300" y="257175"/>
                </a:moveTo>
                <a:lnTo>
                  <a:pt x="57150" y="257175"/>
                </a:lnTo>
                <a:lnTo>
                  <a:pt x="57150" y="314325"/>
                </a:lnTo>
                <a:lnTo>
                  <a:pt x="114300" y="314325"/>
                </a:lnTo>
                <a:lnTo>
                  <a:pt x="114300" y="257175"/>
                </a:lnTo>
                <a:close/>
              </a:path>
              <a:path w="171450" h="1238885">
                <a:moveTo>
                  <a:pt x="114300" y="371475"/>
                </a:moveTo>
                <a:lnTo>
                  <a:pt x="57150" y="371475"/>
                </a:lnTo>
                <a:lnTo>
                  <a:pt x="57150" y="428625"/>
                </a:lnTo>
                <a:lnTo>
                  <a:pt x="114300" y="428625"/>
                </a:lnTo>
                <a:lnTo>
                  <a:pt x="114300" y="371475"/>
                </a:lnTo>
                <a:close/>
              </a:path>
              <a:path w="171450" h="1238885">
                <a:moveTo>
                  <a:pt x="114300" y="485775"/>
                </a:moveTo>
                <a:lnTo>
                  <a:pt x="57150" y="485775"/>
                </a:lnTo>
                <a:lnTo>
                  <a:pt x="57150" y="542925"/>
                </a:lnTo>
                <a:lnTo>
                  <a:pt x="114300" y="542925"/>
                </a:lnTo>
                <a:lnTo>
                  <a:pt x="114300" y="485775"/>
                </a:lnTo>
                <a:close/>
              </a:path>
              <a:path w="171450" h="1238885">
                <a:moveTo>
                  <a:pt x="114300" y="600075"/>
                </a:moveTo>
                <a:lnTo>
                  <a:pt x="57150" y="600075"/>
                </a:lnTo>
                <a:lnTo>
                  <a:pt x="57150" y="657225"/>
                </a:lnTo>
                <a:lnTo>
                  <a:pt x="114300" y="657225"/>
                </a:lnTo>
                <a:lnTo>
                  <a:pt x="114300" y="600075"/>
                </a:lnTo>
                <a:close/>
              </a:path>
              <a:path w="171450" h="1238885">
                <a:moveTo>
                  <a:pt x="114300" y="714375"/>
                </a:moveTo>
                <a:lnTo>
                  <a:pt x="57150" y="714375"/>
                </a:lnTo>
                <a:lnTo>
                  <a:pt x="57150" y="771525"/>
                </a:lnTo>
                <a:lnTo>
                  <a:pt x="114300" y="771525"/>
                </a:lnTo>
                <a:lnTo>
                  <a:pt x="114300" y="714375"/>
                </a:lnTo>
                <a:close/>
              </a:path>
              <a:path w="171450" h="1238885">
                <a:moveTo>
                  <a:pt x="114300" y="828675"/>
                </a:moveTo>
                <a:lnTo>
                  <a:pt x="57150" y="828675"/>
                </a:lnTo>
                <a:lnTo>
                  <a:pt x="57150" y="885825"/>
                </a:lnTo>
                <a:lnTo>
                  <a:pt x="114300" y="885825"/>
                </a:lnTo>
                <a:lnTo>
                  <a:pt x="114300" y="828675"/>
                </a:lnTo>
                <a:close/>
              </a:path>
              <a:path w="171450" h="1238885">
                <a:moveTo>
                  <a:pt x="114300" y="942975"/>
                </a:moveTo>
                <a:lnTo>
                  <a:pt x="57150" y="942975"/>
                </a:lnTo>
                <a:lnTo>
                  <a:pt x="57150" y="1000125"/>
                </a:lnTo>
                <a:lnTo>
                  <a:pt x="114300" y="1000125"/>
                </a:lnTo>
                <a:lnTo>
                  <a:pt x="114300" y="942975"/>
                </a:lnTo>
                <a:close/>
              </a:path>
              <a:path w="171450" h="1238885">
                <a:moveTo>
                  <a:pt x="57150" y="1066927"/>
                </a:moveTo>
                <a:lnTo>
                  <a:pt x="0" y="1066927"/>
                </a:lnTo>
                <a:lnTo>
                  <a:pt x="85725" y="1238377"/>
                </a:lnTo>
                <a:lnTo>
                  <a:pt x="157162" y="1095502"/>
                </a:lnTo>
                <a:lnTo>
                  <a:pt x="57150" y="1095502"/>
                </a:lnTo>
                <a:lnTo>
                  <a:pt x="57150" y="1066927"/>
                </a:lnTo>
                <a:close/>
              </a:path>
              <a:path w="171450" h="1238885">
                <a:moveTo>
                  <a:pt x="114300" y="1057275"/>
                </a:moveTo>
                <a:lnTo>
                  <a:pt x="57150" y="1057275"/>
                </a:lnTo>
                <a:lnTo>
                  <a:pt x="57150" y="1095502"/>
                </a:lnTo>
                <a:lnTo>
                  <a:pt x="114300" y="1095502"/>
                </a:lnTo>
                <a:lnTo>
                  <a:pt x="114300" y="1057275"/>
                </a:lnTo>
                <a:close/>
              </a:path>
              <a:path w="171450" h="1238885">
                <a:moveTo>
                  <a:pt x="171450" y="1066927"/>
                </a:moveTo>
                <a:lnTo>
                  <a:pt x="114300" y="1066927"/>
                </a:lnTo>
                <a:lnTo>
                  <a:pt x="114300" y="1095502"/>
                </a:lnTo>
                <a:lnTo>
                  <a:pt x="157162" y="1095502"/>
                </a:lnTo>
                <a:lnTo>
                  <a:pt x="171450" y="10669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grpSp>
        <p:nvGrpSpPr>
          <p:cNvPr id="33" name="object 33"/>
          <p:cNvGrpSpPr/>
          <p:nvPr/>
        </p:nvGrpSpPr>
        <p:grpSpPr>
          <a:xfrm>
            <a:off x="5278373" y="363473"/>
            <a:ext cx="9892664" cy="2993708"/>
            <a:chOff x="3518915" y="242315"/>
            <a:chExt cx="6595109" cy="1995805"/>
          </a:xfrm>
        </p:grpSpPr>
        <p:sp>
          <p:nvSpPr>
            <p:cNvPr id="34" name="object 34"/>
            <p:cNvSpPr/>
            <p:nvPr/>
          </p:nvSpPr>
          <p:spPr>
            <a:xfrm>
              <a:off x="3547490" y="270890"/>
              <a:ext cx="6537959" cy="1018540"/>
            </a:xfrm>
            <a:custGeom>
              <a:avLst/>
              <a:gdLst/>
              <a:ahLst/>
              <a:cxnLst/>
              <a:rect l="l" t="t" r="r" b="b"/>
              <a:pathLst>
                <a:path w="6537959" h="1018540">
                  <a:moveTo>
                    <a:pt x="0" y="1018031"/>
                  </a:moveTo>
                  <a:lnTo>
                    <a:pt x="6537959" y="1018031"/>
                  </a:lnTo>
                  <a:lnTo>
                    <a:pt x="6537959" y="0"/>
                  </a:lnTo>
                  <a:lnTo>
                    <a:pt x="0" y="0"/>
                  </a:lnTo>
                  <a:lnTo>
                    <a:pt x="0" y="1018031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5238749" y="1331594"/>
              <a:ext cx="171450" cy="906144"/>
            </a:xfrm>
            <a:custGeom>
              <a:avLst/>
              <a:gdLst/>
              <a:ahLst/>
              <a:cxnLst/>
              <a:rect l="l" t="t" r="r" b="b"/>
              <a:pathLst>
                <a:path w="171450" h="906144">
                  <a:moveTo>
                    <a:pt x="11430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114300" y="57150"/>
                  </a:lnTo>
                  <a:lnTo>
                    <a:pt x="114300" y="0"/>
                  </a:lnTo>
                  <a:close/>
                </a:path>
                <a:path w="171450" h="906144">
                  <a:moveTo>
                    <a:pt x="114300" y="114300"/>
                  </a:moveTo>
                  <a:lnTo>
                    <a:pt x="57150" y="114300"/>
                  </a:lnTo>
                  <a:lnTo>
                    <a:pt x="57150" y="171450"/>
                  </a:lnTo>
                  <a:lnTo>
                    <a:pt x="114300" y="171450"/>
                  </a:lnTo>
                  <a:lnTo>
                    <a:pt x="114300" y="114300"/>
                  </a:lnTo>
                  <a:close/>
                </a:path>
                <a:path w="171450" h="906144">
                  <a:moveTo>
                    <a:pt x="114300" y="228600"/>
                  </a:moveTo>
                  <a:lnTo>
                    <a:pt x="57150" y="228600"/>
                  </a:lnTo>
                  <a:lnTo>
                    <a:pt x="57150" y="285750"/>
                  </a:lnTo>
                  <a:lnTo>
                    <a:pt x="114300" y="285750"/>
                  </a:lnTo>
                  <a:lnTo>
                    <a:pt x="114300" y="228600"/>
                  </a:lnTo>
                  <a:close/>
                </a:path>
                <a:path w="171450" h="906144">
                  <a:moveTo>
                    <a:pt x="114300" y="342900"/>
                  </a:moveTo>
                  <a:lnTo>
                    <a:pt x="57150" y="342900"/>
                  </a:lnTo>
                  <a:lnTo>
                    <a:pt x="57150" y="400050"/>
                  </a:lnTo>
                  <a:lnTo>
                    <a:pt x="114300" y="400050"/>
                  </a:lnTo>
                  <a:lnTo>
                    <a:pt x="114300" y="342900"/>
                  </a:lnTo>
                  <a:close/>
                </a:path>
                <a:path w="171450" h="906144">
                  <a:moveTo>
                    <a:pt x="114300" y="457200"/>
                  </a:moveTo>
                  <a:lnTo>
                    <a:pt x="57150" y="457200"/>
                  </a:lnTo>
                  <a:lnTo>
                    <a:pt x="57150" y="514350"/>
                  </a:lnTo>
                  <a:lnTo>
                    <a:pt x="114300" y="514350"/>
                  </a:lnTo>
                  <a:lnTo>
                    <a:pt x="114300" y="457200"/>
                  </a:lnTo>
                  <a:close/>
                </a:path>
                <a:path w="171450" h="906144">
                  <a:moveTo>
                    <a:pt x="114300" y="571500"/>
                  </a:moveTo>
                  <a:lnTo>
                    <a:pt x="57150" y="571500"/>
                  </a:lnTo>
                  <a:lnTo>
                    <a:pt x="57150" y="628650"/>
                  </a:lnTo>
                  <a:lnTo>
                    <a:pt x="114300" y="628650"/>
                  </a:lnTo>
                  <a:lnTo>
                    <a:pt x="114300" y="571500"/>
                  </a:lnTo>
                  <a:close/>
                </a:path>
                <a:path w="171450" h="906144">
                  <a:moveTo>
                    <a:pt x="57150" y="734567"/>
                  </a:moveTo>
                  <a:lnTo>
                    <a:pt x="0" y="734567"/>
                  </a:lnTo>
                  <a:lnTo>
                    <a:pt x="85725" y="906017"/>
                  </a:lnTo>
                  <a:lnTo>
                    <a:pt x="167258" y="742950"/>
                  </a:lnTo>
                  <a:lnTo>
                    <a:pt x="57150" y="742950"/>
                  </a:lnTo>
                  <a:lnTo>
                    <a:pt x="57150" y="734567"/>
                  </a:lnTo>
                  <a:close/>
                </a:path>
                <a:path w="171450" h="906144">
                  <a:moveTo>
                    <a:pt x="114300" y="685800"/>
                  </a:moveTo>
                  <a:lnTo>
                    <a:pt x="57150" y="685800"/>
                  </a:lnTo>
                  <a:lnTo>
                    <a:pt x="57150" y="742950"/>
                  </a:lnTo>
                  <a:lnTo>
                    <a:pt x="114300" y="742950"/>
                  </a:lnTo>
                  <a:lnTo>
                    <a:pt x="114300" y="685800"/>
                  </a:lnTo>
                  <a:close/>
                </a:path>
                <a:path w="171450" h="906144">
                  <a:moveTo>
                    <a:pt x="171450" y="734567"/>
                  </a:moveTo>
                  <a:lnTo>
                    <a:pt x="114300" y="734567"/>
                  </a:lnTo>
                  <a:lnTo>
                    <a:pt x="114300" y="742950"/>
                  </a:lnTo>
                  <a:lnTo>
                    <a:pt x="167258" y="742950"/>
                  </a:lnTo>
                  <a:lnTo>
                    <a:pt x="171450" y="73456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653915" y="6405371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libri" panose="020F0502020204030204"/>
                <a:cs typeface="Calibri" panose="020F0502020204030204"/>
              </a:rPr>
              <a:t>=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5691" y="6020507"/>
            <a:ext cx="2305605" cy="1543541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529457" y="7360539"/>
            <a:ext cx="61912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67469" y="6124194"/>
            <a:ext cx="2358008" cy="1571625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0534268" y="7591044"/>
            <a:ext cx="619125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0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447026" y="6510146"/>
            <a:ext cx="1844040" cy="662939"/>
          </a:xfrm>
          <a:custGeom>
            <a:avLst/>
            <a:gdLst/>
            <a:ahLst/>
            <a:cxnLst/>
            <a:rect l="l" t="t" r="r" b="b"/>
            <a:pathLst>
              <a:path w="1229360" h="441960">
                <a:moveTo>
                  <a:pt x="1229105" y="0"/>
                </a:moveTo>
                <a:lnTo>
                  <a:pt x="258317" y="126"/>
                </a:lnTo>
                <a:lnTo>
                  <a:pt x="222503" y="126"/>
                </a:lnTo>
                <a:lnTo>
                  <a:pt x="117093" y="395350"/>
                </a:lnTo>
                <a:lnTo>
                  <a:pt x="57023" y="261238"/>
                </a:lnTo>
                <a:lnTo>
                  <a:pt x="0" y="287274"/>
                </a:lnTo>
                <a:lnTo>
                  <a:pt x="5333" y="300354"/>
                </a:lnTo>
                <a:lnTo>
                  <a:pt x="34670" y="287274"/>
                </a:lnTo>
                <a:lnTo>
                  <a:pt x="106679" y="441959"/>
                </a:lnTo>
                <a:lnTo>
                  <a:pt x="123570" y="441959"/>
                </a:lnTo>
                <a:lnTo>
                  <a:pt x="236474" y="23113"/>
                </a:lnTo>
                <a:lnTo>
                  <a:pt x="271271" y="23113"/>
                </a:lnTo>
                <a:lnTo>
                  <a:pt x="271271" y="22859"/>
                </a:lnTo>
                <a:lnTo>
                  <a:pt x="1229105" y="22859"/>
                </a:lnTo>
                <a:lnTo>
                  <a:pt x="12291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42" name="object 42"/>
          <p:cNvSpPr txBox="1"/>
          <p:nvPr/>
        </p:nvSpPr>
        <p:spPr>
          <a:xfrm>
            <a:off x="7777733" y="6455283"/>
            <a:ext cx="154686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347335" y="6483857"/>
            <a:ext cx="1856423" cy="662939"/>
          </a:xfrm>
          <a:custGeom>
            <a:avLst/>
            <a:gdLst/>
            <a:ahLst/>
            <a:cxnLst/>
            <a:rect l="l" t="t" r="r" b="b"/>
            <a:pathLst>
              <a:path w="1237614" h="441960">
                <a:moveTo>
                  <a:pt x="1237488" y="0"/>
                </a:moveTo>
                <a:lnTo>
                  <a:pt x="258318" y="0"/>
                </a:lnTo>
                <a:lnTo>
                  <a:pt x="222504" y="0"/>
                </a:lnTo>
                <a:lnTo>
                  <a:pt x="117094" y="395350"/>
                </a:lnTo>
                <a:lnTo>
                  <a:pt x="56896" y="261238"/>
                </a:lnTo>
                <a:lnTo>
                  <a:pt x="0" y="287273"/>
                </a:lnTo>
                <a:lnTo>
                  <a:pt x="5334" y="300354"/>
                </a:lnTo>
                <a:lnTo>
                  <a:pt x="34671" y="287273"/>
                </a:lnTo>
                <a:lnTo>
                  <a:pt x="106680" y="441959"/>
                </a:lnTo>
                <a:lnTo>
                  <a:pt x="123444" y="441959"/>
                </a:lnTo>
                <a:lnTo>
                  <a:pt x="236474" y="23113"/>
                </a:lnTo>
                <a:lnTo>
                  <a:pt x="271145" y="23113"/>
                </a:lnTo>
                <a:lnTo>
                  <a:pt x="271145" y="22859"/>
                </a:lnTo>
                <a:lnTo>
                  <a:pt x="1237488" y="22859"/>
                </a:lnTo>
                <a:lnTo>
                  <a:pt x="1237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44" name="object 44"/>
          <p:cNvSpPr txBox="1"/>
          <p:nvPr/>
        </p:nvSpPr>
        <p:spPr>
          <a:xfrm>
            <a:off x="5678041" y="6428994"/>
            <a:ext cx="155829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1 −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725287" y="9013545"/>
            <a:ext cx="913448" cy="662939"/>
          </a:xfrm>
          <a:custGeom>
            <a:avLst/>
            <a:gdLst/>
            <a:ahLst/>
            <a:cxnLst/>
            <a:rect l="l" t="t" r="r" b="b"/>
            <a:pathLst>
              <a:path w="608964" h="441960">
                <a:moveTo>
                  <a:pt x="608838" y="0"/>
                </a:moveTo>
                <a:lnTo>
                  <a:pt x="258317" y="76"/>
                </a:lnTo>
                <a:lnTo>
                  <a:pt x="222630" y="76"/>
                </a:lnTo>
                <a:lnTo>
                  <a:pt x="117093" y="395376"/>
                </a:lnTo>
                <a:lnTo>
                  <a:pt x="57022" y="261239"/>
                </a:lnTo>
                <a:lnTo>
                  <a:pt x="0" y="287299"/>
                </a:lnTo>
                <a:lnTo>
                  <a:pt x="5461" y="300329"/>
                </a:lnTo>
                <a:lnTo>
                  <a:pt x="34797" y="287299"/>
                </a:lnTo>
                <a:lnTo>
                  <a:pt x="106679" y="441947"/>
                </a:lnTo>
                <a:lnTo>
                  <a:pt x="123570" y="441947"/>
                </a:lnTo>
                <a:lnTo>
                  <a:pt x="236474" y="23190"/>
                </a:lnTo>
                <a:lnTo>
                  <a:pt x="271271" y="23190"/>
                </a:lnTo>
                <a:lnTo>
                  <a:pt x="271271" y="22859"/>
                </a:lnTo>
                <a:lnTo>
                  <a:pt x="608838" y="22859"/>
                </a:lnTo>
                <a:lnTo>
                  <a:pt x="608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46" name="object 46"/>
          <p:cNvSpPr txBox="1"/>
          <p:nvPr/>
        </p:nvSpPr>
        <p:spPr>
          <a:xfrm>
            <a:off x="3229355" y="8978265"/>
            <a:ext cx="4371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798189" y="9015336"/>
            <a:ext cx="1856423" cy="662939"/>
          </a:xfrm>
          <a:custGeom>
            <a:avLst/>
            <a:gdLst/>
            <a:ahLst/>
            <a:cxnLst/>
            <a:rect l="l" t="t" r="r" b="b"/>
            <a:pathLst>
              <a:path w="1237614" h="441960">
                <a:moveTo>
                  <a:pt x="1237488" y="0"/>
                </a:moveTo>
                <a:lnTo>
                  <a:pt x="258318" y="76"/>
                </a:lnTo>
                <a:lnTo>
                  <a:pt x="222503" y="76"/>
                </a:lnTo>
                <a:lnTo>
                  <a:pt x="117094" y="395376"/>
                </a:lnTo>
                <a:lnTo>
                  <a:pt x="56896" y="261239"/>
                </a:lnTo>
                <a:lnTo>
                  <a:pt x="0" y="287299"/>
                </a:lnTo>
                <a:lnTo>
                  <a:pt x="5334" y="300329"/>
                </a:lnTo>
                <a:lnTo>
                  <a:pt x="34671" y="287299"/>
                </a:lnTo>
                <a:lnTo>
                  <a:pt x="106679" y="441947"/>
                </a:lnTo>
                <a:lnTo>
                  <a:pt x="123444" y="441947"/>
                </a:lnTo>
                <a:lnTo>
                  <a:pt x="236474" y="23190"/>
                </a:lnTo>
                <a:lnTo>
                  <a:pt x="271145" y="23190"/>
                </a:lnTo>
                <a:lnTo>
                  <a:pt x="271145" y="22860"/>
                </a:lnTo>
                <a:lnTo>
                  <a:pt x="1237488" y="22860"/>
                </a:lnTo>
                <a:lnTo>
                  <a:pt x="1237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48" name="object 48"/>
          <p:cNvSpPr txBox="1"/>
          <p:nvPr/>
        </p:nvSpPr>
        <p:spPr>
          <a:xfrm>
            <a:off x="4216526" y="8960738"/>
            <a:ext cx="258222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335405" algn="l"/>
              </a:tabLst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1 −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4615" baseline="-15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9871" y="8521008"/>
            <a:ext cx="2304497" cy="1543539"/>
          </a:xfrm>
          <a:prstGeom prst="rect">
            <a:avLst/>
          </a:prstGeom>
        </p:spPr>
      </p:pic>
      <p:sp>
        <p:nvSpPr>
          <p:cNvPr id="50" name="object 50"/>
          <p:cNvSpPr/>
          <p:nvPr/>
        </p:nvSpPr>
        <p:spPr>
          <a:xfrm>
            <a:off x="10335895" y="8999715"/>
            <a:ext cx="926783" cy="662939"/>
          </a:xfrm>
          <a:custGeom>
            <a:avLst/>
            <a:gdLst/>
            <a:ahLst/>
            <a:cxnLst/>
            <a:rect l="l" t="t" r="r" b="b"/>
            <a:pathLst>
              <a:path w="617854" h="441960">
                <a:moveTo>
                  <a:pt x="617346" y="0"/>
                </a:moveTo>
                <a:lnTo>
                  <a:pt x="258444" y="76"/>
                </a:lnTo>
                <a:lnTo>
                  <a:pt x="222630" y="76"/>
                </a:lnTo>
                <a:lnTo>
                  <a:pt x="117220" y="395376"/>
                </a:lnTo>
                <a:lnTo>
                  <a:pt x="57023" y="261238"/>
                </a:lnTo>
                <a:lnTo>
                  <a:pt x="0" y="287299"/>
                </a:lnTo>
                <a:lnTo>
                  <a:pt x="5460" y="300329"/>
                </a:lnTo>
                <a:lnTo>
                  <a:pt x="34798" y="287299"/>
                </a:lnTo>
                <a:lnTo>
                  <a:pt x="106679" y="441947"/>
                </a:lnTo>
                <a:lnTo>
                  <a:pt x="123570" y="441947"/>
                </a:lnTo>
                <a:lnTo>
                  <a:pt x="236600" y="23190"/>
                </a:lnTo>
                <a:lnTo>
                  <a:pt x="271271" y="23190"/>
                </a:lnTo>
                <a:lnTo>
                  <a:pt x="271271" y="22859"/>
                </a:lnTo>
                <a:lnTo>
                  <a:pt x="617346" y="22859"/>
                </a:lnTo>
                <a:lnTo>
                  <a:pt x="617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51" name="object 51"/>
          <p:cNvSpPr txBox="1"/>
          <p:nvPr/>
        </p:nvSpPr>
        <p:spPr>
          <a:xfrm>
            <a:off x="10667363" y="8945117"/>
            <a:ext cx="629601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637522" y="8971026"/>
            <a:ext cx="4371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53" name="object 5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18083" y="8574377"/>
            <a:ext cx="2309931" cy="1544627"/>
          </a:xfrm>
          <a:prstGeom prst="rect">
            <a:avLst/>
          </a:prstGeom>
        </p:spPr>
      </p:pic>
      <p:sp>
        <p:nvSpPr>
          <p:cNvPr id="54" name="object 4"/>
          <p:cNvSpPr txBox="1">
            <a:spLocks noGrp="1"/>
          </p:cNvSpPr>
          <p:nvPr>
            <p:ph type="title"/>
          </p:nvPr>
        </p:nvSpPr>
        <p:spPr>
          <a:xfrm>
            <a:off x="15262225" y="5216525"/>
            <a:ext cx="3209502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2795" algn="l"/>
              </a:tabLst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~𝒩</a:t>
            </a:r>
            <a:r>
              <a:rPr lang="en-US" sz="42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4200" spc="-10" dirty="0">
                <a:latin typeface="Cambria Math" panose="02040503050406030204"/>
                <a:cs typeface="Cambria Math" panose="02040503050406030204"/>
              </a:rPr>
              <a:t>𝟎,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𝐼</a:t>
            </a:r>
            <a:r>
              <a:rPr lang="en-US" sz="4200" spc="-50" dirty="0">
                <a:latin typeface="Cambria Math" panose="02040503050406030204"/>
                <a:cs typeface="Cambria Math" panose="02040503050406030204"/>
              </a:rPr>
              <a:t>)</a:t>
            </a:r>
          </a:p>
        </p:txBody>
      </p:sp>
      <p:sp>
        <p:nvSpPr>
          <p:cNvPr id="55" name="object 4"/>
          <p:cNvSpPr txBox="1">
            <a:spLocks noGrp="1"/>
          </p:cNvSpPr>
          <p:nvPr/>
        </p:nvSpPr>
        <p:spPr>
          <a:xfrm>
            <a:off x="15264765" y="2253615"/>
            <a:ext cx="3209502" cy="6654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20002" rIns="0" bIns="0" numCol="1" rtlCol="0" anchor="b" anchorCtr="0" compatLnSpc="1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2795" algn="l"/>
              </a:tabLst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~𝒩</a:t>
            </a:r>
            <a:r>
              <a:rPr lang="en-US" sz="42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4200" spc="-10" dirty="0">
                <a:latin typeface="Cambria Math" panose="02040503050406030204"/>
                <a:cs typeface="Cambria Math" panose="02040503050406030204"/>
              </a:rPr>
              <a:t>𝟎,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𝐼</a:t>
            </a:r>
            <a:r>
              <a:rPr lang="en-US" sz="4200" spc="-50" dirty="0">
                <a:latin typeface="Cambria Math" panose="02040503050406030204"/>
                <a:cs typeface="Cambria Math" panose="02040503050406030204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5644" y="1384974"/>
            <a:ext cx="1157793" cy="77449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56105" y="2552700"/>
            <a:ext cx="3360611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2795" algn="l"/>
              </a:tabLst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~𝒩</a:t>
            </a:r>
            <a:r>
              <a:rPr lang="en-US" sz="42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4200" spc="-10" dirty="0">
                <a:latin typeface="Cambria Math" panose="02040503050406030204"/>
                <a:cs typeface="Cambria Math" panose="02040503050406030204"/>
              </a:rPr>
              <a:t>𝟎,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𝐼</a:t>
            </a:r>
            <a:r>
              <a:rPr lang="en-US" sz="4200" spc="-50" dirty="0">
                <a:latin typeface="Cambria Math" panose="02040503050406030204"/>
                <a:cs typeface="Cambria Math" panose="02040503050406030204"/>
              </a:rPr>
              <a:t>)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95644" y="2478852"/>
            <a:ext cx="1160523" cy="7755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168140" y="1874520"/>
            <a:ext cx="304800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spc="-50" dirty="0">
                <a:latin typeface="Calibri" panose="020F0502020204030204"/>
                <a:cs typeface="Calibri" panose="020F0502020204030204"/>
              </a:rPr>
              <a:t>=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9916" y="1490798"/>
            <a:ext cx="2305605" cy="15435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81782" y="2830067"/>
            <a:ext cx="3228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𝑥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60675" y="3082670"/>
            <a:ext cx="263843" cy="491490"/>
          </a:xfrm>
          <a:prstGeom prst="rect">
            <a:avLst/>
          </a:prstGeom>
        </p:spPr>
        <p:txBody>
          <a:bodyPr vert="horz" wrap="square" lIns="0" tIns="180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75" spc="-50" dirty="0">
                <a:latin typeface="Cambria Math" panose="02040503050406030204"/>
                <a:cs typeface="Cambria Math" panose="02040503050406030204"/>
              </a:rPr>
              <a:t>2</a:t>
            </a:r>
            <a:endParaRPr sz="3075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81694" y="1594484"/>
            <a:ext cx="2358008" cy="157162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048493" y="3060190"/>
            <a:ext cx="619125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𝑥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0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61251" y="1980057"/>
            <a:ext cx="1844040" cy="662939"/>
          </a:xfrm>
          <a:custGeom>
            <a:avLst/>
            <a:gdLst/>
            <a:ahLst/>
            <a:cxnLst/>
            <a:rect l="l" t="t" r="r" b="b"/>
            <a:pathLst>
              <a:path w="1229360" h="441960">
                <a:moveTo>
                  <a:pt x="1229105" y="0"/>
                </a:moveTo>
                <a:lnTo>
                  <a:pt x="258317" y="126"/>
                </a:lnTo>
                <a:lnTo>
                  <a:pt x="222503" y="126"/>
                </a:lnTo>
                <a:lnTo>
                  <a:pt x="117093" y="395477"/>
                </a:lnTo>
                <a:lnTo>
                  <a:pt x="57023" y="261238"/>
                </a:lnTo>
                <a:lnTo>
                  <a:pt x="0" y="287400"/>
                </a:lnTo>
                <a:lnTo>
                  <a:pt x="5333" y="300354"/>
                </a:lnTo>
                <a:lnTo>
                  <a:pt x="34670" y="287400"/>
                </a:lnTo>
                <a:lnTo>
                  <a:pt x="106679" y="441960"/>
                </a:lnTo>
                <a:lnTo>
                  <a:pt x="123570" y="441960"/>
                </a:lnTo>
                <a:lnTo>
                  <a:pt x="236474" y="23240"/>
                </a:lnTo>
                <a:lnTo>
                  <a:pt x="271271" y="23240"/>
                </a:lnTo>
                <a:lnTo>
                  <a:pt x="271271" y="22860"/>
                </a:lnTo>
                <a:lnTo>
                  <a:pt x="1229105" y="22860"/>
                </a:lnTo>
                <a:lnTo>
                  <a:pt x="12291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5" name="object 15"/>
          <p:cNvSpPr txBox="1"/>
          <p:nvPr/>
        </p:nvSpPr>
        <p:spPr>
          <a:xfrm>
            <a:off x="7291958" y="1924812"/>
            <a:ext cx="154590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61559" y="1953767"/>
            <a:ext cx="1856423" cy="662939"/>
          </a:xfrm>
          <a:custGeom>
            <a:avLst/>
            <a:gdLst/>
            <a:ahLst/>
            <a:cxnLst/>
            <a:rect l="l" t="t" r="r" b="b"/>
            <a:pathLst>
              <a:path w="1237614" h="441960">
                <a:moveTo>
                  <a:pt x="1237488" y="0"/>
                </a:moveTo>
                <a:lnTo>
                  <a:pt x="258318" y="126"/>
                </a:lnTo>
                <a:lnTo>
                  <a:pt x="222504" y="126"/>
                </a:lnTo>
                <a:lnTo>
                  <a:pt x="117094" y="395350"/>
                </a:lnTo>
                <a:lnTo>
                  <a:pt x="56896" y="261238"/>
                </a:lnTo>
                <a:lnTo>
                  <a:pt x="0" y="287274"/>
                </a:lnTo>
                <a:lnTo>
                  <a:pt x="5334" y="300354"/>
                </a:lnTo>
                <a:lnTo>
                  <a:pt x="34671" y="287274"/>
                </a:lnTo>
                <a:lnTo>
                  <a:pt x="106680" y="441960"/>
                </a:lnTo>
                <a:lnTo>
                  <a:pt x="123444" y="441960"/>
                </a:lnTo>
                <a:lnTo>
                  <a:pt x="236474" y="23240"/>
                </a:lnTo>
                <a:lnTo>
                  <a:pt x="271145" y="23240"/>
                </a:lnTo>
                <a:lnTo>
                  <a:pt x="271145" y="22860"/>
                </a:lnTo>
                <a:lnTo>
                  <a:pt x="1237488" y="22860"/>
                </a:lnTo>
                <a:lnTo>
                  <a:pt x="1237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7" name="object 17"/>
          <p:cNvSpPr txBox="1"/>
          <p:nvPr/>
        </p:nvSpPr>
        <p:spPr>
          <a:xfrm>
            <a:off x="5192267" y="1898522"/>
            <a:ext cx="155829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1 −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030337" y="4498848"/>
            <a:ext cx="913448" cy="662939"/>
          </a:xfrm>
          <a:custGeom>
            <a:avLst/>
            <a:gdLst/>
            <a:ahLst/>
            <a:cxnLst/>
            <a:rect l="l" t="t" r="r" b="b"/>
            <a:pathLst>
              <a:path w="608964" h="441960">
                <a:moveTo>
                  <a:pt x="608838" y="0"/>
                </a:moveTo>
                <a:lnTo>
                  <a:pt x="258317" y="0"/>
                </a:lnTo>
                <a:lnTo>
                  <a:pt x="222630" y="0"/>
                </a:lnTo>
                <a:lnTo>
                  <a:pt x="117093" y="395350"/>
                </a:lnTo>
                <a:lnTo>
                  <a:pt x="57022" y="261238"/>
                </a:lnTo>
                <a:lnTo>
                  <a:pt x="0" y="287273"/>
                </a:lnTo>
                <a:lnTo>
                  <a:pt x="5461" y="300354"/>
                </a:lnTo>
                <a:lnTo>
                  <a:pt x="34797" y="287273"/>
                </a:lnTo>
                <a:lnTo>
                  <a:pt x="106679" y="441959"/>
                </a:lnTo>
                <a:lnTo>
                  <a:pt x="123570" y="441959"/>
                </a:lnTo>
                <a:lnTo>
                  <a:pt x="236474" y="23113"/>
                </a:lnTo>
                <a:lnTo>
                  <a:pt x="271271" y="23113"/>
                </a:lnTo>
                <a:lnTo>
                  <a:pt x="271271" y="22859"/>
                </a:lnTo>
                <a:lnTo>
                  <a:pt x="608838" y="22859"/>
                </a:lnTo>
                <a:lnTo>
                  <a:pt x="608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9" name="object 19"/>
          <p:cNvSpPr txBox="1"/>
          <p:nvPr/>
        </p:nvSpPr>
        <p:spPr>
          <a:xfrm>
            <a:off x="5553455" y="4405502"/>
            <a:ext cx="418148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03239" y="4500563"/>
            <a:ext cx="1856423" cy="662939"/>
          </a:xfrm>
          <a:custGeom>
            <a:avLst/>
            <a:gdLst/>
            <a:ahLst/>
            <a:cxnLst/>
            <a:rect l="l" t="t" r="r" b="b"/>
            <a:pathLst>
              <a:path w="1237614" h="441960">
                <a:moveTo>
                  <a:pt x="1237488" y="0"/>
                </a:moveTo>
                <a:lnTo>
                  <a:pt x="258318" y="126"/>
                </a:lnTo>
                <a:lnTo>
                  <a:pt x="222503" y="126"/>
                </a:lnTo>
                <a:lnTo>
                  <a:pt x="117094" y="395350"/>
                </a:lnTo>
                <a:lnTo>
                  <a:pt x="56896" y="261238"/>
                </a:lnTo>
                <a:lnTo>
                  <a:pt x="0" y="287274"/>
                </a:lnTo>
                <a:lnTo>
                  <a:pt x="5334" y="300354"/>
                </a:lnTo>
                <a:lnTo>
                  <a:pt x="34671" y="287274"/>
                </a:lnTo>
                <a:lnTo>
                  <a:pt x="106679" y="441960"/>
                </a:lnTo>
                <a:lnTo>
                  <a:pt x="123444" y="441960"/>
                </a:lnTo>
                <a:lnTo>
                  <a:pt x="236474" y="23240"/>
                </a:lnTo>
                <a:lnTo>
                  <a:pt x="271145" y="23240"/>
                </a:lnTo>
                <a:lnTo>
                  <a:pt x="271145" y="22860"/>
                </a:lnTo>
                <a:lnTo>
                  <a:pt x="1237488" y="22860"/>
                </a:lnTo>
                <a:lnTo>
                  <a:pt x="1237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21" name="object 21"/>
          <p:cNvSpPr txBox="1"/>
          <p:nvPr/>
        </p:nvSpPr>
        <p:spPr>
          <a:xfrm>
            <a:off x="6461760" y="4445635"/>
            <a:ext cx="266065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22705" algn="l"/>
              </a:tabLst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1 −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4615" baseline="-15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324920" y="4005425"/>
            <a:ext cx="4940618" cy="1544954"/>
            <a:chOff x="6216613" y="2670283"/>
            <a:chExt cx="3293745" cy="1029969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6613" y="2670283"/>
              <a:ext cx="1536331" cy="102975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892539" y="2946781"/>
              <a:ext cx="617855" cy="441959"/>
            </a:xfrm>
            <a:custGeom>
              <a:avLst/>
              <a:gdLst/>
              <a:ahLst/>
              <a:cxnLst/>
              <a:rect l="l" t="t" r="r" b="b"/>
              <a:pathLst>
                <a:path w="617854" h="441960">
                  <a:moveTo>
                    <a:pt x="617346" y="0"/>
                  </a:moveTo>
                  <a:lnTo>
                    <a:pt x="258444" y="0"/>
                  </a:lnTo>
                  <a:lnTo>
                    <a:pt x="222630" y="127"/>
                  </a:lnTo>
                  <a:lnTo>
                    <a:pt x="117220" y="395351"/>
                  </a:lnTo>
                  <a:lnTo>
                    <a:pt x="57023" y="261239"/>
                  </a:lnTo>
                  <a:lnTo>
                    <a:pt x="0" y="287274"/>
                  </a:lnTo>
                  <a:lnTo>
                    <a:pt x="5460" y="300355"/>
                  </a:lnTo>
                  <a:lnTo>
                    <a:pt x="34798" y="287274"/>
                  </a:lnTo>
                  <a:lnTo>
                    <a:pt x="106679" y="441960"/>
                  </a:lnTo>
                  <a:lnTo>
                    <a:pt x="123570" y="441960"/>
                  </a:lnTo>
                  <a:lnTo>
                    <a:pt x="236600" y="23241"/>
                  </a:lnTo>
                  <a:lnTo>
                    <a:pt x="271271" y="23241"/>
                  </a:lnTo>
                  <a:lnTo>
                    <a:pt x="271271" y="22860"/>
                  </a:lnTo>
                  <a:lnTo>
                    <a:pt x="617346" y="22860"/>
                  </a:lnTo>
                  <a:lnTo>
                    <a:pt x="6173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3689328" y="4365116"/>
            <a:ext cx="610551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293727" y="4391786"/>
            <a:ext cx="41814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423535" y="3749040"/>
            <a:ext cx="11558588" cy="1948815"/>
            <a:chOff x="3615690" y="2499360"/>
            <a:chExt cx="7705725" cy="129921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80666" y="2663407"/>
              <a:ext cx="1539954" cy="102902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644265" y="2527935"/>
              <a:ext cx="7648575" cy="1242060"/>
            </a:xfrm>
            <a:custGeom>
              <a:avLst/>
              <a:gdLst/>
              <a:ahLst/>
              <a:cxnLst/>
              <a:rect l="l" t="t" r="r" b="b"/>
              <a:pathLst>
                <a:path w="7648575" h="1242060">
                  <a:moveTo>
                    <a:pt x="0" y="1242059"/>
                  </a:moveTo>
                  <a:lnTo>
                    <a:pt x="7648194" y="1242059"/>
                  </a:lnTo>
                  <a:lnTo>
                    <a:pt x="7648194" y="0"/>
                  </a:lnTo>
                  <a:lnTo>
                    <a:pt x="0" y="0"/>
                  </a:lnTo>
                  <a:lnTo>
                    <a:pt x="0" y="1242059"/>
                  </a:lnTo>
                  <a:close/>
                </a:path>
              </a:pathLst>
            </a:custGeom>
            <a:ln w="57149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sz="100"/>
            </a:p>
          </p:txBody>
        </p:sp>
      </p:grp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22515" y="6149025"/>
            <a:ext cx="1160523" cy="775583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6258687" y="8158542"/>
            <a:ext cx="5128260" cy="662939"/>
          </a:xfrm>
          <a:custGeom>
            <a:avLst/>
            <a:gdLst/>
            <a:ahLst/>
            <a:cxnLst/>
            <a:rect l="l" t="t" r="r" b="b"/>
            <a:pathLst>
              <a:path w="3418840" h="441960">
                <a:moveTo>
                  <a:pt x="1018921" y="96774"/>
                </a:moveTo>
                <a:lnTo>
                  <a:pt x="1014222" y="83439"/>
                </a:lnTo>
                <a:lnTo>
                  <a:pt x="990333" y="92062"/>
                </a:lnTo>
                <a:lnTo>
                  <a:pt x="969391" y="104571"/>
                </a:lnTo>
                <a:lnTo>
                  <a:pt x="936371" y="141224"/>
                </a:lnTo>
                <a:lnTo>
                  <a:pt x="915898" y="190207"/>
                </a:lnTo>
                <a:lnTo>
                  <a:pt x="909066" y="248348"/>
                </a:lnTo>
                <a:lnTo>
                  <a:pt x="910767" y="278638"/>
                </a:lnTo>
                <a:lnTo>
                  <a:pt x="924382" y="332193"/>
                </a:lnTo>
                <a:lnTo>
                  <a:pt x="951255" y="375653"/>
                </a:lnTo>
                <a:lnTo>
                  <a:pt x="990257" y="404456"/>
                </a:lnTo>
                <a:lnTo>
                  <a:pt x="1014222" y="413067"/>
                </a:lnTo>
                <a:lnTo>
                  <a:pt x="1018413" y="399681"/>
                </a:lnTo>
                <a:lnTo>
                  <a:pt x="999617" y="391375"/>
                </a:lnTo>
                <a:lnTo>
                  <a:pt x="983411" y="379793"/>
                </a:lnTo>
                <a:lnTo>
                  <a:pt x="958723" y="346862"/>
                </a:lnTo>
                <a:lnTo>
                  <a:pt x="944029" y="302082"/>
                </a:lnTo>
                <a:lnTo>
                  <a:pt x="939165" y="246608"/>
                </a:lnTo>
                <a:lnTo>
                  <a:pt x="940371" y="218490"/>
                </a:lnTo>
                <a:lnTo>
                  <a:pt x="950137" y="169710"/>
                </a:lnTo>
                <a:lnTo>
                  <a:pt x="969835" y="131241"/>
                </a:lnTo>
                <a:lnTo>
                  <a:pt x="999934" y="105117"/>
                </a:lnTo>
                <a:lnTo>
                  <a:pt x="1018921" y="96774"/>
                </a:lnTo>
                <a:close/>
              </a:path>
              <a:path w="3418840" h="441960">
                <a:moveTo>
                  <a:pt x="2120519" y="248348"/>
                </a:moveTo>
                <a:lnTo>
                  <a:pt x="2113737" y="190207"/>
                </a:lnTo>
                <a:lnTo>
                  <a:pt x="2093341" y="141224"/>
                </a:lnTo>
                <a:lnTo>
                  <a:pt x="2060206" y="104571"/>
                </a:lnTo>
                <a:lnTo>
                  <a:pt x="2015363" y="83439"/>
                </a:lnTo>
                <a:lnTo>
                  <a:pt x="2010664" y="96774"/>
                </a:lnTo>
                <a:lnTo>
                  <a:pt x="2029777" y="105117"/>
                </a:lnTo>
                <a:lnTo>
                  <a:pt x="2046198" y="116598"/>
                </a:lnTo>
                <a:lnTo>
                  <a:pt x="2070989" y="149047"/>
                </a:lnTo>
                <a:lnTo>
                  <a:pt x="2085555" y="192862"/>
                </a:lnTo>
                <a:lnTo>
                  <a:pt x="2090420" y="246608"/>
                </a:lnTo>
                <a:lnTo>
                  <a:pt x="2089200" y="275678"/>
                </a:lnTo>
                <a:lnTo>
                  <a:pt x="2079434" y="325818"/>
                </a:lnTo>
                <a:lnTo>
                  <a:pt x="2059838" y="364959"/>
                </a:lnTo>
                <a:lnTo>
                  <a:pt x="2029980" y="391375"/>
                </a:lnTo>
                <a:lnTo>
                  <a:pt x="2011172" y="399681"/>
                </a:lnTo>
                <a:lnTo>
                  <a:pt x="2015363" y="413067"/>
                </a:lnTo>
                <a:lnTo>
                  <a:pt x="2060295" y="391985"/>
                </a:lnTo>
                <a:lnTo>
                  <a:pt x="2093341" y="355460"/>
                </a:lnTo>
                <a:lnTo>
                  <a:pt x="2113737" y="306578"/>
                </a:lnTo>
                <a:lnTo>
                  <a:pt x="2118817" y="278638"/>
                </a:lnTo>
                <a:lnTo>
                  <a:pt x="2120519" y="248348"/>
                </a:lnTo>
                <a:close/>
              </a:path>
              <a:path w="3418840" h="441960">
                <a:moveTo>
                  <a:pt x="3418332" y="0"/>
                </a:moveTo>
                <a:lnTo>
                  <a:pt x="258318" y="0"/>
                </a:lnTo>
                <a:lnTo>
                  <a:pt x="222631" y="127"/>
                </a:lnTo>
                <a:lnTo>
                  <a:pt x="117094" y="395389"/>
                </a:lnTo>
                <a:lnTo>
                  <a:pt x="57023" y="261239"/>
                </a:lnTo>
                <a:lnTo>
                  <a:pt x="0" y="287312"/>
                </a:lnTo>
                <a:lnTo>
                  <a:pt x="5461" y="300342"/>
                </a:lnTo>
                <a:lnTo>
                  <a:pt x="34798" y="287312"/>
                </a:lnTo>
                <a:lnTo>
                  <a:pt x="106680" y="441947"/>
                </a:lnTo>
                <a:lnTo>
                  <a:pt x="123571" y="441947"/>
                </a:lnTo>
                <a:lnTo>
                  <a:pt x="236474" y="23241"/>
                </a:lnTo>
                <a:lnTo>
                  <a:pt x="271272" y="23241"/>
                </a:lnTo>
                <a:lnTo>
                  <a:pt x="271272" y="22860"/>
                </a:lnTo>
                <a:lnTo>
                  <a:pt x="3418332" y="22860"/>
                </a:lnTo>
                <a:lnTo>
                  <a:pt x="34183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34" name="object 34"/>
          <p:cNvSpPr txBox="1"/>
          <p:nvPr/>
        </p:nvSpPr>
        <p:spPr>
          <a:xfrm>
            <a:off x="6589394" y="8130158"/>
            <a:ext cx="294398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05180" algn="l"/>
              </a:tabLst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42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lang="en-US" sz="4200" dirty="0">
                <a:latin typeface="Cambria Math" panose="02040503050406030204"/>
                <a:cs typeface="Cambria Math" panose="02040503050406030204"/>
              </a:rPr>
              <a:t>   1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533382" y="8283701"/>
            <a:ext cx="1804988" cy="495300"/>
          </a:xfrm>
          <a:custGeom>
            <a:avLst/>
            <a:gdLst/>
            <a:ahLst/>
            <a:cxnLst/>
            <a:rect l="l" t="t" r="r" b="b"/>
            <a:pathLst>
              <a:path w="1203325" h="330200">
                <a:moveTo>
                  <a:pt x="1097914" y="0"/>
                </a:moveTo>
                <a:lnTo>
                  <a:pt x="1093215" y="13334"/>
                </a:lnTo>
                <a:lnTo>
                  <a:pt x="1112339" y="21670"/>
                </a:lnTo>
                <a:lnTo>
                  <a:pt x="1128760" y="33156"/>
                </a:lnTo>
                <a:lnTo>
                  <a:pt x="1153540" y="65608"/>
                </a:lnTo>
                <a:lnTo>
                  <a:pt x="1168114" y="109412"/>
                </a:lnTo>
                <a:lnTo>
                  <a:pt x="1172971" y="163169"/>
                </a:lnTo>
                <a:lnTo>
                  <a:pt x="1171755" y="192239"/>
                </a:lnTo>
                <a:lnTo>
                  <a:pt x="1161988" y="242368"/>
                </a:lnTo>
                <a:lnTo>
                  <a:pt x="1142390" y="281518"/>
                </a:lnTo>
                <a:lnTo>
                  <a:pt x="1112533" y="307927"/>
                </a:lnTo>
                <a:lnTo>
                  <a:pt x="1093723" y="316242"/>
                </a:lnTo>
                <a:lnTo>
                  <a:pt x="1097914" y="329628"/>
                </a:lnTo>
                <a:lnTo>
                  <a:pt x="1142857" y="308540"/>
                </a:lnTo>
                <a:lnTo>
                  <a:pt x="1175892" y="272021"/>
                </a:lnTo>
                <a:lnTo>
                  <a:pt x="1196292" y="223137"/>
                </a:lnTo>
                <a:lnTo>
                  <a:pt x="1203070" y="164909"/>
                </a:lnTo>
                <a:lnTo>
                  <a:pt x="1201378" y="134689"/>
                </a:lnTo>
                <a:lnTo>
                  <a:pt x="1187801" y="81125"/>
                </a:lnTo>
                <a:lnTo>
                  <a:pt x="1160797" y="37522"/>
                </a:lnTo>
                <a:lnTo>
                  <a:pt x="1121796" y="8618"/>
                </a:lnTo>
                <a:lnTo>
                  <a:pt x="1097914" y="0"/>
                </a:lnTo>
                <a:close/>
              </a:path>
              <a:path w="1203325" h="330200">
                <a:moveTo>
                  <a:pt x="105156" y="0"/>
                </a:moveTo>
                <a:lnTo>
                  <a:pt x="60325" y="21129"/>
                </a:lnTo>
                <a:lnTo>
                  <a:pt x="27304" y="57784"/>
                </a:lnTo>
                <a:lnTo>
                  <a:pt x="6842" y="106760"/>
                </a:lnTo>
                <a:lnTo>
                  <a:pt x="0" y="164909"/>
                </a:lnTo>
                <a:lnTo>
                  <a:pt x="1710" y="195192"/>
                </a:lnTo>
                <a:lnTo>
                  <a:pt x="15323" y="248746"/>
                </a:lnTo>
                <a:lnTo>
                  <a:pt x="42201" y="292209"/>
                </a:lnTo>
                <a:lnTo>
                  <a:pt x="81202" y="321013"/>
                </a:lnTo>
                <a:lnTo>
                  <a:pt x="105156" y="329628"/>
                </a:lnTo>
                <a:lnTo>
                  <a:pt x="109347" y="316242"/>
                </a:lnTo>
                <a:lnTo>
                  <a:pt x="90554" y="307927"/>
                </a:lnTo>
                <a:lnTo>
                  <a:pt x="74358" y="296352"/>
                </a:lnTo>
                <a:lnTo>
                  <a:pt x="49657" y="263423"/>
                </a:lnTo>
                <a:lnTo>
                  <a:pt x="34972" y="218640"/>
                </a:lnTo>
                <a:lnTo>
                  <a:pt x="30099" y="163169"/>
                </a:lnTo>
                <a:lnTo>
                  <a:pt x="31315" y="135047"/>
                </a:lnTo>
                <a:lnTo>
                  <a:pt x="41082" y="86265"/>
                </a:lnTo>
                <a:lnTo>
                  <a:pt x="60777" y="47800"/>
                </a:lnTo>
                <a:lnTo>
                  <a:pt x="90876" y="21670"/>
                </a:lnTo>
                <a:lnTo>
                  <a:pt x="109854" y="13334"/>
                </a:lnTo>
                <a:lnTo>
                  <a:pt x="1051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36" name="object 36"/>
          <p:cNvSpPr txBox="1"/>
          <p:nvPr/>
        </p:nvSpPr>
        <p:spPr>
          <a:xfrm>
            <a:off x="9651873" y="8130158"/>
            <a:ext cx="154590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1 −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20891" y="7996428"/>
            <a:ext cx="4371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817821" y="7528124"/>
            <a:ext cx="2311043" cy="1543541"/>
          </a:xfrm>
          <a:prstGeom prst="rect">
            <a:avLst/>
          </a:prstGeom>
        </p:spPr>
      </p:pic>
      <p:sp>
        <p:nvSpPr>
          <p:cNvPr id="39" name="object 4"/>
          <p:cNvSpPr txBox="1">
            <a:spLocks noGrp="1"/>
          </p:cNvSpPr>
          <p:nvPr/>
        </p:nvSpPr>
        <p:spPr>
          <a:xfrm>
            <a:off x="14553565" y="1439545"/>
            <a:ext cx="3363151" cy="6654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20002" rIns="0" bIns="0" numCol="1" rtlCol="0" anchor="b" anchorCtr="0" compatLnSpc="1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2795" algn="l"/>
              </a:tabLst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~𝒩</a:t>
            </a:r>
            <a:r>
              <a:rPr lang="en-US" sz="42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4200" spc="-10" dirty="0">
                <a:latin typeface="Cambria Math" panose="02040503050406030204"/>
                <a:cs typeface="Cambria Math" panose="02040503050406030204"/>
              </a:rPr>
              <a:t>𝟎,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𝐼</a:t>
            </a:r>
            <a:r>
              <a:rPr lang="en-US" sz="4200" spc="-50" dirty="0">
                <a:latin typeface="Cambria Math" panose="02040503050406030204"/>
                <a:cs typeface="Cambria Math" panose="02040503050406030204"/>
              </a:rPr>
              <a:t>)</a:t>
            </a:r>
          </a:p>
        </p:txBody>
      </p:sp>
      <p:sp>
        <p:nvSpPr>
          <p:cNvPr id="40" name="object 4"/>
          <p:cNvSpPr txBox="1">
            <a:spLocks noGrp="1"/>
          </p:cNvSpPr>
          <p:nvPr/>
        </p:nvSpPr>
        <p:spPr>
          <a:xfrm>
            <a:off x="14683105" y="6193155"/>
            <a:ext cx="3113828" cy="6654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20002" rIns="0" bIns="0" numCol="1" rtlCol="0" anchor="b" anchorCtr="0" compatLnSpc="1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2795" algn="l"/>
              </a:tabLst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~𝒩</a:t>
            </a:r>
            <a:r>
              <a:rPr lang="en-US" sz="42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4200" spc="-10" dirty="0">
                <a:latin typeface="Cambria Math" panose="02040503050406030204"/>
                <a:cs typeface="Cambria Math" panose="02040503050406030204"/>
              </a:rPr>
              <a:t>𝟎,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𝐼</a:t>
            </a:r>
            <a:r>
              <a:rPr lang="en-US" sz="4200" spc="-50" dirty="0">
                <a:latin typeface="Cambria Math" panose="02040503050406030204"/>
                <a:cs typeface="Cambria Math" panose="02040503050406030204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3858" y="823722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libri" panose="020F0502020204030204"/>
                <a:cs typeface="Calibri" panose="020F0502020204030204"/>
              </a:rPr>
              <a:t>=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818" y="1399794"/>
            <a:ext cx="277368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4200" spc="-40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60" baseline="-150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4200" spc="-4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0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0" baseline="-15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4200" spc="-2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4200" spc="-14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dirty="0">
                <a:latin typeface="Cambria Math" panose="02040503050406030204"/>
                <a:cs typeface="Cambria Math" panose="02040503050406030204"/>
              </a:rPr>
              <a:t>…</a:t>
            </a:r>
            <a:r>
              <a:rPr sz="4200" spc="-15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10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𝑇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91678" y="905445"/>
            <a:ext cx="1844040" cy="662939"/>
          </a:xfrm>
          <a:custGeom>
            <a:avLst/>
            <a:gdLst/>
            <a:ahLst/>
            <a:cxnLst/>
            <a:rect l="l" t="t" r="r" b="b"/>
            <a:pathLst>
              <a:path w="1229359" h="441959">
                <a:moveTo>
                  <a:pt x="1229105" y="0"/>
                </a:moveTo>
                <a:lnTo>
                  <a:pt x="258318" y="0"/>
                </a:lnTo>
                <a:lnTo>
                  <a:pt x="222631" y="127"/>
                </a:lnTo>
                <a:lnTo>
                  <a:pt x="117094" y="395478"/>
                </a:lnTo>
                <a:lnTo>
                  <a:pt x="57023" y="261239"/>
                </a:lnTo>
                <a:lnTo>
                  <a:pt x="0" y="287401"/>
                </a:lnTo>
                <a:lnTo>
                  <a:pt x="5461" y="300355"/>
                </a:lnTo>
                <a:lnTo>
                  <a:pt x="34798" y="287401"/>
                </a:lnTo>
                <a:lnTo>
                  <a:pt x="106680" y="441960"/>
                </a:lnTo>
                <a:lnTo>
                  <a:pt x="123571" y="441960"/>
                </a:lnTo>
                <a:lnTo>
                  <a:pt x="236474" y="23241"/>
                </a:lnTo>
                <a:lnTo>
                  <a:pt x="271272" y="23241"/>
                </a:lnTo>
                <a:lnTo>
                  <a:pt x="271272" y="22860"/>
                </a:lnTo>
                <a:lnTo>
                  <a:pt x="1229105" y="22860"/>
                </a:lnTo>
                <a:lnTo>
                  <a:pt x="12291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5" name="object 5"/>
          <p:cNvSpPr txBox="1"/>
          <p:nvPr/>
        </p:nvSpPr>
        <p:spPr>
          <a:xfrm>
            <a:off x="8422767" y="850011"/>
            <a:ext cx="154590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068997" y="921828"/>
            <a:ext cx="913448" cy="662939"/>
          </a:xfrm>
          <a:custGeom>
            <a:avLst/>
            <a:gdLst/>
            <a:ahLst/>
            <a:cxnLst/>
            <a:rect l="l" t="t" r="r" b="b"/>
            <a:pathLst>
              <a:path w="608965" h="441959">
                <a:moveTo>
                  <a:pt x="608838" y="0"/>
                </a:moveTo>
                <a:lnTo>
                  <a:pt x="258318" y="0"/>
                </a:lnTo>
                <a:lnTo>
                  <a:pt x="222630" y="0"/>
                </a:lnTo>
                <a:lnTo>
                  <a:pt x="117094" y="395350"/>
                </a:lnTo>
                <a:lnTo>
                  <a:pt x="57023" y="261238"/>
                </a:lnTo>
                <a:lnTo>
                  <a:pt x="0" y="287274"/>
                </a:lnTo>
                <a:lnTo>
                  <a:pt x="5334" y="300355"/>
                </a:lnTo>
                <a:lnTo>
                  <a:pt x="34798" y="287274"/>
                </a:lnTo>
                <a:lnTo>
                  <a:pt x="106679" y="441960"/>
                </a:lnTo>
                <a:lnTo>
                  <a:pt x="123571" y="441960"/>
                </a:lnTo>
                <a:lnTo>
                  <a:pt x="236474" y="23113"/>
                </a:lnTo>
                <a:lnTo>
                  <a:pt x="271272" y="23113"/>
                </a:lnTo>
                <a:lnTo>
                  <a:pt x="271272" y="22860"/>
                </a:lnTo>
                <a:lnTo>
                  <a:pt x="608838" y="22860"/>
                </a:lnTo>
                <a:lnTo>
                  <a:pt x="6088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7" name="object 7"/>
          <p:cNvSpPr txBox="1"/>
          <p:nvPr/>
        </p:nvSpPr>
        <p:spPr>
          <a:xfrm>
            <a:off x="14400275" y="866393"/>
            <a:ext cx="61722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1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17067" y="808863"/>
            <a:ext cx="4371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126" y="2745812"/>
            <a:ext cx="2304497" cy="154354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3390" y="412949"/>
            <a:ext cx="2304497" cy="154354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253858" y="2538984"/>
            <a:ext cx="304800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00" spc="-50" dirty="0">
                <a:latin typeface="Calibri" panose="020F0502020204030204"/>
                <a:cs typeface="Calibri" panose="020F0502020204030204"/>
              </a:rPr>
              <a:t>=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84819" y="2621280"/>
            <a:ext cx="1856423" cy="662939"/>
          </a:xfrm>
          <a:custGeom>
            <a:avLst/>
            <a:gdLst/>
            <a:ahLst/>
            <a:cxnLst/>
            <a:rect l="l" t="t" r="r" b="b"/>
            <a:pathLst>
              <a:path w="1237615" h="441960">
                <a:moveTo>
                  <a:pt x="1237488" y="0"/>
                </a:moveTo>
                <a:lnTo>
                  <a:pt x="258318" y="126"/>
                </a:lnTo>
                <a:lnTo>
                  <a:pt x="222631" y="126"/>
                </a:lnTo>
                <a:lnTo>
                  <a:pt x="117094" y="395350"/>
                </a:lnTo>
                <a:lnTo>
                  <a:pt x="57023" y="261238"/>
                </a:lnTo>
                <a:lnTo>
                  <a:pt x="0" y="287274"/>
                </a:lnTo>
                <a:lnTo>
                  <a:pt x="5461" y="300354"/>
                </a:lnTo>
                <a:lnTo>
                  <a:pt x="34798" y="287274"/>
                </a:lnTo>
                <a:lnTo>
                  <a:pt x="106680" y="441959"/>
                </a:lnTo>
                <a:lnTo>
                  <a:pt x="123571" y="441959"/>
                </a:lnTo>
                <a:lnTo>
                  <a:pt x="236474" y="23240"/>
                </a:lnTo>
                <a:lnTo>
                  <a:pt x="271272" y="23240"/>
                </a:lnTo>
                <a:lnTo>
                  <a:pt x="271272" y="22859"/>
                </a:lnTo>
                <a:lnTo>
                  <a:pt x="1237488" y="22859"/>
                </a:lnTo>
                <a:lnTo>
                  <a:pt x="1237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5" name="object 15"/>
          <p:cNvSpPr txBox="1"/>
          <p:nvPr/>
        </p:nvSpPr>
        <p:spPr>
          <a:xfrm>
            <a:off x="8415908" y="2566034"/>
            <a:ext cx="155829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1 −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063280" y="2637663"/>
            <a:ext cx="925830" cy="662939"/>
          </a:xfrm>
          <a:custGeom>
            <a:avLst/>
            <a:gdLst/>
            <a:ahLst/>
            <a:cxnLst/>
            <a:rect l="l" t="t" r="r" b="b"/>
            <a:pathLst>
              <a:path w="617220" h="441960">
                <a:moveTo>
                  <a:pt x="617220" y="0"/>
                </a:moveTo>
                <a:lnTo>
                  <a:pt x="258318" y="0"/>
                </a:lnTo>
                <a:lnTo>
                  <a:pt x="222630" y="0"/>
                </a:lnTo>
                <a:lnTo>
                  <a:pt x="117094" y="395350"/>
                </a:lnTo>
                <a:lnTo>
                  <a:pt x="57023" y="261112"/>
                </a:lnTo>
                <a:lnTo>
                  <a:pt x="0" y="287274"/>
                </a:lnTo>
                <a:lnTo>
                  <a:pt x="5333" y="300228"/>
                </a:lnTo>
                <a:lnTo>
                  <a:pt x="34798" y="287274"/>
                </a:lnTo>
                <a:lnTo>
                  <a:pt x="106679" y="441833"/>
                </a:lnTo>
                <a:lnTo>
                  <a:pt x="123571" y="441833"/>
                </a:lnTo>
                <a:lnTo>
                  <a:pt x="236474" y="23113"/>
                </a:lnTo>
                <a:lnTo>
                  <a:pt x="271272" y="23113"/>
                </a:lnTo>
                <a:lnTo>
                  <a:pt x="271272" y="22860"/>
                </a:lnTo>
                <a:lnTo>
                  <a:pt x="617220" y="22860"/>
                </a:lnTo>
                <a:lnTo>
                  <a:pt x="617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17" name="object 17"/>
          <p:cNvSpPr txBox="1"/>
          <p:nvPr/>
        </p:nvSpPr>
        <p:spPr>
          <a:xfrm>
            <a:off x="14394560" y="2582417"/>
            <a:ext cx="629601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2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117067" y="2524506"/>
            <a:ext cx="4371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3390" y="2128592"/>
            <a:ext cx="2304497" cy="154354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39553" y="376046"/>
            <a:ext cx="2359152" cy="157162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53429" y="366086"/>
            <a:ext cx="2304497" cy="154354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23171" y="2173196"/>
            <a:ext cx="2305605" cy="154463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8868" y="4688939"/>
            <a:ext cx="2304497" cy="154463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71199" y="2109617"/>
            <a:ext cx="2332221" cy="1562058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215758" y="5084444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libri" panose="020F0502020204030204"/>
                <a:cs typeface="Calibri" panose="020F0502020204030204"/>
              </a:rPr>
              <a:t>=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069580" y="5165978"/>
            <a:ext cx="1811655" cy="662939"/>
          </a:xfrm>
          <a:custGeom>
            <a:avLst/>
            <a:gdLst/>
            <a:ahLst/>
            <a:cxnLst/>
            <a:rect l="l" t="t" r="r" b="b"/>
            <a:pathLst>
              <a:path w="1207770" h="441960">
                <a:moveTo>
                  <a:pt x="1207770" y="0"/>
                </a:moveTo>
                <a:lnTo>
                  <a:pt x="258317" y="126"/>
                </a:lnTo>
                <a:lnTo>
                  <a:pt x="222503" y="126"/>
                </a:lnTo>
                <a:lnTo>
                  <a:pt x="117093" y="395350"/>
                </a:lnTo>
                <a:lnTo>
                  <a:pt x="56895" y="261238"/>
                </a:lnTo>
                <a:lnTo>
                  <a:pt x="0" y="287274"/>
                </a:lnTo>
                <a:lnTo>
                  <a:pt x="5333" y="300355"/>
                </a:lnTo>
                <a:lnTo>
                  <a:pt x="34670" y="287274"/>
                </a:lnTo>
                <a:lnTo>
                  <a:pt x="106679" y="441959"/>
                </a:lnTo>
                <a:lnTo>
                  <a:pt x="123443" y="441959"/>
                </a:lnTo>
                <a:lnTo>
                  <a:pt x="236474" y="23240"/>
                </a:lnTo>
                <a:lnTo>
                  <a:pt x="271144" y="23240"/>
                </a:lnTo>
                <a:lnTo>
                  <a:pt x="271144" y="22860"/>
                </a:lnTo>
                <a:lnTo>
                  <a:pt x="1207770" y="22860"/>
                </a:lnTo>
                <a:lnTo>
                  <a:pt x="12077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27" name="object 27"/>
          <p:cNvSpPr txBox="1"/>
          <p:nvPr/>
        </p:nvSpPr>
        <p:spPr>
          <a:xfrm>
            <a:off x="8400287" y="5110353"/>
            <a:ext cx="1504950" cy="665480"/>
          </a:xfrm>
          <a:prstGeom prst="rect">
            <a:avLst/>
          </a:prstGeom>
        </p:spPr>
        <p:txBody>
          <a:bodyPr vert="horz" wrap="square" lIns="0" tIns="20002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200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420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dirty="0">
                <a:latin typeface="Cambria Math" panose="02040503050406030204"/>
                <a:cs typeface="Cambria Math" panose="02040503050406030204"/>
              </a:rPr>
              <a:t>− </a:t>
            </a: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𝑡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4046707" y="5182170"/>
            <a:ext cx="882015" cy="662939"/>
          </a:xfrm>
          <a:custGeom>
            <a:avLst/>
            <a:gdLst/>
            <a:ahLst/>
            <a:cxnLst/>
            <a:rect l="l" t="t" r="r" b="b"/>
            <a:pathLst>
              <a:path w="588009" h="441960">
                <a:moveTo>
                  <a:pt x="587628" y="0"/>
                </a:moveTo>
                <a:lnTo>
                  <a:pt x="258445" y="0"/>
                </a:lnTo>
                <a:lnTo>
                  <a:pt x="222630" y="127"/>
                </a:lnTo>
                <a:lnTo>
                  <a:pt x="117221" y="395478"/>
                </a:lnTo>
                <a:lnTo>
                  <a:pt x="57023" y="261239"/>
                </a:lnTo>
                <a:lnTo>
                  <a:pt x="0" y="287401"/>
                </a:lnTo>
                <a:lnTo>
                  <a:pt x="5460" y="300355"/>
                </a:lnTo>
                <a:lnTo>
                  <a:pt x="34798" y="287401"/>
                </a:lnTo>
                <a:lnTo>
                  <a:pt x="106806" y="441960"/>
                </a:lnTo>
                <a:lnTo>
                  <a:pt x="123571" y="441960"/>
                </a:lnTo>
                <a:lnTo>
                  <a:pt x="236600" y="23241"/>
                </a:lnTo>
                <a:lnTo>
                  <a:pt x="271272" y="23241"/>
                </a:lnTo>
                <a:lnTo>
                  <a:pt x="271272" y="22860"/>
                </a:lnTo>
                <a:lnTo>
                  <a:pt x="587628" y="22860"/>
                </a:lnTo>
                <a:lnTo>
                  <a:pt x="587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0"/>
          </a:p>
        </p:txBody>
      </p:sp>
      <p:sp>
        <p:nvSpPr>
          <p:cNvPr id="29" name="object 29"/>
          <p:cNvSpPr txBox="1"/>
          <p:nvPr/>
        </p:nvSpPr>
        <p:spPr>
          <a:xfrm>
            <a:off x="14378178" y="5127117"/>
            <a:ext cx="57531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𝛽</a:t>
            </a:r>
            <a:r>
              <a:rPr sz="4615" spc="-37" baseline="-15000" dirty="0">
                <a:latin typeface="Cambria Math" panose="02040503050406030204"/>
                <a:cs typeface="Cambria Math" panose="02040503050406030204"/>
              </a:rPr>
              <a:t>𝑡</a:t>
            </a:r>
            <a:endParaRPr sz="461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078967" y="5069585"/>
            <a:ext cx="4371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24546" y="4672910"/>
            <a:ext cx="2305605" cy="154354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66771" y="4672910"/>
            <a:ext cx="2305605" cy="154354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0914" y="7799142"/>
            <a:ext cx="2304497" cy="1543541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3081401" y="8351393"/>
            <a:ext cx="304800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libri" panose="020F0502020204030204"/>
                <a:cs typeface="Calibri" panose="020F0502020204030204"/>
              </a:rPr>
              <a:t>=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905235" y="8250047"/>
            <a:ext cx="437198" cy="66484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+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3384" y="7819771"/>
            <a:ext cx="2359152" cy="1571625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5299075" y="7044690"/>
            <a:ext cx="363855" cy="63246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4200" spc="-50" dirty="0">
                <a:latin typeface="Cambria Math" panose="02040503050406030204"/>
                <a:cs typeface="Cambria Math" panose="02040503050406030204"/>
              </a:rPr>
              <a:t>≡</a:t>
            </a:r>
            <a:endParaRPr sz="42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50173" y="3978783"/>
            <a:ext cx="353695" cy="418148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4200" b="1" spc="-50" dirty="0">
                <a:latin typeface="Calibri" panose="020F0502020204030204"/>
                <a:cs typeface="Calibri" panose="020F0502020204030204"/>
              </a:rPr>
              <a:t>…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351132" y="3905631"/>
            <a:ext cx="354330" cy="418148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765"/>
              </a:lnSpc>
            </a:pPr>
            <a:r>
              <a:rPr sz="4200" b="1" spc="-50" dirty="0">
                <a:latin typeface="Calibri" panose="020F0502020204030204"/>
                <a:cs typeface="Calibri" panose="020F0502020204030204"/>
              </a:rPr>
              <a:t>…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509841" y="3797425"/>
            <a:ext cx="353695" cy="418148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760"/>
              </a:lnSpc>
            </a:pPr>
            <a:r>
              <a:rPr sz="4200" b="1" spc="-50" dirty="0">
                <a:latin typeface="Calibri" panose="020F0502020204030204"/>
                <a:cs typeface="Calibri" panose="020F0502020204030204"/>
              </a:rPr>
              <a:t>…</a:t>
            </a:r>
            <a:endParaRPr sz="4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56" name="Picture 55" descr="CodeCogsEqn (25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65" y="627380"/>
            <a:ext cx="2048510" cy="527685"/>
          </a:xfrm>
          <a:prstGeom prst="rect">
            <a:avLst/>
          </a:prstGeom>
        </p:spPr>
      </p:pic>
      <p:sp>
        <p:nvSpPr>
          <p:cNvPr id="59" name="object 4"/>
          <p:cNvSpPr txBox="1">
            <a:spLocks noGrp="1"/>
          </p:cNvSpPr>
          <p:nvPr/>
        </p:nvSpPr>
        <p:spPr>
          <a:xfrm>
            <a:off x="679450" y="4516755"/>
            <a:ext cx="3118876" cy="6654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20002" rIns="0" bIns="0" numCol="1" rtlCol="0" anchor="b" anchorCtr="0" compatLnSpc="1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600" b="1" kern="1200">
                <a:solidFill>
                  <a:schemeClr val="accent1"/>
                </a:solidFill>
                <a:latin typeface="+mj-lt"/>
                <a:ea typeface="MS PGothic" panose="020B0600070205080204" pitchFamily="34" charset="-128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9144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18288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27432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657600" algn="ctr" rtl="0" fontAlgn="base">
              <a:spcBef>
                <a:spcPct val="0"/>
              </a:spcBef>
              <a:spcAft>
                <a:spcPct val="0"/>
              </a:spcAft>
              <a:defRPr sz="5600" b="1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2795" algn="l"/>
              </a:tabLst>
            </a:pPr>
            <a:r>
              <a:rPr sz="4200" spc="-25" dirty="0">
                <a:latin typeface="Cambria Math" panose="02040503050406030204"/>
                <a:cs typeface="Cambria Math" panose="02040503050406030204"/>
              </a:rPr>
              <a:t>~𝒩</a:t>
            </a:r>
            <a:r>
              <a:rPr lang="en-US" sz="4200" dirty="0">
                <a:latin typeface="Cambria Math" panose="02040503050406030204"/>
                <a:cs typeface="Cambria Math" panose="02040503050406030204"/>
              </a:rPr>
              <a:t>(</a:t>
            </a:r>
            <a:r>
              <a:rPr sz="4200" spc="-10" dirty="0">
                <a:latin typeface="Cambria Math" panose="02040503050406030204"/>
                <a:cs typeface="Cambria Math" panose="02040503050406030204"/>
              </a:rPr>
              <a:t>𝟎,</a:t>
            </a:r>
            <a:r>
              <a:rPr sz="4200" spc="-14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200" spc="-50" dirty="0">
                <a:latin typeface="Cambria Math" panose="02040503050406030204"/>
                <a:cs typeface="Cambria Math" panose="02040503050406030204"/>
              </a:rPr>
              <a:t>𝐼</a:t>
            </a:r>
            <a:r>
              <a:rPr lang="en-US" sz="4200" spc="-50" dirty="0">
                <a:latin typeface="Cambria Math" panose="02040503050406030204"/>
                <a:cs typeface="Cambria Math" panose="02040503050406030204"/>
              </a:rPr>
              <a:t>)</a:t>
            </a:r>
          </a:p>
        </p:txBody>
      </p:sp>
      <p:pic>
        <p:nvPicPr>
          <p:cNvPr id="60" name="Picture 59" descr="CodeCogsEqn (26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06555" y="8271510"/>
            <a:ext cx="5718810" cy="645795"/>
          </a:xfrm>
          <a:prstGeom prst="rect">
            <a:avLst/>
          </a:prstGeom>
        </p:spPr>
      </p:pic>
      <p:pic>
        <p:nvPicPr>
          <p:cNvPr id="61" name="Picture 60" descr="CodeCogsEqn (27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46230" y="9222105"/>
            <a:ext cx="1788160" cy="610870"/>
          </a:xfrm>
          <a:prstGeom prst="rect">
            <a:avLst/>
          </a:prstGeom>
        </p:spPr>
      </p:pic>
      <p:pic>
        <p:nvPicPr>
          <p:cNvPr id="62" name="Picture 61" descr="CodeCogsEqn (28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4915" y="9220835"/>
            <a:ext cx="1037590" cy="612140"/>
          </a:xfrm>
          <a:prstGeom prst="rect">
            <a:avLst/>
          </a:prstGeom>
        </p:spPr>
      </p:pic>
      <p:sp>
        <p:nvSpPr>
          <p:cNvPr id="63" name="Rectangles 62"/>
          <p:cNvSpPr/>
          <p:nvPr/>
        </p:nvSpPr>
        <p:spPr>
          <a:xfrm>
            <a:off x="11501120" y="8071485"/>
            <a:ext cx="6165850" cy="972185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 Box 63"/>
          <p:cNvSpPr txBox="1"/>
          <p:nvPr/>
        </p:nvSpPr>
        <p:spPr>
          <a:xfrm>
            <a:off x="6405880" y="818832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65" name="Picture 64" descr="CodeCogsEqn (29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2495" y="8261350"/>
            <a:ext cx="4745355" cy="666750"/>
          </a:xfrm>
          <a:prstGeom prst="rect">
            <a:avLst/>
          </a:prstGeom>
        </p:spPr>
      </p:pic>
      <p:sp>
        <p:nvSpPr>
          <p:cNvPr id="66" name="Rectangles 65"/>
          <p:cNvSpPr/>
          <p:nvPr/>
        </p:nvSpPr>
        <p:spPr>
          <a:xfrm>
            <a:off x="3386455" y="8084820"/>
            <a:ext cx="4939665" cy="995680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 descr="CodeCogsEqn (30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435" y="5845175"/>
            <a:ext cx="2992120" cy="999490"/>
          </a:xfrm>
          <a:prstGeom prst="rect">
            <a:avLst/>
          </a:prstGeom>
        </p:spPr>
      </p:pic>
      <p:pic>
        <p:nvPicPr>
          <p:cNvPr id="68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3281" y="6346135"/>
            <a:ext cx="2305605" cy="15435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978" y="371054"/>
            <a:ext cx="10716948" cy="96306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079605" y="9753981"/>
            <a:ext cx="5230178" cy="43434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libri" panose="020F0502020204030204"/>
                <a:cs typeface="Calibri" panose="020F0502020204030204"/>
              </a:rPr>
              <a:t>https://arxiv.org/pdf/2208.11970.pdf</a:t>
            </a:r>
            <a:endParaRPr sz="27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CodeCogsEqn (3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445" y="1062990"/>
            <a:ext cx="8630285" cy="1110615"/>
          </a:xfrm>
          <a:prstGeom prst="rect">
            <a:avLst/>
          </a:prstGeom>
          <a:solidFill>
            <a:schemeClr val="bg2"/>
          </a:solidFill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9100E5FC-4449-4011-80B7-0D4BDABD4240}"/>
</file>

<file path=customXml/itemProps2.xml><?xml version="1.0" encoding="utf-8"?>
<ds:datastoreItem xmlns:ds="http://schemas.openxmlformats.org/officeDocument/2006/customXml" ds:itemID="{4D7BF44F-B2BE-45ED-A738-C1CEBA3CE595}"/>
</file>

<file path=customXml/itemProps3.xml><?xml version="1.0" encoding="utf-8"?>
<ds:datastoreItem xmlns:ds="http://schemas.openxmlformats.org/officeDocument/2006/customXml" ds:itemID="{47AC72F3-0532-4567-90E2-9BB9A83B7F10}"/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340</Words>
  <Application>Microsoft Macintosh PowerPoint</Application>
  <PresentationFormat>Custom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Microsoft JhengHei</vt:lpstr>
      <vt:lpstr>Arial</vt:lpstr>
      <vt:lpstr>Calibri</vt:lpstr>
      <vt:lpstr>Cambria Math</vt:lpstr>
      <vt:lpstr>Wingdings</vt:lpstr>
      <vt:lpstr>Wingdings 2</vt:lpstr>
      <vt:lpstr>Breeze</vt:lpstr>
      <vt:lpstr>Diffusion Model</vt:lpstr>
      <vt:lpstr>PowerPoint Presentation</vt:lpstr>
      <vt:lpstr>PowerPoint Presentation</vt:lpstr>
      <vt:lpstr>VAE: Compute 𝑃𝜃(𝑥)</vt:lpstr>
      <vt:lpstr>hat is Data</vt:lpstr>
      <vt:lpstr>DDPM: Compute 𝑃𝜃(𝑥)</vt:lpstr>
      <vt:lpstr>PowerPoint Presentation</vt:lpstr>
      <vt:lpstr>~𝒩(𝟎, 𝐼)</vt:lpstr>
      <vt:lpstr>~𝒩(𝟎, 𝐼)</vt:lpstr>
      <vt:lpstr>~𝒩(𝟎, 𝐼)</vt:lpstr>
      <vt:lpstr>PowerPoint Presentation</vt:lpstr>
      <vt:lpstr>PowerPoint Presentation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31</cp:revision>
  <dcterms:created xsi:type="dcterms:W3CDTF">2019-02-13T16:04:00Z</dcterms:created>
  <dcterms:modified xsi:type="dcterms:W3CDTF">2024-04-03T21:23:06Z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6E5AD3EF72984884A28535EEF3B8E4DF</vt:lpwstr>
  </property>
  <property fmtid="{D5CDD505-2E9C-101B-9397-08002B2CF9AE}" pid="5" name="KSOProductBuildVer">
    <vt:lpwstr>1033-11.2.0.11225</vt:lpwstr>
  </property>
</Properties>
</file>