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25" r:id="rId2"/>
    <p:sldId id="267" r:id="rId3"/>
    <p:sldId id="326" r:id="rId4"/>
    <p:sldId id="327" r:id="rId5"/>
    <p:sldId id="328" r:id="rId6"/>
    <p:sldId id="350" r:id="rId7"/>
    <p:sldId id="329" r:id="rId8"/>
    <p:sldId id="330" r:id="rId9"/>
    <p:sldId id="331" r:id="rId10"/>
    <p:sldId id="332" r:id="rId11"/>
    <p:sldId id="333" r:id="rId12"/>
    <p:sldId id="335" r:id="rId13"/>
    <p:sldId id="351" r:id="rId14"/>
    <p:sldId id="336" r:id="rId15"/>
    <p:sldId id="337" r:id="rId16"/>
    <p:sldId id="338" r:id="rId17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>
      <p:cViewPr varScale="1">
        <p:scale>
          <a:sx n="75" d="100"/>
          <a:sy n="75" d="100"/>
        </p:scale>
        <p:origin x="624" y="160"/>
      </p:cViewPr>
      <p:guideLst>
        <p:guide orient="horz" pos="3240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hannel9.msdn.com/Events/Neural-Information-Processing-Systems-Conference/Neural-Information-Processing-Systems-Conference-NIPS-2016/Generative-Adversarial-Network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jp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5" Type="http://schemas.openxmlformats.org/officeDocument/2006/relationships/image" Target="../media/image7.jpg"/><Relationship Id="rId10" Type="http://schemas.openxmlformats.org/officeDocument/2006/relationships/image" Target="../media/image12.jpg"/><Relationship Id="rId4" Type="http://schemas.openxmlformats.org/officeDocument/2006/relationships/image" Target="../media/image6.jpg"/><Relationship Id="rId9" Type="http://schemas.openxmlformats.org/officeDocument/2006/relationships/image" Target="../media/image11.jpg"/><Relationship Id="rId1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810.png"/><Relationship Id="rId12" Type="http://schemas.openxmlformats.org/officeDocument/2006/relationships/image" Target="../media/image3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image" Target="../media/image30.png"/><Relationship Id="rId5" Type="http://schemas.openxmlformats.org/officeDocument/2006/relationships/image" Target="../media/image610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/>
              <a:t>Generative Adversarial Network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359401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" y="0"/>
            <a:ext cx="18154650" cy="1551434"/>
          </a:xfrm>
        </p:spPr>
        <p:txBody>
          <a:bodyPr/>
          <a:lstStyle/>
          <a:p>
            <a:r>
              <a:rPr lang="en-US" altLang="zh-TW" dirty="0"/>
              <a:t>NIPS 2016 Tutorial: Generative Adversarial Networks</a:t>
            </a:r>
            <a:endParaRPr lang="en-US" dirty="0"/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A6D7C8B3-087A-6BFB-E31C-F538045AC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2011892"/>
            <a:ext cx="16440150" cy="4351338"/>
          </a:xfrm>
        </p:spPr>
        <p:txBody>
          <a:bodyPr/>
          <a:lstStyle/>
          <a:p>
            <a:r>
              <a:rPr lang="en-US" altLang="zh-TW" dirty="0"/>
              <a:t>Author: Ian </a:t>
            </a:r>
            <a:r>
              <a:rPr lang="en-US" altLang="zh-TW" dirty="0" err="1"/>
              <a:t>Goodfellow</a:t>
            </a:r>
            <a:endParaRPr lang="en-US" altLang="zh-TW" dirty="0"/>
          </a:p>
          <a:p>
            <a:r>
              <a:rPr lang="en-US" altLang="zh-TW" dirty="0"/>
              <a:t>Paper: https://arxiv.org/abs/1701.00160</a:t>
            </a:r>
          </a:p>
          <a:p>
            <a:r>
              <a:rPr lang="en-US" altLang="zh-TW" dirty="0"/>
              <a:t>Video: </a:t>
            </a:r>
            <a:r>
              <a:rPr lang="en-US" altLang="zh-TW" dirty="0">
                <a:hlinkClick r:id="rId2"/>
              </a:rPr>
              <a:t>https://channel9.msdn.com/Events/Neural-Information-Processing-Systems-Conference/Neural-Information-Processing-Systems-Conference-NIPS-2016/Generative-Adversarial-Networks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26" name="矩形 3">
            <a:extLst>
              <a:ext uri="{FF2B5EF4-FFF2-40B4-BE49-F238E27FC236}">
                <a16:creationId xmlns:a16="http://schemas.microsoft.com/office/drawing/2014/main" id="{E33CBBAD-A0DC-2CBC-F38D-3F36F0E3D701}"/>
              </a:ext>
            </a:extLst>
          </p:cNvPr>
          <p:cNvSpPr/>
          <p:nvPr/>
        </p:nvSpPr>
        <p:spPr>
          <a:xfrm>
            <a:off x="3953893" y="7207044"/>
            <a:ext cx="11997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You can find tips for training GAN here:  </a:t>
            </a:r>
            <a:r>
              <a:rPr lang="zh-TW" altLang="en-US" sz="2400" dirty="0"/>
              <a:t>https://github.com/soumith/ganhacks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Generation</a:t>
            </a:r>
            <a:endParaRPr lang="en-US" dirty="0"/>
          </a:p>
        </p:txBody>
      </p:sp>
      <p:pic>
        <p:nvPicPr>
          <p:cNvPr id="3" name="圖片 6">
            <a:extLst>
              <a:ext uri="{FF2B5EF4-FFF2-40B4-BE49-F238E27FC236}">
                <a16:creationId xmlns:a16="http://schemas.microsoft.com/office/drawing/2014/main" id="{77D352F0-6056-1CC5-771C-76F78AEFD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786" y="6906255"/>
            <a:ext cx="1285515" cy="1285515"/>
          </a:xfrm>
          <a:prstGeom prst="rect">
            <a:avLst/>
          </a:prstGeom>
        </p:spPr>
      </p:pic>
      <p:pic>
        <p:nvPicPr>
          <p:cNvPr id="5" name="Picture 2" descr="http://www.is-scam.com/wp-content/uploads/2014/12/question-robot.png">
            <a:extLst>
              <a:ext uri="{FF2B5EF4-FFF2-40B4-BE49-F238E27FC236}">
                <a16:creationId xmlns:a16="http://schemas.microsoft.com/office/drawing/2014/main" id="{8E0BA138-FACB-402B-506E-AAF131E03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172" y="5835516"/>
            <a:ext cx="2768423" cy="357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9">
            <a:extLst>
              <a:ext uri="{FF2B5EF4-FFF2-40B4-BE49-F238E27FC236}">
                <a16:creationId xmlns:a16="http://schemas.microsoft.com/office/drawing/2014/main" id="{CBC26D58-1197-4DB2-2928-CAC808786A6B}"/>
              </a:ext>
            </a:extLst>
          </p:cNvPr>
          <p:cNvSpPr txBox="1"/>
          <p:nvPr/>
        </p:nvSpPr>
        <p:spPr>
          <a:xfrm>
            <a:off x="11836105" y="7098522"/>
            <a:ext cx="2455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Drawing?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pic>
        <p:nvPicPr>
          <p:cNvPr id="7" name="圖片 13">
            <a:extLst>
              <a:ext uri="{FF2B5EF4-FFF2-40B4-BE49-F238E27FC236}">
                <a16:creationId xmlns:a16="http://schemas.microsoft.com/office/drawing/2014/main" id="{0084DADD-F62C-EFBC-2311-5ECCB9A4A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527" y="7779540"/>
            <a:ext cx="1285515" cy="1285515"/>
          </a:xfrm>
          <a:prstGeom prst="rect">
            <a:avLst/>
          </a:prstGeom>
        </p:spPr>
      </p:pic>
      <p:pic>
        <p:nvPicPr>
          <p:cNvPr id="8" name="圖片 15">
            <a:extLst>
              <a:ext uri="{FF2B5EF4-FFF2-40B4-BE49-F238E27FC236}">
                <a16:creationId xmlns:a16="http://schemas.microsoft.com/office/drawing/2014/main" id="{2F0BB46C-7B73-D5B9-23F3-D4F3E5238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270" y="6306540"/>
            <a:ext cx="1285515" cy="1285515"/>
          </a:xfrm>
          <a:prstGeom prst="rect">
            <a:avLst/>
          </a:prstGeom>
        </p:spPr>
      </p:pic>
      <p:pic>
        <p:nvPicPr>
          <p:cNvPr id="9" name="圖片 17">
            <a:extLst>
              <a:ext uri="{FF2B5EF4-FFF2-40B4-BE49-F238E27FC236}">
                <a16:creationId xmlns:a16="http://schemas.microsoft.com/office/drawing/2014/main" id="{A1A7A394-F533-9C96-1244-B88D58AA85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082" y="6336228"/>
            <a:ext cx="1285515" cy="1285515"/>
          </a:xfrm>
          <a:prstGeom prst="rect">
            <a:avLst/>
          </a:prstGeom>
        </p:spPr>
      </p:pic>
      <p:pic>
        <p:nvPicPr>
          <p:cNvPr id="10" name="圖片 21">
            <a:extLst>
              <a:ext uri="{FF2B5EF4-FFF2-40B4-BE49-F238E27FC236}">
                <a16:creationId xmlns:a16="http://schemas.microsoft.com/office/drawing/2014/main" id="{9E6ED140-9E1F-02C8-EA37-BDEBE22083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77" y="6797540"/>
            <a:ext cx="1285515" cy="1285515"/>
          </a:xfrm>
          <a:prstGeom prst="rect">
            <a:avLst/>
          </a:prstGeom>
        </p:spPr>
      </p:pic>
      <p:pic>
        <p:nvPicPr>
          <p:cNvPr id="11" name="圖片 23">
            <a:extLst>
              <a:ext uri="{FF2B5EF4-FFF2-40B4-BE49-F238E27FC236}">
                <a16:creationId xmlns:a16="http://schemas.microsoft.com/office/drawing/2014/main" id="{8CE6A1BE-DCAF-817A-D89C-0A833AE64E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289" y="7779540"/>
            <a:ext cx="1285515" cy="1285515"/>
          </a:xfrm>
          <a:prstGeom prst="rect">
            <a:avLst/>
          </a:prstGeom>
        </p:spPr>
      </p:pic>
      <p:pic>
        <p:nvPicPr>
          <p:cNvPr id="12" name="圖片 25">
            <a:extLst>
              <a:ext uri="{FF2B5EF4-FFF2-40B4-BE49-F238E27FC236}">
                <a16:creationId xmlns:a16="http://schemas.microsoft.com/office/drawing/2014/main" id="{280CBE08-77BD-508B-47EC-F09DE17AD4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787" y="7236228"/>
            <a:ext cx="1285515" cy="1285515"/>
          </a:xfrm>
          <a:prstGeom prst="rect">
            <a:avLst/>
          </a:prstGeom>
        </p:spPr>
      </p:pic>
      <p:pic>
        <p:nvPicPr>
          <p:cNvPr id="13" name="圖片 27">
            <a:extLst>
              <a:ext uri="{FF2B5EF4-FFF2-40B4-BE49-F238E27FC236}">
                <a16:creationId xmlns:a16="http://schemas.microsoft.com/office/drawing/2014/main" id="{7E90B029-02F1-74B0-F0B6-77BA581B8E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079" y="6797540"/>
            <a:ext cx="1285515" cy="1285515"/>
          </a:xfrm>
          <a:prstGeom prst="rect">
            <a:avLst/>
          </a:prstGeom>
        </p:spPr>
      </p:pic>
      <p:pic>
        <p:nvPicPr>
          <p:cNvPr id="14" name="圖片 29">
            <a:extLst>
              <a:ext uri="{FF2B5EF4-FFF2-40B4-BE49-F238E27FC236}">
                <a16:creationId xmlns:a16="http://schemas.microsoft.com/office/drawing/2014/main" id="{B5268720-AE56-CA45-1AC7-47A8406A15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981" y="7779540"/>
            <a:ext cx="1285515" cy="1285515"/>
          </a:xfrm>
          <a:prstGeom prst="rect">
            <a:avLst/>
          </a:prstGeom>
        </p:spPr>
      </p:pic>
      <p:pic>
        <p:nvPicPr>
          <p:cNvPr id="15" name="圖片 31">
            <a:extLst>
              <a:ext uri="{FF2B5EF4-FFF2-40B4-BE49-F238E27FC236}">
                <a16:creationId xmlns:a16="http://schemas.microsoft.com/office/drawing/2014/main" id="{048F9624-3824-C211-F498-3A972DB408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583" y="7438428"/>
            <a:ext cx="1285515" cy="1285515"/>
          </a:xfrm>
          <a:prstGeom prst="rect">
            <a:avLst/>
          </a:prstGeom>
        </p:spPr>
      </p:pic>
      <p:pic>
        <p:nvPicPr>
          <p:cNvPr id="16" name="圖片 19">
            <a:extLst>
              <a:ext uri="{FF2B5EF4-FFF2-40B4-BE49-F238E27FC236}">
                <a16:creationId xmlns:a16="http://schemas.microsoft.com/office/drawing/2014/main" id="{ACB02AE6-EAD3-6B60-842F-0DDB4BF0CB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270" y="6573084"/>
            <a:ext cx="1285515" cy="1285515"/>
          </a:xfrm>
          <a:prstGeom prst="rect">
            <a:avLst/>
          </a:prstGeom>
        </p:spPr>
      </p:pic>
      <p:sp>
        <p:nvSpPr>
          <p:cNvPr id="17" name="箭號: 向右 33">
            <a:extLst>
              <a:ext uri="{FF2B5EF4-FFF2-40B4-BE49-F238E27FC236}">
                <a16:creationId xmlns:a16="http://schemas.microsoft.com/office/drawing/2014/main" id="{EFE6A8C2-8973-33C3-CADD-EED60D98EA3C}"/>
              </a:ext>
            </a:extLst>
          </p:cNvPr>
          <p:cNvSpPr/>
          <p:nvPr/>
        </p:nvSpPr>
        <p:spPr>
          <a:xfrm>
            <a:off x="11048254" y="6904192"/>
            <a:ext cx="857010" cy="9790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Picture 2" descr="http://www.is-scam.com/wp-content/uploads/2014/12/question-robot.png">
            <a:extLst>
              <a:ext uri="{FF2B5EF4-FFF2-40B4-BE49-F238E27FC236}">
                <a16:creationId xmlns:a16="http://schemas.microsoft.com/office/drawing/2014/main" id="{D0FFB22E-AC51-89E3-9B2E-299073A7E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250" y="2138981"/>
            <a:ext cx="2768423" cy="357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37">
            <a:extLst>
              <a:ext uri="{FF2B5EF4-FFF2-40B4-BE49-F238E27FC236}">
                <a16:creationId xmlns:a16="http://schemas.microsoft.com/office/drawing/2014/main" id="{FADB8849-5808-7383-1BDA-3D85A09DAAD0}"/>
              </a:ext>
            </a:extLst>
          </p:cNvPr>
          <p:cNvSpPr txBox="1"/>
          <p:nvPr/>
        </p:nvSpPr>
        <p:spPr>
          <a:xfrm>
            <a:off x="11836105" y="3925207"/>
            <a:ext cx="3317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Writing Poems?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0" name="箭號: 向右 48">
            <a:extLst>
              <a:ext uri="{FF2B5EF4-FFF2-40B4-BE49-F238E27FC236}">
                <a16:creationId xmlns:a16="http://schemas.microsoft.com/office/drawing/2014/main" id="{97B13E3D-385D-96F6-2823-802664197172}"/>
              </a:ext>
            </a:extLst>
          </p:cNvPr>
          <p:cNvSpPr/>
          <p:nvPr/>
        </p:nvSpPr>
        <p:spPr>
          <a:xfrm>
            <a:off x="11048254" y="3697289"/>
            <a:ext cx="857010" cy="9790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49">
            <a:extLst>
              <a:ext uri="{FF2B5EF4-FFF2-40B4-BE49-F238E27FC236}">
                <a16:creationId xmlns:a16="http://schemas.microsoft.com/office/drawing/2014/main" id="{761018F6-D9AD-2D9F-465B-6145F9A48C38}"/>
              </a:ext>
            </a:extLst>
          </p:cNvPr>
          <p:cNvSpPr/>
          <p:nvPr/>
        </p:nvSpPr>
        <p:spPr>
          <a:xfrm>
            <a:off x="12748380" y="8656795"/>
            <a:ext cx="53364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http://www.rb139.com/index.php?s=/Lot/44547</a:t>
            </a:r>
          </a:p>
        </p:txBody>
      </p:sp>
      <p:pic>
        <p:nvPicPr>
          <p:cNvPr id="22" name="Picture 4" descr="「唐詩三百首」的圖片搜尋結果">
            <a:extLst>
              <a:ext uri="{FF2B5EF4-FFF2-40B4-BE49-F238E27FC236}">
                <a16:creationId xmlns:a16="http://schemas.microsoft.com/office/drawing/2014/main" id="{79CA15AF-F08A-0850-723C-6D1A52E7F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382" y="2247072"/>
            <a:ext cx="4623815" cy="3791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20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en-US" dirty="0"/>
          </a:p>
        </p:txBody>
      </p:sp>
      <p:pic>
        <p:nvPicPr>
          <p:cNvPr id="3" name="圖片 18">
            <a:extLst>
              <a:ext uri="{FF2B5EF4-FFF2-40B4-BE49-F238E27FC236}">
                <a16:creationId xmlns:a16="http://schemas.microsoft.com/office/drawing/2014/main" id="{54E6D098-94CB-A6B7-3829-786E145B7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318" y="3835081"/>
            <a:ext cx="1181100" cy="1162050"/>
          </a:xfrm>
          <a:prstGeom prst="rect">
            <a:avLst/>
          </a:prstGeom>
        </p:spPr>
      </p:pic>
      <p:pic>
        <p:nvPicPr>
          <p:cNvPr id="4" name="圖片 19">
            <a:extLst>
              <a:ext uri="{FF2B5EF4-FFF2-40B4-BE49-F238E27FC236}">
                <a16:creationId xmlns:a16="http://schemas.microsoft.com/office/drawing/2014/main" id="{5A8A7ECE-0061-BB65-5322-1A70CD1CB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81899" y="3845007"/>
            <a:ext cx="1181100" cy="1162050"/>
          </a:xfrm>
          <a:prstGeom prst="rect">
            <a:avLst/>
          </a:prstGeom>
        </p:spPr>
      </p:pic>
      <p:cxnSp>
        <p:nvCxnSpPr>
          <p:cNvPr id="5" name="直線接點 10">
            <a:extLst>
              <a:ext uri="{FF2B5EF4-FFF2-40B4-BE49-F238E27FC236}">
                <a16:creationId xmlns:a16="http://schemas.microsoft.com/office/drawing/2014/main" id="{D2A569EB-D99C-1DB1-CA40-B8580002B4D7}"/>
              </a:ext>
            </a:extLst>
          </p:cNvPr>
          <p:cNvCxnSpPr/>
          <p:nvPr/>
        </p:nvCxnSpPr>
        <p:spPr>
          <a:xfrm rot="5400000">
            <a:off x="12625293" y="3660174"/>
            <a:ext cx="509588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4">
            <a:extLst>
              <a:ext uri="{FF2B5EF4-FFF2-40B4-BE49-F238E27FC236}">
                <a16:creationId xmlns:a16="http://schemas.microsoft.com/office/drawing/2014/main" id="{8653156D-3BF4-BCED-E57C-0D52A0688834}"/>
              </a:ext>
            </a:extLst>
          </p:cNvPr>
          <p:cNvSpPr/>
          <p:nvPr/>
        </p:nvSpPr>
        <p:spPr>
          <a:xfrm rot="5400000">
            <a:off x="9104495" y="4168435"/>
            <a:ext cx="1209244" cy="46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8" name="向右箭號 9">
            <a:extLst>
              <a:ext uri="{FF2B5EF4-FFF2-40B4-BE49-F238E27FC236}">
                <a16:creationId xmlns:a16="http://schemas.microsoft.com/office/drawing/2014/main" id="{8ED37E46-6DE2-3B5C-2C66-C3FA73F7A255}"/>
              </a:ext>
            </a:extLst>
          </p:cNvPr>
          <p:cNvSpPr/>
          <p:nvPr/>
        </p:nvSpPr>
        <p:spPr>
          <a:xfrm>
            <a:off x="7214486" y="4113489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F5944AD-E970-067A-25CE-8EEBDF56915A}"/>
              </a:ext>
            </a:extLst>
          </p:cNvPr>
          <p:cNvCxnSpPr/>
          <p:nvPr/>
        </p:nvCxnSpPr>
        <p:spPr>
          <a:xfrm flipH="1">
            <a:off x="6535235" y="3388150"/>
            <a:ext cx="6343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6DA22F6-AF79-1CEF-5CE6-44AFE04ADD21}"/>
              </a:ext>
            </a:extLst>
          </p:cNvPr>
          <p:cNvCxnSpPr/>
          <p:nvPr/>
        </p:nvCxnSpPr>
        <p:spPr>
          <a:xfrm rot="5400000">
            <a:off x="6290627" y="3617544"/>
            <a:ext cx="509588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49">
            <a:extLst>
              <a:ext uri="{FF2B5EF4-FFF2-40B4-BE49-F238E27FC236}">
                <a16:creationId xmlns:a16="http://schemas.microsoft.com/office/drawing/2014/main" id="{15B5890B-393C-8578-AE9E-71172AB0D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1169" y="2910546"/>
            <a:ext cx="295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kumimoji="0" lang="en-US" altLang="zh-TW" sz="2400" dirty="0"/>
              <a:t>As close as possible</a:t>
            </a:r>
            <a:endParaRPr kumimoji="0" lang="zh-TW" altLang="en-US" sz="2400" dirty="0"/>
          </a:p>
        </p:txBody>
      </p:sp>
      <p:sp>
        <p:nvSpPr>
          <p:cNvPr id="12" name="矩形 12">
            <a:extLst>
              <a:ext uri="{FF2B5EF4-FFF2-40B4-BE49-F238E27FC236}">
                <a16:creationId xmlns:a16="http://schemas.microsoft.com/office/drawing/2014/main" id="{BF4E6423-ADCC-C1F2-4052-99E8E5CC0F5F}"/>
              </a:ext>
            </a:extLst>
          </p:cNvPr>
          <p:cNvSpPr/>
          <p:nvPr/>
        </p:nvSpPr>
        <p:spPr>
          <a:xfrm>
            <a:off x="7601579" y="3914968"/>
            <a:ext cx="1429198" cy="10022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Encoder</a:t>
            </a:r>
            <a:endParaRPr lang="zh-TW" altLang="en-US" sz="2400" dirty="0"/>
          </a:p>
        </p:txBody>
      </p:sp>
      <p:sp>
        <p:nvSpPr>
          <p:cNvPr id="13" name="矩形 13">
            <a:extLst>
              <a:ext uri="{FF2B5EF4-FFF2-40B4-BE49-F238E27FC236}">
                <a16:creationId xmlns:a16="http://schemas.microsoft.com/office/drawing/2014/main" id="{A245F2DF-F9F5-ABF7-4437-98A1BE8A6837}"/>
              </a:ext>
            </a:extLst>
          </p:cNvPr>
          <p:cNvSpPr/>
          <p:nvPr/>
        </p:nvSpPr>
        <p:spPr>
          <a:xfrm>
            <a:off x="10450282" y="3950337"/>
            <a:ext cx="1419865" cy="9813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14" name="向右箭號 9">
            <a:extLst>
              <a:ext uri="{FF2B5EF4-FFF2-40B4-BE49-F238E27FC236}">
                <a16:creationId xmlns:a16="http://schemas.microsoft.com/office/drawing/2014/main" id="{7BA719EF-9AC0-B7A3-1EE4-0DAC4559DF93}"/>
              </a:ext>
            </a:extLst>
          </p:cNvPr>
          <p:cNvSpPr/>
          <p:nvPr/>
        </p:nvSpPr>
        <p:spPr>
          <a:xfrm>
            <a:off x="9030777" y="4113489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向右箭號 9">
            <a:extLst>
              <a:ext uri="{FF2B5EF4-FFF2-40B4-BE49-F238E27FC236}">
                <a16:creationId xmlns:a16="http://schemas.microsoft.com/office/drawing/2014/main" id="{A08E8C55-266B-254D-AD6A-DCBD451898FC}"/>
              </a:ext>
            </a:extLst>
          </p:cNvPr>
          <p:cNvSpPr/>
          <p:nvPr/>
        </p:nvSpPr>
        <p:spPr>
          <a:xfrm>
            <a:off x="10033441" y="4130509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向右箭號 9">
            <a:extLst>
              <a:ext uri="{FF2B5EF4-FFF2-40B4-BE49-F238E27FC236}">
                <a16:creationId xmlns:a16="http://schemas.microsoft.com/office/drawing/2014/main" id="{7BFA702F-07C9-77EF-FEF7-BB2917258184}"/>
              </a:ext>
            </a:extLst>
          </p:cNvPr>
          <p:cNvSpPr/>
          <p:nvPr/>
        </p:nvSpPr>
        <p:spPr>
          <a:xfrm>
            <a:off x="11886519" y="4130509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7">
            <a:extLst>
              <a:ext uri="{FF2B5EF4-FFF2-40B4-BE49-F238E27FC236}">
                <a16:creationId xmlns:a16="http://schemas.microsoft.com/office/drawing/2014/main" id="{80FF7A2A-E194-8BDF-F84B-5C550449A8DD}"/>
              </a:ext>
            </a:extLst>
          </p:cNvPr>
          <p:cNvSpPr txBox="1"/>
          <p:nvPr/>
        </p:nvSpPr>
        <p:spPr>
          <a:xfrm rot="5400000">
            <a:off x="9183228" y="4171602"/>
            <a:ext cx="110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18" name="矩形 21">
            <a:extLst>
              <a:ext uri="{FF2B5EF4-FFF2-40B4-BE49-F238E27FC236}">
                <a16:creationId xmlns:a16="http://schemas.microsoft.com/office/drawing/2014/main" id="{B4259D2E-5CDC-D329-4660-BF9BBBEF1B51}"/>
              </a:ext>
            </a:extLst>
          </p:cNvPr>
          <p:cNvSpPr/>
          <p:nvPr/>
        </p:nvSpPr>
        <p:spPr>
          <a:xfrm rot="5400000">
            <a:off x="8687653" y="6222542"/>
            <a:ext cx="1209244" cy="46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19" name="矩形 22">
            <a:extLst>
              <a:ext uri="{FF2B5EF4-FFF2-40B4-BE49-F238E27FC236}">
                <a16:creationId xmlns:a16="http://schemas.microsoft.com/office/drawing/2014/main" id="{F75BBF4C-93EA-2DDA-841C-A7916F201975}"/>
              </a:ext>
            </a:extLst>
          </p:cNvPr>
          <p:cNvSpPr/>
          <p:nvPr/>
        </p:nvSpPr>
        <p:spPr>
          <a:xfrm>
            <a:off x="10033440" y="6004444"/>
            <a:ext cx="1401383" cy="9813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20" name="向右箭號 9">
            <a:extLst>
              <a:ext uri="{FF2B5EF4-FFF2-40B4-BE49-F238E27FC236}">
                <a16:creationId xmlns:a16="http://schemas.microsoft.com/office/drawing/2014/main" id="{06ED84D1-743F-C4FF-56DE-0C37CEFCD52F}"/>
              </a:ext>
            </a:extLst>
          </p:cNvPr>
          <p:cNvSpPr/>
          <p:nvPr/>
        </p:nvSpPr>
        <p:spPr>
          <a:xfrm>
            <a:off x="9616599" y="6184616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向右箭號 9">
            <a:extLst>
              <a:ext uri="{FF2B5EF4-FFF2-40B4-BE49-F238E27FC236}">
                <a16:creationId xmlns:a16="http://schemas.microsoft.com/office/drawing/2014/main" id="{9571120F-59D0-A7E5-7748-B759AE67E613}"/>
              </a:ext>
            </a:extLst>
          </p:cNvPr>
          <p:cNvSpPr/>
          <p:nvPr/>
        </p:nvSpPr>
        <p:spPr>
          <a:xfrm>
            <a:off x="11469677" y="6184616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5">
            <a:extLst>
              <a:ext uri="{FF2B5EF4-FFF2-40B4-BE49-F238E27FC236}">
                <a16:creationId xmlns:a16="http://schemas.microsoft.com/office/drawing/2014/main" id="{FC56247D-CE97-370A-450F-89C118FA7B53}"/>
              </a:ext>
            </a:extLst>
          </p:cNvPr>
          <p:cNvSpPr txBox="1"/>
          <p:nvPr/>
        </p:nvSpPr>
        <p:spPr>
          <a:xfrm rot="5400000">
            <a:off x="8766386" y="6225709"/>
            <a:ext cx="110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23" name="文字方塊 28">
            <a:extLst>
              <a:ext uri="{FF2B5EF4-FFF2-40B4-BE49-F238E27FC236}">
                <a16:creationId xmlns:a16="http://schemas.microsoft.com/office/drawing/2014/main" id="{6147DD53-306F-6854-5A3D-E4098FADF6F9}"/>
              </a:ext>
            </a:extLst>
          </p:cNvPr>
          <p:cNvSpPr txBox="1"/>
          <p:nvPr/>
        </p:nvSpPr>
        <p:spPr>
          <a:xfrm>
            <a:off x="3589867" y="6054088"/>
            <a:ext cx="5433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Randomly generate a vector as code</a:t>
            </a:r>
            <a:endParaRPr lang="zh-TW" altLang="en-US" sz="2400" dirty="0"/>
          </a:p>
        </p:txBody>
      </p:sp>
      <p:sp>
        <p:nvSpPr>
          <p:cNvPr id="24" name="文字方塊 29">
            <a:extLst>
              <a:ext uri="{FF2B5EF4-FFF2-40B4-BE49-F238E27FC236}">
                <a16:creationId xmlns:a16="http://schemas.microsoft.com/office/drawing/2014/main" id="{0FE5A867-934E-8D92-8FF8-1A9BF233BFE2}"/>
              </a:ext>
            </a:extLst>
          </p:cNvPr>
          <p:cNvSpPr txBox="1"/>
          <p:nvPr/>
        </p:nvSpPr>
        <p:spPr>
          <a:xfrm>
            <a:off x="11825957" y="6225623"/>
            <a:ext cx="2473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Image ?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0958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en-US" dirty="0"/>
          </a:p>
        </p:txBody>
      </p:sp>
      <p:grpSp>
        <p:nvGrpSpPr>
          <p:cNvPr id="4" name="群組 10">
            <a:extLst>
              <a:ext uri="{FF2B5EF4-FFF2-40B4-BE49-F238E27FC236}">
                <a16:creationId xmlns:a16="http://schemas.microsoft.com/office/drawing/2014/main" id="{26CCAB90-142B-AEE5-28D8-6D1E98C98C8F}"/>
              </a:ext>
            </a:extLst>
          </p:cNvPr>
          <p:cNvGrpSpPr/>
          <p:nvPr/>
        </p:nvGrpSpPr>
        <p:grpSpPr>
          <a:xfrm>
            <a:off x="9308110" y="3299356"/>
            <a:ext cx="4763961" cy="1039140"/>
            <a:chOff x="3939218" y="2495962"/>
            <a:chExt cx="4763961" cy="1039140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9F724F9F-268B-B99F-0577-FEB0BDE38558}"/>
                </a:ext>
              </a:extLst>
            </p:cNvPr>
            <p:cNvSpPr/>
            <p:nvPr/>
          </p:nvSpPr>
          <p:spPr>
            <a:xfrm>
              <a:off x="5691194" y="2553767"/>
              <a:ext cx="1389303" cy="98133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Decoder</a:t>
              </a:r>
              <a:endParaRPr lang="zh-TW" altLang="en-US" sz="2400" dirty="0"/>
            </a:p>
          </p:txBody>
        </p:sp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5524FE23-607D-976B-96A2-412FA7E01234}"/>
                </a:ext>
              </a:extLst>
            </p:cNvPr>
            <p:cNvSpPr/>
            <p:nvPr/>
          </p:nvSpPr>
          <p:spPr>
            <a:xfrm rot="5400000">
              <a:off x="4546456" y="2849562"/>
              <a:ext cx="766087" cy="32008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7" name="矩形 5">
              <a:extLst>
                <a:ext uri="{FF2B5EF4-FFF2-40B4-BE49-F238E27FC236}">
                  <a16:creationId xmlns:a16="http://schemas.microsoft.com/office/drawing/2014/main" id="{13BE4FDE-B0A5-91B5-F544-267D1A42AE60}"/>
                </a:ext>
              </a:extLst>
            </p:cNvPr>
            <p:cNvSpPr/>
            <p:nvPr/>
          </p:nvSpPr>
          <p:spPr>
            <a:xfrm>
              <a:off x="3939218" y="2774494"/>
              <a:ext cx="7896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b="1" i="1" u="sng" dirty="0"/>
                <a:t>code</a:t>
              </a:r>
              <a:endParaRPr lang="zh-TW" altLang="en-US" sz="2400" b="1" i="1" u="sng" dirty="0"/>
            </a:p>
          </p:txBody>
        </p:sp>
        <p:sp>
          <p:nvSpPr>
            <p:cNvPr id="8" name="向右箭號 6">
              <a:extLst>
                <a:ext uri="{FF2B5EF4-FFF2-40B4-BE49-F238E27FC236}">
                  <a16:creationId xmlns:a16="http://schemas.microsoft.com/office/drawing/2014/main" id="{1DC44E15-2EC0-69AA-19E9-4A7D41503726}"/>
                </a:ext>
              </a:extLst>
            </p:cNvPr>
            <p:cNvSpPr/>
            <p:nvPr/>
          </p:nvSpPr>
          <p:spPr>
            <a:xfrm>
              <a:off x="5170743" y="2774494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向右箭號 7">
              <a:extLst>
                <a:ext uri="{FF2B5EF4-FFF2-40B4-BE49-F238E27FC236}">
                  <a16:creationId xmlns:a16="http://schemas.microsoft.com/office/drawing/2014/main" id="{5F53D6DC-9561-A467-9DB1-3C90CBC5B4E9}"/>
                </a:ext>
              </a:extLst>
            </p:cNvPr>
            <p:cNvSpPr/>
            <p:nvPr/>
          </p:nvSpPr>
          <p:spPr>
            <a:xfrm>
              <a:off x="7080498" y="2787194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C243C07C-E240-6BAA-EA48-399374065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00950" y="2495962"/>
              <a:ext cx="1102229" cy="1018727"/>
            </a:xfrm>
            <a:prstGeom prst="rect">
              <a:avLst/>
            </a:prstGeom>
          </p:spPr>
        </p:pic>
      </p:grpSp>
      <p:sp>
        <p:nvSpPr>
          <p:cNvPr id="11" name="矩形 15">
            <a:extLst>
              <a:ext uri="{FF2B5EF4-FFF2-40B4-BE49-F238E27FC236}">
                <a16:creationId xmlns:a16="http://schemas.microsoft.com/office/drawing/2014/main" id="{E8CE2B5A-B2CB-E743-76C0-24AC12A1A1EC}"/>
              </a:ext>
            </a:extLst>
          </p:cNvPr>
          <p:cNvSpPr/>
          <p:nvPr/>
        </p:nvSpPr>
        <p:spPr>
          <a:xfrm>
            <a:off x="10031330" y="3021209"/>
            <a:ext cx="534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b="1" i="1" dirty="0"/>
              <a:t>2D</a:t>
            </a:r>
            <a:endParaRPr lang="zh-TW" altLang="en-US" sz="2400" b="1" i="1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62CBCFA-A277-3BF7-7E3A-2D6D6C7A4E91}"/>
              </a:ext>
            </a:extLst>
          </p:cNvPr>
          <p:cNvCxnSpPr>
            <a:cxnSpLocks/>
          </p:cNvCxnSpPr>
          <p:nvPr/>
        </p:nvCxnSpPr>
        <p:spPr>
          <a:xfrm>
            <a:off x="6232234" y="5718904"/>
            <a:ext cx="488781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7">
            <a:extLst>
              <a:ext uri="{FF2B5EF4-FFF2-40B4-BE49-F238E27FC236}">
                <a16:creationId xmlns:a16="http://schemas.microsoft.com/office/drawing/2014/main" id="{C49BDCFC-28E2-F718-CD33-18C31A15A79D}"/>
              </a:ext>
            </a:extLst>
          </p:cNvPr>
          <p:cNvCxnSpPr>
            <a:cxnSpLocks/>
          </p:cNvCxnSpPr>
          <p:nvPr/>
        </p:nvCxnSpPr>
        <p:spPr>
          <a:xfrm flipV="1">
            <a:off x="8668930" y="3171421"/>
            <a:ext cx="0" cy="505201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21">
            <a:extLst>
              <a:ext uri="{FF2B5EF4-FFF2-40B4-BE49-F238E27FC236}">
                <a16:creationId xmlns:a16="http://schemas.microsoft.com/office/drawing/2014/main" id="{1DA62757-C164-A37F-A505-161AE197408B}"/>
              </a:ext>
            </a:extLst>
          </p:cNvPr>
          <p:cNvSpPr txBox="1"/>
          <p:nvPr/>
        </p:nvSpPr>
        <p:spPr>
          <a:xfrm>
            <a:off x="5492006" y="5466593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5" name="文字方塊 22">
            <a:extLst>
              <a:ext uri="{FF2B5EF4-FFF2-40B4-BE49-F238E27FC236}">
                <a16:creationId xmlns:a16="http://schemas.microsoft.com/office/drawing/2014/main" id="{9AD2627C-05DF-305B-F087-7094FFA324CE}"/>
              </a:ext>
            </a:extLst>
          </p:cNvPr>
          <p:cNvSpPr txBox="1"/>
          <p:nvPr/>
        </p:nvSpPr>
        <p:spPr>
          <a:xfrm>
            <a:off x="11038842" y="5488071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6" name="橢圓 23">
            <a:extLst>
              <a:ext uri="{FF2B5EF4-FFF2-40B4-BE49-F238E27FC236}">
                <a16:creationId xmlns:a16="http://schemas.microsoft.com/office/drawing/2014/main" id="{8FFF3D32-0F7A-F8E2-F0A2-DC4755107E8A}"/>
              </a:ext>
            </a:extLst>
          </p:cNvPr>
          <p:cNvSpPr/>
          <p:nvPr/>
        </p:nvSpPr>
        <p:spPr>
          <a:xfrm>
            <a:off x="6274910" y="5601813"/>
            <a:ext cx="191224" cy="191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25">
                <a:extLst>
                  <a:ext uri="{FF2B5EF4-FFF2-40B4-BE49-F238E27FC236}">
                    <a16:creationId xmlns:a16="http://schemas.microsoft.com/office/drawing/2014/main" id="{1D5A6B35-BB53-C59D-571A-81B528B18070}"/>
                  </a:ext>
                </a:extLst>
              </p:cNvPr>
              <p:cNvSpPr txBox="1"/>
              <p:nvPr/>
            </p:nvSpPr>
            <p:spPr>
              <a:xfrm>
                <a:off x="5862120" y="5910128"/>
                <a:ext cx="925318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−1.5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25">
                <a:extLst>
                  <a:ext uri="{FF2B5EF4-FFF2-40B4-BE49-F238E27FC236}">
                    <a16:creationId xmlns:a16="http://schemas.microsoft.com/office/drawing/2014/main" id="{1D5A6B35-BB53-C59D-571A-81B528B18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120" y="5910128"/>
                <a:ext cx="925318" cy="623312"/>
              </a:xfrm>
              <a:prstGeom prst="rect">
                <a:avLst/>
              </a:prstGeom>
              <a:blipFill>
                <a:blip r:embed="rId3"/>
                <a:stretch>
                  <a:fillRect t="-2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26">
            <a:extLst>
              <a:ext uri="{FF2B5EF4-FFF2-40B4-BE49-F238E27FC236}">
                <a16:creationId xmlns:a16="http://schemas.microsoft.com/office/drawing/2014/main" id="{58115663-663A-EAEC-34E3-30F9577A84D6}"/>
              </a:ext>
            </a:extLst>
          </p:cNvPr>
          <p:cNvSpPr/>
          <p:nvPr/>
        </p:nvSpPr>
        <p:spPr>
          <a:xfrm>
            <a:off x="6420083" y="4097611"/>
            <a:ext cx="1404257" cy="7873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pic>
        <p:nvPicPr>
          <p:cNvPr id="19" name="圖片 27">
            <a:extLst>
              <a:ext uri="{FF2B5EF4-FFF2-40B4-BE49-F238E27FC236}">
                <a16:creationId xmlns:a16="http://schemas.microsoft.com/office/drawing/2014/main" id="{B1BECF67-1121-62CF-A7B2-F0425EF7C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72" y="4248247"/>
            <a:ext cx="486048" cy="486048"/>
          </a:xfrm>
          <a:prstGeom prst="rect">
            <a:avLst/>
          </a:prstGeom>
        </p:spPr>
      </p:pic>
      <p:sp>
        <p:nvSpPr>
          <p:cNvPr id="20" name="橢圓 28">
            <a:extLst>
              <a:ext uri="{FF2B5EF4-FFF2-40B4-BE49-F238E27FC236}">
                <a16:creationId xmlns:a16="http://schemas.microsoft.com/office/drawing/2014/main" id="{B67A59D5-0707-EA27-E99B-C38A65559913}"/>
              </a:ext>
            </a:extLst>
          </p:cNvPr>
          <p:cNvSpPr/>
          <p:nvPr/>
        </p:nvSpPr>
        <p:spPr>
          <a:xfrm>
            <a:off x="10811634" y="5619943"/>
            <a:ext cx="191224" cy="191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9">
                <a:extLst>
                  <a:ext uri="{FF2B5EF4-FFF2-40B4-BE49-F238E27FC236}">
                    <a16:creationId xmlns:a16="http://schemas.microsoft.com/office/drawing/2014/main" id="{5B668C88-6425-443F-369E-11415CA596E4}"/>
                  </a:ext>
                </a:extLst>
              </p:cNvPr>
              <p:cNvSpPr txBox="1"/>
              <p:nvPr/>
            </p:nvSpPr>
            <p:spPr>
              <a:xfrm>
                <a:off x="10559202" y="4836727"/>
                <a:ext cx="696088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9">
                <a:extLst>
                  <a:ext uri="{FF2B5EF4-FFF2-40B4-BE49-F238E27FC236}">
                    <a16:creationId xmlns:a16="http://schemas.microsoft.com/office/drawing/2014/main" id="{5B668C88-6425-443F-369E-11415CA59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202" y="4836727"/>
                <a:ext cx="696088" cy="623312"/>
              </a:xfrm>
              <a:prstGeom prst="rect">
                <a:avLst/>
              </a:prstGeom>
              <a:blipFill>
                <a:blip r:embed="rId5"/>
                <a:stretch>
                  <a:fillRect t="-196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30">
            <a:extLst>
              <a:ext uri="{FF2B5EF4-FFF2-40B4-BE49-F238E27FC236}">
                <a16:creationId xmlns:a16="http://schemas.microsoft.com/office/drawing/2014/main" id="{67B8E4FA-83F8-5E09-60FC-8B570071F1AD}"/>
              </a:ext>
            </a:extLst>
          </p:cNvPr>
          <p:cNvSpPr/>
          <p:nvPr/>
        </p:nvSpPr>
        <p:spPr>
          <a:xfrm>
            <a:off x="9730741" y="6309853"/>
            <a:ext cx="1389299" cy="7873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pic>
        <p:nvPicPr>
          <p:cNvPr id="23" name="圖片 32">
            <a:extLst>
              <a:ext uri="{FF2B5EF4-FFF2-40B4-BE49-F238E27FC236}">
                <a16:creationId xmlns:a16="http://schemas.microsoft.com/office/drawing/2014/main" id="{1FC9D7A9-7486-535B-7008-D2B609593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048" y="6309853"/>
            <a:ext cx="621393" cy="586871"/>
          </a:xfrm>
          <a:prstGeom prst="rect">
            <a:avLst/>
          </a:prstGeom>
        </p:spPr>
      </p:pic>
      <p:sp>
        <p:nvSpPr>
          <p:cNvPr id="24" name="手繪多邊形: 圖案 33">
            <a:extLst>
              <a:ext uri="{FF2B5EF4-FFF2-40B4-BE49-F238E27FC236}">
                <a16:creationId xmlns:a16="http://schemas.microsoft.com/office/drawing/2014/main" id="{6834985A-DC38-5F38-68AF-A03D988C9CE2}"/>
              </a:ext>
            </a:extLst>
          </p:cNvPr>
          <p:cNvSpPr/>
          <p:nvPr/>
        </p:nvSpPr>
        <p:spPr>
          <a:xfrm>
            <a:off x="5867420" y="4499703"/>
            <a:ext cx="522584" cy="1161143"/>
          </a:xfrm>
          <a:custGeom>
            <a:avLst/>
            <a:gdLst>
              <a:gd name="connsiteX0" fmla="*/ 493555 w 522584"/>
              <a:gd name="connsiteY0" fmla="*/ 1161143 h 1161143"/>
              <a:gd name="connsiteX1" fmla="*/ 69 w 522584"/>
              <a:gd name="connsiteY1" fmla="*/ 493486 h 1161143"/>
              <a:gd name="connsiteX2" fmla="*/ 522584 w 522584"/>
              <a:gd name="connsiteY2" fmla="*/ 0 h 116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584" h="1161143">
                <a:moveTo>
                  <a:pt x="493555" y="1161143"/>
                </a:moveTo>
                <a:cubicBezTo>
                  <a:pt x="244393" y="924076"/>
                  <a:pt x="-4769" y="687010"/>
                  <a:pt x="69" y="493486"/>
                </a:cubicBezTo>
                <a:cubicBezTo>
                  <a:pt x="4907" y="299962"/>
                  <a:pt x="263745" y="149981"/>
                  <a:pt x="522584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手繪多邊形: 圖案 34">
            <a:extLst>
              <a:ext uri="{FF2B5EF4-FFF2-40B4-BE49-F238E27FC236}">
                <a16:creationId xmlns:a16="http://schemas.microsoft.com/office/drawing/2014/main" id="{32EE3072-3783-9F2E-36A9-D47B68319E4A}"/>
              </a:ext>
            </a:extLst>
          </p:cNvPr>
          <p:cNvSpPr/>
          <p:nvPr/>
        </p:nvSpPr>
        <p:spPr>
          <a:xfrm rot="10959087">
            <a:off x="11003789" y="5786444"/>
            <a:ext cx="435533" cy="1108124"/>
          </a:xfrm>
          <a:custGeom>
            <a:avLst/>
            <a:gdLst>
              <a:gd name="connsiteX0" fmla="*/ 493555 w 522584"/>
              <a:gd name="connsiteY0" fmla="*/ 1161143 h 1161143"/>
              <a:gd name="connsiteX1" fmla="*/ 69 w 522584"/>
              <a:gd name="connsiteY1" fmla="*/ 493486 h 1161143"/>
              <a:gd name="connsiteX2" fmla="*/ 522584 w 522584"/>
              <a:gd name="connsiteY2" fmla="*/ 0 h 116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584" h="1161143">
                <a:moveTo>
                  <a:pt x="493555" y="1161143"/>
                </a:moveTo>
                <a:cubicBezTo>
                  <a:pt x="244393" y="924076"/>
                  <a:pt x="-4769" y="687010"/>
                  <a:pt x="69" y="493486"/>
                </a:cubicBezTo>
                <a:cubicBezTo>
                  <a:pt x="4907" y="299962"/>
                  <a:pt x="263745" y="149981"/>
                  <a:pt x="522584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36">
            <a:extLst>
              <a:ext uri="{FF2B5EF4-FFF2-40B4-BE49-F238E27FC236}">
                <a16:creationId xmlns:a16="http://schemas.microsoft.com/office/drawing/2014/main" id="{EFBDD0D8-85E3-7274-0786-DB584AF4078D}"/>
              </a:ext>
            </a:extLst>
          </p:cNvPr>
          <p:cNvCxnSpPr>
            <a:cxnSpLocks/>
          </p:cNvCxnSpPr>
          <p:nvPr/>
        </p:nvCxnSpPr>
        <p:spPr>
          <a:xfrm>
            <a:off x="7687218" y="4471628"/>
            <a:ext cx="3143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39">
            <a:extLst>
              <a:ext uri="{FF2B5EF4-FFF2-40B4-BE49-F238E27FC236}">
                <a16:creationId xmlns:a16="http://schemas.microsoft.com/office/drawing/2014/main" id="{EA2DB7B8-6441-2275-0536-3E3C1C2466F5}"/>
              </a:ext>
            </a:extLst>
          </p:cNvPr>
          <p:cNvCxnSpPr>
            <a:cxnSpLocks/>
          </p:cNvCxnSpPr>
          <p:nvPr/>
        </p:nvCxnSpPr>
        <p:spPr>
          <a:xfrm flipH="1">
            <a:off x="9416390" y="6673498"/>
            <a:ext cx="3143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18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7" grpId="0"/>
      <p:bldP spid="18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en-US" dirty="0"/>
          </a:p>
        </p:txBody>
      </p:sp>
      <p:pic>
        <p:nvPicPr>
          <p:cNvPr id="4" name="圖片 13">
            <a:extLst>
              <a:ext uri="{FF2B5EF4-FFF2-40B4-BE49-F238E27FC236}">
                <a16:creationId xmlns:a16="http://schemas.microsoft.com/office/drawing/2014/main" id="{5C87A017-4431-BA6B-2525-0AE695374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116" y="2943635"/>
            <a:ext cx="4777351" cy="4864080"/>
          </a:xfrm>
          <a:prstGeom prst="rect">
            <a:avLst/>
          </a:prstGeom>
        </p:spPr>
      </p:pic>
      <p:cxnSp>
        <p:nvCxnSpPr>
          <p:cNvPr id="5" name="直線單箭頭接點 11">
            <a:extLst>
              <a:ext uri="{FF2B5EF4-FFF2-40B4-BE49-F238E27FC236}">
                <a16:creationId xmlns:a16="http://schemas.microsoft.com/office/drawing/2014/main" id="{F3EECE97-0AD0-35E6-1BF4-E1D6D2194C3E}"/>
              </a:ext>
            </a:extLst>
          </p:cNvPr>
          <p:cNvCxnSpPr>
            <a:cxnSpLocks/>
          </p:cNvCxnSpPr>
          <p:nvPr/>
        </p:nvCxnSpPr>
        <p:spPr>
          <a:xfrm>
            <a:off x="6584116" y="5440439"/>
            <a:ext cx="488781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17">
            <a:extLst>
              <a:ext uri="{FF2B5EF4-FFF2-40B4-BE49-F238E27FC236}">
                <a16:creationId xmlns:a16="http://schemas.microsoft.com/office/drawing/2014/main" id="{C3ED66B7-F9C5-1E39-1A40-E44BC1F4588D}"/>
              </a:ext>
            </a:extLst>
          </p:cNvPr>
          <p:cNvCxnSpPr>
            <a:cxnSpLocks/>
          </p:cNvCxnSpPr>
          <p:nvPr/>
        </p:nvCxnSpPr>
        <p:spPr>
          <a:xfrm flipV="1">
            <a:off x="9020812" y="2892956"/>
            <a:ext cx="0" cy="505201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21">
            <a:extLst>
              <a:ext uri="{FF2B5EF4-FFF2-40B4-BE49-F238E27FC236}">
                <a16:creationId xmlns:a16="http://schemas.microsoft.com/office/drawing/2014/main" id="{56AF9F6C-B0A4-238C-1752-5EF8AE0709B1}"/>
              </a:ext>
            </a:extLst>
          </p:cNvPr>
          <p:cNvSpPr txBox="1"/>
          <p:nvPr/>
        </p:nvSpPr>
        <p:spPr>
          <a:xfrm>
            <a:off x="5843888" y="5188128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8" name="文字方塊 22">
            <a:extLst>
              <a:ext uri="{FF2B5EF4-FFF2-40B4-BE49-F238E27FC236}">
                <a16:creationId xmlns:a16="http://schemas.microsoft.com/office/drawing/2014/main" id="{E6A9EDCD-FE01-682D-413E-D4BBF123B025}"/>
              </a:ext>
            </a:extLst>
          </p:cNvPr>
          <p:cNvSpPr txBox="1"/>
          <p:nvPr/>
        </p:nvSpPr>
        <p:spPr>
          <a:xfrm>
            <a:off x="11390724" y="5209606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79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 vs VAE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2E05227-4646-F6AC-1FAF-19F941BBBC03}"/>
              </a:ext>
            </a:extLst>
          </p:cNvPr>
          <p:cNvGrpSpPr/>
          <p:nvPr/>
        </p:nvGrpSpPr>
        <p:grpSpPr>
          <a:xfrm>
            <a:off x="4520602" y="2184596"/>
            <a:ext cx="8446622" cy="2525744"/>
            <a:chOff x="341778" y="167831"/>
            <a:chExt cx="7667136" cy="2103914"/>
          </a:xfrm>
        </p:grpSpPr>
        <p:sp>
          <p:nvSpPr>
            <p:cNvPr id="130" name="矩形 12">
              <a:extLst>
                <a:ext uri="{FF2B5EF4-FFF2-40B4-BE49-F238E27FC236}">
                  <a16:creationId xmlns:a16="http://schemas.microsoft.com/office/drawing/2014/main" id="{7DF78830-16A2-109E-3CBB-4B5840E3EB4C}"/>
                </a:ext>
              </a:extLst>
            </p:cNvPr>
            <p:cNvSpPr/>
            <p:nvPr/>
          </p:nvSpPr>
          <p:spPr>
            <a:xfrm>
              <a:off x="2418421" y="864887"/>
              <a:ext cx="1308100" cy="1002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Encoder</a:t>
              </a:r>
              <a:endParaRPr lang="zh-TW" altLang="en-US" sz="2400" dirty="0"/>
            </a:p>
          </p:txBody>
        </p:sp>
        <p:sp>
          <p:nvSpPr>
            <p:cNvPr id="131" name="矩形 13">
              <a:extLst>
                <a:ext uri="{FF2B5EF4-FFF2-40B4-BE49-F238E27FC236}">
                  <a16:creationId xmlns:a16="http://schemas.microsoft.com/office/drawing/2014/main" id="{D314FB0B-1AFA-71B4-BD66-44722A1E950E}"/>
                </a:ext>
              </a:extLst>
            </p:cNvPr>
            <p:cNvSpPr/>
            <p:nvPr/>
          </p:nvSpPr>
          <p:spPr>
            <a:xfrm>
              <a:off x="5182056" y="895556"/>
              <a:ext cx="1308100" cy="98133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Decoder</a:t>
              </a:r>
              <a:endParaRPr lang="zh-TW" altLang="en-US" sz="2400" dirty="0"/>
            </a:p>
          </p:txBody>
        </p:sp>
        <p:sp>
          <p:nvSpPr>
            <p:cNvPr id="132" name="矩形 14">
              <a:extLst>
                <a:ext uri="{FF2B5EF4-FFF2-40B4-BE49-F238E27FC236}">
                  <a16:creationId xmlns:a16="http://schemas.microsoft.com/office/drawing/2014/main" id="{E3327ED9-AD1E-1D65-CEE9-9FD9D19E69DB}"/>
                </a:ext>
              </a:extLst>
            </p:cNvPr>
            <p:cNvSpPr/>
            <p:nvPr/>
          </p:nvSpPr>
          <p:spPr>
            <a:xfrm rot="5400000">
              <a:off x="3977357" y="1205987"/>
              <a:ext cx="1002280" cy="32008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133" name="矩形 15">
              <a:extLst>
                <a:ext uri="{FF2B5EF4-FFF2-40B4-BE49-F238E27FC236}">
                  <a16:creationId xmlns:a16="http://schemas.microsoft.com/office/drawing/2014/main" id="{F39A87E1-B964-D9EB-CAFA-B0FDE5C843B1}"/>
                </a:ext>
              </a:extLst>
            </p:cNvPr>
            <p:cNvSpPr/>
            <p:nvPr/>
          </p:nvSpPr>
          <p:spPr>
            <a:xfrm>
              <a:off x="4059469" y="1810080"/>
              <a:ext cx="7896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b="1" i="1" u="sng" dirty="0"/>
                <a:t>code</a:t>
              </a:r>
              <a:endParaRPr lang="zh-TW" altLang="en-US" sz="2400" b="1" i="1" u="sng" dirty="0"/>
            </a:p>
          </p:txBody>
        </p:sp>
        <p:sp>
          <p:nvSpPr>
            <p:cNvPr id="134" name="向右箭號 24">
              <a:extLst>
                <a:ext uri="{FF2B5EF4-FFF2-40B4-BE49-F238E27FC236}">
                  <a16:creationId xmlns:a16="http://schemas.microsoft.com/office/drawing/2014/main" id="{23696BC0-AD27-E1BF-3838-24E52E81E8B2}"/>
                </a:ext>
              </a:extLst>
            </p:cNvPr>
            <p:cNvSpPr/>
            <p:nvPr/>
          </p:nvSpPr>
          <p:spPr>
            <a:xfrm>
              <a:off x="3796080" y="1151737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5" name="矩形 26">
              <a:extLst>
                <a:ext uri="{FF2B5EF4-FFF2-40B4-BE49-F238E27FC236}">
                  <a16:creationId xmlns:a16="http://schemas.microsoft.com/office/drawing/2014/main" id="{4CFB08B7-15D8-4A6F-DCF0-E0425136E9C1}"/>
                </a:ext>
              </a:extLst>
            </p:cNvPr>
            <p:cNvSpPr/>
            <p:nvPr/>
          </p:nvSpPr>
          <p:spPr>
            <a:xfrm>
              <a:off x="1075371" y="1135192"/>
              <a:ext cx="84350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input</a:t>
              </a:r>
              <a:endParaRPr lang="zh-TW" altLang="en-US" sz="2400" dirty="0"/>
            </a:p>
          </p:txBody>
        </p:sp>
        <p:sp>
          <p:nvSpPr>
            <p:cNvPr id="136" name="向右箭號 24">
              <a:extLst>
                <a:ext uri="{FF2B5EF4-FFF2-40B4-BE49-F238E27FC236}">
                  <a16:creationId xmlns:a16="http://schemas.microsoft.com/office/drawing/2014/main" id="{7D478AA6-FD3F-BA86-2362-EBDFEB476C30}"/>
                </a:ext>
              </a:extLst>
            </p:cNvPr>
            <p:cNvSpPr/>
            <p:nvPr/>
          </p:nvSpPr>
          <p:spPr>
            <a:xfrm>
              <a:off x="4678477" y="1159045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7" name="矩形 28">
              <a:extLst>
                <a:ext uri="{FF2B5EF4-FFF2-40B4-BE49-F238E27FC236}">
                  <a16:creationId xmlns:a16="http://schemas.microsoft.com/office/drawing/2014/main" id="{0EF9193F-25DD-24F9-0598-69E7E33F985B}"/>
                </a:ext>
              </a:extLst>
            </p:cNvPr>
            <p:cNvSpPr/>
            <p:nvPr/>
          </p:nvSpPr>
          <p:spPr>
            <a:xfrm>
              <a:off x="6971451" y="1135193"/>
              <a:ext cx="10374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output</a:t>
              </a:r>
              <a:endParaRPr lang="zh-TW" altLang="en-US" sz="2400" dirty="0"/>
            </a:p>
          </p:txBody>
        </p:sp>
        <p:sp>
          <p:nvSpPr>
            <p:cNvPr id="138" name="向右箭號 24">
              <a:extLst>
                <a:ext uri="{FF2B5EF4-FFF2-40B4-BE49-F238E27FC236}">
                  <a16:creationId xmlns:a16="http://schemas.microsoft.com/office/drawing/2014/main" id="{D3096FE3-4ED8-C159-A789-D95125B5978A}"/>
                </a:ext>
              </a:extLst>
            </p:cNvPr>
            <p:cNvSpPr/>
            <p:nvPr/>
          </p:nvSpPr>
          <p:spPr>
            <a:xfrm>
              <a:off x="1949286" y="1135193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9" name="向右箭號 24">
              <a:extLst>
                <a:ext uri="{FF2B5EF4-FFF2-40B4-BE49-F238E27FC236}">
                  <a16:creationId xmlns:a16="http://schemas.microsoft.com/office/drawing/2014/main" id="{3BBAE730-6FCB-10A0-D6B3-318AE96C36EB}"/>
                </a:ext>
              </a:extLst>
            </p:cNvPr>
            <p:cNvSpPr/>
            <p:nvPr/>
          </p:nvSpPr>
          <p:spPr>
            <a:xfrm>
              <a:off x="6520156" y="1159045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0" name="文字方塊 7">
              <a:extLst>
                <a:ext uri="{FF2B5EF4-FFF2-40B4-BE49-F238E27FC236}">
                  <a16:creationId xmlns:a16="http://schemas.microsoft.com/office/drawing/2014/main" id="{DC07527B-6664-06D6-A6E1-400085C35A9C}"/>
                </a:ext>
              </a:extLst>
            </p:cNvPr>
            <p:cNvSpPr txBox="1"/>
            <p:nvPr/>
          </p:nvSpPr>
          <p:spPr>
            <a:xfrm>
              <a:off x="341778" y="167831"/>
              <a:ext cx="29120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b="1" i="1" u="sng" dirty="0"/>
                <a:t>Auto-encoder</a:t>
              </a:r>
              <a:endParaRPr lang="zh-TW" altLang="en-US" sz="2800" b="1" i="1" u="sng" dirty="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1979F2D-522B-120F-44D4-6F64BBD3E626}"/>
              </a:ext>
            </a:extLst>
          </p:cNvPr>
          <p:cNvGrpSpPr/>
          <p:nvPr/>
        </p:nvGrpSpPr>
        <p:grpSpPr>
          <a:xfrm>
            <a:off x="3132554" y="4957206"/>
            <a:ext cx="11097765" cy="5164068"/>
            <a:chOff x="50808" y="2010135"/>
            <a:chExt cx="9115321" cy="4698819"/>
          </a:xfrm>
        </p:grpSpPr>
        <p:sp>
          <p:nvSpPr>
            <p:cNvPr id="142" name="矩形 97">
              <a:extLst>
                <a:ext uri="{FF2B5EF4-FFF2-40B4-BE49-F238E27FC236}">
                  <a16:creationId xmlns:a16="http://schemas.microsoft.com/office/drawing/2014/main" id="{5221F114-709F-820E-9F4D-7C3BF7AB1550}"/>
                </a:ext>
              </a:extLst>
            </p:cNvPr>
            <p:cNvSpPr/>
            <p:nvPr/>
          </p:nvSpPr>
          <p:spPr>
            <a:xfrm>
              <a:off x="4657198" y="5349941"/>
              <a:ext cx="4279463" cy="1197771"/>
            </a:xfrm>
            <a:prstGeom prst="rect">
              <a:avLst/>
            </a:prstGeom>
            <a:noFill/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3" name="文字方塊 31">
              <a:extLst>
                <a:ext uri="{FF2B5EF4-FFF2-40B4-BE49-F238E27FC236}">
                  <a16:creationId xmlns:a16="http://schemas.microsoft.com/office/drawing/2014/main" id="{5832B021-AADE-2FC1-5364-760BC8B1C056}"/>
                </a:ext>
              </a:extLst>
            </p:cNvPr>
            <p:cNvSpPr txBox="1"/>
            <p:nvPr/>
          </p:nvSpPr>
          <p:spPr>
            <a:xfrm>
              <a:off x="355030" y="2010135"/>
              <a:ext cx="29120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b="1" i="1" u="sng" dirty="0"/>
                <a:t>VAE</a:t>
              </a:r>
              <a:endParaRPr lang="zh-TW" altLang="en-US" sz="2800" b="1" i="1" u="sng" dirty="0"/>
            </a:p>
          </p:txBody>
        </p:sp>
        <p:sp>
          <p:nvSpPr>
            <p:cNvPr id="144" name="矩形 32">
              <a:extLst>
                <a:ext uri="{FF2B5EF4-FFF2-40B4-BE49-F238E27FC236}">
                  <a16:creationId xmlns:a16="http://schemas.microsoft.com/office/drawing/2014/main" id="{5141281E-A4A6-6A11-0128-80B8CA746808}"/>
                </a:ext>
              </a:extLst>
            </p:cNvPr>
            <p:cNvSpPr/>
            <p:nvPr/>
          </p:nvSpPr>
          <p:spPr>
            <a:xfrm>
              <a:off x="1496812" y="3044034"/>
              <a:ext cx="1308100" cy="1002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Encoder</a:t>
              </a:r>
              <a:endParaRPr lang="zh-TW" altLang="en-US" sz="2400" dirty="0"/>
            </a:p>
          </p:txBody>
        </p:sp>
        <p:sp>
          <p:nvSpPr>
            <p:cNvPr id="145" name="向右箭號 24">
              <a:extLst>
                <a:ext uri="{FF2B5EF4-FFF2-40B4-BE49-F238E27FC236}">
                  <a16:creationId xmlns:a16="http://schemas.microsoft.com/office/drawing/2014/main" id="{AD2EF6C5-8150-54BA-894C-5C3D0E6DEA7B}"/>
                </a:ext>
              </a:extLst>
            </p:cNvPr>
            <p:cNvSpPr/>
            <p:nvPr/>
          </p:nvSpPr>
          <p:spPr>
            <a:xfrm rot="19527676">
              <a:off x="2902012" y="2847034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6" name="矩形 34">
              <a:extLst>
                <a:ext uri="{FF2B5EF4-FFF2-40B4-BE49-F238E27FC236}">
                  <a16:creationId xmlns:a16="http://schemas.microsoft.com/office/drawing/2014/main" id="{10F299FF-56AC-7A2E-75F5-EE14ECA1F832}"/>
                </a:ext>
              </a:extLst>
            </p:cNvPr>
            <p:cNvSpPr/>
            <p:nvPr/>
          </p:nvSpPr>
          <p:spPr>
            <a:xfrm>
              <a:off x="50808" y="3286106"/>
              <a:ext cx="84350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input</a:t>
              </a:r>
              <a:endParaRPr lang="zh-TW" altLang="en-US" sz="2400" dirty="0"/>
            </a:p>
          </p:txBody>
        </p:sp>
        <p:sp>
          <p:nvSpPr>
            <p:cNvPr id="147" name="向右箭號 24">
              <a:extLst>
                <a:ext uri="{FF2B5EF4-FFF2-40B4-BE49-F238E27FC236}">
                  <a16:creationId xmlns:a16="http://schemas.microsoft.com/office/drawing/2014/main" id="{7B90105D-BAC1-579A-B093-AD23DDA2444B}"/>
                </a:ext>
              </a:extLst>
            </p:cNvPr>
            <p:cNvSpPr/>
            <p:nvPr/>
          </p:nvSpPr>
          <p:spPr>
            <a:xfrm>
              <a:off x="924723" y="3286107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8" name="向右箭號 24">
              <a:extLst>
                <a:ext uri="{FF2B5EF4-FFF2-40B4-BE49-F238E27FC236}">
                  <a16:creationId xmlns:a16="http://schemas.microsoft.com/office/drawing/2014/main" id="{DC4015C8-0BCC-0D80-88C6-56A420298CA4}"/>
                </a:ext>
              </a:extLst>
            </p:cNvPr>
            <p:cNvSpPr/>
            <p:nvPr/>
          </p:nvSpPr>
          <p:spPr>
            <a:xfrm rot="2388685" flipV="1">
              <a:off x="2891979" y="3872210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9" name="矩形 39">
              <a:extLst>
                <a:ext uri="{FF2B5EF4-FFF2-40B4-BE49-F238E27FC236}">
                  <a16:creationId xmlns:a16="http://schemas.microsoft.com/office/drawing/2014/main" id="{00F16071-6897-DE73-B946-5E72BBC6DEB3}"/>
                </a:ext>
              </a:extLst>
            </p:cNvPr>
            <p:cNvSpPr/>
            <p:nvPr/>
          </p:nvSpPr>
          <p:spPr>
            <a:xfrm rot="5400000">
              <a:off x="5074116" y="3552806"/>
              <a:ext cx="1002280" cy="32008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150" name="矩形 40">
              <a:extLst>
                <a:ext uri="{FF2B5EF4-FFF2-40B4-BE49-F238E27FC236}">
                  <a16:creationId xmlns:a16="http://schemas.microsoft.com/office/drawing/2014/main" id="{E3FB9211-B48A-58D3-6FE0-4736C8C630ED}"/>
                </a:ext>
              </a:extLst>
            </p:cNvPr>
            <p:cNvSpPr/>
            <p:nvPr/>
          </p:nvSpPr>
          <p:spPr>
            <a:xfrm>
              <a:off x="6339271" y="3203213"/>
              <a:ext cx="1308100" cy="98133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Decoder</a:t>
              </a:r>
              <a:endParaRPr lang="zh-TW" altLang="en-US" sz="2400" dirty="0"/>
            </a:p>
          </p:txBody>
        </p:sp>
        <p:sp>
          <p:nvSpPr>
            <p:cNvPr id="151" name="矩形 41">
              <a:extLst>
                <a:ext uri="{FF2B5EF4-FFF2-40B4-BE49-F238E27FC236}">
                  <a16:creationId xmlns:a16="http://schemas.microsoft.com/office/drawing/2014/main" id="{93A26E3C-EC0B-816B-F75A-0AB348EC2E56}"/>
                </a:ext>
              </a:extLst>
            </p:cNvPr>
            <p:cNvSpPr/>
            <p:nvPr/>
          </p:nvSpPr>
          <p:spPr>
            <a:xfrm>
              <a:off x="8128666" y="3442850"/>
              <a:ext cx="10374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output</a:t>
              </a:r>
              <a:endParaRPr lang="zh-TW" altLang="en-US" sz="2400" dirty="0"/>
            </a:p>
          </p:txBody>
        </p:sp>
        <p:sp>
          <p:nvSpPr>
            <p:cNvPr id="152" name="向右箭號 24">
              <a:extLst>
                <a:ext uri="{FF2B5EF4-FFF2-40B4-BE49-F238E27FC236}">
                  <a16:creationId xmlns:a16="http://schemas.microsoft.com/office/drawing/2014/main" id="{B4FBB743-390F-FB2C-C84F-0366E900B559}"/>
                </a:ext>
              </a:extLst>
            </p:cNvPr>
            <p:cNvSpPr/>
            <p:nvPr/>
          </p:nvSpPr>
          <p:spPr>
            <a:xfrm>
              <a:off x="7677371" y="3466702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53" name="群組 46">
              <a:extLst>
                <a:ext uri="{FF2B5EF4-FFF2-40B4-BE49-F238E27FC236}">
                  <a16:creationId xmlns:a16="http://schemas.microsoft.com/office/drawing/2014/main" id="{E84C0052-8ADE-2AC4-5D0B-84E87CD80D33}"/>
                </a:ext>
              </a:extLst>
            </p:cNvPr>
            <p:cNvGrpSpPr/>
            <p:nvPr/>
          </p:nvGrpSpPr>
          <p:grpSpPr>
            <a:xfrm>
              <a:off x="3302978" y="2402729"/>
              <a:ext cx="608032" cy="1085259"/>
              <a:chOff x="3289409" y="2450377"/>
              <a:chExt cx="608032" cy="1085259"/>
            </a:xfrm>
          </p:grpSpPr>
          <p:sp>
            <p:nvSpPr>
              <p:cNvPr id="186" name="矩形 37">
                <a:extLst>
                  <a:ext uri="{FF2B5EF4-FFF2-40B4-BE49-F238E27FC236}">
                    <a16:creationId xmlns:a16="http://schemas.microsoft.com/office/drawing/2014/main" id="{671F44B0-1FC7-DBE8-A0F6-F1336DC5A0CD}"/>
                  </a:ext>
                </a:extLst>
              </p:cNvPr>
              <p:cNvSpPr/>
              <p:nvPr/>
            </p:nvSpPr>
            <p:spPr>
              <a:xfrm rot="5400000">
                <a:off x="3077793" y="2817349"/>
                <a:ext cx="1002280" cy="43429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p:sp>
            <p:nvSpPr>
              <p:cNvPr id="187" name="文字方塊 43">
                <a:extLst>
                  <a:ext uri="{FF2B5EF4-FFF2-40B4-BE49-F238E27FC236}">
                    <a16:creationId xmlns:a16="http://schemas.microsoft.com/office/drawing/2014/main" id="{CCFBF5EE-03DD-3977-A774-EAB8B80E5F52}"/>
                  </a:ext>
                </a:extLst>
              </p:cNvPr>
              <p:cNvSpPr txBox="1"/>
              <p:nvPr/>
            </p:nvSpPr>
            <p:spPr>
              <a:xfrm>
                <a:off x="3292442" y="2450377"/>
                <a:ext cx="6049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m</a:t>
                </a:r>
                <a:r>
                  <a:rPr lang="en-US" altLang="zh-TW" sz="2400" baseline="-25000" dirty="0"/>
                  <a:t>1</a:t>
                </a:r>
                <a:endParaRPr lang="zh-TW" altLang="en-US" sz="2400" baseline="-25000" dirty="0"/>
              </a:p>
            </p:txBody>
          </p:sp>
          <p:sp>
            <p:nvSpPr>
              <p:cNvPr id="188" name="文字方塊 44">
                <a:extLst>
                  <a:ext uri="{FF2B5EF4-FFF2-40B4-BE49-F238E27FC236}">
                    <a16:creationId xmlns:a16="http://schemas.microsoft.com/office/drawing/2014/main" id="{6D0076CF-B5EF-F250-3D0A-CBFCB90D3D24}"/>
                  </a:ext>
                </a:extLst>
              </p:cNvPr>
              <p:cNvSpPr txBox="1"/>
              <p:nvPr/>
            </p:nvSpPr>
            <p:spPr>
              <a:xfrm>
                <a:off x="3290983" y="2761667"/>
                <a:ext cx="6049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m</a:t>
                </a:r>
                <a:r>
                  <a:rPr lang="en-US" altLang="zh-TW" sz="2400" baseline="-25000" dirty="0"/>
                  <a:t>2</a:t>
                </a:r>
                <a:endParaRPr lang="zh-TW" altLang="en-US" sz="2400" baseline="-25000" dirty="0"/>
              </a:p>
            </p:txBody>
          </p:sp>
          <p:sp>
            <p:nvSpPr>
              <p:cNvPr id="189" name="文字方塊 45">
                <a:extLst>
                  <a:ext uri="{FF2B5EF4-FFF2-40B4-BE49-F238E27FC236}">
                    <a16:creationId xmlns:a16="http://schemas.microsoft.com/office/drawing/2014/main" id="{620E6208-E85C-1540-0544-19FD9CC3E353}"/>
                  </a:ext>
                </a:extLst>
              </p:cNvPr>
              <p:cNvSpPr txBox="1"/>
              <p:nvPr/>
            </p:nvSpPr>
            <p:spPr>
              <a:xfrm>
                <a:off x="3289409" y="3072957"/>
                <a:ext cx="6049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m</a:t>
                </a:r>
                <a:r>
                  <a:rPr lang="en-US" altLang="zh-TW" sz="2400" baseline="-25000" dirty="0"/>
                  <a:t>3</a:t>
                </a:r>
                <a:endParaRPr lang="zh-TW" altLang="en-US" sz="2400" baseline="-25000" dirty="0"/>
              </a:p>
            </p:txBody>
          </p:sp>
        </p:grpSp>
        <p:grpSp>
          <p:nvGrpSpPr>
            <p:cNvPr id="154" name="群組 47">
              <a:extLst>
                <a:ext uri="{FF2B5EF4-FFF2-40B4-BE49-F238E27FC236}">
                  <a16:creationId xmlns:a16="http://schemas.microsoft.com/office/drawing/2014/main" id="{B28725B8-5057-3D42-1260-23D7AC5410AB}"/>
                </a:ext>
              </a:extLst>
            </p:cNvPr>
            <p:cNvGrpSpPr/>
            <p:nvPr/>
          </p:nvGrpSpPr>
          <p:grpSpPr>
            <a:xfrm>
              <a:off x="3317412" y="3514417"/>
              <a:ext cx="604999" cy="1085259"/>
              <a:chOff x="3292442" y="2450377"/>
              <a:chExt cx="604999" cy="1085259"/>
            </a:xfrm>
          </p:grpSpPr>
          <p:sp>
            <p:nvSpPr>
              <p:cNvPr id="184" name="矩形 48">
                <a:extLst>
                  <a:ext uri="{FF2B5EF4-FFF2-40B4-BE49-F238E27FC236}">
                    <a16:creationId xmlns:a16="http://schemas.microsoft.com/office/drawing/2014/main" id="{FB0F616C-644D-CB8B-72C2-1D030BFB727B}"/>
                  </a:ext>
                </a:extLst>
              </p:cNvPr>
              <p:cNvSpPr/>
              <p:nvPr/>
            </p:nvSpPr>
            <p:spPr>
              <a:xfrm rot="5400000">
                <a:off x="3077793" y="2817349"/>
                <a:ext cx="1002280" cy="43429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文字方塊 49">
                    <a:extLst>
                      <a:ext uri="{FF2B5EF4-FFF2-40B4-BE49-F238E27FC236}">
                        <a16:creationId xmlns:a16="http://schemas.microsoft.com/office/drawing/2014/main" id="{1D9FFCAC-8C40-ADE1-75E8-55EEEEDC2E1D}"/>
                      </a:ext>
                    </a:extLst>
                  </p:cNvPr>
                  <p:cNvSpPr txBox="1"/>
                  <p:nvPr/>
                </p:nvSpPr>
                <p:spPr>
                  <a:xfrm>
                    <a:off x="3292442" y="2450377"/>
                    <a:ext cx="604999" cy="4531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aseline="-25000" dirty="0"/>
                  </a:p>
                </p:txBody>
              </p:sp>
            </mc:Choice>
            <mc:Fallback xmlns="">
              <p:sp>
                <p:nvSpPr>
                  <p:cNvPr id="50" name="文字方塊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2442" y="2450377"/>
                    <a:ext cx="604999" cy="45313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405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字方塊 52">
                  <a:extLst>
                    <a:ext uri="{FF2B5EF4-FFF2-40B4-BE49-F238E27FC236}">
                      <a16:creationId xmlns:a16="http://schemas.microsoft.com/office/drawing/2014/main" id="{06B77DDF-BCEA-8162-36BA-FEE5CA494420}"/>
                    </a:ext>
                  </a:extLst>
                </p:cNvPr>
                <p:cNvSpPr txBox="1"/>
                <p:nvPr/>
              </p:nvSpPr>
              <p:spPr>
                <a:xfrm>
                  <a:off x="3327631" y="3851761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155" name="文字方塊 52">
                  <a:extLst>
                    <a:ext uri="{FF2B5EF4-FFF2-40B4-BE49-F238E27FC236}">
                      <a16:creationId xmlns:a16="http://schemas.microsoft.com/office/drawing/2014/main" id="{06B77DDF-BCEA-8162-36BA-FEE5CA494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7631" y="3851761"/>
                  <a:ext cx="604999" cy="4531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字方塊 53">
                  <a:extLst>
                    <a:ext uri="{FF2B5EF4-FFF2-40B4-BE49-F238E27FC236}">
                      <a16:creationId xmlns:a16="http://schemas.microsoft.com/office/drawing/2014/main" id="{45BE5E80-714D-735A-0D58-9B49D06D836B}"/>
                    </a:ext>
                  </a:extLst>
                </p:cNvPr>
                <p:cNvSpPr txBox="1"/>
                <p:nvPr/>
              </p:nvSpPr>
              <p:spPr>
                <a:xfrm>
                  <a:off x="3343289" y="4175853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156" name="文字方塊 53">
                  <a:extLst>
                    <a:ext uri="{FF2B5EF4-FFF2-40B4-BE49-F238E27FC236}">
                      <a16:creationId xmlns:a16="http://schemas.microsoft.com/office/drawing/2014/main" id="{45BE5E80-714D-735A-0D58-9B49D06D8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3289" y="4175853"/>
                  <a:ext cx="604999" cy="4531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群組 60">
              <a:extLst>
                <a:ext uri="{FF2B5EF4-FFF2-40B4-BE49-F238E27FC236}">
                  <a16:creationId xmlns:a16="http://schemas.microsoft.com/office/drawing/2014/main" id="{2F0684A8-54F7-9CEC-9BAE-C73599C91C99}"/>
                </a:ext>
              </a:extLst>
            </p:cNvPr>
            <p:cNvGrpSpPr/>
            <p:nvPr/>
          </p:nvGrpSpPr>
          <p:grpSpPr>
            <a:xfrm>
              <a:off x="3301754" y="4638657"/>
              <a:ext cx="630876" cy="1114573"/>
              <a:chOff x="3256489" y="4960311"/>
              <a:chExt cx="630876" cy="1114573"/>
            </a:xfrm>
          </p:grpSpPr>
          <p:sp>
            <p:nvSpPr>
              <p:cNvPr id="180" name="矩形 55">
                <a:extLst>
                  <a:ext uri="{FF2B5EF4-FFF2-40B4-BE49-F238E27FC236}">
                    <a16:creationId xmlns:a16="http://schemas.microsoft.com/office/drawing/2014/main" id="{EEC06EF8-8983-C106-4AE2-29202EF1E726}"/>
                  </a:ext>
                </a:extLst>
              </p:cNvPr>
              <p:cNvSpPr/>
              <p:nvPr/>
            </p:nvSpPr>
            <p:spPr>
              <a:xfrm rot="5400000">
                <a:off x="3041840" y="5327283"/>
                <a:ext cx="1002280" cy="43429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文字方塊 58">
                    <a:extLst>
                      <a:ext uri="{FF2B5EF4-FFF2-40B4-BE49-F238E27FC236}">
                        <a16:creationId xmlns:a16="http://schemas.microsoft.com/office/drawing/2014/main" id="{66274313-1169-45F9-D4C3-55EC4A7888D4}"/>
                      </a:ext>
                    </a:extLst>
                  </p:cNvPr>
                  <p:cNvSpPr txBox="1"/>
                  <p:nvPr/>
                </p:nvSpPr>
                <p:spPr>
                  <a:xfrm>
                    <a:off x="3282366" y="5621747"/>
                    <a:ext cx="604999" cy="4531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aseline="-25000" dirty="0"/>
                  </a:p>
                </p:txBody>
              </p:sp>
            </mc:Choice>
            <mc:Fallback xmlns="">
              <p:sp>
                <p:nvSpPr>
                  <p:cNvPr id="59" name="文字方塊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2366" y="5621747"/>
                    <a:ext cx="604999" cy="4531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05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文字方塊 56">
                    <a:extLst>
                      <a:ext uri="{FF2B5EF4-FFF2-40B4-BE49-F238E27FC236}">
                        <a16:creationId xmlns:a16="http://schemas.microsoft.com/office/drawing/2014/main" id="{CB0D25EA-336F-AB67-D694-4221E9F84C7B}"/>
                      </a:ext>
                    </a:extLst>
                  </p:cNvPr>
                  <p:cNvSpPr txBox="1"/>
                  <p:nvPr/>
                </p:nvSpPr>
                <p:spPr>
                  <a:xfrm>
                    <a:off x="3256489" y="4960311"/>
                    <a:ext cx="604999" cy="4531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aseline="-25000" dirty="0"/>
                  </a:p>
                </p:txBody>
              </p:sp>
            </mc:Choice>
            <mc:Fallback xmlns="">
              <p:sp>
                <p:nvSpPr>
                  <p:cNvPr id="57" name="文字方塊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6489" y="4960311"/>
                    <a:ext cx="604999" cy="4531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4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文字方塊 57">
                    <a:extLst>
                      <a:ext uri="{FF2B5EF4-FFF2-40B4-BE49-F238E27FC236}">
                        <a16:creationId xmlns:a16="http://schemas.microsoft.com/office/drawing/2014/main" id="{FCB7C918-213B-7BC1-477F-388DDD8BE95F}"/>
                      </a:ext>
                    </a:extLst>
                  </p:cNvPr>
                  <p:cNvSpPr txBox="1"/>
                  <p:nvPr/>
                </p:nvSpPr>
                <p:spPr>
                  <a:xfrm>
                    <a:off x="3266708" y="5297655"/>
                    <a:ext cx="604999" cy="4531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baseline="-25000" dirty="0"/>
                  </a:p>
                </p:txBody>
              </p:sp>
            </mc:Choice>
            <mc:Fallback xmlns="">
              <p:sp>
                <p:nvSpPr>
                  <p:cNvPr id="58" name="文字方塊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6708" y="5297655"/>
                    <a:ext cx="604999" cy="4531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405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8" name="文字方塊 62">
              <a:extLst>
                <a:ext uri="{FF2B5EF4-FFF2-40B4-BE49-F238E27FC236}">
                  <a16:creationId xmlns:a16="http://schemas.microsoft.com/office/drawing/2014/main" id="{23B4A150-B67D-0310-1FC1-D0BA79F802A3}"/>
                </a:ext>
              </a:extLst>
            </p:cNvPr>
            <p:cNvSpPr txBox="1"/>
            <p:nvPr/>
          </p:nvSpPr>
          <p:spPr>
            <a:xfrm>
              <a:off x="1321736" y="4806521"/>
              <a:ext cx="19971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From a normal distribution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字方塊 63">
                  <a:extLst>
                    <a:ext uri="{FF2B5EF4-FFF2-40B4-BE49-F238E27FC236}">
                      <a16:creationId xmlns:a16="http://schemas.microsoft.com/office/drawing/2014/main" id="{87946E7B-26DD-7C7E-C86F-16BD10972EE0}"/>
                    </a:ext>
                  </a:extLst>
                </p:cNvPr>
                <p:cNvSpPr txBox="1"/>
                <p:nvPr/>
              </p:nvSpPr>
              <p:spPr>
                <a:xfrm>
                  <a:off x="5323678" y="3801458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159" name="文字方塊 63">
                  <a:extLst>
                    <a:ext uri="{FF2B5EF4-FFF2-40B4-BE49-F238E27FC236}">
                      <a16:creationId xmlns:a16="http://schemas.microsoft.com/office/drawing/2014/main" id="{87946E7B-26DD-7C7E-C86F-16BD10972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3678" y="3801458"/>
                  <a:ext cx="604999" cy="4531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字方塊 64">
                  <a:extLst>
                    <a:ext uri="{FF2B5EF4-FFF2-40B4-BE49-F238E27FC236}">
                      <a16:creationId xmlns:a16="http://schemas.microsoft.com/office/drawing/2014/main" id="{5A1F3B5B-2646-F74B-AE76-424F00B44143}"/>
                    </a:ext>
                  </a:extLst>
                </p:cNvPr>
                <p:cNvSpPr txBox="1"/>
                <p:nvPr/>
              </p:nvSpPr>
              <p:spPr>
                <a:xfrm>
                  <a:off x="5297801" y="3140022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160" name="文字方塊 64">
                  <a:extLst>
                    <a:ext uri="{FF2B5EF4-FFF2-40B4-BE49-F238E27FC236}">
                      <a16:creationId xmlns:a16="http://schemas.microsoft.com/office/drawing/2014/main" id="{5A1F3B5B-2646-F74B-AE76-424F00B44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7801" y="3140022"/>
                  <a:ext cx="604999" cy="4531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65">
                  <a:extLst>
                    <a:ext uri="{FF2B5EF4-FFF2-40B4-BE49-F238E27FC236}">
                      <a16:creationId xmlns:a16="http://schemas.microsoft.com/office/drawing/2014/main" id="{CD375867-79A5-9DE1-62CD-94A91A9BCCD2}"/>
                    </a:ext>
                  </a:extLst>
                </p:cNvPr>
                <p:cNvSpPr txBox="1"/>
                <p:nvPr/>
              </p:nvSpPr>
              <p:spPr>
                <a:xfrm>
                  <a:off x="5308020" y="3477366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161" name="文字方塊 65">
                  <a:extLst>
                    <a:ext uri="{FF2B5EF4-FFF2-40B4-BE49-F238E27FC236}">
                      <a16:creationId xmlns:a16="http://schemas.microsoft.com/office/drawing/2014/main" id="{CD375867-79A5-9DE1-62CD-94A91A9BCC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8020" y="3477366"/>
                  <a:ext cx="604999" cy="4531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2" name="向右箭號 24">
              <a:extLst>
                <a:ext uri="{FF2B5EF4-FFF2-40B4-BE49-F238E27FC236}">
                  <a16:creationId xmlns:a16="http://schemas.microsoft.com/office/drawing/2014/main" id="{7DC1A03D-7F88-B78B-A17B-5DEF91A1B0B2}"/>
                </a:ext>
              </a:extLst>
            </p:cNvPr>
            <p:cNvSpPr/>
            <p:nvPr/>
          </p:nvSpPr>
          <p:spPr>
            <a:xfrm>
              <a:off x="5826834" y="3463233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3" name="橢圓 67">
              <a:extLst>
                <a:ext uri="{FF2B5EF4-FFF2-40B4-BE49-F238E27FC236}">
                  <a16:creationId xmlns:a16="http://schemas.microsoft.com/office/drawing/2014/main" id="{4BC36585-1EAF-0139-5EA5-18166AE8021E}"/>
                </a:ext>
              </a:extLst>
            </p:cNvPr>
            <p:cNvSpPr/>
            <p:nvPr/>
          </p:nvSpPr>
          <p:spPr>
            <a:xfrm>
              <a:off x="4105867" y="4440521"/>
              <a:ext cx="425178" cy="4251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  <p:sp>
          <p:nvSpPr>
            <p:cNvPr id="164" name="橢圓 68">
              <a:extLst>
                <a:ext uri="{FF2B5EF4-FFF2-40B4-BE49-F238E27FC236}">
                  <a16:creationId xmlns:a16="http://schemas.microsoft.com/office/drawing/2014/main" id="{0D7EAF2E-4345-5C50-2E8D-7324C3DCEEF2}"/>
                </a:ext>
              </a:extLst>
            </p:cNvPr>
            <p:cNvSpPr/>
            <p:nvPr/>
          </p:nvSpPr>
          <p:spPr>
            <a:xfrm>
              <a:off x="4736710" y="3491345"/>
              <a:ext cx="425178" cy="4251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+</a:t>
              </a:r>
              <a:endParaRPr lang="zh-TW" altLang="en-US" sz="2400" dirty="0"/>
            </a:p>
          </p:txBody>
        </p:sp>
        <p:sp>
          <p:nvSpPr>
            <p:cNvPr id="165" name="文字方塊 69">
              <a:extLst>
                <a:ext uri="{FF2B5EF4-FFF2-40B4-BE49-F238E27FC236}">
                  <a16:creationId xmlns:a16="http://schemas.microsoft.com/office/drawing/2014/main" id="{2B789341-077F-D9C7-7ED5-3294B6FDA825}"/>
                </a:ext>
              </a:extLst>
            </p:cNvPr>
            <p:cNvSpPr txBox="1"/>
            <p:nvPr/>
          </p:nvSpPr>
          <p:spPr>
            <a:xfrm>
              <a:off x="5909807" y="2196892"/>
              <a:ext cx="2829727" cy="830997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Minimize reconstruction error</a:t>
              </a:r>
              <a:endParaRPr lang="zh-TW" altLang="en-US" sz="2400" dirty="0"/>
            </a:p>
          </p:txBody>
        </p:sp>
        <p:cxnSp>
          <p:nvCxnSpPr>
            <p:cNvPr id="166" name="直線接點 71">
              <a:extLst>
                <a:ext uri="{FF2B5EF4-FFF2-40B4-BE49-F238E27FC236}">
                  <a16:creationId xmlns:a16="http://schemas.microsoft.com/office/drawing/2014/main" id="{52C8AA53-4363-CFF7-10F3-4266ED3B35A1}"/>
                </a:ext>
              </a:extLst>
            </p:cNvPr>
            <p:cNvCxnSpPr/>
            <p:nvPr/>
          </p:nvCxnSpPr>
          <p:spPr>
            <a:xfrm>
              <a:off x="3891488" y="5291072"/>
              <a:ext cx="42696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接點 73">
              <a:extLst>
                <a:ext uri="{FF2B5EF4-FFF2-40B4-BE49-F238E27FC236}">
                  <a16:creationId xmlns:a16="http://schemas.microsoft.com/office/drawing/2014/main" id="{EF383B72-C0E3-5267-6A54-3614F87E8719}"/>
                </a:ext>
              </a:extLst>
            </p:cNvPr>
            <p:cNvCxnSpPr/>
            <p:nvPr/>
          </p:nvCxnSpPr>
          <p:spPr>
            <a:xfrm>
              <a:off x="3881660" y="4098535"/>
              <a:ext cx="42696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線接點 74">
              <a:extLst>
                <a:ext uri="{FF2B5EF4-FFF2-40B4-BE49-F238E27FC236}">
                  <a16:creationId xmlns:a16="http://schemas.microsoft.com/office/drawing/2014/main" id="{E50F15FC-C508-2E29-B656-FD04507751F6}"/>
                </a:ext>
              </a:extLst>
            </p:cNvPr>
            <p:cNvCxnSpPr>
              <a:endCxn id="163" idx="0"/>
            </p:cNvCxnSpPr>
            <p:nvPr/>
          </p:nvCxnSpPr>
          <p:spPr>
            <a:xfrm>
              <a:off x="4318456" y="4116429"/>
              <a:ext cx="0" cy="3240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線接點 78">
              <a:extLst>
                <a:ext uri="{FF2B5EF4-FFF2-40B4-BE49-F238E27FC236}">
                  <a16:creationId xmlns:a16="http://schemas.microsoft.com/office/drawing/2014/main" id="{1E09557F-703C-5746-B3E2-3EF3710BA788}"/>
                </a:ext>
              </a:extLst>
            </p:cNvPr>
            <p:cNvCxnSpPr/>
            <p:nvPr/>
          </p:nvCxnSpPr>
          <p:spPr>
            <a:xfrm>
              <a:off x="4318456" y="4863813"/>
              <a:ext cx="0" cy="42725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線接點 80">
              <a:extLst>
                <a:ext uri="{FF2B5EF4-FFF2-40B4-BE49-F238E27FC236}">
                  <a16:creationId xmlns:a16="http://schemas.microsoft.com/office/drawing/2014/main" id="{3B5493DF-F6A8-D23E-55C2-5B134EEE3051}"/>
                </a:ext>
              </a:extLst>
            </p:cNvPr>
            <p:cNvCxnSpPr/>
            <p:nvPr/>
          </p:nvCxnSpPr>
          <p:spPr>
            <a:xfrm>
              <a:off x="3833988" y="2988643"/>
              <a:ext cx="111531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線接點 82">
              <a:extLst>
                <a:ext uri="{FF2B5EF4-FFF2-40B4-BE49-F238E27FC236}">
                  <a16:creationId xmlns:a16="http://schemas.microsoft.com/office/drawing/2014/main" id="{21C4486E-36EF-3B18-CD6D-3A8F86712E6B}"/>
                </a:ext>
              </a:extLst>
            </p:cNvPr>
            <p:cNvCxnSpPr/>
            <p:nvPr/>
          </p:nvCxnSpPr>
          <p:spPr>
            <a:xfrm>
              <a:off x="4510866" y="4653110"/>
              <a:ext cx="43843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線接點 84">
              <a:extLst>
                <a:ext uri="{FF2B5EF4-FFF2-40B4-BE49-F238E27FC236}">
                  <a16:creationId xmlns:a16="http://schemas.microsoft.com/office/drawing/2014/main" id="{1B48770D-E866-DF33-2C99-7BD4E0F9C6B3}"/>
                </a:ext>
              </a:extLst>
            </p:cNvPr>
            <p:cNvCxnSpPr/>
            <p:nvPr/>
          </p:nvCxnSpPr>
          <p:spPr>
            <a:xfrm flipV="1">
              <a:off x="4949300" y="3967554"/>
              <a:ext cx="0" cy="6855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線接點 86">
              <a:extLst>
                <a:ext uri="{FF2B5EF4-FFF2-40B4-BE49-F238E27FC236}">
                  <a16:creationId xmlns:a16="http://schemas.microsoft.com/office/drawing/2014/main" id="{BE25C0F4-98F0-4306-4740-F10B8A21589D}"/>
                </a:ext>
              </a:extLst>
            </p:cNvPr>
            <p:cNvCxnSpPr>
              <a:stCxn id="164" idx="0"/>
            </p:cNvCxnSpPr>
            <p:nvPr/>
          </p:nvCxnSpPr>
          <p:spPr>
            <a:xfrm flipV="1">
              <a:off x="4949299" y="2928386"/>
              <a:ext cx="0" cy="56295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線接點 88">
              <a:extLst>
                <a:ext uri="{FF2B5EF4-FFF2-40B4-BE49-F238E27FC236}">
                  <a16:creationId xmlns:a16="http://schemas.microsoft.com/office/drawing/2014/main" id="{C39E19F3-56C4-3408-0886-098E7BDABC07}"/>
                </a:ext>
              </a:extLst>
            </p:cNvPr>
            <p:cNvCxnSpPr/>
            <p:nvPr/>
          </p:nvCxnSpPr>
          <p:spPr>
            <a:xfrm>
              <a:off x="5161888" y="3712846"/>
              <a:ext cx="25332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字方塊 93">
                  <a:extLst>
                    <a:ext uri="{FF2B5EF4-FFF2-40B4-BE49-F238E27FC236}">
                      <a16:creationId xmlns:a16="http://schemas.microsoft.com/office/drawing/2014/main" id="{ADDC548C-F648-8A46-9091-9E029548773C}"/>
                    </a:ext>
                  </a:extLst>
                </p:cNvPr>
                <p:cNvSpPr txBox="1"/>
                <p:nvPr/>
              </p:nvSpPr>
              <p:spPr>
                <a:xfrm>
                  <a:off x="4730082" y="5407010"/>
                  <a:ext cx="4272645" cy="10382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4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75" name="文字方塊 93">
                  <a:extLst>
                    <a:ext uri="{FF2B5EF4-FFF2-40B4-BE49-F238E27FC236}">
                      <a16:creationId xmlns:a16="http://schemas.microsoft.com/office/drawing/2014/main" id="{ADDC548C-F648-8A46-9091-9E0295487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0082" y="5407010"/>
                  <a:ext cx="4272645" cy="1038298"/>
                </a:xfrm>
                <a:prstGeom prst="rect">
                  <a:avLst/>
                </a:prstGeom>
                <a:blipFill>
                  <a:blip r:embed="rId11"/>
                  <a:stretch>
                    <a:fillRect l="-12683" t="-105495" b="-1505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6" name="文字方塊 94">
              <a:extLst>
                <a:ext uri="{FF2B5EF4-FFF2-40B4-BE49-F238E27FC236}">
                  <a16:creationId xmlns:a16="http://schemas.microsoft.com/office/drawing/2014/main" id="{9B4F564A-B768-7794-15D6-4319EE3727CA}"/>
                </a:ext>
              </a:extLst>
            </p:cNvPr>
            <p:cNvSpPr txBox="1"/>
            <p:nvPr/>
          </p:nvSpPr>
          <p:spPr>
            <a:xfrm>
              <a:off x="3833825" y="3579585"/>
              <a:ext cx="6714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/>
                <a:t>exp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字方塊 95">
                  <a:extLst>
                    <a:ext uri="{FF2B5EF4-FFF2-40B4-BE49-F238E27FC236}">
                      <a16:creationId xmlns:a16="http://schemas.microsoft.com/office/drawing/2014/main" id="{04F7B2C0-1CF2-C975-1515-EED4A75A0507}"/>
                    </a:ext>
                  </a:extLst>
                </p:cNvPr>
                <p:cNvSpPr txBox="1"/>
                <p:nvPr/>
              </p:nvSpPr>
              <p:spPr>
                <a:xfrm>
                  <a:off x="5257715" y="4502639"/>
                  <a:ext cx="302756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77" name="文字方塊 95">
                  <a:extLst>
                    <a:ext uri="{FF2B5EF4-FFF2-40B4-BE49-F238E27FC236}">
                      <a16:creationId xmlns:a16="http://schemas.microsoft.com/office/drawing/2014/main" id="{04F7B2C0-1CF2-C975-1515-EED4A75A0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715" y="4502639"/>
                  <a:ext cx="3027560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8" name="文字方塊 96">
              <a:extLst>
                <a:ext uri="{FF2B5EF4-FFF2-40B4-BE49-F238E27FC236}">
                  <a16:creationId xmlns:a16="http://schemas.microsoft.com/office/drawing/2014/main" id="{A6C31672-3490-B098-8B4F-12583335498B}"/>
                </a:ext>
              </a:extLst>
            </p:cNvPr>
            <p:cNvSpPr txBox="1"/>
            <p:nvPr/>
          </p:nvSpPr>
          <p:spPr>
            <a:xfrm>
              <a:off x="5409401" y="5053314"/>
              <a:ext cx="1391392" cy="461665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Minimize</a:t>
              </a:r>
              <a:endParaRPr lang="zh-TW" altLang="en-US" sz="2400" dirty="0"/>
            </a:p>
          </p:txBody>
        </p:sp>
        <p:sp>
          <p:nvSpPr>
            <p:cNvPr id="179" name="矩形 1">
              <a:extLst>
                <a:ext uri="{FF2B5EF4-FFF2-40B4-BE49-F238E27FC236}">
                  <a16:creationId xmlns:a16="http://schemas.microsoft.com/office/drawing/2014/main" id="{97D76BBF-824D-DBF6-93D1-D3B81B155DFD}"/>
                </a:ext>
              </a:extLst>
            </p:cNvPr>
            <p:cNvSpPr/>
            <p:nvPr/>
          </p:nvSpPr>
          <p:spPr>
            <a:xfrm>
              <a:off x="300083" y="5877957"/>
              <a:ext cx="433845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400" dirty="0"/>
                <a:t>Auto-Encoding </a:t>
              </a:r>
              <a:r>
                <a:rPr lang="en-US" altLang="zh-TW" sz="2400" dirty="0" err="1"/>
                <a:t>Variational</a:t>
              </a:r>
              <a:r>
                <a:rPr lang="en-US" altLang="zh-TW" sz="2400" dirty="0"/>
                <a:t> Bayes, https://arxiv.org/abs/1312.6114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892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Problems of VAE</a:t>
            </a:r>
            <a:endParaRPr 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69C3BFCA-91C0-4594-B214-BF0F892B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251" y="2353261"/>
            <a:ext cx="12020551" cy="905520"/>
          </a:xfrm>
        </p:spPr>
        <p:txBody>
          <a:bodyPr/>
          <a:lstStyle/>
          <a:p>
            <a:r>
              <a:rPr lang="en-US" altLang="zh-TW" dirty="0"/>
              <a:t>It does not really try to simulate real images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0D6D33-9339-44EE-C5E1-1DF2DB18B924}"/>
              </a:ext>
            </a:extLst>
          </p:cNvPr>
          <p:cNvSpPr/>
          <p:nvPr/>
        </p:nvSpPr>
        <p:spPr>
          <a:xfrm>
            <a:off x="6239443" y="4861011"/>
            <a:ext cx="1367431" cy="11333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1FCE3D-D6F4-BF41-3056-B1A330012B78}"/>
              </a:ext>
            </a:extLst>
          </p:cNvPr>
          <p:cNvSpPr/>
          <p:nvPr/>
        </p:nvSpPr>
        <p:spPr>
          <a:xfrm rot="5400000">
            <a:off x="5042618" y="5242240"/>
            <a:ext cx="884778" cy="3345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DD7F64-7432-F441-FD3E-F1DA7E5A13E8}"/>
              </a:ext>
            </a:extLst>
          </p:cNvPr>
          <p:cNvSpPr/>
          <p:nvPr/>
        </p:nvSpPr>
        <p:spPr>
          <a:xfrm>
            <a:off x="4741785" y="4485182"/>
            <a:ext cx="11986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b="1" i="1" u="sng" dirty="0"/>
              <a:t>code</a:t>
            </a:r>
            <a:endParaRPr lang="zh-TW" altLang="en-US" sz="2400" b="1" i="1" u="sng" dirty="0"/>
          </a:p>
        </p:txBody>
      </p:sp>
      <p:sp>
        <p:nvSpPr>
          <p:cNvPr id="8" name="向右箭號 6">
            <a:extLst>
              <a:ext uri="{FF2B5EF4-FFF2-40B4-BE49-F238E27FC236}">
                <a16:creationId xmlns:a16="http://schemas.microsoft.com/office/drawing/2014/main" id="{40BF4FE2-A3BB-FE4E-3DBE-4C029E28B3C5}"/>
              </a:ext>
            </a:extLst>
          </p:cNvPr>
          <p:cNvSpPr/>
          <p:nvPr/>
        </p:nvSpPr>
        <p:spPr>
          <a:xfrm>
            <a:off x="5718992" y="5162250"/>
            <a:ext cx="494626" cy="53319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7">
            <a:extLst>
              <a:ext uri="{FF2B5EF4-FFF2-40B4-BE49-F238E27FC236}">
                <a16:creationId xmlns:a16="http://schemas.microsoft.com/office/drawing/2014/main" id="{9CFDCB68-D5A9-4FBD-DDD6-62A8E88BB011}"/>
              </a:ext>
            </a:extLst>
          </p:cNvPr>
          <p:cNvSpPr/>
          <p:nvPr/>
        </p:nvSpPr>
        <p:spPr>
          <a:xfrm>
            <a:off x="7628747" y="5174950"/>
            <a:ext cx="494626" cy="53319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10">
            <a:extLst>
              <a:ext uri="{FF2B5EF4-FFF2-40B4-BE49-F238E27FC236}">
                <a16:creationId xmlns:a16="http://schemas.microsoft.com/office/drawing/2014/main" id="{D57C6E1A-1FFF-B93F-F678-A2524389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568" y="4599007"/>
            <a:ext cx="1478701" cy="1538447"/>
          </a:xfrm>
          <a:prstGeom prst="rect">
            <a:avLst/>
          </a:prstGeom>
        </p:spPr>
      </p:pic>
      <p:sp>
        <p:nvSpPr>
          <p:cNvPr id="11" name="矩形 11">
            <a:extLst>
              <a:ext uri="{FF2B5EF4-FFF2-40B4-BE49-F238E27FC236}">
                <a16:creationId xmlns:a16="http://schemas.microsoft.com/office/drawing/2014/main" id="{4A8F4517-C0FD-388C-DAEE-A7E80B0F6EDB}"/>
              </a:ext>
            </a:extLst>
          </p:cNvPr>
          <p:cNvSpPr/>
          <p:nvPr/>
        </p:nvSpPr>
        <p:spPr>
          <a:xfrm>
            <a:off x="8301150" y="4785911"/>
            <a:ext cx="1198637" cy="127398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Output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pic>
        <p:nvPicPr>
          <p:cNvPr id="12" name="圖片 12">
            <a:extLst>
              <a:ext uri="{FF2B5EF4-FFF2-40B4-BE49-F238E27FC236}">
                <a16:creationId xmlns:a16="http://schemas.microsoft.com/office/drawing/2014/main" id="{3009D2CD-A4B7-C06D-1E90-936AADF58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826" y="6348603"/>
            <a:ext cx="1478701" cy="1538447"/>
          </a:xfrm>
          <a:prstGeom prst="rect">
            <a:avLst/>
          </a:prstGeom>
        </p:spPr>
      </p:pic>
      <p:pic>
        <p:nvPicPr>
          <p:cNvPr id="13" name="圖片 13">
            <a:extLst>
              <a:ext uri="{FF2B5EF4-FFF2-40B4-BE49-F238E27FC236}">
                <a16:creationId xmlns:a16="http://schemas.microsoft.com/office/drawing/2014/main" id="{96DEA5DA-776C-EB8E-2D62-A3BC6D77C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701" y="6363118"/>
            <a:ext cx="1478701" cy="1538447"/>
          </a:xfrm>
          <a:prstGeom prst="rect">
            <a:avLst/>
          </a:prstGeom>
        </p:spPr>
      </p:pic>
      <p:sp>
        <p:nvSpPr>
          <p:cNvPr id="14" name="矩形 14">
            <a:extLst>
              <a:ext uri="{FF2B5EF4-FFF2-40B4-BE49-F238E27FC236}">
                <a16:creationId xmlns:a16="http://schemas.microsoft.com/office/drawing/2014/main" id="{1FE4B433-CD78-EDAA-D666-96483DD55377}"/>
              </a:ext>
            </a:extLst>
          </p:cNvPr>
          <p:cNvSpPr/>
          <p:nvPr/>
        </p:nvSpPr>
        <p:spPr>
          <a:xfrm>
            <a:off x="7526644" y="7572422"/>
            <a:ext cx="91036" cy="921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5">
            <a:extLst>
              <a:ext uri="{FF2B5EF4-FFF2-40B4-BE49-F238E27FC236}">
                <a16:creationId xmlns:a16="http://schemas.microsoft.com/office/drawing/2014/main" id="{08381239-69C5-01DF-681A-A92B87372BD4}"/>
              </a:ext>
            </a:extLst>
          </p:cNvPr>
          <p:cNvSpPr/>
          <p:nvPr/>
        </p:nvSpPr>
        <p:spPr>
          <a:xfrm>
            <a:off x="10028162" y="7498037"/>
            <a:ext cx="91036" cy="921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8">
            <a:extLst>
              <a:ext uri="{FF2B5EF4-FFF2-40B4-BE49-F238E27FC236}">
                <a16:creationId xmlns:a16="http://schemas.microsoft.com/office/drawing/2014/main" id="{622BEA32-8B89-D878-77DC-B924220D57F2}"/>
              </a:ext>
            </a:extLst>
          </p:cNvPr>
          <p:cNvGrpSpPr/>
          <p:nvPr/>
        </p:nvGrpSpPr>
        <p:grpSpPr>
          <a:xfrm>
            <a:off x="9617140" y="4899733"/>
            <a:ext cx="2052350" cy="1159210"/>
            <a:chOff x="5366873" y="3093393"/>
            <a:chExt cx="1963301" cy="1003705"/>
          </a:xfrm>
        </p:grpSpPr>
        <p:sp>
          <p:nvSpPr>
            <p:cNvPr id="17" name="箭號: 左-右雙向 16">
              <a:extLst>
                <a:ext uri="{FF2B5EF4-FFF2-40B4-BE49-F238E27FC236}">
                  <a16:creationId xmlns:a16="http://schemas.microsoft.com/office/drawing/2014/main" id="{EE93CDF8-F560-C73A-9A29-211AD8EE5CAE}"/>
                </a:ext>
              </a:extLst>
            </p:cNvPr>
            <p:cNvSpPr/>
            <p:nvPr/>
          </p:nvSpPr>
          <p:spPr>
            <a:xfrm>
              <a:off x="5366873" y="3093393"/>
              <a:ext cx="1963301" cy="26994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B4C83C5-4F6B-9EA3-E3C9-41724EFFA676}"/>
                </a:ext>
              </a:extLst>
            </p:cNvPr>
            <p:cNvSpPr txBox="1"/>
            <p:nvPr/>
          </p:nvSpPr>
          <p:spPr>
            <a:xfrm>
              <a:off x="5416078" y="3266101"/>
              <a:ext cx="1843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As close as possible</a:t>
              </a:r>
              <a:endParaRPr lang="zh-TW" altLang="en-US" sz="2400" dirty="0"/>
            </a:p>
          </p:txBody>
        </p:sp>
      </p:grpSp>
      <p:sp>
        <p:nvSpPr>
          <p:cNvPr id="19" name="文字方塊 19">
            <a:extLst>
              <a:ext uri="{FF2B5EF4-FFF2-40B4-BE49-F238E27FC236}">
                <a16:creationId xmlns:a16="http://schemas.microsoft.com/office/drawing/2014/main" id="{DC8C646C-AF1B-C8AF-22AF-A0E5AC78B154}"/>
              </a:ext>
            </a:extLst>
          </p:cNvPr>
          <p:cNvSpPr txBox="1"/>
          <p:nvPr/>
        </p:nvSpPr>
        <p:spPr>
          <a:xfrm>
            <a:off x="2312378" y="6850316"/>
            <a:ext cx="507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One pixel difference from the target</a:t>
            </a:r>
            <a:endParaRPr lang="zh-TW" altLang="en-US" sz="2400" dirty="0"/>
          </a:p>
        </p:txBody>
      </p:sp>
      <p:sp>
        <p:nvSpPr>
          <p:cNvPr id="20" name="文字方塊 20">
            <a:extLst>
              <a:ext uri="{FF2B5EF4-FFF2-40B4-BE49-F238E27FC236}">
                <a16:creationId xmlns:a16="http://schemas.microsoft.com/office/drawing/2014/main" id="{830339A9-CE3A-6781-FCC8-14E4AB2D2B36}"/>
              </a:ext>
            </a:extLst>
          </p:cNvPr>
          <p:cNvSpPr txBox="1"/>
          <p:nvPr/>
        </p:nvSpPr>
        <p:spPr>
          <a:xfrm>
            <a:off x="10700402" y="6886993"/>
            <a:ext cx="522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One pixel difference from the target</a:t>
            </a:r>
            <a:endParaRPr lang="zh-TW" altLang="en-US" sz="2400" dirty="0"/>
          </a:p>
        </p:txBody>
      </p:sp>
      <p:sp>
        <p:nvSpPr>
          <p:cNvPr id="21" name="箭號: 向右 21">
            <a:extLst>
              <a:ext uri="{FF2B5EF4-FFF2-40B4-BE49-F238E27FC236}">
                <a16:creationId xmlns:a16="http://schemas.microsoft.com/office/drawing/2014/main" id="{C4425ADE-147C-C79B-95DE-F5E92A4131C4}"/>
              </a:ext>
            </a:extLst>
          </p:cNvPr>
          <p:cNvSpPr/>
          <p:nvPr/>
        </p:nvSpPr>
        <p:spPr>
          <a:xfrm rot="3205515">
            <a:off x="9295371" y="6078956"/>
            <a:ext cx="654288" cy="48552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2">
            <a:extLst>
              <a:ext uri="{FF2B5EF4-FFF2-40B4-BE49-F238E27FC236}">
                <a16:creationId xmlns:a16="http://schemas.microsoft.com/office/drawing/2014/main" id="{9CEE6880-7726-0B35-7603-821496F04D2E}"/>
              </a:ext>
            </a:extLst>
          </p:cNvPr>
          <p:cNvSpPr/>
          <p:nvPr/>
        </p:nvSpPr>
        <p:spPr>
          <a:xfrm rot="18394485" flipH="1">
            <a:off x="7864550" y="6087734"/>
            <a:ext cx="654288" cy="48552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3">
            <a:extLst>
              <a:ext uri="{FF2B5EF4-FFF2-40B4-BE49-F238E27FC236}">
                <a16:creationId xmlns:a16="http://schemas.microsoft.com/office/drawing/2014/main" id="{1E0B505B-D378-22DD-661C-EE3BFFCDD024}"/>
              </a:ext>
            </a:extLst>
          </p:cNvPr>
          <p:cNvSpPr txBox="1"/>
          <p:nvPr/>
        </p:nvSpPr>
        <p:spPr>
          <a:xfrm>
            <a:off x="7165106" y="7845449"/>
            <a:ext cx="1375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Realistic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文字方塊 24">
            <a:extLst>
              <a:ext uri="{FF2B5EF4-FFF2-40B4-BE49-F238E27FC236}">
                <a16:creationId xmlns:a16="http://schemas.microsoft.com/office/drawing/2014/main" id="{F816442F-92F5-F2C6-67AC-648649B32F21}"/>
              </a:ext>
            </a:extLst>
          </p:cNvPr>
          <p:cNvSpPr txBox="1"/>
          <p:nvPr/>
        </p:nvSpPr>
        <p:spPr>
          <a:xfrm>
            <a:off x="9213452" y="7841264"/>
            <a:ext cx="1375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Fake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92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9" grpId="0"/>
      <p:bldP spid="20" grpId="0"/>
      <p:bldP spid="21" grpId="0" animBg="1"/>
      <p:bldP spid="22" grpId="0" animBg="1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evolution of generation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FDEF04-8F0C-69BB-69C0-356EB19A04E6}"/>
              </a:ext>
            </a:extLst>
          </p:cNvPr>
          <p:cNvSpPr/>
          <p:nvPr/>
        </p:nvSpPr>
        <p:spPr>
          <a:xfrm>
            <a:off x="5808135" y="2848727"/>
            <a:ext cx="1643644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6E06B7DF-A8E8-ABF1-D274-570C3B8C22C7}"/>
              </a:ext>
            </a:extLst>
          </p:cNvPr>
          <p:cNvSpPr/>
          <p:nvPr/>
        </p:nvSpPr>
        <p:spPr>
          <a:xfrm>
            <a:off x="5808135" y="5427110"/>
            <a:ext cx="1643644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grpSp>
        <p:nvGrpSpPr>
          <p:cNvPr id="6" name="群組 8">
            <a:extLst>
              <a:ext uri="{FF2B5EF4-FFF2-40B4-BE49-F238E27FC236}">
                <a16:creationId xmlns:a16="http://schemas.microsoft.com/office/drawing/2014/main" id="{9177ECFF-BB35-0ACE-9CBB-5085F3A3338F}"/>
              </a:ext>
            </a:extLst>
          </p:cNvPr>
          <p:cNvGrpSpPr/>
          <p:nvPr/>
        </p:nvGrpSpPr>
        <p:grpSpPr>
          <a:xfrm>
            <a:off x="6880279" y="7034994"/>
            <a:ext cx="4456073" cy="808392"/>
            <a:chOff x="2192377" y="5867400"/>
            <a:chExt cx="4456073" cy="808392"/>
          </a:xfrm>
        </p:grpSpPr>
        <p:pic>
          <p:nvPicPr>
            <p:cNvPr id="7" name="Picture 2" descr="「mnist」的圖片搜尋結果">
              <a:extLst>
                <a:ext uri="{FF2B5EF4-FFF2-40B4-BE49-F238E27FC236}">
                  <a16:creationId xmlns:a16="http://schemas.microsoft.com/office/drawing/2014/main" id="{784C9B5C-F8C6-D88D-BA5B-8235AA090E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1177" y="5867400"/>
              <a:ext cx="2627273" cy="8083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08D4588-899C-3ED0-A252-37DB18F55F61}"/>
                </a:ext>
              </a:extLst>
            </p:cNvPr>
            <p:cNvSpPr txBox="1"/>
            <p:nvPr/>
          </p:nvSpPr>
          <p:spPr>
            <a:xfrm>
              <a:off x="2192377" y="6040763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Real images:</a:t>
              </a:r>
              <a:endParaRPr lang="zh-TW" altLang="en-US" sz="2400" dirty="0"/>
            </a:p>
          </p:txBody>
        </p:sp>
      </p:grpSp>
      <p:sp>
        <p:nvSpPr>
          <p:cNvPr id="9" name="矩形 16">
            <a:extLst>
              <a:ext uri="{FF2B5EF4-FFF2-40B4-BE49-F238E27FC236}">
                <a16:creationId xmlns:a16="http://schemas.microsoft.com/office/drawing/2014/main" id="{66613B67-7D9B-B82A-CDAE-4FCA2AEBE78D}"/>
              </a:ext>
            </a:extLst>
          </p:cNvPr>
          <p:cNvSpPr/>
          <p:nvPr/>
        </p:nvSpPr>
        <p:spPr>
          <a:xfrm>
            <a:off x="8683871" y="2839749"/>
            <a:ext cx="1643644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10" name="矩形 17">
            <a:extLst>
              <a:ext uri="{FF2B5EF4-FFF2-40B4-BE49-F238E27FC236}">
                <a16:creationId xmlns:a16="http://schemas.microsoft.com/office/drawing/2014/main" id="{80502BDB-43E2-10E4-E615-076060AC04DF}"/>
              </a:ext>
            </a:extLst>
          </p:cNvPr>
          <p:cNvSpPr/>
          <p:nvPr/>
        </p:nvSpPr>
        <p:spPr>
          <a:xfrm>
            <a:off x="8809865" y="5418132"/>
            <a:ext cx="1517650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11" name="矩形 18">
            <a:extLst>
              <a:ext uri="{FF2B5EF4-FFF2-40B4-BE49-F238E27FC236}">
                <a16:creationId xmlns:a16="http://schemas.microsoft.com/office/drawing/2014/main" id="{4D195C76-846A-EF42-0A7D-317ECDC5DA54}"/>
              </a:ext>
            </a:extLst>
          </p:cNvPr>
          <p:cNvSpPr/>
          <p:nvPr/>
        </p:nvSpPr>
        <p:spPr>
          <a:xfrm>
            <a:off x="11685601" y="2825222"/>
            <a:ext cx="1740411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v3</a:t>
            </a:r>
            <a:endParaRPr lang="zh-TW" altLang="en-US" sz="2400" dirty="0"/>
          </a:p>
        </p:txBody>
      </p:sp>
      <p:sp>
        <p:nvSpPr>
          <p:cNvPr id="12" name="矩形 19">
            <a:extLst>
              <a:ext uri="{FF2B5EF4-FFF2-40B4-BE49-F238E27FC236}">
                <a16:creationId xmlns:a16="http://schemas.microsoft.com/office/drawing/2014/main" id="{45F0D847-0CEE-13D4-4A7D-9BF8149CB46A}"/>
              </a:ext>
            </a:extLst>
          </p:cNvPr>
          <p:cNvSpPr/>
          <p:nvPr/>
        </p:nvSpPr>
        <p:spPr>
          <a:xfrm>
            <a:off x="11685602" y="5403605"/>
            <a:ext cx="1517650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v3</a:t>
            </a:r>
            <a:endParaRPr lang="zh-TW" altLang="en-US" sz="2400" dirty="0"/>
          </a:p>
        </p:txBody>
      </p:sp>
      <p:sp>
        <p:nvSpPr>
          <p:cNvPr id="13" name="箭號: 向右 20">
            <a:extLst>
              <a:ext uri="{FF2B5EF4-FFF2-40B4-BE49-F238E27FC236}">
                <a16:creationId xmlns:a16="http://schemas.microsoft.com/office/drawing/2014/main" id="{A88D44BB-2045-37E6-7A04-0C693519953E}"/>
              </a:ext>
            </a:extLst>
          </p:cNvPr>
          <p:cNvSpPr/>
          <p:nvPr/>
        </p:nvSpPr>
        <p:spPr>
          <a:xfrm>
            <a:off x="7685343" y="5737995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21">
            <a:extLst>
              <a:ext uri="{FF2B5EF4-FFF2-40B4-BE49-F238E27FC236}">
                <a16:creationId xmlns:a16="http://schemas.microsoft.com/office/drawing/2014/main" id="{10317D5D-CF7D-7724-6F2B-BB4280A94277}"/>
              </a:ext>
            </a:extLst>
          </p:cNvPr>
          <p:cNvSpPr/>
          <p:nvPr/>
        </p:nvSpPr>
        <p:spPr>
          <a:xfrm>
            <a:off x="10561080" y="5737995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右 22">
            <a:extLst>
              <a:ext uri="{FF2B5EF4-FFF2-40B4-BE49-F238E27FC236}">
                <a16:creationId xmlns:a16="http://schemas.microsoft.com/office/drawing/2014/main" id="{DA994C44-2937-36FF-8A52-DE2161CC7393}"/>
              </a:ext>
            </a:extLst>
          </p:cNvPr>
          <p:cNvSpPr/>
          <p:nvPr/>
        </p:nvSpPr>
        <p:spPr>
          <a:xfrm>
            <a:off x="7685343" y="3131455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23">
            <a:extLst>
              <a:ext uri="{FF2B5EF4-FFF2-40B4-BE49-F238E27FC236}">
                <a16:creationId xmlns:a16="http://schemas.microsoft.com/office/drawing/2014/main" id="{E2960E10-A1EA-1BF1-8ED7-03BB9FB3C32D}"/>
              </a:ext>
            </a:extLst>
          </p:cNvPr>
          <p:cNvSpPr/>
          <p:nvPr/>
        </p:nvSpPr>
        <p:spPr>
          <a:xfrm>
            <a:off x="10561080" y="3131455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24">
            <a:extLst>
              <a:ext uri="{FF2B5EF4-FFF2-40B4-BE49-F238E27FC236}">
                <a16:creationId xmlns:a16="http://schemas.microsoft.com/office/drawing/2014/main" id="{C0D5E92E-FBC2-9C62-9699-FED643A6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136" y="4459583"/>
            <a:ext cx="2205108" cy="543725"/>
          </a:xfrm>
          <a:prstGeom prst="rect">
            <a:avLst/>
          </a:prstGeom>
        </p:spPr>
      </p:pic>
      <p:pic>
        <p:nvPicPr>
          <p:cNvPr id="18" name="圖片 25">
            <a:extLst>
              <a:ext uri="{FF2B5EF4-FFF2-40B4-BE49-F238E27FC236}">
                <a16:creationId xmlns:a16="http://schemas.microsoft.com/office/drawing/2014/main" id="{199FCF47-E865-79C6-E2F6-B163D9033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556" y="4474530"/>
            <a:ext cx="2101787" cy="517832"/>
          </a:xfrm>
          <a:prstGeom prst="rect">
            <a:avLst/>
          </a:prstGeom>
        </p:spPr>
      </p:pic>
      <p:pic>
        <p:nvPicPr>
          <p:cNvPr id="19" name="圖片 26">
            <a:extLst>
              <a:ext uri="{FF2B5EF4-FFF2-40B4-BE49-F238E27FC236}">
                <a16:creationId xmlns:a16="http://schemas.microsoft.com/office/drawing/2014/main" id="{2F6AB61E-9F73-2615-DFCF-A954779BA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2837" y="4562298"/>
            <a:ext cx="1963180" cy="414004"/>
          </a:xfrm>
          <a:prstGeom prst="rect">
            <a:avLst/>
          </a:prstGeom>
        </p:spPr>
      </p:pic>
      <p:cxnSp>
        <p:nvCxnSpPr>
          <p:cNvPr id="20" name="直線單箭頭接點 28">
            <a:extLst>
              <a:ext uri="{FF2B5EF4-FFF2-40B4-BE49-F238E27FC236}">
                <a16:creationId xmlns:a16="http://schemas.microsoft.com/office/drawing/2014/main" id="{9267C669-26F5-4614-9AA0-1DE766E5BCB4}"/>
              </a:ext>
            </a:extLst>
          </p:cNvPr>
          <p:cNvCxnSpPr/>
          <p:nvPr/>
        </p:nvCxnSpPr>
        <p:spPr>
          <a:xfrm flipH="1">
            <a:off x="6662586" y="4154306"/>
            <a:ext cx="0" cy="41869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32">
            <a:extLst>
              <a:ext uri="{FF2B5EF4-FFF2-40B4-BE49-F238E27FC236}">
                <a16:creationId xmlns:a16="http://schemas.microsoft.com/office/drawing/2014/main" id="{6747033B-8CB6-E342-D4C1-ED8F51A3017F}"/>
              </a:ext>
            </a:extLst>
          </p:cNvPr>
          <p:cNvCxnSpPr/>
          <p:nvPr/>
        </p:nvCxnSpPr>
        <p:spPr>
          <a:xfrm flipH="1">
            <a:off x="9544119" y="4154306"/>
            <a:ext cx="0" cy="41869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33">
            <a:extLst>
              <a:ext uri="{FF2B5EF4-FFF2-40B4-BE49-F238E27FC236}">
                <a16:creationId xmlns:a16="http://schemas.microsoft.com/office/drawing/2014/main" id="{B33B1858-BCB9-C657-4C6F-B9A543AEFBD0}"/>
              </a:ext>
            </a:extLst>
          </p:cNvPr>
          <p:cNvCxnSpPr/>
          <p:nvPr/>
        </p:nvCxnSpPr>
        <p:spPr>
          <a:xfrm flipH="1">
            <a:off x="12425651" y="4154306"/>
            <a:ext cx="0" cy="41869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34">
            <a:extLst>
              <a:ext uri="{FF2B5EF4-FFF2-40B4-BE49-F238E27FC236}">
                <a16:creationId xmlns:a16="http://schemas.microsoft.com/office/drawing/2014/main" id="{8955DA1A-3F1D-F6CD-4C63-E9DEF82A9FF5}"/>
              </a:ext>
            </a:extLst>
          </p:cNvPr>
          <p:cNvCxnSpPr/>
          <p:nvPr/>
        </p:nvCxnSpPr>
        <p:spPr>
          <a:xfrm>
            <a:off x="6643840" y="4947036"/>
            <a:ext cx="0" cy="41869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35">
            <a:extLst>
              <a:ext uri="{FF2B5EF4-FFF2-40B4-BE49-F238E27FC236}">
                <a16:creationId xmlns:a16="http://schemas.microsoft.com/office/drawing/2014/main" id="{C2E4CF7C-8DF3-9D83-FA9C-16B82ACAFDAA}"/>
              </a:ext>
            </a:extLst>
          </p:cNvPr>
          <p:cNvCxnSpPr/>
          <p:nvPr/>
        </p:nvCxnSpPr>
        <p:spPr>
          <a:xfrm>
            <a:off x="9542302" y="4920030"/>
            <a:ext cx="0" cy="41869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36">
            <a:extLst>
              <a:ext uri="{FF2B5EF4-FFF2-40B4-BE49-F238E27FC236}">
                <a16:creationId xmlns:a16="http://schemas.microsoft.com/office/drawing/2014/main" id="{F27D0E76-477E-DA2D-CD2E-E1ACB49D463E}"/>
              </a:ext>
            </a:extLst>
          </p:cNvPr>
          <p:cNvCxnSpPr/>
          <p:nvPr/>
        </p:nvCxnSpPr>
        <p:spPr>
          <a:xfrm>
            <a:off x="12453787" y="4920030"/>
            <a:ext cx="0" cy="41869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37">
            <a:extLst>
              <a:ext uri="{FF2B5EF4-FFF2-40B4-BE49-F238E27FC236}">
                <a16:creationId xmlns:a16="http://schemas.microsoft.com/office/drawing/2014/main" id="{89FAB8BD-E469-D39D-A077-648C106C18B7}"/>
              </a:ext>
            </a:extLst>
          </p:cNvPr>
          <p:cNvCxnSpPr/>
          <p:nvPr/>
        </p:nvCxnSpPr>
        <p:spPr>
          <a:xfrm flipV="1">
            <a:off x="11143147" y="6711144"/>
            <a:ext cx="1310640" cy="41869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39">
            <a:extLst>
              <a:ext uri="{FF2B5EF4-FFF2-40B4-BE49-F238E27FC236}">
                <a16:creationId xmlns:a16="http://schemas.microsoft.com/office/drawing/2014/main" id="{A162FEA2-EE9B-AF89-D808-2C638902B8CD}"/>
              </a:ext>
            </a:extLst>
          </p:cNvPr>
          <p:cNvCxnSpPr/>
          <p:nvPr/>
        </p:nvCxnSpPr>
        <p:spPr>
          <a:xfrm flipH="1" flipV="1">
            <a:off x="6836725" y="6781572"/>
            <a:ext cx="1872354" cy="34827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41">
            <a:extLst>
              <a:ext uri="{FF2B5EF4-FFF2-40B4-BE49-F238E27FC236}">
                <a16:creationId xmlns:a16="http://schemas.microsoft.com/office/drawing/2014/main" id="{8789C8C2-9FAC-AA59-E46F-98128F9687DF}"/>
              </a:ext>
            </a:extLst>
          </p:cNvPr>
          <p:cNvCxnSpPr/>
          <p:nvPr/>
        </p:nvCxnSpPr>
        <p:spPr>
          <a:xfrm flipH="1" flipV="1">
            <a:off x="9568690" y="6711144"/>
            <a:ext cx="279135" cy="32385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44">
            <a:extLst>
              <a:ext uri="{FF2B5EF4-FFF2-40B4-BE49-F238E27FC236}">
                <a16:creationId xmlns:a16="http://schemas.microsoft.com/office/drawing/2014/main" id="{6CF787FD-0C02-A659-782C-D7016E8FDA26}"/>
              </a:ext>
            </a:extLst>
          </p:cNvPr>
          <p:cNvSpPr txBox="1"/>
          <p:nvPr/>
        </p:nvSpPr>
        <p:spPr>
          <a:xfrm>
            <a:off x="4450048" y="6641670"/>
            <a:ext cx="2227139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Binary </a:t>
            </a:r>
          </a:p>
          <a:p>
            <a:pPr algn="ctr"/>
            <a:r>
              <a:rPr lang="en-US" altLang="zh-TW" sz="2800" dirty="0"/>
              <a:t>Classifier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2643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 - Discriminator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332D01-40DA-73F5-9DB8-0A9950214408}"/>
              </a:ext>
            </a:extLst>
          </p:cNvPr>
          <p:cNvSpPr/>
          <p:nvPr/>
        </p:nvSpPr>
        <p:spPr>
          <a:xfrm>
            <a:off x="8323803" y="2868332"/>
            <a:ext cx="1634045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3182850-AAAB-97EB-1B71-2FFCE0E5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566" y="3248087"/>
            <a:ext cx="2461723" cy="606512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C340703-21F0-FB30-CCDE-44D076BE7737}"/>
              </a:ext>
            </a:extLst>
          </p:cNvPr>
          <p:cNvCxnSpPr/>
          <p:nvPr/>
        </p:nvCxnSpPr>
        <p:spPr>
          <a:xfrm>
            <a:off x="9990367" y="3510348"/>
            <a:ext cx="577552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id="{79BCDA43-A808-4B2A-E471-8D463126825A}"/>
              </a:ext>
            </a:extLst>
          </p:cNvPr>
          <p:cNvGrpSpPr/>
          <p:nvPr/>
        </p:nvGrpSpPr>
        <p:grpSpPr>
          <a:xfrm>
            <a:off x="8537387" y="4556566"/>
            <a:ext cx="4906235" cy="863597"/>
            <a:chOff x="-156166" y="5526052"/>
            <a:chExt cx="4906235" cy="863597"/>
          </a:xfrm>
        </p:grpSpPr>
        <p:pic>
          <p:nvPicPr>
            <p:cNvPr id="8" name="Picture 2" descr="「mnist」的圖片搜尋結果">
              <a:extLst>
                <a:ext uri="{FF2B5EF4-FFF2-40B4-BE49-F238E27FC236}">
                  <a16:creationId xmlns:a16="http://schemas.microsoft.com/office/drawing/2014/main" id="{54CD60CE-58E6-B9EF-7AF3-4F73E4AB8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3381" y="5526052"/>
              <a:ext cx="2806688" cy="863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2F93831-2913-4970-6805-FF333D711D70}"/>
                </a:ext>
              </a:extLst>
            </p:cNvPr>
            <p:cNvSpPr txBox="1"/>
            <p:nvPr/>
          </p:nvSpPr>
          <p:spPr>
            <a:xfrm>
              <a:off x="-156166" y="5784469"/>
              <a:ext cx="19127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Real images:</a:t>
              </a:r>
              <a:endParaRPr lang="zh-TW" altLang="en-US" sz="2400" dirty="0"/>
            </a:p>
          </p:txBody>
        </p:sp>
      </p:grpSp>
      <p:sp>
        <p:nvSpPr>
          <p:cNvPr id="10" name="矩形 11">
            <a:extLst>
              <a:ext uri="{FF2B5EF4-FFF2-40B4-BE49-F238E27FC236}">
                <a16:creationId xmlns:a16="http://schemas.microsoft.com/office/drawing/2014/main" id="{CD655713-E2A9-4176-7679-8008C5CB2266}"/>
              </a:ext>
            </a:extLst>
          </p:cNvPr>
          <p:cNvSpPr/>
          <p:nvPr/>
        </p:nvSpPr>
        <p:spPr>
          <a:xfrm>
            <a:off x="8254962" y="6465595"/>
            <a:ext cx="1634045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sp>
        <p:nvSpPr>
          <p:cNvPr id="11" name="矩形 12">
            <a:extLst>
              <a:ext uri="{FF2B5EF4-FFF2-40B4-BE49-F238E27FC236}">
                <a16:creationId xmlns:a16="http://schemas.microsoft.com/office/drawing/2014/main" id="{AF604B23-F47D-5C25-38F5-B5667EF417AF}"/>
              </a:ext>
            </a:extLst>
          </p:cNvPr>
          <p:cNvSpPr/>
          <p:nvPr/>
        </p:nvSpPr>
        <p:spPr>
          <a:xfrm>
            <a:off x="6240243" y="6582954"/>
            <a:ext cx="1049312" cy="104931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image</a:t>
            </a:r>
            <a:endParaRPr lang="zh-TW" altLang="en-US" sz="2400" dirty="0"/>
          </a:p>
        </p:txBody>
      </p:sp>
      <p:cxnSp>
        <p:nvCxnSpPr>
          <p:cNvPr id="12" name="直線單箭頭接點 13">
            <a:extLst>
              <a:ext uri="{FF2B5EF4-FFF2-40B4-BE49-F238E27FC236}">
                <a16:creationId xmlns:a16="http://schemas.microsoft.com/office/drawing/2014/main" id="{35FD4174-D5E7-DDE9-D91E-F8EA6E561174}"/>
              </a:ext>
            </a:extLst>
          </p:cNvPr>
          <p:cNvCxnSpPr/>
          <p:nvPr/>
        </p:nvCxnSpPr>
        <p:spPr>
          <a:xfrm>
            <a:off x="7610544" y="7111188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4">
            <a:extLst>
              <a:ext uri="{FF2B5EF4-FFF2-40B4-BE49-F238E27FC236}">
                <a16:creationId xmlns:a16="http://schemas.microsoft.com/office/drawing/2014/main" id="{9A6A0375-1DDE-9EBB-9AB1-7C8814F5C1BD}"/>
              </a:ext>
            </a:extLst>
          </p:cNvPr>
          <p:cNvCxnSpPr/>
          <p:nvPr/>
        </p:nvCxnSpPr>
        <p:spPr>
          <a:xfrm>
            <a:off x="10161370" y="7107612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5">
            <a:extLst>
              <a:ext uri="{FF2B5EF4-FFF2-40B4-BE49-F238E27FC236}">
                <a16:creationId xmlns:a16="http://schemas.microsoft.com/office/drawing/2014/main" id="{4F309E3B-2B30-CA63-EFB1-85B983761FB7}"/>
              </a:ext>
            </a:extLst>
          </p:cNvPr>
          <p:cNvSpPr txBox="1"/>
          <p:nvPr/>
        </p:nvSpPr>
        <p:spPr>
          <a:xfrm>
            <a:off x="10892811" y="6876779"/>
            <a:ext cx="1629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1/0</a:t>
            </a:r>
            <a:endParaRPr lang="zh-TW" altLang="en-US" sz="2400" dirty="0"/>
          </a:p>
        </p:txBody>
      </p:sp>
      <p:sp>
        <p:nvSpPr>
          <p:cNvPr id="15" name="文字方塊 16">
            <a:extLst>
              <a:ext uri="{FF2B5EF4-FFF2-40B4-BE49-F238E27FC236}">
                <a16:creationId xmlns:a16="http://schemas.microsoft.com/office/drawing/2014/main" id="{5EBAB174-63F7-B34D-2C40-33E1A352962E}"/>
              </a:ext>
            </a:extLst>
          </p:cNvPr>
          <p:cNvSpPr txBox="1"/>
          <p:nvPr/>
        </p:nvSpPr>
        <p:spPr>
          <a:xfrm>
            <a:off x="11318561" y="6876778"/>
            <a:ext cx="212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(real or fake)</a:t>
            </a:r>
            <a:endParaRPr lang="zh-TW" altLang="en-US" sz="2400" dirty="0"/>
          </a:p>
        </p:txBody>
      </p:sp>
      <p:sp>
        <p:nvSpPr>
          <p:cNvPr id="16" name="文字方塊 17">
            <a:extLst>
              <a:ext uri="{FF2B5EF4-FFF2-40B4-BE49-F238E27FC236}">
                <a16:creationId xmlns:a16="http://schemas.microsoft.com/office/drawing/2014/main" id="{46CA4634-D54C-97A7-CBCD-0F3DAA1EBB6B}"/>
              </a:ext>
            </a:extLst>
          </p:cNvPr>
          <p:cNvSpPr txBox="1"/>
          <p:nvPr/>
        </p:nvSpPr>
        <p:spPr>
          <a:xfrm>
            <a:off x="5756757" y="4614709"/>
            <a:ext cx="2567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Something like Decoder in VAE</a:t>
            </a:r>
            <a:endParaRPr lang="zh-TW" altLang="en-US" sz="2400" dirty="0"/>
          </a:p>
        </p:txBody>
      </p:sp>
      <p:sp>
        <p:nvSpPr>
          <p:cNvPr id="17" name="文字方塊 18">
            <a:extLst>
              <a:ext uri="{FF2B5EF4-FFF2-40B4-BE49-F238E27FC236}">
                <a16:creationId xmlns:a16="http://schemas.microsoft.com/office/drawing/2014/main" id="{F3CF3817-8F25-FC9B-93CD-F31F8E0304C2}"/>
              </a:ext>
            </a:extLst>
          </p:cNvPr>
          <p:cNvSpPr txBox="1"/>
          <p:nvPr/>
        </p:nvSpPr>
        <p:spPr>
          <a:xfrm>
            <a:off x="5102846" y="3076151"/>
            <a:ext cx="2745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Randomly sample a vector</a:t>
            </a:r>
            <a:endParaRPr lang="zh-TW" altLang="en-US" sz="2400" dirty="0"/>
          </a:p>
        </p:txBody>
      </p:sp>
      <p:cxnSp>
        <p:nvCxnSpPr>
          <p:cNvPr id="18" name="直線單箭頭接點 19">
            <a:extLst>
              <a:ext uri="{FF2B5EF4-FFF2-40B4-BE49-F238E27FC236}">
                <a16:creationId xmlns:a16="http://schemas.microsoft.com/office/drawing/2014/main" id="{3C4367F7-3BDC-D8D0-F43F-C76A1DA85FC3}"/>
              </a:ext>
            </a:extLst>
          </p:cNvPr>
          <p:cNvCxnSpPr/>
          <p:nvPr/>
        </p:nvCxnSpPr>
        <p:spPr>
          <a:xfrm>
            <a:off x="7805763" y="3510348"/>
            <a:ext cx="577552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20">
            <a:extLst>
              <a:ext uri="{FF2B5EF4-FFF2-40B4-BE49-F238E27FC236}">
                <a16:creationId xmlns:a16="http://schemas.microsoft.com/office/drawing/2014/main" id="{C4B04CEA-FDF7-959D-D492-62F7ABB740F2}"/>
              </a:ext>
            </a:extLst>
          </p:cNvPr>
          <p:cNvSpPr/>
          <p:nvPr/>
        </p:nvSpPr>
        <p:spPr>
          <a:xfrm>
            <a:off x="10670004" y="3251541"/>
            <a:ext cx="613416" cy="5969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21">
            <a:extLst>
              <a:ext uri="{FF2B5EF4-FFF2-40B4-BE49-F238E27FC236}">
                <a16:creationId xmlns:a16="http://schemas.microsoft.com/office/drawing/2014/main" id="{B99E1F1A-2BD3-9B2D-D768-A48C314BCF66}"/>
              </a:ext>
            </a:extLst>
          </p:cNvPr>
          <p:cNvSpPr/>
          <p:nvPr/>
        </p:nvSpPr>
        <p:spPr>
          <a:xfrm>
            <a:off x="11388630" y="3251541"/>
            <a:ext cx="613416" cy="5969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2">
            <a:extLst>
              <a:ext uri="{FF2B5EF4-FFF2-40B4-BE49-F238E27FC236}">
                <a16:creationId xmlns:a16="http://schemas.microsoft.com/office/drawing/2014/main" id="{5DDEBA54-AF36-29DC-492F-7CCA543DD501}"/>
              </a:ext>
            </a:extLst>
          </p:cNvPr>
          <p:cNvSpPr/>
          <p:nvPr/>
        </p:nvSpPr>
        <p:spPr>
          <a:xfrm>
            <a:off x="12064038" y="3251541"/>
            <a:ext cx="613416" cy="5969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3">
            <a:extLst>
              <a:ext uri="{FF2B5EF4-FFF2-40B4-BE49-F238E27FC236}">
                <a16:creationId xmlns:a16="http://schemas.microsoft.com/office/drawing/2014/main" id="{758F0AD0-E973-07B6-6CE3-4D308E56550D}"/>
              </a:ext>
            </a:extLst>
          </p:cNvPr>
          <p:cNvSpPr/>
          <p:nvPr/>
        </p:nvSpPr>
        <p:spPr>
          <a:xfrm>
            <a:off x="12738300" y="3251541"/>
            <a:ext cx="613416" cy="5969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4">
            <a:extLst>
              <a:ext uri="{FF2B5EF4-FFF2-40B4-BE49-F238E27FC236}">
                <a16:creationId xmlns:a16="http://schemas.microsoft.com/office/drawing/2014/main" id="{3A5454E0-C912-2FFC-2EA3-A4BD4B1F4541}"/>
              </a:ext>
            </a:extLst>
          </p:cNvPr>
          <p:cNvSpPr txBox="1"/>
          <p:nvPr/>
        </p:nvSpPr>
        <p:spPr>
          <a:xfrm>
            <a:off x="10807684" y="5319896"/>
            <a:ext cx="4191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文字方塊 25">
            <a:extLst>
              <a:ext uri="{FF2B5EF4-FFF2-40B4-BE49-F238E27FC236}">
                <a16:creationId xmlns:a16="http://schemas.microsoft.com/office/drawing/2014/main" id="{D03D92FD-DB77-1E0A-A457-DAC11762054E}"/>
              </a:ext>
            </a:extLst>
          </p:cNvPr>
          <p:cNvSpPr txBox="1"/>
          <p:nvPr/>
        </p:nvSpPr>
        <p:spPr>
          <a:xfrm>
            <a:off x="11466549" y="5319896"/>
            <a:ext cx="4191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5" name="文字方塊 26">
            <a:extLst>
              <a:ext uri="{FF2B5EF4-FFF2-40B4-BE49-F238E27FC236}">
                <a16:creationId xmlns:a16="http://schemas.microsoft.com/office/drawing/2014/main" id="{A5FB5878-B290-A698-129F-94FECC7246FD}"/>
              </a:ext>
            </a:extLst>
          </p:cNvPr>
          <p:cNvSpPr txBox="1"/>
          <p:nvPr/>
        </p:nvSpPr>
        <p:spPr>
          <a:xfrm>
            <a:off x="12161196" y="5319896"/>
            <a:ext cx="4191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6" name="文字方塊 27">
            <a:extLst>
              <a:ext uri="{FF2B5EF4-FFF2-40B4-BE49-F238E27FC236}">
                <a16:creationId xmlns:a16="http://schemas.microsoft.com/office/drawing/2014/main" id="{A8336698-4B3B-E35B-60B5-3BB2D97955AD}"/>
              </a:ext>
            </a:extLst>
          </p:cNvPr>
          <p:cNvSpPr txBox="1"/>
          <p:nvPr/>
        </p:nvSpPr>
        <p:spPr>
          <a:xfrm>
            <a:off x="12855843" y="5319896"/>
            <a:ext cx="4191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7" name="文字方塊 28">
            <a:extLst>
              <a:ext uri="{FF2B5EF4-FFF2-40B4-BE49-F238E27FC236}">
                <a16:creationId xmlns:a16="http://schemas.microsoft.com/office/drawing/2014/main" id="{7E809509-93FE-3DF7-666B-7FEA08944211}"/>
              </a:ext>
            </a:extLst>
          </p:cNvPr>
          <p:cNvSpPr txBox="1"/>
          <p:nvPr/>
        </p:nvSpPr>
        <p:spPr>
          <a:xfrm>
            <a:off x="10817379" y="3878856"/>
            <a:ext cx="419100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8" name="文字方塊 29">
            <a:extLst>
              <a:ext uri="{FF2B5EF4-FFF2-40B4-BE49-F238E27FC236}">
                <a16:creationId xmlns:a16="http://schemas.microsoft.com/office/drawing/2014/main" id="{33E134D5-55EE-FFB9-3773-5942BAD7AFC0}"/>
              </a:ext>
            </a:extLst>
          </p:cNvPr>
          <p:cNvSpPr txBox="1"/>
          <p:nvPr/>
        </p:nvSpPr>
        <p:spPr>
          <a:xfrm>
            <a:off x="11476244" y="3878856"/>
            <a:ext cx="419100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9" name="文字方塊 30">
            <a:extLst>
              <a:ext uri="{FF2B5EF4-FFF2-40B4-BE49-F238E27FC236}">
                <a16:creationId xmlns:a16="http://schemas.microsoft.com/office/drawing/2014/main" id="{BC814E92-9168-D18D-AD2D-A900C434AFF8}"/>
              </a:ext>
            </a:extLst>
          </p:cNvPr>
          <p:cNvSpPr txBox="1"/>
          <p:nvPr/>
        </p:nvSpPr>
        <p:spPr>
          <a:xfrm>
            <a:off x="12170891" y="3878856"/>
            <a:ext cx="419100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文字方塊 31">
            <a:extLst>
              <a:ext uri="{FF2B5EF4-FFF2-40B4-BE49-F238E27FC236}">
                <a16:creationId xmlns:a16="http://schemas.microsoft.com/office/drawing/2014/main" id="{E1251261-8E1A-E744-A342-0B4A578277CE}"/>
              </a:ext>
            </a:extLst>
          </p:cNvPr>
          <p:cNvSpPr txBox="1"/>
          <p:nvPr/>
        </p:nvSpPr>
        <p:spPr>
          <a:xfrm>
            <a:off x="12865538" y="3878856"/>
            <a:ext cx="419100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cxnSp>
        <p:nvCxnSpPr>
          <p:cNvPr id="31" name="直線接點 32">
            <a:extLst>
              <a:ext uri="{FF2B5EF4-FFF2-40B4-BE49-F238E27FC236}">
                <a16:creationId xmlns:a16="http://schemas.microsoft.com/office/drawing/2014/main" id="{3A67682D-44E8-2B69-865F-7B58349408E2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9071985" y="5712391"/>
            <a:ext cx="1434465" cy="75320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2">
            <a:extLst>
              <a:ext uri="{FF2B5EF4-FFF2-40B4-BE49-F238E27FC236}">
                <a16:creationId xmlns:a16="http://schemas.microsoft.com/office/drawing/2014/main" id="{2CB480E1-F18D-3817-6758-3103E8E05780}"/>
              </a:ext>
            </a:extLst>
          </p:cNvPr>
          <p:cNvSpPr/>
          <p:nvPr/>
        </p:nvSpPr>
        <p:spPr>
          <a:xfrm>
            <a:off x="10567919" y="3076151"/>
            <a:ext cx="2875703" cy="29345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3">
            <a:extLst>
              <a:ext uri="{FF2B5EF4-FFF2-40B4-BE49-F238E27FC236}">
                <a16:creationId xmlns:a16="http://schemas.microsoft.com/office/drawing/2014/main" id="{8259D341-74BE-BBB4-00C8-290510AFF66C}"/>
              </a:ext>
            </a:extLst>
          </p:cNvPr>
          <p:cNvCxnSpPr>
            <a:cxnSpLocks/>
          </p:cNvCxnSpPr>
          <p:nvPr/>
        </p:nvCxnSpPr>
        <p:spPr>
          <a:xfrm flipH="1">
            <a:off x="7651929" y="4066816"/>
            <a:ext cx="1105316" cy="61188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79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4" grpId="0"/>
      <p:bldP spid="15" grpId="0"/>
      <p:bldP spid="16" grpId="0"/>
      <p:bldP spid="17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 - Generator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FA50AA-856F-1AEF-3957-E1583DA9572D}"/>
              </a:ext>
            </a:extLst>
          </p:cNvPr>
          <p:cNvSpPr/>
          <p:nvPr/>
        </p:nvSpPr>
        <p:spPr>
          <a:xfrm>
            <a:off x="10391586" y="6423267"/>
            <a:ext cx="1681869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cxnSp>
        <p:nvCxnSpPr>
          <p:cNvPr id="5" name="直線單箭頭接點 5">
            <a:extLst>
              <a:ext uri="{FF2B5EF4-FFF2-40B4-BE49-F238E27FC236}">
                <a16:creationId xmlns:a16="http://schemas.microsoft.com/office/drawing/2014/main" id="{37ABEFA4-A5DE-7D2D-6117-18AF9E9AC938}"/>
              </a:ext>
            </a:extLst>
          </p:cNvPr>
          <p:cNvCxnSpPr/>
          <p:nvPr/>
        </p:nvCxnSpPr>
        <p:spPr>
          <a:xfrm>
            <a:off x="11116971" y="7744017"/>
            <a:ext cx="0" cy="41768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9">
            <a:extLst>
              <a:ext uri="{FF2B5EF4-FFF2-40B4-BE49-F238E27FC236}">
                <a16:creationId xmlns:a16="http://schemas.microsoft.com/office/drawing/2014/main" id="{8B6D10FC-27AD-5C5C-2C69-7E6211FFCA8E}"/>
              </a:ext>
            </a:extLst>
          </p:cNvPr>
          <p:cNvSpPr/>
          <p:nvPr/>
        </p:nvSpPr>
        <p:spPr>
          <a:xfrm>
            <a:off x="10391586" y="3368383"/>
            <a:ext cx="1681875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sp>
        <p:nvSpPr>
          <p:cNvPr id="7" name="文字方塊 11">
            <a:extLst>
              <a:ext uri="{FF2B5EF4-FFF2-40B4-BE49-F238E27FC236}">
                <a16:creationId xmlns:a16="http://schemas.microsoft.com/office/drawing/2014/main" id="{6FC6E852-4265-10E9-F4AE-AFFF45A3240B}"/>
              </a:ext>
            </a:extLst>
          </p:cNvPr>
          <p:cNvSpPr txBox="1"/>
          <p:nvPr/>
        </p:nvSpPr>
        <p:spPr>
          <a:xfrm>
            <a:off x="9171054" y="2330949"/>
            <a:ext cx="3998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Randomly sample a vector</a:t>
            </a:r>
            <a:endParaRPr lang="zh-TW" altLang="en-US" sz="2400" dirty="0"/>
          </a:p>
        </p:txBody>
      </p:sp>
      <p:cxnSp>
        <p:nvCxnSpPr>
          <p:cNvPr id="8" name="直線單箭頭接點 12">
            <a:extLst>
              <a:ext uri="{FF2B5EF4-FFF2-40B4-BE49-F238E27FC236}">
                <a16:creationId xmlns:a16="http://schemas.microsoft.com/office/drawing/2014/main" id="{A7E5B12B-042D-4B28-7FF2-D37655246749}"/>
              </a:ext>
            </a:extLst>
          </p:cNvPr>
          <p:cNvCxnSpPr/>
          <p:nvPr/>
        </p:nvCxnSpPr>
        <p:spPr>
          <a:xfrm>
            <a:off x="11151581" y="4660198"/>
            <a:ext cx="0" cy="386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群組 16">
            <a:extLst>
              <a:ext uri="{FF2B5EF4-FFF2-40B4-BE49-F238E27FC236}">
                <a16:creationId xmlns:a16="http://schemas.microsoft.com/office/drawing/2014/main" id="{C256B685-D75F-D4EF-63AB-8B23D8AC04E5}"/>
              </a:ext>
            </a:extLst>
          </p:cNvPr>
          <p:cNvGrpSpPr/>
          <p:nvPr/>
        </p:nvGrpSpPr>
        <p:grpSpPr>
          <a:xfrm>
            <a:off x="10689513" y="5047109"/>
            <a:ext cx="854917" cy="908717"/>
            <a:chOff x="6584318" y="4441441"/>
            <a:chExt cx="854917" cy="908717"/>
          </a:xfrm>
        </p:grpSpPr>
        <p:pic>
          <p:nvPicPr>
            <p:cNvPr id="10" name="圖片 14">
              <a:extLst>
                <a:ext uri="{FF2B5EF4-FFF2-40B4-BE49-F238E27FC236}">
                  <a16:creationId xmlns:a16="http://schemas.microsoft.com/office/drawing/2014/main" id="{396C6363-4948-FEB8-AD61-308806C84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14214" y="4441442"/>
              <a:ext cx="795127" cy="908716"/>
            </a:xfrm>
            <a:prstGeom prst="rect">
              <a:avLst/>
            </a:prstGeom>
          </p:spPr>
        </p:pic>
        <p:sp>
          <p:nvSpPr>
            <p:cNvPr id="11" name="矩形 15">
              <a:extLst>
                <a:ext uri="{FF2B5EF4-FFF2-40B4-BE49-F238E27FC236}">
                  <a16:creationId xmlns:a16="http://schemas.microsoft.com/office/drawing/2014/main" id="{038DCF62-8E95-E5EE-5A19-07D57170FA05}"/>
                </a:ext>
              </a:extLst>
            </p:cNvPr>
            <p:cNvSpPr/>
            <p:nvPr/>
          </p:nvSpPr>
          <p:spPr>
            <a:xfrm>
              <a:off x="6584318" y="4441441"/>
              <a:ext cx="854917" cy="8319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文字方塊 18">
            <a:extLst>
              <a:ext uri="{FF2B5EF4-FFF2-40B4-BE49-F238E27FC236}">
                <a16:creationId xmlns:a16="http://schemas.microsoft.com/office/drawing/2014/main" id="{65E2FF85-075C-5E3F-1EF9-5383D3FF4812}"/>
              </a:ext>
            </a:extLst>
          </p:cNvPr>
          <p:cNvSpPr txBox="1"/>
          <p:nvPr/>
        </p:nvSpPr>
        <p:spPr>
          <a:xfrm>
            <a:off x="10562335" y="8174742"/>
            <a:ext cx="1109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0.13</a:t>
            </a:r>
            <a:endParaRPr lang="zh-TW" altLang="en-US" sz="2400" dirty="0"/>
          </a:p>
        </p:txBody>
      </p:sp>
      <p:sp>
        <p:nvSpPr>
          <p:cNvPr id="13" name="文字方塊 19">
            <a:extLst>
              <a:ext uri="{FF2B5EF4-FFF2-40B4-BE49-F238E27FC236}">
                <a16:creationId xmlns:a16="http://schemas.microsoft.com/office/drawing/2014/main" id="{61940A0E-49F6-8905-6DAA-79EDFB7E87F8}"/>
              </a:ext>
            </a:extLst>
          </p:cNvPr>
          <p:cNvSpPr txBox="1"/>
          <p:nvPr/>
        </p:nvSpPr>
        <p:spPr>
          <a:xfrm>
            <a:off x="4195545" y="3733549"/>
            <a:ext cx="5352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Updating the parameters of generator </a:t>
            </a:r>
            <a:endParaRPr lang="zh-TW" altLang="en-US" sz="2400" dirty="0"/>
          </a:p>
        </p:txBody>
      </p:sp>
      <p:sp>
        <p:nvSpPr>
          <p:cNvPr id="14" name="文字方塊 20">
            <a:extLst>
              <a:ext uri="{FF2B5EF4-FFF2-40B4-BE49-F238E27FC236}">
                <a16:creationId xmlns:a16="http://schemas.microsoft.com/office/drawing/2014/main" id="{EDA49E4A-4635-C1B9-DFFD-3E8C93815792}"/>
              </a:ext>
            </a:extLst>
          </p:cNvPr>
          <p:cNvSpPr txBox="1"/>
          <p:nvPr/>
        </p:nvSpPr>
        <p:spPr>
          <a:xfrm>
            <a:off x="5381117" y="4759732"/>
            <a:ext cx="3773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 output be classified as “real” (as close to 1 as possible)</a:t>
            </a:r>
            <a:endParaRPr lang="zh-TW" altLang="en-US" sz="2400" dirty="0"/>
          </a:p>
        </p:txBody>
      </p:sp>
      <p:sp>
        <p:nvSpPr>
          <p:cNvPr id="15" name="文字方塊 21">
            <a:extLst>
              <a:ext uri="{FF2B5EF4-FFF2-40B4-BE49-F238E27FC236}">
                <a16:creationId xmlns:a16="http://schemas.microsoft.com/office/drawing/2014/main" id="{EF504873-E3DA-44FB-828B-B38D7EA78DC1}"/>
              </a:ext>
            </a:extLst>
          </p:cNvPr>
          <p:cNvSpPr txBox="1"/>
          <p:nvPr/>
        </p:nvSpPr>
        <p:spPr>
          <a:xfrm>
            <a:off x="4563213" y="6157381"/>
            <a:ext cx="5473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Generator + Discriminator = a network</a:t>
            </a:r>
            <a:endParaRPr lang="zh-TW" altLang="en-US" sz="2400" dirty="0"/>
          </a:p>
        </p:txBody>
      </p:sp>
      <p:sp>
        <p:nvSpPr>
          <p:cNvPr id="16" name="文字方塊 23">
            <a:extLst>
              <a:ext uri="{FF2B5EF4-FFF2-40B4-BE49-F238E27FC236}">
                <a16:creationId xmlns:a16="http://schemas.microsoft.com/office/drawing/2014/main" id="{AEB8DFEF-CDC2-4655-C90B-EBAD5BCE8329}"/>
              </a:ext>
            </a:extLst>
          </p:cNvPr>
          <p:cNvSpPr txBox="1"/>
          <p:nvPr/>
        </p:nvSpPr>
        <p:spPr>
          <a:xfrm>
            <a:off x="2438412" y="7035455"/>
            <a:ext cx="70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Using gradient descent to update the parameters in the generator, but fix the discriminator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cxnSp>
        <p:nvCxnSpPr>
          <p:cNvPr id="17" name="直線單箭頭接點 26">
            <a:extLst>
              <a:ext uri="{FF2B5EF4-FFF2-40B4-BE49-F238E27FC236}">
                <a16:creationId xmlns:a16="http://schemas.microsoft.com/office/drawing/2014/main" id="{55486CB4-2905-7E31-868B-0E98A16C255F}"/>
              </a:ext>
            </a:extLst>
          </p:cNvPr>
          <p:cNvCxnSpPr/>
          <p:nvPr/>
        </p:nvCxnSpPr>
        <p:spPr>
          <a:xfrm>
            <a:off x="11150412" y="5955826"/>
            <a:ext cx="0" cy="41768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29">
            <a:extLst>
              <a:ext uri="{FF2B5EF4-FFF2-40B4-BE49-F238E27FC236}">
                <a16:creationId xmlns:a16="http://schemas.microsoft.com/office/drawing/2014/main" id="{8425E4B7-A3E7-0A99-55CD-2B27C04D0EC7}"/>
              </a:ext>
            </a:extLst>
          </p:cNvPr>
          <p:cNvCxnSpPr/>
          <p:nvPr/>
        </p:nvCxnSpPr>
        <p:spPr>
          <a:xfrm>
            <a:off x="11150412" y="2970731"/>
            <a:ext cx="0" cy="386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箭號: 向右 30">
            <a:extLst>
              <a:ext uri="{FF2B5EF4-FFF2-40B4-BE49-F238E27FC236}">
                <a16:creationId xmlns:a16="http://schemas.microsoft.com/office/drawing/2014/main" id="{31A4124F-C47E-FBBE-7E7E-1B3EC2308BC6}"/>
              </a:ext>
            </a:extLst>
          </p:cNvPr>
          <p:cNvSpPr/>
          <p:nvPr/>
        </p:nvSpPr>
        <p:spPr>
          <a:xfrm>
            <a:off x="4842928" y="5001815"/>
            <a:ext cx="459652" cy="66896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32">
            <a:extLst>
              <a:ext uri="{FF2B5EF4-FFF2-40B4-BE49-F238E27FC236}">
                <a16:creationId xmlns:a16="http://schemas.microsoft.com/office/drawing/2014/main" id="{594F08D5-D1AB-590C-327A-58D63099C1DF}"/>
              </a:ext>
            </a:extLst>
          </p:cNvPr>
          <p:cNvSpPr txBox="1"/>
          <p:nvPr/>
        </p:nvSpPr>
        <p:spPr>
          <a:xfrm>
            <a:off x="9368063" y="8143220"/>
            <a:ext cx="1109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1.0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21" name="群組 34">
            <a:extLst>
              <a:ext uri="{FF2B5EF4-FFF2-40B4-BE49-F238E27FC236}">
                <a16:creationId xmlns:a16="http://schemas.microsoft.com/office/drawing/2014/main" id="{B5FBC2A0-5C66-2A5F-B774-75A52B7296A5}"/>
              </a:ext>
            </a:extLst>
          </p:cNvPr>
          <p:cNvGrpSpPr/>
          <p:nvPr/>
        </p:nvGrpSpPr>
        <p:grpSpPr>
          <a:xfrm>
            <a:off x="9495241" y="5046012"/>
            <a:ext cx="854917" cy="831928"/>
            <a:chOff x="5787173" y="3098679"/>
            <a:chExt cx="854917" cy="831928"/>
          </a:xfrm>
        </p:grpSpPr>
        <p:pic>
          <p:nvPicPr>
            <p:cNvPr id="22" name="圖片 31">
              <a:extLst>
                <a:ext uri="{FF2B5EF4-FFF2-40B4-BE49-F238E27FC236}">
                  <a16:creationId xmlns:a16="http://schemas.microsoft.com/office/drawing/2014/main" id="{F447EA52-39B5-6D0C-2AA0-3F7FBE02B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39633" y="3149688"/>
              <a:ext cx="678859" cy="732103"/>
            </a:xfrm>
            <a:prstGeom prst="rect">
              <a:avLst/>
            </a:prstGeom>
          </p:spPr>
        </p:pic>
        <p:sp>
          <p:nvSpPr>
            <p:cNvPr id="23" name="矩形 33">
              <a:extLst>
                <a:ext uri="{FF2B5EF4-FFF2-40B4-BE49-F238E27FC236}">
                  <a16:creationId xmlns:a16="http://schemas.microsoft.com/office/drawing/2014/main" id="{FD96BAC4-183B-CD3B-84CD-0F80B146053F}"/>
                </a:ext>
              </a:extLst>
            </p:cNvPr>
            <p:cNvSpPr/>
            <p:nvPr/>
          </p:nvSpPr>
          <p:spPr>
            <a:xfrm>
              <a:off x="5787173" y="3098679"/>
              <a:ext cx="854917" cy="8319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4" name="直線接點 36">
            <a:extLst>
              <a:ext uri="{FF2B5EF4-FFF2-40B4-BE49-F238E27FC236}">
                <a16:creationId xmlns:a16="http://schemas.microsoft.com/office/drawing/2014/main" id="{5F7DFEBA-A84B-1BED-45AA-E96503681B35}"/>
              </a:ext>
            </a:extLst>
          </p:cNvPr>
          <p:cNvCxnSpPr/>
          <p:nvPr/>
        </p:nvCxnSpPr>
        <p:spPr>
          <a:xfrm>
            <a:off x="10562335" y="4981514"/>
            <a:ext cx="1109272" cy="98007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38">
            <a:extLst>
              <a:ext uri="{FF2B5EF4-FFF2-40B4-BE49-F238E27FC236}">
                <a16:creationId xmlns:a16="http://schemas.microsoft.com/office/drawing/2014/main" id="{C99BB124-99E8-D563-DB8B-FC823B4CB116}"/>
              </a:ext>
            </a:extLst>
          </p:cNvPr>
          <p:cNvCxnSpPr/>
          <p:nvPr/>
        </p:nvCxnSpPr>
        <p:spPr>
          <a:xfrm>
            <a:off x="10562335" y="8254763"/>
            <a:ext cx="1020617" cy="3179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9F8011-3242-0C14-3264-996CE93951D8}"/>
              </a:ext>
            </a:extLst>
          </p:cNvPr>
          <p:cNvSpPr txBox="1"/>
          <p:nvPr/>
        </p:nvSpPr>
        <p:spPr>
          <a:xfrm>
            <a:off x="10164773" y="4112142"/>
            <a:ext cx="1109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v2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27" name="直線接點 27">
            <a:extLst>
              <a:ext uri="{FF2B5EF4-FFF2-40B4-BE49-F238E27FC236}">
                <a16:creationId xmlns:a16="http://schemas.microsoft.com/office/drawing/2014/main" id="{033991EE-6924-F331-A3C6-595B48235A4D}"/>
              </a:ext>
            </a:extLst>
          </p:cNvPr>
          <p:cNvCxnSpPr>
            <a:cxnSpLocks/>
          </p:cNvCxnSpPr>
          <p:nvPr/>
        </p:nvCxnSpPr>
        <p:spPr>
          <a:xfrm flipV="1">
            <a:off x="10957036" y="4374050"/>
            <a:ext cx="42700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25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4" grpId="0"/>
      <p:bldP spid="15" grpId="0"/>
      <p:bldP spid="16" grpId="0"/>
      <p:bldP spid="19" grpId="0" animBg="1"/>
      <p:bldP spid="20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</a:t>
            </a:r>
            <a:r>
              <a:rPr lang="zh-TW" altLang="en-US" dirty="0"/>
              <a:t> </a:t>
            </a:r>
            <a:r>
              <a:rPr lang="en-US" altLang="zh-TW" dirty="0"/>
              <a:t>– Image Generation</a:t>
            </a:r>
            <a:endParaRPr 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10F344DF-4C83-12F1-6E84-0EA70D18C76B}"/>
              </a:ext>
            </a:extLst>
          </p:cNvPr>
          <p:cNvSpPr txBox="1">
            <a:spLocks/>
          </p:cNvSpPr>
          <p:nvPr/>
        </p:nvSpPr>
        <p:spPr bwMode="auto">
          <a:xfrm>
            <a:off x="3785947" y="2471017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TW" altLang="en-US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5D63B4D5-16C8-64D3-813A-FA91C983B0C1}"/>
              </a:ext>
            </a:extLst>
          </p:cNvPr>
          <p:cNvSpPr txBox="1"/>
          <p:nvPr/>
        </p:nvSpPr>
        <p:spPr>
          <a:xfrm>
            <a:off x="4037679" y="7797062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100 rounds</a:t>
            </a:r>
            <a:endParaRPr lang="zh-TW" altLang="en-US" dirty="0"/>
          </a:p>
        </p:txBody>
      </p:sp>
      <p:pic>
        <p:nvPicPr>
          <p:cNvPr id="5" name="內容版面配置區 5">
            <a:extLst>
              <a:ext uri="{FF2B5EF4-FFF2-40B4-BE49-F238E27FC236}">
                <a16:creationId xmlns:a16="http://schemas.microsoft.com/office/drawing/2014/main" id="{18136CDE-CB0A-AF35-1367-F85A15514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288" y="3476686"/>
            <a:ext cx="4775200" cy="4775200"/>
          </a:xfrm>
        </p:spPr>
      </p:pic>
    </p:spTree>
    <p:extLst>
      <p:ext uri="{BB962C8B-B14F-4D97-AF65-F5344CB8AC3E}">
        <p14:creationId xmlns:p14="http://schemas.microsoft.com/office/powerpoint/2010/main" val="254239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</a:t>
            </a:r>
            <a:r>
              <a:rPr lang="zh-TW" altLang="en-US" dirty="0"/>
              <a:t> </a:t>
            </a:r>
            <a:r>
              <a:rPr lang="en-US" altLang="zh-TW" dirty="0"/>
              <a:t>– Image Generation</a:t>
            </a:r>
            <a:endParaRPr 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10F344DF-4C83-12F1-6E84-0EA70D18C76B}"/>
              </a:ext>
            </a:extLst>
          </p:cNvPr>
          <p:cNvSpPr txBox="1">
            <a:spLocks/>
          </p:cNvSpPr>
          <p:nvPr/>
        </p:nvSpPr>
        <p:spPr bwMode="auto">
          <a:xfrm>
            <a:off x="3785947" y="2471017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TW" altLang="en-US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5D63B4D5-16C8-64D3-813A-FA91C983B0C1}"/>
              </a:ext>
            </a:extLst>
          </p:cNvPr>
          <p:cNvSpPr txBox="1"/>
          <p:nvPr/>
        </p:nvSpPr>
        <p:spPr>
          <a:xfrm>
            <a:off x="4037679" y="7797062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1000 rounds</a:t>
            </a:r>
            <a:endParaRPr lang="zh-TW" altLang="en-US" dirty="0"/>
          </a:p>
        </p:txBody>
      </p:sp>
      <p:pic>
        <p:nvPicPr>
          <p:cNvPr id="7" name="內容版面配置區 8">
            <a:extLst>
              <a:ext uri="{FF2B5EF4-FFF2-40B4-BE49-F238E27FC236}">
                <a16:creationId xmlns:a16="http://schemas.microsoft.com/office/drawing/2014/main" id="{CBAD10A5-436B-8C1D-6B71-DBE85FBB7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674" y="3369421"/>
            <a:ext cx="4796973" cy="479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12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</a:t>
            </a:r>
            <a:r>
              <a:rPr lang="zh-TW" altLang="en-US" dirty="0"/>
              <a:t> </a:t>
            </a:r>
            <a:r>
              <a:rPr lang="en-US" altLang="zh-TW" dirty="0"/>
              <a:t>– Image Generation</a:t>
            </a:r>
            <a:endParaRPr lang="en-US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ABCB27AF-E672-56DE-BCCB-F277508E0C8E}"/>
              </a:ext>
            </a:extLst>
          </p:cNvPr>
          <p:cNvSpPr txBox="1"/>
          <p:nvPr/>
        </p:nvSpPr>
        <p:spPr>
          <a:xfrm>
            <a:off x="4738212" y="7778108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5000 rounds</a:t>
            </a:r>
            <a:endParaRPr lang="zh-TW" altLang="en-US" dirty="0"/>
          </a:p>
        </p:txBody>
      </p:sp>
      <p:pic>
        <p:nvPicPr>
          <p:cNvPr id="5" name="內容版面配置區 7">
            <a:extLst>
              <a:ext uri="{FF2B5EF4-FFF2-40B4-BE49-F238E27FC236}">
                <a16:creationId xmlns:a16="http://schemas.microsoft.com/office/drawing/2014/main" id="{B1A87447-9E60-0AAD-7DA5-7D0670F17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277" y="3444811"/>
            <a:ext cx="4702629" cy="4702629"/>
          </a:xfrm>
        </p:spPr>
      </p:pic>
    </p:spTree>
    <p:extLst>
      <p:ext uri="{BB962C8B-B14F-4D97-AF65-F5344CB8AC3E}">
        <p14:creationId xmlns:p14="http://schemas.microsoft.com/office/powerpoint/2010/main" val="1097299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</a:t>
            </a:r>
            <a:r>
              <a:rPr lang="zh-TW" altLang="en-US" dirty="0"/>
              <a:t> </a:t>
            </a:r>
            <a:r>
              <a:rPr lang="en-US" altLang="zh-TW" dirty="0"/>
              <a:t>– Image Generation</a:t>
            </a:r>
            <a:endParaRPr lang="en-US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4ACA885A-2EFA-0D2E-0A80-8344767555B0}"/>
              </a:ext>
            </a:extLst>
          </p:cNvPr>
          <p:cNvSpPr txBox="1"/>
          <p:nvPr/>
        </p:nvSpPr>
        <p:spPr>
          <a:xfrm>
            <a:off x="4626607" y="7320908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10,000 rounds</a:t>
            </a:r>
            <a:endParaRPr lang="zh-TW" altLang="en-US" dirty="0"/>
          </a:p>
        </p:txBody>
      </p:sp>
      <p:pic>
        <p:nvPicPr>
          <p:cNvPr id="5" name="內容版面配置區 8">
            <a:extLst>
              <a:ext uri="{FF2B5EF4-FFF2-40B4-BE49-F238E27FC236}">
                <a16:creationId xmlns:a16="http://schemas.microsoft.com/office/drawing/2014/main" id="{A603E4F4-8D89-BE9D-B62E-2BFE0C9A8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99" y="3016639"/>
            <a:ext cx="4673601" cy="4673601"/>
          </a:xfrm>
        </p:spPr>
      </p:pic>
    </p:spTree>
    <p:extLst>
      <p:ext uri="{BB962C8B-B14F-4D97-AF65-F5344CB8AC3E}">
        <p14:creationId xmlns:p14="http://schemas.microsoft.com/office/powerpoint/2010/main" val="215790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298F-B943-D373-148E-EDD6547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</a:t>
            </a:r>
            <a:r>
              <a:rPr lang="zh-TW" altLang="en-US" dirty="0"/>
              <a:t> </a:t>
            </a:r>
            <a:r>
              <a:rPr lang="en-US" altLang="zh-TW" dirty="0"/>
              <a:t>– Image Generation</a:t>
            </a:r>
            <a:endParaRPr 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F863373-9475-50B4-9FDB-ED441DB60716}"/>
              </a:ext>
            </a:extLst>
          </p:cNvPr>
          <p:cNvSpPr txBox="1">
            <a:spLocks/>
          </p:cNvSpPr>
          <p:nvPr/>
        </p:nvSpPr>
        <p:spPr bwMode="auto">
          <a:xfrm>
            <a:off x="5166014" y="2233181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TW" altLang="en-US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8C227EBC-7BB3-3ECF-A319-05BD948D1743}"/>
              </a:ext>
            </a:extLst>
          </p:cNvPr>
          <p:cNvSpPr txBox="1"/>
          <p:nvPr/>
        </p:nvSpPr>
        <p:spPr>
          <a:xfrm>
            <a:off x="4328948" y="7300127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50,000 rounds</a:t>
            </a:r>
            <a:endParaRPr lang="zh-TW" altLang="en-US" dirty="0"/>
          </a:p>
        </p:txBody>
      </p:sp>
      <p:pic>
        <p:nvPicPr>
          <p:cNvPr id="5" name="內容版面配置區 7">
            <a:extLst>
              <a:ext uri="{FF2B5EF4-FFF2-40B4-BE49-F238E27FC236}">
                <a16:creationId xmlns:a16="http://schemas.microsoft.com/office/drawing/2014/main" id="{A4E26437-B9F1-97E7-A56E-3925BD569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763" y="3041835"/>
            <a:ext cx="4775201" cy="4775201"/>
          </a:xfrm>
        </p:spPr>
      </p:pic>
    </p:spTree>
    <p:extLst>
      <p:ext uri="{BB962C8B-B14F-4D97-AF65-F5344CB8AC3E}">
        <p14:creationId xmlns:p14="http://schemas.microsoft.com/office/powerpoint/2010/main" val="40664702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356B8221-4AE5-49EC-B863-709A2BA1CFAA}"/>
</file>

<file path=customXml/itemProps2.xml><?xml version="1.0" encoding="utf-8"?>
<ds:datastoreItem xmlns:ds="http://schemas.openxmlformats.org/officeDocument/2006/customXml" ds:itemID="{170728FB-5A7E-4EF9-8770-84B5B535CA4A}"/>
</file>

<file path=customXml/itemProps3.xml><?xml version="1.0" encoding="utf-8"?>
<ds:datastoreItem xmlns:ds="http://schemas.openxmlformats.org/officeDocument/2006/customXml" ds:itemID="{2E0FD3DE-397A-470E-9426-279F813658C0}"/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368</Words>
  <Application>Microsoft Macintosh PowerPoint</Application>
  <PresentationFormat>Custom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Cambria Math</vt:lpstr>
      <vt:lpstr>Wingdings 2</vt:lpstr>
      <vt:lpstr>Breeze</vt:lpstr>
      <vt:lpstr>Generative Adversarial Network</vt:lpstr>
      <vt:lpstr>NIPS 2016 Tutorial: Generative Adversarial Networks</vt:lpstr>
      <vt:lpstr>Generation</vt:lpstr>
      <vt:lpstr>Auto-encoder</vt:lpstr>
      <vt:lpstr>Auto-encoder</vt:lpstr>
      <vt:lpstr>Auto-encoder</vt:lpstr>
      <vt:lpstr>AE vs VAE</vt:lpstr>
      <vt:lpstr>Problems of VAE</vt:lpstr>
      <vt:lpstr>The evolution of generation</vt:lpstr>
      <vt:lpstr>GAN - Discriminator</vt:lpstr>
      <vt:lpstr>GAN - Generator</vt:lpstr>
      <vt:lpstr>GAN – Image Generation</vt:lpstr>
      <vt:lpstr>GAN – Image Generation</vt:lpstr>
      <vt:lpstr>GAN – Image Generation</vt:lpstr>
      <vt:lpstr>GAN – Image Generation</vt:lpstr>
      <vt:lpstr>GAN – Image Generation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45</cp:revision>
  <dcterms:created xsi:type="dcterms:W3CDTF">2019-02-13T16:04:00Z</dcterms:created>
  <dcterms:modified xsi:type="dcterms:W3CDTF">2024-04-03T15:32:15Z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6E5AD3EF72984884A28535EEF3B8E4DF</vt:lpwstr>
  </property>
  <property fmtid="{D5CDD505-2E9C-101B-9397-08002B2CF9AE}" pid="5" name="KSOProductBuildVer">
    <vt:lpwstr>1033-11.2.0.11225</vt:lpwstr>
  </property>
</Properties>
</file>