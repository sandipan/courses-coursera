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25" r:id="rId2"/>
    <p:sldId id="267" r:id="rId3"/>
    <p:sldId id="268" r:id="rId4"/>
    <p:sldId id="269" r:id="rId5"/>
    <p:sldId id="273" r:id="rId6"/>
    <p:sldId id="274" r:id="rId7"/>
    <p:sldId id="275" r:id="rId8"/>
    <p:sldId id="276" r:id="rId9"/>
    <p:sldId id="270" r:id="rId10"/>
    <p:sldId id="278" r:id="rId11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37"/>
    <p:restoredTop sz="93833"/>
  </p:normalViewPr>
  <p:slideViewPr>
    <p:cSldViewPr snapToGrid="0" snapToObjects="1">
      <p:cViewPr varScale="1">
        <p:scale>
          <a:sx n="64" d="100"/>
          <a:sy n="64" d="100"/>
        </p:scale>
        <p:origin x="288" y="176"/>
      </p:cViewPr>
      <p:guideLst>
        <p:guide orient="horz" pos="3240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GIF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png"/><Relationship Id="rId7" Type="http://schemas.openxmlformats.org/officeDocument/2006/relationships/image" Target="../media/image1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14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4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jpeg"/><Relationship Id="rId18" Type="http://schemas.openxmlformats.org/officeDocument/2006/relationships/image" Target="../media/image50.pn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jpe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5.jpe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11" Type="http://schemas.openxmlformats.org/officeDocument/2006/relationships/image" Target="../media/image56.jpeg"/><Relationship Id="rId5" Type="http://schemas.openxmlformats.org/officeDocument/2006/relationships/image" Target="../media/image45.jpeg"/><Relationship Id="rId10" Type="http://schemas.openxmlformats.org/officeDocument/2006/relationships/image" Target="../media/image55.jpeg"/><Relationship Id="rId4" Type="http://schemas.openxmlformats.org/officeDocument/2006/relationships/image" Target="../media/image36.png"/><Relationship Id="rId9" Type="http://schemas.openxmlformats.org/officeDocument/2006/relationships/image" Target="../media/image5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Diffusion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Training and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/>
              <a:t>Intuition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4885" y="5891149"/>
            <a:ext cx="357378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u="sng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Reverse</a:t>
            </a:r>
            <a:r>
              <a:rPr sz="4200" b="1" u="sng" spc="-13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200" b="1" u="sng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Process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8977" y="2549398"/>
            <a:ext cx="367474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Forward</a:t>
            </a:r>
            <a:r>
              <a:rPr sz="4200" b="1" u="sng" spc="-14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200" b="1" u="sng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Process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95102" y="7157974"/>
            <a:ext cx="14444663" cy="1631633"/>
            <a:chOff x="1517368" y="4913376"/>
            <a:chExt cx="9629775" cy="10877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368" y="4938739"/>
              <a:ext cx="1025775" cy="1029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0834" y="4938739"/>
              <a:ext cx="1025047" cy="10290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66782" y="4913376"/>
              <a:ext cx="1079753" cy="107975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406521" y="4942713"/>
              <a:ext cx="1501140" cy="1029969"/>
            </a:xfrm>
            <a:custGeom>
              <a:avLst/>
              <a:gdLst/>
              <a:ahLst/>
              <a:cxnLst/>
              <a:rect l="l" t="t" r="r" b="b"/>
              <a:pathLst>
                <a:path w="1501139" h="1029970">
                  <a:moveTo>
                    <a:pt x="1329563" y="0"/>
                  </a:moveTo>
                  <a:lnTo>
                    <a:pt x="171576" y="0"/>
                  </a:lnTo>
                  <a:lnTo>
                    <a:pt x="125971" y="6130"/>
                  </a:lnTo>
                  <a:lnTo>
                    <a:pt x="84986" y="23429"/>
                  </a:lnTo>
                  <a:lnTo>
                    <a:pt x="50260" y="50260"/>
                  </a:lnTo>
                  <a:lnTo>
                    <a:pt x="23429" y="84986"/>
                  </a:lnTo>
                  <a:lnTo>
                    <a:pt x="6130" y="125971"/>
                  </a:lnTo>
                  <a:lnTo>
                    <a:pt x="0" y="171576"/>
                  </a:lnTo>
                  <a:lnTo>
                    <a:pt x="0" y="857885"/>
                  </a:lnTo>
                  <a:lnTo>
                    <a:pt x="6130" y="903495"/>
                  </a:lnTo>
                  <a:lnTo>
                    <a:pt x="23429" y="944481"/>
                  </a:lnTo>
                  <a:lnTo>
                    <a:pt x="50260" y="979206"/>
                  </a:lnTo>
                  <a:lnTo>
                    <a:pt x="84986" y="1006035"/>
                  </a:lnTo>
                  <a:lnTo>
                    <a:pt x="125971" y="1023332"/>
                  </a:lnTo>
                  <a:lnTo>
                    <a:pt x="171576" y="1029462"/>
                  </a:lnTo>
                  <a:lnTo>
                    <a:pt x="1329563" y="1029462"/>
                  </a:lnTo>
                  <a:lnTo>
                    <a:pt x="1375168" y="1023332"/>
                  </a:lnTo>
                  <a:lnTo>
                    <a:pt x="1416153" y="1006035"/>
                  </a:lnTo>
                  <a:lnTo>
                    <a:pt x="1450879" y="979206"/>
                  </a:lnTo>
                  <a:lnTo>
                    <a:pt x="1477710" y="944481"/>
                  </a:lnTo>
                  <a:lnTo>
                    <a:pt x="1495009" y="903495"/>
                  </a:lnTo>
                  <a:lnTo>
                    <a:pt x="1501139" y="857885"/>
                  </a:lnTo>
                  <a:lnTo>
                    <a:pt x="1501139" y="171576"/>
                  </a:lnTo>
                  <a:lnTo>
                    <a:pt x="1495009" y="125971"/>
                  </a:lnTo>
                  <a:lnTo>
                    <a:pt x="1477710" y="84986"/>
                  </a:lnTo>
                  <a:lnTo>
                    <a:pt x="1450879" y="50260"/>
                  </a:lnTo>
                  <a:lnTo>
                    <a:pt x="1416153" y="23429"/>
                  </a:lnTo>
                  <a:lnTo>
                    <a:pt x="1375168" y="6130"/>
                  </a:lnTo>
                  <a:lnTo>
                    <a:pt x="1329563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406521" y="4942713"/>
              <a:ext cx="1501140" cy="1029969"/>
            </a:xfrm>
            <a:custGeom>
              <a:avLst/>
              <a:gdLst/>
              <a:ahLst/>
              <a:cxnLst/>
              <a:rect l="l" t="t" r="r" b="b"/>
              <a:pathLst>
                <a:path w="1501139" h="1029970">
                  <a:moveTo>
                    <a:pt x="0" y="171576"/>
                  </a:moveTo>
                  <a:lnTo>
                    <a:pt x="6130" y="125971"/>
                  </a:lnTo>
                  <a:lnTo>
                    <a:pt x="23429" y="84986"/>
                  </a:lnTo>
                  <a:lnTo>
                    <a:pt x="50260" y="50260"/>
                  </a:lnTo>
                  <a:lnTo>
                    <a:pt x="84986" y="23429"/>
                  </a:lnTo>
                  <a:lnTo>
                    <a:pt x="125971" y="6130"/>
                  </a:lnTo>
                  <a:lnTo>
                    <a:pt x="171576" y="0"/>
                  </a:lnTo>
                  <a:lnTo>
                    <a:pt x="1329563" y="0"/>
                  </a:lnTo>
                  <a:lnTo>
                    <a:pt x="1375168" y="6130"/>
                  </a:lnTo>
                  <a:lnTo>
                    <a:pt x="1416153" y="23429"/>
                  </a:lnTo>
                  <a:lnTo>
                    <a:pt x="1450879" y="50260"/>
                  </a:lnTo>
                  <a:lnTo>
                    <a:pt x="1477710" y="84986"/>
                  </a:lnTo>
                  <a:lnTo>
                    <a:pt x="1495009" y="125971"/>
                  </a:lnTo>
                  <a:lnTo>
                    <a:pt x="1501139" y="171576"/>
                  </a:lnTo>
                  <a:lnTo>
                    <a:pt x="1501139" y="857885"/>
                  </a:lnTo>
                  <a:lnTo>
                    <a:pt x="1495009" y="903495"/>
                  </a:lnTo>
                  <a:lnTo>
                    <a:pt x="1477710" y="944481"/>
                  </a:lnTo>
                  <a:lnTo>
                    <a:pt x="1450879" y="979206"/>
                  </a:lnTo>
                  <a:lnTo>
                    <a:pt x="1416153" y="1006035"/>
                  </a:lnTo>
                  <a:lnTo>
                    <a:pt x="1375168" y="1023332"/>
                  </a:lnTo>
                  <a:lnTo>
                    <a:pt x="1329563" y="1029462"/>
                  </a:lnTo>
                  <a:lnTo>
                    <a:pt x="171576" y="1029462"/>
                  </a:lnTo>
                  <a:lnTo>
                    <a:pt x="125971" y="1023332"/>
                  </a:lnTo>
                  <a:lnTo>
                    <a:pt x="84986" y="1006035"/>
                  </a:lnTo>
                  <a:lnTo>
                    <a:pt x="50260" y="979206"/>
                  </a:lnTo>
                  <a:lnTo>
                    <a:pt x="23429" y="944481"/>
                  </a:lnTo>
                  <a:lnTo>
                    <a:pt x="6130" y="903495"/>
                  </a:lnTo>
                  <a:lnTo>
                    <a:pt x="0" y="857885"/>
                  </a:lnTo>
                  <a:lnTo>
                    <a:pt x="0" y="171576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3050" y="3725544"/>
            <a:ext cx="1620774" cy="161963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5301" y="3853914"/>
            <a:ext cx="1537571" cy="154463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1571" y="3853914"/>
            <a:ext cx="1538663" cy="154463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403342" y="3928617"/>
            <a:ext cx="188023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Add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noise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74427" y="4498212"/>
            <a:ext cx="4130993" cy="257175"/>
          </a:xfrm>
          <a:custGeom>
            <a:avLst/>
            <a:gdLst/>
            <a:ahLst/>
            <a:cxnLst/>
            <a:rect l="l" t="t" r="r" b="b"/>
            <a:pathLst>
              <a:path w="2753995" h="171450">
                <a:moveTo>
                  <a:pt x="2582037" y="0"/>
                </a:moveTo>
                <a:lnTo>
                  <a:pt x="2582037" y="171450"/>
                </a:lnTo>
                <a:lnTo>
                  <a:pt x="2696337" y="114300"/>
                </a:lnTo>
                <a:lnTo>
                  <a:pt x="2610612" y="114300"/>
                </a:lnTo>
                <a:lnTo>
                  <a:pt x="2610612" y="57150"/>
                </a:lnTo>
                <a:lnTo>
                  <a:pt x="2696337" y="57150"/>
                </a:lnTo>
                <a:lnTo>
                  <a:pt x="2582037" y="0"/>
                </a:lnTo>
                <a:close/>
              </a:path>
              <a:path w="2753995" h="171450">
                <a:moveTo>
                  <a:pt x="2582037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2582037" y="114300"/>
                </a:lnTo>
                <a:lnTo>
                  <a:pt x="2582037" y="57150"/>
                </a:lnTo>
                <a:close/>
              </a:path>
              <a:path w="2753995" h="171450">
                <a:moveTo>
                  <a:pt x="2696337" y="57150"/>
                </a:moveTo>
                <a:lnTo>
                  <a:pt x="2610612" y="57150"/>
                </a:lnTo>
                <a:lnTo>
                  <a:pt x="2610612" y="114300"/>
                </a:lnTo>
                <a:lnTo>
                  <a:pt x="2696337" y="114300"/>
                </a:lnTo>
                <a:lnTo>
                  <a:pt x="2753487" y="85725"/>
                </a:lnTo>
                <a:lnTo>
                  <a:pt x="269633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6" name="object 16"/>
          <p:cNvSpPr txBox="1"/>
          <p:nvPr/>
        </p:nvSpPr>
        <p:spPr>
          <a:xfrm>
            <a:off x="5358383" y="7666608"/>
            <a:ext cx="1791653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Microsoft JhengHei" panose="020B0604030504040204" charset="-120"/>
                <a:cs typeface="Microsoft JhengHei" panose="020B0604030504040204" charset="-120"/>
              </a:rPr>
              <a:t>Denoise</a:t>
            </a:r>
            <a:endParaRPr sz="3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63529" y="7179690"/>
            <a:ext cx="9931718" cy="1630680"/>
            <a:chOff x="2562986" y="4927853"/>
            <a:chExt cx="6621145" cy="1087120"/>
          </a:xfrm>
        </p:grpSpPr>
        <p:sp>
          <p:nvSpPr>
            <p:cNvPr id="18" name="object 18"/>
            <p:cNvSpPr/>
            <p:nvPr/>
          </p:nvSpPr>
          <p:spPr>
            <a:xfrm>
              <a:off x="2562987" y="5354573"/>
              <a:ext cx="3227705" cy="185420"/>
            </a:xfrm>
            <a:custGeom>
              <a:avLst/>
              <a:gdLst/>
              <a:ahLst/>
              <a:cxnLst/>
              <a:rect l="l" t="t" r="r" b="b"/>
              <a:pathLst>
                <a:path w="3227704" h="185420">
                  <a:moveTo>
                    <a:pt x="828929" y="85725"/>
                  </a:moveTo>
                  <a:lnTo>
                    <a:pt x="771779" y="57150"/>
                  </a:lnTo>
                  <a:lnTo>
                    <a:pt x="657479" y="0"/>
                  </a:lnTo>
                  <a:lnTo>
                    <a:pt x="657479" y="57150"/>
                  </a:lnTo>
                  <a:lnTo>
                    <a:pt x="0" y="57150"/>
                  </a:lnTo>
                  <a:lnTo>
                    <a:pt x="0" y="114300"/>
                  </a:lnTo>
                  <a:lnTo>
                    <a:pt x="657479" y="114300"/>
                  </a:lnTo>
                  <a:lnTo>
                    <a:pt x="657479" y="171450"/>
                  </a:lnTo>
                  <a:lnTo>
                    <a:pt x="771779" y="114300"/>
                  </a:lnTo>
                  <a:lnTo>
                    <a:pt x="828929" y="85725"/>
                  </a:lnTo>
                  <a:close/>
                </a:path>
                <a:path w="3227704" h="185420">
                  <a:moveTo>
                    <a:pt x="3227705" y="99441"/>
                  </a:moveTo>
                  <a:lnTo>
                    <a:pt x="3170555" y="70866"/>
                  </a:lnTo>
                  <a:lnTo>
                    <a:pt x="3056255" y="13716"/>
                  </a:lnTo>
                  <a:lnTo>
                    <a:pt x="3056255" y="70866"/>
                  </a:lnTo>
                  <a:lnTo>
                    <a:pt x="2398776" y="70866"/>
                  </a:lnTo>
                  <a:lnTo>
                    <a:pt x="2398776" y="128016"/>
                  </a:lnTo>
                  <a:lnTo>
                    <a:pt x="3056255" y="128016"/>
                  </a:lnTo>
                  <a:lnTo>
                    <a:pt x="3056255" y="185166"/>
                  </a:lnTo>
                  <a:lnTo>
                    <a:pt x="3170555" y="128016"/>
                  </a:lnTo>
                  <a:lnTo>
                    <a:pt x="3227705" y="994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653908" y="4956428"/>
              <a:ext cx="1501140" cy="1029969"/>
            </a:xfrm>
            <a:custGeom>
              <a:avLst/>
              <a:gdLst/>
              <a:ahLst/>
              <a:cxnLst/>
              <a:rect l="l" t="t" r="r" b="b"/>
              <a:pathLst>
                <a:path w="1501140" h="1029970">
                  <a:moveTo>
                    <a:pt x="1329563" y="0"/>
                  </a:moveTo>
                  <a:lnTo>
                    <a:pt x="171576" y="0"/>
                  </a:lnTo>
                  <a:lnTo>
                    <a:pt x="125971" y="6130"/>
                  </a:lnTo>
                  <a:lnTo>
                    <a:pt x="84986" y="23429"/>
                  </a:lnTo>
                  <a:lnTo>
                    <a:pt x="50260" y="50260"/>
                  </a:lnTo>
                  <a:lnTo>
                    <a:pt x="23429" y="84986"/>
                  </a:lnTo>
                  <a:lnTo>
                    <a:pt x="6130" y="125971"/>
                  </a:lnTo>
                  <a:lnTo>
                    <a:pt x="0" y="171577"/>
                  </a:lnTo>
                  <a:lnTo>
                    <a:pt x="0" y="857885"/>
                  </a:lnTo>
                  <a:lnTo>
                    <a:pt x="6130" y="903495"/>
                  </a:lnTo>
                  <a:lnTo>
                    <a:pt x="23429" y="944481"/>
                  </a:lnTo>
                  <a:lnTo>
                    <a:pt x="50260" y="979206"/>
                  </a:lnTo>
                  <a:lnTo>
                    <a:pt x="84986" y="1006035"/>
                  </a:lnTo>
                  <a:lnTo>
                    <a:pt x="125971" y="1023332"/>
                  </a:lnTo>
                  <a:lnTo>
                    <a:pt x="171576" y="1029462"/>
                  </a:lnTo>
                  <a:lnTo>
                    <a:pt x="1329563" y="1029462"/>
                  </a:lnTo>
                  <a:lnTo>
                    <a:pt x="1375168" y="1023332"/>
                  </a:lnTo>
                  <a:lnTo>
                    <a:pt x="1416153" y="1006035"/>
                  </a:lnTo>
                  <a:lnTo>
                    <a:pt x="1450879" y="979206"/>
                  </a:lnTo>
                  <a:lnTo>
                    <a:pt x="1477710" y="944481"/>
                  </a:lnTo>
                  <a:lnTo>
                    <a:pt x="1495009" y="903495"/>
                  </a:lnTo>
                  <a:lnTo>
                    <a:pt x="1501140" y="857885"/>
                  </a:lnTo>
                  <a:lnTo>
                    <a:pt x="1501140" y="171577"/>
                  </a:lnTo>
                  <a:lnTo>
                    <a:pt x="1495009" y="125971"/>
                  </a:lnTo>
                  <a:lnTo>
                    <a:pt x="1477710" y="84986"/>
                  </a:lnTo>
                  <a:lnTo>
                    <a:pt x="1450879" y="50260"/>
                  </a:lnTo>
                  <a:lnTo>
                    <a:pt x="1416153" y="23429"/>
                  </a:lnTo>
                  <a:lnTo>
                    <a:pt x="1375168" y="6130"/>
                  </a:lnTo>
                  <a:lnTo>
                    <a:pt x="1329563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653908" y="4956428"/>
              <a:ext cx="1501140" cy="1029969"/>
            </a:xfrm>
            <a:custGeom>
              <a:avLst/>
              <a:gdLst/>
              <a:ahLst/>
              <a:cxnLst/>
              <a:rect l="l" t="t" r="r" b="b"/>
              <a:pathLst>
                <a:path w="1501140" h="1029970">
                  <a:moveTo>
                    <a:pt x="0" y="171577"/>
                  </a:moveTo>
                  <a:lnTo>
                    <a:pt x="6130" y="125971"/>
                  </a:lnTo>
                  <a:lnTo>
                    <a:pt x="23429" y="84986"/>
                  </a:lnTo>
                  <a:lnTo>
                    <a:pt x="50260" y="50260"/>
                  </a:lnTo>
                  <a:lnTo>
                    <a:pt x="84986" y="23429"/>
                  </a:lnTo>
                  <a:lnTo>
                    <a:pt x="125971" y="6130"/>
                  </a:lnTo>
                  <a:lnTo>
                    <a:pt x="171576" y="0"/>
                  </a:lnTo>
                  <a:lnTo>
                    <a:pt x="1329563" y="0"/>
                  </a:lnTo>
                  <a:lnTo>
                    <a:pt x="1375168" y="6130"/>
                  </a:lnTo>
                  <a:lnTo>
                    <a:pt x="1416153" y="23429"/>
                  </a:lnTo>
                  <a:lnTo>
                    <a:pt x="1450879" y="50260"/>
                  </a:lnTo>
                  <a:lnTo>
                    <a:pt x="1477710" y="84986"/>
                  </a:lnTo>
                  <a:lnTo>
                    <a:pt x="1495009" y="125971"/>
                  </a:lnTo>
                  <a:lnTo>
                    <a:pt x="1501140" y="171577"/>
                  </a:lnTo>
                  <a:lnTo>
                    <a:pt x="1501140" y="857885"/>
                  </a:lnTo>
                  <a:lnTo>
                    <a:pt x="1495009" y="903495"/>
                  </a:lnTo>
                  <a:lnTo>
                    <a:pt x="1477710" y="944481"/>
                  </a:lnTo>
                  <a:lnTo>
                    <a:pt x="1450879" y="979206"/>
                  </a:lnTo>
                  <a:lnTo>
                    <a:pt x="1416153" y="1006035"/>
                  </a:lnTo>
                  <a:lnTo>
                    <a:pt x="1375168" y="1023332"/>
                  </a:lnTo>
                  <a:lnTo>
                    <a:pt x="1329563" y="1029462"/>
                  </a:lnTo>
                  <a:lnTo>
                    <a:pt x="171576" y="1029462"/>
                  </a:lnTo>
                  <a:lnTo>
                    <a:pt x="125971" y="1023332"/>
                  </a:lnTo>
                  <a:lnTo>
                    <a:pt x="84986" y="1006035"/>
                  </a:lnTo>
                  <a:lnTo>
                    <a:pt x="50260" y="979206"/>
                  </a:lnTo>
                  <a:lnTo>
                    <a:pt x="23429" y="944481"/>
                  </a:lnTo>
                  <a:lnTo>
                    <a:pt x="6130" y="903495"/>
                  </a:lnTo>
                  <a:lnTo>
                    <a:pt x="0" y="857885"/>
                  </a:lnTo>
                  <a:lnTo>
                    <a:pt x="0" y="171577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730228" y="7687563"/>
            <a:ext cx="179070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Microsoft JhengHei" panose="020B0604030504040204" charset="-120"/>
                <a:cs typeface="Microsoft JhengHei" panose="020B0604030504040204" charset="-120"/>
              </a:rPr>
              <a:t>Denoise</a:t>
            </a:r>
            <a:endParaRPr sz="3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4613" y="7840344"/>
            <a:ext cx="4841558" cy="278130"/>
          </a:xfrm>
          <a:custGeom>
            <a:avLst/>
            <a:gdLst/>
            <a:ahLst/>
            <a:cxnLst/>
            <a:rect l="l" t="t" r="r" b="b"/>
            <a:pathLst>
              <a:path w="3227704" h="185420">
                <a:moveTo>
                  <a:pt x="828929" y="85725"/>
                </a:moveTo>
                <a:lnTo>
                  <a:pt x="771779" y="57150"/>
                </a:lnTo>
                <a:lnTo>
                  <a:pt x="657479" y="0"/>
                </a:lnTo>
                <a:lnTo>
                  <a:pt x="657479" y="57150"/>
                </a:lnTo>
                <a:lnTo>
                  <a:pt x="0" y="57150"/>
                </a:lnTo>
                <a:lnTo>
                  <a:pt x="0" y="114300"/>
                </a:lnTo>
                <a:lnTo>
                  <a:pt x="657479" y="114300"/>
                </a:lnTo>
                <a:lnTo>
                  <a:pt x="657479" y="171450"/>
                </a:lnTo>
                <a:lnTo>
                  <a:pt x="771779" y="114300"/>
                </a:lnTo>
                <a:lnTo>
                  <a:pt x="828929" y="85725"/>
                </a:lnTo>
                <a:close/>
              </a:path>
              <a:path w="3227704" h="185420">
                <a:moveTo>
                  <a:pt x="3227705" y="99441"/>
                </a:moveTo>
                <a:lnTo>
                  <a:pt x="3170555" y="70866"/>
                </a:lnTo>
                <a:lnTo>
                  <a:pt x="3056255" y="13716"/>
                </a:lnTo>
                <a:lnTo>
                  <a:pt x="3056255" y="70866"/>
                </a:lnTo>
                <a:lnTo>
                  <a:pt x="2398776" y="70866"/>
                </a:lnTo>
                <a:lnTo>
                  <a:pt x="2398776" y="128016"/>
                </a:lnTo>
                <a:lnTo>
                  <a:pt x="3056255" y="128016"/>
                </a:lnTo>
                <a:lnTo>
                  <a:pt x="3056255" y="185166"/>
                </a:lnTo>
                <a:lnTo>
                  <a:pt x="3170555" y="128016"/>
                </a:lnTo>
                <a:lnTo>
                  <a:pt x="3227705" y="994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23" name="object 23"/>
          <p:cNvSpPr txBox="1"/>
          <p:nvPr/>
        </p:nvSpPr>
        <p:spPr>
          <a:xfrm>
            <a:off x="11924157" y="3954145"/>
            <a:ext cx="188023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Add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noise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5240" y="4523359"/>
            <a:ext cx="4130993" cy="257175"/>
          </a:xfrm>
          <a:custGeom>
            <a:avLst/>
            <a:gdLst/>
            <a:ahLst/>
            <a:cxnLst/>
            <a:rect l="l" t="t" r="r" b="b"/>
            <a:pathLst>
              <a:path w="2753995" h="171450">
                <a:moveTo>
                  <a:pt x="2582037" y="0"/>
                </a:moveTo>
                <a:lnTo>
                  <a:pt x="2582037" y="171450"/>
                </a:lnTo>
                <a:lnTo>
                  <a:pt x="2696337" y="114300"/>
                </a:lnTo>
                <a:lnTo>
                  <a:pt x="2610612" y="114300"/>
                </a:lnTo>
                <a:lnTo>
                  <a:pt x="2610612" y="57150"/>
                </a:lnTo>
                <a:lnTo>
                  <a:pt x="2696337" y="57150"/>
                </a:lnTo>
                <a:lnTo>
                  <a:pt x="2582037" y="0"/>
                </a:lnTo>
                <a:close/>
              </a:path>
              <a:path w="2753995" h="171450">
                <a:moveTo>
                  <a:pt x="2582037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2582037" y="114300"/>
                </a:lnTo>
                <a:lnTo>
                  <a:pt x="2582037" y="57150"/>
                </a:lnTo>
                <a:close/>
              </a:path>
              <a:path w="2753995" h="171450">
                <a:moveTo>
                  <a:pt x="2696337" y="57150"/>
                </a:moveTo>
                <a:lnTo>
                  <a:pt x="2610612" y="57150"/>
                </a:lnTo>
                <a:lnTo>
                  <a:pt x="2610612" y="114300"/>
                </a:lnTo>
                <a:lnTo>
                  <a:pt x="2696337" y="114300"/>
                </a:lnTo>
                <a:lnTo>
                  <a:pt x="2753487" y="85725"/>
                </a:lnTo>
                <a:lnTo>
                  <a:pt x="269633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8550" y="368504"/>
            <a:ext cx="16084552" cy="1344295"/>
          </a:xfrm>
          <a:prstGeom prst="rect">
            <a:avLst/>
          </a:prstGeom>
        </p:spPr>
        <p:txBody>
          <a:bodyPr vert="horz" wrap="square" lIns="0" tIns="48285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/>
              <a:t>VAE</a:t>
            </a:r>
            <a:r>
              <a:rPr spc="-160" dirty="0"/>
              <a:t> </a:t>
            </a:r>
            <a:r>
              <a:rPr dirty="0"/>
              <a:t>vs.</a:t>
            </a:r>
            <a:r>
              <a:rPr spc="-155" dirty="0"/>
              <a:t> </a:t>
            </a:r>
            <a:r>
              <a:rPr dirty="0"/>
              <a:t>Diffusion</a:t>
            </a:r>
            <a:r>
              <a:rPr spc="-145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7814" y="3645789"/>
            <a:ext cx="1032510" cy="756285"/>
          </a:xfrm>
          <a:prstGeom prst="rect">
            <a:avLst/>
          </a:prstGeom>
        </p:spPr>
        <p:txBody>
          <a:bodyPr vert="horz" wrap="square" lIns="0" tIns="180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b="1" u="sng" spc="-4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VAE</a:t>
            </a:r>
            <a:endParaRPr sz="4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4853" y="6424041"/>
            <a:ext cx="2333625" cy="756285"/>
          </a:xfrm>
          <a:prstGeom prst="rect">
            <a:avLst/>
          </a:prstGeom>
        </p:spPr>
        <p:txBody>
          <a:bodyPr vert="horz" wrap="square" lIns="0" tIns="180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b="1" u="sng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Diffusion</a:t>
            </a:r>
            <a:endParaRPr sz="4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642722" y="3292983"/>
            <a:ext cx="2404110" cy="1484948"/>
            <a:chOff x="8428481" y="2195322"/>
            <a:chExt cx="1602740" cy="989965"/>
          </a:xfrm>
        </p:grpSpPr>
        <p:sp>
          <p:nvSpPr>
            <p:cNvPr id="6" name="object 6"/>
            <p:cNvSpPr/>
            <p:nvPr/>
          </p:nvSpPr>
          <p:spPr>
            <a:xfrm>
              <a:off x="8457056" y="2223897"/>
              <a:ext cx="1545590" cy="932815"/>
            </a:xfrm>
            <a:custGeom>
              <a:avLst/>
              <a:gdLst/>
              <a:ahLst/>
              <a:cxnLst/>
              <a:rect l="l" t="t" r="r" b="b"/>
              <a:pathLst>
                <a:path w="1545590" h="932814">
                  <a:moveTo>
                    <a:pt x="1389888" y="0"/>
                  </a:moveTo>
                  <a:lnTo>
                    <a:pt x="155448" y="0"/>
                  </a:lnTo>
                  <a:lnTo>
                    <a:pt x="106314" y="7924"/>
                  </a:lnTo>
                  <a:lnTo>
                    <a:pt x="63642" y="29992"/>
                  </a:lnTo>
                  <a:lnTo>
                    <a:pt x="29992" y="63642"/>
                  </a:lnTo>
                  <a:lnTo>
                    <a:pt x="7924" y="106314"/>
                  </a:lnTo>
                  <a:lnTo>
                    <a:pt x="0" y="155448"/>
                  </a:lnTo>
                  <a:lnTo>
                    <a:pt x="0" y="777239"/>
                  </a:lnTo>
                  <a:lnTo>
                    <a:pt x="7924" y="826373"/>
                  </a:lnTo>
                  <a:lnTo>
                    <a:pt x="29992" y="869045"/>
                  </a:lnTo>
                  <a:lnTo>
                    <a:pt x="63642" y="902695"/>
                  </a:lnTo>
                  <a:lnTo>
                    <a:pt x="106314" y="924763"/>
                  </a:lnTo>
                  <a:lnTo>
                    <a:pt x="155448" y="932688"/>
                  </a:lnTo>
                  <a:lnTo>
                    <a:pt x="1389888" y="932688"/>
                  </a:lnTo>
                  <a:lnTo>
                    <a:pt x="1439021" y="924763"/>
                  </a:lnTo>
                  <a:lnTo>
                    <a:pt x="1481693" y="902695"/>
                  </a:lnTo>
                  <a:lnTo>
                    <a:pt x="1515343" y="869045"/>
                  </a:lnTo>
                  <a:lnTo>
                    <a:pt x="1537411" y="826373"/>
                  </a:lnTo>
                  <a:lnTo>
                    <a:pt x="1545336" y="777239"/>
                  </a:lnTo>
                  <a:lnTo>
                    <a:pt x="1545336" y="155448"/>
                  </a:lnTo>
                  <a:lnTo>
                    <a:pt x="1537411" y="106314"/>
                  </a:lnTo>
                  <a:lnTo>
                    <a:pt x="1515343" y="63642"/>
                  </a:lnTo>
                  <a:lnTo>
                    <a:pt x="1481693" y="29992"/>
                  </a:lnTo>
                  <a:lnTo>
                    <a:pt x="1439021" y="7924"/>
                  </a:lnTo>
                  <a:lnTo>
                    <a:pt x="138988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7" name="object 7"/>
            <p:cNvSpPr/>
            <p:nvPr/>
          </p:nvSpPr>
          <p:spPr>
            <a:xfrm>
              <a:off x="8457056" y="2223897"/>
              <a:ext cx="1545590" cy="932815"/>
            </a:xfrm>
            <a:custGeom>
              <a:avLst/>
              <a:gdLst/>
              <a:ahLst/>
              <a:cxnLst/>
              <a:rect l="l" t="t" r="r" b="b"/>
              <a:pathLst>
                <a:path w="1545590" h="932814">
                  <a:moveTo>
                    <a:pt x="0" y="155448"/>
                  </a:moveTo>
                  <a:lnTo>
                    <a:pt x="7924" y="106314"/>
                  </a:lnTo>
                  <a:lnTo>
                    <a:pt x="29992" y="63642"/>
                  </a:lnTo>
                  <a:lnTo>
                    <a:pt x="63642" y="29992"/>
                  </a:lnTo>
                  <a:lnTo>
                    <a:pt x="106314" y="7924"/>
                  </a:lnTo>
                  <a:lnTo>
                    <a:pt x="155448" y="0"/>
                  </a:lnTo>
                  <a:lnTo>
                    <a:pt x="1389888" y="0"/>
                  </a:lnTo>
                  <a:lnTo>
                    <a:pt x="1439021" y="7924"/>
                  </a:lnTo>
                  <a:lnTo>
                    <a:pt x="1481693" y="29992"/>
                  </a:lnTo>
                  <a:lnTo>
                    <a:pt x="1515343" y="63642"/>
                  </a:lnTo>
                  <a:lnTo>
                    <a:pt x="1537411" y="106314"/>
                  </a:lnTo>
                  <a:lnTo>
                    <a:pt x="1545336" y="155448"/>
                  </a:lnTo>
                  <a:lnTo>
                    <a:pt x="1545336" y="777239"/>
                  </a:lnTo>
                  <a:lnTo>
                    <a:pt x="1537411" y="826373"/>
                  </a:lnTo>
                  <a:lnTo>
                    <a:pt x="1515343" y="869045"/>
                  </a:lnTo>
                  <a:lnTo>
                    <a:pt x="1481693" y="902695"/>
                  </a:lnTo>
                  <a:lnTo>
                    <a:pt x="1439021" y="924763"/>
                  </a:lnTo>
                  <a:lnTo>
                    <a:pt x="1389888" y="932688"/>
                  </a:lnTo>
                  <a:lnTo>
                    <a:pt x="155448" y="932688"/>
                  </a:lnTo>
                  <a:lnTo>
                    <a:pt x="106314" y="924763"/>
                  </a:lnTo>
                  <a:lnTo>
                    <a:pt x="63642" y="902695"/>
                  </a:lnTo>
                  <a:lnTo>
                    <a:pt x="29992" y="869045"/>
                  </a:lnTo>
                  <a:lnTo>
                    <a:pt x="7924" y="826373"/>
                  </a:lnTo>
                  <a:lnTo>
                    <a:pt x="0" y="777239"/>
                  </a:lnTo>
                  <a:lnTo>
                    <a:pt x="0" y="155448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907517" y="3728085"/>
            <a:ext cx="187452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Microsoft JhengHei" panose="020B0604030504040204" charset="-120"/>
                <a:cs typeface="Microsoft JhengHei" panose="020B0604030504040204" charset="-120"/>
              </a:rPr>
              <a:t>Decoder</a:t>
            </a:r>
            <a:endParaRPr sz="3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92823" y="3284982"/>
            <a:ext cx="2462213" cy="1484948"/>
            <a:chOff x="4395215" y="2189988"/>
            <a:chExt cx="1641475" cy="989965"/>
          </a:xfrm>
        </p:grpSpPr>
        <p:sp>
          <p:nvSpPr>
            <p:cNvPr id="10" name="object 10"/>
            <p:cNvSpPr/>
            <p:nvPr/>
          </p:nvSpPr>
          <p:spPr>
            <a:xfrm>
              <a:off x="4423790" y="2218563"/>
              <a:ext cx="1584325" cy="932815"/>
            </a:xfrm>
            <a:custGeom>
              <a:avLst/>
              <a:gdLst/>
              <a:ahLst/>
              <a:cxnLst/>
              <a:rect l="l" t="t" r="r" b="b"/>
              <a:pathLst>
                <a:path w="1584325" h="932814">
                  <a:moveTo>
                    <a:pt x="1428750" y="0"/>
                  </a:moveTo>
                  <a:lnTo>
                    <a:pt x="155448" y="0"/>
                  </a:lnTo>
                  <a:lnTo>
                    <a:pt x="106314" y="7924"/>
                  </a:lnTo>
                  <a:lnTo>
                    <a:pt x="63642" y="29992"/>
                  </a:lnTo>
                  <a:lnTo>
                    <a:pt x="29992" y="63642"/>
                  </a:lnTo>
                  <a:lnTo>
                    <a:pt x="7924" y="106314"/>
                  </a:lnTo>
                  <a:lnTo>
                    <a:pt x="0" y="155448"/>
                  </a:lnTo>
                  <a:lnTo>
                    <a:pt x="0" y="777239"/>
                  </a:lnTo>
                  <a:lnTo>
                    <a:pt x="7924" y="826373"/>
                  </a:lnTo>
                  <a:lnTo>
                    <a:pt x="29992" y="869045"/>
                  </a:lnTo>
                  <a:lnTo>
                    <a:pt x="63642" y="902695"/>
                  </a:lnTo>
                  <a:lnTo>
                    <a:pt x="106314" y="924763"/>
                  </a:lnTo>
                  <a:lnTo>
                    <a:pt x="155448" y="932688"/>
                  </a:lnTo>
                  <a:lnTo>
                    <a:pt x="1428750" y="932688"/>
                  </a:lnTo>
                  <a:lnTo>
                    <a:pt x="1477883" y="924763"/>
                  </a:lnTo>
                  <a:lnTo>
                    <a:pt x="1520555" y="902695"/>
                  </a:lnTo>
                  <a:lnTo>
                    <a:pt x="1554205" y="869045"/>
                  </a:lnTo>
                  <a:lnTo>
                    <a:pt x="1576273" y="826373"/>
                  </a:lnTo>
                  <a:lnTo>
                    <a:pt x="1584198" y="777239"/>
                  </a:lnTo>
                  <a:lnTo>
                    <a:pt x="1584198" y="155448"/>
                  </a:lnTo>
                  <a:lnTo>
                    <a:pt x="1576273" y="106314"/>
                  </a:lnTo>
                  <a:lnTo>
                    <a:pt x="1554205" y="63642"/>
                  </a:lnTo>
                  <a:lnTo>
                    <a:pt x="1520555" y="29992"/>
                  </a:lnTo>
                  <a:lnTo>
                    <a:pt x="1477883" y="7924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423790" y="2218563"/>
              <a:ext cx="1584325" cy="932815"/>
            </a:xfrm>
            <a:custGeom>
              <a:avLst/>
              <a:gdLst/>
              <a:ahLst/>
              <a:cxnLst/>
              <a:rect l="l" t="t" r="r" b="b"/>
              <a:pathLst>
                <a:path w="1584325" h="932814">
                  <a:moveTo>
                    <a:pt x="0" y="155448"/>
                  </a:moveTo>
                  <a:lnTo>
                    <a:pt x="7924" y="106314"/>
                  </a:lnTo>
                  <a:lnTo>
                    <a:pt x="29992" y="63642"/>
                  </a:lnTo>
                  <a:lnTo>
                    <a:pt x="63642" y="29992"/>
                  </a:lnTo>
                  <a:lnTo>
                    <a:pt x="106314" y="7924"/>
                  </a:lnTo>
                  <a:lnTo>
                    <a:pt x="155448" y="0"/>
                  </a:lnTo>
                  <a:lnTo>
                    <a:pt x="1428750" y="0"/>
                  </a:lnTo>
                  <a:lnTo>
                    <a:pt x="1477883" y="7924"/>
                  </a:lnTo>
                  <a:lnTo>
                    <a:pt x="1520555" y="29992"/>
                  </a:lnTo>
                  <a:lnTo>
                    <a:pt x="1554205" y="63642"/>
                  </a:lnTo>
                  <a:lnTo>
                    <a:pt x="1576273" y="106314"/>
                  </a:lnTo>
                  <a:lnTo>
                    <a:pt x="1584198" y="155448"/>
                  </a:lnTo>
                  <a:lnTo>
                    <a:pt x="1584198" y="777239"/>
                  </a:lnTo>
                  <a:lnTo>
                    <a:pt x="1576273" y="826373"/>
                  </a:lnTo>
                  <a:lnTo>
                    <a:pt x="1554205" y="869045"/>
                  </a:lnTo>
                  <a:lnTo>
                    <a:pt x="1520555" y="902695"/>
                  </a:lnTo>
                  <a:lnTo>
                    <a:pt x="1477883" y="924763"/>
                  </a:lnTo>
                  <a:lnTo>
                    <a:pt x="1428750" y="932688"/>
                  </a:lnTo>
                  <a:lnTo>
                    <a:pt x="155448" y="932688"/>
                  </a:lnTo>
                  <a:lnTo>
                    <a:pt x="106314" y="924763"/>
                  </a:lnTo>
                  <a:lnTo>
                    <a:pt x="63642" y="902695"/>
                  </a:lnTo>
                  <a:lnTo>
                    <a:pt x="29992" y="869045"/>
                  </a:lnTo>
                  <a:lnTo>
                    <a:pt x="7924" y="826373"/>
                  </a:lnTo>
                  <a:lnTo>
                    <a:pt x="0" y="777239"/>
                  </a:lnTo>
                  <a:lnTo>
                    <a:pt x="0" y="155448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24294" y="3720083"/>
            <a:ext cx="1799273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Microsoft JhengHei" panose="020B0604030504040204" charset="-120"/>
                <a:cs typeface="Microsoft JhengHei" panose="020B0604030504040204" charset="-120"/>
              </a:rPr>
              <a:t>Encoder</a:t>
            </a:r>
            <a:endParaRPr sz="3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16713" y="3562539"/>
            <a:ext cx="5297805" cy="905828"/>
            <a:chOff x="3811142" y="2375026"/>
            <a:chExt cx="3531870" cy="60388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9261" y="2378201"/>
              <a:ext cx="290322" cy="59740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049261" y="2378201"/>
              <a:ext cx="290830" cy="597535"/>
            </a:xfrm>
            <a:custGeom>
              <a:avLst/>
              <a:gdLst/>
              <a:ahLst/>
              <a:cxnLst/>
              <a:rect l="l" t="t" r="r" b="b"/>
              <a:pathLst>
                <a:path w="290829" h="597535">
                  <a:moveTo>
                    <a:pt x="0" y="597408"/>
                  </a:moveTo>
                  <a:lnTo>
                    <a:pt x="290322" y="597408"/>
                  </a:lnTo>
                  <a:lnTo>
                    <a:pt x="290322" y="0"/>
                  </a:lnTo>
                  <a:lnTo>
                    <a:pt x="0" y="0"/>
                  </a:lnTo>
                  <a:lnTo>
                    <a:pt x="0" y="597408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3811142" y="2614421"/>
              <a:ext cx="597535" cy="171450"/>
            </a:xfrm>
            <a:custGeom>
              <a:avLst/>
              <a:gdLst/>
              <a:ahLst/>
              <a:cxnLst/>
              <a:rect l="l" t="t" r="r" b="b"/>
              <a:pathLst>
                <a:path w="597535" h="171450">
                  <a:moveTo>
                    <a:pt x="425704" y="0"/>
                  </a:moveTo>
                  <a:lnTo>
                    <a:pt x="425704" y="171450"/>
                  </a:lnTo>
                  <a:lnTo>
                    <a:pt x="540004" y="114300"/>
                  </a:lnTo>
                  <a:lnTo>
                    <a:pt x="454279" y="114300"/>
                  </a:lnTo>
                  <a:lnTo>
                    <a:pt x="454279" y="57150"/>
                  </a:lnTo>
                  <a:lnTo>
                    <a:pt x="540004" y="57150"/>
                  </a:lnTo>
                  <a:lnTo>
                    <a:pt x="425704" y="0"/>
                  </a:lnTo>
                  <a:close/>
                </a:path>
                <a:path w="597535" h="171450">
                  <a:moveTo>
                    <a:pt x="425704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425704" y="114300"/>
                  </a:lnTo>
                  <a:lnTo>
                    <a:pt x="425704" y="57150"/>
                  </a:lnTo>
                  <a:close/>
                </a:path>
                <a:path w="597535" h="171450">
                  <a:moveTo>
                    <a:pt x="540004" y="57150"/>
                  </a:moveTo>
                  <a:lnTo>
                    <a:pt x="454279" y="57150"/>
                  </a:lnTo>
                  <a:lnTo>
                    <a:pt x="454279" y="114300"/>
                  </a:lnTo>
                  <a:lnTo>
                    <a:pt x="540004" y="114300"/>
                  </a:lnTo>
                  <a:lnTo>
                    <a:pt x="597154" y="85725"/>
                  </a:lnTo>
                  <a:lnTo>
                    <a:pt x="540004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065138" y="2599181"/>
              <a:ext cx="955675" cy="171450"/>
            </a:xfrm>
            <a:custGeom>
              <a:avLst/>
              <a:gdLst/>
              <a:ahLst/>
              <a:cxnLst/>
              <a:rect l="l" t="t" r="r" b="b"/>
              <a:pathLst>
                <a:path w="955675" h="171450">
                  <a:moveTo>
                    <a:pt x="784097" y="0"/>
                  </a:moveTo>
                  <a:lnTo>
                    <a:pt x="784097" y="171450"/>
                  </a:lnTo>
                  <a:lnTo>
                    <a:pt x="898397" y="114300"/>
                  </a:lnTo>
                  <a:lnTo>
                    <a:pt x="812672" y="114300"/>
                  </a:lnTo>
                  <a:lnTo>
                    <a:pt x="812672" y="57150"/>
                  </a:lnTo>
                  <a:lnTo>
                    <a:pt x="898397" y="57150"/>
                  </a:lnTo>
                  <a:lnTo>
                    <a:pt x="784097" y="0"/>
                  </a:lnTo>
                  <a:close/>
                </a:path>
                <a:path w="955675" h="171450">
                  <a:moveTo>
                    <a:pt x="784097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784097" y="114300"/>
                  </a:lnTo>
                  <a:lnTo>
                    <a:pt x="784097" y="57150"/>
                  </a:lnTo>
                  <a:close/>
                </a:path>
                <a:path w="955675" h="171450">
                  <a:moveTo>
                    <a:pt x="898397" y="57150"/>
                  </a:moveTo>
                  <a:lnTo>
                    <a:pt x="812672" y="57150"/>
                  </a:lnTo>
                  <a:lnTo>
                    <a:pt x="812672" y="114300"/>
                  </a:lnTo>
                  <a:lnTo>
                    <a:pt x="898397" y="114300"/>
                  </a:lnTo>
                  <a:lnTo>
                    <a:pt x="955547" y="85725"/>
                  </a:lnTo>
                  <a:lnTo>
                    <a:pt x="89839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18" name="object 18"/>
          <p:cNvSpPr/>
          <p:nvPr/>
        </p:nvSpPr>
        <p:spPr>
          <a:xfrm>
            <a:off x="11169968" y="3904487"/>
            <a:ext cx="4785360" cy="267653"/>
          </a:xfrm>
          <a:custGeom>
            <a:avLst/>
            <a:gdLst/>
            <a:ahLst/>
            <a:cxnLst/>
            <a:rect l="l" t="t" r="r" b="b"/>
            <a:pathLst>
              <a:path w="3190240" h="178435">
                <a:moveTo>
                  <a:pt x="955548" y="85725"/>
                </a:moveTo>
                <a:lnTo>
                  <a:pt x="898398" y="57150"/>
                </a:lnTo>
                <a:lnTo>
                  <a:pt x="784098" y="0"/>
                </a:lnTo>
                <a:lnTo>
                  <a:pt x="784098" y="57150"/>
                </a:lnTo>
                <a:lnTo>
                  <a:pt x="0" y="57150"/>
                </a:lnTo>
                <a:lnTo>
                  <a:pt x="0" y="114300"/>
                </a:lnTo>
                <a:lnTo>
                  <a:pt x="784098" y="114300"/>
                </a:lnTo>
                <a:lnTo>
                  <a:pt x="784098" y="171450"/>
                </a:lnTo>
                <a:lnTo>
                  <a:pt x="898398" y="114300"/>
                </a:lnTo>
                <a:lnTo>
                  <a:pt x="955548" y="85725"/>
                </a:lnTo>
                <a:close/>
              </a:path>
              <a:path w="3190240" h="178435">
                <a:moveTo>
                  <a:pt x="3190240" y="92583"/>
                </a:moveTo>
                <a:lnTo>
                  <a:pt x="3133090" y="64008"/>
                </a:lnTo>
                <a:lnTo>
                  <a:pt x="3018790" y="6858"/>
                </a:lnTo>
                <a:lnTo>
                  <a:pt x="3018790" y="64008"/>
                </a:lnTo>
                <a:lnTo>
                  <a:pt x="2593086" y="64008"/>
                </a:lnTo>
                <a:lnTo>
                  <a:pt x="2593086" y="121158"/>
                </a:lnTo>
                <a:lnTo>
                  <a:pt x="3018790" y="121158"/>
                </a:lnTo>
                <a:lnTo>
                  <a:pt x="3018790" y="178308"/>
                </a:lnTo>
                <a:lnTo>
                  <a:pt x="3133090" y="121158"/>
                </a:lnTo>
                <a:lnTo>
                  <a:pt x="3190240" y="925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7027" y="6429701"/>
            <a:ext cx="1538663" cy="154354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42207" y="3216401"/>
            <a:ext cx="1620773" cy="161963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28289" y="3130676"/>
            <a:ext cx="1619630" cy="161963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9639" y="6285357"/>
            <a:ext cx="1619630" cy="1619631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5187613" y="6429375"/>
            <a:ext cx="2460308" cy="1620203"/>
            <a:chOff x="10125075" y="4286250"/>
            <a:chExt cx="1640205" cy="108013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85526" y="4286250"/>
              <a:ext cx="1079753" cy="107975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125075" y="4647438"/>
              <a:ext cx="597535" cy="171450"/>
            </a:xfrm>
            <a:custGeom>
              <a:avLst/>
              <a:gdLst/>
              <a:ahLst/>
              <a:cxnLst/>
              <a:rect l="l" t="t" r="r" b="b"/>
              <a:pathLst>
                <a:path w="597534" h="171450">
                  <a:moveTo>
                    <a:pt x="425703" y="0"/>
                  </a:moveTo>
                  <a:lnTo>
                    <a:pt x="425703" y="171450"/>
                  </a:lnTo>
                  <a:lnTo>
                    <a:pt x="540003" y="114300"/>
                  </a:lnTo>
                  <a:lnTo>
                    <a:pt x="454278" y="114300"/>
                  </a:lnTo>
                  <a:lnTo>
                    <a:pt x="454278" y="57150"/>
                  </a:lnTo>
                  <a:lnTo>
                    <a:pt x="540003" y="57150"/>
                  </a:lnTo>
                  <a:lnTo>
                    <a:pt x="425703" y="0"/>
                  </a:lnTo>
                  <a:close/>
                </a:path>
                <a:path w="597534" h="171450">
                  <a:moveTo>
                    <a:pt x="425703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425703" y="114300"/>
                  </a:lnTo>
                  <a:lnTo>
                    <a:pt x="425703" y="57150"/>
                  </a:lnTo>
                  <a:close/>
                </a:path>
                <a:path w="597534" h="171450">
                  <a:moveTo>
                    <a:pt x="540003" y="57150"/>
                  </a:moveTo>
                  <a:lnTo>
                    <a:pt x="454278" y="57150"/>
                  </a:lnTo>
                  <a:lnTo>
                    <a:pt x="454278" y="114300"/>
                  </a:lnTo>
                  <a:lnTo>
                    <a:pt x="540003" y="114300"/>
                  </a:lnTo>
                  <a:lnTo>
                    <a:pt x="597153" y="85725"/>
                  </a:lnTo>
                  <a:lnTo>
                    <a:pt x="540003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26" name="object 26"/>
          <p:cNvSpPr/>
          <p:nvPr/>
        </p:nvSpPr>
        <p:spPr>
          <a:xfrm>
            <a:off x="5900738" y="7050023"/>
            <a:ext cx="3913823" cy="257175"/>
          </a:xfrm>
          <a:custGeom>
            <a:avLst/>
            <a:gdLst/>
            <a:ahLst/>
            <a:cxnLst/>
            <a:rect l="l" t="t" r="r" b="b"/>
            <a:pathLst>
              <a:path w="2609215" h="171450">
                <a:moveTo>
                  <a:pt x="2437765" y="0"/>
                </a:moveTo>
                <a:lnTo>
                  <a:pt x="2437765" y="171449"/>
                </a:lnTo>
                <a:lnTo>
                  <a:pt x="2552065" y="114299"/>
                </a:lnTo>
                <a:lnTo>
                  <a:pt x="2466340" y="114299"/>
                </a:lnTo>
                <a:lnTo>
                  <a:pt x="2466340" y="57149"/>
                </a:lnTo>
                <a:lnTo>
                  <a:pt x="2552065" y="57149"/>
                </a:lnTo>
                <a:lnTo>
                  <a:pt x="2437765" y="0"/>
                </a:lnTo>
                <a:close/>
              </a:path>
              <a:path w="2609215" h="171450">
                <a:moveTo>
                  <a:pt x="2437765" y="57149"/>
                </a:moveTo>
                <a:lnTo>
                  <a:pt x="0" y="57149"/>
                </a:lnTo>
                <a:lnTo>
                  <a:pt x="0" y="114299"/>
                </a:lnTo>
                <a:lnTo>
                  <a:pt x="2437765" y="114299"/>
                </a:lnTo>
                <a:lnTo>
                  <a:pt x="2437765" y="57149"/>
                </a:lnTo>
                <a:close/>
              </a:path>
              <a:path w="2609215" h="171450">
                <a:moveTo>
                  <a:pt x="2552065" y="57149"/>
                </a:moveTo>
                <a:lnTo>
                  <a:pt x="2466340" y="57149"/>
                </a:lnTo>
                <a:lnTo>
                  <a:pt x="2466340" y="114299"/>
                </a:lnTo>
                <a:lnTo>
                  <a:pt x="2552065" y="114299"/>
                </a:lnTo>
                <a:lnTo>
                  <a:pt x="2609215" y="85724"/>
                </a:lnTo>
                <a:lnTo>
                  <a:pt x="2552065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grpSp>
        <p:nvGrpSpPr>
          <p:cNvPr id="27" name="object 27"/>
          <p:cNvGrpSpPr/>
          <p:nvPr/>
        </p:nvGrpSpPr>
        <p:grpSpPr>
          <a:xfrm>
            <a:off x="12698729" y="6399657"/>
            <a:ext cx="2404110" cy="1484948"/>
            <a:chOff x="8465819" y="4266438"/>
            <a:chExt cx="1602740" cy="989965"/>
          </a:xfrm>
        </p:grpSpPr>
        <p:sp>
          <p:nvSpPr>
            <p:cNvPr id="28" name="object 28"/>
            <p:cNvSpPr/>
            <p:nvPr/>
          </p:nvSpPr>
          <p:spPr>
            <a:xfrm>
              <a:off x="8494394" y="4295013"/>
              <a:ext cx="1545590" cy="932815"/>
            </a:xfrm>
            <a:custGeom>
              <a:avLst/>
              <a:gdLst/>
              <a:ahLst/>
              <a:cxnLst/>
              <a:rect l="l" t="t" r="r" b="b"/>
              <a:pathLst>
                <a:path w="1545590" h="932814">
                  <a:moveTo>
                    <a:pt x="1389887" y="0"/>
                  </a:moveTo>
                  <a:lnTo>
                    <a:pt x="155448" y="0"/>
                  </a:lnTo>
                  <a:lnTo>
                    <a:pt x="106314" y="7924"/>
                  </a:lnTo>
                  <a:lnTo>
                    <a:pt x="63642" y="29992"/>
                  </a:lnTo>
                  <a:lnTo>
                    <a:pt x="29992" y="63642"/>
                  </a:lnTo>
                  <a:lnTo>
                    <a:pt x="7924" y="106314"/>
                  </a:lnTo>
                  <a:lnTo>
                    <a:pt x="0" y="155448"/>
                  </a:lnTo>
                  <a:lnTo>
                    <a:pt x="0" y="777239"/>
                  </a:lnTo>
                  <a:lnTo>
                    <a:pt x="7924" y="826373"/>
                  </a:lnTo>
                  <a:lnTo>
                    <a:pt x="29992" y="869045"/>
                  </a:lnTo>
                  <a:lnTo>
                    <a:pt x="63642" y="902695"/>
                  </a:lnTo>
                  <a:lnTo>
                    <a:pt x="106314" y="924763"/>
                  </a:lnTo>
                  <a:lnTo>
                    <a:pt x="155448" y="932688"/>
                  </a:lnTo>
                  <a:lnTo>
                    <a:pt x="1389887" y="932688"/>
                  </a:lnTo>
                  <a:lnTo>
                    <a:pt x="1439021" y="924763"/>
                  </a:lnTo>
                  <a:lnTo>
                    <a:pt x="1481693" y="902695"/>
                  </a:lnTo>
                  <a:lnTo>
                    <a:pt x="1515343" y="869045"/>
                  </a:lnTo>
                  <a:lnTo>
                    <a:pt x="1537411" y="826373"/>
                  </a:lnTo>
                  <a:lnTo>
                    <a:pt x="1545335" y="777239"/>
                  </a:lnTo>
                  <a:lnTo>
                    <a:pt x="1545335" y="155448"/>
                  </a:lnTo>
                  <a:lnTo>
                    <a:pt x="1537411" y="106314"/>
                  </a:lnTo>
                  <a:lnTo>
                    <a:pt x="1515343" y="63642"/>
                  </a:lnTo>
                  <a:lnTo>
                    <a:pt x="1481693" y="29992"/>
                  </a:lnTo>
                  <a:lnTo>
                    <a:pt x="1439021" y="7924"/>
                  </a:lnTo>
                  <a:lnTo>
                    <a:pt x="1389887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8494394" y="4295013"/>
              <a:ext cx="1545590" cy="932815"/>
            </a:xfrm>
            <a:custGeom>
              <a:avLst/>
              <a:gdLst/>
              <a:ahLst/>
              <a:cxnLst/>
              <a:rect l="l" t="t" r="r" b="b"/>
              <a:pathLst>
                <a:path w="1545590" h="932814">
                  <a:moveTo>
                    <a:pt x="0" y="155448"/>
                  </a:moveTo>
                  <a:lnTo>
                    <a:pt x="7924" y="106314"/>
                  </a:lnTo>
                  <a:lnTo>
                    <a:pt x="29992" y="63642"/>
                  </a:lnTo>
                  <a:lnTo>
                    <a:pt x="63642" y="29992"/>
                  </a:lnTo>
                  <a:lnTo>
                    <a:pt x="106314" y="7924"/>
                  </a:lnTo>
                  <a:lnTo>
                    <a:pt x="155448" y="0"/>
                  </a:lnTo>
                  <a:lnTo>
                    <a:pt x="1389887" y="0"/>
                  </a:lnTo>
                  <a:lnTo>
                    <a:pt x="1439021" y="7924"/>
                  </a:lnTo>
                  <a:lnTo>
                    <a:pt x="1481693" y="29992"/>
                  </a:lnTo>
                  <a:lnTo>
                    <a:pt x="1515343" y="63642"/>
                  </a:lnTo>
                  <a:lnTo>
                    <a:pt x="1537411" y="106314"/>
                  </a:lnTo>
                  <a:lnTo>
                    <a:pt x="1545335" y="155448"/>
                  </a:lnTo>
                  <a:lnTo>
                    <a:pt x="1545335" y="777239"/>
                  </a:lnTo>
                  <a:lnTo>
                    <a:pt x="1537411" y="826373"/>
                  </a:lnTo>
                  <a:lnTo>
                    <a:pt x="1515343" y="869045"/>
                  </a:lnTo>
                  <a:lnTo>
                    <a:pt x="1481693" y="902695"/>
                  </a:lnTo>
                  <a:lnTo>
                    <a:pt x="1439021" y="924763"/>
                  </a:lnTo>
                  <a:lnTo>
                    <a:pt x="1389887" y="932688"/>
                  </a:lnTo>
                  <a:lnTo>
                    <a:pt x="155448" y="932688"/>
                  </a:lnTo>
                  <a:lnTo>
                    <a:pt x="106314" y="924763"/>
                  </a:lnTo>
                  <a:lnTo>
                    <a:pt x="63642" y="902695"/>
                  </a:lnTo>
                  <a:lnTo>
                    <a:pt x="29992" y="869045"/>
                  </a:lnTo>
                  <a:lnTo>
                    <a:pt x="7924" y="826373"/>
                  </a:lnTo>
                  <a:lnTo>
                    <a:pt x="0" y="777239"/>
                  </a:lnTo>
                  <a:lnTo>
                    <a:pt x="0" y="155448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3005435" y="6835139"/>
            <a:ext cx="179070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Microsoft JhengHei" panose="020B0604030504040204" charset="-120"/>
                <a:cs typeface="Microsoft JhengHei" panose="020B0604030504040204" charset="-120"/>
              </a:rPr>
              <a:t>Denoise</a:t>
            </a:r>
            <a:endParaRPr sz="3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10375" y="6100913"/>
            <a:ext cx="2191703" cy="18542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02920" marR="5080" indent="-490855">
              <a:lnSpc>
                <a:spcPct val="142000"/>
              </a:lnSpc>
              <a:spcBef>
                <a:spcPts val="100"/>
              </a:spcBef>
            </a:pPr>
            <a:r>
              <a:rPr sz="4200" dirty="0">
                <a:latin typeface="Calibri" panose="020F0502020204030204"/>
                <a:cs typeface="Calibri" panose="020F0502020204030204"/>
              </a:rPr>
              <a:t>Add</a:t>
            </a:r>
            <a:r>
              <a:rPr sz="42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4200" spc="-20" dirty="0">
                <a:latin typeface="Calibri" panose="020F0502020204030204"/>
                <a:cs typeface="Calibri" panose="020F0502020204030204"/>
              </a:rPr>
              <a:t>noise </a:t>
            </a:r>
            <a:r>
              <a:rPr sz="4200" dirty="0">
                <a:latin typeface="Calibri" panose="020F0502020204030204"/>
                <a:cs typeface="Calibri" panose="020F0502020204030204"/>
              </a:rPr>
              <a:t>X </a:t>
            </a:r>
            <a:r>
              <a:rPr sz="4200" spc="-50" dirty="0">
                <a:latin typeface="Calibri" panose="020F0502020204030204"/>
                <a:cs typeface="Calibri" panose="020F0502020204030204"/>
              </a:rPr>
              <a:t>N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709462" y="7136892"/>
            <a:ext cx="896303" cy="257175"/>
          </a:xfrm>
          <a:custGeom>
            <a:avLst/>
            <a:gdLst/>
            <a:ahLst/>
            <a:cxnLst/>
            <a:rect l="l" t="t" r="r" b="b"/>
            <a:pathLst>
              <a:path w="597534" h="171450">
                <a:moveTo>
                  <a:pt x="425704" y="0"/>
                </a:moveTo>
                <a:lnTo>
                  <a:pt x="425704" y="171450"/>
                </a:lnTo>
                <a:lnTo>
                  <a:pt x="540004" y="114300"/>
                </a:lnTo>
                <a:lnTo>
                  <a:pt x="454279" y="114300"/>
                </a:lnTo>
                <a:lnTo>
                  <a:pt x="454279" y="57150"/>
                </a:lnTo>
                <a:lnTo>
                  <a:pt x="540004" y="57150"/>
                </a:lnTo>
                <a:lnTo>
                  <a:pt x="425704" y="0"/>
                </a:lnTo>
                <a:close/>
              </a:path>
              <a:path w="597534" h="171450">
                <a:moveTo>
                  <a:pt x="425704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425704" y="114300"/>
                </a:lnTo>
                <a:lnTo>
                  <a:pt x="425704" y="57150"/>
                </a:lnTo>
                <a:close/>
              </a:path>
              <a:path w="597534" h="171450">
                <a:moveTo>
                  <a:pt x="540004" y="57150"/>
                </a:moveTo>
                <a:lnTo>
                  <a:pt x="454279" y="57150"/>
                </a:lnTo>
                <a:lnTo>
                  <a:pt x="454279" y="114300"/>
                </a:lnTo>
                <a:lnTo>
                  <a:pt x="540004" y="114300"/>
                </a:lnTo>
                <a:lnTo>
                  <a:pt x="597154" y="85725"/>
                </a:lnTo>
                <a:lnTo>
                  <a:pt x="540004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33" name="object 33"/>
          <p:cNvSpPr txBox="1"/>
          <p:nvPr/>
        </p:nvSpPr>
        <p:spPr>
          <a:xfrm>
            <a:off x="14293977" y="5643753"/>
            <a:ext cx="78105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libri" panose="020F0502020204030204"/>
                <a:cs typeface="Calibri" panose="020F0502020204030204"/>
              </a:rPr>
              <a:t>X </a:t>
            </a:r>
            <a:r>
              <a:rPr sz="4200" spc="-50" dirty="0">
                <a:latin typeface="Calibri" panose="020F0502020204030204"/>
                <a:cs typeface="Calibri" panose="020F0502020204030204"/>
              </a:rPr>
              <a:t>N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Denoising Diffusion Probabilistic Models</a:t>
            </a:r>
            <a:endParaRPr lang="en-US" alt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4785" y="3415030"/>
            <a:ext cx="13291820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Content Placeholder 2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6175" y="3449955"/>
            <a:ext cx="9100820" cy="4544695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1724" y="-86409"/>
            <a:ext cx="16084552" cy="1551434"/>
          </a:xfrm>
          <a:prstGeom prst="rect">
            <a:avLst/>
          </a:prstGeom>
        </p:spPr>
        <p:txBody>
          <a:bodyPr vert="horz" wrap="square" lIns="0" tIns="180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en-US" sz="5400" b="1" i="1" dirty="0"/>
              <a:t>Training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7193" y="1844928"/>
            <a:ext cx="2431160" cy="161963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63231" y="2305176"/>
            <a:ext cx="300609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940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600" dirty="0">
                <a:latin typeface="Calibri" panose="020F0502020204030204"/>
                <a:cs typeface="Calibri" panose="020F0502020204030204"/>
              </a:rPr>
              <a:t>:</a:t>
            </a:r>
            <a:r>
              <a:rPr sz="36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clean</a:t>
            </a:r>
            <a:r>
              <a:rPr sz="36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image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18500" y="4752593"/>
            <a:ext cx="3693795" cy="14649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sample</a:t>
            </a:r>
            <a:r>
              <a:rPr sz="3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clean</a:t>
            </a:r>
            <a:r>
              <a:rPr sz="36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image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8270">
              <a:lnSpc>
                <a:spcPct val="100000"/>
              </a:lnSpc>
              <a:spcBef>
                <a:spcPts val="2635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sample</a:t>
            </a:r>
            <a:r>
              <a:rPr sz="3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a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noise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26884" y="7299831"/>
            <a:ext cx="171450" cy="1276350"/>
          </a:xfrm>
          <a:custGeom>
            <a:avLst/>
            <a:gdLst/>
            <a:ahLst/>
            <a:cxnLst/>
            <a:rect l="l" t="t" r="r" b="b"/>
            <a:pathLst>
              <a:path w="114300" h="850900">
                <a:moveTo>
                  <a:pt x="76200" y="812799"/>
                </a:moveTo>
                <a:lnTo>
                  <a:pt x="38100" y="812799"/>
                </a:lnTo>
                <a:lnTo>
                  <a:pt x="38100" y="850899"/>
                </a:lnTo>
                <a:lnTo>
                  <a:pt x="76200" y="850899"/>
                </a:lnTo>
                <a:lnTo>
                  <a:pt x="76200" y="812799"/>
                </a:lnTo>
                <a:close/>
              </a:path>
              <a:path w="114300" h="850900">
                <a:moveTo>
                  <a:pt x="76200" y="736599"/>
                </a:moveTo>
                <a:lnTo>
                  <a:pt x="38100" y="736599"/>
                </a:lnTo>
                <a:lnTo>
                  <a:pt x="38100" y="774699"/>
                </a:lnTo>
                <a:lnTo>
                  <a:pt x="76200" y="774699"/>
                </a:lnTo>
                <a:lnTo>
                  <a:pt x="76200" y="736599"/>
                </a:lnTo>
                <a:close/>
              </a:path>
              <a:path w="114300" h="850900">
                <a:moveTo>
                  <a:pt x="76200" y="660400"/>
                </a:moveTo>
                <a:lnTo>
                  <a:pt x="38100" y="660400"/>
                </a:lnTo>
                <a:lnTo>
                  <a:pt x="38100" y="698499"/>
                </a:lnTo>
                <a:lnTo>
                  <a:pt x="76200" y="698499"/>
                </a:lnTo>
                <a:lnTo>
                  <a:pt x="76200" y="660400"/>
                </a:lnTo>
                <a:close/>
              </a:path>
              <a:path w="114300" h="850900">
                <a:moveTo>
                  <a:pt x="76200" y="584200"/>
                </a:moveTo>
                <a:lnTo>
                  <a:pt x="38100" y="584200"/>
                </a:lnTo>
                <a:lnTo>
                  <a:pt x="38100" y="622300"/>
                </a:lnTo>
                <a:lnTo>
                  <a:pt x="76200" y="622300"/>
                </a:lnTo>
                <a:lnTo>
                  <a:pt x="76200" y="584200"/>
                </a:lnTo>
                <a:close/>
              </a:path>
              <a:path w="114300" h="850900">
                <a:moveTo>
                  <a:pt x="76200" y="508000"/>
                </a:moveTo>
                <a:lnTo>
                  <a:pt x="38100" y="508000"/>
                </a:lnTo>
                <a:lnTo>
                  <a:pt x="38100" y="546100"/>
                </a:lnTo>
                <a:lnTo>
                  <a:pt x="76200" y="546100"/>
                </a:lnTo>
                <a:lnTo>
                  <a:pt x="76200" y="508000"/>
                </a:lnTo>
                <a:close/>
              </a:path>
              <a:path w="114300" h="850900">
                <a:moveTo>
                  <a:pt x="76200" y="431800"/>
                </a:moveTo>
                <a:lnTo>
                  <a:pt x="38100" y="431800"/>
                </a:lnTo>
                <a:lnTo>
                  <a:pt x="38100" y="469900"/>
                </a:lnTo>
                <a:lnTo>
                  <a:pt x="76200" y="469900"/>
                </a:lnTo>
                <a:lnTo>
                  <a:pt x="76200" y="431800"/>
                </a:lnTo>
                <a:close/>
              </a:path>
              <a:path w="114300" h="850900">
                <a:moveTo>
                  <a:pt x="76200" y="355600"/>
                </a:moveTo>
                <a:lnTo>
                  <a:pt x="38100" y="355600"/>
                </a:lnTo>
                <a:lnTo>
                  <a:pt x="38100" y="393700"/>
                </a:lnTo>
                <a:lnTo>
                  <a:pt x="76200" y="393700"/>
                </a:lnTo>
                <a:lnTo>
                  <a:pt x="76200" y="355600"/>
                </a:lnTo>
                <a:close/>
              </a:path>
              <a:path w="114300" h="850900">
                <a:moveTo>
                  <a:pt x="76200" y="279400"/>
                </a:moveTo>
                <a:lnTo>
                  <a:pt x="38100" y="279400"/>
                </a:lnTo>
                <a:lnTo>
                  <a:pt x="38100" y="317500"/>
                </a:lnTo>
                <a:lnTo>
                  <a:pt x="76200" y="317500"/>
                </a:lnTo>
                <a:lnTo>
                  <a:pt x="76200" y="279400"/>
                </a:lnTo>
                <a:close/>
              </a:path>
              <a:path w="114300" h="850900">
                <a:moveTo>
                  <a:pt x="76200" y="203200"/>
                </a:moveTo>
                <a:lnTo>
                  <a:pt x="38100" y="203200"/>
                </a:lnTo>
                <a:lnTo>
                  <a:pt x="38100" y="241300"/>
                </a:lnTo>
                <a:lnTo>
                  <a:pt x="76200" y="241300"/>
                </a:lnTo>
                <a:lnTo>
                  <a:pt x="76200" y="203200"/>
                </a:lnTo>
                <a:close/>
              </a:path>
              <a:path w="114300" h="850900">
                <a:moveTo>
                  <a:pt x="76200" y="127000"/>
                </a:moveTo>
                <a:lnTo>
                  <a:pt x="38100" y="127000"/>
                </a:lnTo>
                <a:lnTo>
                  <a:pt x="38100" y="165100"/>
                </a:lnTo>
                <a:lnTo>
                  <a:pt x="76200" y="165100"/>
                </a:lnTo>
                <a:lnTo>
                  <a:pt x="76200" y="127000"/>
                </a:lnTo>
                <a:close/>
              </a:path>
              <a:path w="114300" h="850900">
                <a:moveTo>
                  <a:pt x="57150" y="0"/>
                </a:moveTo>
                <a:lnTo>
                  <a:pt x="0" y="114300"/>
                </a:lnTo>
                <a:lnTo>
                  <a:pt x="114300" y="114300"/>
                </a:lnTo>
                <a:lnTo>
                  <a:pt x="57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1" name="object 11"/>
          <p:cNvSpPr txBox="1"/>
          <p:nvPr/>
        </p:nvSpPr>
        <p:spPr>
          <a:xfrm>
            <a:off x="9148698" y="8571992"/>
            <a:ext cx="1746885" cy="112649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indent="21971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Noise </a:t>
            </a:r>
            <a:r>
              <a:rPr sz="3600" spc="-20" dirty="0">
                <a:latin typeface="Calibri" panose="020F0502020204030204"/>
                <a:cs typeface="Calibri" panose="020F0502020204030204"/>
              </a:rPr>
              <a:t>predictor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0155" y="8596375"/>
            <a:ext cx="1187768" cy="112649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45720" marR="5080" indent="-33655">
              <a:lnSpc>
                <a:spcPct val="100000"/>
              </a:lnSpc>
              <a:spcBef>
                <a:spcPts val="100"/>
              </a:spcBef>
            </a:pPr>
            <a:r>
              <a:rPr sz="3600" spc="-55" dirty="0">
                <a:latin typeface="Calibri" panose="020F0502020204030204"/>
                <a:cs typeface="Calibri" panose="020F0502020204030204"/>
              </a:rPr>
              <a:t>Target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Noise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94775" y="7337551"/>
            <a:ext cx="228790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Noisy</a:t>
            </a:r>
            <a:r>
              <a:rPr sz="36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image</a:t>
            </a:r>
            <a:endParaRPr sz="3600" dirty="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28635" y="5913373"/>
            <a:ext cx="4973955" cy="2623184"/>
            <a:chOff x="5316473" y="3614165"/>
            <a:chExt cx="3315970" cy="1748789"/>
          </a:xfrm>
        </p:grpSpPr>
        <p:sp>
          <p:nvSpPr>
            <p:cNvPr id="15" name="object 15"/>
            <p:cNvSpPr/>
            <p:nvPr/>
          </p:nvSpPr>
          <p:spPr>
            <a:xfrm>
              <a:off x="5407913" y="3614165"/>
              <a:ext cx="368300" cy="114300"/>
            </a:xfrm>
            <a:custGeom>
              <a:avLst/>
              <a:gdLst/>
              <a:ahLst/>
              <a:cxnLst/>
              <a:rect l="l" t="t" r="r" b="b"/>
              <a:pathLst>
                <a:path w="368300" h="114300">
                  <a:moveTo>
                    <a:pt x="368046" y="38099"/>
                  </a:moveTo>
                  <a:lnTo>
                    <a:pt x="329946" y="38099"/>
                  </a:lnTo>
                  <a:lnTo>
                    <a:pt x="329946" y="76199"/>
                  </a:lnTo>
                  <a:lnTo>
                    <a:pt x="368046" y="76199"/>
                  </a:lnTo>
                  <a:lnTo>
                    <a:pt x="368046" y="38099"/>
                  </a:lnTo>
                  <a:close/>
                </a:path>
                <a:path w="368300" h="114300">
                  <a:moveTo>
                    <a:pt x="291846" y="38099"/>
                  </a:moveTo>
                  <a:lnTo>
                    <a:pt x="253746" y="38099"/>
                  </a:lnTo>
                  <a:lnTo>
                    <a:pt x="253746" y="76199"/>
                  </a:lnTo>
                  <a:lnTo>
                    <a:pt x="291846" y="76199"/>
                  </a:lnTo>
                  <a:lnTo>
                    <a:pt x="291846" y="38099"/>
                  </a:lnTo>
                  <a:close/>
                </a:path>
                <a:path w="368300" h="114300">
                  <a:moveTo>
                    <a:pt x="215646" y="38099"/>
                  </a:moveTo>
                  <a:lnTo>
                    <a:pt x="177546" y="38099"/>
                  </a:lnTo>
                  <a:lnTo>
                    <a:pt x="177546" y="76199"/>
                  </a:lnTo>
                  <a:lnTo>
                    <a:pt x="215646" y="76199"/>
                  </a:lnTo>
                  <a:lnTo>
                    <a:pt x="215646" y="38099"/>
                  </a:lnTo>
                  <a:close/>
                </a:path>
                <a:path w="368300" h="114300">
                  <a:moveTo>
                    <a:pt x="114300" y="0"/>
                  </a:moveTo>
                  <a:lnTo>
                    <a:pt x="0" y="57149"/>
                  </a:lnTo>
                  <a:lnTo>
                    <a:pt x="114300" y="114299"/>
                  </a:lnTo>
                  <a:lnTo>
                    <a:pt x="114300" y="76199"/>
                  </a:lnTo>
                  <a:lnTo>
                    <a:pt x="101346" y="76199"/>
                  </a:lnTo>
                  <a:lnTo>
                    <a:pt x="101346" y="38099"/>
                  </a:lnTo>
                  <a:lnTo>
                    <a:pt x="114300" y="38099"/>
                  </a:lnTo>
                  <a:lnTo>
                    <a:pt x="114300" y="0"/>
                  </a:lnTo>
                  <a:close/>
                </a:path>
                <a:path w="368300" h="114300">
                  <a:moveTo>
                    <a:pt x="114300" y="38099"/>
                  </a:moveTo>
                  <a:lnTo>
                    <a:pt x="101346" y="38099"/>
                  </a:lnTo>
                  <a:lnTo>
                    <a:pt x="101346" y="76199"/>
                  </a:lnTo>
                  <a:lnTo>
                    <a:pt x="114300" y="76199"/>
                  </a:lnTo>
                  <a:lnTo>
                    <a:pt x="114300" y="38099"/>
                  </a:lnTo>
                  <a:close/>
                </a:path>
                <a:path w="368300" h="114300">
                  <a:moveTo>
                    <a:pt x="139446" y="38099"/>
                  </a:moveTo>
                  <a:lnTo>
                    <a:pt x="114300" y="38099"/>
                  </a:lnTo>
                  <a:lnTo>
                    <a:pt x="114300" y="76199"/>
                  </a:lnTo>
                  <a:lnTo>
                    <a:pt x="139446" y="76199"/>
                  </a:lnTo>
                  <a:lnTo>
                    <a:pt x="139446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5335523" y="4882133"/>
              <a:ext cx="3277870" cy="462280"/>
            </a:xfrm>
            <a:custGeom>
              <a:avLst/>
              <a:gdLst/>
              <a:ahLst/>
              <a:cxnLst/>
              <a:rect l="l" t="t" r="r" b="b"/>
              <a:pathLst>
                <a:path w="3277870" h="462279">
                  <a:moveTo>
                    <a:pt x="3277361" y="0"/>
                  </a:moveTo>
                  <a:lnTo>
                    <a:pt x="3272320" y="52937"/>
                  </a:lnTo>
                  <a:lnTo>
                    <a:pt x="3257958" y="101534"/>
                  </a:lnTo>
                  <a:lnTo>
                    <a:pt x="3235424" y="144404"/>
                  </a:lnTo>
                  <a:lnTo>
                    <a:pt x="3205862" y="180160"/>
                  </a:lnTo>
                  <a:lnTo>
                    <a:pt x="3170420" y="207417"/>
                  </a:lnTo>
                  <a:lnTo>
                    <a:pt x="3130244" y="224787"/>
                  </a:lnTo>
                  <a:lnTo>
                    <a:pt x="3086480" y="230886"/>
                  </a:lnTo>
                  <a:lnTo>
                    <a:pt x="1829561" y="230886"/>
                  </a:lnTo>
                  <a:lnTo>
                    <a:pt x="1785798" y="236984"/>
                  </a:lnTo>
                  <a:lnTo>
                    <a:pt x="1745622" y="254354"/>
                  </a:lnTo>
                  <a:lnTo>
                    <a:pt x="1710180" y="281611"/>
                  </a:lnTo>
                  <a:lnTo>
                    <a:pt x="1680618" y="317367"/>
                  </a:lnTo>
                  <a:lnTo>
                    <a:pt x="1658084" y="360237"/>
                  </a:lnTo>
                  <a:lnTo>
                    <a:pt x="1643722" y="408834"/>
                  </a:lnTo>
                  <a:lnTo>
                    <a:pt x="1638680" y="461772"/>
                  </a:lnTo>
                  <a:lnTo>
                    <a:pt x="1633639" y="408834"/>
                  </a:lnTo>
                  <a:lnTo>
                    <a:pt x="1619277" y="360237"/>
                  </a:lnTo>
                  <a:lnTo>
                    <a:pt x="1596743" y="317367"/>
                  </a:lnTo>
                  <a:lnTo>
                    <a:pt x="1567181" y="281611"/>
                  </a:lnTo>
                  <a:lnTo>
                    <a:pt x="1531739" y="254354"/>
                  </a:lnTo>
                  <a:lnTo>
                    <a:pt x="1491563" y="236984"/>
                  </a:lnTo>
                  <a:lnTo>
                    <a:pt x="1447800" y="230886"/>
                  </a:lnTo>
                  <a:lnTo>
                    <a:pt x="190880" y="230886"/>
                  </a:lnTo>
                  <a:lnTo>
                    <a:pt x="147117" y="224787"/>
                  </a:lnTo>
                  <a:lnTo>
                    <a:pt x="106941" y="207417"/>
                  </a:lnTo>
                  <a:lnTo>
                    <a:pt x="71499" y="180160"/>
                  </a:lnTo>
                  <a:lnTo>
                    <a:pt x="41937" y="144404"/>
                  </a:lnTo>
                  <a:lnTo>
                    <a:pt x="19403" y="101534"/>
                  </a:lnTo>
                  <a:lnTo>
                    <a:pt x="5041" y="52937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0431" y="1921017"/>
            <a:ext cx="2304497" cy="154354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605130" y="2291841"/>
            <a:ext cx="1478279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 panose="02040503050406030204"/>
                <a:cs typeface="Cambria Math" panose="02040503050406030204"/>
              </a:rPr>
              <a:t>𝜀</a:t>
            </a:r>
            <a:r>
              <a:rPr sz="3600" dirty="0">
                <a:latin typeface="Calibri" panose="020F0502020204030204"/>
                <a:cs typeface="Calibri" panose="020F0502020204030204"/>
              </a:rPr>
              <a:t>:</a:t>
            </a:r>
            <a:r>
              <a:rPr sz="36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noise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2" name="Picture 21" descr="CodeCogsEqn (3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6130" y="6385560"/>
            <a:ext cx="2150745" cy="914400"/>
          </a:xfrm>
          <a:prstGeom prst="rect">
            <a:avLst/>
          </a:prstGeom>
        </p:spPr>
      </p:pic>
      <p:sp>
        <p:nvSpPr>
          <p:cNvPr id="24" name="object 15"/>
          <p:cNvSpPr/>
          <p:nvPr/>
        </p:nvSpPr>
        <p:spPr>
          <a:xfrm>
            <a:off x="7657210" y="5058028"/>
            <a:ext cx="552450" cy="171450"/>
          </a:xfrm>
          <a:custGeom>
            <a:avLst/>
            <a:gdLst/>
            <a:ahLst/>
            <a:cxnLst/>
            <a:rect l="l" t="t" r="r" b="b"/>
            <a:pathLst>
              <a:path w="368300" h="114300">
                <a:moveTo>
                  <a:pt x="368046" y="38099"/>
                </a:moveTo>
                <a:lnTo>
                  <a:pt x="329946" y="38099"/>
                </a:lnTo>
                <a:lnTo>
                  <a:pt x="329946" y="76199"/>
                </a:lnTo>
                <a:lnTo>
                  <a:pt x="368046" y="76199"/>
                </a:lnTo>
                <a:lnTo>
                  <a:pt x="368046" y="38099"/>
                </a:lnTo>
                <a:close/>
              </a:path>
              <a:path w="368300" h="114300">
                <a:moveTo>
                  <a:pt x="291846" y="38099"/>
                </a:moveTo>
                <a:lnTo>
                  <a:pt x="253746" y="38099"/>
                </a:lnTo>
                <a:lnTo>
                  <a:pt x="253746" y="76199"/>
                </a:lnTo>
                <a:lnTo>
                  <a:pt x="291846" y="76199"/>
                </a:lnTo>
                <a:lnTo>
                  <a:pt x="291846" y="38099"/>
                </a:lnTo>
                <a:close/>
              </a:path>
              <a:path w="368300" h="114300">
                <a:moveTo>
                  <a:pt x="215646" y="38099"/>
                </a:moveTo>
                <a:lnTo>
                  <a:pt x="177546" y="38099"/>
                </a:lnTo>
                <a:lnTo>
                  <a:pt x="177546" y="76199"/>
                </a:lnTo>
                <a:lnTo>
                  <a:pt x="215646" y="76199"/>
                </a:lnTo>
                <a:lnTo>
                  <a:pt x="215646" y="38099"/>
                </a:lnTo>
                <a:close/>
              </a:path>
              <a:path w="36830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101346" y="76199"/>
                </a:lnTo>
                <a:lnTo>
                  <a:pt x="101346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68300" h="114300">
                <a:moveTo>
                  <a:pt x="114300" y="38099"/>
                </a:moveTo>
                <a:lnTo>
                  <a:pt x="101346" y="38099"/>
                </a:lnTo>
                <a:lnTo>
                  <a:pt x="101346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68300" h="114300">
                <a:moveTo>
                  <a:pt x="139446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139446" y="76199"/>
                </a:lnTo>
                <a:lnTo>
                  <a:pt x="13944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2392" y="457200"/>
            <a:ext cx="2432304" cy="16207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1551" y="3145535"/>
            <a:ext cx="2431160" cy="16196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8411" y="861143"/>
            <a:ext cx="1875969" cy="6417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37935" y="1933575"/>
            <a:ext cx="54673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940" spc="-37" baseline="-16000" dirty="0">
                <a:latin typeface="Cambria Math" panose="02040503050406030204"/>
                <a:cs typeface="Cambria Math" panose="02040503050406030204"/>
              </a:rPr>
              <a:t>0</a:t>
            </a:r>
            <a:endParaRPr sz="394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22967" y="1883664"/>
            <a:ext cx="246698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𝜀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00902" y="3224729"/>
            <a:ext cx="2305605" cy="154354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68353" y="3641253"/>
            <a:ext cx="1876871" cy="64219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153781" y="3591305"/>
            <a:ext cx="380048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57810" y="3632453"/>
            <a:ext cx="380048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469629" y="6036181"/>
            <a:ext cx="2247900" cy="3259455"/>
            <a:chOff x="4735829" y="4024121"/>
            <a:chExt cx="1498600" cy="217297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4879" y="4043171"/>
              <a:ext cx="1459992" cy="21343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54879" y="4043171"/>
              <a:ext cx="1460500" cy="2134870"/>
            </a:xfrm>
            <a:custGeom>
              <a:avLst/>
              <a:gdLst/>
              <a:ahLst/>
              <a:cxnLst/>
              <a:rect l="l" t="t" r="r" b="b"/>
              <a:pathLst>
                <a:path w="1460500" h="2134870">
                  <a:moveTo>
                    <a:pt x="0" y="243331"/>
                  </a:moveTo>
                  <a:lnTo>
                    <a:pt x="4944" y="194298"/>
                  </a:lnTo>
                  <a:lnTo>
                    <a:pt x="19125" y="148625"/>
                  </a:lnTo>
                  <a:lnTo>
                    <a:pt x="41563" y="107292"/>
                  </a:lnTo>
                  <a:lnTo>
                    <a:pt x="71278" y="71278"/>
                  </a:lnTo>
                  <a:lnTo>
                    <a:pt x="107292" y="41563"/>
                  </a:lnTo>
                  <a:lnTo>
                    <a:pt x="148625" y="19125"/>
                  </a:lnTo>
                  <a:lnTo>
                    <a:pt x="194298" y="4944"/>
                  </a:lnTo>
                  <a:lnTo>
                    <a:pt x="243332" y="0"/>
                  </a:lnTo>
                  <a:lnTo>
                    <a:pt x="1216660" y="0"/>
                  </a:lnTo>
                  <a:lnTo>
                    <a:pt x="1265693" y="4944"/>
                  </a:lnTo>
                  <a:lnTo>
                    <a:pt x="1311366" y="19125"/>
                  </a:lnTo>
                  <a:lnTo>
                    <a:pt x="1352699" y="41563"/>
                  </a:lnTo>
                  <a:lnTo>
                    <a:pt x="1388713" y="71278"/>
                  </a:lnTo>
                  <a:lnTo>
                    <a:pt x="1418428" y="107292"/>
                  </a:lnTo>
                  <a:lnTo>
                    <a:pt x="1440866" y="148625"/>
                  </a:lnTo>
                  <a:lnTo>
                    <a:pt x="1455047" y="194298"/>
                  </a:lnTo>
                  <a:lnTo>
                    <a:pt x="1459992" y="243331"/>
                  </a:lnTo>
                  <a:lnTo>
                    <a:pt x="1459992" y="1891029"/>
                  </a:lnTo>
                  <a:lnTo>
                    <a:pt x="1455047" y="1940070"/>
                  </a:lnTo>
                  <a:lnTo>
                    <a:pt x="1440866" y="1985746"/>
                  </a:lnTo>
                  <a:lnTo>
                    <a:pt x="1418428" y="2027080"/>
                  </a:lnTo>
                  <a:lnTo>
                    <a:pt x="1388713" y="2063092"/>
                  </a:lnTo>
                  <a:lnTo>
                    <a:pt x="1352699" y="2092805"/>
                  </a:lnTo>
                  <a:lnTo>
                    <a:pt x="1311366" y="2115240"/>
                  </a:lnTo>
                  <a:lnTo>
                    <a:pt x="1265693" y="2129418"/>
                  </a:lnTo>
                  <a:lnTo>
                    <a:pt x="1216660" y="2134362"/>
                  </a:lnTo>
                  <a:lnTo>
                    <a:pt x="243332" y="2134362"/>
                  </a:lnTo>
                  <a:lnTo>
                    <a:pt x="194298" y="2129418"/>
                  </a:lnTo>
                  <a:lnTo>
                    <a:pt x="148625" y="2115240"/>
                  </a:lnTo>
                  <a:lnTo>
                    <a:pt x="107292" y="2092805"/>
                  </a:lnTo>
                  <a:lnTo>
                    <a:pt x="71278" y="2063092"/>
                  </a:lnTo>
                  <a:lnTo>
                    <a:pt x="41563" y="2027080"/>
                  </a:lnTo>
                  <a:lnTo>
                    <a:pt x="19125" y="1985746"/>
                  </a:lnTo>
                  <a:lnTo>
                    <a:pt x="4944" y="1940070"/>
                  </a:lnTo>
                  <a:lnTo>
                    <a:pt x="0" y="1891029"/>
                  </a:lnTo>
                  <a:lnTo>
                    <a:pt x="0" y="24333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729472" y="7068691"/>
            <a:ext cx="1729740" cy="112649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indent="21463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Noise </a:t>
            </a:r>
            <a:r>
              <a:rPr sz="3600" spc="-20" dirty="0">
                <a:latin typeface="Calibri" panose="020F0502020204030204"/>
                <a:cs typeface="Calibri" panose="020F0502020204030204"/>
              </a:rPr>
              <a:t>Predicter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1186" y="8171686"/>
            <a:ext cx="191453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 panose="020F0502020204030204"/>
                <a:cs typeface="Calibri" panose="020F0502020204030204"/>
              </a:rPr>
              <a:t>t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35762" y="6758558"/>
            <a:ext cx="4114800" cy="1867853"/>
          </a:xfrm>
          <a:custGeom>
            <a:avLst/>
            <a:gdLst/>
            <a:ahLst/>
            <a:cxnLst/>
            <a:rect l="l" t="t" r="r" b="b"/>
            <a:pathLst>
              <a:path w="2743200" h="1245235">
                <a:moveTo>
                  <a:pt x="777367" y="85725"/>
                </a:moveTo>
                <a:lnTo>
                  <a:pt x="720217" y="57150"/>
                </a:lnTo>
                <a:lnTo>
                  <a:pt x="605917" y="0"/>
                </a:lnTo>
                <a:lnTo>
                  <a:pt x="605917" y="57150"/>
                </a:lnTo>
                <a:lnTo>
                  <a:pt x="0" y="57150"/>
                </a:lnTo>
                <a:lnTo>
                  <a:pt x="0" y="114300"/>
                </a:lnTo>
                <a:lnTo>
                  <a:pt x="605917" y="114300"/>
                </a:lnTo>
                <a:lnTo>
                  <a:pt x="605917" y="171450"/>
                </a:lnTo>
                <a:lnTo>
                  <a:pt x="720217" y="114300"/>
                </a:lnTo>
                <a:lnTo>
                  <a:pt x="777367" y="85725"/>
                </a:lnTo>
                <a:close/>
              </a:path>
              <a:path w="2743200" h="1245235">
                <a:moveTo>
                  <a:pt x="789559" y="1159383"/>
                </a:moveTo>
                <a:lnTo>
                  <a:pt x="732409" y="1130808"/>
                </a:lnTo>
                <a:lnTo>
                  <a:pt x="618109" y="1073658"/>
                </a:lnTo>
                <a:lnTo>
                  <a:pt x="618109" y="1130808"/>
                </a:lnTo>
                <a:lnTo>
                  <a:pt x="12192" y="1130808"/>
                </a:lnTo>
                <a:lnTo>
                  <a:pt x="12192" y="1187958"/>
                </a:lnTo>
                <a:lnTo>
                  <a:pt x="618109" y="1187958"/>
                </a:lnTo>
                <a:lnTo>
                  <a:pt x="618109" y="1245108"/>
                </a:lnTo>
                <a:lnTo>
                  <a:pt x="732409" y="1187958"/>
                </a:lnTo>
                <a:lnTo>
                  <a:pt x="789559" y="1159383"/>
                </a:lnTo>
                <a:close/>
              </a:path>
              <a:path w="2743200" h="1245235">
                <a:moveTo>
                  <a:pt x="2742946" y="617601"/>
                </a:moveTo>
                <a:lnTo>
                  <a:pt x="2685796" y="589026"/>
                </a:lnTo>
                <a:lnTo>
                  <a:pt x="2571496" y="531876"/>
                </a:lnTo>
                <a:lnTo>
                  <a:pt x="2571496" y="589026"/>
                </a:lnTo>
                <a:lnTo>
                  <a:pt x="2337054" y="589026"/>
                </a:lnTo>
                <a:lnTo>
                  <a:pt x="2337054" y="646176"/>
                </a:lnTo>
                <a:lnTo>
                  <a:pt x="2571496" y="646176"/>
                </a:lnTo>
                <a:lnTo>
                  <a:pt x="2571496" y="703326"/>
                </a:lnTo>
                <a:lnTo>
                  <a:pt x="2685796" y="646176"/>
                </a:lnTo>
                <a:lnTo>
                  <a:pt x="2742946" y="6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43795" y="6098258"/>
            <a:ext cx="2305605" cy="1544630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12763308" y="7506080"/>
            <a:ext cx="1180148" cy="257175"/>
          </a:xfrm>
          <a:custGeom>
            <a:avLst/>
            <a:gdLst/>
            <a:ahLst/>
            <a:cxnLst/>
            <a:rect l="l" t="t" r="r" b="b"/>
            <a:pathLst>
              <a:path w="786765" h="171450">
                <a:moveTo>
                  <a:pt x="171450" y="0"/>
                </a:moveTo>
                <a:lnTo>
                  <a:pt x="0" y="85725"/>
                </a:lnTo>
                <a:lnTo>
                  <a:pt x="171450" y="171450"/>
                </a:lnTo>
                <a:lnTo>
                  <a:pt x="171450" y="114300"/>
                </a:lnTo>
                <a:lnTo>
                  <a:pt x="142875" y="114300"/>
                </a:lnTo>
                <a:lnTo>
                  <a:pt x="142875" y="57150"/>
                </a:lnTo>
                <a:lnTo>
                  <a:pt x="171450" y="57150"/>
                </a:lnTo>
                <a:lnTo>
                  <a:pt x="171450" y="0"/>
                </a:lnTo>
                <a:close/>
              </a:path>
              <a:path w="786765" h="171450">
                <a:moveTo>
                  <a:pt x="171450" y="57150"/>
                </a:moveTo>
                <a:lnTo>
                  <a:pt x="142875" y="57150"/>
                </a:lnTo>
                <a:lnTo>
                  <a:pt x="142875" y="114300"/>
                </a:lnTo>
                <a:lnTo>
                  <a:pt x="171450" y="114300"/>
                </a:lnTo>
                <a:lnTo>
                  <a:pt x="171450" y="57150"/>
                </a:lnTo>
                <a:close/>
              </a:path>
              <a:path w="786765" h="171450">
                <a:moveTo>
                  <a:pt x="200025" y="57150"/>
                </a:moveTo>
                <a:lnTo>
                  <a:pt x="171450" y="57150"/>
                </a:lnTo>
                <a:lnTo>
                  <a:pt x="171450" y="114300"/>
                </a:lnTo>
                <a:lnTo>
                  <a:pt x="200025" y="114300"/>
                </a:lnTo>
                <a:lnTo>
                  <a:pt x="200025" y="57150"/>
                </a:lnTo>
                <a:close/>
              </a:path>
              <a:path w="786765" h="171450">
                <a:moveTo>
                  <a:pt x="314325" y="57150"/>
                </a:moveTo>
                <a:lnTo>
                  <a:pt x="257175" y="57150"/>
                </a:lnTo>
                <a:lnTo>
                  <a:pt x="257175" y="114300"/>
                </a:lnTo>
                <a:lnTo>
                  <a:pt x="314325" y="114300"/>
                </a:lnTo>
                <a:lnTo>
                  <a:pt x="314325" y="57150"/>
                </a:lnTo>
                <a:close/>
              </a:path>
              <a:path w="786765" h="171450">
                <a:moveTo>
                  <a:pt x="428625" y="57150"/>
                </a:moveTo>
                <a:lnTo>
                  <a:pt x="371475" y="57150"/>
                </a:lnTo>
                <a:lnTo>
                  <a:pt x="371475" y="114300"/>
                </a:lnTo>
                <a:lnTo>
                  <a:pt x="428625" y="114300"/>
                </a:lnTo>
                <a:lnTo>
                  <a:pt x="428625" y="57150"/>
                </a:lnTo>
                <a:close/>
              </a:path>
              <a:path w="786765" h="171450">
                <a:moveTo>
                  <a:pt x="542925" y="57150"/>
                </a:moveTo>
                <a:lnTo>
                  <a:pt x="485775" y="57150"/>
                </a:lnTo>
                <a:lnTo>
                  <a:pt x="485775" y="114300"/>
                </a:lnTo>
                <a:lnTo>
                  <a:pt x="542925" y="114300"/>
                </a:lnTo>
                <a:lnTo>
                  <a:pt x="542925" y="57150"/>
                </a:lnTo>
                <a:close/>
              </a:path>
              <a:path w="786765" h="171450">
                <a:moveTo>
                  <a:pt x="614807" y="0"/>
                </a:moveTo>
                <a:lnTo>
                  <a:pt x="614807" y="171450"/>
                </a:lnTo>
                <a:lnTo>
                  <a:pt x="729107" y="114300"/>
                </a:lnTo>
                <a:lnTo>
                  <a:pt x="643382" y="114300"/>
                </a:lnTo>
                <a:lnTo>
                  <a:pt x="643382" y="57150"/>
                </a:lnTo>
                <a:lnTo>
                  <a:pt x="729107" y="57150"/>
                </a:lnTo>
                <a:lnTo>
                  <a:pt x="614807" y="0"/>
                </a:lnTo>
                <a:close/>
              </a:path>
              <a:path w="786765" h="171450">
                <a:moveTo>
                  <a:pt x="614807" y="57150"/>
                </a:moveTo>
                <a:lnTo>
                  <a:pt x="600075" y="57150"/>
                </a:lnTo>
                <a:lnTo>
                  <a:pt x="600075" y="114300"/>
                </a:lnTo>
                <a:lnTo>
                  <a:pt x="614807" y="114300"/>
                </a:lnTo>
                <a:lnTo>
                  <a:pt x="614807" y="57150"/>
                </a:lnTo>
                <a:close/>
              </a:path>
              <a:path w="786765" h="171450">
                <a:moveTo>
                  <a:pt x="729107" y="57150"/>
                </a:moveTo>
                <a:lnTo>
                  <a:pt x="643382" y="57150"/>
                </a:lnTo>
                <a:lnTo>
                  <a:pt x="643382" y="114300"/>
                </a:lnTo>
                <a:lnTo>
                  <a:pt x="729107" y="114300"/>
                </a:lnTo>
                <a:lnTo>
                  <a:pt x="786257" y="85725"/>
                </a:lnTo>
                <a:lnTo>
                  <a:pt x="72910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25" name="object 25"/>
          <p:cNvSpPr txBox="1"/>
          <p:nvPr/>
        </p:nvSpPr>
        <p:spPr>
          <a:xfrm>
            <a:off x="11475720" y="7390257"/>
            <a:ext cx="109537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?????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192373" y="8455151"/>
            <a:ext cx="246698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𝜀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367516" y="4600955"/>
            <a:ext cx="246698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𝜀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45579" y="4623053"/>
            <a:ext cx="54673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940" spc="-37" baseline="-16000" dirty="0">
                <a:latin typeface="Cambria Math" panose="02040503050406030204"/>
                <a:cs typeface="Cambria Math" panose="02040503050406030204"/>
              </a:rPr>
              <a:t>0</a:t>
            </a:r>
            <a:endParaRPr sz="3940" baseline="-160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130909" y="6773416"/>
            <a:ext cx="2378583" cy="1641348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2311634" y="1254632"/>
            <a:ext cx="1964055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dirty="0">
                <a:latin typeface="Calibri" panose="020F0502020204030204"/>
                <a:cs typeface="Calibri" panose="020F0502020204030204"/>
              </a:rPr>
              <a:t>Sample</a:t>
            </a:r>
            <a:r>
              <a:rPr sz="42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𝑡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97111" y="419481"/>
            <a:ext cx="2376296" cy="161963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91572" y="3129533"/>
            <a:ext cx="2375154" cy="1620773"/>
          </a:xfrm>
          <a:prstGeom prst="rect">
            <a:avLst/>
          </a:prstGeom>
        </p:spPr>
      </p:pic>
      <p:sp>
        <p:nvSpPr>
          <p:cNvPr id="34" name="object 2"/>
          <p:cNvSpPr txBox="1">
            <a:spLocks noGrp="1"/>
          </p:cNvSpPr>
          <p:nvPr/>
        </p:nvSpPr>
        <p:spPr>
          <a:xfrm>
            <a:off x="254635" y="515620"/>
            <a:ext cx="4036060" cy="8483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18097" rIns="0" bIns="0" numCol="1" rtlCol="0" anchor="b" anchorCtr="0" compatLnSpc="1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en-US" sz="5400" b="1" i="1"/>
              <a:t>Training</a:t>
            </a:r>
          </a:p>
        </p:txBody>
      </p:sp>
      <p:pic>
        <p:nvPicPr>
          <p:cNvPr id="2" name="Picture 1" descr="CodeCogsEq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7925" y="1883410"/>
            <a:ext cx="2426335" cy="358140"/>
          </a:xfrm>
          <a:prstGeom prst="rect">
            <a:avLst/>
          </a:prstGeom>
        </p:spPr>
      </p:pic>
      <p:pic>
        <p:nvPicPr>
          <p:cNvPr id="35" name="Picture 34" descr="CodeCogsEqn (1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2630" y="3710305"/>
            <a:ext cx="847725" cy="504825"/>
          </a:xfrm>
          <a:prstGeom prst="rect">
            <a:avLst/>
          </a:prstGeom>
        </p:spPr>
      </p:pic>
      <p:pic>
        <p:nvPicPr>
          <p:cNvPr id="36" name="Picture 35" descr="CodeCogsEqn (2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3625" y="3769360"/>
            <a:ext cx="1457325" cy="504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0765" y="1419860"/>
            <a:ext cx="265303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>
                <a:latin typeface="Microsoft JhengHei" panose="020B0604030504040204" charset="-120"/>
                <a:cs typeface="Microsoft JhengHei" panose="020B0604030504040204" charset="-120"/>
              </a:rPr>
              <a:t>Thinking</a:t>
            </a:r>
            <a:r>
              <a:rPr sz="3600" spc="-10" dirty="0">
                <a:latin typeface="Microsoft JhengHei" panose="020B0604030504040204" charset="-120"/>
                <a:cs typeface="Microsoft JhengHei" panose="020B0604030504040204" charset="-120"/>
              </a:rPr>
              <a:t> …</a:t>
            </a:r>
            <a:endParaRPr sz="36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0765" y="6879590"/>
            <a:ext cx="310261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>
                <a:latin typeface="Microsoft JhengHei" panose="020B0604030504040204" charset="-120"/>
                <a:cs typeface="Microsoft JhengHei" panose="020B0604030504040204" charset="-120"/>
              </a:rPr>
              <a:t>In reality</a:t>
            </a:r>
            <a:r>
              <a:rPr sz="3600" spc="-10" dirty="0">
                <a:latin typeface="Microsoft JhengHei" panose="020B0604030504040204" charset="-120"/>
                <a:cs typeface="Microsoft JhengHei" panose="020B0604030504040204" charset="-120"/>
              </a:rPr>
              <a:t> …</a:t>
            </a:r>
            <a:endParaRPr sz="3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994410"/>
            <a:ext cx="2431161" cy="162077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441256" y="1043885"/>
            <a:ext cx="7931468" cy="3532823"/>
            <a:chOff x="4960837" y="695923"/>
            <a:chExt cx="5287645" cy="23552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857" y="695923"/>
              <a:ext cx="1536331" cy="1029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1414" y="695923"/>
              <a:ext cx="1537070" cy="10290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0837" y="2021059"/>
              <a:ext cx="1536331" cy="102975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81533" y="2007325"/>
              <a:ext cx="1536331" cy="102902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007476" y="4612767"/>
            <a:ext cx="1198245" cy="51117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 panose="020F0502020204030204"/>
                <a:cs typeface="Calibri" panose="020F0502020204030204"/>
              </a:rPr>
              <a:t>Step</a:t>
            </a:r>
            <a:r>
              <a:rPr sz="32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523345" y="4792980"/>
            <a:ext cx="1543685" cy="335915"/>
          </a:xfrm>
          <a:prstGeom prst="rect">
            <a:avLst/>
          </a:prstGeom>
          <a:ln w="38100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250">
              <a:lnSpc>
                <a:spcPts val="2620"/>
              </a:lnSpc>
            </a:pPr>
            <a:r>
              <a:rPr sz="3200" dirty="0">
                <a:latin typeface="Calibri" panose="020F0502020204030204"/>
                <a:cs typeface="Calibri" panose="020F0502020204030204"/>
              </a:rPr>
              <a:t>Step</a:t>
            </a:r>
            <a:r>
              <a:rPr sz="32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85636" y="3200780"/>
            <a:ext cx="1593533" cy="112649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58115" marR="5080" indent="-14605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Random sample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74814" y="2425445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Calibri" panose="020F0502020204030204"/>
                <a:cs typeface="Calibri" panose="020F0502020204030204"/>
              </a:rPr>
              <a:t>+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01781" y="2415540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Calibri" panose="020F0502020204030204"/>
                <a:cs typeface="Calibri" panose="020F0502020204030204"/>
              </a:rPr>
              <a:t>+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294876" y="906399"/>
            <a:ext cx="6196965" cy="3628073"/>
            <a:chOff x="6196584" y="604266"/>
            <a:chExt cx="4131310" cy="2418715"/>
          </a:xfrm>
        </p:grpSpPr>
        <p:sp>
          <p:nvSpPr>
            <p:cNvPr id="16" name="object 16"/>
            <p:cNvSpPr/>
            <p:nvPr/>
          </p:nvSpPr>
          <p:spPr>
            <a:xfrm>
              <a:off x="6196584" y="1719071"/>
              <a:ext cx="2915285" cy="297180"/>
            </a:xfrm>
            <a:custGeom>
              <a:avLst/>
              <a:gdLst/>
              <a:ahLst/>
              <a:cxnLst/>
              <a:rect l="l" t="t" r="r" b="b"/>
              <a:pathLst>
                <a:path w="2915284" h="297180">
                  <a:moveTo>
                    <a:pt x="293878" y="21336"/>
                  </a:moveTo>
                  <a:lnTo>
                    <a:pt x="171196" y="57404"/>
                  </a:lnTo>
                  <a:lnTo>
                    <a:pt x="197192" y="85318"/>
                  </a:lnTo>
                  <a:lnTo>
                    <a:pt x="0" y="268986"/>
                  </a:lnTo>
                  <a:lnTo>
                    <a:pt x="25908" y="296926"/>
                  </a:lnTo>
                  <a:lnTo>
                    <a:pt x="223164" y="113195"/>
                  </a:lnTo>
                  <a:lnTo>
                    <a:pt x="249174" y="141097"/>
                  </a:lnTo>
                  <a:lnTo>
                    <a:pt x="274866" y="72263"/>
                  </a:lnTo>
                  <a:lnTo>
                    <a:pt x="293878" y="21336"/>
                  </a:lnTo>
                  <a:close/>
                </a:path>
                <a:path w="2915284" h="297180">
                  <a:moveTo>
                    <a:pt x="2915158" y="0"/>
                  </a:moveTo>
                  <a:lnTo>
                    <a:pt x="2792476" y="36068"/>
                  </a:lnTo>
                  <a:lnTo>
                    <a:pt x="2818473" y="63982"/>
                  </a:lnTo>
                  <a:lnTo>
                    <a:pt x="2621280" y="247650"/>
                  </a:lnTo>
                  <a:lnTo>
                    <a:pt x="2647188" y="275590"/>
                  </a:lnTo>
                  <a:lnTo>
                    <a:pt x="2844444" y="91859"/>
                  </a:lnTo>
                  <a:lnTo>
                    <a:pt x="2870454" y="119761"/>
                  </a:lnTo>
                  <a:lnTo>
                    <a:pt x="2896146" y="50927"/>
                  </a:lnTo>
                  <a:lnTo>
                    <a:pt x="29151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8620506" y="623316"/>
              <a:ext cx="1687830" cy="1159510"/>
            </a:xfrm>
            <a:custGeom>
              <a:avLst/>
              <a:gdLst/>
              <a:ahLst/>
              <a:cxnLst/>
              <a:rect l="l" t="t" r="r" b="b"/>
              <a:pathLst>
                <a:path w="1687829" h="1159510">
                  <a:moveTo>
                    <a:pt x="0" y="1159002"/>
                  </a:moveTo>
                  <a:lnTo>
                    <a:pt x="1687829" y="1159002"/>
                  </a:lnTo>
                  <a:lnTo>
                    <a:pt x="1687829" y="0"/>
                  </a:lnTo>
                  <a:lnTo>
                    <a:pt x="0" y="0"/>
                  </a:lnTo>
                  <a:lnTo>
                    <a:pt x="0" y="1159002"/>
                  </a:lnTo>
                  <a:close/>
                </a:path>
              </a:pathLst>
            </a:custGeom>
            <a:ln w="381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453884" y="2002536"/>
              <a:ext cx="1563370" cy="1001394"/>
            </a:xfrm>
            <a:custGeom>
              <a:avLst/>
              <a:gdLst/>
              <a:ahLst/>
              <a:cxnLst/>
              <a:rect l="l" t="t" r="r" b="b"/>
              <a:pathLst>
                <a:path w="1563370" h="1001394">
                  <a:moveTo>
                    <a:pt x="0" y="1001268"/>
                  </a:moveTo>
                  <a:lnTo>
                    <a:pt x="1562862" y="1001268"/>
                  </a:lnTo>
                  <a:lnTo>
                    <a:pt x="1562862" y="0"/>
                  </a:lnTo>
                  <a:lnTo>
                    <a:pt x="0" y="0"/>
                  </a:lnTo>
                  <a:lnTo>
                    <a:pt x="0" y="100126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739110" y="1399413"/>
            <a:ext cx="797243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latin typeface="Calibri" panose="020F0502020204030204"/>
                <a:cs typeface="Calibri" panose="020F0502020204030204"/>
              </a:rPr>
              <a:t>……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771880" y="2645410"/>
            <a:ext cx="2765425" cy="1137920"/>
          </a:xfrm>
          <a:prstGeom prst="rect">
            <a:avLst/>
          </a:prstGeom>
        </p:spPr>
        <p:txBody>
          <a:bodyPr vert="horz" wrap="square" lIns="0" tIns="8572" rIns="0" bIns="0" rtlCol="0">
            <a:spAutoFit/>
          </a:bodyPr>
          <a:lstStyle/>
          <a:p>
            <a:pPr marL="12700" marR="5080" indent="801370">
              <a:lnSpc>
                <a:spcPct val="102000"/>
              </a:lnSpc>
              <a:spcBef>
                <a:spcPts val="45"/>
              </a:spcBef>
            </a:pPr>
            <a:r>
              <a:rPr sz="36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input </a:t>
            </a:r>
            <a:r>
              <a:rPr sz="36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ground truth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170789" y="4686300"/>
            <a:ext cx="101727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input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7210" y="6154420"/>
            <a:ext cx="2431415" cy="1620520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13522198" y="6089015"/>
            <a:ext cx="2590800" cy="1796415"/>
            <a:chOff x="9003792" y="4282440"/>
            <a:chExt cx="1727200" cy="119761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00784" y="4378687"/>
              <a:ext cx="1536331" cy="102975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022842" y="4301490"/>
              <a:ext cx="1689100" cy="1159510"/>
            </a:xfrm>
            <a:custGeom>
              <a:avLst/>
              <a:gdLst/>
              <a:ahLst/>
              <a:cxnLst/>
              <a:rect l="l" t="t" r="r" b="b"/>
              <a:pathLst>
                <a:path w="1689100" h="1159510">
                  <a:moveTo>
                    <a:pt x="0" y="1159002"/>
                  </a:moveTo>
                  <a:lnTo>
                    <a:pt x="1688592" y="1159002"/>
                  </a:lnTo>
                  <a:lnTo>
                    <a:pt x="1688592" y="0"/>
                  </a:lnTo>
                  <a:lnTo>
                    <a:pt x="0" y="0"/>
                  </a:lnTo>
                  <a:lnTo>
                    <a:pt x="0" y="1159002"/>
                  </a:lnTo>
                  <a:close/>
                </a:path>
              </a:pathLst>
            </a:custGeom>
            <a:ln w="381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60355" y="6215380"/>
            <a:ext cx="2304415" cy="1543685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3024231" y="6641846"/>
            <a:ext cx="380048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11620" y="7632065"/>
            <a:ext cx="54673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940" spc="-37" baseline="-16000" dirty="0">
                <a:latin typeface="Cambria Math" panose="02040503050406030204"/>
                <a:cs typeface="Cambria Math" panose="02040503050406030204"/>
              </a:rPr>
              <a:t>0</a:t>
            </a:r>
            <a:endParaRPr sz="394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428096" y="6196456"/>
            <a:ext cx="2345055" cy="1502091"/>
          </a:xfrm>
          <a:custGeom>
            <a:avLst/>
            <a:gdLst/>
            <a:ahLst/>
            <a:cxnLst/>
            <a:rect l="l" t="t" r="r" b="b"/>
            <a:pathLst>
              <a:path w="1563370" h="1001395">
                <a:moveTo>
                  <a:pt x="0" y="1001267"/>
                </a:moveTo>
                <a:lnTo>
                  <a:pt x="1562861" y="1001267"/>
                </a:lnTo>
                <a:lnTo>
                  <a:pt x="1562861" y="0"/>
                </a:lnTo>
                <a:lnTo>
                  <a:pt x="0" y="0"/>
                </a:lnTo>
                <a:lnTo>
                  <a:pt x="0" y="1001267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36" name="object 36"/>
          <p:cNvSpPr txBox="1"/>
          <p:nvPr/>
        </p:nvSpPr>
        <p:spPr>
          <a:xfrm>
            <a:off x="10941685" y="7609967"/>
            <a:ext cx="1366838" cy="1602105"/>
          </a:xfrm>
          <a:prstGeom prst="rect">
            <a:avLst/>
          </a:prstGeom>
        </p:spPr>
        <p:txBody>
          <a:bodyPr vert="horz" wrap="square" lIns="0" tIns="58102" rIns="0" bIns="0" rtlCol="0">
            <a:spAutoFit/>
          </a:bodyPr>
          <a:lstStyle/>
          <a:p>
            <a:pPr marL="12700" marR="5080" indent="-90805" algn="ctr">
              <a:lnSpc>
                <a:spcPct val="93000"/>
              </a:lnSpc>
              <a:spcBef>
                <a:spcPts val="305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𝜀 </a:t>
            </a:r>
            <a:r>
              <a:rPr sz="36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ground </a:t>
            </a:r>
            <a:r>
              <a:rPr sz="36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truth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416530" y="7885810"/>
            <a:ext cx="101727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input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263450" y="7277164"/>
            <a:ext cx="317181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1074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39" name="object 39"/>
          <p:cNvSpPr/>
          <p:nvPr/>
        </p:nvSpPr>
        <p:spPr>
          <a:xfrm>
            <a:off x="10019475" y="7290880"/>
            <a:ext cx="317181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1074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 sz="100"/>
          </a:p>
        </p:txBody>
      </p:sp>
      <p:pic>
        <p:nvPicPr>
          <p:cNvPr id="40" name="Content Placeholder 39" descr="CodeCogsEqn (1)"/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4662805" y="6734810"/>
            <a:ext cx="847725" cy="504825"/>
          </a:xfrm>
          <a:prstGeom prst="rect">
            <a:avLst/>
          </a:prstGeom>
        </p:spPr>
      </p:pic>
      <p:pic>
        <p:nvPicPr>
          <p:cNvPr id="46" name="Picture 45" descr="CodeCogsEqn (2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6985" y="6734810"/>
            <a:ext cx="1457325" cy="504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Content Placeholder 4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8110" y="5924550"/>
            <a:ext cx="8001000" cy="3947795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9430" y="325755"/>
            <a:ext cx="10125075" cy="848360"/>
          </a:xfrm>
          <a:prstGeom prst="rect">
            <a:avLst/>
          </a:prstGeom>
        </p:spPr>
        <p:txBody>
          <a:bodyPr vert="horz" wrap="square" lIns="0" tIns="18097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lang="en-US" altLang="en-US" sz="5400" b="1" i="1"/>
              <a:t>Inference</a:t>
            </a:r>
            <a:endParaRPr lang="en-US" altLang="en-US" sz="5400" i="1"/>
          </a:p>
        </p:txBody>
      </p:sp>
      <p:sp>
        <p:nvSpPr>
          <p:cNvPr id="4" name="object 4"/>
          <p:cNvSpPr txBox="1"/>
          <p:nvPr/>
        </p:nvSpPr>
        <p:spPr>
          <a:xfrm>
            <a:off x="1566797" y="4543805"/>
            <a:ext cx="21907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𝑡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96622" y="1416883"/>
            <a:ext cx="4742498" cy="4356735"/>
            <a:chOff x="7183591" y="3490939"/>
            <a:chExt cx="3161665" cy="29044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3591" y="3490939"/>
              <a:ext cx="1536331" cy="1029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05127" y="5366221"/>
              <a:ext cx="1539954" cy="10290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1075" y="3768851"/>
              <a:ext cx="396240" cy="3962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371075" y="3768851"/>
              <a:ext cx="396240" cy="396240"/>
            </a:xfrm>
            <a:custGeom>
              <a:avLst/>
              <a:gdLst/>
              <a:ahLst/>
              <a:cxnLst/>
              <a:rect l="l" t="t" r="r" b="b"/>
              <a:pathLst>
                <a:path w="396240" h="396239">
                  <a:moveTo>
                    <a:pt x="0" y="198120"/>
                  </a:moveTo>
                  <a:lnTo>
                    <a:pt x="5229" y="152675"/>
                  </a:lnTo>
                  <a:lnTo>
                    <a:pt x="20127" y="110967"/>
                  </a:lnTo>
                  <a:lnTo>
                    <a:pt x="43507" y="74182"/>
                  </a:lnTo>
                  <a:lnTo>
                    <a:pt x="74182" y="43507"/>
                  </a:lnTo>
                  <a:lnTo>
                    <a:pt x="110967" y="20127"/>
                  </a:lnTo>
                  <a:lnTo>
                    <a:pt x="152675" y="5229"/>
                  </a:lnTo>
                  <a:lnTo>
                    <a:pt x="198120" y="0"/>
                  </a:lnTo>
                  <a:lnTo>
                    <a:pt x="243564" y="5229"/>
                  </a:lnTo>
                  <a:lnTo>
                    <a:pt x="285272" y="20127"/>
                  </a:lnTo>
                  <a:lnTo>
                    <a:pt x="322057" y="43507"/>
                  </a:lnTo>
                  <a:lnTo>
                    <a:pt x="352732" y="74182"/>
                  </a:lnTo>
                  <a:lnTo>
                    <a:pt x="376112" y="110967"/>
                  </a:lnTo>
                  <a:lnTo>
                    <a:pt x="391010" y="152675"/>
                  </a:lnTo>
                  <a:lnTo>
                    <a:pt x="396240" y="198120"/>
                  </a:lnTo>
                  <a:lnTo>
                    <a:pt x="391010" y="243564"/>
                  </a:lnTo>
                  <a:lnTo>
                    <a:pt x="376112" y="285272"/>
                  </a:lnTo>
                  <a:lnTo>
                    <a:pt x="352732" y="322057"/>
                  </a:lnTo>
                  <a:lnTo>
                    <a:pt x="322057" y="352732"/>
                  </a:lnTo>
                  <a:lnTo>
                    <a:pt x="285272" y="376112"/>
                  </a:lnTo>
                  <a:lnTo>
                    <a:pt x="243564" y="391010"/>
                  </a:lnTo>
                  <a:lnTo>
                    <a:pt x="198120" y="396240"/>
                  </a:lnTo>
                  <a:lnTo>
                    <a:pt x="152675" y="391010"/>
                  </a:lnTo>
                  <a:lnTo>
                    <a:pt x="110967" y="376112"/>
                  </a:lnTo>
                  <a:lnTo>
                    <a:pt x="74182" y="352732"/>
                  </a:lnTo>
                  <a:lnTo>
                    <a:pt x="43507" y="322057"/>
                  </a:lnTo>
                  <a:lnTo>
                    <a:pt x="20127" y="285272"/>
                  </a:lnTo>
                  <a:lnTo>
                    <a:pt x="5229" y="243564"/>
                  </a:lnTo>
                  <a:lnTo>
                    <a:pt x="0" y="198120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4515" y="1364305"/>
            <a:ext cx="2304497" cy="154354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733165" y="3879723"/>
            <a:ext cx="5579744" cy="2073593"/>
            <a:chOff x="2674620" y="5132832"/>
            <a:chExt cx="3719829" cy="138239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57218" y="5366221"/>
              <a:ext cx="1537070" cy="10290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3670" y="5151882"/>
              <a:ext cx="1562862" cy="134416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693670" y="5151882"/>
              <a:ext cx="1563370" cy="1344295"/>
            </a:xfrm>
            <a:custGeom>
              <a:avLst/>
              <a:gdLst/>
              <a:ahLst/>
              <a:cxnLst/>
              <a:rect l="l" t="t" r="r" b="b"/>
              <a:pathLst>
                <a:path w="1563370" h="1344295">
                  <a:moveTo>
                    <a:pt x="0" y="224028"/>
                  </a:moveTo>
                  <a:lnTo>
                    <a:pt x="4552" y="178886"/>
                  </a:lnTo>
                  <a:lnTo>
                    <a:pt x="17609" y="136838"/>
                  </a:lnTo>
                  <a:lnTo>
                    <a:pt x="38268" y="98784"/>
                  </a:lnTo>
                  <a:lnTo>
                    <a:pt x="65627" y="65627"/>
                  </a:lnTo>
                  <a:lnTo>
                    <a:pt x="98784" y="38268"/>
                  </a:lnTo>
                  <a:lnTo>
                    <a:pt x="136838" y="17609"/>
                  </a:lnTo>
                  <a:lnTo>
                    <a:pt x="178886" y="4552"/>
                  </a:lnTo>
                  <a:lnTo>
                    <a:pt x="224028" y="0"/>
                  </a:lnTo>
                  <a:lnTo>
                    <a:pt x="1338833" y="0"/>
                  </a:lnTo>
                  <a:lnTo>
                    <a:pt x="1383975" y="4552"/>
                  </a:lnTo>
                  <a:lnTo>
                    <a:pt x="1426023" y="17609"/>
                  </a:lnTo>
                  <a:lnTo>
                    <a:pt x="1464077" y="38268"/>
                  </a:lnTo>
                  <a:lnTo>
                    <a:pt x="1497234" y="65627"/>
                  </a:lnTo>
                  <a:lnTo>
                    <a:pt x="1524593" y="98784"/>
                  </a:lnTo>
                  <a:lnTo>
                    <a:pt x="1545252" y="136838"/>
                  </a:lnTo>
                  <a:lnTo>
                    <a:pt x="1558309" y="178886"/>
                  </a:lnTo>
                  <a:lnTo>
                    <a:pt x="1562862" y="224028"/>
                  </a:lnTo>
                  <a:lnTo>
                    <a:pt x="1562862" y="1120140"/>
                  </a:lnTo>
                  <a:lnTo>
                    <a:pt x="1558309" y="1165288"/>
                  </a:lnTo>
                  <a:lnTo>
                    <a:pt x="1545252" y="1207340"/>
                  </a:lnTo>
                  <a:lnTo>
                    <a:pt x="1524593" y="1245394"/>
                  </a:lnTo>
                  <a:lnTo>
                    <a:pt x="1497234" y="1278550"/>
                  </a:lnTo>
                  <a:lnTo>
                    <a:pt x="1464077" y="1305906"/>
                  </a:lnTo>
                  <a:lnTo>
                    <a:pt x="1426023" y="1326562"/>
                  </a:lnTo>
                  <a:lnTo>
                    <a:pt x="1383975" y="1339616"/>
                  </a:lnTo>
                  <a:lnTo>
                    <a:pt x="1338833" y="1344168"/>
                  </a:lnTo>
                  <a:lnTo>
                    <a:pt x="224028" y="1344168"/>
                  </a:lnTo>
                  <a:lnTo>
                    <a:pt x="178886" y="1339616"/>
                  </a:lnTo>
                  <a:lnTo>
                    <a:pt x="136838" y="1326562"/>
                  </a:lnTo>
                  <a:lnTo>
                    <a:pt x="98784" y="1305906"/>
                  </a:lnTo>
                  <a:lnTo>
                    <a:pt x="65627" y="1278550"/>
                  </a:lnTo>
                  <a:lnTo>
                    <a:pt x="38268" y="1245394"/>
                  </a:lnTo>
                  <a:lnTo>
                    <a:pt x="17609" y="1207340"/>
                  </a:lnTo>
                  <a:lnTo>
                    <a:pt x="4552" y="1165288"/>
                  </a:lnTo>
                  <a:lnTo>
                    <a:pt x="0" y="1120140"/>
                  </a:lnTo>
                  <a:lnTo>
                    <a:pt x="0" y="22402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69587" y="4319778"/>
            <a:ext cx="1729740" cy="112649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indent="21463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Noise </a:t>
            </a:r>
            <a:r>
              <a:rPr sz="3600" spc="-20" dirty="0">
                <a:latin typeface="Calibri" panose="020F0502020204030204"/>
                <a:cs typeface="Calibri" panose="020F0502020204030204"/>
              </a:rPr>
              <a:t>Predicter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854633" y="1820988"/>
            <a:ext cx="605790" cy="603885"/>
            <a:chOff x="5422265" y="3760342"/>
            <a:chExt cx="403860" cy="402590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25440" y="3763517"/>
              <a:ext cx="397001" cy="3962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425440" y="3763517"/>
              <a:ext cx="397510" cy="396240"/>
            </a:xfrm>
            <a:custGeom>
              <a:avLst/>
              <a:gdLst/>
              <a:ahLst/>
              <a:cxnLst/>
              <a:rect l="l" t="t" r="r" b="b"/>
              <a:pathLst>
                <a:path w="397510" h="396239">
                  <a:moveTo>
                    <a:pt x="0" y="198119"/>
                  </a:moveTo>
                  <a:lnTo>
                    <a:pt x="5244" y="152675"/>
                  </a:lnTo>
                  <a:lnTo>
                    <a:pt x="20180" y="110967"/>
                  </a:lnTo>
                  <a:lnTo>
                    <a:pt x="43617" y="74182"/>
                  </a:lnTo>
                  <a:lnTo>
                    <a:pt x="74360" y="43507"/>
                  </a:lnTo>
                  <a:lnTo>
                    <a:pt x="111217" y="20127"/>
                  </a:lnTo>
                  <a:lnTo>
                    <a:pt x="152995" y="5229"/>
                  </a:lnTo>
                  <a:lnTo>
                    <a:pt x="198500" y="0"/>
                  </a:lnTo>
                  <a:lnTo>
                    <a:pt x="244006" y="5229"/>
                  </a:lnTo>
                  <a:lnTo>
                    <a:pt x="285784" y="20127"/>
                  </a:lnTo>
                  <a:lnTo>
                    <a:pt x="322641" y="43507"/>
                  </a:lnTo>
                  <a:lnTo>
                    <a:pt x="353384" y="74182"/>
                  </a:lnTo>
                  <a:lnTo>
                    <a:pt x="376821" y="110967"/>
                  </a:lnTo>
                  <a:lnTo>
                    <a:pt x="391757" y="152675"/>
                  </a:lnTo>
                  <a:lnTo>
                    <a:pt x="397001" y="198119"/>
                  </a:lnTo>
                  <a:lnTo>
                    <a:pt x="391757" y="243564"/>
                  </a:lnTo>
                  <a:lnTo>
                    <a:pt x="376821" y="285272"/>
                  </a:lnTo>
                  <a:lnTo>
                    <a:pt x="353384" y="322057"/>
                  </a:lnTo>
                  <a:lnTo>
                    <a:pt x="322641" y="352732"/>
                  </a:lnTo>
                  <a:lnTo>
                    <a:pt x="285784" y="376112"/>
                  </a:lnTo>
                  <a:lnTo>
                    <a:pt x="244006" y="391010"/>
                  </a:lnTo>
                  <a:lnTo>
                    <a:pt x="198500" y="396239"/>
                  </a:lnTo>
                  <a:lnTo>
                    <a:pt x="152995" y="391010"/>
                  </a:lnTo>
                  <a:lnTo>
                    <a:pt x="111217" y="376112"/>
                  </a:lnTo>
                  <a:lnTo>
                    <a:pt x="74360" y="352732"/>
                  </a:lnTo>
                  <a:lnTo>
                    <a:pt x="43617" y="322057"/>
                  </a:lnTo>
                  <a:lnTo>
                    <a:pt x="20180" y="285272"/>
                  </a:lnTo>
                  <a:lnTo>
                    <a:pt x="5244" y="243564"/>
                  </a:lnTo>
                  <a:lnTo>
                    <a:pt x="0" y="198119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056372" y="1750314"/>
            <a:ext cx="20193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Calibri" panose="020F0502020204030204"/>
                <a:cs typeface="Calibri" panose="020F0502020204030204"/>
              </a:rPr>
              <a:t>-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03760" y="4806696"/>
            <a:ext cx="714375" cy="257175"/>
          </a:xfrm>
          <a:custGeom>
            <a:avLst/>
            <a:gdLst/>
            <a:ahLst/>
            <a:cxnLst/>
            <a:rect l="l" t="t" r="r" b="b"/>
            <a:pathLst>
              <a:path w="476250" h="171450">
                <a:moveTo>
                  <a:pt x="304672" y="0"/>
                </a:moveTo>
                <a:lnTo>
                  <a:pt x="304672" y="171450"/>
                </a:lnTo>
                <a:lnTo>
                  <a:pt x="418972" y="114300"/>
                </a:lnTo>
                <a:lnTo>
                  <a:pt x="333247" y="114300"/>
                </a:lnTo>
                <a:lnTo>
                  <a:pt x="333247" y="57150"/>
                </a:lnTo>
                <a:lnTo>
                  <a:pt x="418972" y="57150"/>
                </a:lnTo>
                <a:lnTo>
                  <a:pt x="304672" y="0"/>
                </a:lnTo>
                <a:close/>
              </a:path>
              <a:path w="476250" h="171450">
                <a:moveTo>
                  <a:pt x="304672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304672" y="114300"/>
                </a:lnTo>
                <a:lnTo>
                  <a:pt x="304672" y="57150"/>
                </a:lnTo>
                <a:close/>
              </a:path>
              <a:path w="476250" h="171450">
                <a:moveTo>
                  <a:pt x="418972" y="57150"/>
                </a:moveTo>
                <a:lnTo>
                  <a:pt x="333247" y="57150"/>
                </a:lnTo>
                <a:lnTo>
                  <a:pt x="333247" y="114300"/>
                </a:lnTo>
                <a:lnTo>
                  <a:pt x="418972" y="114300"/>
                </a:lnTo>
                <a:lnTo>
                  <a:pt x="476122" y="85725"/>
                </a:lnTo>
                <a:lnTo>
                  <a:pt x="418972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grpSp>
        <p:nvGrpSpPr>
          <p:cNvPr id="21" name="object 21"/>
          <p:cNvGrpSpPr/>
          <p:nvPr/>
        </p:nvGrpSpPr>
        <p:grpSpPr>
          <a:xfrm>
            <a:off x="2084388" y="1978912"/>
            <a:ext cx="8325422" cy="3062099"/>
            <a:chOff x="1575435" y="3865625"/>
            <a:chExt cx="5550281" cy="2041399"/>
          </a:xfrm>
        </p:grpSpPr>
        <p:sp>
          <p:nvSpPr>
            <p:cNvPr id="22" name="object 22"/>
            <p:cNvSpPr/>
            <p:nvPr/>
          </p:nvSpPr>
          <p:spPr>
            <a:xfrm>
              <a:off x="1575435" y="5735574"/>
              <a:ext cx="1096010" cy="171450"/>
            </a:xfrm>
            <a:custGeom>
              <a:avLst/>
              <a:gdLst/>
              <a:ahLst/>
              <a:cxnLst/>
              <a:rect l="l" t="t" r="r" b="b"/>
              <a:pathLst>
                <a:path w="1096010" h="171450">
                  <a:moveTo>
                    <a:pt x="924306" y="0"/>
                  </a:moveTo>
                  <a:lnTo>
                    <a:pt x="924306" y="171450"/>
                  </a:lnTo>
                  <a:lnTo>
                    <a:pt x="1038606" y="114300"/>
                  </a:lnTo>
                  <a:lnTo>
                    <a:pt x="952881" y="114300"/>
                  </a:lnTo>
                  <a:lnTo>
                    <a:pt x="952881" y="57150"/>
                  </a:lnTo>
                  <a:lnTo>
                    <a:pt x="1038606" y="57150"/>
                  </a:lnTo>
                  <a:lnTo>
                    <a:pt x="924306" y="0"/>
                  </a:lnTo>
                  <a:close/>
                </a:path>
                <a:path w="1096010" h="171450">
                  <a:moveTo>
                    <a:pt x="924306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924306" y="114300"/>
                  </a:lnTo>
                  <a:lnTo>
                    <a:pt x="924306" y="57150"/>
                  </a:lnTo>
                  <a:close/>
                </a:path>
                <a:path w="1096010" h="171450">
                  <a:moveTo>
                    <a:pt x="1038606" y="57150"/>
                  </a:moveTo>
                  <a:lnTo>
                    <a:pt x="952881" y="57150"/>
                  </a:lnTo>
                  <a:lnTo>
                    <a:pt x="952881" y="114300"/>
                  </a:lnTo>
                  <a:lnTo>
                    <a:pt x="1038606" y="114300"/>
                  </a:lnTo>
                  <a:lnTo>
                    <a:pt x="1095756" y="85725"/>
                  </a:lnTo>
                  <a:lnTo>
                    <a:pt x="1038606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2179701" y="3954399"/>
              <a:ext cx="1295400" cy="0"/>
            </a:xfrm>
            <a:custGeom>
              <a:avLst/>
              <a:gdLst/>
              <a:ahLst/>
              <a:cxnLst/>
              <a:rect l="l" t="t" r="r" b="b"/>
              <a:pathLst>
                <a:path w="1295400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3389376" y="3865625"/>
              <a:ext cx="3736340" cy="1476375"/>
            </a:xfrm>
            <a:custGeom>
              <a:avLst/>
              <a:gdLst/>
              <a:ahLst/>
              <a:cxnLst/>
              <a:rect l="l" t="t" r="r" b="b"/>
              <a:pathLst>
                <a:path w="3736340" h="1476375">
                  <a:moveTo>
                    <a:pt x="2036318" y="85725"/>
                  </a:moveTo>
                  <a:lnTo>
                    <a:pt x="1979168" y="57150"/>
                  </a:lnTo>
                  <a:lnTo>
                    <a:pt x="1864868" y="0"/>
                  </a:lnTo>
                  <a:lnTo>
                    <a:pt x="1864868" y="57150"/>
                  </a:lnTo>
                  <a:lnTo>
                    <a:pt x="85725" y="57150"/>
                  </a:lnTo>
                  <a:lnTo>
                    <a:pt x="85725" y="107823"/>
                  </a:lnTo>
                  <a:lnTo>
                    <a:pt x="57150" y="107823"/>
                  </a:lnTo>
                  <a:lnTo>
                    <a:pt x="57150" y="1115822"/>
                  </a:lnTo>
                  <a:lnTo>
                    <a:pt x="0" y="1115822"/>
                  </a:lnTo>
                  <a:lnTo>
                    <a:pt x="85725" y="1287272"/>
                  </a:lnTo>
                  <a:lnTo>
                    <a:pt x="157162" y="1144397"/>
                  </a:lnTo>
                  <a:lnTo>
                    <a:pt x="171450" y="1115822"/>
                  </a:lnTo>
                  <a:lnTo>
                    <a:pt x="114300" y="1115822"/>
                  </a:lnTo>
                  <a:lnTo>
                    <a:pt x="114300" y="114300"/>
                  </a:lnTo>
                  <a:lnTo>
                    <a:pt x="1864868" y="114300"/>
                  </a:lnTo>
                  <a:lnTo>
                    <a:pt x="1864868" y="171450"/>
                  </a:lnTo>
                  <a:lnTo>
                    <a:pt x="1979168" y="114300"/>
                  </a:lnTo>
                  <a:lnTo>
                    <a:pt x="2036318" y="85725"/>
                  </a:lnTo>
                  <a:close/>
                </a:path>
                <a:path w="3736340" h="1476375">
                  <a:moveTo>
                    <a:pt x="2320290" y="496443"/>
                  </a:moveTo>
                  <a:lnTo>
                    <a:pt x="2306002" y="467868"/>
                  </a:lnTo>
                  <a:lnTo>
                    <a:pt x="2234565" y="324993"/>
                  </a:lnTo>
                  <a:lnTo>
                    <a:pt x="2148840" y="496443"/>
                  </a:lnTo>
                  <a:lnTo>
                    <a:pt x="2205990" y="496443"/>
                  </a:lnTo>
                  <a:lnTo>
                    <a:pt x="2205990" y="1475867"/>
                  </a:lnTo>
                  <a:lnTo>
                    <a:pt x="2263140" y="1475867"/>
                  </a:lnTo>
                  <a:lnTo>
                    <a:pt x="2263140" y="496443"/>
                  </a:lnTo>
                  <a:lnTo>
                    <a:pt x="2320290" y="496443"/>
                  </a:lnTo>
                  <a:close/>
                </a:path>
                <a:path w="3736340" h="1476375">
                  <a:moveTo>
                    <a:pt x="3736086" y="107823"/>
                  </a:moveTo>
                  <a:lnTo>
                    <a:pt x="3678936" y="79248"/>
                  </a:lnTo>
                  <a:lnTo>
                    <a:pt x="3564636" y="22098"/>
                  </a:lnTo>
                  <a:lnTo>
                    <a:pt x="3564636" y="79248"/>
                  </a:lnTo>
                  <a:lnTo>
                    <a:pt x="2433447" y="79248"/>
                  </a:lnTo>
                  <a:lnTo>
                    <a:pt x="2433447" y="136398"/>
                  </a:lnTo>
                  <a:lnTo>
                    <a:pt x="3564636" y="136398"/>
                  </a:lnTo>
                  <a:lnTo>
                    <a:pt x="3564636" y="193548"/>
                  </a:lnTo>
                  <a:lnTo>
                    <a:pt x="3678936" y="136398"/>
                  </a:lnTo>
                  <a:lnTo>
                    <a:pt x="3736086" y="107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0493" y="7369754"/>
            <a:ext cx="1537571" cy="154354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429383" y="8920861"/>
            <a:ext cx="57531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940" spc="-37" baseline="-16000" dirty="0">
                <a:latin typeface="Cambria Math" panose="02040503050406030204"/>
                <a:cs typeface="Cambria Math" panose="02040503050406030204"/>
              </a:rPr>
              <a:t>𝑇</a:t>
            </a:r>
            <a:endParaRPr sz="394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77060" y="2878074"/>
            <a:ext cx="28194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15947" y="3095244"/>
            <a:ext cx="185738" cy="4235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25" spc="30" dirty="0">
                <a:latin typeface="Cambria Math" panose="02040503050406030204"/>
                <a:cs typeface="Cambria Math" panose="02040503050406030204"/>
              </a:rPr>
              <a:t>𝑡</a:t>
            </a:r>
            <a:endParaRPr sz="2625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4476794" y="1403167"/>
            <a:ext cx="3146108" cy="1544003"/>
            <a:chOff x="9837039" y="3481795"/>
            <a:chExt cx="2097405" cy="1029335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6958" y="3481795"/>
              <a:ext cx="1537070" cy="102902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837039" y="3876293"/>
              <a:ext cx="596900" cy="171450"/>
            </a:xfrm>
            <a:custGeom>
              <a:avLst/>
              <a:gdLst/>
              <a:ahLst/>
              <a:cxnLst/>
              <a:rect l="l" t="t" r="r" b="b"/>
              <a:pathLst>
                <a:path w="596900" h="171450">
                  <a:moveTo>
                    <a:pt x="424941" y="0"/>
                  </a:moveTo>
                  <a:lnTo>
                    <a:pt x="424941" y="171449"/>
                  </a:lnTo>
                  <a:lnTo>
                    <a:pt x="539241" y="114299"/>
                  </a:lnTo>
                  <a:lnTo>
                    <a:pt x="453516" y="114299"/>
                  </a:lnTo>
                  <a:lnTo>
                    <a:pt x="453516" y="57149"/>
                  </a:lnTo>
                  <a:lnTo>
                    <a:pt x="539241" y="57149"/>
                  </a:lnTo>
                  <a:lnTo>
                    <a:pt x="424941" y="0"/>
                  </a:lnTo>
                  <a:close/>
                </a:path>
                <a:path w="596900" h="171450">
                  <a:moveTo>
                    <a:pt x="424941" y="57149"/>
                  </a:moveTo>
                  <a:lnTo>
                    <a:pt x="0" y="57149"/>
                  </a:lnTo>
                  <a:lnTo>
                    <a:pt x="0" y="114299"/>
                  </a:lnTo>
                  <a:lnTo>
                    <a:pt x="424941" y="114299"/>
                  </a:lnTo>
                  <a:lnTo>
                    <a:pt x="424941" y="57149"/>
                  </a:lnTo>
                  <a:close/>
                </a:path>
                <a:path w="596900" h="171450">
                  <a:moveTo>
                    <a:pt x="539241" y="57149"/>
                  </a:moveTo>
                  <a:lnTo>
                    <a:pt x="453516" y="57149"/>
                  </a:lnTo>
                  <a:lnTo>
                    <a:pt x="453516" y="114299"/>
                  </a:lnTo>
                  <a:lnTo>
                    <a:pt x="539241" y="114299"/>
                  </a:lnTo>
                  <a:lnTo>
                    <a:pt x="596391" y="85724"/>
                  </a:lnTo>
                  <a:lnTo>
                    <a:pt x="539241" y="571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6242919" y="2952750"/>
            <a:ext cx="28194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481806" y="3169919"/>
            <a:ext cx="630555" cy="4235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25" spc="-25" dirty="0">
                <a:latin typeface="Cambria Math" panose="02040503050406030204"/>
                <a:cs typeface="Cambria Math" panose="02040503050406030204"/>
              </a:rPr>
              <a:t>𝑡−1</a:t>
            </a:r>
            <a:endParaRPr sz="262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533121" y="4633721"/>
            <a:ext cx="260033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𝑧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924152" y="1758315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Calibri" panose="020F0502020204030204"/>
                <a:cs typeface="Calibri" panose="020F0502020204030204"/>
              </a:rPr>
              <a:t>+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2834303" y="2008632"/>
            <a:ext cx="1371600" cy="2184083"/>
          </a:xfrm>
          <a:custGeom>
            <a:avLst/>
            <a:gdLst/>
            <a:ahLst/>
            <a:cxnLst/>
            <a:rect l="l" t="t" r="r" b="b"/>
            <a:pathLst>
              <a:path w="914400" h="1456054">
                <a:moveTo>
                  <a:pt x="596392" y="85725"/>
                </a:moveTo>
                <a:lnTo>
                  <a:pt x="539242" y="57150"/>
                </a:lnTo>
                <a:lnTo>
                  <a:pt x="424942" y="0"/>
                </a:lnTo>
                <a:lnTo>
                  <a:pt x="424942" y="57150"/>
                </a:lnTo>
                <a:lnTo>
                  <a:pt x="0" y="57150"/>
                </a:lnTo>
                <a:lnTo>
                  <a:pt x="0" y="114300"/>
                </a:lnTo>
                <a:lnTo>
                  <a:pt x="424942" y="114300"/>
                </a:lnTo>
                <a:lnTo>
                  <a:pt x="424942" y="171450"/>
                </a:lnTo>
                <a:lnTo>
                  <a:pt x="539242" y="114300"/>
                </a:lnTo>
                <a:lnTo>
                  <a:pt x="596392" y="85725"/>
                </a:lnTo>
                <a:close/>
              </a:path>
              <a:path w="914400" h="1456054">
                <a:moveTo>
                  <a:pt x="914273" y="486410"/>
                </a:moveTo>
                <a:lnTo>
                  <a:pt x="899985" y="457962"/>
                </a:lnTo>
                <a:lnTo>
                  <a:pt x="828294" y="315087"/>
                </a:lnTo>
                <a:lnTo>
                  <a:pt x="742823" y="486664"/>
                </a:lnTo>
                <a:lnTo>
                  <a:pt x="800011" y="486587"/>
                </a:lnTo>
                <a:lnTo>
                  <a:pt x="801497" y="1456055"/>
                </a:lnTo>
                <a:lnTo>
                  <a:pt x="858647" y="1456055"/>
                </a:lnTo>
                <a:lnTo>
                  <a:pt x="857161" y="486498"/>
                </a:lnTo>
                <a:lnTo>
                  <a:pt x="914273" y="486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44" name="object 44"/>
          <p:cNvSpPr txBox="1"/>
          <p:nvPr/>
        </p:nvSpPr>
        <p:spPr>
          <a:xfrm>
            <a:off x="12498196" y="6412355"/>
            <a:ext cx="315277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sample</a:t>
            </a:r>
            <a:r>
              <a:rPr sz="3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a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noise?!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656455" y="7720965"/>
            <a:ext cx="1851025" cy="316865"/>
          </a:xfrm>
          <a:custGeom>
            <a:avLst/>
            <a:gdLst/>
            <a:ahLst/>
            <a:cxnLst/>
            <a:rect l="l" t="t" r="r" b="b"/>
            <a:pathLst>
              <a:path w="1450975" h="352425">
                <a:moveTo>
                  <a:pt x="0" y="352044"/>
                </a:moveTo>
                <a:lnTo>
                  <a:pt x="1450848" y="352044"/>
                </a:lnTo>
                <a:lnTo>
                  <a:pt x="1450848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00"/>
          </a:p>
        </p:txBody>
      </p:sp>
      <p:pic>
        <p:nvPicPr>
          <p:cNvPr id="47" name="Picture 46" descr="CodeCogsEqn (3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59360" y="7139940"/>
            <a:ext cx="2657475" cy="1047750"/>
          </a:xfrm>
          <a:prstGeom prst="rect">
            <a:avLst/>
          </a:prstGeom>
        </p:spPr>
      </p:pic>
      <p:pic>
        <p:nvPicPr>
          <p:cNvPr id="48" name="Picture 47" descr="CodeCogsEqn (4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0719" y="2960424"/>
            <a:ext cx="1405890" cy="927100"/>
          </a:xfrm>
          <a:prstGeom prst="rect">
            <a:avLst/>
          </a:prstGeom>
        </p:spPr>
      </p:pic>
      <p:pic>
        <p:nvPicPr>
          <p:cNvPr id="50" name="Picture 49" descr="CodeCogsEqn (60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12555" y="736600"/>
            <a:ext cx="784225" cy="1035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The goal of image generation</a:t>
            </a:r>
            <a:endParaRPr lang="en-US" altLang="en-US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9026" y="4337891"/>
            <a:ext cx="1875693" cy="187491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555802" y="3572100"/>
            <a:ext cx="4489133" cy="4489133"/>
            <a:chOff x="5037201" y="2381400"/>
            <a:chExt cx="2992755" cy="29927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5690" y="2381400"/>
              <a:ext cx="2274204" cy="29923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37201" y="3422142"/>
              <a:ext cx="684530" cy="171450"/>
            </a:xfrm>
            <a:custGeom>
              <a:avLst/>
              <a:gdLst/>
              <a:ahLst/>
              <a:cxnLst/>
              <a:rect l="l" t="t" r="r" b="b"/>
              <a:pathLst>
                <a:path w="684529" h="171450">
                  <a:moveTo>
                    <a:pt x="512825" y="0"/>
                  </a:moveTo>
                  <a:lnTo>
                    <a:pt x="512825" y="171450"/>
                  </a:lnTo>
                  <a:lnTo>
                    <a:pt x="627126" y="114300"/>
                  </a:lnTo>
                  <a:lnTo>
                    <a:pt x="541401" y="114300"/>
                  </a:lnTo>
                  <a:lnTo>
                    <a:pt x="541401" y="57150"/>
                  </a:lnTo>
                  <a:lnTo>
                    <a:pt x="627126" y="57150"/>
                  </a:lnTo>
                  <a:lnTo>
                    <a:pt x="512825" y="0"/>
                  </a:lnTo>
                  <a:close/>
                </a:path>
                <a:path w="684529" h="171450">
                  <a:moveTo>
                    <a:pt x="512825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512825" y="114300"/>
                  </a:lnTo>
                  <a:lnTo>
                    <a:pt x="512825" y="57150"/>
                  </a:lnTo>
                  <a:close/>
                </a:path>
                <a:path w="684529" h="171450">
                  <a:moveTo>
                    <a:pt x="627126" y="57150"/>
                  </a:moveTo>
                  <a:lnTo>
                    <a:pt x="541401" y="57150"/>
                  </a:lnTo>
                  <a:lnTo>
                    <a:pt x="541401" y="114300"/>
                  </a:lnTo>
                  <a:lnTo>
                    <a:pt x="627126" y="114300"/>
                  </a:lnTo>
                  <a:lnTo>
                    <a:pt x="684276" y="85725"/>
                  </a:lnTo>
                  <a:lnTo>
                    <a:pt x="627126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733163" y="4386833"/>
            <a:ext cx="2672715" cy="1745933"/>
            <a:chOff x="3155442" y="2924555"/>
            <a:chExt cx="1781810" cy="116395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4492" y="2943605"/>
              <a:ext cx="1743456" cy="11254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74492" y="2943605"/>
              <a:ext cx="1743710" cy="1125855"/>
            </a:xfrm>
            <a:custGeom>
              <a:avLst/>
              <a:gdLst/>
              <a:ahLst/>
              <a:cxnLst/>
              <a:rect l="l" t="t" r="r" b="b"/>
              <a:pathLst>
                <a:path w="1743710" h="1125854">
                  <a:moveTo>
                    <a:pt x="0" y="187579"/>
                  </a:moveTo>
                  <a:lnTo>
                    <a:pt x="6698" y="137700"/>
                  </a:lnTo>
                  <a:lnTo>
                    <a:pt x="25602" y="92888"/>
                  </a:lnTo>
                  <a:lnTo>
                    <a:pt x="54927" y="54927"/>
                  </a:lnTo>
                  <a:lnTo>
                    <a:pt x="92888" y="25602"/>
                  </a:lnTo>
                  <a:lnTo>
                    <a:pt x="137700" y="6698"/>
                  </a:lnTo>
                  <a:lnTo>
                    <a:pt x="187579" y="0"/>
                  </a:lnTo>
                  <a:lnTo>
                    <a:pt x="1555877" y="0"/>
                  </a:lnTo>
                  <a:lnTo>
                    <a:pt x="1605755" y="6698"/>
                  </a:lnTo>
                  <a:lnTo>
                    <a:pt x="1650567" y="25602"/>
                  </a:lnTo>
                  <a:lnTo>
                    <a:pt x="1688528" y="54927"/>
                  </a:lnTo>
                  <a:lnTo>
                    <a:pt x="1717853" y="92888"/>
                  </a:lnTo>
                  <a:lnTo>
                    <a:pt x="1736757" y="137700"/>
                  </a:lnTo>
                  <a:lnTo>
                    <a:pt x="1743456" y="187579"/>
                  </a:lnTo>
                  <a:lnTo>
                    <a:pt x="1743456" y="937895"/>
                  </a:lnTo>
                  <a:lnTo>
                    <a:pt x="1736757" y="987773"/>
                  </a:lnTo>
                  <a:lnTo>
                    <a:pt x="1717853" y="1032585"/>
                  </a:lnTo>
                  <a:lnTo>
                    <a:pt x="1688528" y="1070546"/>
                  </a:lnTo>
                  <a:lnTo>
                    <a:pt x="1650567" y="1099871"/>
                  </a:lnTo>
                  <a:lnTo>
                    <a:pt x="1605755" y="1118775"/>
                  </a:lnTo>
                  <a:lnTo>
                    <a:pt x="1555877" y="1125474"/>
                  </a:lnTo>
                  <a:lnTo>
                    <a:pt x="187579" y="1125474"/>
                  </a:lnTo>
                  <a:lnTo>
                    <a:pt x="137700" y="1118775"/>
                  </a:lnTo>
                  <a:lnTo>
                    <a:pt x="92888" y="1099871"/>
                  </a:lnTo>
                  <a:lnTo>
                    <a:pt x="54927" y="1070546"/>
                  </a:lnTo>
                  <a:lnTo>
                    <a:pt x="25602" y="1032585"/>
                  </a:lnTo>
                  <a:lnTo>
                    <a:pt x="6698" y="987773"/>
                  </a:lnTo>
                  <a:lnTo>
                    <a:pt x="0" y="937895"/>
                  </a:lnTo>
                  <a:lnTo>
                    <a:pt x="0" y="18757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42463" y="4790312"/>
            <a:ext cx="260033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𝑧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75776" y="4908042"/>
            <a:ext cx="28194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5640" y="3154488"/>
            <a:ext cx="2567940" cy="4284345"/>
            <a:chOff x="617093" y="2102992"/>
            <a:chExt cx="1711960" cy="285623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5848" y="3640962"/>
              <a:ext cx="222250" cy="222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7615" y="3138804"/>
              <a:ext cx="222250" cy="222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4462" y="3493134"/>
              <a:ext cx="222250" cy="2222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3103" y="3115182"/>
              <a:ext cx="222250" cy="2222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0268" y="4275582"/>
              <a:ext cx="290830" cy="597535"/>
            </a:xfrm>
            <a:custGeom>
              <a:avLst/>
              <a:gdLst/>
              <a:ahLst/>
              <a:cxnLst/>
              <a:rect l="l" t="t" r="r" b="b"/>
              <a:pathLst>
                <a:path w="290830" h="597535">
                  <a:moveTo>
                    <a:pt x="290322" y="0"/>
                  </a:moveTo>
                  <a:lnTo>
                    <a:pt x="0" y="0"/>
                  </a:lnTo>
                  <a:lnTo>
                    <a:pt x="0" y="597408"/>
                  </a:lnTo>
                  <a:lnTo>
                    <a:pt x="290322" y="597408"/>
                  </a:lnTo>
                  <a:lnTo>
                    <a:pt x="290322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20268" y="4275582"/>
              <a:ext cx="290830" cy="597535"/>
            </a:xfrm>
            <a:custGeom>
              <a:avLst/>
              <a:gdLst/>
              <a:ahLst/>
              <a:cxnLst/>
              <a:rect l="l" t="t" r="r" b="b"/>
              <a:pathLst>
                <a:path w="290830" h="597535">
                  <a:moveTo>
                    <a:pt x="0" y="597408"/>
                  </a:moveTo>
                  <a:lnTo>
                    <a:pt x="290322" y="597408"/>
                  </a:lnTo>
                  <a:lnTo>
                    <a:pt x="290322" y="0"/>
                  </a:lnTo>
                  <a:lnTo>
                    <a:pt x="0" y="0"/>
                  </a:lnTo>
                  <a:lnTo>
                    <a:pt x="0" y="59740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2035301" y="4358639"/>
              <a:ext cx="290830" cy="597535"/>
            </a:xfrm>
            <a:custGeom>
              <a:avLst/>
              <a:gdLst/>
              <a:ahLst/>
              <a:cxnLst/>
              <a:rect l="l" t="t" r="r" b="b"/>
              <a:pathLst>
                <a:path w="290830" h="597535">
                  <a:moveTo>
                    <a:pt x="290322" y="0"/>
                  </a:moveTo>
                  <a:lnTo>
                    <a:pt x="0" y="0"/>
                  </a:lnTo>
                  <a:lnTo>
                    <a:pt x="0" y="597407"/>
                  </a:lnTo>
                  <a:lnTo>
                    <a:pt x="290322" y="597407"/>
                  </a:lnTo>
                  <a:lnTo>
                    <a:pt x="29032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035301" y="4358639"/>
              <a:ext cx="290830" cy="597535"/>
            </a:xfrm>
            <a:custGeom>
              <a:avLst/>
              <a:gdLst/>
              <a:ahLst/>
              <a:cxnLst/>
              <a:rect l="l" t="t" r="r" b="b"/>
              <a:pathLst>
                <a:path w="290830" h="597535">
                  <a:moveTo>
                    <a:pt x="0" y="597407"/>
                  </a:moveTo>
                  <a:lnTo>
                    <a:pt x="290322" y="597407"/>
                  </a:lnTo>
                  <a:lnTo>
                    <a:pt x="290322" y="0"/>
                  </a:lnTo>
                  <a:lnTo>
                    <a:pt x="0" y="0"/>
                  </a:lnTo>
                  <a:lnTo>
                    <a:pt x="0" y="597407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50748" y="2126741"/>
              <a:ext cx="290830" cy="596900"/>
            </a:xfrm>
            <a:custGeom>
              <a:avLst/>
              <a:gdLst/>
              <a:ahLst/>
              <a:cxnLst/>
              <a:rect l="l" t="t" r="r" b="b"/>
              <a:pathLst>
                <a:path w="290830" h="596900">
                  <a:moveTo>
                    <a:pt x="290321" y="0"/>
                  </a:moveTo>
                  <a:lnTo>
                    <a:pt x="0" y="0"/>
                  </a:lnTo>
                  <a:lnTo>
                    <a:pt x="0" y="596646"/>
                  </a:lnTo>
                  <a:lnTo>
                    <a:pt x="290321" y="596646"/>
                  </a:lnTo>
                  <a:lnTo>
                    <a:pt x="290321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50748" y="2126741"/>
              <a:ext cx="290830" cy="596900"/>
            </a:xfrm>
            <a:custGeom>
              <a:avLst/>
              <a:gdLst/>
              <a:ahLst/>
              <a:cxnLst/>
              <a:rect l="l" t="t" r="r" b="b"/>
              <a:pathLst>
                <a:path w="290830" h="596900">
                  <a:moveTo>
                    <a:pt x="0" y="596646"/>
                  </a:moveTo>
                  <a:lnTo>
                    <a:pt x="290321" y="596646"/>
                  </a:lnTo>
                  <a:lnTo>
                    <a:pt x="290321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1968245" y="2106167"/>
              <a:ext cx="290830" cy="596900"/>
            </a:xfrm>
            <a:custGeom>
              <a:avLst/>
              <a:gdLst/>
              <a:ahLst/>
              <a:cxnLst/>
              <a:rect l="l" t="t" r="r" b="b"/>
              <a:pathLst>
                <a:path w="290830" h="596900">
                  <a:moveTo>
                    <a:pt x="290321" y="0"/>
                  </a:moveTo>
                  <a:lnTo>
                    <a:pt x="0" y="0"/>
                  </a:lnTo>
                  <a:lnTo>
                    <a:pt x="0" y="596646"/>
                  </a:lnTo>
                  <a:lnTo>
                    <a:pt x="290321" y="596646"/>
                  </a:lnTo>
                  <a:lnTo>
                    <a:pt x="290321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1968245" y="2106167"/>
              <a:ext cx="290830" cy="596900"/>
            </a:xfrm>
            <a:custGeom>
              <a:avLst/>
              <a:gdLst/>
              <a:ahLst/>
              <a:cxnLst/>
              <a:rect l="l" t="t" r="r" b="b"/>
              <a:pathLst>
                <a:path w="290830" h="596900">
                  <a:moveTo>
                    <a:pt x="0" y="596646"/>
                  </a:moveTo>
                  <a:lnTo>
                    <a:pt x="290321" y="596646"/>
                  </a:lnTo>
                  <a:lnTo>
                    <a:pt x="290321" y="0"/>
                  </a:lnTo>
                  <a:lnTo>
                    <a:pt x="0" y="0"/>
                  </a:lnTo>
                  <a:lnTo>
                    <a:pt x="0" y="5966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765810" y="2702813"/>
              <a:ext cx="1415415" cy="1683385"/>
            </a:xfrm>
            <a:custGeom>
              <a:avLst/>
              <a:gdLst/>
              <a:ahLst/>
              <a:cxnLst/>
              <a:rect l="l" t="t" r="r" b="b"/>
              <a:pathLst>
                <a:path w="1415414" h="1683385">
                  <a:moveTo>
                    <a:pt x="85115" y="1529207"/>
                  </a:moveTo>
                  <a:lnTo>
                    <a:pt x="65608" y="1514983"/>
                  </a:lnTo>
                  <a:lnTo>
                    <a:pt x="62001" y="1512354"/>
                  </a:lnTo>
                  <a:lnTo>
                    <a:pt x="76923" y="1491869"/>
                  </a:lnTo>
                  <a:lnTo>
                    <a:pt x="53822" y="1475105"/>
                  </a:lnTo>
                  <a:lnTo>
                    <a:pt x="38950" y="1495539"/>
                  </a:lnTo>
                  <a:lnTo>
                    <a:pt x="15824" y="1478661"/>
                  </a:lnTo>
                  <a:lnTo>
                    <a:pt x="0" y="1573276"/>
                  </a:lnTo>
                  <a:lnTo>
                    <a:pt x="85115" y="1529207"/>
                  </a:lnTo>
                  <a:close/>
                </a:path>
                <a:path w="1415414" h="1683385">
                  <a:moveTo>
                    <a:pt x="110566" y="1445641"/>
                  </a:moveTo>
                  <a:lnTo>
                    <a:pt x="87477" y="1428877"/>
                  </a:lnTo>
                  <a:lnTo>
                    <a:pt x="70650" y="1451991"/>
                  </a:lnTo>
                  <a:lnTo>
                    <a:pt x="93751" y="1468755"/>
                  </a:lnTo>
                  <a:lnTo>
                    <a:pt x="110566" y="1445641"/>
                  </a:lnTo>
                  <a:close/>
                </a:path>
                <a:path w="1415414" h="1683385">
                  <a:moveTo>
                    <a:pt x="122237" y="48260"/>
                  </a:moveTo>
                  <a:lnTo>
                    <a:pt x="30480" y="20574"/>
                  </a:lnTo>
                  <a:lnTo>
                    <a:pt x="63385" y="110617"/>
                  </a:lnTo>
                  <a:lnTo>
                    <a:pt x="83007" y="89827"/>
                  </a:lnTo>
                  <a:lnTo>
                    <a:pt x="83642" y="90424"/>
                  </a:lnTo>
                  <a:lnTo>
                    <a:pt x="103263" y="69596"/>
                  </a:lnTo>
                  <a:lnTo>
                    <a:pt x="102641" y="69024"/>
                  </a:lnTo>
                  <a:lnTo>
                    <a:pt x="111925" y="59182"/>
                  </a:lnTo>
                  <a:lnTo>
                    <a:pt x="122237" y="48260"/>
                  </a:lnTo>
                  <a:close/>
                </a:path>
                <a:path w="1415414" h="1683385">
                  <a:moveTo>
                    <a:pt x="144221" y="1399540"/>
                  </a:moveTo>
                  <a:lnTo>
                    <a:pt x="121119" y="1382649"/>
                  </a:lnTo>
                  <a:lnTo>
                    <a:pt x="104305" y="1405763"/>
                  </a:lnTo>
                  <a:lnTo>
                    <a:pt x="127393" y="1422654"/>
                  </a:lnTo>
                  <a:lnTo>
                    <a:pt x="144221" y="1399540"/>
                  </a:lnTo>
                  <a:close/>
                </a:path>
                <a:path w="1415414" h="1683385">
                  <a:moveTo>
                    <a:pt x="144818" y="108839"/>
                  </a:moveTo>
                  <a:lnTo>
                    <a:pt x="124040" y="89281"/>
                  </a:lnTo>
                  <a:lnTo>
                    <a:pt x="104419" y="109982"/>
                  </a:lnTo>
                  <a:lnTo>
                    <a:pt x="125196" y="129667"/>
                  </a:lnTo>
                  <a:lnTo>
                    <a:pt x="144818" y="108839"/>
                  </a:lnTo>
                  <a:close/>
                </a:path>
                <a:path w="1415414" h="1683385">
                  <a:moveTo>
                    <a:pt x="177876" y="1353312"/>
                  </a:moveTo>
                  <a:lnTo>
                    <a:pt x="154774" y="1336548"/>
                  </a:lnTo>
                  <a:lnTo>
                    <a:pt x="137947" y="1359535"/>
                  </a:lnTo>
                  <a:lnTo>
                    <a:pt x="161048" y="1376426"/>
                  </a:lnTo>
                  <a:lnTo>
                    <a:pt x="177876" y="1353312"/>
                  </a:lnTo>
                  <a:close/>
                </a:path>
                <a:path w="1415414" h="1683385">
                  <a:moveTo>
                    <a:pt x="186372" y="148082"/>
                  </a:moveTo>
                  <a:lnTo>
                    <a:pt x="165595" y="128524"/>
                  </a:lnTo>
                  <a:lnTo>
                    <a:pt x="145986" y="149225"/>
                  </a:lnTo>
                  <a:lnTo>
                    <a:pt x="166763" y="168910"/>
                  </a:lnTo>
                  <a:lnTo>
                    <a:pt x="186372" y="148082"/>
                  </a:lnTo>
                  <a:close/>
                </a:path>
                <a:path w="1415414" h="1683385">
                  <a:moveTo>
                    <a:pt x="211518" y="1307084"/>
                  </a:moveTo>
                  <a:lnTo>
                    <a:pt x="188429" y="1290320"/>
                  </a:lnTo>
                  <a:lnTo>
                    <a:pt x="171602" y="1313434"/>
                  </a:lnTo>
                  <a:lnTo>
                    <a:pt x="194691" y="1330198"/>
                  </a:lnTo>
                  <a:lnTo>
                    <a:pt x="211518" y="1307084"/>
                  </a:lnTo>
                  <a:close/>
                </a:path>
                <a:path w="1415414" h="1683385">
                  <a:moveTo>
                    <a:pt x="227926" y="187325"/>
                  </a:moveTo>
                  <a:lnTo>
                    <a:pt x="207149" y="167767"/>
                  </a:lnTo>
                  <a:lnTo>
                    <a:pt x="187540" y="188468"/>
                  </a:lnTo>
                  <a:lnTo>
                    <a:pt x="208318" y="208153"/>
                  </a:lnTo>
                  <a:lnTo>
                    <a:pt x="227926" y="187325"/>
                  </a:lnTo>
                  <a:close/>
                </a:path>
                <a:path w="1415414" h="1683385">
                  <a:moveTo>
                    <a:pt x="245173" y="1260983"/>
                  </a:moveTo>
                  <a:lnTo>
                    <a:pt x="222072" y="1244092"/>
                  </a:lnTo>
                  <a:lnTo>
                    <a:pt x="205244" y="1267206"/>
                  </a:lnTo>
                  <a:lnTo>
                    <a:pt x="228346" y="1283970"/>
                  </a:lnTo>
                  <a:lnTo>
                    <a:pt x="245173" y="1260983"/>
                  </a:lnTo>
                  <a:close/>
                </a:path>
                <a:path w="1415414" h="1683385">
                  <a:moveTo>
                    <a:pt x="269494" y="226568"/>
                  </a:moveTo>
                  <a:lnTo>
                    <a:pt x="248716" y="206883"/>
                  </a:lnTo>
                  <a:lnTo>
                    <a:pt x="229095" y="227711"/>
                  </a:lnTo>
                  <a:lnTo>
                    <a:pt x="249872" y="247396"/>
                  </a:lnTo>
                  <a:lnTo>
                    <a:pt x="269494" y="226568"/>
                  </a:lnTo>
                  <a:close/>
                </a:path>
                <a:path w="1415414" h="1683385">
                  <a:moveTo>
                    <a:pt x="278815" y="1214755"/>
                  </a:moveTo>
                  <a:lnTo>
                    <a:pt x="255727" y="1197864"/>
                  </a:lnTo>
                  <a:lnTo>
                    <a:pt x="238899" y="1220978"/>
                  </a:lnTo>
                  <a:lnTo>
                    <a:pt x="262001" y="1237869"/>
                  </a:lnTo>
                  <a:lnTo>
                    <a:pt x="278815" y="1214755"/>
                  </a:lnTo>
                  <a:close/>
                </a:path>
                <a:path w="1415414" h="1683385">
                  <a:moveTo>
                    <a:pt x="311048" y="265811"/>
                  </a:moveTo>
                  <a:lnTo>
                    <a:pt x="290271" y="246126"/>
                  </a:lnTo>
                  <a:lnTo>
                    <a:pt x="270649" y="266954"/>
                  </a:lnTo>
                  <a:lnTo>
                    <a:pt x="291426" y="286512"/>
                  </a:lnTo>
                  <a:lnTo>
                    <a:pt x="311048" y="265811"/>
                  </a:lnTo>
                  <a:close/>
                </a:path>
                <a:path w="1415414" h="1683385">
                  <a:moveTo>
                    <a:pt x="312470" y="1168527"/>
                  </a:moveTo>
                  <a:lnTo>
                    <a:pt x="289369" y="1151763"/>
                  </a:lnTo>
                  <a:lnTo>
                    <a:pt x="272554" y="1174877"/>
                  </a:lnTo>
                  <a:lnTo>
                    <a:pt x="295643" y="1191641"/>
                  </a:lnTo>
                  <a:lnTo>
                    <a:pt x="312470" y="1168527"/>
                  </a:lnTo>
                  <a:close/>
                </a:path>
                <a:path w="1415414" h="1683385">
                  <a:moveTo>
                    <a:pt x="346125" y="1122299"/>
                  </a:moveTo>
                  <a:lnTo>
                    <a:pt x="323024" y="1105535"/>
                  </a:lnTo>
                  <a:lnTo>
                    <a:pt x="306197" y="1128649"/>
                  </a:lnTo>
                  <a:lnTo>
                    <a:pt x="329298" y="1145413"/>
                  </a:lnTo>
                  <a:lnTo>
                    <a:pt x="346125" y="1122299"/>
                  </a:lnTo>
                  <a:close/>
                </a:path>
                <a:path w="1415414" h="1683385">
                  <a:moveTo>
                    <a:pt x="352602" y="305054"/>
                  </a:moveTo>
                  <a:lnTo>
                    <a:pt x="331825" y="285369"/>
                  </a:lnTo>
                  <a:lnTo>
                    <a:pt x="312204" y="306197"/>
                  </a:lnTo>
                  <a:lnTo>
                    <a:pt x="332981" y="325755"/>
                  </a:lnTo>
                  <a:lnTo>
                    <a:pt x="352602" y="305054"/>
                  </a:lnTo>
                  <a:close/>
                </a:path>
                <a:path w="1415414" h="1683385">
                  <a:moveTo>
                    <a:pt x="379768" y="1076198"/>
                  </a:moveTo>
                  <a:lnTo>
                    <a:pt x="356679" y="1059307"/>
                  </a:lnTo>
                  <a:lnTo>
                    <a:pt x="339852" y="1082421"/>
                  </a:lnTo>
                  <a:lnTo>
                    <a:pt x="362940" y="1099312"/>
                  </a:lnTo>
                  <a:lnTo>
                    <a:pt x="379768" y="1076198"/>
                  </a:lnTo>
                  <a:close/>
                </a:path>
                <a:path w="1415414" h="1683385">
                  <a:moveTo>
                    <a:pt x="394157" y="344297"/>
                  </a:moveTo>
                  <a:lnTo>
                    <a:pt x="373380" y="324612"/>
                  </a:lnTo>
                  <a:lnTo>
                    <a:pt x="353771" y="345440"/>
                  </a:lnTo>
                  <a:lnTo>
                    <a:pt x="374548" y="364998"/>
                  </a:lnTo>
                  <a:lnTo>
                    <a:pt x="394157" y="344297"/>
                  </a:lnTo>
                  <a:close/>
                </a:path>
                <a:path w="1415414" h="1683385">
                  <a:moveTo>
                    <a:pt x="413423" y="1029970"/>
                  </a:moveTo>
                  <a:lnTo>
                    <a:pt x="390321" y="1013079"/>
                  </a:lnTo>
                  <a:lnTo>
                    <a:pt x="373494" y="1036193"/>
                  </a:lnTo>
                  <a:lnTo>
                    <a:pt x="396595" y="1053084"/>
                  </a:lnTo>
                  <a:lnTo>
                    <a:pt x="413423" y="1029970"/>
                  </a:lnTo>
                  <a:close/>
                </a:path>
                <a:path w="1415414" h="1683385">
                  <a:moveTo>
                    <a:pt x="435711" y="383540"/>
                  </a:moveTo>
                  <a:lnTo>
                    <a:pt x="414934" y="363855"/>
                  </a:lnTo>
                  <a:lnTo>
                    <a:pt x="395325" y="384683"/>
                  </a:lnTo>
                  <a:lnTo>
                    <a:pt x="416102" y="404241"/>
                  </a:lnTo>
                  <a:lnTo>
                    <a:pt x="435711" y="383540"/>
                  </a:lnTo>
                  <a:close/>
                </a:path>
                <a:path w="1415414" h="1683385">
                  <a:moveTo>
                    <a:pt x="447065" y="983742"/>
                  </a:moveTo>
                  <a:lnTo>
                    <a:pt x="423976" y="966978"/>
                  </a:lnTo>
                  <a:lnTo>
                    <a:pt x="407149" y="990092"/>
                  </a:lnTo>
                  <a:lnTo>
                    <a:pt x="430250" y="1006856"/>
                  </a:lnTo>
                  <a:lnTo>
                    <a:pt x="447065" y="983742"/>
                  </a:lnTo>
                  <a:close/>
                </a:path>
                <a:path w="1415414" h="1683385">
                  <a:moveTo>
                    <a:pt x="477278" y="422783"/>
                  </a:moveTo>
                  <a:lnTo>
                    <a:pt x="456501" y="403098"/>
                  </a:lnTo>
                  <a:lnTo>
                    <a:pt x="436880" y="423926"/>
                  </a:lnTo>
                  <a:lnTo>
                    <a:pt x="457657" y="443484"/>
                  </a:lnTo>
                  <a:lnTo>
                    <a:pt x="477278" y="422783"/>
                  </a:lnTo>
                  <a:close/>
                </a:path>
                <a:path w="1415414" h="1683385">
                  <a:moveTo>
                    <a:pt x="518795" y="461899"/>
                  </a:moveTo>
                  <a:lnTo>
                    <a:pt x="498055" y="442341"/>
                  </a:lnTo>
                  <a:lnTo>
                    <a:pt x="478434" y="463169"/>
                  </a:lnTo>
                  <a:lnTo>
                    <a:pt x="499211" y="482727"/>
                  </a:lnTo>
                  <a:lnTo>
                    <a:pt x="518795" y="461899"/>
                  </a:lnTo>
                  <a:close/>
                </a:path>
                <a:path w="1415414" h="1683385">
                  <a:moveTo>
                    <a:pt x="1048131" y="1170305"/>
                  </a:moveTo>
                  <a:lnTo>
                    <a:pt x="1030986" y="1147318"/>
                  </a:lnTo>
                  <a:lnTo>
                    <a:pt x="1008126" y="1164463"/>
                  </a:lnTo>
                  <a:lnTo>
                    <a:pt x="1025271" y="1187323"/>
                  </a:lnTo>
                  <a:lnTo>
                    <a:pt x="1048131" y="1170305"/>
                  </a:lnTo>
                  <a:close/>
                </a:path>
                <a:path w="1415414" h="1683385">
                  <a:moveTo>
                    <a:pt x="1082421" y="1216025"/>
                  </a:moveTo>
                  <a:lnTo>
                    <a:pt x="1065276" y="1193165"/>
                  </a:lnTo>
                  <a:lnTo>
                    <a:pt x="1042416" y="1210310"/>
                  </a:lnTo>
                  <a:lnTo>
                    <a:pt x="1059561" y="1233170"/>
                  </a:lnTo>
                  <a:lnTo>
                    <a:pt x="1082421" y="1216025"/>
                  </a:lnTo>
                  <a:close/>
                </a:path>
                <a:path w="1415414" h="1683385">
                  <a:moveTo>
                    <a:pt x="1116711" y="1261745"/>
                  </a:moveTo>
                  <a:lnTo>
                    <a:pt x="1099566" y="1238885"/>
                  </a:lnTo>
                  <a:lnTo>
                    <a:pt x="1076706" y="1256030"/>
                  </a:lnTo>
                  <a:lnTo>
                    <a:pt x="1093851" y="1278890"/>
                  </a:lnTo>
                  <a:lnTo>
                    <a:pt x="1116711" y="1261745"/>
                  </a:lnTo>
                  <a:close/>
                </a:path>
                <a:path w="1415414" h="1683385">
                  <a:moveTo>
                    <a:pt x="1151001" y="1307465"/>
                  </a:moveTo>
                  <a:lnTo>
                    <a:pt x="1133856" y="1284605"/>
                  </a:lnTo>
                  <a:lnTo>
                    <a:pt x="1110996" y="1301750"/>
                  </a:lnTo>
                  <a:lnTo>
                    <a:pt x="1128141" y="1324610"/>
                  </a:lnTo>
                  <a:lnTo>
                    <a:pt x="1151001" y="1307465"/>
                  </a:lnTo>
                  <a:close/>
                </a:path>
                <a:path w="1415414" h="1683385">
                  <a:moveTo>
                    <a:pt x="1156843" y="428879"/>
                  </a:moveTo>
                  <a:lnTo>
                    <a:pt x="1131062" y="416560"/>
                  </a:lnTo>
                  <a:lnTo>
                    <a:pt x="1118743" y="442341"/>
                  </a:lnTo>
                  <a:lnTo>
                    <a:pt x="1144397" y="454660"/>
                  </a:lnTo>
                  <a:lnTo>
                    <a:pt x="1156843" y="428879"/>
                  </a:lnTo>
                  <a:close/>
                </a:path>
                <a:path w="1415414" h="1683385">
                  <a:moveTo>
                    <a:pt x="1181608" y="377444"/>
                  </a:moveTo>
                  <a:lnTo>
                    <a:pt x="1155827" y="364998"/>
                  </a:lnTo>
                  <a:lnTo>
                    <a:pt x="1143508" y="390779"/>
                  </a:lnTo>
                  <a:lnTo>
                    <a:pt x="1169162" y="403225"/>
                  </a:lnTo>
                  <a:lnTo>
                    <a:pt x="1181608" y="377444"/>
                  </a:lnTo>
                  <a:close/>
                </a:path>
                <a:path w="1415414" h="1683385">
                  <a:moveTo>
                    <a:pt x="1185291" y="1353185"/>
                  </a:moveTo>
                  <a:lnTo>
                    <a:pt x="1168146" y="1330325"/>
                  </a:lnTo>
                  <a:lnTo>
                    <a:pt x="1145286" y="1347470"/>
                  </a:lnTo>
                  <a:lnTo>
                    <a:pt x="1162431" y="1370330"/>
                  </a:lnTo>
                  <a:lnTo>
                    <a:pt x="1185291" y="1353185"/>
                  </a:lnTo>
                  <a:close/>
                </a:path>
                <a:path w="1415414" h="1683385">
                  <a:moveTo>
                    <a:pt x="1206373" y="325882"/>
                  </a:moveTo>
                  <a:lnTo>
                    <a:pt x="1180592" y="313563"/>
                  </a:lnTo>
                  <a:lnTo>
                    <a:pt x="1168273" y="339344"/>
                  </a:lnTo>
                  <a:lnTo>
                    <a:pt x="1194054" y="351663"/>
                  </a:lnTo>
                  <a:lnTo>
                    <a:pt x="1206373" y="325882"/>
                  </a:lnTo>
                  <a:close/>
                </a:path>
                <a:path w="1415414" h="1683385">
                  <a:moveTo>
                    <a:pt x="1219581" y="1398905"/>
                  </a:moveTo>
                  <a:lnTo>
                    <a:pt x="1202436" y="1376045"/>
                  </a:lnTo>
                  <a:lnTo>
                    <a:pt x="1179576" y="1393190"/>
                  </a:lnTo>
                  <a:lnTo>
                    <a:pt x="1196721" y="1416050"/>
                  </a:lnTo>
                  <a:lnTo>
                    <a:pt x="1219581" y="1398905"/>
                  </a:lnTo>
                  <a:close/>
                </a:path>
                <a:path w="1415414" h="1683385">
                  <a:moveTo>
                    <a:pt x="1231138" y="274447"/>
                  </a:moveTo>
                  <a:lnTo>
                    <a:pt x="1205357" y="262001"/>
                  </a:lnTo>
                  <a:lnTo>
                    <a:pt x="1193038" y="287782"/>
                  </a:lnTo>
                  <a:lnTo>
                    <a:pt x="1218819" y="300228"/>
                  </a:lnTo>
                  <a:lnTo>
                    <a:pt x="1231138" y="274447"/>
                  </a:lnTo>
                  <a:close/>
                </a:path>
                <a:path w="1415414" h="1683385">
                  <a:moveTo>
                    <a:pt x="1253871" y="1444625"/>
                  </a:moveTo>
                  <a:lnTo>
                    <a:pt x="1236726" y="1421765"/>
                  </a:lnTo>
                  <a:lnTo>
                    <a:pt x="1213866" y="1438910"/>
                  </a:lnTo>
                  <a:lnTo>
                    <a:pt x="1231011" y="1461770"/>
                  </a:lnTo>
                  <a:lnTo>
                    <a:pt x="1253871" y="1444625"/>
                  </a:lnTo>
                  <a:close/>
                </a:path>
                <a:path w="1415414" h="1683385">
                  <a:moveTo>
                    <a:pt x="1255903" y="222885"/>
                  </a:moveTo>
                  <a:lnTo>
                    <a:pt x="1230122" y="210566"/>
                  </a:lnTo>
                  <a:lnTo>
                    <a:pt x="1217803" y="236347"/>
                  </a:lnTo>
                  <a:lnTo>
                    <a:pt x="1243584" y="248666"/>
                  </a:lnTo>
                  <a:lnTo>
                    <a:pt x="1255903" y="222885"/>
                  </a:lnTo>
                  <a:close/>
                </a:path>
                <a:path w="1415414" h="1683385">
                  <a:moveTo>
                    <a:pt x="1280668" y="171450"/>
                  </a:moveTo>
                  <a:lnTo>
                    <a:pt x="1254887" y="159004"/>
                  </a:lnTo>
                  <a:lnTo>
                    <a:pt x="1242568" y="184785"/>
                  </a:lnTo>
                  <a:lnTo>
                    <a:pt x="1268349" y="197231"/>
                  </a:lnTo>
                  <a:lnTo>
                    <a:pt x="1280668" y="171450"/>
                  </a:lnTo>
                  <a:close/>
                </a:path>
                <a:path w="1415414" h="1683385">
                  <a:moveTo>
                    <a:pt x="1288161" y="1490345"/>
                  </a:moveTo>
                  <a:lnTo>
                    <a:pt x="1271016" y="1467485"/>
                  </a:lnTo>
                  <a:lnTo>
                    <a:pt x="1248156" y="1484630"/>
                  </a:lnTo>
                  <a:lnTo>
                    <a:pt x="1265301" y="1507490"/>
                  </a:lnTo>
                  <a:lnTo>
                    <a:pt x="1288161" y="1490345"/>
                  </a:lnTo>
                  <a:close/>
                </a:path>
                <a:path w="1415414" h="1683385">
                  <a:moveTo>
                    <a:pt x="1305433" y="119888"/>
                  </a:moveTo>
                  <a:lnTo>
                    <a:pt x="1279779" y="107569"/>
                  </a:lnTo>
                  <a:lnTo>
                    <a:pt x="1267333" y="133350"/>
                  </a:lnTo>
                  <a:lnTo>
                    <a:pt x="1293114" y="145669"/>
                  </a:lnTo>
                  <a:lnTo>
                    <a:pt x="1305433" y="119888"/>
                  </a:lnTo>
                  <a:close/>
                </a:path>
                <a:path w="1415414" h="1683385">
                  <a:moveTo>
                    <a:pt x="1322451" y="1536065"/>
                  </a:moveTo>
                  <a:lnTo>
                    <a:pt x="1305306" y="1513205"/>
                  </a:lnTo>
                  <a:lnTo>
                    <a:pt x="1282446" y="1530350"/>
                  </a:lnTo>
                  <a:lnTo>
                    <a:pt x="1299591" y="1553210"/>
                  </a:lnTo>
                  <a:lnTo>
                    <a:pt x="1322451" y="1536065"/>
                  </a:lnTo>
                  <a:close/>
                </a:path>
                <a:path w="1415414" h="1683385">
                  <a:moveTo>
                    <a:pt x="1348740" y="95885"/>
                  </a:moveTo>
                  <a:lnTo>
                    <a:pt x="1348181" y="58166"/>
                  </a:lnTo>
                  <a:lnTo>
                    <a:pt x="1347343" y="0"/>
                  </a:lnTo>
                  <a:lnTo>
                    <a:pt x="1271524" y="58674"/>
                  </a:lnTo>
                  <a:lnTo>
                    <a:pt x="1297228" y="71069"/>
                  </a:lnTo>
                  <a:lnTo>
                    <a:pt x="1292098" y="81788"/>
                  </a:lnTo>
                  <a:lnTo>
                    <a:pt x="1317879" y="94234"/>
                  </a:lnTo>
                  <a:lnTo>
                    <a:pt x="1323009" y="83502"/>
                  </a:lnTo>
                  <a:lnTo>
                    <a:pt x="1348740" y="95885"/>
                  </a:lnTo>
                  <a:close/>
                </a:path>
                <a:path w="1415414" h="1683385">
                  <a:moveTo>
                    <a:pt x="1356741" y="1581785"/>
                  </a:moveTo>
                  <a:lnTo>
                    <a:pt x="1339596" y="1558925"/>
                  </a:lnTo>
                  <a:lnTo>
                    <a:pt x="1316736" y="1576070"/>
                  </a:lnTo>
                  <a:lnTo>
                    <a:pt x="1333881" y="1598930"/>
                  </a:lnTo>
                  <a:lnTo>
                    <a:pt x="1356741" y="1581785"/>
                  </a:lnTo>
                  <a:close/>
                </a:path>
                <a:path w="1415414" h="1683385">
                  <a:moveTo>
                    <a:pt x="1415034" y="1683385"/>
                  </a:moveTo>
                  <a:lnTo>
                    <a:pt x="1406194" y="1634871"/>
                  </a:lnTo>
                  <a:lnTo>
                    <a:pt x="1397889" y="1589151"/>
                  </a:lnTo>
                  <a:lnTo>
                    <a:pt x="1375079" y="1606257"/>
                  </a:lnTo>
                  <a:lnTo>
                    <a:pt x="1373886" y="1604645"/>
                  </a:lnTo>
                  <a:lnTo>
                    <a:pt x="1351026" y="1621790"/>
                  </a:lnTo>
                  <a:lnTo>
                    <a:pt x="1352219" y="1623402"/>
                  </a:lnTo>
                  <a:lnTo>
                    <a:pt x="1329309" y="1640586"/>
                  </a:lnTo>
                  <a:lnTo>
                    <a:pt x="1415034" y="1683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336026" y="4240531"/>
            <a:ext cx="5569458" cy="3211830"/>
            <a:chOff x="5583174" y="2804160"/>
            <a:chExt cx="3712972" cy="2141220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28715" y="4568317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11139" y="2937636"/>
              <a:ext cx="222250" cy="222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38543" y="2937636"/>
              <a:ext cx="222250" cy="2222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38543" y="3560952"/>
              <a:ext cx="222250" cy="22225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955661" y="3481577"/>
              <a:ext cx="1340485" cy="171450"/>
            </a:xfrm>
            <a:custGeom>
              <a:avLst/>
              <a:gdLst/>
              <a:ahLst/>
              <a:cxnLst/>
              <a:rect l="l" t="t" r="r" b="b"/>
              <a:pathLst>
                <a:path w="1340484" h="171450">
                  <a:moveTo>
                    <a:pt x="171450" y="0"/>
                  </a:moveTo>
                  <a:lnTo>
                    <a:pt x="0" y="85725"/>
                  </a:lnTo>
                  <a:lnTo>
                    <a:pt x="171450" y="171450"/>
                  </a:lnTo>
                  <a:lnTo>
                    <a:pt x="171450" y="114300"/>
                  </a:lnTo>
                  <a:lnTo>
                    <a:pt x="142875" y="114300"/>
                  </a:lnTo>
                  <a:lnTo>
                    <a:pt x="142875" y="57150"/>
                  </a:lnTo>
                  <a:lnTo>
                    <a:pt x="171450" y="57150"/>
                  </a:lnTo>
                  <a:lnTo>
                    <a:pt x="171450" y="0"/>
                  </a:lnTo>
                  <a:close/>
                </a:path>
                <a:path w="1340484" h="171450">
                  <a:moveTo>
                    <a:pt x="171450" y="57150"/>
                  </a:moveTo>
                  <a:lnTo>
                    <a:pt x="142875" y="57150"/>
                  </a:lnTo>
                  <a:lnTo>
                    <a:pt x="142875" y="114300"/>
                  </a:lnTo>
                  <a:lnTo>
                    <a:pt x="171450" y="114300"/>
                  </a:lnTo>
                  <a:lnTo>
                    <a:pt x="171450" y="57150"/>
                  </a:lnTo>
                  <a:close/>
                </a:path>
                <a:path w="1340484" h="171450">
                  <a:moveTo>
                    <a:pt x="200025" y="57150"/>
                  </a:moveTo>
                  <a:lnTo>
                    <a:pt x="171450" y="57150"/>
                  </a:lnTo>
                  <a:lnTo>
                    <a:pt x="171450" y="114300"/>
                  </a:lnTo>
                  <a:lnTo>
                    <a:pt x="200025" y="114300"/>
                  </a:lnTo>
                  <a:lnTo>
                    <a:pt x="200025" y="57150"/>
                  </a:lnTo>
                  <a:close/>
                </a:path>
                <a:path w="1340484" h="171450">
                  <a:moveTo>
                    <a:pt x="314325" y="57150"/>
                  </a:moveTo>
                  <a:lnTo>
                    <a:pt x="257175" y="57150"/>
                  </a:lnTo>
                  <a:lnTo>
                    <a:pt x="257175" y="114300"/>
                  </a:lnTo>
                  <a:lnTo>
                    <a:pt x="314325" y="114300"/>
                  </a:lnTo>
                  <a:lnTo>
                    <a:pt x="314325" y="57150"/>
                  </a:lnTo>
                  <a:close/>
                </a:path>
                <a:path w="1340484" h="171450">
                  <a:moveTo>
                    <a:pt x="428625" y="57150"/>
                  </a:moveTo>
                  <a:lnTo>
                    <a:pt x="371475" y="57150"/>
                  </a:lnTo>
                  <a:lnTo>
                    <a:pt x="371475" y="114300"/>
                  </a:lnTo>
                  <a:lnTo>
                    <a:pt x="428625" y="114300"/>
                  </a:lnTo>
                  <a:lnTo>
                    <a:pt x="428625" y="57150"/>
                  </a:lnTo>
                  <a:close/>
                </a:path>
                <a:path w="1340484" h="171450">
                  <a:moveTo>
                    <a:pt x="542925" y="57150"/>
                  </a:moveTo>
                  <a:lnTo>
                    <a:pt x="485775" y="57150"/>
                  </a:lnTo>
                  <a:lnTo>
                    <a:pt x="485775" y="114300"/>
                  </a:lnTo>
                  <a:lnTo>
                    <a:pt x="542925" y="114300"/>
                  </a:lnTo>
                  <a:lnTo>
                    <a:pt x="542925" y="57150"/>
                  </a:lnTo>
                  <a:close/>
                </a:path>
                <a:path w="1340484" h="171450">
                  <a:moveTo>
                    <a:pt x="657225" y="57150"/>
                  </a:moveTo>
                  <a:lnTo>
                    <a:pt x="600075" y="57150"/>
                  </a:lnTo>
                  <a:lnTo>
                    <a:pt x="600075" y="114300"/>
                  </a:lnTo>
                  <a:lnTo>
                    <a:pt x="657225" y="114300"/>
                  </a:lnTo>
                  <a:lnTo>
                    <a:pt x="657225" y="57150"/>
                  </a:lnTo>
                  <a:close/>
                </a:path>
                <a:path w="1340484" h="171450">
                  <a:moveTo>
                    <a:pt x="771525" y="57150"/>
                  </a:moveTo>
                  <a:lnTo>
                    <a:pt x="714375" y="57150"/>
                  </a:lnTo>
                  <a:lnTo>
                    <a:pt x="714375" y="114300"/>
                  </a:lnTo>
                  <a:lnTo>
                    <a:pt x="771525" y="114300"/>
                  </a:lnTo>
                  <a:lnTo>
                    <a:pt x="771525" y="57150"/>
                  </a:lnTo>
                  <a:close/>
                </a:path>
                <a:path w="1340484" h="171450">
                  <a:moveTo>
                    <a:pt x="885825" y="57150"/>
                  </a:moveTo>
                  <a:lnTo>
                    <a:pt x="828675" y="57150"/>
                  </a:lnTo>
                  <a:lnTo>
                    <a:pt x="828675" y="114300"/>
                  </a:lnTo>
                  <a:lnTo>
                    <a:pt x="885825" y="114300"/>
                  </a:lnTo>
                  <a:lnTo>
                    <a:pt x="885825" y="57150"/>
                  </a:lnTo>
                  <a:close/>
                </a:path>
                <a:path w="1340484" h="171450">
                  <a:moveTo>
                    <a:pt x="1000125" y="57150"/>
                  </a:moveTo>
                  <a:lnTo>
                    <a:pt x="942975" y="57150"/>
                  </a:lnTo>
                  <a:lnTo>
                    <a:pt x="942975" y="114300"/>
                  </a:lnTo>
                  <a:lnTo>
                    <a:pt x="1000125" y="114300"/>
                  </a:lnTo>
                  <a:lnTo>
                    <a:pt x="1000125" y="57150"/>
                  </a:lnTo>
                  <a:close/>
                </a:path>
                <a:path w="1340484" h="171450">
                  <a:moveTo>
                    <a:pt x="1114425" y="57150"/>
                  </a:moveTo>
                  <a:lnTo>
                    <a:pt x="1057275" y="57150"/>
                  </a:lnTo>
                  <a:lnTo>
                    <a:pt x="1057275" y="114300"/>
                  </a:lnTo>
                  <a:lnTo>
                    <a:pt x="1114425" y="114300"/>
                  </a:lnTo>
                  <a:lnTo>
                    <a:pt x="1114425" y="57150"/>
                  </a:lnTo>
                  <a:close/>
                </a:path>
                <a:path w="1340484" h="171450">
                  <a:moveTo>
                    <a:pt x="1168908" y="0"/>
                  </a:moveTo>
                  <a:lnTo>
                    <a:pt x="1168908" y="171450"/>
                  </a:lnTo>
                  <a:lnTo>
                    <a:pt x="1283208" y="114300"/>
                  </a:lnTo>
                  <a:lnTo>
                    <a:pt x="1171575" y="114300"/>
                  </a:lnTo>
                  <a:lnTo>
                    <a:pt x="1171575" y="57150"/>
                  </a:lnTo>
                  <a:lnTo>
                    <a:pt x="1283208" y="57150"/>
                  </a:lnTo>
                  <a:lnTo>
                    <a:pt x="1168908" y="0"/>
                  </a:lnTo>
                  <a:close/>
                </a:path>
                <a:path w="1340484" h="171450">
                  <a:moveTo>
                    <a:pt x="1197483" y="57150"/>
                  </a:moveTo>
                  <a:lnTo>
                    <a:pt x="1171575" y="57150"/>
                  </a:lnTo>
                  <a:lnTo>
                    <a:pt x="1171575" y="114300"/>
                  </a:lnTo>
                  <a:lnTo>
                    <a:pt x="1197483" y="114300"/>
                  </a:lnTo>
                  <a:lnTo>
                    <a:pt x="1197483" y="57150"/>
                  </a:lnTo>
                  <a:close/>
                </a:path>
                <a:path w="1340484" h="171450">
                  <a:moveTo>
                    <a:pt x="1283208" y="57150"/>
                  </a:moveTo>
                  <a:lnTo>
                    <a:pt x="1197483" y="57150"/>
                  </a:lnTo>
                  <a:lnTo>
                    <a:pt x="1197483" y="114300"/>
                  </a:lnTo>
                  <a:lnTo>
                    <a:pt x="1283208" y="114300"/>
                  </a:lnTo>
                  <a:lnTo>
                    <a:pt x="1340358" y="85725"/>
                  </a:lnTo>
                  <a:lnTo>
                    <a:pt x="1283208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29424" y="2804160"/>
              <a:ext cx="226568" cy="15608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583174" y="2833793"/>
              <a:ext cx="1217930" cy="2111587"/>
            </a:xfrm>
            <a:custGeom>
              <a:avLst/>
              <a:gdLst/>
              <a:ahLst/>
              <a:cxnLst/>
              <a:rect l="l" t="t" r="r" b="b"/>
              <a:pathLst>
                <a:path w="1316990" h="2037714">
                  <a:moveTo>
                    <a:pt x="95631" y="6223"/>
                  </a:moveTo>
                  <a:lnTo>
                    <a:pt x="0" y="0"/>
                  </a:lnTo>
                  <a:lnTo>
                    <a:pt x="52451" y="80264"/>
                  </a:lnTo>
                  <a:lnTo>
                    <a:pt x="66840" y="55575"/>
                  </a:lnTo>
                  <a:lnTo>
                    <a:pt x="74803" y="60198"/>
                  </a:lnTo>
                  <a:lnTo>
                    <a:pt x="89154" y="35560"/>
                  </a:lnTo>
                  <a:lnTo>
                    <a:pt x="81203" y="30949"/>
                  </a:lnTo>
                  <a:lnTo>
                    <a:pt x="85407" y="23749"/>
                  </a:lnTo>
                  <a:lnTo>
                    <a:pt x="95631" y="6223"/>
                  </a:lnTo>
                  <a:close/>
                </a:path>
                <a:path w="1316990" h="2037714">
                  <a:moveTo>
                    <a:pt x="138557" y="64389"/>
                  </a:moveTo>
                  <a:lnTo>
                    <a:pt x="113792" y="49911"/>
                  </a:lnTo>
                  <a:lnTo>
                    <a:pt x="99441" y="74676"/>
                  </a:lnTo>
                  <a:lnTo>
                    <a:pt x="124079" y="89027"/>
                  </a:lnTo>
                  <a:lnTo>
                    <a:pt x="138557" y="64389"/>
                  </a:lnTo>
                  <a:close/>
                </a:path>
                <a:path w="1316990" h="2037714">
                  <a:moveTo>
                    <a:pt x="187833" y="93218"/>
                  </a:moveTo>
                  <a:lnTo>
                    <a:pt x="163195" y="78740"/>
                  </a:lnTo>
                  <a:lnTo>
                    <a:pt x="148844" y="103505"/>
                  </a:lnTo>
                  <a:lnTo>
                    <a:pt x="173482" y="117856"/>
                  </a:lnTo>
                  <a:lnTo>
                    <a:pt x="187833" y="93218"/>
                  </a:lnTo>
                  <a:close/>
                </a:path>
                <a:path w="1316990" h="2037714">
                  <a:moveTo>
                    <a:pt x="237236" y="122047"/>
                  </a:moveTo>
                  <a:lnTo>
                    <a:pt x="212598" y="107569"/>
                  </a:lnTo>
                  <a:lnTo>
                    <a:pt x="198120" y="132334"/>
                  </a:lnTo>
                  <a:lnTo>
                    <a:pt x="222758" y="146685"/>
                  </a:lnTo>
                  <a:lnTo>
                    <a:pt x="237236" y="122047"/>
                  </a:lnTo>
                  <a:close/>
                </a:path>
                <a:path w="1316990" h="2037714">
                  <a:moveTo>
                    <a:pt x="286512" y="150876"/>
                  </a:moveTo>
                  <a:lnTo>
                    <a:pt x="261874" y="136398"/>
                  </a:lnTo>
                  <a:lnTo>
                    <a:pt x="247523" y="161036"/>
                  </a:lnTo>
                  <a:lnTo>
                    <a:pt x="272161" y="175514"/>
                  </a:lnTo>
                  <a:lnTo>
                    <a:pt x="286512" y="150876"/>
                  </a:lnTo>
                  <a:close/>
                </a:path>
                <a:path w="1316990" h="2037714">
                  <a:moveTo>
                    <a:pt x="900303" y="1872869"/>
                  </a:moveTo>
                  <a:lnTo>
                    <a:pt x="873125" y="1863979"/>
                  </a:lnTo>
                  <a:lnTo>
                    <a:pt x="864235" y="1891157"/>
                  </a:lnTo>
                  <a:lnTo>
                    <a:pt x="891413" y="1900047"/>
                  </a:lnTo>
                  <a:lnTo>
                    <a:pt x="900303" y="1872869"/>
                  </a:lnTo>
                  <a:close/>
                </a:path>
                <a:path w="1316990" h="2037714">
                  <a:moveTo>
                    <a:pt x="954646" y="1890522"/>
                  </a:moveTo>
                  <a:lnTo>
                    <a:pt x="927481" y="1881632"/>
                  </a:lnTo>
                  <a:lnTo>
                    <a:pt x="918591" y="1908810"/>
                  </a:lnTo>
                  <a:lnTo>
                    <a:pt x="945769" y="1917700"/>
                  </a:lnTo>
                  <a:lnTo>
                    <a:pt x="954646" y="1890522"/>
                  </a:lnTo>
                  <a:close/>
                </a:path>
                <a:path w="1316990" h="2037714">
                  <a:moveTo>
                    <a:pt x="1009015" y="1908175"/>
                  </a:moveTo>
                  <a:lnTo>
                    <a:pt x="981824" y="1899412"/>
                  </a:lnTo>
                  <a:lnTo>
                    <a:pt x="972947" y="1926590"/>
                  </a:lnTo>
                  <a:lnTo>
                    <a:pt x="1000125" y="1935353"/>
                  </a:lnTo>
                  <a:lnTo>
                    <a:pt x="1009015" y="1908175"/>
                  </a:lnTo>
                  <a:close/>
                </a:path>
                <a:path w="1316990" h="2037714">
                  <a:moveTo>
                    <a:pt x="1063244" y="1925955"/>
                  </a:moveTo>
                  <a:lnTo>
                    <a:pt x="1036066" y="1917065"/>
                  </a:lnTo>
                  <a:lnTo>
                    <a:pt x="1027303" y="1944243"/>
                  </a:lnTo>
                  <a:lnTo>
                    <a:pt x="1054481" y="1953006"/>
                  </a:lnTo>
                  <a:lnTo>
                    <a:pt x="1063244" y="1925955"/>
                  </a:lnTo>
                  <a:close/>
                </a:path>
                <a:path w="1316990" h="2037714">
                  <a:moveTo>
                    <a:pt x="1117600" y="1943608"/>
                  </a:moveTo>
                  <a:lnTo>
                    <a:pt x="1090422" y="1934718"/>
                  </a:lnTo>
                  <a:lnTo>
                    <a:pt x="1081659" y="1961896"/>
                  </a:lnTo>
                  <a:lnTo>
                    <a:pt x="1108837" y="1970786"/>
                  </a:lnTo>
                  <a:lnTo>
                    <a:pt x="1117600" y="1943608"/>
                  </a:lnTo>
                  <a:close/>
                </a:path>
                <a:path w="1316990" h="2037714">
                  <a:moveTo>
                    <a:pt x="1171956" y="1961261"/>
                  </a:moveTo>
                  <a:lnTo>
                    <a:pt x="1144778" y="1952371"/>
                  </a:lnTo>
                  <a:lnTo>
                    <a:pt x="1136015" y="1979549"/>
                  </a:lnTo>
                  <a:lnTo>
                    <a:pt x="1163193" y="1988439"/>
                  </a:lnTo>
                  <a:lnTo>
                    <a:pt x="1171956" y="1961261"/>
                  </a:lnTo>
                  <a:close/>
                </a:path>
                <a:path w="1316990" h="2037714">
                  <a:moveTo>
                    <a:pt x="1226312" y="1978914"/>
                  </a:moveTo>
                  <a:lnTo>
                    <a:pt x="1199134" y="1970151"/>
                  </a:lnTo>
                  <a:lnTo>
                    <a:pt x="1190371" y="1997329"/>
                  </a:lnTo>
                  <a:lnTo>
                    <a:pt x="1217422" y="2006092"/>
                  </a:lnTo>
                  <a:lnTo>
                    <a:pt x="1226312" y="1978914"/>
                  </a:lnTo>
                  <a:close/>
                </a:path>
                <a:path w="1316990" h="2037714">
                  <a:moveTo>
                    <a:pt x="1316609" y="2023364"/>
                  </a:moveTo>
                  <a:lnTo>
                    <a:pt x="1248283" y="1956054"/>
                  </a:lnTo>
                  <a:lnTo>
                    <a:pt x="1221740" y="2037588"/>
                  </a:lnTo>
                  <a:lnTo>
                    <a:pt x="1316609" y="20233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31583" y="3717163"/>
              <a:ext cx="240157" cy="189103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3564446" y="5103494"/>
            <a:ext cx="1014413" cy="257175"/>
          </a:xfrm>
          <a:custGeom>
            <a:avLst/>
            <a:gdLst/>
            <a:ahLst/>
            <a:cxnLst/>
            <a:rect l="l" t="t" r="r" b="b"/>
            <a:pathLst>
              <a:path w="676275" h="171450">
                <a:moveTo>
                  <a:pt x="504697" y="0"/>
                </a:moveTo>
                <a:lnTo>
                  <a:pt x="504697" y="171450"/>
                </a:lnTo>
                <a:lnTo>
                  <a:pt x="618997" y="114300"/>
                </a:lnTo>
                <a:lnTo>
                  <a:pt x="533272" y="114300"/>
                </a:lnTo>
                <a:lnTo>
                  <a:pt x="533272" y="57150"/>
                </a:lnTo>
                <a:lnTo>
                  <a:pt x="618997" y="57150"/>
                </a:lnTo>
                <a:lnTo>
                  <a:pt x="504697" y="0"/>
                </a:lnTo>
                <a:close/>
              </a:path>
              <a:path w="676275" h="171450">
                <a:moveTo>
                  <a:pt x="504697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504697" y="114300"/>
                </a:lnTo>
                <a:lnTo>
                  <a:pt x="504697" y="57150"/>
                </a:lnTo>
                <a:close/>
              </a:path>
              <a:path w="676275" h="171450">
                <a:moveTo>
                  <a:pt x="618997" y="57150"/>
                </a:moveTo>
                <a:lnTo>
                  <a:pt x="533272" y="57150"/>
                </a:lnTo>
                <a:lnTo>
                  <a:pt x="533272" y="114300"/>
                </a:lnTo>
                <a:lnTo>
                  <a:pt x="618997" y="114300"/>
                </a:lnTo>
                <a:lnTo>
                  <a:pt x="676147" y="85725"/>
                </a:lnTo>
                <a:lnTo>
                  <a:pt x="61899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pic>
        <p:nvPicPr>
          <p:cNvPr id="40" name="object 4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199945" y="3572100"/>
            <a:ext cx="3411306" cy="4488473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14622017" y="2991612"/>
            <a:ext cx="207264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Real</a:t>
            </a:r>
            <a:r>
              <a:rPr sz="36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Image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" name="Picture 1" descr="CodeCogsEqn (61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01895" y="6413500"/>
            <a:ext cx="2118995" cy="568960"/>
          </a:xfrm>
          <a:prstGeom prst="rect">
            <a:avLst/>
          </a:prstGeom>
        </p:spPr>
      </p:pic>
      <p:sp>
        <p:nvSpPr>
          <p:cNvPr id="44" name="Text Box 43"/>
          <p:cNvSpPr txBox="1"/>
          <p:nvPr/>
        </p:nvSpPr>
        <p:spPr>
          <a:xfrm>
            <a:off x="5167395" y="5058283"/>
            <a:ext cx="254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/>
              <a:t>Network</a:t>
            </a:r>
          </a:p>
        </p:txBody>
      </p:sp>
      <p:pic>
        <p:nvPicPr>
          <p:cNvPr id="100" name="Picture 99"/>
          <p:cNvPicPr/>
          <p:nvPr/>
        </p:nvPicPr>
        <p:blipFill>
          <a:blip r:embed="rId15"/>
          <a:stretch>
            <a:fillRect/>
          </a:stretch>
        </p:blipFill>
        <p:spPr>
          <a:xfrm>
            <a:off x="9144000" y="51435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Content Placeholder 100"/>
          <p:cNvPicPr>
            <a:picLocks noGrp="1" noChangeAspect="1"/>
          </p:cNvPicPr>
          <p:nvPr>
            <p:ph idx="1"/>
          </p:nvPr>
        </p:nvPicPr>
        <p:blipFill>
          <a:blip r:embed="rId15"/>
          <a:stretch>
            <a:fillRect/>
          </a:stretch>
        </p:blipFill>
        <p:spPr>
          <a:xfrm>
            <a:off x="11637645" y="2642235"/>
            <a:ext cx="1632585" cy="16427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Picture 101"/>
          <p:cNvPicPr/>
          <p:nvPr/>
        </p:nvPicPr>
        <p:blipFill>
          <a:blip r:embed="rId16"/>
          <a:stretch>
            <a:fillRect/>
          </a:stretch>
        </p:blipFill>
        <p:spPr>
          <a:xfrm>
            <a:off x="9144000" y="51435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Picture 102"/>
          <p:cNvPicPr/>
          <p:nvPr/>
        </p:nvPicPr>
        <p:blipFill>
          <a:blip r:embed="rId16"/>
          <a:stretch>
            <a:fillRect/>
          </a:stretch>
        </p:blipFill>
        <p:spPr>
          <a:xfrm>
            <a:off x="11637645" y="5727700"/>
            <a:ext cx="1661160" cy="17246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Picture 103"/>
          <p:cNvPicPr/>
          <p:nvPr/>
        </p:nvPicPr>
        <p:blipFill>
          <a:blip r:embed="rId17"/>
          <a:stretch>
            <a:fillRect/>
          </a:stretch>
        </p:blipFill>
        <p:spPr>
          <a:xfrm>
            <a:off x="9144000" y="51435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Picture 104"/>
          <p:cNvPicPr/>
          <p:nvPr/>
        </p:nvPicPr>
        <p:blipFill>
          <a:blip r:embed="rId17"/>
          <a:stretch>
            <a:fillRect/>
          </a:stretch>
        </p:blipFill>
        <p:spPr>
          <a:xfrm>
            <a:off x="6880860" y="2321560"/>
            <a:ext cx="1850390" cy="1924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Picture 105"/>
          <p:cNvPicPr/>
          <p:nvPr/>
        </p:nvPicPr>
        <p:blipFill>
          <a:blip r:embed="rId18"/>
          <a:stretch>
            <a:fillRect/>
          </a:stretch>
        </p:blipFill>
        <p:spPr>
          <a:xfrm>
            <a:off x="9144000" y="51435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Picture 106"/>
          <p:cNvPicPr/>
          <p:nvPr/>
        </p:nvPicPr>
        <p:blipFill>
          <a:blip r:embed="rId18"/>
          <a:stretch>
            <a:fillRect/>
          </a:stretch>
        </p:blipFill>
        <p:spPr>
          <a:xfrm>
            <a:off x="9914255" y="7452360"/>
            <a:ext cx="1404620" cy="13703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The goal of image generation</a:t>
            </a:r>
            <a:endParaRPr lang="en-US" altLang="en-US" dirty="0"/>
          </a:p>
        </p:txBody>
      </p:sp>
      <p:pic>
        <p:nvPicPr>
          <p:cNvPr id="6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811" y="4002611"/>
            <a:ext cx="1875693" cy="1874916"/>
          </a:xfrm>
          <a:prstGeom prst="rect">
            <a:avLst/>
          </a:prstGeom>
        </p:spPr>
      </p:pic>
      <p:grpSp>
        <p:nvGrpSpPr>
          <p:cNvPr id="67" name="object 4"/>
          <p:cNvGrpSpPr/>
          <p:nvPr/>
        </p:nvGrpSpPr>
        <p:grpSpPr>
          <a:xfrm>
            <a:off x="6978587" y="3236820"/>
            <a:ext cx="4489133" cy="4489133"/>
            <a:chOff x="5037201" y="2381400"/>
            <a:chExt cx="2992755" cy="2992755"/>
          </a:xfrm>
        </p:grpSpPr>
        <p:pic>
          <p:nvPicPr>
            <p:cNvPr id="68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5690" y="2381400"/>
              <a:ext cx="2274204" cy="2992315"/>
            </a:xfrm>
            <a:prstGeom prst="rect">
              <a:avLst/>
            </a:prstGeom>
          </p:spPr>
        </p:pic>
        <p:sp>
          <p:nvSpPr>
            <p:cNvPr id="69" name="object 6"/>
            <p:cNvSpPr/>
            <p:nvPr/>
          </p:nvSpPr>
          <p:spPr>
            <a:xfrm>
              <a:off x="5037201" y="3422142"/>
              <a:ext cx="684530" cy="171450"/>
            </a:xfrm>
            <a:custGeom>
              <a:avLst/>
              <a:gdLst/>
              <a:ahLst/>
              <a:cxnLst/>
              <a:rect l="l" t="t" r="r" b="b"/>
              <a:pathLst>
                <a:path w="684529" h="171450">
                  <a:moveTo>
                    <a:pt x="512825" y="0"/>
                  </a:moveTo>
                  <a:lnTo>
                    <a:pt x="512825" y="171450"/>
                  </a:lnTo>
                  <a:lnTo>
                    <a:pt x="627126" y="114300"/>
                  </a:lnTo>
                  <a:lnTo>
                    <a:pt x="541401" y="114300"/>
                  </a:lnTo>
                  <a:lnTo>
                    <a:pt x="541401" y="57150"/>
                  </a:lnTo>
                  <a:lnTo>
                    <a:pt x="627126" y="57150"/>
                  </a:lnTo>
                  <a:lnTo>
                    <a:pt x="512825" y="0"/>
                  </a:lnTo>
                  <a:close/>
                </a:path>
                <a:path w="684529" h="171450">
                  <a:moveTo>
                    <a:pt x="512825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512825" y="114300"/>
                  </a:lnTo>
                  <a:lnTo>
                    <a:pt x="512825" y="57150"/>
                  </a:lnTo>
                  <a:close/>
                </a:path>
                <a:path w="684529" h="171450">
                  <a:moveTo>
                    <a:pt x="627126" y="57150"/>
                  </a:moveTo>
                  <a:lnTo>
                    <a:pt x="541401" y="57150"/>
                  </a:lnTo>
                  <a:lnTo>
                    <a:pt x="541401" y="114300"/>
                  </a:lnTo>
                  <a:lnTo>
                    <a:pt x="627126" y="114300"/>
                  </a:lnTo>
                  <a:lnTo>
                    <a:pt x="684276" y="85725"/>
                  </a:lnTo>
                  <a:lnTo>
                    <a:pt x="627126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grpSp>
        <p:nvGrpSpPr>
          <p:cNvPr id="70" name="object 7"/>
          <p:cNvGrpSpPr/>
          <p:nvPr/>
        </p:nvGrpSpPr>
        <p:grpSpPr>
          <a:xfrm>
            <a:off x="4155948" y="4051553"/>
            <a:ext cx="2672715" cy="1745933"/>
            <a:chOff x="3155442" y="2924555"/>
            <a:chExt cx="1781810" cy="1163955"/>
          </a:xfrm>
        </p:grpSpPr>
        <p:pic>
          <p:nvPicPr>
            <p:cNvPr id="71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4492" y="2943605"/>
              <a:ext cx="1743456" cy="1125474"/>
            </a:xfrm>
            <a:prstGeom prst="rect">
              <a:avLst/>
            </a:prstGeom>
          </p:spPr>
        </p:pic>
        <p:sp>
          <p:nvSpPr>
            <p:cNvPr id="72" name="object 9"/>
            <p:cNvSpPr/>
            <p:nvPr/>
          </p:nvSpPr>
          <p:spPr>
            <a:xfrm>
              <a:off x="3174492" y="2943605"/>
              <a:ext cx="1743710" cy="1125855"/>
            </a:xfrm>
            <a:custGeom>
              <a:avLst/>
              <a:gdLst/>
              <a:ahLst/>
              <a:cxnLst/>
              <a:rect l="l" t="t" r="r" b="b"/>
              <a:pathLst>
                <a:path w="1743710" h="1125854">
                  <a:moveTo>
                    <a:pt x="0" y="187579"/>
                  </a:moveTo>
                  <a:lnTo>
                    <a:pt x="6698" y="137700"/>
                  </a:lnTo>
                  <a:lnTo>
                    <a:pt x="25602" y="92888"/>
                  </a:lnTo>
                  <a:lnTo>
                    <a:pt x="54927" y="54927"/>
                  </a:lnTo>
                  <a:lnTo>
                    <a:pt x="92888" y="25602"/>
                  </a:lnTo>
                  <a:lnTo>
                    <a:pt x="137700" y="6698"/>
                  </a:lnTo>
                  <a:lnTo>
                    <a:pt x="187579" y="0"/>
                  </a:lnTo>
                  <a:lnTo>
                    <a:pt x="1555877" y="0"/>
                  </a:lnTo>
                  <a:lnTo>
                    <a:pt x="1605755" y="6698"/>
                  </a:lnTo>
                  <a:lnTo>
                    <a:pt x="1650567" y="25602"/>
                  </a:lnTo>
                  <a:lnTo>
                    <a:pt x="1688528" y="54927"/>
                  </a:lnTo>
                  <a:lnTo>
                    <a:pt x="1717853" y="92888"/>
                  </a:lnTo>
                  <a:lnTo>
                    <a:pt x="1736757" y="137700"/>
                  </a:lnTo>
                  <a:lnTo>
                    <a:pt x="1743456" y="187579"/>
                  </a:lnTo>
                  <a:lnTo>
                    <a:pt x="1743456" y="937895"/>
                  </a:lnTo>
                  <a:lnTo>
                    <a:pt x="1736757" y="987773"/>
                  </a:lnTo>
                  <a:lnTo>
                    <a:pt x="1717853" y="1032585"/>
                  </a:lnTo>
                  <a:lnTo>
                    <a:pt x="1688528" y="1070546"/>
                  </a:lnTo>
                  <a:lnTo>
                    <a:pt x="1650567" y="1099871"/>
                  </a:lnTo>
                  <a:lnTo>
                    <a:pt x="1605755" y="1118775"/>
                  </a:lnTo>
                  <a:lnTo>
                    <a:pt x="1555877" y="1125474"/>
                  </a:lnTo>
                  <a:lnTo>
                    <a:pt x="187579" y="1125474"/>
                  </a:lnTo>
                  <a:lnTo>
                    <a:pt x="137700" y="1118775"/>
                  </a:lnTo>
                  <a:lnTo>
                    <a:pt x="92888" y="1099871"/>
                  </a:lnTo>
                  <a:lnTo>
                    <a:pt x="54927" y="1070546"/>
                  </a:lnTo>
                  <a:lnTo>
                    <a:pt x="25602" y="1032585"/>
                  </a:lnTo>
                  <a:lnTo>
                    <a:pt x="6698" y="987773"/>
                  </a:lnTo>
                  <a:lnTo>
                    <a:pt x="0" y="937895"/>
                  </a:lnTo>
                  <a:lnTo>
                    <a:pt x="0" y="18757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73" name="object 10"/>
          <p:cNvSpPr txBox="1"/>
          <p:nvPr/>
        </p:nvSpPr>
        <p:spPr>
          <a:xfrm>
            <a:off x="4536947" y="4551425"/>
            <a:ext cx="191071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latin typeface="Calibri" panose="020F0502020204030204"/>
                <a:cs typeface="Calibri" panose="020F0502020204030204"/>
              </a:rPr>
              <a:t>Network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4" name="object 11"/>
          <p:cNvSpPr txBox="1"/>
          <p:nvPr/>
        </p:nvSpPr>
        <p:spPr>
          <a:xfrm>
            <a:off x="2365248" y="4455032"/>
            <a:ext cx="260033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𝑧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5" name="object 12"/>
          <p:cNvSpPr txBox="1"/>
          <p:nvPr/>
        </p:nvSpPr>
        <p:spPr>
          <a:xfrm>
            <a:off x="8298561" y="4572762"/>
            <a:ext cx="28194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6" name="object 13"/>
          <p:cNvSpPr/>
          <p:nvPr/>
        </p:nvSpPr>
        <p:spPr>
          <a:xfrm>
            <a:off x="2987231" y="4768214"/>
            <a:ext cx="1014413" cy="257175"/>
          </a:xfrm>
          <a:custGeom>
            <a:avLst/>
            <a:gdLst/>
            <a:ahLst/>
            <a:cxnLst/>
            <a:rect l="l" t="t" r="r" b="b"/>
            <a:pathLst>
              <a:path w="676275" h="171450">
                <a:moveTo>
                  <a:pt x="504697" y="0"/>
                </a:moveTo>
                <a:lnTo>
                  <a:pt x="504697" y="171450"/>
                </a:lnTo>
                <a:lnTo>
                  <a:pt x="618997" y="114300"/>
                </a:lnTo>
                <a:lnTo>
                  <a:pt x="533272" y="114300"/>
                </a:lnTo>
                <a:lnTo>
                  <a:pt x="533272" y="57150"/>
                </a:lnTo>
                <a:lnTo>
                  <a:pt x="618997" y="57150"/>
                </a:lnTo>
                <a:lnTo>
                  <a:pt x="504697" y="0"/>
                </a:lnTo>
                <a:close/>
              </a:path>
              <a:path w="676275" h="171450">
                <a:moveTo>
                  <a:pt x="504697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504697" y="114300"/>
                </a:lnTo>
                <a:lnTo>
                  <a:pt x="504697" y="57150"/>
                </a:lnTo>
                <a:close/>
              </a:path>
              <a:path w="676275" h="171450">
                <a:moveTo>
                  <a:pt x="618997" y="57150"/>
                </a:moveTo>
                <a:lnTo>
                  <a:pt x="533272" y="57150"/>
                </a:lnTo>
                <a:lnTo>
                  <a:pt x="533272" y="114300"/>
                </a:lnTo>
                <a:lnTo>
                  <a:pt x="618997" y="114300"/>
                </a:lnTo>
                <a:lnTo>
                  <a:pt x="676147" y="85725"/>
                </a:lnTo>
                <a:lnTo>
                  <a:pt x="61899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pic>
        <p:nvPicPr>
          <p:cNvPr id="77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22730" y="3236820"/>
            <a:ext cx="3411306" cy="4488473"/>
          </a:xfrm>
          <a:prstGeom prst="rect">
            <a:avLst/>
          </a:prstGeom>
        </p:spPr>
      </p:pic>
      <p:sp>
        <p:nvSpPr>
          <p:cNvPr id="78" name="object 15"/>
          <p:cNvSpPr txBox="1"/>
          <p:nvPr/>
        </p:nvSpPr>
        <p:spPr>
          <a:xfrm>
            <a:off x="14044802" y="2656332"/>
            <a:ext cx="207264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Real</a:t>
            </a:r>
            <a:r>
              <a:rPr sz="36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Image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9" name="object 16"/>
          <p:cNvSpPr/>
          <p:nvPr/>
        </p:nvSpPr>
        <p:spPr>
          <a:xfrm>
            <a:off x="5401817" y="5935790"/>
            <a:ext cx="257175" cy="1014413"/>
          </a:xfrm>
          <a:custGeom>
            <a:avLst/>
            <a:gdLst/>
            <a:ahLst/>
            <a:cxnLst/>
            <a:rect l="l" t="t" r="r" b="b"/>
            <a:pathLst>
              <a:path w="171450" h="676275">
                <a:moveTo>
                  <a:pt x="114300" y="142875"/>
                </a:moveTo>
                <a:lnTo>
                  <a:pt x="57150" y="142875"/>
                </a:lnTo>
                <a:lnTo>
                  <a:pt x="57150" y="676148"/>
                </a:lnTo>
                <a:lnTo>
                  <a:pt x="114300" y="676148"/>
                </a:lnTo>
                <a:lnTo>
                  <a:pt x="114300" y="142875"/>
                </a:lnTo>
                <a:close/>
              </a:path>
              <a:path w="171450" h="676275">
                <a:moveTo>
                  <a:pt x="85725" y="0"/>
                </a:moveTo>
                <a:lnTo>
                  <a:pt x="0" y="171450"/>
                </a:lnTo>
                <a:lnTo>
                  <a:pt x="57150" y="171450"/>
                </a:lnTo>
                <a:lnTo>
                  <a:pt x="57150" y="142875"/>
                </a:lnTo>
                <a:lnTo>
                  <a:pt x="157162" y="142875"/>
                </a:lnTo>
                <a:lnTo>
                  <a:pt x="85725" y="0"/>
                </a:lnTo>
                <a:close/>
              </a:path>
              <a:path w="171450" h="676275">
                <a:moveTo>
                  <a:pt x="157162" y="142875"/>
                </a:moveTo>
                <a:lnTo>
                  <a:pt x="114300" y="142875"/>
                </a:lnTo>
                <a:lnTo>
                  <a:pt x="114300" y="171450"/>
                </a:lnTo>
                <a:lnTo>
                  <a:pt x="171450" y="171450"/>
                </a:lnTo>
                <a:lnTo>
                  <a:pt x="157162" y="142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81" name="object 18"/>
          <p:cNvSpPr/>
          <p:nvPr/>
        </p:nvSpPr>
        <p:spPr>
          <a:xfrm>
            <a:off x="11356340" y="4886960"/>
            <a:ext cx="2010410" cy="257175"/>
          </a:xfrm>
          <a:custGeom>
            <a:avLst/>
            <a:gdLst/>
            <a:ahLst/>
            <a:cxnLst/>
            <a:rect l="l" t="t" r="r" b="b"/>
            <a:pathLst>
              <a:path w="1340484" h="171450">
                <a:moveTo>
                  <a:pt x="171450" y="0"/>
                </a:moveTo>
                <a:lnTo>
                  <a:pt x="0" y="85725"/>
                </a:lnTo>
                <a:lnTo>
                  <a:pt x="171450" y="171450"/>
                </a:lnTo>
                <a:lnTo>
                  <a:pt x="171450" y="114300"/>
                </a:lnTo>
                <a:lnTo>
                  <a:pt x="142875" y="114300"/>
                </a:lnTo>
                <a:lnTo>
                  <a:pt x="142875" y="57150"/>
                </a:lnTo>
                <a:lnTo>
                  <a:pt x="171450" y="57150"/>
                </a:lnTo>
                <a:lnTo>
                  <a:pt x="171450" y="0"/>
                </a:lnTo>
                <a:close/>
              </a:path>
              <a:path w="1340484" h="171450">
                <a:moveTo>
                  <a:pt x="171450" y="57150"/>
                </a:moveTo>
                <a:lnTo>
                  <a:pt x="142875" y="57150"/>
                </a:lnTo>
                <a:lnTo>
                  <a:pt x="142875" y="114300"/>
                </a:lnTo>
                <a:lnTo>
                  <a:pt x="171450" y="114300"/>
                </a:lnTo>
                <a:lnTo>
                  <a:pt x="171450" y="57150"/>
                </a:lnTo>
                <a:close/>
              </a:path>
              <a:path w="1340484" h="171450">
                <a:moveTo>
                  <a:pt x="200025" y="57150"/>
                </a:moveTo>
                <a:lnTo>
                  <a:pt x="171450" y="57150"/>
                </a:lnTo>
                <a:lnTo>
                  <a:pt x="171450" y="114300"/>
                </a:lnTo>
                <a:lnTo>
                  <a:pt x="200025" y="114300"/>
                </a:lnTo>
                <a:lnTo>
                  <a:pt x="200025" y="57150"/>
                </a:lnTo>
                <a:close/>
              </a:path>
              <a:path w="1340484" h="171450">
                <a:moveTo>
                  <a:pt x="314325" y="57150"/>
                </a:moveTo>
                <a:lnTo>
                  <a:pt x="257175" y="57150"/>
                </a:lnTo>
                <a:lnTo>
                  <a:pt x="257175" y="114300"/>
                </a:lnTo>
                <a:lnTo>
                  <a:pt x="314325" y="114300"/>
                </a:lnTo>
                <a:lnTo>
                  <a:pt x="314325" y="57150"/>
                </a:lnTo>
                <a:close/>
              </a:path>
              <a:path w="1340484" h="171450">
                <a:moveTo>
                  <a:pt x="428625" y="57150"/>
                </a:moveTo>
                <a:lnTo>
                  <a:pt x="371475" y="57150"/>
                </a:lnTo>
                <a:lnTo>
                  <a:pt x="371475" y="114300"/>
                </a:lnTo>
                <a:lnTo>
                  <a:pt x="428625" y="114300"/>
                </a:lnTo>
                <a:lnTo>
                  <a:pt x="428625" y="57150"/>
                </a:lnTo>
                <a:close/>
              </a:path>
              <a:path w="1340484" h="171450">
                <a:moveTo>
                  <a:pt x="542925" y="57150"/>
                </a:moveTo>
                <a:lnTo>
                  <a:pt x="485775" y="57150"/>
                </a:lnTo>
                <a:lnTo>
                  <a:pt x="485775" y="114300"/>
                </a:lnTo>
                <a:lnTo>
                  <a:pt x="542925" y="114300"/>
                </a:lnTo>
                <a:lnTo>
                  <a:pt x="542925" y="57150"/>
                </a:lnTo>
                <a:close/>
              </a:path>
              <a:path w="1340484" h="171450">
                <a:moveTo>
                  <a:pt x="657225" y="57150"/>
                </a:moveTo>
                <a:lnTo>
                  <a:pt x="600075" y="57150"/>
                </a:lnTo>
                <a:lnTo>
                  <a:pt x="600075" y="114300"/>
                </a:lnTo>
                <a:lnTo>
                  <a:pt x="657225" y="114300"/>
                </a:lnTo>
                <a:lnTo>
                  <a:pt x="657225" y="57150"/>
                </a:lnTo>
                <a:close/>
              </a:path>
              <a:path w="1340484" h="171450">
                <a:moveTo>
                  <a:pt x="771525" y="57150"/>
                </a:moveTo>
                <a:lnTo>
                  <a:pt x="714375" y="57150"/>
                </a:lnTo>
                <a:lnTo>
                  <a:pt x="714375" y="114300"/>
                </a:lnTo>
                <a:lnTo>
                  <a:pt x="771525" y="114300"/>
                </a:lnTo>
                <a:lnTo>
                  <a:pt x="771525" y="57150"/>
                </a:lnTo>
                <a:close/>
              </a:path>
              <a:path w="1340484" h="171450">
                <a:moveTo>
                  <a:pt x="885825" y="57150"/>
                </a:moveTo>
                <a:lnTo>
                  <a:pt x="828675" y="57150"/>
                </a:lnTo>
                <a:lnTo>
                  <a:pt x="828675" y="114300"/>
                </a:lnTo>
                <a:lnTo>
                  <a:pt x="885825" y="114300"/>
                </a:lnTo>
                <a:lnTo>
                  <a:pt x="885825" y="57150"/>
                </a:lnTo>
                <a:close/>
              </a:path>
              <a:path w="1340484" h="171450">
                <a:moveTo>
                  <a:pt x="1000125" y="57150"/>
                </a:moveTo>
                <a:lnTo>
                  <a:pt x="942975" y="57150"/>
                </a:lnTo>
                <a:lnTo>
                  <a:pt x="942975" y="114300"/>
                </a:lnTo>
                <a:lnTo>
                  <a:pt x="1000125" y="114300"/>
                </a:lnTo>
                <a:lnTo>
                  <a:pt x="1000125" y="57150"/>
                </a:lnTo>
                <a:close/>
              </a:path>
              <a:path w="1340484" h="171450">
                <a:moveTo>
                  <a:pt x="1114425" y="57150"/>
                </a:moveTo>
                <a:lnTo>
                  <a:pt x="1057275" y="57150"/>
                </a:lnTo>
                <a:lnTo>
                  <a:pt x="1057275" y="114300"/>
                </a:lnTo>
                <a:lnTo>
                  <a:pt x="1114425" y="114300"/>
                </a:lnTo>
                <a:lnTo>
                  <a:pt x="1114425" y="57150"/>
                </a:lnTo>
                <a:close/>
              </a:path>
              <a:path w="1340484" h="171450">
                <a:moveTo>
                  <a:pt x="1168908" y="0"/>
                </a:moveTo>
                <a:lnTo>
                  <a:pt x="1168908" y="171450"/>
                </a:lnTo>
                <a:lnTo>
                  <a:pt x="1283208" y="114300"/>
                </a:lnTo>
                <a:lnTo>
                  <a:pt x="1171575" y="114300"/>
                </a:lnTo>
                <a:lnTo>
                  <a:pt x="1171575" y="57150"/>
                </a:lnTo>
                <a:lnTo>
                  <a:pt x="1283208" y="57150"/>
                </a:lnTo>
                <a:lnTo>
                  <a:pt x="1168908" y="0"/>
                </a:lnTo>
                <a:close/>
              </a:path>
              <a:path w="1340484" h="171450">
                <a:moveTo>
                  <a:pt x="1197483" y="57150"/>
                </a:moveTo>
                <a:lnTo>
                  <a:pt x="1171575" y="57150"/>
                </a:lnTo>
                <a:lnTo>
                  <a:pt x="1171575" y="114300"/>
                </a:lnTo>
                <a:lnTo>
                  <a:pt x="1197483" y="114300"/>
                </a:lnTo>
                <a:lnTo>
                  <a:pt x="1197483" y="57150"/>
                </a:lnTo>
                <a:close/>
              </a:path>
              <a:path w="1340484" h="171450">
                <a:moveTo>
                  <a:pt x="1283208" y="57150"/>
                </a:moveTo>
                <a:lnTo>
                  <a:pt x="1197483" y="57150"/>
                </a:lnTo>
                <a:lnTo>
                  <a:pt x="1197483" y="114300"/>
                </a:lnTo>
                <a:lnTo>
                  <a:pt x="1283208" y="114300"/>
                </a:lnTo>
                <a:lnTo>
                  <a:pt x="1340358" y="85725"/>
                </a:lnTo>
                <a:lnTo>
                  <a:pt x="1283208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88" name="object 25"/>
          <p:cNvSpPr txBox="1"/>
          <p:nvPr/>
        </p:nvSpPr>
        <p:spPr>
          <a:xfrm>
            <a:off x="3407410" y="6950075"/>
            <a:ext cx="3927475" cy="134112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67945" algn="ctr">
              <a:lnSpc>
                <a:spcPct val="100000"/>
              </a:lnSpc>
              <a:spcBef>
                <a:spcPts val="675"/>
              </a:spcBef>
            </a:pPr>
            <a:r>
              <a:rPr lang="en-US" sz="3600" spc="-10" dirty="0">
                <a:latin typeface="Microsoft JhengHei" panose="020B0604030504040204" charset="-120"/>
                <a:cs typeface="Microsoft JhengHei" panose="020B0604030504040204" charset="-120"/>
              </a:rPr>
              <a:t>“A running cat”</a:t>
            </a:r>
          </a:p>
          <a:p>
            <a:pPr marL="67945" algn="ctr">
              <a:lnSpc>
                <a:spcPct val="100000"/>
              </a:lnSpc>
              <a:spcBef>
                <a:spcPts val="675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(Condition)</a:t>
            </a:r>
            <a:endParaRPr sz="360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08" name="Picture 107"/>
          <p:cNvPicPr/>
          <p:nvPr/>
        </p:nvPicPr>
        <p:blipFill>
          <a:blip r:embed="rId6"/>
          <a:stretch>
            <a:fillRect/>
          </a:stretch>
        </p:blipFill>
        <p:spPr>
          <a:xfrm>
            <a:off x="9144000" y="51435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Picture 109"/>
          <p:cNvPicPr/>
          <p:nvPr/>
        </p:nvPicPr>
        <p:blipFill>
          <a:blip r:embed="rId7"/>
          <a:stretch>
            <a:fillRect/>
          </a:stretch>
        </p:blipFill>
        <p:spPr>
          <a:xfrm>
            <a:off x="9144000" y="51435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Picture 110"/>
          <p:cNvPicPr/>
          <p:nvPr/>
        </p:nvPicPr>
        <p:blipFill>
          <a:blip r:embed="rId7"/>
          <a:stretch>
            <a:fillRect/>
          </a:stretch>
        </p:blipFill>
        <p:spPr>
          <a:xfrm>
            <a:off x="8001000" y="6565265"/>
            <a:ext cx="1263015" cy="17265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Picture 111"/>
          <p:cNvPicPr/>
          <p:nvPr/>
        </p:nvPicPr>
        <p:blipFill>
          <a:blip r:embed="rId8"/>
          <a:stretch>
            <a:fillRect/>
          </a:stretch>
        </p:blipFill>
        <p:spPr>
          <a:xfrm>
            <a:off x="9144000" y="51435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Picture 113"/>
          <p:cNvPicPr/>
          <p:nvPr/>
        </p:nvPicPr>
        <p:blipFill>
          <a:blip r:embed="rId8"/>
          <a:stretch>
            <a:fillRect/>
          </a:stretch>
        </p:blipFill>
        <p:spPr>
          <a:xfrm>
            <a:off x="10227310" y="5358130"/>
            <a:ext cx="1240155" cy="12299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" name="Content Placeholder 116"/>
          <p:cNvPicPr>
            <a:picLocks noGrp="1" noChangeAspect="1"/>
          </p:cNvPicPr>
          <p:nvPr>
            <p:ph sz="half" idx="1"/>
          </p:nvPr>
        </p:nvPicPr>
        <p:blipFill>
          <a:blip r:embed="rId9"/>
          <a:stretch>
            <a:fillRect/>
          </a:stretch>
        </p:blipFill>
        <p:spPr>
          <a:xfrm>
            <a:off x="13366750" y="3327400"/>
            <a:ext cx="1455420" cy="11277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" name="Picture 117"/>
          <p:cNvPicPr/>
          <p:nvPr/>
        </p:nvPicPr>
        <p:blipFill>
          <a:blip r:embed="rId10"/>
          <a:stretch>
            <a:fillRect/>
          </a:stretch>
        </p:blipFill>
        <p:spPr>
          <a:xfrm>
            <a:off x="15662910" y="5143500"/>
            <a:ext cx="1531620" cy="11277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Content Placeholder 118"/>
          <p:cNvPicPr>
            <a:picLocks noGrp="1" noChangeAspect="1"/>
          </p:cNvPicPr>
          <p:nvPr>
            <p:ph sz="half" idx="2"/>
          </p:nvPr>
        </p:nvPicPr>
        <p:blipFill>
          <a:blip r:embed="rId11"/>
          <a:stretch>
            <a:fillRect/>
          </a:stretch>
        </p:blipFill>
        <p:spPr>
          <a:xfrm>
            <a:off x="13857605" y="7056755"/>
            <a:ext cx="1927860" cy="11277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0" name="Picture 119"/>
          <p:cNvPicPr/>
          <p:nvPr/>
        </p:nvPicPr>
        <p:blipFill>
          <a:blip r:embed="rId12"/>
          <a:stretch>
            <a:fillRect/>
          </a:stretch>
        </p:blipFill>
        <p:spPr>
          <a:xfrm>
            <a:off x="8056245" y="2509520"/>
            <a:ext cx="1327150" cy="14928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6E8AEE18-7934-45C2-9E6D-D5246BB495EB}"/>
</file>

<file path=customXml/itemProps2.xml><?xml version="1.0" encoding="utf-8"?>
<ds:datastoreItem xmlns:ds="http://schemas.openxmlformats.org/officeDocument/2006/customXml" ds:itemID="{FB247F1C-73B3-4736-A533-802D6C238ACC}"/>
</file>

<file path=customXml/itemProps3.xml><?xml version="1.0" encoding="utf-8"?>
<ds:datastoreItem xmlns:ds="http://schemas.openxmlformats.org/officeDocument/2006/customXml" ds:itemID="{C37FCAE0-A007-4B30-9881-1BCD322B76CC}"/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144</Words>
  <Application>Microsoft Macintosh PowerPoint</Application>
  <PresentationFormat>Custom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Microsoft JhengHei</vt:lpstr>
      <vt:lpstr>Arial</vt:lpstr>
      <vt:lpstr>Calibri</vt:lpstr>
      <vt:lpstr>Cambria Math</vt:lpstr>
      <vt:lpstr>Wingdings 2</vt:lpstr>
      <vt:lpstr>Breeze</vt:lpstr>
      <vt:lpstr>Diffusion Model</vt:lpstr>
      <vt:lpstr>Intuition</vt:lpstr>
      <vt:lpstr>VAE vs. Diffusion Model</vt:lpstr>
      <vt:lpstr>Denoising Diffusion Probabilistic Models</vt:lpstr>
      <vt:lpstr>Training</vt:lpstr>
      <vt:lpstr>PowerPoint Presentation</vt:lpstr>
      <vt:lpstr>PowerPoint Presentation</vt:lpstr>
      <vt:lpstr>Inference</vt:lpstr>
      <vt:lpstr>The goal of image generation</vt:lpstr>
      <vt:lpstr>The goal of image generation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31</cp:revision>
  <dcterms:created xsi:type="dcterms:W3CDTF">2019-02-13T16:04:00Z</dcterms:created>
  <dcterms:modified xsi:type="dcterms:W3CDTF">2024-04-04T03:30:54Z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6E5AD3EF72984884A28535EEF3B8E4DF</vt:lpwstr>
  </property>
  <property fmtid="{D5CDD505-2E9C-101B-9397-08002B2CF9AE}" pid="5" name="KSOProductBuildVer">
    <vt:lpwstr>1033-11.2.0.11225</vt:lpwstr>
  </property>
</Properties>
</file>