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sldIdLst>
    <p:sldId id="266" r:id="rId5"/>
    <p:sldId id="309" r:id="rId6"/>
    <p:sldId id="303" r:id="rId7"/>
    <p:sldId id="277" r:id="rId8"/>
    <p:sldId id="305" r:id="rId9"/>
    <p:sldId id="306" r:id="rId10"/>
    <p:sldId id="307" r:id="rId11"/>
    <p:sldId id="308" r:id="rId12"/>
  </p:sldIdLst>
  <p:sldSz cx="18288000" cy="10287000"/>
  <p:notesSz cx="6858000" cy="9144000"/>
  <p:custDataLst>
    <p:tags r:id="rId14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60FD00-208F-4A35-B1D7-DE29C8C158FF}" v="4" dt="2024-03-17T23:00:33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1960FD00-208F-4A35-B1D7-DE29C8C158FF}"/>
    <pc:docChg chg="undo custSel addSld delSld modSld">
      <pc:chgData name="Kaiang Wen" userId="a219f04c-ae7d-4ada-9001-a33e528312f1" providerId="ADAL" clId="{1960FD00-208F-4A35-B1D7-DE29C8C158FF}" dt="2024-03-17T23:01:27.708" v="20" actId="13822"/>
      <pc:docMkLst>
        <pc:docMk/>
      </pc:docMkLst>
      <pc:sldChg chg="modSp add mod">
        <pc:chgData name="Kaiang Wen" userId="a219f04c-ae7d-4ada-9001-a33e528312f1" providerId="ADAL" clId="{1960FD00-208F-4A35-B1D7-DE29C8C158FF}" dt="2024-03-17T22:59:42.652" v="1" actId="1076"/>
        <pc:sldMkLst>
          <pc:docMk/>
          <pc:sldMk cId="0" sldId="277"/>
        </pc:sldMkLst>
        <pc:spChg chg="mod">
          <ac:chgData name="Kaiang Wen" userId="a219f04c-ae7d-4ada-9001-a33e528312f1" providerId="ADAL" clId="{1960FD00-208F-4A35-B1D7-DE29C8C158FF}" dt="2024-03-17T22:59:42.652" v="1" actId="1076"/>
          <ac:spMkLst>
            <pc:docMk/>
            <pc:sldMk cId="0" sldId="277"/>
            <ac:spMk id="33" creationId="{808578DC-4815-F27F-E160-46F8C283EDF2}"/>
          </ac:spMkLst>
        </pc:spChg>
      </pc:sldChg>
      <pc:sldChg chg="del">
        <pc:chgData name="Kaiang Wen" userId="a219f04c-ae7d-4ada-9001-a33e528312f1" providerId="ADAL" clId="{1960FD00-208F-4A35-B1D7-DE29C8C158FF}" dt="2024-03-17T22:59:46.510" v="2" actId="47"/>
        <pc:sldMkLst>
          <pc:docMk/>
          <pc:sldMk cId="0" sldId="304"/>
        </pc:sldMkLst>
      </pc:sldChg>
      <pc:sldChg chg="modSp mod">
        <pc:chgData name="Kaiang Wen" userId="a219f04c-ae7d-4ada-9001-a33e528312f1" providerId="ADAL" clId="{1960FD00-208F-4A35-B1D7-DE29C8C158FF}" dt="2024-03-17T23:00:39.468" v="18" actId="1076"/>
        <pc:sldMkLst>
          <pc:docMk/>
          <pc:sldMk cId="0" sldId="306"/>
        </pc:sldMkLst>
        <pc:spChg chg="mod">
          <ac:chgData name="Kaiang Wen" userId="a219f04c-ae7d-4ada-9001-a33e528312f1" providerId="ADAL" clId="{1960FD00-208F-4A35-B1D7-DE29C8C158FF}" dt="2024-03-17T23:00:33.277" v="17" actId="14100"/>
          <ac:spMkLst>
            <pc:docMk/>
            <pc:sldMk cId="0" sldId="306"/>
            <ac:spMk id="24" creationId="{00000000-0000-0000-0000-000000000000}"/>
          </ac:spMkLst>
        </pc:spChg>
        <pc:grpChg chg="mod">
          <ac:chgData name="Kaiang Wen" userId="a219f04c-ae7d-4ada-9001-a33e528312f1" providerId="ADAL" clId="{1960FD00-208F-4A35-B1D7-DE29C8C158FF}" dt="2024-03-17T23:00:39.468" v="18" actId="1076"/>
          <ac:grpSpMkLst>
            <pc:docMk/>
            <pc:sldMk cId="0" sldId="306"/>
            <ac:grpSpMk id="10" creationId="{00000000-0000-0000-0000-000000000000}"/>
          </ac:grpSpMkLst>
        </pc:grpChg>
        <pc:graphicFrameChg chg="mod">
          <ac:chgData name="Kaiang Wen" userId="a219f04c-ae7d-4ada-9001-a33e528312f1" providerId="ADAL" clId="{1960FD00-208F-4A35-B1D7-DE29C8C158FF}" dt="2024-03-17T23:00:33.277" v="17" actId="14100"/>
          <ac:graphicFrameMkLst>
            <pc:docMk/>
            <pc:sldMk cId="0" sldId="306"/>
            <ac:graphicFrameMk id="20" creationId="{00000000-0000-0000-0000-000000000000}"/>
          </ac:graphicFrameMkLst>
        </pc:graphicFrameChg>
      </pc:sldChg>
      <pc:sldChg chg="modSp mod">
        <pc:chgData name="Kaiang Wen" userId="a219f04c-ae7d-4ada-9001-a33e528312f1" providerId="ADAL" clId="{1960FD00-208F-4A35-B1D7-DE29C8C158FF}" dt="2024-03-17T23:00:54.338" v="19" actId="1076"/>
        <pc:sldMkLst>
          <pc:docMk/>
          <pc:sldMk cId="0" sldId="307"/>
        </pc:sldMkLst>
        <pc:grpChg chg="mod">
          <ac:chgData name="Kaiang Wen" userId="a219f04c-ae7d-4ada-9001-a33e528312f1" providerId="ADAL" clId="{1960FD00-208F-4A35-B1D7-DE29C8C158FF}" dt="2024-03-17T23:00:54.338" v="19" actId="1076"/>
          <ac:grpSpMkLst>
            <pc:docMk/>
            <pc:sldMk cId="0" sldId="307"/>
            <ac:grpSpMk id="8" creationId="{00000000-0000-0000-0000-000000000000}"/>
          </ac:grpSpMkLst>
        </pc:grpChg>
      </pc:sldChg>
      <pc:sldChg chg="modSp mod">
        <pc:chgData name="Kaiang Wen" userId="a219f04c-ae7d-4ada-9001-a33e528312f1" providerId="ADAL" clId="{1960FD00-208F-4A35-B1D7-DE29C8C158FF}" dt="2024-03-17T23:01:27.708" v="20" actId="13822"/>
        <pc:sldMkLst>
          <pc:docMk/>
          <pc:sldMk cId="0" sldId="308"/>
        </pc:sldMkLst>
        <pc:spChg chg="mod">
          <ac:chgData name="Kaiang Wen" userId="a219f04c-ae7d-4ada-9001-a33e528312f1" providerId="ADAL" clId="{1960FD00-208F-4A35-B1D7-DE29C8C158FF}" dt="2024-03-17T23:01:27.708" v="20" actId="13822"/>
          <ac:spMkLst>
            <pc:docMk/>
            <pc:sldMk cId="0" sldId="30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818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785798-1D2B-4740-BC8C-66AA26152767}" type="slidenum">
              <a:rPr lang="zh-TW" altLang="en-US" smtClean="0"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8.wmf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7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9134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Early Stopping &amp; Regularization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015067" y="460556"/>
            <a:ext cx="7750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647247" y="2276250"/>
            <a:ext cx="4165368" cy="86827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Early Stopping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55" y="2346858"/>
            <a:ext cx="8736288" cy="567319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944274" y="7906197"/>
            <a:ext cx="6419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Epochs</a:t>
            </a:r>
            <a:endParaRPr lang="zh-TW" altLang="en-US" sz="36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2914650" y="2765169"/>
            <a:ext cx="2611299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Total</a:t>
            </a:r>
          </a:p>
          <a:p>
            <a:pPr algn="ctr"/>
            <a:r>
              <a:rPr lang="en-US" altLang="zh-TW" sz="3600" dirty="0"/>
              <a:t>Loss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11828601" y="6762459"/>
            <a:ext cx="29160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Training set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823321" y="4568348"/>
            <a:ext cx="29160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Testing set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9" name="向下箭號 8"/>
          <p:cNvSpPr/>
          <p:nvPr/>
        </p:nvSpPr>
        <p:spPr>
          <a:xfrm>
            <a:off x="9573299" y="5183454"/>
            <a:ext cx="239574" cy="2550846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文字方塊 9"/>
          <p:cNvSpPr txBox="1"/>
          <p:nvPr/>
        </p:nvSpPr>
        <p:spPr>
          <a:xfrm>
            <a:off x="8765976" y="3851010"/>
            <a:ext cx="1854218" cy="11988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Stop at here</a:t>
            </a:r>
            <a:endParaRPr lang="zh-TW" altLang="en-US" sz="36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1714235" y="3989705"/>
            <a:ext cx="291609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Validation set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11823321" y="4682202"/>
            <a:ext cx="2275802" cy="5012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13">
            <a:extLst>
              <a:ext uri="{FF2B5EF4-FFF2-40B4-BE49-F238E27FC236}">
                <a16:creationId xmlns:a16="http://schemas.microsoft.com/office/drawing/2014/main" id="{52B59C0E-0D6E-5441-E4ED-478931B93433}"/>
              </a:ext>
            </a:extLst>
          </p:cNvPr>
          <p:cNvGrpSpPr/>
          <p:nvPr/>
        </p:nvGrpSpPr>
        <p:grpSpPr>
          <a:xfrm>
            <a:off x="4772682" y="9078557"/>
            <a:ext cx="8736288" cy="646331"/>
            <a:chOff x="732194" y="6112116"/>
            <a:chExt cx="8125048" cy="64633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9BB3AA6-E97E-51CF-4B57-A3EECE2158D9}"/>
                </a:ext>
              </a:extLst>
            </p:cNvPr>
            <p:cNvSpPr/>
            <p:nvPr/>
          </p:nvSpPr>
          <p:spPr>
            <a:xfrm>
              <a:off x="1694182" y="6112116"/>
              <a:ext cx="716306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dirty="0"/>
                <a:t>http://keras.io/getting-started/faq/#how-can-i-interrupt-training-when-the-validation-loss-isnt-decreasing-anymore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CD97BD9-F4C7-769D-AAD8-2259810A55D0}"/>
                </a:ext>
              </a:extLst>
            </p:cNvPr>
            <p:cNvSpPr/>
            <p:nvPr/>
          </p:nvSpPr>
          <p:spPr>
            <a:xfrm>
              <a:off x="732194" y="6155404"/>
              <a:ext cx="105839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TW" sz="2800" dirty="0" err="1"/>
                <a:t>Keras</a:t>
              </a:r>
              <a:r>
                <a:rPr lang="en-US" altLang="zh-TW" sz="2800" dirty="0"/>
                <a:t>:</a:t>
              </a:r>
              <a:endParaRPr lang="zh-TW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1281751" y="2442432"/>
            <a:ext cx="3804755" cy="1993013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Testing Data?</a:t>
            </a:r>
            <a:endParaRPr lang="zh-TW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11295731" y="5751270"/>
            <a:ext cx="3790775" cy="1921647"/>
          </a:xfrm>
          <a:prstGeom prst="rect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Good Results on Training Data?</a:t>
            </a:r>
            <a:endParaRPr lang="zh-TW" altLang="en-US" sz="3600" dirty="0"/>
          </a:p>
        </p:txBody>
      </p:sp>
      <p:sp>
        <p:nvSpPr>
          <p:cNvPr id="20" name="向下箭號 19"/>
          <p:cNvSpPr/>
          <p:nvPr/>
        </p:nvSpPr>
        <p:spPr>
          <a:xfrm rot="10800000">
            <a:off x="12767705" y="1380420"/>
            <a:ext cx="818865" cy="106201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1" name="向下箭號 20"/>
          <p:cNvSpPr/>
          <p:nvPr/>
        </p:nvSpPr>
        <p:spPr>
          <a:xfrm rot="10800000">
            <a:off x="12781685" y="4488201"/>
            <a:ext cx="818865" cy="1189952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1067" y="220569"/>
            <a:ext cx="1092140" cy="1029893"/>
          </a:xfrm>
          <a:prstGeom prst="rect">
            <a:avLst/>
          </a:prstGeom>
        </p:spPr>
      </p:pic>
      <p:sp>
        <p:nvSpPr>
          <p:cNvPr id="25" name="右彎箭號 24"/>
          <p:cNvSpPr/>
          <p:nvPr/>
        </p:nvSpPr>
        <p:spPr>
          <a:xfrm rot="16200000" flipV="1">
            <a:off x="12016112" y="7721123"/>
            <a:ext cx="1575099" cy="1478687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>
              <a:solidFill>
                <a:schemeClr val="tx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3586569" y="4862661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3586569" y="1553823"/>
            <a:ext cx="11548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YES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082365" y="5603748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文字方塊 22"/>
          <p:cNvSpPr txBox="1"/>
          <p:nvPr/>
        </p:nvSpPr>
        <p:spPr>
          <a:xfrm>
            <a:off x="2099733" y="460556"/>
            <a:ext cx="7665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i="1" u="sng" dirty="0"/>
              <a:t>Recipe of Deep Learning</a:t>
            </a:r>
            <a:endParaRPr lang="zh-TW" altLang="en-US" sz="4800" b="1" i="1" u="sng" dirty="0"/>
          </a:p>
        </p:txBody>
      </p:sp>
      <p:sp>
        <p:nvSpPr>
          <p:cNvPr id="32" name="矩形 31"/>
          <p:cNvSpPr/>
          <p:nvPr/>
        </p:nvSpPr>
        <p:spPr>
          <a:xfrm>
            <a:off x="11082365" y="2351124"/>
            <a:ext cx="4244721" cy="221669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向右箭號 10"/>
          <p:cNvSpPr/>
          <p:nvPr/>
        </p:nvSpPr>
        <p:spPr>
          <a:xfrm flipH="1">
            <a:off x="9930366" y="6443144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向右箭號 10"/>
          <p:cNvSpPr/>
          <p:nvPr/>
        </p:nvSpPr>
        <p:spPr>
          <a:xfrm flipH="1">
            <a:off x="9912308" y="2937995"/>
            <a:ext cx="1365365" cy="1125621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678EE8-2A60-AFF4-1396-4FA720F4B1D6}"/>
              </a:ext>
            </a:extLst>
          </p:cNvPr>
          <p:cNvGrpSpPr/>
          <p:nvPr/>
        </p:nvGrpSpPr>
        <p:grpSpPr>
          <a:xfrm>
            <a:off x="5520296" y="2198983"/>
            <a:ext cx="4359349" cy="2944517"/>
            <a:chOff x="3423684" y="2775098"/>
            <a:chExt cx="4359349" cy="313660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795C05B-CBA3-4BE0-8A95-7EB28FC98D0A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1F8FECD-318E-942F-AE28-1993ADF8AE31}"/>
                </a:ext>
              </a:extLst>
            </p:cNvPr>
            <p:cNvSpPr/>
            <p:nvPr/>
          </p:nvSpPr>
          <p:spPr>
            <a:xfrm>
              <a:off x="3753293" y="293799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Early Stopping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18B1553-7041-8332-262E-6879DF92CC73}"/>
                </a:ext>
              </a:extLst>
            </p:cNvPr>
            <p:cNvSpPr/>
            <p:nvPr/>
          </p:nvSpPr>
          <p:spPr>
            <a:xfrm>
              <a:off x="3753293" y="3999384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Regularization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19C2211-08D8-6D31-BC78-A02795AECA1D}"/>
                </a:ext>
              </a:extLst>
            </p:cNvPr>
            <p:cNvSpPr/>
            <p:nvPr/>
          </p:nvSpPr>
          <p:spPr>
            <a:xfrm>
              <a:off x="3753293" y="5031665"/>
              <a:ext cx="3700130" cy="71960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Dropout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2FAADB2-F936-0BD8-4F6D-976F2A335B0A}"/>
              </a:ext>
            </a:extLst>
          </p:cNvPr>
          <p:cNvGrpSpPr/>
          <p:nvPr/>
        </p:nvGrpSpPr>
        <p:grpSpPr>
          <a:xfrm>
            <a:off x="5520296" y="5603748"/>
            <a:ext cx="4359349" cy="2944517"/>
            <a:chOff x="3423684" y="2775098"/>
            <a:chExt cx="4359349" cy="3136604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756ED22-5B04-27B7-27A4-6322FD4FBB21}"/>
                </a:ext>
              </a:extLst>
            </p:cNvPr>
            <p:cNvSpPr/>
            <p:nvPr/>
          </p:nvSpPr>
          <p:spPr>
            <a:xfrm>
              <a:off x="3423684" y="2775098"/>
              <a:ext cx="4359349" cy="31366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E16C72EC-8C30-4D5B-EB58-F95BB8937290}"/>
                </a:ext>
              </a:extLst>
            </p:cNvPr>
            <p:cNvSpPr/>
            <p:nvPr/>
          </p:nvSpPr>
          <p:spPr>
            <a:xfrm>
              <a:off x="3753293" y="2994627"/>
              <a:ext cx="3700130" cy="12184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New Activation Function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ABEB5B9-BF66-F4B9-E5E5-14CDB1D35A86}"/>
                </a:ext>
              </a:extLst>
            </p:cNvPr>
            <p:cNvSpPr/>
            <p:nvPr/>
          </p:nvSpPr>
          <p:spPr>
            <a:xfrm>
              <a:off x="3753293" y="4590114"/>
              <a:ext cx="3700130" cy="1104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Adaptive </a:t>
              </a:r>
            </a:p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Learning Rate</a:t>
              </a:r>
              <a:endParaRPr lang="zh-CN" altLang="en-US" sz="3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808578DC-4815-F27F-E160-46F8C283EDF2}"/>
              </a:ext>
            </a:extLst>
          </p:cNvPr>
          <p:cNvSpPr/>
          <p:nvPr/>
        </p:nvSpPr>
        <p:spPr>
          <a:xfrm>
            <a:off x="5599990" y="3252074"/>
            <a:ext cx="4165368" cy="868271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loss function to be minimized</a:t>
            </a:r>
          </a:p>
          <a:p>
            <a:pPr lvl="1"/>
            <a:r>
              <a:rPr lang="en-US" altLang="zh-TW" sz="4200" dirty="0">
                <a:solidFill>
                  <a:srgbClr val="0000FF"/>
                </a:solidFill>
              </a:rPr>
              <a:t>Find a set of weight not only minimizing original cost but also close to zero</a:t>
            </a:r>
            <a:endParaRPr lang="zh-TW" altLang="en-US" sz="4200" dirty="0">
              <a:solidFill>
                <a:srgbClr val="0000FF"/>
              </a:solidFill>
            </a:endParaRPr>
          </a:p>
          <a:p>
            <a:endParaRPr lang="zh-TW" altLang="en-US" dirty="0"/>
          </a:p>
        </p:txBody>
      </p:sp>
      <p:graphicFrame>
        <p:nvGraphicFramePr>
          <p:cNvPr id="4" name="Object 12"/>
          <p:cNvGraphicFramePr>
            <a:graphicFrameLocks noChangeAspect="1"/>
          </p:cNvGraphicFramePr>
          <p:nvPr/>
        </p:nvGraphicFramePr>
        <p:xfrm>
          <a:off x="3228975" y="4818857"/>
          <a:ext cx="5672138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2613600" imgH="9448800" progId="Equation.3">
                  <p:embed/>
                </p:oleObj>
              </mc:Choice>
              <mc:Fallback>
                <p:oleObj name="方程式" r:id="rId3" imgW="32613600" imgH="9448800" progId="Equation.3">
                  <p:embed/>
                  <p:pic>
                    <p:nvPicPr>
                      <p:cNvPr id="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8975" y="4818857"/>
                        <a:ext cx="5672138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438402" y="7507208"/>
            <a:ext cx="61707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Original loss</a:t>
            </a:r>
          </a:p>
          <a:p>
            <a:r>
              <a:rPr lang="en-US" altLang="zh-TW" sz="4200" dirty="0"/>
              <a:t>(e.g. minimize square error, cross entropy …)</a:t>
            </a:r>
            <a:endParaRPr lang="zh-TW" altLang="en-US" sz="4200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5851163" y="5999037"/>
            <a:ext cx="0" cy="150780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8762864" y="6429270"/>
          <a:ext cx="3869532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2250400" imgH="5181600" progId="Equation.3">
                  <p:embed/>
                </p:oleObj>
              </mc:Choice>
              <mc:Fallback>
                <p:oleObj name="方程式" r:id="rId5" imgW="22250400" imgH="5181600" progId="Equation.3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2864" y="6429270"/>
                        <a:ext cx="3869532" cy="890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7837873" y="9024454"/>
            <a:ext cx="6572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(usually not consider biases)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40608"/>
              </p:ext>
            </p:extLst>
          </p:nvPr>
        </p:nvGraphicFramePr>
        <p:xfrm>
          <a:off x="9360051" y="8000342"/>
          <a:ext cx="604599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4747200" imgH="6400800" progId="Equation.3">
                  <p:embed/>
                </p:oleObj>
              </mc:Choice>
              <mc:Fallback>
                <p:oleObj name="方程式" r:id="rId7" imgW="34747200" imgH="6400800" progId="Equation.3">
                  <p:embed/>
                  <p:pic>
                    <p:nvPicPr>
                      <p:cNvPr id="1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51" y="8000342"/>
                        <a:ext cx="6045995" cy="1104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9718980" y="5245850"/>
            <a:ext cx="532813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Regularization term</a:t>
            </a:r>
            <a:endParaRPr lang="zh-TW" altLang="en-US" sz="4200" dirty="0"/>
          </a:p>
        </p:txBody>
      </p:sp>
      <p:cxnSp>
        <p:nvCxnSpPr>
          <p:cNvPr id="17" name="直線接點 16"/>
          <p:cNvCxnSpPr/>
          <p:nvPr/>
        </p:nvCxnSpPr>
        <p:spPr>
          <a:xfrm>
            <a:off x="5097083" y="5998400"/>
            <a:ext cx="137753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7911684" y="6085170"/>
            <a:ext cx="832019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9060315" y="5612006"/>
            <a:ext cx="589218" cy="172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8743703" y="7421060"/>
            <a:ext cx="56665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00FF"/>
                </a:solidFill>
              </a:rPr>
              <a:t>L2 regularization: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loss function to be minimized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8813429" y="4201859"/>
            <a:ext cx="24660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Gradient:</a:t>
            </a:r>
            <a:endParaRPr lang="zh-TW" altLang="en-US" sz="4200" dirty="0"/>
          </a:p>
        </p:txBody>
      </p:sp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11289507" y="3800475"/>
          <a:ext cx="3921918" cy="1626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2555200" imgH="9448800" progId="Equation.3">
                  <p:embed/>
                </p:oleObj>
              </mc:Choice>
              <mc:Fallback>
                <p:oleObj name="方程式" r:id="rId3" imgW="22555200" imgH="9448800" progId="Equation.3">
                  <p:embed/>
                  <p:pic>
                    <p:nvPicPr>
                      <p:cNvPr id="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9507" y="3800475"/>
                        <a:ext cx="3921918" cy="16263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2903784" y="6154773"/>
            <a:ext cx="24660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Update:</a:t>
            </a:r>
            <a:endParaRPr lang="zh-TW" altLang="en-US" sz="4200" dirty="0"/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5205413" y="5800725"/>
          <a:ext cx="466725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6822400" imgH="9448800" progId="Equation.3">
                  <p:embed/>
                </p:oleObj>
              </mc:Choice>
              <mc:Fallback>
                <p:oleObj name="方程式" r:id="rId5" imgW="26822400" imgH="94488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5413" y="5800725"/>
                        <a:ext cx="466725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10027574" y="5737967"/>
          <a:ext cx="5250656" cy="178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0175200" imgH="10363200" progId="Equation.3">
                  <p:embed/>
                </p:oleObj>
              </mc:Choice>
              <mc:Fallback>
                <p:oleObj name="方程式" r:id="rId7" imgW="30175200" imgH="10363200" progId="Equation.3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7574" y="5737967"/>
                        <a:ext cx="5250656" cy="1785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6322220" y="7234238"/>
          <a:ext cx="4983956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28651200" imgH="9448800" progId="Equation.3">
                  <p:embed/>
                </p:oleObj>
              </mc:Choice>
              <mc:Fallback>
                <p:oleObj name="方程式" r:id="rId9" imgW="28651200" imgH="9448800" progId="Equation.3">
                  <p:embed/>
                  <p:pic>
                    <p:nvPicPr>
                      <p:cNvPr id="2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2220" y="7234238"/>
                        <a:ext cx="4983956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線單箭頭接點 28"/>
          <p:cNvCxnSpPr/>
          <p:nvPr/>
        </p:nvCxnSpPr>
        <p:spPr>
          <a:xfrm flipH="1">
            <a:off x="8112855" y="8459337"/>
            <a:ext cx="6378" cy="6253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6907463" y="8459337"/>
            <a:ext cx="2410785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>
            <a:off x="10300055" y="8791907"/>
            <a:ext cx="103154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5800685" y="9020175"/>
            <a:ext cx="46243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Closer to zero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2995613" y="3812382"/>
          <a:ext cx="5672138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32613600" imgH="9448800" progId="Equation.3">
                  <p:embed/>
                </p:oleObj>
              </mc:Choice>
              <mc:Fallback>
                <p:oleObj name="方程式" r:id="rId11" imgW="32613600" imgH="9448800" progId="Equation.3">
                  <p:embed/>
                  <p:pic>
                    <p:nvPicPr>
                      <p:cNvPr id="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3812382"/>
                        <a:ext cx="5672138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786687" y="7609844"/>
            <a:ext cx="3492500" cy="73723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TW" sz="4200" dirty="0"/>
              <a:t>Weight Decay</a:t>
            </a:r>
            <a:endParaRPr lang="zh-TW" altLang="en-US" sz="4200" dirty="0"/>
          </a:p>
        </p:txBody>
      </p:sp>
      <p:grpSp>
        <p:nvGrpSpPr>
          <p:cNvPr id="10" name="群組 5"/>
          <p:cNvGrpSpPr/>
          <p:nvPr/>
        </p:nvGrpSpPr>
        <p:grpSpPr>
          <a:xfrm>
            <a:off x="12044713" y="1677317"/>
            <a:ext cx="5250656" cy="1531531"/>
            <a:chOff x="4305135" y="4947373"/>
            <a:chExt cx="4039600" cy="986853"/>
          </a:xfrm>
        </p:grpSpPr>
        <p:graphicFrame>
          <p:nvGraphicFramePr>
            <p:cNvPr id="2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6740878"/>
                </p:ext>
              </p:extLst>
            </p:nvPr>
          </p:nvGraphicFramePr>
          <p:xfrm>
            <a:off x="4314650" y="5307984"/>
            <a:ext cx="4030085" cy="626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34747200" imgH="6400800" progId="Equation.3">
                    <p:embed/>
                  </p:oleObj>
                </mc:Choice>
                <mc:Fallback>
                  <p:oleObj name="方程式" r:id="rId13" imgW="34747200" imgH="6400800" progId="Equation.3">
                    <p:embed/>
                    <p:pic>
                      <p:nvPicPr>
                        <p:cNvPr id="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4650" y="5307984"/>
                          <a:ext cx="4030085" cy="62624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字方塊 23"/>
            <p:cNvSpPr txBox="1"/>
            <p:nvPr/>
          </p:nvSpPr>
          <p:spPr>
            <a:xfrm>
              <a:off x="4305135" y="4947373"/>
              <a:ext cx="3777730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rgbClr val="0000FF"/>
                  </a:solidFill>
                </a:rPr>
                <a:t>L2 regularization:</a:t>
              </a:r>
              <a:endParaRPr lang="zh-TW" altLang="en-US" sz="36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New loss function to be minimized</a:t>
            </a:r>
          </a:p>
        </p:txBody>
      </p:sp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9437442" y="3603356"/>
          <a:ext cx="5355432" cy="1626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30784800" imgH="9448800" progId="Equation.3">
                  <p:embed/>
                </p:oleObj>
              </mc:Choice>
              <mc:Fallback>
                <p:oleObj name="方程式" r:id="rId3" imgW="30784800" imgH="9448800" progId="Equation.3">
                  <p:embed/>
                  <p:pic>
                    <p:nvPicPr>
                      <p:cNvPr id="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37442" y="3603356"/>
                        <a:ext cx="5355432" cy="16263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2927104" y="5007903"/>
            <a:ext cx="246601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Update:</a:t>
            </a:r>
            <a:endParaRPr lang="zh-TW" altLang="en-US" sz="4200" dirty="0"/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4122009" y="5480135"/>
          <a:ext cx="466725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26822400" imgH="9448800" progId="Equation.3">
                  <p:embed/>
                </p:oleObj>
              </mc:Choice>
              <mc:Fallback>
                <p:oleObj name="方程式" r:id="rId5" imgW="26822400" imgH="9448800" progId="Equation.3">
                  <p:embed/>
                  <p:pic>
                    <p:nvPicPr>
                      <p:cNvPr id="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009" y="5480135"/>
                        <a:ext cx="466725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8872602" y="5454714"/>
          <a:ext cx="6577013" cy="178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7795200" imgH="10363200" progId="Equation.3">
                  <p:embed/>
                </p:oleObj>
              </mc:Choice>
              <mc:Fallback>
                <p:oleObj name="方程式" r:id="rId7" imgW="37795200" imgH="10363200" progId="Equation.3">
                  <p:embed/>
                  <p:pic>
                    <p:nvPicPr>
                      <p:cNvPr id="2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2602" y="5454714"/>
                        <a:ext cx="6577013" cy="1785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4045698" y="6888621"/>
          <a:ext cx="636270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36576000" imgH="9448800" progId="Equation.3">
                  <p:embed/>
                </p:oleObj>
              </mc:Choice>
              <mc:Fallback>
                <p:oleObj name="方程式" r:id="rId9" imgW="36576000" imgH="9448800" progId="Equation.3">
                  <p:embed/>
                  <p:pic>
                    <p:nvPicPr>
                      <p:cNvPr id="2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698" y="6888621"/>
                        <a:ext cx="636270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線接點 29"/>
          <p:cNvCxnSpPr/>
          <p:nvPr/>
        </p:nvCxnSpPr>
        <p:spPr>
          <a:xfrm>
            <a:off x="7610573" y="8066207"/>
            <a:ext cx="2797826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10459425" y="7354640"/>
            <a:ext cx="43334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0000FF"/>
                </a:solidFill>
              </a:rPr>
              <a:t>Always delete</a:t>
            </a:r>
            <a:endParaRPr lang="zh-TW" altLang="en-US" sz="4200" dirty="0">
              <a:solidFill>
                <a:srgbClr val="0000FF"/>
              </a:solidFill>
            </a:endParaRP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2999250" y="3637800"/>
          <a:ext cx="5617370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32308800" imgH="9448800" progId="Equation.3">
                  <p:embed/>
                </p:oleObj>
              </mc:Choice>
              <mc:Fallback>
                <p:oleObj name="方程式" r:id="rId11" imgW="32308800" imgH="9448800" progId="Equation.3">
                  <p:embed/>
                  <p:pic>
                    <p:nvPicPr>
                      <p:cNvPr id="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250" y="3637800"/>
                        <a:ext cx="5617370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群組 5"/>
          <p:cNvGrpSpPr/>
          <p:nvPr/>
        </p:nvGrpSpPr>
        <p:grpSpPr>
          <a:xfrm>
            <a:off x="12277189" y="1548695"/>
            <a:ext cx="5666595" cy="1697534"/>
            <a:chOff x="4305135" y="4947373"/>
            <a:chExt cx="3777730" cy="1131689"/>
          </a:xfrm>
        </p:grpSpPr>
        <p:graphicFrame>
          <p:nvGraphicFramePr>
            <p:cNvPr id="20" name="Object 12"/>
            <p:cNvGraphicFramePr>
              <a:graphicFrameLocks noChangeAspect="1"/>
            </p:cNvGraphicFramePr>
            <p:nvPr/>
          </p:nvGraphicFramePr>
          <p:xfrm>
            <a:off x="4649574" y="5377387"/>
            <a:ext cx="3357563" cy="701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13" imgW="28956000" imgH="6096000" progId="Equation.3">
                    <p:embed/>
                  </p:oleObj>
                </mc:Choice>
                <mc:Fallback>
                  <p:oleObj name="方程式" r:id="rId13" imgW="28956000" imgH="6096000" progId="Equation.3">
                    <p:embed/>
                    <p:pic>
                      <p:nvPicPr>
                        <p:cNvPr id="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574" y="5377387"/>
                          <a:ext cx="3357563" cy="7016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文字方塊 23"/>
            <p:cNvSpPr txBox="1"/>
            <p:nvPr/>
          </p:nvSpPr>
          <p:spPr>
            <a:xfrm>
              <a:off x="4305135" y="4947373"/>
              <a:ext cx="3777730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>
                  <a:solidFill>
                    <a:srgbClr val="0000FF"/>
                  </a:solidFill>
                </a:rPr>
                <a:t>L1 regularization:</a:t>
              </a:r>
              <a:endParaRPr lang="zh-TW" altLang="en-US" sz="3600" dirty="0">
                <a:solidFill>
                  <a:srgbClr val="0000FF"/>
                </a:solidFill>
              </a:endParaRPr>
            </a:p>
          </p:txBody>
        </p:sp>
      </p:grpSp>
      <p:graphicFrame>
        <p:nvGraphicFramePr>
          <p:cNvPr id="23" name="Object 12"/>
          <p:cNvGraphicFramePr>
            <a:graphicFrameLocks noChangeAspect="1"/>
          </p:cNvGraphicFramePr>
          <p:nvPr/>
        </p:nvGraphicFramePr>
        <p:xfrm>
          <a:off x="4045698" y="8269221"/>
          <a:ext cx="4983956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28651200" imgH="9448800" progId="Equation.3">
                  <p:embed/>
                </p:oleObj>
              </mc:Choice>
              <mc:Fallback>
                <p:oleObj name="方程式" r:id="rId15" imgW="28651200" imgH="9448800" progId="Equation.3">
                  <p:embed/>
                  <p:pic>
                    <p:nvPicPr>
                      <p:cNvPr id="2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5698" y="8269221"/>
                        <a:ext cx="4983956" cy="1628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字方塊 7"/>
          <p:cNvSpPr txBox="1"/>
          <p:nvPr/>
        </p:nvSpPr>
        <p:spPr>
          <a:xfrm>
            <a:off x="9226866" y="8572611"/>
            <a:ext cx="249323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>
                <a:solidFill>
                  <a:srgbClr val="FF0000"/>
                </a:solidFill>
              </a:rPr>
              <a:t>…… L2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Regularization - Weight Decay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Our brain prunes out the useless link between neurons.</a:t>
            </a:r>
            <a:endParaRPr lang="zh-TW" altLang="en-US" dirty="0"/>
          </a:p>
        </p:txBody>
      </p:sp>
      <p:pic>
        <p:nvPicPr>
          <p:cNvPr id="46082" name="Picture 2" descr="http://www.3kirikou.org/manager/upload/day_140203/20140203230837519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447" y="3057584"/>
            <a:ext cx="5975047" cy="534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994456" y="6361084"/>
            <a:ext cx="16084551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4200" dirty="0"/>
              <a:t>Doing the same thing to machine’s brain improves the performance.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/>
</ds:datastoreItem>
</file>

<file path=customXml/itemProps2.xml><?xml version="1.0" encoding="utf-8"?>
<ds:datastoreItem xmlns:ds="http://schemas.openxmlformats.org/officeDocument/2006/customXml" ds:itemID="{9636FAAA-BCD0-4737-B7BF-714C4CFDEB51}">
  <ds:schemaRefs/>
</ds:datastoreItem>
</file>

<file path=customXml/itemProps3.xml><?xml version="1.0" encoding="utf-8"?>
<ds:datastoreItem xmlns:ds="http://schemas.openxmlformats.org/officeDocument/2006/customXml" ds:itemID="{3C6A4EEA-2556-441D-B20B-0657893061D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232</Words>
  <Application>Microsoft Macintosh PowerPoint</Application>
  <PresentationFormat>Custom</PresentationFormat>
  <Paragraphs>64</Paragraphs>
  <Slides>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等线</vt:lpstr>
      <vt:lpstr>Arial</vt:lpstr>
      <vt:lpstr>Wingdings 2</vt:lpstr>
      <vt:lpstr>Breeze</vt:lpstr>
      <vt:lpstr>方程式</vt:lpstr>
      <vt:lpstr> Early Stopping &amp; Regularization</vt:lpstr>
      <vt:lpstr>PowerPoint Presentation</vt:lpstr>
      <vt:lpstr>Early Stopping</vt:lpstr>
      <vt:lpstr>PowerPoint Presentation</vt:lpstr>
      <vt:lpstr>Regularization</vt:lpstr>
      <vt:lpstr>Regularization</vt:lpstr>
      <vt:lpstr>Regularization</vt:lpstr>
      <vt:lpstr>Regularization - Weight Decay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30</cp:revision>
  <dcterms:created xsi:type="dcterms:W3CDTF">2019-02-13T16:04:00Z</dcterms:created>
  <dcterms:modified xsi:type="dcterms:W3CDTF">2024-04-02T04:11:29Z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