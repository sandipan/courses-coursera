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3"/>
  </p:notesMasterIdLst>
  <p:sldIdLst>
    <p:sldId id="259" r:id="rId5"/>
    <p:sldId id="338" r:id="rId6"/>
    <p:sldId id="329" r:id="rId7"/>
    <p:sldId id="342" r:id="rId8"/>
    <p:sldId id="552" r:id="rId9"/>
    <p:sldId id="266" r:id="rId10"/>
    <p:sldId id="596" r:id="rId11"/>
    <p:sldId id="597" r:id="rId12"/>
    <p:sldId id="598" r:id="rId13"/>
    <p:sldId id="556" r:id="rId14"/>
    <p:sldId id="555" r:id="rId15"/>
    <p:sldId id="572" r:id="rId16"/>
    <p:sldId id="586" r:id="rId17"/>
    <p:sldId id="343" r:id="rId18"/>
    <p:sldId id="588" r:id="rId19"/>
    <p:sldId id="589" r:id="rId20"/>
    <p:sldId id="336" r:id="rId21"/>
    <p:sldId id="591" r:id="rId22"/>
  </p:sldIdLst>
  <p:sldSz cx="18288000" cy="10287000"/>
  <p:notesSz cx="6858000" cy="9144000"/>
  <p:custDataLst>
    <p:tags r:id="rId24"/>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D01033-F312-4CDF-B82F-2DB3E9196CEE}"/>
              </a:ext>
            </a:extLst>
          </p:cNvPr>
          <p:cNvSpPr>
            <a:spLocks noGrp="1"/>
          </p:cNvSpPr>
          <p:nvPr>
            <p:ph type="dt" sz="half" idx="10"/>
          </p:nvPr>
        </p:nvSpPr>
        <p:spPr/>
        <p:txBody>
          <a:bodyPr/>
          <a:lstStyle/>
          <a:p>
            <a:fld id="{FE0E820A-7C75-44B9-BAE6-FF75FBC4F82A}" type="datetimeFigureOut">
              <a:rPr lang="en-US" smtClean="0"/>
              <a:t>5/24/2024</a:t>
            </a:fld>
            <a:endParaRPr lang="en-US"/>
          </a:p>
        </p:txBody>
      </p:sp>
      <p:sp>
        <p:nvSpPr>
          <p:cNvPr id="3" name="Footer Placeholder 2">
            <a:extLst>
              <a:ext uri="{FF2B5EF4-FFF2-40B4-BE49-F238E27FC236}">
                <a16:creationId xmlns:a16="http://schemas.microsoft.com/office/drawing/2014/main" id="{5B6D63F8-ABAC-40F7-9D92-A968515A1B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8CD6C1-9CDB-4864-8B8F-8CC3AF6681F5}"/>
              </a:ext>
            </a:extLst>
          </p:cNvPr>
          <p:cNvSpPr>
            <a:spLocks noGrp="1"/>
          </p:cNvSpPr>
          <p:nvPr>
            <p:ph type="sldNum" sz="quarter" idx="12"/>
          </p:nvPr>
        </p:nvSpPr>
        <p:spPr/>
        <p:txBody>
          <a:bodyPr/>
          <a:lstStyle/>
          <a:p>
            <a:fld id="{A42F40BB-B3CD-412E-B4F6-B73B939CBD3D}" type="slidenum">
              <a:rPr lang="en-US" smtClean="0"/>
              <a:t>‹#›</a:t>
            </a:fld>
            <a:endParaRPr lang="en-US"/>
          </a:p>
        </p:txBody>
      </p:sp>
    </p:spTree>
    <p:extLst>
      <p:ext uri="{BB962C8B-B14F-4D97-AF65-F5344CB8AC3E}">
        <p14:creationId xmlns:p14="http://schemas.microsoft.com/office/powerpoint/2010/main" val="2429902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888B6D7-9D3F-49D7-BACE-73A9D1149A74}"/>
              </a:ext>
            </a:extLst>
          </p:cNvPr>
          <p:cNvSpPr>
            <a:spLocks noGrp="1"/>
          </p:cNvSpPr>
          <p:nvPr>
            <p:ph type="dt" sz="half" idx="10"/>
          </p:nvPr>
        </p:nvSpPr>
        <p:spPr/>
        <p:txBody>
          <a:bodyPr/>
          <a:lstStyle/>
          <a:p>
            <a:fld id="{99180E35-A539-4885-9DB9-9351559FA637}" type="datetime1">
              <a:rPr lang="en-US" altLang="zh-CN" smtClean="0"/>
              <a:t>5/24/2024</a:t>
            </a:fld>
            <a:endParaRPr lang="zh-CN" altLang="en-US"/>
          </a:p>
        </p:txBody>
      </p:sp>
      <p:sp>
        <p:nvSpPr>
          <p:cNvPr id="4" name="页脚占位符 3">
            <a:extLst>
              <a:ext uri="{FF2B5EF4-FFF2-40B4-BE49-F238E27FC236}">
                <a16:creationId xmlns:a16="http://schemas.microsoft.com/office/drawing/2014/main" id="{7AC997A4-1DD8-4731-B9FD-42398A20FF85}"/>
              </a:ext>
            </a:extLst>
          </p:cNvPr>
          <p:cNvSpPr>
            <a:spLocks noGrp="1"/>
          </p:cNvSpPr>
          <p:nvPr>
            <p:ph type="ftr" sz="quarter" idx="11"/>
          </p:nvPr>
        </p:nvSpPr>
        <p:spPr/>
        <p:txBody>
          <a:bodyPr/>
          <a:lstStyle/>
          <a:p>
            <a:endParaRPr lang="zh-CN" altLang="en-US" dirty="0"/>
          </a:p>
        </p:txBody>
      </p:sp>
      <p:sp>
        <p:nvSpPr>
          <p:cNvPr id="5" name="灯片编号占位符 4">
            <a:extLst>
              <a:ext uri="{FF2B5EF4-FFF2-40B4-BE49-F238E27FC236}">
                <a16:creationId xmlns:a16="http://schemas.microsoft.com/office/drawing/2014/main" id="{DBA9825E-1876-42AD-ABCF-E0E100F351CA}"/>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标题 5">
            <a:extLst>
              <a:ext uri="{FF2B5EF4-FFF2-40B4-BE49-F238E27FC236}">
                <a16:creationId xmlns:a16="http://schemas.microsoft.com/office/drawing/2014/main"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a16="http://schemas.microsoft.com/office/drawing/2014/main" id="{2070191C-4093-409C-8FD5-7369A79637AD}"/>
              </a:ext>
            </a:extLst>
          </p:cNvPr>
          <p:cNvSpPr>
            <a:spLocks noGrp="1"/>
          </p:cNvSpPr>
          <p:nvPr>
            <p:ph sz="quarter" idx="13" hasCustomPrompt="1"/>
          </p:nvPr>
        </p:nvSpPr>
        <p:spPr>
          <a:xfrm>
            <a:off x="1004888" y="1695449"/>
            <a:ext cx="16275845" cy="7510463"/>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2937544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 id="2147483678" r:id="rId5"/>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hyperlink" Target="https://history.computer.org/pioneers/shaw.html" TargetMode="External"/><Relationship Id="rId2" Type="http://schemas.openxmlformats.org/officeDocument/2006/relationships/hyperlink" Target="https://www.britannica.com/biography/Allen-Newell" TargetMode="External"/><Relationship Id="rId1" Type="http://schemas.openxmlformats.org/officeDocument/2006/relationships/slideLayout" Target="../slideLayouts/slideLayout2.xml"/><Relationship Id="rId5" Type="http://schemas.openxmlformats.org/officeDocument/2006/relationships/hyperlink" Target="https://history-computer.com/logic-theorist/" TargetMode="External"/><Relationship Id="rId4" Type="http://schemas.openxmlformats.org/officeDocument/2006/relationships/hyperlink" Target="https://www.britannica.com/biography/Herbert-A-Simo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normAutofit/>
          </a:bodyPr>
          <a:lstStyle/>
          <a:p>
            <a:pPr>
              <a:defRPr/>
            </a:pPr>
            <a:r>
              <a:rPr lang="en-US" sz="3200" dirty="0">
                <a:latin typeface="+mj-lt"/>
              </a:rPr>
              <a:t>MODULE 4 - </a:t>
            </a:r>
            <a:r>
              <a:rPr lang="en-US" sz="3200" dirty="0">
                <a:effectLst/>
                <a:latin typeface="+mj-lt"/>
                <a:ea typeface="Calibri" panose="020F0502020204030204" pitchFamily="34" charset="0"/>
                <a:cs typeface="Times New Roman" panose="02020603050405020304" pitchFamily="18" charset="0"/>
              </a:rPr>
              <a:t>AI abilities versus Human abilities, Human/Machine Collaboration</a:t>
            </a:r>
            <a:r>
              <a:rPr lang="en-US" sz="3200" dirty="0">
                <a:latin typeface="+mj-lt"/>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4CA3A-51CE-48F0-8E8E-115A4A7E9F6C}"/>
              </a:ext>
            </a:extLst>
          </p:cNvPr>
          <p:cNvSpPr>
            <a:spLocks noGrp="1"/>
          </p:cNvSpPr>
          <p:nvPr>
            <p:ph type="title"/>
          </p:nvPr>
        </p:nvSpPr>
        <p:spPr>
          <a:xfrm>
            <a:off x="1274396" y="521817"/>
            <a:ext cx="16084552" cy="1140221"/>
          </a:xfrm>
        </p:spPr>
        <p:txBody>
          <a:bodyPr/>
          <a:lstStyle/>
          <a:p>
            <a:r>
              <a:rPr lang="en-US" dirty="0"/>
              <a:t>Assessing Human and AI Abilities</a:t>
            </a:r>
          </a:p>
        </p:txBody>
      </p:sp>
      <p:sp>
        <p:nvSpPr>
          <p:cNvPr id="3" name="Content Placeholder 2">
            <a:extLst>
              <a:ext uri="{FF2B5EF4-FFF2-40B4-BE49-F238E27FC236}">
                <a16:creationId xmlns:a16="http://schemas.microsoft.com/office/drawing/2014/main" id="{58F7F519-C62F-481C-A7D3-5DC54F3C5B04}"/>
              </a:ext>
            </a:extLst>
          </p:cNvPr>
          <p:cNvSpPr>
            <a:spLocks noGrp="1"/>
          </p:cNvSpPr>
          <p:nvPr>
            <p:ph idx="1"/>
          </p:nvPr>
        </p:nvSpPr>
        <p:spPr/>
        <p:txBody>
          <a:bodyPr/>
          <a:lstStyle/>
          <a:p>
            <a:r>
              <a:rPr lang="en-US" dirty="0"/>
              <a:t>Assessing Human and AI Abilities</a:t>
            </a:r>
          </a:p>
        </p:txBody>
      </p:sp>
    </p:spTree>
    <p:custDataLst>
      <p:tags r:id="rId1"/>
    </p:custDataLst>
    <p:extLst>
      <p:ext uri="{BB962C8B-B14F-4D97-AF65-F5344CB8AC3E}">
        <p14:creationId xmlns:p14="http://schemas.microsoft.com/office/powerpoint/2010/main" val="4164832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42F2D-F7D4-4475-8C2C-5579E0D8DB6C}"/>
              </a:ext>
            </a:extLst>
          </p:cNvPr>
          <p:cNvSpPr>
            <a:spLocks noGrp="1"/>
          </p:cNvSpPr>
          <p:nvPr>
            <p:ph type="title"/>
          </p:nvPr>
        </p:nvSpPr>
        <p:spPr>
          <a:xfrm>
            <a:off x="1512207" y="391883"/>
            <a:ext cx="16084552" cy="979713"/>
          </a:xfrm>
        </p:spPr>
        <p:txBody>
          <a:bodyPr/>
          <a:lstStyle/>
          <a:p>
            <a:r>
              <a:rPr lang="en-US" sz="6000" b="1" dirty="0">
                <a:solidFill>
                  <a:srgbClr val="C00000"/>
                </a:solidFill>
              </a:rPr>
              <a:t>What are AI abilities?</a:t>
            </a:r>
            <a:endParaRPr lang="en-US" dirty="0">
              <a:solidFill>
                <a:srgbClr val="C00000"/>
              </a:solidFill>
            </a:endParaRPr>
          </a:p>
        </p:txBody>
      </p:sp>
      <p:sp>
        <p:nvSpPr>
          <p:cNvPr id="10" name="TextBox 9">
            <a:extLst>
              <a:ext uri="{FF2B5EF4-FFF2-40B4-BE49-F238E27FC236}">
                <a16:creationId xmlns:a16="http://schemas.microsoft.com/office/drawing/2014/main" id="{3E434441-FACF-4043-8237-581372E50048}"/>
              </a:ext>
            </a:extLst>
          </p:cNvPr>
          <p:cNvSpPr txBox="1"/>
          <p:nvPr/>
        </p:nvSpPr>
        <p:spPr>
          <a:xfrm>
            <a:off x="1589313" y="1382483"/>
            <a:ext cx="15229115" cy="7720127"/>
          </a:xfrm>
          <a:prstGeom prst="rect">
            <a:avLst/>
          </a:prstGeom>
          <a:noFill/>
        </p:spPr>
        <p:txBody>
          <a:bodyPr wrap="square">
            <a:spAutoFit/>
          </a:bodyPr>
          <a:lstStyle/>
          <a:p>
            <a:pPr>
              <a:lnSpc>
                <a:spcPct val="120000"/>
              </a:lnSpc>
            </a:pPr>
            <a:r>
              <a:rPr lang="en-US" sz="3200" dirty="0"/>
              <a:t>The history of AI suggests that, to understand </a:t>
            </a:r>
            <a:r>
              <a:rPr lang="en-US" sz="3200" b="1" dirty="0">
                <a:solidFill>
                  <a:srgbClr val="C00000"/>
                </a:solidFill>
              </a:rPr>
              <a:t>AI abilities, </a:t>
            </a:r>
            <a:r>
              <a:rPr lang="en-US" sz="3200" dirty="0"/>
              <a:t>it is useful to focus on </a:t>
            </a:r>
            <a:r>
              <a:rPr lang="en-US" sz="3200" b="1" dirty="0">
                <a:solidFill>
                  <a:srgbClr val="C00000"/>
                </a:solidFill>
              </a:rPr>
              <a:t>human abilities, </a:t>
            </a:r>
            <a:r>
              <a:rPr lang="en-US" sz="3200" dirty="0"/>
              <a:t>both for benchmarking and comparative assessments.</a:t>
            </a:r>
          </a:p>
          <a:p>
            <a:pPr>
              <a:lnSpc>
                <a:spcPct val="120000"/>
              </a:lnSpc>
            </a:pPr>
            <a:r>
              <a:rPr lang="en-US" sz="3200" dirty="0"/>
              <a:t>Historically, AI concept first emerged in the 1950s after Alan Turing (UK Computer Scientist) wrote a paper titled “Computing Machinery and Intelligence” on machines that use available information and reason to solve problems and make decisions. </a:t>
            </a:r>
          </a:p>
          <a:p>
            <a:pPr>
              <a:lnSpc>
                <a:spcPct val="120000"/>
              </a:lnSpc>
            </a:pPr>
            <a:r>
              <a:rPr lang="en-US" sz="3200" dirty="0"/>
              <a:t>In 1955, </a:t>
            </a:r>
            <a:r>
              <a:rPr lang="en-US" sz="3200" u="sng" dirty="0">
                <a:hlinkClick r:id="rId2"/>
              </a:rPr>
              <a:t>Allen Newell</a:t>
            </a:r>
            <a:r>
              <a:rPr lang="en-US" sz="3200" dirty="0"/>
              <a:t>, </a:t>
            </a:r>
            <a:r>
              <a:rPr lang="en-US" sz="3200" u="sng" dirty="0">
                <a:hlinkClick r:id="rId3"/>
              </a:rPr>
              <a:t>Cliff Shaw</a:t>
            </a:r>
            <a:r>
              <a:rPr lang="en-US" sz="3200" dirty="0"/>
              <a:t>, and </a:t>
            </a:r>
            <a:r>
              <a:rPr lang="en-US" sz="3200" u="sng" dirty="0">
                <a:hlinkClick r:id="rId4"/>
              </a:rPr>
              <a:t>Herbert Simon</a:t>
            </a:r>
            <a:r>
              <a:rPr lang="en-US" sz="3200" dirty="0"/>
              <a:t> created a program called </a:t>
            </a:r>
            <a:r>
              <a:rPr lang="en-US" sz="3200" u="sng" dirty="0">
                <a:hlinkClick r:id="rId5"/>
              </a:rPr>
              <a:t>Logic Theorist</a:t>
            </a:r>
            <a:r>
              <a:rPr lang="en-US" sz="3200" dirty="0"/>
              <a:t>, which was designed to copy the problem-solving skills of </a:t>
            </a:r>
          </a:p>
          <a:p>
            <a:pPr>
              <a:lnSpc>
                <a:spcPct val="120000"/>
              </a:lnSpc>
            </a:pPr>
            <a:r>
              <a:rPr lang="en-US" sz="3200" b="1" dirty="0">
                <a:solidFill>
                  <a:srgbClr val="C00000"/>
                </a:solidFill>
              </a:rPr>
              <a:t>a human</a:t>
            </a:r>
            <a:r>
              <a:rPr lang="en-US" sz="3200" dirty="0"/>
              <a:t>. It was later presented at the Dartmouth Summer Research Project on Artificial Intelligence a year later. Subsequent developments in NLP (a subfield of AI) mimicked how humans speak and listen, computer vision borrowed from principles underlying how human vision works, and advances in deep learning (that depend heavily on processing across layered artificial neural networks) drew from broad knowledge about </a:t>
            </a:r>
            <a:r>
              <a:rPr lang="en-US" sz="3200" b="1" dirty="0">
                <a:solidFill>
                  <a:srgbClr val="C00000"/>
                </a:solidFill>
              </a:rPr>
              <a:t>human</a:t>
            </a:r>
            <a:r>
              <a:rPr lang="en-US" sz="3200" dirty="0"/>
              <a:t> perception, neural processing, and cognition.</a:t>
            </a:r>
          </a:p>
        </p:txBody>
      </p:sp>
    </p:spTree>
    <p:extLst>
      <p:ext uri="{BB962C8B-B14F-4D97-AF65-F5344CB8AC3E}">
        <p14:creationId xmlns:p14="http://schemas.microsoft.com/office/powerpoint/2010/main" val="1184461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96CA1-C06C-4B46-A4E1-1C9EB714F6B2}"/>
              </a:ext>
            </a:extLst>
          </p:cNvPr>
          <p:cNvSpPr>
            <a:spLocks noGrp="1"/>
          </p:cNvSpPr>
          <p:nvPr>
            <p:ph type="title"/>
          </p:nvPr>
        </p:nvSpPr>
        <p:spPr>
          <a:xfrm>
            <a:off x="635087" y="718457"/>
            <a:ext cx="16084552" cy="994342"/>
          </a:xfrm>
        </p:spPr>
        <p:txBody>
          <a:bodyPr/>
          <a:lstStyle/>
          <a:p>
            <a:r>
              <a:rPr lang="en-US" sz="4400" b="1" dirty="0">
                <a:solidFill>
                  <a:srgbClr val="C00000"/>
                </a:solidFill>
              </a:rPr>
              <a:t>How do AI abilities Compare with Human Abilities? </a:t>
            </a:r>
            <a:endParaRPr lang="en-US" sz="4400" dirty="0">
              <a:solidFill>
                <a:srgbClr val="C00000"/>
              </a:solidFill>
            </a:endParaRPr>
          </a:p>
        </p:txBody>
      </p:sp>
      <p:sp>
        <p:nvSpPr>
          <p:cNvPr id="6" name="TextBox 5">
            <a:extLst>
              <a:ext uri="{FF2B5EF4-FFF2-40B4-BE49-F238E27FC236}">
                <a16:creationId xmlns:a16="http://schemas.microsoft.com/office/drawing/2014/main" id="{EA24EC9E-75C4-40FA-B87D-E02053DE64EA}"/>
              </a:ext>
            </a:extLst>
          </p:cNvPr>
          <p:cNvSpPr txBox="1"/>
          <p:nvPr/>
        </p:nvSpPr>
        <p:spPr>
          <a:xfrm>
            <a:off x="1807029" y="2193685"/>
            <a:ext cx="14401800" cy="6538265"/>
          </a:xfrm>
          <a:prstGeom prst="rect">
            <a:avLst/>
          </a:prstGeom>
          <a:noFill/>
        </p:spPr>
        <p:txBody>
          <a:bodyPr wrap="square">
            <a:spAutoFit/>
          </a:bodyPr>
          <a:lstStyle/>
          <a:p>
            <a:pPr marL="457200" indent="-457200">
              <a:lnSpc>
                <a:spcPct val="120000"/>
              </a:lnSpc>
              <a:buFont typeface="Arial" panose="020B0604020202020204" pitchFamily="34" charset="0"/>
              <a:buChar char="•"/>
            </a:pPr>
            <a:r>
              <a:rPr lang="en-US" sz="3200" dirty="0"/>
              <a:t>Between 2020-2022, 101 graduate students enrolled in this MBA course on Artificial Intelligence (who averaged three years -- range 3-12 years -- of business experience) - engaged in wide-ranging discussions on the spectrum of abilities considered important to business operations, and compared human abilities with AI abilities. </a:t>
            </a:r>
          </a:p>
          <a:p>
            <a:pPr marL="457200" indent="-457200">
              <a:lnSpc>
                <a:spcPct val="120000"/>
              </a:lnSpc>
              <a:buFont typeface="Arial" panose="020B0604020202020204" pitchFamily="34" charset="0"/>
              <a:buChar char="•"/>
            </a:pPr>
            <a:r>
              <a:rPr lang="en-US" sz="3200" dirty="0"/>
              <a:t>During class and small group sessions, </a:t>
            </a:r>
            <a:r>
              <a:rPr lang="en-US" sz="3200" b="1" dirty="0">
                <a:solidFill>
                  <a:srgbClr val="C00000"/>
                </a:solidFill>
              </a:rPr>
              <a:t>these qualitative discussions resulted in a continuously curated list of 15 abilities that students agreed as critical to business success. This list on the next slide further explores subsets of these abilities where humans have the greatest potential to excel, and another subset of abilities where AI excels. </a:t>
            </a:r>
          </a:p>
        </p:txBody>
      </p:sp>
    </p:spTree>
    <p:extLst>
      <p:ext uri="{BB962C8B-B14F-4D97-AF65-F5344CB8AC3E}">
        <p14:creationId xmlns:p14="http://schemas.microsoft.com/office/powerpoint/2010/main" val="4076269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0E0E6-67BB-4B31-9644-E0FBE15D91DA}"/>
              </a:ext>
            </a:extLst>
          </p:cNvPr>
          <p:cNvSpPr>
            <a:spLocks noGrp="1"/>
          </p:cNvSpPr>
          <p:nvPr>
            <p:ph type="title" idx="4294967295"/>
          </p:nvPr>
        </p:nvSpPr>
        <p:spPr>
          <a:xfrm>
            <a:off x="587830" y="671856"/>
            <a:ext cx="16713260" cy="1340645"/>
          </a:xfrm>
        </p:spPr>
        <p:txBody>
          <a:bodyPr/>
          <a:lstStyle/>
          <a:p>
            <a:pPr algn="l"/>
            <a:r>
              <a:rPr lang="en-US" dirty="0">
                <a:solidFill>
                  <a:schemeClr val="tx1"/>
                </a:solidFill>
              </a:rPr>
              <a:t> </a:t>
            </a:r>
            <a:r>
              <a:rPr lang="en-US" b="1" dirty="0">
                <a:solidFill>
                  <a:schemeClr val="tx1"/>
                </a:solidFill>
              </a:rPr>
              <a:t>Abilities             </a:t>
            </a:r>
            <a:r>
              <a:rPr lang="en-US" b="1" dirty="0">
                <a:solidFill>
                  <a:srgbClr val="C00000"/>
                </a:solidFill>
              </a:rPr>
              <a:t>Humans</a:t>
            </a:r>
            <a:r>
              <a:rPr lang="en-US" b="1" dirty="0">
                <a:solidFill>
                  <a:srgbClr val="FF0000"/>
                </a:solidFill>
              </a:rPr>
              <a:t>    </a:t>
            </a:r>
            <a:r>
              <a:rPr lang="en-US" b="1" dirty="0">
                <a:solidFill>
                  <a:srgbClr val="0070C0"/>
                </a:solidFill>
              </a:rPr>
              <a:t>AI-Based Machines</a:t>
            </a:r>
          </a:p>
        </p:txBody>
      </p:sp>
      <p:sp>
        <p:nvSpPr>
          <p:cNvPr id="8" name="Content Placeholder 2">
            <a:extLst>
              <a:ext uri="{FF2B5EF4-FFF2-40B4-BE49-F238E27FC236}">
                <a16:creationId xmlns:a16="http://schemas.microsoft.com/office/drawing/2014/main" id="{68D7B955-8A9C-48A6-97C7-BE12D31C8973}"/>
              </a:ext>
            </a:extLst>
          </p:cNvPr>
          <p:cNvSpPr txBox="1">
            <a:spLocks/>
          </p:cNvSpPr>
          <p:nvPr/>
        </p:nvSpPr>
        <p:spPr>
          <a:xfrm>
            <a:off x="478974" y="2012501"/>
            <a:ext cx="5900055" cy="6797783"/>
          </a:xfrm>
          <a:prstGeom prst="rect">
            <a:avLst/>
          </a:prstGeom>
        </p:spPr>
        <p:txBody>
          <a:bodyPr vert="horz" lIns="137160" tIns="68580" rIns="137160" bIns="6858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t>Learn from Experience</a:t>
            </a:r>
          </a:p>
          <a:p>
            <a:pPr marL="0" indent="0">
              <a:buNone/>
            </a:pPr>
            <a:r>
              <a:rPr lang="en-US" sz="4400" dirty="0"/>
              <a:t>Intelligence/common sense</a:t>
            </a:r>
          </a:p>
          <a:p>
            <a:pPr marL="0" indent="0">
              <a:buNone/>
            </a:pPr>
            <a:r>
              <a:rPr lang="en-US" sz="4400" dirty="0"/>
              <a:t>Understand human language</a:t>
            </a:r>
          </a:p>
          <a:p>
            <a:pPr marL="0" indent="0">
              <a:buNone/>
            </a:pPr>
            <a:r>
              <a:rPr lang="en-US" sz="4400" dirty="0"/>
              <a:t>Creative tasks</a:t>
            </a:r>
          </a:p>
          <a:p>
            <a:pPr marL="0" indent="0">
              <a:buNone/>
            </a:pPr>
            <a:r>
              <a:rPr lang="en-US" sz="4400" dirty="0"/>
              <a:t>Judgment tasks</a:t>
            </a:r>
          </a:p>
          <a:p>
            <a:pPr marL="0" indent="0">
              <a:buNone/>
            </a:pPr>
            <a:r>
              <a:rPr lang="en-US" sz="4400" dirty="0"/>
              <a:t>Dexterity/fine motor skills</a:t>
            </a:r>
          </a:p>
          <a:p>
            <a:pPr marL="0" indent="0">
              <a:buNone/>
            </a:pPr>
            <a:r>
              <a:rPr lang="en-US" sz="4400" dirty="0"/>
              <a:t>Rule-bound structured tasks</a:t>
            </a:r>
          </a:p>
          <a:p>
            <a:pPr marL="0" indent="0">
              <a:buNone/>
            </a:pPr>
            <a:r>
              <a:rPr lang="en-US" sz="4400" dirty="0"/>
              <a:t>Boring/Repetitive tasks</a:t>
            </a:r>
          </a:p>
          <a:p>
            <a:pPr marL="0" indent="0">
              <a:buNone/>
            </a:pPr>
            <a:r>
              <a:rPr lang="en-US" sz="4400" dirty="0"/>
              <a:t>Data/Computation tasks</a:t>
            </a:r>
          </a:p>
          <a:p>
            <a:pPr marL="0" indent="0">
              <a:buNone/>
            </a:pPr>
            <a:r>
              <a:rPr lang="en-US" sz="4400" dirty="0"/>
              <a:t>Prediction tasks</a:t>
            </a:r>
          </a:p>
          <a:p>
            <a:pPr marL="0" indent="0">
              <a:buNone/>
            </a:pPr>
            <a:r>
              <a:rPr lang="en-US" sz="4400" dirty="0"/>
              <a:t>Very complex, detail-oriented tasks</a:t>
            </a:r>
          </a:p>
          <a:p>
            <a:pPr marL="0" indent="0">
              <a:buNone/>
            </a:pPr>
            <a:r>
              <a:rPr lang="en-US" sz="4400" dirty="0"/>
              <a:t>Volume of work/tasks</a:t>
            </a:r>
          </a:p>
          <a:p>
            <a:pPr marL="0" indent="0">
              <a:buNone/>
            </a:pPr>
            <a:r>
              <a:rPr lang="en-US" sz="4400" dirty="0"/>
              <a:t>Speed of task completion</a:t>
            </a:r>
          </a:p>
          <a:p>
            <a:pPr marL="0" indent="0">
              <a:buNone/>
            </a:pPr>
            <a:r>
              <a:rPr lang="en-US" sz="4400" dirty="0"/>
              <a:t>Accuracy in completed tasks</a:t>
            </a:r>
          </a:p>
          <a:p>
            <a:pPr marL="0" indent="0">
              <a:buNone/>
            </a:pPr>
            <a:r>
              <a:rPr lang="en-US" sz="4400" dirty="0"/>
              <a:t>Time Horizon on availability</a:t>
            </a:r>
          </a:p>
          <a:p>
            <a:pPr marL="0" indent="0">
              <a:buNone/>
            </a:pPr>
            <a:endParaRPr lang="en-US" sz="3300" dirty="0">
              <a:solidFill>
                <a:srgbClr val="C00000"/>
              </a:solidFill>
            </a:endParaRPr>
          </a:p>
          <a:p>
            <a:pPr marL="0" indent="0">
              <a:buNone/>
            </a:pPr>
            <a:endParaRPr lang="en-US" sz="3000" dirty="0"/>
          </a:p>
        </p:txBody>
      </p:sp>
      <p:sp>
        <p:nvSpPr>
          <p:cNvPr id="9" name="Rectangle 8">
            <a:extLst>
              <a:ext uri="{FF2B5EF4-FFF2-40B4-BE49-F238E27FC236}">
                <a16:creationId xmlns:a16="http://schemas.microsoft.com/office/drawing/2014/main" id="{623FD890-7528-46DA-9A05-16C5A9CFDD61}"/>
              </a:ext>
            </a:extLst>
          </p:cNvPr>
          <p:cNvSpPr/>
          <p:nvPr/>
        </p:nvSpPr>
        <p:spPr>
          <a:xfrm>
            <a:off x="6243179" y="2026387"/>
            <a:ext cx="2695455" cy="250212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85DD8A0-C9F8-47B5-A5BB-EAB991463341}"/>
              </a:ext>
            </a:extLst>
          </p:cNvPr>
          <p:cNvSpPr/>
          <p:nvPr/>
        </p:nvSpPr>
        <p:spPr>
          <a:xfrm>
            <a:off x="9644868" y="4511571"/>
            <a:ext cx="4539218" cy="4044600"/>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68D7B955-8A9C-48A6-97C7-BE12D31C8973}"/>
              </a:ext>
            </a:extLst>
          </p:cNvPr>
          <p:cNvSpPr txBox="1">
            <a:spLocks/>
          </p:cNvSpPr>
          <p:nvPr/>
        </p:nvSpPr>
        <p:spPr>
          <a:xfrm>
            <a:off x="6243179" y="2051793"/>
            <a:ext cx="3483555" cy="6615111"/>
          </a:xfrm>
          <a:prstGeom prst="rect">
            <a:avLst/>
          </a:prstGeom>
        </p:spPr>
        <p:txBody>
          <a:bodyPr vert="horz" lIns="137160" tIns="68580" rIns="137160" bIns="6858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300" dirty="0"/>
              <a:t>Can Excel</a:t>
            </a:r>
          </a:p>
          <a:p>
            <a:pPr marL="0" indent="0">
              <a:buNone/>
            </a:pPr>
            <a:r>
              <a:rPr lang="en-US" sz="3300" dirty="0"/>
              <a:t>Can Excel</a:t>
            </a:r>
          </a:p>
          <a:p>
            <a:pPr marL="0" indent="0">
              <a:buNone/>
            </a:pPr>
            <a:r>
              <a:rPr lang="en-US" sz="3300" dirty="0"/>
              <a:t>Can Excel</a:t>
            </a:r>
          </a:p>
          <a:p>
            <a:pPr marL="0" indent="0">
              <a:buNone/>
            </a:pPr>
            <a:r>
              <a:rPr lang="en-US" sz="3300" dirty="0"/>
              <a:t>Can Excel</a:t>
            </a:r>
          </a:p>
          <a:p>
            <a:pPr marL="0" indent="0">
              <a:buNone/>
            </a:pPr>
            <a:r>
              <a:rPr lang="en-US" sz="3300" dirty="0"/>
              <a:t>Can Excel</a:t>
            </a:r>
          </a:p>
          <a:p>
            <a:pPr marL="0" indent="0">
              <a:buNone/>
            </a:pPr>
            <a:r>
              <a:rPr lang="en-US" sz="3300" dirty="0"/>
              <a:t>Can Excel</a:t>
            </a:r>
          </a:p>
          <a:p>
            <a:pPr marL="0" indent="0">
              <a:buNone/>
            </a:pPr>
            <a:r>
              <a:rPr lang="en-US" sz="3300" dirty="0"/>
              <a:t>Possible</a:t>
            </a:r>
          </a:p>
          <a:p>
            <a:pPr marL="0" indent="0">
              <a:buNone/>
            </a:pPr>
            <a:r>
              <a:rPr lang="en-US" sz="3300" dirty="0"/>
              <a:t>Difficult</a:t>
            </a:r>
          </a:p>
          <a:p>
            <a:pPr marL="0" indent="0">
              <a:buNone/>
            </a:pPr>
            <a:r>
              <a:rPr lang="en-US" sz="3300" dirty="0"/>
              <a:t>Difficult</a:t>
            </a:r>
          </a:p>
          <a:p>
            <a:pPr marL="0" indent="0">
              <a:buNone/>
            </a:pPr>
            <a:r>
              <a:rPr lang="en-US" sz="3300" dirty="0"/>
              <a:t>Difficult</a:t>
            </a:r>
          </a:p>
          <a:p>
            <a:pPr marL="0" indent="0">
              <a:buNone/>
            </a:pPr>
            <a:r>
              <a:rPr lang="en-US" sz="3300" dirty="0"/>
              <a:t>Difficult</a:t>
            </a:r>
          </a:p>
          <a:p>
            <a:pPr marL="0" indent="0">
              <a:buNone/>
            </a:pPr>
            <a:r>
              <a:rPr lang="en-US" sz="3300" dirty="0"/>
              <a:t>Limited</a:t>
            </a:r>
          </a:p>
          <a:p>
            <a:pPr marL="0" indent="0">
              <a:buNone/>
            </a:pPr>
            <a:r>
              <a:rPr lang="en-US" sz="3300" dirty="0"/>
              <a:t>Limited</a:t>
            </a:r>
          </a:p>
          <a:p>
            <a:pPr marL="0" indent="0">
              <a:buNone/>
            </a:pPr>
            <a:r>
              <a:rPr lang="en-US" sz="3300" dirty="0"/>
              <a:t>Difficult</a:t>
            </a:r>
          </a:p>
          <a:p>
            <a:pPr marL="0" indent="0">
              <a:buNone/>
            </a:pPr>
            <a:r>
              <a:rPr lang="en-US" sz="3300" dirty="0"/>
              <a:t>Limited</a:t>
            </a:r>
          </a:p>
          <a:p>
            <a:pPr marL="0" indent="0">
              <a:buNone/>
            </a:pPr>
            <a:endParaRPr lang="en-US" sz="3300" dirty="0">
              <a:solidFill>
                <a:srgbClr val="C00000"/>
              </a:solidFill>
            </a:endParaRPr>
          </a:p>
          <a:p>
            <a:pPr marL="0" indent="0">
              <a:buNone/>
            </a:pPr>
            <a:endParaRPr lang="en-US" sz="3000" dirty="0"/>
          </a:p>
        </p:txBody>
      </p:sp>
      <p:sp>
        <p:nvSpPr>
          <p:cNvPr id="12" name="Content Placeholder 2">
            <a:extLst>
              <a:ext uri="{FF2B5EF4-FFF2-40B4-BE49-F238E27FC236}">
                <a16:creationId xmlns:a16="http://schemas.microsoft.com/office/drawing/2014/main" id="{68D7B955-8A9C-48A6-97C7-BE12D31C8973}"/>
              </a:ext>
            </a:extLst>
          </p:cNvPr>
          <p:cNvSpPr txBox="1">
            <a:spLocks/>
          </p:cNvSpPr>
          <p:nvPr/>
        </p:nvSpPr>
        <p:spPr>
          <a:xfrm>
            <a:off x="9644868" y="2012500"/>
            <a:ext cx="7765078" cy="6543671"/>
          </a:xfrm>
          <a:prstGeom prst="rect">
            <a:avLst/>
          </a:prstGeom>
          <a:ln>
            <a:solidFill>
              <a:srgbClr val="0070C0"/>
            </a:solidFill>
          </a:ln>
        </p:spPr>
        <p:txBody>
          <a:bodyPr vert="horz" lIns="137160" tIns="68580" rIns="137160" bIns="6858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500" dirty="0"/>
              <a:t>Possible (supervised/reinforcement learning)</a:t>
            </a:r>
          </a:p>
          <a:p>
            <a:pPr marL="0" indent="0">
              <a:buNone/>
            </a:pPr>
            <a:r>
              <a:rPr lang="en-US" sz="4500" dirty="0"/>
              <a:t>Impossible</a:t>
            </a:r>
          </a:p>
          <a:p>
            <a:pPr marL="0" indent="0">
              <a:buNone/>
            </a:pPr>
            <a:r>
              <a:rPr lang="en-US" sz="4500" dirty="0"/>
              <a:t>Difficult (NLP limitations)</a:t>
            </a:r>
          </a:p>
          <a:p>
            <a:pPr marL="0" indent="0">
              <a:buNone/>
            </a:pPr>
            <a:r>
              <a:rPr lang="en-US" sz="4500" dirty="0"/>
              <a:t>Impossible</a:t>
            </a:r>
          </a:p>
          <a:p>
            <a:pPr marL="0" indent="0">
              <a:buNone/>
            </a:pPr>
            <a:r>
              <a:rPr lang="en-US" sz="4500" dirty="0"/>
              <a:t>Impossible</a:t>
            </a:r>
          </a:p>
          <a:p>
            <a:pPr marL="0" indent="0">
              <a:buNone/>
            </a:pPr>
            <a:r>
              <a:rPr lang="en-US" sz="4500" dirty="0"/>
              <a:t>Impossible</a:t>
            </a:r>
          </a:p>
          <a:p>
            <a:pPr marL="0" indent="0">
              <a:buNone/>
            </a:pPr>
            <a:r>
              <a:rPr lang="en-US" sz="4500" dirty="0"/>
              <a:t>Can Excel</a:t>
            </a:r>
          </a:p>
          <a:p>
            <a:pPr marL="0" indent="0">
              <a:buNone/>
            </a:pPr>
            <a:r>
              <a:rPr lang="en-US" sz="4500" dirty="0"/>
              <a:t>Can Excel</a:t>
            </a:r>
          </a:p>
          <a:p>
            <a:pPr marL="0" indent="0">
              <a:buNone/>
            </a:pPr>
            <a:r>
              <a:rPr lang="en-US" sz="4500" dirty="0"/>
              <a:t>Can Excel</a:t>
            </a:r>
          </a:p>
          <a:p>
            <a:pPr marL="0" indent="0">
              <a:buNone/>
            </a:pPr>
            <a:r>
              <a:rPr lang="en-US" sz="4500" dirty="0"/>
              <a:t>Can Excel</a:t>
            </a:r>
          </a:p>
          <a:p>
            <a:pPr marL="0" indent="0">
              <a:buNone/>
            </a:pPr>
            <a:r>
              <a:rPr lang="en-US" sz="4500" dirty="0"/>
              <a:t>Can Excel</a:t>
            </a:r>
          </a:p>
          <a:p>
            <a:pPr marL="0" indent="0">
              <a:buNone/>
            </a:pPr>
            <a:r>
              <a:rPr lang="en-US" sz="4500" dirty="0"/>
              <a:t>Can Excel</a:t>
            </a:r>
          </a:p>
          <a:p>
            <a:pPr marL="0" indent="0">
              <a:buNone/>
            </a:pPr>
            <a:r>
              <a:rPr lang="en-US" sz="4500" dirty="0"/>
              <a:t>Can Excel</a:t>
            </a:r>
          </a:p>
          <a:p>
            <a:pPr marL="0" indent="0">
              <a:buNone/>
            </a:pPr>
            <a:r>
              <a:rPr lang="en-US" sz="4500" dirty="0"/>
              <a:t>Can Excel</a:t>
            </a:r>
          </a:p>
          <a:p>
            <a:pPr marL="0" indent="0">
              <a:buNone/>
            </a:pPr>
            <a:r>
              <a:rPr lang="en-US" sz="4500" dirty="0"/>
              <a:t>Can Excel</a:t>
            </a:r>
          </a:p>
          <a:p>
            <a:pPr marL="0" indent="0">
              <a:buNone/>
            </a:pPr>
            <a:endParaRPr lang="en-US" sz="3300" dirty="0">
              <a:solidFill>
                <a:srgbClr val="C00000"/>
              </a:solidFill>
            </a:endParaRPr>
          </a:p>
          <a:p>
            <a:pPr marL="0" indent="0">
              <a:buNone/>
            </a:pPr>
            <a:endParaRPr lang="en-US" sz="3000" dirty="0"/>
          </a:p>
        </p:txBody>
      </p:sp>
    </p:spTree>
    <p:extLst>
      <p:ext uri="{BB962C8B-B14F-4D97-AF65-F5344CB8AC3E}">
        <p14:creationId xmlns:p14="http://schemas.microsoft.com/office/powerpoint/2010/main" val="388138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p:txBody>
          <a:bodyPr>
            <a:normAutofit/>
          </a:bodyPr>
          <a:lstStyle/>
          <a:p>
            <a:r>
              <a:rPr lang="en-US" sz="4400" b="1" dirty="0">
                <a:solidFill>
                  <a:schemeClr val="bg1"/>
                </a:solidFill>
              </a:rPr>
              <a:t>Technology/Industry Developments that Underpin the AI Abilities List</a:t>
            </a:r>
            <a:endParaRPr lang="en-US" sz="4400" dirty="0">
              <a:solidFill>
                <a:schemeClr val="bg1"/>
              </a:solidFill>
            </a:endParaRP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1257300" y="1712799"/>
            <a:ext cx="15773400" cy="8412836"/>
          </a:xfrm>
        </p:spPr>
        <p:txBody>
          <a:bodyPr anchor="ctr">
            <a:normAutofit/>
          </a:bodyPr>
          <a:lstStyle/>
          <a:p>
            <a:pPr marL="0" indent="0">
              <a:spcBef>
                <a:spcPts val="0"/>
              </a:spcBef>
              <a:buNone/>
            </a:pPr>
            <a:endParaRPr lang="en-US" sz="3200" dirty="0">
              <a:solidFill>
                <a:srgbClr val="000000"/>
              </a:solidFill>
            </a:endParaRPr>
          </a:p>
          <a:p>
            <a:pPr>
              <a:spcBef>
                <a:spcPts val="0"/>
              </a:spcBef>
            </a:pPr>
            <a:endParaRPr lang="en-US" sz="3200" dirty="0">
              <a:solidFill>
                <a:srgbClr val="000000"/>
              </a:solidFill>
            </a:endParaRPr>
          </a:p>
          <a:p>
            <a:pPr>
              <a:spcBef>
                <a:spcPts val="0"/>
              </a:spcBef>
            </a:pPr>
            <a:endParaRPr lang="en-US" sz="3200" dirty="0">
              <a:solidFill>
                <a:srgbClr val="000000"/>
              </a:solidFill>
            </a:endParaRPr>
          </a:p>
          <a:p>
            <a:pPr>
              <a:spcBef>
                <a:spcPts val="0"/>
              </a:spcBef>
            </a:pPr>
            <a:endParaRPr lang="en-US" sz="3200" dirty="0">
              <a:solidFill>
                <a:srgbClr val="000000"/>
              </a:solidFill>
            </a:endParaRPr>
          </a:p>
          <a:p>
            <a:pPr>
              <a:spcBef>
                <a:spcPts val="0"/>
              </a:spcBef>
            </a:pPr>
            <a:endParaRPr lang="en-US" sz="3200" dirty="0">
              <a:solidFill>
                <a:srgbClr val="000000"/>
              </a:solidFill>
            </a:endParaRPr>
          </a:p>
          <a:p>
            <a:pPr>
              <a:spcBef>
                <a:spcPts val="0"/>
              </a:spcBef>
            </a:pPr>
            <a:endParaRPr lang="en-US" sz="3200" dirty="0">
              <a:solidFill>
                <a:srgbClr val="000000"/>
              </a:solidFill>
            </a:endParaRPr>
          </a:p>
          <a:p>
            <a:pPr marL="0" indent="0">
              <a:buNone/>
            </a:pPr>
            <a:endParaRPr lang="en-US" sz="2700" dirty="0">
              <a:solidFill>
                <a:srgbClr val="000000"/>
              </a:solidFill>
            </a:endParaRPr>
          </a:p>
        </p:txBody>
      </p:sp>
      <p:sp>
        <p:nvSpPr>
          <p:cNvPr id="6" name="TextBox 5">
            <a:extLst>
              <a:ext uri="{FF2B5EF4-FFF2-40B4-BE49-F238E27FC236}">
                <a16:creationId xmlns:a16="http://schemas.microsoft.com/office/drawing/2014/main" id="{FF8AA903-B70F-4F1E-A707-983686F8D590}"/>
              </a:ext>
            </a:extLst>
          </p:cNvPr>
          <p:cNvSpPr txBox="1"/>
          <p:nvPr/>
        </p:nvSpPr>
        <p:spPr>
          <a:xfrm>
            <a:off x="1613354" y="1850401"/>
            <a:ext cx="15054943" cy="7720127"/>
          </a:xfrm>
          <a:prstGeom prst="rect">
            <a:avLst/>
          </a:prstGeom>
          <a:noFill/>
        </p:spPr>
        <p:txBody>
          <a:bodyPr wrap="square">
            <a:spAutoFit/>
          </a:bodyPr>
          <a:lstStyle/>
          <a:p>
            <a:pPr marL="457200" indent="-457200">
              <a:lnSpc>
                <a:spcPct val="120000"/>
              </a:lnSpc>
              <a:buFont typeface="Arial" panose="020B0604020202020204" pitchFamily="34" charset="0"/>
              <a:buChar char="•"/>
            </a:pPr>
            <a:r>
              <a:rPr lang="en-US" sz="3200" dirty="0"/>
              <a:t>The 15 abilities identified thus far were validated later by industry experts and practitioners in UK and Italy through focus groups and other qualitative surveys. Abilities identified thus far extended to both humans and AI. It therefore appears appropriate to measure AI abilities in the relative context of human abilities. </a:t>
            </a:r>
          </a:p>
          <a:p>
            <a:pPr marL="457200" indent="-457200">
              <a:lnSpc>
                <a:spcPct val="120000"/>
              </a:lnSpc>
              <a:buFont typeface="Arial" panose="020B0604020202020204" pitchFamily="34" charset="0"/>
              <a:buChar char="•"/>
            </a:pPr>
            <a:r>
              <a:rPr lang="en-US" sz="3200" dirty="0"/>
              <a:t>The list of 15 abilities that students initially identified as AI dominant (blue box in previous slide) characterized computing and other important technological domains. </a:t>
            </a:r>
          </a:p>
          <a:p>
            <a:pPr marL="457200" indent="-457200">
              <a:lnSpc>
                <a:spcPct val="120000"/>
              </a:lnSpc>
              <a:buFont typeface="Arial" panose="020B0604020202020204" pitchFamily="34" charset="0"/>
              <a:buChar char="•"/>
            </a:pPr>
            <a:r>
              <a:rPr lang="en-US" sz="3200" dirty="0"/>
              <a:t>In an influential book, Siebel (2019) identifies four key technologies </a:t>
            </a:r>
            <a:r>
              <a:rPr lang="en-US" sz="3200" b="1" i="1" dirty="0"/>
              <a:t>that both drive and enable </a:t>
            </a:r>
            <a:r>
              <a:rPr lang="en-US" sz="3200" dirty="0"/>
              <a:t>digital transformation: Elastic cloud computing, Big Data, AI and IoT.  Consistent with this premise, in addition to possessing computing abilities, AI systems are infused with architectural, scale, access, speed, and instant communication capabilities that are derivatives of the three other technologies listed above.</a:t>
            </a:r>
          </a:p>
        </p:txBody>
      </p:sp>
    </p:spTree>
    <p:extLst>
      <p:ext uri="{BB962C8B-B14F-4D97-AF65-F5344CB8AC3E}">
        <p14:creationId xmlns:p14="http://schemas.microsoft.com/office/powerpoint/2010/main" val="3351879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570A-F55E-4155-AA6A-1E2F6020680F}"/>
              </a:ext>
            </a:extLst>
          </p:cNvPr>
          <p:cNvSpPr>
            <a:spLocks noGrp="1"/>
          </p:cNvSpPr>
          <p:nvPr>
            <p:ph type="title"/>
          </p:nvPr>
        </p:nvSpPr>
        <p:spPr>
          <a:xfrm>
            <a:off x="1841864" y="674914"/>
            <a:ext cx="15803880" cy="2039259"/>
          </a:xfrm>
        </p:spPr>
        <p:txBody>
          <a:bodyPr>
            <a:normAutofit fontScale="90000"/>
          </a:bodyPr>
          <a:lstStyle/>
          <a:p>
            <a:r>
              <a:rPr lang="en-US" sz="4900" dirty="0">
                <a:solidFill>
                  <a:schemeClr val="bg1"/>
                </a:solidFill>
              </a:rPr>
              <a:t>Research Insight from another study – It is better to assess abilities through focus on tasks</a:t>
            </a:r>
            <a:br>
              <a:rPr lang="en-US" sz="5400" dirty="0">
                <a:solidFill>
                  <a:srgbClr val="FF0000"/>
                </a:solidFill>
              </a:rPr>
            </a:br>
            <a:endParaRPr lang="en-US" sz="5400" dirty="0">
              <a:solidFill>
                <a:srgbClr val="FF0000"/>
              </a:solidFill>
            </a:endParaRPr>
          </a:p>
        </p:txBody>
      </p:sp>
      <p:sp>
        <p:nvSpPr>
          <p:cNvPr id="3" name="Content Placeholder 2">
            <a:extLst>
              <a:ext uri="{FF2B5EF4-FFF2-40B4-BE49-F238E27FC236}">
                <a16:creationId xmlns:a16="http://schemas.microsoft.com/office/drawing/2014/main" id="{C4B02D81-7B85-43B2-80CE-302A5D69FF18}"/>
              </a:ext>
            </a:extLst>
          </p:cNvPr>
          <p:cNvSpPr>
            <a:spLocks noGrp="1"/>
          </p:cNvSpPr>
          <p:nvPr>
            <p:ph idx="1"/>
          </p:nvPr>
        </p:nvSpPr>
        <p:spPr>
          <a:xfrm>
            <a:off x="1743892" y="2220686"/>
            <a:ext cx="15999824" cy="6498771"/>
          </a:xfrm>
        </p:spPr>
        <p:txBody>
          <a:bodyPr>
            <a:normAutofit/>
          </a:bodyPr>
          <a:lstStyle/>
          <a:p>
            <a:pPr marL="0" indent="0">
              <a:lnSpc>
                <a:spcPct val="120000"/>
              </a:lnSpc>
              <a:spcBef>
                <a:spcPts val="0"/>
              </a:spcBef>
              <a:buNone/>
            </a:pPr>
            <a:r>
              <a:rPr lang="en-US" sz="3600" b="1" dirty="0"/>
              <a:t>Martin Fleming (2020) Research in Harvard Business Review (2020)</a:t>
            </a:r>
          </a:p>
          <a:p>
            <a:pPr marL="0" indent="0">
              <a:lnSpc>
                <a:spcPct val="120000"/>
              </a:lnSpc>
              <a:spcBef>
                <a:spcPts val="0"/>
              </a:spcBef>
              <a:buNone/>
            </a:pPr>
            <a:r>
              <a:rPr lang="en-US" sz="3600" dirty="0"/>
              <a:t>This study analyzed </a:t>
            </a:r>
            <a:r>
              <a:rPr lang="en-US" sz="3600" b="0" i="0" u="none" strike="noStrike" baseline="0" dirty="0"/>
              <a:t>170 million online job posts between 2010 and 2017, and is based on the following insight: while occupations change slowly — over years and even decades — tasks become reorganized at a much faster pace because each job represents a collection of tasks. Findings include:</a:t>
            </a:r>
          </a:p>
          <a:p>
            <a:pPr>
              <a:lnSpc>
                <a:spcPct val="120000"/>
              </a:lnSpc>
              <a:spcBef>
                <a:spcPts val="0"/>
              </a:spcBef>
            </a:pPr>
            <a:r>
              <a:rPr lang="en-US" sz="3600" b="0" i="0" u="none" strike="noStrike" baseline="0" dirty="0"/>
              <a:t>2.5% of jobs have a high proportion of tasks suitable for machine learning. These include positions like usher, lobby attendant, and ticket taker, where the main tasks involve verifying credentials and allowing only authorized people to enter a restricted space.</a:t>
            </a:r>
            <a:endParaRPr lang="en-US" sz="3600" dirty="0"/>
          </a:p>
          <a:p>
            <a:pPr>
              <a:lnSpc>
                <a:spcPct val="120000"/>
              </a:lnSpc>
            </a:pPr>
            <a:endParaRPr lang="en-US" sz="3600" dirty="0"/>
          </a:p>
          <a:p>
            <a:pPr>
              <a:lnSpc>
                <a:spcPct val="120000"/>
              </a:lnSpc>
            </a:pPr>
            <a:endParaRPr lang="en-US" sz="7650" dirty="0"/>
          </a:p>
          <a:p>
            <a:endParaRPr lang="en-US" dirty="0"/>
          </a:p>
        </p:txBody>
      </p:sp>
      <p:sp>
        <p:nvSpPr>
          <p:cNvPr id="4" name="Slide Number Placeholder 3">
            <a:extLst>
              <a:ext uri="{FF2B5EF4-FFF2-40B4-BE49-F238E27FC236}">
                <a16:creationId xmlns:a16="http://schemas.microsoft.com/office/drawing/2014/main" id="{A2D04EB6-D21F-4B7B-A199-1D28BF9797E2}"/>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8AB2FEE-D19E-4B52-88CF-878558406D2A}" type="slidenum">
              <a:rPr lang="en-US" smtClean="0"/>
              <a:pPr/>
              <a:t>7</a:t>
            </a:fld>
            <a:endParaRPr lang="en-US" dirty="0"/>
          </a:p>
        </p:txBody>
      </p:sp>
    </p:spTree>
    <p:extLst>
      <p:ext uri="{BB962C8B-B14F-4D97-AF65-F5344CB8AC3E}">
        <p14:creationId xmlns:p14="http://schemas.microsoft.com/office/powerpoint/2010/main" val="2292523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570A-F55E-4155-AA6A-1E2F6020680F}"/>
              </a:ext>
            </a:extLst>
          </p:cNvPr>
          <p:cNvSpPr>
            <a:spLocks noGrp="1"/>
          </p:cNvSpPr>
          <p:nvPr>
            <p:ph type="title"/>
          </p:nvPr>
        </p:nvSpPr>
        <p:spPr>
          <a:xfrm>
            <a:off x="1645920" y="326573"/>
            <a:ext cx="15803880" cy="2166256"/>
          </a:xfrm>
        </p:spPr>
        <p:txBody>
          <a:bodyPr>
            <a:normAutofit fontScale="90000"/>
          </a:bodyPr>
          <a:lstStyle/>
          <a:p>
            <a:r>
              <a:rPr lang="en-US" sz="4900" dirty="0">
                <a:solidFill>
                  <a:schemeClr val="bg1"/>
                </a:solidFill>
              </a:rPr>
              <a:t>Research Insight from another study – It is better to assess abilities through focus on tasks</a:t>
            </a:r>
            <a:br>
              <a:rPr lang="en-US" sz="5400" dirty="0">
                <a:solidFill>
                  <a:srgbClr val="FF0000"/>
                </a:solidFill>
              </a:rPr>
            </a:br>
            <a:endParaRPr lang="en-US" sz="5400" dirty="0">
              <a:solidFill>
                <a:srgbClr val="FF0000"/>
              </a:solidFill>
            </a:endParaRPr>
          </a:p>
        </p:txBody>
      </p:sp>
      <p:sp>
        <p:nvSpPr>
          <p:cNvPr id="3" name="Content Placeholder 2">
            <a:extLst>
              <a:ext uri="{FF2B5EF4-FFF2-40B4-BE49-F238E27FC236}">
                <a16:creationId xmlns:a16="http://schemas.microsoft.com/office/drawing/2014/main" id="{C4B02D81-7B85-43B2-80CE-302A5D69FF18}"/>
              </a:ext>
            </a:extLst>
          </p:cNvPr>
          <p:cNvSpPr>
            <a:spLocks noGrp="1"/>
          </p:cNvSpPr>
          <p:nvPr>
            <p:ph idx="1"/>
          </p:nvPr>
        </p:nvSpPr>
        <p:spPr>
          <a:xfrm>
            <a:off x="1645920" y="2100945"/>
            <a:ext cx="15999824" cy="7717972"/>
          </a:xfrm>
        </p:spPr>
        <p:txBody>
          <a:bodyPr>
            <a:normAutofit fontScale="70000" lnSpcReduction="20000"/>
          </a:bodyPr>
          <a:lstStyle/>
          <a:p>
            <a:pPr marL="0" indent="0">
              <a:lnSpc>
                <a:spcPct val="120000"/>
              </a:lnSpc>
              <a:spcBef>
                <a:spcPts val="0"/>
              </a:spcBef>
              <a:buNone/>
            </a:pPr>
            <a:r>
              <a:rPr lang="en-US" sz="5100" b="1" dirty="0"/>
              <a:t>Martin Fleming (2020) Research in Harvard Business Review (2020)</a:t>
            </a:r>
          </a:p>
          <a:p>
            <a:pPr>
              <a:lnSpc>
                <a:spcPct val="120000"/>
              </a:lnSpc>
              <a:spcBef>
                <a:spcPts val="0"/>
              </a:spcBef>
            </a:pPr>
            <a:r>
              <a:rPr lang="en-US" sz="5100" b="0" i="0" u="none" strike="noStrike" baseline="0" dirty="0"/>
              <a:t>salaries should reflect the shifting value of tasks all along the organization chart. As technology reduces the cost of some tasks because they can be done in part by AI, the value workers bring to the remaining tasks increases. Those tasks require grounding in intellectual skill and insight—something AI isn’t as good at as people.  </a:t>
            </a:r>
          </a:p>
          <a:p>
            <a:pPr>
              <a:lnSpc>
                <a:spcPct val="120000"/>
              </a:lnSpc>
              <a:spcBef>
                <a:spcPts val="0"/>
              </a:spcBef>
            </a:pPr>
            <a:r>
              <a:rPr lang="en-US" sz="5100" b="0" i="0" u="none" strike="noStrike" baseline="0" dirty="0"/>
              <a:t>In high-wage business and finance occupations, for example, compensation for tasks requiring industry knowledge increased by more than $6,000, on average, between 2010 and 2017. By contrast, average compensation for manufacturing and production tasks (more susceptible to automation) fell by more than $5,000 during that period. As AI continues to reshape the workplace, business leaders who are mindful of this shifting calculus will come out ahead.</a:t>
            </a:r>
            <a:endParaRPr lang="en-US" sz="5100" dirty="0"/>
          </a:p>
          <a:p>
            <a:pPr>
              <a:lnSpc>
                <a:spcPct val="120000"/>
              </a:lnSpc>
            </a:pPr>
            <a:endParaRPr lang="en-US" sz="3600" dirty="0"/>
          </a:p>
          <a:p>
            <a:pPr>
              <a:lnSpc>
                <a:spcPct val="120000"/>
              </a:lnSpc>
            </a:pPr>
            <a:endParaRPr lang="en-US" sz="3600" dirty="0"/>
          </a:p>
          <a:p>
            <a:pPr>
              <a:lnSpc>
                <a:spcPct val="120000"/>
              </a:lnSpc>
            </a:pPr>
            <a:endParaRPr lang="en-US" sz="7650" dirty="0"/>
          </a:p>
          <a:p>
            <a:endParaRPr lang="en-US" dirty="0"/>
          </a:p>
        </p:txBody>
      </p:sp>
      <p:sp>
        <p:nvSpPr>
          <p:cNvPr id="4" name="Slide Number Placeholder 3">
            <a:extLst>
              <a:ext uri="{FF2B5EF4-FFF2-40B4-BE49-F238E27FC236}">
                <a16:creationId xmlns:a16="http://schemas.microsoft.com/office/drawing/2014/main" id="{A2D04EB6-D21F-4B7B-A199-1D28BF9797E2}"/>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8AB2FEE-D19E-4B52-88CF-878558406D2A}" type="slidenum">
              <a:rPr lang="en-US" smtClean="0"/>
              <a:pPr/>
              <a:t>8</a:t>
            </a:fld>
            <a:endParaRPr lang="en-US" dirty="0"/>
          </a:p>
        </p:txBody>
      </p:sp>
    </p:spTree>
    <p:extLst>
      <p:ext uri="{BB962C8B-B14F-4D97-AF65-F5344CB8AC3E}">
        <p14:creationId xmlns:p14="http://schemas.microsoft.com/office/powerpoint/2010/main" val="85052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D88EC-3676-4806-9320-AB7ED258FB3A}"/>
              </a:ext>
            </a:extLst>
          </p:cNvPr>
          <p:cNvSpPr>
            <a:spLocks noGrp="1"/>
          </p:cNvSpPr>
          <p:nvPr>
            <p:ph type="title"/>
          </p:nvPr>
        </p:nvSpPr>
        <p:spPr/>
        <p:txBody>
          <a:bodyPr/>
          <a:lstStyle/>
          <a:p>
            <a:r>
              <a:rPr lang="en-US" dirty="0"/>
              <a:t>Scale Development - focus on Tasks</a:t>
            </a:r>
          </a:p>
        </p:txBody>
      </p:sp>
      <p:sp>
        <p:nvSpPr>
          <p:cNvPr id="3" name="Content Placeholder 2">
            <a:extLst>
              <a:ext uri="{FF2B5EF4-FFF2-40B4-BE49-F238E27FC236}">
                <a16:creationId xmlns:a16="http://schemas.microsoft.com/office/drawing/2014/main" id="{786956EC-5FC9-4C90-B468-48757C9EE9D7}"/>
              </a:ext>
            </a:extLst>
          </p:cNvPr>
          <p:cNvSpPr>
            <a:spLocks noGrp="1"/>
          </p:cNvSpPr>
          <p:nvPr>
            <p:ph idx="1"/>
          </p:nvPr>
        </p:nvSpPr>
        <p:spPr/>
        <p:txBody>
          <a:bodyPr/>
          <a:lstStyle/>
          <a:p>
            <a:r>
              <a:rPr lang="en-US" dirty="0"/>
              <a:t>Scale Development – focus on tasks</a:t>
            </a:r>
          </a:p>
        </p:txBody>
      </p:sp>
    </p:spTree>
    <p:extLst>
      <p:ext uri="{BB962C8B-B14F-4D97-AF65-F5344CB8AC3E}">
        <p14:creationId xmlns:p14="http://schemas.microsoft.com/office/powerpoint/2010/main" val="4213707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570A-F55E-4155-AA6A-1E2F6020680F}"/>
              </a:ext>
            </a:extLst>
          </p:cNvPr>
          <p:cNvSpPr>
            <a:spLocks noGrp="1"/>
          </p:cNvSpPr>
          <p:nvPr>
            <p:ph type="title"/>
          </p:nvPr>
        </p:nvSpPr>
        <p:spPr>
          <a:xfrm>
            <a:off x="1841414" y="661511"/>
            <a:ext cx="15087600" cy="1669366"/>
          </a:xfrm>
        </p:spPr>
        <p:txBody>
          <a:bodyPr>
            <a:normAutofit fontScale="90000"/>
          </a:bodyPr>
          <a:lstStyle/>
          <a:p>
            <a:r>
              <a:rPr lang="en-US" sz="5400" dirty="0">
                <a:solidFill>
                  <a:schemeClr val="bg1"/>
                </a:solidFill>
              </a:rPr>
              <a:t>What are the 15 AI abilities included in our Scale? </a:t>
            </a:r>
            <a:br>
              <a:rPr lang="en-US" sz="5400" dirty="0">
                <a:solidFill>
                  <a:schemeClr val="bg1"/>
                </a:solidFill>
              </a:rPr>
            </a:br>
            <a:endParaRPr lang="en-US" sz="5400" dirty="0">
              <a:solidFill>
                <a:schemeClr val="bg1"/>
              </a:solidFill>
            </a:endParaRPr>
          </a:p>
        </p:txBody>
      </p:sp>
      <p:sp>
        <p:nvSpPr>
          <p:cNvPr id="4" name="Slide Number Placeholder 3">
            <a:extLst>
              <a:ext uri="{FF2B5EF4-FFF2-40B4-BE49-F238E27FC236}">
                <a16:creationId xmlns:a16="http://schemas.microsoft.com/office/drawing/2014/main" id="{A2D04EB6-D21F-4B7B-A199-1D28BF9797E2}"/>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8AB2FEE-D19E-4B52-88CF-878558406D2A}" type="slidenum">
              <a:rPr lang="en-US" smtClean="0"/>
              <a:pPr/>
              <a:t>10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44613821"/>
              </p:ext>
            </p:extLst>
          </p:nvPr>
        </p:nvGraphicFramePr>
        <p:xfrm>
          <a:off x="1554480" y="1859621"/>
          <a:ext cx="15661468" cy="7746104"/>
        </p:xfrm>
        <a:graphic>
          <a:graphicData uri="http://schemas.openxmlformats.org/drawingml/2006/table">
            <a:tbl>
              <a:tblPr firstRow="1" firstCol="1" bandRow="1">
                <a:tableStyleId>{5C22544A-7EE6-4342-B048-85BDC9FD1C3A}</a:tableStyleId>
              </a:tblPr>
              <a:tblGrid>
                <a:gridCol w="5219947">
                  <a:extLst>
                    <a:ext uri="{9D8B030D-6E8A-4147-A177-3AD203B41FA5}">
                      <a16:colId xmlns:a16="http://schemas.microsoft.com/office/drawing/2014/main" val="2770713026"/>
                    </a:ext>
                  </a:extLst>
                </a:gridCol>
                <a:gridCol w="5219947">
                  <a:extLst>
                    <a:ext uri="{9D8B030D-6E8A-4147-A177-3AD203B41FA5}">
                      <a16:colId xmlns:a16="http://schemas.microsoft.com/office/drawing/2014/main" val="466524962"/>
                    </a:ext>
                  </a:extLst>
                </a:gridCol>
                <a:gridCol w="5221574">
                  <a:extLst>
                    <a:ext uri="{9D8B030D-6E8A-4147-A177-3AD203B41FA5}">
                      <a16:colId xmlns:a16="http://schemas.microsoft.com/office/drawing/2014/main" val="3410205849"/>
                    </a:ext>
                  </a:extLst>
                </a:gridCol>
              </a:tblGrid>
              <a:tr h="2484931">
                <a:tc>
                  <a:txBody>
                    <a:bodyPr/>
                    <a:lstStyle/>
                    <a:p>
                      <a:pPr marL="0" marR="0">
                        <a:spcBef>
                          <a:spcPts val="0"/>
                        </a:spcBef>
                        <a:spcAft>
                          <a:spcPts val="0"/>
                        </a:spcAft>
                      </a:pPr>
                      <a:r>
                        <a:rPr lang="it-IT" sz="2800" dirty="0">
                          <a:solidFill>
                            <a:schemeClr val="tx1"/>
                          </a:solidFill>
                          <a:effectLst/>
                        </a:rPr>
                        <a:t>Ability to learn from Experience </a:t>
                      </a:r>
                      <a:r>
                        <a:rPr lang="it-IT" sz="2800" dirty="0">
                          <a:solidFill>
                            <a:schemeClr val="bg1"/>
                          </a:solidFill>
                          <a:effectLst/>
                        </a:rPr>
                        <a:t>(supervised learning, reinforcement learning) – </a:t>
                      </a:r>
                      <a:r>
                        <a:rPr lang="it-IT" sz="2800" dirty="0">
                          <a:solidFill>
                            <a:schemeClr val="tx1"/>
                          </a:solidFill>
                          <a:effectLst/>
                        </a:rPr>
                        <a:t>(LEAEXP)</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tc>
                  <a:txBody>
                    <a:bodyPr/>
                    <a:lstStyle/>
                    <a:p>
                      <a:pPr marL="0" marR="0">
                        <a:spcBef>
                          <a:spcPts val="0"/>
                        </a:spcBef>
                        <a:spcAft>
                          <a:spcPts val="0"/>
                        </a:spcAft>
                      </a:pPr>
                      <a:r>
                        <a:rPr lang="it-IT" sz="2800" dirty="0">
                          <a:solidFill>
                            <a:schemeClr val="tx1"/>
                          </a:solidFill>
                          <a:effectLst/>
                        </a:rPr>
                        <a:t>Ability </a:t>
                      </a:r>
                      <a:r>
                        <a:rPr lang="it-IT" sz="2800" dirty="0">
                          <a:solidFill>
                            <a:schemeClr val="bg1"/>
                          </a:solidFill>
                          <a:effectLst/>
                        </a:rPr>
                        <a:t>to execute structured tasks (established tasks with known rules) or unstructured tasks (those that are new or unknown) – </a:t>
                      </a:r>
                      <a:r>
                        <a:rPr lang="it-IT" sz="2800" dirty="0">
                          <a:solidFill>
                            <a:schemeClr val="tx1"/>
                          </a:solidFill>
                          <a:effectLst/>
                        </a:rPr>
                        <a:t>(TASKST)</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tc>
                  <a:txBody>
                    <a:bodyPr/>
                    <a:lstStyle/>
                    <a:p>
                      <a:pPr marL="0" marR="0">
                        <a:spcBef>
                          <a:spcPts val="0"/>
                        </a:spcBef>
                        <a:spcAft>
                          <a:spcPts val="0"/>
                        </a:spcAft>
                      </a:pPr>
                      <a:r>
                        <a:rPr lang="it-IT" sz="2800" dirty="0">
                          <a:solidFill>
                            <a:schemeClr val="tx1"/>
                          </a:solidFill>
                          <a:effectLst/>
                        </a:rPr>
                        <a:t>Ability to complete processing tasks at high speed – (HSPEED)</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extLst>
                  <a:ext uri="{0D108BD9-81ED-4DB2-BD59-A6C34878D82A}">
                    <a16:rowId xmlns:a16="http://schemas.microsoft.com/office/drawing/2014/main" val="3169136381"/>
                  </a:ext>
                </a:extLst>
              </a:tr>
              <a:tr h="1490959">
                <a:tc>
                  <a:txBody>
                    <a:bodyPr/>
                    <a:lstStyle/>
                    <a:p>
                      <a:pPr marL="0" marR="0">
                        <a:spcBef>
                          <a:spcPts val="0"/>
                        </a:spcBef>
                        <a:spcAft>
                          <a:spcPts val="0"/>
                        </a:spcAft>
                      </a:pPr>
                      <a:r>
                        <a:rPr lang="it-IT" sz="2800" dirty="0">
                          <a:solidFill>
                            <a:schemeClr val="tx1"/>
                          </a:solidFill>
                          <a:effectLst/>
                        </a:rPr>
                        <a:t>Ability for practical understanding or common sense (PSENSE)</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tc>
                  <a:txBody>
                    <a:bodyPr/>
                    <a:lstStyle/>
                    <a:p>
                      <a:pPr marL="0" marR="0">
                        <a:spcBef>
                          <a:spcPts val="0"/>
                        </a:spcBef>
                        <a:spcAft>
                          <a:spcPts val="0"/>
                        </a:spcAft>
                      </a:pPr>
                      <a:r>
                        <a:rPr lang="it-IT" sz="2800" b="1" dirty="0">
                          <a:effectLst/>
                        </a:rPr>
                        <a:t>Ability to </a:t>
                      </a:r>
                      <a:r>
                        <a:rPr lang="it-IT" sz="2800" b="1" dirty="0">
                          <a:solidFill>
                            <a:schemeClr val="bg1"/>
                          </a:solidFill>
                          <a:effectLst/>
                        </a:rPr>
                        <a:t>complete repetitive, boring or hazardous tasks (unattractive tasks) – </a:t>
                      </a:r>
                      <a:r>
                        <a:rPr lang="it-IT" sz="2800" b="1" dirty="0">
                          <a:solidFill>
                            <a:schemeClr val="tx1"/>
                          </a:solidFill>
                          <a:effectLst/>
                        </a:rPr>
                        <a:t>(UNATTR)</a:t>
                      </a:r>
                      <a:endParaRPr lang="en-US" sz="2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tc>
                  <a:txBody>
                    <a:bodyPr/>
                    <a:lstStyle/>
                    <a:p>
                      <a:pPr marL="0" marR="0">
                        <a:spcBef>
                          <a:spcPts val="0"/>
                        </a:spcBef>
                        <a:spcAft>
                          <a:spcPts val="0"/>
                        </a:spcAft>
                      </a:pPr>
                      <a:r>
                        <a:rPr lang="it-IT" sz="2800" b="1" dirty="0">
                          <a:effectLst/>
                        </a:rPr>
                        <a:t>Ability to be accurate in processing tasks (ACCU)</a:t>
                      </a:r>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extLst>
                  <a:ext uri="{0D108BD9-81ED-4DB2-BD59-A6C34878D82A}">
                    <a16:rowId xmlns:a16="http://schemas.microsoft.com/office/drawing/2014/main" val="2734734228"/>
                  </a:ext>
                </a:extLst>
              </a:tr>
              <a:tr h="993973">
                <a:tc>
                  <a:txBody>
                    <a:bodyPr/>
                    <a:lstStyle/>
                    <a:p>
                      <a:pPr marL="0" marR="0">
                        <a:spcBef>
                          <a:spcPts val="0"/>
                        </a:spcBef>
                        <a:spcAft>
                          <a:spcPts val="0"/>
                        </a:spcAft>
                      </a:pPr>
                      <a:r>
                        <a:rPr lang="it-IT" sz="2800" dirty="0">
                          <a:solidFill>
                            <a:schemeClr val="tx1"/>
                          </a:solidFill>
                          <a:effectLst/>
                        </a:rPr>
                        <a:t>Ability to understand human language (LANG)</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tc>
                  <a:txBody>
                    <a:bodyPr/>
                    <a:lstStyle/>
                    <a:p>
                      <a:pPr marL="0" marR="0">
                        <a:spcBef>
                          <a:spcPts val="0"/>
                        </a:spcBef>
                        <a:spcAft>
                          <a:spcPts val="0"/>
                        </a:spcAft>
                      </a:pPr>
                      <a:r>
                        <a:rPr lang="it-IT" sz="2800" b="1" dirty="0">
                          <a:effectLst/>
                        </a:rPr>
                        <a:t>Ability to complete data or computation tasks (DCTASK)	</a:t>
                      </a:r>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tc>
                  <a:txBody>
                    <a:bodyPr/>
                    <a:lstStyle/>
                    <a:p>
                      <a:pPr marL="0" marR="0">
                        <a:spcBef>
                          <a:spcPts val="0"/>
                        </a:spcBef>
                        <a:spcAft>
                          <a:spcPts val="0"/>
                        </a:spcAft>
                      </a:pPr>
                      <a:r>
                        <a:rPr lang="it-IT" sz="2800" b="1" dirty="0">
                          <a:effectLst/>
                        </a:rPr>
                        <a:t>Ability to be available over an extended time horizon – (AVTIME)</a:t>
                      </a:r>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extLst>
                  <a:ext uri="{0D108BD9-81ED-4DB2-BD59-A6C34878D82A}">
                    <a16:rowId xmlns:a16="http://schemas.microsoft.com/office/drawing/2014/main" val="2496604689"/>
                  </a:ext>
                </a:extLst>
              </a:tr>
              <a:tr h="993973">
                <a:tc>
                  <a:txBody>
                    <a:bodyPr/>
                    <a:lstStyle/>
                    <a:p>
                      <a:pPr marL="0" marR="0">
                        <a:spcBef>
                          <a:spcPts val="0"/>
                        </a:spcBef>
                        <a:spcAft>
                          <a:spcPts val="0"/>
                        </a:spcAft>
                      </a:pPr>
                      <a:r>
                        <a:rPr lang="it-IT" sz="2800" dirty="0">
                          <a:solidFill>
                            <a:schemeClr val="tx1"/>
                          </a:solidFill>
                          <a:effectLst/>
                        </a:rPr>
                        <a:t>Creative ability (CREAT)</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tc>
                  <a:txBody>
                    <a:bodyPr/>
                    <a:lstStyle/>
                    <a:p>
                      <a:pPr marL="0" marR="0">
                        <a:spcBef>
                          <a:spcPts val="0"/>
                        </a:spcBef>
                        <a:spcAft>
                          <a:spcPts val="0"/>
                        </a:spcAft>
                      </a:pPr>
                      <a:r>
                        <a:rPr lang="it-IT" sz="2800" b="1" dirty="0">
                          <a:effectLst/>
                        </a:rPr>
                        <a:t>Ability to complete prediction tasks (PTASK)</a:t>
                      </a:r>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tc>
                  <a:txBody>
                    <a:bodyPr/>
                    <a:lstStyle/>
                    <a:p>
                      <a:pPr marL="0" marR="0">
                        <a:spcBef>
                          <a:spcPts val="0"/>
                        </a:spcBef>
                        <a:spcAft>
                          <a:spcPts val="0"/>
                        </a:spcAft>
                      </a:pPr>
                      <a:r>
                        <a:rPr lang="it-IT" sz="2800" b="1" dirty="0">
                          <a:effectLst/>
                        </a:rPr>
                        <a:t>Ability to handle very high task volume – (HTVOL)</a:t>
                      </a:r>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extLst>
                  <a:ext uri="{0D108BD9-81ED-4DB2-BD59-A6C34878D82A}">
                    <a16:rowId xmlns:a16="http://schemas.microsoft.com/office/drawing/2014/main" val="2534288767"/>
                  </a:ext>
                </a:extLst>
              </a:tr>
              <a:tr h="993973">
                <a:tc>
                  <a:txBody>
                    <a:bodyPr/>
                    <a:lstStyle/>
                    <a:p>
                      <a:pPr marL="0" marR="0">
                        <a:spcBef>
                          <a:spcPts val="0"/>
                        </a:spcBef>
                        <a:spcAft>
                          <a:spcPts val="0"/>
                        </a:spcAft>
                      </a:pPr>
                      <a:r>
                        <a:rPr lang="it-IT" sz="2800" dirty="0">
                          <a:solidFill>
                            <a:schemeClr val="tx1"/>
                          </a:solidFill>
                          <a:effectLst/>
                        </a:rPr>
                        <a:t>Ability to handle judgement tasks (JUDGMT)</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tc>
                  <a:txBody>
                    <a:bodyPr/>
                    <a:lstStyle/>
                    <a:p>
                      <a:pPr marL="0" marR="0">
                        <a:spcBef>
                          <a:spcPts val="0"/>
                        </a:spcBef>
                        <a:spcAft>
                          <a:spcPts val="0"/>
                        </a:spcAft>
                      </a:pPr>
                      <a:r>
                        <a:rPr lang="it-IT" sz="2800" b="1" dirty="0">
                          <a:effectLst/>
                        </a:rPr>
                        <a:t>Ability to complete very complex, detail-oriented tasks (VCDOT)</a:t>
                      </a:r>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tc>
                  <a:txBody>
                    <a:bodyPr/>
                    <a:lstStyle/>
                    <a:p>
                      <a:pPr marL="0" marR="0">
                        <a:spcBef>
                          <a:spcPts val="0"/>
                        </a:spcBef>
                        <a:spcAft>
                          <a:spcPts val="0"/>
                        </a:spcAft>
                      </a:pPr>
                      <a:r>
                        <a:rPr lang="it-IT" sz="2800" b="1" dirty="0">
                          <a:effectLst/>
                        </a:rPr>
                        <a:t>Ability for tasks that require dexterity or fine motor skills – (DEXT)</a:t>
                      </a:r>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txBody>
                  <a:tcPr marL="102870" marR="102870" marT="0" marB="0">
                    <a:noFill/>
                  </a:tcPr>
                </a:tc>
                <a:extLst>
                  <a:ext uri="{0D108BD9-81ED-4DB2-BD59-A6C34878D82A}">
                    <a16:rowId xmlns:a16="http://schemas.microsoft.com/office/drawing/2014/main" val="1771905998"/>
                  </a:ext>
                </a:extLst>
              </a:tr>
            </a:tbl>
          </a:graphicData>
        </a:graphic>
      </p:graphicFrame>
    </p:spTree>
    <p:extLst>
      <p:ext uri="{BB962C8B-B14F-4D97-AF65-F5344CB8AC3E}">
        <p14:creationId xmlns:p14="http://schemas.microsoft.com/office/powerpoint/2010/main" val="3980732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570A-F55E-4155-AA6A-1E2F6020680F}"/>
              </a:ext>
            </a:extLst>
          </p:cNvPr>
          <p:cNvSpPr>
            <a:spLocks noGrp="1"/>
          </p:cNvSpPr>
          <p:nvPr>
            <p:ph type="title"/>
          </p:nvPr>
        </p:nvSpPr>
        <p:spPr>
          <a:xfrm>
            <a:off x="1645920" y="354008"/>
            <a:ext cx="15087600" cy="2197101"/>
          </a:xfrm>
        </p:spPr>
        <p:txBody>
          <a:bodyPr>
            <a:normAutofit/>
          </a:bodyPr>
          <a:lstStyle/>
          <a:p>
            <a:r>
              <a:rPr lang="en-US" sz="5400" dirty="0">
                <a:solidFill>
                  <a:schemeClr val="bg1"/>
                </a:solidFill>
              </a:rPr>
              <a:t>Initial Tests to validate our AI Abilities Scale </a:t>
            </a:r>
            <a:br>
              <a:rPr lang="en-US" sz="5400" dirty="0">
                <a:solidFill>
                  <a:srgbClr val="FF0000"/>
                </a:solidFill>
              </a:rPr>
            </a:br>
            <a:endParaRPr lang="en-US" sz="5400" dirty="0">
              <a:solidFill>
                <a:srgbClr val="FF0000"/>
              </a:solidFill>
            </a:endParaRPr>
          </a:p>
        </p:txBody>
      </p:sp>
      <p:sp>
        <p:nvSpPr>
          <p:cNvPr id="3" name="Content Placeholder 2">
            <a:extLst>
              <a:ext uri="{FF2B5EF4-FFF2-40B4-BE49-F238E27FC236}">
                <a16:creationId xmlns:a16="http://schemas.microsoft.com/office/drawing/2014/main" id="{C4B02D81-7B85-43B2-80CE-302A5D69FF18}"/>
              </a:ext>
            </a:extLst>
          </p:cNvPr>
          <p:cNvSpPr>
            <a:spLocks noGrp="1"/>
          </p:cNvSpPr>
          <p:nvPr>
            <p:ph idx="1"/>
          </p:nvPr>
        </p:nvSpPr>
        <p:spPr>
          <a:xfrm>
            <a:off x="1645920" y="2768601"/>
            <a:ext cx="15087600" cy="6486090"/>
          </a:xfrm>
        </p:spPr>
        <p:txBody>
          <a:bodyPr>
            <a:normAutofit fontScale="92500" lnSpcReduction="20000"/>
          </a:bodyPr>
          <a:lstStyle/>
          <a:p>
            <a:pPr marL="0" indent="0">
              <a:buNone/>
            </a:pPr>
            <a:r>
              <a:rPr lang="en-US" sz="4200" b="1" dirty="0"/>
              <a:t>Scale Refinement Test for AI Ability Items</a:t>
            </a:r>
          </a:p>
          <a:p>
            <a:r>
              <a:rPr lang="en-US" sz="3600" dirty="0"/>
              <a:t>Following standard procedures to develop the proposed measurement scale for AI abilities by focusing on tasks, the authors developed an initial set of 99 items. To test this scale, we recruited 120 respondents (IT professionals, computer scientists, and experts in AI) in UK through a market research firm in October 2022. They responded to our list of 99 measurement items using a Likert scale.</a:t>
            </a:r>
          </a:p>
          <a:p>
            <a:r>
              <a:rPr lang="en-US" sz="3600" dirty="0"/>
              <a:t>Following a factor analysis of the data collected in this testing exercise, we eliminated weak items (with low factor loadings, or loadings on multiple factors). This resulted in a shorter measurement scale containing 69 items i.e.,  four items for each of the 15 AI abilities, and nine items to measure AI contribution to business and AI-HI contribution to business (identified later as the construct labeled AIHICTB).</a:t>
            </a:r>
          </a:p>
          <a:p>
            <a:pPr>
              <a:lnSpc>
                <a:spcPct val="120000"/>
              </a:lnSpc>
            </a:pPr>
            <a:endParaRPr lang="en-US" sz="9900" dirty="0"/>
          </a:p>
          <a:p>
            <a:pPr>
              <a:lnSpc>
                <a:spcPct val="120000"/>
              </a:lnSpc>
            </a:pPr>
            <a:endParaRPr lang="en-US" sz="3600" dirty="0"/>
          </a:p>
          <a:p>
            <a:pPr>
              <a:lnSpc>
                <a:spcPct val="120000"/>
              </a:lnSpc>
            </a:pPr>
            <a:endParaRPr lang="en-US" sz="3600" dirty="0"/>
          </a:p>
          <a:p>
            <a:pPr>
              <a:lnSpc>
                <a:spcPct val="120000"/>
              </a:lnSpc>
            </a:pPr>
            <a:endParaRPr lang="en-US" sz="7650" dirty="0"/>
          </a:p>
          <a:p>
            <a:endParaRPr lang="en-US" dirty="0"/>
          </a:p>
        </p:txBody>
      </p:sp>
      <p:sp>
        <p:nvSpPr>
          <p:cNvPr id="4" name="Slide Number Placeholder 3">
            <a:extLst>
              <a:ext uri="{FF2B5EF4-FFF2-40B4-BE49-F238E27FC236}">
                <a16:creationId xmlns:a16="http://schemas.microsoft.com/office/drawing/2014/main" id="{A2D04EB6-D21F-4B7B-A199-1D28BF9797E2}"/>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8AB2FEE-D19E-4B52-88CF-878558406D2A}" type="slidenum">
              <a:rPr lang="en-US" smtClean="0"/>
              <a:pPr/>
              <a:t>11</a:t>
            </a:fld>
            <a:endParaRPr lang="en-US"/>
          </a:p>
        </p:txBody>
      </p:sp>
    </p:spTree>
    <p:extLst>
      <p:ext uri="{BB962C8B-B14F-4D97-AF65-F5344CB8AC3E}">
        <p14:creationId xmlns:p14="http://schemas.microsoft.com/office/powerpoint/2010/main" val="2579893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570A-F55E-4155-AA6A-1E2F6020680F}"/>
              </a:ext>
            </a:extLst>
          </p:cNvPr>
          <p:cNvSpPr>
            <a:spLocks noGrp="1"/>
          </p:cNvSpPr>
          <p:nvPr>
            <p:ph type="title"/>
          </p:nvPr>
        </p:nvSpPr>
        <p:spPr>
          <a:xfrm>
            <a:off x="1645920" y="354008"/>
            <a:ext cx="15087600" cy="2197101"/>
          </a:xfrm>
        </p:spPr>
        <p:txBody>
          <a:bodyPr>
            <a:normAutofit fontScale="90000"/>
          </a:bodyPr>
          <a:lstStyle/>
          <a:p>
            <a:r>
              <a:rPr lang="en-US" sz="5400" dirty="0">
                <a:solidFill>
                  <a:schemeClr val="bg1"/>
                </a:solidFill>
              </a:rPr>
              <a:t>Empirical Testing of the AI Abilities Scale Instrument</a:t>
            </a:r>
            <a:br>
              <a:rPr lang="en-US" sz="5400" dirty="0">
                <a:solidFill>
                  <a:srgbClr val="FF0000"/>
                </a:solidFill>
              </a:rPr>
            </a:br>
            <a:endParaRPr lang="en-US" sz="5400" dirty="0">
              <a:solidFill>
                <a:srgbClr val="FF0000"/>
              </a:solidFill>
            </a:endParaRPr>
          </a:p>
        </p:txBody>
      </p:sp>
      <p:sp>
        <p:nvSpPr>
          <p:cNvPr id="3" name="Content Placeholder 2">
            <a:extLst>
              <a:ext uri="{FF2B5EF4-FFF2-40B4-BE49-F238E27FC236}">
                <a16:creationId xmlns:a16="http://schemas.microsoft.com/office/drawing/2014/main" id="{C4B02D81-7B85-43B2-80CE-302A5D69FF18}"/>
              </a:ext>
            </a:extLst>
          </p:cNvPr>
          <p:cNvSpPr>
            <a:spLocks noGrp="1"/>
          </p:cNvSpPr>
          <p:nvPr>
            <p:ph idx="1"/>
          </p:nvPr>
        </p:nvSpPr>
        <p:spPr>
          <a:xfrm>
            <a:off x="1645920" y="2278744"/>
            <a:ext cx="15087600" cy="6486090"/>
          </a:xfrm>
        </p:spPr>
        <p:txBody>
          <a:bodyPr>
            <a:normAutofit fontScale="92500" lnSpcReduction="20000"/>
          </a:bodyPr>
          <a:lstStyle/>
          <a:p>
            <a:r>
              <a:rPr lang="en-US" sz="4200" b="1" dirty="0"/>
              <a:t>January 2023 Large-Scale Survey of US Adults reflecting US Census</a:t>
            </a:r>
          </a:p>
          <a:p>
            <a:r>
              <a:rPr lang="en-US" sz="3600" dirty="0"/>
              <a:t>Using </a:t>
            </a:r>
            <a:r>
              <a:rPr lang="en-US" sz="3600" dirty="0" err="1"/>
              <a:t>Qualtrics</a:t>
            </a:r>
            <a:r>
              <a:rPr lang="en-US" sz="3600" dirty="0"/>
              <a:t> platform, we administered a survey to test the AI Abilities Scale and the related nine coordination items to a representation sample of US Adults.</a:t>
            </a:r>
          </a:p>
          <a:p>
            <a:r>
              <a:rPr lang="en-US" sz="3600" dirty="0"/>
              <a:t>891 US adults responded to this survey. Analysis of this survey database follows.</a:t>
            </a:r>
          </a:p>
          <a:p>
            <a:r>
              <a:rPr lang="en-US" sz="3600" dirty="0"/>
              <a:t>This database was used to estimate and validate the five-stage business decision-making model (prioritization, rapid diagnosis, preliminary validation/recommendation, AI/Human Collaboration, Business Outcome), on the next slide using structural equation modeling as the research method.</a:t>
            </a:r>
          </a:p>
          <a:p>
            <a:pPr>
              <a:lnSpc>
                <a:spcPct val="120000"/>
              </a:lnSpc>
            </a:pPr>
            <a:endParaRPr lang="en-US" sz="9900" dirty="0"/>
          </a:p>
          <a:p>
            <a:pPr>
              <a:lnSpc>
                <a:spcPct val="120000"/>
              </a:lnSpc>
            </a:pPr>
            <a:endParaRPr lang="en-US" sz="3600" dirty="0"/>
          </a:p>
          <a:p>
            <a:pPr>
              <a:lnSpc>
                <a:spcPct val="120000"/>
              </a:lnSpc>
            </a:pPr>
            <a:endParaRPr lang="en-US" sz="3600" dirty="0"/>
          </a:p>
          <a:p>
            <a:pPr>
              <a:lnSpc>
                <a:spcPct val="120000"/>
              </a:lnSpc>
            </a:pPr>
            <a:endParaRPr lang="en-US" sz="7650" dirty="0"/>
          </a:p>
          <a:p>
            <a:endParaRPr lang="en-US" dirty="0"/>
          </a:p>
        </p:txBody>
      </p:sp>
      <p:sp>
        <p:nvSpPr>
          <p:cNvPr id="4" name="Slide Number Placeholder 3">
            <a:extLst>
              <a:ext uri="{FF2B5EF4-FFF2-40B4-BE49-F238E27FC236}">
                <a16:creationId xmlns:a16="http://schemas.microsoft.com/office/drawing/2014/main" id="{A2D04EB6-D21F-4B7B-A199-1D28BF9797E2}"/>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8AB2FEE-D19E-4B52-88CF-878558406D2A}" type="slidenum">
              <a:rPr lang="en-US" smtClean="0"/>
              <a:pPr/>
              <a:t>12</a:t>
            </a:fld>
            <a:endParaRPr lang="en-US"/>
          </a:p>
        </p:txBody>
      </p:sp>
    </p:spTree>
    <p:extLst>
      <p:ext uri="{BB962C8B-B14F-4D97-AF65-F5344CB8AC3E}">
        <p14:creationId xmlns:p14="http://schemas.microsoft.com/office/powerpoint/2010/main" val="1005991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9DDD21-C20A-4822-84CB-FDBF978C83D7}"/>
              </a:ext>
            </a:extLst>
          </p:cNvPr>
          <p:cNvSpPr>
            <a:spLocks noGrp="1"/>
          </p:cNvSpPr>
          <p:nvPr>
            <p:ph type="sldNum" sz="quarter" idx="12"/>
          </p:nvPr>
        </p:nvSpPr>
        <p:spPr/>
        <p:txBody>
          <a:bodyPr/>
          <a:lstStyle/>
          <a:p>
            <a:fld id="{5DD3DB80-B894-403A-B48E-6FDC1A72010E}" type="slidenum">
              <a:rPr lang="zh-CN" altLang="en-US" smtClean="0"/>
              <a:pPr/>
              <a:t>13</a:t>
            </a:fld>
            <a:endParaRPr lang="zh-CN" altLang="en-US"/>
          </a:p>
        </p:txBody>
      </p:sp>
      <p:sp>
        <p:nvSpPr>
          <p:cNvPr id="4" name="Title 3">
            <a:extLst>
              <a:ext uri="{FF2B5EF4-FFF2-40B4-BE49-F238E27FC236}">
                <a16:creationId xmlns:a16="http://schemas.microsoft.com/office/drawing/2014/main" id="{BD5F3276-6012-4E92-AB02-2852A1E40D60}"/>
              </a:ext>
            </a:extLst>
          </p:cNvPr>
          <p:cNvSpPr>
            <a:spLocks noGrp="1"/>
          </p:cNvSpPr>
          <p:nvPr>
            <p:ph type="title"/>
          </p:nvPr>
        </p:nvSpPr>
        <p:spPr>
          <a:xfrm>
            <a:off x="1098551" y="455616"/>
            <a:ext cx="16084550" cy="1250950"/>
          </a:xfrm>
        </p:spPr>
        <p:txBody>
          <a:bodyPr/>
          <a:lstStyle/>
          <a:p>
            <a:r>
              <a:rPr lang="en-US" sz="4800" dirty="0">
                <a:solidFill>
                  <a:schemeClr val="bg1"/>
                </a:solidFill>
              </a:rPr>
              <a:t>Model Estimated and Validated</a:t>
            </a:r>
          </a:p>
        </p:txBody>
      </p:sp>
      <p:sp>
        <p:nvSpPr>
          <p:cNvPr id="5" name="Content Placeholder 4">
            <a:extLst>
              <a:ext uri="{FF2B5EF4-FFF2-40B4-BE49-F238E27FC236}">
                <a16:creationId xmlns:a16="http://schemas.microsoft.com/office/drawing/2014/main" id="{B49A2BF5-8E73-41F5-BF1C-ECC424882C43}"/>
              </a:ext>
            </a:extLst>
          </p:cNvPr>
          <p:cNvSpPr>
            <a:spLocks noGrp="1"/>
          </p:cNvSpPr>
          <p:nvPr>
            <p:ph sz="quarter" idx="13"/>
          </p:nvPr>
        </p:nvSpPr>
        <p:spPr>
          <a:xfrm>
            <a:off x="1044966" y="2144486"/>
            <a:ext cx="16198068" cy="7061423"/>
          </a:xfrm>
        </p:spPr>
        <p:txBody>
          <a:bodyPr>
            <a:normAutofit/>
          </a:bodyPr>
          <a:lstStyle/>
          <a:p>
            <a:endParaRPr lang="en-US" dirty="0"/>
          </a:p>
          <a:p>
            <a:pPr marL="0" indent="0">
              <a:buNone/>
            </a:pPr>
            <a:endParaRPr lang="en-US" dirty="0"/>
          </a:p>
          <a:p>
            <a:endParaRPr lang="en-US" dirty="0"/>
          </a:p>
          <a:p>
            <a:endParaRPr lang="en-US" dirty="0"/>
          </a:p>
          <a:p>
            <a:endParaRPr lang="en-US" dirty="0"/>
          </a:p>
          <a:p>
            <a:endParaRPr lang="en-US" dirty="0"/>
          </a:p>
          <a:p>
            <a:pPr marL="0" indent="0">
              <a:buNone/>
            </a:pPr>
            <a:endParaRPr lang="en-US" dirty="0"/>
          </a:p>
        </p:txBody>
      </p:sp>
      <p:pic>
        <p:nvPicPr>
          <p:cNvPr id="7" name="Picture 6" descr="A diagram of a diagram&#10;&#10;Description automatically generated">
            <a:extLst>
              <a:ext uri="{FF2B5EF4-FFF2-40B4-BE49-F238E27FC236}">
                <a16:creationId xmlns:a16="http://schemas.microsoft.com/office/drawing/2014/main" id="{2858C068-FC4F-11C5-AACC-BA096F7AE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2034" y="3408087"/>
            <a:ext cx="13301663" cy="5586413"/>
          </a:xfrm>
          <a:prstGeom prst="rect">
            <a:avLst/>
          </a:prstGeom>
        </p:spPr>
      </p:pic>
      <p:sp>
        <p:nvSpPr>
          <p:cNvPr id="2" name="TextBox 1">
            <a:extLst>
              <a:ext uri="{FF2B5EF4-FFF2-40B4-BE49-F238E27FC236}">
                <a16:creationId xmlns:a16="http://schemas.microsoft.com/office/drawing/2014/main" id="{40E1B131-F77B-463F-8029-7852077EA7A6}"/>
              </a:ext>
            </a:extLst>
          </p:cNvPr>
          <p:cNvSpPr txBox="1"/>
          <p:nvPr/>
        </p:nvSpPr>
        <p:spPr>
          <a:xfrm>
            <a:off x="3431520" y="2341808"/>
            <a:ext cx="7019870" cy="923330"/>
          </a:xfrm>
          <a:prstGeom prst="rect">
            <a:avLst/>
          </a:prstGeom>
          <a:noFill/>
        </p:spPr>
        <p:txBody>
          <a:bodyPr wrap="none" rtlCol="0">
            <a:spAutoFit/>
          </a:bodyPr>
          <a:lstStyle/>
          <a:p>
            <a:r>
              <a:rPr lang="en-US" dirty="0">
                <a:solidFill>
                  <a:schemeClr val="bg1"/>
                </a:solidFill>
              </a:rPr>
              <a:t>Abilities that were dropped from the above model during estimation</a:t>
            </a:r>
          </a:p>
          <a:p>
            <a:r>
              <a:rPr lang="en-US" dirty="0">
                <a:solidFill>
                  <a:schemeClr val="bg1"/>
                </a:solidFill>
              </a:rPr>
              <a:t>process: language (LANG), judgment (JDGMT), dexterity (DEXT),</a:t>
            </a:r>
          </a:p>
          <a:p>
            <a:r>
              <a:rPr lang="en-US" dirty="0">
                <a:solidFill>
                  <a:schemeClr val="bg1"/>
                </a:solidFill>
              </a:rPr>
              <a:t>unattractive (UNATTR) and data/computation tasks (DCTASK).</a:t>
            </a:r>
          </a:p>
        </p:txBody>
      </p:sp>
    </p:spTree>
    <p:extLst>
      <p:ext uri="{BB962C8B-B14F-4D97-AF65-F5344CB8AC3E}">
        <p14:creationId xmlns:p14="http://schemas.microsoft.com/office/powerpoint/2010/main" val="1713235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039E-E941-48A9-A402-CB51D0C75C70}"/>
              </a:ext>
            </a:extLst>
          </p:cNvPr>
          <p:cNvSpPr>
            <a:spLocks noGrp="1"/>
          </p:cNvSpPr>
          <p:nvPr>
            <p:ph type="title"/>
          </p:nvPr>
        </p:nvSpPr>
        <p:spPr>
          <a:xfrm>
            <a:off x="1098550" y="404446"/>
            <a:ext cx="16084552" cy="921491"/>
          </a:xfrm>
        </p:spPr>
        <p:txBody>
          <a:bodyPr/>
          <a:lstStyle/>
          <a:p>
            <a:r>
              <a:rPr lang="en-US" sz="4800" dirty="0"/>
              <a:t>Implications for Automation versus Augmentation</a:t>
            </a:r>
          </a:p>
        </p:txBody>
      </p:sp>
      <p:sp>
        <p:nvSpPr>
          <p:cNvPr id="6" name="TextBox 5">
            <a:extLst>
              <a:ext uri="{FF2B5EF4-FFF2-40B4-BE49-F238E27FC236}">
                <a16:creationId xmlns:a16="http://schemas.microsoft.com/office/drawing/2014/main" id="{31893A78-D1B7-4B3A-8242-352A467163FA}"/>
              </a:ext>
            </a:extLst>
          </p:cNvPr>
          <p:cNvSpPr txBox="1"/>
          <p:nvPr/>
        </p:nvSpPr>
        <p:spPr>
          <a:xfrm>
            <a:off x="1890940" y="1712799"/>
            <a:ext cx="15188746" cy="7478970"/>
          </a:xfrm>
          <a:prstGeom prst="rect">
            <a:avLst/>
          </a:prstGeom>
          <a:noFill/>
        </p:spPr>
        <p:txBody>
          <a:bodyPr wrap="square">
            <a:spAutoFit/>
          </a:bodyPr>
          <a:lstStyle/>
          <a:p>
            <a:pPr marL="457200" indent="-457200">
              <a:buFont typeface="Arial" panose="020B0604020202020204" pitchFamily="34" charset="0"/>
              <a:buChar char="•"/>
            </a:pPr>
            <a:r>
              <a:rPr lang="en-US" sz="3200" dirty="0"/>
              <a:t>Our results contribute new insights that inform recent research on automation and augmentation stemming from increased AI deployment on these fronts. </a:t>
            </a:r>
            <a:endParaRPr lang="en-US" sz="3200" b="1" dirty="0">
              <a:solidFill>
                <a:schemeClr val="bg1"/>
              </a:solidFill>
            </a:endParaRPr>
          </a:p>
          <a:p>
            <a:pPr marL="457200" indent="-457200">
              <a:buFont typeface="Arial" panose="020B0604020202020204" pitchFamily="34" charset="0"/>
              <a:buChar char="•"/>
            </a:pPr>
            <a:endParaRPr lang="en-US" sz="3200" b="1" dirty="0">
              <a:solidFill>
                <a:schemeClr val="bg1"/>
              </a:solidFill>
            </a:endParaRPr>
          </a:p>
          <a:p>
            <a:pPr marL="457200" indent="-457200">
              <a:buFont typeface="Arial" panose="020B0604020202020204" pitchFamily="34" charset="0"/>
              <a:buChar char="•"/>
            </a:pPr>
            <a:r>
              <a:rPr lang="en-US" sz="3200" b="1" dirty="0">
                <a:solidFill>
                  <a:schemeClr val="bg1"/>
                </a:solidFill>
              </a:rPr>
              <a:t>Automation </a:t>
            </a:r>
            <a:r>
              <a:rPr lang="en-US" sz="3200" dirty="0"/>
              <a:t>refers to efforts to enhance process efficiencies e. g., Robotic Process Automation (RPA).  Automation may fully replace humans who previously worked on boring/repetitive/dangerous tasks, and represent low-hanging fruits in the early stages of AI adoption.</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b="1" dirty="0">
                <a:solidFill>
                  <a:schemeClr val="bg1"/>
                </a:solidFill>
              </a:rPr>
              <a:t>Augmentation</a:t>
            </a:r>
            <a:r>
              <a:rPr lang="en-US" sz="3200" dirty="0"/>
              <a:t> refers to AI contributions that specifically augment or supplement human abilities through AI/Human collaboration. Collaborative Robots provide a great example of this, where AI deployment seamlessly works with humans in man/machine teams such that the efficiency gains are significantly higher than in situations that do not require teamwork involving humans/machines. Thought leaders in the AI field have predicted a very robust growth in the augmentation area in future.</a:t>
            </a:r>
          </a:p>
        </p:txBody>
      </p:sp>
    </p:spTree>
    <p:extLst>
      <p:ext uri="{BB962C8B-B14F-4D97-AF65-F5344CB8AC3E}">
        <p14:creationId xmlns:p14="http://schemas.microsoft.com/office/powerpoint/2010/main" val="3605581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01832-276F-40D6-9774-64F7CA4737D5}"/>
              </a:ext>
            </a:extLst>
          </p:cNvPr>
          <p:cNvSpPr>
            <a:spLocks noGrp="1"/>
          </p:cNvSpPr>
          <p:nvPr>
            <p:ph type="title"/>
          </p:nvPr>
        </p:nvSpPr>
        <p:spPr/>
        <p:txBody>
          <a:bodyPr/>
          <a:lstStyle/>
          <a:p>
            <a:r>
              <a:rPr lang="en-US" sz="4800" dirty="0"/>
              <a:t>AI Abilities dropped during model estimation process – potential explanations</a:t>
            </a:r>
          </a:p>
        </p:txBody>
      </p:sp>
      <p:sp>
        <p:nvSpPr>
          <p:cNvPr id="3" name="Content Placeholder 2">
            <a:extLst>
              <a:ext uri="{FF2B5EF4-FFF2-40B4-BE49-F238E27FC236}">
                <a16:creationId xmlns:a16="http://schemas.microsoft.com/office/drawing/2014/main" id="{3D951750-B6B9-4987-AB76-8C4F79FD2AE5}"/>
              </a:ext>
            </a:extLst>
          </p:cNvPr>
          <p:cNvSpPr>
            <a:spLocks noGrp="1"/>
          </p:cNvSpPr>
          <p:nvPr>
            <p:ph idx="1"/>
          </p:nvPr>
        </p:nvSpPr>
        <p:spPr>
          <a:xfrm>
            <a:off x="1098550" y="2050699"/>
            <a:ext cx="16084552" cy="7191272"/>
          </a:xfrm>
        </p:spPr>
        <p:txBody>
          <a:bodyPr/>
          <a:lstStyle/>
          <a:p>
            <a:r>
              <a:rPr lang="en-US" dirty="0"/>
              <a:t>Five AI abilities (language, judgment, dexterity, unattractive and data/computation tasks) were excluded from the final model results.</a:t>
            </a:r>
          </a:p>
          <a:p>
            <a:r>
              <a:rPr lang="en-US" dirty="0"/>
              <a:t>A plausible explanation is that, as LLMs acquire multi-modal and other sophisticated capabilities (such as RAG or retrieval augmented generation), it is likely that language and judgment skills have already reached the point of equivalency between humans and AI systems. For example, </a:t>
            </a:r>
            <a:r>
              <a:rPr lang="en-US" sz="4000" dirty="0">
                <a:solidFill>
                  <a:srgbClr val="C00000"/>
                </a:solidFill>
              </a:rPr>
              <a:t>AI systems like GPT-4 successfully passed high school science exams, LSAT, US Medical Licensing exams, after training on content from appropriate textbooks and study guides. </a:t>
            </a:r>
          </a:p>
        </p:txBody>
      </p:sp>
    </p:spTree>
    <p:extLst>
      <p:ext uri="{BB962C8B-B14F-4D97-AF65-F5344CB8AC3E}">
        <p14:creationId xmlns:p14="http://schemas.microsoft.com/office/powerpoint/2010/main" val="2073716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01832-276F-40D6-9774-64F7CA4737D5}"/>
              </a:ext>
            </a:extLst>
          </p:cNvPr>
          <p:cNvSpPr>
            <a:spLocks noGrp="1"/>
          </p:cNvSpPr>
          <p:nvPr>
            <p:ph type="title"/>
          </p:nvPr>
        </p:nvSpPr>
        <p:spPr/>
        <p:txBody>
          <a:bodyPr/>
          <a:lstStyle/>
          <a:p>
            <a:r>
              <a:rPr lang="en-US" sz="4800" dirty="0"/>
              <a:t>AI Abilities dropped during model estimation process – potential explanations</a:t>
            </a:r>
          </a:p>
        </p:txBody>
      </p:sp>
      <p:sp>
        <p:nvSpPr>
          <p:cNvPr id="3" name="Content Placeholder 2">
            <a:extLst>
              <a:ext uri="{FF2B5EF4-FFF2-40B4-BE49-F238E27FC236}">
                <a16:creationId xmlns:a16="http://schemas.microsoft.com/office/drawing/2014/main" id="{3D951750-B6B9-4987-AB76-8C4F79FD2AE5}"/>
              </a:ext>
            </a:extLst>
          </p:cNvPr>
          <p:cNvSpPr>
            <a:spLocks noGrp="1"/>
          </p:cNvSpPr>
          <p:nvPr>
            <p:ph idx="1"/>
          </p:nvPr>
        </p:nvSpPr>
        <p:spPr>
          <a:xfrm>
            <a:off x="1098550" y="2050699"/>
            <a:ext cx="16084552" cy="7191272"/>
          </a:xfrm>
        </p:spPr>
        <p:txBody>
          <a:bodyPr/>
          <a:lstStyle/>
          <a:p>
            <a:r>
              <a:rPr lang="en-US" sz="3200" dirty="0"/>
              <a:t>A machine that eventually understands subtle nuances of the human language may quickly acquire vast quantities of stored human knowledge, thereby leapfrogging tens of thousands of years of learning by more than one hundred billion people who lived on earth. So this clearly appears an essential step toward AGI.</a:t>
            </a:r>
          </a:p>
          <a:p>
            <a:r>
              <a:rPr lang="en-US" sz="3200" dirty="0"/>
              <a:t>Regarding dexterity, it is likely that its importance is limited to very specialized robot tasks, such that it represents only a minimal part of the overall impact on Business Efficiency Outcome.  </a:t>
            </a:r>
          </a:p>
          <a:p>
            <a:r>
              <a:rPr lang="en-US" sz="3200" dirty="0"/>
              <a:t>For unattractive and data/computation tasks, given the current sophisticated state of AI evolution, it is likely that survey respondents’ associated those with the domain of General Purpose Computing rather than Accelerated Computing that better characterizes AI abilities. </a:t>
            </a:r>
          </a:p>
        </p:txBody>
      </p:sp>
    </p:spTree>
    <p:extLst>
      <p:ext uri="{BB962C8B-B14F-4D97-AF65-F5344CB8AC3E}">
        <p14:creationId xmlns:p14="http://schemas.microsoft.com/office/powerpoint/2010/main" val="3745340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64B5-A29A-8C42-A8EB-815EEF0329FD}"/>
              </a:ext>
            </a:extLst>
          </p:cNvPr>
          <p:cNvSpPr>
            <a:spLocks noGrp="1"/>
          </p:cNvSpPr>
          <p:nvPr>
            <p:ph type="title"/>
          </p:nvPr>
        </p:nvSpPr>
        <p:spPr>
          <a:xfrm>
            <a:off x="987050" y="304801"/>
            <a:ext cx="16313899" cy="1417668"/>
          </a:xfrm>
        </p:spPr>
        <p:txBody>
          <a:bodyPr>
            <a:noAutofit/>
          </a:bodyPr>
          <a:lstStyle/>
          <a:p>
            <a:r>
              <a:rPr lang="en-US" sz="4400" b="1" dirty="0">
                <a:solidFill>
                  <a:schemeClr val="bg1"/>
                </a:solidFill>
              </a:rPr>
              <a:t>Technology basis for AI abilities and execution of business tasks</a:t>
            </a:r>
            <a:endParaRPr lang="en-US" sz="4400" dirty="0">
              <a:solidFill>
                <a:schemeClr val="bg1"/>
              </a:solidFill>
            </a:endParaRPr>
          </a:p>
        </p:txBody>
      </p:sp>
      <p:sp>
        <p:nvSpPr>
          <p:cNvPr id="5" name="TextBox 4">
            <a:extLst>
              <a:ext uri="{FF2B5EF4-FFF2-40B4-BE49-F238E27FC236}">
                <a16:creationId xmlns:a16="http://schemas.microsoft.com/office/drawing/2014/main" id="{5D182163-3C7B-4622-897D-43A76946B272}"/>
              </a:ext>
            </a:extLst>
          </p:cNvPr>
          <p:cNvSpPr txBox="1"/>
          <p:nvPr/>
        </p:nvSpPr>
        <p:spPr>
          <a:xfrm>
            <a:off x="987050" y="2051565"/>
            <a:ext cx="16593380" cy="6538265"/>
          </a:xfrm>
          <a:prstGeom prst="rect">
            <a:avLst/>
          </a:prstGeom>
          <a:noFill/>
        </p:spPr>
        <p:txBody>
          <a:bodyPr wrap="square">
            <a:spAutoFit/>
          </a:bodyPr>
          <a:lstStyle/>
          <a:p>
            <a:pPr marL="457200" indent="-457200">
              <a:lnSpc>
                <a:spcPct val="120000"/>
              </a:lnSpc>
              <a:buFont typeface="Arial" panose="020B0604020202020204" pitchFamily="34" charset="0"/>
              <a:buChar char="•"/>
            </a:pPr>
            <a:r>
              <a:rPr lang="en-US" sz="3200" dirty="0">
                <a:solidFill>
                  <a:srgbClr val="C00000"/>
                </a:solidFill>
              </a:rPr>
              <a:t>In our research study, what AI abilities contribute to automate business decision making?</a:t>
            </a:r>
          </a:p>
          <a:p>
            <a:pPr marL="457200" indent="-457200">
              <a:lnSpc>
                <a:spcPct val="120000"/>
              </a:lnSpc>
              <a:buFont typeface="Arial" panose="020B0604020202020204" pitchFamily="34" charset="0"/>
              <a:buChar char="•"/>
            </a:pPr>
            <a:r>
              <a:rPr lang="en-US" sz="3200" dirty="0"/>
              <a:t>Within the business decision making domain of automation, we find that abilities such as VCDOT, CREAT and TASKST contribute to Prioritization; ACCU and PSENSE help in rapid diagnosis; and HSPEED, PTASK, LEAEXP and HTVOL develop recommendations.</a:t>
            </a:r>
          </a:p>
          <a:p>
            <a:pPr marL="457200" indent="-457200">
              <a:lnSpc>
                <a:spcPct val="120000"/>
              </a:lnSpc>
              <a:buFont typeface="Arial" panose="020B0604020202020204" pitchFamily="34" charset="0"/>
              <a:buChar char="•"/>
            </a:pPr>
            <a:r>
              <a:rPr lang="en-US" sz="3200" dirty="0"/>
              <a:t>Consider AI Tools that go beyond </a:t>
            </a:r>
            <a:r>
              <a:rPr lang="en-US" sz="3200" b="1" i="1" dirty="0"/>
              <a:t>performing general tasks (associated with General Purpose Computing and traditional computing abilities) </a:t>
            </a:r>
            <a:r>
              <a:rPr lang="en-US" sz="3200" dirty="0"/>
              <a:t>to </a:t>
            </a:r>
            <a:r>
              <a:rPr lang="en-US" sz="3200" b="1" i="1" dirty="0"/>
              <a:t>revolutionize tasks (more associated with Accelerated Computing and AI abilities)</a:t>
            </a:r>
            <a:r>
              <a:rPr lang="en-US" sz="3200" dirty="0"/>
              <a:t>. Examples include powerful AI Tools such as </a:t>
            </a:r>
            <a:r>
              <a:rPr lang="en-US" sz="3200" i="1" dirty="0"/>
              <a:t>Tensor Flow</a:t>
            </a:r>
            <a:r>
              <a:rPr lang="en-US" sz="3200" dirty="0"/>
              <a:t>, </a:t>
            </a:r>
            <a:r>
              <a:rPr lang="en-US" sz="3200" i="1" dirty="0" err="1"/>
              <a:t>PyTorch</a:t>
            </a:r>
            <a:r>
              <a:rPr lang="en-US" sz="3200" dirty="0"/>
              <a:t>, </a:t>
            </a:r>
            <a:r>
              <a:rPr lang="en-US" sz="3200" i="1" dirty="0"/>
              <a:t>IBM Watson </a:t>
            </a:r>
            <a:r>
              <a:rPr lang="en-US" sz="3200" dirty="0"/>
              <a:t>help in rapid and flawless task execution; </a:t>
            </a:r>
            <a:r>
              <a:rPr lang="en-US" sz="3200" i="1" dirty="0"/>
              <a:t>Google’s </a:t>
            </a:r>
            <a:r>
              <a:rPr lang="en-US" sz="3200" i="1" dirty="0" err="1"/>
              <a:t>AutoML</a:t>
            </a:r>
            <a:r>
              <a:rPr lang="en-US" sz="3200" dirty="0"/>
              <a:t>, </a:t>
            </a:r>
            <a:r>
              <a:rPr lang="en-US" sz="3200" i="1" dirty="0"/>
              <a:t>Amazon’s </a:t>
            </a:r>
            <a:r>
              <a:rPr lang="en-US" sz="3200" i="1" dirty="0" err="1"/>
              <a:t>SageMaker</a:t>
            </a:r>
            <a:r>
              <a:rPr lang="en-US" sz="3200" i="1" dirty="0"/>
              <a:t> </a:t>
            </a:r>
            <a:r>
              <a:rPr lang="en-US" sz="3200" dirty="0"/>
              <a:t>rapidly train high quality Machine Learning models. </a:t>
            </a:r>
          </a:p>
        </p:txBody>
      </p:sp>
    </p:spTree>
    <p:extLst>
      <p:ext uri="{BB962C8B-B14F-4D97-AF65-F5344CB8AC3E}">
        <p14:creationId xmlns:p14="http://schemas.microsoft.com/office/powerpoint/2010/main" val="2529183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64B5-A29A-8C42-A8EB-815EEF0329FD}"/>
              </a:ext>
            </a:extLst>
          </p:cNvPr>
          <p:cNvSpPr>
            <a:spLocks noGrp="1"/>
          </p:cNvSpPr>
          <p:nvPr>
            <p:ph type="title"/>
          </p:nvPr>
        </p:nvSpPr>
        <p:spPr>
          <a:xfrm>
            <a:off x="987050" y="308704"/>
            <a:ext cx="16313899" cy="771507"/>
          </a:xfrm>
        </p:spPr>
        <p:txBody>
          <a:bodyPr>
            <a:noAutofit/>
          </a:bodyPr>
          <a:lstStyle/>
          <a:p>
            <a:r>
              <a:rPr lang="en-US" sz="4000" b="1" dirty="0">
                <a:solidFill>
                  <a:schemeClr val="bg1"/>
                </a:solidFill>
              </a:rPr>
              <a:t>Technology basis for AI abilities and execution of business tasks</a:t>
            </a:r>
            <a:endParaRPr lang="en-US" sz="4000" dirty="0">
              <a:solidFill>
                <a:schemeClr val="bg1"/>
              </a:solidFill>
            </a:endParaRPr>
          </a:p>
        </p:txBody>
      </p:sp>
      <p:sp>
        <p:nvSpPr>
          <p:cNvPr id="5" name="TextBox 4">
            <a:extLst>
              <a:ext uri="{FF2B5EF4-FFF2-40B4-BE49-F238E27FC236}">
                <a16:creationId xmlns:a16="http://schemas.microsoft.com/office/drawing/2014/main" id="{5D182163-3C7B-4622-897D-43A76946B272}"/>
              </a:ext>
            </a:extLst>
          </p:cNvPr>
          <p:cNvSpPr txBox="1"/>
          <p:nvPr/>
        </p:nvSpPr>
        <p:spPr>
          <a:xfrm>
            <a:off x="925504" y="1610275"/>
            <a:ext cx="16593380" cy="8008796"/>
          </a:xfrm>
          <a:prstGeom prst="rect">
            <a:avLst/>
          </a:prstGeom>
          <a:noFill/>
        </p:spPr>
        <p:txBody>
          <a:bodyPr wrap="square">
            <a:spAutoFit/>
          </a:bodyPr>
          <a:lstStyle/>
          <a:p>
            <a:pPr marL="457200" indent="-457200">
              <a:lnSpc>
                <a:spcPct val="120000"/>
              </a:lnSpc>
              <a:buFont typeface="Arial" panose="020B0604020202020204" pitchFamily="34" charset="0"/>
              <a:buChar char="•"/>
            </a:pPr>
            <a:r>
              <a:rPr lang="en-US" sz="3600" dirty="0">
                <a:solidFill>
                  <a:srgbClr val="C00000"/>
                </a:solidFill>
              </a:rPr>
              <a:t>When AI ability contributes to augment business decision making?</a:t>
            </a:r>
          </a:p>
          <a:p>
            <a:pPr marL="457200" indent="-457200">
              <a:lnSpc>
                <a:spcPct val="120000"/>
              </a:lnSpc>
              <a:buFont typeface="Arial" panose="020B0604020202020204" pitchFamily="34" charset="0"/>
              <a:buChar char="•"/>
            </a:pPr>
            <a:r>
              <a:rPr lang="en-US" sz="3600" dirty="0">
                <a:solidFill>
                  <a:srgbClr val="C00000"/>
                </a:solidFill>
              </a:rPr>
              <a:t>In out study, </a:t>
            </a:r>
            <a:r>
              <a:rPr lang="en-US" sz="3600" dirty="0"/>
              <a:t>AVTIME contributes to AIHICTB (i.e., AI and Human Collaborative Contribution to Business Operations).</a:t>
            </a:r>
            <a:endParaRPr lang="en-US" sz="3600" dirty="0">
              <a:solidFill>
                <a:srgbClr val="C00000"/>
              </a:solidFill>
            </a:endParaRPr>
          </a:p>
          <a:p>
            <a:pPr marL="457200" indent="-457200">
              <a:lnSpc>
                <a:spcPct val="120000"/>
              </a:lnSpc>
              <a:buFont typeface="Arial" panose="020B0604020202020204" pitchFamily="34" charset="0"/>
              <a:buChar char="•"/>
            </a:pPr>
            <a:r>
              <a:rPr lang="en-US" sz="3600" dirty="0"/>
              <a:t>In their book titled </a:t>
            </a:r>
            <a:r>
              <a:rPr lang="en-US" sz="3600" i="1" dirty="0"/>
              <a:t>All In on AI, </a:t>
            </a:r>
            <a:r>
              <a:rPr lang="en-US" sz="3600" dirty="0"/>
              <a:t>Davenport and Mittal (2023) observe that such </a:t>
            </a:r>
            <a:r>
              <a:rPr lang="en-US" sz="3600" b="1" i="1" dirty="0"/>
              <a:t>collaboration between AI and Humans improves business outcomes</a:t>
            </a:r>
            <a:r>
              <a:rPr lang="en-US" sz="3600" i="1" dirty="0"/>
              <a:t>. </a:t>
            </a:r>
            <a:r>
              <a:rPr lang="en-US" sz="3600" b="1" i="1" dirty="0"/>
              <a:t>Collaboration opportunities abound especially where AI augments human abilities to improve business outcomes.</a:t>
            </a:r>
          </a:p>
          <a:p>
            <a:pPr marL="457200" indent="-457200">
              <a:lnSpc>
                <a:spcPct val="120000"/>
              </a:lnSpc>
              <a:buFont typeface="Arial" panose="020B0604020202020204" pitchFamily="34" charset="0"/>
              <a:buChar char="•"/>
            </a:pPr>
            <a:r>
              <a:rPr lang="en-US" sz="3600" dirty="0"/>
              <a:t>Consider examples such as: the </a:t>
            </a:r>
            <a:r>
              <a:rPr lang="en-US" sz="3600" dirty="0" err="1"/>
              <a:t>OpenAI</a:t>
            </a:r>
            <a:r>
              <a:rPr lang="en-US" sz="3600" dirty="0"/>
              <a:t> Energy Initiative, where Microsoft, Shell, C3.AI, and Baker Hughes formed a strategic alliance to create an AI-focused app store for the process industry in the energy sector. Such applications/developments elevate AI abilities to a more central and collaborative role with human decision makers. </a:t>
            </a:r>
          </a:p>
        </p:txBody>
      </p:sp>
    </p:spTree>
    <p:custDataLst>
      <p:tags r:id="rId1"/>
    </p:custDataLst>
    <p:extLst>
      <p:ext uri="{BB962C8B-B14F-4D97-AF65-F5344CB8AC3E}">
        <p14:creationId xmlns:p14="http://schemas.microsoft.com/office/powerpoint/2010/main" val="26908042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16609</TotalTime>
  <Words>2107</Words>
  <Application>Microsoft Office PowerPoint</Application>
  <PresentationFormat>Custom</PresentationFormat>
  <Paragraphs>148</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Wingdings 2</vt:lpstr>
      <vt:lpstr>Breeze</vt:lpstr>
      <vt:lpstr>MBA532 – AI in Business </vt:lpstr>
      <vt:lpstr>Assessing Human and AI Abilities</vt:lpstr>
      <vt:lpstr>What are AI abilities?</vt:lpstr>
      <vt:lpstr>How do AI abilities Compare with Human Abilities? </vt:lpstr>
      <vt:lpstr> Abilities             Humans    AI-Based Machines</vt:lpstr>
      <vt:lpstr>Technology/Industry Developments that Underpin the AI Abilities List</vt:lpstr>
      <vt:lpstr>Research Insight from another study – It is better to assess abilities through focus on tasks </vt:lpstr>
      <vt:lpstr>Research Insight from another study – It is better to assess abilities through focus on tasks </vt:lpstr>
      <vt:lpstr>Scale Development - focus on Tasks</vt:lpstr>
      <vt:lpstr>What are the 15 AI abilities included in our Scale?  </vt:lpstr>
      <vt:lpstr>Initial Tests to validate our AI Abilities Scale  </vt:lpstr>
      <vt:lpstr>Empirical Testing of the AI Abilities Scale Instrument </vt:lpstr>
      <vt:lpstr>Model Estimated and Validated</vt:lpstr>
      <vt:lpstr>Implications for Automation versus Augmentation</vt:lpstr>
      <vt:lpstr>AI Abilities dropped during model estimation process – potential explanations</vt:lpstr>
      <vt:lpstr>AI Abilities dropped during model estimation process – potential explanations</vt:lpstr>
      <vt:lpstr>Technology basis for AI abilities and execution of business tasks</vt:lpstr>
      <vt:lpstr>Technology basis for AI abilities and execution of business tasks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171</cp:revision>
  <dcterms:created xsi:type="dcterms:W3CDTF">2024-03-17T05:07:31Z</dcterms:created>
  <dcterms:modified xsi:type="dcterms:W3CDTF">2024-05-24T15:09:27Z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B9B4C4FA-6AAB-472B-972B-E3F5F8A2C7FB</vt:lpwstr>
  </property>
  <property fmtid="{D5CDD505-2E9C-101B-9397-08002B2CF9AE}" pid="5" name="ArticulatePath">
    <vt:lpwstr>MBA532 – AI in Business - Module 4 - March 25</vt:lpwstr>
  </property>
</Properties>
</file>