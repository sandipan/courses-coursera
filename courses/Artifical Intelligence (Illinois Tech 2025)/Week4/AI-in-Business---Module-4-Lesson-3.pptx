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3"/>
  </p:notesMasterIdLst>
  <p:sldIdLst>
    <p:sldId id="259" r:id="rId5"/>
    <p:sldId id="601" r:id="rId6"/>
    <p:sldId id="560" r:id="rId7"/>
    <p:sldId id="264" r:id="rId8"/>
    <p:sldId id="277" r:id="rId9"/>
    <p:sldId id="278" r:id="rId10"/>
    <p:sldId id="280" r:id="rId11"/>
    <p:sldId id="595" r:id="rId12"/>
  </p:sldIdLst>
  <p:sldSz cx="18288000" cy="10287000"/>
  <p:notesSz cx="6858000" cy="9144000"/>
  <p:custDataLst>
    <p:tags r:id="rId14"/>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normAutofit/>
          </a:bodyPr>
          <a:lstStyle/>
          <a:p>
            <a:pPr>
              <a:defRPr/>
            </a:pPr>
            <a:r>
              <a:rPr lang="en-US" sz="3200" dirty="0">
                <a:latin typeface="+mj-lt"/>
              </a:rPr>
              <a:t>MODULE 4 - </a:t>
            </a:r>
            <a:r>
              <a:rPr lang="en-US" sz="3200" dirty="0">
                <a:effectLst/>
                <a:latin typeface="+mj-lt"/>
                <a:ea typeface="Calibri" panose="020F0502020204030204" pitchFamily="34" charset="0"/>
                <a:cs typeface="Times New Roman" panose="02020603050405020304" pitchFamily="18" charset="0"/>
              </a:rPr>
              <a:t>AI abilities versus Human abilities, Human/Machine Collaboration</a:t>
            </a:r>
            <a:r>
              <a:rPr lang="en-US" sz="3200" dirty="0">
                <a:latin typeface="+mj-lt"/>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7262B-F91C-4B3A-A5EF-6EA1983847E7}"/>
              </a:ext>
            </a:extLst>
          </p:cNvPr>
          <p:cNvSpPr>
            <a:spLocks noGrp="1"/>
          </p:cNvSpPr>
          <p:nvPr>
            <p:ph type="title"/>
          </p:nvPr>
        </p:nvSpPr>
        <p:spPr>
          <a:xfrm>
            <a:off x="1098550" y="589085"/>
            <a:ext cx="16084552" cy="1123714"/>
          </a:xfrm>
        </p:spPr>
        <p:txBody>
          <a:bodyPr/>
          <a:lstStyle/>
          <a:p>
            <a:r>
              <a:rPr lang="en-US" sz="4800" dirty="0"/>
              <a:t>AI/ML Use Cases</a:t>
            </a:r>
          </a:p>
        </p:txBody>
      </p:sp>
      <p:sp>
        <p:nvSpPr>
          <p:cNvPr id="3" name="Content Placeholder 2">
            <a:extLst>
              <a:ext uri="{FF2B5EF4-FFF2-40B4-BE49-F238E27FC236}">
                <a16:creationId xmlns:a16="http://schemas.microsoft.com/office/drawing/2014/main" id="{256B24DC-0305-43DB-A4A0-5E391522B5FB}"/>
              </a:ext>
            </a:extLst>
          </p:cNvPr>
          <p:cNvSpPr>
            <a:spLocks noGrp="1"/>
          </p:cNvSpPr>
          <p:nvPr>
            <p:ph idx="1"/>
          </p:nvPr>
        </p:nvSpPr>
        <p:spPr/>
        <p:txBody>
          <a:bodyPr/>
          <a:lstStyle/>
          <a:p>
            <a:r>
              <a:rPr lang="en-US" dirty="0"/>
              <a:t>AI/ML Use Cases or Appropriate Contexts</a:t>
            </a:r>
          </a:p>
        </p:txBody>
      </p:sp>
    </p:spTree>
    <p:custDataLst>
      <p:tags r:id="rId1"/>
    </p:custDataLst>
    <p:extLst>
      <p:ext uri="{BB962C8B-B14F-4D97-AF65-F5344CB8AC3E}">
        <p14:creationId xmlns:p14="http://schemas.microsoft.com/office/powerpoint/2010/main" val="2017740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63609-5AF4-4A17-AC68-66AD01CAB75B}"/>
              </a:ext>
            </a:extLst>
          </p:cNvPr>
          <p:cNvSpPr>
            <a:spLocks noGrp="1"/>
          </p:cNvSpPr>
          <p:nvPr>
            <p:ph type="title"/>
          </p:nvPr>
        </p:nvSpPr>
        <p:spPr>
          <a:xfrm>
            <a:off x="1098550" y="668215"/>
            <a:ext cx="16084552" cy="1044584"/>
          </a:xfrm>
        </p:spPr>
        <p:txBody>
          <a:bodyPr/>
          <a:lstStyle/>
          <a:p>
            <a:r>
              <a:rPr lang="en-US" sz="4800" b="1" dirty="0">
                <a:solidFill>
                  <a:srgbClr val="C00000"/>
                </a:solidFill>
              </a:rPr>
              <a:t>AI/ML use cases</a:t>
            </a:r>
          </a:p>
        </p:txBody>
      </p:sp>
      <p:sp>
        <p:nvSpPr>
          <p:cNvPr id="3" name="Content Placeholder 2">
            <a:extLst>
              <a:ext uri="{FF2B5EF4-FFF2-40B4-BE49-F238E27FC236}">
                <a16:creationId xmlns:a16="http://schemas.microsoft.com/office/drawing/2014/main" id="{E7A9261F-DDFE-484C-AF4A-76564925C275}"/>
              </a:ext>
            </a:extLst>
          </p:cNvPr>
          <p:cNvSpPr>
            <a:spLocks noGrp="1"/>
          </p:cNvSpPr>
          <p:nvPr>
            <p:ph idx="1"/>
          </p:nvPr>
        </p:nvSpPr>
        <p:spPr/>
        <p:txBody>
          <a:bodyPr>
            <a:normAutofit/>
          </a:bodyPr>
          <a:lstStyle/>
          <a:p>
            <a:r>
              <a:rPr lang="en-US" sz="3600" dirty="0"/>
              <a:t>Creative AI use cases/approaches combine intelligence of several humans and other AI systems to work towards a common goal. </a:t>
            </a:r>
          </a:p>
          <a:p>
            <a:r>
              <a:rPr lang="en-US" sz="3600" dirty="0"/>
              <a:t>Consider all the emergencies that arise following an automobile accident that inflicts a serious head injury. </a:t>
            </a:r>
            <a:r>
              <a:rPr lang="en-US" sz="3600" b="1" i="1" dirty="0"/>
              <a:t>EMT personnel can feed vital patient data and results from diagnostic </a:t>
            </a:r>
            <a:r>
              <a:rPr lang="en-US" sz="3600" b="1" i="1" dirty="0" err="1"/>
              <a:t>catscan</a:t>
            </a:r>
            <a:r>
              <a:rPr lang="en-US" sz="3600" b="1" i="1" dirty="0"/>
              <a:t> images and get instant “expert” AI feedback on a patient’s condition in real time without consulting a doctor for a second opinion; even before this injured patient arrives at the hospital destination, a team of doctors there can prepare for immediate surgery on the patient as needed based on preliminary report from the EMT personnel, again with the benefit of expert AI feedback in real time).</a:t>
            </a:r>
          </a:p>
        </p:txBody>
      </p:sp>
    </p:spTree>
    <p:custDataLst>
      <p:tags r:id="rId1"/>
    </p:custDataLst>
    <p:extLst>
      <p:ext uri="{BB962C8B-B14F-4D97-AF65-F5344CB8AC3E}">
        <p14:creationId xmlns:p14="http://schemas.microsoft.com/office/powerpoint/2010/main" val="47214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E00C-731E-47E1-A245-F61035E38D7D}"/>
              </a:ext>
            </a:extLst>
          </p:cNvPr>
          <p:cNvSpPr>
            <a:spLocks noGrp="1"/>
          </p:cNvSpPr>
          <p:nvPr>
            <p:ph type="title"/>
          </p:nvPr>
        </p:nvSpPr>
        <p:spPr/>
        <p:txBody>
          <a:bodyPr/>
          <a:lstStyle/>
          <a:p>
            <a:r>
              <a:rPr lang="en-US" b="1" dirty="0">
                <a:solidFill>
                  <a:srgbClr val="C00000"/>
                </a:solidFill>
              </a:rPr>
              <a:t>Hierarchy of Abstract Actions</a:t>
            </a:r>
          </a:p>
        </p:txBody>
      </p:sp>
      <p:sp>
        <p:nvSpPr>
          <p:cNvPr id="3" name="Content Placeholder 2">
            <a:extLst>
              <a:ext uri="{FF2B5EF4-FFF2-40B4-BE49-F238E27FC236}">
                <a16:creationId xmlns:a16="http://schemas.microsoft.com/office/drawing/2014/main" id="{F68472A3-E142-4BA4-ABFD-918CB4146F88}"/>
              </a:ext>
            </a:extLst>
          </p:cNvPr>
          <p:cNvSpPr>
            <a:spLocks noGrp="1"/>
          </p:cNvSpPr>
          <p:nvPr>
            <p:ph idx="1"/>
          </p:nvPr>
        </p:nvSpPr>
        <p:spPr/>
        <p:txBody>
          <a:bodyPr>
            <a:noAutofit/>
          </a:bodyPr>
          <a:lstStyle/>
          <a:p>
            <a:r>
              <a:rPr lang="en-US" sz="3200" dirty="0"/>
              <a:t>Algorithms can construct complex plans to achieve specific goals, by relying on the “Hierarchy of Abstract actions” that allows algorithms to execute abstract, hierarchical plans in such a way that the AI agent always has a primitive, physical action “ready to go,” even if actions in the future are still at an abstract level and not yet executable.  </a:t>
            </a:r>
            <a:r>
              <a:rPr lang="en-US" sz="3200" dirty="0">
                <a:solidFill>
                  <a:schemeClr val="accent1"/>
                </a:solidFill>
              </a:rPr>
              <a:t>As one moves through time, the future moves closer to the present and the plans for it become more detailed, while new, vague plans may be added to the distant future.</a:t>
            </a:r>
          </a:p>
          <a:p>
            <a:r>
              <a:rPr lang="en-US" sz="3200" dirty="0"/>
              <a:t>To train a robot to stand up, the human trainer should obviously know what standing up means, so that the right reward signal can be defined (through deep reinforcement learning). The </a:t>
            </a:r>
            <a:r>
              <a:rPr lang="en-US" sz="3200" dirty="0" err="1"/>
              <a:t>Heirarchy</a:t>
            </a:r>
            <a:r>
              <a:rPr lang="en-US" sz="3200" dirty="0"/>
              <a:t> of Abstract Notions can be useful in the process of imparting this learning to the robot. A more useful way to characterize such learning progress is that we want the robot to discover for itself that standing up is a concept or a goal – a useful abstract action.</a:t>
            </a:r>
          </a:p>
        </p:txBody>
      </p:sp>
    </p:spTree>
    <p:custDataLst>
      <p:tags r:id="rId1"/>
    </p:custDataLst>
    <p:extLst>
      <p:ext uri="{BB962C8B-B14F-4D97-AF65-F5344CB8AC3E}">
        <p14:creationId xmlns:p14="http://schemas.microsoft.com/office/powerpoint/2010/main" val="2976388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CC43-8B3A-8547-94D0-DFC84AB0EF79}"/>
              </a:ext>
            </a:extLst>
          </p:cNvPr>
          <p:cNvSpPr>
            <a:spLocks noGrp="1"/>
          </p:cNvSpPr>
          <p:nvPr>
            <p:ph type="title"/>
          </p:nvPr>
        </p:nvSpPr>
        <p:spPr>
          <a:xfrm>
            <a:off x="1101724" y="506353"/>
            <a:ext cx="16084552" cy="841942"/>
          </a:xfrm>
        </p:spPr>
        <p:txBody>
          <a:bodyPr/>
          <a:lstStyle/>
          <a:p>
            <a:r>
              <a:rPr lang="en-US" b="1" dirty="0">
                <a:solidFill>
                  <a:srgbClr val="C00000"/>
                </a:solidFill>
              </a:rPr>
              <a:t>Why is it necessary to Automate through AI?</a:t>
            </a:r>
          </a:p>
        </p:txBody>
      </p:sp>
      <p:sp>
        <p:nvSpPr>
          <p:cNvPr id="3" name="Content Placeholder 2">
            <a:extLst>
              <a:ext uri="{FF2B5EF4-FFF2-40B4-BE49-F238E27FC236}">
                <a16:creationId xmlns:a16="http://schemas.microsoft.com/office/drawing/2014/main" id="{4F2E1AC2-FF8E-E348-B464-55962462C9EA}"/>
              </a:ext>
            </a:extLst>
          </p:cNvPr>
          <p:cNvSpPr>
            <a:spLocks noGrp="1"/>
          </p:cNvSpPr>
          <p:nvPr>
            <p:ph idx="1"/>
          </p:nvPr>
        </p:nvSpPr>
        <p:spPr>
          <a:xfrm>
            <a:off x="1101724" y="1611086"/>
            <a:ext cx="16084552" cy="7957458"/>
          </a:xfrm>
        </p:spPr>
        <p:txBody>
          <a:bodyPr anchor="ctr">
            <a:noAutofit/>
          </a:bodyPr>
          <a:lstStyle/>
          <a:p>
            <a:pPr>
              <a:spcBef>
                <a:spcPts val="0"/>
              </a:spcBef>
            </a:pPr>
            <a:r>
              <a:rPr lang="en-US" sz="3200" dirty="0"/>
              <a:t>At the lower end of the repetitive/non-repetitive job task continuum, AI-based automation is appropriate because it effectively supports tasks that are repetitive and numerous. These tasks often require little creativity, common sense or empathy. Without automation, such tasks frustrate employees and/or increase costs. </a:t>
            </a:r>
          </a:p>
          <a:p>
            <a:pPr>
              <a:spcBef>
                <a:spcPts val="0"/>
              </a:spcBef>
            </a:pPr>
            <a:r>
              <a:rPr lang="en-US" sz="3200" dirty="0"/>
              <a:t>At the higher end of the repetitive/non-repetitive job task continuum, automation is also needed for tasks that are non-repetitive, complex and unique. For example, the human brain cannot process or analyze large volumes of quantitative data.  In such instances, automation is a great opportunity for companies to improve both working conditions and productivity.</a:t>
            </a:r>
          </a:p>
          <a:p>
            <a:pPr>
              <a:spcBef>
                <a:spcPts val="0"/>
              </a:spcBef>
            </a:pPr>
            <a:r>
              <a:rPr lang="en-US" sz="3200" dirty="0"/>
              <a:t>Nevertheless, outsourcing complex automation tasks also </a:t>
            </a:r>
            <a:r>
              <a:rPr lang="en-US" sz="3200" b="1" dirty="0">
                <a:solidFill>
                  <a:srgbClr val="C00000"/>
                </a:solidFill>
              </a:rPr>
              <a:t>increases risk of intellectual property loss</a:t>
            </a:r>
            <a:r>
              <a:rPr lang="en-US" sz="3200" dirty="0"/>
              <a:t>. For this reason, the bulk of such automation applications involve jobs that do not require human intervention. This may include service tasks that decrease production cost, and/or makes it accessible to a large number of customers.</a:t>
            </a:r>
          </a:p>
          <a:p>
            <a:endParaRPr lang="en-US" sz="3000" dirty="0"/>
          </a:p>
        </p:txBody>
      </p:sp>
    </p:spTree>
    <p:custDataLst>
      <p:tags r:id="rId1"/>
    </p:custDataLst>
    <p:extLst>
      <p:ext uri="{BB962C8B-B14F-4D97-AF65-F5344CB8AC3E}">
        <p14:creationId xmlns:p14="http://schemas.microsoft.com/office/powerpoint/2010/main" val="4008524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7ADFE-5A77-5C42-8F72-1FF3A4336669}"/>
              </a:ext>
            </a:extLst>
          </p:cNvPr>
          <p:cNvSpPr>
            <a:spLocks noGrp="1"/>
          </p:cNvSpPr>
          <p:nvPr>
            <p:ph type="title"/>
          </p:nvPr>
        </p:nvSpPr>
        <p:spPr>
          <a:xfrm>
            <a:off x="1101724" y="705651"/>
            <a:ext cx="16084552" cy="1551434"/>
          </a:xfrm>
        </p:spPr>
        <p:txBody>
          <a:bodyPr/>
          <a:lstStyle/>
          <a:p>
            <a:r>
              <a:rPr lang="en-US" sz="4800" b="1" dirty="0">
                <a:solidFill>
                  <a:srgbClr val="C00000"/>
                </a:solidFill>
              </a:rPr>
              <a:t>Preparation time for AI/ML, need for data, and rules supplied by humans</a:t>
            </a:r>
          </a:p>
        </p:txBody>
      </p:sp>
      <p:sp>
        <p:nvSpPr>
          <p:cNvPr id="3" name="Content Placeholder 2">
            <a:extLst>
              <a:ext uri="{FF2B5EF4-FFF2-40B4-BE49-F238E27FC236}">
                <a16:creationId xmlns:a16="http://schemas.microsoft.com/office/drawing/2014/main" id="{1D5BE8BD-A77A-6640-8092-C6A570F539D7}"/>
              </a:ext>
            </a:extLst>
          </p:cNvPr>
          <p:cNvSpPr>
            <a:spLocks noGrp="1"/>
          </p:cNvSpPr>
          <p:nvPr>
            <p:ph idx="1"/>
          </p:nvPr>
        </p:nvSpPr>
        <p:spPr>
          <a:xfrm>
            <a:off x="1242552" y="2413122"/>
            <a:ext cx="15773400" cy="6527007"/>
          </a:xfrm>
        </p:spPr>
        <p:txBody>
          <a:bodyPr anchor="ctr">
            <a:normAutofit fontScale="92500" lnSpcReduction="20000"/>
          </a:bodyPr>
          <a:lstStyle/>
          <a:p>
            <a:r>
              <a:rPr lang="en-US" sz="3600" dirty="0"/>
              <a:t>Machine learning (ML) applications require development time to prepare the data being mined; this includes time needed to set up the system, its objective and analysis of test cases.</a:t>
            </a:r>
          </a:p>
          <a:p>
            <a:r>
              <a:rPr lang="en-US" sz="3600" dirty="0"/>
              <a:t>This technology relies on probability theory. A first approach to ML applications recognizes that, as the volume of data processed increases, the accuracy of the output increases. Increased prediction accuracy allows the development of AI systems that “reason” automatically.</a:t>
            </a:r>
          </a:p>
          <a:p>
            <a:r>
              <a:rPr lang="en-US" sz="3600" dirty="0"/>
              <a:t>A second technical approach is a rule-based approach to automation that relies more on systems that derive or deduce decision-making logic from rules previously supplied by human beings.</a:t>
            </a:r>
          </a:p>
          <a:p>
            <a:r>
              <a:rPr lang="en-US" sz="3600" dirty="0"/>
              <a:t>Current evidence suggests that the first approach is more efficient and effective than the second approach.</a:t>
            </a:r>
          </a:p>
        </p:txBody>
      </p:sp>
    </p:spTree>
    <p:custDataLst>
      <p:tags r:id="rId1"/>
    </p:custDataLst>
    <p:extLst>
      <p:ext uri="{BB962C8B-B14F-4D97-AF65-F5344CB8AC3E}">
        <p14:creationId xmlns:p14="http://schemas.microsoft.com/office/powerpoint/2010/main" val="1000535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3BBE1-0AB8-5F45-8E55-614C8E5BEA91}"/>
              </a:ext>
            </a:extLst>
          </p:cNvPr>
          <p:cNvSpPr>
            <a:spLocks noGrp="1"/>
          </p:cNvSpPr>
          <p:nvPr>
            <p:ph type="title"/>
          </p:nvPr>
        </p:nvSpPr>
        <p:spPr>
          <a:xfrm>
            <a:off x="1257299" y="391886"/>
            <a:ext cx="16084552" cy="1048770"/>
          </a:xfrm>
        </p:spPr>
        <p:txBody>
          <a:bodyPr/>
          <a:lstStyle/>
          <a:p>
            <a:r>
              <a:rPr lang="en-US" sz="4800" b="1" dirty="0">
                <a:solidFill>
                  <a:srgbClr val="C00000"/>
                </a:solidFill>
              </a:rPr>
              <a:t>Breaking Down AI/ML Decision Making</a:t>
            </a:r>
          </a:p>
        </p:txBody>
      </p:sp>
      <p:sp>
        <p:nvSpPr>
          <p:cNvPr id="3" name="Content Placeholder 2">
            <a:extLst>
              <a:ext uri="{FF2B5EF4-FFF2-40B4-BE49-F238E27FC236}">
                <a16:creationId xmlns:a16="http://schemas.microsoft.com/office/drawing/2014/main" id="{8B906627-463F-0940-B9A5-1005517A25E5}"/>
              </a:ext>
            </a:extLst>
          </p:cNvPr>
          <p:cNvSpPr>
            <a:spLocks noGrp="1"/>
          </p:cNvSpPr>
          <p:nvPr>
            <p:ph idx="1"/>
          </p:nvPr>
        </p:nvSpPr>
        <p:spPr>
          <a:xfrm>
            <a:off x="1161912" y="1712800"/>
            <a:ext cx="16275326" cy="8182314"/>
          </a:xfrm>
        </p:spPr>
        <p:txBody>
          <a:bodyPr anchor="ctr">
            <a:normAutofit fontScale="55000" lnSpcReduction="20000"/>
          </a:bodyPr>
          <a:lstStyle/>
          <a:p>
            <a:pPr marL="0" indent="0">
              <a:lnSpc>
                <a:spcPct val="120000"/>
              </a:lnSpc>
              <a:spcBef>
                <a:spcPts val="0"/>
              </a:spcBef>
              <a:buNone/>
            </a:pPr>
            <a:r>
              <a:rPr lang="en-US" sz="5800" dirty="0"/>
              <a:t>Machines are valuable because (1) they produce better, faster and cheaper predictions than humans can, (2) prediction is a key ingredient in decision making under uncertainty, and (3) decision making is ubiquitous throughout our economic and social lives.</a:t>
            </a:r>
          </a:p>
          <a:p>
            <a:pPr marL="0" indent="0">
              <a:lnSpc>
                <a:spcPct val="120000"/>
              </a:lnSpc>
              <a:spcBef>
                <a:spcPts val="0"/>
              </a:spcBef>
              <a:buNone/>
            </a:pPr>
            <a:endParaRPr lang="en-US" sz="5800" dirty="0"/>
          </a:p>
          <a:p>
            <a:pPr marL="0" indent="0">
              <a:lnSpc>
                <a:spcPct val="120000"/>
              </a:lnSpc>
              <a:spcBef>
                <a:spcPts val="0"/>
              </a:spcBef>
              <a:buNone/>
            </a:pPr>
            <a:r>
              <a:rPr lang="en-US" sz="5800" dirty="0"/>
              <a:t>Prediction is not the only component of a decision, but it is likely the only component influenced by machines. The other components are judgment, action, outcome and data that are primarily influenced by human beings.</a:t>
            </a:r>
          </a:p>
          <a:p>
            <a:pPr marL="0" indent="0">
              <a:lnSpc>
                <a:spcPct val="120000"/>
              </a:lnSpc>
              <a:spcBef>
                <a:spcPts val="0"/>
              </a:spcBef>
              <a:buNone/>
            </a:pPr>
            <a:endParaRPr lang="en-US" sz="5800" dirty="0"/>
          </a:p>
          <a:p>
            <a:pPr marL="0" indent="0">
              <a:lnSpc>
                <a:spcPct val="120000"/>
              </a:lnSpc>
              <a:spcBef>
                <a:spcPts val="0"/>
              </a:spcBef>
              <a:buNone/>
            </a:pPr>
            <a:r>
              <a:rPr lang="en-US" sz="5800" dirty="0"/>
              <a:t>Breaking down a decision into its components improves understanding of prediction’s role in the decision making process relative to other important components where humans add value or contribute inputs. </a:t>
            </a:r>
          </a:p>
          <a:p>
            <a:pPr marL="0" indent="0">
              <a:lnSpc>
                <a:spcPct val="120000"/>
              </a:lnSpc>
              <a:spcBef>
                <a:spcPts val="0"/>
              </a:spcBef>
              <a:buNone/>
            </a:pPr>
            <a:endParaRPr lang="en-US" sz="5800" dirty="0"/>
          </a:p>
          <a:p>
            <a:pPr marL="0" indent="0">
              <a:lnSpc>
                <a:spcPct val="120000"/>
              </a:lnSpc>
              <a:spcBef>
                <a:spcPts val="0"/>
              </a:spcBef>
              <a:buNone/>
            </a:pPr>
            <a:r>
              <a:rPr lang="en-US" sz="5800" dirty="0"/>
              <a:t>Judgment (machines generally lack this at a level or depth that is comparable to humans) assesses the relative payoff from each possible outcome of a decision. It requires specifying the objective or goal sought. This is a necessary step in decision making.</a:t>
            </a:r>
          </a:p>
          <a:p>
            <a:endParaRPr lang="en-US" sz="3600" dirty="0"/>
          </a:p>
        </p:txBody>
      </p:sp>
    </p:spTree>
    <p:custDataLst>
      <p:tags r:id="rId1"/>
    </p:custDataLst>
    <p:extLst>
      <p:ext uri="{BB962C8B-B14F-4D97-AF65-F5344CB8AC3E}">
        <p14:creationId xmlns:p14="http://schemas.microsoft.com/office/powerpoint/2010/main" val="329091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3BBE1-0AB8-5F45-8E55-614C8E5BEA91}"/>
              </a:ext>
            </a:extLst>
          </p:cNvPr>
          <p:cNvSpPr>
            <a:spLocks noGrp="1"/>
          </p:cNvSpPr>
          <p:nvPr>
            <p:ph type="title"/>
          </p:nvPr>
        </p:nvSpPr>
        <p:spPr>
          <a:xfrm>
            <a:off x="1098550" y="664029"/>
            <a:ext cx="16084552" cy="1048770"/>
          </a:xfrm>
        </p:spPr>
        <p:txBody>
          <a:bodyPr/>
          <a:lstStyle/>
          <a:p>
            <a:r>
              <a:rPr lang="en-US" b="1" dirty="0">
                <a:solidFill>
                  <a:srgbClr val="C00000"/>
                </a:solidFill>
              </a:rPr>
              <a:t>Breaking Down AI/ML Decision Making</a:t>
            </a:r>
          </a:p>
        </p:txBody>
      </p:sp>
      <p:sp>
        <p:nvSpPr>
          <p:cNvPr id="3" name="Content Placeholder 2">
            <a:extLst>
              <a:ext uri="{FF2B5EF4-FFF2-40B4-BE49-F238E27FC236}">
                <a16:creationId xmlns:a16="http://schemas.microsoft.com/office/drawing/2014/main" id="{8B906627-463F-0940-B9A5-1005517A25E5}"/>
              </a:ext>
            </a:extLst>
          </p:cNvPr>
          <p:cNvSpPr>
            <a:spLocks noGrp="1"/>
          </p:cNvSpPr>
          <p:nvPr>
            <p:ph idx="1"/>
          </p:nvPr>
        </p:nvSpPr>
        <p:spPr>
          <a:xfrm>
            <a:off x="1257299" y="2738438"/>
            <a:ext cx="16275326" cy="6527007"/>
          </a:xfrm>
        </p:spPr>
        <p:txBody>
          <a:bodyPr anchor="ctr">
            <a:normAutofit/>
          </a:bodyPr>
          <a:lstStyle/>
          <a:p>
            <a:r>
              <a:rPr lang="en-US" sz="3600" dirty="0"/>
              <a:t>As machines make predictions better, faster and cheaper, the value of human intervention in the form of judgement or value assessment will increase. </a:t>
            </a:r>
          </a:p>
          <a:p>
            <a:r>
              <a:rPr lang="en-US" sz="3600" dirty="0"/>
              <a:t>Lowering service cost through AI-automation also generates competitive advantage:</a:t>
            </a:r>
          </a:p>
          <a:p>
            <a:pPr lvl="1"/>
            <a:r>
              <a:rPr lang="en-US" sz="3000" dirty="0">
                <a:solidFill>
                  <a:schemeClr val="accent1"/>
                </a:solidFill>
              </a:rPr>
              <a:t>Better predictions attract more customers, thereby increase sales revenue.</a:t>
            </a:r>
          </a:p>
          <a:p>
            <a:pPr lvl="1"/>
            <a:r>
              <a:rPr lang="en-US" sz="3000" dirty="0">
                <a:solidFill>
                  <a:schemeClr val="accent1"/>
                </a:solidFill>
              </a:rPr>
              <a:t>Producing quality service in high volume is possible.</a:t>
            </a:r>
          </a:p>
          <a:p>
            <a:pPr lvl="1"/>
            <a:r>
              <a:rPr lang="en-US" sz="3000" dirty="0">
                <a:solidFill>
                  <a:schemeClr val="accent1"/>
                </a:solidFill>
              </a:rPr>
              <a:t>Profitability increases as production costs decrease.</a:t>
            </a:r>
          </a:p>
          <a:p>
            <a:endParaRPr lang="en-US" sz="3600" dirty="0"/>
          </a:p>
        </p:txBody>
      </p:sp>
    </p:spTree>
    <p:custDataLst>
      <p:tags r:id="rId1"/>
    </p:custDataLst>
    <p:extLst>
      <p:ext uri="{BB962C8B-B14F-4D97-AF65-F5344CB8AC3E}">
        <p14:creationId xmlns:p14="http://schemas.microsoft.com/office/powerpoint/2010/main" val="28365790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3.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16612</TotalTime>
  <Words>915</Words>
  <Application>Microsoft Office PowerPoint</Application>
  <PresentationFormat>Custom</PresentationFormat>
  <Paragraphs>33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Wingdings 2</vt:lpstr>
      <vt:lpstr>Breeze</vt:lpstr>
      <vt:lpstr>MBA532 – AI in Business </vt:lpstr>
      <vt:lpstr>AI/ML Use Cases</vt:lpstr>
      <vt:lpstr>AI/ML use cases</vt:lpstr>
      <vt:lpstr>Hierarchy of Abstract Actions</vt:lpstr>
      <vt:lpstr>Why is it necessary to Automate through AI?</vt:lpstr>
      <vt:lpstr>Preparation time for AI/ML, need for data, and rules supplied by humans</vt:lpstr>
      <vt:lpstr>Breaking Down AI/ML Decision Making</vt:lpstr>
      <vt:lpstr>Breaking Down AI/ML Decision Making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173</cp:revision>
  <dcterms:created xsi:type="dcterms:W3CDTF">2024-03-17T05:07:31Z</dcterms:created>
  <dcterms:modified xsi:type="dcterms:W3CDTF">2024-05-24T15:12:32Z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B9B4C4FA-6AAB-472B-972B-E3F5F8A2C7FB</vt:lpwstr>
  </property>
  <property fmtid="{D5CDD505-2E9C-101B-9397-08002B2CF9AE}" pid="5" name="ArticulatePath">
    <vt:lpwstr>MBA532 – AI in Business - Module 4 - March 25</vt:lpwstr>
  </property>
</Properties>
</file>