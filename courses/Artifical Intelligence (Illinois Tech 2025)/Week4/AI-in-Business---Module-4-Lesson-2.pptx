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6"/>
  </p:notesMasterIdLst>
  <p:sldIdLst>
    <p:sldId id="259" r:id="rId5"/>
    <p:sldId id="599" r:id="rId6"/>
    <p:sldId id="335" r:id="rId7"/>
    <p:sldId id="334" r:id="rId8"/>
    <p:sldId id="590" r:id="rId9"/>
    <p:sldId id="600" r:id="rId10"/>
    <p:sldId id="587" r:id="rId11"/>
    <p:sldId id="341" r:id="rId12"/>
    <p:sldId id="592" r:id="rId13"/>
    <p:sldId id="593" r:id="rId14"/>
    <p:sldId id="594" r:id="rId15"/>
  </p:sldIdLst>
  <p:sldSz cx="18288000" cy="10287000"/>
  <p:notesSz cx="6858000" cy="9144000"/>
  <p:custDataLst>
    <p:tags r:id="rId17"/>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hyperlink" Target="https://www.thewellnews.com/opinions/ai-the-land-of-lingering-fear-and-emergent-hope/" TargetMode="Externa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hyperlink" Target="https://www.thewellnews.com/opinions/ai-the-land-of-lingering-fear-and-emergent-hope/" TargetMode="Externa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normAutofit/>
          </a:bodyPr>
          <a:lstStyle/>
          <a:p>
            <a:pPr>
              <a:defRPr/>
            </a:pPr>
            <a:r>
              <a:rPr lang="en-US" sz="3200" dirty="0">
                <a:latin typeface="+mj-lt"/>
              </a:rPr>
              <a:t>MODULE 4 - </a:t>
            </a:r>
            <a:r>
              <a:rPr lang="en-US" sz="3200" dirty="0">
                <a:effectLst/>
                <a:latin typeface="+mj-lt"/>
                <a:ea typeface="Calibri" panose="020F0502020204030204" pitchFamily="34" charset="0"/>
                <a:cs typeface="Times New Roman" panose="02020603050405020304" pitchFamily="18" charset="0"/>
              </a:rPr>
              <a:t>AI abilities versus Human abilities, Human/Machine Collaboration</a:t>
            </a:r>
            <a:r>
              <a:rPr lang="en-US" sz="3200" dirty="0">
                <a:latin typeface="+mj-lt"/>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7566D-91C3-44A1-A5B0-868865DBD355}"/>
              </a:ext>
            </a:extLst>
          </p:cNvPr>
          <p:cNvSpPr>
            <a:spLocks noGrp="1"/>
          </p:cNvSpPr>
          <p:nvPr>
            <p:ph type="title"/>
          </p:nvPr>
        </p:nvSpPr>
        <p:spPr/>
        <p:txBody>
          <a:bodyPr/>
          <a:lstStyle/>
          <a:p>
            <a:r>
              <a:rPr lang="en-US" dirty="0"/>
              <a:t>AI’s Advantages/Disadvantages</a:t>
            </a:r>
          </a:p>
        </p:txBody>
      </p:sp>
      <p:sp>
        <p:nvSpPr>
          <p:cNvPr id="3" name="Content Placeholder 2">
            <a:extLst>
              <a:ext uri="{FF2B5EF4-FFF2-40B4-BE49-F238E27FC236}">
                <a16:creationId xmlns:a16="http://schemas.microsoft.com/office/drawing/2014/main" id="{42BDFB6F-D743-49DF-8A0E-B6ECFA184DE5}"/>
              </a:ext>
            </a:extLst>
          </p:cNvPr>
          <p:cNvSpPr>
            <a:spLocks noGrp="1"/>
          </p:cNvSpPr>
          <p:nvPr>
            <p:ph idx="1"/>
          </p:nvPr>
        </p:nvSpPr>
        <p:spPr/>
        <p:txBody>
          <a:bodyPr/>
          <a:lstStyle/>
          <a:p>
            <a:r>
              <a:rPr lang="en-US" dirty="0"/>
              <a:t>AI’s Advantages/Disadvantages</a:t>
            </a:r>
          </a:p>
        </p:txBody>
      </p:sp>
    </p:spTree>
    <p:custDataLst>
      <p:tags r:id="rId1"/>
    </p:custDataLst>
    <p:extLst>
      <p:ext uri="{BB962C8B-B14F-4D97-AF65-F5344CB8AC3E}">
        <p14:creationId xmlns:p14="http://schemas.microsoft.com/office/powerpoint/2010/main" val="1195746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57B2-6B90-A347-A4CF-6DC07EFBF121}"/>
              </a:ext>
            </a:extLst>
          </p:cNvPr>
          <p:cNvSpPr>
            <a:spLocks noGrp="1"/>
          </p:cNvSpPr>
          <p:nvPr>
            <p:ph type="title"/>
          </p:nvPr>
        </p:nvSpPr>
        <p:spPr>
          <a:xfrm>
            <a:off x="1098550" y="161365"/>
            <a:ext cx="16084552" cy="2078252"/>
          </a:xfrm>
        </p:spPr>
        <p:txBody>
          <a:bodyPr/>
          <a:lstStyle/>
          <a:p>
            <a:r>
              <a:rPr lang="en-US" b="1" dirty="0">
                <a:solidFill>
                  <a:srgbClr val="C00000"/>
                </a:solidFill>
              </a:rPr>
              <a:t>Advantages/Strengths of AI Reflect Key AI Abilities in the Scale</a:t>
            </a:r>
          </a:p>
        </p:txBody>
      </p:sp>
      <p:sp>
        <p:nvSpPr>
          <p:cNvPr id="3" name="Content Placeholder 2">
            <a:extLst>
              <a:ext uri="{FF2B5EF4-FFF2-40B4-BE49-F238E27FC236}">
                <a16:creationId xmlns:a16="http://schemas.microsoft.com/office/drawing/2014/main" id="{BC60CFED-A6AC-8741-93E0-ADA0DF8364AA}"/>
              </a:ext>
            </a:extLst>
          </p:cNvPr>
          <p:cNvSpPr>
            <a:spLocks noGrp="1"/>
          </p:cNvSpPr>
          <p:nvPr>
            <p:ph idx="1"/>
          </p:nvPr>
        </p:nvSpPr>
        <p:spPr>
          <a:xfrm>
            <a:off x="1257300" y="1933731"/>
            <a:ext cx="16303677" cy="7622499"/>
          </a:xfrm>
        </p:spPr>
        <p:txBody>
          <a:bodyPr anchor="ctr">
            <a:normAutofit/>
          </a:bodyPr>
          <a:lstStyle/>
          <a:p>
            <a:r>
              <a:rPr lang="en-US" dirty="0"/>
              <a:t>24/7 availability. AI systems are always available.</a:t>
            </a:r>
          </a:p>
          <a:p>
            <a:r>
              <a:rPr lang="en-US" dirty="0"/>
              <a:t>No constraints on computing; this applies to both the workload volume and workload speed.</a:t>
            </a:r>
          </a:p>
          <a:p>
            <a:r>
              <a:rPr lang="en-US" dirty="0"/>
              <a:t>Can perform boring/repetitive/tedious/unattractive tasks that humans prefer to avoid (such as dangerous tasks e.g., defusing a bomb, fighting a forest fire) </a:t>
            </a:r>
          </a:p>
          <a:p>
            <a:endParaRPr lang="en-US" sz="3600" dirty="0"/>
          </a:p>
        </p:txBody>
      </p:sp>
    </p:spTree>
    <p:custDataLst>
      <p:tags r:id="rId1"/>
    </p:custDataLst>
    <p:extLst>
      <p:ext uri="{BB962C8B-B14F-4D97-AF65-F5344CB8AC3E}">
        <p14:creationId xmlns:p14="http://schemas.microsoft.com/office/powerpoint/2010/main" val="2068812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57B2-6B90-A347-A4CF-6DC07EFBF121}"/>
              </a:ext>
            </a:extLst>
          </p:cNvPr>
          <p:cNvSpPr>
            <a:spLocks noGrp="1"/>
          </p:cNvSpPr>
          <p:nvPr>
            <p:ph type="title"/>
          </p:nvPr>
        </p:nvSpPr>
        <p:spPr>
          <a:xfrm>
            <a:off x="1022351" y="139644"/>
            <a:ext cx="16084553" cy="896370"/>
          </a:xfrm>
        </p:spPr>
        <p:txBody>
          <a:bodyPr>
            <a:normAutofit fontScale="90000"/>
          </a:bodyPr>
          <a:lstStyle/>
          <a:p>
            <a:r>
              <a:rPr lang="en-US" b="1" dirty="0">
                <a:solidFill>
                  <a:srgbClr val="C00000"/>
                </a:solidFill>
              </a:rPr>
              <a:t>Key Disadvantages/Limitations of AI</a:t>
            </a:r>
          </a:p>
        </p:txBody>
      </p:sp>
      <p:sp>
        <p:nvSpPr>
          <p:cNvPr id="3" name="Content Placeholder 2">
            <a:extLst>
              <a:ext uri="{FF2B5EF4-FFF2-40B4-BE49-F238E27FC236}">
                <a16:creationId xmlns:a16="http://schemas.microsoft.com/office/drawing/2014/main" id="{BC60CFED-A6AC-8741-93E0-ADA0DF8364AA}"/>
              </a:ext>
            </a:extLst>
          </p:cNvPr>
          <p:cNvSpPr>
            <a:spLocks noGrp="1"/>
          </p:cNvSpPr>
          <p:nvPr>
            <p:ph idx="1"/>
          </p:nvPr>
        </p:nvSpPr>
        <p:spPr>
          <a:xfrm>
            <a:off x="1257300" y="1315117"/>
            <a:ext cx="16303677" cy="8754170"/>
          </a:xfrm>
        </p:spPr>
        <p:txBody>
          <a:bodyPr anchor="ctr">
            <a:normAutofit fontScale="25000" lnSpcReduction="20000"/>
          </a:bodyPr>
          <a:lstStyle/>
          <a:p>
            <a:pPr>
              <a:lnSpc>
                <a:spcPct val="120000"/>
              </a:lnSpc>
              <a:spcBef>
                <a:spcPts val="0"/>
              </a:spcBef>
            </a:pPr>
            <a:r>
              <a:rPr lang="en-US" sz="12801" dirty="0"/>
              <a:t>Common Sense synthesizes knowledge, culture and other concepts. General intelligence integrates value judgements and experiences. However, </a:t>
            </a:r>
            <a:r>
              <a:rPr lang="en-US" sz="12801" dirty="0">
                <a:solidFill>
                  <a:srgbClr val="C00000"/>
                </a:solidFill>
              </a:rPr>
              <a:t>AI – in its current state of development – </a:t>
            </a:r>
            <a:r>
              <a:rPr lang="en-US" sz="12801" b="1" dirty="0">
                <a:solidFill>
                  <a:srgbClr val="C00000"/>
                </a:solidFill>
              </a:rPr>
              <a:t>displays common sense or judgment only as needed by a focal task.</a:t>
            </a:r>
          </a:p>
          <a:p>
            <a:pPr marL="0" indent="0">
              <a:lnSpc>
                <a:spcPct val="120000"/>
              </a:lnSpc>
              <a:spcBef>
                <a:spcPts val="0"/>
              </a:spcBef>
              <a:buNone/>
            </a:pPr>
            <a:r>
              <a:rPr lang="en-US" sz="12801" dirty="0">
                <a:solidFill>
                  <a:srgbClr val="C00000"/>
                </a:solidFill>
              </a:rPr>
              <a:t>      </a:t>
            </a:r>
            <a:r>
              <a:rPr lang="en-US" sz="12801" b="1" dirty="0">
                <a:solidFill>
                  <a:srgbClr val="C00000"/>
                </a:solidFill>
              </a:rPr>
              <a:t>Point to Ponder: Fully developed, and more general common/practical sense</a:t>
            </a:r>
          </a:p>
          <a:p>
            <a:pPr marL="0" indent="0">
              <a:lnSpc>
                <a:spcPct val="120000"/>
              </a:lnSpc>
              <a:spcBef>
                <a:spcPts val="0"/>
              </a:spcBef>
              <a:buNone/>
            </a:pPr>
            <a:r>
              <a:rPr lang="en-US" sz="12801" b="1" dirty="0">
                <a:solidFill>
                  <a:srgbClr val="C00000"/>
                </a:solidFill>
              </a:rPr>
              <a:t>	ability awaits more AI progress. </a:t>
            </a:r>
          </a:p>
          <a:p>
            <a:pPr>
              <a:lnSpc>
                <a:spcPct val="120000"/>
              </a:lnSpc>
              <a:spcBef>
                <a:spcPts val="0"/>
              </a:spcBef>
            </a:pPr>
            <a:r>
              <a:rPr lang="en-US" sz="12801" dirty="0"/>
              <a:t>In the field of creativity, AI/ML models typically develop “predictions.” AI can create music based on past data or from creations of real artists. In other words, it can synthesize past data to generate a solution. For example, using Van Gogh’s prior creative works, it can ‘project’ a view of what Van Gogh might have painted more recently if he was alive. </a:t>
            </a:r>
            <a:r>
              <a:rPr lang="en-US" sz="12801" dirty="0">
                <a:solidFill>
                  <a:srgbClr val="C00000"/>
                </a:solidFill>
              </a:rPr>
              <a:t>AI fundamentally </a:t>
            </a:r>
            <a:r>
              <a:rPr lang="en-US" sz="12801" b="1" i="1" dirty="0">
                <a:solidFill>
                  <a:srgbClr val="C00000"/>
                </a:solidFill>
              </a:rPr>
              <a:t>does not </a:t>
            </a:r>
            <a:r>
              <a:rPr lang="en-US" sz="12801" dirty="0">
                <a:solidFill>
                  <a:srgbClr val="C00000"/>
                </a:solidFill>
              </a:rPr>
              <a:t>have any imagination to create something “original” or “new”</a:t>
            </a:r>
            <a:r>
              <a:rPr lang="en-US" sz="12801" dirty="0">
                <a:solidFill>
                  <a:srgbClr val="FF0000"/>
                </a:solidFill>
              </a:rPr>
              <a:t>.</a:t>
            </a:r>
            <a:r>
              <a:rPr lang="en-US" sz="12801" dirty="0"/>
              <a:t> This means that prediction-based applications of AI are, at a basic level, just modified copies, extensions or variations of content from existing creative pieces. So the creativity dimension of AI ability has to be interpreted with this key limitation in mind. </a:t>
            </a:r>
            <a:endParaRPr lang="en-US" sz="3600" dirty="0"/>
          </a:p>
        </p:txBody>
      </p:sp>
    </p:spTree>
    <p:custDataLst>
      <p:tags r:id="rId1"/>
    </p:custDataLst>
    <p:extLst>
      <p:ext uri="{BB962C8B-B14F-4D97-AF65-F5344CB8AC3E}">
        <p14:creationId xmlns:p14="http://schemas.microsoft.com/office/powerpoint/2010/main" val="3584087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8340C-9F12-4610-911F-1CB850B483D3}"/>
              </a:ext>
            </a:extLst>
          </p:cNvPr>
          <p:cNvSpPr>
            <a:spLocks noGrp="1"/>
          </p:cNvSpPr>
          <p:nvPr>
            <p:ph type="title"/>
          </p:nvPr>
        </p:nvSpPr>
        <p:spPr>
          <a:xfrm>
            <a:off x="1098550" y="729343"/>
            <a:ext cx="16084552" cy="983456"/>
          </a:xfrm>
        </p:spPr>
        <p:txBody>
          <a:bodyPr/>
          <a:lstStyle/>
          <a:p>
            <a:r>
              <a:rPr lang="en-US" b="1" dirty="0">
                <a:solidFill>
                  <a:srgbClr val="C00000"/>
                </a:solidFill>
              </a:rPr>
              <a:t>Key Disadvantages/Limitations of AI</a:t>
            </a:r>
            <a:endParaRPr lang="en-US" dirty="0"/>
          </a:p>
        </p:txBody>
      </p:sp>
      <p:sp>
        <p:nvSpPr>
          <p:cNvPr id="3" name="Content Placeholder 2">
            <a:extLst>
              <a:ext uri="{FF2B5EF4-FFF2-40B4-BE49-F238E27FC236}">
                <a16:creationId xmlns:a16="http://schemas.microsoft.com/office/drawing/2014/main" id="{245468C0-5495-4C72-A32D-8F47F46A62AD}"/>
              </a:ext>
            </a:extLst>
          </p:cNvPr>
          <p:cNvSpPr>
            <a:spLocks noGrp="1"/>
          </p:cNvSpPr>
          <p:nvPr>
            <p:ph idx="1"/>
          </p:nvPr>
        </p:nvSpPr>
        <p:spPr/>
        <p:txBody>
          <a:bodyPr/>
          <a:lstStyle/>
          <a:p>
            <a:pPr>
              <a:lnSpc>
                <a:spcPct val="120000"/>
              </a:lnSpc>
              <a:spcBef>
                <a:spcPts val="0"/>
              </a:spcBef>
            </a:pPr>
            <a:r>
              <a:rPr lang="en-US" sz="3600" dirty="0">
                <a:solidFill>
                  <a:srgbClr val="C00000"/>
                </a:solidFill>
              </a:rPr>
              <a:t>AI </a:t>
            </a:r>
            <a:r>
              <a:rPr lang="en-US" sz="3600" b="1" i="1" dirty="0">
                <a:solidFill>
                  <a:srgbClr val="C00000"/>
                </a:solidFill>
              </a:rPr>
              <a:t>does not </a:t>
            </a:r>
            <a:r>
              <a:rPr lang="en-US" sz="3600" dirty="0">
                <a:solidFill>
                  <a:srgbClr val="C00000"/>
                </a:solidFill>
              </a:rPr>
              <a:t>feel. </a:t>
            </a:r>
            <a:r>
              <a:rPr lang="en-US" sz="3600" dirty="0"/>
              <a:t>Consider face recognition apps that lack the full spectrum and sensitivity of human feelings. To fully understand emotions on faces requires sensitivity and appreciation of others’ feelings.</a:t>
            </a:r>
          </a:p>
          <a:p>
            <a:pPr>
              <a:lnSpc>
                <a:spcPct val="120000"/>
              </a:lnSpc>
              <a:spcBef>
                <a:spcPts val="0"/>
              </a:spcBef>
            </a:pPr>
            <a:r>
              <a:rPr lang="en-US" sz="3600" dirty="0"/>
              <a:t>Humor is affected by culture, but to expect a machine to express (or even understand humor) is close to impossible (may always remain a challenge!). Subtle and refined humor remains a uniquely human capability.</a:t>
            </a:r>
          </a:p>
          <a:p>
            <a:pPr>
              <a:lnSpc>
                <a:spcPct val="120000"/>
              </a:lnSpc>
              <a:spcBef>
                <a:spcPts val="0"/>
              </a:spcBef>
            </a:pPr>
            <a:r>
              <a:rPr lang="en-US" sz="3600" dirty="0"/>
              <a:t>For AI apps, success on all the above terms (</a:t>
            </a:r>
            <a:r>
              <a:rPr lang="en-US" sz="3600" dirty="0">
                <a:solidFill>
                  <a:srgbClr val="C00000"/>
                </a:solidFill>
              </a:rPr>
              <a:t>value judgement, learning experience, creativity, feelings, humor</a:t>
            </a:r>
            <a:r>
              <a:rPr lang="en-US" sz="3600" dirty="0"/>
              <a:t>) is unlikely until the arrival of AGI.</a:t>
            </a:r>
          </a:p>
        </p:txBody>
      </p:sp>
    </p:spTree>
    <p:custDataLst>
      <p:tags r:id="rId1"/>
    </p:custDataLst>
    <p:extLst>
      <p:ext uri="{BB962C8B-B14F-4D97-AF65-F5344CB8AC3E}">
        <p14:creationId xmlns:p14="http://schemas.microsoft.com/office/powerpoint/2010/main" val="70670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7F59A-1C5E-4058-B71A-B465141C521F}"/>
              </a:ext>
            </a:extLst>
          </p:cNvPr>
          <p:cNvSpPr>
            <a:spLocks noGrp="1"/>
          </p:cNvSpPr>
          <p:nvPr>
            <p:ph type="title"/>
          </p:nvPr>
        </p:nvSpPr>
        <p:spPr/>
        <p:txBody>
          <a:bodyPr/>
          <a:lstStyle/>
          <a:p>
            <a:r>
              <a:rPr lang="en-US" dirty="0"/>
              <a:t>Key Strengths/Limitations</a:t>
            </a:r>
          </a:p>
        </p:txBody>
      </p:sp>
      <p:sp>
        <p:nvSpPr>
          <p:cNvPr id="3" name="Content Placeholder 2">
            <a:extLst>
              <a:ext uri="{FF2B5EF4-FFF2-40B4-BE49-F238E27FC236}">
                <a16:creationId xmlns:a16="http://schemas.microsoft.com/office/drawing/2014/main" id="{40268997-32D4-482C-B15A-97CA6147C264}"/>
              </a:ext>
            </a:extLst>
          </p:cNvPr>
          <p:cNvSpPr>
            <a:spLocks noGrp="1"/>
          </p:cNvSpPr>
          <p:nvPr>
            <p:ph idx="1"/>
          </p:nvPr>
        </p:nvSpPr>
        <p:spPr/>
        <p:txBody>
          <a:bodyPr/>
          <a:lstStyle/>
          <a:p>
            <a:r>
              <a:rPr lang="en-US" dirty="0"/>
              <a:t>Key Limitations of AI</a:t>
            </a:r>
          </a:p>
        </p:txBody>
      </p:sp>
    </p:spTree>
    <p:custDataLst>
      <p:tags r:id="rId1"/>
    </p:custDataLst>
    <p:extLst>
      <p:ext uri="{BB962C8B-B14F-4D97-AF65-F5344CB8AC3E}">
        <p14:creationId xmlns:p14="http://schemas.microsoft.com/office/powerpoint/2010/main" val="1690099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D6A9-10AB-4575-9F3A-AA48B288D625}"/>
              </a:ext>
            </a:extLst>
          </p:cNvPr>
          <p:cNvSpPr>
            <a:spLocks noGrp="1"/>
          </p:cNvSpPr>
          <p:nvPr>
            <p:ph type="title"/>
          </p:nvPr>
        </p:nvSpPr>
        <p:spPr/>
        <p:txBody>
          <a:bodyPr/>
          <a:lstStyle/>
          <a:p>
            <a:r>
              <a:rPr lang="en-US" dirty="0"/>
              <a:t>Key takeaway strengths of AI/ML</a:t>
            </a:r>
          </a:p>
        </p:txBody>
      </p:sp>
      <p:sp>
        <p:nvSpPr>
          <p:cNvPr id="3" name="Content Placeholder 2">
            <a:extLst>
              <a:ext uri="{FF2B5EF4-FFF2-40B4-BE49-F238E27FC236}">
                <a16:creationId xmlns:a16="http://schemas.microsoft.com/office/drawing/2014/main" id="{0951E074-AE6F-49EC-874A-787DAAF1A87A}"/>
              </a:ext>
            </a:extLst>
          </p:cNvPr>
          <p:cNvSpPr>
            <a:spLocks noGrp="1"/>
          </p:cNvSpPr>
          <p:nvPr>
            <p:ph idx="1"/>
          </p:nvPr>
        </p:nvSpPr>
        <p:spPr/>
        <p:txBody>
          <a:bodyPr/>
          <a:lstStyle/>
          <a:p>
            <a:pPr>
              <a:spcBef>
                <a:spcPts val="0"/>
              </a:spcBef>
            </a:pPr>
            <a:r>
              <a:rPr lang="en-US" sz="3200" dirty="0"/>
              <a:t>In the research study discussed, I use human abilities/intelligence to measure and assess AI abilities/intelligence. Over the past century, a rich literature on human intelligence documents reliable/valid ways to assess human IQ.</a:t>
            </a:r>
          </a:p>
          <a:p>
            <a:pPr marL="0" indent="0">
              <a:spcBef>
                <a:spcPts val="0"/>
              </a:spcBef>
              <a:buNone/>
            </a:pPr>
            <a:endParaRPr lang="en-US" sz="3200" dirty="0"/>
          </a:p>
          <a:p>
            <a:pPr>
              <a:spcBef>
                <a:spcPts val="0"/>
              </a:spcBef>
            </a:pPr>
            <a:r>
              <a:rPr lang="en-US" sz="3200" dirty="0"/>
              <a:t>Consensus viewpoints that emerged from this literature review include: </a:t>
            </a:r>
          </a:p>
          <a:p>
            <a:pPr lvl="1">
              <a:spcBef>
                <a:spcPts val="0"/>
              </a:spcBef>
            </a:pPr>
            <a:r>
              <a:rPr lang="en-US" sz="3200" dirty="0"/>
              <a:t>(a) human abilities remained consistent over decades (i.e., humanity did not acquire new abilities that earlier generations lacked); </a:t>
            </a:r>
          </a:p>
          <a:p>
            <a:pPr lvl="1">
              <a:spcBef>
                <a:spcPts val="0"/>
              </a:spcBef>
            </a:pPr>
            <a:r>
              <a:rPr lang="en-US" sz="3200" dirty="0"/>
              <a:t>(b) excluding early childhood and post-65 aging phases representing remarkable growth and decline, </a:t>
            </a:r>
            <a:r>
              <a:rPr lang="en-US" sz="3200" b="1" dirty="0"/>
              <a:t>human abilities remain stable over the lifetime; </a:t>
            </a:r>
            <a:r>
              <a:rPr lang="en-US" sz="3200" dirty="0"/>
              <a:t>and </a:t>
            </a:r>
          </a:p>
          <a:p>
            <a:pPr lvl="1">
              <a:spcBef>
                <a:spcPts val="0"/>
              </a:spcBef>
            </a:pPr>
            <a:r>
              <a:rPr lang="en-US" sz="3200" dirty="0"/>
              <a:t>(c) individuals differ on intelligence and other abilities. </a:t>
            </a:r>
          </a:p>
          <a:p>
            <a:pPr lvl="1">
              <a:spcBef>
                <a:spcPts val="0"/>
              </a:spcBef>
            </a:pPr>
            <a:endParaRPr lang="en-US" sz="3200" dirty="0"/>
          </a:p>
          <a:p>
            <a:pPr marL="698500" lvl="1" indent="0">
              <a:spcBef>
                <a:spcPts val="0"/>
              </a:spcBef>
              <a:buNone/>
            </a:pPr>
            <a:endParaRPr lang="en-US" sz="3200" dirty="0"/>
          </a:p>
          <a:p>
            <a:pPr>
              <a:spcBef>
                <a:spcPts val="0"/>
              </a:spcBef>
            </a:pPr>
            <a:r>
              <a:rPr lang="en-US" sz="3200" dirty="0"/>
              <a:t>Source: </a:t>
            </a:r>
            <a:r>
              <a:rPr lang="en-US" sz="3200" u="sng" dirty="0">
                <a:solidFill>
                  <a:srgbClr val="0000FF"/>
                </a:solidFill>
                <a:effectLst/>
                <a:ea typeface="Times New Roman" panose="02020603050405020304" pitchFamily="18" charset="0"/>
                <a:cs typeface="Times New Roman" panose="02020603050405020304" pitchFamily="18" charset="0"/>
                <a:hlinkClick r:id="rId3"/>
              </a:rPr>
              <a:t>AI: The Land of Lingering Fear and Emergent Hope</a:t>
            </a:r>
            <a:endParaRPr lang="en-US" sz="3200" dirty="0"/>
          </a:p>
        </p:txBody>
      </p:sp>
    </p:spTree>
    <p:custDataLst>
      <p:tags r:id="rId1"/>
    </p:custDataLst>
    <p:extLst>
      <p:ext uri="{BB962C8B-B14F-4D97-AF65-F5344CB8AC3E}">
        <p14:creationId xmlns:p14="http://schemas.microsoft.com/office/powerpoint/2010/main" val="3555855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91179-3DCA-4C8E-A3DB-5812290534BD}"/>
              </a:ext>
            </a:extLst>
          </p:cNvPr>
          <p:cNvSpPr>
            <a:spLocks noGrp="1"/>
          </p:cNvSpPr>
          <p:nvPr>
            <p:ph type="title"/>
          </p:nvPr>
        </p:nvSpPr>
        <p:spPr>
          <a:xfrm>
            <a:off x="1098550" y="531528"/>
            <a:ext cx="16084552" cy="787513"/>
          </a:xfrm>
        </p:spPr>
        <p:txBody>
          <a:bodyPr/>
          <a:lstStyle/>
          <a:p>
            <a:r>
              <a:rPr lang="en-US" sz="4800" dirty="0"/>
              <a:t>Other key takeaway strengths of AI/ML</a:t>
            </a:r>
          </a:p>
        </p:txBody>
      </p:sp>
      <p:sp>
        <p:nvSpPr>
          <p:cNvPr id="3" name="Content Placeholder 2">
            <a:extLst>
              <a:ext uri="{FF2B5EF4-FFF2-40B4-BE49-F238E27FC236}">
                <a16:creationId xmlns:a16="http://schemas.microsoft.com/office/drawing/2014/main" id="{62E5F5BB-46FD-4BB3-A946-34907D09168F}"/>
              </a:ext>
            </a:extLst>
          </p:cNvPr>
          <p:cNvSpPr>
            <a:spLocks noGrp="1"/>
          </p:cNvSpPr>
          <p:nvPr>
            <p:ph idx="1"/>
          </p:nvPr>
        </p:nvSpPr>
        <p:spPr>
          <a:xfrm>
            <a:off x="1098550" y="1397555"/>
            <a:ext cx="16084552" cy="8236301"/>
          </a:xfrm>
        </p:spPr>
        <p:txBody>
          <a:bodyPr/>
          <a:lstStyle/>
          <a:p>
            <a:pPr>
              <a:spcBef>
                <a:spcPts val="0"/>
              </a:spcBef>
            </a:pPr>
            <a:r>
              <a:rPr lang="en-US" sz="3200" dirty="0"/>
              <a:t>Remarkably, these consensus viewpoints on limits to human abilities do not extend to AI abilities. That is, through creative integration across disparate fields and technologies — (as discussed in Module 3, such as natural language processing, computer vision, deep learning) — </a:t>
            </a:r>
            <a:r>
              <a:rPr lang="en-US" sz="3200" b="1" dirty="0"/>
              <a:t>machines acquire new abilities</a:t>
            </a:r>
            <a:r>
              <a:rPr lang="en-US" sz="3200" dirty="0"/>
              <a:t>.</a:t>
            </a:r>
          </a:p>
          <a:p>
            <a:pPr>
              <a:spcBef>
                <a:spcPts val="0"/>
              </a:spcBef>
            </a:pPr>
            <a:r>
              <a:rPr lang="en-US" sz="3200" dirty="0"/>
              <a:t>To illustrate, neuroscientists David Hubel and </a:t>
            </a:r>
            <a:r>
              <a:rPr lang="en-US" sz="3200" dirty="0" err="1"/>
              <a:t>Torsten</a:t>
            </a:r>
            <a:r>
              <a:rPr lang="en-US" sz="3200" dirty="0"/>
              <a:t> Wiesel won the 1981 Nobel in physiology for discovering that neurons in the visual system respond differently to simple and complex visual stimuli. This inspired Japanese computer scientist </a:t>
            </a:r>
            <a:r>
              <a:rPr lang="en-US" sz="3200" dirty="0" err="1"/>
              <a:t>Kunahiko</a:t>
            </a:r>
            <a:r>
              <a:rPr lang="en-US" sz="3200" dirty="0"/>
              <a:t> Fukushima to develop </a:t>
            </a:r>
            <a:r>
              <a:rPr lang="en-US" sz="3200" dirty="0" err="1"/>
              <a:t>neocognition</a:t>
            </a:r>
            <a:r>
              <a:rPr lang="en-US" sz="3200" dirty="0"/>
              <a:t> — a model for visual recognition — setting the stage for the development of artificial neural networks (ANNs). What links ANNs with human physiology?</a:t>
            </a:r>
          </a:p>
          <a:p>
            <a:pPr>
              <a:spcBef>
                <a:spcPts val="0"/>
              </a:spcBef>
            </a:pPr>
            <a:r>
              <a:rPr lang="en-US" sz="3200" dirty="0"/>
              <a:t>ANNs represent a series of sequentially interconnected layers — each layer has nodes that function like simplified neurons in the human brain. Advances in ANNs and many of its variants serve as building blocks for deep learning and LLMs.</a:t>
            </a:r>
          </a:p>
          <a:p>
            <a:pPr marL="0" indent="0">
              <a:spcBef>
                <a:spcPts val="0"/>
              </a:spcBef>
              <a:buNone/>
            </a:pPr>
            <a:endParaRPr lang="en-US" sz="3200" dirty="0"/>
          </a:p>
          <a:p>
            <a:pPr>
              <a:spcBef>
                <a:spcPts val="0"/>
              </a:spcBef>
            </a:pPr>
            <a:r>
              <a:rPr lang="en-US" sz="3200" dirty="0"/>
              <a:t>Source: </a:t>
            </a:r>
            <a:r>
              <a:rPr lang="en-US" sz="3200" u="sng" dirty="0">
                <a:solidFill>
                  <a:srgbClr val="0000FF"/>
                </a:solidFill>
                <a:effectLst/>
                <a:ea typeface="Times New Roman" panose="02020603050405020304" pitchFamily="18" charset="0"/>
                <a:cs typeface="Times New Roman" panose="02020603050405020304" pitchFamily="18" charset="0"/>
                <a:hlinkClick r:id="rId3"/>
              </a:rPr>
              <a:t>AI: The Land of Lingering Fear and Emergent Hope</a:t>
            </a:r>
            <a:endParaRPr lang="en-US" sz="3200" dirty="0"/>
          </a:p>
          <a:p>
            <a:pPr algn="l"/>
            <a:endParaRPr lang="en-US" sz="3200" dirty="0"/>
          </a:p>
        </p:txBody>
      </p:sp>
    </p:spTree>
    <p:custDataLst>
      <p:tags r:id="rId1"/>
    </p:custDataLst>
    <p:extLst>
      <p:ext uri="{BB962C8B-B14F-4D97-AF65-F5344CB8AC3E}">
        <p14:creationId xmlns:p14="http://schemas.microsoft.com/office/powerpoint/2010/main" val="2149869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91179-3DCA-4C8E-A3DB-5812290534BD}"/>
              </a:ext>
            </a:extLst>
          </p:cNvPr>
          <p:cNvSpPr>
            <a:spLocks noGrp="1"/>
          </p:cNvSpPr>
          <p:nvPr>
            <p:ph type="title"/>
          </p:nvPr>
        </p:nvSpPr>
        <p:spPr/>
        <p:txBody>
          <a:bodyPr/>
          <a:lstStyle/>
          <a:p>
            <a:r>
              <a:rPr lang="en-US" sz="4800" dirty="0"/>
              <a:t>Other key takeaway limitations of AI/ML</a:t>
            </a:r>
          </a:p>
        </p:txBody>
      </p:sp>
      <p:sp>
        <p:nvSpPr>
          <p:cNvPr id="3" name="Content Placeholder 2">
            <a:extLst>
              <a:ext uri="{FF2B5EF4-FFF2-40B4-BE49-F238E27FC236}">
                <a16:creationId xmlns:a16="http://schemas.microsoft.com/office/drawing/2014/main" id="{62E5F5BB-46FD-4BB3-A946-34907D09168F}"/>
              </a:ext>
            </a:extLst>
          </p:cNvPr>
          <p:cNvSpPr>
            <a:spLocks noGrp="1"/>
          </p:cNvSpPr>
          <p:nvPr>
            <p:ph idx="1"/>
          </p:nvPr>
        </p:nvSpPr>
        <p:spPr/>
        <p:txBody>
          <a:bodyPr/>
          <a:lstStyle/>
          <a:p>
            <a:pPr algn="l"/>
            <a:r>
              <a:rPr lang="en-US" sz="3200" dirty="0"/>
              <a:t>So computers evolved from inanimate objects to AI manifestations with humanlike abilities to see/move (e.g., robots), and listen/speak (e.g., chatbots). LLMs rely on transformer neural networks.</a:t>
            </a:r>
          </a:p>
          <a:p>
            <a:pPr algn="l"/>
            <a:r>
              <a:rPr lang="en-US" sz="3200" dirty="0"/>
              <a:t>If AI’s building blocks reflect elements of human physiology, do machines think like humans? </a:t>
            </a:r>
          </a:p>
          <a:p>
            <a:pPr algn="l"/>
            <a:r>
              <a:rPr lang="en-US" sz="3200" dirty="0"/>
              <a:t>The simple answer here is “No.” </a:t>
            </a:r>
          </a:p>
          <a:p>
            <a:pPr algn="l"/>
            <a:r>
              <a:rPr lang="en-US" sz="3200" dirty="0"/>
              <a:t>Alan Turing’s famous test is a game to discover if machines can successfully </a:t>
            </a:r>
            <a:r>
              <a:rPr lang="en-US" sz="3200" b="1" dirty="0"/>
              <a:t>pretend to think</a:t>
            </a:r>
            <a:r>
              <a:rPr lang="en-US" sz="3200" dirty="0"/>
              <a:t> (or even fool humans into believing they think) like humans when they </a:t>
            </a:r>
            <a:r>
              <a:rPr lang="en-US" sz="3200" b="1" dirty="0"/>
              <a:t>demonstrably do not</a:t>
            </a:r>
            <a:r>
              <a:rPr lang="en-US" sz="3200" dirty="0"/>
              <a:t>.</a:t>
            </a:r>
          </a:p>
          <a:p>
            <a:pPr algn="l"/>
            <a:endParaRPr lang="en-US" sz="2000" dirty="0">
              <a:latin typeface="Merriweather" panose="00000500000000000000" pitchFamily="2" charset="0"/>
            </a:endParaRPr>
          </a:p>
          <a:p>
            <a:endParaRPr lang="en-US" dirty="0"/>
          </a:p>
        </p:txBody>
      </p:sp>
    </p:spTree>
    <p:custDataLst>
      <p:tags r:id="rId1"/>
    </p:custDataLst>
    <p:extLst>
      <p:ext uri="{BB962C8B-B14F-4D97-AF65-F5344CB8AC3E}">
        <p14:creationId xmlns:p14="http://schemas.microsoft.com/office/powerpoint/2010/main" val="1378953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91179-3DCA-4C8E-A3DB-5812290534BD}"/>
              </a:ext>
            </a:extLst>
          </p:cNvPr>
          <p:cNvSpPr>
            <a:spLocks noGrp="1"/>
          </p:cNvSpPr>
          <p:nvPr>
            <p:ph type="title"/>
          </p:nvPr>
        </p:nvSpPr>
        <p:spPr/>
        <p:txBody>
          <a:bodyPr/>
          <a:lstStyle/>
          <a:p>
            <a:r>
              <a:rPr lang="en-US" dirty="0"/>
              <a:t>Other key takeaway limitations of AI/ML</a:t>
            </a:r>
          </a:p>
        </p:txBody>
      </p:sp>
      <p:sp>
        <p:nvSpPr>
          <p:cNvPr id="3" name="Content Placeholder 2">
            <a:extLst>
              <a:ext uri="{FF2B5EF4-FFF2-40B4-BE49-F238E27FC236}">
                <a16:creationId xmlns:a16="http://schemas.microsoft.com/office/drawing/2014/main" id="{62E5F5BB-46FD-4BB3-A946-34907D09168F}"/>
              </a:ext>
            </a:extLst>
          </p:cNvPr>
          <p:cNvSpPr>
            <a:spLocks noGrp="1"/>
          </p:cNvSpPr>
          <p:nvPr>
            <p:ph idx="1"/>
          </p:nvPr>
        </p:nvSpPr>
        <p:spPr/>
        <p:txBody>
          <a:bodyPr/>
          <a:lstStyle/>
          <a:p>
            <a:pPr algn="l"/>
            <a:r>
              <a:rPr lang="en-US" sz="3200" dirty="0">
                <a:solidFill>
                  <a:srgbClr val="C00000"/>
                </a:solidFill>
              </a:rPr>
              <a:t>Key takeaway observations that highlight AI limitations include: All the progress on AI/ML thus far merely demonstrate ‘adequate’ levels of human-level intelligence/ability needed to accomplish the assigned task. </a:t>
            </a:r>
          </a:p>
          <a:p>
            <a:pPr algn="l"/>
            <a:r>
              <a:rPr lang="en-US" sz="3200" dirty="0">
                <a:solidFill>
                  <a:srgbClr val="C00000"/>
                </a:solidFill>
              </a:rPr>
              <a:t>At this point, AI/ML clearly does not appear to represent the deep, nuanced, or high-level capabilities that humans are naturally endowed with.  </a:t>
            </a:r>
          </a:p>
          <a:p>
            <a:pPr algn="l"/>
            <a:r>
              <a:rPr lang="en-US" sz="3200" dirty="0">
                <a:solidFill>
                  <a:srgbClr val="C00000"/>
                </a:solidFill>
              </a:rPr>
              <a:t>At the current stage of development, AI has acquired three human senses (touch, sight, hearing) but taste and smell remain frontiers for future exploration/acquisition. </a:t>
            </a:r>
          </a:p>
        </p:txBody>
      </p:sp>
    </p:spTree>
    <p:custDataLst>
      <p:tags r:id="rId1"/>
    </p:custDataLst>
    <p:extLst>
      <p:ext uri="{BB962C8B-B14F-4D97-AF65-F5344CB8AC3E}">
        <p14:creationId xmlns:p14="http://schemas.microsoft.com/office/powerpoint/2010/main" val="1795030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91179-3DCA-4C8E-A3DB-5812290534BD}"/>
              </a:ext>
            </a:extLst>
          </p:cNvPr>
          <p:cNvSpPr>
            <a:spLocks noGrp="1"/>
          </p:cNvSpPr>
          <p:nvPr>
            <p:ph type="title"/>
          </p:nvPr>
        </p:nvSpPr>
        <p:spPr/>
        <p:txBody>
          <a:bodyPr/>
          <a:lstStyle/>
          <a:p>
            <a:r>
              <a:rPr lang="en-US" dirty="0"/>
              <a:t>Other key takeaway limitations of AI/ML</a:t>
            </a:r>
          </a:p>
        </p:txBody>
      </p:sp>
      <p:sp>
        <p:nvSpPr>
          <p:cNvPr id="3" name="Content Placeholder 2">
            <a:extLst>
              <a:ext uri="{FF2B5EF4-FFF2-40B4-BE49-F238E27FC236}">
                <a16:creationId xmlns:a16="http://schemas.microsoft.com/office/drawing/2014/main" id="{62E5F5BB-46FD-4BB3-A946-34907D09168F}"/>
              </a:ext>
            </a:extLst>
          </p:cNvPr>
          <p:cNvSpPr>
            <a:spLocks noGrp="1"/>
          </p:cNvSpPr>
          <p:nvPr>
            <p:ph idx="1"/>
          </p:nvPr>
        </p:nvSpPr>
        <p:spPr/>
        <p:txBody>
          <a:bodyPr/>
          <a:lstStyle/>
          <a:p>
            <a:pPr algn="l"/>
            <a:r>
              <a:rPr lang="en-US" sz="3200" dirty="0">
                <a:solidFill>
                  <a:srgbClr val="C00000"/>
                </a:solidFill>
              </a:rPr>
              <a:t>Overall, current AI/ML applications appear to pretend or ‘mimic’ human abilities although they exhibit enough ability to perform a focal task. </a:t>
            </a:r>
          </a:p>
          <a:p>
            <a:pPr algn="l"/>
            <a:r>
              <a:rPr lang="en-US" sz="3200" dirty="0">
                <a:solidFill>
                  <a:srgbClr val="C00000"/>
                </a:solidFill>
              </a:rPr>
              <a:t>They also cannot “feel”; have less-than-human-level appreciation of humor or creative art (although a product like </a:t>
            </a:r>
            <a:r>
              <a:rPr lang="en-US" sz="3200" dirty="0" err="1">
                <a:solidFill>
                  <a:srgbClr val="C00000"/>
                </a:solidFill>
              </a:rPr>
              <a:t>ChatGPT</a:t>
            </a:r>
            <a:r>
              <a:rPr lang="en-US" sz="3200" dirty="0">
                <a:solidFill>
                  <a:srgbClr val="C00000"/>
                </a:solidFill>
              </a:rPr>
              <a:t> can be asked to generate “jokes” from training on a database of humorous jokes, or </a:t>
            </a:r>
            <a:r>
              <a:rPr lang="en-US" sz="3200" dirty="0" err="1">
                <a:solidFill>
                  <a:srgbClr val="C00000"/>
                </a:solidFill>
              </a:rPr>
              <a:t>Dalle</a:t>
            </a:r>
            <a:r>
              <a:rPr lang="en-US" sz="3200" dirty="0">
                <a:solidFill>
                  <a:srgbClr val="C00000"/>
                </a:solidFill>
              </a:rPr>
              <a:t>-E can produce art images that did not exist before based on training on a vast database of art); and finally, and perhaps most important, they lack practical/common sense understanding.</a:t>
            </a:r>
          </a:p>
          <a:p>
            <a:pPr algn="l"/>
            <a:r>
              <a:rPr lang="en-US" sz="3200" dirty="0">
                <a:solidFill>
                  <a:srgbClr val="C00000"/>
                </a:solidFill>
              </a:rPr>
              <a:t>However, AI applications notably excel in areas where human frailties and deficiencies lie. For example, humans are mortal and have limited availability horizon (e.g., they cannot work 24/7, they need vacations </a:t>
            </a:r>
            <a:r>
              <a:rPr lang="en-US" sz="3200" dirty="0" err="1">
                <a:solidFill>
                  <a:srgbClr val="C00000"/>
                </a:solidFill>
              </a:rPr>
              <a:t>etc</a:t>
            </a:r>
            <a:r>
              <a:rPr lang="en-US" sz="3200" dirty="0">
                <a:solidFill>
                  <a:srgbClr val="C00000"/>
                </a:solidFill>
              </a:rPr>
              <a:t>); humans hate repetitive/boring work, and actively avoid danger).</a:t>
            </a:r>
          </a:p>
          <a:p>
            <a:pPr algn="l"/>
            <a:endParaRPr lang="en-US" sz="2000" dirty="0">
              <a:latin typeface="Merriweather" panose="00000500000000000000" pitchFamily="2" charset="0"/>
            </a:endParaRPr>
          </a:p>
          <a:p>
            <a:endParaRPr lang="en-US" dirty="0"/>
          </a:p>
        </p:txBody>
      </p:sp>
    </p:spTree>
    <p:custDataLst>
      <p:tags r:id="rId1"/>
    </p:custDataLst>
    <p:extLst>
      <p:ext uri="{BB962C8B-B14F-4D97-AF65-F5344CB8AC3E}">
        <p14:creationId xmlns:p14="http://schemas.microsoft.com/office/powerpoint/2010/main" val="8678988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16611</TotalTime>
  <Words>1113</Words>
  <Application>Microsoft Office PowerPoint</Application>
  <PresentationFormat>Custom</PresentationFormat>
  <Paragraphs>48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Merriweather</vt:lpstr>
      <vt:lpstr>Times New Roman</vt:lpstr>
      <vt:lpstr>Wingdings 2</vt:lpstr>
      <vt:lpstr>Breeze</vt:lpstr>
      <vt:lpstr>MBA532 – AI in Business </vt:lpstr>
      <vt:lpstr>AI’s Advantages/Disadvantages</vt:lpstr>
      <vt:lpstr>Advantages/Strengths of AI Reflect Key AI Abilities in the Scale</vt:lpstr>
      <vt:lpstr>Key Disadvantages/Limitations of AI</vt:lpstr>
      <vt:lpstr>Key Disadvantages/Limitations of AI</vt:lpstr>
      <vt:lpstr>Key Strengths/Limitations</vt:lpstr>
      <vt:lpstr>Key takeaway strengths of AI/ML</vt:lpstr>
      <vt:lpstr>Other key takeaway strengths of AI/ML</vt:lpstr>
      <vt:lpstr>Other key takeaway limitations of AI/ML</vt:lpstr>
      <vt:lpstr>Other key takeaway limitations of AI/ML</vt:lpstr>
      <vt:lpstr>Other key takeaway limitations of AI/ML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172</cp:revision>
  <dcterms:created xsi:type="dcterms:W3CDTF">2024-03-17T05:07:31Z</dcterms:created>
  <dcterms:modified xsi:type="dcterms:W3CDTF">2024-05-24T15:11:52Z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B9B4C4FA-6AAB-472B-972B-E3F5F8A2C7FB</vt:lpwstr>
  </property>
  <property fmtid="{D5CDD505-2E9C-101B-9397-08002B2CF9AE}" pid="5" name="ArticulatePath">
    <vt:lpwstr>MBA532 – AI in Business - Module 4 - March 25</vt:lpwstr>
  </property>
</Properties>
</file>