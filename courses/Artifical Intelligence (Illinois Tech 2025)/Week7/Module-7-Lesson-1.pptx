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4"/>
  </p:notesMasterIdLst>
  <p:sldIdLst>
    <p:sldId id="311" r:id="rId5"/>
    <p:sldId id="367" r:id="rId6"/>
    <p:sldId id="368" r:id="rId7"/>
    <p:sldId id="369" r:id="rId8"/>
    <p:sldId id="371" r:id="rId9"/>
    <p:sldId id="320" r:id="rId10"/>
    <p:sldId id="370" r:id="rId11"/>
    <p:sldId id="373" r:id="rId12"/>
    <p:sldId id="374" r:id="rId13"/>
  </p:sldIdLst>
  <p:sldSz cx="18288000" cy="10287000"/>
  <p:notesSz cx="6858000" cy="9144000"/>
  <p:custDataLst>
    <p:tags r:id="rId15"/>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26227C-2CBB-D771-8486-012913BE65B9}" v="10" dt="2024-05-13T01:23:34.6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7E99-A11D-4C5C-8984-BF5C7E043D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661211-265E-4062-95C2-899F48904B17}"/>
              </a:ext>
            </a:extLst>
          </p:cNvPr>
          <p:cNvSpPr>
            <a:spLocks noGrp="1"/>
          </p:cNvSpPr>
          <p:nvPr>
            <p:ph type="dt" sz="half" idx="10"/>
          </p:nvPr>
        </p:nvSpPr>
        <p:spPr/>
        <p:txBody>
          <a:bodyPr/>
          <a:lstStyle/>
          <a:p>
            <a:fld id="{7EB636FF-6623-4057-AF61-DE00FA6B102A}" type="datetimeFigureOut">
              <a:rPr lang="en-US" smtClean="0"/>
              <a:t>5/24/2024</a:t>
            </a:fld>
            <a:endParaRPr lang="en-US"/>
          </a:p>
        </p:txBody>
      </p:sp>
      <p:sp>
        <p:nvSpPr>
          <p:cNvPr id="4" name="Footer Placeholder 3">
            <a:extLst>
              <a:ext uri="{FF2B5EF4-FFF2-40B4-BE49-F238E27FC236}">
                <a16:creationId xmlns:a16="http://schemas.microsoft.com/office/drawing/2014/main" id="{2CB2C95A-0963-4336-A00D-DABF8AAC00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E9B78E-6B10-4CED-805B-CF6D52499A9A}"/>
              </a:ext>
            </a:extLst>
          </p:cNvPr>
          <p:cNvSpPr>
            <a:spLocks noGrp="1"/>
          </p:cNvSpPr>
          <p:nvPr>
            <p:ph type="sldNum" sz="quarter" idx="12"/>
          </p:nvPr>
        </p:nvSpPr>
        <p:spPr/>
        <p:txBody>
          <a:bodyPr/>
          <a:lstStyle/>
          <a:p>
            <a:fld id="{8E20E20D-334C-4D89-B0A6-10D3AE6D9B7D}" type="slidenum">
              <a:rPr lang="en-US" smtClean="0"/>
              <a:t>‹#›</a:t>
            </a:fld>
            <a:endParaRPr lang="en-US"/>
          </a:p>
        </p:txBody>
      </p:sp>
    </p:spTree>
    <p:extLst>
      <p:ext uri="{BB962C8B-B14F-4D97-AF65-F5344CB8AC3E}">
        <p14:creationId xmlns:p14="http://schemas.microsoft.com/office/powerpoint/2010/main" val="22327945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8" r:id="rId4"/>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nature.com/articles/323533a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nature.com/articles/323533a0"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7 – Generative AI and Explainable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92C75-3997-4336-8D4F-F91210204150}"/>
              </a:ext>
            </a:extLst>
          </p:cNvPr>
          <p:cNvSpPr>
            <a:spLocks noGrp="1"/>
          </p:cNvSpPr>
          <p:nvPr>
            <p:ph type="title"/>
          </p:nvPr>
        </p:nvSpPr>
        <p:spPr>
          <a:xfrm>
            <a:off x="1098550" y="622852"/>
            <a:ext cx="16084552" cy="1842051"/>
          </a:xfrm>
        </p:spPr>
        <p:txBody>
          <a:bodyPr/>
          <a:lstStyle/>
          <a:p>
            <a:r>
              <a:rPr lang="en-US" dirty="0"/>
              <a:t>Definition and Narrative History of Generative AI</a:t>
            </a:r>
          </a:p>
        </p:txBody>
      </p:sp>
      <p:sp>
        <p:nvSpPr>
          <p:cNvPr id="3" name="Content Placeholder 2">
            <a:extLst>
              <a:ext uri="{FF2B5EF4-FFF2-40B4-BE49-F238E27FC236}">
                <a16:creationId xmlns:a16="http://schemas.microsoft.com/office/drawing/2014/main" id="{8819E1B2-4F4C-4209-B796-B1D7E9419B57}"/>
              </a:ext>
            </a:extLst>
          </p:cNvPr>
          <p:cNvSpPr>
            <a:spLocks noGrp="1"/>
          </p:cNvSpPr>
          <p:nvPr>
            <p:ph idx="1"/>
          </p:nvPr>
        </p:nvSpPr>
        <p:spPr>
          <a:xfrm>
            <a:off x="1098550" y="2915477"/>
            <a:ext cx="16084552" cy="6023227"/>
          </a:xfrm>
        </p:spPr>
        <p:txBody>
          <a:bodyPr/>
          <a:lstStyle/>
          <a:p>
            <a:r>
              <a:rPr lang="en-US" dirty="0"/>
              <a:t>Generative AI History</a:t>
            </a:r>
          </a:p>
        </p:txBody>
      </p:sp>
    </p:spTree>
    <p:custDataLst>
      <p:tags r:id="rId1"/>
    </p:custDataLst>
    <p:extLst>
      <p:ext uri="{BB962C8B-B14F-4D97-AF65-F5344CB8AC3E}">
        <p14:creationId xmlns:p14="http://schemas.microsoft.com/office/powerpoint/2010/main" val="2227913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p:txBody>
          <a:bodyPr/>
          <a:lstStyle/>
          <a:p>
            <a:r>
              <a:rPr lang="en-US" dirty="0"/>
              <a:t>What is Generative AI?</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20071"/>
            <a:ext cx="16084552" cy="6888006"/>
          </a:xfrm>
        </p:spPr>
        <p:txBody>
          <a:bodyPr/>
          <a:lstStyle/>
          <a:p>
            <a:r>
              <a:rPr lang="en-US" sz="3200" dirty="0"/>
              <a:t>Generative artificial intelligence (AI) represents algorithms that produces new content (such as LLMs like </a:t>
            </a:r>
            <a:r>
              <a:rPr lang="en-US" sz="3200" i="1" dirty="0" err="1"/>
              <a:t>ChatGPT</a:t>
            </a:r>
            <a:r>
              <a:rPr lang="en-US" sz="3200" dirty="0"/>
              <a:t> that create new written content and simulations; like </a:t>
            </a:r>
            <a:r>
              <a:rPr lang="en-US" sz="3200" i="1" dirty="0" err="1"/>
              <a:t>OpenAI</a:t>
            </a:r>
            <a:r>
              <a:rPr lang="en-US" sz="3200" i="1" dirty="0"/>
              <a:t> Codex, GitHub Copilot</a:t>
            </a:r>
            <a:r>
              <a:rPr lang="en-US" sz="3200" dirty="0"/>
              <a:t>, and </a:t>
            </a:r>
            <a:r>
              <a:rPr lang="en-US" sz="3200" i="1" dirty="0"/>
              <a:t>GPT-4</a:t>
            </a:r>
            <a:r>
              <a:rPr lang="en-US" sz="3200" dirty="0"/>
              <a:t> for writing computer code; like </a:t>
            </a:r>
            <a:r>
              <a:rPr lang="en-US" sz="3200" i="1" dirty="0"/>
              <a:t>Dall-E</a:t>
            </a:r>
            <a:r>
              <a:rPr lang="en-US" sz="3200" dirty="0"/>
              <a:t> or </a:t>
            </a:r>
            <a:r>
              <a:rPr lang="en-US" sz="3200" i="1" dirty="0"/>
              <a:t>Stable Diffusion</a:t>
            </a:r>
            <a:r>
              <a:rPr lang="en-US" sz="3200" dirty="0"/>
              <a:t> to create images; like </a:t>
            </a:r>
            <a:r>
              <a:rPr lang="en-US" sz="3200" i="1" dirty="0"/>
              <a:t>Sora</a:t>
            </a:r>
            <a:r>
              <a:rPr lang="en-US" sz="3200" dirty="0"/>
              <a:t> to create audio/video content). This production of content or “generation” is different from traditional computer applications in the past that store and/or retrieve content.</a:t>
            </a:r>
          </a:p>
          <a:p>
            <a:r>
              <a:rPr lang="en-US" sz="3200" dirty="0"/>
              <a:t>Significant innovations in this domain have the potential to drastically change the way we approach content creation.</a:t>
            </a:r>
          </a:p>
          <a:p>
            <a:r>
              <a:rPr lang="en-US" sz="3200" dirty="0"/>
              <a:t> to transcribe physicians’ interactions with their patients, and to allow people to converse with a customer-relationship-management system. On the other hand, it is far from perfect: It sometimes produces distorted or entirely fabricated output and can be oblivious to privacy and copyright concerns.</a:t>
            </a:r>
          </a:p>
        </p:txBody>
      </p:sp>
    </p:spTree>
    <p:extLst>
      <p:ext uri="{BB962C8B-B14F-4D97-AF65-F5344CB8AC3E}">
        <p14:creationId xmlns:p14="http://schemas.microsoft.com/office/powerpoint/2010/main" val="930051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p:txBody>
          <a:bodyPr/>
          <a:lstStyle/>
          <a:p>
            <a:r>
              <a:rPr lang="en-US" dirty="0"/>
              <a:t>Brief Narrative History of Generative AI</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20071"/>
            <a:ext cx="16084552" cy="6888006"/>
          </a:xfrm>
        </p:spPr>
        <p:txBody>
          <a:bodyPr/>
          <a:lstStyle/>
          <a:p>
            <a:pPr marL="0">
              <a:spcBef>
                <a:spcPts val="0"/>
              </a:spcBef>
            </a:pPr>
            <a:r>
              <a:rPr lang="en-US" sz="3200" dirty="0"/>
              <a:t>As early as the </a:t>
            </a:r>
            <a:r>
              <a:rPr lang="en-US" sz="3200" b="1" dirty="0"/>
              <a:t>1943</a:t>
            </a:r>
            <a:r>
              <a:rPr lang="en-US" sz="3200" dirty="0"/>
              <a:t>, a paper coauthored by Warren McCulloch and Walter Pitts titled “A Logical Calculus of Ideas Immanent in Nervous Activity” in the Bulletin of Mathematical Biophysics discussed the notion of a neural network to model how the human brain works with analogies drawn from neurons that draw inputs from dendrites and their corresponding outputs (called signals or spikes) are transmitted through axons to another receiving neuron. Unfortunately, subsequent research did not affirm this simple model representation in biology.</a:t>
            </a:r>
          </a:p>
          <a:p>
            <a:pPr marL="0">
              <a:spcBef>
                <a:spcPts val="0"/>
              </a:spcBef>
            </a:pPr>
            <a:endParaRPr lang="en-US" sz="3200" dirty="0"/>
          </a:p>
          <a:p>
            <a:pPr marL="0">
              <a:spcBef>
                <a:spcPts val="0"/>
              </a:spcBef>
            </a:pPr>
            <a:r>
              <a:rPr lang="en-US" sz="3200" dirty="0">
                <a:latin typeface="+mn-lt"/>
              </a:rPr>
              <a:t>In </a:t>
            </a:r>
            <a:r>
              <a:rPr lang="en-US" sz="3200" b="1" dirty="0">
                <a:latin typeface="+mn-lt"/>
              </a:rPr>
              <a:t>1958</a:t>
            </a:r>
            <a:r>
              <a:rPr lang="en-US" sz="3200" dirty="0">
                <a:latin typeface="+mn-lt"/>
              </a:rPr>
              <a:t>, Frank Rosenblatt demonstrated the capabilities of Perceptron, that following a training phase, was presented as a self-organizing system. It was able to successfully and consistently classify a card deck containing two different type of cards. </a:t>
            </a:r>
          </a:p>
          <a:p>
            <a:pPr marL="0">
              <a:spcBef>
                <a:spcPts val="0"/>
              </a:spcBef>
            </a:pPr>
            <a:endParaRPr lang="en-US" sz="3200" dirty="0"/>
          </a:p>
          <a:p>
            <a:endParaRPr lang="en-US" sz="3200" dirty="0"/>
          </a:p>
          <a:p>
            <a:endParaRPr lang="en-US" sz="3200" dirty="0"/>
          </a:p>
          <a:p>
            <a:endParaRPr lang="en-US" sz="3200" dirty="0"/>
          </a:p>
        </p:txBody>
      </p:sp>
    </p:spTree>
    <p:extLst>
      <p:ext uri="{BB962C8B-B14F-4D97-AF65-F5344CB8AC3E}">
        <p14:creationId xmlns:p14="http://schemas.microsoft.com/office/powerpoint/2010/main" val="99251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a:xfrm>
            <a:off x="1101724" y="348342"/>
            <a:ext cx="16084552" cy="1016113"/>
          </a:xfrm>
        </p:spPr>
        <p:txBody>
          <a:bodyPr/>
          <a:lstStyle/>
          <a:p>
            <a:r>
              <a:rPr lang="en-US" dirty="0"/>
              <a:t>Narrative History of Generative AI….</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20071"/>
            <a:ext cx="16084552" cy="6888006"/>
          </a:xfrm>
        </p:spPr>
        <p:txBody>
          <a:bodyPr/>
          <a:lstStyle/>
          <a:p>
            <a:endParaRPr lang="en-US" sz="3200" dirty="0"/>
          </a:p>
          <a:p>
            <a:endParaRPr lang="en-US" sz="3200" dirty="0"/>
          </a:p>
          <a:p>
            <a:endParaRPr lang="en-US" sz="3200" dirty="0"/>
          </a:p>
        </p:txBody>
      </p:sp>
      <p:sp>
        <p:nvSpPr>
          <p:cNvPr id="5" name="TextBox 4">
            <a:extLst>
              <a:ext uri="{FF2B5EF4-FFF2-40B4-BE49-F238E27FC236}">
                <a16:creationId xmlns:a16="http://schemas.microsoft.com/office/drawing/2014/main" id="{DF308AFB-89AC-4554-8370-84D085557A9F}"/>
              </a:ext>
            </a:extLst>
          </p:cNvPr>
          <p:cNvSpPr txBox="1"/>
          <p:nvPr/>
        </p:nvSpPr>
        <p:spPr>
          <a:xfrm>
            <a:off x="1621969" y="1478923"/>
            <a:ext cx="14608629" cy="7478970"/>
          </a:xfrm>
          <a:prstGeom prst="rect">
            <a:avLst/>
          </a:prstGeom>
          <a:noFill/>
        </p:spPr>
        <p:txBody>
          <a:bodyPr wrap="square">
            <a:spAutoFit/>
          </a:bodyPr>
          <a:lstStyle/>
          <a:p>
            <a:pPr marL="457200" indent="-457200">
              <a:spcBef>
                <a:spcPts val="0"/>
              </a:spcBef>
              <a:buFont typeface="Arial" panose="020B0604020202020204" pitchFamily="34" charset="0"/>
              <a:buChar char="•"/>
            </a:pPr>
            <a:r>
              <a:rPr lang="en-US" sz="3200" dirty="0">
                <a:latin typeface="+mn-lt"/>
              </a:rPr>
              <a:t>In </a:t>
            </a:r>
            <a:r>
              <a:rPr lang="en-US" sz="3200" b="1" dirty="0">
                <a:latin typeface="+mn-lt"/>
              </a:rPr>
              <a:t>1969</a:t>
            </a:r>
            <a:r>
              <a:rPr lang="en-US" sz="3200" dirty="0">
                <a:latin typeface="+mn-lt"/>
              </a:rPr>
              <a:t>, however, Marvin Minsky and Seymour </a:t>
            </a:r>
            <a:r>
              <a:rPr lang="en-US" sz="3200" dirty="0" err="1">
                <a:latin typeface="+mn-lt"/>
              </a:rPr>
              <a:t>Rapert</a:t>
            </a:r>
            <a:r>
              <a:rPr lang="en-US" sz="3200" dirty="0">
                <a:latin typeface="+mn-lt"/>
              </a:rPr>
              <a:t> published the book titled</a:t>
            </a:r>
            <a:r>
              <a:rPr lang="en-US" sz="3200" i="1" dirty="0">
                <a:latin typeface="+mn-lt"/>
              </a:rPr>
              <a:t> </a:t>
            </a:r>
            <a:r>
              <a:rPr lang="en-US" sz="3200" i="1" dirty="0" err="1">
                <a:latin typeface="+mn-lt"/>
              </a:rPr>
              <a:t>Perceptrons</a:t>
            </a:r>
            <a:r>
              <a:rPr lang="en-US" sz="3200" i="1" dirty="0">
                <a:latin typeface="+mn-lt"/>
              </a:rPr>
              <a:t> that criticized </a:t>
            </a:r>
            <a:r>
              <a:rPr lang="en-US" sz="3200" dirty="0">
                <a:latin typeface="+mn-lt"/>
              </a:rPr>
              <a:t>Rosenblatt’s work with mathematical proof that his model could no recognize some basic patterns.</a:t>
            </a:r>
          </a:p>
          <a:p>
            <a:pPr marL="457200" indent="-457200">
              <a:spcBef>
                <a:spcPts val="0"/>
              </a:spcBef>
              <a:buFont typeface="Arial" panose="020B0604020202020204" pitchFamily="34" charset="0"/>
              <a:buChar char="•"/>
            </a:pPr>
            <a:r>
              <a:rPr lang="en-US" sz="3200" dirty="0"/>
              <a:t>In </a:t>
            </a:r>
            <a:r>
              <a:rPr lang="en-US" sz="3200" b="1" dirty="0"/>
              <a:t>1981</a:t>
            </a:r>
            <a:r>
              <a:rPr lang="en-US" sz="3200" dirty="0"/>
              <a:t>, </a:t>
            </a:r>
            <a:r>
              <a:rPr lang="en-US" sz="3200" b="0" i="0" dirty="0">
                <a:effectLst/>
              </a:rPr>
              <a:t>neuroscientists David Hubel and </a:t>
            </a:r>
            <a:r>
              <a:rPr lang="en-US" sz="3200" b="0" i="0" dirty="0" err="1">
                <a:effectLst/>
              </a:rPr>
              <a:t>Torsten</a:t>
            </a:r>
            <a:r>
              <a:rPr lang="en-US" sz="3200" b="0" i="0" dirty="0">
                <a:effectLst/>
              </a:rPr>
              <a:t> Wiesel won the 1981 Nobel in physiology for discovering that neurons in the visual system respond differently to simple and complex visual stimuli. </a:t>
            </a:r>
            <a:r>
              <a:rPr lang="en-US" sz="3200" dirty="0"/>
              <a:t>This (and subsequent extensions of these findings inspired </a:t>
            </a:r>
            <a:r>
              <a:rPr lang="en-US" sz="3200" b="0" i="0" dirty="0">
                <a:effectLst/>
              </a:rPr>
              <a:t>Japanese computer scientist </a:t>
            </a:r>
            <a:r>
              <a:rPr lang="en-US" sz="3200" b="0" i="0" dirty="0" err="1">
                <a:effectLst/>
              </a:rPr>
              <a:t>Kunahiko</a:t>
            </a:r>
            <a:r>
              <a:rPr lang="en-US" sz="3200" b="0" i="0" dirty="0">
                <a:effectLst/>
              </a:rPr>
              <a:t> Fukushima to develop </a:t>
            </a:r>
            <a:r>
              <a:rPr lang="en-US" sz="3200" b="0" i="0" dirty="0" err="1">
                <a:effectLst/>
              </a:rPr>
              <a:t>neocognition</a:t>
            </a:r>
            <a:r>
              <a:rPr lang="en-US" sz="3200" b="0" i="0" dirty="0">
                <a:effectLst/>
              </a:rPr>
              <a:t> — a model for visual recognition — setting the stage for the development of artificial layered neural networks. </a:t>
            </a:r>
            <a:endParaRPr lang="en-US" sz="3200" i="1" dirty="0">
              <a:latin typeface="+mn-lt"/>
            </a:endParaRPr>
          </a:p>
          <a:p>
            <a:pPr marL="457200" indent="-457200">
              <a:spcBef>
                <a:spcPts val="0"/>
              </a:spcBef>
              <a:buFont typeface="Arial" panose="020B0604020202020204" pitchFamily="34" charset="0"/>
              <a:buChar char="•"/>
            </a:pPr>
            <a:r>
              <a:rPr lang="en-US" sz="3200" dirty="0">
                <a:latin typeface="+mn-lt"/>
              </a:rPr>
              <a:t>In </a:t>
            </a:r>
            <a:r>
              <a:rPr lang="en-US" sz="3200" b="1" dirty="0">
                <a:latin typeface="+mn-lt"/>
              </a:rPr>
              <a:t>1989</a:t>
            </a:r>
            <a:r>
              <a:rPr lang="en-US" sz="3200" dirty="0">
                <a:latin typeface="+mn-lt"/>
              </a:rPr>
              <a:t>, </a:t>
            </a:r>
            <a:r>
              <a:rPr lang="en-US" sz="3200" dirty="0" err="1">
                <a:latin typeface="+mn-lt"/>
              </a:rPr>
              <a:t>Rumelhart</a:t>
            </a:r>
            <a:r>
              <a:rPr lang="en-US" sz="3200" dirty="0">
                <a:latin typeface="+mn-lt"/>
              </a:rPr>
              <a:t>, Hinton and Williams in a paper called </a:t>
            </a:r>
            <a:r>
              <a:rPr lang="en-US" sz="3200" i="1" dirty="0">
                <a:latin typeface="+mn-lt"/>
              </a:rPr>
              <a:t>“</a:t>
            </a:r>
            <a:r>
              <a:rPr lang="en-US" sz="3200" i="1" dirty="0">
                <a:latin typeface="+mn-lt"/>
                <a:hlinkClick r:id="rId2"/>
              </a:rPr>
              <a:t>Learning representations by back-propagating errors</a:t>
            </a:r>
            <a:r>
              <a:rPr lang="en-US" sz="3200" i="1" dirty="0">
                <a:latin typeface="+mn-lt"/>
              </a:rPr>
              <a:t>” </a:t>
            </a:r>
            <a:r>
              <a:rPr lang="en-US" sz="3200" dirty="0">
                <a:latin typeface="+mn-lt"/>
              </a:rPr>
              <a:t>that described a potential approach where an artificial neural network could leverage the back-</a:t>
            </a:r>
            <a:r>
              <a:rPr lang="en-US" sz="3200" dirty="0" err="1">
                <a:latin typeface="+mn-lt"/>
              </a:rPr>
              <a:t>propogation</a:t>
            </a:r>
            <a:r>
              <a:rPr lang="en-US" sz="3200" dirty="0">
                <a:latin typeface="+mn-lt"/>
              </a:rPr>
              <a:t> </a:t>
            </a:r>
            <a:r>
              <a:rPr lang="en-US" sz="3200" dirty="0" err="1">
                <a:latin typeface="+mn-lt"/>
              </a:rPr>
              <a:t>alogirthm</a:t>
            </a:r>
            <a:r>
              <a:rPr lang="en-US" sz="3200" dirty="0">
                <a:latin typeface="+mn-lt"/>
              </a:rPr>
              <a:t> to predict outcomes in machine learning contexts.</a:t>
            </a:r>
          </a:p>
          <a:p>
            <a:pPr marL="457200" indent="-457200">
              <a:spcBef>
                <a:spcPts val="0"/>
              </a:spcBef>
              <a:buFont typeface="Arial" panose="020B0604020202020204" pitchFamily="34" charset="0"/>
              <a:buChar char="•"/>
            </a:pPr>
            <a:r>
              <a:rPr lang="en-US" sz="3200" dirty="0">
                <a:latin typeface="+mn-lt"/>
              </a:rPr>
              <a:t>In the </a:t>
            </a:r>
            <a:r>
              <a:rPr lang="en-US" sz="3200" b="1" dirty="0">
                <a:latin typeface="+mn-lt"/>
              </a:rPr>
              <a:t>1990s</a:t>
            </a:r>
            <a:r>
              <a:rPr lang="en-US" sz="3200" dirty="0">
                <a:latin typeface="+mn-lt"/>
              </a:rPr>
              <a:t>, the video game industry developed GPUs to render complex 3D scenes in real time. </a:t>
            </a:r>
          </a:p>
        </p:txBody>
      </p:sp>
    </p:spTree>
    <p:extLst>
      <p:ext uri="{BB962C8B-B14F-4D97-AF65-F5344CB8AC3E}">
        <p14:creationId xmlns:p14="http://schemas.microsoft.com/office/powerpoint/2010/main" val="1005315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What is </a:t>
            </a:r>
            <a:r>
              <a:rPr lang="en-US" b="1" dirty="0" err="1">
                <a:solidFill>
                  <a:srgbClr val="C00000"/>
                </a:solidFill>
              </a:rPr>
              <a:t>Backpropogation</a:t>
            </a:r>
            <a:r>
              <a:rPr lang="en-US" b="1" dirty="0">
                <a:solidFill>
                  <a:srgbClr val="C00000"/>
                </a:solidFill>
              </a:rPr>
              <a:t> of errors?</a:t>
            </a:r>
            <a:r>
              <a:rPr lang="en-US" dirty="0">
                <a:solidFill>
                  <a:srgbClr val="C00000"/>
                </a:solidFill>
              </a:rPr>
              <a:t>	</a:t>
            </a:r>
          </a:p>
        </p:txBody>
      </p:sp>
      <p:sp>
        <p:nvSpPr>
          <p:cNvPr id="3" name="TextBox 2"/>
          <p:cNvSpPr txBox="1"/>
          <p:nvPr/>
        </p:nvSpPr>
        <p:spPr>
          <a:xfrm>
            <a:off x="1340891" y="2489393"/>
            <a:ext cx="15341468" cy="5909310"/>
          </a:xfrm>
          <a:prstGeom prst="rect">
            <a:avLst/>
          </a:prstGeom>
          <a:noFill/>
        </p:spPr>
        <p:txBody>
          <a:bodyPr wrap="square" rtlCol="0">
            <a:spAutoFit/>
          </a:bodyPr>
          <a:lstStyle/>
          <a:p>
            <a:pPr marL="571500" indent="-571500">
              <a:buFont typeface="Arial" panose="020B0604020202020204" pitchFamily="34" charset="0"/>
              <a:buChar char="•"/>
            </a:pPr>
            <a:r>
              <a:rPr lang="en-US" sz="3600" b="1" dirty="0"/>
              <a:t>Backpropagation algorithm</a:t>
            </a:r>
            <a:r>
              <a:rPr lang="en-US" sz="3600" dirty="0"/>
              <a:t> is probably the most fundamental building block in a neural network. It was first introduced in 1960s and almost 30 years later (1989) popularized by </a:t>
            </a:r>
            <a:r>
              <a:rPr lang="en-US" sz="3600" dirty="0" err="1"/>
              <a:t>Rumelhart</a:t>
            </a:r>
            <a:r>
              <a:rPr lang="en-US" sz="3600" dirty="0"/>
              <a:t>, Hinton and Williams in a paper called </a:t>
            </a:r>
            <a:r>
              <a:rPr lang="en-US" sz="3600" i="1" dirty="0"/>
              <a:t>“</a:t>
            </a:r>
            <a:r>
              <a:rPr lang="en-US" sz="3600" i="1" dirty="0">
                <a:hlinkClick r:id="rId2"/>
              </a:rPr>
              <a:t>Learning representations by back-propagating errors</a:t>
            </a:r>
            <a:r>
              <a:rPr lang="en-US" sz="3600" i="1" dirty="0"/>
              <a:t>”</a:t>
            </a:r>
            <a:r>
              <a:rPr lang="en-US" sz="3600" dirty="0"/>
              <a:t>.</a:t>
            </a:r>
          </a:p>
          <a:p>
            <a:pPr marL="571500" indent="-571500">
              <a:buFont typeface="Arial" panose="020B0604020202020204" pitchFamily="34" charset="0"/>
              <a:buChar char="•"/>
            </a:pPr>
            <a:endParaRPr lang="en-US" sz="3600" dirty="0"/>
          </a:p>
          <a:p>
            <a:pPr marL="571500" indent="-571500">
              <a:buFont typeface="Arial" panose="020B0604020202020204" pitchFamily="34" charset="0"/>
              <a:buChar char="•"/>
            </a:pPr>
            <a:r>
              <a:rPr lang="en-US" sz="3600" b="1" dirty="0"/>
              <a:t>The algorithm is used to effectively train a neural network through a method called chain rule.</a:t>
            </a:r>
            <a:r>
              <a:rPr lang="en-US" sz="3600" dirty="0"/>
              <a:t> In simple terms, after each forward pass through a network, backpropagation performs a backward pass while adjusting the model’s parameters (weights and biases) to improve its performance.</a:t>
            </a:r>
          </a:p>
          <a:p>
            <a:endParaRPr lang="en-US" dirty="0"/>
          </a:p>
        </p:txBody>
      </p:sp>
    </p:spTree>
    <p:extLst>
      <p:ext uri="{BB962C8B-B14F-4D97-AF65-F5344CB8AC3E}">
        <p14:creationId xmlns:p14="http://schemas.microsoft.com/office/powerpoint/2010/main" val="981903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a:xfrm>
            <a:off x="1101724" y="449886"/>
            <a:ext cx="16084552" cy="841942"/>
          </a:xfrm>
        </p:spPr>
        <p:txBody>
          <a:bodyPr/>
          <a:lstStyle/>
          <a:p>
            <a:r>
              <a:rPr lang="en-US" dirty="0"/>
              <a:t>Narrative History of Generative AI….continued</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52728"/>
            <a:ext cx="16084552" cy="6777615"/>
          </a:xfrm>
        </p:spPr>
        <p:txBody>
          <a:bodyPr/>
          <a:lstStyle/>
          <a:p>
            <a:pPr>
              <a:spcBef>
                <a:spcPts val="0"/>
              </a:spcBef>
            </a:pPr>
            <a:r>
              <a:rPr lang="en-US" sz="3200" dirty="0">
                <a:latin typeface="+mn-lt"/>
              </a:rPr>
              <a:t>In </a:t>
            </a:r>
            <a:r>
              <a:rPr lang="en-US" sz="3200" b="1" dirty="0">
                <a:latin typeface="+mn-lt"/>
              </a:rPr>
              <a:t>2012</a:t>
            </a:r>
            <a:r>
              <a:rPr lang="en-US" sz="3200" dirty="0">
                <a:latin typeface="+mn-lt"/>
              </a:rPr>
              <a:t>, </a:t>
            </a:r>
            <a:r>
              <a:rPr lang="en-US" sz="3200" dirty="0"/>
              <a:t>Alex </a:t>
            </a:r>
            <a:r>
              <a:rPr lang="en-US" sz="3200" dirty="0" err="1"/>
              <a:t>Krizhevsky</a:t>
            </a:r>
            <a:r>
              <a:rPr lang="en-US" sz="3200" dirty="0"/>
              <a:t> and his team (</a:t>
            </a:r>
            <a:r>
              <a:rPr lang="en-US" sz="3200" dirty="0" err="1"/>
              <a:t>AlexNet</a:t>
            </a:r>
            <a:r>
              <a:rPr lang="en-US" sz="3200" dirty="0"/>
              <a:t>) won the ImageNet Challenge with a research project titled “ImageNet Classification with Deep Convolutional Neural Networks”.</a:t>
            </a:r>
            <a:r>
              <a:rPr lang="en-US" sz="3200" dirty="0">
                <a:latin typeface="+mn-lt"/>
              </a:rPr>
              <a:t> </a:t>
            </a:r>
            <a:endParaRPr lang="en-US" sz="3200" dirty="0"/>
          </a:p>
          <a:p>
            <a:pPr>
              <a:spcBef>
                <a:spcPts val="0"/>
              </a:spcBef>
            </a:pPr>
            <a:r>
              <a:rPr lang="en-US" sz="3200" dirty="0"/>
              <a:t>Given the significant efforts of researchers to understand how AI can be deployed to tasks that required language and/or image processing, a team of Google researchers led by Tomas </a:t>
            </a:r>
            <a:r>
              <a:rPr lang="en-US" sz="3200" dirty="0" err="1"/>
              <a:t>Mikolov</a:t>
            </a:r>
            <a:r>
              <a:rPr lang="en-US" sz="3200" dirty="0"/>
              <a:t> published an algorithm in </a:t>
            </a:r>
            <a:r>
              <a:rPr lang="en-US" sz="3200" b="1" dirty="0"/>
              <a:t>2013</a:t>
            </a:r>
            <a:r>
              <a:rPr lang="en-US" sz="3200" dirty="0"/>
              <a:t> called </a:t>
            </a:r>
            <a:r>
              <a:rPr lang="en-US" sz="3200" i="1" dirty="0"/>
              <a:t>word2vec</a:t>
            </a:r>
            <a:r>
              <a:rPr lang="en-US" sz="3200" dirty="0"/>
              <a:t> (</a:t>
            </a:r>
            <a:r>
              <a:rPr lang="en-US" sz="3200" dirty="0" err="1"/>
              <a:t>arXiv</a:t>
            </a:r>
            <a:r>
              <a:rPr lang="en-US" sz="3200" dirty="0"/>
              <a:t>: 1301.3781v3). This algorithm represented each word as a real valued vector in a high dimensional vector space with the constraint that words which often occur near each other in speech or written text should correspond to nearby vectors, and their distance reflecting how often they co-occur. As previously discussed, this made possible simple comparisons such as seeking a word whose vector is close to that of "king" but also closer to that of "woman" than to that of "man“ to find the vector for the word "queen".</a:t>
            </a:r>
          </a:p>
          <a:p>
            <a:endParaRPr lang="en-US" sz="3200" dirty="0"/>
          </a:p>
          <a:p>
            <a:endParaRPr lang="en-US" sz="3200" dirty="0"/>
          </a:p>
          <a:p>
            <a:endParaRPr lang="en-US" sz="3200" dirty="0"/>
          </a:p>
        </p:txBody>
      </p:sp>
    </p:spTree>
    <p:extLst>
      <p:ext uri="{BB962C8B-B14F-4D97-AF65-F5344CB8AC3E}">
        <p14:creationId xmlns:p14="http://schemas.microsoft.com/office/powerpoint/2010/main" val="389501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a:xfrm>
            <a:off x="1283607" y="696878"/>
            <a:ext cx="16084552" cy="1037885"/>
          </a:xfrm>
        </p:spPr>
        <p:txBody>
          <a:bodyPr/>
          <a:lstStyle/>
          <a:p>
            <a:r>
              <a:rPr lang="en-US" dirty="0"/>
              <a:t>Narrative History of Generative AI….continued</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20071"/>
            <a:ext cx="16084552" cy="6888006"/>
          </a:xfrm>
        </p:spPr>
        <p:txBody>
          <a:bodyPr/>
          <a:lstStyle/>
          <a:p>
            <a:endParaRPr lang="en-US" sz="3200" dirty="0"/>
          </a:p>
          <a:p>
            <a:endParaRPr lang="en-US" sz="3200" dirty="0"/>
          </a:p>
          <a:p>
            <a:endParaRPr lang="en-US" sz="3200" dirty="0"/>
          </a:p>
        </p:txBody>
      </p:sp>
      <p:sp>
        <p:nvSpPr>
          <p:cNvPr id="5" name="TextBox 4">
            <a:extLst>
              <a:ext uri="{FF2B5EF4-FFF2-40B4-BE49-F238E27FC236}">
                <a16:creationId xmlns:a16="http://schemas.microsoft.com/office/drawing/2014/main" id="{DF308AFB-89AC-4554-8370-84D085557A9F}"/>
              </a:ext>
            </a:extLst>
          </p:cNvPr>
          <p:cNvSpPr txBox="1"/>
          <p:nvPr/>
        </p:nvSpPr>
        <p:spPr>
          <a:xfrm>
            <a:off x="2155370" y="2290686"/>
            <a:ext cx="14608629" cy="6494085"/>
          </a:xfrm>
          <a:prstGeom prst="rect">
            <a:avLst/>
          </a:prstGeom>
          <a:noFill/>
        </p:spPr>
        <p:txBody>
          <a:bodyPr wrap="square">
            <a:spAutoFit/>
          </a:bodyPr>
          <a:lstStyle/>
          <a:p>
            <a:pPr marL="457200" indent="-457200">
              <a:spcBef>
                <a:spcPts val="0"/>
              </a:spcBef>
              <a:buFont typeface="Arial" panose="020B0604020202020204" pitchFamily="34" charset="0"/>
              <a:buChar char="•"/>
            </a:pPr>
            <a:r>
              <a:rPr lang="en-US" sz="3200" dirty="0">
                <a:latin typeface="+mn-lt"/>
              </a:rPr>
              <a:t>A </a:t>
            </a:r>
            <a:r>
              <a:rPr lang="en-US" sz="3200" b="1" dirty="0"/>
              <a:t>2017</a:t>
            </a:r>
            <a:r>
              <a:rPr lang="en-US" sz="3200" dirty="0"/>
              <a:t> blockbuster paper written by Google’s team (Vaswani et al) entitled </a:t>
            </a:r>
            <a:r>
              <a:rPr lang="en-US" sz="3200" i="1" dirty="0"/>
              <a:t>Attention is all you need</a:t>
            </a:r>
            <a:r>
              <a:rPr lang="en-US" sz="3200" dirty="0"/>
              <a:t> (</a:t>
            </a:r>
            <a:r>
              <a:rPr lang="en-US" sz="3200" dirty="0" err="1"/>
              <a:t>arXiv</a:t>
            </a:r>
            <a:r>
              <a:rPr lang="en-US" sz="3200" dirty="0"/>
              <a:t>: 1706.03762) introduced a new architecture that enhances neural nets in a powerful way, adding a new step called a </a:t>
            </a:r>
            <a:r>
              <a:rPr lang="en-US" sz="3200" i="1" dirty="0"/>
              <a:t>transformer</a:t>
            </a:r>
            <a:r>
              <a:rPr lang="en-US" sz="3200" dirty="0"/>
              <a:t>. It considered linguistic tasks involving whole sentences which are taken in one word at a time and build word representations that encode the meaning of the word in the context of a whole sentence. </a:t>
            </a:r>
          </a:p>
          <a:p>
            <a:pPr marL="457200" indent="-457200">
              <a:spcBef>
                <a:spcPts val="0"/>
              </a:spcBef>
              <a:buFont typeface="Arial" panose="020B0604020202020204" pitchFamily="34" charset="0"/>
              <a:buChar char="•"/>
            </a:pPr>
            <a:r>
              <a:rPr lang="en-US" sz="3200" dirty="0"/>
              <a:t>This Google team’s algorithm was trained on billions of sentences taken off the internet. The linguistic tasks they focused on involve outputting a new sentence, e.g., translating the input sentence into a second language, answering the question posed by the first sentence or more simply filling in a word that was purposely omitted from the first sentence. Thus their algorithm has two parts: an encoder creating vector representations of all input words and a decoder reversing the process producing a new sentence.</a:t>
            </a:r>
            <a:endParaRPr lang="en-US" sz="3200" dirty="0">
              <a:latin typeface="+mn-lt"/>
            </a:endParaRPr>
          </a:p>
        </p:txBody>
      </p:sp>
    </p:spTree>
    <p:extLst>
      <p:ext uri="{BB962C8B-B14F-4D97-AF65-F5344CB8AC3E}">
        <p14:creationId xmlns:p14="http://schemas.microsoft.com/office/powerpoint/2010/main" val="3989095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a:xfrm>
            <a:off x="1098550" y="317721"/>
            <a:ext cx="16084552" cy="1037885"/>
          </a:xfrm>
        </p:spPr>
        <p:txBody>
          <a:bodyPr/>
          <a:lstStyle/>
          <a:p>
            <a:r>
              <a:rPr lang="en-US" dirty="0"/>
              <a:t>Narrative History of Generative AI….continued</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20071"/>
            <a:ext cx="16084552" cy="6888006"/>
          </a:xfrm>
        </p:spPr>
        <p:txBody>
          <a:bodyPr/>
          <a:lstStyle/>
          <a:p>
            <a:endParaRPr lang="en-US" sz="3200" dirty="0"/>
          </a:p>
          <a:p>
            <a:endParaRPr lang="en-US" sz="3200" dirty="0"/>
          </a:p>
          <a:p>
            <a:endParaRPr lang="en-US" sz="3200" dirty="0"/>
          </a:p>
        </p:txBody>
      </p:sp>
      <p:sp>
        <p:nvSpPr>
          <p:cNvPr id="5" name="TextBox 4">
            <a:extLst>
              <a:ext uri="{FF2B5EF4-FFF2-40B4-BE49-F238E27FC236}">
                <a16:creationId xmlns:a16="http://schemas.microsoft.com/office/drawing/2014/main" id="{DF308AFB-89AC-4554-8370-84D085557A9F}"/>
              </a:ext>
            </a:extLst>
          </p:cNvPr>
          <p:cNvSpPr txBox="1"/>
          <p:nvPr/>
        </p:nvSpPr>
        <p:spPr>
          <a:xfrm>
            <a:off x="2155370" y="1650236"/>
            <a:ext cx="14608629" cy="6986528"/>
          </a:xfrm>
          <a:prstGeom prst="rect">
            <a:avLst/>
          </a:prstGeom>
          <a:noFill/>
        </p:spPr>
        <p:txBody>
          <a:bodyPr wrap="square">
            <a:spAutoFit/>
          </a:bodyPr>
          <a:lstStyle/>
          <a:p>
            <a:pPr marL="457200" indent="-457200">
              <a:spcBef>
                <a:spcPts val="0"/>
              </a:spcBef>
              <a:buFont typeface="Arial" panose="020B0604020202020204" pitchFamily="34" charset="0"/>
              <a:buChar char="•"/>
            </a:pPr>
            <a:r>
              <a:rPr lang="en-US" sz="3200" dirty="0">
                <a:latin typeface="+mn-lt"/>
              </a:rPr>
              <a:t>In </a:t>
            </a:r>
            <a:r>
              <a:rPr lang="en-US" sz="3200" b="1" dirty="0">
                <a:latin typeface="+mn-lt"/>
              </a:rPr>
              <a:t>2019</a:t>
            </a:r>
            <a:r>
              <a:rPr lang="en-US" sz="3200" dirty="0">
                <a:latin typeface="+mn-lt"/>
              </a:rPr>
              <a:t>, a</a:t>
            </a:r>
            <a:r>
              <a:rPr lang="en-US" sz="3200" dirty="0"/>
              <a:t> paper titled </a:t>
            </a:r>
            <a:r>
              <a:rPr lang="en-US" sz="3200" i="1" dirty="0"/>
              <a:t>A Structural Probe for Finding Syntax in Word Representations</a:t>
            </a:r>
            <a:r>
              <a:rPr lang="en-US" sz="3200" dirty="0"/>
              <a:t> by Chris Manning with his student John Hewitt (</a:t>
            </a:r>
            <a:r>
              <a:rPr lang="en-US" sz="3200" dirty="0" err="1"/>
              <a:t>arXiv</a:t>
            </a:r>
            <a:r>
              <a:rPr lang="en-US" sz="3200" dirty="0"/>
              <a:t>: 1803.00188), convincingly demonstrated what transformers can do. </a:t>
            </a:r>
            <a:endParaRPr lang="en-US" sz="3200" dirty="0">
              <a:latin typeface="+mn-lt"/>
            </a:endParaRPr>
          </a:p>
          <a:p>
            <a:pPr marL="457200" indent="-457200">
              <a:spcBef>
                <a:spcPts val="0"/>
              </a:spcBef>
              <a:buFont typeface="Arial" panose="020B0604020202020204" pitchFamily="34" charset="0"/>
              <a:buChar char="•"/>
            </a:pPr>
            <a:r>
              <a:rPr lang="en-US" sz="3200" dirty="0">
                <a:latin typeface="+mn-lt"/>
              </a:rPr>
              <a:t>In </a:t>
            </a:r>
            <a:r>
              <a:rPr lang="en-US" sz="3200" b="1" dirty="0">
                <a:latin typeface="+mn-lt"/>
              </a:rPr>
              <a:t>2022</a:t>
            </a:r>
            <a:r>
              <a:rPr lang="en-US" sz="3200" dirty="0">
                <a:latin typeface="+mn-lt"/>
              </a:rPr>
              <a:t>, </a:t>
            </a:r>
            <a:r>
              <a:rPr lang="en-US" sz="3200" dirty="0" err="1">
                <a:latin typeface="+mn-lt"/>
              </a:rPr>
              <a:t>OPenAI</a:t>
            </a:r>
            <a:r>
              <a:rPr lang="en-US" sz="3200" dirty="0">
                <a:latin typeface="+mn-lt"/>
              </a:rPr>
              <a:t> launched </a:t>
            </a:r>
            <a:r>
              <a:rPr lang="en-US" sz="3200" i="1" dirty="0">
                <a:latin typeface="+mn-lt"/>
              </a:rPr>
              <a:t>Dall-E</a:t>
            </a:r>
            <a:r>
              <a:rPr lang="en-US" sz="3200" dirty="0">
                <a:latin typeface="+mn-lt"/>
              </a:rPr>
              <a:t> that generated images in response to queries, followed by </a:t>
            </a:r>
            <a:r>
              <a:rPr lang="en-US" sz="3200" i="1" dirty="0">
                <a:latin typeface="+mn-lt"/>
              </a:rPr>
              <a:t>Stable Diffusion </a:t>
            </a:r>
            <a:r>
              <a:rPr lang="en-US" sz="3200" dirty="0">
                <a:latin typeface="+mn-lt"/>
              </a:rPr>
              <a:t>and </a:t>
            </a:r>
            <a:r>
              <a:rPr lang="en-US" sz="3200" i="1" dirty="0" err="1">
                <a:latin typeface="+mn-lt"/>
              </a:rPr>
              <a:t>Midjourney</a:t>
            </a:r>
            <a:r>
              <a:rPr lang="en-US" sz="3200" dirty="0">
                <a:latin typeface="+mn-lt"/>
              </a:rPr>
              <a:t> releases.</a:t>
            </a:r>
          </a:p>
          <a:p>
            <a:pPr marL="457200" indent="-457200">
              <a:spcBef>
                <a:spcPts val="0"/>
              </a:spcBef>
              <a:buFont typeface="Arial" panose="020B0604020202020204" pitchFamily="34" charset="0"/>
              <a:buChar char="•"/>
            </a:pPr>
            <a:r>
              <a:rPr lang="en-US" sz="3200" dirty="0">
                <a:latin typeface="+mn-lt"/>
              </a:rPr>
              <a:t>In November </a:t>
            </a:r>
            <a:r>
              <a:rPr lang="en-US" sz="3200" b="1" dirty="0">
                <a:latin typeface="+mn-lt"/>
              </a:rPr>
              <a:t>2022</a:t>
            </a:r>
            <a:r>
              <a:rPr lang="en-US" sz="3200" dirty="0">
                <a:latin typeface="+mn-lt"/>
              </a:rPr>
              <a:t>, </a:t>
            </a:r>
            <a:r>
              <a:rPr lang="en-US" sz="3200" dirty="0" err="1">
                <a:latin typeface="+mn-lt"/>
              </a:rPr>
              <a:t>OpenAI</a:t>
            </a:r>
            <a:r>
              <a:rPr lang="en-US" sz="3200" dirty="0">
                <a:latin typeface="+mn-lt"/>
              </a:rPr>
              <a:t> launched </a:t>
            </a:r>
            <a:r>
              <a:rPr lang="en-US" sz="3200" i="1" dirty="0" err="1">
                <a:latin typeface="+mn-lt"/>
              </a:rPr>
              <a:t>ChatGPT</a:t>
            </a:r>
            <a:r>
              <a:rPr lang="en-US" sz="3200" dirty="0">
                <a:latin typeface="+mn-lt"/>
              </a:rPr>
              <a:t>.</a:t>
            </a:r>
            <a:endParaRPr lang="en-US" sz="3200" dirty="0"/>
          </a:p>
          <a:p>
            <a:pPr marL="457200" indent="-457200">
              <a:spcBef>
                <a:spcPts val="0"/>
              </a:spcBef>
              <a:buFont typeface="Arial" panose="020B0604020202020204" pitchFamily="34" charset="0"/>
              <a:buChar char="•"/>
            </a:pPr>
            <a:r>
              <a:rPr lang="en-US" sz="3200" dirty="0"/>
              <a:t>This was quickly followed by other firms that also offered LLM-based products: Microsoft’s </a:t>
            </a:r>
            <a:r>
              <a:rPr lang="en-US" sz="3200" i="1" dirty="0"/>
              <a:t>Bing</a:t>
            </a:r>
            <a:r>
              <a:rPr lang="en-US" sz="3200" dirty="0"/>
              <a:t> (now renamed as </a:t>
            </a:r>
            <a:r>
              <a:rPr lang="en-US" sz="3200" i="1" dirty="0"/>
              <a:t>Microsoft Copilot</a:t>
            </a:r>
            <a:r>
              <a:rPr lang="en-US" sz="3200" dirty="0"/>
              <a:t>), Google’s </a:t>
            </a:r>
            <a:r>
              <a:rPr lang="en-US" sz="3200" i="1" dirty="0"/>
              <a:t>Bard</a:t>
            </a:r>
            <a:r>
              <a:rPr lang="en-US" sz="3200" dirty="0"/>
              <a:t> (now renamed as </a:t>
            </a:r>
            <a:r>
              <a:rPr lang="en-US" sz="3200" i="1" dirty="0"/>
              <a:t>Gemini</a:t>
            </a:r>
            <a:r>
              <a:rPr lang="en-US" sz="3200" dirty="0"/>
              <a:t>), </a:t>
            </a:r>
            <a:r>
              <a:rPr lang="en-US" sz="3200" dirty="0" err="1"/>
              <a:t>Anthtropic’s</a:t>
            </a:r>
            <a:r>
              <a:rPr lang="en-US" sz="3200" dirty="0"/>
              <a:t> </a:t>
            </a:r>
            <a:r>
              <a:rPr lang="en-US" sz="3200" i="1" dirty="0"/>
              <a:t>Claude. </a:t>
            </a:r>
            <a:r>
              <a:rPr lang="en-US" sz="3200" dirty="0"/>
              <a:t>Other companies in this space include: Cohere, </a:t>
            </a:r>
            <a:r>
              <a:rPr lang="en-US" sz="3200" dirty="0" err="1"/>
              <a:t>Crowdwords</a:t>
            </a:r>
            <a:r>
              <a:rPr lang="en-US" sz="3200" dirty="0"/>
              <a:t>, and Databricks.</a:t>
            </a:r>
          </a:p>
          <a:p>
            <a:pPr marL="457200" indent="-457200">
              <a:spcBef>
                <a:spcPts val="0"/>
              </a:spcBef>
              <a:buFont typeface="Arial" panose="020B0604020202020204" pitchFamily="34" charset="0"/>
              <a:buChar char="•"/>
            </a:pPr>
            <a:r>
              <a:rPr lang="en-US" sz="3200" dirty="0">
                <a:latin typeface="+mn-lt"/>
              </a:rPr>
              <a:t>In </a:t>
            </a:r>
            <a:r>
              <a:rPr lang="en-US" sz="3200" b="1" dirty="0">
                <a:latin typeface="+mn-lt"/>
              </a:rPr>
              <a:t>2024</a:t>
            </a:r>
            <a:r>
              <a:rPr lang="en-US" sz="3200" dirty="0">
                <a:latin typeface="+mn-lt"/>
              </a:rPr>
              <a:t>, </a:t>
            </a:r>
            <a:r>
              <a:rPr lang="en-US" sz="3200" dirty="0" err="1">
                <a:latin typeface="+mn-lt"/>
              </a:rPr>
              <a:t>OpenAI</a:t>
            </a:r>
            <a:r>
              <a:rPr lang="en-US" sz="3200" dirty="0">
                <a:latin typeface="+mn-lt"/>
              </a:rPr>
              <a:t> released </a:t>
            </a:r>
            <a:r>
              <a:rPr lang="en-US" sz="3200" i="1" dirty="0">
                <a:latin typeface="+mn-lt"/>
              </a:rPr>
              <a:t>Sora</a:t>
            </a:r>
            <a:r>
              <a:rPr lang="en-US" sz="3200" dirty="0">
                <a:latin typeface="+mn-lt"/>
              </a:rPr>
              <a:t> (a text to video multimodal LLM model). Snowflake Data Cloud also added multimodal LLMs to its offerings.</a:t>
            </a:r>
          </a:p>
          <a:p>
            <a:pPr marL="457200" indent="-457200">
              <a:spcBef>
                <a:spcPts val="0"/>
              </a:spcBef>
              <a:buFont typeface="Arial" panose="020B0604020202020204" pitchFamily="34" charset="0"/>
              <a:buChar char="•"/>
            </a:pPr>
            <a:r>
              <a:rPr lang="en-US" sz="3200" dirty="0">
                <a:latin typeface="+mn-lt"/>
              </a:rPr>
              <a:t>Several tech companies (e.g., Amazon, Nvidia, Apple) are now working on advanced versions of their own multimodal LLMs. </a:t>
            </a:r>
          </a:p>
        </p:txBody>
      </p:sp>
    </p:spTree>
    <p:custDataLst>
      <p:tags r:id="rId1"/>
    </p:custDataLst>
    <p:extLst>
      <p:ext uri="{BB962C8B-B14F-4D97-AF65-F5344CB8AC3E}">
        <p14:creationId xmlns:p14="http://schemas.microsoft.com/office/powerpoint/2010/main" val="35135226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14240</TotalTime>
  <Words>1113</Words>
  <Application>Microsoft Office PowerPoint</Application>
  <PresentationFormat>Custom</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 2</vt:lpstr>
      <vt:lpstr>Breeze</vt:lpstr>
      <vt:lpstr>MBA532 – AI in Business </vt:lpstr>
      <vt:lpstr>Definition and Narrative History of Generative AI</vt:lpstr>
      <vt:lpstr>What is Generative AI?</vt:lpstr>
      <vt:lpstr>Brief Narrative History of Generative AI</vt:lpstr>
      <vt:lpstr>Narrative History of Generative AI….</vt:lpstr>
      <vt:lpstr>What is Backpropogation of errors? </vt:lpstr>
      <vt:lpstr>Narrative History of Generative AI….continued</vt:lpstr>
      <vt:lpstr>Narrative History of Generative AI….continued</vt:lpstr>
      <vt:lpstr>Narrative History of Generative AI….continued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256</cp:revision>
  <dcterms:created xsi:type="dcterms:W3CDTF">2024-03-17T05:07:31Z</dcterms:created>
  <dcterms:modified xsi:type="dcterms:W3CDTF">2024-05-24T15:32:07Z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4C08AF6C-740F-490D-9CEC-71D5B16A3B9D</vt:lpwstr>
  </property>
  <property fmtid="{D5CDD505-2E9C-101B-9397-08002B2CF9AE}" pid="5" name="ArticulatePath">
    <vt:lpwstr>MBA532 – AI in Business - Module 7 - April 2</vt:lpwstr>
  </property>
</Properties>
</file>