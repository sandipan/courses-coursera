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7" r:id="rId4"/>
  </p:sldMasterIdLst>
  <p:notesMasterIdLst>
    <p:notesMasterId r:id="rId10"/>
  </p:notesMasterIdLst>
  <p:sldIdLst>
    <p:sldId id="311" r:id="rId5"/>
    <p:sldId id="393" r:id="rId6"/>
    <p:sldId id="372" r:id="rId7"/>
    <p:sldId id="376" r:id="rId8"/>
    <p:sldId id="385" r:id="rId9"/>
  </p:sldIdLst>
  <p:sldSz cx="18288000" cy="10287000"/>
  <p:notesSz cx="6858000" cy="9144000"/>
  <p:custDataLst>
    <p:tags r:id="rId11"/>
  </p:custDataLst>
  <p:defaultTextStyle>
    <a:defPPr>
      <a:defRPr lang="en-US"/>
    </a:defPPr>
    <a:lvl1pPr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9144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18288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27432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36576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45720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54864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64008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73152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3240" userDrawn="1">
          <p15:clr>
            <a:srgbClr val="A4A3A4"/>
          </p15:clr>
        </p15:guide>
        <p15:guide id="2" pos="57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7" autoAdjust="0"/>
    <p:restoredTop sz="96327"/>
  </p:normalViewPr>
  <p:slideViewPr>
    <p:cSldViewPr snapToGrid="0" snapToObjects="1">
      <p:cViewPr varScale="1">
        <p:scale>
          <a:sx n="72" d="100"/>
          <a:sy n="72" d="100"/>
        </p:scale>
        <p:origin x="612" y="72"/>
      </p:cViewPr>
      <p:guideLst>
        <p:guide orient="horz" pos="3240"/>
        <p:guide pos="576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ags" Target="tags/tag1.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E003E7-8F9F-4D5E-92EA-A0649DA6C082}" type="datetimeFigureOut">
              <a:rPr lang="en-US" smtClean="0"/>
              <a:t>5/24/2024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4B4D9E7-08EA-4B3D-BC2D-203B18CB11E8}" type="slidenum">
              <a:rPr lang="en-US" smtClean="0"/>
              <a:t>‹#›</a:t>
            </a:fld>
            <a:endParaRPr lang="en-US"/>
          </a:p>
        </p:txBody>
      </p:sp>
    </p:spTree>
    <p:extLst>
      <p:ext uri="{BB962C8B-B14F-4D97-AF65-F5344CB8AC3E}">
        <p14:creationId xmlns:p14="http://schemas.microsoft.com/office/powerpoint/2010/main" val="11237830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2A486D6-E442-077A-EEB3-88D208F2FC4C}"/>
              </a:ext>
            </a:extLst>
          </p:cNvPr>
          <p:cNvSpPr/>
          <p:nvPr/>
        </p:nvSpPr>
        <p:spPr>
          <a:xfrm>
            <a:off x="2657477" y="1943101"/>
            <a:ext cx="12973050" cy="4730750"/>
          </a:xfrm>
          <a:prstGeom prst="rect">
            <a:avLst/>
          </a:prstGeom>
          <a:noFill/>
          <a:ln w="12700" cap="flat" cmpd="sng">
            <a:solidFill>
              <a:schemeClr val="bg1"/>
            </a:solidFill>
            <a:prstDash val="solid"/>
          </a:ln>
          <a:effectLst>
            <a:outerShdw blurRad="63500" sx="100500" sy="100500" algn="ctr" rotWithShape="0">
              <a:prstClr val="black">
                <a:alpha val="50000"/>
              </a:prstClr>
            </a:outerShdw>
          </a:effectLst>
        </p:spPr>
        <p:txBody>
          <a:bodyPr>
            <a:normAutofit/>
          </a:bodyPr>
          <a:lstStyle/>
          <a:p>
            <a:pPr defTabSz="1828800" fontAlgn="auto">
              <a:spcBef>
                <a:spcPts val="4000"/>
              </a:spcBef>
              <a:spcAft>
                <a:spcPts val="0"/>
              </a:spcAft>
              <a:buClr>
                <a:schemeClr val="accent1">
                  <a:lumMod val="60000"/>
                  <a:lumOff val="40000"/>
                </a:schemeClr>
              </a:buClr>
              <a:buSzPct val="110000"/>
              <a:buFont typeface="Wingdings 2" pitchFamily="18" charset="2"/>
              <a:buNone/>
              <a:defRPr/>
            </a:pPr>
            <a:endParaRPr sz="6400">
              <a:solidFill>
                <a:schemeClr val="tx1">
                  <a:lumMod val="65000"/>
                  <a:lumOff val="35000"/>
                </a:schemeClr>
              </a:solidFill>
              <a:latin typeface="+mn-lt"/>
              <a:ea typeface="+mn-ea"/>
            </a:endParaRPr>
          </a:p>
        </p:txBody>
      </p:sp>
      <p:sp>
        <p:nvSpPr>
          <p:cNvPr id="2" name="Title 1"/>
          <p:cNvSpPr>
            <a:spLocks noGrp="1"/>
          </p:cNvSpPr>
          <p:nvPr>
            <p:ph type="ctrTitle"/>
          </p:nvPr>
        </p:nvSpPr>
        <p:spPr>
          <a:xfrm>
            <a:off x="2645842" y="2286000"/>
            <a:ext cx="12996316" cy="2587300"/>
          </a:xfrm>
        </p:spPr>
        <p:txBody>
          <a:bodyPr lIns="182880" rIns="182880" rtlCol="0">
            <a:noAutofit/>
          </a:bodyPr>
          <a:lstStyle>
            <a:lvl1pPr marL="0" indent="0" algn="ctr" defTabSz="1828800" rtl="0" eaLnBrk="1" latinLnBrk="0" hangingPunct="1">
              <a:spcBef>
                <a:spcPct val="0"/>
              </a:spcBef>
              <a:buClr>
                <a:schemeClr val="accent1">
                  <a:lumMod val="60000"/>
                  <a:lumOff val="40000"/>
                </a:schemeClr>
              </a:buClr>
              <a:buSzPct val="110000"/>
              <a:buFont typeface="Wingdings 2" pitchFamily="18" charset="2"/>
              <a:buNone/>
              <a:defRPr sz="7200" b="1" kern="1200">
                <a:solidFill>
                  <a:schemeClr val="accent1"/>
                </a:solidFill>
                <a:latin typeface="+mj-lt"/>
                <a:ea typeface="+mj-ea"/>
                <a:cs typeface="+mj-cs"/>
              </a:defRPr>
            </a:lvl1pPr>
          </a:lstStyle>
          <a:p>
            <a:r>
              <a:rPr lang="en-US"/>
              <a:t>Click to edit Master title style</a:t>
            </a:r>
            <a:endParaRPr/>
          </a:p>
        </p:txBody>
      </p:sp>
      <p:sp>
        <p:nvSpPr>
          <p:cNvPr id="3" name="Subtitle 2"/>
          <p:cNvSpPr>
            <a:spLocks noGrp="1"/>
          </p:cNvSpPr>
          <p:nvPr>
            <p:ph type="subTitle" idx="1"/>
          </p:nvPr>
        </p:nvSpPr>
        <p:spPr>
          <a:xfrm>
            <a:off x="2645845" y="4948519"/>
            <a:ext cx="12996318" cy="1374962"/>
          </a:xfrm>
        </p:spPr>
        <p:txBody>
          <a:bodyPr rtlCol="0">
            <a:normAutofit/>
          </a:bodyPr>
          <a:lstStyle>
            <a:lvl1pPr marL="0" indent="0" algn="ctr" defTabSz="1828800" rtl="0" eaLnBrk="1" latinLnBrk="0" hangingPunct="1">
              <a:spcBef>
                <a:spcPts val="600"/>
              </a:spcBef>
              <a:buClr>
                <a:schemeClr val="accent1">
                  <a:lumMod val="60000"/>
                  <a:lumOff val="40000"/>
                </a:schemeClr>
              </a:buClr>
              <a:buSzPct val="110000"/>
              <a:buFont typeface="Wingdings 2" pitchFamily="18" charset="2"/>
              <a:buNone/>
              <a:defRPr sz="3600" kern="1200">
                <a:solidFill>
                  <a:schemeClr val="tx1"/>
                </a:solidFill>
                <a:latin typeface="+mn-lt"/>
                <a:ea typeface="+mn-ea"/>
                <a:cs typeface="+mn-cs"/>
              </a:defRPr>
            </a:lvl1pPr>
            <a:lvl2pPr marL="914400" indent="0" algn="ctr">
              <a:buNone/>
              <a:defRPr>
                <a:solidFill>
                  <a:schemeClr val="tx1">
                    <a:tint val="75000"/>
                  </a:schemeClr>
                </a:solidFill>
              </a:defRPr>
            </a:lvl2pPr>
            <a:lvl3pPr marL="1828800" indent="0" algn="ctr">
              <a:buNone/>
              <a:defRPr>
                <a:solidFill>
                  <a:schemeClr val="tx1">
                    <a:tint val="75000"/>
                  </a:schemeClr>
                </a:solidFill>
              </a:defRPr>
            </a:lvl3pPr>
            <a:lvl4pPr marL="2743200" indent="0" algn="ctr">
              <a:buNone/>
              <a:defRPr>
                <a:solidFill>
                  <a:schemeClr val="tx1">
                    <a:tint val="75000"/>
                  </a:schemeClr>
                </a:solidFill>
              </a:defRPr>
            </a:lvl4pPr>
            <a:lvl5pPr marL="3657600" indent="0" algn="ctr">
              <a:buNone/>
              <a:defRPr>
                <a:solidFill>
                  <a:schemeClr val="tx1">
                    <a:tint val="75000"/>
                  </a:schemeClr>
                </a:solidFill>
              </a:defRPr>
            </a:lvl5pPr>
            <a:lvl6pPr marL="4572000" indent="0" algn="ctr">
              <a:buNone/>
              <a:defRPr>
                <a:solidFill>
                  <a:schemeClr val="tx1">
                    <a:tint val="75000"/>
                  </a:schemeClr>
                </a:solidFill>
              </a:defRPr>
            </a:lvl6pPr>
            <a:lvl7pPr marL="5486400" indent="0" algn="ctr">
              <a:buNone/>
              <a:defRPr>
                <a:solidFill>
                  <a:schemeClr val="tx1">
                    <a:tint val="75000"/>
                  </a:schemeClr>
                </a:solidFill>
              </a:defRPr>
            </a:lvl7pPr>
            <a:lvl8pPr marL="6400800" indent="0" algn="ctr">
              <a:buNone/>
              <a:defRPr>
                <a:solidFill>
                  <a:schemeClr val="tx1">
                    <a:tint val="75000"/>
                  </a:schemeClr>
                </a:solidFill>
              </a:defRPr>
            </a:lvl8pPr>
            <a:lvl9pPr marL="7315200" indent="0" algn="ctr">
              <a:buNone/>
              <a:defRPr>
                <a:solidFill>
                  <a:schemeClr val="tx1">
                    <a:tint val="75000"/>
                  </a:schemeClr>
                </a:solidFill>
              </a:defRPr>
            </a:lvl9pPr>
          </a:lstStyle>
          <a:p>
            <a:r>
              <a:rPr lang="en-US"/>
              <a:t>Click to edit Master subtitle style</a:t>
            </a:r>
            <a:endParaRPr dirty="0"/>
          </a:p>
        </p:txBody>
      </p:sp>
    </p:spTree>
    <p:extLst>
      <p:ext uri="{BB962C8B-B14F-4D97-AF65-F5344CB8AC3E}">
        <p14:creationId xmlns:p14="http://schemas.microsoft.com/office/powerpoint/2010/main" val="1667486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98550" y="161365"/>
            <a:ext cx="16084552" cy="1551434"/>
          </a:xfrm>
        </p:spPr>
        <p:txBody>
          <a:bodyPr/>
          <a:lstStyle>
            <a:lvl1pPr>
              <a:defRPr sz="5600" b="1"/>
            </a:lvl1pPr>
          </a:lstStyle>
          <a:p>
            <a:r>
              <a:rPr lang="en-US"/>
              <a:t>Click to edit Master title style</a:t>
            </a:r>
            <a:endParaRPr/>
          </a:p>
        </p:txBody>
      </p:sp>
      <p:sp>
        <p:nvSpPr>
          <p:cNvPr id="3" name="Content Placeholder 2"/>
          <p:cNvSpPr>
            <a:spLocks noGrp="1"/>
          </p:cNvSpPr>
          <p:nvPr>
            <p:ph idx="1"/>
          </p:nvPr>
        </p:nvSpPr>
        <p:spPr>
          <a:xfrm>
            <a:off x="1098550" y="2050699"/>
            <a:ext cx="16084552" cy="6888006"/>
          </a:xfrm>
        </p:spPr>
        <p:txBody>
          <a:bodyPr/>
          <a:lstStyle>
            <a:lvl1pPr>
              <a:defRPr sz="4000"/>
            </a:lvl1pPr>
            <a:lvl2pPr>
              <a:defRPr sz="3600"/>
            </a:lvl2pPr>
            <a:lvl3pPr>
              <a:defRPr sz="3200"/>
            </a:lvl3pPr>
            <a:lvl4pPr>
              <a:defRPr sz="2800"/>
            </a:lvl4pPr>
            <a:lvl5pPr>
              <a:defRPr sz="2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Tree>
    <p:extLst>
      <p:ext uri="{BB962C8B-B14F-4D97-AF65-F5344CB8AC3E}">
        <p14:creationId xmlns:p14="http://schemas.microsoft.com/office/powerpoint/2010/main" val="26025930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098550" y="2085698"/>
            <a:ext cx="7680960" cy="6515100"/>
          </a:xfrm>
        </p:spPr>
        <p:txBody>
          <a:bodyPr>
            <a:normAutofit/>
          </a:bodyPr>
          <a:lstStyle>
            <a:lvl1pPr>
              <a:spcBef>
                <a:spcPts val="3200"/>
              </a:spcBef>
              <a:defRPr sz="4000"/>
            </a:lvl1pPr>
            <a:lvl2pPr>
              <a:defRPr sz="3600"/>
            </a:lvl2pPr>
            <a:lvl3pPr>
              <a:defRPr sz="3200"/>
            </a:lvl3pPr>
            <a:lvl4pPr>
              <a:defRPr sz="2800"/>
            </a:lvl4pPr>
            <a:lvl5pPr>
              <a:defRPr sz="2400"/>
            </a:lvl5pPr>
            <a:lvl6pPr>
              <a:defRPr sz="3600"/>
            </a:lvl6pPr>
            <a:lvl7pPr>
              <a:defRPr sz="3600"/>
            </a:lvl7pPr>
            <a:lvl8pPr>
              <a:defRPr sz="3600"/>
            </a:lvl8pPr>
            <a:lvl9pPr>
              <a:defRPr sz="3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Content Placeholder 3"/>
          <p:cNvSpPr>
            <a:spLocks noGrp="1"/>
          </p:cNvSpPr>
          <p:nvPr>
            <p:ph sz="half" idx="2"/>
          </p:nvPr>
        </p:nvSpPr>
        <p:spPr>
          <a:xfrm>
            <a:off x="9502142" y="2085698"/>
            <a:ext cx="7680960" cy="6515100"/>
          </a:xfrm>
        </p:spPr>
        <p:txBody>
          <a:bodyPr>
            <a:normAutofit/>
          </a:bodyPr>
          <a:lstStyle>
            <a:lvl1pPr>
              <a:spcBef>
                <a:spcPts val="3200"/>
              </a:spcBef>
              <a:defRPr sz="4000"/>
            </a:lvl1pPr>
            <a:lvl2pPr>
              <a:defRPr sz="3600"/>
            </a:lvl2pPr>
            <a:lvl3pPr>
              <a:defRPr sz="3200"/>
            </a:lvl3pPr>
            <a:lvl4pPr>
              <a:defRPr sz="2800"/>
            </a:lvl4pPr>
            <a:lvl5pPr>
              <a:defRPr sz="2400"/>
            </a:lvl5pPr>
            <a:lvl6pPr>
              <a:defRPr sz="3600"/>
            </a:lvl6pPr>
            <a:lvl7pPr>
              <a:defRPr sz="3600"/>
            </a:lvl7pPr>
            <a:lvl8pPr>
              <a:defRPr sz="3600"/>
            </a:lvl8pPr>
            <a:lvl9pPr>
              <a:defRPr sz="3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Title 1"/>
          <p:cNvSpPr>
            <a:spLocks noGrp="1"/>
          </p:cNvSpPr>
          <p:nvPr>
            <p:ph type="title"/>
          </p:nvPr>
        </p:nvSpPr>
        <p:spPr>
          <a:xfrm>
            <a:off x="1098550" y="161365"/>
            <a:ext cx="16084552" cy="1551434"/>
          </a:xfrm>
        </p:spPr>
        <p:txBody>
          <a:bodyPr/>
          <a:lstStyle>
            <a:lvl1pPr>
              <a:defRPr sz="5600" b="1"/>
            </a:lvl1pPr>
          </a:lstStyle>
          <a:p>
            <a:r>
              <a:rPr lang="en-US"/>
              <a:t>Click to edit Master title style</a:t>
            </a:r>
            <a:endParaRPr/>
          </a:p>
        </p:txBody>
      </p:sp>
    </p:spTree>
    <p:extLst>
      <p:ext uri="{BB962C8B-B14F-4D97-AF65-F5344CB8AC3E}">
        <p14:creationId xmlns:p14="http://schemas.microsoft.com/office/powerpoint/2010/main" val="55611414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jp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5">
            <a:lum/>
          </a:blip>
          <a:srcRect/>
          <a:stretch>
            <a:fillRect/>
          </a:stretch>
        </a:blip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482098A7-74DB-47EC-8637-CFD1F5FF8EA6}"/>
              </a:ext>
            </a:extLst>
          </p:cNvPr>
          <p:cNvSpPr>
            <a:spLocks noGrp="1"/>
          </p:cNvSpPr>
          <p:nvPr>
            <p:ph type="title"/>
          </p:nvPr>
        </p:nvSpPr>
        <p:spPr bwMode="auto">
          <a:xfrm>
            <a:off x="1098551" y="161926"/>
            <a:ext cx="16084550" cy="2003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A30E7C49-5D51-22BD-9218-005012D508B4}"/>
              </a:ext>
            </a:extLst>
          </p:cNvPr>
          <p:cNvSpPr>
            <a:spLocks noGrp="1"/>
          </p:cNvSpPr>
          <p:nvPr>
            <p:ph type="body" idx="1"/>
          </p:nvPr>
        </p:nvSpPr>
        <p:spPr bwMode="auto">
          <a:xfrm>
            <a:off x="1098551" y="2400300"/>
            <a:ext cx="16084550" cy="651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pic>
        <p:nvPicPr>
          <p:cNvPr id="1028" name="Picture 5" descr="ILTECH_wht_horiz.png">
            <a:extLst>
              <a:ext uri="{FF2B5EF4-FFF2-40B4-BE49-F238E27FC236}">
                <a16:creationId xmlns:a16="http://schemas.microsoft.com/office/drawing/2014/main" id="{42D74730-BBC2-6B47-9AEF-9E8FDE440A0D}"/>
              </a:ext>
            </a:extLst>
          </p:cNvPr>
          <p:cNvPicPr>
            <a:picLocks noChangeAspect="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14189076" y="9185276"/>
            <a:ext cx="355600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76" r:id="rId1"/>
    <p:sldLayoutId id="2147483674" r:id="rId2"/>
    <p:sldLayoutId id="2147483675" r:id="rId3"/>
  </p:sldLayoutIdLst>
  <p:txStyles>
    <p:titleStyle>
      <a:lvl1pPr algn="ctr" rtl="0" eaLnBrk="1" fontAlgn="base" hangingPunct="1">
        <a:spcBef>
          <a:spcPct val="0"/>
        </a:spcBef>
        <a:spcAft>
          <a:spcPct val="0"/>
        </a:spcAft>
        <a:defRPr sz="5600" b="1" kern="1200">
          <a:solidFill>
            <a:schemeClr val="accent1"/>
          </a:solidFill>
          <a:latin typeface="+mj-lt"/>
          <a:ea typeface="ＭＳ Ｐゴシック" panose="020B0600070205080204" pitchFamily="34" charset="-128"/>
          <a:cs typeface="+mj-cs"/>
        </a:defRPr>
      </a:lvl1pPr>
      <a:lvl2pPr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2pPr>
      <a:lvl3pPr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3pPr>
      <a:lvl4pPr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4pPr>
      <a:lvl5pPr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5pPr>
      <a:lvl6pPr marL="914400"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6pPr>
      <a:lvl7pPr marL="1828800"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7pPr>
      <a:lvl8pPr marL="2743200"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8pPr>
      <a:lvl9pPr marL="3657600"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9pPr>
    </p:titleStyle>
    <p:bodyStyle>
      <a:lvl1pPr marL="698500" indent="-698500" algn="l" rtl="0" eaLnBrk="1" fontAlgn="base" hangingPunct="1">
        <a:spcBef>
          <a:spcPts val="4000"/>
        </a:spcBef>
        <a:spcAft>
          <a:spcPct val="0"/>
        </a:spcAft>
        <a:buClr>
          <a:schemeClr val="accent2"/>
        </a:buClr>
        <a:buSzPct val="100000"/>
        <a:buFont typeface="Wingdings 2" pitchFamily="2" charset="2"/>
        <a:buChar char=""/>
        <a:defRPr sz="4800" kern="1200">
          <a:solidFill>
            <a:schemeClr val="tx1"/>
          </a:solidFill>
          <a:latin typeface="+mn-lt"/>
          <a:ea typeface="ＭＳ Ｐゴシック" panose="020B0600070205080204" pitchFamily="34" charset="-128"/>
          <a:cs typeface="+mn-cs"/>
        </a:defRPr>
      </a:lvl1pPr>
      <a:lvl2pPr marL="1371600" indent="-673100" algn="l" rtl="0" eaLnBrk="1" fontAlgn="base" hangingPunct="1">
        <a:spcBef>
          <a:spcPts val="1200"/>
        </a:spcBef>
        <a:spcAft>
          <a:spcPct val="0"/>
        </a:spcAft>
        <a:buClr>
          <a:srgbClr val="808080"/>
        </a:buClr>
        <a:buSzPct val="100000"/>
        <a:buFont typeface="Wingdings 2" pitchFamily="2" charset="2"/>
        <a:buChar char=""/>
        <a:defRPr sz="4400" kern="1200">
          <a:solidFill>
            <a:schemeClr val="tx1"/>
          </a:solidFill>
          <a:latin typeface="+mn-lt"/>
          <a:ea typeface="ＭＳ Ｐゴシック" panose="020B0600070205080204" pitchFamily="34" charset="-128"/>
          <a:cs typeface="+mn-cs"/>
        </a:defRPr>
      </a:lvl2pPr>
      <a:lvl3pPr marL="1936750" indent="-565150" algn="l" rtl="0" eaLnBrk="1" fontAlgn="base" hangingPunct="1">
        <a:spcBef>
          <a:spcPts val="1200"/>
        </a:spcBef>
        <a:spcAft>
          <a:spcPct val="0"/>
        </a:spcAft>
        <a:buClr>
          <a:srgbClr val="969696"/>
        </a:buClr>
        <a:buSzPct val="100000"/>
        <a:buFont typeface="Wingdings 2" pitchFamily="2" charset="2"/>
        <a:buChar char=""/>
        <a:defRPr sz="4000" kern="1200">
          <a:solidFill>
            <a:schemeClr val="tx1"/>
          </a:solidFill>
          <a:latin typeface="+mn-lt"/>
          <a:ea typeface="ＭＳ Ｐゴシック" panose="020B0600070205080204" pitchFamily="34" charset="-128"/>
          <a:cs typeface="+mn-cs"/>
        </a:defRPr>
      </a:lvl3pPr>
      <a:lvl4pPr marL="2527300" indent="-590550" algn="l" rtl="0" eaLnBrk="1" fontAlgn="base" hangingPunct="1">
        <a:spcBef>
          <a:spcPts val="1200"/>
        </a:spcBef>
        <a:spcAft>
          <a:spcPct val="0"/>
        </a:spcAft>
        <a:buClr>
          <a:srgbClr val="F8BC65"/>
        </a:buClr>
        <a:buSzPct val="100000"/>
        <a:buFont typeface="Wingdings 2" pitchFamily="2" charset="2"/>
        <a:buChar char=""/>
        <a:defRPr kern="1200">
          <a:solidFill>
            <a:schemeClr val="tx1"/>
          </a:solidFill>
          <a:latin typeface="+mn-lt"/>
          <a:ea typeface="ＭＳ Ｐゴシック" panose="020B0600070205080204" pitchFamily="34" charset="-128"/>
          <a:cs typeface="+mn-cs"/>
        </a:defRPr>
      </a:lvl4pPr>
      <a:lvl5pPr marL="3092450" indent="-565150" algn="l" rtl="0" eaLnBrk="1" fontAlgn="base" hangingPunct="1">
        <a:spcBef>
          <a:spcPts val="1200"/>
        </a:spcBef>
        <a:spcAft>
          <a:spcPct val="0"/>
        </a:spcAft>
        <a:buClr>
          <a:srgbClr val="FBD299"/>
        </a:buClr>
        <a:buSzPct val="100000"/>
        <a:buFont typeface="Wingdings 2" pitchFamily="2" charset="2"/>
        <a:buChar char=""/>
        <a:defRPr kern="1200">
          <a:solidFill>
            <a:schemeClr val="tx1"/>
          </a:solidFill>
          <a:latin typeface="+mn-lt"/>
          <a:ea typeface="ＭＳ Ｐゴシック" panose="020B0600070205080204" pitchFamily="34" charset="-128"/>
          <a:cs typeface="+mn-cs"/>
        </a:defRPr>
      </a:lvl5pPr>
      <a:lvl6pPr marL="3657600" indent="-565150" algn="l" defTabSz="1828800" rtl="0" eaLnBrk="1" latinLnBrk="0" hangingPunct="1">
        <a:spcBef>
          <a:spcPct val="20000"/>
        </a:spcBef>
        <a:buClr>
          <a:schemeClr val="accent2"/>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6pPr>
      <a:lvl7pPr marL="4235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7pPr>
      <a:lvl8pPr marL="4797426" indent="-565150" algn="l" defTabSz="1828800" rtl="0" eaLnBrk="1" latinLnBrk="0" hangingPunct="1">
        <a:spcBef>
          <a:spcPct val="20000"/>
        </a:spcBef>
        <a:buClr>
          <a:schemeClr val="accent2"/>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8pPr>
      <a:lvl9pPr marL="5378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dirty="0">
          <a:solidFill>
            <a:schemeClr val="tx1">
              <a:lumMod val="65000"/>
              <a:lumOff val="35000"/>
            </a:schemeClr>
          </a:solidFill>
          <a:latin typeface="+mn-lt"/>
          <a:ea typeface="+mn-ea"/>
          <a:cs typeface="+mn-cs"/>
        </a:defRPr>
      </a:lvl9pPr>
    </p:bodyStyle>
    <p:otherStyle>
      <a:defPPr>
        <a:defRPr/>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2.xml"/><Relationship Id="rId1" Type="http://schemas.openxmlformats.org/officeDocument/2006/relationships/tags" Target="../tags/tag5.xml"/><Relationship Id="rId4" Type="http://schemas.openxmlformats.org/officeDocument/2006/relationships/hyperlink" Target="https://www.mckinsey.com/industries/semiconductors/our-insights/generative-ai-the-next-s-curve-for-the-semiconductor-industry?stcr=0E70E179546B4BF8817E1E158D0053B8&amp;cid=other-eml-alt-mip-mck&amp;hlkid=10a27e5ea54845d1804097a41691c846&amp;hctky=14245164&amp;hdpid=7ae6dfad-ca1e-492c-a89f-b9f17437bf3d"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A3D2C4-084C-C545-00AC-430EC19B6C87}"/>
              </a:ext>
            </a:extLst>
          </p:cNvPr>
          <p:cNvSpPr>
            <a:spLocks noGrp="1"/>
          </p:cNvSpPr>
          <p:nvPr>
            <p:ph type="ctrTitle"/>
          </p:nvPr>
        </p:nvSpPr>
        <p:spPr>
          <a:xfrm>
            <a:off x="2644778" y="2286002"/>
            <a:ext cx="12998450" cy="2587626"/>
          </a:xfrm>
        </p:spPr>
        <p:txBody>
          <a:bodyPr/>
          <a:lstStyle/>
          <a:p>
            <a:pPr>
              <a:defRPr/>
            </a:pPr>
            <a:r>
              <a:rPr lang="en-US" dirty="0"/>
              <a:t>MBA532 – AI in Business </a:t>
            </a:r>
          </a:p>
        </p:txBody>
      </p:sp>
      <p:sp>
        <p:nvSpPr>
          <p:cNvPr id="3" name="Subtitle 2">
            <a:extLst>
              <a:ext uri="{FF2B5EF4-FFF2-40B4-BE49-F238E27FC236}">
                <a16:creationId xmlns:a16="http://schemas.microsoft.com/office/drawing/2014/main" id="{1773A97B-06C2-BD5D-13DD-A14A00967D4E}"/>
              </a:ext>
            </a:extLst>
          </p:cNvPr>
          <p:cNvSpPr>
            <a:spLocks noGrp="1"/>
          </p:cNvSpPr>
          <p:nvPr>
            <p:ph type="subTitle" idx="1"/>
          </p:nvPr>
        </p:nvSpPr>
        <p:spPr>
          <a:xfrm>
            <a:off x="2644778" y="4949828"/>
            <a:ext cx="12998450" cy="1374774"/>
          </a:xfrm>
        </p:spPr>
        <p:txBody>
          <a:bodyPr>
            <a:normAutofit/>
          </a:bodyPr>
          <a:lstStyle/>
          <a:p>
            <a:pPr>
              <a:defRPr/>
            </a:pPr>
            <a:r>
              <a:rPr lang="en-US" dirty="0">
                <a:latin typeface="+mj-lt"/>
              </a:rPr>
              <a:t>MODULE 7 – Generative AI and Explainable AI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60BA3-0DCD-4340-A353-0A47C8EF550E}"/>
              </a:ext>
            </a:extLst>
          </p:cNvPr>
          <p:cNvSpPr>
            <a:spLocks noGrp="1"/>
          </p:cNvSpPr>
          <p:nvPr>
            <p:ph type="title"/>
          </p:nvPr>
        </p:nvSpPr>
        <p:spPr>
          <a:xfrm>
            <a:off x="1098550" y="649357"/>
            <a:ext cx="16084552" cy="1828800"/>
          </a:xfrm>
        </p:spPr>
        <p:txBody>
          <a:bodyPr/>
          <a:lstStyle/>
          <a:p>
            <a:r>
              <a:rPr lang="en-US" dirty="0"/>
              <a:t>Progress, Growth and Benefits of Generative AI</a:t>
            </a:r>
          </a:p>
        </p:txBody>
      </p:sp>
      <p:sp>
        <p:nvSpPr>
          <p:cNvPr id="3" name="Content Placeholder 2">
            <a:extLst>
              <a:ext uri="{FF2B5EF4-FFF2-40B4-BE49-F238E27FC236}">
                <a16:creationId xmlns:a16="http://schemas.microsoft.com/office/drawing/2014/main" id="{D09A3488-3773-4370-B9C4-380ADFB4F648}"/>
              </a:ext>
            </a:extLst>
          </p:cNvPr>
          <p:cNvSpPr>
            <a:spLocks noGrp="1"/>
          </p:cNvSpPr>
          <p:nvPr>
            <p:ph idx="1"/>
          </p:nvPr>
        </p:nvSpPr>
        <p:spPr>
          <a:xfrm>
            <a:off x="1098550" y="2968487"/>
            <a:ext cx="16084552" cy="5970218"/>
          </a:xfrm>
        </p:spPr>
        <p:txBody>
          <a:bodyPr/>
          <a:lstStyle/>
          <a:p>
            <a:r>
              <a:rPr lang="en-US" dirty="0"/>
              <a:t>Progress, Growth, and Benefits of Generative AI</a:t>
            </a:r>
          </a:p>
        </p:txBody>
      </p:sp>
    </p:spTree>
    <p:custDataLst>
      <p:tags r:id="rId1"/>
    </p:custDataLst>
    <p:extLst>
      <p:ext uri="{BB962C8B-B14F-4D97-AF65-F5344CB8AC3E}">
        <p14:creationId xmlns:p14="http://schemas.microsoft.com/office/powerpoint/2010/main" val="18574113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5E95D-46AA-43E0-B617-E16EF2AF7F63}"/>
              </a:ext>
            </a:extLst>
          </p:cNvPr>
          <p:cNvSpPr>
            <a:spLocks noGrp="1"/>
          </p:cNvSpPr>
          <p:nvPr>
            <p:ph type="title"/>
          </p:nvPr>
        </p:nvSpPr>
        <p:spPr>
          <a:xfrm>
            <a:off x="1101724" y="344222"/>
            <a:ext cx="16084552" cy="1037885"/>
          </a:xfrm>
        </p:spPr>
        <p:txBody>
          <a:bodyPr/>
          <a:lstStyle/>
          <a:p>
            <a:r>
              <a:rPr lang="en-US" dirty="0"/>
              <a:t>Assessing Progress in Generative AI</a:t>
            </a:r>
          </a:p>
        </p:txBody>
      </p:sp>
      <p:sp>
        <p:nvSpPr>
          <p:cNvPr id="3" name="Content Placeholder 2">
            <a:extLst>
              <a:ext uri="{FF2B5EF4-FFF2-40B4-BE49-F238E27FC236}">
                <a16:creationId xmlns:a16="http://schemas.microsoft.com/office/drawing/2014/main" id="{AD04D7A5-3B42-4788-BB8D-DF66D36CAB41}"/>
              </a:ext>
            </a:extLst>
          </p:cNvPr>
          <p:cNvSpPr>
            <a:spLocks noGrp="1"/>
          </p:cNvSpPr>
          <p:nvPr>
            <p:ph idx="1"/>
          </p:nvPr>
        </p:nvSpPr>
        <p:spPr>
          <a:xfrm>
            <a:off x="1283607" y="1920071"/>
            <a:ext cx="16084552" cy="6888006"/>
          </a:xfrm>
        </p:spPr>
        <p:txBody>
          <a:bodyPr/>
          <a:lstStyle/>
          <a:p>
            <a:endParaRPr lang="en-US" sz="3200" dirty="0"/>
          </a:p>
          <a:p>
            <a:endParaRPr lang="en-US" sz="3200" dirty="0"/>
          </a:p>
          <a:p>
            <a:endParaRPr lang="en-US" sz="3200" dirty="0"/>
          </a:p>
        </p:txBody>
      </p:sp>
      <p:sp>
        <p:nvSpPr>
          <p:cNvPr id="5" name="TextBox 4">
            <a:extLst>
              <a:ext uri="{FF2B5EF4-FFF2-40B4-BE49-F238E27FC236}">
                <a16:creationId xmlns:a16="http://schemas.microsoft.com/office/drawing/2014/main" id="{DF308AFB-89AC-4554-8370-84D085557A9F}"/>
              </a:ext>
            </a:extLst>
          </p:cNvPr>
          <p:cNvSpPr txBox="1"/>
          <p:nvPr/>
        </p:nvSpPr>
        <p:spPr>
          <a:xfrm>
            <a:off x="1741714" y="1382107"/>
            <a:ext cx="15022286" cy="8463855"/>
          </a:xfrm>
          <a:prstGeom prst="rect">
            <a:avLst/>
          </a:prstGeom>
          <a:noFill/>
        </p:spPr>
        <p:txBody>
          <a:bodyPr wrap="square">
            <a:spAutoFit/>
          </a:bodyPr>
          <a:lstStyle/>
          <a:p>
            <a:pPr marL="457200" indent="-457200">
              <a:spcBef>
                <a:spcPts val="0"/>
              </a:spcBef>
              <a:buFont typeface="Arial" panose="020B0604020202020204" pitchFamily="34" charset="0"/>
              <a:buChar char="•"/>
            </a:pPr>
            <a:r>
              <a:rPr lang="en-US" sz="3200" b="0" i="0" dirty="0">
                <a:effectLst/>
                <a:latin typeface="+mn-lt"/>
              </a:rPr>
              <a:t>In the field of Generative AI, the focus is on the following two contentions of AI firms:</a:t>
            </a:r>
            <a:br>
              <a:rPr lang="en-US" sz="3200" b="0" i="0" dirty="0">
                <a:effectLst/>
                <a:latin typeface="+mn-lt"/>
              </a:rPr>
            </a:br>
            <a:r>
              <a:rPr lang="en-US" sz="3200" b="0" i="0" dirty="0">
                <a:effectLst/>
                <a:latin typeface="+mn-lt"/>
              </a:rPr>
              <a:t>* One, AI industry should not be accused of stealing content that was scraped from openly accessible sources on the Internet;</a:t>
            </a:r>
            <a:br>
              <a:rPr lang="en-US" sz="3200" b="0" i="0" dirty="0">
                <a:effectLst/>
                <a:latin typeface="+mn-lt"/>
              </a:rPr>
            </a:br>
            <a:r>
              <a:rPr lang="en-US" sz="3200" b="0" i="0" dirty="0">
                <a:effectLst/>
                <a:latin typeface="+mn-lt"/>
              </a:rPr>
              <a:t>* Two, AI companies should not be held liable for outcomes from the use of Generative AI applications.</a:t>
            </a:r>
          </a:p>
          <a:p>
            <a:pPr marL="457200" indent="-457200">
              <a:spcBef>
                <a:spcPts val="0"/>
              </a:spcBef>
              <a:buFont typeface="Arial" panose="020B0604020202020204" pitchFamily="34" charset="0"/>
              <a:buChar char="•"/>
            </a:pPr>
            <a:r>
              <a:rPr lang="en-US" sz="3200" b="0" i="0" dirty="0">
                <a:effectLst/>
                <a:latin typeface="+mn-lt"/>
              </a:rPr>
              <a:t>It is clear now that many authors and publishers of written content (copyrighted or not) disagree on the first premise above; on the second notion, legal experts agree that the Section 230 of the Communications Decency Act of 1996 does not extend the same protections to AI companies that is available to Internet platforms like Facebook, X etc.</a:t>
            </a:r>
          </a:p>
          <a:p>
            <a:pPr marL="457200" indent="-457200">
              <a:spcBef>
                <a:spcPts val="0"/>
              </a:spcBef>
              <a:buFont typeface="Arial" panose="020B0604020202020204" pitchFamily="34" charset="0"/>
              <a:buChar char="•"/>
            </a:pPr>
            <a:r>
              <a:rPr lang="en-US" sz="3200" b="0" i="0" dirty="0">
                <a:effectLst/>
                <a:latin typeface="+mn-lt"/>
              </a:rPr>
              <a:t>Given the explosive growth, adoption and positive benefits that Generative AI has yielded thus far, it is likely that AI firms (and the tech and other industries that eagerly embraced Generative AI) will lobby heavily for new legislation that offers protections equivalent to Section 230 above, while courts will determine what the appropriate compensation of authors/publishers should be based on the extent of Generative AI’s use of their content.</a:t>
            </a:r>
            <a:endParaRPr lang="en-US" sz="3200" dirty="0">
              <a:latin typeface="+mn-lt"/>
            </a:endParaRPr>
          </a:p>
        </p:txBody>
      </p:sp>
    </p:spTree>
    <p:custDataLst>
      <p:tags r:id="rId1"/>
    </p:custDataLst>
    <p:extLst>
      <p:ext uri="{BB962C8B-B14F-4D97-AF65-F5344CB8AC3E}">
        <p14:creationId xmlns:p14="http://schemas.microsoft.com/office/powerpoint/2010/main" val="36112395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FF3F0-7ABA-4835-90A1-87139AC55CCE}"/>
              </a:ext>
            </a:extLst>
          </p:cNvPr>
          <p:cNvSpPr>
            <a:spLocks noGrp="1"/>
          </p:cNvSpPr>
          <p:nvPr>
            <p:ph type="title"/>
          </p:nvPr>
        </p:nvSpPr>
        <p:spPr>
          <a:xfrm>
            <a:off x="1098550" y="223325"/>
            <a:ext cx="16084552" cy="1059656"/>
          </a:xfrm>
        </p:spPr>
        <p:txBody>
          <a:bodyPr/>
          <a:lstStyle/>
          <a:p>
            <a:r>
              <a:rPr lang="en-US" dirty="0"/>
              <a:t>Case Study: Benefits from Generative AI</a:t>
            </a:r>
          </a:p>
        </p:txBody>
      </p:sp>
      <p:sp>
        <p:nvSpPr>
          <p:cNvPr id="3" name="Content Placeholder 2">
            <a:extLst>
              <a:ext uri="{FF2B5EF4-FFF2-40B4-BE49-F238E27FC236}">
                <a16:creationId xmlns:a16="http://schemas.microsoft.com/office/drawing/2014/main" id="{9DF2C438-AB69-4506-AD4A-DC32DEB146E7}"/>
              </a:ext>
            </a:extLst>
          </p:cNvPr>
          <p:cNvSpPr>
            <a:spLocks noGrp="1"/>
          </p:cNvSpPr>
          <p:nvPr>
            <p:ph idx="1"/>
          </p:nvPr>
        </p:nvSpPr>
        <p:spPr>
          <a:xfrm>
            <a:off x="1098550" y="1287166"/>
            <a:ext cx="16084552" cy="8390234"/>
          </a:xfrm>
        </p:spPr>
        <p:txBody>
          <a:bodyPr/>
          <a:lstStyle/>
          <a:p>
            <a:pPr>
              <a:spcBef>
                <a:spcPts val="0"/>
              </a:spcBef>
            </a:pPr>
            <a:r>
              <a:rPr lang="en-US" sz="3200" dirty="0"/>
              <a:t>Given the potential of generative AI to improve productivity in many other functions—indeed, any that involve cognitive tasks—calling it revolutionary is no hyperbole. Business leaders should view it as a general-purpose technology akin to electricity, the steam engine, and the internet. </a:t>
            </a:r>
          </a:p>
          <a:p>
            <a:pPr>
              <a:spcBef>
                <a:spcPts val="0"/>
              </a:spcBef>
            </a:pPr>
            <a:r>
              <a:rPr lang="en-US" sz="3200" b="1" dirty="0"/>
              <a:t>Cresta</a:t>
            </a:r>
            <a:r>
              <a:rPr lang="en-US" sz="3200" dirty="0"/>
              <a:t> – a generative AI startup – faced a challenge in training and retaining customer service agents. A LLM was introduced to listen-in on customer conversations with service agents. It monitored the online chats for specific phrases, and when one occurred, it based its responses on the information in the in-context learning system. As a safeguard, the LLM did not respond to customers directly, but presented its response to customer service agents who could consider it, and feel free to apply common sense to decide whether or not to accept the LLM response.</a:t>
            </a:r>
          </a:p>
          <a:p>
            <a:pPr>
              <a:spcBef>
                <a:spcPts val="0"/>
              </a:spcBef>
            </a:pPr>
            <a:r>
              <a:rPr lang="en-US" sz="3200" b="1" dirty="0"/>
              <a:t>Results: </a:t>
            </a:r>
            <a:r>
              <a:rPr lang="en-US" sz="3200" dirty="0"/>
              <a:t>Both the average number of issues resolved per hour and the number of chats an agent could handle simultaneously increased by almost 15%; the average chat time decreased by nearly 10%; and an analysis of the chat logs showed that immediately after the new system was implemented, customer satisfaction improved. (Source: How to Capitalize on Generative AI, Harvard Business Review, December 2023).</a:t>
            </a:r>
          </a:p>
        </p:txBody>
      </p:sp>
    </p:spTree>
    <p:custDataLst>
      <p:tags r:id="rId1"/>
    </p:custDataLst>
    <p:extLst>
      <p:ext uri="{BB962C8B-B14F-4D97-AF65-F5344CB8AC3E}">
        <p14:creationId xmlns:p14="http://schemas.microsoft.com/office/powerpoint/2010/main" val="11200617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78C82-03F1-49CA-B601-75547D221265}"/>
              </a:ext>
            </a:extLst>
          </p:cNvPr>
          <p:cNvSpPr>
            <a:spLocks noGrp="1"/>
          </p:cNvSpPr>
          <p:nvPr>
            <p:ph type="title"/>
          </p:nvPr>
        </p:nvSpPr>
        <p:spPr/>
        <p:txBody>
          <a:bodyPr/>
          <a:lstStyle/>
          <a:p>
            <a:r>
              <a:rPr lang="en-US" dirty="0"/>
              <a:t>Generative AI Market Growth Forecast</a:t>
            </a:r>
          </a:p>
        </p:txBody>
      </p:sp>
      <p:sp>
        <p:nvSpPr>
          <p:cNvPr id="3" name="Content Placeholder 2">
            <a:extLst>
              <a:ext uri="{FF2B5EF4-FFF2-40B4-BE49-F238E27FC236}">
                <a16:creationId xmlns:a16="http://schemas.microsoft.com/office/drawing/2014/main" id="{FDC79BD1-FBC4-43BD-8DC1-B5DEF0BF5650}"/>
              </a:ext>
            </a:extLst>
          </p:cNvPr>
          <p:cNvSpPr>
            <a:spLocks noGrp="1"/>
          </p:cNvSpPr>
          <p:nvPr>
            <p:ph idx="1"/>
          </p:nvPr>
        </p:nvSpPr>
        <p:spPr/>
        <p:txBody>
          <a:bodyPr/>
          <a:lstStyle/>
          <a:p>
            <a:pPr>
              <a:spcBef>
                <a:spcPts val="0"/>
              </a:spcBef>
            </a:pPr>
            <a:r>
              <a:rPr lang="en-US" sz="3200" dirty="0"/>
              <a:t>As generative AI (gen AI) applications such as </a:t>
            </a:r>
            <a:r>
              <a:rPr lang="en-US" sz="3200" dirty="0" err="1"/>
              <a:t>ChatGPT</a:t>
            </a:r>
            <a:r>
              <a:rPr lang="en-US" sz="3200" dirty="0"/>
              <a:t> take the world by storm in both B2B and B2C domains, businesses are figuring out how to leverage this.</a:t>
            </a:r>
          </a:p>
          <a:p>
            <a:pPr>
              <a:spcBef>
                <a:spcPts val="0"/>
              </a:spcBef>
            </a:pPr>
            <a:endParaRPr lang="en-US" sz="3200" dirty="0"/>
          </a:p>
          <a:p>
            <a:pPr>
              <a:spcBef>
                <a:spcPts val="0"/>
              </a:spcBef>
            </a:pPr>
            <a:endParaRPr lang="en-US" sz="3200" dirty="0"/>
          </a:p>
          <a:p>
            <a:pPr>
              <a:spcBef>
                <a:spcPts val="0"/>
              </a:spcBef>
            </a:pPr>
            <a:endParaRPr lang="en-US" sz="3200" dirty="0"/>
          </a:p>
          <a:p>
            <a:pPr>
              <a:spcBef>
                <a:spcPts val="0"/>
              </a:spcBef>
            </a:pPr>
            <a:endParaRPr lang="en-US" sz="3200" dirty="0"/>
          </a:p>
          <a:p>
            <a:pPr>
              <a:spcBef>
                <a:spcPts val="0"/>
              </a:spcBef>
            </a:pPr>
            <a:endParaRPr lang="en-US" sz="3200" dirty="0"/>
          </a:p>
          <a:p>
            <a:pPr>
              <a:spcBef>
                <a:spcPts val="0"/>
              </a:spcBef>
            </a:pPr>
            <a:endParaRPr lang="en-US" sz="3200" dirty="0"/>
          </a:p>
          <a:p>
            <a:pPr>
              <a:spcBef>
                <a:spcPts val="0"/>
              </a:spcBef>
            </a:pPr>
            <a:endParaRPr lang="en-US" sz="3200" dirty="0"/>
          </a:p>
          <a:p>
            <a:pPr>
              <a:spcBef>
                <a:spcPts val="0"/>
              </a:spcBef>
            </a:pPr>
            <a:endParaRPr lang="en-US" sz="3200" dirty="0"/>
          </a:p>
          <a:p>
            <a:pPr>
              <a:spcBef>
                <a:spcPts val="0"/>
              </a:spcBef>
            </a:pPr>
            <a:endParaRPr lang="en-US" sz="3200" dirty="0"/>
          </a:p>
        </p:txBody>
      </p:sp>
      <p:pic>
        <p:nvPicPr>
          <p:cNvPr id="5" name="Picture 4">
            <a:extLst>
              <a:ext uri="{FF2B5EF4-FFF2-40B4-BE49-F238E27FC236}">
                <a16:creationId xmlns:a16="http://schemas.microsoft.com/office/drawing/2014/main" id="{E9818701-24A0-4FC0-B01A-A795D5A4AF81}"/>
              </a:ext>
            </a:extLst>
          </p:cNvPr>
          <p:cNvPicPr>
            <a:picLocks noChangeAspect="1"/>
          </p:cNvPicPr>
          <p:nvPr/>
        </p:nvPicPr>
        <p:blipFill>
          <a:blip r:embed="rId3"/>
          <a:stretch>
            <a:fillRect/>
          </a:stretch>
        </p:blipFill>
        <p:spPr>
          <a:xfrm>
            <a:off x="1261836" y="3065677"/>
            <a:ext cx="9558564" cy="7221323"/>
          </a:xfrm>
          <a:prstGeom prst="rect">
            <a:avLst/>
          </a:prstGeom>
        </p:spPr>
      </p:pic>
      <p:sp>
        <p:nvSpPr>
          <p:cNvPr id="6" name="TextBox 5">
            <a:extLst>
              <a:ext uri="{FF2B5EF4-FFF2-40B4-BE49-F238E27FC236}">
                <a16:creationId xmlns:a16="http://schemas.microsoft.com/office/drawing/2014/main" id="{6E0E26B4-7C18-40A2-9A92-6C67F8E7F791}"/>
              </a:ext>
            </a:extLst>
          </p:cNvPr>
          <p:cNvSpPr txBox="1"/>
          <p:nvPr/>
        </p:nvSpPr>
        <p:spPr>
          <a:xfrm>
            <a:off x="10983687" y="4724400"/>
            <a:ext cx="6466114" cy="4031873"/>
          </a:xfrm>
          <a:prstGeom prst="rect">
            <a:avLst/>
          </a:prstGeom>
          <a:noFill/>
        </p:spPr>
        <p:txBody>
          <a:bodyPr wrap="square" rtlCol="0">
            <a:spAutoFit/>
          </a:bodyPr>
          <a:lstStyle/>
          <a:p>
            <a:r>
              <a:rPr lang="en-US" sz="3200" dirty="0">
                <a:solidFill>
                  <a:srgbClr val="C00000"/>
                </a:solidFill>
              </a:rPr>
              <a:t>Source of exhibit on left:</a:t>
            </a:r>
          </a:p>
          <a:p>
            <a:r>
              <a:rPr lang="en-US" sz="3200" dirty="0">
                <a:solidFill>
                  <a:srgbClr val="C00000"/>
                </a:solidFill>
              </a:rPr>
              <a:t>(</a:t>
            </a:r>
            <a:r>
              <a:rPr lang="en-US" sz="3200" dirty="0">
                <a:solidFill>
                  <a:srgbClr val="C00000"/>
                </a:solidFill>
                <a:hlinkClick r:id="rId4"/>
              </a:rPr>
              <a:t>Generative AI: The next S-Curve</a:t>
            </a:r>
            <a:r>
              <a:rPr lang="en-US" sz="3200" dirty="0">
                <a:solidFill>
                  <a:srgbClr val="C00000"/>
                </a:solidFill>
              </a:rPr>
              <a:t>)</a:t>
            </a:r>
          </a:p>
          <a:p>
            <a:r>
              <a:rPr lang="en-US" sz="3200" b="1" dirty="0">
                <a:solidFill>
                  <a:srgbClr val="C00000"/>
                </a:solidFill>
              </a:rPr>
              <a:t>The scale of McKinsey’s forecasted growth In demand for compute power for Generative AI applications by 2030 is explosive/impressive, </a:t>
            </a:r>
          </a:p>
          <a:p>
            <a:r>
              <a:rPr lang="en-US" sz="3200" b="1" dirty="0">
                <a:solidFill>
                  <a:srgbClr val="C00000"/>
                </a:solidFill>
              </a:rPr>
              <a:t>when compared to 2024.</a:t>
            </a:r>
          </a:p>
        </p:txBody>
      </p:sp>
    </p:spTree>
    <p:custDataLst>
      <p:tags r:id="rId1"/>
    </p:custDataLst>
    <p:extLst>
      <p:ext uri="{BB962C8B-B14F-4D97-AF65-F5344CB8AC3E}">
        <p14:creationId xmlns:p14="http://schemas.microsoft.com/office/powerpoint/2010/main" val="316737781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5"/>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reeze">
  <a:themeElements>
    <a:clrScheme name="Custom 3">
      <a:dk1>
        <a:sysClr val="windowText" lastClr="000000"/>
      </a:dk1>
      <a:lt1>
        <a:srgbClr val="C40724"/>
      </a:lt1>
      <a:dk2>
        <a:srgbClr val="000000"/>
      </a:dk2>
      <a:lt2>
        <a:srgbClr val="F8F8F8"/>
      </a:lt2>
      <a:accent1>
        <a:srgbClr val="BD061C"/>
      </a:accent1>
      <a:accent2>
        <a:srgbClr val="E98D0A"/>
      </a:accent2>
      <a:accent3>
        <a:srgbClr val="969696"/>
      </a:accent3>
      <a:accent4>
        <a:srgbClr val="808080"/>
      </a:accent4>
      <a:accent5>
        <a:srgbClr val="C40724"/>
      </a:accent5>
      <a:accent6>
        <a:srgbClr val="3F4F6C"/>
      </a:accent6>
      <a:hlink>
        <a:srgbClr val="5F5F5F"/>
      </a:hlink>
      <a:folHlink>
        <a:srgbClr val="919191"/>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Breeze">
      <a:fillStyleLst>
        <a:solidFill>
          <a:schemeClr val="phClr"/>
        </a:solidFill>
        <a:gradFill rotWithShape="1">
          <a:gsLst>
            <a:gs pos="31000">
              <a:schemeClr val="phClr">
                <a:tint val="100000"/>
                <a:shade val="100000"/>
                <a:satMod val="120000"/>
              </a:schemeClr>
            </a:gs>
            <a:gs pos="100000">
              <a:schemeClr val="phClr">
                <a:tint val="50000"/>
                <a:satMod val="150000"/>
              </a:schemeClr>
            </a:gs>
          </a:gsLst>
          <a:lin ang="5400000" scaled="1"/>
        </a:gradFill>
        <a:gradFill rotWithShape="1">
          <a:gsLst>
            <a:gs pos="0">
              <a:schemeClr val="phClr">
                <a:shade val="100000"/>
                <a:satMod val="120000"/>
              </a:schemeClr>
            </a:gs>
            <a:gs pos="69000">
              <a:schemeClr val="phClr">
                <a:tint val="80000"/>
                <a:shade val="100000"/>
                <a:satMod val="150000"/>
              </a:schemeClr>
            </a:gs>
            <a:gs pos="100000">
              <a:schemeClr val="phClr">
                <a:tint val="50000"/>
                <a:shade val="100000"/>
                <a:satMod val="150000"/>
              </a:schemeClr>
            </a:gs>
          </a:gsLst>
          <a:path path="circle">
            <a:fillToRect l="100000" t="100000" r="100000" b="100000"/>
          </a:path>
        </a:gradFill>
      </a:fillStyleLst>
      <a:lnStyleLst>
        <a:ln w="12700" cap="flat" cmpd="sng" algn="ctr">
          <a:solidFill>
            <a:schemeClr val="phClr">
              <a:shade val="95000"/>
              <a:satMod val="105000"/>
            </a:schemeClr>
          </a:solidFill>
          <a:prstDash val="solid"/>
        </a:ln>
        <a:ln w="25400" cap="flat" cmpd="dbl" algn="ctr">
          <a:solidFill>
            <a:schemeClr val="phClr"/>
          </a:solidFill>
          <a:prstDash val="solid"/>
        </a:ln>
        <a:ln w="31750" cap="flat" cmpd="dbl" algn="ctr">
          <a:solidFill>
            <a:schemeClr val="phClr"/>
          </a:solidFill>
          <a:prstDash val="solid"/>
        </a:ln>
      </a:lnStyleLst>
      <a:effectStyleLst>
        <a:effectStyle>
          <a:effectLst/>
        </a:effectStyle>
        <a:effectStyle>
          <a:effectLst>
            <a:outerShdw blurRad="63500" dist="25400" dir="5400000" sx="101000" sy="101000" rotWithShape="0">
              <a:srgbClr val="000000">
                <a:alpha val="40000"/>
              </a:srgbClr>
            </a:outerShdw>
          </a:effectLst>
        </a:effectStyle>
        <a:effectStyle>
          <a:effectLst>
            <a:innerShdw blurRad="127000" dist="25400" dir="13500000">
              <a:srgbClr val="C0C0C0">
                <a:alpha val="75000"/>
              </a:srgbClr>
            </a:innerShdw>
            <a:outerShdw blurRad="88900" dist="25400" dir="5400000" sx="102000" sy="102000" algn="ctr" rotWithShape="0">
              <a:srgbClr val="C0C0C0">
                <a:alpha val="40000"/>
              </a:srgbClr>
            </a:outerShdw>
          </a:effectLst>
          <a:scene3d>
            <a:camera prst="perspectiveLeft" fov="300000"/>
            <a:lightRig rig="soft" dir="l">
              <a:rot lat="0" lon="0" rev="4200000"/>
            </a:lightRig>
          </a:scene3d>
          <a:sp3d extrusionH="38100" prstMaterial="powder">
            <a:bevelT w="50800" h="88900" prst="convex"/>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blipFill rotWithShape="1">
          <a:blip xmlns:r="http://schemas.openxmlformats.org/officeDocument/2006/relationships" r:embed="rId1">
            <a:duotone>
              <a:schemeClr val="phClr">
                <a:shade val="40000"/>
                <a:satMod val="400000"/>
              </a:schemeClr>
              <a:schemeClr val="phClr">
                <a:tint val="10000"/>
                <a:satMod val="200000"/>
              </a:schemeClr>
            </a:duotone>
          </a:blip>
          <a:stretch/>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1" id="{2F55A57D-0C50-904A-83D4-4E1CC0E2D52F}" vid="{6952F4DD-38AA-7342-AB40-4D73DFEF489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5e41b080-9453-459c-bb93-b19be7335f42">
      <Terms xmlns="http://schemas.microsoft.com/office/infopath/2007/PartnerControls"/>
    </lcf76f155ced4ddcb4097134ff3c332f>
    <TaxCatchAll xmlns="4e58ebf2-e4df-4cd3-9186-1e42b3ede124" xsi:nil="true"/>
    <Status xmlns="5e41b080-9453-459c-bb93-b19be7335f42" xsi:nil="true"/>
    <Comments xmlns="5e41b080-9453-459c-bb93-b19be7335f42" xsi:nil="true"/>
    <Due_x0020_Date xmlns="5e41b080-9453-459c-bb93-b19be7335f42"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F3EF55019BAB0549B2C20BFAAB8A2896" ma:contentTypeVersion="17" ma:contentTypeDescription="Create a new document." ma:contentTypeScope="" ma:versionID="6dd4d27a79178d964495491d99d85ab0">
  <xsd:schema xmlns:xsd="http://www.w3.org/2001/XMLSchema" xmlns:xs="http://www.w3.org/2001/XMLSchema" xmlns:p="http://schemas.microsoft.com/office/2006/metadata/properties" xmlns:ns2="5e41b080-9453-459c-bb93-b19be7335f42" xmlns:ns3="4e58ebf2-e4df-4cd3-9186-1e42b3ede124" targetNamespace="http://schemas.microsoft.com/office/2006/metadata/properties" ma:root="true" ma:fieldsID="5371f2543c27c65efb9018a9acd511a8" ns2:_="" ns3:_="">
    <xsd:import namespace="5e41b080-9453-459c-bb93-b19be7335f42"/>
    <xsd:import namespace="4e58ebf2-e4df-4cd3-9186-1e42b3ede124"/>
    <xsd:element name="properties">
      <xsd:complexType>
        <xsd:sequence>
          <xsd:element name="documentManagement">
            <xsd:complexType>
              <xsd:all>
                <xsd:element ref="ns2:Due_x0020_Date" minOccurs="0"/>
                <xsd:element ref="ns2:Status" minOccurs="0"/>
                <xsd:element ref="ns2:Comments" minOccurs="0"/>
                <xsd:element ref="ns2:MediaServiceMetadata" minOccurs="0"/>
                <xsd:element ref="ns2:MediaServiceFastMetadata" minOccurs="0"/>
                <xsd:element ref="ns3:SharedWithUsers" minOccurs="0"/>
                <xsd:element ref="ns3:SharedWithDetails" minOccurs="0"/>
                <xsd:element ref="ns2:MediaServiceDateTaken" minOccurs="0"/>
                <xsd:element ref="ns2:MediaServiceObjectDetectorVersions" minOccurs="0"/>
                <xsd:element ref="ns2:MediaLengthInSecond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e41b080-9453-459c-bb93-b19be7335f42" elementFormDefault="qualified">
    <xsd:import namespace="http://schemas.microsoft.com/office/2006/documentManagement/types"/>
    <xsd:import namespace="http://schemas.microsoft.com/office/infopath/2007/PartnerControls"/>
    <xsd:element name="Due_x0020_Date" ma:index="8" nillable="true" ma:displayName="Due Date" ma:format="DateOnly" ma:indexed="true" ma:internalName="Due_x0020_Date">
      <xsd:simpleType>
        <xsd:restriction base="dms:DateTime"/>
      </xsd:simpleType>
    </xsd:element>
    <xsd:element name="Status" ma:index="9" nillable="true" ma:displayName="Status" ma:format="Dropdown" ma:indexed="true" ma:internalName="Status">
      <xsd:simpleType>
        <xsd:restriction base="dms:Choice">
          <xsd:enumeration value="For Partner Review"/>
          <xsd:enumeration value="For Collegis Review"/>
          <xsd:enumeration value="Approved by Partner"/>
        </xsd:restriction>
      </xsd:simpleType>
    </xsd:element>
    <xsd:element name="Comments" ma:index="10" nillable="true" ma:displayName="Comments" ma:internalName="Comments">
      <xsd:simpleType>
        <xsd:restriction base="dms:Note">
          <xsd:maxLength value="255"/>
        </xsd:restriction>
      </xsd:simple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11040b95-0fdc-46ce-be91-73dc895452db"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ServiceGenerationTime" ma:index="22" nillable="true" ma:displayName="MediaServiceGenerationTime" ma:hidden="true" ma:internalName="MediaServiceGenerationTime" ma:readOnly="true">
      <xsd:simpleType>
        <xsd:restriction base="dms:Text"/>
      </xsd:simpleType>
    </xsd:element>
    <xsd:element name="MediaServiceEventHashCode" ma:index="23" nillable="true" ma:displayName="MediaServiceEventHashCode" ma:hidden="true" ma:internalName="MediaServiceEventHashCode"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e58ebf2-e4df-4cd3-9186-1e42b3ede124"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ef5f3a8b-878a-4d06-a8de-79a1d9f1fffd}" ma:internalName="TaxCatchAll" ma:showField="CatchAllData" ma:web="4e58ebf2-e4df-4cd3-9186-1e42b3ede12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CB4D3F3-2161-4501-B555-558D1DDA1F60}">
  <ds:schemaRefs>
    <ds:schemaRef ds:uri="http://purl.org/dc/dcmitype/"/>
    <ds:schemaRef ds:uri="88c1e295-a029-41eb-a982-8bcc7d01c0cb"/>
    <ds:schemaRef ds:uri="http://purl.org/dc/terms/"/>
    <ds:schemaRef ds:uri="http://schemas.microsoft.com/office/2006/metadata/properties"/>
    <ds:schemaRef ds:uri="57db6fc0-2530-4489-bd2f-42335d65b94d"/>
    <ds:schemaRef ds:uri="http://schemas.microsoft.com/office/2006/documentManagement/types"/>
    <ds:schemaRef ds:uri="http://schemas.openxmlformats.org/package/2006/metadata/core-properties"/>
    <ds:schemaRef ds:uri="http://schemas.microsoft.com/office/infopath/2007/PartnerControls"/>
    <ds:schemaRef ds:uri="http://www.w3.org/XML/1998/namespace"/>
    <ds:schemaRef ds:uri="http://purl.org/dc/elements/1.1/"/>
    <ds:schemaRef ds:uri="5e41b080-9453-459c-bb93-b19be7335f42"/>
    <ds:schemaRef ds:uri="4e58ebf2-e4df-4cd3-9186-1e42b3ede124"/>
  </ds:schemaRefs>
</ds:datastoreItem>
</file>

<file path=customXml/itemProps2.xml><?xml version="1.0" encoding="utf-8"?>
<ds:datastoreItem xmlns:ds="http://schemas.openxmlformats.org/officeDocument/2006/customXml" ds:itemID="{46CEFF4B-9EC7-4D38-B437-9DE5B52C77FE}">
  <ds:schemaRefs>
    <ds:schemaRef ds:uri="http://schemas.microsoft.com/sharepoint/v3/contenttype/forms"/>
  </ds:schemaRefs>
</ds:datastoreItem>
</file>

<file path=customXml/itemProps3.xml><?xml version="1.0" encoding="utf-8"?>
<ds:datastoreItem xmlns:ds="http://schemas.openxmlformats.org/officeDocument/2006/customXml" ds:itemID="{28F0A47A-9E10-4FE4-8BE8-0C808C85F18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e41b080-9453-459c-bb93-b19be7335f42"/>
    <ds:schemaRef ds:uri="4e58ebf2-e4df-4cd3-9186-1e42b3ede12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Template - MBA_Stuart_ILTECH__PPT</Template>
  <TotalTime>14241</TotalTime>
  <Words>550</Words>
  <Application>Microsoft Office PowerPoint</Application>
  <PresentationFormat>Custom</PresentationFormat>
  <Paragraphs>26</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Calibri</vt:lpstr>
      <vt:lpstr>Wingdings 2</vt:lpstr>
      <vt:lpstr>Breeze</vt:lpstr>
      <vt:lpstr>MBA532 – AI in Business </vt:lpstr>
      <vt:lpstr>Progress, Growth and Benefits of Generative AI</vt:lpstr>
      <vt:lpstr>Assessing Progress in Generative AI</vt:lpstr>
      <vt:lpstr>Case Study: Benefits from Generative AI</vt:lpstr>
      <vt:lpstr>Generative AI Market Growth Forecast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MBA532 – AI in Business</dc:title>
  <dc:subject/>
  <dc:creator>Siva Balasubramanian</dc:creator>
  <cp:keywords/>
  <dc:description/>
  <cp:lastModifiedBy>Bernadette Otoo</cp:lastModifiedBy>
  <cp:revision>257</cp:revision>
  <dcterms:created xsi:type="dcterms:W3CDTF">2024-03-17T05:07:31Z</dcterms:created>
  <dcterms:modified xsi:type="dcterms:W3CDTF">2024-05-24T15:32:58Z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0x010100F3EF55019BAB0549B2C20BFAAB8A2896</vt:lpwstr>
  </property>
  <property fmtid="{D5CDD505-2E9C-101B-9397-08002B2CF9AE}" pid="3" name="MediaServiceImageTags">
    <vt:lpwstr/>
  </property>
  <property fmtid="{D5CDD505-2E9C-101B-9397-08002B2CF9AE}" pid="4" name="ArticulateGUID">
    <vt:lpwstr>4C08AF6C-740F-490D-9CEC-71D5B16A3B9D</vt:lpwstr>
  </property>
  <property fmtid="{D5CDD505-2E9C-101B-9397-08002B2CF9AE}" pid="5" name="ArticulatePath">
    <vt:lpwstr>MBA532 – AI in Business - Module 7 - April 2</vt:lpwstr>
  </property>
</Properties>
</file>