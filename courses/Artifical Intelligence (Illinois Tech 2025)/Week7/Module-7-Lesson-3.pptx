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10"/>
  </p:notesMasterIdLst>
  <p:sldIdLst>
    <p:sldId id="311" r:id="rId5"/>
    <p:sldId id="394" r:id="rId6"/>
    <p:sldId id="380" r:id="rId7"/>
    <p:sldId id="382" r:id="rId8"/>
    <p:sldId id="395" r:id="rId9"/>
  </p:sldIdLst>
  <p:sldSz cx="18288000" cy="10287000"/>
  <p:notesSz cx="6858000" cy="9144000"/>
  <p:custDataLst>
    <p:tags r:id="rId11"/>
  </p:custDataLst>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6327"/>
  </p:normalViewPr>
  <p:slideViewPr>
    <p:cSldViewPr snapToGrid="0" snapToObjects="1">
      <p:cViewPr varScale="1">
        <p:scale>
          <a:sx n="72" d="100"/>
          <a:sy n="72" d="100"/>
        </p:scale>
        <p:origin x="612" y="72"/>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gs" Target="tags/tag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E003E7-8F9F-4D5E-92EA-A0649DA6C082}" type="datetimeFigureOut">
              <a:rPr lang="en-US" smtClean="0"/>
              <a:t>5/24/2024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B4D9E7-08EA-4B3D-BC2D-203B18CB11E8}" type="slidenum">
              <a:rPr lang="en-US" smtClean="0"/>
              <a:t>‹#›</a:t>
            </a:fld>
            <a:endParaRPr lang="en-US"/>
          </a:p>
        </p:txBody>
      </p:sp>
    </p:spTree>
    <p:extLst>
      <p:ext uri="{BB962C8B-B14F-4D97-AF65-F5344CB8AC3E}">
        <p14:creationId xmlns:p14="http://schemas.microsoft.com/office/powerpoint/2010/main" val="11237830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a:t>Click to edit Master subtitle style</a:t>
            </a:r>
            <a:endParaRPr dirty="0"/>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jp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5">
            <a:lum/>
          </a:blip>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Lst>
  <p:txStyles>
    <p:titleStyle>
      <a:lvl1pPr algn="ctr" rtl="0" eaLnBrk="1" fontAlgn="base" hangingPunct="1">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eaLnBrk="1" fontAlgn="base" hangingPunct="1">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eaLnBrk="1" fontAlgn="base" hangingPunct="1">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eaLnBrk="1" fontAlgn="base" hangingPunct="1">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eaLnBrk="1" fontAlgn="base" hangingPunct="1">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eaLnBrk="1" fontAlgn="base" hangingPunct="1">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slundberg/shap" TargetMode="External"/><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hyperlink" Target="https://www.linkedin.com/blog/engineering/fairness/transparent-and-explainable-ai-systems" TargetMode="External"/><Relationship Id="rId5" Type="http://schemas.openxmlformats.org/officeDocument/2006/relationships/hyperlink" Target="https://arxiv.org/abs/2105.12941" TargetMode="External"/><Relationship Id="rId4" Type="http://schemas.openxmlformats.org/officeDocument/2006/relationships/hyperlink" Target="https://github.com/marcotcr/lime"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www.sei.cmu.edu/our-work/artificial-intelligence-engineering/" TargetMode="Externa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hyperlink" Target="https://www.ibm.com/watson/explainable-ai"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arxiv.org/pdf/2001.02478.pdf" TargetMode="Externa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hyperlink" Target="https://insights.sei.cmu.edu/blog/what-is-explainable-ai/" TargetMode="Externa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3D2C4-084C-C545-00AC-430EC19B6C87}"/>
              </a:ext>
            </a:extLst>
          </p:cNvPr>
          <p:cNvSpPr>
            <a:spLocks noGrp="1"/>
          </p:cNvSpPr>
          <p:nvPr>
            <p:ph type="ctrTitle"/>
          </p:nvPr>
        </p:nvSpPr>
        <p:spPr>
          <a:xfrm>
            <a:off x="2644778" y="2286002"/>
            <a:ext cx="12998450" cy="2587626"/>
          </a:xfrm>
        </p:spPr>
        <p:txBody>
          <a:bodyPr/>
          <a:lstStyle/>
          <a:p>
            <a:pPr>
              <a:defRPr/>
            </a:pPr>
            <a:r>
              <a:rPr lang="en-US" dirty="0"/>
              <a:t>MBA532 – AI in Business </a:t>
            </a:r>
          </a:p>
        </p:txBody>
      </p:sp>
      <p:sp>
        <p:nvSpPr>
          <p:cNvPr id="3" name="Subtitle 2">
            <a:extLst>
              <a:ext uri="{FF2B5EF4-FFF2-40B4-BE49-F238E27FC236}">
                <a16:creationId xmlns:a16="http://schemas.microsoft.com/office/drawing/2014/main" id="{1773A97B-06C2-BD5D-13DD-A14A00967D4E}"/>
              </a:ext>
            </a:extLst>
          </p:cNvPr>
          <p:cNvSpPr>
            <a:spLocks noGrp="1"/>
          </p:cNvSpPr>
          <p:nvPr>
            <p:ph type="subTitle" idx="1"/>
          </p:nvPr>
        </p:nvSpPr>
        <p:spPr>
          <a:xfrm>
            <a:off x="2644778" y="4949828"/>
            <a:ext cx="12998450" cy="1374774"/>
          </a:xfrm>
        </p:spPr>
        <p:txBody>
          <a:bodyPr>
            <a:normAutofit/>
          </a:bodyPr>
          <a:lstStyle/>
          <a:p>
            <a:pPr>
              <a:defRPr/>
            </a:pPr>
            <a:r>
              <a:rPr lang="en-US" dirty="0">
                <a:latin typeface="+mj-lt"/>
              </a:rPr>
              <a:t>MODULE 7 – Generative AI and Explainable AI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01B67-DEE7-4446-9689-18FD7E8399F7}"/>
              </a:ext>
            </a:extLst>
          </p:cNvPr>
          <p:cNvSpPr>
            <a:spLocks noGrp="1"/>
          </p:cNvSpPr>
          <p:nvPr>
            <p:ph type="title"/>
          </p:nvPr>
        </p:nvSpPr>
        <p:spPr>
          <a:xfrm>
            <a:off x="1101724" y="435427"/>
            <a:ext cx="16084552" cy="1037885"/>
          </a:xfrm>
        </p:spPr>
        <p:txBody>
          <a:bodyPr/>
          <a:lstStyle/>
          <a:p>
            <a:r>
              <a:rPr lang="en-US" sz="4800" dirty="0"/>
              <a:t>Explainable AI (XAI) at LinkedIn</a:t>
            </a:r>
          </a:p>
        </p:txBody>
      </p:sp>
      <p:sp>
        <p:nvSpPr>
          <p:cNvPr id="3" name="Content Placeholder 2">
            <a:extLst>
              <a:ext uri="{FF2B5EF4-FFF2-40B4-BE49-F238E27FC236}">
                <a16:creationId xmlns:a16="http://schemas.microsoft.com/office/drawing/2014/main" id="{2FA64BB0-0FE1-4AA1-BAA5-8E4C6BECF022}"/>
              </a:ext>
            </a:extLst>
          </p:cNvPr>
          <p:cNvSpPr>
            <a:spLocks noGrp="1"/>
          </p:cNvSpPr>
          <p:nvPr>
            <p:ph idx="1"/>
          </p:nvPr>
        </p:nvSpPr>
        <p:spPr>
          <a:xfrm>
            <a:off x="1101724" y="1604384"/>
            <a:ext cx="16084552" cy="8083901"/>
          </a:xfrm>
        </p:spPr>
        <p:txBody>
          <a:bodyPr/>
          <a:lstStyle/>
          <a:p>
            <a:pPr>
              <a:spcBef>
                <a:spcPts val="0"/>
              </a:spcBef>
            </a:pPr>
            <a:r>
              <a:rPr lang="en-US" sz="3200" dirty="0"/>
              <a:t>Here is a description of how LinkedIn has approached XAI.</a:t>
            </a:r>
          </a:p>
          <a:p>
            <a:pPr>
              <a:spcBef>
                <a:spcPts val="0"/>
              </a:spcBef>
            </a:pPr>
            <a:r>
              <a:rPr lang="en-US" sz="3200" dirty="0"/>
              <a:t>Complex predictive machine learning models often lack transparency, resulting in low trust from these teams despite having high predictive performance. While many model interpretation approaches such as </a:t>
            </a:r>
            <a:r>
              <a:rPr lang="en-US" sz="3200" dirty="0">
                <a:hlinkClick r:id="rId3"/>
              </a:rPr>
              <a:t>SHAP</a:t>
            </a:r>
            <a:r>
              <a:rPr lang="en-US" sz="3200" dirty="0"/>
              <a:t> and </a:t>
            </a:r>
            <a:r>
              <a:rPr lang="en-US" sz="3200" dirty="0">
                <a:hlinkClick r:id="rId4"/>
              </a:rPr>
              <a:t>LIME</a:t>
            </a:r>
            <a:r>
              <a:rPr lang="en-US" sz="3200" dirty="0"/>
              <a:t> return top important features to help interpret model predictions, these top features may not be well-organized or intuitive to these teams. This can result in limited trust in the model and lack of clarity on what action to take based on the model’s prediction.</a:t>
            </a:r>
          </a:p>
          <a:p>
            <a:pPr>
              <a:spcBef>
                <a:spcPts val="0"/>
              </a:spcBef>
            </a:pPr>
            <a:r>
              <a:rPr lang="en-US" sz="3200" dirty="0"/>
              <a:t>To deal with this challenge, LinkedIn developed </a:t>
            </a:r>
            <a:r>
              <a:rPr lang="en-US" sz="3200" dirty="0" err="1">
                <a:hlinkClick r:id="rId5"/>
              </a:rPr>
              <a:t>CrystalCandle</a:t>
            </a:r>
            <a:r>
              <a:rPr lang="en-US" sz="3200" dirty="0"/>
              <a:t> (previously called </a:t>
            </a:r>
            <a:r>
              <a:rPr lang="en-US" sz="3200" dirty="0" err="1"/>
              <a:t>Intellige</a:t>
            </a:r>
            <a:r>
              <a:rPr lang="en-US" sz="3200" dirty="0"/>
              <a:t>), a customer-facing model explainer that creates digestible interpretations and insights reflecting the rationale behind model predictions. As of mid-2021, </a:t>
            </a:r>
            <a:r>
              <a:rPr lang="en-US" sz="3200" dirty="0" err="1"/>
              <a:t>CrystalCandle</a:t>
            </a:r>
            <a:r>
              <a:rPr lang="en-US" sz="3200" dirty="0"/>
              <a:t> was integrated with more than eight business predictive models covering five lines of business at LinkedIn, assisting more than 5,000 employees. </a:t>
            </a:r>
          </a:p>
          <a:p>
            <a:pPr>
              <a:spcBef>
                <a:spcPts val="0"/>
              </a:spcBef>
            </a:pPr>
            <a:r>
              <a:rPr lang="en-US" sz="3200" dirty="0"/>
              <a:t>For sales and marketing models, </a:t>
            </a:r>
            <a:r>
              <a:rPr lang="en-US" sz="3200" dirty="0" err="1"/>
              <a:t>CrystalCandle</a:t>
            </a:r>
            <a:r>
              <a:rPr lang="en-US" sz="3200" dirty="0"/>
              <a:t> is able to interpret and convert non-intuitive machine learning model outputs into customer-friendly narratives which are clear and actionable.</a:t>
            </a:r>
          </a:p>
          <a:p>
            <a:pPr>
              <a:spcBef>
                <a:spcPts val="0"/>
              </a:spcBef>
            </a:pPr>
            <a:r>
              <a:rPr lang="en-US" sz="3200" dirty="0"/>
              <a:t>Source: </a:t>
            </a:r>
            <a:r>
              <a:rPr lang="en-US" sz="3200" dirty="0">
                <a:hlinkClick r:id="rId6"/>
              </a:rPr>
              <a:t>Our approach to building transparent and explainable AI</a:t>
            </a:r>
            <a:endParaRPr lang="en-US" sz="3200" dirty="0"/>
          </a:p>
          <a:p>
            <a:endParaRPr lang="en-US" dirty="0"/>
          </a:p>
        </p:txBody>
      </p:sp>
    </p:spTree>
    <p:custDataLst>
      <p:tags r:id="rId1"/>
    </p:custDataLst>
    <p:extLst>
      <p:ext uri="{BB962C8B-B14F-4D97-AF65-F5344CB8AC3E}">
        <p14:creationId xmlns:p14="http://schemas.microsoft.com/office/powerpoint/2010/main" val="23008541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4FC8A-0DFD-4F79-8BB6-550782BB2C33}"/>
              </a:ext>
            </a:extLst>
          </p:cNvPr>
          <p:cNvSpPr>
            <a:spLocks noGrp="1"/>
          </p:cNvSpPr>
          <p:nvPr>
            <p:ph type="title"/>
          </p:nvPr>
        </p:nvSpPr>
        <p:spPr/>
        <p:txBody>
          <a:bodyPr/>
          <a:lstStyle/>
          <a:p>
            <a:r>
              <a:rPr lang="en-US" dirty="0"/>
              <a:t>Benefits of XAI</a:t>
            </a:r>
          </a:p>
        </p:txBody>
      </p:sp>
      <p:sp>
        <p:nvSpPr>
          <p:cNvPr id="3" name="Content Placeholder 2">
            <a:extLst>
              <a:ext uri="{FF2B5EF4-FFF2-40B4-BE49-F238E27FC236}">
                <a16:creationId xmlns:a16="http://schemas.microsoft.com/office/drawing/2014/main" id="{F2528A99-F6BC-4DDD-806A-7150DB14F27A}"/>
              </a:ext>
            </a:extLst>
          </p:cNvPr>
          <p:cNvSpPr>
            <a:spLocks noGrp="1"/>
          </p:cNvSpPr>
          <p:nvPr>
            <p:ph idx="1"/>
          </p:nvPr>
        </p:nvSpPr>
        <p:spPr/>
        <p:txBody>
          <a:bodyPr/>
          <a:lstStyle/>
          <a:p>
            <a:r>
              <a:rPr lang="en-US" sz="3200" dirty="0"/>
              <a:t>XAI addresses the emerging demands of </a:t>
            </a:r>
            <a:r>
              <a:rPr lang="en-US" sz="3200" dirty="0">
                <a:hlinkClick r:id="rId3"/>
              </a:rPr>
              <a:t>AI engineering</a:t>
            </a:r>
            <a:r>
              <a:rPr lang="en-US" sz="3200" dirty="0"/>
              <a:t> by providing insight into the inner workings of these opaque AI/ML models. </a:t>
            </a:r>
          </a:p>
          <a:p>
            <a:r>
              <a:rPr lang="en-US" sz="3200" dirty="0"/>
              <a:t>Oversight of AI/ML models can result in significant performance improvements. For example, a </a:t>
            </a:r>
            <a:r>
              <a:rPr lang="en-US" sz="3200" dirty="0">
                <a:hlinkClick r:id="rId4"/>
              </a:rPr>
              <a:t>study by IBM</a:t>
            </a:r>
            <a:r>
              <a:rPr lang="en-US" sz="3200" dirty="0"/>
              <a:t> suggests that users of their XAI platform achieved a 15 percent to 30 percent rise in model accuracy and a 4.1 to 15.6 million dollar increase in profits.</a:t>
            </a:r>
          </a:p>
          <a:p>
            <a:r>
              <a:rPr lang="en-US" sz="3200" dirty="0"/>
              <a:t>Explanations can be used to help non-technical audiences, such as end-users, gain a better understanding of how AI systems work and clarify questions and concerns about their behavior. This increased transparency helps build trust and supports system monitoring and auditability.</a:t>
            </a:r>
          </a:p>
          <a:p>
            <a:endParaRPr lang="en-US" dirty="0"/>
          </a:p>
        </p:txBody>
      </p:sp>
    </p:spTree>
    <p:custDataLst>
      <p:tags r:id="rId1"/>
    </p:custDataLst>
    <p:extLst>
      <p:ext uri="{BB962C8B-B14F-4D97-AF65-F5344CB8AC3E}">
        <p14:creationId xmlns:p14="http://schemas.microsoft.com/office/powerpoint/2010/main" val="924957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4FC8A-0DFD-4F79-8BB6-550782BB2C33}"/>
              </a:ext>
            </a:extLst>
          </p:cNvPr>
          <p:cNvSpPr>
            <a:spLocks noGrp="1"/>
          </p:cNvSpPr>
          <p:nvPr>
            <p:ph type="title"/>
          </p:nvPr>
        </p:nvSpPr>
        <p:spPr/>
        <p:txBody>
          <a:bodyPr/>
          <a:lstStyle/>
          <a:p>
            <a:r>
              <a:rPr lang="en-US" dirty="0"/>
              <a:t>Limitations of XAI</a:t>
            </a:r>
          </a:p>
        </p:txBody>
      </p:sp>
      <p:sp>
        <p:nvSpPr>
          <p:cNvPr id="3" name="Content Placeholder 2">
            <a:extLst>
              <a:ext uri="{FF2B5EF4-FFF2-40B4-BE49-F238E27FC236}">
                <a16:creationId xmlns:a16="http://schemas.microsoft.com/office/drawing/2014/main" id="{F2528A99-F6BC-4DDD-806A-7150DB14F27A}"/>
              </a:ext>
            </a:extLst>
          </p:cNvPr>
          <p:cNvSpPr>
            <a:spLocks noGrp="1"/>
          </p:cNvSpPr>
          <p:nvPr>
            <p:ph idx="1"/>
          </p:nvPr>
        </p:nvSpPr>
        <p:spPr>
          <a:xfrm>
            <a:off x="1098550" y="1832984"/>
            <a:ext cx="16084552" cy="7528729"/>
          </a:xfrm>
        </p:spPr>
        <p:txBody>
          <a:bodyPr/>
          <a:lstStyle/>
          <a:p>
            <a:pPr>
              <a:spcBef>
                <a:spcPts val="0"/>
              </a:spcBef>
            </a:pPr>
            <a:r>
              <a:rPr lang="en-US" sz="3200" dirty="0"/>
              <a:t>Precise definitions of explainable AI vary across applications and contexts. There is a need for a standardized definition of XAI.</a:t>
            </a:r>
          </a:p>
          <a:p>
            <a:pPr>
              <a:spcBef>
                <a:spcPts val="0"/>
              </a:spcBef>
            </a:pPr>
            <a:r>
              <a:rPr lang="en-US" sz="3200" dirty="0"/>
              <a:t>Some researchers use the terms </a:t>
            </a:r>
            <a:r>
              <a:rPr lang="en-US" sz="3200" i="1" dirty="0" err="1"/>
              <a:t>explainability</a:t>
            </a:r>
            <a:r>
              <a:rPr lang="en-US" sz="3200" dirty="0"/>
              <a:t> and </a:t>
            </a:r>
            <a:r>
              <a:rPr lang="en-US" sz="3200" i="1" dirty="0"/>
              <a:t>interpretability</a:t>
            </a:r>
            <a:r>
              <a:rPr lang="en-US" sz="3200" dirty="0"/>
              <a:t> interchangeably to refer to the concept of making models and their outputs understandable. Others draw a variety of distinctions between the terms. For example, a few researchers believe that </a:t>
            </a:r>
            <a:r>
              <a:rPr lang="en-US" sz="3200" i="1" dirty="0" err="1"/>
              <a:t>explainability</a:t>
            </a:r>
            <a:r>
              <a:rPr lang="en-US" sz="3200" dirty="0"/>
              <a:t> refers to </a:t>
            </a:r>
            <a:r>
              <a:rPr lang="en-US" sz="3200" i="1" dirty="0"/>
              <a:t>a priori</a:t>
            </a:r>
            <a:r>
              <a:rPr lang="en-US" sz="3200" dirty="0"/>
              <a:t> explanations, while </a:t>
            </a:r>
            <a:r>
              <a:rPr lang="en-US" sz="3200" i="1" dirty="0"/>
              <a:t>interpretability</a:t>
            </a:r>
            <a:r>
              <a:rPr lang="en-US" sz="3200" dirty="0"/>
              <a:t> refers to </a:t>
            </a:r>
            <a:r>
              <a:rPr lang="en-US" sz="3200" i="1" dirty="0"/>
              <a:t>a </a:t>
            </a:r>
            <a:r>
              <a:rPr lang="en-US" sz="3200" i="1" dirty="0" err="1"/>
              <a:t>posterio</a:t>
            </a:r>
            <a:r>
              <a:rPr lang="en-US" sz="3200" dirty="0"/>
              <a:t> explanations.</a:t>
            </a:r>
          </a:p>
          <a:p>
            <a:pPr>
              <a:spcBef>
                <a:spcPts val="0"/>
              </a:spcBef>
            </a:pPr>
            <a:r>
              <a:rPr lang="en-US" sz="3200" dirty="0"/>
              <a:t>Explanations can be used to help non-technical audiences, such as end-users, gain a better understanding of how AI systems work and clarify questions and concerns about their behavior. This increased transparency helps build trust and supports system monitoring and auditability.</a:t>
            </a:r>
          </a:p>
          <a:p>
            <a:pPr>
              <a:spcBef>
                <a:spcPts val="0"/>
              </a:spcBef>
            </a:pPr>
            <a:r>
              <a:rPr lang="en-US" sz="3200" dirty="0"/>
              <a:t>Research is ongoing on how to best leverage </a:t>
            </a:r>
            <a:r>
              <a:rPr lang="en-US" sz="3200" dirty="0" err="1"/>
              <a:t>explainability</a:t>
            </a:r>
            <a:r>
              <a:rPr lang="en-US" sz="3200" dirty="0"/>
              <a:t> to build trust among the public; </a:t>
            </a:r>
            <a:r>
              <a:rPr lang="en-US" sz="3200" dirty="0">
                <a:hlinkClick r:id="rId3"/>
              </a:rPr>
              <a:t>interactive explanations</a:t>
            </a:r>
            <a:r>
              <a:rPr lang="en-US" sz="3200" dirty="0"/>
              <a:t>, including question-and-answer based explanations, have shown promise.</a:t>
            </a:r>
          </a:p>
          <a:p>
            <a:pPr>
              <a:spcBef>
                <a:spcPts val="0"/>
              </a:spcBef>
            </a:pPr>
            <a:r>
              <a:rPr lang="en-US" sz="3200" dirty="0"/>
              <a:t>Source: </a:t>
            </a:r>
            <a:r>
              <a:rPr lang="en-US" sz="3200" dirty="0">
                <a:hlinkClick r:id="rId4"/>
              </a:rPr>
              <a:t>What is Explainable AI?</a:t>
            </a:r>
            <a:endParaRPr lang="en-US" sz="3200" dirty="0"/>
          </a:p>
          <a:p>
            <a:pPr>
              <a:spcBef>
                <a:spcPts val="0"/>
              </a:spcBef>
            </a:pPr>
            <a:endParaRPr lang="en-US" sz="3200" dirty="0"/>
          </a:p>
          <a:p>
            <a:endParaRPr lang="en-US" dirty="0"/>
          </a:p>
        </p:txBody>
      </p:sp>
    </p:spTree>
    <p:custDataLst>
      <p:tags r:id="rId1"/>
    </p:custDataLst>
    <p:extLst>
      <p:ext uri="{BB962C8B-B14F-4D97-AF65-F5344CB8AC3E}">
        <p14:creationId xmlns:p14="http://schemas.microsoft.com/office/powerpoint/2010/main" val="19995999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01B67-DEE7-4446-9689-18FD7E8399F7}"/>
              </a:ext>
            </a:extLst>
          </p:cNvPr>
          <p:cNvSpPr>
            <a:spLocks noGrp="1"/>
          </p:cNvSpPr>
          <p:nvPr>
            <p:ph type="title"/>
          </p:nvPr>
        </p:nvSpPr>
        <p:spPr>
          <a:xfrm>
            <a:off x="1101724" y="435427"/>
            <a:ext cx="16084552" cy="1037885"/>
          </a:xfrm>
        </p:spPr>
        <p:txBody>
          <a:bodyPr/>
          <a:lstStyle/>
          <a:p>
            <a:r>
              <a:rPr lang="en-US" sz="4800" dirty="0"/>
              <a:t>Unfortunately, a few challenges remain for XAI….</a:t>
            </a:r>
          </a:p>
        </p:txBody>
      </p:sp>
      <p:sp>
        <p:nvSpPr>
          <p:cNvPr id="3" name="Content Placeholder 2">
            <a:extLst>
              <a:ext uri="{FF2B5EF4-FFF2-40B4-BE49-F238E27FC236}">
                <a16:creationId xmlns:a16="http://schemas.microsoft.com/office/drawing/2014/main" id="{2FA64BB0-0FE1-4AA1-BAA5-8E4C6BECF022}"/>
              </a:ext>
            </a:extLst>
          </p:cNvPr>
          <p:cNvSpPr>
            <a:spLocks noGrp="1"/>
          </p:cNvSpPr>
          <p:nvPr>
            <p:ph idx="1"/>
          </p:nvPr>
        </p:nvSpPr>
        <p:spPr>
          <a:xfrm>
            <a:off x="1101724" y="1604384"/>
            <a:ext cx="16084552" cy="7496073"/>
          </a:xfrm>
        </p:spPr>
        <p:txBody>
          <a:bodyPr/>
          <a:lstStyle/>
          <a:p>
            <a:pPr>
              <a:spcBef>
                <a:spcPts val="0"/>
              </a:spcBef>
            </a:pPr>
            <a:r>
              <a:rPr lang="en-US" sz="3200" b="0" i="0" dirty="0">
                <a:solidFill>
                  <a:srgbClr val="282828"/>
                </a:solidFill>
                <a:effectLst/>
              </a:rPr>
              <a:t>Researcher Reza Shokri and his colleagues </a:t>
            </a:r>
            <a:r>
              <a:rPr lang="en-US" sz="3200" b="0" i="0" u="none" strike="noStrike" dirty="0">
                <a:solidFill>
                  <a:srgbClr val="282828"/>
                </a:solidFill>
                <a:effectLst/>
              </a:rPr>
              <a:t>illustrated</a:t>
            </a:r>
            <a:r>
              <a:rPr lang="en-US" sz="3200" b="0" i="0" dirty="0">
                <a:solidFill>
                  <a:srgbClr val="282828"/>
                </a:solidFill>
                <a:effectLst/>
              </a:rPr>
              <a:t> how exposing information about machine-learning algorithms can make them more vulnerable to attacks. </a:t>
            </a:r>
          </a:p>
          <a:p>
            <a:pPr>
              <a:spcBef>
                <a:spcPts val="0"/>
              </a:spcBef>
            </a:pPr>
            <a:r>
              <a:rPr lang="en-US" sz="3200" dirty="0">
                <a:solidFill>
                  <a:srgbClr val="282828"/>
                </a:solidFill>
              </a:rPr>
              <a:t>R</a:t>
            </a:r>
            <a:r>
              <a:rPr lang="en-US" sz="3200" b="0" i="0" dirty="0">
                <a:solidFill>
                  <a:srgbClr val="282828"/>
                </a:solidFill>
                <a:effectLst/>
              </a:rPr>
              <a:t>esearchers at the University of California, Berkeley, have demonstrated that entire algorithms can be stolen </a:t>
            </a:r>
            <a:r>
              <a:rPr lang="en-US" sz="3200" b="0" i="0" u="none" strike="noStrike" dirty="0">
                <a:solidFill>
                  <a:srgbClr val="282828"/>
                </a:solidFill>
                <a:effectLst/>
              </a:rPr>
              <a:t>based simply based on their (XAI-based) explanations alone</a:t>
            </a:r>
            <a:r>
              <a:rPr lang="en-US" sz="3200" b="0" i="0" dirty="0">
                <a:solidFill>
                  <a:srgbClr val="282828"/>
                </a:solidFill>
                <a:effectLst/>
              </a:rPr>
              <a:t>.</a:t>
            </a:r>
            <a:endParaRPr lang="en-US" sz="3200" dirty="0">
              <a:solidFill>
                <a:srgbClr val="282828"/>
              </a:solidFill>
            </a:endParaRPr>
          </a:p>
          <a:p>
            <a:pPr>
              <a:spcBef>
                <a:spcPts val="0"/>
              </a:spcBef>
            </a:pPr>
            <a:r>
              <a:rPr lang="en-US" sz="3200" dirty="0">
                <a:solidFill>
                  <a:srgbClr val="282828"/>
                </a:solidFill>
              </a:rPr>
              <a:t>Researchers at Harvard University have shown that the results and explanations proffered by LIME and SHAP can be intentionally manipulated.</a:t>
            </a:r>
          </a:p>
          <a:p>
            <a:pPr>
              <a:spcBef>
                <a:spcPts val="0"/>
              </a:spcBef>
            </a:pPr>
            <a:r>
              <a:rPr lang="en-US" sz="3200" dirty="0">
                <a:solidFill>
                  <a:srgbClr val="282828"/>
                </a:solidFill>
              </a:rPr>
              <a:t>Researcher Andrew Burt characterizes the above findings as part of the transparency paradox. On the one hand, there is the imperative for businesses to be transparent. One the other, mere transparency, without adequate security, may compromise AI models. </a:t>
            </a:r>
          </a:p>
          <a:p>
            <a:pPr>
              <a:spcBef>
                <a:spcPts val="0"/>
              </a:spcBef>
            </a:pPr>
            <a:r>
              <a:rPr lang="en-US" sz="3200" dirty="0">
                <a:solidFill>
                  <a:srgbClr val="282828"/>
                </a:solidFill>
              </a:rPr>
              <a:t>All the above findings underscore the need for more research needed to sharpen our understanding of XAI applications in the future.</a:t>
            </a:r>
          </a:p>
          <a:p>
            <a:pPr>
              <a:spcBef>
                <a:spcPts val="0"/>
              </a:spcBef>
            </a:pPr>
            <a:endParaRPr lang="en-US" sz="3200" dirty="0">
              <a:solidFill>
                <a:srgbClr val="282828"/>
              </a:solidFill>
            </a:endParaRPr>
          </a:p>
          <a:p>
            <a:pPr>
              <a:spcBef>
                <a:spcPts val="0"/>
              </a:spcBef>
            </a:pPr>
            <a:r>
              <a:rPr lang="en-US" sz="3200" dirty="0">
                <a:solidFill>
                  <a:srgbClr val="282828"/>
                </a:solidFill>
              </a:rPr>
              <a:t>Source: Andrew Burt, “The Transparency Paradox,” Harvard Business Review, 2019.</a:t>
            </a:r>
            <a:endParaRPr lang="en-US" sz="3200" dirty="0"/>
          </a:p>
        </p:txBody>
      </p:sp>
    </p:spTree>
    <p:custDataLst>
      <p:tags r:id="rId1"/>
    </p:custDataLst>
    <p:extLst>
      <p:ext uri="{BB962C8B-B14F-4D97-AF65-F5344CB8AC3E}">
        <p14:creationId xmlns:p14="http://schemas.microsoft.com/office/powerpoint/2010/main" val="385117186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5"/>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2F55A57D-0C50-904A-83D4-4E1CC0E2D52F}" vid="{6952F4DD-38AA-7342-AB40-4D73DFEF48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5e41b080-9453-459c-bb93-b19be7335f42">
      <Terms xmlns="http://schemas.microsoft.com/office/infopath/2007/PartnerControls"/>
    </lcf76f155ced4ddcb4097134ff3c332f>
    <TaxCatchAll xmlns="4e58ebf2-e4df-4cd3-9186-1e42b3ede124" xsi:nil="true"/>
    <Status xmlns="5e41b080-9453-459c-bb93-b19be7335f42" xsi:nil="true"/>
    <Comments xmlns="5e41b080-9453-459c-bb93-b19be7335f42" xsi:nil="true"/>
    <Due_x0020_Date xmlns="5e41b080-9453-459c-bb93-b19be7335f4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7" ma:contentTypeDescription="Create a new document." ma:contentTypeScope="" ma:versionID="6dd4d27a79178d964495491d99d85ab0">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5371f2543c27c65efb9018a9acd511a8"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CB4D3F3-2161-4501-B555-558D1DDA1F60}">
  <ds:schemaRefs>
    <ds:schemaRef ds:uri="http://purl.org/dc/dcmitype/"/>
    <ds:schemaRef ds:uri="88c1e295-a029-41eb-a982-8bcc7d01c0cb"/>
    <ds:schemaRef ds:uri="http://purl.org/dc/terms/"/>
    <ds:schemaRef ds:uri="http://schemas.microsoft.com/office/2006/metadata/properties"/>
    <ds:schemaRef ds:uri="57db6fc0-2530-4489-bd2f-42335d65b94d"/>
    <ds:schemaRef ds:uri="http://schemas.microsoft.com/office/2006/documentManagement/types"/>
    <ds:schemaRef ds:uri="http://schemas.openxmlformats.org/package/2006/metadata/core-properties"/>
    <ds:schemaRef ds:uri="http://schemas.microsoft.com/office/infopath/2007/PartnerControls"/>
    <ds:schemaRef ds:uri="http://www.w3.org/XML/1998/namespace"/>
    <ds:schemaRef ds:uri="http://purl.org/dc/elements/1.1/"/>
    <ds:schemaRef ds:uri="5e41b080-9453-459c-bb93-b19be7335f42"/>
    <ds:schemaRef ds:uri="4e58ebf2-e4df-4cd3-9186-1e42b3ede124"/>
  </ds:schemaRefs>
</ds:datastoreItem>
</file>

<file path=customXml/itemProps2.xml><?xml version="1.0" encoding="utf-8"?>
<ds:datastoreItem xmlns:ds="http://schemas.openxmlformats.org/officeDocument/2006/customXml" ds:itemID="{46CEFF4B-9EC7-4D38-B437-9DE5B52C77FE}">
  <ds:schemaRefs>
    <ds:schemaRef ds:uri="http://schemas.microsoft.com/sharepoint/v3/contenttype/forms"/>
  </ds:schemaRefs>
</ds:datastoreItem>
</file>

<file path=customXml/itemProps3.xml><?xml version="1.0" encoding="utf-8"?>
<ds:datastoreItem xmlns:ds="http://schemas.openxmlformats.org/officeDocument/2006/customXml" ds:itemID="{28F0A47A-9E10-4FE4-8BE8-0C808C85F1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1b080-9453-459c-bb93-b19be7335f42"/>
    <ds:schemaRef ds:uri="4e58ebf2-e4df-4cd3-9186-1e42b3ede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Template - MBA_Stuart_ILTECH__PPT</Template>
  <TotalTime>14243</TotalTime>
  <Words>646</Words>
  <Application>Microsoft Office PowerPoint</Application>
  <PresentationFormat>Custom</PresentationFormat>
  <Paragraphs>26</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Wingdings 2</vt:lpstr>
      <vt:lpstr>Breeze</vt:lpstr>
      <vt:lpstr>MBA532 – AI in Business </vt:lpstr>
      <vt:lpstr>Explainable AI (XAI) at LinkedIn</vt:lpstr>
      <vt:lpstr>Benefits of XAI</vt:lpstr>
      <vt:lpstr>Limitations of XAI</vt:lpstr>
      <vt:lpstr>Unfortunately, a few challenges remain for XAI….</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MBA532 – AI in Business</dc:title>
  <dc:subject/>
  <dc:creator>Siva Balasubramanian</dc:creator>
  <cp:keywords/>
  <dc:description/>
  <cp:lastModifiedBy>Bernadette Otoo</cp:lastModifiedBy>
  <cp:revision>258</cp:revision>
  <dcterms:created xsi:type="dcterms:W3CDTF">2024-03-17T05:07:31Z</dcterms:created>
  <dcterms:modified xsi:type="dcterms:W3CDTF">2024-05-24T15:35:09Z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MediaServiceImageTags">
    <vt:lpwstr/>
  </property>
  <property fmtid="{D5CDD505-2E9C-101B-9397-08002B2CF9AE}" pid="4" name="ArticulateGUID">
    <vt:lpwstr>4C08AF6C-740F-490D-9CEC-71D5B16A3B9D</vt:lpwstr>
  </property>
  <property fmtid="{D5CDD505-2E9C-101B-9397-08002B2CF9AE}" pid="5" name="ArticulatePath">
    <vt:lpwstr>MBA532 – AI in Business - Module 7 - April 2</vt:lpwstr>
  </property>
</Properties>
</file>