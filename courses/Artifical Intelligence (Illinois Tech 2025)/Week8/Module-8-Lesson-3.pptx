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8"/>
  </p:notesMasterIdLst>
  <p:sldIdLst>
    <p:sldId id="311" r:id="rId5"/>
    <p:sldId id="412" r:id="rId6"/>
    <p:sldId id="406" r:id="rId7"/>
    <p:sldId id="303" r:id="rId8"/>
    <p:sldId id="305" r:id="rId9"/>
    <p:sldId id="306" r:id="rId10"/>
    <p:sldId id="307" r:id="rId11"/>
    <p:sldId id="309" r:id="rId12"/>
    <p:sldId id="310" r:id="rId13"/>
    <p:sldId id="313" r:id="rId14"/>
    <p:sldId id="315" r:id="rId15"/>
    <p:sldId id="316" r:id="rId16"/>
    <p:sldId id="317" r:id="rId17"/>
    <p:sldId id="409" r:id="rId18"/>
    <p:sldId id="407" r:id="rId19"/>
    <p:sldId id="319" r:id="rId20"/>
    <p:sldId id="320" r:id="rId21"/>
    <p:sldId id="321" r:id="rId22"/>
    <p:sldId id="322" r:id="rId23"/>
    <p:sldId id="324" r:id="rId24"/>
    <p:sldId id="326" r:id="rId25"/>
    <p:sldId id="399" r:id="rId26"/>
    <p:sldId id="400" r:id="rId27"/>
  </p:sldIdLst>
  <p:sldSz cx="18288000" cy="10287000"/>
  <p:notesSz cx="6858000" cy="9144000"/>
  <p:custDataLst>
    <p:tags r:id="rId29"/>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8 – AI Ethics and Responsible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4416-C6E0-4127-9544-C686FF584F1B}"/>
              </a:ext>
            </a:extLst>
          </p:cNvPr>
          <p:cNvSpPr>
            <a:spLocks noGrp="1"/>
          </p:cNvSpPr>
          <p:nvPr>
            <p:ph type="title"/>
          </p:nvPr>
        </p:nvSpPr>
        <p:spPr/>
        <p:txBody>
          <a:bodyPr/>
          <a:lstStyle/>
          <a:p>
            <a:r>
              <a:rPr lang="en-US" dirty="0"/>
              <a:t>Responsible AI</a:t>
            </a:r>
          </a:p>
        </p:txBody>
      </p:sp>
      <p:sp>
        <p:nvSpPr>
          <p:cNvPr id="3" name="Content Placeholder 2">
            <a:extLst>
              <a:ext uri="{FF2B5EF4-FFF2-40B4-BE49-F238E27FC236}">
                <a16:creationId xmlns:a16="http://schemas.microsoft.com/office/drawing/2014/main" id="{C19E31A8-8121-4824-8B89-922B99113CDD}"/>
              </a:ext>
            </a:extLst>
          </p:cNvPr>
          <p:cNvSpPr>
            <a:spLocks noGrp="1"/>
          </p:cNvSpPr>
          <p:nvPr>
            <p:ph idx="1"/>
          </p:nvPr>
        </p:nvSpPr>
        <p:spPr/>
        <p:txBody>
          <a:bodyPr/>
          <a:lstStyle/>
          <a:p>
            <a:r>
              <a:rPr lang="en-US" dirty="0"/>
              <a:t>Responsible AI</a:t>
            </a:r>
          </a:p>
        </p:txBody>
      </p:sp>
    </p:spTree>
    <p:custDataLst>
      <p:tags r:id="rId1"/>
    </p:custDataLst>
    <p:extLst>
      <p:ext uri="{BB962C8B-B14F-4D97-AF65-F5344CB8AC3E}">
        <p14:creationId xmlns:p14="http://schemas.microsoft.com/office/powerpoint/2010/main" val="396632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82E8-DA27-43C0-B822-BDFB75D4D8AE}"/>
              </a:ext>
            </a:extLst>
          </p:cNvPr>
          <p:cNvSpPr>
            <a:spLocks noGrp="1"/>
          </p:cNvSpPr>
          <p:nvPr>
            <p:ph type="title"/>
          </p:nvPr>
        </p:nvSpPr>
        <p:spPr>
          <a:xfrm>
            <a:off x="1098550" y="609599"/>
            <a:ext cx="16084552" cy="1103199"/>
          </a:xfrm>
        </p:spPr>
        <p:txBody>
          <a:bodyPr/>
          <a:lstStyle/>
          <a:p>
            <a:r>
              <a:rPr lang="en-US" sz="4800" b="1" dirty="0">
                <a:solidFill>
                  <a:srgbClr val="C00000"/>
                </a:solidFill>
              </a:rPr>
              <a:t>What is Responsible AI?</a:t>
            </a:r>
          </a:p>
        </p:txBody>
      </p:sp>
      <p:sp>
        <p:nvSpPr>
          <p:cNvPr id="3" name="Content Placeholder 2">
            <a:extLst>
              <a:ext uri="{FF2B5EF4-FFF2-40B4-BE49-F238E27FC236}">
                <a16:creationId xmlns:a16="http://schemas.microsoft.com/office/drawing/2014/main" id="{8507F953-D1DE-4355-B9F5-7CA36436B855}"/>
              </a:ext>
            </a:extLst>
          </p:cNvPr>
          <p:cNvSpPr>
            <a:spLocks noGrp="1"/>
          </p:cNvSpPr>
          <p:nvPr>
            <p:ph idx="1"/>
          </p:nvPr>
        </p:nvSpPr>
        <p:spPr/>
        <p:txBody>
          <a:bodyPr>
            <a:normAutofit lnSpcReduction="10000"/>
          </a:bodyPr>
          <a:lstStyle/>
          <a:p>
            <a:r>
              <a:rPr lang="en-US" dirty="0"/>
              <a:t>Responsible AI: AI systems should be designed and implemented in ways that recognize, and are sensitive to, human interaction contexts without infringing core values or human rights.</a:t>
            </a:r>
          </a:p>
          <a:p>
            <a:r>
              <a:rPr lang="en-US" dirty="0"/>
              <a:t>AI designers are responsible for the development of intelligent systems that follow fundamental human principles and values, to always ensure human well-being.</a:t>
            </a:r>
          </a:p>
          <a:p>
            <a:r>
              <a:rPr lang="en-US" dirty="0"/>
              <a:t>Design, development and use of AI must take into account societal values, moral and ethical considerations, accommodate values of different stakeholders, explain its reasoning for decisions, and guarantee transparency.</a:t>
            </a:r>
          </a:p>
        </p:txBody>
      </p:sp>
    </p:spTree>
    <p:custDataLst>
      <p:tags r:id="rId1"/>
    </p:custDataLst>
    <p:extLst>
      <p:ext uri="{BB962C8B-B14F-4D97-AF65-F5344CB8AC3E}">
        <p14:creationId xmlns:p14="http://schemas.microsoft.com/office/powerpoint/2010/main" val="3380250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BF675-77D1-4895-B106-032F32BA9769}"/>
              </a:ext>
            </a:extLst>
          </p:cNvPr>
          <p:cNvSpPr>
            <a:spLocks noGrp="1"/>
          </p:cNvSpPr>
          <p:nvPr>
            <p:ph type="title"/>
          </p:nvPr>
        </p:nvSpPr>
        <p:spPr>
          <a:xfrm>
            <a:off x="1261873" y="960395"/>
            <a:ext cx="5490491" cy="2017463"/>
          </a:xfrm>
        </p:spPr>
        <p:txBody>
          <a:bodyPr>
            <a:normAutofit fontScale="90000"/>
          </a:bodyPr>
          <a:lstStyle/>
          <a:p>
            <a:r>
              <a:rPr lang="en-US" sz="4200" dirty="0">
                <a:solidFill>
                  <a:srgbClr val="C00000"/>
                </a:solidFill>
              </a:rPr>
              <a:t>Responsible Research and Innovation Process (RRI)</a:t>
            </a:r>
          </a:p>
        </p:txBody>
      </p:sp>
      <p:sp>
        <p:nvSpPr>
          <p:cNvPr id="3" name="Content Placeholder 2">
            <a:extLst>
              <a:ext uri="{FF2B5EF4-FFF2-40B4-BE49-F238E27FC236}">
                <a16:creationId xmlns:a16="http://schemas.microsoft.com/office/drawing/2014/main" id="{F813EAC2-5ACF-4AC7-B717-64F7D1CAA97A}"/>
              </a:ext>
            </a:extLst>
          </p:cNvPr>
          <p:cNvSpPr>
            <a:spLocks noGrp="1"/>
          </p:cNvSpPr>
          <p:nvPr>
            <p:ph idx="1"/>
          </p:nvPr>
        </p:nvSpPr>
        <p:spPr>
          <a:xfrm>
            <a:off x="1261872" y="3182644"/>
            <a:ext cx="5486400" cy="6139157"/>
          </a:xfrm>
        </p:spPr>
        <p:txBody>
          <a:bodyPr>
            <a:normAutofit fontScale="92500"/>
          </a:bodyPr>
          <a:lstStyle/>
          <a:p>
            <a:r>
              <a:rPr lang="en-US" sz="3600" dirty="0"/>
              <a:t>RRI: a “transparent, interactive process by which societal actors and innovators become mutually responsive to each other with a view to (ethical) acceptability, sustainability and societal desirability of the innovation process and its marketable products.”</a:t>
            </a:r>
          </a:p>
          <a:p>
            <a:endParaRPr lang="en-US" sz="2700" dirty="0"/>
          </a:p>
        </p:txBody>
      </p:sp>
      <p:pic>
        <p:nvPicPr>
          <p:cNvPr id="5" name="Picture 4" descr="A close up of a device&#10;&#10;Description automatically generated">
            <a:extLst>
              <a:ext uri="{FF2B5EF4-FFF2-40B4-BE49-F238E27FC236}">
                <a16:creationId xmlns:a16="http://schemas.microsoft.com/office/drawing/2014/main" id="{70B255B3-701F-4C4C-A0FC-D3E4D6C2F6FB}"/>
              </a:ext>
            </a:extLst>
          </p:cNvPr>
          <p:cNvPicPr>
            <a:picLocks noChangeAspect="1"/>
          </p:cNvPicPr>
          <p:nvPr/>
        </p:nvPicPr>
        <p:blipFill rotWithShape="1">
          <a:blip r:embed="rId3">
            <a:extLst>
              <a:ext uri="{28A0092B-C50C-407E-A947-70E740481C1C}">
                <a14:useLocalDpi xmlns:a14="http://schemas.microsoft.com/office/drawing/2010/main" val="0"/>
              </a:ext>
            </a:extLst>
          </a:blip>
          <a:srcRect l="5489" r="2171" b="-1"/>
          <a:stretch/>
        </p:blipFill>
        <p:spPr>
          <a:xfrm>
            <a:off x="7438644" y="742950"/>
            <a:ext cx="9848088" cy="8558784"/>
          </a:xfrm>
          <a:prstGeom prst="rect">
            <a:avLst/>
          </a:prstGeom>
        </p:spPr>
      </p:pic>
    </p:spTree>
    <p:custDataLst>
      <p:tags r:id="rId1"/>
    </p:custDataLst>
    <p:extLst>
      <p:ext uri="{BB962C8B-B14F-4D97-AF65-F5344CB8AC3E}">
        <p14:creationId xmlns:p14="http://schemas.microsoft.com/office/powerpoint/2010/main" val="214558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C17B-ED79-4207-A8AF-01CAC4229E90}"/>
              </a:ext>
            </a:extLst>
          </p:cNvPr>
          <p:cNvSpPr>
            <a:spLocks noGrp="1"/>
          </p:cNvSpPr>
          <p:nvPr>
            <p:ph type="title"/>
          </p:nvPr>
        </p:nvSpPr>
        <p:spPr>
          <a:xfrm>
            <a:off x="973394" y="943900"/>
            <a:ext cx="5258243" cy="2433482"/>
          </a:xfrm>
        </p:spPr>
        <p:txBody>
          <a:bodyPr>
            <a:normAutofit/>
          </a:bodyPr>
          <a:lstStyle/>
          <a:p>
            <a:r>
              <a:rPr lang="en-US" b="1" dirty="0">
                <a:solidFill>
                  <a:srgbClr val="C00000"/>
                </a:solidFill>
              </a:rPr>
              <a:t>Responsible AI Design</a:t>
            </a:r>
          </a:p>
        </p:txBody>
      </p:sp>
      <p:sp>
        <p:nvSpPr>
          <p:cNvPr id="3" name="Content Placeholder 2">
            <a:extLst>
              <a:ext uri="{FF2B5EF4-FFF2-40B4-BE49-F238E27FC236}">
                <a16:creationId xmlns:a16="http://schemas.microsoft.com/office/drawing/2014/main" id="{428EE767-7DB0-4432-99A8-5199BEE86014}"/>
              </a:ext>
            </a:extLst>
          </p:cNvPr>
          <p:cNvSpPr>
            <a:spLocks noGrp="1"/>
          </p:cNvSpPr>
          <p:nvPr>
            <p:ph idx="1"/>
          </p:nvPr>
        </p:nvSpPr>
        <p:spPr>
          <a:xfrm>
            <a:off x="973397" y="3657601"/>
            <a:ext cx="5258241" cy="5678129"/>
          </a:xfrm>
        </p:spPr>
        <p:txBody>
          <a:bodyPr>
            <a:normAutofit/>
          </a:bodyPr>
          <a:lstStyle/>
          <a:p>
            <a:r>
              <a:rPr lang="en-US" sz="3000" dirty="0"/>
              <a:t>Responsible AI design integrates ethical concerns and domain considerations into the development process of AI applications.</a:t>
            </a:r>
          </a:p>
          <a:p>
            <a:endParaRPr lang="en-US" sz="3000" dirty="0"/>
          </a:p>
        </p:txBody>
      </p:sp>
      <p:pic>
        <p:nvPicPr>
          <p:cNvPr id="5" name="Picture 4" descr="A close up of a piece of paper&#10;&#10;Description automatically generated">
            <a:extLst>
              <a:ext uri="{FF2B5EF4-FFF2-40B4-BE49-F238E27FC236}">
                <a16:creationId xmlns:a16="http://schemas.microsoft.com/office/drawing/2014/main" id="{5BC42CBE-D1DA-4D88-AAE5-D53B9D697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8794" y="2364650"/>
            <a:ext cx="9028997" cy="5552832"/>
          </a:xfrm>
          <a:prstGeom prst="rect">
            <a:avLst/>
          </a:prstGeom>
          <a:effectLst/>
        </p:spPr>
      </p:pic>
    </p:spTree>
    <p:custDataLst>
      <p:tags r:id="rId1"/>
    </p:custDataLst>
    <p:extLst>
      <p:ext uri="{BB962C8B-B14F-4D97-AF65-F5344CB8AC3E}">
        <p14:creationId xmlns:p14="http://schemas.microsoft.com/office/powerpoint/2010/main" val="822625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6044-BB71-4784-98D8-C57A059D4FDA}"/>
              </a:ext>
            </a:extLst>
          </p:cNvPr>
          <p:cNvSpPr>
            <a:spLocks noGrp="1"/>
          </p:cNvSpPr>
          <p:nvPr>
            <p:ph type="title"/>
          </p:nvPr>
        </p:nvSpPr>
        <p:spPr>
          <a:xfrm>
            <a:off x="968789" y="3352800"/>
            <a:ext cx="7075754" cy="3297554"/>
          </a:xfrm>
          <a:noFill/>
        </p:spPr>
        <p:txBody>
          <a:bodyPr vert="horz" wrap="square" lIns="137160" tIns="68580" rIns="137160" bIns="68580" numCol="1" rtlCol="0" anchor="b" anchorCtr="0" compatLnSpc="1">
            <a:prstTxWarp prst="textNoShape">
              <a:avLst/>
            </a:prstTxWarp>
            <a:normAutofit/>
          </a:bodyPr>
          <a:lstStyle/>
          <a:p>
            <a:r>
              <a:rPr lang="en-US" sz="6900" dirty="0">
                <a:solidFill>
                  <a:srgbClr val="C00000"/>
                </a:solidFill>
              </a:rPr>
              <a:t>Responsible Development Life Cycle for AI</a:t>
            </a:r>
          </a:p>
        </p:txBody>
      </p:sp>
      <p:pic>
        <p:nvPicPr>
          <p:cNvPr id="5" name="Content Placeholder 4" descr="A picture containing clock&#10;&#10;Description automatically generated">
            <a:extLst>
              <a:ext uri="{FF2B5EF4-FFF2-40B4-BE49-F238E27FC236}">
                <a16:creationId xmlns:a16="http://schemas.microsoft.com/office/drawing/2014/main" id="{6AA7B239-18E5-4135-B08F-D965C0980B85}"/>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728" r="7973" b="2"/>
          <a:stretch/>
        </p:blipFill>
        <p:spPr>
          <a:xfrm>
            <a:off x="8162603" y="1207008"/>
            <a:ext cx="8901684" cy="7872984"/>
          </a:xfrm>
          <a:prstGeom prst="rect">
            <a:avLst/>
          </a:prstGeom>
          <a:effectLst/>
        </p:spPr>
      </p:pic>
    </p:spTree>
    <p:custDataLst>
      <p:tags r:id="rId1"/>
    </p:custDataLst>
    <p:extLst>
      <p:ext uri="{BB962C8B-B14F-4D97-AF65-F5344CB8AC3E}">
        <p14:creationId xmlns:p14="http://schemas.microsoft.com/office/powerpoint/2010/main" val="3916818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782F-C177-4AE7-A7E2-CA062D0A58CA}"/>
              </a:ext>
            </a:extLst>
          </p:cNvPr>
          <p:cNvSpPr>
            <a:spLocks noGrp="1"/>
          </p:cNvSpPr>
          <p:nvPr>
            <p:ph type="title"/>
          </p:nvPr>
        </p:nvSpPr>
        <p:spPr>
          <a:xfrm>
            <a:off x="1098550" y="522513"/>
            <a:ext cx="16084552" cy="1190285"/>
          </a:xfrm>
        </p:spPr>
        <p:txBody>
          <a:bodyPr/>
          <a:lstStyle/>
          <a:p>
            <a:r>
              <a:rPr lang="en-US" sz="4800" b="1" dirty="0">
                <a:solidFill>
                  <a:srgbClr val="C00000"/>
                </a:solidFill>
              </a:rPr>
              <a:t>How to judge an ethical action by an AI system?</a:t>
            </a:r>
          </a:p>
        </p:txBody>
      </p:sp>
      <p:sp>
        <p:nvSpPr>
          <p:cNvPr id="3" name="Content Placeholder 2">
            <a:extLst>
              <a:ext uri="{FF2B5EF4-FFF2-40B4-BE49-F238E27FC236}">
                <a16:creationId xmlns:a16="http://schemas.microsoft.com/office/drawing/2014/main" id="{CB1EDB38-7332-4389-A7E4-B58CA084E803}"/>
              </a:ext>
            </a:extLst>
          </p:cNvPr>
          <p:cNvSpPr>
            <a:spLocks noGrp="1"/>
          </p:cNvSpPr>
          <p:nvPr>
            <p:ph idx="1"/>
          </p:nvPr>
        </p:nvSpPr>
        <p:spPr/>
        <p:txBody>
          <a:bodyPr/>
          <a:lstStyle/>
          <a:p>
            <a:r>
              <a:rPr lang="en-US" dirty="0"/>
              <a:t>Dennett identifies three requirements for ethical action by an AI agent:</a:t>
            </a:r>
          </a:p>
          <a:p>
            <a:pPr marL="771525" indent="-771525">
              <a:buFont typeface="+mj-lt"/>
              <a:buAutoNum type="arabicPeriod"/>
            </a:pPr>
            <a:r>
              <a:rPr lang="en-US" dirty="0"/>
              <a:t>It must be possible to choose between different actions;</a:t>
            </a:r>
          </a:p>
          <a:p>
            <a:pPr marL="771525" indent="-771525">
              <a:buFont typeface="+mj-lt"/>
              <a:buAutoNum type="arabicPeriod"/>
            </a:pPr>
            <a:r>
              <a:rPr lang="en-US" dirty="0"/>
              <a:t>There must be some societal consensus that at least one of the possible choices is socially beneficial;</a:t>
            </a:r>
          </a:p>
          <a:p>
            <a:pPr marL="771525" indent="-771525">
              <a:buFont typeface="+mj-lt"/>
              <a:buAutoNum type="arabicPeriod"/>
            </a:pPr>
            <a:r>
              <a:rPr lang="en-US" dirty="0"/>
              <a:t>The agent must be able to recognize that socially beneficial action and take the explicit decision to choose that action </a:t>
            </a:r>
            <a:r>
              <a:rPr lang="en-US" i="1" dirty="0"/>
              <a:t>because</a:t>
            </a:r>
            <a:r>
              <a:rPr lang="en-US" dirty="0"/>
              <a:t> it is the ethical thing to do.</a:t>
            </a:r>
          </a:p>
        </p:txBody>
      </p:sp>
    </p:spTree>
    <p:custDataLst>
      <p:tags r:id="rId1"/>
    </p:custDataLst>
    <p:extLst>
      <p:ext uri="{BB962C8B-B14F-4D97-AF65-F5344CB8AC3E}">
        <p14:creationId xmlns:p14="http://schemas.microsoft.com/office/powerpoint/2010/main" val="3501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35FF9-D4D5-4E3A-ACFF-1566C4044E25}"/>
              </a:ext>
            </a:extLst>
          </p:cNvPr>
          <p:cNvSpPr>
            <a:spLocks noGrp="1"/>
          </p:cNvSpPr>
          <p:nvPr>
            <p:ph type="title"/>
          </p:nvPr>
        </p:nvSpPr>
        <p:spPr>
          <a:xfrm>
            <a:off x="1098550" y="499265"/>
            <a:ext cx="16084552" cy="1551434"/>
          </a:xfrm>
        </p:spPr>
        <p:txBody>
          <a:bodyPr/>
          <a:lstStyle/>
          <a:p>
            <a:r>
              <a:rPr lang="en-US" sz="4800" b="1" dirty="0">
                <a:solidFill>
                  <a:srgbClr val="C00000"/>
                </a:solidFill>
              </a:rPr>
              <a:t>Considerations Before Design of Decision-Making Mechanisms for Moral AI Systems</a:t>
            </a:r>
          </a:p>
        </p:txBody>
      </p:sp>
      <p:sp>
        <p:nvSpPr>
          <p:cNvPr id="3" name="Content Placeholder 2">
            <a:extLst>
              <a:ext uri="{FF2B5EF4-FFF2-40B4-BE49-F238E27FC236}">
                <a16:creationId xmlns:a16="http://schemas.microsoft.com/office/drawing/2014/main" id="{5D91DA0B-F4D4-441A-8711-9B5A2A354162}"/>
              </a:ext>
            </a:extLst>
          </p:cNvPr>
          <p:cNvSpPr>
            <a:spLocks noGrp="1"/>
          </p:cNvSpPr>
          <p:nvPr>
            <p:ph idx="1"/>
          </p:nvPr>
        </p:nvSpPr>
        <p:spPr/>
        <p:txBody>
          <a:bodyPr>
            <a:normAutofit fontScale="92500"/>
          </a:bodyPr>
          <a:lstStyle/>
          <a:p>
            <a:r>
              <a:rPr lang="en-US" dirty="0"/>
              <a:t>There are three considerations before incorporating ethical decision-making mechanisms into AI systems:</a:t>
            </a:r>
          </a:p>
          <a:p>
            <a:pPr marL="771525" indent="-771525">
              <a:buFont typeface="+mj-lt"/>
              <a:buAutoNum type="arabicPeriod"/>
            </a:pPr>
            <a:r>
              <a:rPr lang="en-US" sz="3600" b="1" dirty="0"/>
              <a:t>Algorithmic</a:t>
            </a:r>
            <a:r>
              <a:rPr lang="en-US" sz="3600" dirty="0"/>
              <a:t>: the aim is to incorporate moral reasoning fully in the system’s deliberations. An AI can autonomously evaluate the moral and societal consequences of its decisions and use that in its decision-making process.</a:t>
            </a:r>
          </a:p>
          <a:p>
            <a:pPr marL="771525" indent="-771525">
              <a:buFont typeface="+mj-lt"/>
              <a:buAutoNum type="arabicPeriod"/>
            </a:pPr>
            <a:r>
              <a:rPr lang="en-US" sz="3600" b="1" dirty="0"/>
              <a:t>Human in command</a:t>
            </a:r>
            <a:r>
              <a:rPr lang="en-US" sz="3600" dirty="0"/>
              <a:t>: a person or group of humans take part in the decision process.</a:t>
            </a:r>
          </a:p>
          <a:p>
            <a:pPr marL="771525" indent="-771525">
              <a:buFont typeface="+mj-lt"/>
              <a:buAutoNum type="arabicPeriod"/>
            </a:pPr>
            <a:r>
              <a:rPr lang="en-US" sz="3600" b="1" dirty="0"/>
              <a:t>Regulation</a:t>
            </a:r>
            <a:r>
              <a:rPr lang="en-US" sz="3600" dirty="0"/>
              <a:t>: require or incorporate ethical decision making into the systemic infrastructure of the environment. In this case, the regulated environment ensures that the system will never get into moral dilemma situations.</a:t>
            </a:r>
          </a:p>
        </p:txBody>
      </p:sp>
    </p:spTree>
    <p:custDataLst>
      <p:tags r:id="rId1"/>
    </p:custDataLst>
    <p:extLst>
      <p:ext uri="{BB962C8B-B14F-4D97-AF65-F5344CB8AC3E}">
        <p14:creationId xmlns:p14="http://schemas.microsoft.com/office/powerpoint/2010/main" val="396019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7FB26-1A83-4D84-B47C-8B2E49F9D8D6}"/>
              </a:ext>
            </a:extLst>
          </p:cNvPr>
          <p:cNvSpPr>
            <a:spLocks noGrp="1"/>
          </p:cNvSpPr>
          <p:nvPr>
            <p:ph type="title"/>
          </p:nvPr>
        </p:nvSpPr>
        <p:spPr>
          <a:xfrm>
            <a:off x="1098550" y="685799"/>
            <a:ext cx="16084552" cy="1026999"/>
          </a:xfrm>
        </p:spPr>
        <p:txBody>
          <a:bodyPr/>
          <a:lstStyle/>
          <a:p>
            <a:r>
              <a:rPr lang="en-US" dirty="0">
                <a:solidFill>
                  <a:srgbClr val="C00000"/>
                </a:solidFill>
              </a:rPr>
              <a:t>Absence or weak </a:t>
            </a:r>
            <a:r>
              <a:rPr lang="en-US" b="1" dirty="0">
                <a:solidFill>
                  <a:srgbClr val="C00000"/>
                </a:solidFill>
              </a:rPr>
              <a:t>Regulation should not matter</a:t>
            </a:r>
          </a:p>
        </p:txBody>
      </p:sp>
      <p:sp>
        <p:nvSpPr>
          <p:cNvPr id="3" name="Content Placeholder 2">
            <a:extLst>
              <a:ext uri="{FF2B5EF4-FFF2-40B4-BE49-F238E27FC236}">
                <a16:creationId xmlns:a16="http://schemas.microsoft.com/office/drawing/2014/main" id="{14889ECE-F16C-419B-A4CA-F3197523CF7C}"/>
              </a:ext>
            </a:extLst>
          </p:cNvPr>
          <p:cNvSpPr>
            <a:spLocks noGrp="1"/>
          </p:cNvSpPr>
          <p:nvPr>
            <p:ph idx="1"/>
          </p:nvPr>
        </p:nvSpPr>
        <p:spPr>
          <a:xfrm>
            <a:off x="1098550" y="2050699"/>
            <a:ext cx="16084552" cy="7147730"/>
          </a:xfrm>
        </p:spPr>
        <p:txBody>
          <a:bodyPr/>
          <a:lstStyle/>
          <a:p>
            <a:r>
              <a:rPr lang="en-US" sz="3600" dirty="0"/>
              <a:t>Given the dynamic nature of AI, we cannot wait for regulation until the technology is mature.</a:t>
            </a:r>
          </a:p>
          <a:p>
            <a:r>
              <a:rPr lang="en-US" sz="3600" dirty="0"/>
              <a:t>It is important to realize that not all regulation is negative, especially when regulation takes the form of incentives or investment programs that nudge organizations toward a specific application or technology.</a:t>
            </a:r>
          </a:p>
          <a:p>
            <a:r>
              <a:rPr lang="en-US" sz="3600" dirty="0"/>
              <a:t>AI is an artifact; all product and service liability laws apply to AI. As a protection against such liability, businesses should pay for AI insurance coverage. </a:t>
            </a:r>
          </a:p>
          <a:p>
            <a:r>
              <a:rPr lang="en-US" sz="3600" dirty="0"/>
              <a:t>Regulation implies that further scientific development of AI is allowed as long as regulation remains in effect.</a:t>
            </a:r>
          </a:p>
        </p:txBody>
      </p:sp>
    </p:spTree>
    <p:custDataLst>
      <p:tags r:id="rId1"/>
    </p:custDataLst>
    <p:extLst>
      <p:ext uri="{BB962C8B-B14F-4D97-AF65-F5344CB8AC3E}">
        <p14:creationId xmlns:p14="http://schemas.microsoft.com/office/powerpoint/2010/main" val="2500278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8F90-544C-4141-80F1-40D4F9116743}"/>
              </a:ext>
            </a:extLst>
          </p:cNvPr>
          <p:cNvSpPr>
            <a:spLocks noGrp="1"/>
          </p:cNvSpPr>
          <p:nvPr>
            <p:ph type="title"/>
          </p:nvPr>
        </p:nvSpPr>
        <p:spPr>
          <a:xfrm>
            <a:off x="1098550" y="740229"/>
            <a:ext cx="16084552" cy="972570"/>
          </a:xfrm>
        </p:spPr>
        <p:txBody>
          <a:bodyPr/>
          <a:lstStyle/>
          <a:p>
            <a:r>
              <a:rPr lang="en-US" b="1" dirty="0">
                <a:solidFill>
                  <a:srgbClr val="C00000"/>
                </a:solidFill>
              </a:rPr>
              <a:t>The King Midas Problem</a:t>
            </a:r>
          </a:p>
        </p:txBody>
      </p:sp>
      <p:sp>
        <p:nvSpPr>
          <p:cNvPr id="3" name="Content Placeholder 2">
            <a:extLst>
              <a:ext uri="{FF2B5EF4-FFF2-40B4-BE49-F238E27FC236}">
                <a16:creationId xmlns:a16="http://schemas.microsoft.com/office/drawing/2014/main" id="{28E65C5E-9207-4438-9842-22088E1BFC4A}"/>
              </a:ext>
            </a:extLst>
          </p:cNvPr>
          <p:cNvSpPr>
            <a:spLocks noGrp="1"/>
          </p:cNvSpPr>
          <p:nvPr>
            <p:ph idx="1"/>
          </p:nvPr>
        </p:nvSpPr>
        <p:spPr/>
        <p:txBody>
          <a:bodyPr>
            <a:normAutofit/>
          </a:bodyPr>
          <a:lstStyle/>
          <a:p>
            <a:r>
              <a:rPr lang="en-US" sz="3200" dirty="0"/>
              <a:t>Humans may suffer from a failure to properly implement value alignment in AI systems, and this may be passed on to future generations of AI systems.</a:t>
            </a:r>
          </a:p>
          <a:p>
            <a:r>
              <a:rPr lang="en-US" sz="3200" dirty="0"/>
              <a:t>That is, we may, perhaps inadvertently, imbue machines with objectives that are imperfectly aligned with our own.</a:t>
            </a:r>
          </a:p>
          <a:p>
            <a:pPr marL="685800" lvl="1" indent="0">
              <a:buNone/>
            </a:pPr>
            <a:r>
              <a:rPr lang="en-US" sz="3200" dirty="0">
                <a:solidFill>
                  <a:schemeClr val="accent1"/>
                </a:solidFill>
              </a:rPr>
              <a:t>E.g. The reinforcement learning algorithms that optimize social-media click-through have no capacity to reason about human behavior. However, for (potentially adversarial) machines with much greater understanding of human psychology, beliefs, and motivation, it should be relatively easy to gradually guide us in the direction that increase the likelihood that the machine’s goals are achieved instead of human goals. </a:t>
            </a:r>
            <a:endParaRPr lang="en-US" sz="3200" dirty="0">
              <a:solidFill>
                <a:srgbClr val="FF0000"/>
              </a:solidFill>
            </a:endParaRPr>
          </a:p>
        </p:txBody>
      </p:sp>
    </p:spTree>
    <p:custDataLst>
      <p:tags r:id="rId1"/>
    </p:custDataLst>
    <p:extLst>
      <p:ext uri="{BB962C8B-B14F-4D97-AF65-F5344CB8AC3E}">
        <p14:creationId xmlns:p14="http://schemas.microsoft.com/office/powerpoint/2010/main" val="1103344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D5DB3-9A86-4A48-A815-DACCA6E51AE9}"/>
              </a:ext>
            </a:extLst>
          </p:cNvPr>
          <p:cNvSpPr>
            <a:spLocks noGrp="1"/>
          </p:cNvSpPr>
          <p:nvPr>
            <p:ph type="title"/>
          </p:nvPr>
        </p:nvSpPr>
        <p:spPr>
          <a:xfrm>
            <a:off x="1098550" y="653143"/>
            <a:ext cx="16084552" cy="1059656"/>
          </a:xfrm>
        </p:spPr>
        <p:txBody>
          <a:bodyPr/>
          <a:lstStyle/>
          <a:p>
            <a:r>
              <a:rPr lang="en-US" b="1" dirty="0">
                <a:solidFill>
                  <a:srgbClr val="C00000"/>
                </a:solidFill>
              </a:rPr>
              <a:t>Focus on Principles for Beneficial Machines</a:t>
            </a:r>
          </a:p>
        </p:txBody>
      </p:sp>
      <p:sp>
        <p:nvSpPr>
          <p:cNvPr id="3" name="Content Placeholder 2">
            <a:extLst>
              <a:ext uri="{FF2B5EF4-FFF2-40B4-BE49-F238E27FC236}">
                <a16:creationId xmlns:a16="http://schemas.microsoft.com/office/drawing/2014/main" id="{D0A7E7EC-1B79-4AF6-B7C0-D438DD396BC9}"/>
              </a:ext>
            </a:extLst>
          </p:cNvPr>
          <p:cNvSpPr>
            <a:spLocks noGrp="1"/>
          </p:cNvSpPr>
          <p:nvPr>
            <p:ph idx="1"/>
          </p:nvPr>
        </p:nvSpPr>
        <p:spPr/>
        <p:txBody>
          <a:bodyPr/>
          <a:lstStyle/>
          <a:p>
            <a:r>
              <a:rPr lang="en-US" dirty="0"/>
              <a:t>Three design principles guide AI researchers and developers; the goal here is to create beneficial AI systems by design:</a:t>
            </a:r>
          </a:p>
          <a:p>
            <a:pPr marL="771525" indent="-771525">
              <a:buFont typeface="+mj-lt"/>
              <a:buAutoNum type="arabicPeriod"/>
            </a:pPr>
            <a:r>
              <a:rPr lang="en-US" b="1" dirty="0"/>
              <a:t>Purely altruistic machines: </a:t>
            </a:r>
            <a:r>
              <a:rPr lang="en-US" dirty="0"/>
              <a:t>the machine’s objective is to maximize the realization of human preferences.</a:t>
            </a:r>
          </a:p>
          <a:p>
            <a:pPr marL="771525" indent="-771525">
              <a:buFont typeface="+mj-lt"/>
              <a:buAutoNum type="arabicPeriod"/>
            </a:pPr>
            <a:r>
              <a:rPr lang="en-US" b="1" dirty="0"/>
              <a:t>Humble machines: </a:t>
            </a:r>
            <a:r>
              <a:rPr lang="en-US" dirty="0"/>
              <a:t>the machine is initially uncertain about what those preferences are.</a:t>
            </a:r>
          </a:p>
          <a:p>
            <a:pPr marL="771525" indent="-771525">
              <a:buFont typeface="+mj-lt"/>
              <a:buAutoNum type="arabicPeriod"/>
            </a:pPr>
            <a:r>
              <a:rPr lang="en-US" b="1" dirty="0"/>
              <a:t>Learning to predict human preferences: </a:t>
            </a:r>
            <a:r>
              <a:rPr lang="en-US" dirty="0"/>
              <a:t>the ultimate source of information about human preferences is human behavior.</a:t>
            </a:r>
          </a:p>
        </p:txBody>
      </p:sp>
    </p:spTree>
    <p:custDataLst>
      <p:tags r:id="rId1"/>
    </p:custDataLst>
    <p:extLst>
      <p:ext uri="{BB962C8B-B14F-4D97-AF65-F5344CB8AC3E}">
        <p14:creationId xmlns:p14="http://schemas.microsoft.com/office/powerpoint/2010/main" val="1886398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A0F53-F45F-48DE-8EAB-E864A45B26FE}"/>
              </a:ext>
            </a:extLst>
          </p:cNvPr>
          <p:cNvSpPr>
            <a:spLocks noGrp="1"/>
          </p:cNvSpPr>
          <p:nvPr>
            <p:ph type="title"/>
          </p:nvPr>
        </p:nvSpPr>
        <p:spPr>
          <a:xfrm>
            <a:off x="1098550" y="631371"/>
            <a:ext cx="16084552" cy="1081428"/>
          </a:xfrm>
        </p:spPr>
        <p:txBody>
          <a:bodyPr/>
          <a:lstStyle/>
          <a:p>
            <a:r>
              <a:rPr lang="en-US" b="1" dirty="0">
                <a:solidFill>
                  <a:srgbClr val="C00000"/>
                </a:solidFill>
              </a:rPr>
              <a:t>Assistance Games</a:t>
            </a:r>
          </a:p>
        </p:txBody>
      </p:sp>
      <p:sp>
        <p:nvSpPr>
          <p:cNvPr id="3" name="Content Placeholder 2">
            <a:extLst>
              <a:ext uri="{FF2B5EF4-FFF2-40B4-BE49-F238E27FC236}">
                <a16:creationId xmlns:a16="http://schemas.microsoft.com/office/drawing/2014/main" id="{24E2BC83-357E-466F-8228-C7C63F9AA39F}"/>
              </a:ext>
            </a:extLst>
          </p:cNvPr>
          <p:cNvSpPr>
            <a:spLocks noGrp="1"/>
          </p:cNvSpPr>
          <p:nvPr>
            <p:ph idx="1"/>
          </p:nvPr>
        </p:nvSpPr>
        <p:spPr/>
        <p:txBody>
          <a:bodyPr/>
          <a:lstStyle/>
          <a:p>
            <a:r>
              <a:rPr lang="en-US" b="1" dirty="0"/>
              <a:t>Assistance games </a:t>
            </a:r>
            <a:r>
              <a:rPr lang="en-US" dirty="0"/>
              <a:t>provide a useful conceptual framework. They depict situations where a human has preferences and acts according to those preferences, and an observant robot doesn’t know what those human preferences are but it wants to satisfy them anyway; as a result, the robot asks questions to learn those preferences.</a:t>
            </a:r>
          </a:p>
          <a:p>
            <a:r>
              <a:rPr lang="en-US" dirty="0"/>
              <a:t>The most interesting property of assistance games is that, by solving the game, a robot can understand how to process human behaviors as a source of information about human preferences.</a:t>
            </a:r>
          </a:p>
        </p:txBody>
      </p:sp>
    </p:spTree>
    <p:custDataLst>
      <p:tags r:id="rId1"/>
    </p:custDataLst>
    <p:extLst>
      <p:ext uri="{BB962C8B-B14F-4D97-AF65-F5344CB8AC3E}">
        <p14:creationId xmlns:p14="http://schemas.microsoft.com/office/powerpoint/2010/main" val="1171119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514F-4649-4438-82B5-E858CB51CDE9}"/>
              </a:ext>
            </a:extLst>
          </p:cNvPr>
          <p:cNvSpPr>
            <a:spLocks noGrp="1"/>
          </p:cNvSpPr>
          <p:nvPr>
            <p:ph type="title"/>
          </p:nvPr>
        </p:nvSpPr>
        <p:spPr>
          <a:xfrm>
            <a:off x="1098550" y="718457"/>
            <a:ext cx="16084552" cy="994342"/>
          </a:xfrm>
        </p:spPr>
        <p:txBody>
          <a:bodyPr/>
          <a:lstStyle/>
          <a:p>
            <a:r>
              <a:rPr lang="en-US" sz="4800" b="1" dirty="0">
                <a:solidFill>
                  <a:srgbClr val="C00000"/>
                </a:solidFill>
              </a:rPr>
              <a:t>What Are Beneficial Machines</a:t>
            </a:r>
          </a:p>
        </p:txBody>
      </p:sp>
      <p:sp>
        <p:nvSpPr>
          <p:cNvPr id="3" name="Content Placeholder 2">
            <a:extLst>
              <a:ext uri="{FF2B5EF4-FFF2-40B4-BE49-F238E27FC236}">
                <a16:creationId xmlns:a16="http://schemas.microsoft.com/office/drawing/2014/main" id="{0536BD86-476C-47E0-9BC4-BC8F99BC409B}"/>
              </a:ext>
            </a:extLst>
          </p:cNvPr>
          <p:cNvSpPr>
            <a:spLocks noGrp="1"/>
          </p:cNvSpPr>
          <p:nvPr>
            <p:ph idx="1"/>
          </p:nvPr>
        </p:nvSpPr>
        <p:spPr>
          <a:xfrm>
            <a:off x="1098550" y="1699497"/>
            <a:ext cx="16084552" cy="7575132"/>
          </a:xfrm>
        </p:spPr>
        <p:txBody>
          <a:bodyPr>
            <a:noAutofit/>
          </a:bodyPr>
          <a:lstStyle/>
          <a:p>
            <a:pPr>
              <a:spcBef>
                <a:spcPts val="0"/>
              </a:spcBef>
            </a:pPr>
            <a:r>
              <a:rPr lang="en-US" sz="3200" b="1" dirty="0"/>
              <a:t>Beneficial machines: </a:t>
            </a:r>
            <a:r>
              <a:rPr lang="en-US" sz="3200" dirty="0"/>
              <a:t>machines whose actions help to achieve beneficial human objectives.</a:t>
            </a:r>
          </a:p>
          <a:p>
            <a:pPr>
              <a:spcBef>
                <a:spcPts val="0"/>
              </a:spcBef>
            </a:pPr>
            <a:r>
              <a:rPr lang="en-US" sz="3200" dirty="0"/>
              <a:t>Machines designed in this way will defer to humans: they will ask permission; they will act cautiously when guidance is unclear; and they will allow themselves to be switched off.</a:t>
            </a:r>
          </a:p>
          <a:p>
            <a:pPr marL="1155700" lvl="3" indent="0">
              <a:spcBef>
                <a:spcPts val="0"/>
              </a:spcBef>
              <a:buNone/>
            </a:pPr>
            <a:r>
              <a:rPr lang="en-US" sz="3200" dirty="0">
                <a:solidFill>
                  <a:schemeClr val="accent1"/>
                </a:solidFill>
              </a:rPr>
              <a:t>E.g. self-driving cars are notoriously bad at handling four-way stop signs when it’s not clear who has the right of way. By formulating this as an assistance game, however, the car may come up with a novel solution: </a:t>
            </a:r>
            <a:r>
              <a:rPr lang="en-US" sz="3200" b="1" dirty="0">
                <a:solidFill>
                  <a:schemeClr val="accent1"/>
                </a:solidFill>
              </a:rPr>
              <a:t>it actually backs up a little bit to signal or convey that it’s definitely not planning to go first</a:t>
            </a:r>
            <a:r>
              <a:rPr lang="en-US" sz="3200" dirty="0">
                <a:solidFill>
                  <a:schemeClr val="accent1"/>
                </a:solidFill>
              </a:rPr>
              <a:t>. The human understands this signal and goes ahead, confident that there will be no collision. This behavior is not what human experts thought to program into the self-driving vehicle, but represents a form of communication that the vehicle invented entirely by itself!</a:t>
            </a:r>
          </a:p>
          <a:p>
            <a:pPr>
              <a:spcBef>
                <a:spcPts val="0"/>
              </a:spcBef>
            </a:pPr>
            <a:r>
              <a:rPr lang="en-US" sz="3200" dirty="0"/>
              <a:t>The concept of beneficial machines is the core of a new approach to AI based on a collaborative relationship between humans and machines.</a:t>
            </a:r>
          </a:p>
        </p:txBody>
      </p:sp>
    </p:spTree>
    <p:custDataLst>
      <p:tags r:id="rId1"/>
    </p:custDataLst>
    <p:extLst>
      <p:ext uri="{BB962C8B-B14F-4D97-AF65-F5344CB8AC3E}">
        <p14:creationId xmlns:p14="http://schemas.microsoft.com/office/powerpoint/2010/main" val="169776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22BC-1355-4891-835A-D6C181571BC2}"/>
              </a:ext>
            </a:extLst>
          </p:cNvPr>
          <p:cNvSpPr>
            <a:spLocks noGrp="1"/>
          </p:cNvSpPr>
          <p:nvPr>
            <p:ph type="title"/>
          </p:nvPr>
        </p:nvSpPr>
        <p:spPr/>
        <p:txBody>
          <a:bodyPr/>
          <a:lstStyle/>
          <a:p>
            <a:r>
              <a:rPr lang="en-US" dirty="0"/>
              <a:t>Data, Privacy, Compliance and Strategy</a:t>
            </a:r>
          </a:p>
        </p:txBody>
      </p:sp>
      <p:sp>
        <p:nvSpPr>
          <p:cNvPr id="3" name="Content Placeholder 2">
            <a:extLst>
              <a:ext uri="{FF2B5EF4-FFF2-40B4-BE49-F238E27FC236}">
                <a16:creationId xmlns:a16="http://schemas.microsoft.com/office/drawing/2014/main" id="{DFBC7967-34C1-4403-B8C6-F199D1EB08EC}"/>
              </a:ext>
            </a:extLst>
          </p:cNvPr>
          <p:cNvSpPr>
            <a:spLocks noGrp="1"/>
          </p:cNvSpPr>
          <p:nvPr>
            <p:ph idx="1"/>
          </p:nvPr>
        </p:nvSpPr>
        <p:spPr/>
        <p:txBody>
          <a:bodyPr/>
          <a:lstStyle/>
          <a:p>
            <a:r>
              <a:rPr lang="en-US" dirty="0"/>
              <a:t>Data, Privacy, Compliance and Strategy</a:t>
            </a:r>
          </a:p>
        </p:txBody>
      </p:sp>
    </p:spTree>
    <p:custDataLst>
      <p:tags r:id="rId1"/>
    </p:custDataLst>
    <p:extLst>
      <p:ext uri="{BB962C8B-B14F-4D97-AF65-F5344CB8AC3E}">
        <p14:creationId xmlns:p14="http://schemas.microsoft.com/office/powerpoint/2010/main" val="2102994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9D49-841B-1D47-9422-5D02F900345C}"/>
              </a:ext>
            </a:extLst>
          </p:cNvPr>
          <p:cNvSpPr>
            <a:spLocks noGrp="1"/>
          </p:cNvSpPr>
          <p:nvPr>
            <p:ph type="title"/>
          </p:nvPr>
        </p:nvSpPr>
        <p:spPr>
          <a:xfrm>
            <a:off x="1098550" y="357307"/>
            <a:ext cx="16084552" cy="1551434"/>
          </a:xfrm>
        </p:spPr>
        <p:txBody>
          <a:bodyPr/>
          <a:lstStyle/>
          <a:p>
            <a:r>
              <a:rPr lang="en-US" sz="4800" b="1" dirty="0">
                <a:solidFill>
                  <a:srgbClr val="C00000"/>
                </a:solidFill>
              </a:rPr>
              <a:t>Managing Data Privacy &amp; Compliance</a:t>
            </a:r>
            <a:r>
              <a:rPr lang="en-US" sz="4800" dirty="0">
                <a:solidFill>
                  <a:srgbClr val="C00000"/>
                </a:solidFill>
              </a:rPr>
              <a:t>; </a:t>
            </a:r>
            <a:r>
              <a:rPr lang="en-US" sz="4800" b="1" dirty="0">
                <a:solidFill>
                  <a:srgbClr val="C00000"/>
                </a:solidFill>
              </a:rPr>
              <a:t>Improving Digital Channels in an AI World</a:t>
            </a:r>
          </a:p>
        </p:txBody>
      </p:sp>
      <p:sp>
        <p:nvSpPr>
          <p:cNvPr id="3" name="Content Placeholder 2">
            <a:extLst>
              <a:ext uri="{FF2B5EF4-FFF2-40B4-BE49-F238E27FC236}">
                <a16:creationId xmlns:a16="http://schemas.microsoft.com/office/drawing/2014/main" id="{A9470B63-609B-9C4A-A60B-D48104F0603F}"/>
              </a:ext>
            </a:extLst>
          </p:cNvPr>
          <p:cNvSpPr>
            <a:spLocks noGrp="1"/>
          </p:cNvSpPr>
          <p:nvPr>
            <p:ph idx="1"/>
          </p:nvPr>
        </p:nvSpPr>
        <p:spPr>
          <a:xfrm>
            <a:off x="1257299" y="1908741"/>
            <a:ext cx="15947336" cy="6990331"/>
          </a:xfrm>
        </p:spPr>
        <p:txBody>
          <a:bodyPr anchor="ctr">
            <a:noAutofit/>
          </a:bodyPr>
          <a:lstStyle/>
          <a:p>
            <a:pPr>
              <a:spcBef>
                <a:spcPts val="0"/>
              </a:spcBef>
            </a:pPr>
            <a:r>
              <a:rPr lang="en-US" sz="3200" b="1" dirty="0"/>
              <a:t>Step 1: Raise Awareness</a:t>
            </a:r>
          </a:p>
          <a:p>
            <a:pPr marL="1022350" lvl="2" indent="-457200">
              <a:spcBef>
                <a:spcPts val="0"/>
              </a:spcBef>
            </a:pPr>
            <a:r>
              <a:rPr lang="en-US" dirty="0"/>
              <a:t>Senior management should be aware about GDPR, EU’s AI Act, and State-specific AI regulations in US before they decide on a business model.</a:t>
            </a:r>
          </a:p>
          <a:p>
            <a:pPr marL="1022350" lvl="2" indent="-457200">
              <a:spcBef>
                <a:spcPts val="0"/>
              </a:spcBef>
            </a:pPr>
            <a:r>
              <a:rPr lang="en-US" dirty="0"/>
              <a:t>General awareness of the need for better personal data privacy practices for all. GDPR recommends tailored training events for personal data handlers.</a:t>
            </a:r>
          </a:p>
          <a:p>
            <a:pPr marL="1022350" lvl="2" indent="-457200">
              <a:spcBef>
                <a:spcPts val="0"/>
              </a:spcBef>
            </a:pPr>
            <a:r>
              <a:rPr lang="en-US" dirty="0"/>
              <a:t>Documentation and prioritization of risks are key.</a:t>
            </a:r>
          </a:p>
          <a:p>
            <a:pPr>
              <a:spcBef>
                <a:spcPts val="0"/>
              </a:spcBef>
            </a:pPr>
            <a:r>
              <a:rPr lang="en-US" sz="3200" b="1" dirty="0"/>
              <a:t>Step 2: Complete Data and Risk Audit</a:t>
            </a:r>
          </a:p>
          <a:p>
            <a:pPr marL="1022350" lvl="2" indent="-457200">
              <a:spcBef>
                <a:spcPts val="0"/>
              </a:spcBef>
            </a:pPr>
            <a:r>
              <a:rPr lang="en-US" dirty="0"/>
              <a:t>All personal data should be documented, including official data storage facilities.</a:t>
            </a:r>
          </a:p>
          <a:p>
            <a:pPr marL="1022350" lvl="2" indent="-457200">
              <a:spcBef>
                <a:spcPts val="0"/>
              </a:spcBef>
            </a:pPr>
            <a:r>
              <a:rPr lang="en-US" dirty="0"/>
              <a:t>Assess the compliance risks involved.</a:t>
            </a:r>
          </a:p>
          <a:p>
            <a:pPr marL="1022350" lvl="2" indent="-457200">
              <a:spcBef>
                <a:spcPts val="0"/>
              </a:spcBef>
            </a:pPr>
            <a:r>
              <a:rPr lang="en-US" dirty="0"/>
              <a:t>Record all permissions given to personal data and how they can be shared and used.</a:t>
            </a:r>
          </a:p>
          <a:p>
            <a:pPr>
              <a:spcBef>
                <a:spcPts val="0"/>
              </a:spcBef>
            </a:pPr>
            <a:r>
              <a:rPr lang="en-US" sz="3200" b="1" dirty="0"/>
              <a:t>Step 3: Privacy Policies</a:t>
            </a:r>
          </a:p>
          <a:p>
            <a:pPr marL="1022350" lvl="2" indent="-457200">
              <a:spcBef>
                <a:spcPts val="0"/>
              </a:spcBef>
            </a:pPr>
            <a:r>
              <a:rPr lang="en-US" dirty="0"/>
              <a:t>Businesses need to understand privacy notices, policies rights and processes.</a:t>
            </a:r>
          </a:p>
          <a:p>
            <a:pPr marL="1022350" lvl="2" indent="-457200">
              <a:spcBef>
                <a:spcPts val="0"/>
              </a:spcBef>
            </a:pPr>
            <a:r>
              <a:rPr lang="en-US" dirty="0"/>
              <a:t>All employees should be given training about the new rights and processes.</a:t>
            </a:r>
          </a:p>
        </p:txBody>
      </p:sp>
    </p:spTree>
    <p:custDataLst>
      <p:tags r:id="rId1"/>
    </p:custDataLst>
    <p:extLst>
      <p:ext uri="{BB962C8B-B14F-4D97-AF65-F5344CB8AC3E}">
        <p14:creationId xmlns:p14="http://schemas.microsoft.com/office/powerpoint/2010/main" val="4246982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90EF-E043-1B49-BE7B-F67F0312B94E}"/>
              </a:ext>
            </a:extLst>
          </p:cNvPr>
          <p:cNvSpPr>
            <a:spLocks noGrp="1"/>
          </p:cNvSpPr>
          <p:nvPr>
            <p:ph type="title"/>
          </p:nvPr>
        </p:nvSpPr>
        <p:spPr/>
        <p:txBody>
          <a:bodyPr/>
          <a:lstStyle/>
          <a:p>
            <a:r>
              <a:rPr lang="en-US" b="1" dirty="0">
                <a:solidFill>
                  <a:srgbClr val="C00000"/>
                </a:solidFill>
              </a:rPr>
              <a:t>Data Privacy and Compliance… Cont’d</a:t>
            </a:r>
          </a:p>
        </p:txBody>
      </p:sp>
      <p:sp>
        <p:nvSpPr>
          <p:cNvPr id="3" name="Content Placeholder 2">
            <a:extLst>
              <a:ext uri="{FF2B5EF4-FFF2-40B4-BE49-F238E27FC236}">
                <a16:creationId xmlns:a16="http://schemas.microsoft.com/office/drawing/2014/main" id="{C5914240-6DD3-584B-9EFD-D5E5BAA5C132}"/>
              </a:ext>
            </a:extLst>
          </p:cNvPr>
          <p:cNvSpPr>
            <a:spLocks noGrp="1"/>
          </p:cNvSpPr>
          <p:nvPr>
            <p:ph idx="1"/>
          </p:nvPr>
        </p:nvSpPr>
        <p:spPr>
          <a:xfrm>
            <a:off x="1409699" y="1680992"/>
            <a:ext cx="16692771" cy="6925016"/>
          </a:xfrm>
        </p:spPr>
        <p:txBody>
          <a:bodyPr anchor="ctr">
            <a:noAutofit/>
          </a:bodyPr>
          <a:lstStyle/>
          <a:p>
            <a:pPr marL="0" indent="0">
              <a:spcBef>
                <a:spcPts val="0"/>
              </a:spcBef>
            </a:pPr>
            <a:r>
              <a:rPr lang="en-US" sz="3200" b="1" dirty="0"/>
              <a:t>Step 4: Prepare Data Requests</a:t>
            </a:r>
          </a:p>
          <a:p>
            <a:pPr marL="565150" lvl="2" indent="0">
              <a:spcBef>
                <a:spcPts val="0"/>
              </a:spcBef>
            </a:pPr>
            <a:r>
              <a:rPr lang="en-US" dirty="0"/>
              <a:t>Most companies do not have the resources to respond to data requests and failure 	penalties are potentially high.</a:t>
            </a:r>
          </a:p>
          <a:p>
            <a:pPr marL="565150" lvl="2" indent="0">
              <a:spcBef>
                <a:spcPts val="0"/>
              </a:spcBef>
            </a:pPr>
            <a:r>
              <a:rPr lang="en-US" dirty="0"/>
              <a:t>Such requirements should be put in place to ensure compliance.</a:t>
            </a:r>
          </a:p>
          <a:p>
            <a:pPr marL="565150" lvl="2" indent="0">
              <a:spcBef>
                <a:spcPts val="0"/>
              </a:spcBef>
            </a:pPr>
            <a:r>
              <a:rPr lang="en-US" dirty="0"/>
              <a:t>Smaller companies are setting up manual processes until the size of demand is clear.</a:t>
            </a:r>
          </a:p>
          <a:p>
            <a:pPr marL="0" indent="0">
              <a:spcBef>
                <a:spcPts val="0"/>
              </a:spcBef>
            </a:pPr>
            <a:r>
              <a:rPr lang="en-US" sz="3200" b="1" dirty="0"/>
              <a:t>Step 5: Lawful Basis of Data</a:t>
            </a:r>
          </a:p>
          <a:p>
            <a:pPr marL="565150" lvl="2" indent="0">
              <a:spcBef>
                <a:spcPts val="0"/>
              </a:spcBef>
            </a:pPr>
            <a:r>
              <a:rPr lang="en-US" dirty="0"/>
              <a:t>Companies holding personal data should be clear on lawful basis and document them.</a:t>
            </a:r>
          </a:p>
          <a:p>
            <a:pPr marL="565150" lvl="2" indent="0">
              <a:spcBef>
                <a:spcPts val="0"/>
              </a:spcBef>
            </a:pPr>
            <a:r>
              <a:rPr lang="en-US" dirty="0"/>
              <a:t>Training required to avoid human error.</a:t>
            </a:r>
          </a:p>
          <a:p>
            <a:pPr marL="565150" lvl="2" indent="0">
              <a:spcBef>
                <a:spcPts val="0"/>
              </a:spcBef>
            </a:pPr>
            <a:r>
              <a:rPr lang="en-US" dirty="0"/>
              <a:t>Understand regulations to put necessary people or tools for compliance.</a:t>
            </a:r>
          </a:p>
          <a:p>
            <a:pPr marL="0" indent="0">
              <a:spcBef>
                <a:spcPts val="0"/>
              </a:spcBef>
            </a:pPr>
            <a:r>
              <a:rPr lang="en-US" sz="3200" b="1" dirty="0"/>
              <a:t>Step 6: Correct Consent and Legitimate Use</a:t>
            </a:r>
          </a:p>
          <a:p>
            <a:pPr marL="565150" lvl="2" indent="0">
              <a:spcBef>
                <a:spcPts val="0"/>
              </a:spcBef>
            </a:pPr>
            <a:r>
              <a:rPr lang="en-US" dirty="0"/>
              <a:t>Audit data according to GDPR’s regulations – consent and legitimate use.</a:t>
            </a:r>
          </a:p>
          <a:p>
            <a:pPr marL="565150" lvl="2" indent="0">
              <a:spcBef>
                <a:spcPts val="0"/>
              </a:spcBef>
            </a:pPr>
            <a:r>
              <a:rPr lang="en-US" dirty="0"/>
              <a:t>Data should be clean and maintained in a centralized database to use when needed.</a:t>
            </a:r>
          </a:p>
        </p:txBody>
      </p:sp>
    </p:spTree>
    <p:custDataLst>
      <p:tags r:id="rId1"/>
    </p:custDataLst>
    <p:extLst>
      <p:ext uri="{BB962C8B-B14F-4D97-AF65-F5344CB8AC3E}">
        <p14:creationId xmlns:p14="http://schemas.microsoft.com/office/powerpoint/2010/main" val="1794976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3740-C013-E447-8D01-04E9C522BD44}"/>
              </a:ext>
            </a:extLst>
          </p:cNvPr>
          <p:cNvSpPr>
            <a:spLocks noGrp="1"/>
          </p:cNvSpPr>
          <p:nvPr>
            <p:ph type="title"/>
          </p:nvPr>
        </p:nvSpPr>
        <p:spPr>
          <a:xfrm>
            <a:off x="1022350" y="555170"/>
            <a:ext cx="16084552" cy="1037885"/>
          </a:xfrm>
        </p:spPr>
        <p:txBody>
          <a:bodyPr/>
          <a:lstStyle/>
          <a:p>
            <a:r>
              <a:rPr lang="en-US" b="1" dirty="0">
                <a:solidFill>
                  <a:srgbClr val="C00000"/>
                </a:solidFill>
              </a:rPr>
              <a:t>Data Privacy and Compliance… Cont’d</a:t>
            </a:r>
            <a:endParaRPr lang="en-US" dirty="0">
              <a:solidFill>
                <a:srgbClr val="C00000"/>
              </a:solidFill>
            </a:endParaRPr>
          </a:p>
        </p:txBody>
      </p:sp>
      <p:sp>
        <p:nvSpPr>
          <p:cNvPr id="3" name="Content Placeholder 2">
            <a:extLst>
              <a:ext uri="{FF2B5EF4-FFF2-40B4-BE49-F238E27FC236}">
                <a16:creationId xmlns:a16="http://schemas.microsoft.com/office/drawing/2014/main" id="{51BD230F-680F-1A47-BEB3-C547659DEB3C}"/>
              </a:ext>
            </a:extLst>
          </p:cNvPr>
          <p:cNvSpPr>
            <a:spLocks noGrp="1"/>
          </p:cNvSpPr>
          <p:nvPr>
            <p:ph idx="1"/>
          </p:nvPr>
        </p:nvSpPr>
        <p:spPr>
          <a:xfrm>
            <a:off x="1261836" y="1730828"/>
            <a:ext cx="16084552" cy="6620048"/>
          </a:xfrm>
        </p:spPr>
        <p:txBody>
          <a:bodyPr anchor="ctr">
            <a:noAutofit/>
          </a:bodyPr>
          <a:lstStyle/>
          <a:p>
            <a:pPr marL="0" indent="0">
              <a:spcBef>
                <a:spcPts val="0"/>
              </a:spcBef>
            </a:pPr>
            <a:r>
              <a:rPr lang="en-US" sz="3200" b="1" dirty="0"/>
              <a:t>Step 7: Rules for Kids and Sensitive Data</a:t>
            </a:r>
          </a:p>
          <a:p>
            <a:pPr marL="565150" lvl="2" indent="0">
              <a:spcBef>
                <a:spcPts val="0"/>
              </a:spcBef>
            </a:pPr>
            <a:r>
              <a:rPr lang="en-US" dirty="0"/>
              <a:t>Consent of data from children by GDPR should be understood by a company.</a:t>
            </a:r>
          </a:p>
          <a:p>
            <a:pPr marL="565150" lvl="2" indent="0">
              <a:spcBef>
                <a:spcPts val="0"/>
              </a:spcBef>
            </a:pPr>
            <a:r>
              <a:rPr lang="en-US" dirty="0"/>
              <a:t>Add extra protection to children's data and other sensitive data.</a:t>
            </a:r>
          </a:p>
          <a:p>
            <a:pPr marL="565150" lvl="2" indent="0">
              <a:spcBef>
                <a:spcPts val="0"/>
              </a:spcBef>
            </a:pPr>
            <a:r>
              <a:rPr lang="en-US" dirty="0"/>
              <a:t>Specialist advice is recommended if this is a big part of the business model. </a:t>
            </a:r>
          </a:p>
          <a:p>
            <a:pPr marL="0" indent="0">
              <a:spcBef>
                <a:spcPts val="0"/>
              </a:spcBef>
            </a:pPr>
            <a:r>
              <a:rPr lang="en-US" sz="3200" b="1" dirty="0"/>
              <a:t>Step 8: Data Breach Response</a:t>
            </a:r>
          </a:p>
          <a:p>
            <a:pPr marL="565150" lvl="2" indent="0">
              <a:spcBef>
                <a:spcPts val="0"/>
              </a:spcBef>
            </a:pPr>
            <a:r>
              <a:rPr lang="en-US" dirty="0"/>
              <a:t>Swift report of personal data breaches before risking big fines.</a:t>
            </a:r>
          </a:p>
          <a:p>
            <a:pPr marL="565150" lvl="2" indent="0">
              <a:spcBef>
                <a:spcPts val="0"/>
              </a:spcBef>
            </a:pPr>
            <a:r>
              <a:rPr lang="en-US" dirty="0"/>
              <a:t>“High risk” captures risk to the rights of individuals – financial loss, confidentiality etc.</a:t>
            </a:r>
          </a:p>
          <a:p>
            <a:pPr marL="565150" lvl="2" indent="0">
              <a:spcBef>
                <a:spcPts val="0"/>
              </a:spcBef>
            </a:pPr>
            <a:r>
              <a:rPr lang="en-US" dirty="0"/>
              <a:t>Large companies use semi automated services for the best scalable solution.</a:t>
            </a:r>
          </a:p>
          <a:p>
            <a:pPr marL="0" indent="0">
              <a:spcBef>
                <a:spcPts val="0"/>
              </a:spcBef>
            </a:pPr>
            <a:r>
              <a:rPr lang="en-US" sz="3200" b="1" dirty="0"/>
              <a:t>Step 9: Protection by Design</a:t>
            </a:r>
          </a:p>
          <a:p>
            <a:pPr marL="565150" lvl="2" indent="0">
              <a:spcBef>
                <a:spcPts val="0"/>
              </a:spcBef>
            </a:pPr>
            <a:r>
              <a:rPr lang="en-US" dirty="0"/>
              <a:t>Rethinking personal data usage and ensuring it cannot leak by design.</a:t>
            </a:r>
          </a:p>
          <a:p>
            <a:pPr marL="565150" lvl="2" indent="0">
              <a:spcBef>
                <a:spcPts val="0"/>
              </a:spcBef>
            </a:pPr>
            <a:r>
              <a:rPr lang="en-US" dirty="0"/>
              <a:t>Protection - building privacy into every process and system from the ground up.</a:t>
            </a:r>
          </a:p>
          <a:p>
            <a:pPr marL="565150" lvl="2" indent="0">
              <a:spcBef>
                <a:spcPts val="0"/>
              </a:spcBef>
            </a:pPr>
            <a:r>
              <a:rPr lang="en-US" dirty="0"/>
              <a:t>Minimize, delete, protect, anonymize, encrypt and automate.</a:t>
            </a:r>
          </a:p>
        </p:txBody>
      </p:sp>
    </p:spTree>
    <p:custDataLst>
      <p:tags r:id="rId1"/>
    </p:custDataLst>
    <p:extLst>
      <p:ext uri="{BB962C8B-B14F-4D97-AF65-F5344CB8AC3E}">
        <p14:creationId xmlns:p14="http://schemas.microsoft.com/office/powerpoint/2010/main" val="869203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EBC11-6E52-E74F-BB7A-ED9B2223F451}"/>
              </a:ext>
            </a:extLst>
          </p:cNvPr>
          <p:cNvSpPr>
            <a:spLocks noGrp="1"/>
          </p:cNvSpPr>
          <p:nvPr>
            <p:ph type="title"/>
          </p:nvPr>
        </p:nvSpPr>
        <p:spPr>
          <a:xfrm>
            <a:off x="1098550" y="576943"/>
            <a:ext cx="16084552" cy="1135856"/>
          </a:xfrm>
        </p:spPr>
        <p:txBody>
          <a:bodyPr/>
          <a:lstStyle/>
          <a:p>
            <a:r>
              <a:rPr lang="en-US" b="1" dirty="0">
                <a:solidFill>
                  <a:srgbClr val="C00000"/>
                </a:solidFill>
              </a:rPr>
              <a:t>Data Privacy and Compliance… Cont’d</a:t>
            </a:r>
            <a:endParaRPr lang="en-US" dirty="0">
              <a:solidFill>
                <a:srgbClr val="C00000"/>
              </a:solidFill>
            </a:endParaRPr>
          </a:p>
        </p:txBody>
      </p:sp>
      <p:sp>
        <p:nvSpPr>
          <p:cNvPr id="3" name="Content Placeholder 2">
            <a:extLst>
              <a:ext uri="{FF2B5EF4-FFF2-40B4-BE49-F238E27FC236}">
                <a16:creationId xmlns:a16="http://schemas.microsoft.com/office/drawing/2014/main" id="{7B41F840-E347-B941-B77E-E6660195055A}"/>
              </a:ext>
            </a:extLst>
          </p:cNvPr>
          <p:cNvSpPr>
            <a:spLocks noGrp="1"/>
          </p:cNvSpPr>
          <p:nvPr>
            <p:ph idx="1"/>
          </p:nvPr>
        </p:nvSpPr>
        <p:spPr/>
        <p:txBody>
          <a:bodyPr anchor="ctr">
            <a:noAutofit/>
          </a:bodyPr>
          <a:lstStyle/>
          <a:p>
            <a:pPr marL="0" indent="0">
              <a:spcBef>
                <a:spcPts val="0"/>
              </a:spcBef>
            </a:pPr>
            <a:r>
              <a:rPr lang="en-US" sz="3200" b="1" dirty="0"/>
              <a:t>Step 10: Data Protection Officer</a:t>
            </a:r>
          </a:p>
          <a:p>
            <a:pPr marL="565150" lvl="2" indent="0">
              <a:spcBef>
                <a:spcPts val="0"/>
              </a:spcBef>
            </a:pPr>
            <a:r>
              <a:rPr lang="en-US" dirty="0"/>
              <a:t>Having a data protection officer (DPO) may avoid some of the risk from GDPR.</a:t>
            </a:r>
          </a:p>
          <a:p>
            <a:pPr marL="565150" lvl="2" indent="0">
              <a:spcBef>
                <a:spcPts val="0"/>
              </a:spcBef>
            </a:pPr>
            <a:r>
              <a:rPr lang="en-US" dirty="0"/>
              <a:t>A DPO is mandatory for public bodies that use a large volume of sensitive data.</a:t>
            </a:r>
          </a:p>
          <a:p>
            <a:pPr marL="565150" lvl="2" indent="0">
              <a:spcBef>
                <a:spcPts val="0"/>
              </a:spcBef>
            </a:pPr>
            <a:r>
              <a:rPr lang="en-US" dirty="0"/>
              <a:t>The officer should be a data privacy expert who can advise employees about regulations.</a:t>
            </a:r>
          </a:p>
          <a:p>
            <a:pPr marL="0" indent="0">
              <a:spcBef>
                <a:spcPts val="0"/>
              </a:spcBef>
            </a:pPr>
            <a:r>
              <a:rPr lang="en-US" sz="3200" b="1" dirty="0"/>
              <a:t>Step 11: International Preparation</a:t>
            </a:r>
          </a:p>
          <a:p>
            <a:pPr marL="565150" lvl="2" indent="0">
              <a:spcBef>
                <a:spcPts val="0"/>
              </a:spcBef>
            </a:pPr>
            <a:r>
              <a:rPr lang="en-US" dirty="0"/>
              <a:t>Personal data transfers between countries must be made under secure approved processes.</a:t>
            </a:r>
          </a:p>
          <a:p>
            <a:pPr marL="565150" lvl="2" indent="0">
              <a:spcBef>
                <a:spcPts val="0"/>
              </a:spcBef>
            </a:pPr>
            <a:r>
              <a:rPr lang="en-US" dirty="0"/>
              <a:t>Data transfer rules are still under debate in some areas.</a:t>
            </a:r>
          </a:p>
          <a:p>
            <a:pPr marL="0" indent="0">
              <a:spcBef>
                <a:spcPts val="0"/>
              </a:spcBef>
            </a:pPr>
            <a:r>
              <a:rPr lang="en-US" sz="3200" b="1" dirty="0"/>
              <a:t>Step 12: Plan of Attack</a:t>
            </a:r>
          </a:p>
          <a:p>
            <a:pPr marL="565150" lvl="2" indent="0">
              <a:spcBef>
                <a:spcPts val="0"/>
              </a:spcBef>
            </a:pPr>
            <a:r>
              <a:rPr lang="en-US" dirty="0"/>
              <a:t>Data Privacy Steering Committee with a board level sponsor and expert partners.</a:t>
            </a:r>
          </a:p>
          <a:p>
            <a:pPr marL="565150" lvl="2" indent="0">
              <a:spcBef>
                <a:spcPts val="0"/>
              </a:spcBef>
            </a:pPr>
            <a:r>
              <a:rPr lang="en-US" dirty="0"/>
              <a:t>Data audits, risk and gaps must be handled.</a:t>
            </a:r>
          </a:p>
          <a:p>
            <a:pPr marL="565150" lvl="2" indent="0">
              <a:spcBef>
                <a:spcPts val="0"/>
              </a:spcBef>
            </a:pPr>
            <a:r>
              <a:rPr lang="en-US" dirty="0"/>
              <a:t>Data protection and privacy policies need to be instilled.</a:t>
            </a:r>
          </a:p>
        </p:txBody>
      </p:sp>
    </p:spTree>
    <p:custDataLst>
      <p:tags r:id="rId1"/>
    </p:custDataLst>
    <p:extLst>
      <p:ext uri="{BB962C8B-B14F-4D97-AF65-F5344CB8AC3E}">
        <p14:creationId xmlns:p14="http://schemas.microsoft.com/office/powerpoint/2010/main" val="1392421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745C-F009-2D4C-BF8D-06DF92E8422F}"/>
              </a:ext>
            </a:extLst>
          </p:cNvPr>
          <p:cNvSpPr>
            <a:spLocks noGrp="1"/>
          </p:cNvSpPr>
          <p:nvPr>
            <p:ph type="title"/>
          </p:nvPr>
        </p:nvSpPr>
        <p:spPr>
          <a:xfrm>
            <a:off x="1101724" y="344601"/>
            <a:ext cx="16084552" cy="852828"/>
          </a:xfrm>
        </p:spPr>
        <p:txBody>
          <a:bodyPr/>
          <a:lstStyle/>
          <a:p>
            <a:r>
              <a:rPr lang="en-US" dirty="0">
                <a:solidFill>
                  <a:srgbClr val="C00000"/>
                </a:solidFill>
              </a:rPr>
              <a:t>AI Strategy</a:t>
            </a:r>
          </a:p>
        </p:txBody>
      </p:sp>
      <p:sp>
        <p:nvSpPr>
          <p:cNvPr id="3" name="Content Placeholder 2">
            <a:extLst>
              <a:ext uri="{FF2B5EF4-FFF2-40B4-BE49-F238E27FC236}">
                <a16:creationId xmlns:a16="http://schemas.microsoft.com/office/drawing/2014/main" id="{639D4210-9FDE-4248-A767-0757A9978614}"/>
              </a:ext>
            </a:extLst>
          </p:cNvPr>
          <p:cNvSpPr>
            <a:spLocks noGrp="1"/>
          </p:cNvSpPr>
          <p:nvPr>
            <p:ph idx="1"/>
          </p:nvPr>
        </p:nvSpPr>
        <p:spPr>
          <a:xfrm>
            <a:off x="1316265" y="1299143"/>
            <a:ext cx="16084552" cy="8632371"/>
          </a:xfrm>
        </p:spPr>
        <p:txBody>
          <a:bodyPr anchor="ctr">
            <a:normAutofit/>
          </a:bodyPr>
          <a:lstStyle/>
          <a:p>
            <a:pPr>
              <a:spcBef>
                <a:spcPts val="0"/>
              </a:spcBef>
            </a:pPr>
            <a:r>
              <a:rPr lang="en-US" sz="3600" dirty="0"/>
              <a:t>Many business think that the first step toward AI is digitization of all records and processes, and AI strategy follows thereafter.</a:t>
            </a:r>
          </a:p>
          <a:p>
            <a:pPr>
              <a:spcBef>
                <a:spcPts val="0"/>
              </a:spcBef>
            </a:pPr>
            <a:r>
              <a:rPr lang="en-US" sz="3600" dirty="0"/>
              <a:t>While that generally is a correct sequence, AI strategy needs to thought through very carefully with organization priorities in mind.</a:t>
            </a:r>
          </a:p>
          <a:p>
            <a:pPr>
              <a:spcBef>
                <a:spcPts val="0"/>
              </a:spcBef>
            </a:pPr>
            <a:r>
              <a:rPr lang="en-US" sz="3600" dirty="0"/>
              <a:t>AI can lead to a strategic change if three factors are present: (a) there is a core trade-off in the business model, (b) the trade-off is influenced by uncertainty, and (c) an AI tool that reduces uncertainty tips the scales of the trade-off such that the optimal strategy changes from the less beneficial side of the trade-off to the other.</a:t>
            </a:r>
          </a:p>
          <a:p>
            <a:pPr>
              <a:spcBef>
                <a:spcPts val="0"/>
              </a:spcBef>
            </a:pPr>
            <a:r>
              <a:rPr lang="en-US" sz="3600" dirty="0"/>
              <a:t>A key strategic choice is determining where one business ends and another business starts - deciding on the boundaries of the firm. Because prediction machines reduce uncertainty, they can influence the boundary between organizations.</a:t>
            </a:r>
          </a:p>
        </p:txBody>
      </p:sp>
    </p:spTree>
    <p:custDataLst>
      <p:tags r:id="rId1"/>
    </p:custDataLst>
    <p:extLst>
      <p:ext uri="{BB962C8B-B14F-4D97-AF65-F5344CB8AC3E}">
        <p14:creationId xmlns:p14="http://schemas.microsoft.com/office/powerpoint/2010/main" val="597307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A9684-49EF-5641-BEE6-0328106B8116}"/>
              </a:ext>
            </a:extLst>
          </p:cNvPr>
          <p:cNvSpPr>
            <a:spLocks noGrp="1"/>
          </p:cNvSpPr>
          <p:nvPr>
            <p:ph type="title"/>
          </p:nvPr>
        </p:nvSpPr>
        <p:spPr/>
        <p:txBody>
          <a:bodyPr/>
          <a:lstStyle/>
          <a:p>
            <a:r>
              <a:rPr lang="en-US" sz="4800" b="1" dirty="0">
                <a:solidFill>
                  <a:srgbClr val="C00000"/>
                </a:solidFill>
              </a:rPr>
              <a:t>How AI – first strategy differs from general purpose AI strategy</a:t>
            </a:r>
          </a:p>
        </p:txBody>
      </p:sp>
      <p:sp>
        <p:nvSpPr>
          <p:cNvPr id="3" name="Content Placeholder 2">
            <a:extLst>
              <a:ext uri="{FF2B5EF4-FFF2-40B4-BE49-F238E27FC236}">
                <a16:creationId xmlns:a16="http://schemas.microsoft.com/office/drawing/2014/main" id="{52959A88-48D1-7F43-94C0-24D67EE98782}"/>
              </a:ext>
            </a:extLst>
          </p:cNvPr>
          <p:cNvSpPr>
            <a:spLocks noGrp="1"/>
          </p:cNvSpPr>
          <p:nvPr>
            <p:ph idx="1"/>
          </p:nvPr>
        </p:nvSpPr>
        <p:spPr/>
        <p:txBody>
          <a:bodyPr anchor="ctr">
            <a:normAutofit fontScale="92500" lnSpcReduction="10000"/>
          </a:bodyPr>
          <a:lstStyle/>
          <a:p>
            <a:r>
              <a:rPr lang="en-US" sz="3600" dirty="0"/>
              <a:t>This involves a shift in thinking. Shifting to an </a:t>
            </a:r>
            <a:r>
              <a:rPr lang="en-US" sz="3600" b="1" dirty="0"/>
              <a:t>AI-first</a:t>
            </a:r>
            <a:r>
              <a:rPr lang="en-US" sz="3600" dirty="0"/>
              <a:t> strategy means downgrading a previous top priority. </a:t>
            </a:r>
          </a:p>
          <a:p>
            <a:r>
              <a:rPr lang="en-US" sz="3600" b="1" dirty="0"/>
              <a:t>AI-first</a:t>
            </a:r>
            <a:r>
              <a:rPr lang="en-US" sz="3600" dirty="0"/>
              <a:t> represents a real tradeoff. An </a:t>
            </a:r>
            <a:r>
              <a:rPr lang="en-US" sz="3600" b="1" dirty="0"/>
              <a:t>AI-first</a:t>
            </a:r>
            <a:r>
              <a:rPr lang="en-US" sz="3600" dirty="0"/>
              <a:t> strategy places maximizing reliance on AI as the central goal of the organization, even if that means compromising other goals such as maximizing revenue, user numbers or user experiences. </a:t>
            </a:r>
            <a:endParaRPr lang="en-US" sz="3600" b="1" i="1" dirty="0"/>
          </a:p>
          <a:p>
            <a:r>
              <a:rPr lang="en-US" sz="3600" dirty="0"/>
              <a:t>AI can disrupt because incumbent firms often have weaker economic incentives than startups to adopt AI technology. AI-enabled products are often inferior at first because it takes time to train a prediction model to perform well.</a:t>
            </a:r>
          </a:p>
          <a:p>
            <a:r>
              <a:rPr lang="en-US" sz="3600" dirty="0"/>
              <a:t>Once deployed, an AI system continues to learn and improve, leaving other products behind. Companies will find it difficult to catch up once their competitors get ahead in this phase. </a:t>
            </a:r>
            <a:r>
              <a:rPr lang="en-US" sz="3600" b="1" i="1" dirty="0"/>
              <a:t>(see McKinsey study cited on next slide).</a:t>
            </a:r>
          </a:p>
        </p:txBody>
      </p:sp>
    </p:spTree>
    <p:custDataLst>
      <p:tags r:id="rId1"/>
    </p:custDataLst>
    <p:extLst>
      <p:ext uri="{BB962C8B-B14F-4D97-AF65-F5344CB8AC3E}">
        <p14:creationId xmlns:p14="http://schemas.microsoft.com/office/powerpoint/2010/main" val="3303208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781309" y="1976804"/>
            <a:ext cx="5486402" cy="7319597"/>
          </a:xfrm>
        </p:spPr>
        <p:txBody>
          <a:bodyPr>
            <a:noAutofit/>
          </a:bodyPr>
          <a:lstStyle/>
          <a:p>
            <a:pPr lvl="1"/>
            <a:r>
              <a:rPr lang="en-US" sz="3200" dirty="0"/>
              <a:t>Firms were divided into five groups as shown depending on their receptivity to AI solutions</a:t>
            </a:r>
          </a:p>
          <a:p>
            <a:pPr lvl="1"/>
            <a:r>
              <a:rPr lang="en-US" sz="3200" dirty="0"/>
              <a:t>On a range of four color coded KPI metrics, the first group (Enthusiastic Innovators on AI) outperformed all other groups. So the early adopters benefit more from AI.</a:t>
            </a:r>
          </a:p>
          <a:p>
            <a:pPr lvl="1"/>
            <a:endParaRPr lang="en-US" sz="3000" dirty="0">
              <a:solidFill>
                <a:schemeClr val="bg2"/>
              </a:solidFill>
              <a:latin typeface="Sitka Text" panose="02000505000000020004" pitchFamily="2" charset="0"/>
            </a:endParaRPr>
          </a:p>
        </p:txBody>
      </p:sp>
      <p:sp>
        <p:nvSpPr>
          <p:cNvPr id="3" name="Title 2"/>
          <p:cNvSpPr>
            <a:spLocks noGrp="1"/>
          </p:cNvSpPr>
          <p:nvPr>
            <p:ph type="title"/>
          </p:nvPr>
        </p:nvSpPr>
        <p:spPr>
          <a:xfrm>
            <a:off x="1828800" y="495821"/>
            <a:ext cx="12667890" cy="1153737"/>
          </a:xfrm>
        </p:spPr>
        <p:txBody>
          <a:bodyPr>
            <a:noAutofit/>
          </a:bodyPr>
          <a:lstStyle/>
          <a:p>
            <a:r>
              <a:rPr lang="en-US" sz="4800" dirty="0">
                <a:solidFill>
                  <a:srgbClr val="C00000"/>
                </a:solidFill>
                <a:latin typeface="Sitka Heading" panose="02000505000000020004" pitchFamily="2" charset="0"/>
              </a:rPr>
              <a:t>Early bird finds the worm faster in AI ….</a:t>
            </a:r>
            <a:endParaRPr lang="en-US" sz="3000" i="1" dirty="0">
              <a:solidFill>
                <a:srgbClr val="C00000"/>
              </a:solidFill>
              <a:latin typeface="Sitka Heading" panose="02000505000000020004" pitchFamily="2" charset="0"/>
            </a:endParaRPr>
          </a:p>
        </p:txBody>
      </p:sp>
      <p:pic>
        <p:nvPicPr>
          <p:cNvPr id="7" name="Picture 6"/>
          <p:cNvPicPr/>
          <p:nvPr/>
        </p:nvPicPr>
        <p:blipFill>
          <a:blip r:embed="rId3"/>
          <a:stretch>
            <a:fillRect/>
          </a:stretch>
        </p:blipFill>
        <p:spPr>
          <a:xfrm>
            <a:off x="775855" y="2601687"/>
            <a:ext cx="9005453" cy="6694714"/>
          </a:xfrm>
          <a:prstGeom prst="rect">
            <a:avLst/>
          </a:prstGeom>
        </p:spPr>
      </p:pic>
    </p:spTree>
    <p:custDataLst>
      <p:tags r:id="rId1"/>
    </p:custDataLst>
    <p:extLst>
      <p:ext uri="{BB962C8B-B14F-4D97-AF65-F5344CB8AC3E}">
        <p14:creationId xmlns:p14="http://schemas.microsoft.com/office/powerpoint/2010/main" val="539452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79730-E346-479E-8479-CDD2CAC08792}"/>
              </a:ext>
            </a:extLst>
          </p:cNvPr>
          <p:cNvSpPr>
            <a:spLocks noGrp="1"/>
          </p:cNvSpPr>
          <p:nvPr>
            <p:ph type="title"/>
          </p:nvPr>
        </p:nvSpPr>
        <p:spPr/>
        <p:txBody>
          <a:bodyPr/>
          <a:lstStyle/>
          <a:p>
            <a:r>
              <a:rPr lang="en-US" dirty="0"/>
              <a:t>Module 8 Summary</a:t>
            </a:r>
          </a:p>
        </p:txBody>
      </p:sp>
      <p:sp>
        <p:nvSpPr>
          <p:cNvPr id="3" name="Content Placeholder 2">
            <a:extLst>
              <a:ext uri="{FF2B5EF4-FFF2-40B4-BE49-F238E27FC236}">
                <a16:creationId xmlns:a16="http://schemas.microsoft.com/office/drawing/2014/main" id="{F3737A99-937A-4926-BB7E-EF36154304E3}"/>
              </a:ext>
            </a:extLst>
          </p:cNvPr>
          <p:cNvSpPr>
            <a:spLocks noGrp="1"/>
          </p:cNvSpPr>
          <p:nvPr>
            <p:ph idx="1"/>
          </p:nvPr>
        </p:nvSpPr>
        <p:spPr>
          <a:xfrm>
            <a:off x="1098550" y="2050699"/>
            <a:ext cx="16084552" cy="7354558"/>
          </a:xfrm>
        </p:spPr>
        <p:txBody>
          <a:bodyPr/>
          <a:lstStyle/>
          <a:p>
            <a:pPr>
              <a:spcBef>
                <a:spcPts val="0"/>
              </a:spcBef>
            </a:pPr>
            <a:r>
              <a:rPr lang="en-US" sz="3600" dirty="0"/>
              <a:t>Attention to broad principles/guidelines of AI Ethics are critical for a business that uses AI. From a privacy perspective, this requires sensitivity to what AI systems track, anthropomorphism, biases, and building accountability, responsibility, and transparency in AI.</a:t>
            </a:r>
          </a:p>
          <a:p>
            <a:pPr>
              <a:spcBef>
                <a:spcPts val="0"/>
              </a:spcBef>
            </a:pPr>
            <a:r>
              <a:rPr lang="en-US" sz="3600" dirty="0"/>
              <a:t>AI Regulations are incipient or evolving as AI technologies advance. Fairness, Privacy, and removing/avoiding biases in AI applications are most important. </a:t>
            </a:r>
          </a:p>
          <a:p>
            <a:pPr>
              <a:spcBef>
                <a:spcPts val="0"/>
              </a:spcBef>
            </a:pPr>
            <a:r>
              <a:rPr lang="en-US" sz="3600" dirty="0"/>
              <a:t>Focus significant and detailed attention on compliance with current regulations (GDPR, EU’s AI Act, US state-specific regulations on AI, and Congressional deliberations on a future federal-level US regulation for AI) are important.</a:t>
            </a:r>
          </a:p>
          <a:p>
            <a:pPr>
              <a:spcBef>
                <a:spcPts val="0"/>
              </a:spcBef>
            </a:pPr>
            <a:r>
              <a:rPr lang="en-US" sz="3600" dirty="0"/>
              <a:t>Formulate and implement a cogent AI strategy that is appropriate for the business. </a:t>
            </a:r>
          </a:p>
          <a:p>
            <a:endParaRPr lang="en-US" dirty="0"/>
          </a:p>
        </p:txBody>
      </p:sp>
    </p:spTree>
    <p:custDataLst>
      <p:tags r:id="rId1"/>
    </p:custDataLst>
    <p:extLst>
      <p:ext uri="{BB962C8B-B14F-4D97-AF65-F5344CB8AC3E}">
        <p14:creationId xmlns:p14="http://schemas.microsoft.com/office/powerpoint/2010/main" val="2912334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A403-F645-4462-84E5-65E81ECBD2FF}"/>
              </a:ext>
            </a:extLst>
          </p:cNvPr>
          <p:cNvSpPr>
            <a:spLocks noGrp="1"/>
          </p:cNvSpPr>
          <p:nvPr>
            <p:ph type="title"/>
          </p:nvPr>
        </p:nvSpPr>
        <p:spPr/>
        <p:txBody>
          <a:bodyPr/>
          <a:lstStyle/>
          <a:p>
            <a:r>
              <a:rPr lang="en-US" dirty="0"/>
              <a:t>Course Summary</a:t>
            </a:r>
          </a:p>
        </p:txBody>
      </p:sp>
      <p:sp>
        <p:nvSpPr>
          <p:cNvPr id="3" name="Content Placeholder 2">
            <a:extLst>
              <a:ext uri="{FF2B5EF4-FFF2-40B4-BE49-F238E27FC236}">
                <a16:creationId xmlns:a16="http://schemas.microsoft.com/office/drawing/2014/main" id="{BD11D25E-EBC1-4C8F-9638-04BB122AD543}"/>
              </a:ext>
            </a:extLst>
          </p:cNvPr>
          <p:cNvSpPr>
            <a:spLocks noGrp="1"/>
          </p:cNvSpPr>
          <p:nvPr>
            <p:ph idx="1"/>
          </p:nvPr>
        </p:nvSpPr>
        <p:spPr>
          <a:xfrm>
            <a:off x="1272722" y="2030461"/>
            <a:ext cx="16084552" cy="6888006"/>
          </a:xfrm>
        </p:spPr>
        <p:txBody>
          <a:bodyPr/>
          <a:lstStyle/>
          <a:p>
            <a:r>
              <a:rPr lang="en-US" sz="3600" dirty="0"/>
              <a:t>We followed the course objectives and content for each module:</a:t>
            </a:r>
          </a:p>
          <a:p>
            <a:r>
              <a:rPr lang="en-US" sz="3600" dirty="0"/>
              <a:t>At this point, and after further reviewing course content (as needed) for learning reinforcement, students should be familiar with the AI environment and landscape. We relied on many contemporary examples from the AI/Business fields to showcase concepts and improve student learning.</a:t>
            </a:r>
          </a:p>
          <a:p>
            <a:r>
              <a:rPr lang="en-US" sz="3600" dirty="0"/>
              <a:t>It is great idea to follow developments in the media and other sources about AI-related developments, and stay turned with my LinkedIn network for developments that may alert you to new trends that emerge.</a:t>
            </a:r>
          </a:p>
          <a:p>
            <a:r>
              <a:rPr lang="en-US" sz="3600" dirty="0"/>
              <a:t>Wish you all happy adventures with AI and much success in your careers!</a:t>
            </a:r>
          </a:p>
        </p:txBody>
      </p:sp>
    </p:spTree>
    <p:custDataLst>
      <p:tags r:id="rId1"/>
    </p:custDataLst>
    <p:extLst>
      <p:ext uri="{BB962C8B-B14F-4D97-AF65-F5344CB8AC3E}">
        <p14:creationId xmlns:p14="http://schemas.microsoft.com/office/powerpoint/2010/main" val="11530642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10901</TotalTime>
  <Words>2130</Words>
  <Application>Microsoft Office PowerPoint</Application>
  <PresentationFormat>Custom</PresentationFormat>
  <Paragraphs>119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Sitka Heading</vt:lpstr>
      <vt:lpstr>Sitka Text</vt:lpstr>
      <vt:lpstr>Wingdings 2</vt:lpstr>
      <vt:lpstr>Breeze</vt:lpstr>
      <vt:lpstr>MBA532 – AI in Business </vt:lpstr>
      <vt:lpstr>Responsible AI</vt:lpstr>
      <vt:lpstr>What is Responsible AI?</vt:lpstr>
      <vt:lpstr>Responsible Research and Innovation Process (RRI)</vt:lpstr>
      <vt:lpstr>Responsible AI Design</vt:lpstr>
      <vt:lpstr>Responsible Development Life Cycle for AI</vt:lpstr>
      <vt:lpstr>How to judge an ethical action by an AI system?</vt:lpstr>
      <vt:lpstr>Considerations Before Design of Decision-Making Mechanisms for Moral AI Systems</vt:lpstr>
      <vt:lpstr>Absence or weak Regulation should not matter</vt:lpstr>
      <vt:lpstr>The King Midas Problem</vt:lpstr>
      <vt:lpstr>Focus on Principles for Beneficial Machines</vt:lpstr>
      <vt:lpstr>Assistance Games</vt:lpstr>
      <vt:lpstr>What Are Beneficial Machines</vt:lpstr>
      <vt:lpstr>Data, Privacy, Compliance and Strategy</vt:lpstr>
      <vt:lpstr>Managing Data Privacy &amp; Compliance; Improving Digital Channels in an AI World</vt:lpstr>
      <vt:lpstr>Data Privacy and Compliance… Cont’d</vt:lpstr>
      <vt:lpstr>Data Privacy and Compliance… Cont’d</vt:lpstr>
      <vt:lpstr>Data Privacy and Compliance… Cont’d</vt:lpstr>
      <vt:lpstr>AI Strategy</vt:lpstr>
      <vt:lpstr>How AI – first strategy differs from general purpose AI strategy</vt:lpstr>
      <vt:lpstr>Early bird finds the worm faster in AI ….</vt:lpstr>
      <vt:lpstr>Module 8 Summary</vt:lpstr>
      <vt:lpstr>Course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233</cp:revision>
  <dcterms:created xsi:type="dcterms:W3CDTF">2024-03-17T05:07:31Z</dcterms:created>
  <dcterms:modified xsi:type="dcterms:W3CDTF">2024-05-24T15:53:41Z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EA7CE7AA-1630-44B3-A3FB-052E2D02D1DA</vt:lpwstr>
  </property>
  <property fmtid="{D5CDD505-2E9C-101B-9397-08002B2CF9AE}" pid="5" name="ArticulatePath">
    <vt:lpwstr>MBA532 – AI in Business - Module 8 - April 2</vt:lpwstr>
  </property>
</Properties>
</file>