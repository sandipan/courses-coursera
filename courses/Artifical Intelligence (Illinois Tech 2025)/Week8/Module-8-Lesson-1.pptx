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7" r:id="rId4"/>
  </p:sldMasterIdLst>
  <p:notesMasterIdLst>
    <p:notesMasterId r:id="rId13"/>
  </p:notesMasterIdLst>
  <p:sldIdLst>
    <p:sldId id="311" r:id="rId5"/>
    <p:sldId id="411" r:id="rId6"/>
    <p:sldId id="410" r:id="rId7"/>
    <p:sldId id="401" r:id="rId8"/>
    <p:sldId id="402" r:id="rId9"/>
    <p:sldId id="404" r:id="rId10"/>
    <p:sldId id="301" r:id="rId11"/>
    <p:sldId id="302" r:id="rId12"/>
  </p:sldIdLst>
  <p:sldSz cx="18288000" cy="10287000"/>
  <p:notesSz cx="6858000" cy="9144000"/>
  <p:custDataLst>
    <p:tags r:id="rId14"/>
  </p:custDataLst>
  <p:defaultTextStyle>
    <a:defPPr>
      <a:defRPr lang="en-US"/>
    </a:defPPr>
    <a:lvl1pPr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9144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18288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27432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36576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45720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54864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64008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73152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3240" userDrawn="1">
          <p15:clr>
            <a:srgbClr val="A4A3A4"/>
          </p15:clr>
        </p15:guide>
        <p15:guide id="2" pos="57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7" autoAdjust="0"/>
    <p:restoredTop sz="96327"/>
  </p:normalViewPr>
  <p:slideViewPr>
    <p:cSldViewPr snapToGrid="0" snapToObjects="1">
      <p:cViewPr varScale="1">
        <p:scale>
          <a:sx n="72" d="100"/>
          <a:sy n="72" d="100"/>
        </p:scale>
        <p:origin x="612" y="72"/>
      </p:cViewPr>
      <p:guideLst>
        <p:guide orient="horz" pos="3240"/>
        <p:guide pos="576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FE003E7-8F9F-4D5E-92EA-A0649DA6C082}" type="datetimeFigureOut">
              <a:rPr lang="en-US" smtClean="0"/>
              <a:t>5/24/2024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4B4D9E7-08EA-4B3D-BC2D-203B18CB11E8}" type="slidenum">
              <a:rPr lang="en-US" smtClean="0"/>
              <a:t>‹#›</a:t>
            </a:fld>
            <a:endParaRPr lang="en-US"/>
          </a:p>
        </p:txBody>
      </p:sp>
    </p:spTree>
    <p:extLst>
      <p:ext uri="{BB962C8B-B14F-4D97-AF65-F5344CB8AC3E}">
        <p14:creationId xmlns:p14="http://schemas.microsoft.com/office/powerpoint/2010/main" val="11237830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2A486D6-E442-077A-EEB3-88D208F2FC4C}"/>
              </a:ext>
            </a:extLst>
          </p:cNvPr>
          <p:cNvSpPr/>
          <p:nvPr/>
        </p:nvSpPr>
        <p:spPr>
          <a:xfrm>
            <a:off x="2657477" y="1943101"/>
            <a:ext cx="12973050" cy="4730750"/>
          </a:xfrm>
          <a:prstGeom prst="rect">
            <a:avLst/>
          </a:prstGeom>
          <a:noFill/>
          <a:ln w="12700" cap="flat" cmpd="sng">
            <a:solidFill>
              <a:schemeClr val="bg1"/>
            </a:solidFill>
            <a:prstDash val="solid"/>
          </a:ln>
          <a:effectLst>
            <a:outerShdw blurRad="63500" sx="100500" sy="100500" algn="ctr" rotWithShape="0">
              <a:prstClr val="black">
                <a:alpha val="50000"/>
              </a:prstClr>
            </a:outerShdw>
          </a:effectLst>
        </p:spPr>
        <p:txBody>
          <a:bodyPr>
            <a:normAutofit/>
          </a:bodyPr>
          <a:lstStyle/>
          <a:p>
            <a:pPr defTabSz="1828800" fontAlgn="auto">
              <a:spcBef>
                <a:spcPts val="4000"/>
              </a:spcBef>
              <a:spcAft>
                <a:spcPts val="0"/>
              </a:spcAft>
              <a:buClr>
                <a:schemeClr val="accent1">
                  <a:lumMod val="60000"/>
                  <a:lumOff val="40000"/>
                </a:schemeClr>
              </a:buClr>
              <a:buSzPct val="110000"/>
              <a:buFont typeface="Wingdings 2" pitchFamily="18" charset="2"/>
              <a:buNone/>
              <a:defRPr/>
            </a:pPr>
            <a:endParaRPr sz="6400">
              <a:solidFill>
                <a:schemeClr val="tx1">
                  <a:lumMod val="65000"/>
                  <a:lumOff val="35000"/>
                </a:schemeClr>
              </a:solidFill>
              <a:latin typeface="+mn-lt"/>
              <a:ea typeface="+mn-ea"/>
            </a:endParaRPr>
          </a:p>
        </p:txBody>
      </p:sp>
      <p:sp>
        <p:nvSpPr>
          <p:cNvPr id="2" name="Title 1"/>
          <p:cNvSpPr>
            <a:spLocks noGrp="1"/>
          </p:cNvSpPr>
          <p:nvPr>
            <p:ph type="ctrTitle"/>
          </p:nvPr>
        </p:nvSpPr>
        <p:spPr>
          <a:xfrm>
            <a:off x="2645842" y="2286000"/>
            <a:ext cx="12996316" cy="2587300"/>
          </a:xfrm>
        </p:spPr>
        <p:txBody>
          <a:bodyPr lIns="182880" rIns="182880" rtlCol="0">
            <a:noAutofit/>
          </a:bodyPr>
          <a:lstStyle>
            <a:lvl1pPr marL="0" indent="0" algn="ctr" defTabSz="1828800" rtl="0" eaLnBrk="1" latinLnBrk="0" hangingPunct="1">
              <a:spcBef>
                <a:spcPct val="0"/>
              </a:spcBef>
              <a:buClr>
                <a:schemeClr val="accent1">
                  <a:lumMod val="60000"/>
                  <a:lumOff val="40000"/>
                </a:schemeClr>
              </a:buClr>
              <a:buSzPct val="110000"/>
              <a:buFont typeface="Wingdings 2" pitchFamily="18" charset="2"/>
              <a:buNone/>
              <a:defRPr sz="7200" b="1" kern="1200">
                <a:solidFill>
                  <a:schemeClr val="accent1"/>
                </a:solidFill>
                <a:latin typeface="+mj-lt"/>
                <a:ea typeface="+mj-ea"/>
                <a:cs typeface="+mj-cs"/>
              </a:defRPr>
            </a:lvl1pPr>
          </a:lstStyle>
          <a:p>
            <a:r>
              <a:rPr lang="en-US"/>
              <a:t>Click to edit Master title style</a:t>
            </a:r>
            <a:endParaRPr/>
          </a:p>
        </p:txBody>
      </p:sp>
      <p:sp>
        <p:nvSpPr>
          <p:cNvPr id="3" name="Subtitle 2"/>
          <p:cNvSpPr>
            <a:spLocks noGrp="1"/>
          </p:cNvSpPr>
          <p:nvPr>
            <p:ph type="subTitle" idx="1"/>
          </p:nvPr>
        </p:nvSpPr>
        <p:spPr>
          <a:xfrm>
            <a:off x="2645845" y="4948519"/>
            <a:ext cx="12996318" cy="1374962"/>
          </a:xfrm>
        </p:spPr>
        <p:txBody>
          <a:bodyPr rtlCol="0">
            <a:normAutofit/>
          </a:bodyPr>
          <a:lstStyle>
            <a:lvl1pPr marL="0" indent="0" algn="ctr" defTabSz="1828800" rtl="0" eaLnBrk="1" latinLnBrk="0" hangingPunct="1">
              <a:spcBef>
                <a:spcPts val="600"/>
              </a:spcBef>
              <a:buClr>
                <a:schemeClr val="accent1">
                  <a:lumMod val="60000"/>
                  <a:lumOff val="40000"/>
                </a:schemeClr>
              </a:buClr>
              <a:buSzPct val="110000"/>
              <a:buFont typeface="Wingdings 2" pitchFamily="18" charset="2"/>
              <a:buNone/>
              <a:defRPr sz="3600" kern="1200">
                <a:solidFill>
                  <a:schemeClr val="tx1"/>
                </a:solidFill>
                <a:latin typeface="+mn-lt"/>
                <a:ea typeface="+mn-ea"/>
                <a:cs typeface="+mn-cs"/>
              </a:defRPr>
            </a:lvl1pPr>
            <a:lvl2pPr marL="914400" indent="0" algn="ctr">
              <a:buNone/>
              <a:defRPr>
                <a:solidFill>
                  <a:schemeClr val="tx1">
                    <a:tint val="75000"/>
                  </a:schemeClr>
                </a:solidFill>
              </a:defRPr>
            </a:lvl2pPr>
            <a:lvl3pPr marL="1828800" indent="0" algn="ctr">
              <a:buNone/>
              <a:defRPr>
                <a:solidFill>
                  <a:schemeClr val="tx1">
                    <a:tint val="75000"/>
                  </a:schemeClr>
                </a:solidFill>
              </a:defRPr>
            </a:lvl3pPr>
            <a:lvl4pPr marL="2743200" indent="0" algn="ctr">
              <a:buNone/>
              <a:defRPr>
                <a:solidFill>
                  <a:schemeClr val="tx1">
                    <a:tint val="75000"/>
                  </a:schemeClr>
                </a:solidFill>
              </a:defRPr>
            </a:lvl4pPr>
            <a:lvl5pPr marL="3657600" indent="0" algn="ctr">
              <a:buNone/>
              <a:defRPr>
                <a:solidFill>
                  <a:schemeClr val="tx1">
                    <a:tint val="75000"/>
                  </a:schemeClr>
                </a:solidFill>
              </a:defRPr>
            </a:lvl5pPr>
            <a:lvl6pPr marL="4572000" indent="0" algn="ctr">
              <a:buNone/>
              <a:defRPr>
                <a:solidFill>
                  <a:schemeClr val="tx1">
                    <a:tint val="75000"/>
                  </a:schemeClr>
                </a:solidFill>
              </a:defRPr>
            </a:lvl6pPr>
            <a:lvl7pPr marL="5486400" indent="0" algn="ctr">
              <a:buNone/>
              <a:defRPr>
                <a:solidFill>
                  <a:schemeClr val="tx1">
                    <a:tint val="75000"/>
                  </a:schemeClr>
                </a:solidFill>
              </a:defRPr>
            </a:lvl7pPr>
            <a:lvl8pPr marL="6400800" indent="0" algn="ctr">
              <a:buNone/>
              <a:defRPr>
                <a:solidFill>
                  <a:schemeClr val="tx1">
                    <a:tint val="75000"/>
                  </a:schemeClr>
                </a:solidFill>
              </a:defRPr>
            </a:lvl8pPr>
            <a:lvl9pPr marL="7315200" indent="0" algn="ctr">
              <a:buNone/>
              <a:defRPr>
                <a:solidFill>
                  <a:schemeClr val="tx1">
                    <a:tint val="75000"/>
                  </a:schemeClr>
                </a:solidFill>
              </a:defRPr>
            </a:lvl9pPr>
          </a:lstStyle>
          <a:p>
            <a:r>
              <a:rPr lang="en-US"/>
              <a:t>Click to edit Master subtitle style</a:t>
            </a:r>
            <a:endParaRPr dirty="0"/>
          </a:p>
        </p:txBody>
      </p:sp>
    </p:spTree>
    <p:extLst>
      <p:ext uri="{BB962C8B-B14F-4D97-AF65-F5344CB8AC3E}">
        <p14:creationId xmlns:p14="http://schemas.microsoft.com/office/powerpoint/2010/main" val="1667486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098550" y="161365"/>
            <a:ext cx="16084552" cy="1551434"/>
          </a:xfrm>
        </p:spPr>
        <p:txBody>
          <a:bodyPr/>
          <a:lstStyle>
            <a:lvl1pPr>
              <a:defRPr sz="5600" b="1"/>
            </a:lvl1pPr>
          </a:lstStyle>
          <a:p>
            <a:r>
              <a:rPr lang="en-US"/>
              <a:t>Click to edit Master title style</a:t>
            </a:r>
            <a:endParaRPr/>
          </a:p>
        </p:txBody>
      </p:sp>
      <p:sp>
        <p:nvSpPr>
          <p:cNvPr id="3" name="Content Placeholder 2"/>
          <p:cNvSpPr>
            <a:spLocks noGrp="1"/>
          </p:cNvSpPr>
          <p:nvPr>
            <p:ph idx="1"/>
          </p:nvPr>
        </p:nvSpPr>
        <p:spPr>
          <a:xfrm>
            <a:off x="1098550" y="2050699"/>
            <a:ext cx="16084552" cy="6888006"/>
          </a:xfrm>
        </p:spPr>
        <p:txBody>
          <a:bodyPr/>
          <a:lstStyle>
            <a:lvl1pPr>
              <a:defRPr sz="4000"/>
            </a:lvl1pPr>
            <a:lvl2pPr>
              <a:defRPr sz="3600"/>
            </a:lvl2pPr>
            <a:lvl3pPr>
              <a:defRPr sz="3200"/>
            </a:lvl3pPr>
            <a:lvl4pPr>
              <a:defRPr sz="2800"/>
            </a:lvl4pPr>
            <a:lvl5pPr>
              <a:defRPr sz="2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Tree>
    <p:extLst>
      <p:ext uri="{BB962C8B-B14F-4D97-AF65-F5344CB8AC3E}">
        <p14:creationId xmlns:p14="http://schemas.microsoft.com/office/powerpoint/2010/main" val="26025930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098550" y="2085698"/>
            <a:ext cx="7680960" cy="6515100"/>
          </a:xfrm>
        </p:spPr>
        <p:txBody>
          <a:bodyPr>
            <a:normAutofit/>
          </a:bodyPr>
          <a:lstStyle>
            <a:lvl1pPr>
              <a:spcBef>
                <a:spcPts val="3200"/>
              </a:spcBef>
              <a:defRPr sz="4000"/>
            </a:lvl1pPr>
            <a:lvl2pPr>
              <a:defRPr sz="3600"/>
            </a:lvl2pPr>
            <a:lvl3pPr>
              <a:defRPr sz="3200"/>
            </a:lvl3pPr>
            <a:lvl4pPr>
              <a:defRPr sz="2800"/>
            </a:lvl4pPr>
            <a:lvl5pPr>
              <a:defRPr sz="2400"/>
            </a:lvl5pPr>
            <a:lvl6pPr>
              <a:defRPr sz="3600"/>
            </a:lvl6pPr>
            <a:lvl7pPr>
              <a:defRPr sz="3600"/>
            </a:lvl7pPr>
            <a:lvl8pPr>
              <a:defRPr sz="3600"/>
            </a:lvl8pPr>
            <a:lvl9pPr>
              <a:defRPr sz="3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Content Placeholder 3"/>
          <p:cNvSpPr>
            <a:spLocks noGrp="1"/>
          </p:cNvSpPr>
          <p:nvPr>
            <p:ph sz="half" idx="2"/>
          </p:nvPr>
        </p:nvSpPr>
        <p:spPr>
          <a:xfrm>
            <a:off x="9502142" y="2085698"/>
            <a:ext cx="7680960" cy="6515100"/>
          </a:xfrm>
        </p:spPr>
        <p:txBody>
          <a:bodyPr>
            <a:normAutofit/>
          </a:bodyPr>
          <a:lstStyle>
            <a:lvl1pPr>
              <a:spcBef>
                <a:spcPts val="3200"/>
              </a:spcBef>
              <a:defRPr sz="4000"/>
            </a:lvl1pPr>
            <a:lvl2pPr>
              <a:defRPr sz="3600"/>
            </a:lvl2pPr>
            <a:lvl3pPr>
              <a:defRPr sz="3200"/>
            </a:lvl3pPr>
            <a:lvl4pPr>
              <a:defRPr sz="2800"/>
            </a:lvl4pPr>
            <a:lvl5pPr>
              <a:defRPr sz="2400"/>
            </a:lvl5pPr>
            <a:lvl6pPr>
              <a:defRPr sz="3600"/>
            </a:lvl6pPr>
            <a:lvl7pPr>
              <a:defRPr sz="3600"/>
            </a:lvl7pPr>
            <a:lvl8pPr>
              <a:defRPr sz="3600"/>
            </a:lvl8pPr>
            <a:lvl9pPr>
              <a:defRPr sz="3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Title 1"/>
          <p:cNvSpPr>
            <a:spLocks noGrp="1"/>
          </p:cNvSpPr>
          <p:nvPr>
            <p:ph type="title"/>
          </p:nvPr>
        </p:nvSpPr>
        <p:spPr>
          <a:xfrm>
            <a:off x="1098550" y="161365"/>
            <a:ext cx="16084552" cy="1551434"/>
          </a:xfrm>
        </p:spPr>
        <p:txBody>
          <a:bodyPr/>
          <a:lstStyle>
            <a:lvl1pPr>
              <a:defRPr sz="5600" b="1"/>
            </a:lvl1pPr>
          </a:lstStyle>
          <a:p>
            <a:r>
              <a:rPr lang="en-US"/>
              <a:t>Click to edit Master title style</a:t>
            </a:r>
            <a:endParaRPr/>
          </a:p>
        </p:txBody>
      </p:sp>
    </p:spTree>
    <p:extLst>
      <p:ext uri="{BB962C8B-B14F-4D97-AF65-F5344CB8AC3E}">
        <p14:creationId xmlns:p14="http://schemas.microsoft.com/office/powerpoint/2010/main" val="55611414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jp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5">
            <a:lum/>
          </a:blip>
          <a:srcRect/>
          <a:stretch>
            <a:fillRect/>
          </a:stretch>
        </a:blip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482098A7-74DB-47EC-8637-CFD1F5FF8EA6}"/>
              </a:ext>
            </a:extLst>
          </p:cNvPr>
          <p:cNvSpPr>
            <a:spLocks noGrp="1"/>
          </p:cNvSpPr>
          <p:nvPr>
            <p:ph type="title"/>
          </p:nvPr>
        </p:nvSpPr>
        <p:spPr bwMode="auto">
          <a:xfrm>
            <a:off x="1098551" y="161926"/>
            <a:ext cx="16084550" cy="2003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A30E7C49-5D51-22BD-9218-005012D508B4}"/>
              </a:ext>
            </a:extLst>
          </p:cNvPr>
          <p:cNvSpPr>
            <a:spLocks noGrp="1"/>
          </p:cNvSpPr>
          <p:nvPr>
            <p:ph type="body" idx="1"/>
          </p:nvPr>
        </p:nvSpPr>
        <p:spPr bwMode="auto">
          <a:xfrm>
            <a:off x="1098551" y="2400300"/>
            <a:ext cx="16084550" cy="651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pic>
        <p:nvPicPr>
          <p:cNvPr id="1028" name="Picture 5" descr="ILTECH_wht_horiz.png">
            <a:extLst>
              <a:ext uri="{FF2B5EF4-FFF2-40B4-BE49-F238E27FC236}">
                <a16:creationId xmlns:a16="http://schemas.microsoft.com/office/drawing/2014/main" id="{42D74730-BBC2-6B47-9AEF-9E8FDE440A0D}"/>
              </a:ext>
            </a:extLst>
          </p:cNvPr>
          <p:cNvPicPr>
            <a:picLocks noChangeAspect="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14189076" y="9185276"/>
            <a:ext cx="3556000"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76" r:id="rId1"/>
    <p:sldLayoutId id="2147483674" r:id="rId2"/>
    <p:sldLayoutId id="2147483675" r:id="rId3"/>
  </p:sldLayoutIdLst>
  <p:txStyles>
    <p:titleStyle>
      <a:lvl1pPr algn="ctr" rtl="0" eaLnBrk="1" fontAlgn="base" hangingPunct="1">
        <a:spcBef>
          <a:spcPct val="0"/>
        </a:spcBef>
        <a:spcAft>
          <a:spcPct val="0"/>
        </a:spcAft>
        <a:defRPr sz="5600" b="1" kern="1200">
          <a:solidFill>
            <a:schemeClr val="accent1"/>
          </a:solidFill>
          <a:latin typeface="+mj-lt"/>
          <a:ea typeface="ＭＳ Ｐゴシック" panose="020B0600070205080204" pitchFamily="34" charset="-128"/>
          <a:cs typeface="+mj-cs"/>
        </a:defRPr>
      </a:lvl1pPr>
      <a:lvl2pPr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2pPr>
      <a:lvl3pPr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3pPr>
      <a:lvl4pPr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4pPr>
      <a:lvl5pPr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5pPr>
      <a:lvl6pPr marL="914400"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6pPr>
      <a:lvl7pPr marL="1828800"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7pPr>
      <a:lvl8pPr marL="2743200"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8pPr>
      <a:lvl9pPr marL="3657600"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9pPr>
    </p:titleStyle>
    <p:bodyStyle>
      <a:lvl1pPr marL="698500" indent="-698500" algn="l" rtl="0" eaLnBrk="1" fontAlgn="base" hangingPunct="1">
        <a:spcBef>
          <a:spcPts val="4000"/>
        </a:spcBef>
        <a:spcAft>
          <a:spcPct val="0"/>
        </a:spcAft>
        <a:buClr>
          <a:schemeClr val="accent2"/>
        </a:buClr>
        <a:buSzPct val="100000"/>
        <a:buFont typeface="Wingdings 2" pitchFamily="2" charset="2"/>
        <a:buChar char=""/>
        <a:defRPr sz="4800" kern="1200">
          <a:solidFill>
            <a:schemeClr val="tx1"/>
          </a:solidFill>
          <a:latin typeface="+mn-lt"/>
          <a:ea typeface="ＭＳ Ｐゴシック" panose="020B0600070205080204" pitchFamily="34" charset="-128"/>
          <a:cs typeface="+mn-cs"/>
        </a:defRPr>
      </a:lvl1pPr>
      <a:lvl2pPr marL="1371600" indent="-673100" algn="l" rtl="0" eaLnBrk="1" fontAlgn="base" hangingPunct="1">
        <a:spcBef>
          <a:spcPts val="1200"/>
        </a:spcBef>
        <a:spcAft>
          <a:spcPct val="0"/>
        </a:spcAft>
        <a:buClr>
          <a:srgbClr val="808080"/>
        </a:buClr>
        <a:buSzPct val="100000"/>
        <a:buFont typeface="Wingdings 2" pitchFamily="2" charset="2"/>
        <a:buChar char=""/>
        <a:defRPr sz="4400" kern="1200">
          <a:solidFill>
            <a:schemeClr val="tx1"/>
          </a:solidFill>
          <a:latin typeface="+mn-lt"/>
          <a:ea typeface="ＭＳ Ｐゴシック" panose="020B0600070205080204" pitchFamily="34" charset="-128"/>
          <a:cs typeface="+mn-cs"/>
        </a:defRPr>
      </a:lvl2pPr>
      <a:lvl3pPr marL="1936750" indent="-565150" algn="l" rtl="0" eaLnBrk="1" fontAlgn="base" hangingPunct="1">
        <a:spcBef>
          <a:spcPts val="1200"/>
        </a:spcBef>
        <a:spcAft>
          <a:spcPct val="0"/>
        </a:spcAft>
        <a:buClr>
          <a:srgbClr val="969696"/>
        </a:buClr>
        <a:buSzPct val="100000"/>
        <a:buFont typeface="Wingdings 2" pitchFamily="2" charset="2"/>
        <a:buChar char=""/>
        <a:defRPr sz="4000" kern="1200">
          <a:solidFill>
            <a:schemeClr val="tx1"/>
          </a:solidFill>
          <a:latin typeface="+mn-lt"/>
          <a:ea typeface="ＭＳ Ｐゴシック" panose="020B0600070205080204" pitchFamily="34" charset="-128"/>
          <a:cs typeface="+mn-cs"/>
        </a:defRPr>
      </a:lvl3pPr>
      <a:lvl4pPr marL="2527300" indent="-590550" algn="l" rtl="0" eaLnBrk="1" fontAlgn="base" hangingPunct="1">
        <a:spcBef>
          <a:spcPts val="1200"/>
        </a:spcBef>
        <a:spcAft>
          <a:spcPct val="0"/>
        </a:spcAft>
        <a:buClr>
          <a:srgbClr val="F8BC65"/>
        </a:buClr>
        <a:buSzPct val="100000"/>
        <a:buFont typeface="Wingdings 2" pitchFamily="2" charset="2"/>
        <a:buChar char=""/>
        <a:defRPr kern="1200">
          <a:solidFill>
            <a:schemeClr val="tx1"/>
          </a:solidFill>
          <a:latin typeface="+mn-lt"/>
          <a:ea typeface="ＭＳ Ｐゴシック" panose="020B0600070205080204" pitchFamily="34" charset="-128"/>
          <a:cs typeface="+mn-cs"/>
        </a:defRPr>
      </a:lvl4pPr>
      <a:lvl5pPr marL="3092450" indent="-565150" algn="l" rtl="0" eaLnBrk="1" fontAlgn="base" hangingPunct="1">
        <a:spcBef>
          <a:spcPts val="1200"/>
        </a:spcBef>
        <a:spcAft>
          <a:spcPct val="0"/>
        </a:spcAft>
        <a:buClr>
          <a:srgbClr val="FBD299"/>
        </a:buClr>
        <a:buSzPct val="100000"/>
        <a:buFont typeface="Wingdings 2" pitchFamily="2" charset="2"/>
        <a:buChar char=""/>
        <a:defRPr kern="1200">
          <a:solidFill>
            <a:schemeClr val="tx1"/>
          </a:solidFill>
          <a:latin typeface="+mn-lt"/>
          <a:ea typeface="ＭＳ Ｐゴシック" panose="020B0600070205080204" pitchFamily="34" charset="-128"/>
          <a:cs typeface="+mn-cs"/>
        </a:defRPr>
      </a:lvl5pPr>
      <a:lvl6pPr marL="3657600" indent="-565150" algn="l" defTabSz="1828800" rtl="0" eaLnBrk="1" latinLnBrk="0" hangingPunct="1">
        <a:spcBef>
          <a:spcPct val="20000"/>
        </a:spcBef>
        <a:buClr>
          <a:schemeClr val="accent2"/>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6pPr>
      <a:lvl7pPr marL="4235450" indent="-565150" algn="l" defTabSz="1828800" rtl="0" eaLnBrk="1" latinLnBrk="0" hangingPunct="1">
        <a:spcBef>
          <a:spcPct val="20000"/>
        </a:spcBef>
        <a:buClr>
          <a:schemeClr val="accent1">
            <a:lumMod val="60000"/>
            <a:lumOff val="40000"/>
          </a:schemeClr>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7pPr>
      <a:lvl8pPr marL="4797426" indent="-565150" algn="l" defTabSz="1828800" rtl="0" eaLnBrk="1" latinLnBrk="0" hangingPunct="1">
        <a:spcBef>
          <a:spcPct val="20000"/>
        </a:spcBef>
        <a:buClr>
          <a:schemeClr val="accent2"/>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8pPr>
      <a:lvl9pPr marL="5378450" indent="-565150" algn="l" defTabSz="1828800" rtl="0" eaLnBrk="1" latinLnBrk="0" hangingPunct="1">
        <a:spcBef>
          <a:spcPct val="20000"/>
        </a:spcBef>
        <a:buClr>
          <a:schemeClr val="accent1">
            <a:lumMod val="60000"/>
            <a:lumOff val="40000"/>
          </a:schemeClr>
        </a:buClr>
        <a:buSzPct val="110000"/>
        <a:buFont typeface="Wingdings 2" pitchFamily="18" charset="2"/>
        <a:buChar char=""/>
        <a:defRPr lang="en-US" sz="3600" kern="1200" dirty="0">
          <a:solidFill>
            <a:schemeClr val="tx1">
              <a:lumMod val="65000"/>
              <a:lumOff val="35000"/>
            </a:schemeClr>
          </a:solidFill>
          <a:latin typeface="+mn-lt"/>
          <a:ea typeface="+mn-ea"/>
          <a:cs typeface="+mn-cs"/>
        </a:defRPr>
      </a:lvl9pPr>
    </p:bodyStyle>
    <p:otherStyle>
      <a:defPPr>
        <a:defRPr/>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3.xml.rels><?xml version="1.0" encoding="UTF-8" standalone="yes"?>
<Relationships xmlns="http://schemas.openxmlformats.org/package/2006/relationships"><Relationship Id="rId3" Type="http://schemas.openxmlformats.org/officeDocument/2006/relationships/hyperlink" Target="https://www.ibm.com/consulting/artificial-intelligence" TargetMode="External"/><Relationship Id="rId2" Type="http://schemas.openxmlformats.org/officeDocument/2006/relationships/slideLayout" Target="../slideLayouts/slideLayout2.xml"/><Relationship Id="rId1" Type="http://schemas.openxmlformats.org/officeDocument/2006/relationships/tags" Target="../tags/tag3.xml"/><Relationship Id="rId4" Type="http://schemas.openxmlformats.org/officeDocument/2006/relationships/hyperlink" Target="https://www.ibm.com/topics/ai-ethics"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www.washingtonpost.com/wp-dyn/content/article/2007/05/05/AR2007050501009_pf.html" TargetMode="External"/><Relationship Id="rId2" Type="http://schemas.openxmlformats.org/officeDocument/2006/relationships/hyperlink" Target="https://builtin.com/robotics/kill-robot-dinosaur-the-new-breed-kate-darling-excerpt"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A3D2C4-084C-C545-00AC-430EC19B6C87}"/>
              </a:ext>
            </a:extLst>
          </p:cNvPr>
          <p:cNvSpPr>
            <a:spLocks noGrp="1"/>
          </p:cNvSpPr>
          <p:nvPr>
            <p:ph type="ctrTitle"/>
          </p:nvPr>
        </p:nvSpPr>
        <p:spPr>
          <a:xfrm>
            <a:off x="2644778" y="2286002"/>
            <a:ext cx="12998450" cy="2587626"/>
          </a:xfrm>
        </p:spPr>
        <p:txBody>
          <a:bodyPr/>
          <a:lstStyle/>
          <a:p>
            <a:pPr>
              <a:defRPr/>
            </a:pPr>
            <a:r>
              <a:rPr lang="en-US" dirty="0"/>
              <a:t>MBA532 – AI in Business </a:t>
            </a:r>
          </a:p>
        </p:txBody>
      </p:sp>
      <p:sp>
        <p:nvSpPr>
          <p:cNvPr id="3" name="Subtitle 2">
            <a:extLst>
              <a:ext uri="{FF2B5EF4-FFF2-40B4-BE49-F238E27FC236}">
                <a16:creationId xmlns:a16="http://schemas.microsoft.com/office/drawing/2014/main" id="{1773A97B-06C2-BD5D-13DD-A14A00967D4E}"/>
              </a:ext>
            </a:extLst>
          </p:cNvPr>
          <p:cNvSpPr>
            <a:spLocks noGrp="1"/>
          </p:cNvSpPr>
          <p:nvPr>
            <p:ph type="subTitle" idx="1"/>
          </p:nvPr>
        </p:nvSpPr>
        <p:spPr>
          <a:xfrm>
            <a:off x="2644778" y="4949828"/>
            <a:ext cx="12998450" cy="1374774"/>
          </a:xfrm>
        </p:spPr>
        <p:txBody>
          <a:bodyPr>
            <a:normAutofit/>
          </a:bodyPr>
          <a:lstStyle/>
          <a:p>
            <a:pPr>
              <a:defRPr/>
            </a:pPr>
            <a:r>
              <a:rPr lang="en-US" dirty="0">
                <a:latin typeface="+mj-lt"/>
              </a:rPr>
              <a:t>MODULE 8 – AI Ethics and Responsible AI</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18D053-9784-4381-B5E2-078BD4F28C30}"/>
              </a:ext>
            </a:extLst>
          </p:cNvPr>
          <p:cNvSpPr>
            <a:spLocks noGrp="1"/>
          </p:cNvSpPr>
          <p:nvPr>
            <p:ph type="title"/>
          </p:nvPr>
        </p:nvSpPr>
        <p:spPr/>
        <p:txBody>
          <a:bodyPr/>
          <a:lstStyle/>
          <a:p>
            <a:r>
              <a:rPr lang="en-US" dirty="0"/>
              <a:t>AI Ethics</a:t>
            </a:r>
          </a:p>
        </p:txBody>
      </p:sp>
      <p:sp>
        <p:nvSpPr>
          <p:cNvPr id="3" name="Content Placeholder 2">
            <a:extLst>
              <a:ext uri="{FF2B5EF4-FFF2-40B4-BE49-F238E27FC236}">
                <a16:creationId xmlns:a16="http://schemas.microsoft.com/office/drawing/2014/main" id="{E5C1B364-B049-474C-88B0-15FD25BD0BF3}"/>
              </a:ext>
            </a:extLst>
          </p:cNvPr>
          <p:cNvSpPr>
            <a:spLocks noGrp="1"/>
          </p:cNvSpPr>
          <p:nvPr>
            <p:ph idx="1"/>
          </p:nvPr>
        </p:nvSpPr>
        <p:spPr/>
        <p:txBody>
          <a:bodyPr/>
          <a:lstStyle/>
          <a:p>
            <a:r>
              <a:rPr lang="en-US" dirty="0"/>
              <a:t>AI Ethics</a:t>
            </a:r>
          </a:p>
        </p:txBody>
      </p:sp>
    </p:spTree>
    <p:custDataLst>
      <p:tags r:id="rId1"/>
    </p:custDataLst>
    <p:extLst>
      <p:ext uri="{BB962C8B-B14F-4D97-AF65-F5344CB8AC3E}">
        <p14:creationId xmlns:p14="http://schemas.microsoft.com/office/powerpoint/2010/main" val="8438763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AF7133-1E43-4B88-A0B9-09DFB4926EC6}"/>
              </a:ext>
            </a:extLst>
          </p:cNvPr>
          <p:cNvSpPr>
            <a:spLocks noGrp="1"/>
          </p:cNvSpPr>
          <p:nvPr>
            <p:ph type="title"/>
          </p:nvPr>
        </p:nvSpPr>
        <p:spPr/>
        <p:txBody>
          <a:bodyPr/>
          <a:lstStyle/>
          <a:p>
            <a:r>
              <a:rPr lang="en-US" dirty="0"/>
              <a:t>Definition of AI Ethics</a:t>
            </a:r>
          </a:p>
        </p:txBody>
      </p:sp>
      <p:sp>
        <p:nvSpPr>
          <p:cNvPr id="3" name="Content Placeholder 2">
            <a:extLst>
              <a:ext uri="{FF2B5EF4-FFF2-40B4-BE49-F238E27FC236}">
                <a16:creationId xmlns:a16="http://schemas.microsoft.com/office/drawing/2014/main" id="{40F6B56D-2B66-4CF6-930A-81C4418DF50A}"/>
              </a:ext>
            </a:extLst>
          </p:cNvPr>
          <p:cNvSpPr>
            <a:spLocks noGrp="1"/>
          </p:cNvSpPr>
          <p:nvPr>
            <p:ph idx="1"/>
          </p:nvPr>
        </p:nvSpPr>
        <p:spPr/>
        <p:txBody>
          <a:bodyPr/>
          <a:lstStyle/>
          <a:p>
            <a:r>
              <a:rPr lang="en-US" dirty="0"/>
              <a:t>According to IBM, AI Ethics is a set of moral principles which help us discern between right and wrong. AI ethics is a multidisciplinary field that studies how to optimize </a:t>
            </a:r>
            <a:r>
              <a:rPr lang="en-US" dirty="0">
                <a:hlinkClick r:id="rId3"/>
              </a:rPr>
              <a:t>AI</a:t>
            </a:r>
            <a:r>
              <a:rPr lang="en-US" dirty="0"/>
              <a:t>'s beneficial impact while reducing risks and adverse outcomes.</a:t>
            </a:r>
          </a:p>
          <a:p>
            <a:r>
              <a:rPr lang="en-US" dirty="0"/>
              <a:t>Examples of AI ethics issues include data responsibility and privacy, fairness, </a:t>
            </a:r>
            <a:r>
              <a:rPr lang="en-US" dirty="0" err="1"/>
              <a:t>explainability</a:t>
            </a:r>
            <a:r>
              <a:rPr lang="en-US" dirty="0"/>
              <a:t>, robustness, transparency, environmental sustainability, inclusion, moral agency, value alignment, accountability, trust, and technology misuse. </a:t>
            </a:r>
          </a:p>
          <a:p>
            <a:r>
              <a:rPr lang="en-US" dirty="0"/>
              <a:t>Source: </a:t>
            </a:r>
            <a:r>
              <a:rPr lang="en-US" dirty="0">
                <a:hlinkClick r:id="rId4"/>
              </a:rPr>
              <a:t>What is AI Ethics?</a:t>
            </a:r>
            <a:endParaRPr lang="en-US" dirty="0"/>
          </a:p>
        </p:txBody>
      </p:sp>
    </p:spTree>
    <p:custDataLst>
      <p:tags r:id="rId1"/>
    </p:custDataLst>
    <p:extLst>
      <p:ext uri="{BB962C8B-B14F-4D97-AF65-F5344CB8AC3E}">
        <p14:creationId xmlns:p14="http://schemas.microsoft.com/office/powerpoint/2010/main" val="7508046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B77729-E822-4E84-9D6F-FE229C25C96D}"/>
              </a:ext>
            </a:extLst>
          </p:cNvPr>
          <p:cNvSpPr>
            <a:spLocks noGrp="1"/>
          </p:cNvSpPr>
          <p:nvPr>
            <p:ph type="title"/>
          </p:nvPr>
        </p:nvSpPr>
        <p:spPr>
          <a:xfrm>
            <a:off x="1098550" y="609599"/>
            <a:ext cx="16084552" cy="1005228"/>
          </a:xfrm>
        </p:spPr>
        <p:txBody>
          <a:bodyPr/>
          <a:lstStyle/>
          <a:p>
            <a:r>
              <a:rPr lang="en-US" sz="4400" b="1" dirty="0">
                <a:solidFill>
                  <a:srgbClr val="C00000"/>
                </a:solidFill>
              </a:rPr>
              <a:t>Increased Awareness of what AI Systems can Track</a:t>
            </a:r>
          </a:p>
        </p:txBody>
      </p:sp>
      <p:sp>
        <p:nvSpPr>
          <p:cNvPr id="3" name="Content Placeholder 2">
            <a:extLst>
              <a:ext uri="{FF2B5EF4-FFF2-40B4-BE49-F238E27FC236}">
                <a16:creationId xmlns:a16="http://schemas.microsoft.com/office/drawing/2014/main" id="{F2F03527-428D-4CB9-AD3E-B57D5D0D06F5}"/>
              </a:ext>
            </a:extLst>
          </p:cNvPr>
          <p:cNvSpPr>
            <a:spLocks noGrp="1"/>
          </p:cNvSpPr>
          <p:nvPr>
            <p:ph idx="1"/>
          </p:nvPr>
        </p:nvSpPr>
        <p:spPr>
          <a:xfrm>
            <a:off x="1098550" y="1789441"/>
            <a:ext cx="16084552" cy="7387215"/>
          </a:xfrm>
        </p:spPr>
        <p:txBody>
          <a:bodyPr>
            <a:noAutofit/>
          </a:bodyPr>
          <a:lstStyle/>
          <a:p>
            <a:pPr marL="771525" indent="-771525">
              <a:buFont typeface="+mj-lt"/>
              <a:buAutoNum type="arabicPeriod"/>
            </a:pPr>
            <a:r>
              <a:rPr lang="en-US" sz="3200" dirty="0"/>
              <a:t>There is a need to educate the public to increase awareness about possible tracking is key to assure that individual’s make informed choices. This is because AI systems can track user engagement using several metrics (e.g., an individual’s online reading habits, preferences and likely state of knowledge), it is possible to </a:t>
            </a:r>
            <a:r>
              <a:rPr lang="en-US" sz="3200" b="1" dirty="0"/>
              <a:t>increase a message’s persuasive impact on that individual.</a:t>
            </a:r>
            <a:endParaRPr lang="en-US" sz="3200" dirty="0"/>
          </a:p>
          <a:p>
            <a:pPr marL="771525" indent="-771525">
              <a:buFont typeface="+mj-lt"/>
              <a:buAutoNum type="arabicPeriod"/>
            </a:pPr>
            <a:r>
              <a:rPr lang="en-US" sz="3200" dirty="0"/>
              <a:t>More specifically, for any given online message (e.g., an ad), the AI system may track if an individual has read a given message, the time duration to read it, and if they followed-up to review additional links embedded within that message. Furthermore, AI systems can be designed to use this information to predict the success or failure of an attempt to influence the individual with that message. Over time, given the success record of machine learning applications, the reliability and accuracy of such predictions will increase. This approach is often used by online advertisers to copy-test different advertising messages before launching a national online ad campaign.</a:t>
            </a:r>
          </a:p>
        </p:txBody>
      </p:sp>
    </p:spTree>
    <p:extLst>
      <p:ext uri="{BB962C8B-B14F-4D97-AF65-F5344CB8AC3E}">
        <p14:creationId xmlns:p14="http://schemas.microsoft.com/office/powerpoint/2010/main" val="31165060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FE1B1D-02CB-4D78-80A2-6D808D1AC2D7}"/>
              </a:ext>
            </a:extLst>
          </p:cNvPr>
          <p:cNvSpPr>
            <a:spLocks noGrp="1"/>
          </p:cNvSpPr>
          <p:nvPr>
            <p:ph type="title"/>
          </p:nvPr>
        </p:nvSpPr>
        <p:spPr>
          <a:xfrm>
            <a:off x="1098550" y="522513"/>
            <a:ext cx="16084552" cy="1190285"/>
          </a:xfrm>
        </p:spPr>
        <p:txBody>
          <a:bodyPr/>
          <a:lstStyle/>
          <a:p>
            <a:r>
              <a:rPr lang="en-US" b="1" dirty="0">
                <a:solidFill>
                  <a:srgbClr val="C00000"/>
                </a:solidFill>
              </a:rPr>
              <a:t>Increased awareness of Anthropomorphism</a:t>
            </a:r>
          </a:p>
        </p:txBody>
      </p:sp>
      <p:sp>
        <p:nvSpPr>
          <p:cNvPr id="3" name="Content Placeholder 2">
            <a:extLst>
              <a:ext uri="{FF2B5EF4-FFF2-40B4-BE49-F238E27FC236}">
                <a16:creationId xmlns:a16="http://schemas.microsoft.com/office/drawing/2014/main" id="{32C04B4E-C091-43B0-9627-75EC0A817A96}"/>
              </a:ext>
            </a:extLst>
          </p:cNvPr>
          <p:cNvSpPr>
            <a:spLocks noGrp="1"/>
          </p:cNvSpPr>
          <p:nvPr>
            <p:ph idx="1"/>
          </p:nvPr>
        </p:nvSpPr>
        <p:spPr/>
        <p:txBody>
          <a:bodyPr>
            <a:normAutofit fontScale="92500" lnSpcReduction="10000"/>
          </a:bodyPr>
          <a:lstStyle/>
          <a:p>
            <a:r>
              <a:rPr lang="en-US" dirty="0"/>
              <a:t>Increased awareness needed of the widespread human predisposition to anthropomorphize or develop attachment or feelings toward human-like objects like robots (e.g., </a:t>
            </a:r>
            <a:r>
              <a:rPr lang="en-US" dirty="0">
                <a:hlinkClick r:id="rId2"/>
              </a:rPr>
              <a:t>Kate Darling’s study with </a:t>
            </a:r>
            <a:r>
              <a:rPr lang="en-US" dirty="0" err="1">
                <a:hlinkClick r:id="rId2"/>
              </a:rPr>
              <a:t>Pleo</a:t>
            </a:r>
            <a:r>
              <a:rPr lang="en-US" dirty="0">
                <a:hlinkClick r:id="rId2"/>
              </a:rPr>
              <a:t> robot toys</a:t>
            </a:r>
            <a:r>
              <a:rPr lang="en-US" dirty="0"/>
              <a:t> and the attitude of participants in a workshop in Switzerland toward punishing robots)</a:t>
            </a:r>
          </a:p>
          <a:p>
            <a:r>
              <a:rPr lang="en-US" dirty="0"/>
              <a:t>For several additional examples of such anthropomorphic behavior, see this </a:t>
            </a:r>
            <a:r>
              <a:rPr lang="en-US" i="1" dirty="0"/>
              <a:t>Washington Post </a:t>
            </a:r>
            <a:r>
              <a:rPr lang="en-US" dirty="0"/>
              <a:t>story from May 6, 2007 (</a:t>
            </a:r>
            <a:r>
              <a:rPr lang="en-US" dirty="0">
                <a:hlinkClick r:id="rId3"/>
              </a:rPr>
              <a:t>Bots on the Ground</a:t>
            </a:r>
            <a:r>
              <a:rPr lang="en-US" dirty="0"/>
              <a:t>) </a:t>
            </a:r>
          </a:p>
          <a:p>
            <a:r>
              <a:rPr lang="en-US" dirty="0"/>
              <a:t>Beyond a basic capability to convey nonverbal info via facial expression and movement, there is no reason for robots to have a humanoid form. There are also practical reasons why robots should not assume a humanoid form.</a:t>
            </a:r>
          </a:p>
        </p:txBody>
      </p:sp>
    </p:spTree>
    <p:extLst>
      <p:ext uri="{BB962C8B-B14F-4D97-AF65-F5344CB8AC3E}">
        <p14:creationId xmlns:p14="http://schemas.microsoft.com/office/powerpoint/2010/main" val="10725124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7DC3D7-37DE-4941-A302-EDA1F480F73D}"/>
              </a:ext>
            </a:extLst>
          </p:cNvPr>
          <p:cNvSpPr>
            <a:spLocks noGrp="1"/>
          </p:cNvSpPr>
          <p:nvPr>
            <p:ph type="title"/>
          </p:nvPr>
        </p:nvSpPr>
        <p:spPr/>
        <p:txBody>
          <a:bodyPr/>
          <a:lstStyle/>
          <a:p>
            <a:r>
              <a:rPr lang="en-US" sz="4800" b="1" dirty="0">
                <a:solidFill>
                  <a:srgbClr val="C00000"/>
                </a:solidFill>
              </a:rPr>
              <a:t>Moral/Ethical Dilemmas: </a:t>
            </a:r>
            <a:br>
              <a:rPr lang="en-US" sz="4800" b="1" dirty="0">
                <a:solidFill>
                  <a:srgbClr val="C00000"/>
                </a:solidFill>
              </a:rPr>
            </a:br>
            <a:r>
              <a:rPr lang="en-US" sz="4800" b="1" dirty="0">
                <a:solidFill>
                  <a:srgbClr val="C00000"/>
                </a:solidFill>
              </a:rPr>
              <a:t>Trolleys and Autonomous Vehicles</a:t>
            </a:r>
          </a:p>
        </p:txBody>
      </p:sp>
      <p:sp>
        <p:nvSpPr>
          <p:cNvPr id="3" name="Content Placeholder 2">
            <a:extLst>
              <a:ext uri="{FF2B5EF4-FFF2-40B4-BE49-F238E27FC236}">
                <a16:creationId xmlns:a16="http://schemas.microsoft.com/office/drawing/2014/main" id="{B610A907-40BA-465E-A488-059CA3F2012F}"/>
              </a:ext>
            </a:extLst>
          </p:cNvPr>
          <p:cNvSpPr>
            <a:spLocks noGrp="1"/>
          </p:cNvSpPr>
          <p:nvPr>
            <p:ph idx="1"/>
          </p:nvPr>
        </p:nvSpPr>
        <p:spPr/>
        <p:txBody>
          <a:bodyPr/>
          <a:lstStyle/>
          <a:p>
            <a:r>
              <a:rPr lang="en-US" b="1" dirty="0"/>
              <a:t>Trolley dilemma</a:t>
            </a:r>
            <a:r>
              <a:rPr lang="en-US" dirty="0"/>
              <a:t>: An observer controls a lever that can switch tracks before a trolley hits five people. But on the alternative track, one person is tied to the tracks and unable to move.</a:t>
            </a:r>
          </a:p>
          <a:p>
            <a:r>
              <a:rPr lang="en-US" b="1" dirty="0"/>
              <a:t>Application (similar to Trolley’s dilemma) to autonomous/self-driving vehicles</a:t>
            </a:r>
            <a:r>
              <a:rPr lang="en-US" dirty="0"/>
              <a:t>: the choice decision between harming passengers or pedestrians </a:t>
            </a:r>
            <a:r>
              <a:rPr lang="en-US" b="1" i="1" dirty="0"/>
              <a:t>(see next slide).</a:t>
            </a:r>
          </a:p>
        </p:txBody>
      </p:sp>
    </p:spTree>
    <p:extLst>
      <p:ext uri="{BB962C8B-B14F-4D97-AF65-F5344CB8AC3E}">
        <p14:creationId xmlns:p14="http://schemas.microsoft.com/office/powerpoint/2010/main" val="17741331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520" y="490539"/>
            <a:ext cx="4936331" cy="3431382"/>
          </a:xfrm>
        </p:spPr>
        <p:txBody>
          <a:bodyPr anchor="ctr">
            <a:normAutofit/>
          </a:bodyPr>
          <a:lstStyle/>
          <a:p>
            <a:r>
              <a:rPr lang="en-US" sz="5400" dirty="0">
                <a:solidFill>
                  <a:srgbClr val="C00000"/>
                </a:solidFill>
              </a:rPr>
              <a:t>AI in Self-driving Car</a:t>
            </a:r>
          </a:p>
        </p:txBody>
      </p:sp>
      <p:sp>
        <p:nvSpPr>
          <p:cNvPr id="3" name="Content Placeholder 2"/>
          <p:cNvSpPr>
            <a:spLocks noGrp="1"/>
          </p:cNvSpPr>
          <p:nvPr>
            <p:ph idx="1"/>
          </p:nvPr>
        </p:nvSpPr>
        <p:spPr>
          <a:xfrm>
            <a:off x="6335974" y="490540"/>
            <a:ext cx="11228120" cy="3431381"/>
          </a:xfrm>
        </p:spPr>
        <p:txBody>
          <a:bodyPr anchor="ctr">
            <a:normAutofit fontScale="92500" lnSpcReduction="10000"/>
          </a:bodyPr>
          <a:lstStyle/>
          <a:p>
            <a:r>
              <a:rPr lang="en-US" sz="2700" dirty="0"/>
              <a:t>The three self-driving car traffic situations that result in imminent, unavoidable harm. The car must decide whether to </a:t>
            </a:r>
          </a:p>
          <a:p>
            <a:pPr marL="771525" indent="-771525">
              <a:buFont typeface="+mj-lt"/>
              <a:buAutoNum type="alphaUcPeriod"/>
            </a:pPr>
            <a:r>
              <a:rPr lang="en-US" sz="2700" dirty="0"/>
              <a:t>Kill several pedestrians or one passerby;</a:t>
            </a:r>
          </a:p>
          <a:p>
            <a:pPr marL="771525" indent="-771525">
              <a:buFont typeface="+mj-lt"/>
              <a:buAutoNum type="alphaUcPeriod"/>
            </a:pPr>
            <a:r>
              <a:rPr lang="en-US" sz="2700" dirty="0"/>
              <a:t>Kill one pedestrian or its own passenger;</a:t>
            </a:r>
          </a:p>
          <a:p>
            <a:pPr marL="771525" indent="-771525">
              <a:buFont typeface="+mj-lt"/>
              <a:buAutoNum type="alphaUcPeriod"/>
            </a:pPr>
            <a:r>
              <a:rPr lang="en-US" sz="2700" dirty="0"/>
              <a:t>Kill several pedestrians or its own passenger.</a:t>
            </a:r>
          </a:p>
          <a:p>
            <a:pPr marL="0" indent="0">
              <a:buNone/>
            </a:pPr>
            <a:endParaRPr lang="en-US" sz="2700" dirty="0"/>
          </a:p>
        </p:txBody>
      </p:sp>
      <p:pic>
        <p:nvPicPr>
          <p:cNvPr id="5" name="Picture 4" descr="A close up of a sign&#10;&#10;Description automatically generated"/>
          <p:cNvPicPr>
            <a:picLocks noChangeAspect="1"/>
          </p:cNvPicPr>
          <p:nvPr/>
        </p:nvPicPr>
        <p:blipFill rotWithShape="1">
          <a:blip r:embed="rId2">
            <a:extLst>
              <a:ext uri="{28A0092B-C50C-407E-A947-70E740481C1C}">
                <a14:useLocalDpi xmlns:a14="http://schemas.microsoft.com/office/drawing/2010/main" val="0"/>
              </a:ext>
            </a:extLst>
          </a:blip>
          <a:srcRect t="22629" b="15815"/>
          <a:stretch>
            <a:fillRect/>
          </a:stretch>
        </p:blipFill>
        <p:spPr>
          <a:xfrm>
            <a:off x="9428" y="3656568"/>
            <a:ext cx="18301752" cy="6139893"/>
          </a:xfrm>
          <a:custGeom>
            <a:avLst/>
            <a:gdLst/>
            <a:ahLst/>
            <a:cxnLst/>
            <a:rect l="l" t="t" r="r" b="b"/>
            <a:pathLst>
              <a:path w="12201168" h="4093262">
                <a:moveTo>
                  <a:pt x="12201168" y="0"/>
                </a:moveTo>
                <a:lnTo>
                  <a:pt x="12201168" y="4093262"/>
                </a:lnTo>
                <a:lnTo>
                  <a:pt x="0" y="4093262"/>
                </a:lnTo>
                <a:lnTo>
                  <a:pt x="0" y="49771"/>
                </a:lnTo>
                <a:lnTo>
                  <a:pt x="344880" y="64399"/>
                </a:lnTo>
                <a:cubicBezTo>
                  <a:pt x="3386438" y="213466"/>
                  <a:pt x="6427997" y="534535"/>
                  <a:pt x="9469555" y="167599"/>
                </a:cubicBezTo>
                <a:cubicBezTo>
                  <a:pt x="10229945" y="75865"/>
                  <a:pt x="10990334" y="27132"/>
                  <a:pt x="11750723" y="7961"/>
                </a:cubicBezTo>
                <a:close/>
              </a:path>
            </a:pathLst>
          </a:custGeom>
        </p:spPr>
      </p:pic>
    </p:spTree>
    <p:extLst>
      <p:ext uri="{BB962C8B-B14F-4D97-AF65-F5344CB8AC3E}">
        <p14:creationId xmlns:p14="http://schemas.microsoft.com/office/powerpoint/2010/main" val="9455426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25F9F5-564C-425C-93C4-4E614DE26C7A}"/>
              </a:ext>
            </a:extLst>
          </p:cNvPr>
          <p:cNvSpPr>
            <a:spLocks noGrp="1"/>
          </p:cNvSpPr>
          <p:nvPr>
            <p:ph type="title"/>
          </p:nvPr>
        </p:nvSpPr>
        <p:spPr/>
        <p:txBody>
          <a:bodyPr/>
          <a:lstStyle/>
          <a:p>
            <a:r>
              <a:rPr lang="en-US" b="1" dirty="0">
                <a:solidFill>
                  <a:srgbClr val="C00000"/>
                </a:solidFill>
              </a:rPr>
              <a:t>Process for AI to choose in An Ethical Manner</a:t>
            </a:r>
          </a:p>
        </p:txBody>
      </p:sp>
      <p:sp>
        <p:nvSpPr>
          <p:cNvPr id="3" name="Content Placeholder 2">
            <a:extLst>
              <a:ext uri="{FF2B5EF4-FFF2-40B4-BE49-F238E27FC236}">
                <a16:creationId xmlns:a16="http://schemas.microsoft.com/office/drawing/2014/main" id="{B7F52335-792F-473D-9C40-537918BA0573}"/>
              </a:ext>
            </a:extLst>
          </p:cNvPr>
          <p:cNvSpPr>
            <a:spLocks noGrp="1"/>
          </p:cNvSpPr>
          <p:nvPr>
            <p:ph idx="1"/>
          </p:nvPr>
        </p:nvSpPr>
        <p:spPr>
          <a:xfrm>
            <a:off x="1098550" y="2322842"/>
            <a:ext cx="16084552" cy="5721701"/>
          </a:xfrm>
        </p:spPr>
        <p:txBody>
          <a:bodyPr/>
          <a:lstStyle/>
          <a:p>
            <a:pPr>
              <a:spcBef>
                <a:spcPts val="0"/>
              </a:spcBef>
            </a:pPr>
            <a:r>
              <a:rPr lang="en-US" dirty="0"/>
              <a:t>Recognize that there is an event that requires a reaction</a:t>
            </a:r>
          </a:p>
          <a:p>
            <a:pPr>
              <a:spcBef>
                <a:spcPts val="0"/>
              </a:spcBef>
            </a:pPr>
            <a:r>
              <a:rPr lang="en-US" dirty="0"/>
              <a:t>Determine that the event has ethical implications</a:t>
            </a:r>
          </a:p>
          <a:p>
            <a:pPr>
              <a:spcBef>
                <a:spcPts val="0"/>
              </a:spcBef>
            </a:pPr>
            <a:r>
              <a:rPr lang="en-US" dirty="0"/>
              <a:t>Take personal responsibility for generating an ethical solution to this problem.</a:t>
            </a:r>
          </a:p>
          <a:p>
            <a:pPr>
              <a:spcBef>
                <a:spcPts val="0"/>
              </a:spcBef>
            </a:pPr>
            <a:r>
              <a:rPr lang="en-US" dirty="0"/>
              <a:t>Identify relevant principles, rights and justice issues.</a:t>
            </a:r>
          </a:p>
          <a:p>
            <a:pPr>
              <a:spcBef>
                <a:spcPts val="0"/>
              </a:spcBef>
            </a:pPr>
            <a:r>
              <a:rPr lang="en-US" dirty="0"/>
              <a:t>Decide how these abstract ethical rules apply to the problem to reach a concrete decision/solution.</a:t>
            </a:r>
          </a:p>
          <a:p>
            <a:pPr>
              <a:spcBef>
                <a:spcPts val="0"/>
              </a:spcBef>
            </a:pPr>
            <a:r>
              <a:rPr lang="en-US" dirty="0"/>
              <a:t>Act.</a:t>
            </a:r>
          </a:p>
          <a:p>
            <a:pPr marL="771525" indent="-771525">
              <a:buFont typeface="+mj-lt"/>
              <a:buAutoNum type="arabicPeriod"/>
            </a:pPr>
            <a:endParaRPr lang="en-US" dirty="0"/>
          </a:p>
          <a:p>
            <a:endParaRPr lang="en-US" dirty="0"/>
          </a:p>
        </p:txBody>
      </p:sp>
    </p:spTree>
    <p:custDataLst>
      <p:tags r:id="rId1"/>
    </p:custDataLst>
    <p:extLst>
      <p:ext uri="{BB962C8B-B14F-4D97-AF65-F5344CB8AC3E}">
        <p14:creationId xmlns:p14="http://schemas.microsoft.com/office/powerpoint/2010/main" val="206793374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 name="ARTICULATE_SLIDE_COUNT" val="8"/>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Breeze">
  <a:themeElements>
    <a:clrScheme name="Custom 3">
      <a:dk1>
        <a:sysClr val="windowText" lastClr="000000"/>
      </a:dk1>
      <a:lt1>
        <a:srgbClr val="C40724"/>
      </a:lt1>
      <a:dk2>
        <a:srgbClr val="000000"/>
      </a:dk2>
      <a:lt2>
        <a:srgbClr val="F8F8F8"/>
      </a:lt2>
      <a:accent1>
        <a:srgbClr val="BD061C"/>
      </a:accent1>
      <a:accent2>
        <a:srgbClr val="E98D0A"/>
      </a:accent2>
      <a:accent3>
        <a:srgbClr val="969696"/>
      </a:accent3>
      <a:accent4>
        <a:srgbClr val="808080"/>
      </a:accent4>
      <a:accent5>
        <a:srgbClr val="C40724"/>
      </a:accent5>
      <a:accent6>
        <a:srgbClr val="3F4F6C"/>
      </a:accent6>
      <a:hlink>
        <a:srgbClr val="5F5F5F"/>
      </a:hlink>
      <a:folHlink>
        <a:srgbClr val="919191"/>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Breeze">
      <a:fillStyleLst>
        <a:solidFill>
          <a:schemeClr val="phClr"/>
        </a:solidFill>
        <a:gradFill rotWithShape="1">
          <a:gsLst>
            <a:gs pos="31000">
              <a:schemeClr val="phClr">
                <a:tint val="100000"/>
                <a:shade val="100000"/>
                <a:satMod val="120000"/>
              </a:schemeClr>
            </a:gs>
            <a:gs pos="100000">
              <a:schemeClr val="phClr">
                <a:tint val="50000"/>
                <a:satMod val="150000"/>
              </a:schemeClr>
            </a:gs>
          </a:gsLst>
          <a:lin ang="5400000" scaled="1"/>
        </a:gradFill>
        <a:gradFill rotWithShape="1">
          <a:gsLst>
            <a:gs pos="0">
              <a:schemeClr val="phClr">
                <a:shade val="100000"/>
                <a:satMod val="120000"/>
              </a:schemeClr>
            </a:gs>
            <a:gs pos="69000">
              <a:schemeClr val="phClr">
                <a:tint val="80000"/>
                <a:shade val="100000"/>
                <a:satMod val="150000"/>
              </a:schemeClr>
            </a:gs>
            <a:gs pos="100000">
              <a:schemeClr val="phClr">
                <a:tint val="50000"/>
                <a:shade val="100000"/>
                <a:satMod val="150000"/>
              </a:schemeClr>
            </a:gs>
          </a:gsLst>
          <a:path path="circle">
            <a:fillToRect l="100000" t="100000" r="100000" b="100000"/>
          </a:path>
        </a:gradFill>
      </a:fillStyleLst>
      <a:lnStyleLst>
        <a:ln w="12700" cap="flat" cmpd="sng" algn="ctr">
          <a:solidFill>
            <a:schemeClr val="phClr">
              <a:shade val="95000"/>
              <a:satMod val="105000"/>
            </a:schemeClr>
          </a:solidFill>
          <a:prstDash val="solid"/>
        </a:ln>
        <a:ln w="25400" cap="flat" cmpd="dbl" algn="ctr">
          <a:solidFill>
            <a:schemeClr val="phClr"/>
          </a:solidFill>
          <a:prstDash val="solid"/>
        </a:ln>
        <a:ln w="31750" cap="flat" cmpd="dbl" algn="ctr">
          <a:solidFill>
            <a:schemeClr val="phClr"/>
          </a:solidFill>
          <a:prstDash val="solid"/>
        </a:ln>
      </a:lnStyleLst>
      <a:effectStyleLst>
        <a:effectStyle>
          <a:effectLst/>
        </a:effectStyle>
        <a:effectStyle>
          <a:effectLst>
            <a:outerShdw blurRad="63500" dist="25400" dir="5400000" sx="101000" sy="101000" rotWithShape="0">
              <a:srgbClr val="000000">
                <a:alpha val="40000"/>
              </a:srgbClr>
            </a:outerShdw>
          </a:effectLst>
        </a:effectStyle>
        <a:effectStyle>
          <a:effectLst>
            <a:innerShdw blurRad="127000" dist="25400" dir="13500000">
              <a:srgbClr val="C0C0C0">
                <a:alpha val="75000"/>
              </a:srgbClr>
            </a:innerShdw>
            <a:outerShdw blurRad="88900" dist="25400" dir="5400000" sx="102000" sy="102000" algn="ctr" rotWithShape="0">
              <a:srgbClr val="C0C0C0">
                <a:alpha val="40000"/>
              </a:srgbClr>
            </a:outerShdw>
          </a:effectLst>
          <a:scene3d>
            <a:camera prst="perspectiveLeft" fov="300000"/>
            <a:lightRig rig="soft" dir="l">
              <a:rot lat="0" lon="0" rev="4200000"/>
            </a:lightRig>
          </a:scene3d>
          <a:sp3d extrusionH="38100" prstMaterial="powder">
            <a:bevelT w="50800" h="88900" prst="convex"/>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blipFill rotWithShape="1">
          <a:blip xmlns:r="http://schemas.openxmlformats.org/officeDocument/2006/relationships" r:embed="rId1">
            <a:duotone>
              <a:schemeClr val="phClr">
                <a:shade val="40000"/>
                <a:satMod val="400000"/>
              </a:schemeClr>
              <a:schemeClr val="phClr">
                <a:tint val="10000"/>
                <a:satMod val="200000"/>
              </a:schemeClr>
            </a:duotone>
          </a:blip>
          <a:stretch/>
        </a:blip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1" id="{2F55A57D-0C50-904A-83D4-4E1CC0E2D52F}" vid="{6952F4DD-38AA-7342-AB40-4D73DFEF489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5e41b080-9453-459c-bb93-b19be7335f42">
      <Terms xmlns="http://schemas.microsoft.com/office/infopath/2007/PartnerControls"/>
    </lcf76f155ced4ddcb4097134ff3c332f>
    <TaxCatchAll xmlns="4e58ebf2-e4df-4cd3-9186-1e42b3ede124" xsi:nil="true"/>
    <Status xmlns="5e41b080-9453-459c-bb93-b19be7335f42" xsi:nil="true"/>
    <Comments xmlns="5e41b080-9453-459c-bb93-b19be7335f42" xsi:nil="true"/>
    <Due_x0020_Date xmlns="5e41b080-9453-459c-bb93-b19be7335f42"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F3EF55019BAB0549B2C20BFAAB8A2896" ma:contentTypeVersion="17" ma:contentTypeDescription="Create a new document." ma:contentTypeScope="" ma:versionID="6dd4d27a79178d964495491d99d85ab0">
  <xsd:schema xmlns:xsd="http://www.w3.org/2001/XMLSchema" xmlns:xs="http://www.w3.org/2001/XMLSchema" xmlns:p="http://schemas.microsoft.com/office/2006/metadata/properties" xmlns:ns2="5e41b080-9453-459c-bb93-b19be7335f42" xmlns:ns3="4e58ebf2-e4df-4cd3-9186-1e42b3ede124" targetNamespace="http://schemas.microsoft.com/office/2006/metadata/properties" ma:root="true" ma:fieldsID="5371f2543c27c65efb9018a9acd511a8" ns2:_="" ns3:_="">
    <xsd:import namespace="5e41b080-9453-459c-bb93-b19be7335f42"/>
    <xsd:import namespace="4e58ebf2-e4df-4cd3-9186-1e42b3ede124"/>
    <xsd:element name="properties">
      <xsd:complexType>
        <xsd:sequence>
          <xsd:element name="documentManagement">
            <xsd:complexType>
              <xsd:all>
                <xsd:element ref="ns2:Due_x0020_Date" minOccurs="0"/>
                <xsd:element ref="ns2:Status" minOccurs="0"/>
                <xsd:element ref="ns2:Comments" minOccurs="0"/>
                <xsd:element ref="ns2:MediaServiceMetadata" minOccurs="0"/>
                <xsd:element ref="ns2:MediaServiceFastMetadata" minOccurs="0"/>
                <xsd:element ref="ns3:SharedWithUsers" minOccurs="0"/>
                <xsd:element ref="ns3:SharedWithDetails" minOccurs="0"/>
                <xsd:element ref="ns2:MediaServiceDateTaken" minOccurs="0"/>
                <xsd:element ref="ns2:MediaServiceObjectDetectorVersions" minOccurs="0"/>
                <xsd:element ref="ns2:MediaLengthInSecond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e41b080-9453-459c-bb93-b19be7335f42" elementFormDefault="qualified">
    <xsd:import namespace="http://schemas.microsoft.com/office/2006/documentManagement/types"/>
    <xsd:import namespace="http://schemas.microsoft.com/office/infopath/2007/PartnerControls"/>
    <xsd:element name="Due_x0020_Date" ma:index="8" nillable="true" ma:displayName="Due Date" ma:format="DateOnly" ma:indexed="true" ma:internalName="Due_x0020_Date">
      <xsd:simpleType>
        <xsd:restriction base="dms:DateTime"/>
      </xsd:simpleType>
    </xsd:element>
    <xsd:element name="Status" ma:index="9" nillable="true" ma:displayName="Status" ma:format="Dropdown" ma:indexed="true" ma:internalName="Status">
      <xsd:simpleType>
        <xsd:restriction base="dms:Choice">
          <xsd:enumeration value="For Partner Review"/>
          <xsd:enumeration value="For Collegis Review"/>
          <xsd:enumeration value="Approved by Partner"/>
        </xsd:restriction>
      </xsd:simpleType>
    </xsd:element>
    <xsd:element name="Comments" ma:index="10" nillable="true" ma:displayName="Comments" ma:internalName="Comments">
      <xsd:simpleType>
        <xsd:restriction base="dms:Note">
          <xsd:maxLength value="255"/>
        </xsd:restriction>
      </xsd:simple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11040b95-0fdc-46ce-be91-73dc895452db"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element name="MediaServiceGenerationTime" ma:index="22" nillable="true" ma:displayName="MediaServiceGenerationTime" ma:hidden="true" ma:internalName="MediaServiceGenerationTime" ma:readOnly="true">
      <xsd:simpleType>
        <xsd:restriction base="dms:Text"/>
      </xsd:simpleType>
    </xsd:element>
    <xsd:element name="MediaServiceEventHashCode" ma:index="23" nillable="true" ma:displayName="MediaServiceEventHashCode" ma:hidden="true" ma:internalName="MediaServiceEventHashCode"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e58ebf2-e4df-4cd3-9186-1e42b3ede124"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ef5f3a8b-878a-4d06-a8de-79a1d9f1fffd}" ma:internalName="TaxCatchAll" ma:showField="CatchAllData" ma:web="4e58ebf2-e4df-4cd3-9186-1e42b3ede12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CB4D3F3-2161-4501-B555-558D1DDA1F60}">
  <ds:schemaRefs>
    <ds:schemaRef ds:uri="http://purl.org/dc/dcmitype/"/>
    <ds:schemaRef ds:uri="88c1e295-a029-41eb-a982-8bcc7d01c0cb"/>
    <ds:schemaRef ds:uri="http://purl.org/dc/terms/"/>
    <ds:schemaRef ds:uri="http://schemas.microsoft.com/office/2006/metadata/properties"/>
    <ds:schemaRef ds:uri="57db6fc0-2530-4489-bd2f-42335d65b94d"/>
    <ds:schemaRef ds:uri="http://schemas.microsoft.com/office/2006/documentManagement/types"/>
    <ds:schemaRef ds:uri="http://schemas.openxmlformats.org/package/2006/metadata/core-properties"/>
    <ds:schemaRef ds:uri="http://schemas.microsoft.com/office/infopath/2007/PartnerControls"/>
    <ds:schemaRef ds:uri="http://www.w3.org/XML/1998/namespace"/>
    <ds:schemaRef ds:uri="http://purl.org/dc/elements/1.1/"/>
    <ds:schemaRef ds:uri="5e41b080-9453-459c-bb93-b19be7335f42"/>
    <ds:schemaRef ds:uri="4e58ebf2-e4df-4cd3-9186-1e42b3ede124"/>
  </ds:schemaRefs>
</ds:datastoreItem>
</file>

<file path=customXml/itemProps2.xml><?xml version="1.0" encoding="utf-8"?>
<ds:datastoreItem xmlns:ds="http://schemas.openxmlformats.org/officeDocument/2006/customXml" ds:itemID="{46CEFF4B-9EC7-4D38-B437-9DE5B52C77FE}">
  <ds:schemaRefs>
    <ds:schemaRef ds:uri="http://schemas.microsoft.com/sharepoint/v3/contenttype/forms"/>
  </ds:schemaRefs>
</ds:datastoreItem>
</file>

<file path=customXml/itemProps3.xml><?xml version="1.0" encoding="utf-8"?>
<ds:datastoreItem xmlns:ds="http://schemas.openxmlformats.org/officeDocument/2006/customXml" ds:itemID="{28F0A47A-9E10-4FE4-8BE8-0C808C85F18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e41b080-9453-459c-bb93-b19be7335f42"/>
    <ds:schemaRef ds:uri="4e58ebf2-e4df-4cd3-9186-1e42b3ede12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Template - MBA_Stuart_ILTECH__PPT</Template>
  <TotalTime>10899</TotalTime>
  <Words>606</Words>
  <Application>Microsoft Office PowerPoint</Application>
  <PresentationFormat>Custom</PresentationFormat>
  <Paragraphs>30</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Wingdings 2</vt:lpstr>
      <vt:lpstr>Breeze</vt:lpstr>
      <vt:lpstr>MBA532 – AI in Business </vt:lpstr>
      <vt:lpstr>AI Ethics</vt:lpstr>
      <vt:lpstr>Definition of AI Ethics</vt:lpstr>
      <vt:lpstr>Increased Awareness of what AI Systems can Track</vt:lpstr>
      <vt:lpstr>Increased awareness of Anthropomorphism</vt:lpstr>
      <vt:lpstr>Moral/Ethical Dilemmas:  Trolleys and Autonomous Vehicles</vt:lpstr>
      <vt:lpstr>AI in Self-driving Car</vt:lpstr>
      <vt:lpstr>Process for AI to choose in An Ethical Manner</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MBA532 – AI in Business</dc:title>
  <dc:subject/>
  <dc:creator>Siva Balasubramanian</dc:creator>
  <cp:keywords/>
  <dc:description/>
  <cp:lastModifiedBy>Bernadette Otoo</cp:lastModifiedBy>
  <cp:revision>231</cp:revision>
  <dcterms:created xsi:type="dcterms:W3CDTF">2024-03-17T05:07:31Z</dcterms:created>
  <dcterms:modified xsi:type="dcterms:W3CDTF">2024-05-24T15:52:22Z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0x010100F3EF55019BAB0549B2C20BFAAB8A2896</vt:lpwstr>
  </property>
  <property fmtid="{D5CDD505-2E9C-101B-9397-08002B2CF9AE}" pid="3" name="MediaServiceImageTags">
    <vt:lpwstr/>
  </property>
  <property fmtid="{D5CDD505-2E9C-101B-9397-08002B2CF9AE}" pid="4" name="ArticulateGUID">
    <vt:lpwstr>EA7CE7AA-1630-44B3-A3FB-052E2D02D1DA</vt:lpwstr>
  </property>
  <property fmtid="{D5CDD505-2E9C-101B-9397-08002B2CF9AE}" pid="5" name="ArticulatePath">
    <vt:lpwstr>MBA532 – AI in Business - Module 8 - April 2</vt:lpwstr>
  </property>
</Properties>
</file>