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0"/>
  </p:notesMasterIdLst>
  <p:sldIdLst>
    <p:sldId id="311" r:id="rId5"/>
    <p:sldId id="413" r:id="rId6"/>
    <p:sldId id="408" r:id="rId7"/>
    <p:sldId id="312" r:id="rId8"/>
    <p:sldId id="405" r:id="rId9"/>
  </p:sldIdLst>
  <p:sldSz cx="18288000" cy="10287000"/>
  <p:notesSz cx="6858000" cy="9144000"/>
  <p:custDataLst>
    <p:tags r:id="rId11"/>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hyperlink" Target="https://www.forbes.com/sites/mzhang/2015/07/01/google-photos-tags-two-african-americans-as-gorillas-through-facial-recognition-software/?sh=3c2cf3b3713d" TargetMode="Externa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8 – AI Ethics and Responsible 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8D053-9784-4381-B5E2-078BD4F28C30}"/>
              </a:ext>
            </a:extLst>
          </p:cNvPr>
          <p:cNvSpPr>
            <a:spLocks noGrp="1"/>
          </p:cNvSpPr>
          <p:nvPr>
            <p:ph type="title"/>
          </p:nvPr>
        </p:nvSpPr>
        <p:spPr/>
        <p:txBody>
          <a:bodyPr/>
          <a:lstStyle/>
          <a:p>
            <a:r>
              <a:rPr lang="en-US" dirty="0"/>
              <a:t>Attention to Biases in AI Ethics</a:t>
            </a:r>
          </a:p>
        </p:txBody>
      </p:sp>
      <p:sp>
        <p:nvSpPr>
          <p:cNvPr id="3" name="Content Placeholder 2">
            <a:extLst>
              <a:ext uri="{FF2B5EF4-FFF2-40B4-BE49-F238E27FC236}">
                <a16:creationId xmlns:a16="http://schemas.microsoft.com/office/drawing/2014/main" id="{E5C1B364-B049-474C-88B0-15FD25BD0BF3}"/>
              </a:ext>
            </a:extLst>
          </p:cNvPr>
          <p:cNvSpPr>
            <a:spLocks noGrp="1"/>
          </p:cNvSpPr>
          <p:nvPr>
            <p:ph idx="1"/>
          </p:nvPr>
        </p:nvSpPr>
        <p:spPr/>
        <p:txBody>
          <a:bodyPr/>
          <a:lstStyle/>
          <a:p>
            <a:r>
              <a:rPr lang="en-US" dirty="0"/>
              <a:t>Attention to Biases in AI Ethics practice;</a:t>
            </a:r>
          </a:p>
        </p:txBody>
      </p:sp>
    </p:spTree>
    <p:custDataLst>
      <p:tags r:id="rId1"/>
    </p:custDataLst>
    <p:extLst>
      <p:ext uri="{BB962C8B-B14F-4D97-AF65-F5344CB8AC3E}">
        <p14:creationId xmlns:p14="http://schemas.microsoft.com/office/powerpoint/2010/main" val="3569798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E115C-4A16-413C-A3D6-21D82E74B219}"/>
              </a:ext>
            </a:extLst>
          </p:cNvPr>
          <p:cNvSpPr>
            <a:spLocks noGrp="1"/>
          </p:cNvSpPr>
          <p:nvPr>
            <p:ph type="title"/>
          </p:nvPr>
        </p:nvSpPr>
        <p:spPr>
          <a:xfrm>
            <a:off x="1098550" y="183187"/>
            <a:ext cx="16084552" cy="1048770"/>
          </a:xfrm>
        </p:spPr>
        <p:txBody>
          <a:bodyPr/>
          <a:lstStyle/>
          <a:p>
            <a:r>
              <a:rPr lang="en-US" dirty="0"/>
              <a:t>Biases Inherent in AI</a:t>
            </a:r>
          </a:p>
        </p:txBody>
      </p:sp>
      <p:sp>
        <p:nvSpPr>
          <p:cNvPr id="3" name="Content Placeholder 2">
            <a:extLst>
              <a:ext uri="{FF2B5EF4-FFF2-40B4-BE49-F238E27FC236}">
                <a16:creationId xmlns:a16="http://schemas.microsoft.com/office/drawing/2014/main" id="{22D499FE-090C-4E0A-AD1E-2051B22F54E6}"/>
              </a:ext>
            </a:extLst>
          </p:cNvPr>
          <p:cNvSpPr>
            <a:spLocks noGrp="1"/>
          </p:cNvSpPr>
          <p:nvPr>
            <p:ph idx="1"/>
          </p:nvPr>
        </p:nvSpPr>
        <p:spPr>
          <a:xfrm>
            <a:off x="1098550" y="1488383"/>
            <a:ext cx="16084552" cy="8091045"/>
          </a:xfrm>
        </p:spPr>
        <p:txBody>
          <a:bodyPr/>
          <a:lstStyle/>
          <a:p>
            <a:pPr>
              <a:spcBef>
                <a:spcPts val="0"/>
              </a:spcBef>
            </a:pPr>
            <a:r>
              <a:rPr lang="en-US" sz="3200" b="0" i="0" strike="noStrike" dirty="0">
                <a:effectLst/>
              </a:rPr>
              <a:t>We discussed earlier the biases imposed from COMPAS AI system on the US criminal justice syste</a:t>
            </a:r>
            <a:r>
              <a:rPr lang="en-US" sz="3200" dirty="0"/>
              <a:t>m.</a:t>
            </a:r>
            <a:endParaRPr lang="en-US" sz="3200" b="0" i="0" strike="noStrike" dirty="0">
              <a:effectLst/>
            </a:endParaRPr>
          </a:p>
          <a:p>
            <a:pPr>
              <a:spcBef>
                <a:spcPts val="0"/>
              </a:spcBef>
            </a:pPr>
            <a:r>
              <a:rPr lang="en-US" sz="3200" b="0" i="0" u="none" strike="noStrike" dirty="0">
                <a:effectLst/>
              </a:rPr>
              <a:t>Sarah Wysocki</a:t>
            </a:r>
            <a:r>
              <a:rPr lang="en-US" sz="3200" b="0" i="0" dirty="0">
                <a:effectLst/>
              </a:rPr>
              <a:t>, a fifth grade teacher who — despite being lauded by parents, students, and administrators alike — was fired from the D.C. school district because an algorithm judged her performance to be sub-par. Why? It’s not exactly clear, because the system was too complex to be understood by those who fired her.</a:t>
            </a:r>
          </a:p>
          <a:p>
            <a:pPr>
              <a:spcBef>
                <a:spcPts val="0"/>
              </a:spcBef>
            </a:pPr>
            <a:r>
              <a:rPr lang="en-US" sz="3200" b="0" i="0" dirty="0">
                <a:effectLst/>
              </a:rPr>
              <a:t>Bias in AI systems may have several sources: the data sets on which models are trained, the design of the models themselves, or biases carried over by humans when they use AI systems. </a:t>
            </a:r>
          </a:p>
          <a:p>
            <a:pPr>
              <a:spcBef>
                <a:spcPts val="0"/>
              </a:spcBef>
            </a:pPr>
            <a:r>
              <a:rPr lang="en-US" sz="3200" b="0" i="0" dirty="0">
                <a:effectLst/>
              </a:rPr>
              <a:t>Biases in the data sets on which algorithms are trained can be subtle, for example, such as when smartphone apps are used to monitor potholes and alert authorities to contact maintenance crews. That may be efficient, but it’s bound to undercount poorer areas where fewer people have smartphones.</a:t>
            </a:r>
          </a:p>
          <a:p>
            <a:pPr>
              <a:spcBef>
                <a:spcPts val="0"/>
              </a:spcBef>
            </a:pPr>
            <a:r>
              <a:rPr lang="en-US" dirty="0"/>
              <a:t>Source: </a:t>
            </a:r>
            <a:r>
              <a:rPr lang="en-US" sz="3200" dirty="0"/>
              <a:t>“We Need AI that is Explainable, Auditable, and Transparent.” Greg </a:t>
            </a:r>
            <a:r>
              <a:rPr lang="en-US" sz="3200" dirty="0" err="1"/>
              <a:t>Satell</a:t>
            </a:r>
            <a:r>
              <a:rPr lang="en-US" sz="3200" dirty="0"/>
              <a:t> and Josh Sutton, </a:t>
            </a:r>
            <a:r>
              <a:rPr lang="en-US" sz="3200" i="1" dirty="0"/>
              <a:t>Harvard Business Review</a:t>
            </a:r>
            <a:r>
              <a:rPr lang="en-US" sz="3200" dirty="0"/>
              <a:t>, October 28 2019.</a:t>
            </a:r>
          </a:p>
          <a:p>
            <a:endParaRPr lang="en-US" dirty="0"/>
          </a:p>
        </p:txBody>
      </p:sp>
    </p:spTree>
    <p:custDataLst>
      <p:tags r:id="rId1"/>
    </p:custDataLst>
    <p:extLst>
      <p:ext uri="{BB962C8B-B14F-4D97-AF65-F5344CB8AC3E}">
        <p14:creationId xmlns:p14="http://schemas.microsoft.com/office/powerpoint/2010/main" val="1628168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8C786-0B0A-4920-8BC1-3DF72BF56B7C}"/>
              </a:ext>
            </a:extLst>
          </p:cNvPr>
          <p:cNvSpPr>
            <a:spLocks noGrp="1"/>
          </p:cNvSpPr>
          <p:nvPr>
            <p:ph type="title"/>
          </p:nvPr>
        </p:nvSpPr>
        <p:spPr>
          <a:xfrm>
            <a:off x="1101724" y="199515"/>
            <a:ext cx="16084552" cy="1212056"/>
          </a:xfrm>
        </p:spPr>
        <p:txBody>
          <a:bodyPr/>
          <a:lstStyle/>
          <a:p>
            <a:r>
              <a:rPr lang="en-US" b="1" dirty="0">
                <a:solidFill>
                  <a:srgbClr val="C00000"/>
                </a:solidFill>
              </a:rPr>
              <a:t>Algorithmic Bias</a:t>
            </a:r>
          </a:p>
        </p:txBody>
      </p:sp>
      <p:sp>
        <p:nvSpPr>
          <p:cNvPr id="3" name="Content Placeholder 2">
            <a:extLst>
              <a:ext uri="{FF2B5EF4-FFF2-40B4-BE49-F238E27FC236}">
                <a16:creationId xmlns:a16="http://schemas.microsoft.com/office/drawing/2014/main" id="{0376AF2B-EB58-4DBC-A501-4EB305DE307E}"/>
              </a:ext>
            </a:extLst>
          </p:cNvPr>
          <p:cNvSpPr>
            <a:spLocks noGrp="1"/>
          </p:cNvSpPr>
          <p:nvPr>
            <p:ph idx="1"/>
          </p:nvPr>
        </p:nvSpPr>
        <p:spPr>
          <a:xfrm>
            <a:off x="1098550" y="1745898"/>
            <a:ext cx="16084552" cy="7702901"/>
          </a:xfrm>
        </p:spPr>
        <p:txBody>
          <a:bodyPr>
            <a:noAutofit/>
          </a:bodyPr>
          <a:lstStyle/>
          <a:p>
            <a:r>
              <a:rPr lang="en-US" sz="3200" dirty="0"/>
              <a:t>Algorithmic bias reflects the tendency of machine learning algorithms to </a:t>
            </a:r>
            <a:r>
              <a:rPr lang="en-US" sz="3200" b="1" dirty="0"/>
              <a:t>produce inappropriately biased decisions </a:t>
            </a:r>
            <a:r>
              <a:rPr lang="en-US" sz="3200" dirty="0"/>
              <a:t>on loans, hiring, housing, jobs, insurance, parole, sentencing, college admission etc. </a:t>
            </a:r>
            <a:endParaRPr lang="en-US" sz="3200" b="1" i="1" dirty="0"/>
          </a:p>
          <a:p>
            <a:r>
              <a:rPr lang="en-US" sz="3200" dirty="0"/>
              <a:t>The explicit use of race-based criteria in these decisions is illegal in many countries and is prohibited by Article 9 of the GDPR. </a:t>
            </a:r>
            <a:r>
              <a:rPr lang="en-US" sz="3200" b="1" dirty="0"/>
              <a:t>This doesn’t mean that by excluding race from the data that we necessarily get racially unbiased decisions.</a:t>
            </a:r>
          </a:p>
          <a:p>
            <a:r>
              <a:rPr lang="en-US" sz="3200" b="1" dirty="0">
                <a:solidFill>
                  <a:srgbClr val="C00000"/>
                </a:solidFill>
              </a:rPr>
              <a:t>Example</a:t>
            </a:r>
            <a:r>
              <a:rPr lang="en-US" sz="3200" dirty="0">
                <a:solidFill>
                  <a:srgbClr val="C00000"/>
                </a:solidFill>
              </a:rPr>
              <a:t>: Discuss inappropriate labeling of pictures of an African American by Google Photos. Source: </a:t>
            </a:r>
            <a:r>
              <a:rPr lang="en-US" sz="3200" dirty="0">
                <a:solidFill>
                  <a:srgbClr val="C00000"/>
                </a:solidFill>
                <a:hlinkClick r:id="rId3"/>
              </a:rPr>
              <a:t>Google Photo Tags African Americans as Gorillas</a:t>
            </a:r>
            <a:endParaRPr lang="en-US" sz="3200" dirty="0">
              <a:solidFill>
                <a:srgbClr val="C00000"/>
              </a:solidFill>
            </a:endParaRPr>
          </a:p>
          <a:p>
            <a:pPr marL="685800" lvl="1" indent="0">
              <a:buNone/>
            </a:pPr>
            <a:r>
              <a:rPr lang="en-US" sz="3200" b="1" dirty="0">
                <a:solidFill>
                  <a:schemeClr val="accent1"/>
                </a:solidFill>
              </a:rPr>
              <a:t>Example</a:t>
            </a:r>
            <a:r>
              <a:rPr lang="en-US" sz="3200" dirty="0">
                <a:solidFill>
                  <a:schemeClr val="accent1"/>
                </a:solidFill>
              </a:rPr>
              <a:t>: Beginning in the 1930s, the government-sanctioned practice of redlining caused certain zip codes in the U.S to be off-limits for mortgage lending and other forms of investment, leading to declining real-estate values. To prevent redlining, only the first three digits of the five-digit zip code can be used now for credit decisions.</a:t>
            </a:r>
          </a:p>
        </p:txBody>
      </p:sp>
    </p:spTree>
    <p:custDataLst>
      <p:tags r:id="rId1"/>
    </p:custDataLst>
    <p:extLst>
      <p:ext uri="{BB962C8B-B14F-4D97-AF65-F5344CB8AC3E}">
        <p14:creationId xmlns:p14="http://schemas.microsoft.com/office/powerpoint/2010/main" val="666145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5C9FD-3707-4719-AE17-4FA26AF8A9B5}"/>
              </a:ext>
            </a:extLst>
          </p:cNvPr>
          <p:cNvSpPr>
            <a:spLocks noGrp="1"/>
          </p:cNvSpPr>
          <p:nvPr>
            <p:ph type="title"/>
          </p:nvPr>
        </p:nvSpPr>
        <p:spPr>
          <a:xfrm>
            <a:off x="1101724" y="565470"/>
            <a:ext cx="16084552" cy="1551434"/>
          </a:xfrm>
        </p:spPr>
        <p:txBody>
          <a:bodyPr/>
          <a:lstStyle/>
          <a:p>
            <a:r>
              <a:rPr lang="en-US" sz="4800" b="1" dirty="0">
                <a:solidFill>
                  <a:srgbClr val="C00000"/>
                </a:solidFill>
              </a:rPr>
              <a:t>The ART of AI: Accountability, Responsibility, Transparency</a:t>
            </a:r>
          </a:p>
        </p:txBody>
      </p:sp>
      <p:sp>
        <p:nvSpPr>
          <p:cNvPr id="3" name="Content Placeholder 2">
            <a:extLst>
              <a:ext uri="{FF2B5EF4-FFF2-40B4-BE49-F238E27FC236}">
                <a16:creationId xmlns:a16="http://schemas.microsoft.com/office/drawing/2014/main" id="{8C8C3945-AD19-4AD3-993D-919994BE2F54}"/>
              </a:ext>
            </a:extLst>
          </p:cNvPr>
          <p:cNvSpPr>
            <a:spLocks noGrp="1"/>
          </p:cNvSpPr>
          <p:nvPr>
            <p:ph idx="1"/>
          </p:nvPr>
        </p:nvSpPr>
        <p:spPr>
          <a:xfrm>
            <a:off x="1257300" y="2788921"/>
            <a:ext cx="15773400" cy="5582193"/>
          </a:xfrm>
        </p:spPr>
        <p:txBody>
          <a:bodyPr>
            <a:normAutofit fontScale="47500" lnSpcReduction="20000"/>
          </a:bodyPr>
          <a:lstStyle/>
          <a:p>
            <a:r>
              <a:rPr lang="en-US" sz="8000" b="1" dirty="0"/>
              <a:t>Accountability</a:t>
            </a:r>
            <a:r>
              <a:rPr lang="en-US" sz="8000" dirty="0"/>
              <a:t>: requires the AI system to be able to explain/justify its decisions to users and other relevant actors.</a:t>
            </a:r>
          </a:p>
          <a:p>
            <a:r>
              <a:rPr lang="en-US" sz="8000" b="1" dirty="0"/>
              <a:t>Responsibility</a:t>
            </a:r>
            <a:r>
              <a:rPr lang="en-US" sz="8000" dirty="0"/>
              <a:t>: individuals should assume responsibility for their relationships with AI systems.  </a:t>
            </a:r>
          </a:p>
          <a:p>
            <a:r>
              <a:rPr lang="en-US" sz="8000" b="1" dirty="0"/>
              <a:t>Transparency</a:t>
            </a:r>
            <a:r>
              <a:rPr lang="en-US" sz="8000" dirty="0"/>
              <a:t>: the capability to describe, inspect and reproduce</a:t>
            </a:r>
          </a:p>
          <a:p>
            <a:pPr lvl="1"/>
            <a:r>
              <a:rPr lang="en-US" sz="8000" dirty="0"/>
              <a:t>the mechanisms through which AI systems make decisions and learn to adapt to their environment </a:t>
            </a:r>
          </a:p>
          <a:p>
            <a:pPr lvl="1"/>
            <a:r>
              <a:rPr lang="en-US" sz="8000" dirty="0"/>
              <a:t>the data that is used and created by the system.</a:t>
            </a:r>
          </a:p>
          <a:p>
            <a:endParaRPr lang="en-US" sz="4800" dirty="0"/>
          </a:p>
          <a:p>
            <a:pPr marL="685800" lvl="1" indent="0">
              <a:buNone/>
            </a:pPr>
            <a:endParaRPr lang="en-US" dirty="0"/>
          </a:p>
        </p:txBody>
      </p:sp>
    </p:spTree>
    <p:custDataLst>
      <p:tags r:id="rId1"/>
    </p:custDataLst>
    <p:extLst>
      <p:ext uri="{BB962C8B-B14F-4D97-AF65-F5344CB8AC3E}">
        <p14:creationId xmlns:p14="http://schemas.microsoft.com/office/powerpoint/2010/main" val="27794851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10900</TotalTime>
  <Words>473</Words>
  <Application>Microsoft Office PowerPoint</Application>
  <PresentationFormat>Custom</PresentationFormat>
  <Paragraphs>21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Wingdings 2</vt:lpstr>
      <vt:lpstr>Breeze</vt:lpstr>
      <vt:lpstr>MBA532 – AI in Business </vt:lpstr>
      <vt:lpstr>Attention to Biases in AI Ethics</vt:lpstr>
      <vt:lpstr>Biases Inherent in AI</vt:lpstr>
      <vt:lpstr>Algorithmic Bias</vt:lpstr>
      <vt:lpstr>The ART of AI: Accountability, Responsibility, Transparency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232</cp:revision>
  <dcterms:created xsi:type="dcterms:W3CDTF">2024-03-17T05:07:31Z</dcterms:created>
  <dcterms:modified xsi:type="dcterms:W3CDTF">2024-05-24T15:53:18Z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EA7CE7AA-1630-44B3-A3FB-052E2D02D1DA</vt:lpwstr>
  </property>
  <property fmtid="{D5CDD505-2E9C-101B-9397-08002B2CF9AE}" pid="5" name="ArticulatePath">
    <vt:lpwstr>MBA532 – AI in Business - Module 8 - April 2</vt:lpwstr>
  </property>
</Properties>
</file>