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9"/>
  </p:notesMasterIdLst>
  <p:sldIdLst>
    <p:sldId id="311" r:id="rId5"/>
    <p:sldId id="334" r:id="rId6"/>
    <p:sldId id="307" r:id="rId7"/>
    <p:sldId id="332" r:id="rId8"/>
    <p:sldId id="335" r:id="rId9"/>
    <p:sldId id="263" r:id="rId10"/>
    <p:sldId id="264" r:id="rId11"/>
    <p:sldId id="333" r:id="rId12"/>
    <p:sldId id="273" r:id="rId13"/>
    <p:sldId id="274" r:id="rId14"/>
    <p:sldId id="275" r:id="rId15"/>
    <p:sldId id="276" r:id="rId16"/>
    <p:sldId id="277" r:id="rId17"/>
    <p:sldId id="278" r:id="rId18"/>
  </p:sldIdLst>
  <p:sldSz cx="18288000" cy="10287000"/>
  <p:notesSz cx="6858000" cy="9144000"/>
  <p:custDataLst>
    <p:tags r:id="rId20"/>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52AC1C-14F3-1EC3-FB4D-2A90A0BAC4A9}" v="8" dt="2024-05-07T01:57:15.8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87E99-A11D-4C5C-8984-BF5C7E043D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661211-265E-4062-95C2-899F48904B17}"/>
              </a:ext>
            </a:extLst>
          </p:cNvPr>
          <p:cNvSpPr>
            <a:spLocks noGrp="1"/>
          </p:cNvSpPr>
          <p:nvPr>
            <p:ph type="dt" sz="half" idx="10"/>
          </p:nvPr>
        </p:nvSpPr>
        <p:spPr/>
        <p:txBody>
          <a:bodyPr/>
          <a:lstStyle/>
          <a:p>
            <a:fld id="{7EB636FF-6623-4057-AF61-DE00FA6B102A}" type="datetimeFigureOut">
              <a:rPr lang="en-US" smtClean="0"/>
              <a:t>5/24/2024</a:t>
            </a:fld>
            <a:endParaRPr lang="en-US"/>
          </a:p>
        </p:txBody>
      </p:sp>
      <p:sp>
        <p:nvSpPr>
          <p:cNvPr id="4" name="Footer Placeholder 3">
            <a:extLst>
              <a:ext uri="{FF2B5EF4-FFF2-40B4-BE49-F238E27FC236}">
                <a16:creationId xmlns:a16="http://schemas.microsoft.com/office/drawing/2014/main" id="{2CB2C95A-0963-4336-A00D-DABF8AAC00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E9B78E-6B10-4CED-805B-CF6D52499A9A}"/>
              </a:ext>
            </a:extLst>
          </p:cNvPr>
          <p:cNvSpPr>
            <a:spLocks noGrp="1"/>
          </p:cNvSpPr>
          <p:nvPr>
            <p:ph type="sldNum" sz="quarter" idx="12"/>
          </p:nvPr>
        </p:nvSpPr>
        <p:spPr/>
        <p:txBody>
          <a:bodyPr/>
          <a:lstStyle/>
          <a:p>
            <a:fld id="{8E20E20D-334C-4D89-B0A6-10D3AE6D9B7D}" type="slidenum">
              <a:rPr lang="en-US" smtClean="0"/>
              <a:t>‹#›</a:t>
            </a:fld>
            <a:endParaRPr lang="en-US"/>
          </a:p>
        </p:txBody>
      </p:sp>
    </p:spTree>
    <p:extLst>
      <p:ext uri="{BB962C8B-B14F-4D97-AF65-F5344CB8AC3E}">
        <p14:creationId xmlns:p14="http://schemas.microsoft.com/office/powerpoint/2010/main" val="22327945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8" r:id="rId4"/>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hyperlink" Target="https://huggingface.co/taid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propublica.org/article/machine-bias-risk-assessments-in-criminal-sentencin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8" y="2286002"/>
            <a:ext cx="12998450" cy="2587626"/>
          </a:xfrm>
        </p:spPr>
        <p:txBody>
          <a:bodyPr/>
          <a:lstStyle/>
          <a:p>
            <a:pPr>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8" y="4949828"/>
            <a:ext cx="12998450" cy="1374774"/>
          </a:xfrm>
        </p:spPr>
        <p:txBody>
          <a:bodyPr>
            <a:normAutofit/>
          </a:bodyPr>
          <a:lstStyle/>
          <a:p>
            <a:pPr>
              <a:defRPr/>
            </a:pPr>
            <a:r>
              <a:rPr lang="en-US" dirty="0">
                <a:latin typeface="+mj-lt"/>
              </a:rPr>
              <a:t>MODULE 6 – </a:t>
            </a:r>
            <a:r>
              <a:rPr lang="en-US" dirty="0">
                <a:effectLst/>
                <a:latin typeface="+mj-lt"/>
                <a:ea typeface="Calibri" panose="020F0502020204030204" pitchFamily="34" charset="0"/>
                <a:cs typeface="Times New Roman" panose="02020603050405020304" pitchFamily="18" charset="0"/>
              </a:rPr>
              <a:t>AI Impact Assessment from other dimensions – </a:t>
            </a:r>
            <a:r>
              <a:rPr lang="en-US">
                <a:effectLst/>
                <a:latin typeface="+mj-lt"/>
                <a:ea typeface="Calibri" panose="020F0502020204030204" pitchFamily="34" charset="0"/>
                <a:cs typeface="Times New Roman" panose="02020603050405020304" pitchFamily="18" charset="0"/>
              </a:rPr>
              <a:t>multiple perspectives</a:t>
            </a:r>
            <a:endParaRPr lang="en-US"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0BC3-CC52-4B7B-B48E-3A613EFF2331}"/>
              </a:ext>
            </a:extLst>
          </p:cNvPr>
          <p:cNvSpPr>
            <a:spLocks noGrp="1"/>
          </p:cNvSpPr>
          <p:nvPr>
            <p:ph type="title"/>
          </p:nvPr>
        </p:nvSpPr>
        <p:spPr>
          <a:xfrm>
            <a:off x="1098550" y="576942"/>
            <a:ext cx="16084552" cy="1037885"/>
          </a:xfrm>
        </p:spPr>
        <p:txBody>
          <a:bodyPr/>
          <a:lstStyle/>
          <a:p>
            <a:r>
              <a:rPr lang="en-US" sz="4800" dirty="0"/>
              <a:t>Needs and friction points: Businesses and Nations</a:t>
            </a:r>
          </a:p>
        </p:txBody>
      </p:sp>
      <p:sp>
        <p:nvSpPr>
          <p:cNvPr id="3" name="Content Placeholder 2">
            <a:extLst>
              <a:ext uri="{FF2B5EF4-FFF2-40B4-BE49-F238E27FC236}">
                <a16:creationId xmlns:a16="http://schemas.microsoft.com/office/drawing/2014/main" id="{BC64BB67-13C9-48C9-B932-2A4F1E431A0E}"/>
              </a:ext>
            </a:extLst>
          </p:cNvPr>
          <p:cNvSpPr>
            <a:spLocks noGrp="1"/>
          </p:cNvSpPr>
          <p:nvPr>
            <p:ph idx="1"/>
          </p:nvPr>
        </p:nvSpPr>
        <p:spPr/>
        <p:txBody>
          <a:bodyPr/>
          <a:lstStyle/>
          <a:p>
            <a:r>
              <a:rPr lang="en-US" dirty="0"/>
              <a:t>Needs and friction points</a:t>
            </a:r>
          </a:p>
        </p:txBody>
      </p:sp>
    </p:spTree>
    <p:custDataLst>
      <p:tags r:id="rId1"/>
    </p:custDataLst>
    <p:extLst>
      <p:ext uri="{BB962C8B-B14F-4D97-AF65-F5344CB8AC3E}">
        <p14:creationId xmlns:p14="http://schemas.microsoft.com/office/powerpoint/2010/main" val="1943427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4379" y="860423"/>
            <a:ext cx="16084550" cy="1065893"/>
          </a:xfrm>
        </p:spPr>
        <p:txBody>
          <a:bodyPr/>
          <a:lstStyle/>
          <a:p>
            <a:r>
              <a:rPr lang="en-US" sz="4800" b="1" dirty="0">
                <a:solidFill>
                  <a:srgbClr val="C00000"/>
                </a:solidFill>
              </a:rPr>
              <a:t>Business and AI: What are unique needs and key friction points?</a:t>
            </a:r>
          </a:p>
        </p:txBody>
      </p:sp>
      <p:sp>
        <p:nvSpPr>
          <p:cNvPr id="3" name="Rectangle 2"/>
          <p:cNvSpPr/>
          <p:nvPr/>
        </p:nvSpPr>
        <p:spPr>
          <a:xfrm>
            <a:off x="1596263" y="2356151"/>
            <a:ext cx="14085323" cy="6740307"/>
          </a:xfrm>
          <a:prstGeom prst="rect">
            <a:avLst/>
          </a:prstGeom>
        </p:spPr>
        <p:txBody>
          <a:bodyPr wrap="square">
            <a:spAutoFit/>
          </a:bodyPr>
          <a:lstStyle/>
          <a:p>
            <a:pPr marL="428625" indent="-428625">
              <a:buFont typeface="Arial" panose="020B0604020202020204" pitchFamily="34" charset="0"/>
              <a:buChar char="•"/>
            </a:pPr>
            <a:r>
              <a:rPr lang="en-US" sz="3600" dirty="0">
                <a:solidFill>
                  <a:srgbClr val="C00000"/>
                </a:solidFill>
              </a:rPr>
              <a:t>Businesses like to make assumptions and experiment with AI strategies.</a:t>
            </a:r>
          </a:p>
          <a:p>
            <a:r>
              <a:rPr lang="en-US" sz="3600" dirty="0"/>
              <a:t>	Do we have the luxury of experimenting with unknown  </a:t>
            </a:r>
          </a:p>
          <a:p>
            <a:r>
              <a:rPr lang="en-US" sz="3600" dirty="0"/>
              <a:t>           	and unpredictable AI outcomes? It is a good idea to</a:t>
            </a:r>
          </a:p>
          <a:p>
            <a:r>
              <a:rPr lang="en-US" sz="3600" dirty="0"/>
              <a:t>           	design experiments with AI very carefully. Data-		     			simulations are a cheap and safe alternative.</a:t>
            </a:r>
          </a:p>
          <a:p>
            <a:pPr marL="428625" indent="-428625">
              <a:buFont typeface="Arial" panose="020B0604020202020204" pitchFamily="34" charset="0"/>
              <a:buChar char="•"/>
            </a:pPr>
            <a:r>
              <a:rPr lang="en-US" sz="3600" dirty="0">
                <a:solidFill>
                  <a:srgbClr val="C00000"/>
                </a:solidFill>
              </a:rPr>
              <a:t>Businesses focus on short-term results, but need to look at the long-term as well. </a:t>
            </a:r>
          </a:p>
          <a:p>
            <a:r>
              <a:rPr lang="en-US" sz="3600" dirty="0"/>
              <a:t>	Can we realistically expect AI systems to deliver all</a:t>
            </a:r>
          </a:p>
          <a:p>
            <a:r>
              <a:rPr lang="en-US" sz="3600" dirty="0"/>
              <a:t>	   	their potential benefits within a short-term window?</a:t>
            </a:r>
          </a:p>
          <a:p>
            <a:endParaRPr lang="en-US" sz="3600" dirty="0"/>
          </a:p>
          <a:p>
            <a:r>
              <a:rPr lang="en-US" sz="3600" dirty="0"/>
              <a:t>       The simple answer is “No.”</a:t>
            </a:r>
          </a:p>
        </p:txBody>
      </p:sp>
    </p:spTree>
    <p:extLst>
      <p:ext uri="{BB962C8B-B14F-4D97-AF65-F5344CB8AC3E}">
        <p14:creationId xmlns:p14="http://schemas.microsoft.com/office/powerpoint/2010/main" val="776425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2F28F-21F6-490C-AD7B-4F96ECA394F5}"/>
              </a:ext>
            </a:extLst>
          </p:cNvPr>
          <p:cNvSpPr>
            <a:spLocks noGrp="1"/>
          </p:cNvSpPr>
          <p:nvPr>
            <p:ph type="title"/>
          </p:nvPr>
        </p:nvSpPr>
        <p:spPr/>
        <p:txBody>
          <a:bodyPr/>
          <a:lstStyle/>
          <a:p>
            <a:r>
              <a:rPr lang="en-US" sz="4400" dirty="0"/>
              <a:t>Nations and AI: What are unique needs and key friction points?</a:t>
            </a:r>
          </a:p>
        </p:txBody>
      </p:sp>
      <p:sp>
        <p:nvSpPr>
          <p:cNvPr id="3" name="Content Placeholder 2">
            <a:extLst>
              <a:ext uri="{FF2B5EF4-FFF2-40B4-BE49-F238E27FC236}">
                <a16:creationId xmlns:a16="http://schemas.microsoft.com/office/drawing/2014/main" id="{CB72B9B9-664C-4A21-91AA-D8B5F851D0C4}"/>
              </a:ext>
            </a:extLst>
          </p:cNvPr>
          <p:cNvSpPr>
            <a:spLocks noGrp="1"/>
          </p:cNvSpPr>
          <p:nvPr>
            <p:ph idx="1"/>
          </p:nvPr>
        </p:nvSpPr>
        <p:spPr>
          <a:xfrm>
            <a:off x="1098550" y="1789442"/>
            <a:ext cx="16084552" cy="7811758"/>
          </a:xfrm>
        </p:spPr>
        <p:txBody>
          <a:bodyPr/>
          <a:lstStyle/>
          <a:p>
            <a:pPr>
              <a:spcBef>
                <a:spcPts val="0"/>
              </a:spcBef>
            </a:pPr>
            <a:r>
              <a:rPr lang="en-US" sz="3200" dirty="0"/>
              <a:t>The emergent notion of “Sovereign AI.” What does this really mean?</a:t>
            </a:r>
          </a:p>
          <a:p>
            <a:pPr>
              <a:spcBef>
                <a:spcPts val="0"/>
              </a:spcBef>
            </a:pPr>
            <a:r>
              <a:rPr lang="en-US" sz="3200" dirty="0"/>
              <a:t>Sovereign AI reflects significant investment, vigilance and engagement by each nation’s government of its efforts to preserve and advance its role as custodian of its unique digital assets and secrets. This is deemed critical to preserve national interests.</a:t>
            </a:r>
          </a:p>
          <a:p>
            <a:pPr>
              <a:spcBef>
                <a:spcPts val="0"/>
              </a:spcBef>
            </a:pPr>
            <a:r>
              <a:rPr lang="en-US" sz="3200" dirty="0"/>
              <a:t>It is motivated by the “recognition that every region and every country needs to build” its own sovereign AI.” This is only known approach whereby nation-states can serve their specific language and cultural needs and leverage their particular business strengths in the age of AI.</a:t>
            </a:r>
          </a:p>
          <a:p>
            <a:pPr>
              <a:spcBef>
                <a:spcPts val="0"/>
              </a:spcBef>
            </a:pPr>
            <a:r>
              <a:rPr lang="en-US" sz="3200" dirty="0"/>
              <a:t>Examples: India has developed its own “Sovereign AI Plan”; Singapore articulated “Southeast Asia AI Plan” as well as its plan to develop a LLM that supports “Singapore’s National AI Strategy 2.0”; the Dutch government has announced “The Netherlands Generative AI Vision”; finally, Taiwan’s strategy is to develop its own LLM called “Trustworthy AI Dialogue Engine, or </a:t>
            </a:r>
            <a:r>
              <a:rPr lang="en-US" sz="3200" dirty="0" err="1">
                <a:hlinkClick r:id="rId2">
                  <a:extLst>
                    <a:ext uri="{A12FA001-AC4F-418D-AE19-62706E023703}">
                      <ahyp:hlinkClr xmlns:ahyp="http://schemas.microsoft.com/office/drawing/2018/hyperlinkcolor" val="tx"/>
                    </a:ext>
                  </a:extLst>
                </a:hlinkClick>
              </a:rPr>
              <a:t>Taide</a:t>
            </a:r>
            <a:r>
              <a:rPr lang="en-US" sz="3200" dirty="0"/>
              <a:t>, to counter the influence of Chinese AI tools like </a:t>
            </a:r>
            <a:r>
              <a:rPr lang="en-US" sz="3200" dirty="0" err="1"/>
              <a:t>Biadu’s</a:t>
            </a:r>
            <a:r>
              <a:rPr lang="en-US" sz="3200" dirty="0"/>
              <a:t>  Ernie Bot that, in its view, provide politically biased information.”</a:t>
            </a:r>
          </a:p>
        </p:txBody>
      </p:sp>
    </p:spTree>
    <p:extLst>
      <p:ext uri="{BB962C8B-B14F-4D97-AF65-F5344CB8AC3E}">
        <p14:creationId xmlns:p14="http://schemas.microsoft.com/office/powerpoint/2010/main" val="1547876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9770D-363F-430B-867A-FA7FC88DEA5A}"/>
              </a:ext>
            </a:extLst>
          </p:cNvPr>
          <p:cNvSpPr>
            <a:spLocks noGrp="1"/>
          </p:cNvSpPr>
          <p:nvPr>
            <p:ph type="title"/>
          </p:nvPr>
        </p:nvSpPr>
        <p:spPr/>
        <p:txBody>
          <a:bodyPr/>
          <a:lstStyle/>
          <a:p>
            <a:r>
              <a:rPr lang="en-US" dirty="0"/>
              <a:t>Worries, Biases, Challenges, Limitations, AGI</a:t>
            </a:r>
          </a:p>
        </p:txBody>
      </p:sp>
      <p:sp>
        <p:nvSpPr>
          <p:cNvPr id="3" name="Content Placeholder 2">
            <a:extLst>
              <a:ext uri="{FF2B5EF4-FFF2-40B4-BE49-F238E27FC236}">
                <a16:creationId xmlns:a16="http://schemas.microsoft.com/office/drawing/2014/main" id="{531ED77E-7541-440E-847C-BDE0A76836D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88827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4A537-F69B-4FC7-9C49-DC3F60696A3E}"/>
              </a:ext>
            </a:extLst>
          </p:cNvPr>
          <p:cNvSpPr>
            <a:spLocks noGrp="1"/>
          </p:cNvSpPr>
          <p:nvPr>
            <p:ph type="title"/>
          </p:nvPr>
        </p:nvSpPr>
        <p:spPr>
          <a:xfrm>
            <a:off x="1257300" y="217795"/>
            <a:ext cx="15773400" cy="1131954"/>
          </a:xfrm>
        </p:spPr>
        <p:txBody>
          <a:bodyPr/>
          <a:lstStyle/>
          <a:p>
            <a:r>
              <a:rPr lang="en-US" b="1" dirty="0">
                <a:solidFill>
                  <a:srgbClr val="C00000"/>
                </a:solidFill>
              </a:rPr>
              <a:t>Worries About AI</a:t>
            </a:r>
          </a:p>
        </p:txBody>
      </p:sp>
      <p:sp>
        <p:nvSpPr>
          <p:cNvPr id="3" name="Content Placeholder 2">
            <a:extLst>
              <a:ext uri="{FF2B5EF4-FFF2-40B4-BE49-F238E27FC236}">
                <a16:creationId xmlns:a16="http://schemas.microsoft.com/office/drawing/2014/main" id="{20043CD6-E521-4C20-B50C-FC1227E1578B}"/>
              </a:ext>
            </a:extLst>
          </p:cNvPr>
          <p:cNvSpPr>
            <a:spLocks noGrp="1"/>
          </p:cNvSpPr>
          <p:nvPr>
            <p:ph idx="1"/>
          </p:nvPr>
        </p:nvSpPr>
        <p:spPr>
          <a:xfrm>
            <a:off x="1257300" y="1349749"/>
            <a:ext cx="15773400" cy="8458200"/>
          </a:xfrm>
        </p:spPr>
        <p:txBody>
          <a:bodyPr>
            <a:noAutofit/>
          </a:bodyPr>
          <a:lstStyle/>
          <a:p>
            <a:pPr>
              <a:spcBef>
                <a:spcPts val="0"/>
              </a:spcBef>
            </a:pPr>
            <a:r>
              <a:rPr lang="en-US" sz="3200" dirty="0"/>
              <a:t>Humans make significant and fundamental over-attribution errors toward machines. This problem is exacerbated with robots that resemble human beings.</a:t>
            </a:r>
          </a:p>
          <a:p>
            <a:pPr>
              <a:spcBef>
                <a:spcPts val="0"/>
              </a:spcBef>
            </a:pPr>
            <a:r>
              <a:rPr lang="en-US" sz="3200" dirty="0"/>
              <a:t>Users may encounter a general and pervasive lack of robustness in AI performance.</a:t>
            </a:r>
          </a:p>
          <a:p>
            <a:pPr>
              <a:spcBef>
                <a:spcPts val="0"/>
              </a:spcBef>
            </a:pPr>
            <a:r>
              <a:rPr lang="en-US" sz="3200" dirty="0"/>
              <a:t>Machine learning depends heavily on characteristics of large training datasets; such systems often do not perform as expected when applied to new problems or untrained datasets.</a:t>
            </a:r>
          </a:p>
          <a:p>
            <a:pPr>
              <a:spcBef>
                <a:spcPts val="0"/>
              </a:spcBef>
            </a:pPr>
            <a:r>
              <a:rPr lang="en-US" sz="3200" dirty="0"/>
              <a:t>AI that relies on data that the public can manipulate easily is susceptible to being gamed.</a:t>
            </a:r>
          </a:p>
          <a:p>
            <a:pPr>
              <a:spcBef>
                <a:spcPts val="0"/>
              </a:spcBef>
            </a:pPr>
            <a:r>
              <a:rPr lang="en-US" sz="3200" dirty="0"/>
              <a:t>AI algorithms may easily follow wrong goals, by interpreting a goal too literally (cf. HBR article “Algorithms need Managers Too”) especially when the goal is to maximize outcome on a specific variable. As an example, consider a soccer-playing robot tasked to touch the ball as many times as possible in a game; this robot decided to stand next to the ball and rapidly bounce it, but it never passed the ball to other players (see figure on next slide). </a:t>
            </a:r>
          </a:p>
          <a:p>
            <a:pPr>
              <a:spcBef>
                <a:spcPts val="0"/>
              </a:spcBef>
            </a:pPr>
            <a:r>
              <a:rPr lang="en-US" sz="3200" dirty="0"/>
              <a:t>Because of the scale at which AI systems operate, AI can inflict serious public harm if there is a rush to launch/deploy.</a:t>
            </a:r>
          </a:p>
          <a:p>
            <a:pPr marL="771525" indent="-771525">
              <a:buFont typeface="+mj-lt"/>
              <a:buAutoNum type="arabicPeriod"/>
            </a:pPr>
            <a:endParaRPr lang="en-US" sz="3000" dirty="0"/>
          </a:p>
          <a:p>
            <a:pPr marL="771525" indent="-771525">
              <a:buFont typeface="+mj-lt"/>
              <a:buAutoNum type="arabicPeriod"/>
            </a:pPr>
            <a:endParaRPr lang="en-US" sz="3000" dirty="0"/>
          </a:p>
        </p:txBody>
      </p:sp>
    </p:spTree>
    <p:extLst>
      <p:ext uri="{BB962C8B-B14F-4D97-AF65-F5344CB8AC3E}">
        <p14:creationId xmlns:p14="http://schemas.microsoft.com/office/powerpoint/2010/main" val="3621860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0A782-7E05-4FD2-9D59-14D5AC1FDD1F}"/>
              </a:ext>
            </a:extLst>
          </p:cNvPr>
          <p:cNvSpPr>
            <a:spLocks noGrp="1"/>
          </p:cNvSpPr>
          <p:nvPr>
            <p:ph type="title"/>
          </p:nvPr>
        </p:nvSpPr>
        <p:spPr>
          <a:xfrm>
            <a:off x="1316264" y="554143"/>
            <a:ext cx="16084552" cy="1136299"/>
          </a:xfrm>
        </p:spPr>
        <p:txBody>
          <a:bodyPr/>
          <a:lstStyle/>
          <a:p>
            <a:r>
              <a:rPr lang="en-US" sz="4800" b="1" dirty="0">
                <a:solidFill>
                  <a:srgbClr val="C00000"/>
                </a:solidFill>
              </a:rPr>
              <a:t>Cont’d… misguided objective function or goal?</a:t>
            </a:r>
          </a:p>
        </p:txBody>
      </p:sp>
      <p:sp>
        <p:nvSpPr>
          <p:cNvPr id="3" name="Content Placeholder 2">
            <a:extLst>
              <a:ext uri="{FF2B5EF4-FFF2-40B4-BE49-F238E27FC236}">
                <a16:creationId xmlns:a16="http://schemas.microsoft.com/office/drawing/2014/main" id="{596BB259-1328-4258-9480-F9F90BE73635}"/>
              </a:ext>
            </a:extLst>
          </p:cNvPr>
          <p:cNvSpPr>
            <a:spLocks noGrp="1"/>
          </p:cNvSpPr>
          <p:nvPr>
            <p:ph idx="1"/>
          </p:nvPr>
        </p:nvSpPr>
        <p:spPr/>
        <p:txBody>
          <a:bodyPr/>
          <a:lstStyle/>
          <a:p>
            <a:pPr marL="771525" indent="-771525">
              <a:buFont typeface="+mj-lt"/>
              <a:buAutoNum type="arabicPeriod"/>
            </a:pPr>
            <a:endParaRPr lang="en-US" sz="3000" dirty="0"/>
          </a:p>
          <a:p>
            <a:pPr marL="0" indent="0">
              <a:buNone/>
            </a:pPr>
            <a:endParaRPr lang="en-US" dirty="0"/>
          </a:p>
        </p:txBody>
      </p:sp>
      <p:pic>
        <p:nvPicPr>
          <p:cNvPr id="5" name="Picture 4" descr="A group of baseball players posing for a photo&#10;&#10;Description automatically generated">
            <a:extLst>
              <a:ext uri="{FF2B5EF4-FFF2-40B4-BE49-F238E27FC236}">
                <a16:creationId xmlns:a16="http://schemas.microsoft.com/office/drawing/2014/main" id="{D9454482-DED7-4E99-A7AF-FD50D65D6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7868" y="3373694"/>
            <a:ext cx="8989943" cy="4636605"/>
          </a:xfrm>
          <a:prstGeom prst="rect">
            <a:avLst/>
          </a:prstGeom>
        </p:spPr>
      </p:pic>
    </p:spTree>
    <p:extLst>
      <p:ext uri="{BB962C8B-B14F-4D97-AF65-F5344CB8AC3E}">
        <p14:creationId xmlns:p14="http://schemas.microsoft.com/office/powerpoint/2010/main" val="3092460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7CFBC-0056-4630-BA2B-7997358D758C}"/>
              </a:ext>
            </a:extLst>
          </p:cNvPr>
          <p:cNvSpPr>
            <a:spLocks noGrp="1"/>
          </p:cNvSpPr>
          <p:nvPr>
            <p:ph type="title"/>
          </p:nvPr>
        </p:nvSpPr>
        <p:spPr>
          <a:xfrm>
            <a:off x="935264" y="232171"/>
            <a:ext cx="16438336" cy="863713"/>
          </a:xfrm>
        </p:spPr>
        <p:txBody>
          <a:bodyPr/>
          <a:lstStyle/>
          <a:p>
            <a:r>
              <a:rPr lang="en-US" sz="4000" dirty="0"/>
              <a:t>Challenge for Researchers: to understand (and prevent) AI biases</a:t>
            </a:r>
          </a:p>
        </p:txBody>
      </p:sp>
      <p:sp>
        <p:nvSpPr>
          <p:cNvPr id="3" name="Content Placeholder 2">
            <a:extLst>
              <a:ext uri="{FF2B5EF4-FFF2-40B4-BE49-F238E27FC236}">
                <a16:creationId xmlns:a16="http://schemas.microsoft.com/office/drawing/2014/main" id="{4F66B908-8A89-4260-B6F5-C44EE02F007F}"/>
              </a:ext>
            </a:extLst>
          </p:cNvPr>
          <p:cNvSpPr>
            <a:spLocks noGrp="1"/>
          </p:cNvSpPr>
          <p:nvPr>
            <p:ph idx="1"/>
          </p:nvPr>
        </p:nvSpPr>
        <p:spPr>
          <a:xfrm>
            <a:off x="1101724" y="1280941"/>
            <a:ext cx="16084552" cy="8450888"/>
          </a:xfrm>
        </p:spPr>
        <p:txBody>
          <a:bodyPr/>
          <a:lstStyle/>
          <a:p>
            <a:pPr>
              <a:spcBef>
                <a:spcPts val="0"/>
              </a:spcBef>
            </a:pPr>
            <a:r>
              <a:rPr lang="en-US" sz="3200" dirty="0"/>
              <a:t>Read this informative and thought-provoking piece titled “</a:t>
            </a:r>
            <a:r>
              <a:rPr lang="en-US" sz="3200" dirty="0">
                <a:hlinkClick r:id="rId2"/>
              </a:rPr>
              <a:t>Machine Bias</a:t>
            </a:r>
            <a:r>
              <a:rPr lang="en-US" sz="3200" dirty="0"/>
              <a:t>” that focuses on bias in sentencing decisions on criminal offenders in US states, because these decisions were influenced by recommendations from COMPAS (a machine learning-based system) that appears clearly biased against African-Americans. This was published by ProPublica in May 2016.</a:t>
            </a:r>
          </a:p>
          <a:p>
            <a:pPr>
              <a:spcBef>
                <a:spcPts val="0"/>
              </a:spcBef>
            </a:pPr>
            <a:r>
              <a:rPr lang="en-US" sz="3200" dirty="0"/>
              <a:t>Demonstrably known gender bias in AI databases arose after Google’s open-source blog titled “Learning the Meaning behind words” appeared in 2013. Google fed a massive dataset of words mined from newspapers and the Internet into a biologically inspired “neural network” and let the system analyze sentences to understand correlations and connections between words using unsupervised learning. This system transformed words into numerical representations called vectors:</a:t>
            </a:r>
          </a:p>
          <a:p>
            <a:pPr>
              <a:spcBef>
                <a:spcPts val="0"/>
              </a:spcBef>
            </a:pPr>
            <a:r>
              <a:rPr lang="en-US" sz="3200" dirty="0"/>
              <a:t>relationship of “Beijing” to China was “same” as the word “Moscow” was to Russia.</a:t>
            </a:r>
          </a:p>
          <a:p>
            <a:pPr lvl="1">
              <a:spcBef>
                <a:spcPts val="0"/>
              </a:spcBef>
            </a:pPr>
            <a:r>
              <a:rPr lang="en-US" sz="2800" dirty="0"/>
              <a:t>Paris – France + Italy led to the answer “Rome.”</a:t>
            </a:r>
          </a:p>
          <a:p>
            <a:pPr lvl="1">
              <a:spcBef>
                <a:spcPts val="0"/>
              </a:spcBef>
            </a:pPr>
            <a:r>
              <a:rPr lang="en-US" sz="2800" dirty="0"/>
              <a:t>King – Man + Woman led to “Queen.”</a:t>
            </a:r>
          </a:p>
          <a:p>
            <a:pPr lvl="1">
              <a:spcBef>
                <a:spcPts val="0"/>
              </a:spcBef>
            </a:pPr>
            <a:r>
              <a:rPr lang="en-US" sz="3200" dirty="0"/>
              <a:t>Surprisingly however, Doctor – Man + Woman led to “Nurse” and</a:t>
            </a:r>
          </a:p>
          <a:p>
            <a:pPr lvl="1">
              <a:spcBef>
                <a:spcPts val="0"/>
              </a:spcBef>
            </a:pPr>
            <a:r>
              <a:rPr lang="en-US" sz="3200" dirty="0"/>
              <a:t>Shopkeeper – man + woman led to “Housewife” and </a:t>
            </a:r>
          </a:p>
          <a:p>
            <a:pPr lvl="1">
              <a:spcBef>
                <a:spcPts val="0"/>
              </a:spcBef>
            </a:pPr>
            <a:r>
              <a:rPr lang="en-US" sz="3200" dirty="0"/>
              <a:t>Computer programmer – man + woman led to “Homemaker”</a:t>
            </a:r>
          </a:p>
          <a:p>
            <a:endParaRPr lang="en-US" dirty="0"/>
          </a:p>
        </p:txBody>
      </p:sp>
    </p:spTree>
    <p:extLst>
      <p:ext uri="{BB962C8B-B14F-4D97-AF65-F5344CB8AC3E}">
        <p14:creationId xmlns:p14="http://schemas.microsoft.com/office/powerpoint/2010/main" val="3786657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81B47-6F23-4E31-9DB6-0BAF33CC7989}"/>
              </a:ext>
            </a:extLst>
          </p:cNvPr>
          <p:cNvSpPr>
            <a:spLocks noGrp="1"/>
          </p:cNvSpPr>
          <p:nvPr>
            <p:ph type="title"/>
          </p:nvPr>
        </p:nvSpPr>
        <p:spPr>
          <a:xfrm>
            <a:off x="1098550" y="468085"/>
            <a:ext cx="16084552" cy="885485"/>
          </a:xfrm>
        </p:spPr>
        <p:txBody>
          <a:bodyPr/>
          <a:lstStyle/>
          <a:p>
            <a:r>
              <a:rPr lang="en-US" b="1" dirty="0">
                <a:solidFill>
                  <a:srgbClr val="C00000"/>
                </a:solidFill>
              </a:rPr>
              <a:t>Challenges for AI Researchers, … cont’d</a:t>
            </a:r>
          </a:p>
        </p:txBody>
      </p:sp>
      <p:sp>
        <p:nvSpPr>
          <p:cNvPr id="3" name="Content Placeholder 2">
            <a:extLst>
              <a:ext uri="{FF2B5EF4-FFF2-40B4-BE49-F238E27FC236}">
                <a16:creationId xmlns:a16="http://schemas.microsoft.com/office/drawing/2014/main" id="{7B5BDF03-B037-4122-9562-B814FC34C490}"/>
              </a:ext>
            </a:extLst>
          </p:cNvPr>
          <p:cNvSpPr>
            <a:spLocks noGrp="1"/>
          </p:cNvSpPr>
          <p:nvPr>
            <p:ph idx="1"/>
          </p:nvPr>
        </p:nvSpPr>
        <p:spPr>
          <a:xfrm>
            <a:off x="1257300" y="1640510"/>
            <a:ext cx="15773400" cy="7525261"/>
          </a:xfrm>
        </p:spPr>
        <p:txBody>
          <a:bodyPr>
            <a:noAutofit/>
          </a:bodyPr>
          <a:lstStyle/>
          <a:p>
            <a:r>
              <a:rPr lang="en-US" sz="3200" dirty="0"/>
              <a:t>Instead of focusing only on AI systems that learn everything from correlations between pixels and actions, an effective approach to avoid bias is to build systems that develop a core understanding about the world and how humans think.</a:t>
            </a:r>
          </a:p>
          <a:p>
            <a:r>
              <a:rPr lang="en-US" sz="3200" dirty="0"/>
              <a:t>AI progress may improve if more disciplines are able to contribute to AI’s future development.</a:t>
            </a:r>
          </a:p>
          <a:p>
            <a:r>
              <a:rPr lang="en-US" sz="3200" dirty="0"/>
              <a:t>If AI aims for the lofty goal of imbuing machines with natural intelligence, it needs to build structured hybrid systems that incorporate innate knowledge and abilities that humans possess.</a:t>
            </a:r>
          </a:p>
          <a:p>
            <a:r>
              <a:rPr lang="en-US" sz="3200" dirty="0"/>
              <a:t>Once AI finally moves from a focus on big data to a paradigm that encompasses both big data and abstract causal knowledge, it will be easier to tackle the hard challenge of </a:t>
            </a:r>
            <a:r>
              <a:rPr lang="en-US" sz="3200" b="1" dirty="0"/>
              <a:t>endowing machines with common sense</a:t>
            </a:r>
            <a:r>
              <a:rPr lang="en-US" sz="3200" dirty="0"/>
              <a:t>.</a:t>
            </a:r>
          </a:p>
        </p:txBody>
      </p:sp>
    </p:spTree>
    <p:extLst>
      <p:ext uri="{BB962C8B-B14F-4D97-AF65-F5344CB8AC3E}">
        <p14:creationId xmlns:p14="http://schemas.microsoft.com/office/powerpoint/2010/main" val="1048529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F0767-3B81-4B21-8B79-C8D3BE2A1C9E}"/>
              </a:ext>
            </a:extLst>
          </p:cNvPr>
          <p:cNvSpPr>
            <a:spLocks noGrp="1"/>
          </p:cNvSpPr>
          <p:nvPr>
            <p:ph type="title"/>
          </p:nvPr>
        </p:nvSpPr>
        <p:spPr>
          <a:xfrm>
            <a:off x="1098550" y="498823"/>
            <a:ext cx="16084552" cy="1551434"/>
          </a:xfrm>
        </p:spPr>
        <p:txBody>
          <a:bodyPr/>
          <a:lstStyle/>
          <a:p>
            <a:r>
              <a:rPr lang="en-US" sz="4400" b="1" dirty="0">
                <a:solidFill>
                  <a:srgbClr val="C00000"/>
                </a:solidFill>
              </a:rPr>
              <a:t>Robust AI means preventing accidents, not learning from accidents</a:t>
            </a:r>
          </a:p>
        </p:txBody>
      </p:sp>
      <p:sp>
        <p:nvSpPr>
          <p:cNvPr id="3" name="Content Placeholder 2">
            <a:extLst>
              <a:ext uri="{FF2B5EF4-FFF2-40B4-BE49-F238E27FC236}">
                <a16:creationId xmlns:a16="http://schemas.microsoft.com/office/drawing/2014/main" id="{E50EA1D7-6F8C-4065-B387-A662EDB2F266}"/>
              </a:ext>
            </a:extLst>
          </p:cNvPr>
          <p:cNvSpPr>
            <a:spLocks noGrp="1"/>
          </p:cNvSpPr>
          <p:nvPr>
            <p:ph idx="1"/>
          </p:nvPr>
        </p:nvSpPr>
        <p:spPr>
          <a:xfrm>
            <a:off x="1098550" y="2464356"/>
            <a:ext cx="16084552" cy="6888006"/>
          </a:xfrm>
        </p:spPr>
        <p:txBody>
          <a:bodyPr>
            <a:normAutofit fontScale="85000" lnSpcReduction="10000"/>
          </a:bodyPr>
          <a:lstStyle/>
          <a:p>
            <a:r>
              <a:rPr lang="en-US" dirty="0"/>
              <a:t>Throughout history, we’ve relied on the same approach to keep technology beneficial: learn from our mistakes.</a:t>
            </a:r>
          </a:p>
          <a:p>
            <a:r>
              <a:rPr lang="en-US" dirty="0"/>
              <a:t>As we inexorably develop ever more powerful new technologies, we will inevitably reach a point where even a single accident could be devastating enough to outweigh all benefits. Remember, with a catastrophic accident, there may not be a tomorrow to learn from, or to correct, our mistake.</a:t>
            </a:r>
          </a:p>
          <a:p>
            <a:r>
              <a:rPr lang="en-US" dirty="0"/>
              <a:t>For this reason, as technology grows more powerful, we should </a:t>
            </a:r>
            <a:r>
              <a:rPr lang="en-US" b="1" dirty="0">
                <a:solidFill>
                  <a:srgbClr val="C00000"/>
                </a:solidFill>
              </a:rPr>
              <a:t>move away </a:t>
            </a:r>
            <a:r>
              <a:rPr lang="en-US" dirty="0"/>
              <a:t>from a trial-and-error approach toward safety engineering or robust AI.</a:t>
            </a:r>
          </a:p>
          <a:p>
            <a:r>
              <a:rPr lang="en-US" dirty="0"/>
              <a:t>More investments are needed in safety research that seek to </a:t>
            </a:r>
            <a:r>
              <a:rPr lang="en-US" b="1" dirty="0">
                <a:solidFill>
                  <a:srgbClr val="C00000"/>
                </a:solidFill>
              </a:rPr>
              <a:t>prevent or eliminate</a:t>
            </a:r>
            <a:r>
              <a:rPr lang="en-US" dirty="0"/>
              <a:t> accidents.</a:t>
            </a:r>
          </a:p>
        </p:txBody>
      </p:sp>
    </p:spTree>
    <p:extLst>
      <p:ext uri="{BB962C8B-B14F-4D97-AF65-F5344CB8AC3E}">
        <p14:creationId xmlns:p14="http://schemas.microsoft.com/office/powerpoint/2010/main" val="584414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6257-81D7-F54A-A95B-BC6975B652C3}"/>
              </a:ext>
            </a:extLst>
          </p:cNvPr>
          <p:cNvSpPr>
            <a:spLocks noGrp="1"/>
          </p:cNvSpPr>
          <p:nvPr>
            <p:ph type="title"/>
          </p:nvPr>
        </p:nvSpPr>
        <p:spPr>
          <a:xfrm>
            <a:off x="1098550" y="381088"/>
            <a:ext cx="16084552" cy="1016113"/>
          </a:xfrm>
        </p:spPr>
        <p:txBody>
          <a:bodyPr/>
          <a:lstStyle/>
          <a:p>
            <a:r>
              <a:rPr lang="en-US" b="1" dirty="0">
                <a:solidFill>
                  <a:srgbClr val="C00000"/>
                </a:solidFill>
              </a:rPr>
              <a:t>The Limitations of Opaque Learning Machines</a:t>
            </a:r>
          </a:p>
        </p:txBody>
      </p:sp>
      <p:sp>
        <p:nvSpPr>
          <p:cNvPr id="3" name="Content Placeholder 2">
            <a:extLst>
              <a:ext uri="{FF2B5EF4-FFF2-40B4-BE49-F238E27FC236}">
                <a16:creationId xmlns:a16="http://schemas.microsoft.com/office/drawing/2014/main" id="{686BFAB1-128E-AD4D-88E1-08095446B009}"/>
              </a:ext>
            </a:extLst>
          </p:cNvPr>
          <p:cNvSpPr>
            <a:spLocks noGrp="1"/>
          </p:cNvSpPr>
          <p:nvPr>
            <p:ph idx="1"/>
          </p:nvPr>
        </p:nvSpPr>
        <p:spPr>
          <a:xfrm>
            <a:off x="1098550" y="1774371"/>
            <a:ext cx="16084552" cy="7895884"/>
          </a:xfrm>
        </p:spPr>
        <p:txBody>
          <a:bodyPr anchor="ctr">
            <a:noAutofit/>
          </a:bodyPr>
          <a:lstStyle/>
          <a:p>
            <a:pPr>
              <a:lnSpc>
                <a:spcPct val="120000"/>
              </a:lnSpc>
              <a:spcBef>
                <a:spcPts val="0"/>
              </a:spcBef>
            </a:pPr>
            <a:r>
              <a:rPr lang="en-US" sz="3200" dirty="0"/>
              <a:t>If our robots are opaque learning machines, can we meaningfully engage with them? </a:t>
            </a:r>
          </a:p>
          <a:p>
            <a:pPr>
              <a:lnSpc>
                <a:spcPct val="120000"/>
              </a:lnSpc>
              <a:spcBef>
                <a:spcPts val="0"/>
              </a:spcBef>
            </a:pPr>
            <a:r>
              <a:rPr lang="en-US" sz="3200" b="1" dirty="0">
                <a:solidFill>
                  <a:srgbClr val="C00000"/>
                </a:solidFill>
              </a:rPr>
              <a:t>[Point to Ponder: Is a human’s dialogue with </a:t>
            </a:r>
            <a:r>
              <a:rPr lang="en-US" sz="3200" b="1" dirty="0" err="1">
                <a:solidFill>
                  <a:srgbClr val="C00000"/>
                </a:solidFill>
              </a:rPr>
              <a:t>ChatGPT</a:t>
            </a:r>
            <a:r>
              <a:rPr lang="en-US" sz="3200" b="1" dirty="0">
                <a:solidFill>
                  <a:srgbClr val="C00000"/>
                </a:solidFill>
              </a:rPr>
              <a:t> a “meaningful conversation even when the chatbot provides “meaningful” answers to the human’s questions?]</a:t>
            </a:r>
          </a:p>
          <a:p>
            <a:pPr>
              <a:lnSpc>
                <a:spcPct val="120000"/>
              </a:lnSpc>
              <a:spcBef>
                <a:spcPts val="0"/>
              </a:spcBef>
            </a:pPr>
            <a:r>
              <a:rPr lang="en-US" sz="3200" dirty="0"/>
              <a:t>What humans possess and other animals do not is a mental awareness of their environment and other human learning traits – a representation that can be manipulated to plan and learn. </a:t>
            </a:r>
          </a:p>
          <a:p>
            <a:pPr>
              <a:lnSpc>
                <a:spcPct val="120000"/>
              </a:lnSpc>
              <a:spcBef>
                <a:spcPts val="0"/>
              </a:spcBef>
            </a:pPr>
            <a:r>
              <a:rPr lang="en-US" sz="3200" dirty="0"/>
              <a:t>The Darwinian evolution theory explains why eagles have sharp eyesight but sheds no light on why humans have the intelligence to build new technologies. </a:t>
            </a:r>
          </a:p>
          <a:p>
            <a:pPr>
              <a:lnSpc>
                <a:spcPct val="120000"/>
              </a:lnSpc>
              <a:spcBef>
                <a:spcPts val="0"/>
              </a:spcBef>
            </a:pPr>
            <a:r>
              <a:rPr lang="en-US" sz="3200" dirty="0"/>
              <a:t>Machine learning is a tool that relies on data and probability estimates. Significant additional progress is needed for machines to advance beyond probability to real understanding e.g., moving from simple predictions to say, counterfactual imagination, and avoiding all sorts of inherent biases.</a:t>
            </a:r>
          </a:p>
        </p:txBody>
      </p:sp>
    </p:spTree>
    <p:extLst>
      <p:ext uri="{BB962C8B-B14F-4D97-AF65-F5344CB8AC3E}">
        <p14:creationId xmlns:p14="http://schemas.microsoft.com/office/powerpoint/2010/main" val="3847485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E4FE1-E59C-DE45-8802-20245EBE3684}"/>
              </a:ext>
            </a:extLst>
          </p:cNvPr>
          <p:cNvSpPr>
            <a:spLocks noGrp="1"/>
          </p:cNvSpPr>
          <p:nvPr>
            <p:ph type="title"/>
          </p:nvPr>
        </p:nvSpPr>
        <p:spPr>
          <a:xfrm>
            <a:off x="1098550" y="461403"/>
            <a:ext cx="16084552" cy="1580009"/>
          </a:xfrm>
        </p:spPr>
        <p:txBody>
          <a:bodyPr>
            <a:normAutofit/>
          </a:bodyPr>
          <a:lstStyle/>
          <a:p>
            <a:r>
              <a:rPr lang="en-US" sz="4400" dirty="0">
                <a:solidFill>
                  <a:srgbClr val="C00000"/>
                </a:solidFill>
                <a:ea typeface="ＭＳ Ｐゴシック"/>
              </a:rPr>
              <a:t>For AGI, Machines and AI need to adapt to general purpose </a:t>
            </a:r>
            <a:br>
              <a:rPr lang="en-US" sz="4400" dirty="0"/>
            </a:br>
            <a:endParaRPr lang="en-US" sz="4400" dirty="0">
              <a:solidFill>
                <a:srgbClr val="C00000"/>
              </a:solidFill>
              <a:cs typeface="Arial"/>
            </a:endParaRPr>
          </a:p>
        </p:txBody>
      </p:sp>
      <p:sp>
        <p:nvSpPr>
          <p:cNvPr id="3" name="Content Placeholder 2">
            <a:extLst>
              <a:ext uri="{FF2B5EF4-FFF2-40B4-BE49-F238E27FC236}">
                <a16:creationId xmlns:a16="http://schemas.microsoft.com/office/drawing/2014/main" id="{525475E5-1278-294F-9D47-F79A6F3C08A1}"/>
              </a:ext>
            </a:extLst>
          </p:cNvPr>
          <p:cNvSpPr>
            <a:spLocks noGrp="1"/>
          </p:cNvSpPr>
          <p:nvPr>
            <p:ph idx="1"/>
          </p:nvPr>
        </p:nvSpPr>
        <p:spPr/>
        <p:txBody>
          <a:bodyPr anchor="ctr">
            <a:normAutofit fontScale="92500" lnSpcReduction="10000"/>
          </a:bodyPr>
          <a:lstStyle/>
          <a:p>
            <a:r>
              <a:rPr lang="en-US" sz="3600" dirty="0"/>
              <a:t>The goal of AI research is to understand the principles underlying intelligent behavior and to successfully build those principles into machines such that they exhibit such behavior. AI has incorporated probability theory to handle uncertainty, utility theory to define objectives, and statistical learning to allow machines to adapt to new circumstances.</a:t>
            </a:r>
          </a:p>
          <a:p>
            <a:r>
              <a:rPr lang="en-US" sz="3600" dirty="0"/>
              <a:t>A key tenet of AGI is that AI should be </a:t>
            </a:r>
            <a:r>
              <a:rPr lang="en-US" sz="3600" b="1" dirty="0"/>
              <a:t>general purpose </a:t>
            </a:r>
            <a:r>
              <a:rPr lang="en-US" sz="3600" dirty="0"/>
              <a:t>i.e. capable of accepting a purpose as input and then achieve it, rather than </a:t>
            </a:r>
            <a:r>
              <a:rPr lang="en-US" sz="3600" b="1" dirty="0"/>
              <a:t>special purpose</a:t>
            </a:r>
            <a:r>
              <a:rPr lang="en-US" sz="3600" dirty="0"/>
              <a:t> with the goal already embedded within the AI’s design.</a:t>
            </a:r>
          </a:p>
          <a:p>
            <a:r>
              <a:rPr lang="en-US" sz="3600" dirty="0"/>
              <a:t>Can humans assume that they can always switch-off an AI machine at the first sign of risky behavior or outcomes? Is it correct to assume that a truly intelligent machine (AGI) would not be aware that such an option exists for humans and may strategize to countervail that?</a:t>
            </a:r>
          </a:p>
        </p:txBody>
      </p:sp>
    </p:spTree>
    <p:extLst>
      <p:ext uri="{BB962C8B-B14F-4D97-AF65-F5344CB8AC3E}">
        <p14:creationId xmlns:p14="http://schemas.microsoft.com/office/powerpoint/2010/main" val="3786409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D2622-55C7-3741-BF9A-1A705DFDFB32}"/>
              </a:ext>
            </a:extLst>
          </p:cNvPr>
          <p:cNvSpPr>
            <a:spLocks noGrp="1"/>
          </p:cNvSpPr>
          <p:nvPr>
            <p:ph type="title"/>
          </p:nvPr>
        </p:nvSpPr>
        <p:spPr>
          <a:xfrm>
            <a:off x="1098550" y="609599"/>
            <a:ext cx="16084552" cy="918142"/>
          </a:xfrm>
        </p:spPr>
        <p:txBody>
          <a:bodyPr/>
          <a:lstStyle/>
          <a:p>
            <a:r>
              <a:rPr lang="en-US" sz="4400" b="1" dirty="0">
                <a:solidFill>
                  <a:srgbClr val="C00000"/>
                </a:solidFill>
              </a:rPr>
              <a:t>AGI (Superhuman AI), evidence and related questions</a:t>
            </a:r>
          </a:p>
        </p:txBody>
      </p:sp>
      <p:sp>
        <p:nvSpPr>
          <p:cNvPr id="3" name="Content Placeholder 2">
            <a:extLst>
              <a:ext uri="{FF2B5EF4-FFF2-40B4-BE49-F238E27FC236}">
                <a16:creationId xmlns:a16="http://schemas.microsoft.com/office/drawing/2014/main" id="{1DEF775A-6919-BB4C-A4D1-88D9C6D467CE}"/>
              </a:ext>
            </a:extLst>
          </p:cNvPr>
          <p:cNvSpPr>
            <a:spLocks noGrp="1"/>
          </p:cNvSpPr>
          <p:nvPr>
            <p:ph idx="1"/>
          </p:nvPr>
        </p:nvSpPr>
        <p:spPr/>
        <p:txBody>
          <a:bodyPr anchor="ctr">
            <a:normAutofit fontScale="92500" lnSpcReduction="20000"/>
          </a:bodyPr>
          <a:lstStyle/>
          <a:p>
            <a:r>
              <a:rPr lang="en-US" sz="3600" dirty="0"/>
              <a:t>At this time, any claim that human-level or superhuman AI (e.g., AGI) is possible is not supported by evidence. Any claim that this is impossible is also not backed by evidence. </a:t>
            </a:r>
          </a:p>
          <a:p>
            <a:r>
              <a:rPr lang="en-US" sz="3600" dirty="0"/>
              <a:t>If superintelligent systems become possible at some point in the future, will they entail significant risk?</a:t>
            </a:r>
          </a:p>
          <a:p>
            <a:r>
              <a:rPr lang="en-US" sz="3600" dirty="0"/>
              <a:t>The relevant time scale for human-level AI is difficult to predict, but, like nuclear fission, it might arrive sooner than expected. The right time for humanity to worry about this serious problem depends not just on when the problem will occur, but also on the time needed to devise solutions to avoid related risks.</a:t>
            </a:r>
          </a:p>
          <a:p>
            <a:r>
              <a:rPr lang="en-US" sz="3600" dirty="0"/>
              <a:t>No matter how well an algorithm maximizes utility or how accurately it performs, its decisions may not be productive if its utility function is not aligned with human values. This problem requires a change in definition – from a field concerned with pure intelligence to a field concerned with systems that are beneficial to humans.</a:t>
            </a:r>
          </a:p>
        </p:txBody>
      </p:sp>
    </p:spTree>
    <p:extLst>
      <p:ext uri="{BB962C8B-B14F-4D97-AF65-F5344CB8AC3E}">
        <p14:creationId xmlns:p14="http://schemas.microsoft.com/office/powerpoint/2010/main" val="3364779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1384C-4116-D341-9979-B705FE83F714}"/>
              </a:ext>
            </a:extLst>
          </p:cNvPr>
          <p:cNvSpPr>
            <a:spLocks noGrp="1"/>
          </p:cNvSpPr>
          <p:nvPr>
            <p:ph type="title"/>
          </p:nvPr>
        </p:nvSpPr>
        <p:spPr>
          <a:xfrm>
            <a:off x="1098550" y="653143"/>
            <a:ext cx="16084552" cy="1059656"/>
          </a:xfrm>
        </p:spPr>
        <p:txBody>
          <a:bodyPr/>
          <a:lstStyle/>
          <a:p>
            <a:r>
              <a:rPr lang="en-US" b="1" dirty="0">
                <a:solidFill>
                  <a:srgbClr val="C00000"/>
                </a:solidFill>
              </a:rPr>
              <a:t>Strategies for Humans?</a:t>
            </a:r>
          </a:p>
        </p:txBody>
      </p:sp>
      <p:sp>
        <p:nvSpPr>
          <p:cNvPr id="3" name="Content Placeholder 2">
            <a:extLst>
              <a:ext uri="{FF2B5EF4-FFF2-40B4-BE49-F238E27FC236}">
                <a16:creationId xmlns:a16="http://schemas.microsoft.com/office/drawing/2014/main" id="{C54A2770-F7D1-D84B-B8E9-A94EB786BFE6}"/>
              </a:ext>
            </a:extLst>
          </p:cNvPr>
          <p:cNvSpPr>
            <a:spLocks noGrp="1"/>
          </p:cNvSpPr>
          <p:nvPr>
            <p:ph idx="1"/>
          </p:nvPr>
        </p:nvSpPr>
        <p:spPr>
          <a:xfrm>
            <a:off x="1257300" y="2360951"/>
            <a:ext cx="15773400" cy="6904494"/>
          </a:xfrm>
        </p:spPr>
        <p:txBody>
          <a:bodyPr anchor="ctr">
            <a:normAutofit fontScale="92500" lnSpcReduction="10000"/>
          </a:bodyPr>
          <a:lstStyle/>
          <a:p>
            <a:r>
              <a:rPr lang="en-US" sz="3600" dirty="0"/>
              <a:t>In AI tasks, humans are focused on leveraging machine-based tools. Should they instead develop AI to function like “non-human” colleagues? It is dangerous not to appreciate the difference between these two. </a:t>
            </a:r>
            <a:r>
              <a:rPr lang="en-US" sz="3600" dirty="0">
                <a:solidFill>
                  <a:srgbClr val="C00000"/>
                </a:solidFill>
              </a:rPr>
              <a:t>(However, a concern remains: </a:t>
            </a:r>
            <a:r>
              <a:rPr lang="en-US" sz="3600" dirty="0" err="1">
                <a:solidFill>
                  <a:srgbClr val="C00000"/>
                </a:solidFill>
              </a:rPr>
              <a:t>Replika’s</a:t>
            </a:r>
            <a:r>
              <a:rPr lang="en-US" sz="3600" dirty="0">
                <a:solidFill>
                  <a:srgbClr val="C00000"/>
                </a:solidFill>
              </a:rPr>
              <a:t> case suggests that people like “human-like” AI companions. Perhaps they do not want AI to function as a “non-human” colleague, so education on the benefits of AI as “non-human” colleagues may be a solution)</a:t>
            </a:r>
          </a:p>
          <a:p>
            <a:r>
              <a:rPr lang="en-US" sz="3600" dirty="0"/>
              <a:t>No matter how many patterns we identify with AI given our knowledge of the explosion of big data, we have merely scratched the surface. There are vastly more possibilities and frontiers that remain undiscovered with AI.</a:t>
            </a:r>
          </a:p>
          <a:p>
            <a:r>
              <a:rPr lang="en-US" sz="3600" dirty="0"/>
              <a:t>We do not need artificial conscious agents. Naturally conscious agents (humans) can handle important tasks. Humans need intelligent tools that do not possess feelings that could be hurt.</a:t>
            </a:r>
          </a:p>
        </p:txBody>
      </p:sp>
    </p:spTree>
    <p:custDataLst>
      <p:tags r:id="rId1"/>
    </p:custDataLst>
    <p:extLst>
      <p:ext uri="{BB962C8B-B14F-4D97-AF65-F5344CB8AC3E}">
        <p14:creationId xmlns:p14="http://schemas.microsoft.com/office/powerpoint/2010/main" val="31708028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CEFF4B-9EC7-4D38-B437-9DE5B52C77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10086</TotalTime>
  <Words>1712</Words>
  <Application>Microsoft Office PowerPoint</Application>
  <PresentationFormat>Custom</PresentationFormat>
  <Paragraphs>66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ＭＳ Ｐゴシック</vt:lpstr>
      <vt:lpstr>Arial</vt:lpstr>
      <vt:lpstr>Calibri</vt:lpstr>
      <vt:lpstr>Wingdings 2</vt:lpstr>
      <vt:lpstr>Breeze</vt:lpstr>
      <vt:lpstr>MBA532 – AI in Business </vt:lpstr>
      <vt:lpstr>Needs and friction points: Businesses and Nations</vt:lpstr>
      <vt:lpstr>Business and AI: What are unique needs and key friction points?</vt:lpstr>
      <vt:lpstr>Nations and AI: What are unique needs and key friction points?</vt:lpstr>
      <vt:lpstr>Worries, Biases, Challenges, Limitations, AGI</vt:lpstr>
      <vt:lpstr>Worries About AI</vt:lpstr>
      <vt:lpstr>Cont’d… misguided objective function or goal?</vt:lpstr>
      <vt:lpstr>Challenge for Researchers: to understand (and prevent) AI biases</vt:lpstr>
      <vt:lpstr>Challenges for AI Researchers, … cont’d</vt:lpstr>
      <vt:lpstr>Robust AI means preventing accidents, not learning from accidents</vt:lpstr>
      <vt:lpstr>The Limitations of Opaque Learning Machines</vt:lpstr>
      <vt:lpstr>For AGI, Machines and AI need to adapt to general purpose  </vt:lpstr>
      <vt:lpstr>AGI (Superhuman AI), evidence and related questions</vt:lpstr>
      <vt:lpstr>Strategies for Humans?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201</cp:revision>
  <dcterms:created xsi:type="dcterms:W3CDTF">2024-03-17T05:07:31Z</dcterms:created>
  <dcterms:modified xsi:type="dcterms:W3CDTF">2024-05-24T15:20:58Z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992AA339-A6FA-4416-AFED-DA416FB67BA7</vt:lpwstr>
  </property>
  <property fmtid="{D5CDD505-2E9C-101B-9397-08002B2CF9AE}" pid="5" name="ArticulatePath">
    <vt:lpwstr>MBA532 – AI in Business - Module 6 - March 28</vt:lpwstr>
  </property>
</Properties>
</file>