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3"/>
  </p:notesMasterIdLst>
  <p:sldIdLst>
    <p:sldId id="311" r:id="rId5"/>
    <p:sldId id="367" r:id="rId6"/>
    <p:sldId id="356" r:id="rId7"/>
    <p:sldId id="357" r:id="rId8"/>
    <p:sldId id="358" r:id="rId9"/>
    <p:sldId id="361" r:id="rId10"/>
    <p:sldId id="362" r:id="rId11"/>
    <p:sldId id="363" r:id="rId12"/>
  </p:sldIdLst>
  <p:sldSz cx="18288000" cy="10287000"/>
  <p:notesSz cx="6858000" cy="9144000"/>
  <p:custDataLst>
    <p:tags r:id="rId14"/>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Artificial Intelligenc-101 Things You Must Know Today About Our Future</a:t>
            </a:r>
          </a:p>
        </p:txBody>
      </p:sp>
      <p:sp>
        <p:nvSpPr>
          <p:cNvPr id="4" name="Slide Number Placeholder 3"/>
          <p:cNvSpPr>
            <a:spLocks noGrp="1"/>
          </p:cNvSpPr>
          <p:nvPr>
            <p:ph type="sldNum" sz="quarter" idx="5"/>
          </p:nvPr>
        </p:nvSpPr>
        <p:spPr/>
        <p:txBody>
          <a:bodyPr/>
          <a:lstStyle/>
          <a:p>
            <a:fld id="{FDF9B396-BE7F-4412-985B-05B577789B9E}" type="slidenum">
              <a:rPr lang="en-US" smtClean="0"/>
              <a:t>3</a:t>
            </a:fld>
            <a:endParaRPr lang="en-US"/>
          </a:p>
        </p:txBody>
      </p:sp>
    </p:spTree>
    <p:extLst>
      <p:ext uri="{BB962C8B-B14F-4D97-AF65-F5344CB8AC3E}">
        <p14:creationId xmlns:p14="http://schemas.microsoft.com/office/powerpoint/2010/main" val="180137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Artificial Intelligenc-101 Things You Must Know Today About Our Future</a:t>
            </a:r>
          </a:p>
        </p:txBody>
      </p:sp>
      <p:sp>
        <p:nvSpPr>
          <p:cNvPr id="4" name="Slide Number Placeholder 3"/>
          <p:cNvSpPr>
            <a:spLocks noGrp="1"/>
          </p:cNvSpPr>
          <p:nvPr>
            <p:ph type="sldNum" sz="quarter" idx="5"/>
          </p:nvPr>
        </p:nvSpPr>
        <p:spPr/>
        <p:txBody>
          <a:bodyPr/>
          <a:lstStyle/>
          <a:p>
            <a:fld id="{FDF9B396-BE7F-4412-985B-05B577789B9E}" type="slidenum">
              <a:rPr lang="en-US" smtClean="0"/>
              <a:t>4</a:t>
            </a:fld>
            <a:endParaRPr lang="en-US"/>
          </a:p>
        </p:txBody>
      </p:sp>
    </p:spTree>
    <p:extLst>
      <p:ext uri="{BB962C8B-B14F-4D97-AF65-F5344CB8AC3E}">
        <p14:creationId xmlns:p14="http://schemas.microsoft.com/office/powerpoint/2010/main" val="2692033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Artificial Intelligenc-101 Things You Must Know Today About Our Future</a:t>
            </a:r>
          </a:p>
        </p:txBody>
      </p:sp>
      <p:sp>
        <p:nvSpPr>
          <p:cNvPr id="4" name="Slide Number Placeholder 3"/>
          <p:cNvSpPr>
            <a:spLocks noGrp="1"/>
          </p:cNvSpPr>
          <p:nvPr>
            <p:ph type="sldNum" sz="quarter" idx="5"/>
          </p:nvPr>
        </p:nvSpPr>
        <p:spPr/>
        <p:txBody>
          <a:bodyPr/>
          <a:lstStyle/>
          <a:p>
            <a:fld id="{FDF9B396-BE7F-4412-985B-05B577789B9E}" type="slidenum">
              <a:rPr lang="en-US" smtClean="0"/>
              <a:t>5</a:t>
            </a:fld>
            <a:endParaRPr lang="en-US"/>
          </a:p>
        </p:txBody>
      </p:sp>
    </p:spTree>
    <p:extLst>
      <p:ext uri="{BB962C8B-B14F-4D97-AF65-F5344CB8AC3E}">
        <p14:creationId xmlns:p14="http://schemas.microsoft.com/office/powerpoint/2010/main" val="522118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Artificial Intelligenc-101 Things You Must Know Today About Our Future</a:t>
            </a:r>
          </a:p>
        </p:txBody>
      </p:sp>
      <p:sp>
        <p:nvSpPr>
          <p:cNvPr id="4" name="Slide Number Placeholder 3"/>
          <p:cNvSpPr>
            <a:spLocks noGrp="1"/>
          </p:cNvSpPr>
          <p:nvPr>
            <p:ph type="sldNum" sz="quarter" idx="5"/>
          </p:nvPr>
        </p:nvSpPr>
        <p:spPr/>
        <p:txBody>
          <a:bodyPr/>
          <a:lstStyle/>
          <a:p>
            <a:fld id="{FDF9B396-BE7F-4412-985B-05B577789B9E}" type="slidenum">
              <a:rPr lang="en-US" smtClean="0"/>
              <a:t>6</a:t>
            </a:fld>
            <a:endParaRPr lang="en-US"/>
          </a:p>
        </p:txBody>
      </p:sp>
    </p:spTree>
    <p:extLst>
      <p:ext uri="{BB962C8B-B14F-4D97-AF65-F5344CB8AC3E}">
        <p14:creationId xmlns:p14="http://schemas.microsoft.com/office/powerpoint/2010/main" val="3534610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20B07-135D-4984-8E9E-895635FB2FC5}"/>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a:extLst>
              <a:ext uri="{FF2B5EF4-FFF2-40B4-BE49-F238E27FC236}">
                <a16:creationId xmlns:a16="http://schemas.microsoft.com/office/drawing/2014/main" id="{44E6FA3F-1DD3-47ED-AC8E-2E5EC41D52AD}"/>
              </a:ext>
            </a:extLst>
          </p:cNvPr>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1E41B0-3F1A-4214-92B0-B5D632D3645F}"/>
              </a:ext>
            </a:extLst>
          </p:cNvPr>
          <p:cNvSpPr>
            <a:spLocks noGrp="1"/>
          </p:cNvSpPr>
          <p:nvPr>
            <p:ph type="dt" sz="half" idx="10"/>
          </p:nvPr>
        </p:nvSpPr>
        <p:spPr/>
        <p:txBody>
          <a:bodyPr/>
          <a:lstStyle/>
          <a:p>
            <a:fld id="{7EB636FF-6623-4057-AF61-DE00FA6B102A}" type="datetimeFigureOut">
              <a:rPr lang="en-US" smtClean="0"/>
              <a:t>5/24/2024</a:t>
            </a:fld>
            <a:endParaRPr lang="en-US"/>
          </a:p>
        </p:txBody>
      </p:sp>
      <p:sp>
        <p:nvSpPr>
          <p:cNvPr id="5" name="Footer Placeholder 4">
            <a:extLst>
              <a:ext uri="{FF2B5EF4-FFF2-40B4-BE49-F238E27FC236}">
                <a16:creationId xmlns:a16="http://schemas.microsoft.com/office/drawing/2014/main" id="{97573E94-90D9-47DA-9E2D-DC079DAEA5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864ED9-F0ED-4CA8-AC9C-46E19A000275}"/>
              </a:ext>
            </a:extLst>
          </p:cNvPr>
          <p:cNvSpPr>
            <a:spLocks noGrp="1"/>
          </p:cNvSpPr>
          <p:nvPr>
            <p:ph type="sldNum" sz="quarter" idx="12"/>
          </p:nvPr>
        </p:nvSpPr>
        <p:spPr/>
        <p:txBody>
          <a:bodyPr/>
          <a:lstStyle/>
          <a:p>
            <a:fld id="{8E20E20D-334C-4D89-B0A6-10D3AE6D9B7D}" type="slidenum">
              <a:rPr lang="en-US" smtClean="0"/>
              <a:t>‹#›</a:t>
            </a:fld>
            <a:endParaRPr lang="en-US"/>
          </a:p>
        </p:txBody>
      </p:sp>
    </p:spTree>
    <p:extLst>
      <p:ext uri="{BB962C8B-B14F-4D97-AF65-F5344CB8AC3E}">
        <p14:creationId xmlns:p14="http://schemas.microsoft.com/office/powerpoint/2010/main" val="9957554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8" y="2286002"/>
            <a:ext cx="12998450" cy="2587626"/>
          </a:xfrm>
        </p:spPr>
        <p:txBody>
          <a:bodyPr/>
          <a:lstStyle/>
          <a:p>
            <a:pPr>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8" y="4949828"/>
            <a:ext cx="12998450" cy="1374774"/>
          </a:xfrm>
        </p:spPr>
        <p:txBody>
          <a:bodyPr>
            <a:normAutofit/>
          </a:bodyPr>
          <a:lstStyle/>
          <a:p>
            <a:pPr>
              <a:defRPr/>
            </a:pPr>
            <a:r>
              <a:rPr lang="en-US" dirty="0">
                <a:latin typeface="+mj-lt"/>
              </a:rPr>
              <a:t>MODULE 6 – </a:t>
            </a:r>
            <a:r>
              <a:rPr lang="en-US" dirty="0">
                <a:effectLst/>
                <a:latin typeface="+mj-lt"/>
                <a:ea typeface="Calibri" panose="020F0502020204030204" pitchFamily="34" charset="0"/>
                <a:cs typeface="Times New Roman" panose="02020603050405020304" pitchFamily="18" charset="0"/>
              </a:rPr>
              <a:t>AI Impact Assessment from other dimensions – </a:t>
            </a:r>
            <a:r>
              <a:rPr lang="en-US">
                <a:effectLst/>
                <a:latin typeface="+mj-lt"/>
                <a:ea typeface="Calibri" panose="020F0502020204030204" pitchFamily="34" charset="0"/>
                <a:cs typeface="Times New Roman" panose="02020603050405020304" pitchFamily="18" charset="0"/>
              </a:rPr>
              <a:t>multiple perspectives</a:t>
            </a:r>
            <a:endParaRPr lang="en-US"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869A93-7C3E-47EA-80C7-F2AB36AF23D7}"/>
              </a:ext>
            </a:extLst>
          </p:cNvPr>
          <p:cNvSpPr>
            <a:spLocks noGrp="1"/>
          </p:cNvSpPr>
          <p:nvPr>
            <p:ph type="title"/>
          </p:nvPr>
        </p:nvSpPr>
        <p:spPr/>
        <p:txBody>
          <a:bodyPr/>
          <a:lstStyle/>
          <a:p>
            <a:r>
              <a:rPr lang="en-US" b="1" dirty="0">
                <a:solidFill>
                  <a:srgbClr val="C00000"/>
                </a:solidFill>
              </a:rPr>
              <a:t>AI Applications in Specific Industries/Institutions</a:t>
            </a:r>
          </a:p>
        </p:txBody>
      </p:sp>
    </p:spTree>
    <p:custDataLst>
      <p:tags r:id="rId1"/>
    </p:custDataLst>
    <p:extLst>
      <p:ext uri="{BB962C8B-B14F-4D97-AF65-F5344CB8AC3E}">
        <p14:creationId xmlns:p14="http://schemas.microsoft.com/office/powerpoint/2010/main" val="2263061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8FF23-E976-4BCC-BAB1-A953BE9C039E}"/>
              </a:ext>
            </a:extLst>
          </p:cNvPr>
          <p:cNvSpPr>
            <a:spLocks noGrp="1"/>
          </p:cNvSpPr>
          <p:nvPr>
            <p:ph type="title"/>
          </p:nvPr>
        </p:nvSpPr>
        <p:spPr/>
        <p:txBody>
          <a:bodyPr/>
          <a:lstStyle/>
          <a:p>
            <a:r>
              <a:rPr lang="en-US" b="1" dirty="0">
                <a:solidFill>
                  <a:srgbClr val="C00000"/>
                </a:solidFill>
              </a:rPr>
              <a:t>How is AI Transforming Finance Industry</a:t>
            </a:r>
          </a:p>
        </p:txBody>
      </p:sp>
      <p:sp>
        <p:nvSpPr>
          <p:cNvPr id="3" name="Content Placeholder 2">
            <a:extLst>
              <a:ext uri="{FF2B5EF4-FFF2-40B4-BE49-F238E27FC236}">
                <a16:creationId xmlns:a16="http://schemas.microsoft.com/office/drawing/2014/main" id="{268BDE97-63A6-41B1-9C53-C091B13BE98E}"/>
              </a:ext>
            </a:extLst>
          </p:cNvPr>
          <p:cNvSpPr>
            <a:spLocks noGrp="1"/>
          </p:cNvSpPr>
          <p:nvPr>
            <p:ph idx="1"/>
          </p:nvPr>
        </p:nvSpPr>
        <p:spPr/>
        <p:txBody>
          <a:bodyPr>
            <a:normAutofit fontScale="85000" lnSpcReduction="20000"/>
          </a:bodyPr>
          <a:lstStyle/>
          <a:p>
            <a:r>
              <a:rPr lang="en-US" sz="3900" b="1" dirty="0"/>
              <a:t>Better Customer Service</a:t>
            </a:r>
            <a:r>
              <a:rPr lang="en-US" sz="3900" dirty="0"/>
              <a:t>: many basic customer interactions can occur through automated bot systems.</a:t>
            </a:r>
          </a:p>
          <a:p>
            <a:r>
              <a:rPr lang="en-US" sz="3900" b="1" dirty="0"/>
              <a:t>More Reliable Investment Services with Robot Advisors</a:t>
            </a:r>
            <a:r>
              <a:rPr lang="en-US" sz="3900" dirty="0"/>
              <a:t>: robot advisors are introduced to offer financial advice and portfolio management services with little or no human intervention (e.g., Charles Schwab). These tools allow users to create personalized preference settings for risk management and investment styles.</a:t>
            </a:r>
          </a:p>
          <a:p>
            <a:r>
              <a:rPr lang="en-US" sz="3900" b="1" dirty="0"/>
              <a:t>Greater Efficiency with Less Paperwork</a:t>
            </a:r>
            <a:r>
              <a:rPr lang="en-US" sz="3900" dirty="0"/>
              <a:t>.</a:t>
            </a:r>
          </a:p>
          <a:p>
            <a:r>
              <a:rPr lang="en-US" sz="3900" b="1" dirty="0"/>
              <a:t>Improved Financial Security</a:t>
            </a:r>
            <a:r>
              <a:rPr lang="en-US" sz="3900" dirty="0"/>
              <a:t>: AI-powered security systems can identify potential illegal access points to a financial institution’s data or funds by simulating scenarios for financial crimes. ML can anticipate how someone might attempt money laundering or fraud, and then develop and implement preventive measures to stop crimes.</a:t>
            </a:r>
          </a:p>
          <a:p>
            <a:endParaRPr lang="en-US" dirty="0"/>
          </a:p>
        </p:txBody>
      </p:sp>
    </p:spTree>
    <p:custDataLst>
      <p:tags r:id="rId1"/>
    </p:custDataLst>
    <p:extLst>
      <p:ext uri="{BB962C8B-B14F-4D97-AF65-F5344CB8AC3E}">
        <p14:creationId xmlns:p14="http://schemas.microsoft.com/office/powerpoint/2010/main" val="2711974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0877D-0AA6-492C-A61F-05C96DE0CDCD}"/>
              </a:ext>
            </a:extLst>
          </p:cNvPr>
          <p:cNvSpPr>
            <a:spLocks noGrp="1"/>
          </p:cNvSpPr>
          <p:nvPr>
            <p:ph type="title"/>
          </p:nvPr>
        </p:nvSpPr>
        <p:spPr>
          <a:xfrm>
            <a:off x="1098550" y="419267"/>
            <a:ext cx="16084552" cy="929028"/>
          </a:xfrm>
        </p:spPr>
        <p:txBody>
          <a:bodyPr/>
          <a:lstStyle/>
          <a:p>
            <a:r>
              <a:rPr lang="en-US" b="1" dirty="0">
                <a:solidFill>
                  <a:srgbClr val="C00000"/>
                </a:solidFill>
              </a:rPr>
              <a:t>How AI may transform the Travel Industry</a:t>
            </a:r>
          </a:p>
        </p:txBody>
      </p:sp>
      <p:sp>
        <p:nvSpPr>
          <p:cNvPr id="3" name="Content Placeholder 2">
            <a:extLst>
              <a:ext uri="{FF2B5EF4-FFF2-40B4-BE49-F238E27FC236}">
                <a16:creationId xmlns:a16="http://schemas.microsoft.com/office/drawing/2014/main" id="{3C82DF87-698F-47AE-ADF0-66F32826B642}"/>
              </a:ext>
            </a:extLst>
          </p:cNvPr>
          <p:cNvSpPr>
            <a:spLocks noGrp="1"/>
          </p:cNvSpPr>
          <p:nvPr>
            <p:ph idx="1"/>
          </p:nvPr>
        </p:nvSpPr>
        <p:spPr>
          <a:xfrm>
            <a:off x="1098550" y="1462871"/>
            <a:ext cx="16084552" cy="7321900"/>
          </a:xfrm>
        </p:spPr>
        <p:txBody>
          <a:bodyPr>
            <a:noAutofit/>
          </a:bodyPr>
          <a:lstStyle/>
          <a:p>
            <a:pPr>
              <a:lnSpc>
                <a:spcPct val="120000"/>
              </a:lnSpc>
              <a:spcBef>
                <a:spcPts val="0"/>
              </a:spcBef>
            </a:pPr>
            <a:r>
              <a:rPr lang="en-US" sz="3200" b="1" dirty="0"/>
              <a:t>Hotel Bookings by Voice Command</a:t>
            </a:r>
            <a:r>
              <a:rPr lang="en-US" sz="3200" dirty="0"/>
              <a:t>: the ability to search by voice command is becoming more powerful and effective every day.</a:t>
            </a:r>
          </a:p>
          <a:p>
            <a:pPr>
              <a:lnSpc>
                <a:spcPct val="120000"/>
              </a:lnSpc>
              <a:spcBef>
                <a:spcPts val="0"/>
              </a:spcBef>
            </a:pPr>
            <a:r>
              <a:rPr lang="en-US" sz="3200" b="1" dirty="0"/>
              <a:t>AI Concierge Services</a:t>
            </a:r>
            <a:r>
              <a:rPr lang="en-US" sz="3200" dirty="0"/>
              <a:t>: AI-powered virtual assistant could serve guests by activating appliances and answering basic questions.</a:t>
            </a:r>
          </a:p>
          <a:p>
            <a:pPr>
              <a:lnSpc>
                <a:spcPct val="120000"/>
              </a:lnSpc>
              <a:spcBef>
                <a:spcPts val="0"/>
              </a:spcBef>
            </a:pPr>
            <a:r>
              <a:rPr lang="en-US" sz="3200" b="1" dirty="0"/>
              <a:t>Travel Service Chatbots</a:t>
            </a:r>
            <a:r>
              <a:rPr lang="en-US" sz="3200" dirty="0"/>
              <a:t>: chatbots could help clients to make reservations.</a:t>
            </a:r>
          </a:p>
          <a:p>
            <a:pPr>
              <a:lnSpc>
                <a:spcPct val="120000"/>
              </a:lnSpc>
              <a:spcBef>
                <a:spcPts val="0"/>
              </a:spcBef>
            </a:pPr>
            <a:r>
              <a:rPr lang="en-US" sz="3200" b="1" dirty="0"/>
              <a:t>Check-in Through Facial Recognition</a:t>
            </a:r>
            <a:r>
              <a:rPr lang="en-US" sz="3200" dirty="0"/>
              <a:t>: facial recognition technology could be used in airports to facilitate customers’ check in without a boarding pass document.</a:t>
            </a:r>
          </a:p>
          <a:p>
            <a:pPr>
              <a:lnSpc>
                <a:spcPct val="120000"/>
              </a:lnSpc>
              <a:spcBef>
                <a:spcPts val="0"/>
              </a:spcBef>
            </a:pPr>
            <a:r>
              <a:rPr lang="en-US" sz="3200" b="1" dirty="0"/>
              <a:t>Creation of New Travel Products Based on Travel Reviews</a:t>
            </a:r>
            <a:r>
              <a:rPr lang="en-US" sz="3200" dirty="0"/>
              <a:t>: with AI, it is now possible to analyze huge amounts of travel reviews and comments to identify new business opportunities in the travel industry. </a:t>
            </a:r>
          </a:p>
          <a:p>
            <a:pPr>
              <a:lnSpc>
                <a:spcPct val="120000"/>
              </a:lnSpc>
              <a:spcBef>
                <a:spcPts val="0"/>
              </a:spcBef>
            </a:pPr>
            <a:r>
              <a:rPr lang="en-US" sz="3200" b="1" dirty="0"/>
              <a:t>Smart Travel in Smart Cities</a:t>
            </a:r>
            <a:r>
              <a:rPr lang="en-US" sz="3200" dirty="0"/>
              <a:t>: In smart cities, sensors are used to collect and manage data related to city information, such as traffic and tourist flows. </a:t>
            </a:r>
          </a:p>
        </p:txBody>
      </p:sp>
    </p:spTree>
    <p:custDataLst>
      <p:tags r:id="rId1"/>
    </p:custDataLst>
    <p:extLst>
      <p:ext uri="{BB962C8B-B14F-4D97-AF65-F5344CB8AC3E}">
        <p14:creationId xmlns:p14="http://schemas.microsoft.com/office/powerpoint/2010/main" val="2313669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BD854-B343-4295-9461-B970B0B3145A}"/>
              </a:ext>
            </a:extLst>
          </p:cNvPr>
          <p:cNvSpPr>
            <a:spLocks noGrp="1"/>
          </p:cNvSpPr>
          <p:nvPr>
            <p:ph type="title"/>
          </p:nvPr>
        </p:nvSpPr>
        <p:spPr/>
        <p:txBody>
          <a:bodyPr/>
          <a:lstStyle/>
          <a:p>
            <a:r>
              <a:rPr lang="en-US" b="1" dirty="0">
                <a:solidFill>
                  <a:srgbClr val="C00000"/>
                </a:solidFill>
              </a:rPr>
              <a:t>How AI Impacts Governments</a:t>
            </a:r>
          </a:p>
        </p:txBody>
      </p:sp>
      <p:sp>
        <p:nvSpPr>
          <p:cNvPr id="3" name="Content Placeholder 2">
            <a:extLst>
              <a:ext uri="{FF2B5EF4-FFF2-40B4-BE49-F238E27FC236}">
                <a16:creationId xmlns:a16="http://schemas.microsoft.com/office/drawing/2014/main" id="{C4C97A1D-A377-46AC-BF4A-D6D29E14D716}"/>
              </a:ext>
            </a:extLst>
          </p:cNvPr>
          <p:cNvSpPr>
            <a:spLocks noGrp="1"/>
          </p:cNvSpPr>
          <p:nvPr>
            <p:ph idx="1"/>
          </p:nvPr>
        </p:nvSpPr>
        <p:spPr/>
        <p:txBody>
          <a:bodyPr>
            <a:normAutofit fontScale="92500"/>
          </a:bodyPr>
          <a:lstStyle/>
          <a:p>
            <a:r>
              <a:rPr lang="en-US" dirty="0"/>
              <a:t>Public Safety and Security: </a:t>
            </a:r>
            <a:r>
              <a:rPr lang="en-US" b="1" dirty="0" err="1"/>
              <a:t>PredPol</a:t>
            </a:r>
            <a:r>
              <a:rPr lang="en-US" dirty="0"/>
              <a:t> is a tool for customized reports that predict locations and time windows where crimes are likely to occur.</a:t>
            </a:r>
          </a:p>
          <a:p>
            <a:pPr marL="685835" lvl="1" indent="0">
              <a:buNone/>
            </a:pPr>
            <a:r>
              <a:rPr lang="en-US" dirty="0">
                <a:solidFill>
                  <a:schemeClr val="accent1"/>
                </a:solidFill>
              </a:rPr>
              <a:t>Another type of AI tool to aid public safety and security is biometric facial recognition technology, which assists tasks like border control and identifying criminals more effectively than traditional passport monitoring.</a:t>
            </a:r>
          </a:p>
          <a:p>
            <a:r>
              <a:rPr lang="en-US" dirty="0"/>
              <a:t>Bureaucratic Efficiency: government workers can save time by automating basic repetitive tasks like data entry and analysis.</a:t>
            </a:r>
          </a:p>
          <a:p>
            <a:pPr marL="0" indent="0">
              <a:buNone/>
            </a:pPr>
            <a:r>
              <a:rPr lang="en-US" dirty="0"/>
              <a:t>   Governments that adapt quickly to AI and educate their citizens and </a:t>
            </a:r>
          </a:p>
          <a:p>
            <a:pPr marL="0" indent="0">
              <a:buNone/>
            </a:pPr>
            <a:r>
              <a:rPr lang="en-US" dirty="0"/>
              <a:t>   institutions about AI will realize the most benefits.</a:t>
            </a:r>
          </a:p>
        </p:txBody>
      </p:sp>
    </p:spTree>
    <p:custDataLst>
      <p:tags r:id="rId1"/>
    </p:custDataLst>
    <p:extLst>
      <p:ext uri="{BB962C8B-B14F-4D97-AF65-F5344CB8AC3E}">
        <p14:creationId xmlns:p14="http://schemas.microsoft.com/office/powerpoint/2010/main" val="3935444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7A286-ADE6-49DB-8C8C-1CE77366E685}"/>
              </a:ext>
            </a:extLst>
          </p:cNvPr>
          <p:cNvSpPr>
            <a:spLocks noGrp="1"/>
          </p:cNvSpPr>
          <p:nvPr>
            <p:ph type="title"/>
          </p:nvPr>
        </p:nvSpPr>
        <p:spPr>
          <a:xfrm>
            <a:off x="1098550" y="598713"/>
            <a:ext cx="16084552" cy="885485"/>
          </a:xfrm>
        </p:spPr>
        <p:txBody>
          <a:bodyPr/>
          <a:lstStyle/>
          <a:p>
            <a:r>
              <a:rPr lang="en-US" b="1" dirty="0">
                <a:solidFill>
                  <a:srgbClr val="C00000"/>
                </a:solidFill>
              </a:rPr>
              <a:t>How AI Improves Education</a:t>
            </a:r>
          </a:p>
        </p:txBody>
      </p:sp>
      <p:sp>
        <p:nvSpPr>
          <p:cNvPr id="3" name="Content Placeholder 2">
            <a:extLst>
              <a:ext uri="{FF2B5EF4-FFF2-40B4-BE49-F238E27FC236}">
                <a16:creationId xmlns:a16="http://schemas.microsoft.com/office/drawing/2014/main" id="{34907A05-9ACC-42C5-AD24-86AA1484C8A8}"/>
              </a:ext>
            </a:extLst>
          </p:cNvPr>
          <p:cNvSpPr>
            <a:spLocks noGrp="1"/>
          </p:cNvSpPr>
          <p:nvPr>
            <p:ph idx="1"/>
          </p:nvPr>
        </p:nvSpPr>
        <p:spPr>
          <a:xfrm>
            <a:off x="1098550" y="1682850"/>
            <a:ext cx="16084552" cy="8074936"/>
          </a:xfrm>
        </p:spPr>
        <p:txBody>
          <a:bodyPr>
            <a:normAutofit fontScale="92500" lnSpcReduction="20000"/>
          </a:bodyPr>
          <a:lstStyle/>
          <a:p>
            <a:pPr marL="0">
              <a:lnSpc>
                <a:spcPct val="120000"/>
              </a:lnSpc>
              <a:spcBef>
                <a:spcPts val="0"/>
              </a:spcBef>
            </a:pPr>
            <a:r>
              <a:rPr lang="en-US" sz="3600" b="1" dirty="0"/>
              <a:t>Personalized Learning Platform</a:t>
            </a:r>
            <a:r>
              <a:rPr lang="en-US" sz="3600" dirty="0"/>
              <a:t>: for example, using advanced AI tools, this course could be personalized and tailored to the prior knowledge level/skill of each student, with the goal of making learning a more enjoyable and successful experience for all. The professor will then be able to provide each student with personalized feedback, support and motivation.</a:t>
            </a:r>
          </a:p>
          <a:p>
            <a:pPr marL="0">
              <a:lnSpc>
                <a:spcPct val="120000"/>
              </a:lnSpc>
              <a:spcBef>
                <a:spcPts val="0"/>
              </a:spcBef>
            </a:pPr>
            <a:r>
              <a:rPr lang="en-US" sz="3600" b="1" dirty="0"/>
              <a:t>Individualized AI Tutors</a:t>
            </a:r>
            <a:r>
              <a:rPr lang="en-US" sz="3600" dirty="0"/>
              <a:t>: a personalized AI teaching assistant for a course could be used to answer basic questions from student (such as deadlines or assignment formats), help to keep students on track with coursework as needed, and provide info about the university or institution.</a:t>
            </a:r>
          </a:p>
          <a:p>
            <a:pPr marL="0">
              <a:lnSpc>
                <a:spcPct val="120000"/>
              </a:lnSpc>
              <a:spcBef>
                <a:spcPts val="0"/>
              </a:spcBef>
            </a:pPr>
            <a:r>
              <a:rPr lang="en-US" sz="3600" b="1" dirty="0"/>
              <a:t>Personalized Games</a:t>
            </a:r>
            <a:r>
              <a:rPr lang="en-US" sz="3600" dirty="0"/>
              <a:t>: AI tools allow professors to customize learning-oriented games to their students’ personalities and learning needs.</a:t>
            </a:r>
          </a:p>
          <a:p>
            <a:pPr marL="0">
              <a:lnSpc>
                <a:spcPct val="120000"/>
              </a:lnSpc>
              <a:spcBef>
                <a:spcPts val="0"/>
              </a:spcBef>
            </a:pPr>
            <a:r>
              <a:rPr lang="en-US" sz="3600" b="1" dirty="0"/>
              <a:t>Crafting a More Enjoyable Learning Experience</a:t>
            </a:r>
            <a:r>
              <a:rPr lang="en-US" sz="3600" dirty="0"/>
              <a:t>: AI tools in education can increase student engagement in coursework and make the learning experience more fun. It can incorporate interactive tools designed to engage learners, dispel boredom and increase motivation.</a:t>
            </a:r>
          </a:p>
        </p:txBody>
      </p:sp>
    </p:spTree>
    <p:custDataLst>
      <p:tags r:id="rId1"/>
    </p:custDataLst>
    <p:extLst>
      <p:ext uri="{BB962C8B-B14F-4D97-AF65-F5344CB8AC3E}">
        <p14:creationId xmlns:p14="http://schemas.microsoft.com/office/powerpoint/2010/main" val="1477464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Deep Medicine - Model AI/ML applications</a:t>
            </a:r>
          </a:p>
        </p:txBody>
      </p:sp>
      <p:sp>
        <p:nvSpPr>
          <p:cNvPr id="3" name="Content Placeholder 2"/>
          <p:cNvSpPr>
            <a:spLocks noGrp="1"/>
          </p:cNvSpPr>
          <p:nvPr>
            <p:ph idx="1"/>
          </p:nvPr>
        </p:nvSpPr>
        <p:spPr>
          <a:xfrm>
            <a:off x="1333500" y="2205789"/>
            <a:ext cx="15201900" cy="6970868"/>
          </a:xfrm>
        </p:spPr>
        <p:txBody>
          <a:bodyPr>
            <a:noAutofit/>
          </a:bodyPr>
          <a:lstStyle/>
          <a:p>
            <a:pPr>
              <a:lnSpc>
                <a:spcPct val="120000"/>
              </a:lnSpc>
              <a:spcBef>
                <a:spcPts val="0"/>
              </a:spcBef>
            </a:pPr>
            <a:r>
              <a:rPr lang="en-US" sz="3200" dirty="0"/>
              <a:t>Deep medicine is a process of digitizing medicine and integrating AI/ML capabilities into medicine.</a:t>
            </a:r>
          </a:p>
          <a:p>
            <a:pPr>
              <a:lnSpc>
                <a:spcPct val="120000"/>
              </a:lnSpc>
              <a:spcBef>
                <a:spcPts val="0"/>
              </a:spcBef>
            </a:pPr>
            <a:r>
              <a:rPr lang="en-US" sz="3200" dirty="0"/>
              <a:t>This requires two deep components:</a:t>
            </a:r>
          </a:p>
          <a:p>
            <a:pPr>
              <a:lnSpc>
                <a:spcPct val="120000"/>
              </a:lnSpc>
              <a:spcBef>
                <a:spcPts val="0"/>
              </a:spcBef>
            </a:pPr>
            <a:r>
              <a:rPr lang="en-US" sz="3200" dirty="0"/>
              <a:t>First, the ability to deeply define each individual (digitizing the medical essence of a human being) with relevant data: medical, social, behavioral, and family histories, as well as one’s biology: anatomy, physiology, and environment.</a:t>
            </a:r>
          </a:p>
          <a:p>
            <a:pPr>
              <a:lnSpc>
                <a:spcPct val="120000"/>
              </a:lnSpc>
              <a:spcBef>
                <a:spcPts val="0"/>
              </a:spcBef>
            </a:pPr>
            <a:r>
              <a:rPr lang="en-US" sz="3200" dirty="0"/>
              <a:t>Second, using pattern recognition and machine learning capabilities on such data, doctors can diagnose and perform a wide range of functions, such as virtual medical coaches to actively guide consumers to better manage their health or medical conditions.</a:t>
            </a:r>
          </a:p>
          <a:p>
            <a:pPr marL="0" indent="0">
              <a:buNone/>
            </a:pPr>
            <a:endParaRPr lang="en-US" sz="3200" dirty="0"/>
          </a:p>
        </p:txBody>
      </p:sp>
    </p:spTree>
    <p:custDataLst>
      <p:tags r:id="rId1"/>
    </p:custDataLst>
    <p:extLst>
      <p:ext uri="{BB962C8B-B14F-4D97-AF65-F5344CB8AC3E}">
        <p14:creationId xmlns:p14="http://schemas.microsoft.com/office/powerpoint/2010/main" val="4273647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1464" y="206827"/>
            <a:ext cx="16084552" cy="1026999"/>
          </a:xfrm>
        </p:spPr>
        <p:txBody>
          <a:bodyPr/>
          <a:lstStyle/>
          <a:p>
            <a:r>
              <a:rPr lang="en-US" b="1" dirty="0">
                <a:solidFill>
                  <a:srgbClr val="C00000"/>
                </a:solidFill>
              </a:rPr>
              <a:t>Examples of AI in Medical Practice</a:t>
            </a:r>
          </a:p>
        </p:txBody>
      </p:sp>
      <p:sp>
        <p:nvSpPr>
          <p:cNvPr id="3" name="Content Placeholder 2"/>
          <p:cNvSpPr>
            <a:spLocks noGrp="1"/>
          </p:cNvSpPr>
          <p:nvPr>
            <p:ph idx="1"/>
          </p:nvPr>
        </p:nvSpPr>
        <p:spPr>
          <a:xfrm>
            <a:off x="1011464" y="1233825"/>
            <a:ext cx="16084552" cy="8258517"/>
          </a:xfrm>
        </p:spPr>
        <p:txBody>
          <a:bodyPr>
            <a:noAutofit/>
          </a:bodyPr>
          <a:lstStyle/>
          <a:p>
            <a:pPr>
              <a:lnSpc>
                <a:spcPct val="120000"/>
              </a:lnSpc>
              <a:spcBef>
                <a:spcPts val="0"/>
              </a:spcBef>
            </a:pPr>
            <a:r>
              <a:rPr lang="en-US" sz="3200" dirty="0"/>
              <a:t>AI Algorithms enable deeper understanding of the available data, including new insights that were not previously possible.</a:t>
            </a:r>
          </a:p>
          <a:p>
            <a:pPr>
              <a:lnSpc>
                <a:spcPct val="120000"/>
              </a:lnSpc>
              <a:spcBef>
                <a:spcPts val="0"/>
              </a:spcBef>
            </a:pPr>
            <a:r>
              <a:rPr lang="en-US" sz="3200" dirty="0"/>
              <a:t>The texture of brain MRI images predict a particular genomic anomaly, specifically 1p/19q co-deletion, that’s relevant to survive certain types of brain cancer. Similarly, using deep learning algorithms to read MRI scans of patients with colon cancer a doctor can determine if the patient has a critical tumor-gene mutation, known as KRAS. This info will influence treatment decisions.</a:t>
            </a:r>
          </a:p>
          <a:p>
            <a:pPr>
              <a:lnSpc>
                <a:spcPct val="120000"/>
              </a:lnSpc>
              <a:spcBef>
                <a:spcPts val="0"/>
              </a:spcBef>
            </a:pPr>
            <a:r>
              <a:rPr lang="en-US" sz="3200" dirty="0"/>
              <a:t>With machine learning, the rapid processing of a large database of mammography images along with related biopsy results accurately identified those patients who need surgery because of cancer. This procedure also indicated that over 30% of previously planned breast surgeries could be safely avoided.</a:t>
            </a:r>
          </a:p>
          <a:p>
            <a:pPr>
              <a:lnSpc>
                <a:spcPct val="120000"/>
              </a:lnSpc>
              <a:spcBef>
                <a:spcPts val="0"/>
              </a:spcBef>
            </a:pPr>
            <a:r>
              <a:rPr lang="en-US" sz="3200" dirty="0"/>
              <a:t>Applying deep learning to X-ray images of hip fractures led to diagnoses as accurate as those derived from more advanced and more expensive techniques such as nuclear bone scans when X-ray images generate uncertainty.</a:t>
            </a:r>
          </a:p>
        </p:txBody>
      </p:sp>
    </p:spTree>
    <p:custDataLst>
      <p:tags r:id="rId1"/>
    </p:custDataLst>
    <p:extLst>
      <p:ext uri="{BB962C8B-B14F-4D97-AF65-F5344CB8AC3E}">
        <p14:creationId xmlns:p14="http://schemas.microsoft.com/office/powerpoint/2010/main" val="31960893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8"/>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6CEFF4B-9EC7-4D38-B437-9DE5B52C77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10088</TotalTime>
  <Words>919</Words>
  <Application>Microsoft Office PowerPoint</Application>
  <PresentationFormat>Custom</PresentationFormat>
  <Paragraphs>44</Paragraphs>
  <Slides>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Wingdings 2</vt:lpstr>
      <vt:lpstr>Breeze</vt:lpstr>
      <vt:lpstr>MBA532 – AI in Business </vt:lpstr>
      <vt:lpstr>AI Applications in Specific Industries/Institutions</vt:lpstr>
      <vt:lpstr>How is AI Transforming Finance Industry</vt:lpstr>
      <vt:lpstr>How AI may transform the Travel Industry</vt:lpstr>
      <vt:lpstr>How AI Impacts Governments</vt:lpstr>
      <vt:lpstr>How AI Improves Education</vt:lpstr>
      <vt:lpstr>Deep Medicine - Model AI/ML applications</vt:lpstr>
      <vt:lpstr>Examples of AI in Medical Practice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203</cp:revision>
  <dcterms:created xsi:type="dcterms:W3CDTF">2024-03-17T05:07:31Z</dcterms:created>
  <dcterms:modified xsi:type="dcterms:W3CDTF">2024-05-24T15:22:51Z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992AA339-A6FA-4416-AFED-DA416FB67BA7</vt:lpwstr>
  </property>
  <property fmtid="{D5CDD505-2E9C-101B-9397-08002B2CF9AE}" pid="5" name="ArticulatePath">
    <vt:lpwstr>MBA532 – AI in Business - Module 6 - March 28</vt:lpwstr>
  </property>
</Properties>
</file>