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notesSlides/notesSlide4.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5"/>
  </p:notesMasterIdLst>
  <p:sldIdLst>
    <p:sldId id="311" r:id="rId5"/>
    <p:sldId id="336" r:id="rId6"/>
    <p:sldId id="337" r:id="rId7"/>
    <p:sldId id="338" r:id="rId8"/>
    <p:sldId id="339" r:id="rId9"/>
    <p:sldId id="340" r:id="rId10"/>
    <p:sldId id="341" r:id="rId11"/>
    <p:sldId id="342" r:id="rId12"/>
    <p:sldId id="360" r:id="rId13"/>
    <p:sldId id="343" r:id="rId14"/>
    <p:sldId id="344" r:id="rId15"/>
    <p:sldId id="295" r:id="rId16"/>
    <p:sldId id="346" r:id="rId17"/>
    <p:sldId id="347" r:id="rId18"/>
    <p:sldId id="359" r:id="rId19"/>
    <p:sldId id="349" r:id="rId20"/>
    <p:sldId id="350" r:id="rId21"/>
    <p:sldId id="353" r:id="rId22"/>
    <p:sldId id="354" r:id="rId23"/>
    <p:sldId id="355" r:id="rId24"/>
  </p:sldIdLst>
  <p:sldSz cx="18288000" cy="10287000"/>
  <p:notesSz cx="6858000" cy="9144000"/>
  <p:custDataLst>
    <p:tags r:id="rId26"/>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7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Artificial Intelligence</a:t>
            </a:r>
          </a:p>
        </p:txBody>
      </p:sp>
      <p:sp>
        <p:nvSpPr>
          <p:cNvPr id="4" name="Slide Number Placeholder 3"/>
          <p:cNvSpPr>
            <a:spLocks noGrp="1"/>
          </p:cNvSpPr>
          <p:nvPr>
            <p:ph type="sldNum" sz="quarter" idx="5"/>
          </p:nvPr>
        </p:nvSpPr>
        <p:spPr/>
        <p:txBody>
          <a:bodyPr/>
          <a:lstStyle/>
          <a:p>
            <a:fld id="{FDF9B396-BE7F-4412-985B-05B577789B9E}" type="slidenum">
              <a:rPr lang="en-US" smtClean="0"/>
              <a:t>12</a:t>
            </a:fld>
            <a:endParaRPr lang="en-US"/>
          </a:p>
        </p:txBody>
      </p:sp>
    </p:spTree>
    <p:extLst>
      <p:ext uri="{BB962C8B-B14F-4D97-AF65-F5344CB8AC3E}">
        <p14:creationId xmlns:p14="http://schemas.microsoft.com/office/powerpoint/2010/main" val="2896468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Intelligenc-101 Things You Must Know Today About Our Future</a:t>
            </a:r>
          </a:p>
        </p:txBody>
      </p:sp>
      <p:sp>
        <p:nvSpPr>
          <p:cNvPr id="4" name="Slide Number Placeholder 3"/>
          <p:cNvSpPr>
            <a:spLocks noGrp="1"/>
          </p:cNvSpPr>
          <p:nvPr>
            <p:ph type="sldNum" sz="quarter" idx="5"/>
          </p:nvPr>
        </p:nvSpPr>
        <p:spPr/>
        <p:txBody>
          <a:bodyPr/>
          <a:lstStyle/>
          <a:p>
            <a:fld id="{FDF9B396-BE7F-4412-985B-05B577789B9E}" type="slidenum">
              <a:rPr lang="en-US" smtClean="0"/>
              <a:t>14</a:t>
            </a:fld>
            <a:endParaRPr lang="en-US"/>
          </a:p>
        </p:txBody>
      </p:sp>
    </p:spTree>
    <p:extLst>
      <p:ext uri="{BB962C8B-B14F-4D97-AF65-F5344CB8AC3E}">
        <p14:creationId xmlns:p14="http://schemas.microsoft.com/office/powerpoint/2010/main" val="4063825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Intelligenc-101 Things You Must Know Today About Our Future</a:t>
            </a:r>
          </a:p>
        </p:txBody>
      </p:sp>
      <p:sp>
        <p:nvSpPr>
          <p:cNvPr id="4" name="Slide Number Placeholder 3"/>
          <p:cNvSpPr>
            <a:spLocks noGrp="1"/>
          </p:cNvSpPr>
          <p:nvPr>
            <p:ph type="sldNum" sz="quarter" idx="5"/>
          </p:nvPr>
        </p:nvSpPr>
        <p:spPr/>
        <p:txBody>
          <a:bodyPr/>
          <a:lstStyle/>
          <a:p>
            <a:fld id="{FDF9B396-BE7F-4412-985B-05B577789B9E}" type="slidenum">
              <a:rPr lang="en-US" smtClean="0"/>
              <a:t>15</a:t>
            </a:fld>
            <a:endParaRPr lang="en-US"/>
          </a:p>
        </p:txBody>
      </p:sp>
    </p:spTree>
    <p:extLst>
      <p:ext uri="{BB962C8B-B14F-4D97-AF65-F5344CB8AC3E}">
        <p14:creationId xmlns:p14="http://schemas.microsoft.com/office/powerpoint/2010/main" val="542478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Applied Artificial Intelligence</a:t>
            </a:r>
          </a:p>
        </p:txBody>
      </p:sp>
      <p:sp>
        <p:nvSpPr>
          <p:cNvPr id="4" name="Slide Number Placeholder 3"/>
          <p:cNvSpPr>
            <a:spLocks noGrp="1"/>
          </p:cNvSpPr>
          <p:nvPr>
            <p:ph type="sldNum" sz="quarter" idx="5"/>
          </p:nvPr>
        </p:nvSpPr>
        <p:spPr/>
        <p:txBody>
          <a:bodyPr/>
          <a:lstStyle/>
          <a:p>
            <a:fld id="{FDF9B396-BE7F-4412-985B-05B577789B9E}" type="slidenum">
              <a:rPr lang="en-US" smtClean="0"/>
              <a:t>18</a:t>
            </a:fld>
            <a:endParaRPr lang="en-US"/>
          </a:p>
        </p:txBody>
      </p:sp>
    </p:spTree>
    <p:extLst>
      <p:ext uri="{BB962C8B-B14F-4D97-AF65-F5344CB8AC3E}">
        <p14:creationId xmlns:p14="http://schemas.microsoft.com/office/powerpoint/2010/main" val="2869547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20B07-135D-4984-8E9E-895635FB2FC5}"/>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p>
        </p:txBody>
      </p:sp>
      <p:sp>
        <p:nvSpPr>
          <p:cNvPr id="3" name="Text Placeholder 2">
            <a:extLst>
              <a:ext uri="{FF2B5EF4-FFF2-40B4-BE49-F238E27FC236}">
                <a16:creationId xmlns:a16="http://schemas.microsoft.com/office/drawing/2014/main" id="{44E6FA3F-1DD3-47ED-AC8E-2E5EC41D52AD}"/>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1E41B0-3F1A-4214-92B0-B5D632D3645F}"/>
              </a:ext>
            </a:extLst>
          </p:cNvPr>
          <p:cNvSpPr>
            <a:spLocks noGrp="1"/>
          </p:cNvSpPr>
          <p:nvPr>
            <p:ph type="dt" sz="half" idx="10"/>
          </p:nvPr>
        </p:nvSpPr>
        <p:spPr/>
        <p:txBody>
          <a:bodyPr/>
          <a:lstStyle/>
          <a:p>
            <a:fld id="{7EB636FF-6623-4057-AF61-DE00FA6B102A}" type="datetimeFigureOut">
              <a:rPr lang="en-US" smtClean="0"/>
              <a:t>5/24/2024</a:t>
            </a:fld>
            <a:endParaRPr lang="en-US"/>
          </a:p>
        </p:txBody>
      </p:sp>
      <p:sp>
        <p:nvSpPr>
          <p:cNvPr id="5" name="Footer Placeholder 4">
            <a:extLst>
              <a:ext uri="{FF2B5EF4-FFF2-40B4-BE49-F238E27FC236}">
                <a16:creationId xmlns:a16="http://schemas.microsoft.com/office/drawing/2014/main" id="{97573E94-90D9-47DA-9E2D-DC079DAEA5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864ED9-F0ED-4CA8-AC9C-46E19A000275}"/>
              </a:ext>
            </a:extLst>
          </p:cNvPr>
          <p:cNvSpPr>
            <a:spLocks noGrp="1"/>
          </p:cNvSpPr>
          <p:nvPr>
            <p:ph type="sldNum" sz="quarter" idx="12"/>
          </p:nvPr>
        </p:nvSpPr>
        <p:spPr/>
        <p:txBody>
          <a:bodyPr/>
          <a:lstStyle/>
          <a:p>
            <a:fld id="{8E20E20D-334C-4D89-B0A6-10D3AE6D9B7D}" type="slidenum">
              <a:rPr lang="en-US" smtClean="0"/>
              <a:t>‹#›</a:t>
            </a:fld>
            <a:endParaRPr lang="en-US"/>
          </a:p>
        </p:txBody>
      </p:sp>
    </p:spTree>
    <p:extLst>
      <p:ext uri="{BB962C8B-B14F-4D97-AF65-F5344CB8AC3E}">
        <p14:creationId xmlns:p14="http://schemas.microsoft.com/office/powerpoint/2010/main" val="99575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87E99-A11D-4C5C-8984-BF5C7E043D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6661211-265E-4062-95C2-899F48904B17}"/>
              </a:ext>
            </a:extLst>
          </p:cNvPr>
          <p:cNvSpPr>
            <a:spLocks noGrp="1"/>
          </p:cNvSpPr>
          <p:nvPr>
            <p:ph type="dt" sz="half" idx="10"/>
          </p:nvPr>
        </p:nvSpPr>
        <p:spPr/>
        <p:txBody>
          <a:bodyPr/>
          <a:lstStyle/>
          <a:p>
            <a:fld id="{7EB636FF-6623-4057-AF61-DE00FA6B102A}" type="datetimeFigureOut">
              <a:rPr lang="en-US" smtClean="0"/>
              <a:t>5/24/2024</a:t>
            </a:fld>
            <a:endParaRPr lang="en-US"/>
          </a:p>
        </p:txBody>
      </p:sp>
      <p:sp>
        <p:nvSpPr>
          <p:cNvPr id="4" name="Footer Placeholder 3">
            <a:extLst>
              <a:ext uri="{FF2B5EF4-FFF2-40B4-BE49-F238E27FC236}">
                <a16:creationId xmlns:a16="http://schemas.microsoft.com/office/drawing/2014/main" id="{2CB2C95A-0963-4336-A00D-DABF8AAC00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DE9B78E-6B10-4CED-805B-CF6D52499A9A}"/>
              </a:ext>
            </a:extLst>
          </p:cNvPr>
          <p:cNvSpPr>
            <a:spLocks noGrp="1"/>
          </p:cNvSpPr>
          <p:nvPr>
            <p:ph type="sldNum" sz="quarter" idx="12"/>
          </p:nvPr>
        </p:nvSpPr>
        <p:spPr/>
        <p:txBody>
          <a:bodyPr/>
          <a:lstStyle/>
          <a:p>
            <a:fld id="{8E20E20D-334C-4D89-B0A6-10D3AE6D9B7D}" type="slidenum">
              <a:rPr lang="en-US" smtClean="0"/>
              <a:t>‹#›</a:t>
            </a:fld>
            <a:endParaRPr lang="en-US"/>
          </a:p>
        </p:txBody>
      </p:sp>
    </p:spTree>
    <p:extLst>
      <p:ext uri="{BB962C8B-B14F-4D97-AF65-F5344CB8AC3E}">
        <p14:creationId xmlns:p14="http://schemas.microsoft.com/office/powerpoint/2010/main" val="2232794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7">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 id="2147483678" r:id="rId5"/>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hyperlink" Target="https://www.ben-evans.com/benedictevans/2023/7/2/working-with-ai" TargetMode="Externa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hyperlink" Target="https://www.wsj.com/articles/businesses-have-a-big-idea-to-tackle-ai-more-task-forces-be0d6981"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theverge.com/23778745/demis-hassabis-google-deepmind-ai-alphafold-risks" TargetMode="Externa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6.xml.rels><?xml version="1.0" encoding="UTF-8" standalone="yes"?>
<Relationships xmlns="http://schemas.openxmlformats.org/package/2006/relationships"><Relationship Id="rId3" Type="http://schemas.openxmlformats.org/officeDocument/2006/relationships/hyperlink" Target="https://www.semianalysis.com/p/google-we-have-no-moat-and-neither" TargetMode="Externa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6.xml.rels><?xml version="1.0" encoding="UTF-8" standalone="yes"?>
<Relationships xmlns="http://schemas.openxmlformats.org/package/2006/relationships"><Relationship Id="rId3" Type="http://schemas.openxmlformats.org/officeDocument/2006/relationships/hyperlink" Target="https://3pm.ai/" TargetMode="Externa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7.xml.rels><?xml version="1.0" encoding="UTF-8" standalone="yes"?>
<Relationships xmlns="http://schemas.openxmlformats.org/package/2006/relationships"><Relationship Id="rId3" Type="http://schemas.openxmlformats.org/officeDocument/2006/relationships/hyperlink" Target="https://www.nytimes.com/interactive/2020/11/21/science/artificial-intelligence-fake-people-faces.html" TargetMode="Externa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8" y="2286002"/>
            <a:ext cx="12998450" cy="2587626"/>
          </a:xfrm>
        </p:spPr>
        <p:txBody>
          <a:bodyPr/>
          <a:lstStyle/>
          <a:p>
            <a:pPr>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8" y="4949828"/>
            <a:ext cx="12998450" cy="1374774"/>
          </a:xfrm>
        </p:spPr>
        <p:txBody>
          <a:bodyPr>
            <a:normAutofit/>
          </a:bodyPr>
          <a:lstStyle/>
          <a:p>
            <a:pPr>
              <a:defRPr/>
            </a:pPr>
            <a:r>
              <a:rPr lang="en-US" dirty="0">
                <a:latin typeface="+mj-lt"/>
              </a:rPr>
              <a:t>MODULE 6 – </a:t>
            </a:r>
            <a:r>
              <a:rPr lang="en-US" dirty="0">
                <a:effectLst/>
                <a:latin typeface="+mj-lt"/>
                <a:ea typeface="Calibri" panose="020F0502020204030204" pitchFamily="34" charset="0"/>
                <a:cs typeface="Times New Roman" panose="02020603050405020304" pitchFamily="18" charset="0"/>
              </a:rPr>
              <a:t>AI Impact Assessment from other dimensions – </a:t>
            </a:r>
            <a:r>
              <a:rPr lang="en-US">
                <a:effectLst/>
                <a:latin typeface="+mj-lt"/>
                <a:ea typeface="Calibri" panose="020F0502020204030204" pitchFamily="34" charset="0"/>
                <a:cs typeface="Times New Roman" panose="02020603050405020304" pitchFamily="18" charset="0"/>
              </a:rPr>
              <a:t>multiple perspectives</a:t>
            </a:r>
            <a:endParaRPr lang="en-US"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8736D1-F7F0-42CE-8806-4F4E327C3740}"/>
              </a:ext>
            </a:extLst>
          </p:cNvPr>
          <p:cNvSpPr>
            <a:spLocks noGrp="1"/>
          </p:cNvSpPr>
          <p:nvPr>
            <p:ph type="title"/>
          </p:nvPr>
        </p:nvSpPr>
        <p:spPr/>
        <p:txBody>
          <a:bodyPr/>
          <a:lstStyle/>
          <a:p>
            <a:r>
              <a:rPr lang="en-US" sz="5400" b="1" dirty="0">
                <a:solidFill>
                  <a:srgbClr val="C00000"/>
                </a:solidFill>
              </a:rPr>
              <a:t>AI Applications in Business – </a:t>
            </a:r>
            <a:br>
              <a:rPr lang="en-US" sz="5400" b="1" dirty="0">
                <a:solidFill>
                  <a:srgbClr val="C00000"/>
                </a:solidFill>
              </a:rPr>
            </a:br>
            <a:r>
              <a:rPr lang="en-US" sz="5400" b="1" dirty="0">
                <a:solidFill>
                  <a:srgbClr val="C00000"/>
                </a:solidFill>
              </a:rPr>
              <a:t>Focus on Top Ranking Firms</a:t>
            </a:r>
          </a:p>
        </p:txBody>
      </p:sp>
    </p:spTree>
    <p:custDataLst>
      <p:tags r:id="rId1"/>
    </p:custDataLst>
    <p:extLst>
      <p:ext uri="{BB962C8B-B14F-4D97-AF65-F5344CB8AC3E}">
        <p14:creationId xmlns:p14="http://schemas.microsoft.com/office/powerpoint/2010/main" val="120229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EBD47-95F6-47E0-B51D-F7E51C499338}"/>
              </a:ext>
            </a:extLst>
          </p:cNvPr>
          <p:cNvSpPr>
            <a:spLocks noGrp="1"/>
          </p:cNvSpPr>
          <p:nvPr>
            <p:ph type="title"/>
          </p:nvPr>
        </p:nvSpPr>
        <p:spPr>
          <a:xfrm>
            <a:off x="1332661" y="334060"/>
            <a:ext cx="16084552" cy="1729806"/>
          </a:xfrm>
        </p:spPr>
        <p:txBody>
          <a:bodyPr>
            <a:normAutofit fontScale="90000"/>
          </a:bodyPr>
          <a:lstStyle/>
          <a:p>
            <a:r>
              <a:rPr lang="en-US" b="1" dirty="0">
                <a:solidFill>
                  <a:srgbClr val="C00000"/>
                </a:solidFill>
              </a:rPr>
              <a:t>Helpful career tips re: AI from a leading source</a:t>
            </a:r>
            <a:br>
              <a:rPr lang="en-US" b="1" dirty="0">
                <a:solidFill>
                  <a:srgbClr val="FF0000"/>
                </a:solidFill>
              </a:rPr>
            </a:br>
            <a:endParaRPr lang="en-US" b="1" dirty="0">
              <a:solidFill>
                <a:srgbClr val="FF0000"/>
              </a:solidFill>
            </a:endParaRPr>
          </a:p>
        </p:txBody>
      </p:sp>
      <p:sp>
        <p:nvSpPr>
          <p:cNvPr id="3" name="Content Placeholder 2">
            <a:extLst>
              <a:ext uri="{FF2B5EF4-FFF2-40B4-BE49-F238E27FC236}">
                <a16:creationId xmlns:a16="http://schemas.microsoft.com/office/drawing/2014/main" id="{217FDCCD-9EAB-4069-9EC7-655A33D7C72E}"/>
              </a:ext>
            </a:extLst>
          </p:cNvPr>
          <p:cNvSpPr>
            <a:spLocks noGrp="1"/>
          </p:cNvSpPr>
          <p:nvPr>
            <p:ph idx="1"/>
          </p:nvPr>
        </p:nvSpPr>
        <p:spPr>
          <a:xfrm>
            <a:off x="1376363" y="1866389"/>
            <a:ext cx="16247608" cy="7828265"/>
          </a:xfrm>
        </p:spPr>
        <p:txBody>
          <a:bodyPr>
            <a:normAutofit/>
          </a:bodyPr>
          <a:lstStyle/>
          <a:p>
            <a:pPr marL="0" indent="0">
              <a:buNone/>
            </a:pPr>
            <a:endParaRPr lang="en-US" sz="2700" b="1" dirty="0">
              <a:solidFill>
                <a:srgbClr val="FF0000"/>
              </a:solidFill>
            </a:endParaRPr>
          </a:p>
          <a:p>
            <a:pPr>
              <a:spcBef>
                <a:spcPts val="0"/>
              </a:spcBef>
            </a:pPr>
            <a:r>
              <a:rPr lang="en-US" sz="3200" dirty="0"/>
              <a:t>MBA students in this course with a few years of work experience have this question: </a:t>
            </a:r>
          </a:p>
          <a:p>
            <a:pPr marL="673100" lvl="1" indent="0">
              <a:spcBef>
                <a:spcPts val="0"/>
              </a:spcBef>
              <a:buNone/>
            </a:pPr>
            <a:r>
              <a:rPr lang="en-US" sz="3200" i="1" dirty="0"/>
              <a:t>“I am convinced that AI has a huge role… but how exactly does taking your course help me to advance my career?” </a:t>
            </a:r>
          </a:p>
          <a:p>
            <a:pPr>
              <a:spcBef>
                <a:spcPts val="0"/>
              </a:spcBef>
            </a:pPr>
            <a:r>
              <a:rPr lang="en-US" sz="3200" dirty="0"/>
              <a:t>Usually, the answer depends heavily on each student’s background, circumstances and work history. Encouragingly, the above July 15 2023 WSJ story shares key insights on how you should position yourself in your workplace to play a key role in AI initiatives within your organization. A key advice is, if your company creates an AI Taskforce, as many leading businesses have, try to land a spot there. Such taskforces play a pivotal role in formulating AI strategy that brings significant visibility, recognition and rewards. If your firm does </a:t>
            </a:r>
            <a:r>
              <a:rPr lang="en-US" sz="3200" i="1" dirty="0"/>
              <a:t>not</a:t>
            </a:r>
            <a:r>
              <a:rPr lang="en-US" sz="3200" dirty="0"/>
              <a:t> have a taskforce, you should take the lead to create one.</a:t>
            </a:r>
          </a:p>
          <a:p>
            <a:pPr>
              <a:spcBef>
                <a:spcPts val="0"/>
              </a:spcBef>
            </a:pPr>
            <a:r>
              <a:rPr lang="en-US" sz="3200" dirty="0"/>
              <a:t>Many students who took this course have succeeded in leadership roles on AI projects where they work. This is also because, few managers are knowledgeable about AI topic, and that unfortunately includes most CEOs.</a:t>
            </a:r>
          </a:p>
          <a:p>
            <a:endParaRPr lang="en-US" sz="2700" b="1" dirty="0"/>
          </a:p>
        </p:txBody>
      </p:sp>
      <p:sp>
        <p:nvSpPr>
          <p:cNvPr id="4" name="AutoShape 2" descr="Artificial Intelligence (2016) - AMP New Ventures"/>
          <p:cNvSpPr>
            <a:spLocks noChangeAspect="1" noChangeArrowheads="1"/>
          </p:cNvSpPr>
          <p:nvPr/>
        </p:nvSpPr>
        <p:spPr bwMode="auto">
          <a:xfrm>
            <a:off x="233363" y="-216694"/>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5" name="AutoShape 4" descr="Artificial Intelligence (2016) - AMP New Ventures"/>
          <p:cNvSpPr>
            <a:spLocks noChangeAspect="1" noChangeArrowheads="1"/>
          </p:cNvSpPr>
          <p:nvPr/>
        </p:nvSpPr>
        <p:spPr bwMode="auto">
          <a:xfrm>
            <a:off x="461963" y="119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6" name="AutoShape 6" descr="Artificial Intelligence (2016) - AMP New Ventures"/>
          <p:cNvSpPr>
            <a:spLocks noChangeAspect="1" noChangeArrowheads="1"/>
          </p:cNvSpPr>
          <p:nvPr/>
        </p:nvSpPr>
        <p:spPr bwMode="auto">
          <a:xfrm>
            <a:off x="690563" y="2405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7" name="AutoShape 8" descr="7 Benefits of Artificial Intelligence for Business"/>
          <p:cNvSpPr>
            <a:spLocks noChangeAspect="1" noChangeArrowheads="1"/>
          </p:cNvSpPr>
          <p:nvPr/>
        </p:nvSpPr>
        <p:spPr bwMode="auto">
          <a:xfrm>
            <a:off x="919163" y="469106"/>
            <a:ext cx="457200" cy="45720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37160" tIns="68580" rIns="137160" bIns="68580" numCol="1" anchor="t" anchorCtr="0" compatLnSpc="1">
            <a:prstTxWarp prst="textNoShape">
              <a:avLst/>
            </a:prstTxWarp>
          </a:bodyPr>
          <a:lstStyle/>
          <a:p>
            <a:endParaRPr lang="en-US"/>
          </a:p>
        </p:txBody>
      </p:sp>
      <p:sp>
        <p:nvSpPr>
          <p:cNvPr id="10" name="Rectangle 3"/>
          <p:cNvSpPr>
            <a:spLocks noChangeArrowheads="1"/>
          </p:cNvSpPr>
          <p:nvPr/>
        </p:nvSpPr>
        <p:spPr bwMode="auto">
          <a:xfrm>
            <a:off x="1" y="-484747"/>
            <a:ext cx="277064"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37160" tIns="68580" rIns="137160" bIns="68580" numCol="1" anchor="ctr" anchorCtr="0" compatLnSpc="1">
            <a:prstTxWarp prst="textNoShape">
              <a:avLst/>
            </a:prstTxWarp>
            <a:spAutoFit/>
          </a:bodyPr>
          <a:lstStyle/>
          <a:p>
            <a:pPr defTabSz="1371600" eaLnBrk="0" hangingPunct="0"/>
            <a:br>
              <a:rPr lang="en-US" altLang="en-US" sz="2700" dirty="0"/>
            </a:br>
            <a:endParaRPr lang="en-US" altLang="en-US" sz="2700" dirty="0">
              <a:hlinkClick r:id="rId3"/>
            </a:endParaRPr>
          </a:p>
        </p:txBody>
      </p:sp>
      <p:sp>
        <p:nvSpPr>
          <p:cNvPr id="14" name="Rectangle 6"/>
          <p:cNvSpPr>
            <a:spLocks noChangeArrowheads="1"/>
          </p:cNvSpPr>
          <p:nvPr/>
        </p:nvSpPr>
        <p:spPr bwMode="auto">
          <a:xfrm>
            <a:off x="1" y="231562"/>
            <a:ext cx="277064"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37160" tIns="68580" rIns="137160" bIns="68580" numCol="1" anchor="ctr" anchorCtr="0" compatLnSpc="1">
            <a:prstTxWarp prst="textNoShape">
              <a:avLst/>
            </a:prstTxWarp>
            <a:spAutoFit/>
          </a:bodyPr>
          <a:lstStyle/>
          <a:p>
            <a:pPr defTabSz="1371600" eaLnBrk="0" hangingPunct="0"/>
            <a:endParaRPr lang="en-US" altLang="en-US" sz="2700" dirty="0"/>
          </a:p>
        </p:txBody>
      </p:sp>
      <p:sp>
        <p:nvSpPr>
          <p:cNvPr id="9" name="Rectangle 2"/>
          <p:cNvSpPr>
            <a:spLocks noChangeArrowheads="1"/>
          </p:cNvSpPr>
          <p:nvPr/>
        </p:nvSpPr>
        <p:spPr bwMode="auto">
          <a:xfrm>
            <a:off x="1332661" y="1536847"/>
            <a:ext cx="15669988"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pPr lvl="0" eaLnBrk="0" fontAlgn="base" hangingPunct="0">
              <a:spcBef>
                <a:spcPct val="0"/>
              </a:spcBef>
              <a:spcAft>
                <a:spcPct val="0"/>
              </a:spcAft>
            </a:pPr>
            <a:r>
              <a:rPr lang="en-US" altLang="en-US" sz="3200" b="1" dirty="0">
                <a:hlinkClick r:id="rId4"/>
              </a:rPr>
              <a:t>The Big Question for Managers on AI: Who Gets the Job of Figuring It Out </a:t>
            </a:r>
            <a:r>
              <a:rPr lang="en-US" altLang="en-US" sz="3200" b="1" dirty="0"/>
              <a:t>WSJ</a:t>
            </a:r>
            <a:endParaRPr lang="en-US" altLang="en-US" sz="2700" dirty="0"/>
          </a:p>
        </p:txBody>
      </p:sp>
    </p:spTree>
    <p:custDataLst>
      <p:tags r:id="rId1"/>
    </p:custDataLst>
    <p:extLst>
      <p:ext uri="{BB962C8B-B14F-4D97-AF65-F5344CB8AC3E}">
        <p14:creationId xmlns:p14="http://schemas.microsoft.com/office/powerpoint/2010/main" val="331108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8550" y="374381"/>
            <a:ext cx="16084552" cy="1026999"/>
          </a:xfrm>
        </p:spPr>
        <p:txBody>
          <a:bodyPr/>
          <a:lstStyle/>
          <a:p>
            <a:r>
              <a:rPr lang="en-US" b="1" dirty="0">
                <a:solidFill>
                  <a:srgbClr val="C00000"/>
                </a:solidFill>
              </a:rPr>
              <a:t>Google’s AI First focus</a:t>
            </a:r>
          </a:p>
        </p:txBody>
      </p:sp>
      <p:sp>
        <p:nvSpPr>
          <p:cNvPr id="3" name="Content Placeholder 2"/>
          <p:cNvSpPr>
            <a:spLocks noGrp="1"/>
          </p:cNvSpPr>
          <p:nvPr>
            <p:ph idx="1"/>
          </p:nvPr>
        </p:nvSpPr>
        <p:spPr>
          <a:xfrm>
            <a:off x="1344384" y="1688149"/>
            <a:ext cx="15932426" cy="8065451"/>
          </a:xfrm>
        </p:spPr>
        <p:txBody>
          <a:bodyPr anchor="ctr">
            <a:normAutofit fontScale="92500"/>
          </a:bodyPr>
          <a:lstStyle/>
          <a:p>
            <a:pPr>
              <a:lnSpc>
                <a:spcPct val="110000"/>
              </a:lnSpc>
              <a:spcBef>
                <a:spcPts val="0"/>
              </a:spcBef>
            </a:pPr>
            <a:r>
              <a:rPr lang="en-US" sz="3600" dirty="0"/>
              <a:t>In his founder’s letter in 2017, Sergey </a:t>
            </a:r>
            <a:r>
              <a:rPr lang="en-US" sz="3600" dirty="0" err="1"/>
              <a:t>Brin</a:t>
            </a:r>
            <a:r>
              <a:rPr lang="en-US" sz="3600" dirty="0"/>
              <a:t> (president of Alphabet) wrote: “The new spring in AI is the most significant development in computing in my lifetime.”</a:t>
            </a:r>
          </a:p>
          <a:p>
            <a:pPr>
              <a:lnSpc>
                <a:spcPct val="110000"/>
              </a:lnSpc>
              <a:spcBef>
                <a:spcPts val="0"/>
              </a:spcBef>
            </a:pPr>
            <a:r>
              <a:rPr lang="en-US" sz="3600" dirty="0"/>
              <a:t>Google’s subsequent </a:t>
            </a:r>
            <a:r>
              <a:rPr lang="en-US" sz="3600" b="1" i="1" dirty="0"/>
              <a:t>AI First</a:t>
            </a:r>
            <a:r>
              <a:rPr lang="en-US" sz="3600" dirty="0"/>
              <a:t> focus reflects the priorities of its cloud-based customers, such as Ocado, an AI company disguised as a supply chain company that, in turn, is disguised as an online grocer. All their cloud-stored data is used to optimize applications like delivery routing, robotics, spoilage detection and fraud detection.</a:t>
            </a:r>
          </a:p>
          <a:p>
            <a:pPr>
              <a:lnSpc>
                <a:spcPct val="110000"/>
              </a:lnSpc>
              <a:spcBef>
                <a:spcPts val="0"/>
              </a:spcBef>
            </a:pPr>
            <a:r>
              <a:rPr lang="en-US" sz="3600" dirty="0"/>
              <a:t>Google’s CEO says that Google has successfully embraced the “</a:t>
            </a:r>
            <a:r>
              <a:rPr lang="en-US" sz="3600" b="1" i="1" dirty="0"/>
              <a:t>AI first</a:t>
            </a:r>
            <a:r>
              <a:rPr lang="en-US" sz="3600" dirty="0"/>
              <a:t>” principle; in other words, AI is a central part of the company’s operating model.</a:t>
            </a:r>
          </a:p>
          <a:p>
            <a:pPr>
              <a:lnSpc>
                <a:spcPct val="110000"/>
              </a:lnSpc>
              <a:spcBef>
                <a:spcPts val="0"/>
              </a:spcBef>
            </a:pPr>
            <a:r>
              <a:rPr lang="en-US" sz="3600" dirty="0"/>
              <a:t>An </a:t>
            </a:r>
            <a:r>
              <a:rPr lang="en-US" sz="3600" b="1" i="1" dirty="0"/>
              <a:t>AI first </a:t>
            </a:r>
            <a:r>
              <a:rPr lang="en-US" sz="3600" dirty="0"/>
              <a:t>approach means that Google’s ads are increasingly personalized and contextualized by AI, ultimately yielding more clicks.</a:t>
            </a:r>
          </a:p>
          <a:p>
            <a:pPr>
              <a:lnSpc>
                <a:spcPct val="110000"/>
              </a:lnSpc>
              <a:spcBef>
                <a:spcPts val="0"/>
              </a:spcBef>
            </a:pPr>
            <a:r>
              <a:rPr lang="en-US" sz="3600" dirty="0"/>
              <a:t>Related reorganization with AI focus is discussed here: </a:t>
            </a:r>
            <a:r>
              <a:rPr lang="en-US" sz="3600" b="1" dirty="0">
                <a:hlinkClick r:id="rId3"/>
              </a:rPr>
              <a:t>Google DeepMind CEO </a:t>
            </a:r>
            <a:r>
              <a:rPr lang="en-US" sz="3600" b="1" dirty="0" err="1">
                <a:hlinkClick r:id="rId3"/>
              </a:rPr>
              <a:t>Demis</a:t>
            </a:r>
            <a:r>
              <a:rPr lang="en-US" sz="3600" b="1" dirty="0">
                <a:hlinkClick r:id="rId3"/>
              </a:rPr>
              <a:t> Hassabis on </a:t>
            </a:r>
            <a:r>
              <a:rPr lang="en-US" sz="3600" b="1" dirty="0" err="1">
                <a:hlinkClick r:id="rId3"/>
              </a:rPr>
              <a:t>ChatGPT</a:t>
            </a:r>
            <a:r>
              <a:rPr lang="en-US" sz="3600" b="1" dirty="0">
                <a:hlinkClick r:id="rId3"/>
              </a:rPr>
              <a:t>, AI, LLMs, and more - The Verge</a:t>
            </a:r>
            <a:endParaRPr lang="en-US" sz="3600" b="1" dirty="0"/>
          </a:p>
          <a:p>
            <a:pPr>
              <a:lnSpc>
                <a:spcPct val="110000"/>
              </a:lnSpc>
              <a:spcBef>
                <a:spcPts val="0"/>
              </a:spcBef>
            </a:pPr>
            <a:endParaRPr lang="en-US" sz="3600" dirty="0"/>
          </a:p>
          <a:p>
            <a:pPr>
              <a:lnSpc>
                <a:spcPct val="110000"/>
              </a:lnSpc>
              <a:spcBef>
                <a:spcPts val="0"/>
              </a:spcBef>
            </a:pPr>
            <a:endParaRPr lang="en-US" sz="3600" dirty="0"/>
          </a:p>
        </p:txBody>
      </p:sp>
    </p:spTree>
    <p:custDataLst>
      <p:tags r:id="rId1"/>
    </p:custDataLst>
    <p:extLst>
      <p:ext uri="{BB962C8B-B14F-4D97-AF65-F5344CB8AC3E}">
        <p14:creationId xmlns:p14="http://schemas.microsoft.com/office/powerpoint/2010/main" val="7686805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064" y="363061"/>
            <a:ext cx="15773400" cy="1716110"/>
          </a:xfrm>
        </p:spPr>
        <p:txBody>
          <a:bodyPr>
            <a:normAutofit fontScale="90000"/>
          </a:bodyPr>
          <a:lstStyle/>
          <a:p>
            <a:r>
              <a:rPr lang="en-US" sz="4900" dirty="0">
                <a:solidFill>
                  <a:srgbClr val="C00000"/>
                </a:solidFill>
              </a:rPr>
              <a:t>Unpacking </a:t>
            </a:r>
            <a:r>
              <a:rPr lang="en-US" sz="4900" b="1" dirty="0">
                <a:solidFill>
                  <a:srgbClr val="C00000"/>
                </a:solidFill>
              </a:rPr>
              <a:t>How Google integrates AI in a simple search</a:t>
            </a:r>
            <a:br>
              <a:rPr lang="en-US" sz="6000" b="1" dirty="0">
                <a:solidFill>
                  <a:srgbClr val="C00000"/>
                </a:solidFill>
              </a:rPr>
            </a:br>
            <a:endParaRPr lang="en-US" sz="6000" dirty="0">
              <a:solidFill>
                <a:srgbClr val="C00000"/>
              </a:solidFill>
            </a:endParaRPr>
          </a:p>
        </p:txBody>
      </p:sp>
      <p:sp>
        <p:nvSpPr>
          <p:cNvPr id="3" name="Rectangle 2"/>
          <p:cNvSpPr/>
          <p:nvPr/>
        </p:nvSpPr>
        <p:spPr>
          <a:xfrm>
            <a:off x="1368753" y="1362113"/>
            <a:ext cx="15550493" cy="8463855"/>
          </a:xfrm>
          <a:prstGeom prst="rect">
            <a:avLst/>
          </a:prstGeom>
        </p:spPr>
        <p:txBody>
          <a:bodyPr wrap="square">
            <a:spAutoFit/>
          </a:bodyPr>
          <a:lstStyle/>
          <a:p>
            <a:pPr marL="457200" indent="-457200">
              <a:buFont typeface="Arial" panose="020B0604020202020204" pitchFamily="34" charset="0"/>
              <a:buChar char="•"/>
            </a:pPr>
            <a:r>
              <a:rPr lang="en-US" sz="3200" dirty="0"/>
              <a:t>Google’s search engine (whether you use text, voice or image search) involves a large number of super-fast AI steps processed by smart, self-teaching systems</a:t>
            </a:r>
          </a:p>
          <a:p>
            <a:pPr marL="457200" indent="-457200">
              <a:buFont typeface="Arial" panose="020B0604020202020204" pitchFamily="34" charset="0"/>
              <a:buChar char="•"/>
            </a:pPr>
            <a:r>
              <a:rPr lang="en-US" sz="3200" dirty="0"/>
              <a:t>Text and voice search employ NLP, so algorithms attempt to understand how you uttered each word you enter as part of a search query relates to every other word it is used with, rather than just what each word means individually (also called </a:t>
            </a:r>
            <a:r>
              <a:rPr lang="en-US" sz="3200" i="1" dirty="0">
                <a:solidFill>
                  <a:srgbClr val="0070C0"/>
                </a:solidFill>
              </a:rPr>
              <a:t>semantic analysis </a:t>
            </a:r>
            <a:r>
              <a:rPr lang="en-US" sz="3200" dirty="0"/>
              <a:t>that is key to NLP</a:t>
            </a:r>
          </a:p>
          <a:p>
            <a:pPr marL="457200" indent="-457200">
              <a:buFont typeface="Arial" panose="020B0604020202020204" pitchFamily="34" charset="0"/>
              <a:buChar char="•"/>
            </a:pPr>
            <a:r>
              <a:rPr lang="en-US" sz="3200" dirty="0"/>
              <a:t>Image search uses computer vision to recognize image content and classifies it so users may search for it using text or voice. Deep learning algorithms (relying on convolutional networks) help recognize and label different elements contained in pictures. The more the images it is exposed to, the better its recognition ability.</a:t>
            </a:r>
          </a:p>
          <a:p>
            <a:pPr marL="457200" indent="-457200">
              <a:buFont typeface="Arial" panose="020B0604020202020204" pitchFamily="34" charset="0"/>
              <a:buChar char="•"/>
            </a:pPr>
            <a:r>
              <a:rPr lang="en-US" sz="3200" dirty="0"/>
              <a:t>Once Google’s AI has processed your search query and decided what it thinks you really want, it matches it against its super large directory of online content – webpages, images, videos and documents. The AI systems are trained to sort, rank and filter all content in this directory in terms of how frequently cited (linked), accuracy, if it is spam/advertising, and whether it is illegal or copyright infringing.</a:t>
            </a:r>
          </a:p>
          <a:p>
            <a:pPr marL="457200" indent="-457200">
              <a:buFont typeface="Arial" panose="020B0604020202020204" pitchFamily="34" charset="0"/>
              <a:buChar char="•"/>
            </a:pPr>
            <a:r>
              <a:rPr lang="en-US" sz="3200" dirty="0"/>
              <a:t>So a simple Google search involves all these complex, blisteringly fast AI calculations.</a:t>
            </a:r>
          </a:p>
        </p:txBody>
      </p:sp>
    </p:spTree>
    <p:custDataLst>
      <p:tags r:id="rId1"/>
    </p:custDataLst>
    <p:extLst>
      <p:ext uri="{BB962C8B-B14F-4D97-AF65-F5344CB8AC3E}">
        <p14:creationId xmlns:p14="http://schemas.microsoft.com/office/powerpoint/2010/main" val="3023638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09587" y="1026182"/>
            <a:ext cx="16161984" cy="1242371"/>
          </a:xfrm>
        </p:spPr>
        <p:txBody>
          <a:bodyPr>
            <a:noAutofit/>
          </a:bodyPr>
          <a:lstStyle/>
          <a:p>
            <a:r>
              <a:rPr lang="en-US" sz="4000" dirty="0">
                <a:solidFill>
                  <a:srgbClr val="C00000"/>
                </a:solidFill>
              </a:rPr>
              <a:t>Online search will likely transform from a single, monologue query to a multi-query dialogue with multimodal LLMs</a:t>
            </a:r>
          </a:p>
        </p:txBody>
      </p:sp>
      <p:sp>
        <p:nvSpPr>
          <p:cNvPr id="3" name="Rectangle 2"/>
          <p:cNvSpPr/>
          <p:nvPr/>
        </p:nvSpPr>
        <p:spPr>
          <a:xfrm>
            <a:off x="1397851" y="2631167"/>
            <a:ext cx="15153156" cy="8740854"/>
          </a:xfrm>
          <a:prstGeom prst="rect">
            <a:avLst/>
          </a:prstGeom>
        </p:spPr>
        <p:txBody>
          <a:bodyPr wrap="square">
            <a:spAutoFit/>
          </a:bodyPr>
          <a:lstStyle/>
          <a:p>
            <a:pPr marL="428625" indent="-428625">
              <a:buFont typeface="Arial" panose="020B0604020202020204" pitchFamily="34" charset="0"/>
              <a:buChar char="•"/>
            </a:pPr>
            <a:endParaRPr lang="en-US" sz="3000" dirty="0"/>
          </a:p>
          <a:p>
            <a:pPr marL="428625" indent="-428625">
              <a:buFont typeface="Arial" panose="020B0604020202020204" pitchFamily="34" charset="0"/>
              <a:buChar char="•"/>
            </a:pPr>
            <a:r>
              <a:rPr lang="en-US" sz="3200" dirty="0"/>
              <a:t>If the expected transformation in online search happens, that will be momentous and remarkable. This is because this will represent the first major impact of AI’s LLMs on a technology that was pioneered for the Internet age almost three decades ago. </a:t>
            </a:r>
          </a:p>
          <a:p>
            <a:pPr marL="428625" indent="-428625">
              <a:buFont typeface="Arial" panose="020B0604020202020204" pitchFamily="34" charset="0"/>
              <a:buChar char="•"/>
            </a:pPr>
            <a:endParaRPr lang="en-US" sz="3200" dirty="0"/>
          </a:p>
          <a:p>
            <a:pPr marL="428625" indent="-428625">
              <a:buFont typeface="Arial" panose="020B0604020202020204" pitchFamily="34" charset="0"/>
              <a:buChar char="•"/>
            </a:pPr>
            <a:r>
              <a:rPr lang="en-US" sz="3200" dirty="0"/>
              <a:t>What are the resulting implications for businesses and for consumers?</a:t>
            </a:r>
          </a:p>
          <a:p>
            <a:pPr marL="428625" indent="-428625">
              <a:buFont typeface="Arial" panose="020B0604020202020204" pitchFamily="34" charset="0"/>
              <a:buChar char="•"/>
            </a:pPr>
            <a:endParaRPr lang="en-US" sz="3200" dirty="0"/>
          </a:p>
          <a:p>
            <a:pPr marL="428625" indent="-428625">
              <a:buFont typeface="Arial" panose="020B0604020202020204" pitchFamily="34" charset="0"/>
              <a:buChar char="•"/>
            </a:pPr>
            <a:r>
              <a:rPr lang="en-US" sz="3200" dirty="0"/>
              <a:t>How will this development affect competing firms? For example, read the leaked, internal Google memo titled “</a:t>
            </a:r>
            <a:r>
              <a:rPr lang="en-US" sz="3200" dirty="0">
                <a:hlinkClick r:id="rId3"/>
              </a:rPr>
              <a:t>We have no moat, and neither does </a:t>
            </a:r>
            <a:r>
              <a:rPr lang="en-US" sz="3200" dirty="0" err="1">
                <a:hlinkClick r:id="rId3"/>
              </a:rPr>
              <a:t>OpenAI</a:t>
            </a:r>
            <a:r>
              <a:rPr lang="en-US" sz="3200" dirty="0"/>
              <a:t>” that claims that Open Source AI Will Outcompete Google and </a:t>
            </a:r>
            <a:r>
              <a:rPr lang="en-US" sz="3200" dirty="0" err="1"/>
              <a:t>OpenAI</a:t>
            </a:r>
            <a:r>
              <a:rPr lang="en-US" sz="3200" dirty="0"/>
              <a:t>.</a:t>
            </a:r>
          </a:p>
          <a:p>
            <a:pPr marL="428625" indent="-428625">
              <a:buFont typeface="Arial" panose="020B0604020202020204" pitchFamily="34" charset="0"/>
              <a:buChar char="•"/>
            </a:pPr>
            <a:endParaRPr lang="en-US" sz="3200" dirty="0"/>
          </a:p>
          <a:p>
            <a:endParaRPr lang="en-US" sz="3000" dirty="0"/>
          </a:p>
          <a:p>
            <a:pPr marL="428625" indent="-428625">
              <a:buFont typeface="Arial" panose="020B0604020202020204" pitchFamily="34" charset="0"/>
              <a:buChar char="•"/>
            </a:pPr>
            <a:endParaRPr lang="en-US" sz="3000" dirty="0"/>
          </a:p>
          <a:p>
            <a:pPr marL="428625" indent="-428625">
              <a:buFont typeface="Arial" panose="020B0604020202020204" pitchFamily="34" charset="0"/>
              <a:buChar char="•"/>
            </a:pPr>
            <a:endParaRPr lang="en-US" sz="3000" dirty="0"/>
          </a:p>
          <a:p>
            <a:pPr marL="428625" indent="-428625">
              <a:buFont typeface="Arial" panose="020B0604020202020204" pitchFamily="34" charset="0"/>
              <a:buChar char="•"/>
            </a:pPr>
            <a:endParaRPr lang="en-US" sz="3000" dirty="0"/>
          </a:p>
          <a:p>
            <a:pPr marL="428625" indent="-428625">
              <a:buFont typeface="Arial" panose="020B0604020202020204" pitchFamily="34" charset="0"/>
              <a:buChar char="•"/>
            </a:pPr>
            <a:endParaRPr lang="en-US" sz="3000" dirty="0"/>
          </a:p>
          <a:p>
            <a:pPr marL="428625" indent="-428625">
              <a:buFont typeface="Arial" panose="020B0604020202020204" pitchFamily="34" charset="0"/>
              <a:buChar char="•"/>
            </a:pPr>
            <a:endParaRPr lang="en-US" sz="3000" dirty="0"/>
          </a:p>
        </p:txBody>
      </p:sp>
      <p:sp>
        <p:nvSpPr>
          <p:cNvPr id="6" name="Rectangle 3"/>
          <p:cNvSpPr>
            <a:spLocks noChangeArrowheads="1"/>
          </p:cNvSpPr>
          <p:nvPr/>
        </p:nvSpPr>
        <p:spPr bwMode="auto">
          <a:xfrm>
            <a:off x="0" y="427942"/>
            <a:ext cx="18288000"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7160" tIns="68580" rIns="137160" bIns="68580" numCol="1" anchor="ctr" anchorCtr="0" compatLnSpc="1">
            <a:prstTxWarp prst="textNoShape">
              <a:avLst/>
            </a:prstTxWarp>
            <a:spAutoFit/>
          </a:bodyPr>
          <a:lstStyle/>
          <a:p>
            <a:pPr defTabSz="1371600" eaLnBrk="0" hangingPunct="0"/>
            <a:endParaRPr lang="en-US" altLang="en-US" sz="2700" dirty="0"/>
          </a:p>
        </p:txBody>
      </p:sp>
    </p:spTree>
    <p:custDataLst>
      <p:tags r:id="rId1"/>
    </p:custDataLst>
    <p:extLst>
      <p:ext uri="{BB962C8B-B14F-4D97-AF65-F5344CB8AC3E}">
        <p14:creationId xmlns:p14="http://schemas.microsoft.com/office/powerpoint/2010/main" val="1907738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52752-1244-824D-968F-05F0B6846DFB}"/>
              </a:ext>
            </a:extLst>
          </p:cNvPr>
          <p:cNvSpPr>
            <a:spLocks noGrp="1"/>
          </p:cNvSpPr>
          <p:nvPr>
            <p:ph type="title"/>
          </p:nvPr>
        </p:nvSpPr>
        <p:spPr>
          <a:xfrm>
            <a:off x="1098550" y="381000"/>
            <a:ext cx="16084552" cy="1059656"/>
          </a:xfrm>
        </p:spPr>
        <p:txBody>
          <a:bodyPr/>
          <a:lstStyle/>
          <a:p>
            <a:r>
              <a:rPr lang="en-US" b="1" dirty="0">
                <a:solidFill>
                  <a:srgbClr val="C00000"/>
                </a:solidFill>
              </a:rPr>
              <a:t>The Amazon Case</a:t>
            </a:r>
          </a:p>
        </p:txBody>
      </p:sp>
      <p:sp>
        <p:nvSpPr>
          <p:cNvPr id="3" name="Content Placeholder 2">
            <a:extLst>
              <a:ext uri="{FF2B5EF4-FFF2-40B4-BE49-F238E27FC236}">
                <a16:creationId xmlns:a16="http://schemas.microsoft.com/office/drawing/2014/main" id="{2BD91BA4-9233-EE49-BD10-D9C664D01E03}"/>
              </a:ext>
            </a:extLst>
          </p:cNvPr>
          <p:cNvSpPr>
            <a:spLocks noGrp="1"/>
          </p:cNvSpPr>
          <p:nvPr>
            <p:ph idx="1"/>
          </p:nvPr>
        </p:nvSpPr>
        <p:spPr>
          <a:xfrm>
            <a:off x="1098550" y="1571284"/>
            <a:ext cx="16084552" cy="8204088"/>
          </a:xfrm>
        </p:spPr>
        <p:txBody>
          <a:bodyPr anchor="ctr">
            <a:noAutofit/>
          </a:bodyPr>
          <a:lstStyle/>
          <a:p>
            <a:r>
              <a:rPr lang="en-US" sz="3200" dirty="0"/>
              <a:t>Existential question underlying </a:t>
            </a:r>
            <a:r>
              <a:rPr lang="en-US" sz="3200" b="1" dirty="0"/>
              <a:t>Amazon’s</a:t>
            </a:r>
            <a:r>
              <a:rPr lang="en-US" sz="3200" dirty="0"/>
              <a:t> success story: </a:t>
            </a:r>
          </a:p>
          <a:p>
            <a:pPr marL="1143000" lvl="1" indent="-457200"/>
            <a:r>
              <a:rPr lang="en-US" sz="3200" b="1" dirty="0">
                <a:solidFill>
                  <a:schemeClr val="accent1"/>
                </a:solidFill>
              </a:rPr>
              <a:t>”how do I make my product or service so easy to buy that potential customers do not even consider my competitors anymore?” </a:t>
            </a:r>
          </a:p>
          <a:p>
            <a:pPr marL="1143000" lvl="1" indent="-457200"/>
            <a:r>
              <a:rPr lang="en-US" sz="3200" dirty="0">
                <a:solidFill>
                  <a:schemeClr val="accent1"/>
                </a:solidFill>
              </a:rPr>
              <a:t>This is the core element of Amazon’s strategy and success, and this strategy is full leveraged by AI deployment. For example, Amazon Web Services (AWS) leverages AI-models to sustain its leading global market share for cloud services. </a:t>
            </a:r>
          </a:p>
          <a:p>
            <a:r>
              <a:rPr lang="en-US" sz="3200" b="1" i="1" dirty="0">
                <a:solidFill>
                  <a:srgbClr val="C00000"/>
                </a:solidFill>
              </a:rPr>
              <a:t>Discuss “Collaborative Filtering” approach pioneered at Amazon.</a:t>
            </a:r>
          </a:p>
          <a:p>
            <a:r>
              <a:rPr lang="en-US" sz="3200" dirty="0"/>
              <a:t>Every product purchase at Amazon is accompanied by online prompts that suggest other products for customers to purchase. The products recommended in these prompts stem from AI-based collaborative filtering models that leverage characteristics of the customer, and other product choices completed in that visit. Every use case where AI is used also represents a data capture point for further AI-model training and testing.</a:t>
            </a:r>
          </a:p>
        </p:txBody>
      </p:sp>
    </p:spTree>
    <p:custDataLst>
      <p:tags r:id="rId1"/>
    </p:custDataLst>
    <p:extLst>
      <p:ext uri="{BB962C8B-B14F-4D97-AF65-F5344CB8AC3E}">
        <p14:creationId xmlns:p14="http://schemas.microsoft.com/office/powerpoint/2010/main" val="1130156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1724" y="544286"/>
            <a:ext cx="16084552" cy="983456"/>
          </a:xfrm>
        </p:spPr>
        <p:txBody>
          <a:bodyPr/>
          <a:lstStyle/>
          <a:p>
            <a:r>
              <a:rPr lang="en-US" b="1" dirty="0">
                <a:solidFill>
                  <a:srgbClr val="C00000"/>
                </a:solidFill>
              </a:rPr>
              <a:t>AI – Driven Genome Analytics Companies</a:t>
            </a:r>
          </a:p>
        </p:txBody>
      </p:sp>
      <p:sp>
        <p:nvSpPr>
          <p:cNvPr id="3" name="Content Placeholder 2"/>
          <p:cNvSpPr>
            <a:spLocks noGrp="1"/>
          </p:cNvSpPr>
          <p:nvPr>
            <p:ph idx="1"/>
          </p:nvPr>
        </p:nvSpPr>
        <p:spPr>
          <a:xfrm>
            <a:off x="1101724" y="1865642"/>
            <a:ext cx="16084552" cy="7343672"/>
          </a:xfrm>
        </p:spPr>
        <p:txBody>
          <a:bodyPr>
            <a:normAutofit fontScale="77500" lnSpcReduction="20000"/>
          </a:bodyPr>
          <a:lstStyle/>
          <a:p>
            <a:pPr>
              <a:lnSpc>
                <a:spcPct val="120000"/>
              </a:lnSpc>
              <a:spcBef>
                <a:spcPts val="0"/>
              </a:spcBef>
            </a:pPr>
            <a:r>
              <a:rPr lang="en-US" dirty="0"/>
              <a:t>Deep learning software is successfully used to diagnose medical images of breast and other cancers more accurately than human radiologists; this approach also synthesizes patients’ genomic information and electronic medical records to predict diseases.</a:t>
            </a:r>
          </a:p>
          <a:p>
            <a:pPr>
              <a:lnSpc>
                <a:spcPct val="120000"/>
              </a:lnSpc>
              <a:spcBef>
                <a:spcPts val="0"/>
              </a:spcBef>
            </a:pPr>
            <a:r>
              <a:rPr lang="en-US" dirty="0"/>
              <a:t>Companies around the world are racing to accelerate this process.</a:t>
            </a:r>
          </a:p>
          <a:p>
            <a:pPr marL="1136650" lvl="2" indent="-571500">
              <a:lnSpc>
                <a:spcPct val="120000"/>
              </a:lnSpc>
              <a:spcBef>
                <a:spcPts val="0"/>
              </a:spcBef>
            </a:pPr>
            <a:r>
              <a:rPr lang="en-US" sz="4100" dirty="0">
                <a:solidFill>
                  <a:schemeClr val="accent1"/>
                </a:solidFill>
              </a:rPr>
              <a:t>The innovative Canadian company </a:t>
            </a:r>
            <a:r>
              <a:rPr lang="en-US" sz="4100" b="1" dirty="0">
                <a:solidFill>
                  <a:schemeClr val="accent1"/>
                </a:solidFill>
              </a:rPr>
              <a:t>Deep Genomics </a:t>
            </a:r>
            <a:r>
              <a:rPr lang="en-US" sz="4100" dirty="0">
                <a:solidFill>
                  <a:schemeClr val="accent1"/>
                </a:solidFill>
              </a:rPr>
              <a:t>integrates AI and genomics to uncover patterns in how diseases work because “the future of medicine will rely on AI, and because biology is too complex for humans to understand.”</a:t>
            </a:r>
          </a:p>
          <a:p>
            <a:pPr marL="1136650" lvl="2" indent="-571500">
              <a:lnSpc>
                <a:spcPct val="120000"/>
              </a:lnSpc>
              <a:spcBef>
                <a:spcPts val="0"/>
              </a:spcBef>
            </a:pPr>
            <a:r>
              <a:rPr lang="en-US" sz="4100" dirty="0">
                <a:solidFill>
                  <a:schemeClr val="accent1"/>
                </a:solidFill>
              </a:rPr>
              <a:t>Google and a Chinese company, </a:t>
            </a:r>
            <a:r>
              <a:rPr lang="en-US" sz="4100" b="1" dirty="0" err="1">
                <a:solidFill>
                  <a:schemeClr val="accent1"/>
                </a:solidFill>
              </a:rPr>
              <a:t>WuXi</a:t>
            </a:r>
            <a:r>
              <a:rPr lang="en-US" sz="4100" b="1" dirty="0">
                <a:solidFill>
                  <a:schemeClr val="accent1"/>
                </a:solidFill>
              </a:rPr>
              <a:t> </a:t>
            </a:r>
            <a:r>
              <a:rPr lang="en-US" sz="4100" b="1" dirty="0" err="1">
                <a:solidFill>
                  <a:schemeClr val="accent1"/>
                </a:solidFill>
              </a:rPr>
              <a:t>NextCODE</a:t>
            </a:r>
            <a:r>
              <a:rPr lang="en-US" sz="4100" dirty="0">
                <a:solidFill>
                  <a:schemeClr val="accent1"/>
                </a:solidFill>
              </a:rPr>
              <a:t>, recently released highly sophisticated, cloud-based AI systems to help make sense of the massive amounts of data derived from genetic sequencing.</a:t>
            </a:r>
          </a:p>
          <a:p>
            <a:pPr marL="1136650" lvl="2" indent="-571500">
              <a:lnSpc>
                <a:spcPct val="120000"/>
              </a:lnSpc>
              <a:spcBef>
                <a:spcPts val="0"/>
              </a:spcBef>
            </a:pPr>
            <a:r>
              <a:rPr lang="en-US" sz="4100" dirty="0">
                <a:solidFill>
                  <a:schemeClr val="accent1"/>
                </a:solidFill>
              </a:rPr>
              <a:t>Boston-based Biogen investigates how quantum computing might supercharge the ability to find meaningful patterns in massive data sets.</a:t>
            </a:r>
          </a:p>
          <a:p>
            <a:pPr>
              <a:lnSpc>
                <a:spcPct val="120000"/>
              </a:lnSpc>
              <a:spcBef>
                <a:spcPts val="0"/>
              </a:spcBef>
            </a:pPr>
            <a:r>
              <a:rPr lang="en-US" dirty="0"/>
              <a:t>The intersection of AI and genomics has the potential for significant new discoveries as sophisticated deep learning techniques can quickly process massive data sets of sequenced genomes.</a:t>
            </a:r>
          </a:p>
        </p:txBody>
      </p:sp>
    </p:spTree>
    <p:custDataLst>
      <p:tags r:id="rId1"/>
    </p:custDataLst>
    <p:extLst>
      <p:ext uri="{BB962C8B-B14F-4D97-AF65-F5344CB8AC3E}">
        <p14:creationId xmlns:p14="http://schemas.microsoft.com/office/powerpoint/2010/main" val="3317470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Predicting Height by Algorithm</a:t>
            </a:r>
          </a:p>
        </p:txBody>
      </p:sp>
      <p:sp>
        <p:nvSpPr>
          <p:cNvPr id="3" name="Content Placeholder 2"/>
          <p:cNvSpPr>
            <a:spLocks noGrp="1"/>
          </p:cNvSpPr>
          <p:nvPr>
            <p:ph idx="1"/>
          </p:nvPr>
        </p:nvSpPr>
        <p:spPr/>
        <p:txBody>
          <a:bodyPr/>
          <a:lstStyle/>
          <a:p>
            <a:r>
              <a:rPr lang="en-US" dirty="0"/>
              <a:t>Predicting someone’s height from their genetic info is useful for catching growth issues early in a child’s life, but the stakes of this research are considerably higher.</a:t>
            </a:r>
          </a:p>
          <a:p>
            <a:r>
              <a:rPr lang="en-US" dirty="0"/>
              <a:t>Being able to predict complex and unique traits in individuals opens the door to the possibility of understanding, predicting, selecting and ultimately altering any complex traits and inheritable and rare genetic diseases.</a:t>
            </a:r>
          </a:p>
          <a:p>
            <a:r>
              <a:rPr lang="en-US" dirty="0"/>
              <a:t>Researchers have already applied similar computational algorithms to predicting heel-bone density, and this approach is being used to predict genetic predispositions to diseases like Alzheimer’s.</a:t>
            </a:r>
          </a:p>
        </p:txBody>
      </p:sp>
    </p:spTree>
    <p:custDataLst>
      <p:tags r:id="rId1"/>
    </p:custDataLst>
    <p:extLst>
      <p:ext uri="{BB962C8B-B14F-4D97-AF65-F5344CB8AC3E}">
        <p14:creationId xmlns:p14="http://schemas.microsoft.com/office/powerpoint/2010/main" val="3629231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869A93-7C3E-47EA-80C7-F2AB36AF23D7}"/>
              </a:ext>
            </a:extLst>
          </p:cNvPr>
          <p:cNvSpPr>
            <a:spLocks noGrp="1"/>
          </p:cNvSpPr>
          <p:nvPr>
            <p:ph type="title"/>
          </p:nvPr>
        </p:nvSpPr>
        <p:spPr/>
        <p:txBody>
          <a:bodyPr/>
          <a:lstStyle/>
          <a:p>
            <a:r>
              <a:rPr lang="en-US" b="1" dirty="0">
                <a:solidFill>
                  <a:srgbClr val="C00000"/>
                </a:solidFill>
              </a:rPr>
              <a:t>AI Applications in Specific Business Functions</a:t>
            </a:r>
          </a:p>
        </p:txBody>
      </p:sp>
    </p:spTree>
    <p:custDataLst>
      <p:tags r:id="rId1"/>
    </p:custDataLst>
    <p:extLst>
      <p:ext uri="{BB962C8B-B14F-4D97-AF65-F5344CB8AC3E}">
        <p14:creationId xmlns:p14="http://schemas.microsoft.com/office/powerpoint/2010/main" val="2187174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AI in Research and Business Innovation (examples)</a:t>
            </a:r>
          </a:p>
        </p:txBody>
      </p:sp>
      <p:sp>
        <p:nvSpPr>
          <p:cNvPr id="3" name="Content Placeholder 2"/>
          <p:cNvSpPr>
            <a:spLocks noGrp="1"/>
          </p:cNvSpPr>
          <p:nvPr>
            <p:ph idx="1"/>
          </p:nvPr>
        </p:nvSpPr>
        <p:spPr>
          <a:xfrm>
            <a:off x="1098550" y="1712799"/>
            <a:ext cx="16084552" cy="7822644"/>
          </a:xfrm>
        </p:spPr>
        <p:txBody>
          <a:bodyPr anchor="ctr">
            <a:noAutofit/>
          </a:bodyPr>
          <a:lstStyle/>
          <a:p>
            <a:pPr>
              <a:spcBef>
                <a:spcPts val="0"/>
              </a:spcBef>
            </a:pPr>
            <a:r>
              <a:rPr lang="en-US" sz="3200" dirty="0"/>
              <a:t>Over 2.5 million new scientific papers are published annually. All this info represents raw data that could steer future innovations. No scientist has the ability or time to synthesize or understand all the knowledge that may be gleaned from these publications. However, the good news is that such research knowledge – either structured or unstructured – can be coded, analyzed and integrated with machine learning models. While human researchers are very good at creative insights, machines are better at data organization and presentation that facilitates instant access to research insights!</a:t>
            </a:r>
          </a:p>
          <a:p>
            <a:pPr>
              <a:spcBef>
                <a:spcPts val="0"/>
              </a:spcBef>
            </a:pPr>
            <a:r>
              <a:rPr lang="en-US" sz="3200" dirty="0"/>
              <a:t>Scientists often develop hypotheses – or testable explanations of a given phenomenon. </a:t>
            </a:r>
            <a:r>
              <a:rPr lang="en-US" sz="3200" b="1" dirty="0"/>
              <a:t>GNS Healthcare </a:t>
            </a:r>
            <a:r>
              <a:rPr lang="en-US" sz="3200" dirty="0"/>
              <a:t>is showing that it is possible, when AI is injected into the hypothesis phase of the scientific method, to find previously hidden correlations and causations.</a:t>
            </a:r>
          </a:p>
          <a:p>
            <a:pPr>
              <a:spcBef>
                <a:spcPts val="0"/>
              </a:spcBef>
            </a:pPr>
            <a:r>
              <a:rPr lang="en-US" sz="3200" dirty="0"/>
              <a:t>McKinsey has estimated that embracing the full potential of AI in US healthcare may cut costs by $300 billion. </a:t>
            </a:r>
          </a:p>
        </p:txBody>
      </p:sp>
    </p:spTree>
    <p:custDataLst>
      <p:tags r:id="rId1"/>
    </p:custDataLst>
    <p:extLst>
      <p:ext uri="{BB962C8B-B14F-4D97-AF65-F5344CB8AC3E}">
        <p14:creationId xmlns:p14="http://schemas.microsoft.com/office/powerpoint/2010/main" val="195599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6DBD4-9CE3-6549-9D22-A58F12D6C764}"/>
              </a:ext>
            </a:extLst>
          </p:cNvPr>
          <p:cNvSpPr>
            <a:spLocks noGrp="1"/>
          </p:cNvSpPr>
          <p:nvPr>
            <p:ph type="title"/>
          </p:nvPr>
        </p:nvSpPr>
        <p:spPr>
          <a:xfrm>
            <a:off x="1098550" y="674914"/>
            <a:ext cx="16084552" cy="1037885"/>
          </a:xfrm>
        </p:spPr>
        <p:txBody>
          <a:bodyPr/>
          <a:lstStyle/>
          <a:p>
            <a:r>
              <a:rPr lang="en-US" b="1" dirty="0">
                <a:solidFill>
                  <a:srgbClr val="C00000"/>
                </a:solidFill>
              </a:rPr>
              <a:t>AI in Business Intelligence and Analytics</a:t>
            </a:r>
          </a:p>
        </p:txBody>
      </p:sp>
      <p:sp>
        <p:nvSpPr>
          <p:cNvPr id="3" name="Content Placeholder 2">
            <a:extLst>
              <a:ext uri="{FF2B5EF4-FFF2-40B4-BE49-F238E27FC236}">
                <a16:creationId xmlns:a16="http://schemas.microsoft.com/office/drawing/2014/main" id="{35A87F88-6F29-5B45-9466-D6C0D602E630}"/>
              </a:ext>
            </a:extLst>
          </p:cNvPr>
          <p:cNvSpPr>
            <a:spLocks noGrp="1"/>
          </p:cNvSpPr>
          <p:nvPr>
            <p:ph idx="1"/>
          </p:nvPr>
        </p:nvSpPr>
        <p:spPr/>
        <p:txBody>
          <a:bodyPr>
            <a:normAutofit/>
          </a:bodyPr>
          <a:lstStyle/>
          <a:p>
            <a:r>
              <a:rPr lang="en-US" sz="3600" dirty="0"/>
              <a:t>Advances in AI allow machines to collect and prepare new data that are likely to further improve accuracy of predictions. </a:t>
            </a:r>
            <a:r>
              <a:rPr lang="en-US" sz="3600" b="1" dirty="0" err="1"/>
              <a:t>Paxata</a:t>
            </a:r>
            <a:r>
              <a:rPr lang="en-US" sz="3600" dirty="0"/>
              <a:t> and </a:t>
            </a:r>
            <a:r>
              <a:rPr lang="en-US" sz="3600" b="1" dirty="0" err="1"/>
              <a:t>Trifacta</a:t>
            </a:r>
            <a:r>
              <a:rPr lang="en-US" sz="3600" dirty="0"/>
              <a:t> offer AI enabled data wrangling services that automate the entire process.</a:t>
            </a:r>
          </a:p>
          <a:p>
            <a:r>
              <a:rPr lang="en-US" sz="3600" dirty="0"/>
              <a:t>AI powered analytics services are used to extract patterns and make predictions on existing data. </a:t>
            </a:r>
            <a:r>
              <a:rPr lang="en-US" sz="3600" b="1" dirty="0" err="1"/>
              <a:t>DataSift</a:t>
            </a:r>
            <a:r>
              <a:rPr lang="en-US" sz="3600" dirty="0"/>
              <a:t> analyzes natural language textual data to track social sentiments and other data that improve ML predictions.</a:t>
            </a:r>
          </a:p>
        </p:txBody>
      </p:sp>
    </p:spTree>
    <p:custDataLst>
      <p:tags r:id="rId1"/>
    </p:custDataLst>
    <p:extLst>
      <p:ext uri="{BB962C8B-B14F-4D97-AF65-F5344CB8AC3E}">
        <p14:creationId xmlns:p14="http://schemas.microsoft.com/office/powerpoint/2010/main" val="1217492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CAEFB-E1B0-EF41-8953-DD08DA9890A7}"/>
              </a:ext>
            </a:extLst>
          </p:cNvPr>
          <p:cNvSpPr>
            <a:spLocks noGrp="1"/>
          </p:cNvSpPr>
          <p:nvPr>
            <p:ph type="title"/>
          </p:nvPr>
        </p:nvSpPr>
        <p:spPr/>
        <p:txBody>
          <a:bodyPr/>
          <a:lstStyle/>
          <a:p>
            <a:r>
              <a:rPr lang="en-US" b="1" dirty="0">
                <a:solidFill>
                  <a:srgbClr val="C00000"/>
                </a:solidFill>
              </a:rPr>
              <a:t>AI Examples from Marketing (</a:t>
            </a:r>
            <a:r>
              <a:rPr lang="en-US" b="1" dirty="0" err="1">
                <a:solidFill>
                  <a:srgbClr val="C00000"/>
                </a:solidFill>
              </a:rPr>
              <a:t>Art+Science</a:t>
            </a:r>
            <a:r>
              <a:rPr lang="en-US" b="1" dirty="0">
                <a:solidFill>
                  <a:srgbClr val="C00000"/>
                </a:solidFill>
              </a:rPr>
              <a:t>)</a:t>
            </a:r>
          </a:p>
        </p:txBody>
      </p:sp>
      <p:sp>
        <p:nvSpPr>
          <p:cNvPr id="3" name="Content Placeholder 2">
            <a:extLst>
              <a:ext uri="{FF2B5EF4-FFF2-40B4-BE49-F238E27FC236}">
                <a16:creationId xmlns:a16="http://schemas.microsoft.com/office/drawing/2014/main" id="{01205F9D-5BBB-D042-AA7B-6B83EA4752CC}"/>
              </a:ext>
            </a:extLst>
          </p:cNvPr>
          <p:cNvSpPr>
            <a:spLocks noGrp="1"/>
          </p:cNvSpPr>
          <p:nvPr>
            <p:ph idx="1"/>
          </p:nvPr>
        </p:nvSpPr>
        <p:spPr/>
        <p:txBody>
          <a:bodyPr anchor="ctr">
            <a:normAutofit fontScale="92500" lnSpcReduction="20000"/>
          </a:bodyPr>
          <a:lstStyle/>
          <a:p>
            <a:r>
              <a:rPr lang="en-US" sz="3600" b="1" dirty="0"/>
              <a:t>Adobe</a:t>
            </a:r>
            <a:r>
              <a:rPr lang="en-US" sz="3600" dirty="0"/>
              <a:t> has integrated AI and machine learning into their marketing and design tools that are available to thousands of brands. On the data side, Adobe has enabled real-time personalization. On the design side, Adobe is leveraging adaptive designs based on facial features.</a:t>
            </a:r>
          </a:p>
          <a:p>
            <a:r>
              <a:rPr lang="en-US" sz="3600" b="1" dirty="0"/>
              <a:t>M&amp;C Saatchi </a:t>
            </a:r>
            <a:r>
              <a:rPr lang="en-US" sz="3600" dirty="0"/>
              <a:t>poster ads possess the built-in AI capability to read the expression on viewers’ faces. AI systems then interpret if these expressive responses are positive or negative and alter features/content of the posters suitably to better accommodate those responses.</a:t>
            </a:r>
          </a:p>
          <a:p>
            <a:r>
              <a:rPr lang="en-US" sz="3600" dirty="0"/>
              <a:t>Companies like </a:t>
            </a:r>
            <a:r>
              <a:rPr lang="en-US" sz="3600" b="1" dirty="0" err="1"/>
              <a:t>Alimama</a:t>
            </a:r>
            <a:r>
              <a:rPr lang="en-US" sz="3600" dirty="0"/>
              <a:t> and </a:t>
            </a:r>
            <a:r>
              <a:rPr lang="en-US" sz="3600" b="1" dirty="0"/>
              <a:t>Alibaba</a:t>
            </a:r>
            <a:r>
              <a:rPr lang="en-US" sz="3600" dirty="0"/>
              <a:t> together deploy AI to write product descriptions and simple advertisements for their sales platform.</a:t>
            </a:r>
          </a:p>
          <a:p>
            <a:r>
              <a:rPr lang="en-US" sz="3600" b="1" dirty="0"/>
              <a:t>Rutgers Art &amp; AI Lab </a:t>
            </a:r>
            <a:r>
              <a:rPr lang="en-US" sz="3600" dirty="0"/>
              <a:t>deploys AI tools to create original abstract artwork that appear like real hand-painted work. </a:t>
            </a:r>
          </a:p>
        </p:txBody>
      </p:sp>
    </p:spTree>
    <p:custDataLst>
      <p:tags r:id="rId1"/>
    </p:custDataLst>
    <p:extLst>
      <p:ext uri="{BB962C8B-B14F-4D97-AF65-F5344CB8AC3E}">
        <p14:creationId xmlns:p14="http://schemas.microsoft.com/office/powerpoint/2010/main" val="2597919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98691-3088-49CD-8BA0-8FC32551D0E0}"/>
              </a:ext>
            </a:extLst>
          </p:cNvPr>
          <p:cNvSpPr>
            <a:spLocks noGrp="1"/>
          </p:cNvSpPr>
          <p:nvPr>
            <p:ph type="title"/>
          </p:nvPr>
        </p:nvSpPr>
        <p:spPr/>
        <p:txBody>
          <a:bodyPr/>
          <a:lstStyle/>
          <a:p>
            <a:r>
              <a:rPr lang="en-US" b="1" dirty="0">
                <a:solidFill>
                  <a:srgbClr val="C00000"/>
                </a:solidFill>
              </a:rPr>
              <a:t>How AI Changes Marketing</a:t>
            </a:r>
          </a:p>
        </p:txBody>
      </p:sp>
      <p:sp>
        <p:nvSpPr>
          <p:cNvPr id="3" name="Content Placeholder 2">
            <a:extLst>
              <a:ext uri="{FF2B5EF4-FFF2-40B4-BE49-F238E27FC236}">
                <a16:creationId xmlns:a16="http://schemas.microsoft.com/office/drawing/2014/main" id="{CA6471F3-BC5A-4372-81EB-75FF07C42B1D}"/>
              </a:ext>
            </a:extLst>
          </p:cNvPr>
          <p:cNvSpPr>
            <a:spLocks noGrp="1"/>
          </p:cNvSpPr>
          <p:nvPr>
            <p:ph idx="1"/>
          </p:nvPr>
        </p:nvSpPr>
        <p:spPr/>
        <p:txBody>
          <a:bodyPr>
            <a:normAutofit fontScale="92500"/>
          </a:bodyPr>
          <a:lstStyle/>
          <a:p>
            <a:r>
              <a:rPr lang="en-US" b="1" dirty="0"/>
              <a:t>Chatbots</a:t>
            </a:r>
            <a:r>
              <a:rPr lang="en-US" dirty="0"/>
              <a:t>: companies can build their marketing funnels from info derived through intelligent chatbots. This efficiently provides product info to customers, which enables them to personalize products and services purchased. The info gathered from this process helps companies to create effective and personalized marketing funnels and sales processes.</a:t>
            </a:r>
          </a:p>
          <a:p>
            <a:r>
              <a:rPr lang="en-US" b="1" dirty="0"/>
              <a:t>Predictive Searches</a:t>
            </a:r>
            <a:r>
              <a:rPr lang="en-US" dirty="0"/>
              <a:t>: thanks to ML applications, search assistant tools/bots can observe a search and suggest potential future searches.</a:t>
            </a:r>
          </a:p>
          <a:p>
            <a:r>
              <a:rPr lang="en-US" b="1" dirty="0"/>
              <a:t>Intelligent AI Tools</a:t>
            </a:r>
            <a:r>
              <a:rPr lang="en-US" dirty="0"/>
              <a:t>: every major tool used by online marketers incorporates elements of AI.</a:t>
            </a:r>
          </a:p>
        </p:txBody>
      </p:sp>
    </p:spTree>
    <p:custDataLst>
      <p:tags r:id="rId1"/>
    </p:custDataLst>
    <p:extLst>
      <p:ext uri="{BB962C8B-B14F-4D97-AF65-F5344CB8AC3E}">
        <p14:creationId xmlns:p14="http://schemas.microsoft.com/office/powerpoint/2010/main" val="3147295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D9220-AA40-4B7E-936D-860642507F29}"/>
              </a:ext>
            </a:extLst>
          </p:cNvPr>
          <p:cNvSpPr>
            <a:spLocks noGrp="1"/>
          </p:cNvSpPr>
          <p:nvPr>
            <p:ph type="title"/>
          </p:nvPr>
        </p:nvSpPr>
        <p:spPr/>
        <p:txBody>
          <a:bodyPr/>
          <a:lstStyle/>
          <a:p>
            <a:r>
              <a:rPr lang="en-US" b="1" dirty="0">
                <a:solidFill>
                  <a:srgbClr val="C00000"/>
                </a:solidFill>
              </a:rPr>
              <a:t>How AI can Change Sales</a:t>
            </a:r>
          </a:p>
        </p:txBody>
      </p:sp>
      <p:sp>
        <p:nvSpPr>
          <p:cNvPr id="3" name="Content Placeholder 2">
            <a:extLst>
              <a:ext uri="{FF2B5EF4-FFF2-40B4-BE49-F238E27FC236}">
                <a16:creationId xmlns:a16="http://schemas.microsoft.com/office/drawing/2014/main" id="{8F1C66B3-CB11-4E7A-8A15-96A37FB1D0CB}"/>
              </a:ext>
            </a:extLst>
          </p:cNvPr>
          <p:cNvSpPr>
            <a:spLocks noGrp="1"/>
          </p:cNvSpPr>
          <p:nvPr>
            <p:ph idx="1"/>
          </p:nvPr>
        </p:nvSpPr>
        <p:spPr>
          <a:xfrm>
            <a:off x="1098550" y="2050698"/>
            <a:ext cx="16084552" cy="7692015"/>
          </a:xfrm>
        </p:spPr>
        <p:txBody>
          <a:bodyPr>
            <a:normAutofit fontScale="85000" lnSpcReduction="10000"/>
          </a:bodyPr>
          <a:lstStyle/>
          <a:p>
            <a:r>
              <a:rPr lang="en-US" sz="3800" dirty="0"/>
              <a:t>Marketers and small to medium-sized enterprises (SMEs) can deploy AI to design customer personas that reflect profiles of their ideal buyers. This approach requires a large degree of guesswork.</a:t>
            </a:r>
          </a:p>
          <a:p>
            <a:pPr lvl="1"/>
            <a:r>
              <a:rPr lang="en-US" sz="3800" dirty="0">
                <a:solidFill>
                  <a:schemeClr val="accent1"/>
                </a:solidFill>
              </a:rPr>
              <a:t>E.g., </a:t>
            </a:r>
            <a:r>
              <a:rPr lang="en-US" sz="3800" b="1" dirty="0">
                <a:solidFill>
                  <a:schemeClr val="accent1"/>
                </a:solidFill>
              </a:rPr>
              <a:t>Harley Davidson </a:t>
            </a:r>
            <a:r>
              <a:rPr lang="en-US" sz="3800" dirty="0">
                <a:solidFill>
                  <a:schemeClr val="accent1"/>
                </a:solidFill>
              </a:rPr>
              <a:t>uses an AI interface called Albert to analyze data on existing customers using cameras and other sensors and a CRM (customer relationship management) tool to characterize their high-value customers using data from past transactions, and then compares this info with new data to identify potential new high-value customers. This is an application of supervised learning.</a:t>
            </a:r>
          </a:p>
          <a:p>
            <a:pPr lvl="1"/>
            <a:r>
              <a:rPr lang="en-US" sz="3800" dirty="0">
                <a:solidFill>
                  <a:schemeClr val="accent1"/>
                </a:solidFill>
              </a:rPr>
              <a:t>E.g., Inbound marketing company </a:t>
            </a:r>
            <a:r>
              <a:rPr lang="en-US" sz="3800" b="1" dirty="0" err="1">
                <a:solidFill>
                  <a:schemeClr val="accent1"/>
                </a:solidFill>
              </a:rPr>
              <a:t>Hubspot</a:t>
            </a:r>
            <a:r>
              <a:rPr lang="en-US" sz="3800" dirty="0">
                <a:solidFill>
                  <a:schemeClr val="accent1"/>
                </a:solidFill>
              </a:rPr>
              <a:t> offers tools that help companies to personalize their advertising and create predictive lead scoring.</a:t>
            </a:r>
          </a:p>
          <a:p>
            <a:pPr lvl="1"/>
            <a:r>
              <a:rPr lang="en-US" sz="3800" dirty="0">
                <a:solidFill>
                  <a:schemeClr val="accent1"/>
                </a:solidFill>
              </a:rPr>
              <a:t>E.g., </a:t>
            </a:r>
            <a:r>
              <a:rPr lang="en-US" sz="3800" b="1" dirty="0">
                <a:solidFill>
                  <a:schemeClr val="accent1"/>
                </a:solidFill>
              </a:rPr>
              <a:t>Lowe’s “</a:t>
            </a:r>
            <a:r>
              <a:rPr lang="en-US" sz="3800" b="1" dirty="0" err="1">
                <a:solidFill>
                  <a:schemeClr val="accent1"/>
                </a:solidFill>
              </a:rPr>
              <a:t>Lowebot</a:t>
            </a:r>
            <a:r>
              <a:rPr lang="en-US" sz="3800" b="1" dirty="0">
                <a:solidFill>
                  <a:schemeClr val="accent1"/>
                </a:solidFill>
              </a:rPr>
              <a:t>” </a:t>
            </a:r>
            <a:r>
              <a:rPr lang="en-US" sz="3800" dirty="0">
                <a:solidFill>
                  <a:schemeClr val="accent1"/>
                </a:solidFill>
              </a:rPr>
              <a:t>is a physical robot that maneuvers around stores in eleven retail location , answering shopper’s questions and checking shelves.</a:t>
            </a:r>
          </a:p>
          <a:p>
            <a:pPr lvl="1"/>
            <a:r>
              <a:rPr lang="en-US" sz="3800" dirty="0">
                <a:solidFill>
                  <a:schemeClr val="accent1"/>
                </a:solidFill>
              </a:rPr>
              <a:t>E.g., </a:t>
            </a:r>
            <a:r>
              <a:rPr lang="en-US" sz="3800" b="1" dirty="0">
                <a:solidFill>
                  <a:schemeClr val="accent1"/>
                </a:solidFill>
              </a:rPr>
              <a:t>H&amp;M</a:t>
            </a:r>
            <a:r>
              <a:rPr lang="en-US" sz="3800" dirty="0">
                <a:solidFill>
                  <a:schemeClr val="accent1"/>
                </a:solidFill>
              </a:rPr>
              <a:t> partnering with </a:t>
            </a:r>
            <a:r>
              <a:rPr lang="en-US" sz="3800" b="1" dirty="0" err="1">
                <a:solidFill>
                  <a:schemeClr val="accent1"/>
                </a:solidFill>
              </a:rPr>
              <a:t>Kik</a:t>
            </a:r>
            <a:r>
              <a:rPr lang="en-US" sz="3800" dirty="0">
                <a:solidFill>
                  <a:schemeClr val="accent1"/>
                </a:solidFill>
              </a:rPr>
              <a:t> has developed a bot plug-in that, based on a short questionnaire suggests clothing items and style recommendations.</a:t>
            </a:r>
          </a:p>
          <a:p>
            <a:pPr lvl="1"/>
            <a:endParaRPr lang="en-US" dirty="0">
              <a:solidFill>
                <a:schemeClr val="accent1"/>
              </a:solidFill>
            </a:endParaRPr>
          </a:p>
        </p:txBody>
      </p:sp>
    </p:spTree>
    <p:custDataLst>
      <p:tags r:id="rId1"/>
    </p:custDataLst>
    <p:extLst>
      <p:ext uri="{BB962C8B-B14F-4D97-AF65-F5344CB8AC3E}">
        <p14:creationId xmlns:p14="http://schemas.microsoft.com/office/powerpoint/2010/main" val="3878762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3CCA9-CB56-9149-AD48-544E43017213}"/>
              </a:ext>
            </a:extLst>
          </p:cNvPr>
          <p:cNvSpPr>
            <a:spLocks noGrp="1"/>
          </p:cNvSpPr>
          <p:nvPr>
            <p:ph type="title"/>
          </p:nvPr>
        </p:nvSpPr>
        <p:spPr>
          <a:xfrm>
            <a:off x="1101724" y="375725"/>
            <a:ext cx="16084552" cy="972570"/>
          </a:xfrm>
        </p:spPr>
        <p:txBody>
          <a:bodyPr/>
          <a:lstStyle/>
          <a:p>
            <a:r>
              <a:rPr lang="en-US" b="1" dirty="0">
                <a:solidFill>
                  <a:srgbClr val="C00000"/>
                </a:solidFill>
              </a:rPr>
              <a:t>Examples from Retail</a:t>
            </a:r>
          </a:p>
        </p:txBody>
      </p:sp>
      <p:sp>
        <p:nvSpPr>
          <p:cNvPr id="3" name="Content Placeholder 2">
            <a:extLst>
              <a:ext uri="{FF2B5EF4-FFF2-40B4-BE49-F238E27FC236}">
                <a16:creationId xmlns:a16="http://schemas.microsoft.com/office/drawing/2014/main" id="{1609AE8A-3777-D642-816F-0B7C72E62D35}"/>
              </a:ext>
            </a:extLst>
          </p:cNvPr>
          <p:cNvSpPr>
            <a:spLocks noGrp="1"/>
          </p:cNvSpPr>
          <p:nvPr>
            <p:ph idx="1"/>
          </p:nvPr>
        </p:nvSpPr>
        <p:spPr>
          <a:xfrm>
            <a:off x="1101724" y="1391838"/>
            <a:ext cx="16084552" cy="8191331"/>
          </a:xfrm>
        </p:spPr>
        <p:txBody>
          <a:bodyPr anchor="ctr">
            <a:noAutofit/>
          </a:bodyPr>
          <a:lstStyle/>
          <a:p>
            <a:pPr>
              <a:spcBef>
                <a:spcPts val="0"/>
              </a:spcBef>
            </a:pPr>
            <a:r>
              <a:rPr lang="en-US" sz="3200" b="1" dirty="0"/>
              <a:t>Peter Glenn</a:t>
            </a:r>
            <a:r>
              <a:rPr lang="en-US" sz="3200" dirty="0"/>
              <a:t> outdoor goods chain uses AI to recognize customers that have not visited its stores for a long time, and develops solutions in real time to persuade them to return back to this chain using their past data.</a:t>
            </a:r>
          </a:p>
          <a:p>
            <a:pPr>
              <a:spcBef>
                <a:spcPts val="0"/>
              </a:spcBef>
            </a:pPr>
            <a:r>
              <a:rPr lang="en-US" sz="3200" b="1" dirty="0"/>
              <a:t>Starbucks</a:t>
            </a:r>
            <a:r>
              <a:rPr lang="en-US" sz="3200" dirty="0"/>
              <a:t> uses their app to collect data from 13 million users to personalize their experience at a store by suggesting better options.</a:t>
            </a:r>
          </a:p>
          <a:p>
            <a:pPr>
              <a:spcBef>
                <a:spcPts val="0"/>
              </a:spcBef>
            </a:pPr>
            <a:r>
              <a:rPr lang="en-US" sz="3200" b="1" dirty="0"/>
              <a:t>Coca Cola </a:t>
            </a:r>
            <a:r>
              <a:rPr lang="en-US" sz="3200" dirty="0"/>
              <a:t>collaborates with </a:t>
            </a:r>
            <a:r>
              <a:rPr lang="en-US" sz="3200" b="1" dirty="0" err="1"/>
              <a:t>Trax</a:t>
            </a:r>
            <a:r>
              <a:rPr lang="en-US" sz="3200" b="1" dirty="0"/>
              <a:t> Retail Education </a:t>
            </a:r>
            <a:r>
              <a:rPr lang="en-US" sz="3200" dirty="0"/>
              <a:t>to deploy image-based AI to track their products on store shelves in real time. The aim is to identify and remedy shortfalls in real time.</a:t>
            </a:r>
          </a:p>
          <a:p>
            <a:pPr>
              <a:spcBef>
                <a:spcPts val="0"/>
              </a:spcBef>
            </a:pPr>
            <a:r>
              <a:rPr lang="en-US" sz="3200" dirty="0"/>
              <a:t>30% of </a:t>
            </a:r>
            <a:r>
              <a:rPr lang="en-US" sz="3200" b="1" dirty="0"/>
              <a:t>Amazon</a:t>
            </a:r>
            <a:r>
              <a:rPr lang="en-US" sz="3200" dirty="0"/>
              <a:t> sales is attributed to their powerful recommendation system that uses AI models to personalize customer experience.</a:t>
            </a:r>
          </a:p>
          <a:p>
            <a:pPr>
              <a:spcBef>
                <a:spcPts val="0"/>
              </a:spcBef>
            </a:pPr>
            <a:r>
              <a:rPr lang="en-US" sz="3200" b="1" dirty="0"/>
              <a:t>Target</a:t>
            </a:r>
            <a:r>
              <a:rPr lang="en-US" sz="3200" dirty="0"/>
              <a:t> uses AI to suggest similar products when a customer takes a picture of a product in the store and uploads it through their phone app.</a:t>
            </a:r>
          </a:p>
          <a:p>
            <a:pPr>
              <a:spcBef>
                <a:spcPts val="0"/>
              </a:spcBef>
            </a:pPr>
            <a:r>
              <a:rPr lang="en-US" sz="3200" b="0" i="0" u="sng" dirty="0">
                <a:effectLst/>
                <a:hlinkClick r:id="rId3"/>
              </a:rPr>
              <a:t>3PM Solutions</a:t>
            </a:r>
            <a:r>
              <a:rPr lang="en-US" sz="3200" u="sng" dirty="0"/>
              <a:t> - a</a:t>
            </a:r>
            <a:r>
              <a:rPr lang="en-US" sz="3200" b="0" i="0" dirty="0">
                <a:effectLst/>
              </a:rPr>
              <a:t> Chicago-based start-up uses machine learning and natural language processing (NLP) to analyze millions of online listings daily to spot and remove counterfeits automatically. It also protects marketplaces like Amazon, eBay, and Walmart.com by detecting prohibited items and keeping them compliant with regulators.</a:t>
            </a:r>
            <a:endParaRPr lang="en-US" sz="3200" dirty="0"/>
          </a:p>
        </p:txBody>
      </p:sp>
    </p:spTree>
    <p:custDataLst>
      <p:tags r:id="rId1"/>
    </p:custDataLst>
    <p:extLst>
      <p:ext uri="{BB962C8B-B14F-4D97-AF65-F5344CB8AC3E}">
        <p14:creationId xmlns:p14="http://schemas.microsoft.com/office/powerpoint/2010/main" val="22041882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60A57-E670-B747-A034-ED37412766A1}"/>
              </a:ext>
            </a:extLst>
          </p:cNvPr>
          <p:cNvSpPr>
            <a:spLocks noGrp="1"/>
          </p:cNvSpPr>
          <p:nvPr>
            <p:ph type="title"/>
          </p:nvPr>
        </p:nvSpPr>
        <p:spPr>
          <a:xfrm>
            <a:off x="1098550" y="707571"/>
            <a:ext cx="16084552" cy="1005228"/>
          </a:xfrm>
        </p:spPr>
        <p:txBody>
          <a:bodyPr/>
          <a:lstStyle/>
          <a:p>
            <a:r>
              <a:rPr lang="en-US" sz="5400" b="1" dirty="0">
                <a:solidFill>
                  <a:srgbClr val="C00000"/>
                </a:solidFill>
              </a:rPr>
              <a:t>Examples from IT</a:t>
            </a:r>
          </a:p>
        </p:txBody>
      </p:sp>
      <p:sp>
        <p:nvSpPr>
          <p:cNvPr id="3" name="Content Placeholder 2">
            <a:extLst>
              <a:ext uri="{FF2B5EF4-FFF2-40B4-BE49-F238E27FC236}">
                <a16:creationId xmlns:a16="http://schemas.microsoft.com/office/drawing/2014/main" id="{DBD9F4F0-64E6-6A4F-8550-5146E4B56A91}"/>
              </a:ext>
            </a:extLst>
          </p:cNvPr>
          <p:cNvSpPr>
            <a:spLocks noGrp="1"/>
          </p:cNvSpPr>
          <p:nvPr>
            <p:ph idx="1"/>
          </p:nvPr>
        </p:nvSpPr>
        <p:spPr/>
        <p:txBody>
          <a:bodyPr anchor="ctr">
            <a:normAutofit/>
          </a:bodyPr>
          <a:lstStyle/>
          <a:p>
            <a:r>
              <a:rPr lang="en-US" sz="3600" dirty="0"/>
              <a:t>AI systems can draw from various elements of many faces to create a new face that does not exist anywhere in the world. For example, see a NYT article “</a:t>
            </a:r>
            <a:r>
              <a:rPr lang="en-US" sz="3600" dirty="0">
                <a:hlinkClick r:id="rId3"/>
              </a:rPr>
              <a:t>Do These AI-Created Fake People Look Real to You? </a:t>
            </a:r>
            <a:endParaRPr lang="en-US" sz="3600" dirty="0"/>
          </a:p>
          <a:p>
            <a:r>
              <a:rPr lang="en-US" sz="3600" b="1" dirty="0"/>
              <a:t>Wikipedia</a:t>
            </a:r>
            <a:r>
              <a:rPr lang="en-US" sz="3600" dirty="0"/>
              <a:t> deploys AI models to identify comments that abuse or attack their volunteer editors. This is because over forty percent of their volunteer editors stopped contributing following such attacks.</a:t>
            </a:r>
          </a:p>
          <a:p>
            <a:r>
              <a:rPr lang="en-US" sz="3600" b="1" dirty="0"/>
              <a:t>Microsoft</a:t>
            </a:r>
            <a:r>
              <a:rPr lang="en-US" sz="3600" dirty="0"/>
              <a:t> and </a:t>
            </a:r>
            <a:r>
              <a:rPr lang="en-US" sz="3600" b="1" dirty="0"/>
              <a:t>LinkedIn</a:t>
            </a:r>
            <a:r>
              <a:rPr lang="en-US" sz="3600" dirty="0"/>
              <a:t> provide access to AI-based applications to subscribers using simple point and click interfaces. </a:t>
            </a:r>
          </a:p>
        </p:txBody>
      </p:sp>
    </p:spTree>
    <p:custDataLst>
      <p:tags r:id="rId1"/>
    </p:custDataLst>
    <p:extLst>
      <p:ext uri="{BB962C8B-B14F-4D97-AF65-F5344CB8AC3E}">
        <p14:creationId xmlns:p14="http://schemas.microsoft.com/office/powerpoint/2010/main" val="3296392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5CF77-1E12-774E-B07F-29F6E3893D55}"/>
              </a:ext>
            </a:extLst>
          </p:cNvPr>
          <p:cNvSpPr>
            <a:spLocks noGrp="1"/>
          </p:cNvSpPr>
          <p:nvPr>
            <p:ph type="title"/>
          </p:nvPr>
        </p:nvSpPr>
        <p:spPr>
          <a:xfrm>
            <a:off x="1098550" y="587829"/>
            <a:ext cx="16084552" cy="1124970"/>
          </a:xfrm>
        </p:spPr>
        <p:txBody>
          <a:bodyPr/>
          <a:lstStyle/>
          <a:p>
            <a:r>
              <a:rPr lang="en-US" b="1" dirty="0">
                <a:solidFill>
                  <a:srgbClr val="C00000"/>
                </a:solidFill>
              </a:rPr>
              <a:t>AI in Human Resources</a:t>
            </a:r>
          </a:p>
        </p:txBody>
      </p:sp>
      <p:sp>
        <p:nvSpPr>
          <p:cNvPr id="3" name="Content Placeholder 2">
            <a:extLst>
              <a:ext uri="{FF2B5EF4-FFF2-40B4-BE49-F238E27FC236}">
                <a16:creationId xmlns:a16="http://schemas.microsoft.com/office/drawing/2014/main" id="{71F68E56-3072-8143-A339-BFDEE6A1CB2A}"/>
              </a:ext>
            </a:extLst>
          </p:cNvPr>
          <p:cNvSpPr>
            <a:spLocks noGrp="1"/>
          </p:cNvSpPr>
          <p:nvPr>
            <p:ph idx="1"/>
          </p:nvPr>
        </p:nvSpPr>
        <p:spPr>
          <a:xfrm>
            <a:off x="1257299" y="2738438"/>
            <a:ext cx="16242425" cy="6527007"/>
          </a:xfrm>
        </p:spPr>
        <p:txBody>
          <a:bodyPr anchor="ctr">
            <a:noAutofit/>
          </a:bodyPr>
          <a:lstStyle/>
          <a:p>
            <a:r>
              <a:rPr lang="en-US" sz="3600" dirty="0"/>
              <a:t>Recruiting and hiring platforms such as </a:t>
            </a:r>
            <a:r>
              <a:rPr lang="en-US" sz="3600" b="1" dirty="0"/>
              <a:t>Scout</a:t>
            </a:r>
            <a:r>
              <a:rPr lang="en-US" sz="3600" dirty="0"/>
              <a:t>, </a:t>
            </a:r>
            <a:r>
              <a:rPr lang="en-US" sz="3600" b="1" dirty="0" err="1"/>
              <a:t>Entelo</a:t>
            </a:r>
            <a:r>
              <a:rPr lang="en-US" sz="3600" dirty="0"/>
              <a:t> and </a:t>
            </a:r>
            <a:r>
              <a:rPr lang="en-US" sz="3600" b="1" dirty="0" err="1"/>
              <a:t>UpScored</a:t>
            </a:r>
            <a:r>
              <a:rPr lang="en-US" sz="3600" dirty="0"/>
              <a:t> help discover and match candidates based on desired skills. These platforms use a variety of AI techniques like algorithmic matching and predictive scanning to identify candidates.</a:t>
            </a:r>
          </a:p>
          <a:p>
            <a:r>
              <a:rPr lang="en-US" sz="3600" b="1" dirty="0"/>
              <a:t>Wade</a:t>
            </a:r>
            <a:r>
              <a:rPr lang="en-US" sz="3600" dirty="0"/>
              <a:t> </a:t>
            </a:r>
            <a:r>
              <a:rPr lang="en-US" sz="3600" b="1" dirty="0"/>
              <a:t>&amp;</a:t>
            </a:r>
            <a:r>
              <a:rPr lang="en-US" sz="3600" dirty="0"/>
              <a:t> </a:t>
            </a:r>
            <a:r>
              <a:rPr lang="en-US" sz="3600" b="1" dirty="0"/>
              <a:t>Wendy</a:t>
            </a:r>
            <a:r>
              <a:rPr lang="en-US" sz="3600" dirty="0"/>
              <a:t> and </a:t>
            </a:r>
            <a:r>
              <a:rPr lang="en-US" sz="3600" b="1" dirty="0" err="1"/>
              <a:t>HireVue</a:t>
            </a:r>
            <a:r>
              <a:rPr lang="en-US" sz="3600" dirty="0"/>
              <a:t> use AI to automate candidate communications and assessments, allowing managers to gather more information to scale up their hiring efforts. NLP is often used to analyze contents of email exchanges, extract schedule preferences, and automatically set meetings.</a:t>
            </a:r>
          </a:p>
          <a:p>
            <a:r>
              <a:rPr lang="en-US" sz="3600" b="1" dirty="0"/>
              <a:t>Workday</a:t>
            </a:r>
            <a:r>
              <a:rPr lang="en-US" sz="3600" dirty="0"/>
              <a:t> relies on data science and machine learning approaches to understand risk factors in hiring and to improve employee retention.</a:t>
            </a:r>
          </a:p>
        </p:txBody>
      </p:sp>
    </p:spTree>
    <p:custDataLst>
      <p:tags r:id="rId1"/>
    </p:custDataLst>
    <p:extLst>
      <p:ext uri="{BB962C8B-B14F-4D97-AF65-F5344CB8AC3E}">
        <p14:creationId xmlns:p14="http://schemas.microsoft.com/office/powerpoint/2010/main" val="42679335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8550" y="1188414"/>
            <a:ext cx="16084552" cy="1048770"/>
          </a:xfrm>
        </p:spPr>
        <p:txBody>
          <a:bodyPr/>
          <a:lstStyle/>
          <a:p>
            <a:r>
              <a:rPr lang="en-US" b="1" dirty="0">
                <a:solidFill>
                  <a:srgbClr val="C00000"/>
                </a:solidFill>
              </a:rPr>
              <a:t>The Self-Aware Factory Floor</a:t>
            </a:r>
          </a:p>
        </p:txBody>
      </p:sp>
      <p:sp>
        <p:nvSpPr>
          <p:cNvPr id="3" name="Content Placeholder 2"/>
          <p:cNvSpPr>
            <a:spLocks noGrp="1"/>
          </p:cNvSpPr>
          <p:nvPr>
            <p:ph idx="1"/>
          </p:nvPr>
        </p:nvSpPr>
        <p:spPr>
          <a:xfrm>
            <a:off x="1583871" y="2803752"/>
            <a:ext cx="15773400" cy="6527007"/>
          </a:xfrm>
        </p:spPr>
        <p:txBody>
          <a:bodyPr anchor="ctr">
            <a:normAutofit/>
          </a:bodyPr>
          <a:lstStyle/>
          <a:p>
            <a:r>
              <a:rPr lang="en-US" sz="3600" dirty="0"/>
              <a:t>Collaborative robots from companies like </a:t>
            </a:r>
            <a:r>
              <a:rPr lang="en-US" sz="3600" b="1" dirty="0"/>
              <a:t>Rethink Robotics </a:t>
            </a:r>
            <a:r>
              <a:rPr lang="en-US" sz="3600" dirty="0"/>
              <a:t>come equipped with high powered sensors that allow them to recognize a range of objects. This allows them to work flexibly and productively with other people. </a:t>
            </a:r>
          </a:p>
          <a:p>
            <a:r>
              <a:rPr lang="en-US" sz="3600" dirty="0"/>
              <a:t>At </a:t>
            </a:r>
            <a:r>
              <a:rPr lang="en-US" sz="3600" b="1" dirty="0"/>
              <a:t>Siemens</a:t>
            </a:r>
            <a:r>
              <a:rPr lang="en-US" sz="3600" dirty="0"/>
              <a:t>, armies of spider styled 3-D printed robots use AI to communicate and collaborate to build products. They are equipped with vision sensors and laser scanners to effectively participate in the manufacturing process.</a:t>
            </a:r>
          </a:p>
        </p:txBody>
      </p:sp>
    </p:spTree>
    <p:custDataLst>
      <p:tags r:id="rId1"/>
    </p:custDataLst>
    <p:extLst>
      <p:ext uri="{BB962C8B-B14F-4D97-AF65-F5344CB8AC3E}">
        <p14:creationId xmlns:p14="http://schemas.microsoft.com/office/powerpoint/2010/main" val="551833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Accounting with Robots</a:t>
            </a:r>
          </a:p>
        </p:txBody>
      </p:sp>
      <p:sp>
        <p:nvSpPr>
          <p:cNvPr id="3" name="Content Placeholder 2"/>
          <p:cNvSpPr>
            <a:spLocks noGrp="1"/>
          </p:cNvSpPr>
          <p:nvPr>
            <p:ph idx="1"/>
          </p:nvPr>
        </p:nvSpPr>
        <p:spPr/>
        <p:txBody>
          <a:bodyPr anchor="ctr">
            <a:normAutofit fontScale="92500"/>
          </a:bodyPr>
          <a:lstStyle/>
          <a:p>
            <a:r>
              <a:rPr lang="en-US" sz="3600" dirty="0"/>
              <a:t>At </a:t>
            </a:r>
            <a:r>
              <a:rPr lang="en-US" sz="3600" b="1" dirty="0"/>
              <a:t>Goldman Sachs</a:t>
            </a:r>
            <a:r>
              <a:rPr lang="en-US" sz="3600" dirty="0"/>
              <a:t>, AI-models study tens of thousands of different analyst reports to identify the key factors that influence share prices.</a:t>
            </a:r>
          </a:p>
          <a:p>
            <a:r>
              <a:rPr lang="en-US" sz="3600" b="1" dirty="0"/>
              <a:t>Woodside Petroleum </a:t>
            </a:r>
            <a:r>
              <a:rPr lang="en-US" sz="3600" dirty="0"/>
              <a:t>uses IBM Watson to share lessons and insights learned through HR, legal and exploration contexts.</a:t>
            </a:r>
          </a:p>
          <a:p>
            <a:r>
              <a:rPr lang="en-US" sz="3600" dirty="0"/>
              <a:t>Robotic Process Automation represents software that automates digital office tasks that are administrative, repetitive and mostly transactional. Examples include systems that deploy computer vision tools to scan invoices, contracts or purchase orders and incorporate relevant actionable data into a database.</a:t>
            </a:r>
          </a:p>
          <a:p>
            <a:r>
              <a:rPr lang="en-US" sz="3600" dirty="0"/>
              <a:t>A growing number of security firms deploy machine learning models to build ultra smart systems that identify and defend against malicious software.</a:t>
            </a:r>
          </a:p>
        </p:txBody>
      </p:sp>
    </p:spTree>
    <p:custDataLst>
      <p:tags r:id="rId1"/>
    </p:custDataLst>
    <p:extLst>
      <p:ext uri="{BB962C8B-B14F-4D97-AF65-F5344CB8AC3E}">
        <p14:creationId xmlns:p14="http://schemas.microsoft.com/office/powerpoint/2010/main" val="181674554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2.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CEFF4B-9EC7-4D38-B437-9DE5B52C77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10087</TotalTime>
  <Words>2500</Words>
  <Application>Microsoft Office PowerPoint</Application>
  <PresentationFormat>Custom</PresentationFormat>
  <Paragraphs>106</Paragraphs>
  <Slides>20</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Wingdings 2</vt:lpstr>
      <vt:lpstr>Breeze</vt:lpstr>
      <vt:lpstr>MBA532 – AI in Business </vt:lpstr>
      <vt:lpstr>AI Applications in Business –  Focus on Top Ranking Firms</vt:lpstr>
      <vt:lpstr>Helpful career tips re: AI from a leading source </vt:lpstr>
      <vt:lpstr>Google’s AI First focus</vt:lpstr>
      <vt:lpstr>Unpacking How Google integrates AI in a simple search </vt:lpstr>
      <vt:lpstr>Online search will likely transform from a single, monologue query to a multi-query dialogue with multimodal LLMs</vt:lpstr>
      <vt:lpstr>The Amazon Case</vt:lpstr>
      <vt:lpstr>AI – Driven Genome Analytics Companies</vt:lpstr>
      <vt:lpstr>Predicting Height by Algorithm</vt:lpstr>
      <vt:lpstr>AI Applications in Specific Business Functions</vt:lpstr>
      <vt:lpstr>AI in Research and Business Innovation (examples)</vt:lpstr>
      <vt:lpstr>AI in Business Intelligence and Analytics</vt:lpstr>
      <vt:lpstr>AI Examples from Marketing (Art+Science)</vt:lpstr>
      <vt:lpstr>How AI Changes Marketing</vt:lpstr>
      <vt:lpstr>How AI can Change Sales</vt:lpstr>
      <vt:lpstr>Examples from Retail</vt:lpstr>
      <vt:lpstr>Examples from IT</vt:lpstr>
      <vt:lpstr>AI in Human Resources</vt:lpstr>
      <vt:lpstr>The Self-Aware Factory Floor</vt:lpstr>
      <vt:lpstr>Accounting with Robots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202</cp:revision>
  <dcterms:created xsi:type="dcterms:W3CDTF">2024-03-17T05:07:31Z</dcterms:created>
  <dcterms:modified xsi:type="dcterms:W3CDTF">2024-05-24T15:22:02Z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992AA339-A6FA-4416-AFED-DA416FB67BA7</vt:lpwstr>
  </property>
  <property fmtid="{D5CDD505-2E9C-101B-9397-08002B2CF9AE}" pid="5" name="ArticulatePath">
    <vt:lpwstr>MBA532 – AI in Business - Module 6 - March 28</vt:lpwstr>
  </property>
</Properties>
</file>