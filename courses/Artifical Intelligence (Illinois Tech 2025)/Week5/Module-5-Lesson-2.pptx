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3"/>
  </p:notesMasterIdLst>
  <p:sldIdLst>
    <p:sldId id="259" r:id="rId5"/>
    <p:sldId id="355" r:id="rId6"/>
    <p:sldId id="360" r:id="rId7"/>
    <p:sldId id="366" r:id="rId8"/>
    <p:sldId id="361" r:id="rId9"/>
    <p:sldId id="362" r:id="rId10"/>
    <p:sldId id="363" r:id="rId11"/>
    <p:sldId id="365" r:id="rId12"/>
  </p:sldIdLst>
  <p:sldSz cx="18288000" cy="10287000"/>
  <p:notesSz cx="6858000" cy="9144000"/>
  <p:custDataLst>
    <p:tags r:id="rId14"/>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hyperlink" Target="Source:%20Goldman%20Sachs%20Predicts%20300%20Million%20Jobs%20Will%20Be%20Lost%20Or%20Degraded%20By%20Artificial%20Intelligence" TargetMode="Externa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hyperlink" Target="https://aiindex.stanford.edu/report/"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hyperlink" Target="These%20are%20the%20jobs%20most%20likely%20to%20be%20lost%20&#8211;%20and%20created%20&#8211;%20because%20of%20AI" TargetMode="Externa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normAutofit/>
          </a:bodyPr>
          <a:lstStyle/>
          <a:p>
            <a:pPr fontAlgn="auto">
              <a:spcAft>
                <a:spcPts val="0"/>
              </a:spcAft>
              <a:defRPr/>
            </a:pPr>
            <a:r>
              <a:rPr lang="en-US" sz="3200" dirty="0"/>
              <a:t>MODULE 5 – </a:t>
            </a:r>
            <a:r>
              <a:rPr lang="en-US" sz="3200" dirty="0">
                <a:effectLst/>
                <a:latin typeface="Palatino Linotype" panose="02040502050505030304" pitchFamily="18" charset="0"/>
                <a:ea typeface="Calibri" panose="020F0502020204030204" pitchFamily="34" charset="0"/>
                <a:cs typeface="Times New Roman" panose="02020603050405020304" pitchFamily="18" charset="0"/>
              </a:rPr>
              <a:t>AI’s impact on Work, Jobs, Humans, Productivity</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614BB-9758-4EE1-9D20-2CED92B6F168}"/>
              </a:ext>
            </a:extLst>
          </p:cNvPr>
          <p:cNvSpPr>
            <a:spLocks noGrp="1"/>
          </p:cNvSpPr>
          <p:nvPr>
            <p:ph type="title"/>
          </p:nvPr>
        </p:nvSpPr>
        <p:spPr/>
        <p:txBody>
          <a:bodyPr/>
          <a:lstStyle/>
          <a:p>
            <a:r>
              <a:rPr lang="en-US" dirty="0"/>
              <a:t>Impact of AI on Job Losses</a:t>
            </a:r>
          </a:p>
        </p:txBody>
      </p:sp>
      <p:sp>
        <p:nvSpPr>
          <p:cNvPr id="3" name="Content Placeholder 2">
            <a:extLst>
              <a:ext uri="{FF2B5EF4-FFF2-40B4-BE49-F238E27FC236}">
                <a16:creationId xmlns:a16="http://schemas.microsoft.com/office/drawing/2014/main" id="{198E2F6F-6C48-4856-9A3D-DD265F0CC077}"/>
              </a:ext>
            </a:extLst>
          </p:cNvPr>
          <p:cNvSpPr>
            <a:spLocks noGrp="1"/>
          </p:cNvSpPr>
          <p:nvPr>
            <p:ph idx="1"/>
          </p:nvPr>
        </p:nvSpPr>
        <p:spPr/>
        <p:txBody>
          <a:bodyPr/>
          <a:lstStyle/>
          <a:p>
            <a:r>
              <a:rPr lang="en-US" dirty="0"/>
              <a:t>Impact of AI on Job Losses</a:t>
            </a:r>
          </a:p>
        </p:txBody>
      </p:sp>
    </p:spTree>
    <p:custDataLst>
      <p:tags r:id="rId1"/>
    </p:custDataLst>
    <p:extLst>
      <p:ext uri="{BB962C8B-B14F-4D97-AF65-F5344CB8AC3E}">
        <p14:creationId xmlns:p14="http://schemas.microsoft.com/office/powerpoint/2010/main" val="2649440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3B542-0B17-43F3-BB39-166D57025CB3}"/>
              </a:ext>
            </a:extLst>
          </p:cNvPr>
          <p:cNvSpPr>
            <a:spLocks noGrp="1"/>
          </p:cNvSpPr>
          <p:nvPr>
            <p:ph type="title"/>
          </p:nvPr>
        </p:nvSpPr>
        <p:spPr>
          <a:xfrm>
            <a:off x="1098550" y="447869"/>
            <a:ext cx="16084552" cy="2197991"/>
          </a:xfrm>
        </p:spPr>
        <p:txBody>
          <a:bodyPr/>
          <a:lstStyle/>
          <a:p>
            <a:r>
              <a:rPr lang="en-US" sz="4000" dirty="0"/>
              <a:t>Source: </a:t>
            </a:r>
            <a:r>
              <a:rPr lang="en-US" sz="4000" dirty="0">
                <a:hlinkClick r:id="rId3"/>
              </a:rPr>
              <a:t>Goldman Sachs Predicts </a:t>
            </a:r>
            <a:r>
              <a:rPr lang="en-US" sz="4000" b="1" dirty="0">
                <a:hlinkClick r:id="rId3"/>
              </a:rPr>
              <a:t>300 Million Jobs Will Be Lost Or Degraded By Artificial Intelligence</a:t>
            </a:r>
            <a:br>
              <a:rPr lang="en-US" b="1" dirty="0"/>
            </a:br>
            <a:endParaRPr lang="en-US" dirty="0"/>
          </a:p>
        </p:txBody>
      </p:sp>
      <p:sp>
        <p:nvSpPr>
          <p:cNvPr id="3" name="Content Placeholder 2">
            <a:extLst>
              <a:ext uri="{FF2B5EF4-FFF2-40B4-BE49-F238E27FC236}">
                <a16:creationId xmlns:a16="http://schemas.microsoft.com/office/drawing/2014/main" id="{60C71208-7915-46F0-8C0E-8A7FFFCEDBB1}"/>
              </a:ext>
            </a:extLst>
          </p:cNvPr>
          <p:cNvSpPr>
            <a:spLocks noGrp="1"/>
          </p:cNvSpPr>
          <p:nvPr>
            <p:ph idx="1"/>
          </p:nvPr>
        </p:nvSpPr>
        <p:spPr>
          <a:xfrm>
            <a:off x="1415791" y="2106682"/>
            <a:ext cx="16084552" cy="6888006"/>
          </a:xfrm>
        </p:spPr>
        <p:txBody>
          <a:bodyPr/>
          <a:lstStyle/>
          <a:p>
            <a:r>
              <a:rPr lang="en-US" sz="3200" dirty="0"/>
              <a:t>Goldman contends automation creates innovation, which leads to new types of jobs. For companies, there will be cost savings thanks to AI. They can deploy their resources toward building and growing businesses, ultimately increasing annual global GDP by 7%.</a:t>
            </a:r>
          </a:p>
          <a:p>
            <a:r>
              <a:rPr lang="en-US" sz="3200" dirty="0"/>
              <a:t>Between 2021 and 2023, investments in AI totaled nearly $94 billion, according to </a:t>
            </a:r>
            <a:r>
              <a:rPr lang="en-US" sz="3200" dirty="0">
                <a:hlinkClick r:id="rId4" tooltip="https://aiindex.stanford.edu/report/"/>
              </a:rPr>
              <a:t>Stanford’s AI Index Report</a:t>
            </a:r>
            <a:r>
              <a:rPr lang="en-US" sz="3200" dirty="0"/>
              <a:t>. If AI continues this growth trajectory, it could add 1% to the U.S. GDP by 2030.</a:t>
            </a:r>
          </a:p>
          <a:p>
            <a:r>
              <a:rPr lang="en-US" sz="3200" dirty="0"/>
              <a:t>According to a 2021 NBER research paper titled “Tasks, Automation, and the Rise in US Wage Inequality” automation technology has been the prime driver of income inequality for the past four decades. Automation arising from Artificial intelligence, robotics and new sophisticated technologies have already caused a vast chasm in wealth and income inequality, and it looks like this issue will accelerate. </a:t>
            </a:r>
          </a:p>
        </p:txBody>
      </p:sp>
    </p:spTree>
    <p:custDataLst>
      <p:tags r:id="rId1"/>
    </p:custDataLst>
    <p:extLst>
      <p:ext uri="{BB962C8B-B14F-4D97-AF65-F5344CB8AC3E}">
        <p14:creationId xmlns:p14="http://schemas.microsoft.com/office/powerpoint/2010/main" val="3602078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65EAB8B-79F4-4A48-BE84-E71EC787606D}"/>
              </a:ext>
            </a:extLst>
          </p:cNvPr>
          <p:cNvPicPr>
            <a:picLocks noGrp="1" noChangeAspect="1"/>
          </p:cNvPicPr>
          <p:nvPr>
            <p:ph idx="1"/>
          </p:nvPr>
        </p:nvPicPr>
        <p:blipFill>
          <a:blip r:embed="rId3"/>
          <a:stretch>
            <a:fillRect/>
          </a:stretch>
        </p:blipFill>
        <p:spPr>
          <a:xfrm>
            <a:off x="1511558" y="149290"/>
            <a:ext cx="12633649" cy="10137710"/>
          </a:xfrm>
        </p:spPr>
      </p:pic>
      <p:sp>
        <p:nvSpPr>
          <p:cNvPr id="6" name="TextBox 5">
            <a:extLst>
              <a:ext uri="{FF2B5EF4-FFF2-40B4-BE49-F238E27FC236}">
                <a16:creationId xmlns:a16="http://schemas.microsoft.com/office/drawing/2014/main" id="{3FDCE61C-0B20-4C4A-986C-4558E2C33278}"/>
              </a:ext>
            </a:extLst>
          </p:cNvPr>
          <p:cNvSpPr txBox="1"/>
          <p:nvPr/>
        </p:nvSpPr>
        <p:spPr>
          <a:xfrm>
            <a:off x="14611738" y="4404049"/>
            <a:ext cx="3033203" cy="1323439"/>
          </a:xfrm>
          <a:prstGeom prst="rect">
            <a:avLst/>
          </a:prstGeom>
          <a:noFill/>
        </p:spPr>
        <p:txBody>
          <a:bodyPr wrap="none" rtlCol="0">
            <a:spAutoFit/>
          </a:bodyPr>
          <a:lstStyle/>
          <a:p>
            <a:r>
              <a:rPr lang="en-US" sz="4000" b="1" dirty="0">
                <a:solidFill>
                  <a:srgbClr val="C00000"/>
                </a:solidFill>
              </a:rPr>
              <a:t>Source:</a:t>
            </a:r>
          </a:p>
          <a:p>
            <a:r>
              <a:rPr lang="en-US" sz="4000" b="1" dirty="0">
                <a:solidFill>
                  <a:srgbClr val="C00000"/>
                </a:solidFill>
              </a:rPr>
              <a:t>Indeed.com</a:t>
            </a:r>
          </a:p>
        </p:txBody>
      </p:sp>
    </p:spTree>
    <p:custDataLst>
      <p:tags r:id="rId1"/>
    </p:custDataLst>
    <p:extLst>
      <p:ext uri="{BB962C8B-B14F-4D97-AF65-F5344CB8AC3E}">
        <p14:creationId xmlns:p14="http://schemas.microsoft.com/office/powerpoint/2010/main" val="147528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7AB08-CB4D-4A61-9C9C-1E110079072D}"/>
              </a:ext>
            </a:extLst>
          </p:cNvPr>
          <p:cNvSpPr>
            <a:spLocks noGrp="1"/>
          </p:cNvSpPr>
          <p:nvPr>
            <p:ph type="title"/>
          </p:nvPr>
        </p:nvSpPr>
        <p:spPr>
          <a:xfrm>
            <a:off x="1098550" y="161365"/>
            <a:ext cx="16084552" cy="1331534"/>
          </a:xfrm>
        </p:spPr>
        <p:txBody>
          <a:bodyPr/>
          <a:lstStyle/>
          <a:p>
            <a:r>
              <a:rPr lang="en-US" sz="4400" dirty="0"/>
              <a:t>Generative Impact across Industries (source: </a:t>
            </a:r>
            <a:r>
              <a:rPr lang="en-US" sz="4400" dirty="0">
                <a:hlinkClick r:id="rId3" action="ppaction://hlinkfile"/>
              </a:rPr>
              <a:t>World Economic Forum</a:t>
            </a:r>
            <a:r>
              <a:rPr lang="en-US" sz="4400" dirty="0"/>
              <a:t>, May 2023  </a:t>
            </a:r>
          </a:p>
        </p:txBody>
      </p:sp>
      <p:pic>
        <p:nvPicPr>
          <p:cNvPr id="5" name="Content Placeholder 4">
            <a:extLst>
              <a:ext uri="{FF2B5EF4-FFF2-40B4-BE49-F238E27FC236}">
                <a16:creationId xmlns:a16="http://schemas.microsoft.com/office/drawing/2014/main" id="{08E16AE1-0201-47F9-B8BC-388BF129DF52}"/>
              </a:ext>
            </a:extLst>
          </p:cNvPr>
          <p:cNvPicPr>
            <a:picLocks noGrp="1" noChangeAspect="1"/>
          </p:cNvPicPr>
          <p:nvPr>
            <p:ph idx="1"/>
          </p:nvPr>
        </p:nvPicPr>
        <p:blipFill>
          <a:blip r:embed="rId4"/>
          <a:stretch>
            <a:fillRect/>
          </a:stretch>
        </p:blipFill>
        <p:spPr>
          <a:xfrm>
            <a:off x="373224" y="1511559"/>
            <a:ext cx="13585373" cy="8794101"/>
          </a:xfrm>
        </p:spPr>
      </p:pic>
    </p:spTree>
    <p:custDataLst>
      <p:tags r:id="rId1"/>
    </p:custDataLst>
    <p:extLst>
      <p:ext uri="{BB962C8B-B14F-4D97-AF65-F5344CB8AC3E}">
        <p14:creationId xmlns:p14="http://schemas.microsoft.com/office/powerpoint/2010/main" val="2057960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373BC-0AFB-470B-B224-1C091D8F7298}"/>
              </a:ext>
            </a:extLst>
          </p:cNvPr>
          <p:cNvSpPr>
            <a:spLocks noGrp="1"/>
          </p:cNvSpPr>
          <p:nvPr>
            <p:ph type="title"/>
          </p:nvPr>
        </p:nvSpPr>
        <p:spPr/>
        <p:txBody>
          <a:bodyPr/>
          <a:lstStyle/>
          <a:p>
            <a:r>
              <a:rPr lang="en-US" dirty="0"/>
              <a:t>WEF 2023: Gen AI Across Industries impact….</a:t>
            </a:r>
          </a:p>
        </p:txBody>
      </p:sp>
      <p:sp>
        <p:nvSpPr>
          <p:cNvPr id="3" name="Content Placeholder 2">
            <a:extLst>
              <a:ext uri="{FF2B5EF4-FFF2-40B4-BE49-F238E27FC236}">
                <a16:creationId xmlns:a16="http://schemas.microsoft.com/office/drawing/2014/main" id="{CEE155B7-FE03-4DCB-80C4-8656876F341A}"/>
              </a:ext>
            </a:extLst>
          </p:cNvPr>
          <p:cNvSpPr>
            <a:spLocks noGrp="1"/>
          </p:cNvSpPr>
          <p:nvPr>
            <p:ph idx="1"/>
          </p:nvPr>
        </p:nvSpPr>
        <p:spPr/>
        <p:txBody>
          <a:bodyPr/>
          <a:lstStyle/>
          <a:p>
            <a:r>
              <a:rPr lang="en-US" dirty="0"/>
              <a:t>Banking and Insurance have the highest potential for automation of jobs (54% and 48% respectively); Chemicals and Natural Resources have relatively lower potential for automation (24% and 20% respectively. </a:t>
            </a:r>
          </a:p>
          <a:p>
            <a:r>
              <a:rPr lang="en-US" dirty="0"/>
              <a:t>It is clear that jobs in all industries will be adversely affected by Generative AI impact. </a:t>
            </a:r>
          </a:p>
          <a:p>
            <a:r>
              <a:rPr lang="en-US" dirty="0"/>
              <a:t>Unfortunately, the earlier reports on the positive impact of Generative AI on productivity and growth metrics have to be interpreted in conjunction with these expected job losses.</a:t>
            </a:r>
          </a:p>
        </p:txBody>
      </p:sp>
    </p:spTree>
    <p:custDataLst>
      <p:tags r:id="rId1"/>
    </p:custDataLst>
    <p:extLst>
      <p:ext uri="{BB962C8B-B14F-4D97-AF65-F5344CB8AC3E}">
        <p14:creationId xmlns:p14="http://schemas.microsoft.com/office/powerpoint/2010/main" val="910027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373BC-0AFB-470B-B224-1C091D8F7298}"/>
              </a:ext>
            </a:extLst>
          </p:cNvPr>
          <p:cNvSpPr>
            <a:spLocks noGrp="1"/>
          </p:cNvSpPr>
          <p:nvPr>
            <p:ph type="title"/>
          </p:nvPr>
        </p:nvSpPr>
        <p:spPr>
          <a:xfrm>
            <a:off x="1101724" y="491778"/>
            <a:ext cx="16084552" cy="1134301"/>
          </a:xfrm>
        </p:spPr>
        <p:txBody>
          <a:bodyPr/>
          <a:lstStyle/>
          <a:p>
            <a:r>
              <a:rPr lang="en-US" dirty="0"/>
              <a:t>WEF 2023: Gen AI Across Industries impact….</a:t>
            </a:r>
          </a:p>
        </p:txBody>
      </p:sp>
      <p:pic>
        <p:nvPicPr>
          <p:cNvPr id="5" name="Content Placeholder 4">
            <a:extLst>
              <a:ext uri="{FF2B5EF4-FFF2-40B4-BE49-F238E27FC236}">
                <a16:creationId xmlns:a16="http://schemas.microsoft.com/office/drawing/2014/main" id="{4BE57316-A432-4339-9F8D-0197748C003F}"/>
              </a:ext>
            </a:extLst>
          </p:cNvPr>
          <p:cNvPicPr>
            <a:picLocks noGrp="1" noChangeAspect="1"/>
          </p:cNvPicPr>
          <p:nvPr>
            <p:ph idx="1"/>
          </p:nvPr>
        </p:nvPicPr>
        <p:blipFill>
          <a:blip r:embed="rId3"/>
          <a:stretch>
            <a:fillRect/>
          </a:stretch>
        </p:blipFill>
        <p:spPr>
          <a:xfrm>
            <a:off x="0" y="1712799"/>
            <a:ext cx="14201192" cy="8574201"/>
          </a:xfrm>
        </p:spPr>
      </p:pic>
      <p:sp>
        <p:nvSpPr>
          <p:cNvPr id="6" name="Oval 5">
            <a:extLst>
              <a:ext uri="{FF2B5EF4-FFF2-40B4-BE49-F238E27FC236}">
                <a16:creationId xmlns:a16="http://schemas.microsoft.com/office/drawing/2014/main" id="{50200D4C-0FDA-493E-A5F1-6D30CC7A9FBA}"/>
              </a:ext>
            </a:extLst>
          </p:cNvPr>
          <p:cNvSpPr/>
          <p:nvPr/>
        </p:nvSpPr>
        <p:spPr>
          <a:xfrm>
            <a:off x="0" y="9722498"/>
            <a:ext cx="7035281" cy="477782"/>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09944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FB979-652F-4FC0-ACEC-D41D8EB09367}"/>
              </a:ext>
            </a:extLst>
          </p:cNvPr>
          <p:cNvSpPr>
            <a:spLocks noGrp="1"/>
          </p:cNvSpPr>
          <p:nvPr>
            <p:ph type="title"/>
          </p:nvPr>
        </p:nvSpPr>
        <p:spPr/>
        <p:txBody>
          <a:bodyPr/>
          <a:lstStyle/>
          <a:p>
            <a:r>
              <a:rPr lang="en-US" sz="4800" dirty="0"/>
              <a:t>WEF 2023: Proportion of tasks completed by humans is decreasing….</a:t>
            </a:r>
          </a:p>
        </p:txBody>
      </p:sp>
      <p:pic>
        <p:nvPicPr>
          <p:cNvPr id="5" name="Content Placeholder 4">
            <a:extLst>
              <a:ext uri="{FF2B5EF4-FFF2-40B4-BE49-F238E27FC236}">
                <a16:creationId xmlns:a16="http://schemas.microsoft.com/office/drawing/2014/main" id="{8FFCB0A4-43A9-4B39-B860-13A92DDAA1BF}"/>
              </a:ext>
            </a:extLst>
          </p:cNvPr>
          <p:cNvPicPr>
            <a:picLocks noGrp="1" noChangeAspect="1"/>
          </p:cNvPicPr>
          <p:nvPr>
            <p:ph idx="1"/>
          </p:nvPr>
        </p:nvPicPr>
        <p:blipFill>
          <a:blip r:embed="rId3"/>
          <a:stretch>
            <a:fillRect/>
          </a:stretch>
        </p:blipFill>
        <p:spPr>
          <a:xfrm>
            <a:off x="373224" y="1712799"/>
            <a:ext cx="11110768" cy="8574201"/>
          </a:xfrm>
        </p:spPr>
      </p:pic>
    </p:spTree>
    <p:custDataLst>
      <p:tags r:id="rId1"/>
    </p:custDataLst>
    <p:extLst>
      <p:ext uri="{BB962C8B-B14F-4D97-AF65-F5344CB8AC3E}">
        <p14:creationId xmlns:p14="http://schemas.microsoft.com/office/powerpoint/2010/main" val="23341595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8"/>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Props1.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3.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12603</TotalTime>
  <Words>335</Words>
  <Application>Microsoft Office PowerPoint</Application>
  <PresentationFormat>Custom</PresentationFormat>
  <Paragraphs>17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Palatino Linotype</vt:lpstr>
      <vt:lpstr>Wingdings 2</vt:lpstr>
      <vt:lpstr>Breeze</vt:lpstr>
      <vt:lpstr>MBA532 – AI in Business </vt:lpstr>
      <vt:lpstr>Impact of AI on Job Losses</vt:lpstr>
      <vt:lpstr>Source: Goldman Sachs Predicts 300 Million Jobs Will Be Lost Or Degraded By Artificial Intelligence </vt:lpstr>
      <vt:lpstr>PowerPoint Presentation</vt:lpstr>
      <vt:lpstr>Generative Impact across Industries (source: World Economic Forum, May 2023  </vt:lpstr>
      <vt:lpstr>WEF 2023: Gen AI Across Industries impact….</vt:lpstr>
      <vt:lpstr>WEF 2023: Gen AI Across Industries impact….</vt:lpstr>
      <vt:lpstr>WEF 2023: Proportion of tasks completed by humans is decreasing….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149</cp:revision>
  <dcterms:created xsi:type="dcterms:W3CDTF">2024-03-17T05:07:31Z</dcterms:created>
  <dcterms:modified xsi:type="dcterms:W3CDTF">2024-05-24T15:15:50Z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CE34FA5D-5B02-4D13-87C3-F38CE20908F9</vt:lpwstr>
  </property>
  <property fmtid="{D5CDD505-2E9C-101B-9397-08002B2CF9AE}" pid="5" name="ArticulatePath">
    <vt:lpwstr>MBA532 – AI in Business - Module 5 - March 25</vt:lpwstr>
  </property>
</Properties>
</file>