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21"/>
  </p:notesMasterIdLst>
  <p:sldIdLst>
    <p:sldId id="259" r:id="rId5"/>
    <p:sldId id="338" r:id="rId6"/>
    <p:sldId id="329" r:id="rId7"/>
    <p:sldId id="342" r:id="rId8"/>
    <p:sldId id="343" r:id="rId9"/>
    <p:sldId id="358" r:id="rId10"/>
    <p:sldId id="348" r:id="rId11"/>
    <p:sldId id="349" r:id="rId12"/>
    <p:sldId id="350" r:id="rId13"/>
    <p:sldId id="351" r:id="rId14"/>
    <p:sldId id="352" r:id="rId15"/>
    <p:sldId id="359" r:id="rId16"/>
    <p:sldId id="353" r:id="rId17"/>
    <p:sldId id="354" r:id="rId18"/>
    <p:sldId id="356" r:id="rId19"/>
    <p:sldId id="357" r:id="rId20"/>
  </p:sldIdLst>
  <p:sldSz cx="18288000" cy="10287000"/>
  <p:notesSz cx="6858000" cy="9144000"/>
  <p:custDataLst>
    <p:tags r:id="rId22"/>
  </p:custDataLst>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EC6C14-5672-E62A-29B9-AD3AE90E5762}" v="1" dt="2024-04-21T17:47:47.6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6327"/>
  </p:normalViewPr>
  <p:slideViewPr>
    <p:cSldViewPr snapToGrid="0" snapToObjects="1">
      <p:cViewPr varScale="1">
        <p:scale>
          <a:sx n="72" d="100"/>
          <a:sy n="72" d="100"/>
        </p:scale>
        <p:origin x="612" y="72"/>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gs" Target="tags/tag1.xml"/><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E003E7-8F9F-4D5E-92EA-A0649DA6C082}" type="datetimeFigureOut">
              <a:rPr lang="en-US" smtClean="0"/>
              <a:t>5/24/2024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B4D9E7-08EA-4B3D-BC2D-203B18CB11E8}" type="slidenum">
              <a:rPr lang="en-US" smtClean="0"/>
              <a:t>‹#›</a:t>
            </a:fld>
            <a:endParaRPr lang="en-US"/>
          </a:p>
        </p:txBody>
      </p:sp>
    </p:spTree>
    <p:extLst>
      <p:ext uri="{BB962C8B-B14F-4D97-AF65-F5344CB8AC3E}">
        <p14:creationId xmlns:p14="http://schemas.microsoft.com/office/powerpoint/2010/main" val="11237830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a:t>Click to edit Master subtitle style</a:t>
            </a:r>
            <a:endParaRPr dirty="0"/>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jp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5">
            <a:lum/>
          </a:blip>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Lst>
  <p:txStyles>
    <p:titleStyle>
      <a:lvl1pPr algn="ctr" rtl="0" eaLnBrk="1" fontAlgn="base" hangingPunct="1">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eaLnBrk="1" fontAlgn="base" hangingPunct="1">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eaLnBrk="1" fontAlgn="base" hangingPunct="1">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eaLnBrk="1" fontAlgn="base" hangingPunct="1">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eaLnBrk="1" fontAlgn="base" hangingPunct="1">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eaLnBrk="1" fontAlgn="base" hangingPunct="1">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www.mckinsey.com/mgi/our-research/rekindling-us-productivity-for-a-new-era#introduction"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3.xml.rels><?xml version="1.0" encoding="UTF-8" standalone="yes"?>
<Relationships xmlns="http://schemas.openxmlformats.org/package/2006/relationships"><Relationship Id="rId2" Type="http://schemas.openxmlformats.org/officeDocument/2006/relationships/hyperlink" Target="https://mitsloan.mit.edu/ideas-made-to-matter/how-generative-ai-can-boost-highly-skilled-workers-productivity"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3D2C4-084C-C545-00AC-430EC19B6C87}"/>
              </a:ext>
            </a:extLst>
          </p:cNvPr>
          <p:cNvSpPr>
            <a:spLocks noGrp="1"/>
          </p:cNvSpPr>
          <p:nvPr>
            <p:ph type="ctrTitle"/>
          </p:nvPr>
        </p:nvSpPr>
        <p:spPr>
          <a:xfrm>
            <a:off x="2644777" y="2286001"/>
            <a:ext cx="12998450" cy="2587626"/>
          </a:xfrm>
        </p:spPr>
        <p:txBody>
          <a:bodyPr/>
          <a:lstStyle/>
          <a:p>
            <a:pPr fontAlgn="auto">
              <a:spcAft>
                <a:spcPts val="0"/>
              </a:spcAft>
              <a:defRPr/>
            </a:pPr>
            <a:r>
              <a:rPr lang="en-US" dirty="0"/>
              <a:t>MBA532 – AI in Business </a:t>
            </a:r>
          </a:p>
        </p:txBody>
      </p:sp>
      <p:sp>
        <p:nvSpPr>
          <p:cNvPr id="3" name="Subtitle 2">
            <a:extLst>
              <a:ext uri="{FF2B5EF4-FFF2-40B4-BE49-F238E27FC236}">
                <a16:creationId xmlns:a16="http://schemas.microsoft.com/office/drawing/2014/main" id="{1773A97B-06C2-BD5D-13DD-A14A00967D4E}"/>
              </a:ext>
            </a:extLst>
          </p:cNvPr>
          <p:cNvSpPr>
            <a:spLocks noGrp="1"/>
          </p:cNvSpPr>
          <p:nvPr>
            <p:ph type="subTitle" idx="1"/>
          </p:nvPr>
        </p:nvSpPr>
        <p:spPr>
          <a:xfrm>
            <a:off x="2644777" y="4949827"/>
            <a:ext cx="12998450" cy="1374774"/>
          </a:xfrm>
        </p:spPr>
        <p:txBody>
          <a:bodyPr>
            <a:normAutofit/>
          </a:bodyPr>
          <a:lstStyle/>
          <a:p>
            <a:pPr fontAlgn="auto">
              <a:spcAft>
                <a:spcPts val="0"/>
              </a:spcAft>
              <a:defRPr/>
            </a:pPr>
            <a:r>
              <a:rPr lang="en-US" sz="3200" dirty="0"/>
              <a:t>MODULE 5 – </a:t>
            </a:r>
            <a:r>
              <a:rPr lang="en-US" sz="3200" dirty="0">
                <a:effectLst/>
                <a:latin typeface="Palatino Linotype" panose="02040502050505030304" pitchFamily="18" charset="0"/>
                <a:ea typeface="Calibri" panose="020F0502020204030204" pitchFamily="34" charset="0"/>
                <a:cs typeface="Times New Roman" panose="02020603050405020304" pitchFamily="18" charset="0"/>
              </a:rPr>
              <a:t>AI’s impact on Work, Jobs, Humans, Productivity</a:t>
            </a:r>
            <a:endParaRPr lang="en-US"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4CA3A-51CE-48F0-8E8E-115A4A7E9F6C}"/>
              </a:ext>
            </a:extLst>
          </p:cNvPr>
          <p:cNvSpPr>
            <a:spLocks noGrp="1"/>
          </p:cNvSpPr>
          <p:nvPr>
            <p:ph type="title"/>
          </p:nvPr>
        </p:nvSpPr>
        <p:spPr/>
        <p:txBody>
          <a:bodyPr/>
          <a:lstStyle/>
          <a:p>
            <a:r>
              <a:rPr lang="en-US" dirty="0"/>
              <a:t>Generative AI-Driven Productivity Impact</a:t>
            </a:r>
          </a:p>
        </p:txBody>
      </p:sp>
      <p:sp>
        <p:nvSpPr>
          <p:cNvPr id="3" name="Content Placeholder 2">
            <a:extLst>
              <a:ext uri="{FF2B5EF4-FFF2-40B4-BE49-F238E27FC236}">
                <a16:creationId xmlns:a16="http://schemas.microsoft.com/office/drawing/2014/main" id="{58F7F519-C62F-481C-A7D3-5DC54F3C5B04}"/>
              </a:ext>
            </a:extLst>
          </p:cNvPr>
          <p:cNvSpPr>
            <a:spLocks noGrp="1"/>
          </p:cNvSpPr>
          <p:nvPr>
            <p:ph idx="1"/>
          </p:nvPr>
        </p:nvSpPr>
        <p:spPr/>
        <p:txBody>
          <a:bodyPr/>
          <a:lstStyle/>
          <a:p>
            <a:r>
              <a:rPr lang="en-US" dirty="0"/>
              <a:t>Predictions: Generative AI Driven Productivity Impact</a:t>
            </a:r>
          </a:p>
        </p:txBody>
      </p:sp>
    </p:spTree>
    <p:custDataLst>
      <p:tags r:id="rId1"/>
    </p:custDataLst>
    <p:extLst>
      <p:ext uri="{BB962C8B-B14F-4D97-AF65-F5344CB8AC3E}">
        <p14:creationId xmlns:p14="http://schemas.microsoft.com/office/powerpoint/2010/main" val="4164832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42F2D-F7D4-4475-8C2C-5579E0D8DB6C}"/>
              </a:ext>
            </a:extLst>
          </p:cNvPr>
          <p:cNvSpPr>
            <a:spLocks noGrp="1"/>
          </p:cNvSpPr>
          <p:nvPr>
            <p:ph type="title"/>
          </p:nvPr>
        </p:nvSpPr>
        <p:spPr>
          <a:xfrm>
            <a:off x="1436007" y="593270"/>
            <a:ext cx="16084552" cy="1643743"/>
          </a:xfrm>
        </p:spPr>
        <p:txBody>
          <a:bodyPr/>
          <a:lstStyle/>
          <a:p>
            <a:r>
              <a:rPr lang="en-US" dirty="0"/>
              <a:t>Recent Regime Shift in US Productivity?</a:t>
            </a:r>
            <a:br>
              <a:rPr lang="en-US" dirty="0"/>
            </a:br>
            <a:endParaRPr lang="en-US" dirty="0"/>
          </a:p>
        </p:txBody>
      </p:sp>
      <p:pic>
        <p:nvPicPr>
          <p:cNvPr id="4" name="Picture 3">
            <a:extLst>
              <a:ext uri="{FF2B5EF4-FFF2-40B4-BE49-F238E27FC236}">
                <a16:creationId xmlns:a16="http://schemas.microsoft.com/office/drawing/2014/main" id="{E4671B09-53A6-468B-84BC-E5DA49CADE9A}"/>
              </a:ext>
            </a:extLst>
          </p:cNvPr>
          <p:cNvPicPr/>
          <p:nvPr/>
        </p:nvPicPr>
        <p:blipFill>
          <a:blip r:embed="rId2"/>
          <a:stretch>
            <a:fillRect/>
          </a:stretch>
        </p:blipFill>
        <p:spPr>
          <a:xfrm>
            <a:off x="1948543" y="2084613"/>
            <a:ext cx="14238514" cy="6955972"/>
          </a:xfrm>
          <a:prstGeom prst="rect">
            <a:avLst/>
          </a:prstGeom>
        </p:spPr>
      </p:pic>
      <p:sp>
        <p:nvSpPr>
          <p:cNvPr id="6" name="Oval 5">
            <a:extLst>
              <a:ext uri="{FF2B5EF4-FFF2-40B4-BE49-F238E27FC236}">
                <a16:creationId xmlns:a16="http://schemas.microsoft.com/office/drawing/2014/main" id="{8E67662A-EC0B-4944-880E-7735BAC29C84}"/>
              </a:ext>
            </a:extLst>
          </p:cNvPr>
          <p:cNvSpPr/>
          <p:nvPr/>
        </p:nvSpPr>
        <p:spPr>
          <a:xfrm>
            <a:off x="14140543" y="4474029"/>
            <a:ext cx="1545771" cy="1349827"/>
          </a:xfrm>
          <a:prstGeom prst="ellipse">
            <a:avLst/>
          </a:prstGeom>
          <a:noFill/>
          <a:ln w="1905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4AE680F7-BAE9-47A3-B4BF-3D7E0993AEA1}"/>
              </a:ext>
            </a:extLst>
          </p:cNvPr>
          <p:cNvSpPr/>
          <p:nvPr/>
        </p:nvSpPr>
        <p:spPr>
          <a:xfrm>
            <a:off x="11974285" y="2677886"/>
            <a:ext cx="3712029" cy="1050470"/>
          </a:xfrm>
          <a:prstGeom prst="ellipse">
            <a:avLst/>
          </a:prstGeom>
          <a:noFill/>
          <a:ln w="1905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844619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96CA1-C06C-4B46-A4E1-1C9EB714F6B2}"/>
              </a:ext>
            </a:extLst>
          </p:cNvPr>
          <p:cNvSpPr>
            <a:spLocks noGrp="1"/>
          </p:cNvSpPr>
          <p:nvPr>
            <p:ph type="title"/>
          </p:nvPr>
        </p:nvSpPr>
        <p:spPr>
          <a:xfrm>
            <a:off x="1098550" y="718457"/>
            <a:ext cx="16084552" cy="994342"/>
          </a:xfrm>
        </p:spPr>
        <p:txBody>
          <a:bodyPr/>
          <a:lstStyle/>
          <a:p>
            <a:r>
              <a:rPr lang="en-US" sz="4400" dirty="0"/>
              <a:t>Labor Productivity and hourly costs (1973-2023)</a:t>
            </a:r>
          </a:p>
        </p:txBody>
      </p:sp>
      <p:pic>
        <p:nvPicPr>
          <p:cNvPr id="4" name="Picture 3">
            <a:extLst>
              <a:ext uri="{FF2B5EF4-FFF2-40B4-BE49-F238E27FC236}">
                <a16:creationId xmlns:a16="http://schemas.microsoft.com/office/drawing/2014/main" id="{BEC1A301-342C-4867-B409-E14E54FE29AC}"/>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450772" y="1992085"/>
            <a:ext cx="10951028" cy="6509657"/>
          </a:xfrm>
          <a:prstGeom prst="rect">
            <a:avLst/>
          </a:prstGeom>
          <a:noFill/>
          <a:ln>
            <a:noFill/>
          </a:ln>
        </p:spPr>
      </p:pic>
    </p:spTree>
    <p:extLst>
      <p:ext uri="{BB962C8B-B14F-4D97-AF65-F5344CB8AC3E}">
        <p14:creationId xmlns:p14="http://schemas.microsoft.com/office/powerpoint/2010/main" val="40762690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C039E-E941-48A9-A402-CB51D0C75C70}"/>
              </a:ext>
            </a:extLst>
          </p:cNvPr>
          <p:cNvSpPr>
            <a:spLocks noGrp="1"/>
          </p:cNvSpPr>
          <p:nvPr>
            <p:ph type="title"/>
          </p:nvPr>
        </p:nvSpPr>
        <p:spPr/>
        <p:txBody>
          <a:bodyPr/>
          <a:lstStyle/>
          <a:p>
            <a:r>
              <a:rPr lang="en-US" dirty="0"/>
              <a:t>Productivity Change in the Nonfarm business sector (1947-2023)</a:t>
            </a:r>
          </a:p>
        </p:txBody>
      </p:sp>
      <p:pic>
        <p:nvPicPr>
          <p:cNvPr id="4" name="Picture 3">
            <a:extLst>
              <a:ext uri="{FF2B5EF4-FFF2-40B4-BE49-F238E27FC236}">
                <a16:creationId xmlns:a16="http://schemas.microsoft.com/office/drawing/2014/main" id="{B047903E-A290-46D6-A214-FE4F45DA2CFD}"/>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788228" y="2400798"/>
            <a:ext cx="11854543" cy="6732315"/>
          </a:xfrm>
          <a:prstGeom prst="rect">
            <a:avLst/>
          </a:prstGeom>
          <a:noFill/>
          <a:ln>
            <a:noFill/>
          </a:ln>
        </p:spPr>
      </p:pic>
      <p:sp>
        <p:nvSpPr>
          <p:cNvPr id="3" name="Oval 2">
            <a:extLst>
              <a:ext uri="{FF2B5EF4-FFF2-40B4-BE49-F238E27FC236}">
                <a16:creationId xmlns:a16="http://schemas.microsoft.com/office/drawing/2014/main" id="{8ECB36DB-F153-4151-94C2-5E1B199701B5}"/>
              </a:ext>
            </a:extLst>
          </p:cNvPr>
          <p:cNvSpPr/>
          <p:nvPr/>
        </p:nvSpPr>
        <p:spPr>
          <a:xfrm>
            <a:off x="14009914" y="4686300"/>
            <a:ext cx="1382485" cy="604157"/>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055812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84995-027E-4819-8E6F-D0FA28059E37}"/>
              </a:ext>
            </a:extLst>
          </p:cNvPr>
          <p:cNvSpPr>
            <a:spLocks noGrp="1"/>
          </p:cNvSpPr>
          <p:nvPr>
            <p:ph type="title"/>
          </p:nvPr>
        </p:nvSpPr>
        <p:spPr/>
        <p:txBody>
          <a:bodyPr/>
          <a:lstStyle/>
          <a:p>
            <a:r>
              <a:rPr lang="en-US" sz="4400" dirty="0"/>
              <a:t>Source: </a:t>
            </a:r>
            <a:r>
              <a:rPr lang="en-US" sz="4400" dirty="0">
                <a:hlinkClick r:id="rId2"/>
              </a:rPr>
              <a:t>Rekindling US Productivity Growth in a new era</a:t>
            </a:r>
            <a:r>
              <a:rPr lang="en-US" sz="4400" dirty="0"/>
              <a:t>, McKinsey Global Institute, February 16, 2023</a:t>
            </a:r>
          </a:p>
        </p:txBody>
      </p:sp>
      <p:pic>
        <p:nvPicPr>
          <p:cNvPr id="5" name="Content Placeholder 4">
            <a:extLst>
              <a:ext uri="{FF2B5EF4-FFF2-40B4-BE49-F238E27FC236}">
                <a16:creationId xmlns:a16="http://schemas.microsoft.com/office/drawing/2014/main" id="{BC817408-03E3-4AB6-90D7-4747FEB07DE3}"/>
              </a:ext>
            </a:extLst>
          </p:cNvPr>
          <p:cNvPicPr>
            <a:picLocks noGrp="1" noChangeAspect="1"/>
          </p:cNvPicPr>
          <p:nvPr>
            <p:ph idx="1"/>
          </p:nvPr>
        </p:nvPicPr>
        <p:blipFill>
          <a:blip r:embed="rId3"/>
          <a:stretch>
            <a:fillRect/>
          </a:stretch>
        </p:blipFill>
        <p:spPr>
          <a:xfrm>
            <a:off x="3679371" y="2057401"/>
            <a:ext cx="11125200" cy="7271657"/>
          </a:xfrm>
        </p:spPr>
      </p:pic>
      <p:sp>
        <p:nvSpPr>
          <p:cNvPr id="7" name="Oval 6">
            <a:extLst>
              <a:ext uri="{FF2B5EF4-FFF2-40B4-BE49-F238E27FC236}">
                <a16:creationId xmlns:a16="http://schemas.microsoft.com/office/drawing/2014/main" id="{B3471ACD-AD0C-462A-B189-0A9F7BFAD1DD}"/>
              </a:ext>
            </a:extLst>
          </p:cNvPr>
          <p:cNvSpPr/>
          <p:nvPr/>
        </p:nvSpPr>
        <p:spPr>
          <a:xfrm>
            <a:off x="5529943" y="6923314"/>
            <a:ext cx="914400" cy="478972"/>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91DEF2B0-E45D-4BED-9736-480C06F81B60}"/>
              </a:ext>
            </a:extLst>
          </p:cNvPr>
          <p:cNvSpPr/>
          <p:nvPr/>
        </p:nvSpPr>
        <p:spPr>
          <a:xfrm>
            <a:off x="4125686" y="8425543"/>
            <a:ext cx="5290457" cy="6858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262459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EFF26-71CE-4228-87A6-483810617EAE}"/>
              </a:ext>
            </a:extLst>
          </p:cNvPr>
          <p:cNvSpPr>
            <a:spLocks noGrp="1"/>
          </p:cNvSpPr>
          <p:nvPr>
            <p:ph type="title"/>
          </p:nvPr>
        </p:nvSpPr>
        <p:spPr/>
        <p:txBody>
          <a:bodyPr/>
          <a:lstStyle/>
          <a:p>
            <a:r>
              <a:rPr lang="en-US" dirty="0"/>
              <a:t>McKinsey Digital Report (June 2023)</a:t>
            </a:r>
          </a:p>
        </p:txBody>
      </p:sp>
      <p:sp>
        <p:nvSpPr>
          <p:cNvPr id="3" name="Content Placeholder 2">
            <a:extLst>
              <a:ext uri="{FF2B5EF4-FFF2-40B4-BE49-F238E27FC236}">
                <a16:creationId xmlns:a16="http://schemas.microsoft.com/office/drawing/2014/main" id="{72E64AE4-010A-45C6-9519-6EFA890E533C}"/>
              </a:ext>
            </a:extLst>
          </p:cNvPr>
          <p:cNvSpPr>
            <a:spLocks noGrp="1"/>
          </p:cNvSpPr>
          <p:nvPr>
            <p:ph idx="1"/>
          </p:nvPr>
        </p:nvSpPr>
        <p:spPr/>
        <p:txBody>
          <a:bodyPr/>
          <a:lstStyle/>
          <a:p>
            <a:r>
              <a:rPr lang="en-US" sz="3200" dirty="0"/>
              <a:t>According to this McKinsey report “The Economic Potential of Generative AI: The Next Productivity Frontier”:</a:t>
            </a:r>
          </a:p>
          <a:p>
            <a:pPr lvl="1"/>
            <a:r>
              <a:rPr lang="en-US" sz="3200" dirty="0"/>
              <a:t>Generative AI is likely to add the equivalent of $2.6 trillion to $4.4 trillion annually to the world economy across the 63 use cases analyzed—by comparison, the United Kingdom’s entire GDP in 2021 was $3.1 trillion. This would increase the impact of all artificial intelligence by 15 to 40 percent. This estimate would </a:t>
            </a:r>
            <a:r>
              <a:rPr lang="en-US" sz="3200" b="1" dirty="0"/>
              <a:t>roughly double </a:t>
            </a:r>
            <a:r>
              <a:rPr lang="en-US" sz="3200" dirty="0"/>
              <a:t>if the impact of embedding generative AI into software that is currently used for other tasks beyond those use cases is also considered.</a:t>
            </a:r>
          </a:p>
          <a:p>
            <a:pPr lvl="1"/>
            <a:r>
              <a:rPr lang="en-US" sz="3200" dirty="0"/>
              <a:t>generative AI and other technologies have the potential to automate work activities that absorb 60 to 70 percent of employees’ time today. </a:t>
            </a:r>
          </a:p>
          <a:p>
            <a:pPr lvl="1"/>
            <a:r>
              <a:rPr lang="en-US" sz="3200" dirty="0"/>
              <a:t>Generative AI could enable labor productivity growth of 0.1 to 0.6 percent </a:t>
            </a:r>
            <a:r>
              <a:rPr lang="en-US" sz="3200" b="1" dirty="0"/>
              <a:t>annually through 2040</a:t>
            </a:r>
          </a:p>
        </p:txBody>
      </p:sp>
      <p:sp>
        <p:nvSpPr>
          <p:cNvPr id="4" name="Oval 3">
            <a:extLst>
              <a:ext uri="{FF2B5EF4-FFF2-40B4-BE49-F238E27FC236}">
                <a16:creationId xmlns:a16="http://schemas.microsoft.com/office/drawing/2014/main" id="{2AA8134F-E024-436C-8F3D-1D4D92BEBF36}"/>
              </a:ext>
            </a:extLst>
          </p:cNvPr>
          <p:cNvSpPr/>
          <p:nvPr/>
        </p:nvSpPr>
        <p:spPr>
          <a:xfrm>
            <a:off x="12453256" y="7184571"/>
            <a:ext cx="1915887" cy="9144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154751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3C28F-BDA6-4F27-B65C-F560BE337AD3}"/>
              </a:ext>
            </a:extLst>
          </p:cNvPr>
          <p:cNvSpPr>
            <a:spLocks noGrp="1"/>
          </p:cNvSpPr>
          <p:nvPr>
            <p:ph type="title"/>
          </p:nvPr>
        </p:nvSpPr>
        <p:spPr/>
        <p:txBody>
          <a:bodyPr/>
          <a:lstStyle/>
          <a:p>
            <a:r>
              <a:rPr lang="en-US" dirty="0"/>
              <a:t>Incremental economic impact of Generative AI</a:t>
            </a:r>
            <a:br>
              <a:rPr lang="en-US" dirty="0"/>
            </a:br>
            <a:r>
              <a:rPr lang="en-US" dirty="0"/>
              <a:t>(Trillions of US Dollars – source: McKinsey)</a:t>
            </a:r>
          </a:p>
        </p:txBody>
      </p:sp>
      <p:pic>
        <p:nvPicPr>
          <p:cNvPr id="13" name="Picture 12">
            <a:extLst>
              <a:ext uri="{FF2B5EF4-FFF2-40B4-BE49-F238E27FC236}">
                <a16:creationId xmlns:a16="http://schemas.microsoft.com/office/drawing/2014/main" id="{0E9BA360-2FBA-4115-8219-AF8F213FA413}"/>
              </a:ext>
            </a:extLst>
          </p:cNvPr>
          <p:cNvPicPr>
            <a:picLocks noChangeAspect="1"/>
          </p:cNvPicPr>
          <p:nvPr/>
        </p:nvPicPr>
        <p:blipFill>
          <a:blip r:embed="rId2"/>
          <a:stretch>
            <a:fillRect/>
          </a:stretch>
        </p:blipFill>
        <p:spPr>
          <a:xfrm>
            <a:off x="2634340" y="2351314"/>
            <a:ext cx="12703629" cy="6770915"/>
          </a:xfrm>
          <a:prstGeom prst="rect">
            <a:avLst/>
          </a:prstGeom>
        </p:spPr>
      </p:pic>
      <p:sp>
        <p:nvSpPr>
          <p:cNvPr id="15" name="Oval 14">
            <a:extLst>
              <a:ext uri="{FF2B5EF4-FFF2-40B4-BE49-F238E27FC236}">
                <a16:creationId xmlns:a16="http://schemas.microsoft.com/office/drawing/2014/main" id="{BCF96E70-AFCD-48AC-B2DE-5814A6D0D447}"/>
              </a:ext>
            </a:extLst>
          </p:cNvPr>
          <p:cNvSpPr/>
          <p:nvPr/>
        </p:nvSpPr>
        <p:spPr>
          <a:xfrm>
            <a:off x="8501741" y="3091542"/>
            <a:ext cx="1121229" cy="598715"/>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4BDBC5CD-270B-4417-B8F8-51ED0621CD52}"/>
              </a:ext>
            </a:extLst>
          </p:cNvPr>
          <p:cNvSpPr/>
          <p:nvPr/>
        </p:nvSpPr>
        <p:spPr>
          <a:xfrm>
            <a:off x="13530942" y="2492827"/>
            <a:ext cx="1121229" cy="598715"/>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742C0125-86F2-4828-A66B-C374668BFCCD}"/>
              </a:ext>
            </a:extLst>
          </p:cNvPr>
          <p:cNvSpPr/>
          <p:nvPr/>
        </p:nvSpPr>
        <p:spPr>
          <a:xfrm>
            <a:off x="3428999" y="3907971"/>
            <a:ext cx="1121229" cy="598715"/>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518077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A7BE9-0038-4B14-902B-B72AA734801B}"/>
              </a:ext>
            </a:extLst>
          </p:cNvPr>
          <p:cNvSpPr>
            <a:spLocks noGrp="1"/>
          </p:cNvSpPr>
          <p:nvPr>
            <p:ph type="title"/>
          </p:nvPr>
        </p:nvSpPr>
        <p:spPr/>
        <p:txBody>
          <a:bodyPr/>
          <a:lstStyle/>
          <a:p>
            <a:r>
              <a:rPr lang="en-US" dirty="0"/>
              <a:t>Where is the impact of Generative AI likely to manifest…. (source: McKinsey)</a:t>
            </a:r>
          </a:p>
        </p:txBody>
      </p:sp>
      <p:pic>
        <p:nvPicPr>
          <p:cNvPr id="5" name="Content Placeholder 4">
            <a:extLst>
              <a:ext uri="{FF2B5EF4-FFF2-40B4-BE49-F238E27FC236}">
                <a16:creationId xmlns:a16="http://schemas.microsoft.com/office/drawing/2014/main" id="{BA17BC70-A9C0-4EEF-B0E1-14A0B7FCB620}"/>
              </a:ext>
            </a:extLst>
          </p:cNvPr>
          <p:cNvPicPr>
            <a:picLocks noGrp="1" noChangeAspect="1"/>
          </p:cNvPicPr>
          <p:nvPr>
            <p:ph idx="1"/>
          </p:nvPr>
        </p:nvPicPr>
        <p:blipFill>
          <a:blip r:embed="rId2"/>
          <a:stretch>
            <a:fillRect/>
          </a:stretch>
        </p:blipFill>
        <p:spPr>
          <a:xfrm>
            <a:off x="4474029" y="2090059"/>
            <a:ext cx="10820400" cy="6934200"/>
          </a:xfrm>
        </p:spPr>
      </p:pic>
      <p:sp>
        <p:nvSpPr>
          <p:cNvPr id="6" name="Oval 5">
            <a:extLst>
              <a:ext uri="{FF2B5EF4-FFF2-40B4-BE49-F238E27FC236}">
                <a16:creationId xmlns:a16="http://schemas.microsoft.com/office/drawing/2014/main" id="{CFD0B192-37C9-44DA-AB5B-2120A110CE09}"/>
              </a:ext>
            </a:extLst>
          </p:cNvPr>
          <p:cNvSpPr/>
          <p:nvPr/>
        </p:nvSpPr>
        <p:spPr>
          <a:xfrm>
            <a:off x="6760028" y="2503715"/>
            <a:ext cx="7478486" cy="2198914"/>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697885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33F81-2EF9-4EC5-BC84-468FD847F6D5}"/>
              </a:ext>
            </a:extLst>
          </p:cNvPr>
          <p:cNvSpPr>
            <a:spLocks noGrp="1"/>
          </p:cNvSpPr>
          <p:nvPr>
            <p:ph type="title"/>
          </p:nvPr>
        </p:nvSpPr>
        <p:spPr/>
        <p:txBody>
          <a:bodyPr/>
          <a:lstStyle/>
          <a:p>
            <a:r>
              <a:rPr lang="en-US" dirty="0"/>
              <a:t>Generative AI Impact – across income quintiles (source: McKinsey)</a:t>
            </a:r>
          </a:p>
        </p:txBody>
      </p:sp>
      <p:pic>
        <p:nvPicPr>
          <p:cNvPr id="5" name="Content Placeholder 4">
            <a:extLst>
              <a:ext uri="{FF2B5EF4-FFF2-40B4-BE49-F238E27FC236}">
                <a16:creationId xmlns:a16="http://schemas.microsoft.com/office/drawing/2014/main" id="{D8BDB0E1-5CE5-4CBC-99A2-EC30C7683640}"/>
              </a:ext>
            </a:extLst>
          </p:cNvPr>
          <p:cNvPicPr>
            <a:picLocks noGrp="1" noChangeAspect="1"/>
          </p:cNvPicPr>
          <p:nvPr>
            <p:ph idx="1"/>
          </p:nvPr>
        </p:nvPicPr>
        <p:blipFill>
          <a:blip r:embed="rId2"/>
          <a:stretch>
            <a:fillRect/>
          </a:stretch>
        </p:blipFill>
        <p:spPr>
          <a:xfrm>
            <a:off x="3668486" y="2111829"/>
            <a:ext cx="10733314" cy="6890657"/>
          </a:xfrm>
        </p:spPr>
      </p:pic>
      <p:sp>
        <p:nvSpPr>
          <p:cNvPr id="6" name="Oval 5">
            <a:extLst>
              <a:ext uri="{FF2B5EF4-FFF2-40B4-BE49-F238E27FC236}">
                <a16:creationId xmlns:a16="http://schemas.microsoft.com/office/drawing/2014/main" id="{D0F9019C-CDD5-45BF-A250-9F554B8AF732}"/>
              </a:ext>
            </a:extLst>
          </p:cNvPr>
          <p:cNvSpPr/>
          <p:nvPr/>
        </p:nvSpPr>
        <p:spPr>
          <a:xfrm>
            <a:off x="4463143" y="6183087"/>
            <a:ext cx="805543" cy="381000"/>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515754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F8C64-348B-4306-88BA-BAA65A50E5AB}"/>
              </a:ext>
            </a:extLst>
          </p:cNvPr>
          <p:cNvSpPr>
            <a:spLocks noGrp="1"/>
          </p:cNvSpPr>
          <p:nvPr>
            <p:ph type="title"/>
          </p:nvPr>
        </p:nvSpPr>
        <p:spPr>
          <a:xfrm>
            <a:off x="1240064" y="658366"/>
            <a:ext cx="16084552" cy="1551434"/>
          </a:xfrm>
        </p:spPr>
        <p:txBody>
          <a:bodyPr/>
          <a:lstStyle/>
          <a:p>
            <a:r>
              <a:rPr lang="en-US" dirty="0"/>
              <a:t>Generative AI: Contribution to Productivity Growth across countries (source: McKinsey)</a:t>
            </a:r>
          </a:p>
        </p:txBody>
      </p:sp>
      <p:pic>
        <p:nvPicPr>
          <p:cNvPr id="5" name="Content Placeholder 4">
            <a:extLst>
              <a:ext uri="{FF2B5EF4-FFF2-40B4-BE49-F238E27FC236}">
                <a16:creationId xmlns:a16="http://schemas.microsoft.com/office/drawing/2014/main" id="{3F155375-DDD4-45B5-AD0E-33304E8C0F6E}"/>
              </a:ext>
            </a:extLst>
          </p:cNvPr>
          <p:cNvPicPr>
            <a:picLocks noGrp="1" noChangeAspect="1"/>
          </p:cNvPicPr>
          <p:nvPr>
            <p:ph idx="1"/>
          </p:nvPr>
        </p:nvPicPr>
        <p:blipFill>
          <a:blip r:embed="rId2"/>
          <a:stretch>
            <a:fillRect/>
          </a:stretch>
        </p:blipFill>
        <p:spPr>
          <a:xfrm>
            <a:off x="3418113" y="2209800"/>
            <a:ext cx="10700657" cy="6106886"/>
          </a:xfrm>
        </p:spPr>
      </p:pic>
    </p:spTree>
    <p:extLst>
      <p:ext uri="{BB962C8B-B14F-4D97-AF65-F5344CB8AC3E}">
        <p14:creationId xmlns:p14="http://schemas.microsoft.com/office/powerpoint/2010/main" val="11950241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D47A8-8D8D-4C2D-95F9-A75629AE70FE}"/>
              </a:ext>
            </a:extLst>
          </p:cNvPr>
          <p:cNvSpPr>
            <a:spLocks noGrp="1"/>
          </p:cNvSpPr>
          <p:nvPr>
            <p:ph type="title"/>
          </p:nvPr>
        </p:nvSpPr>
        <p:spPr/>
        <p:txBody>
          <a:bodyPr/>
          <a:lstStyle/>
          <a:p>
            <a:r>
              <a:rPr lang="en-US" dirty="0">
                <a:solidFill>
                  <a:srgbClr val="C00000"/>
                </a:solidFill>
              </a:rPr>
              <a:t>Generative AI Impact – Research studies</a:t>
            </a:r>
          </a:p>
        </p:txBody>
      </p:sp>
      <p:sp>
        <p:nvSpPr>
          <p:cNvPr id="3" name="Content Placeholder 2">
            <a:extLst>
              <a:ext uri="{FF2B5EF4-FFF2-40B4-BE49-F238E27FC236}">
                <a16:creationId xmlns:a16="http://schemas.microsoft.com/office/drawing/2014/main" id="{0053A080-BD6D-4B6C-91F0-5C2A732B0601}"/>
              </a:ext>
            </a:extLst>
          </p:cNvPr>
          <p:cNvSpPr>
            <a:spLocks noGrp="1"/>
          </p:cNvSpPr>
          <p:nvPr>
            <p:ph idx="1"/>
          </p:nvPr>
        </p:nvSpPr>
        <p:spPr/>
        <p:txBody>
          <a:bodyPr/>
          <a:lstStyle/>
          <a:p>
            <a:r>
              <a:rPr lang="en-US" dirty="0">
                <a:solidFill>
                  <a:schemeClr val="tx1"/>
                </a:solidFill>
              </a:rPr>
              <a:t>Generative AI Impact from Academic Research Studies</a:t>
            </a:r>
            <a:endParaRPr lang="en-US" dirty="0"/>
          </a:p>
        </p:txBody>
      </p:sp>
    </p:spTree>
    <p:custDataLst>
      <p:tags r:id="rId1"/>
    </p:custDataLst>
    <p:extLst>
      <p:ext uri="{BB962C8B-B14F-4D97-AF65-F5344CB8AC3E}">
        <p14:creationId xmlns:p14="http://schemas.microsoft.com/office/powerpoint/2010/main" val="7425089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A9A7F-6556-48DD-AB98-95940998F1C5}"/>
              </a:ext>
            </a:extLst>
          </p:cNvPr>
          <p:cNvSpPr>
            <a:spLocks noGrp="1"/>
          </p:cNvSpPr>
          <p:nvPr>
            <p:ph type="title"/>
          </p:nvPr>
        </p:nvSpPr>
        <p:spPr/>
        <p:txBody>
          <a:bodyPr/>
          <a:lstStyle/>
          <a:p>
            <a:r>
              <a:rPr lang="en-US" dirty="0"/>
              <a:t>New Research Study (Harvard, Wharton, and MIT Researchers, October 2023)</a:t>
            </a:r>
          </a:p>
        </p:txBody>
      </p:sp>
      <p:sp>
        <p:nvSpPr>
          <p:cNvPr id="3" name="Content Placeholder 2">
            <a:extLst>
              <a:ext uri="{FF2B5EF4-FFF2-40B4-BE49-F238E27FC236}">
                <a16:creationId xmlns:a16="http://schemas.microsoft.com/office/drawing/2014/main" id="{F0CE0EB1-4F4E-45A9-A9C0-B90354FAFF53}"/>
              </a:ext>
            </a:extLst>
          </p:cNvPr>
          <p:cNvSpPr>
            <a:spLocks noGrp="1"/>
          </p:cNvSpPr>
          <p:nvPr>
            <p:ph idx="1"/>
          </p:nvPr>
        </p:nvSpPr>
        <p:spPr>
          <a:xfrm>
            <a:off x="2286000" y="2126899"/>
            <a:ext cx="14238514" cy="6888006"/>
          </a:xfrm>
        </p:spPr>
        <p:txBody>
          <a:bodyPr/>
          <a:lstStyle/>
          <a:p>
            <a:r>
              <a:rPr lang="en-US" sz="3200" dirty="0"/>
              <a:t>Insights from a new research study (</a:t>
            </a:r>
            <a:r>
              <a:rPr lang="en-US" sz="3200" dirty="0">
                <a:hlinkClick r:id="rId2"/>
              </a:rPr>
              <a:t>How Generative AI Can Boost Highly Skilled Workers’ Productivity, October 2023</a:t>
            </a:r>
            <a:r>
              <a:rPr lang="en-US" sz="3200" dirty="0"/>
              <a:t>):</a:t>
            </a:r>
          </a:p>
          <a:p>
            <a:r>
              <a:rPr lang="en-US" sz="3200" dirty="0"/>
              <a:t>The study was conducted in collaboration with Boston Consulting Group and involved more than 700 consultants who were assigned a skills assessment task and an experimental task.</a:t>
            </a:r>
          </a:p>
          <a:p>
            <a:r>
              <a:rPr lang="en-US" sz="3200" dirty="0"/>
              <a:t>Summary Findings: Generative AI can improve a highly skilled worker’s performance by as much as 40% compared with workers who don’t use it</a:t>
            </a:r>
          </a:p>
        </p:txBody>
      </p:sp>
    </p:spTree>
    <p:extLst>
      <p:ext uri="{BB962C8B-B14F-4D97-AF65-F5344CB8AC3E}">
        <p14:creationId xmlns:p14="http://schemas.microsoft.com/office/powerpoint/2010/main" val="25591891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A9A7F-6556-48DD-AB98-95940998F1C5}"/>
              </a:ext>
            </a:extLst>
          </p:cNvPr>
          <p:cNvSpPr>
            <a:spLocks noGrp="1"/>
          </p:cNvSpPr>
          <p:nvPr>
            <p:ph type="title"/>
          </p:nvPr>
        </p:nvSpPr>
        <p:spPr/>
        <p:txBody>
          <a:bodyPr/>
          <a:lstStyle/>
          <a:p>
            <a:r>
              <a:rPr lang="en-US" sz="4400" dirty="0"/>
              <a:t>WSJ Article titled “MBA Students Vs </a:t>
            </a:r>
            <a:r>
              <a:rPr lang="en-US" sz="4400" dirty="0" err="1"/>
              <a:t>ChatGPT</a:t>
            </a:r>
            <a:r>
              <a:rPr lang="en-US" sz="4400" dirty="0"/>
              <a:t>: Who Comes Up With More Innovative Ideas?”</a:t>
            </a:r>
          </a:p>
        </p:txBody>
      </p:sp>
      <p:sp>
        <p:nvSpPr>
          <p:cNvPr id="4" name="Rectangle 1">
            <a:extLst>
              <a:ext uri="{FF2B5EF4-FFF2-40B4-BE49-F238E27FC236}">
                <a16:creationId xmlns:a16="http://schemas.microsoft.com/office/drawing/2014/main" id="{78B2E3CB-00B8-46AF-B0DB-FFD83DC644E0}"/>
              </a:ext>
            </a:extLst>
          </p:cNvPr>
          <p:cNvSpPr>
            <a:spLocks noGrp="1" noChangeArrowheads="1"/>
          </p:cNvSpPr>
          <p:nvPr>
            <p:ph idx="1"/>
          </p:nvPr>
        </p:nvSpPr>
        <p:spPr bwMode="auto">
          <a:xfrm>
            <a:off x="1098550" y="1821797"/>
            <a:ext cx="15360650" cy="7478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spcBef>
                <a:spcPts val="0"/>
              </a:spcBef>
            </a:pPr>
            <a:r>
              <a:rPr lang="en-US" sz="3200" b="0" i="0" dirty="0">
                <a:effectLst/>
              </a:rPr>
              <a:t>Humans was represented by a pool of 200 randomly selected ideas from Wharton MBA students. The machines were represented by GPT-4, which we instructed to generate 100 ideas with otherwise identical instructions as given to the students: “generate an idea for a new product or service appealing to college students that could be made available for $50 or less.”</a:t>
            </a:r>
          </a:p>
          <a:p>
            <a:pPr>
              <a:spcBef>
                <a:spcPts val="0"/>
              </a:spcBef>
            </a:pPr>
            <a:r>
              <a:rPr lang="en-US" sz="3200" b="0" i="0" dirty="0">
                <a:effectLst/>
              </a:rPr>
              <a:t>In addition to this vanilla prompt, we also asked GPT-4 for another 100 ideas after providing a handful of examples of successful ideas from past courses (in other words, a trained GPT-4 group), providing us with a total sample of 400 ideas.</a:t>
            </a:r>
          </a:p>
          <a:p>
            <a:pPr>
              <a:spcBef>
                <a:spcPts val="0"/>
              </a:spcBef>
            </a:pPr>
            <a:r>
              <a:rPr lang="en-US" sz="3200" b="0" i="0" dirty="0">
                <a:solidFill>
                  <a:srgbClr val="222222"/>
                </a:solidFill>
                <a:effectLst/>
              </a:rPr>
              <a:t>First, on the number of ideas per unit of time: Not surprisingly, GPT-4 easily outperforms us humans on that dimension. Generating 200 ideas the old-fashioned way requires days of human work, while GPT-4 can spit out 200 ideas with about an hour of supervision.</a:t>
            </a:r>
            <a:endParaRPr lang="en-US" sz="3200" b="0" i="0" dirty="0">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3200" dirty="0">
                <a:latin typeface="Arial" panose="020B0604020202020204" pitchFamily="34" charset="0"/>
              </a:rPr>
              <a:t>Source: MBA Students v </a:t>
            </a:r>
            <a:r>
              <a:rPr lang="en-US" altLang="en-US" sz="3200" dirty="0" err="1">
                <a:latin typeface="Arial" panose="020B0604020202020204" pitchFamily="34" charset="0"/>
              </a:rPr>
              <a:t>ChatGPT</a:t>
            </a:r>
            <a:r>
              <a:rPr lang="en-US" altLang="en-US" sz="3200" dirty="0">
                <a:latin typeface="Arial" panose="020B0604020202020204" pitchFamily="34" charset="0"/>
              </a:rPr>
              <a:t>: Who Comes Up with More Innovative Ideas?</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311988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A9A7F-6556-48DD-AB98-95940998F1C5}"/>
              </a:ext>
            </a:extLst>
          </p:cNvPr>
          <p:cNvSpPr>
            <a:spLocks noGrp="1"/>
          </p:cNvSpPr>
          <p:nvPr>
            <p:ph type="title"/>
          </p:nvPr>
        </p:nvSpPr>
        <p:spPr/>
        <p:txBody>
          <a:bodyPr/>
          <a:lstStyle/>
          <a:p>
            <a:r>
              <a:rPr lang="en-US" sz="4400" dirty="0"/>
              <a:t>WSJ Article titled “MBA Students Vs </a:t>
            </a:r>
            <a:r>
              <a:rPr lang="en-US" sz="4400" dirty="0" err="1"/>
              <a:t>ChatGPT</a:t>
            </a:r>
            <a:r>
              <a:rPr lang="en-US" sz="4400" dirty="0"/>
              <a:t>: Who Comes Up With More Innovative Ideas?”</a:t>
            </a:r>
          </a:p>
        </p:txBody>
      </p:sp>
      <p:sp>
        <p:nvSpPr>
          <p:cNvPr id="4" name="Rectangle 1">
            <a:extLst>
              <a:ext uri="{FF2B5EF4-FFF2-40B4-BE49-F238E27FC236}">
                <a16:creationId xmlns:a16="http://schemas.microsoft.com/office/drawing/2014/main" id="{78B2E3CB-00B8-46AF-B0DB-FFD83DC644E0}"/>
              </a:ext>
            </a:extLst>
          </p:cNvPr>
          <p:cNvSpPr>
            <a:spLocks noGrp="1" noChangeArrowheads="1"/>
          </p:cNvSpPr>
          <p:nvPr>
            <p:ph idx="1"/>
          </p:nvPr>
        </p:nvSpPr>
        <p:spPr bwMode="auto">
          <a:xfrm>
            <a:off x="1370693" y="1712799"/>
            <a:ext cx="15360650" cy="7971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hangingPunct="0">
              <a:spcBef>
                <a:spcPct val="0"/>
              </a:spcBef>
              <a:buClrTx/>
              <a:buSzTx/>
            </a:pPr>
            <a:r>
              <a:rPr lang="en-US" sz="3200" b="0" i="0" dirty="0">
                <a:solidFill>
                  <a:srgbClr val="222222"/>
                </a:solidFill>
                <a:effectLst/>
              </a:rPr>
              <a:t>Next, to assess the quality of the ideas, we market tested them. Specifically, we took each of the 400 ideas and put them in front of a survey panel of customers in the target market via an online purchase-intent survey. </a:t>
            </a:r>
          </a:p>
          <a:p>
            <a:pPr marL="0" indent="0" eaLnBrk="0" hangingPunct="0">
              <a:spcBef>
                <a:spcPct val="0"/>
              </a:spcBef>
              <a:buClrTx/>
              <a:buSzTx/>
              <a:buNone/>
            </a:pPr>
            <a:endParaRPr lang="en-US" sz="3200" b="0" i="0" dirty="0">
              <a:solidFill>
                <a:srgbClr val="222222"/>
              </a:solidFill>
              <a:effectLst/>
            </a:endParaRPr>
          </a:p>
          <a:p>
            <a:pPr eaLnBrk="0" hangingPunct="0">
              <a:spcBef>
                <a:spcPct val="0"/>
              </a:spcBef>
              <a:buClrTx/>
              <a:buSzTx/>
            </a:pPr>
            <a:r>
              <a:rPr lang="en-US" sz="3200" b="0" i="0" dirty="0">
                <a:solidFill>
                  <a:srgbClr val="222222"/>
                </a:solidFill>
                <a:effectLst/>
              </a:rPr>
              <a:t>The question we asked was: “How likely would you be to purchase based on this concept if it were available to you?” The possible responses ranged from definitely wouldn’t purchase to definitely would purchase.</a:t>
            </a:r>
          </a:p>
          <a:p>
            <a:pPr marL="0" indent="0" eaLnBrk="0" hangingPunct="0">
              <a:spcBef>
                <a:spcPct val="0"/>
              </a:spcBef>
              <a:buClrTx/>
              <a:buSzTx/>
              <a:buNone/>
            </a:pPr>
            <a:endParaRPr lang="en-US" sz="3200" b="0" i="0" dirty="0">
              <a:solidFill>
                <a:srgbClr val="222222"/>
              </a:solidFill>
              <a:effectLst/>
            </a:endParaRPr>
          </a:p>
          <a:p>
            <a:pPr eaLnBrk="0" hangingPunct="0">
              <a:spcBef>
                <a:spcPct val="0"/>
              </a:spcBef>
              <a:buClrTx/>
              <a:buSzTx/>
            </a:pPr>
            <a:r>
              <a:rPr lang="en-US" sz="3200" b="0" i="0" dirty="0">
                <a:solidFill>
                  <a:srgbClr val="222222"/>
                </a:solidFill>
                <a:effectLst/>
              </a:rPr>
              <a:t>The responses can be translated into a purchase probability using simple market-research techniques. The average purchase probability of a human-generated idea was 40%, that of vanilla GPT-4 was 47%, and that of GPT-4 seeded with good ideas was 49%. In short, GPT-4 isn’t only faster but also on average </a:t>
            </a:r>
            <a:r>
              <a:rPr lang="en-US" sz="3200" b="0" i="1" dirty="0">
                <a:solidFill>
                  <a:srgbClr val="222222"/>
                </a:solidFill>
                <a:effectLst/>
              </a:rPr>
              <a:t>better</a:t>
            </a:r>
            <a:r>
              <a:rPr lang="en-US" sz="3200" b="0" i="0" dirty="0">
                <a:solidFill>
                  <a:srgbClr val="222222"/>
                </a:solidFill>
                <a:effectLst/>
              </a:rPr>
              <a:t> at idea generation.</a:t>
            </a:r>
          </a:p>
          <a:p>
            <a:pPr eaLnBrk="0" hangingPunct="0">
              <a:spcBef>
                <a:spcPct val="0"/>
              </a:spcBef>
              <a:buClrTx/>
              <a:buSzTx/>
            </a:pPr>
            <a:endParaRPr lang="en-US" sz="3200" dirty="0">
              <a:solidFill>
                <a:srgbClr val="222222"/>
              </a:solidFill>
            </a:endParaRPr>
          </a:p>
          <a:p>
            <a:pPr eaLnBrk="0" hangingPunct="0">
              <a:spcBef>
                <a:spcPct val="0"/>
              </a:spcBef>
              <a:buClrTx/>
              <a:buSzTx/>
            </a:pPr>
            <a:r>
              <a:rPr lang="en-US" altLang="en-US" sz="3200" dirty="0">
                <a:latin typeface="Arial" panose="020B0604020202020204" pitchFamily="34" charset="0"/>
              </a:rPr>
              <a:t>Source: MBA Students v </a:t>
            </a:r>
            <a:r>
              <a:rPr lang="en-US" altLang="en-US" sz="3200" dirty="0" err="1">
                <a:latin typeface="Arial" panose="020B0604020202020204" pitchFamily="34" charset="0"/>
              </a:rPr>
              <a:t>ChatGPT</a:t>
            </a:r>
            <a:r>
              <a:rPr lang="en-US" altLang="en-US" sz="3200" dirty="0">
                <a:latin typeface="Arial" panose="020B0604020202020204" pitchFamily="34" charset="0"/>
              </a:rPr>
              <a:t>: Who Comes Up with More Innovative Ideas?</a:t>
            </a:r>
            <a:endParaRPr kumimoji="0" lang="en-US" altLang="en-US" sz="3200" b="0" i="0" u="none" strike="noStrike" cap="none" normalizeH="0" baseline="0" dirty="0">
              <a:ln>
                <a:noFill/>
              </a:ln>
              <a:solidFill>
                <a:schemeClr val="tx1"/>
              </a:solidFill>
              <a:effectLst/>
              <a:latin typeface="Arial" panose="020B0604020202020204" pitchFamily="34" charset="0"/>
            </a:endParaRPr>
          </a:p>
          <a:p>
            <a:pPr eaLnBrk="0" hangingPunct="0">
              <a:spcBef>
                <a:spcPct val="0"/>
              </a:spcBef>
              <a:buClrTx/>
              <a:buSzTx/>
            </a:pPr>
            <a:endParaRPr lang="en-US" sz="3200" dirty="0">
              <a:solidFill>
                <a:srgbClr val="222222"/>
              </a:solidFill>
            </a:endParaRPr>
          </a:p>
        </p:txBody>
      </p:sp>
    </p:spTree>
    <p:extLst>
      <p:ext uri="{BB962C8B-B14F-4D97-AF65-F5344CB8AC3E}">
        <p14:creationId xmlns:p14="http://schemas.microsoft.com/office/powerpoint/2010/main" val="25944879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A9A7F-6556-48DD-AB98-95940998F1C5}"/>
              </a:ext>
            </a:extLst>
          </p:cNvPr>
          <p:cNvSpPr>
            <a:spLocks noGrp="1"/>
          </p:cNvSpPr>
          <p:nvPr>
            <p:ph type="title"/>
          </p:nvPr>
        </p:nvSpPr>
        <p:spPr/>
        <p:txBody>
          <a:bodyPr/>
          <a:lstStyle/>
          <a:p>
            <a:r>
              <a:rPr lang="en-US" sz="4400" dirty="0"/>
              <a:t>WSJ Article titled “MBA Students Vs </a:t>
            </a:r>
            <a:r>
              <a:rPr lang="en-US" sz="4400" dirty="0" err="1"/>
              <a:t>ChatGPT</a:t>
            </a:r>
            <a:r>
              <a:rPr lang="en-US" sz="4400" dirty="0"/>
              <a:t>: Who Comes Up With More Innovative Ideas?”</a:t>
            </a:r>
          </a:p>
        </p:txBody>
      </p:sp>
      <p:sp>
        <p:nvSpPr>
          <p:cNvPr id="4" name="Rectangle 1">
            <a:extLst>
              <a:ext uri="{FF2B5EF4-FFF2-40B4-BE49-F238E27FC236}">
                <a16:creationId xmlns:a16="http://schemas.microsoft.com/office/drawing/2014/main" id="{78B2E3CB-00B8-46AF-B0DB-FFD83DC644E0}"/>
              </a:ext>
            </a:extLst>
          </p:cNvPr>
          <p:cNvSpPr>
            <a:spLocks noGrp="1" noChangeArrowheads="1"/>
          </p:cNvSpPr>
          <p:nvPr>
            <p:ph idx="1"/>
          </p:nvPr>
        </p:nvSpPr>
        <p:spPr bwMode="auto">
          <a:xfrm>
            <a:off x="1098550" y="1802915"/>
            <a:ext cx="15360650" cy="7971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hangingPunct="0">
              <a:spcBef>
                <a:spcPct val="0"/>
              </a:spcBef>
              <a:buClrTx/>
              <a:buSzTx/>
            </a:pPr>
            <a:r>
              <a:rPr lang="en-US" sz="3200" b="0" i="0" dirty="0">
                <a:solidFill>
                  <a:srgbClr val="222222"/>
                </a:solidFill>
                <a:effectLst/>
              </a:rPr>
              <a:t>Still, when you’re looking for great ideas, averages can be misleading. In innovation, it’s the exceptional ideas that matter: Most managers would prefer one idea that is brilliant and nine ideas that are flops over 10 decent ideas, even if the average quality of the latter option might be higher. </a:t>
            </a:r>
          </a:p>
          <a:p>
            <a:pPr eaLnBrk="0" hangingPunct="0">
              <a:spcBef>
                <a:spcPct val="0"/>
              </a:spcBef>
              <a:buClrTx/>
              <a:buSzTx/>
            </a:pPr>
            <a:endParaRPr lang="en-US" sz="3200" dirty="0">
              <a:solidFill>
                <a:srgbClr val="222222"/>
              </a:solidFill>
            </a:endParaRPr>
          </a:p>
          <a:p>
            <a:pPr eaLnBrk="0" hangingPunct="0">
              <a:spcBef>
                <a:spcPct val="0"/>
              </a:spcBef>
              <a:buClrTx/>
              <a:buSzTx/>
            </a:pPr>
            <a:r>
              <a:rPr lang="en-US" sz="3200" b="0" i="0" dirty="0">
                <a:solidFill>
                  <a:srgbClr val="222222"/>
                </a:solidFill>
                <a:effectLst/>
              </a:rPr>
              <a:t>To capture this perspective, we investigated only the subset of the best ideas in our pool—specifically the top 10%. Of these 40 ideas, five were generated by students and 35 were created by GPT-4 (15 from the vanilla GPT-4 set and 20 from the pretrained GPT-4 set). Once again, GPT-4 came out on top.</a:t>
            </a:r>
          </a:p>
          <a:p>
            <a:pPr eaLnBrk="0" hangingPunct="0">
              <a:spcBef>
                <a:spcPct val="0"/>
              </a:spcBef>
              <a:buClrTx/>
              <a:buSzTx/>
            </a:pPr>
            <a:endParaRPr lang="en-US" sz="3200" dirty="0">
              <a:solidFill>
                <a:srgbClr val="222222"/>
              </a:solidFill>
            </a:endParaRPr>
          </a:p>
          <a:p>
            <a:pPr eaLnBrk="0" hangingPunct="0">
              <a:spcBef>
                <a:spcPct val="0"/>
              </a:spcBef>
              <a:buClrTx/>
              <a:buSzTx/>
            </a:pPr>
            <a:r>
              <a:rPr lang="en-US" sz="3200" b="0" i="0" dirty="0">
                <a:solidFill>
                  <a:srgbClr val="222222"/>
                </a:solidFill>
                <a:effectLst/>
              </a:rPr>
              <a:t>We believe that the 35-to-5 victory of the machine in generating exceptional ideas (not to mention the dramatically lower production costs) has substantial implications for how we think about creativity and innovation.</a:t>
            </a:r>
          </a:p>
          <a:p>
            <a:pPr eaLnBrk="0" hangingPunct="0">
              <a:spcBef>
                <a:spcPct val="0"/>
              </a:spcBef>
              <a:buClrTx/>
              <a:buSzTx/>
            </a:pPr>
            <a:endParaRPr lang="en-US" sz="3200" dirty="0">
              <a:solidFill>
                <a:srgbClr val="222222"/>
              </a:solidFill>
            </a:endParaRPr>
          </a:p>
          <a:p>
            <a:pPr eaLnBrk="0" hangingPunct="0">
              <a:spcBef>
                <a:spcPct val="0"/>
              </a:spcBef>
              <a:buClrTx/>
              <a:buSzTx/>
            </a:pPr>
            <a:r>
              <a:rPr lang="en-US" altLang="en-US" sz="3200" dirty="0">
                <a:latin typeface="Arial" panose="020B0604020202020204" pitchFamily="34" charset="0"/>
              </a:rPr>
              <a:t>Source: MBA Students v </a:t>
            </a:r>
            <a:r>
              <a:rPr lang="en-US" altLang="en-US" sz="3200" dirty="0" err="1">
                <a:latin typeface="Arial" panose="020B0604020202020204" pitchFamily="34" charset="0"/>
              </a:rPr>
              <a:t>ChatGPT</a:t>
            </a:r>
            <a:r>
              <a:rPr lang="en-US" altLang="en-US" sz="3200" dirty="0">
                <a:latin typeface="Arial" panose="020B0604020202020204" pitchFamily="34" charset="0"/>
              </a:rPr>
              <a:t>: Who Comes Up with More Innovative Ideas?</a:t>
            </a: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indent="0" eaLnBrk="0" hangingPunct="0">
              <a:spcBef>
                <a:spcPct val="0"/>
              </a:spcBef>
              <a:buClrTx/>
              <a:buSzTx/>
              <a:buNone/>
            </a:pPr>
            <a:endParaRPr lang="en-US" sz="3200" dirty="0">
              <a:solidFill>
                <a:srgbClr val="222222"/>
              </a:solidFill>
            </a:endParaRPr>
          </a:p>
        </p:txBody>
      </p:sp>
    </p:spTree>
    <p:custDataLst>
      <p:tags r:id="rId1"/>
    </p:custDataLst>
    <p:extLst>
      <p:ext uri="{BB962C8B-B14F-4D97-AF65-F5344CB8AC3E}">
        <p14:creationId xmlns:p14="http://schemas.microsoft.com/office/powerpoint/2010/main" val="232185996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16"/>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2F55A57D-0C50-904A-83D4-4E1CC0E2D52F}" vid="{6952F4DD-38AA-7342-AB40-4D73DFEF48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7" ma:contentTypeDescription="Create a new document." ma:contentTypeScope="" ma:versionID="6dd4d27a79178d964495491d99d85ab0">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5371f2543c27c65efb9018a9acd511a8"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5e41b080-9453-459c-bb93-b19be7335f42">
      <Terms xmlns="http://schemas.microsoft.com/office/infopath/2007/PartnerControls"/>
    </lcf76f155ced4ddcb4097134ff3c332f>
    <TaxCatchAll xmlns="4e58ebf2-e4df-4cd3-9186-1e42b3ede124" xsi:nil="true"/>
    <Status xmlns="5e41b080-9453-459c-bb93-b19be7335f42" xsi:nil="true"/>
    <Comments xmlns="5e41b080-9453-459c-bb93-b19be7335f42" xsi:nil="true"/>
    <Due_x0020_Date xmlns="5e41b080-9453-459c-bb93-b19be7335f42" xsi:nil="true"/>
  </documentManagement>
</p:properties>
</file>

<file path=customXml/itemProps1.xml><?xml version="1.0" encoding="utf-8"?>
<ds:datastoreItem xmlns:ds="http://schemas.openxmlformats.org/officeDocument/2006/customXml" ds:itemID="{28F0A47A-9E10-4FE4-8BE8-0C808C85F1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1b080-9453-459c-bb93-b19be7335f42"/>
    <ds:schemaRef ds:uri="4e58ebf2-e4df-4cd3-9186-1e42b3ede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6CEFF4B-9EC7-4D38-B437-9DE5B52C77FE}">
  <ds:schemaRefs>
    <ds:schemaRef ds:uri="http://schemas.microsoft.com/sharepoint/v3/contenttype/forms"/>
  </ds:schemaRefs>
</ds:datastoreItem>
</file>

<file path=customXml/itemProps3.xml><?xml version="1.0" encoding="utf-8"?>
<ds:datastoreItem xmlns:ds="http://schemas.openxmlformats.org/officeDocument/2006/customXml" ds:itemID="{3CB4D3F3-2161-4501-B555-558D1DDA1F60}">
  <ds:schemaRefs>
    <ds:schemaRef ds:uri="http://purl.org/dc/dcmitype/"/>
    <ds:schemaRef ds:uri="88c1e295-a029-41eb-a982-8bcc7d01c0cb"/>
    <ds:schemaRef ds:uri="http://purl.org/dc/terms/"/>
    <ds:schemaRef ds:uri="http://schemas.microsoft.com/office/2006/metadata/properties"/>
    <ds:schemaRef ds:uri="57db6fc0-2530-4489-bd2f-42335d65b94d"/>
    <ds:schemaRef ds:uri="http://schemas.microsoft.com/office/2006/documentManagement/types"/>
    <ds:schemaRef ds:uri="http://schemas.openxmlformats.org/package/2006/metadata/core-properties"/>
    <ds:schemaRef ds:uri="http://schemas.microsoft.com/office/infopath/2007/PartnerControls"/>
    <ds:schemaRef ds:uri="http://www.w3.org/XML/1998/namespace"/>
    <ds:schemaRef ds:uri="http://purl.org/dc/elements/1.1/"/>
    <ds:schemaRef ds:uri="5e41b080-9453-459c-bb93-b19be7335f42"/>
    <ds:schemaRef ds:uri="4e58ebf2-e4df-4cd3-9186-1e42b3ede124"/>
  </ds:schemaRefs>
</ds:datastoreItem>
</file>

<file path=docProps/app.xml><?xml version="1.0" encoding="utf-8"?>
<Properties xmlns="http://schemas.openxmlformats.org/officeDocument/2006/extended-properties" xmlns:vt="http://schemas.openxmlformats.org/officeDocument/2006/docPropsVTypes">
  <Template>Template - MBA_Stuart_ILTECH__PPT</Template>
  <TotalTime>12601</TotalTime>
  <Words>941</Words>
  <Application>Microsoft Office PowerPoint</Application>
  <PresentationFormat>Custom</PresentationFormat>
  <Paragraphs>45</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Palatino Linotype</vt:lpstr>
      <vt:lpstr>Wingdings 2</vt:lpstr>
      <vt:lpstr>Breeze</vt:lpstr>
      <vt:lpstr>MBA532 – AI in Business </vt:lpstr>
      <vt:lpstr>Generative AI-Driven Productivity Impact</vt:lpstr>
      <vt:lpstr>Recent Regime Shift in US Productivity? </vt:lpstr>
      <vt:lpstr>Labor Productivity and hourly costs (1973-2023)</vt:lpstr>
      <vt:lpstr>Productivity Change in the Nonfarm business sector (1947-2023)</vt:lpstr>
      <vt:lpstr>Source: Rekindling US Productivity Growth in a new era, McKinsey Global Institute, February 16, 2023</vt:lpstr>
      <vt:lpstr>McKinsey Digital Report (June 2023)</vt:lpstr>
      <vt:lpstr>Incremental economic impact of Generative AI (Trillions of US Dollars – source: McKinsey)</vt:lpstr>
      <vt:lpstr>Where is the impact of Generative AI likely to manifest…. (source: McKinsey)</vt:lpstr>
      <vt:lpstr>Generative AI Impact – across income quintiles (source: McKinsey)</vt:lpstr>
      <vt:lpstr>Generative AI: Contribution to Productivity Growth across countries (source: McKinsey)</vt:lpstr>
      <vt:lpstr>Generative AI Impact – Research studies</vt:lpstr>
      <vt:lpstr>New Research Study (Harvard, Wharton, and MIT Researchers, October 2023)</vt:lpstr>
      <vt:lpstr>WSJ Article titled “MBA Students Vs ChatGPT: Who Comes Up With More Innovative Ideas?”</vt:lpstr>
      <vt:lpstr>WSJ Article titled “MBA Students Vs ChatGPT: Who Comes Up With More Innovative Ideas?”</vt:lpstr>
      <vt:lpstr>WSJ Article titled “MBA Students Vs ChatGPT: Who Comes Up With More Innovative Ideas?”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MBA532 – AI in Business</dc:title>
  <dc:subject/>
  <dc:creator>Siva Balasubramanian</dc:creator>
  <cp:keywords/>
  <dc:description/>
  <cp:lastModifiedBy>Bernadette Otoo</cp:lastModifiedBy>
  <cp:revision>148</cp:revision>
  <dcterms:created xsi:type="dcterms:W3CDTF">2024-03-17T05:07:31Z</dcterms:created>
  <dcterms:modified xsi:type="dcterms:W3CDTF">2024-05-24T15:14:47Z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MediaServiceImageTags">
    <vt:lpwstr/>
  </property>
  <property fmtid="{D5CDD505-2E9C-101B-9397-08002B2CF9AE}" pid="4" name="ArticulateGUID">
    <vt:lpwstr>CE34FA5D-5B02-4D13-87C3-F38CE20908F9</vt:lpwstr>
  </property>
  <property fmtid="{D5CDD505-2E9C-101B-9397-08002B2CF9AE}" pid="5" name="ArticulatePath">
    <vt:lpwstr>MBA532 – AI in Business - Module 5 - March 25</vt:lpwstr>
  </property>
</Properties>
</file>