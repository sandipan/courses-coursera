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2"/>
  </p:notesMasterIdLst>
  <p:sldIdLst>
    <p:sldId id="259" r:id="rId5"/>
    <p:sldId id="369" r:id="rId6"/>
    <p:sldId id="282" r:id="rId7"/>
    <p:sldId id="284" r:id="rId8"/>
    <p:sldId id="344" r:id="rId9"/>
    <p:sldId id="345" r:id="rId10"/>
    <p:sldId id="346" r:id="rId11"/>
    <p:sldId id="290" r:id="rId12"/>
    <p:sldId id="347" r:id="rId13"/>
    <p:sldId id="370" r:id="rId14"/>
    <p:sldId id="367" r:id="rId15"/>
    <p:sldId id="368" r:id="rId16"/>
    <p:sldId id="260" r:id="rId17"/>
    <p:sldId id="305" r:id="rId18"/>
    <p:sldId id="306" r:id="rId19"/>
    <p:sldId id="261" r:id="rId20"/>
    <p:sldId id="262" r:id="rId21"/>
  </p:sldIdLst>
  <p:sldSz cx="18288000" cy="10287000"/>
  <p:notesSz cx="6858000" cy="9144000"/>
  <p:custDataLst>
    <p:tags r:id="rId23"/>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7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003E7-8F9F-4D5E-92EA-A0649DA6C082}" type="datetimeFigureOut">
              <a:rPr lang="en-US" smtClean="0"/>
              <a:t>5/24/2024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4D9E7-08EA-4B3D-BC2D-203B18CB11E8}" type="slidenum">
              <a:rPr lang="en-US" smtClean="0"/>
              <a:t>‹#›</a:t>
            </a:fld>
            <a:endParaRPr lang="en-US"/>
          </a:p>
        </p:txBody>
      </p:sp>
    </p:spTree>
    <p:extLst>
      <p:ext uri="{BB962C8B-B14F-4D97-AF65-F5344CB8AC3E}">
        <p14:creationId xmlns:p14="http://schemas.microsoft.com/office/powerpoint/2010/main" val="112378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Superpowers China, Silicon Valley and the New World Order</a:t>
            </a:r>
          </a:p>
        </p:txBody>
      </p:sp>
      <p:sp>
        <p:nvSpPr>
          <p:cNvPr id="4" name="Slide Number Placeholder 3"/>
          <p:cNvSpPr>
            <a:spLocks noGrp="1"/>
          </p:cNvSpPr>
          <p:nvPr>
            <p:ph type="sldNum" sz="quarter" idx="5"/>
          </p:nvPr>
        </p:nvSpPr>
        <p:spPr/>
        <p:txBody>
          <a:bodyPr/>
          <a:lstStyle/>
          <a:p>
            <a:fld id="{2A078FA9-1CB1-4C94-9476-7F0189164BC5}" type="slidenum">
              <a:rPr lang="en-US" smtClean="0"/>
              <a:t>7</a:t>
            </a:fld>
            <a:endParaRPr lang="en-US"/>
          </a:p>
        </p:txBody>
      </p:sp>
    </p:spTree>
    <p:extLst>
      <p:ext uri="{BB962C8B-B14F-4D97-AF65-F5344CB8AC3E}">
        <p14:creationId xmlns:p14="http://schemas.microsoft.com/office/powerpoint/2010/main" val="1384536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Applied Artificial Intelligence</a:t>
            </a:r>
          </a:p>
        </p:txBody>
      </p:sp>
      <p:sp>
        <p:nvSpPr>
          <p:cNvPr id="4" name="Slide Number Placeholder 3"/>
          <p:cNvSpPr>
            <a:spLocks noGrp="1"/>
          </p:cNvSpPr>
          <p:nvPr>
            <p:ph type="sldNum" sz="quarter" idx="5"/>
          </p:nvPr>
        </p:nvSpPr>
        <p:spPr/>
        <p:txBody>
          <a:bodyPr/>
          <a:lstStyle/>
          <a:p>
            <a:fld id="{2A078FA9-1CB1-4C94-9476-7F0189164BC5}" type="slidenum">
              <a:rPr lang="en-US" smtClean="0"/>
              <a:t>8</a:t>
            </a:fld>
            <a:endParaRPr lang="en-US"/>
          </a:p>
        </p:txBody>
      </p:sp>
    </p:spTree>
    <p:extLst>
      <p:ext uri="{BB962C8B-B14F-4D97-AF65-F5344CB8AC3E}">
        <p14:creationId xmlns:p14="http://schemas.microsoft.com/office/powerpoint/2010/main" val="17977213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Superpowers China, Silicon Valley and the New World Order</a:t>
            </a:r>
          </a:p>
        </p:txBody>
      </p:sp>
      <p:sp>
        <p:nvSpPr>
          <p:cNvPr id="4" name="Slide Number Placeholder 3"/>
          <p:cNvSpPr>
            <a:spLocks noGrp="1"/>
          </p:cNvSpPr>
          <p:nvPr>
            <p:ph type="sldNum" sz="quarter" idx="5"/>
          </p:nvPr>
        </p:nvSpPr>
        <p:spPr/>
        <p:txBody>
          <a:bodyPr/>
          <a:lstStyle/>
          <a:p>
            <a:fld id="{2A078FA9-1CB1-4C94-9476-7F0189164BC5}" type="slidenum">
              <a:rPr lang="en-US" smtClean="0"/>
              <a:t>9</a:t>
            </a:fld>
            <a:endParaRPr lang="en-US"/>
          </a:p>
        </p:txBody>
      </p:sp>
    </p:spTree>
    <p:extLst>
      <p:ext uri="{BB962C8B-B14F-4D97-AF65-F5344CB8AC3E}">
        <p14:creationId xmlns:p14="http://schemas.microsoft.com/office/powerpoint/2010/main" val="1018898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87E99-A11D-4C5C-8984-BF5C7E043D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6661211-265E-4062-95C2-899F48904B17}"/>
              </a:ext>
            </a:extLst>
          </p:cNvPr>
          <p:cNvSpPr>
            <a:spLocks noGrp="1"/>
          </p:cNvSpPr>
          <p:nvPr>
            <p:ph type="dt" sz="half" idx="10"/>
          </p:nvPr>
        </p:nvSpPr>
        <p:spPr/>
        <p:txBody>
          <a:bodyPr/>
          <a:lstStyle/>
          <a:p>
            <a:fld id="{7EB636FF-6623-4057-AF61-DE00FA6B102A}" type="datetimeFigureOut">
              <a:rPr lang="en-US" smtClean="0"/>
              <a:t>5/24/2024</a:t>
            </a:fld>
            <a:endParaRPr lang="en-US"/>
          </a:p>
        </p:txBody>
      </p:sp>
      <p:sp>
        <p:nvSpPr>
          <p:cNvPr id="4" name="Footer Placeholder 3">
            <a:extLst>
              <a:ext uri="{FF2B5EF4-FFF2-40B4-BE49-F238E27FC236}">
                <a16:creationId xmlns:a16="http://schemas.microsoft.com/office/drawing/2014/main" id="{2CB2C95A-0963-4336-A00D-DABF8AAC00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E9B78E-6B10-4CED-805B-CF6D52499A9A}"/>
              </a:ext>
            </a:extLst>
          </p:cNvPr>
          <p:cNvSpPr>
            <a:spLocks noGrp="1"/>
          </p:cNvSpPr>
          <p:nvPr>
            <p:ph type="sldNum" sz="quarter" idx="12"/>
          </p:nvPr>
        </p:nvSpPr>
        <p:spPr/>
        <p:txBody>
          <a:bodyPr/>
          <a:lstStyle/>
          <a:p>
            <a:fld id="{8E20E20D-334C-4D89-B0A6-10D3AE6D9B7D}" type="slidenum">
              <a:rPr lang="en-US" smtClean="0"/>
              <a:t>‹#›</a:t>
            </a:fld>
            <a:endParaRPr lang="en-US"/>
          </a:p>
        </p:txBody>
      </p:sp>
    </p:spTree>
    <p:extLst>
      <p:ext uri="{BB962C8B-B14F-4D97-AF65-F5344CB8AC3E}">
        <p14:creationId xmlns:p14="http://schemas.microsoft.com/office/powerpoint/2010/main" val="404574933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3" Type="http://schemas.openxmlformats.org/officeDocument/2006/relationships/hyperlink" Target="https://hbr.org/2015/06/when-your-boss-wears-metal-pants" TargetMode="Externa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hyperlink" Target="https://www.slashgear.com/931642/the-concerning-belief-about-ai-that-has-engineers-worried/" TargetMode="Externa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3" Type="http://schemas.openxmlformats.org/officeDocument/2006/relationships/hyperlink" Target="https://www.vice.com/en/article/93bqbp/can-you-be-in-relationship-with-replika" TargetMode="Externa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7" y="4949827"/>
            <a:ext cx="12998450" cy="1374774"/>
          </a:xfrm>
        </p:spPr>
        <p:txBody>
          <a:bodyPr>
            <a:normAutofit/>
          </a:bodyPr>
          <a:lstStyle/>
          <a:p>
            <a:pPr fontAlgn="auto">
              <a:spcAft>
                <a:spcPts val="0"/>
              </a:spcAft>
              <a:defRPr/>
            </a:pPr>
            <a:r>
              <a:rPr lang="en-US" sz="3200" dirty="0"/>
              <a:t>MODULE 5 – </a:t>
            </a:r>
            <a:r>
              <a:rPr lang="en-US" sz="3200" dirty="0">
                <a:effectLst/>
                <a:latin typeface="Palatino Linotype" panose="02040502050505030304" pitchFamily="18" charset="0"/>
                <a:ea typeface="Calibri" panose="020F0502020204030204" pitchFamily="34" charset="0"/>
                <a:cs typeface="Times New Roman" panose="02020603050405020304" pitchFamily="18" charset="0"/>
              </a:rPr>
              <a:t>AI’s impact on Work, Jobs, Humans, Productivity</a:t>
            </a: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831C5-382C-44DD-8B3F-1A3E606C93D6}"/>
              </a:ext>
            </a:extLst>
          </p:cNvPr>
          <p:cNvSpPr>
            <a:spLocks noGrp="1"/>
          </p:cNvSpPr>
          <p:nvPr>
            <p:ph type="title"/>
          </p:nvPr>
        </p:nvSpPr>
        <p:spPr/>
        <p:txBody>
          <a:bodyPr/>
          <a:lstStyle/>
          <a:p>
            <a:r>
              <a:rPr lang="en-US" dirty="0"/>
              <a:t>AI/ML approaches to model human judgment</a:t>
            </a:r>
          </a:p>
        </p:txBody>
      </p:sp>
      <p:sp>
        <p:nvSpPr>
          <p:cNvPr id="3" name="Content Placeholder 2">
            <a:extLst>
              <a:ext uri="{FF2B5EF4-FFF2-40B4-BE49-F238E27FC236}">
                <a16:creationId xmlns:a16="http://schemas.microsoft.com/office/drawing/2014/main" id="{9C19FD25-F44D-41BA-B2BE-FCB6C01E5718}"/>
              </a:ext>
            </a:extLst>
          </p:cNvPr>
          <p:cNvSpPr>
            <a:spLocks noGrp="1"/>
          </p:cNvSpPr>
          <p:nvPr>
            <p:ph idx="1"/>
          </p:nvPr>
        </p:nvSpPr>
        <p:spPr/>
        <p:txBody>
          <a:bodyPr/>
          <a:lstStyle/>
          <a:p>
            <a:r>
              <a:rPr lang="en-US" dirty="0"/>
              <a:t>AI/ML approaches to model human judgment</a:t>
            </a:r>
          </a:p>
        </p:txBody>
      </p:sp>
    </p:spTree>
    <p:custDataLst>
      <p:tags r:id="rId1"/>
    </p:custDataLst>
    <p:extLst>
      <p:ext uri="{BB962C8B-B14F-4D97-AF65-F5344CB8AC3E}">
        <p14:creationId xmlns:p14="http://schemas.microsoft.com/office/powerpoint/2010/main" val="4277273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43520-DD2B-2443-960C-874A56F16E99}"/>
              </a:ext>
            </a:extLst>
          </p:cNvPr>
          <p:cNvSpPr>
            <a:spLocks noGrp="1"/>
          </p:cNvSpPr>
          <p:nvPr>
            <p:ph type="title"/>
          </p:nvPr>
        </p:nvSpPr>
        <p:spPr>
          <a:xfrm>
            <a:off x="1098550" y="751113"/>
            <a:ext cx="16084552" cy="961685"/>
          </a:xfrm>
        </p:spPr>
        <p:txBody>
          <a:bodyPr/>
          <a:lstStyle/>
          <a:p>
            <a:r>
              <a:rPr lang="en-US" b="1" dirty="0">
                <a:solidFill>
                  <a:srgbClr val="C00000"/>
                </a:solidFill>
              </a:rPr>
              <a:t>Machines and Human Judgement</a:t>
            </a:r>
          </a:p>
        </p:txBody>
      </p:sp>
      <p:sp>
        <p:nvSpPr>
          <p:cNvPr id="3" name="Content Placeholder 2">
            <a:extLst>
              <a:ext uri="{FF2B5EF4-FFF2-40B4-BE49-F238E27FC236}">
                <a16:creationId xmlns:a16="http://schemas.microsoft.com/office/drawing/2014/main" id="{A6152E8B-D8E5-BF45-A4BB-B89B74901BAB}"/>
              </a:ext>
            </a:extLst>
          </p:cNvPr>
          <p:cNvSpPr>
            <a:spLocks noGrp="1"/>
          </p:cNvSpPr>
          <p:nvPr>
            <p:ph idx="1"/>
          </p:nvPr>
        </p:nvSpPr>
        <p:spPr/>
        <p:txBody>
          <a:bodyPr anchor="ctr">
            <a:normAutofit fontScale="92500" lnSpcReduction="10000"/>
          </a:bodyPr>
          <a:lstStyle/>
          <a:p>
            <a:r>
              <a:rPr lang="en-US" sz="3600" dirty="0"/>
              <a:t>Machines can learn to predict human judgement. An example is AI/ML application to driving. Uber and Google have developed/trained autonomous driving systems through supervised learning that involves exposure to many examples of potentially hazardous or accident-triggering situations and subsequent rewards or punishments based on system’s behaviors.  This approach is needed to accurately simulate/train/predict human judgment in similar situations.</a:t>
            </a:r>
          </a:p>
          <a:p>
            <a:r>
              <a:rPr lang="en-US" sz="3600" dirty="0"/>
              <a:t>Data on human judgment is valuable; companies currently pay to access it through customer data obtained through loyalty card programs, and free online services like Google and Facebook.</a:t>
            </a:r>
          </a:p>
          <a:p>
            <a:r>
              <a:rPr lang="en-US" sz="3600" dirty="0"/>
              <a:t>Humans use analogies and models to decide about mergers and partnerships. Machines cannot predict judgments about situations that are novel or have not occurred many times in the past.</a:t>
            </a:r>
          </a:p>
        </p:txBody>
      </p:sp>
    </p:spTree>
    <p:custDataLst>
      <p:tags r:id="rId1"/>
    </p:custDataLst>
    <p:extLst>
      <p:ext uri="{BB962C8B-B14F-4D97-AF65-F5344CB8AC3E}">
        <p14:creationId xmlns:p14="http://schemas.microsoft.com/office/powerpoint/2010/main" val="2188935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FCC2-CCFF-9941-9143-46895D99F8B8}"/>
              </a:ext>
            </a:extLst>
          </p:cNvPr>
          <p:cNvSpPr>
            <a:spLocks noGrp="1"/>
          </p:cNvSpPr>
          <p:nvPr>
            <p:ph type="title"/>
          </p:nvPr>
        </p:nvSpPr>
        <p:spPr>
          <a:xfrm>
            <a:off x="1298966" y="237615"/>
            <a:ext cx="16084552" cy="983456"/>
          </a:xfrm>
        </p:spPr>
        <p:txBody>
          <a:bodyPr/>
          <a:lstStyle/>
          <a:p>
            <a:r>
              <a:rPr lang="en-US" sz="4800" b="1" dirty="0">
                <a:solidFill>
                  <a:srgbClr val="C00000"/>
                </a:solidFill>
              </a:rPr>
              <a:t>Benefits and risks of AI based automation/algorithms</a:t>
            </a:r>
          </a:p>
        </p:txBody>
      </p:sp>
      <p:sp>
        <p:nvSpPr>
          <p:cNvPr id="3" name="Content Placeholder 2">
            <a:extLst>
              <a:ext uri="{FF2B5EF4-FFF2-40B4-BE49-F238E27FC236}">
                <a16:creationId xmlns:a16="http://schemas.microsoft.com/office/drawing/2014/main" id="{3C09563B-05F3-9E44-8348-F61318D2D99E}"/>
              </a:ext>
            </a:extLst>
          </p:cNvPr>
          <p:cNvSpPr>
            <a:spLocks noGrp="1"/>
          </p:cNvSpPr>
          <p:nvPr>
            <p:ph idx="1"/>
          </p:nvPr>
        </p:nvSpPr>
        <p:spPr/>
        <p:txBody>
          <a:bodyPr anchor="ctr">
            <a:noAutofit/>
          </a:bodyPr>
          <a:lstStyle/>
          <a:p>
            <a:r>
              <a:rPr lang="en-US" sz="3200" dirty="0"/>
              <a:t>The introduction of AI to a decision task does not necessarily imply anything close to full automation of that task. Since prediction is only one component of this task, the final decision usually rests with human beings. Humans are needed to apply judgement to reach an appropriate decision.</a:t>
            </a:r>
          </a:p>
          <a:p>
            <a:r>
              <a:rPr lang="en-US" sz="3200" dirty="0"/>
              <a:t>When machines perform all elements of a task, the task is considered fully automated. Humans are completely removed from the loop. </a:t>
            </a:r>
            <a:r>
              <a:rPr lang="en-US" sz="3200" dirty="0">
                <a:solidFill>
                  <a:schemeClr val="accent1"/>
                </a:solidFill>
              </a:rPr>
              <a:t>The tasks most likely to be fully automated first are the ones where full automation delivers the highest returns.</a:t>
            </a:r>
          </a:p>
          <a:p>
            <a:r>
              <a:rPr lang="en-US" sz="3200" dirty="0"/>
              <a:t>Examples include tasks where: the other task elements are already automated except for prediction, the returns to speed of action in response to prediction are high, and the returns to reduced waiting time for predictions are high.</a:t>
            </a:r>
          </a:p>
          <a:p>
            <a:r>
              <a:rPr lang="en-US" sz="3200" dirty="0">
                <a:solidFill>
                  <a:schemeClr val="accent1"/>
                </a:solidFill>
              </a:rPr>
              <a:t>Regulation is a potential barrier to full automation of AI applications. </a:t>
            </a:r>
            <a:r>
              <a:rPr lang="en-US" sz="3200" dirty="0"/>
              <a:t>Regulatory developments are expected concerning responsibilities, guidelines, and liabilities associated with full automation.</a:t>
            </a:r>
          </a:p>
        </p:txBody>
      </p:sp>
    </p:spTree>
    <p:custDataLst>
      <p:tags r:id="rId1"/>
    </p:custDataLst>
    <p:extLst>
      <p:ext uri="{BB962C8B-B14F-4D97-AF65-F5344CB8AC3E}">
        <p14:creationId xmlns:p14="http://schemas.microsoft.com/office/powerpoint/2010/main" val="3987822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B1024-B022-C844-B0D2-C4174F6F3726}"/>
              </a:ext>
            </a:extLst>
          </p:cNvPr>
          <p:cNvSpPr>
            <a:spLocks noGrp="1"/>
          </p:cNvSpPr>
          <p:nvPr>
            <p:ph type="title"/>
          </p:nvPr>
        </p:nvSpPr>
        <p:spPr>
          <a:xfrm>
            <a:off x="1098550" y="370115"/>
            <a:ext cx="16084552" cy="972570"/>
          </a:xfrm>
        </p:spPr>
        <p:txBody>
          <a:bodyPr/>
          <a:lstStyle/>
          <a:p>
            <a:r>
              <a:rPr lang="en-US" sz="4800" b="1" dirty="0">
                <a:solidFill>
                  <a:srgbClr val="C00000"/>
                </a:solidFill>
              </a:rPr>
              <a:t>Societal choices and tradeoffs from AI job impact</a:t>
            </a:r>
          </a:p>
        </p:txBody>
      </p:sp>
      <p:sp>
        <p:nvSpPr>
          <p:cNvPr id="3" name="Content Placeholder 2">
            <a:extLst>
              <a:ext uri="{FF2B5EF4-FFF2-40B4-BE49-F238E27FC236}">
                <a16:creationId xmlns:a16="http://schemas.microsoft.com/office/drawing/2014/main" id="{044DD84E-7447-104C-AE87-1EF9AD0A7DA7}"/>
              </a:ext>
            </a:extLst>
          </p:cNvPr>
          <p:cNvSpPr>
            <a:spLocks noGrp="1"/>
          </p:cNvSpPr>
          <p:nvPr>
            <p:ph idx="1"/>
          </p:nvPr>
        </p:nvSpPr>
        <p:spPr>
          <a:xfrm>
            <a:off x="1098550" y="1564584"/>
            <a:ext cx="16084552" cy="7975044"/>
          </a:xfrm>
        </p:spPr>
        <p:txBody>
          <a:bodyPr anchor="ctr">
            <a:noAutofit/>
          </a:bodyPr>
          <a:lstStyle/>
          <a:p>
            <a:pPr>
              <a:lnSpc>
                <a:spcPct val="120000"/>
              </a:lnSpc>
              <a:spcBef>
                <a:spcPts val="0"/>
              </a:spcBef>
            </a:pPr>
            <a:r>
              <a:rPr lang="en-US" sz="3200" dirty="0"/>
              <a:t>The rise of AI presents society with many choices. Each such choice represents a tradeoff. At this stage, while this technology is still evolving, there are three salient tradeoffs at the society level.</a:t>
            </a:r>
          </a:p>
          <a:p>
            <a:pPr>
              <a:lnSpc>
                <a:spcPct val="120000"/>
              </a:lnSpc>
              <a:spcBef>
                <a:spcPts val="0"/>
              </a:spcBef>
            </a:pPr>
            <a:r>
              <a:rPr lang="en-US" sz="3200" dirty="0"/>
              <a:t>The </a:t>
            </a:r>
            <a:r>
              <a:rPr lang="en-US" sz="3200" dirty="0">
                <a:solidFill>
                  <a:schemeClr val="accent1"/>
                </a:solidFill>
              </a:rPr>
              <a:t>first tradeoff </a:t>
            </a:r>
            <a:r>
              <a:rPr lang="en-US" sz="3200" dirty="0"/>
              <a:t>is </a:t>
            </a:r>
            <a:r>
              <a:rPr lang="en-US" sz="3200" dirty="0">
                <a:solidFill>
                  <a:srgbClr val="C00000"/>
                </a:solidFill>
              </a:rPr>
              <a:t>incremental wealth gain from AI-related productivity gain versus distribution of such wealth. </a:t>
            </a:r>
            <a:r>
              <a:rPr lang="en-US" sz="3200" dirty="0"/>
              <a:t>Many have suggested that AI will render the majority of humans worse off. However, economists agree that technological advances like AI make us better off  through improved productivity in the long run. The problem is not wealth creation, but its distribution because wealth benefits from AI are more likely to accrue to the rich.</a:t>
            </a:r>
          </a:p>
          <a:p>
            <a:pPr>
              <a:lnSpc>
                <a:spcPct val="120000"/>
              </a:lnSpc>
              <a:spcBef>
                <a:spcPts val="0"/>
              </a:spcBef>
            </a:pPr>
            <a:r>
              <a:rPr lang="en-US" sz="3200" dirty="0"/>
              <a:t>AI might increase competition among humans on the remaining tasks, thereby lowering wages for such jobs.  This may further reduce labor income relative to the fraction earned by owners of capital.</a:t>
            </a:r>
          </a:p>
          <a:p>
            <a:pPr>
              <a:lnSpc>
                <a:spcPct val="120000"/>
              </a:lnSpc>
              <a:spcBef>
                <a:spcPts val="0"/>
              </a:spcBef>
            </a:pPr>
            <a:r>
              <a:rPr lang="en-US" sz="3200" dirty="0"/>
              <a:t>Prediction machines may be skill-based such that AI tools disproportionately enhance the productivity of high-skilled workers.</a:t>
            </a:r>
          </a:p>
        </p:txBody>
      </p:sp>
    </p:spTree>
    <p:custDataLst>
      <p:tags r:id="rId1"/>
    </p:custDataLst>
    <p:extLst>
      <p:ext uri="{BB962C8B-B14F-4D97-AF65-F5344CB8AC3E}">
        <p14:creationId xmlns:p14="http://schemas.microsoft.com/office/powerpoint/2010/main" val="3139951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428D9-77EB-5846-A0CF-B81DB042DA83}"/>
              </a:ext>
            </a:extLst>
          </p:cNvPr>
          <p:cNvSpPr>
            <a:spLocks noGrp="1"/>
          </p:cNvSpPr>
          <p:nvPr>
            <p:ph type="title"/>
          </p:nvPr>
        </p:nvSpPr>
        <p:spPr/>
        <p:txBody>
          <a:bodyPr/>
          <a:lstStyle/>
          <a:p>
            <a:r>
              <a:rPr lang="en-US" b="1" dirty="0">
                <a:solidFill>
                  <a:srgbClr val="C00000"/>
                </a:solidFill>
              </a:rPr>
              <a:t>Three Tradeoffs continued</a:t>
            </a:r>
          </a:p>
        </p:txBody>
      </p:sp>
      <p:sp>
        <p:nvSpPr>
          <p:cNvPr id="3" name="Content Placeholder 2">
            <a:extLst>
              <a:ext uri="{FF2B5EF4-FFF2-40B4-BE49-F238E27FC236}">
                <a16:creationId xmlns:a16="http://schemas.microsoft.com/office/drawing/2014/main" id="{22B90DE0-C255-2F4F-A056-9DA5E61E99DA}"/>
              </a:ext>
            </a:extLst>
          </p:cNvPr>
          <p:cNvSpPr>
            <a:spLocks noGrp="1"/>
          </p:cNvSpPr>
          <p:nvPr>
            <p:ph idx="1"/>
          </p:nvPr>
        </p:nvSpPr>
        <p:spPr/>
        <p:txBody>
          <a:bodyPr anchor="ctr">
            <a:normAutofit fontScale="92500" lnSpcReduction="20000"/>
          </a:bodyPr>
          <a:lstStyle/>
          <a:p>
            <a:r>
              <a:rPr lang="en-US" sz="3600" dirty="0"/>
              <a:t>A </a:t>
            </a:r>
            <a:r>
              <a:rPr lang="en-US" sz="3600" dirty="0">
                <a:solidFill>
                  <a:schemeClr val="accent1"/>
                </a:solidFill>
              </a:rPr>
              <a:t>second tradeoff </a:t>
            </a:r>
            <a:r>
              <a:rPr lang="en-US" sz="3600" dirty="0"/>
              <a:t>is </a:t>
            </a:r>
            <a:r>
              <a:rPr lang="en-US" sz="3600" dirty="0">
                <a:solidFill>
                  <a:srgbClr val="C00000"/>
                </a:solidFill>
              </a:rPr>
              <a:t>innovation versus competition</a:t>
            </a:r>
            <a:r>
              <a:rPr lang="en-US" sz="3600" dirty="0"/>
              <a:t>. AI tools often increase returns to investments e.g., investments to improve prediction accuracy typically generate more users, more users generate more data, and more data leads to better prediction accuracy. So investing in innovative AI tools improves competitive advantage up to a point (and these innovations are considered secret or proprietary), although this advantage wears off as other competitors also make similar discoveries after investing in such tools.</a:t>
            </a:r>
          </a:p>
          <a:p>
            <a:r>
              <a:rPr lang="en-US" sz="3600" dirty="0"/>
              <a:t>A </a:t>
            </a:r>
            <a:r>
              <a:rPr lang="en-US" sz="3600" dirty="0">
                <a:solidFill>
                  <a:srgbClr val="C00000"/>
                </a:solidFill>
              </a:rPr>
              <a:t>third tradeoff </a:t>
            </a:r>
            <a:r>
              <a:rPr lang="en-US" sz="3600" dirty="0"/>
              <a:t>is </a:t>
            </a:r>
            <a:r>
              <a:rPr lang="en-US" sz="3600" dirty="0">
                <a:solidFill>
                  <a:srgbClr val="C00000"/>
                </a:solidFill>
              </a:rPr>
              <a:t>performance versus privacy</a:t>
            </a:r>
            <a:r>
              <a:rPr lang="en-US" sz="3600" dirty="0"/>
              <a:t>. Machines are better able to personalize predictions if they have access to more personal data. However, access to personal data is often at the expense of reduced privacy. With better privacy, a more dynamic market is created for private information where individuals can decide whether/when to trade, sell or donate their personal data. Another solution is to explore the feasibility of using synthetic data that avoids privacy issues.</a:t>
            </a:r>
          </a:p>
        </p:txBody>
      </p:sp>
    </p:spTree>
    <p:custDataLst>
      <p:tags r:id="rId1"/>
    </p:custDataLst>
    <p:extLst>
      <p:ext uri="{BB962C8B-B14F-4D97-AF65-F5344CB8AC3E}">
        <p14:creationId xmlns:p14="http://schemas.microsoft.com/office/powerpoint/2010/main" val="1876014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28E81-949F-9C49-A5D2-F2F318C327AE}"/>
              </a:ext>
            </a:extLst>
          </p:cNvPr>
          <p:cNvSpPr>
            <a:spLocks noGrp="1"/>
          </p:cNvSpPr>
          <p:nvPr>
            <p:ph type="title"/>
          </p:nvPr>
        </p:nvSpPr>
        <p:spPr/>
        <p:txBody>
          <a:bodyPr/>
          <a:lstStyle/>
          <a:p>
            <a:r>
              <a:rPr lang="en-US" b="1" dirty="0">
                <a:solidFill>
                  <a:srgbClr val="C00000"/>
                </a:solidFill>
              </a:rPr>
              <a:t>A Blueprint for Human Coexistence with AI</a:t>
            </a:r>
          </a:p>
        </p:txBody>
      </p:sp>
      <p:sp>
        <p:nvSpPr>
          <p:cNvPr id="3" name="Content Placeholder 2">
            <a:extLst>
              <a:ext uri="{FF2B5EF4-FFF2-40B4-BE49-F238E27FC236}">
                <a16:creationId xmlns:a16="http://schemas.microsoft.com/office/drawing/2014/main" id="{D5121155-FCAE-D940-AFE2-D00BF95DD7DB}"/>
              </a:ext>
            </a:extLst>
          </p:cNvPr>
          <p:cNvSpPr>
            <a:spLocks noGrp="1"/>
          </p:cNvSpPr>
          <p:nvPr>
            <p:ph idx="1"/>
          </p:nvPr>
        </p:nvSpPr>
        <p:spPr/>
        <p:txBody>
          <a:bodyPr anchor="ctr">
            <a:normAutofit/>
          </a:bodyPr>
          <a:lstStyle/>
          <a:p>
            <a:r>
              <a:rPr lang="en-US" sz="3600" dirty="0"/>
              <a:t>As AI rolls out across world economies, modern society may face increased inequality, political instability and even violence. This may usher in new regulations and reforms that reframe/reconstruct our economy and encourage appropriate changes to social norms.</a:t>
            </a:r>
          </a:p>
          <a:p>
            <a:r>
              <a:rPr lang="en-US" sz="3600" dirty="0"/>
              <a:t>Building societies that thrive in the age of AI requires substantial changes in the economy in addition to a shift in culture and values.</a:t>
            </a:r>
          </a:p>
          <a:p>
            <a:r>
              <a:rPr lang="en-US" sz="3600" dirty="0"/>
              <a:t>The number of workdays in each week is expected to noticeably shrink in all countries as AI adoption increases among businesses worldwide.</a:t>
            </a:r>
          </a:p>
          <a:p>
            <a:pPr marL="0" indent="0">
              <a:buNone/>
            </a:pPr>
            <a:r>
              <a:rPr lang="en-US" sz="3600" dirty="0"/>
              <a:t>.</a:t>
            </a:r>
          </a:p>
        </p:txBody>
      </p:sp>
    </p:spTree>
    <p:custDataLst>
      <p:tags r:id="rId1"/>
    </p:custDataLst>
    <p:extLst>
      <p:ext uri="{BB962C8B-B14F-4D97-AF65-F5344CB8AC3E}">
        <p14:creationId xmlns:p14="http://schemas.microsoft.com/office/powerpoint/2010/main" val="4009325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14C79-5291-2742-BFFC-DF3D8AF6FB86}"/>
              </a:ext>
            </a:extLst>
          </p:cNvPr>
          <p:cNvSpPr>
            <a:spLocks noGrp="1"/>
          </p:cNvSpPr>
          <p:nvPr>
            <p:ph type="title"/>
          </p:nvPr>
        </p:nvSpPr>
        <p:spPr>
          <a:xfrm>
            <a:off x="1257300" y="315685"/>
            <a:ext cx="16084552" cy="863713"/>
          </a:xfrm>
        </p:spPr>
        <p:txBody>
          <a:bodyPr/>
          <a:lstStyle/>
          <a:p>
            <a:r>
              <a:rPr lang="en-US" sz="4800" b="1" dirty="0">
                <a:solidFill>
                  <a:srgbClr val="C00000"/>
                </a:solidFill>
              </a:rPr>
              <a:t>Blueprint continued</a:t>
            </a:r>
          </a:p>
        </p:txBody>
      </p:sp>
      <p:sp>
        <p:nvSpPr>
          <p:cNvPr id="3" name="Content Placeholder 2">
            <a:extLst>
              <a:ext uri="{FF2B5EF4-FFF2-40B4-BE49-F238E27FC236}">
                <a16:creationId xmlns:a16="http://schemas.microsoft.com/office/drawing/2014/main" id="{0FA5FD5B-821F-3648-BCA0-E9301D686681}"/>
              </a:ext>
            </a:extLst>
          </p:cNvPr>
          <p:cNvSpPr>
            <a:spLocks noGrp="1"/>
          </p:cNvSpPr>
          <p:nvPr>
            <p:ph idx="1"/>
          </p:nvPr>
        </p:nvSpPr>
        <p:spPr>
          <a:xfrm>
            <a:off x="1257300" y="1179398"/>
            <a:ext cx="15773400" cy="8086047"/>
          </a:xfrm>
        </p:spPr>
        <p:txBody>
          <a:bodyPr anchor="ctr">
            <a:noAutofit/>
          </a:bodyPr>
          <a:lstStyle/>
          <a:p>
            <a:r>
              <a:rPr lang="en-US" sz="3200" dirty="0"/>
              <a:t>Human labor will continue to supplement functions that have already been automated. For example, self driving vehicles may run into emergencies that must be resolved by human remote operators. </a:t>
            </a:r>
          </a:p>
          <a:p>
            <a:r>
              <a:rPr lang="en-US" sz="3200" dirty="0"/>
              <a:t>Jobs in industries that require complex human interactions and high level of emotional intelligence, such as those in healthcare, are less likely to be automated, and more likely to be augmented.</a:t>
            </a:r>
          </a:p>
          <a:p>
            <a:r>
              <a:rPr lang="en-US" sz="3200" dirty="0"/>
              <a:t>Companies should connect regularly with front line employees to better understand their concern about automation and workflows. Investments in AI-based technology should be supplemented with comparable investments in suitable retraining of employees.</a:t>
            </a:r>
          </a:p>
          <a:p>
            <a:r>
              <a:rPr lang="en-US" sz="3200" dirty="0"/>
              <a:t>AI systems need to be regularly assessed in terms of how they affect society. No profit margin is worth the cost of harming humanity.</a:t>
            </a:r>
          </a:p>
        </p:txBody>
      </p:sp>
    </p:spTree>
    <p:custDataLst>
      <p:tags r:id="rId1"/>
    </p:custDataLst>
    <p:extLst>
      <p:ext uri="{BB962C8B-B14F-4D97-AF65-F5344CB8AC3E}">
        <p14:creationId xmlns:p14="http://schemas.microsoft.com/office/powerpoint/2010/main" val="3208395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1A497-0E64-164D-B69A-44AF23960965}"/>
              </a:ext>
            </a:extLst>
          </p:cNvPr>
          <p:cNvSpPr>
            <a:spLocks noGrp="1"/>
          </p:cNvSpPr>
          <p:nvPr>
            <p:ph type="title"/>
          </p:nvPr>
        </p:nvSpPr>
        <p:spPr/>
        <p:txBody>
          <a:bodyPr/>
          <a:lstStyle/>
          <a:p>
            <a:r>
              <a:rPr lang="en-US" b="1" dirty="0">
                <a:solidFill>
                  <a:srgbClr val="C00000"/>
                </a:solidFill>
              </a:rPr>
              <a:t>Likely AI Impact on work life of many…</a:t>
            </a:r>
          </a:p>
        </p:txBody>
      </p:sp>
      <p:sp>
        <p:nvSpPr>
          <p:cNvPr id="3" name="Content Placeholder 2">
            <a:extLst>
              <a:ext uri="{FF2B5EF4-FFF2-40B4-BE49-F238E27FC236}">
                <a16:creationId xmlns:a16="http://schemas.microsoft.com/office/drawing/2014/main" id="{58E868D5-DB8E-E04F-9364-D4C8F9E88F85}"/>
              </a:ext>
            </a:extLst>
          </p:cNvPr>
          <p:cNvSpPr>
            <a:spLocks noGrp="1"/>
          </p:cNvSpPr>
          <p:nvPr>
            <p:ph idx="1"/>
          </p:nvPr>
        </p:nvSpPr>
        <p:spPr>
          <a:xfrm>
            <a:off x="1257300" y="2057400"/>
            <a:ext cx="16260417" cy="7208045"/>
          </a:xfrm>
        </p:spPr>
        <p:txBody>
          <a:bodyPr anchor="ctr">
            <a:noAutofit/>
          </a:bodyPr>
          <a:lstStyle/>
          <a:p>
            <a:r>
              <a:rPr lang="en-US" sz="3200" dirty="0"/>
              <a:t>As AI steadily impacts all professions, workers will be forced to upskill/change occupations every few years; in this process, new skills will be acquired rapidly that required a lifetime to build in the past. For example, a set of skills or badges may be acceptable substitutes in jobs that previously required a specialized college degree.</a:t>
            </a:r>
          </a:p>
          <a:p>
            <a:r>
              <a:rPr lang="en-US" sz="3200" dirty="0"/>
              <a:t>The scale and speed of expected changes from AI will not allow the luxury of sole reliance on educational improvements to respond appropriately to the needs of the fast evolving job market.</a:t>
            </a:r>
          </a:p>
          <a:p>
            <a:r>
              <a:rPr lang="en-US" sz="3200" dirty="0"/>
              <a:t>Venture capitalists will consider investing in human-focused service projects that can scale up quickly to employ large numbers of people.</a:t>
            </a:r>
          </a:p>
          <a:p>
            <a:r>
              <a:rPr lang="en-US" sz="3200" dirty="0"/>
              <a:t>Monumental changes in economic structure will usher in the involvement of governmental power. This involvement will focus on developing a new social contract for the age of AI, where public policy makers have a central role.</a:t>
            </a:r>
          </a:p>
        </p:txBody>
      </p:sp>
    </p:spTree>
    <p:custDataLst>
      <p:tags r:id="rId1"/>
    </p:custDataLst>
    <p:extLst>
      <p:ext uri="{BB962C8B-B14F-4D97-AF65-F5344CB8AC3E}">
        <p14:creationId xmlns:p14="http://schemas.microsoft.com/office/powerpoint/2010/main" val="3061013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7D819-9750-4053-A1EA-07389D38639F}"/>
              </a:ext>
            </a:extLst>
          </p:cNvPr>
          <p:cNvSpPr>
            <a:spLocks noGrp="1"/>
          </p:cNvSpPr>
          <p:nvPr>
            <p:ph type="title"/>
          </p:nvPr>
        </p:nvSpPr>
        <p:spPr/>
        <p:txBody>
          <a:bodyPr/>
          <a:lstStyle/>
          <a:p>
            <a:r>
              <a:rPr lang="en-US" dirty="0"/>
              <a:t>The “AI Chasm” and related Gaps</a:t>
            </a:r>
          </a:p>
        </p:txBody>
      </p:sp>
      <p:sp>
        <p:nvSpPr>
          <p:cNvPr id="3" name="Content Placeholder 2">
            <a:extLst>
              <a:ext uri="{FF2B5EF4-FFF2-40B4-BE49-F238E27FC236}">
                <a16:creationId xmlns:a16="http://schemas.microsoft.com/office/drawing/2014/main" id="{38D65781-0A58-4F81-8918-926A6390DF23}"/>
              </a:ext>
            </a:extLst>
          </p:cNvPr>
          <p:cNvSpPr>
            <a:spLocks noGrp="1"/>
          </p:cNvSpPr>
          <p:nvPr>
            <p:ph idx="1"/>
          </p:nvPr>
        </p:nvSpPr>
        <p:spPr/>
        <p:txBody>
          <a:bodyPr/>
          <a:lstStyle/>
          <a:p>
            <a:r>
              <a:rPr lang="en-US" dirty="0"/>
              <a:t>The AI Chasm and related gaps</a:t>
            </a:r>
          </a:p>
        </p:txBody>
      </p:sp>
    </p:spTree>
    <p:custDataLst>
      <p:tags r:id="rId1"/>
    </p:custDataLst>
    <p:extLst>
      <p:ext uri="{BB962C8B-B14F-4D97-AF65-F5344CB8AC3E}">
        <p14:creationId xmlns:p14="http://schemas.microsoft.com/office/powerpoint/2010/main" val="4088979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7E46C-F9C9-435C-A498-F880FE761AAC}"/>
              </a:ext>
            </a:extLst>
          </p:cNvPr>
          <p:cNvSpPr>
            <a:spLocks noGrp="1"/>
          </p:cNvSpPr>
          <p:nvPr>
            <p:ph type="title"/>
          </p:nvPr>
        </p:nvSpPr>
        <p:spPr>
          <a:xfrm>
            <a:off x="1257300" y="224852"/>
            <a:ext cx="15773400" cy="1501710"/>
          </a:xfrm>
        </p:spPr>
        <p:txBody>
          <a:bodyPr/>
          <a:lstStyle/>
          <a:p>
            <a:r>
              <a:rPr lang="en-US" b="1" dirty="0">
                <a:solidFill>
                  <a:srgbClr val="C00000"/>
                </a:solidFill>
              </a:rPr>
              <a:t>Navigating the “AI Chasm” and its three gaps</a:t>
            </a:r>
          </a:p>
        </p:txBody>
      </p:sp>
      <p:sp>
        <p:nvSpPr>
          <p:cNvPr id="3" name="Content Placeholder 2">
            <a:extLst>
              <a:ext uri="{FF2B5EF4-FFF2-40B4-BE49-F238E27FC236}">
                <a16:creationId xmlns:a16="http://schemas.microsoft.com/office/drawing/2014/main" id="{EC082FC2-A644-4EDF-9559-EE5583E721A8}"/>
              </a:ext>
            </a:extLst>
          </p:cNvPr>
          <p:cNvSpPr>
            <a:spLocks noGrp="1"/>
          </p:cNvSpPr>
          <p:nvPr>
            <p:ph idx="1"/>
          </p:nvPr>
        </p:nvSpPr>
        <p:spPr>
          <a:xfrm>
            <a:off x="1257300" y="2224605"/>
            <a:ext cx="16011369" cy="6583493"/>
          </a:xfrm>
        </p:spPr>
        <p:txBody>
          <a:bodyPr>
            <a:noAutofit/>
          </a:bodyPr>
          <a:lstStyle/>
          <a:p>
            <a:pPr marL="0" indent="0">
              <a:buNone/>
            </a:pPr>
            <a:r>
              <a:rPr lang="en-US" sz="3200" dirty="0"/>
              <a:t>A significant problem/challenge remains that AI needs to resolve for more real or rapid progress:</a:t>
            </a:r>
          </a:p>
          <a:p>
            <a:pPr marL="0" indent="0" algn="ctr">
              <a:buNone/>
            </a:pPr>
            <a:r>
              <a:rPr lang="en-US" sz="3200" b="1" dirty="0"/>
              <a:t>How to endow machines with a deep understanding of the world?</a:t>
            </a:r>
          </a:p>
          <a:p>
            <a:r>
              <a:rPr lang="en-US" sz="3200" dirty="0"/>
              <a:t>Without such deep understanding of how the world works (as humans well understand), is it possible to develop trustworthy AI? </a:t>
            </a:r>
          </a:p>
          <a:p>
            <a:r>
              <a:rPr lang="en-US" sz="3200" dirty="0"/>
              <a:t>In other words: Can we have trustworthy AI as long as “AI </a:t>
            </a:r>
            <a:r>
              <a:rPr lang="en-US" sz="3200" b="1" dirty="0"/>
              <a:t>pretends</a:t>
            </a:r>
            <a:r>
              <a:rPr lang="en-US" sz="3200" dirty="0"/>
              <a:t> to be intelligent”?</a:t>
            </a:r>
          </a:p>
          <a:p>
            <a:r>
              <a:rPr lang="en-US" sz="3200" dirty="0"/>
              <a:t>Some thinkers have postulated three enormous gaps – called “the AI Chasm” – between human reactions to AI and reality. </a:t>
            </a:r>
          </a:p>
        </p:txBody>
      </p:sp>
      <p:sp>
        <p:nvSpPr>
          <p:cNvPr id="4" name="Rectangle 1"/>
          <p:cNvSpPr>
            <a:spLocks noChangeArrowheads="1"/>
          </p:cNvSpPr>
          <p:nvPr/>
        </p:nvSpPr>
        <p:spPr bwMode="auto">
          <a:xfrm>
            <a:off x="1" y="-484747"/>
            <a:ext cx="277064"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37160" tIns="68580" rIns="137160" bIns="68580" numCol="1" anchor="ctr" anchorCtr="0" compatLnSpc="1">
            <a:prstTxWarp prst="textNoShape">
              <a:avLst/>
            </a:prstTxWarp>
            <a:spAutoFit/>
          </a:bodyPr>
          <a:lstStyle/>
          <a:p>
            <a:pPr defTabSz="1371600" eaLnBrk="0" hangingPunct="0"/>
            <a:br>
              <a:rPr lang="en-US" altLang="en-US" sz="2700" dirty="0"/>
            </a:br>
            <a:endParaRPr lang="en-US" altLang="en-US" sz="2700" b="1" dirty="0"/>
          </a:p>
        </p:txBody>
      </p:sp>
    </p:spTree>
    <p:custDataLst>
      <p:tags r:id="rId1"/>
    </p:custDataLst>
    <p:extLst>
      <p:ext uri="{BB962C8B-B14F-4D97-AF65-F5344CB8AC3E}">
        <p14:creationId xmlns:p14="http://schemas.microsoft.com/office/powerpoint/2010/main" val="1072743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7E46C-F9C9-435C-A498-F880FE761AAC}"/>
              </a:ext>
            </a:extLst>
          </p:cNvPr>
          <p:cNvSpPr>
            <a:spLocks noGrp="1"/>
          </p:cNvSpPr>
          <p:nvPr>
            <p:ph type="title"/>
          </p:nvPr>
        </p:nvSpPr>
        <p:spPr>
          <a:xfrm>
            <a:off x="1257300" y="224852"/>
            <a:ext cx="15773400" cy="1119502"/>
          </a:xfrm>
        </p:spPr>
        <p:txBody>
          <a:bodyPr/>
          <a:lstStyle/>
          <a:p>
            <a:r>
              <a:rPr lang="en-US" b="1" dirty="0">
                <a:solidFill>
                  <a:srgbClr val="C00000"/>
                </a:solidFill>
              </a:rPr>
              <a:t>The “AI Chasm”</a:t>
            </a:r>
          </a:p>
        </p:txBody>
      </p:sp>
      <p:sp>
        <p:nvSpPr>
          <p:cNvPr id="3" name="Content Placeholder 2">
            <a:extLst>
              <a:ext uri="{FF2B5EF4-FFF2-40B4-BE49-F238E27FC236}">
                <a16:creationId xmlns:a16="http://schemas.microsoft.com/office/drawing/2014/main" id="{EC082FC2-A644-4EDF-9559-EE5583E721A8}"/>
              </a:ext>
            </a:extLst>
          </p:cNvPr>
          <p:cNvSpPr>
            <a:spLocks noGrp="1"/>
          </p:cNvSpPr>
          <p:nvPr>
            <p:ph idx="1"/>
          </p:nvPr>
        </p:nvSpPr>
        <p:spPr>
          <a:xfrm>
            <a:off x="1420586" y="1627383"/>
            <a:ext cx="16011369" cy="7706340"/>
          </a:xfrm>
        </p:spPr>
        <p:txBody>
          <a:bodyPr>
            <a:noAutofit/>
          </a:bodyPr>
          <a:lstStyle/>
          <a:p>
            <a:pPr marL="0" indent="0">
              <a:buNone/>
            </a:pPr>
            <a:r>
              <a:rPr lang="en-US" sz="3600" dirty="0"/>
              <a:t>The AI chasm is rooted in three separate gaps or challenges:</a:t>
            </a:r>
          </a:p>
          <a:p>
            <a:pPr marL="0" indent="0">
              <a:spcBef>
                <a:spcPts val="0"/>
              </a:spcBef>
            </a:pPr>
            <a:r>
              <a:rPr lang="en-US" sz="3600" b="1" dirty="0"/>
              <a:t>The gullibility gap</a:t>
            </a:r>
            <a:r>
              <a:rPr lang="en-US" sz="3600" dirty="0"/>
              <a:t>: recognizes that humans did not evolve to distinguish between humans and machines – which leaves humans easily fooled. </a:t>
            </a:r>
            <a:endParaRPr lang="en-US" sz="3600" dirty="0">
              <a:solidFill>
                <a:srgbClr val="FF0000"/>
              </a:solidFill>
            </a:endParaRPr>
          </a:p>
          <a:p>
            <a:pPr marL="565150" lvl="2" indent="0">
              <a:spcBef>
                <a:spcPts val="0"/>
              </a:spcBef>
            </a:pPr>
            <a:r>
              <a:rPr lang="en-US" sz="3600" dirty="0">
                <a:solidFill>
                  <a:srgbClr val="C00000"/>
                </a:solidFill>
              </a:rPr>
              <a:t>Machines that look like humans (humanoid robots) influence human perceptions of machines (this is called </a:t>
            </a:r>
            <a:r>
              <a:rPr lang="en-US" sz="3600" dirty="0" err="1">
                <a:solidFill>
                  <a:srgbClr val="C00000"/>
                </a:solidFill>
              </a:rPr>
              <a:t>Anthopomorphism</a:t>
            </a:r>
            <a:r>
              <a:rPr lang="en-US" sz="3600" dirty="0">
                <a:solidFill>
                  <a:srgbClr val="C00000"/>
                </a:solidFill>
              </a:rPr>
              <a:t>; for an insightful</a:t>
            </a:r>
          </a:p>
          <a:p>
            <a:pPr marL="565150" lvl="2" indent="0">
              <a:spcBef>
                <a:spcPts val="0"/>
              </a:spcBef>
              <a:buNone/>
            </a:pPr>
            <a:r>
              <a:rPr lang="en-US" sz="3600" dirty="0">
                <a:solidFill>
                  <a:srgbClr val="C00000"/>
                </a:solidFill>
              </a:rPr>
              <a:t>Examples describing this available in Harvard Business Review 2015 article “</a:t>
            </a:r>
            <a:r>
              <a:rPr lang="en-US" sz="3600" dirty="0">
                <a:solidFill>
                  <a:srgbClr val="C00000"/>
                </a:solidFill>
                <a:hlinkClick r:id="rId3"/>
              </a:rPr>
              <a:t>When Your Boss Wears Metal Pants</a:t>
            </a:r>
            <a:r>
              <a:rPr lang="en-US" sz="3600" dirty="0">
                <a:solidFill>
                  <a:srgbClr val="C00000"/>
                </a:solidFill>
              </a:rPr>
              <a:t>”).</a:t>
            </a:r>
          </a:p>
          <a:p>
            <a:pPr marL="565150" lvl="2" indent="0">
              <a:spcBef>
                <a:spcPts val="0"/>
              </a:spcBef>
            </a:pPr>
            <a:r>
              <a:rPr lang="en-US" sz="3600" dirty="0">
                <a:solidFill>
                  <a:srgbClr val="C00000"/>
                </a:solidFill>
              </a:rPr>
              <a:t>Key difference between “machines </a:t>
            </a:r>
            <a:r>
              <a:rPr lang="en-US" sz="3600" b="1" i="1" dirty="0">
                <a:solidFill>
                  <a:srgbClr val="C00000"/>
                </a:solidFill>
              </a:rPr>
              <a:t>pretending </a:t>
            </a:r>
            <a:r>
              <a:rPr lang="en-US" sz="3600" dirty="0">
                <a:solidFill>
                  <a:srgbClr val="C00000"/>
                </a:solidFill>
              </a:rPr>
              <a:t>or merely </a:t>
            </a:r>
            <a:r>
              <a:rPr lang="en-US" sz="3600" b="1" i="1" dirty="0">
                <a:solidFill>
                  <a:srgbClr val="C00000"/>
                </a:solidFill>
              </a:rPr>
              <a:t>appearing</a:t>
            </a:r>
            <a:r>
              <a:rPr lang="en-US" sz="3600" i="1" dirty="0">
                <a:solidFill>
                  <a:srgbClr val="C00000"/>
                </a:solidFill>
              </a:rPr>
              <a:t> </a:t>
            </a:r>
            <a:r>
              <a:rPr lang="en-US" sz="3600" dirty="0">
                <a:solidFill>
                  <a:srgbClr val="C00000"/>
                </a:solidFill>
              </a:rPr>
              <a:t>to be intelligent” and “machines that are </a:t>
            </a:r>
            <a:r>
              <a:rPr lang="en-US" sz="3600" b="1" i="1" dirty="0">
                <a:solidFill>
                  <a:srgbClr val="C00000"/>
                </a:solidFill>
              </a:rPr>
              <a:t>actually</a:t>
            </a:r>
            <a:r>
              <a:rPr lang="en-US" sz="3600" dirty="0">
                <a:solidFill>
                  <a:srgbClr val="C00000"/>
                </a:solidFill>
              </a:rPr>
              <a:t> intelligent” and reasons why humans </a:t>
            </a:r>
            <a:r>
              <a:rPr lang="en-US" sz="3600" b="1" i="1" dirty="0">
                <a:solidFill>
                  <a:srgbClr val="C00000"/>
                </a:solidFill>
              </a:rPr>
              <a:t>may not notice a meaningful difference </a:t>
            </a:r>
            <a:r>
              <a:rPr lang="en-US" sz="3600" dirty="0">
                <a:solidFill>
                  <a:srgbClr val="C00000"/>
                </a:solidFill>
              </a:rPr>
              <a:t>between the two.</a:t>
            </a:r>
          </a:p>
          <a:p>
            <a:pPr marL="0" indent="0">
              <a:spcBef>
                <a:spcPts val="0"/>
              </a:spcBef>
              <a:buNone/>
            </a:pPr>
            <a:r>
              <a:rPr lang="en-US" sz="3600" b="1" dirty="0"/>
              <a:t>* The illusory progress gap</a:t>
            </a:r>
            <a:r>
              <a:rPr lang="en-US" sz="3600" dirty="0"/>
              <a:t>: mistaking progress in AI on easy problems for progress on hard problems.</a:t>
            </a:r>
          </a:p>
          <a:p>
            <a:pPr marL="0" indent="0">
              <a:spcBef>
                <a:spcPts val="0"/>
              </a:spcBef>
              <a:buNone/>
            </a:pPr>
            <a:r>
              <a:rPr lang="en-US" sz="3600" b="1" dirty="0"/>
              <a:t>* The robustness gap</a:t>
            </a:r>
            <a:r>
              <a:rPr lang="en-US" sz="3600" dirty="0"/>
              <a:t>: when solutions work some of the time but are assumed to work all the time.</a:t>
            </a:r>
          </a:p>
        </p:txBody>
      </p:sp>
      <p:sp>
        <p:nvSpPr>
          <p:cNvPr id="4" name="Rectangle 1"/>
          <p:cNvSpPr>
            <a:spLocks noChangeArrowheads="1"/>
          </p:cNvSpPr>
          <p:nvPr/>
        </p:nvSpPr>
        <p:spPr bwMode="auto">
          <a:xfrm>
            <a:off x="1" y="-484747"/>
            <a:ext cx="277064"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37160" tIns="68580" rIns="137160" bIns="68580" numCol="1" anchor="ctr" anchorCtr="0" compatLnSpc="1">
            <a:prstTxWarp prst="textNoShape">
              <a:avLst/>
            </a:prstTxWarp>
            <a:spAutoFit/>
          </a:bodyPr>
          <a:lstStyle/>
          <a:p>
            <a:pPr defTabSz="1371600" eaLnBrk="0" hangingPunct="0"/>
            <a:br>
              <a:rPr lang="en-US" altLang="en-US" sz="2700" dirty="0"/>
            </a:br>
            <a:endParaRPr lang="en-US" altLang="en-US" sz="2700" b="1" dirty="0"/>
          </a:p>
        </p:txBody>
      </p:sp>
    </p:spTree>
    <p:custDataLst>
      <p:tags r:id="rId1"/>
    </p:custDataLst>
    <p:extLst>
      <p:ext uri="{BB962C8B-B14F-4D97-AF65-F5344CB8AC3E}">
        <p14:creationId xmlns:p14="http://schemas.microsoft.com/office/powerpoint/2010/main" val="3315209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801C3-F432-46B4-8FDF-818AB81340B5}"/>
              </a:ext>
            </a:extLst>
          </p:cNvPr>
          <p:cNvSpPr>
            <a:spLocks noGrp="1"/>
          </p:cNvSpPr>
          <p:nvPr>
            <p:ph type="title"/>
          </p:nvPr>
        </p:nvSpPr>
        <p:spPr>
          <a:xfrm>
            <a:off x="946148" y="142704"/>
            <a:ext cx="16084552" cy="1171623"/>
          </a:xfrm>
        </p:spPr>
        <p:txBody>
          <a:bodyPr/>
          <a:lstStyle/>
          <a:p>
            <a:r>
              <a:rPr lang="en-US" b="1" dirty="0">
                <a:solidFill>
                  <a:srgbClr val="C00000"/>
                </a:solidFill>
              </a:rPr>
              <a:t>The Gullibility Gap</a:t>
            </a:r>
          </a:p>
        </p:txBody>
      </p:sp>
      <p:sp>
        <p:nvSpPr>
          <p:cNvPr id="3" name="Content Placeholder 2">
            <a:extLst>
              <a:ext uri="{FF2B5EF4-FFF2-40B4-BE49-F238E27FC236}">
                <a16:creationId xmlns:a16="http://schemas.microsoft.com/office/drawing/2014/main" id="{8AE09C16-B61A-48E2-9711-88CC7B47F4B3}"/>
              </a:ext>
            </a:extLst>
          </p:cNvPr>
          <p:cNvSpPr>
            <a:spLocks noGrp="1"/>
          </p:cNvSpPr>
          <p:nvPr>
            <p:ph idx="1"/>
          </p:nvPr>
        </p:nvSpPr>
        <p:spPr>
          <a:xfrm>
            <a:off x="1257300" y="1537233"/>
            <a:ext cx="15773400" cy="8184737"/>
          </a:xfrm>
        </p:spPr>
        <p:txBody>
          <a:bodyPr>
            <a:noAutofit/>
          </a:bodyPr>
          <a:lstStyle/>
          <a:p>
            <a:r>
              <a:rPr lang="en-US" sz="3200" dirty="0"/>
              <a:t>We tend to readily attribute intelligence to computers because we have evolved and lived among human beings who themselves base their actions on abstractions like ideas, beliefs, and desires.</a:t>
            </a:r>
          </a:p>
          <a:p>
            <a:r>
              <a:rPr lang="en-US" sz="3200" dirty="0"/>
              <a:t>We can’t help but think about machines in cognitive terms (“it thinks I deleted my file”), no matter how simple-minded the rules are that the machines are thought to follow. Such gullibility is called the </a:t>
            </a:r>
            <a:r>
              <a:rPr lang="en-US" sz="3200" b="1" i="1" dirty="0"/>
              <a:t>fundamental over-attribution error</a:t>
            </a:r>
            <a:r>
              <a:rPr lang="en-US" sz="3200" dirty="0"/>
              <a:t>.</a:t>
            </a:r>
          </a:p>
          <a:p>
            <a:pPr marL="685800" lvl="1" indent="0">
              <a:buNone/>
            </a:pPr>
            <a:r>
              <a:rPr lang="en-US" sz="3200" dirty="0">
                <a:solidFill>
                  <a:schemeClr val="accent1"/>
                </a:solidFill>
              </a:rPr>
              <a:t>E.g., In 2016, the owner/driver trusted Tesla’s Autopilot feature with his life, to the point that he watched a Harry Potter movie while the car drove directly underneath a trailer on a highway, killing the owner.</a:t>
            </a:r>
          </a:p>
          <a:p>
            <a:r>
              <a:rPr lang="en-US" sz="3200" dirty="0"/>
              <a:t>A machine can easily manage to </a:t>
            </a:r>
            <a:r>
              <a:rPr lang="en-US" sz="3200" b="1" i="1" dirty="0"/>
              <a:t>appear</a:t>
            </a:r>
            <a:r>
              <a:rPr lang="en-US" sz="3200" dirty="0"/>
              <a:t> intelligent for a brief period. As of now, this does not mean that this machine is </a:t>
            </a:r>
            <a:r>
              <a:rPr lang="en-US" sz="3200" b="1" i="1" dirty="0"/>
              <a:t>really</a:t>
            </a:r>
            <a:r>
              <a:rPr lang="en-US" sz="3200" dirty="0"/>
              <a:t> intelligent, or that it can handle the full range of circumstances or emotions or judgments that a human easily can. Human beings must realize that such a machine is </a:t>
            </a:r>
            <a:r>
              <a:rPr lang="en-US" sz="3200" b="1" i="1" dirty="0"/>
              <a:t>merely pretending </a:t>
            </a:r>
            <a:r>
              <a:rPr lang="en-US" sz="3200" dirty="0"/>
              <a:t>to be intelligent. </a:t>
            </a:r>
          </a:p>
        </p:txBody>
      </p:sp>
    </p:spTree>
    <p:custDataLst>
      <p:tags r:id="rId1"/>
    </p:custDataLst>
    <p:extLst>
      <p:ext uri="{BB962C8B-B14F-4D97-AF65-F5344CB8AC3E}">
        <p14:creationId xmlns:p14="http://schemas.microsoft.com/office/powerpoint/2010/main" val="14621794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8673" y="475990"/>
            <a:ext cx="15773400" cy="1916482"/>
          </a:xfrm>
        </p:spPr>
        <p:txBody>
          <a:bodyPr>
            <a:normAutofit fontScale="90000"/>
          </a:bodyPr>
          <a:lstStyle/>
          <a:p>
            <a:r>
              <a:rPr lang="en-US" sz="4900" b="1" dirty="0" err="1">
                <a:solidFill>
                  <a:srgbClr val="C00000"/>
                </a:solidFill>
              </a:rPr>
              <a:t>Replika</a:t>
            </a:r>
            <a:r>
              <a:rPr lang="en-US" sz="4900" b="1" dirty="0">
                <a:solidFill>
                  <a:srgbClr val="C00000"/>
                </a:solidFill>
              </a:rPr>
              <a:t>: Can AI deceive/pretend to be sentient?…. </a:t>
            </a:r>
            <a:br>
              <a:rPr lang="en-US" sz="6000" dirty="0">
                <a:solidFill>
                  <a:srgbClr val="FF0000"/>
                </a:solidFill>
              </a:rPr>
            </a:br>
            <a:r>
              <a:rPr lang="en-US" altLang="en-US" sz="3300" dirty="0">
                <a:hlinkClick r:id="rId3"/>
              </a:rPr>
              <a:t>The Concerning Belief About AI That Has Engineers Worried</a:t>
            </a:r>
            <a:r>
              <a:rPr lang="en-US" altLang="en-US" sz="3300" dirty="0"/>
              <a:t>, </a:t>
            </a:r>
            <a:r>
              <a:rPr lang="en-US" altLang="en-US" sz="3300" dirty="0" err="1"/>
              <a:t>Slashgear</a:t>
            </a:r>
            <a:r>
              <a:rPr lang="en-US" altLang="en-US" sz="3300" dirty="0"/>
              <a:t>, July 18, 2022</a:t>
            </a:r>
            <a:br>
              <a:rPr lang="en-US" sz="6000" dirty="0">
                <a:solidFill>
                  <a:srgbClr val="FF0000"/>
                </a:solidFill>
              </a:rPr>
            </a:br>
            <a:endParaRPr lang="en-US" sz="6000" dirty="0">
              <a:solidFill>
                <a:srgbClr val="FF0000"/>
              </a:solidFill>
            </a:endParaRPr>
          </a:p>
        </p:txBody>
      </p:sp>
      <p:sp>
        <p:nvSpPr>
          <p:cNvPr id="3" name="Rectangle 2"/>
          <p:cNvSpPr/>
          <p:nvPr/>
        </p:nvSpPr>
        <p:spPr>
          <a:xfrm>
            <a:off x="1698173" y="2392472"/>
            <a:ext cx="15963900" cy="6001643"/>
          </a:xfrm>
          <a:prstGeom prst="rect">
            <a:avLst/>
          </a:prstGeom>
        </p:spPr>
        <p:txBody>
          <a:bodyPr wrap="square">
            <a:spAutoFit/>
          </a:bodyPr>
          <a:lstStyle/>
          <a:p>
            <a:pPr marL="428625" indent="-428625">
              <a:buFont typeface="Arial" panose="020B0604020202020204" pitchFamily="34" charset="0"/>
              <a:buChar char="•"/>
            </a:pPr>
            <a:r>
              <a:rPr lang="en-US" sz="3200" dirty="0">
                <a:cs typeface="Arial" panose="020B0604020202020204" pitchFamily="34" charset="0"/>
              </a:rPr>
              <a:t>&gt;10 million people joined </a:t>
            </a:r>
            <a:r>
              <a:rPr lang="en-US" sz="3200" dirty="0" err="1">
                <a:cs typeface="Arial" panose="020B0604020202020204" pitchFamily="34" charset="0"/>
              </a:rPr>
              <a:t>Replika</a:t>
            </a:r>
            <a:r>
              <a:rPr lang="en-US" sz="3200" dirty="0">
                <a:cs typeface="Arial" panose="020B0604020202020204" pitchFamily="34" charset="0"/>
              </a:rPr>
              <a:t>, an AI chatbot app service based on a “neural network ML model and scripted content.” The App aims to be an “empathetic friend eager to learn and would love to see the world through your eyes." </a:t>
            </a:r>
          </a:p>
          <a:p>
            <a:pPr marL="428625" indent="-428625">
              <a:buFont typeface="Arial" panose="020B0604020202020204" pitchFamily="34" charset="0"/>
              <a:buChar char="•"/>
            </a:pPr>
            <a:r>
              <a:rPr lang="en-US" sz="3200" dirty="0">
                <a:cs typeface="Arial" panose="020B0604020202020204" pitchFamily="34" charset="0"/>
              </a:rPr>
              <a:t>Users customize/select </a:t>
            </a:r>
            <a:r>
              <a:rPr lang="en-US" sz="3200" dirty="0" err="1">
                <a:cs typeface="Arial" panose="020B0604020202020204" pitchFamily="34" charset="0"/>
              </a:rPr>
              <a:t>Replika’s</a:t>
            </a:r>
            <a:r>
              <a:rPr lang="en-US" sz="3200" dirty="0">
                <a:cs typeface="Arial" panose="020B0604020202020204" pitchFamily="34" charset="0"/>
              </a:rPr>
              <a:t> roles: "friend," "partner," or "mentor;" they even spend time with </a:t>
            </a:r>
            <a:r>
              <a:rPr lang="en-US" sz="3200" dirty="0" err="1">
                <a:cs typeface="Arial" panose="020B0604020202020204" pitchFamily="34" charset="0"/>
              </a:rPr>
              <a:t>Replika’s</a:t>
            </a:r>
            <a:r>
              <a:rPr lang="en-US" sz="3200" dirty="0">
                <a:cs typeface="Arial" panose="020B0604020202020204" pitchFamily="34" charset="0"/>
              </a:rPr>
              <a:t> avatar in the real world thanks to an AR component of the app. </a:t>
            </a:r>
          </a:p>
          <a:p>
            <a:pPr marL="428625" indent="-428625">
              <a:buFont typeface="Arial" panose="020B0604020202020204" pitchFamily="34" charset="0"/>
              <a:buChar char="•"/>
            </a:pPr>
            <a:r>
              <a:rPr lang="en-US" sz="3200" dirty="0">
                <a:cs typeface="Arial" panose="020B0604020202020204" pitchFamily="34" charset="0"/>
              </a:rPr>
              <a:t>As an extra paid service, the app allows users to voice chat with their AI companion</a:t>
            </a:r>
          </a:p>
          <a:p>
            <a:pPr marL="428625" indent="-428625">
              <a:buFont typeface="Arial" panose="020B0604020202020204" pitchFamily="34" charset="0"/>
              <a:buChar char="•"/>
            </a:pPr>
            <a:r>
              <a:rPr lang="en-US" sz="3200" dirty="0">
                <a:cs typeface="Arial" panose="020B0604020202020204" pitchFamily="34" charset="0"/>
              </a:rPr>
              <a:t>AI learns from these conversations. The more time you spend, the more immersive the dialogue gets.</a:t>
            </a:r>
          </a:p>
          <a:p>
            <a:pPr marL="428625" indent="-428625">
              <a:buFont typeface="Arial" panose="020B0604020202020204" pitchFamily="34" charset="0"/>
              <a:buChar char="•"/>
            </a:pPr>
            <a:r>
              <a:rPr lang="en-US" sz="3200" dirty="0">
                <a:cs typeface="Arial" panose="020B0604020202020204" pitchFamily="34" charset="0"/>
              </a:rPr>
              <a:t>Many users of this AI </a:t>
            </a:r>
            <a:r>
              <a:rPr lang="en-US" sz="3200" dirty="0" err="1">
                <a:cs typeface="Arial" panose="020B0604020202020204" pitchFamily="34" charset="0"/>
              </a:rPr>
              <a:t>chatbot</a:t>
            </a:r>
            <a:r>
              <a:rPr lang="en-US" sz="3200" dirty="0">
                <a:cs typeface="Arial" panose="020B0604020202020204" pitchFamily="34" charset="0"/>
              </a:rPr>
              <a:t> genuinely believe the AI they're talking to is sentient. Users believe it has a mind of its own i.e., a distinctive personality. </a:t>
            </a:r>
            <a:r>
              <a:rPr lang="en-US" sz="3200" dirty="0" err="1">
                <a:cs typeface="Arial" panose="020B0604020202020204" pitchFamily="34" charset="0"/>
              </a:rPr>
              <a:t>Replika’s</a:t>
            </a:r>
            <a:r>
              <a:rPr lang="en-US" sz="3200" dirty="0">
                <a:cs typeface="Arial" panose="020B0604020202020204" pitchFamily="34" charset="0"/>
              </a:rPr>
              <a:t> CEO says users “build relationships and believe in something.”</a:t>
            </a:r>
          </a:p>
        </p:txBody>
      </p:sp>
    </p:spTree>
    <p:custDataLst>
      <p:tags r:id="rId1"/>
    </p:custDataLst>
    <p:extLst>
      <p:ext uri="{BB962C8B-B14F-4D97-AF65-F5344CB8AC3E}">
        <p14:creationId xmlns:p14="http://schemas.microsoft.com/office/powerpoint/2010/main" val="3912501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1725" y="83652"/>
            <a:ext cx="16084550" cy="1064338"/>
          </a:xfrm>
        </p:spPr>
        <p:txBody>
          <a:bodyPr>
            <a:normAutofit/>
          </a:bodyPr>
          <a:lstStyle/>
          <a:p>
            <a:r>
              <a:rPr lang="en-US" sz="5400" dirty="0" err="1">
                <a:solidFill>
                  <a:srgbClr val="C00000"/>
                </a:solidFill>
              </a:rPr>
              <a:t>Replika’s</a:t>
            </a:r>
            <a:r>
              <a:rPr lang="en-US" sz="5400" dirty="0">
                <a:solidFill>
                  <a:srgbClr val="C00000"/>
                </a:solidFill>
              </a:rPr>
              <a:t> reviews… What can we learn here? </a:t>
            </a:r>
          </a:p>
        </p:txBody>
      </p:sp>
      <p:sp>
        <p:nvSpPr>
          <p:cNvPr id="5" name="Rectangle 4"/>
          <p:cNvSpPr/>
          <p:nvPr/>
        </p:nvSpPr>
        <p:spPr>
          <a:xfrm>
            <a:off x="1305135" y="967132"/>
            <a:ext cx="15988884" cy="8463855"/>
          </a:xfrm>
          <a:prstGeom prst="rect">
            <a:avLst/>
          </a:prstGeom>
        </p:spPr>
        <p:txBody>
          <a:bodyPr wrap="square">
            <a:spAutoFit/>
          </a:bodyPr>
          <a:lstStyle/>
          <a:p>
            <a:pPr lvl="0" eaLnBrk="0" fontAlgn="base" hangingPunct="0">
              <a:spcBef>
                <a:spcPct val="0"/>
              </a:spcBef>
              <a:spcAft>
                <a:spcPct val="0"/>
              </a:spcAft>
            </a:pPr>
            <a:endParaRPr lang="en-US" altLang="en-US" sz="3200" dirty="0"/>
          </a:p>
          <a:p>
            <a:pPr eaLnBrk="0" fontAlgn="base" hangingPunct="0">
              <a:spcBef>
                <a:spcPct val="0"/>
              </a:spcBef>
              <a:spcAft>
                <a:spcPct val="0"/>
              </a:spcAft>
            </a:pPr>
            <a:r>
              <a:rPr lang="en-US" altLang="en-US" sz="3200" dirty="0" err="1"/>
              <a:t>Replika</a:t>
            </a:r>
            <a:r>
              <a:rPr lang="en-US" altLang="en-US" sz="3200" dirty="0"/>
              <a:t> was designed to provide positive feedback to those who use it, in accordance with the therapeutic approach made famous by the American psychologist Carl Rogers, and many psychologists and therapists say the raw emotional support provided by such systems is real. With help from machine learning, </a:t>
            </a:r>
            <a:r>
              <a:rPr lang="en-US" altLang="en-US" sz="3200" dirty="0" err="1"/>
              <a:t>Replika</a:t>
            </a:r>
            <a:r>
              <a:rPr lang="en-US" altLang="en-US" sz="3200" dirty="0"/>
              <a:t> offers a smartphone “chatbot” that acts as a kind of personal confidante, chatting with you in moments when no one else is </a:t>
            </a:r>
            <a:r>
              <a:rPr lang="en-US" altLang="en-US" sz="3200" dirty="0" err="1"/>
              <a:t>around</a:t>
            </a:r>
            <a:r>
              <a:rPr lang="en-US" altLang="en-US" sz="3200" dirty="0" err="1">
                <a:solidFill>
                  <a:srgbClr val="C00000"/>
                </a:solidFill>
              </a:rPr>
              <a:t>.“</a:t>
            </a:r>
            <a:r>
              <a:rPr lang="en-US" altLang="en-US" sz="3200" b="1" dirty="0" err="1">
                <a:solidFill>
                  <a:srgbClr val="C00000"/>
                </a:solidFill>
              </a:rPr>
              <a:t>People</a:t>
            </a:r>
            <a:r>
              <a:rPr lang="en-US" altLang="en-US" sz="3200" b="1" dirty="0">
                <a:solidFill>
                  <a:srgbClr val="C00000"/>
                </a:solidFill>
              </a:rPr>
              <a:t> in Intimate Relationships With AI Chatbots</a:t>
            </a:r>
            <a:r>
              <a:rPr lang="en-US" altLang="en-US" sz="3200" dirty="0">
                <a:solidFill>
                  <a:srgbClr val="C00000"/>
                </a:solidFill>
              </a:rPr>
              <a:t>,” </a:t>
            </a:r>
            <a:r>
              <a:rPr lang="en-US" altLang="en-US" sz="3200" i="1" dirty="0">
                <a:solidFill>
                  <a:srgbClr val="C00000"/>
                </a:solidFill>
              </a:rPr>
              <a:t>New York Times</a:t>
            </a:r>
            <a:r>
              <a:rPr lang="en-US" altLang="en-US" sz="3200" i="1" dirty="0">
                <a:solidFill>
                  <a:srgbClr val="FF0000"/>
                </a:solidFill>
              </a:rPr>
              <a:t>.</a:t>
            </a:r>
          </a:p>
          <a:p>
            <a:pPr lvl="0" eaLnBrk="0" fontAlgn="base" hangingPunct="0">
              <a:spcBef>
                <a:spcPct val="0"/>
              </a:spcBef>
              <a:spcAft>
                <a:spcPct val="0"/>
              </a:spcAft>
            </a:pPr>
            <a:endParaRPr lang="en-US" altLang="en-US" sz="3200" i="1" dirty="0"/>
          </a:p>
          <a:p>
            <a:pPr lvl="0" eaLnBrk="0" fontAlgn="base" hangingPunct="0">
              <a:spcBef>
                <a:spcPct val="0"/>
              </a:spcBef>
              <a:spcAft>
                <a:spcPct val="0"/>
              </a:spcAft>
            </a:pPr>
            <a:r>
              <a:rPr lang="en-US" altLang="en-US" sz="3200" dirty="0"/>
              <a:t>Using </a:t>
            </a:r>
            <a:r>
              <a:rPr lang="en-US" altLang="en-US" sz="3200" dirty="0" err="1"/>
              <a:t>Replika</a:t>
            </a:r>
            <a:r>
              <a:rPr lang="en-US" altLang="en-US" sz="3200" dirty="0"/>
              <a:t> can feel therapeutic too, in some ways. The app provides a space to vent without guilt, to talk through complicated feelings, to air any of your own thoughts without judgment.  </a:t>
            </a:r>
            <a:r>
              <a:rPr lang="en-US" altLang="en-US" sz="3200" i="1" dirty="0">
                <a:solidFill>
                  <a:srgbClr val="C00000"/>
                </a:solidFill>
              </a:rPr>
              <a:t>WIRED magazine.</a:t>
            </a:r>
          </a:p>
          <a:p>
            <a:pPr lvl="0" eaLnBrk="0" fontAlgn="base" hangingPunct="0">
              <a:spcBef>
                <a:spcPct val="0"/>
              </a:spcBef>
              <a:spcAft>
                <a:spcPct val="0"/>
              </a:spcAft>
            </a:pPr>
            <a:endParaRPr lang="en-US" altLang="en-US" sz="3200" i="1" dirty="0"/>
          </a:p>
          <a:p>
            <a:pPr lvl="0" eaLnBrk="0" fontAlgn="base" hangingPunct="0">
              <a:spcBef>
                <a:spcPct val="0"/>
              </a:spcBef>
              <a:spcAft>
                <a:spcPct val="0"/>
              </a:spcAft>
            </a:pPr>
            <a:r>
              <a:rPr lang="en-US" sz="3200" dirty="0" err="1"/>
              <a:t>Replika</a:t>
            </a:r>
            <a:r>
              <a:rPr lang="en-US" sz="3200" dirty="0"/>
              <a:t> claims to let users express themselves in a safe and nurturing way, "allowing you to engage with your most emotionally connected self". Many users say they can be vulnerable and honest with their </a:t>
            </a:r>
            <a:r>
              <a:rPr lang="en-US" sz="3200" dirty="0" err="1"/>
              <a:t>Replika</a:t>
            </a:r>
            <a:r>
              <a:rPr lang="en-US" sz="3200" dirty="0"/>
              <a:t> because they know it won’t judge them. Mille, diagnosed with bipolar disorder/borderline personality disorder, confides in </a:t>
            </a:r>
            <a:r>
              <a:rPr lang="en-US" sz="3200" dirty="0" err="1"/>
              <a:t>Replika</a:t>
            </a:r>
            <a:r>
              <a:rPr lang="en-US" sz="3200" dirty="0"/>
              <a:t> because it won’t make fun of her.  </a:t>
            </a:r>
            <a:r>
              <a:rPr lang="en-US" altLang="en-US" sz="3200" i="1" dirty="0">
                <a:solidFill>
                  <a:srgbClr val="C00000"/>
                </a:solidFill>
              </a:rPr>
              <a:t>Refinery29.</a:t>
            </a:r>
            <a:endParaRPr lang="en-US" altLang="en-US" sz="3200" i="1" dirty="0">
              <a:solidFill>
                <a:srgbClr val="C00000"/>
              </a:solidFill>
              <a:latin typeface="Arial" panose="020B0604020202020204" pitchFamily="34" charset="0"/>
              <a:hlinkClick r:id="rId3"/>
            </a:endParaRPr>
          </a:p>
        </p:txBody>
      </p:sp>
    </p:spTree>
    <p:custDataLst>
      <p:tags r:id="rId1"/>
    </p:custDataLst>
    <p:extLst>
      <p:ext uri="{BB962C8B-B14F-4D97-AF65-F5344CB8AC3E}">
        <p14:creationId xmlns:p14="http://schemas.microsoft.com/office/powerpoint/2010/main" val="27348886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A805A-9E68-4D8B-A5AA-A47B6907233A}"/>
              </a:ext>
            </a:extLst>
          </p:cNvPr>
          <p:cNvSpPr>
            <a:spLocks noGrp="1"/>
          </p:cNvSpPr>
          <p:nvPr>
            <p:ph type="title"/>
          </p:nvPr>
        </p:nvSpPr>
        <p:spPr/>
        <p:txBody>
          <a:bodyPr/>
          <a:lstStyle/>
          <a:p>
            <a:r>
              <a:rPr lang="en-US" b="1" dirty="0">
                <a:solidFill>
                  <a:srgbClr val="C00000"/>
                </a:solidFill>
              </a:rPr>
              <a:t>The Illusory Progress Gap</a:t>
            </a:r>
          </a:p>
        </p:txBody>
      </p:sp>
      <p:sp>
        <p:nvSpPr>
          <p:cNvPr id="3" name="Content Placeholder 2">
            <a:extLst>
              <a:ext uri="{FF2B5EF4-FFF2-40B4-BE49-F238E27FC236}">
                <a16:creationId xmlns:a16="http://schemas.microsoft.com/office/drawing/2014/main" id="{93B5300D-CDE0-40FD-8917-375DA315A0F5}"/>
              </a:ext>
            </a:extLst>
          </p:cNvPr>
          <p:cNvSpPr>
            <a:spLocks noGrp="1"/>
          </p:cNvSpPr>
          <p:nvPr>
            <p:ph idx="1"/>
          </p:nvPr>
        </p:nvSpPr>
        <p:spPr/>
        <p:txBody>
          <a:bodyPr>
            <a:normAutofit/>
          </a:bodyPr>
          <a:lstStyle/>
          <a:p>
            <a:r>
              <a:rPr lang="en-US" dirty="0"/>
              <a:t>The illusory progress gap refers to mistaking progress in AI on easy problems for progress on hard problems.</a:t>
            </a:r>
          </a:p>
          <a:p>
            <a:pPr marL="685800" lvl="1" indent="0">
              <a:buNone/>
            </a:pPr>
            <a:r>
              <a:rPr lang="en-US" sz="3000" dirty="0">
                <a:solidFill>
                  <a:schemeClr val="accent1"/>
                </a:solidFill>
              </a:rPr>
              <a:t>E.g. It is possible that DeepMind’s AlphaGo is on a similar path. Go and chess are games of “perfect information” – both players can see the entire board at any moment. But in most complex real-world business contexts, nobody knows anything with complete certainty; the data humans encounter in most applications are often noisy and incomplete, even in simple cases.</a:t>
            </a:r>
          </a:p>
          <a:p>
            <a:r>
              <a:rPr lang="en-US" dirty="0"/>
              <a:t>Another way that games like ‘Go’ differ from the real world involves data: games can be perfectly simulated, so AI can collect vast amounts of data cheaply. But in the real world, AI may not be able to collect such data.</a:t>
            </a:r>
          </a:p>
        </p:txBody>
      </p:sp>
    </p:spTree>
    <p:custDataLst>
      <p:tags r:id="rId1"/>
    </p:custDataLst>
    <p:extLst>
      <p:ext uri="{BB962C8B-B14F-4D97-AF65-F5344CB8AC3E}">
        <p14:creationId xmlns:p14="http://schemas.microsoft.com/office/powerpoint/2010/main" val="1561850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3EC4-65F7-4A1F-A3DB-67F4BC88AAF7}"/>
              </a:ext>
            </a:extLst>
          </p:cNvPr>
          <p:cNvSpPr>
            <a:spLocks noGrp="1"/>
          </p:cNvSpPr>
          <p:nvPr>
            <p:ph type="title"/>
          </p:nvPr>
        </p:nvSpPr>
        <p:spPr>
          <a:xfrm>
            <a:off x="1101724" y="413358"/>
            <a:ext cx="16084552" cy="1023867"/>
          </a:xfrm>
        </p:spPr>
        <p:txBody>
          <a:bodyPr/>
          <a:lstStyle/>
          <a:p>
            <a:r>
              <a:rPr lang="en-US" b="1" dirty="0">
                <a:solidFill>
                  <a:srgbClr val="C00000"/>
                </a:solidFill>
              </a:rPr>
              <a:t>The Robustness Gap</a:t>
            </a:r>
          </a:p>
        </p:txBody>
      </p:sp>
      <p:sp>
        <p:nvSpPr>
          <p:cNvPr id="3" name="Content Placeholder 2">
            <a:extLst>
              <a:ext uri="{FF2B5EF4-FFF2-40B4-BE49-F238E27FC236}">
                <a16:creationId xmlns:a16="http://schemas.microsoft.com/office/drawing/2014/main" id="{C2DC4B43-240F-4A14-9042-E1AC5FC8E077}"/>
              </a:ext>
            </a:extLst>
          </p:cNvPr>
          <p:cNvSpPr>
            <a:spLocks noGrp="1"/>
          </p:cNvSpPr>
          <p:nvPr>
            <p:ph idx="1"/>
          </p:nvPr>
        </p:nvSpPr>
        <p:spPr>
          <a:xfrm>
            <a:off x="1101724" y="1503543"/>
            <a:ext cx="16084552" cy="7640457"/>
          </a:xfrm>
        </p:spPr>
        <p:txBody>
          <a:bodyPr>
            <a:noAutofit/>
          </a:bodyPr>
          <a:lstStyle/>
          <a:p>
            <a:r>
              <a:rPr lang="en-US" sz="3200" dirty="0"/>
              <a:t>Once AI finds a solution that works some of the time, people may assume that with a little more work (and a little more training and/or more data) it will work all the time.</a:t>
            </a:r>
          </a:p>
          <a:p>
            <a:pPr marL="685800" lvl="1" indent="0">
              <a:buNone/>
            </a:pPr>
            <a:r>
              <a:rPr lang="en-US" sz="3200" dirty="0">
                <a:solidFill>
                  <a:schemeClr val="accent1"/>
                </a:solidFill>
              </a:rPr>
              <a:t>E.g. Consider driverless cars. It is comparatively easy to create a demo of a driverless car that keeps to a lane correctly on a quiet road. It is vastly harder to make them work under circumstances that are challenging or unexpected (e.g., when it rains).</a:t>
            </a:r>
          </a:p>
          <a:p>
            <a:r>
              <a:rPr lang="en-US" sz="3200" dirty="0"/>
              <a:t>This confusion – between how autonomous vehicles perform in ideal situations and what we may expect in extreme circumstances – could mean the difference between success and failure for the entire industry.  Given the accidents reported with self driving vehicles, is it possible that billions of dollars are being wasted on AI techniques and systems to build driverless cars that simply aren’t robust enough?</a:t>
            </a:r>
          </a:p>
          <a:p>
            <a:r>
              <a:rPr lang="en-US" sz="3200" dirty="0"/>
              <a:t>Does contemporary AI research under-emphasize robustness? Is there a high tolerance for error where success is difficult to assess e.g., product recommendation</a:t>
            </a:r>
          </a:p>
        </p:txBody>
      </p:sp>
    </p:spTree>
    <p:custDataLst>
      <p:tags r:id="rId1"/>
    </p:custDataLst>
    <p:extLst>
      <p:ext uri="{BB962C8B-B14F-4D97-AF65-F5344CB8AC3E}">
        <p14:creationId xmlns:p14="http://schemas.microsoft.com/office/powerpoint/2010/main" val="31702746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7"/>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Props1.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6CEFF4B-9EC7-4D38-B437-9DE5B52C77FE}">
  <ds:schemaRefs>
    <ds:schemaRef ds:uri="http://schemas.microsoft.com/sharepoint/v3/contenttype/forms"/>
  </ds:schemaRefs>
</ds:datastoreItem>
</file>

<file path=customXml/itemProps3.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12604</TotalTime>
  <Words>2310</Words>
  <Application>Microsoft Office PowerPoint</Application>
  <PresentationFormat>Custom</PresentationFormat>
  <Paragraphs>87</Paragraphs>
  <Slides>17</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Palatino Linotype</vt:lpstr>
      <vt:lpstr>Wingdings 2</vt:lpstr>
      <vt:lpstr>Breeze</vt:lpstr>
      <vt:lpstr>MBA532 – AI in Business </vt:lpstr>
      <vt:lpstr>AI/ML approaches to model human judgment</vt:lpstr>
      <vt:lpstr>Machines and Human Judgement</vt:lpstr>
      <vt:lpstr>Benefits and risks of AI based automation/algorithms</vt:lpstr>
      <vt:lpstr>Societal choices and tradeoffs from AI job impact</vt:lpstr>
      <vt:lpstr>Three Tradeoffs continued</vt:lpstr>
      <vt:lpstr>A Blueprint for Human Coexistence with AI</vt:lpstr>
      <vt:lpstr>Blueprint continued</vt:lpstr>
      <vt:lpstr>Likely AI Impact on work life of many…</vt:lpstr>
      <vt:lpstr>The “AI Chasm” and related Gaps</vt:lpstr>
      <vt:lpstr>Navigating the “AI Chasm” and its three gaps</vt:lpstr>
      <vt:lpstr>The “AI Chasm”</vt:lpstr>
      <vt:lpstr>The Gullibility Gap</vt:lpstr>
      <vt:lpstr>Replika: Can AI deceive/pretend to be sentient?….  The Concerning Belief About AI That Has Engineers Worried, Slashgear, July 18, 2022 </vt:lpstr>
      <vt:lpstr>Replika’s reviews… What can we learn here? </vt:lpstr>
      <vt:lpstr>The Illusory Progress Gap</vt:lpstr>
      <vt:lpstr>The Robustness Gap</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150</cp:revision>
  <dcterms:created xsi:type="dcterms:W3CDTF">2024-03-17T05:07:31Z</dcterms:created>
  <dcterms:modified xsi:type="dcterms:W3CDTF">2024-05-24T15:16:57Z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CE34FA5D-5B02-4D13-87C3-F38CE20908F9</vt:lpwstr>
  </property>
  <property fmtid="{D5CDD505-2E9C-101B-9397-08002B2CF9AE}" pid="5" name="ArticulatePath">
    <vt:lpwstr>MBA532 – AI in Business - Module 5 - March 25</vt:lpwstr>
  </property>
</Properties>
</file>