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sldIdLst>
    <p:sldId id="259" r:id="rId5"/>
    <p:sldId id="343" r:id="rId6"/>
    <p:sldId id="263" r:id="rId7"/>
    <p:sldId id="336" r:id="rId8"/>
    <p:sldId id="337" r:id="rId9"/>
    <p:sldId id="338" r:id="rId10"/>
    <p:sldId id="339" r:id="rId11"/>
  </p:sldIdLst>
  <p:sldSz cx="18288000" cy="10287000"/>
  <p:notesSz cx="6858000" cy="9144000"/>
  <p:custDataLst>
    <p:tags r:id="rId12"/>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84"/>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MODULE 1 – AI Overview/Landscape</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4C99A-7A30-4963-97E8-96AD3B623B41}"/>
              </a:ext>
            </a:extLst>
          </p:cNvPr>
          <p:cNvSpPr>
            <a:spLocks noGrp="1"/>
          </p:cNvSpPr>
          <p:nvPr>
            <p:ph type="title"/>
          </p:nvPr>
        </p:nvSpPr>
        <p:spPr/>
        <p:txBody>
          <a:bodyPr/>
          <a:lstStyle/>
          <a:p>
            <a:r>
              <a:rPr lang="en-US" dirty="0"/>
              <a:t>Key Technology Catalysts For AI’s Development</a:t>
            </a:r>
          </a:p>
        </p:txBody>
      </p:sp>
      <p:sp>
        <p:nvSpPr>
          <p:cNvPr id="3" name="Content Placeholder 2">
            <a:extLst>
              <a:ext uri="{FF2B5EF4-FFF2-40B4-BE49-F238E27FC236}">
                <a16:creationId xmlns:a16="http://schemas.microsoft.com/office/drawing/2014/main" id="{482A871E-D464-4BF8-A265-65484915C93C}"/>
              </a:ext>
            </a:extLst>
          </p:cNvPr>
          <p:cNvSpPr>
            <a:spLocks noGrp="1"/>
          </p:cNvSpPr>
          <p:nvPr>
            <p:ph idx="1"/>
          </p:nvPr>
        </p:nvSpPr>
        <p:spPr/>
        <p:txBody>
          <a:bodyPr/>
          <a:lstStyle/>
          <a:p>
            <a:endParaRPr lang="en-US"/>
          </a:p>
        </p:txBody>
      </p:sp>
    </p:spTree>
    <p:custDataLst>
      <p:tags r:id="rId1"/>
    </p:custDataLst>
    <p:extLst>
      <p:ext uri="{BB962C8B-B14F-4D97-AF65-F5344CB8AC3E}">
        <p14:creationId xmlns:p14="http://schemas.microsoft.com/office/powerpoint/2010/main" val="1039712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522513"/>
            <a:ext cx="16084550" cy="964877"/>
          </a:xfrm>
        </p:spPr>
        <p:txBody>
          <a:bodyPr/>
          <a:lstStyle/>
          <a:p>
            <a:r>
              <a:rPr lang="en-US" altLang="en-US" sz="4800" dirty="0"/>
              <a:t>3 Key Technology Catalysts for AI Development</a:t>
            </a:r>
          </a:p>
        </p:txBody>
      </p:sp>
      <p:sp>
        <p:nvSpPr>
          <p:cNvPr id="2" name="TextBox 1">
            <a:extLst>
              <a:ext uri="{FF2B5EF4-FFF2-40B4-BE49-F238E27FC236}">
                <a16:creationId xmlns:a16="http://schemas.microsoft.com/office/drawing/2014/main" id="{569EFE55-F44A-4A16-BF4B-31B9FC214F0B}"/>
              </a:ext>
            </a:extLst>
          </p:cNvPr>
          <p:cNvSpPr txBox="1"/>
          <p:nvPr/>
        </p:nvSpPr>
        <p:spPr>
          <a:xfrm>
            <a:off x="1266502" y="1711326"/>
            <a:ext cx="15472616" cy="8863965"/>
          </a:xfrm>
          <a:prstGeom prst="rect">
            <a:avLst/>
          </a:prstGeom>
          <a:noFill/>
        </p:spPr>
        <p:txBody>
          <a:bodyPr wrap="square" rtlCol="0">
            <a:spAutoFit/>
          </a:bodyPr>
          <a:lstStyle/>
          <a:p>
            <a:r>
              <a:rPr lang="en-US" sz="3600" b="1" dirty="0">
                <a:solidFill>
                  <a:srgbClr val="0070C0"/>
                </a:solidFill>
                <a:latin typeface="+mn-lt"/>
              </a:rPr>
              <a:t>1: Computer Chips Evolution: CPUs to GPUs to NPUs and IPU</a:t>
            </a:r>
            <a:r>
              <a:rPr lang="en-US" sz="3200" dirty="0">
                <a:solidFill>
                  <a:srgbClr val="0070C0"/>
                </a:solidFill>
                <a:latin typeface="+mn-lt"/>
              </a:rPr>
              <a:t>s</a:t>
            </a:r>
          </a:p>
          <a:p>
            <a:endParaRPr lang="en-US" sz="3200" dirty="0">
              <a:latin typeface="+mn-lt"/>
            </a:endParaRPr>
          </a:p>
          <a:p>
            <a:r>
              <a:rPr lang="en-US" sz="3200" dirty="0">
                <a:latin typeface="+mn-lt"/>
              </a:rPr>
              <a:t>CPUs or Central Processing Units – They execute instructions in a computer program, using serial processing of instructions.</a:t>
            </a:r>
          </a:p>
          <a:p>
            <a:endParaRPr lang="en-US" sz="3200" dirty="0">
              <a:latin typeface="+mn-lt"/>
            </a:endParaRPr>
          </a:p>
          <a:p>
            <a:r>
              <a:rPr lang="en-US" sz="3200" dirty="0">
                <a:latin typeface="+mn-lt"/>
              </a:rPr>
              <a:t>GPUs or Graphical Processing Units - Specially designed chips adapted for graphics and gameplay. GPUs use parallel processing capabilities.</a:t>
            </a:r>
          </a:p>
          <a:p>
            <a:endParaRPr lang="en-US" sz="3200" dirty="0">
              <a:latin typeface="+mn-lt"/>
            </a:endParaRPr>
          </a:p>
          <a:p>
            <a:r>
              <a:rPr lang="en-US" sz="3200" dirty="0">
                <a:latin typeface="+mn-lt"/>
              </a:rPr>
              <a:t>NPUs or Neural Processing Units -  D</a:t>
            </a:r>
            <a:r>
              <a:rPr lang="en-US" sz="3200" i="0" dirty="0">
                <a:effectLst/>
                <a:latin typeface="+mn-lt"/>
              </a:rPr>
              <a:t>edicated processing units on a larger SoC (System on a Chip) designed specifically for accelerating neural network operations and AI tasks</a:t>
            </a:r>
          </a:p>
          <a:p>
            <a:endParaRPr lang="en-US" sz="3200" dirty="0">
              <a:latin typeface="+mn-lt"/>
            </a:endParaRPr>
          </a:p>
          <a:p>
            <a:r>
              <a:rPr lang="en-US" sz="3200" dirty="0">
                <a:latin typeface="+mn-lt"/>
              </a:rPr>
              <a:t>IPUS or Intelligence Processing Units (offered by </a:t>
            </a:r>
            <a:r>
              <a:rPr lang="en-US" sz="3200" dirty="0" err="1">
                <a:latin typeface="+mn-lt"/>
              </a:rPr>
              <a:t>Graphcore</a:t>
            </a:r>
            <a:r>
              <a:rPr lang="en-US" sz="3200" dirty="0">
                <a:latin typeface="+mn-lt"/>
              </a:rPr>
              <a:t>)</a:t>
            </a:r>
          </a:p>
          <a:p>
            <a:r>
              <a:rPr lang="en-US" sz="3200" i="0" dirty="0">
                <a:effectLst/>
                <a:latin typeface="+mn-lt"/>
              </a:rPr>
              <a:t>are specialized hardware accelerators designed to offload compute-intensive infrastructure tasks from Central Processing Units (CPUs). These tasks include activities like packet processing, traffic shaping, and virtual switching.</a:t>
            </a:r>
            <a:endParaRPr lang="en-US" sz="3200" dirty="0">
              <a:latin typeface="+mn-lt"/>
            </a:endParaRPr>
          </a:p>
          <a:p>
            <a:endParaRPr lang="en-US" sz="4000" dirty="0"/>
          </a:p>
          <a:p>
            <a:endParaRPr lang="en-US"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59F29-14A7-4D73-9D55-B79CCD9C9D50}"/>
              </a:ext>
            </a:extLst>
          </p:cNvPr>
          <p:cNvSpPr>
            <a:spLocks noGrp="1"/>
          </p:cNvSpPr>
          <p:nvPr>
            <p:ph type="title"/>
          </p:nvPr>
        </p:nvSpPr>
        <p:spPr>
          <a:xfrm>
            <a:off x="1098550" y="690465"/>
            <a:ext cx="16084552" cy="1022334"/>
          </a:xfrm>
        </p:spPr>
        <p:txBody>
          <a:bodyPr/>
          <a:lstStyle/>
          <a:p>
            <a:r>
              <a:rPr lang="en-US" altLang="en-US" sz="4800" dirty="0"/>
              <a:t>3 Key Technology Catalysts for AI Development</a:t>
            </a:r>
            <a:endParaRPr lang="en-US" sz="4800" dirty="0"/>
          </a:p>
        </p:txBody>
      </p:sp>
      <p:sp>
        <p:nvSpPr>
          <p:cNvPr id="3" name="Content Placeholder 2">
            <a:extLst>
              <a:ext uri="{FF2B5EF4-FFF2-40B4-BE49-F238E27FC236}">
                <a16:creationId xmlns:a16="http://schemas.microsoft.com/office/drawing/2014/main" id="{F46BE077-73F1-4F2C-8CAA-0DF7B1C0D3F7}"/>
              </a:ext>
            </a:extLst>
          </p:cNvPr>
          <p:cNvSpPr>
            <a:spLocks noGrp="1"/>
          </p:cNvSpPr>
          <p:nvPr>
            <p:ph idx="1"/>
          </p:nvPr>
        </p:nvSpPr>
        <p:spPr>
          <a:xfrm>
            <a:off x="1285162" y="2050699"/>
            <a:ext cx="16084552" cy="6888006"/>
          </a:xfrm>
        </p:spPr>
        <p:txBody>
          <a:bodyPr/>
          <a:lstStyle/>
          <a:p>
            <a:pPr marL="0" indent="0">
              <a:buNone/>
            </a:pPr>
            <a:r>
              <a:rPr lang="en-US" sz="3600" b="1" dirty="0">
                <a:solidFill>
                  <a:srgbClr val="0070C0"/>
                </a:solidFill>
              </a:rPr>
              <a:t>2: Transition: General Purpose Computing to Accelerated Computing</a:t>
            </a:r>
          </a:p>
          <a:p>
            <a:pPr marL="0" indent="0">
              <a:buNone/>
            </a:pPr>
            <a:r>
              <a:rPr lang="en-US" dirty="0"/>
              <a:t>NVIDIA started the major shift toward Accelerated Computing in order to solve hard computer problems that General Purpose Computing could not address because of its reliance on CPUs that tackled tasks best through serial processing. </a:t>
            </a:r>
          </a:p>
          <a:p>
            <a:pPr marL="0" indent="0">
              <a:buNone/>
            </a:pPr>
            <a:r>
              <a:rPr lang="en-US" dirty="0"/>
              <a:t>Accelerated Computing relies on GPUs and IPUs, working in conjunction with CPUs and other processors, to accomplish major tasks via parallel processing.</a:t>
            </a:r>
          </a:p>
          <a:p>
            <a:pPr marL="0" indent="0">
              <a:buNone/>
            </a:pPr>
            <a:r>
              <a:rPr lang="en-US" dirty="0"/>
              <a:t>. </a:t>
            </a:r>
          </a:p>
        </p:txBody>
      </p:sp>
    </p:spTree>
    <p:custDataLst>
      <p:tags r:id="rId1"/>
    </p:custDataLst>
    <p:extLst>
      <p:ext uri="{BB962C8B-B14F-4D97-AF65-F5344CB8AC3E}">
        <p14:creationId xmlns:p14="http://schemas.microsoft.com/office/powerpoint/2010/main" val="3632828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E3B1B-092E-4C26-BA56-912C08AF157A}"/>
              </a:ext>
            </a:extLst>
          </p:cNvPr>
          <p:cNvSpPr>
            <a:spLocks noGrp="1"/>
          </p:cNvSpPr>
          <p:nvPr>
            <p:ph type="title"/>
          </p:nvPr>
        </p:nvSpPr>
        <p:spPr>
          <a:xfrm>
            <a:off x="1098550" y="412692"/>
            <a:ext cx="16084552" cy="1057512"/>
          </a:xfrm>
        </p:spPr>
        <p:txBody>
          <a:bodyPr/>
          <a:lstStyle/>
          <a:p>
            <a:r>
              <a:rPr lang="en-US" altLang="en-US" dirty="0"/>
              <a:t>Key Technology Catalysts for AI Development</a:t>
            </a:r>
            <a:endParaRPr lang="en-US" dirty="0"/>
          </a:p>
        </p:txBody>
      </p:sp>
      <p:sp>
        <p:nvSpPr>
          <p:cNvPr id="4" name="TextBox 3">
            <a:extLst>
              <a:ext uri="{FF2B5EF4-FFF2-40B4-BE49-F238E27FC236}">
                <a16:creationId xmlns:a16="http://schemas.microsoft.com/office/drawing/2014/main" id="{8804C62E-59A3-4F1F-8DBE-958000A665FE}"/>
              </a:ext>
            </a:extLst>
          </p:cNvPr>
          <p:cNvSpPr txBox="1"/>
          <p:nvPr/>
        </p:nvSpPr>
        <p:spPr>
          <a:xfrm>
            <a:off x="2301912" y="2026006"/>
            <a:ext cx="15419799" cy="7848302"/>
          </a:xfrm>
          <a:prstGeom prst="rect">
            <a:avLst/>
          </a:prstGeom>
          <a:noFill/>
        </p:spPr>
        <p:txBody>
          <a:bodyPr wrap="none" rtlCol="0">
            <a:spAutoFit/>
          </a:bodyPr>
          <a:lstStyle/>
          <a:p>
            <a:r>
              <a:rPr lang="en-US" sz="3600" dirty="0"/>
              <a:t>The pursuit of the accelerated computing approach has allowed </a:t>
            </a:r>
          </a:p>
          <a:p>
            <a:r>
              <a:rPr lang="en-US" sz="3600" dirty="0"/>
              <a:t>computer generated solutions to hard problems such as modeling </a:t>
            </a:r>
          </a:p>
          <a:p>
            <a:r>
              <a:rPr lang="en-US" sz="3600" dirty="0"/>
              <a:t>climate change, autonomous automobile navigation, generative AI etc..</a:t>
            </a:r>
          </a:p>
          <a:p>
            <a:endParaRPr lang="en-US" sz="3600" dirty="0"/>
          </a:p>
          <a:p>
            <a:r>
              <a:rPr lang="en-US" sz="3600" dirty="0"/>
              <a:t>Contributions from Accelerated Computing become clear after considering </a:t>
            </a:r>
          </a:p>
          <a:p>
            <a:r>
              <a:rPr lang="en-US" sz="3600" dirty="0"/>
              <a:t>Moore’s Law Which predicts that the number of transistors</a:t>
            </a:r>
          </a:p>
          <a:p>
            <a:r>
              <a:rPr lang="en-US" sz="3600" dirty="0"/>
              <a:t>on a chip will double every two years. However, experts predict that </a:t>
            </a:r>
          </a:p>
          <a:p>
            <a:r>
              <a:rPr lang="en-US" sz="3600" dirty="0"/>
              <a:t>the Law will no longer hold in 2020s. </a:t>
            </a:r>
          </a:p>
          <a:p>
            <a:endParaRPr lang="en-US" sz="3600" dirty="0"/>
          </a:p>
          <a:p>
            <a:r>
              <a:rPr lang="en-US" sz="3600" dirty="0"/>
              <a:t>Accordingly to Jensen Huang, the CEO of Nvidia, accelerated </a:t>
            </a:r>
          </a:p>
          <a:p>
            <a:r>
              <a:rPr lang="en-US" sz="3600" dirty="0"/>
              <a:t>computing has dramatically lowered the cost of computing by </a:t>
            </a:r>
          </a:p>
          <a:p>
            <a:r>
              <a:rPr lang="en-US" sz="3600" dirty="0"/>
              <a:t>Approximately a million times every 10 years for the past several</a:t>
            </a:r>
          </a:p>
          <a:p>
            <a:r>
              <a:rPr lang="en-US" sz="3600" dirty="0"/>
              <a:t>decades, and this trend is expected to continue into the future.</a:t>
            </a:r>
          </a:p>
          <a:p>
            <a:endParaRPr lang="en-US" sz="3600" dirty="0"/>
          </a:p>
        </p:txBody>
      </p:sp>
    </p:spTree>
    <p:custDataLst>
      <p:tags r:id="rId1"/>
    </p:custDataLst>
    <p:extLst>
      <p:ext uri="{BB962C8B-B14F-4D97-AF65-F5344CB8AC3E}">
        <p14:creationId xmlns:p14="http://schemas.microsoft.com/office/powerpoint/2010/main" val="1528140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3993E-D59F-43DF-B0BF-1C5936B69F09}"/>
              </a:ext>
            </a:extLst>
          </p:cNvPr>
          <p:cNvSpPr>
            <a:spLocks noGrp="1"/>
          </p:cNvSpPr>
          <p:nvPr>
            <p:ph type="title"/>
          </p:nvPr>
        </p:nvSpPr>
        <p:spPr>
          <a:xfrm>
            <a:off x="1098550" y="653143"/>
            <a:ext cx="16084552" cy="1059656"/>
          </a:xfrm>
        </p:spPr>
        <p:txBody>
          <a:bodyPr/>
          <a:lstStyle/>
          <a:p>
            <a:r>
              <a:rPr lang="en-US" altLang="en-US" dirty="0"/>
              <a:t>Key Technology Catalysts for AI Development</a:t>
            </a:r>
            <a:endParaRPr lang="en-US" dirty="0"/>
          </a:p>
        </p:txBody>
      </p:sp>
      <p:sp>
        <p:nvSpPr>
          <p:cNvPr id="3" name="Content Placeholder 2">
            <a:extLst>
              <a:ext uri="{FF2B5EF4-FFF2-40B4-BE49-F238E27FC236}">
                <a16:creationId xmlns:a16="http://schemas.microsoft.com/office/drawing/2014/main" id="{9DBAAAF9-EB89-4313-826E-42EEDCD04BED}"/>
              </a:ext>
            </a:extLst>
          </p:cNvPr>
          <p:cNvSpPr>
            <a:spLocks noGrp="1"/>
          </p:cNvSpPr>
          <p:nvPr>
            <p:ph idx="1"/>
          </p:nvPr>
        </p:nvSpPr>
        <p:spPr/>
        <p:txBody>
          <a:bodyPr/>
          <a:lstStyle/>
          <a:p>
            <a:pPr marL="0" indent="0">
              <a:spcBef>
                <a:spcPts val="0"/>
              </a:spcBef>
              <a:buNone/>
            </a:pPr>
            <a:r>
              <a:rPr lang="en-US" sz="4000" dirty="0"/>
              <a:t>The industry’s goal is to lower the marginal cost of computing to zero by </a:t>
            </a:r>
            <a:r>
              <a:rPr lang="en-US" dirty="0"/>
              <a:t>leveraging Accelerated Computing. </a:t>
            </a:r>
          </a:p>
          <a:p>
            <a:pPr marL="0" indent="0">
              <a:spcBef>
                <a:spcPts val="0"/>
              </a:spcBef>
              <a:buNone/>
            </a:pPr>
            <a:endParaRPr lang="en-US" dirty="0"/>
          </a:p>
          <a:p>
            <a:pPr marL="0" indent="0">
              <a:spcBef>
                <a:spcPts val="0"/>
              </a:spcBef>
              <a:buNone/>
            </a:pPr>
            <a:r>
              <a:rPr lang="en-US" dirty="0"/>
              <a:t>At the same time, efficiency of computing calculations is increasing.</a:t>
            </a:r>
          </a:p>
          <a:p>
            <a:pPr marL="0" indent="0">
              <a:spcBef>
                <a:spcPts val="0"/>
              </a:spcBef>
              <a:buNone/>
            </a:pPr>
            <a:r>
              <a:rPr lang="en-US" sz="4000" dirty="0"/>
              <a:t>These two phenomena, when taken together, allow the industry to </a:t>
            </a:r>
          </a:p>
          <a:p>
            <a:pPr marL="0" indent="0">
              <a:spcBef>
                <a:spcPts val="0"/>
              </a:spcBef>
              <a:buNone/>
            </a:pPr>
            <a:r>
              <a:rPr lang="en-US" sz="4000" dirty="0"/>
              <a:t>address more difficult computing problems than were solved earlier.</a:t>
            </a:r>
          </a:p>
          <a:p>
            <a:endParaRPr lang="en-US" dirty="0"/>
          </a:p>
        </p:txBody>
      </p:sp>
    </p:spTree>
    <p:custDataLst>
      <p:tags r:id="rId1"/>
    </p:custDataLst>
    <p:extLst>
      <p:ext uri="{BB962C8B-B14F-4D97-AF65-F5344CB8AC3E}">
        <p14:creationId xmlns:p14="http://schemas.microsoft.com/office/powerpoint/2010/main" val="201582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C3ECF-6F0E-45F6-8B01-85BD39A11A34}"/>
              </a:ext>
            </a:extLst>
          </p:cNvPr>
          <p:cNvSpPr>
            <a:spLocks noGrp="1"/>
          </p:cNvSpPr>
          <p:nvPr>
            <p:ph type="title"/>
          </p:nvPr>
        </p:nvSpPr>
        <p:spPr>
          <a:xfrm>
            <a:off x="919790" y="113983"/>
            <a:ext cx="16084552" cy="891705"/>
          </a:xfrm>
        </p:spPr>
        <p:txBody>
          <a:bodyPr/>
          <a:lstStyle/>
          <a:p>
            <a:r>
              <a:rPr lang="en-US" altLang="en-US" sz="4800" dirty="0"/>
              <a:t>3 Key Technology Catalysts for AI Development</a:t>
            </a:r>
            <a:endParaRPr lang="en-US" sz="4800" dirty="0"/>
          </a:p>
        </p:txBody>
      </p:sp>
      <p:sp>
        <p:nvSpPr>
          <p:cNvPr id="5" name="TextBox 4">
            <a:extLst>
              <a:ext uri="{FF2B5EF4-FFF2-40B4-BE49-F238E27FC236}">
                <a16:creationId xmlns:a16="http://schemas.microsoft.com/office/drawing/2014/main" id="{38C3BAE7-C148-4A95-93E0-8006E4055C45}"/>
              </a:ext>
            </a:extLst>
          </p:cNvPr>
          <p:cNvSpPr txBox="1"/>
          <p:nvPr/>
        </p:nvSpPr>
        <p:spPr>
          <a:xfrm>
            <a:off x="1782172" y="1146633"/>
            <a:ext cx="15031592" cy="12341840"/>
          </a:xfrm>
          <a:prstGeom prst="rect">
            <a:avLst/>
          </a:prstGeom>
          <a:noFill/>
        </p:spPr>
        <p:txBody>
          <a:bodyPr wrap="square" rtlCol="0">
            <a:spAutoFit/>
          </a:bodyPr>
          <a:lstStyle/>
          <a:p>
            <a:r>
              <a:rPr lang="en-US" sz="4000" b="1" dirty="0">
                <a:solidFill>
                  <a:srgbClr val="0070C0"/>
                </a:solidFill>
              </a:rPr>
              <a:t>3. From Retrieval-based Generative outcomes to Retrieval-augmented Generative Outcomes</a:t>
            </a:r>
          </a:p>
          <a:p>
            <a:endParaRPr lang="en-US" sz="4000" b="1" dirty="0">
              <a:solidFill>
                <a:srgbClr val="0070C0"/>
              </a:solidFill>
            </a:endParaRPr>
          </a:p>
          <a:p>
            <a:r>
              <a:rPr lang="en-US" sz="3600" dirty="0"/>
              <a:t>Foundation models are a form of generative AI. They are trained </a:t>
            </a:r>
          </a:p>
          <a:p>
            <a:r>
              <a:rPr lang="en-US" sz="3600" dirty="0"/>
              <a:t>offline, making the model agnostic to data that is created after </a:t>
            </a:r>
          </a:p>
          <a:p>
            <a:r>
              <a:rPr lang="en-US" sz="3600" dirty="0"/>
              <a:t>the model was trained. Additionally, foundation models are trained </a:t>
            </a:r>
          </a:p>
          <a:p>
            <a:r>
              <a:rPr lang="en-US" sz="3600" dirty="0"/>
              <a:t>on very general domains, making them less effective for domain-</a:t>
            </a:r>
          </a:p>
          <a:p>
            <a:r>
              <a:rPr lang="en-US" sz="3600" dirty="0"/>
              <a:t>specific tasks. Unfortunately, this may result in hallucinations </a:t>
            </a:r>
          </a:p>
          <a:p>
            <a:r>
              <a:rPr lang="en-US" sz="3600" dirty="0"/>
              <a:t>while an Large Language Model (LLM) responds to a very specific user query.</a:t>
            </a:r>
          </a:p>
          <a:p>
            <a:endParaRPr lang="en-US" sz="3600" dirty="0"/>
          </a:p>
          <a:p>
            <a:r>
              <a:rPr lang="en-US" sz="3600" dirty="0"/>
              <a:t>To remedy this, Retrieval Augmented Generation (RAG) can </a:t>
            </a:r>
          </a:p>
          <a:p>
            <a:r>
              <a:rPr lang="en-US" sz="3600" dirty="0"/>
              <a:t>retrieve data from outside a foundation model to augment user </a:t>
            </a:r>
          </a:p>
          <a:p>
            <a:r>
              <a:rPr lang="en-US" sz="3600" dirty="0"/>
              <a:t>prompts by adding the relevant retrieved data in context.</a:t>
            </a:r>
          </a:p>
          <a:p>
            <a:endParaRPr lang="en-US" sz="4000" dirty="0"/>
          </a:p>
          <a:p>
            <a:r>
              <a:rPr lang="en-US" sz="4000" dirty="0"/>
              <a:t> </a:t>
            </a:r>
          </a:p>
          <a:p>
            <a:endParaRPr lang="en-US" sz="4000" b="1" dirty="0"/>
          </a:p>
          <a:p>
            <a:endParaRPr lang="en-US" sz="4000" b="1" dirty="0">
              <a:solidFill>
                <a:srgbClr val="0070C0"/>
              </a:solidFill>
            </a:endParaRPr>
          </a:p>
          <a:p>
            <a:endParaRPr lang="en-US" sz="4000" b="1" dirty="0">
              <a:solidFill>
                <a:srgbClr val="0070C0"/>
              </a:solidFill>
            </a:endParaRPr>
          </a:p>
          <a:p>
            <a:endParaRPr lang="en-US" sz="4000" b="1" dirty="0">
              <a:solidFill>
                <a:srgbClr val="0070C0"/>
              </a:solidFill>
            </a:endParaRPr>
          </a:p>
          <a:p>
            <a:endParaRPr lang="en-US" sz="4000" b="1" dirty="0">
              <a:solidFill>
                <a:srgbClr val="0070C0"/>
              </a:solidFill>
            </a:endParaRPr>
          </a:p>
        </p:txBody>
      </p:sp>
    </p:spTree>
    <p:custDataLst>
      <p:tags r:id="rId1"/>
    </p:custDataLst>
    <p:extLst>
      <p:ext uri="{BB962C8B-B14F-4D97-AF65-F5344CB8AC3E}">
        <p14:creationId xmlns:p14="http://schemas.microsoft.com/office/powerpoint/2010/main" val="42762298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Props1.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2.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12763</TotalTime>
  <Words>527</Words>
  <Application>Microsoft Office PowerPoint</Application>
  <PresentationFormat>Custom</PresentationFormat>
  <Paragraphs>57</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Wingdings 2</vt:lpstr>
      <vt:lpstr>Breeze</vt:lpstr>
      <vt:lpstr>MBA532 – AI in Business </vt:lpstr>
      <vt:lpstr>Key Technology Catalysts For AI’s Development</vt:lpstr>
      <vt:lpstr>3 Key Technology Catalysts for AI Development</vt:lpstr>
      <vt:lpstr>3 Key Technology Catalysts for AI Development</vt:lpstr>
      <vt:lpstr>Key Technology Catalysts for AI Development</vt:lpstr>
      <vt:lpstr>Key Technology Catalysts for AI Development</vt:lpstr>
      <vt:lpstr>3 Key Technology Catalysts for AI Development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86</cp:revision>
  <dcterms:created xsi:type="dcterms:W3CDTF">2024-03-17T05:07:31Z</dcterms:created>
  <dcterms:modified xsi:type="dcterms:W3CDTF">2024-05-24T14:30:47Z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F716C819-72B3-464F-96D8-1FAFB7DBC1B4</vt:lpwstr>
  </property>
  <property fmtid="{D5CDD505-2E9C-101B-9397-08002B2CF9AE}" pid="5" name="ArticulatePath">
    <vt:lpwstr>MBA532 – AI in Business - Module 1</vt:lpwstr>
  </property>
</Properties>
</file>