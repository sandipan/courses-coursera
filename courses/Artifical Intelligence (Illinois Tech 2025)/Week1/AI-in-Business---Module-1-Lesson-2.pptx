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9" r:id="rId5"/>
    <p:sldId id="344" r:id="rId6"/>
    <p:sldId id="324" r:id="rId7"/>
    <p:sldId id="321" r:id="rId8"/>
    <p:sldId id="323" r:id="rId9"/>
    <p:sldId id="326" r:id="rId10"/>
    <p:sldId id="327" r:id="rId11"/>
    <p:sldId id="328" r:id="rId12"/>
    <p:sldId id="345" r:id="rId13"/>
    <p:sldId id="320" r:id="rId14"/>
    <p:sldId id="322" r:id="rId15"/>
    <p:sldId id="260" r:id="rId16"/>
  </p:sldIdLst>
  <p:sldSz cx="18288000" cy="10287000"/>
  <p:notesSz cx="6858000" cy="9144000"/>
  <p:custDataLst>
    <p:tags r:id="rId17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27"/>
  </p:normalViewPr>
  <p:slideViewPr>
    <p:cSldViewPr snapToGrid="0" snapToObjects="1">
      <p:cViewPr varScale="1">
        <p:scale>
          <a:sx n="72" d="100"/>
          <a:sy n="72" d="100"/>
        </p:scale>
        <p:origin x="612" y="7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eaLnBrk="1" fontAlgn="base" hangingPunct="1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eaLnBrk="1" fontAlgn="base" hangingPunct="1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eaLnBrk="1" fontAlgn="base" hangingPunct="1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eaLnBrk="1" fontAlgn="base" hangingPunct="1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eaLnBrk="1" fontAlgn="base" hangingPunct="1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eaLnBrk="1" fontAlgn="base" hangingPunct="1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1365145/artificial-intelligence-market-size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omberg.com/company/press/generative-ai-to-become-a-1-3-trillion-market-by-2032-research-finds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etsandmarkets.com/Market-Reports/artificial-intelligence-market-74851580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etsandmarkets.com/Market-Reports/artificial-intelligence-market-74851580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etsandmarkets.com/Market-Reports/artificial-intelligence-market-74851580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nityfair.com/news/2023/09/artificial-intelligence-industry-future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MBA532 – AI in Business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MODULE 1 – AI Overview/Landscape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CC41-5705-4533-A936-05EA3DB7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AI Market and Growth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7E9EE-DA61-41FF-9E6A-8E38E536A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of AI Market and Growth Rate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601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sz="4000" b="1" dirty="0"/>
              <a:t>Artificial intelligence (AI) global market size worldwide in 2021 with a forecast for 2030 (in million U.S. dollars) – </a:t>
            </a:r>
            <a:r>
              <a:rPr lang="en-US" sz="40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Statista</a:t>
            </a:r>
            <a:endParaRPr lang="en-US" altLang="en-US" dirty="0">
              <a:solidFill>
                <a:srgbClr val="0070C0"/>
              </a:solidFill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9C9B0EA-C48D-48D1-9E04-6AC9F022C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98551" y="1959428"/>
            <a:ext cx="12986657" cy="7859485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916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B888-6272-4BF4-A79B-5D19075C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Generative AI market size will grow from $40 billion in 2022 to $1.3 trillion in 2032 (CAGR 42%): </a:t>
            </a:r>
            <a:r>
              <a:rPr lang="en-US" sz="4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Bloomberg</a:t>
            </a:r>
            <a:endParaRPr lang="en-US" sz="4000" dirty="0">
              <a:solidFill>
                <a:srgbClr val="0070C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900964-C9E0-4799-B32B-CEB588406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7291" y="2013857"/>
            <a:ext cx="13442366" cy="797922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405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403968"/>
            <a:ext cx="16084550" cy="871571"/>
          </a:xfrm>
        </p:spPr>
        <p:txBody>
          <a:bodyPr/>
          <a:lstStyle/>
          <a:p>
            <a:r>
              <a:rPr lang="en-US" altLang="en-US" dirty="0"/>
              <a:t>Breakdown - Generative AI Market Opportunity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47E491C-6698-44BB-A55F-2A6A29593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812" y="1275539"/>
            <a:ext cx="14955417" cy="880463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50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F6EF03-C262-423E-AC2C-F64F3C140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171" y="2050699"/>
            <a:ext cx="15148958" cy="688800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sz="4000" b="1" dirty="0"/>
              <a:t>Artificial intelligence (AI) Global Market Size and Growth Forecast (2022-2030) – </a:t>
            </a:r>
            <a:r>
              <a:rPr lang="en-US" sz="40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Marketsandmarkets.com</a:t>
            </a:r>
            <a:endParaRPr lang="en-US" altLang="en-US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F919B-2C4D-4384-843C-36F4C1205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20" y="1711325"/>
            <a:ext cx="15316908" cy="74109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5564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E1D6-EDAE-4DDE-8A0C-79D4B145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5864503" cy="1551434"/>
          </a:xfrm>
        </p:spPr>
        <p:txBody>
          <a:bodyPr/>
          <a:lstStyle/>
          <a:p>
            <a:r>
              <a:rPr lang="en-US" sz="4400" dirty="0"/>
              <a:t>Short term</a:t>
            </a:r>
            <a:r>
              <a:rPr lang="en-US" sz="4400" b="1" dirty="0"/>
              <a:t> Generative AI substantive forecast</a:t>
            </a:r>
            <a:br>
              <a:rPr lang="en-US" sz="4400" b="1" dirty="0"/>
            </a:br>
            <a:r>
              <a:rPr lang="en-US" sz="4400" b="1" dirty="0"/>
              <a:t>– </a:t>
            </a:r>
            <a:r>
              <a:rPr lang="en-US" sz="4400" b="1" dirty="0">
                <a:hlinkClick r:id="rId3"/>
              </a:rPr>
              <a:t>Source: Marketsandmarkets.com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98253-9767-4941-8E16-7D1E87FB9A27}"/>
              </a:ext>
            </a:extLst>
          </p:cNvPr>
          <p:cNvSpPr txBox="1"/>
          <p:nvPr/>
        </p:nvSpPr>
        <p:spPr>
          <a:xfrm>
            <a:off x="1098551" y="3081047"/>
            <a:ext cx="159204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Short-term implications of the AI Market Forecast (2023-2025)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Fine tuning and optimization of LLMs for various applications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Integrating text-based generative AI with other modalities, such as images and videos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548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sz="4000" b="1" dirty="0"/>
              <a:t>Medium Term Generative AI substantive forecast</a:t>
            </a:r>
            <a:br>
              <a:rPr lang="en-US" sz="4000" b="1" dirty="0"/>
            </a:br>
            <a:r>
              <a:rPr lang="en-US" sz="4000" b="1" dirty="0"/>
              <a:t>– </a:t>
            </a:r>
            <a:r>
              <a:rPr lang="en-US" sz="4000" b="1" dirty="0">
                <a:hlinkClick r:id="rId3"/>
              </a:rPr>
              <a:t>Source: Marketsandmarkets.com</a:t>
            </a: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824F0-4379-4F34-83F8-FFB6F735B9E5}"/>
              </a:ext>
            </a:extLst>
          </p:cNvPr>
          <p:cNvSpPr txBox="1"/>
          <p:nvPr/>
        </p:nvSpPr>
        <p:spPr>
          <a:xfrm>
            <a:off x="1098551" y="3081047"/>
            <a:ext cx="1592048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Medium-term implications of the AI Market Forecast (2026-2028)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Generative AI models become more domain specialized, with RAG.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Users acquire fine-grained control over style, tone.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Generative AI models seamlessly integrate with existing software and platforms used across industry verticals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These developments increase Generative AI’s capability to adapt to industry-specific needs, and to a diverse LLM market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323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D430-DCE0-4018-93E8-37385051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Where AI stands now on multiple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49B3-212A-4693-81C0-E85C1C178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AI stand now from several viewpoints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148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BD47-95F6-47E0-B51D-F7E51C49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Evaluate AI’s impact on business for each question, using the scale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DCCD-9EAB-4069-9EC7-655A33D7C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2" y="1882888"/>
            <a:ext cx="15773400" cy="7222565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dirty="0"/>
              <a:t>Consider following scales, dimensions or spectrums and think about where AI may fall on each: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b="1" dirty="0"/>
              <a:t>AI Outcome:   </a:t>
            </a:r>
            <a:r>
              <a:rPr lang="en-US" sz="7600" b="1" dirty="0">
                <a:solidFill>
                  <a:srgbClr val="002060"/>
                </a:solidFill>
              </a:rPr>
              <a:t>         </a:t>
            </a:r>
            <a:r>
              <a:rPr lang="en-US" sz="7600" b="1" dirty="0">
                <a:solidFill>
                  <a:srgbClr val="C00000"/>
                </a:solidFill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600" dirty="0">
                <a:solidFill>
                  <a:srgbClr val="C00000"/>
                </a:solidFill>
              </a:rPr>
              <a:t>     Injury      …..     Survival      …..       Growth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b="1" dirty="0"/>
              <a:t>AI Types:           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600" dirty="0">
                <a:solidFill>
                  <a:srgbClr val="C00000"/>
                </a:solidFill>
              </a:rPr>
              <a:t>     Narrow Intelligence   …..    Broad AI   …..   AGI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b="1" dirty="0"/>
              <a:t>Magnitude of improvement in business outcomes: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600" dirty="0"/>
              <a:t>     </a:t>
            </a:r>
            <a:r>
              <a:rPr lang="en-US" sz="7600" dirty="0">
                <a:solidFill>
                  <a:srgbClr val="C00000"/>
                </a:solidFill>
              </a:rPr>
              <a:t>No Change    ..   Linear   ..    Exponential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b="1" dirty="0"/>
              <a:t>Ethical Impact of AI: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600" dirty="0">
                <a:solidFill>
                  <a:srgbClr val="C00000"/>
                </a:solidFill>
              </a:rPr>
              <a:t>     Negative … Neutral ... Positive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7600" b="1" dirty="0"/>
              <a:t>Who will eventually be in control because of AI?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600" dirty="0"/>
              <a:t>     </a:t>
            </a:r>
            <a:r>
              <a:rPr lang="en-US" sz="7600" dirty="0">
                <a:solidFill>
                  <a:srgbClr val="C00000"/>
                </a:solidFill>
              </a:rPr>
              <a:t>Machines … Humans</a:t>
            </a:r>
          </a:p>
          <a:p>
            <a:endParaRPr lang="en-US" sz="2700" dirty="0"/>
          </a:p>
          <a:p>
            <a:endParaRPr lang="en-US" sz="2700" dirty="0"/>
          </a:p>
          <a:p>
            <a:endParaRPr lang="en-US" dirty="0"/>
          </a:p>
        </p:txBody>
      </p:sp>
      <p:sp>
        <p:nvSpPr>
          <p:cNvPr id="4" name="AutoShape 2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461963" y="119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690563" y="2405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7 Benefits of Artificial Intelligence for Business"/>
          <p:cNvSpPr>
            <a:spLocks noChangeAspect="1" noChangeArrowheads="1"/>
          </p:cNvSpPr>
          <p:nvPr/>
        </p:nvSpPr>
        <p:spPr bwMode="auto">
          <a:xfrm>
            <a:off x="919163" y="4691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774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BD47-95F6-47E0-B51D-F7E51C49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Evaluate AI’s impact on business for each question, using the scale provided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DCCD-9EAB-4069-9EC7-655A33D7C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020540"/>
            <a:ext cx="15773400" cy="6885529"/>
          </a:xfrm>
        </p:spPr>
        <p:txBody>
          <a:bodyPr>
            <a:normAutofit fontScale="25000" lnSpcReduction="20000"/>
          </a:bodyPr>
          <a:lstStyle/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12800" b="1" dirty="0"/>
              <a:t>Speed of progress on AI – should this be: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>
                <a:solidFill>
                  <a:srgbClr val="C00000"/>
                </a:solidFill>
              </a:rPr>
              <a:t>                      Frozen … Slow  .. Rapid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800" dirty="0">
              <a:solidFill>
                <a:srgbClr val="FF0000"/>
              </a:solidFill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12800" b="1" dirty="0"/>
              <a:t>Where is progress most noticeable?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/>
              <a:t>                      </a:t>
            </a:r>
            <a:r>
              <a:rPr lang="en-US" sz="12800" dirty="0">
                <a:solidFill>
                  <a:srgbClr val="C00000"/>
                </a:solidFill>
              </a:rPr>
              <a:t>Generative AI .. Responsible AI .. Explainable AI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800" dirty="0">
              <a:solidFill>
                <a:srgbClr val="FF0000"/>
              </a:solidFill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12800" b="1" dirty="0"/>
              <a:t>Where can AI help humans the most?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>
                <a:solidFill>
                  <a:srgbClr val="C00000"/>
                </a:solidFill>
              </a:rPr>
              <a:t>                       Repetitive/boring tasks? Longevity? Dangerous tasks? Creative tasks?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>
                <a:solidFill>
                  <a:srgbClr val="FF0000"/>
                </a:solidFill>
              </a:rPr>
              <a:t> 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12800" b="1" dirty="0"/>
              <a:t>What is the relationship of AI capabilities and Human capabilities: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>
                <a:solidFill>
                  <a:srgbClr val="C00000"/>
                </a:solidFill>
              </a:rPr>
              <a:t>                       No overlap … Overlaps …  Augments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800" dirty="0">
              <a:solidFill>
                <a:srgbClr val="FF0000"/>
              </a:solidFill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US" sz="12800" b="1" dirty="0"/>
              <a:t>What is the likely trajectory of how humans will perceive AI in future: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800" dirty="0">
                <a:solidFill>
                  <a:srgbClr val="C00000"/>
                </a:solidFill>
              </a:rPr>
              <a:t>                        Adversarial … Neutral … Friendly</a:t>
            </a:r>
          </a:p>
          <a:p>
            <a:endParaRPr lang="en-US" sz="2700" dirty="0"/>
          </a:p>
          <a:p>
            <a:endParaRPr lang="en-US" sz="2700" dirty="0"/>
          </a:p>
          <a:p>
            <a:endParaRPr lang="en-US" dirty="0"/>
          </a:p>
        </p:txBody>
      </p:sp>
      <p:sp>
        <p:nvSpPr>
          <p:cNvPr id="4" name="AutoShape 2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233363" y="-216694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461963" y="119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Artificial Intelligence (2016) - AMP New Ventures"/>
          <p:cNvSpPr>
            <a:spLocks noChangeAspect="1" noChangeArrowheads="1"/>
          </p:cNvSpPr>
          <p:nvPr/>
        </p:nvSpPr>
        <p:spPr bwMode="auto">
          <a:xfrm>
            <a:off x="690563" y="2405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7 Benefits of Artificial Intelligence for Business"/>
          <p:cNvSpPr>
            <a:spLocks noChangeAspect="1" noChangeArrowheads="1"/>
          </p:cNvSpPr>
          <p:nvPr/>
        </p:nvSpPr>
        <p:spPr bwMode="auto">
          <a:xfrm>
            <a:off x="919163" y="469106"/>
            <a:ext cx="457200" cy="45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9476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>
            <a:extLst>
              <a:ext uri="{FF2B5EF4-FFF2-40B4-BE49-F238E27FC236}">
                <a16:creationId xmlns:a16="http://schemas.microsoft.com/office/drawing/2014/main" id="{4201BE09-6437-8CAC-DA00-D42CB41E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Overall assessment</a:t>
            </a:r>
          </a:p>
        </p:txBody>
      </p:sp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B5CFF3DD-1E43-F576-FF57-62AAAE9F9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 paraphrase what I. J. Good wrote in 1965</a:t>
            </a:r>
            <a:r>
              <a:rPr lang="en-US" altLang="en-US" dirty="0"/>
              <a:t>, if AI continues to maintain its rate of progress, it may represent the last major invention by Man. That is, all future discoveries could be AI or machined-based, as AI progress marches toward AGI.</a:t>
            </a:r>
          </a:p>
          <a:p>
            <a:r>
              <a:rPr lang="en-US" altLang="en-US" dirty="0"/>
              <a:t>Clearly, humans are just beginning to understand of the scale of changes to come as a result of AI. </a:t>
            </a:r>
          </a:p>
          <a:p>
            <a:endParaRPr lang="en-US" alt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F55A57D-0C50-904A-83D4-4E1CC0E2D52F}" vid="{6952F4DD-38AA-7342-AB40-4D73DFEF489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  <Status xmlns="5e41b080-9453-459c-bb93-b19be7335f42" xsi:nil="true"/>
    <Comments xmlns="5e41b080-9453-459c-bb93-b19be7335f42" xsi:nil="true"/>
    <Due_x0020_Date xmlns="5e41b080-9453-459c-bb93-b19be7335f42" xsi:nil="true"/>
  </documentManagement>
</p:properties>
</file>

<file path=customXml/itemProps1.xml><?xml version="1.0" encoding="utf-8"?>
<ds:datastoreItem xmlns:ds="http://schemas.openxmlformats.org/officeDocument/2006/customXml" ds:itemID="{46CEFF4B-9EC7-4D38-B437-9DE5B52C77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F0A47A-9E10-4FE4-8BE8-0C808C85F1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B4D3F3-2161-4501-B555-558D1DDA1F60}">
  <ds:schemaRefs>
    <ds:schemaRef ds:uri="http://purl.org/dc/dcmitype/"/>
    <ds:schemaRef ds:uri="88c1e295-a029-41eb-a982-8bcc7d01c0cb"/>
    <ds:schemaRef ds:uri="http://purl.org/dc/terms/"/>
    <ds:schemaRef ds:uri="http://schemas.microsoft.com/office/2006/metadata/properties"/>
    <ds:schemaRef ds:uri="57db6fc0-2530-4489-bd2f-42335d65b94d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- MBA_Stuart_ILTECH__PPT</Template>
  <TotalTime>12763</TotalTime>
  <Words>510</Words>
  <Application>Microsoft Office PowerPoint</Application>
  <PresentationFormat>Custom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 2</vt:lpstr>
      <vt:lpstr>Breeze</vt:lpstr>
      <vt:lpstr>MBA532 – AI in Business </vt:lpstr>
      <vt:lpstr>Size of AI Market and Growth Rate</vt:lpstr>
      <vt:lpstr>Artificial intelligence (AI) global market size worldwide in 2021 with a forecast for 2030 (in million U.S. dollars) – Source: Statista</vt:lpstr>
      <vt:lpstr>Generative AI market size will grow from $40 billion in 2022 to $1.3 trillion in 2032 (CAGR 42%): Source: Bloomberg</vt:lpstr>
      <vt:lpstr>Breakdown - Generative AI Market Opportunity</vt:lpstr>
      <vt:lpstr>Artificial intelligence (AI) Global Market Size and Growth Forecast (2022-2030) – Source: Marketsandmarkets.com</vt:lpstr>
      <vt:lpstr>Short term Generative AI substantive forecast – Source: Marketsandmarkets.com</vt:lpstr>
      <vt:lpstr>Medium Term Generative AI substantive forecast – Source: Marketsandmarkets.com</vt:lpstr>
      <vt:lpstr>Evaluating Where AI stands now on multiple dimensions</vt:lpstr>
      <vt:lpstr>Evaluate AI’s impact on business for each question, using the scale provided</vt:lpstr>
      <vt:lpstr>Evaluate AI’s impact on business for each question, using the scale provided</vt:lpstr>
      <vt:lpstr>Overall assessment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MBA532 – AI in Business</dc:title>
  <dc:subject/>
  <dc:creator>Siva Balasubramanian</dc:creator>
  <cp:keywords/>
  <dc:description/>
  <cp:lastModifiedBy>Bernadette Otoo</cp:lastModifiedBy>
  <cp:revision>85</cp:revision>
  <dcterms:created xsi:type="dcterms:W3CDTF">2024-03-17T05:07:31Z</dcterms:created>
  <dcterms:modified xsi:type="dcterms:W3CDTF">2024-05-24T14:30:24Z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ArticulateGUID">
    <vt:lpwstr>F716C819-72B3-464F-96D8-1FAFB7DBC1B4</vt:lpwstr>
  </property>
  <property fmtid="{D5CDD505-2E9C-101B-9397-08002B2CF9AE}" pid="5" name="ArticulatePath">
    <vt:lpwstr>MBA532 – AI in Business - Module 1</vt:lpwstr>
  </property>
</Properties>
</file>