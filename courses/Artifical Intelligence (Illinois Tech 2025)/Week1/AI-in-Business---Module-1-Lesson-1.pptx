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sldIdLst>
    <p:sldId id="259" r:id="rId5"/>
    <p:sldId id="331" r:id="rId6"/>
    <p:sldId id="346" r:id="rId7"/>
    <p:sldId id="275" r:id="rId8"/>
    <p:sldId id="341" r:id="rId9"/>
    <p:sldId id="332" r:id="rId10"/>
    <p:sldId id="335" r:id="rId11"/>
    <p:sldId id="342" r:id="rId12"/>
    <p:sldId id="340" r:id="rId13"/>
    <p:sldId id="267" r:id="rId14"/>
  </p:sldIdLst>
  <p:sldSz cx="18288000" cy="10287000"/>
  <p:notesSz cx="6858000" cy="9144000"/>
  <p:custDataLst>
    <p:tags r:id="rId15"/>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hyperlink" Target="http://www.pi.infn.it/~carosi/chess/shannon.txt" TargetMode="Externa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hyperlink" Target="https://academic.oup.com/mind/article/LIX/236/433/986238"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www-formal.stanford.edu/jmc/history/dartmouth/dartmouth.html" TargetMode="Externa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hyperlink" Target="http://citeseerx.ist.psu.edu/viewdoc/download?doi=10.1.1.368.2254&amp;rep=rep1&amp;type=pdf"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Hubert_Dreyfus's_views_on_artificial_intelligence#Alchemy_and_AI" TargetMode="Externa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hyperlink" Target="https://en.wikipedia.org/wiki/I._J._Good"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oogleblog.blogspot.com/2010/10/what-were-driving-at.html" TargetMode="External"/><Relationship Id="rId2" Type="http://schemas.openxmlformats.org/officeDocument/2006/relationships/hyperlink" Target="http://www.machinelearning.org/archive/icml2009/papers/218.pdf" TargetMode="External"/><Relationship Id="rId1" Type="http://schemas.openxmlformats.org/officeDocument/2006/relationships/slideLayout" Target="../slideLayouts/slideLayout2.xml"/><Relationship Id="rId4" Type="http://schemas.openxmlformats.org/officeDocument/2006/relationships/hyperlink" Target="http://spectrum.ieee.org/transportation/advanced-cars/how-googles-autonomous-car-passed-the-first-us-state-selfdriving-tes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MODULE 1 – AI Overview/Landscape</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BD47-95F6-47E0-B51D-F7E51C499338}"/>
              </a:ext>
            </a:extLst>
          </p:cNvPr>
          <p:cNvSpPr>
            <a:spLocks noGrp="1"/>
          </p:cNvSpPr>
          <p:nvPr>
            <p:ph type="title"/>
          </p:nvPr>
        </p:nvSpPr>
        <p:spPr/>
        <p:txBody>
          <a:bodyPr/>
          <a:lstStyle/>
          <a:p>
            <a:r>
              <a:rPr lang="en-US" b="1" dirty="0">
                <a:solidFill>
                  <a:schemeClr val="bg1"/>
                </a:solidFill>
              </a:rPr>
              <a:t>What AI Represents/Means</a:t>
            </a:r>
          </a:p>
        </p:txBody>
      </p:sp>
      <p:sp>
        <p:nvSpPr>
          <p:cNvPr id="3" name="Content Placeholder 2">
            <a:extLst>
              <a:ext uri="{FF2B5EF4-FFF2-40B4-BE49-F238E27FC236}">
                <a16:creationId xmlns:a16="http://schemas.microsoft.com/office/drawing/2014/main" id="{217FDCCD-9EAB-4069-9EC7-655A33D7C72E}"/>
              </a:ext>
            </a:extLst>
          </p:cNvPr>
          <p:cNvSpPr>
            <a:spLocks noGrp="1"/>
          </p:cNvSpPr>
          <p:nvPr>
            <p:ph idx="1"/>
          </p:nvPr>
        </p:nvSpPr>
        <p:spPr/>
        <p:txBody>
          <a:bodyPr/>
          <a:lstStyle/>
          <a:p>
            <a:r>
              <a:rPr lang="en-US" dirty="0"/>
              <a:t>AI represents a concerted effort to understand the complexity of human experience in terms of information processes and potential ways to automate these processes to improve desirable outcomes for business.</a:t>
            </a:r>
          </a:p>
          <a:p>
            <a:r>
              <a:rPr lang="en-US" dirty="0"/>
              <a:t>It deals not only with how to represent and use complex and incomplete information logically, but also with questions of how to see (vision), move (robotics), communicate (natural language, speech) and learn (memory, reasoning, classification).</a:t>
            </a:r>
          </a:p>
          <a:p>
            <a:endParaRPr lang="en-US" dirty="0"/>
          </a:p>
        </p:txBody>
      </p:sp>
      <p:sp>
        <p:nvSpPr>
          <p:cNvPr id="4" name="AutoShape 2" descr="Artificial Intelligence (2016) - AMP New Ventures"/>
          <p:cNvSpPr>
            <a:spLocks noChangeAspect="1" noChangeArrowheads="1"/>
          </p:cNvSpPr>
          <p:nvPr/>
        </p:nvSpPr>
        <p:spPr bwMode="auto">
          <a:xfrm>
            <a:off x="233363" y="-216694"/>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5" name="AutoShape 4" descr="Artificial Intelligence (2016) - AMP New Ventures"/>
          <p:cNvSpPr>
            <a:spLocks noChangeAspect="1" noChangeArrowheads="1"/>
          </p:cNvSpPr>
          <p:nvPr/>
        </p:nvSpPr>
        <p:spPr bwMode="auto">
          <a:xfrm>
            <a:off x="461963" y="119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6" name="AutoShape 6" descr="Artificial Intelligence (2016) - AMP New Ventures"/>
          <p:cNvSpPr>
            <a:spLocks noChangeAspect="1" noChangeArrowheads="1"/>
          </p:cNvSpPr>
          <p:nvPr/>
        </p:nvSpPr>
        <p:spPr bwMode="auto">
          <a:xfrm>
            <a:off x="690563" y="2405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7" name="AutoShape 8" descr="7 Benefits of Artificial Intelligence for Business"/>
          <p:cNvSpPr>
            <a:spLocks noChangeAspect="1" noChangeArrowheads="1"/>
          </p:cNvSpPr>
          <p:nvPr/>
        </p:nvSpPr>
        <p:spPr bwMode="auto">
          <a:xfrm>
            <a:off x="919163" y="4691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Tree>
    <p:custDataLst>
      <p:tags r:id="rId1"/>
    </p:custDataLst>
    <p:extLst>
      <p:ext uri="{BB962C8B-B14F-4D97-AF65-F5344CB8AC3E}">
        <p14:creationId xmlns:p14="http://schemas.microsoft.com/office/powerpoint/2010/main" val="2339964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961C3-FA68-41DB-A777-1C7E7A310FE6}"/>
              </a:ext>
            </a:extLst>
          </p:cNvPr>
          <p:cNvSpPr>
            <a:spLocks noGrp="1"/>
          </p:cNvSpPr>
          <p:nvPr>
            <p:ph type="title"/>
          </p:nvPr>
        </p:nvSpPr>
        <p:spPr/>
        <p:txBody>
          <a:bodyPr/>
          <a:lstStyle/>
          <a:p>
            <a:r>
              <a:rPr lang="en-US" dirty="0"/>
              <a:t>Review of AI History</a:t>
            </a:r>
          </a:p>
        </p:txBody>
      </p:sp>
      <p:sp>
        <p:nvSpPr>
          <p:cNvPr id="3" name="Content Placeholder 2">
            <a:extLst>
              <a:ext uri="{FF2B5EF4-FFF2-40B4-BE49-F238E27FC236}">
                <a16:creationId xmlns:a16="http://schemas.microsoft.com/office/drawing/2014/main" id="{AA40CE69-1D96-428F-ACDC-DFDE2DDCDAA4}"/>
              </a:ext>
            </a:extLst>
          </p:cNvPr>
          <p:cNvSpPr>
            <a:spLocks noGrp="1"/>
          </p:cNvSpPr>
          <p:nvPr>
            <p:ph idx="1"/>
          </p:nvPr>
        </p:nvSpPr>
        <p:spPr/>
        <p:txBody>
          <a:bodyPr/>
          <a:lstStyle/>
          <a:p>
            <a:r>
              <a:rPr lang="en-US" dirty="0"/>
              <a:t>Review of AI History</a:t>
            </a:r>
          </a:p>
        </p:txBody>
      </p:sp>
    </p:spTree>
    <p:custDataLst>
      <p:tags r:id="rId1"/>
    </p:custDataLst>
    <p:extLst>
      <p:ext uri="{BB962C8B-B14F-4D97-AF65-F5344CB8AC3E}">
        <p14:creationId xmlns:p14="http://schemas.microsoft.com/office/powerpoint/2010/main" val="1318021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BD47-95F6-47E0-B51D-F7E51C499338}"/>
              </a:ext>
            </a:extLst>
          </p:cNvPr>
          <p:cNvSpPr>
            <a:spLocks noGrp="1"/>
          </p:cNvSpPr>
          <p:nvPr>
            <p:ph type="title"/>
          </p:nvPr>
        </p:nvSpPr>
        <p:spPr/>
        <p:txBody>
          <a:bodyPr/>
          <a:lstStyle/>
          <a:p>
            <a:r>
              <a:rPr lang="en-US" sz="4400" b="1" dirty="0">
                <a:solidFill>
                  <a:schemeClr val="bg1"/>
                </a:solidFill>
              </a:rPr>
              <a:t>A quick review of AI History from your reading</a:t>
            </a:r>
            <a:br>
              <a:rPr lang="en-US" sz="4400" b="1" dirty="0">
                <a:solidFill>
                  <a:schemeClr val="bg1"/>
                </a:solidFill>
              </a:rPr>
            </a:br>
            <a:r>
              <a:rPr lang="en-US" sz="4400" b="1" dirty="0">
                <a:solidFill>
                  <a:schemeClr val="bg1"/>
                </a:solidFill>
              </a:rPr>
              <a:t>(Key milestones extracted from Forbes 2021)</a:t>
            </a:r>
          </a:p>
        </p:txBody>
      </p:sp>
      <p:sp>
        <p:nvSpPr>
          <p:cNvPr id="4" name="AutoShape 2" descr="Artificial Intelligence (2016) - AMP New Ventures"/>
          <p:cNvSpPr>
            <a:spLocks noChangeAspect="1" noChangeArrowheads="1"/>
          </p:cNvSpPr>
          <p:nvPr/>
        </p:nvSpPr>
        <p:spPr bwMode="auto">
          <a:xfrm>
            <a:off x="233363" y="-216694"/>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5" name="AutoShape 4" descr="Artificial Intelligence (2016) - AMP New Ventures"/>
          <p:cNvSpPr>
            <a:spLocks noChangeAspect="1" noChangeArrowheads="1"/>
          </p:cNvSpPr>
          <p:nvPr/>
        </p:nvSpPr>
        <p:spPr bwMode="auto">
          <a:xfrm>
            <a:off x="461963" y="119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6" name="AutoShape 6" descr="Artificial Intelligence (2016) - AMP New Ventures"/>
          <p:cNvSpPr>
            <a:spLocks noChangeAspect="1" noChangeArrowheads="1"/>
          </p:cNvSpPr>
          <p:nvPr/>
        </p:nvSpPr>
        <p:spPr bwMode="auto">
          <a:xfrm>
            <a:off x="690563" y="2405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7" name="AutoShape 8" descr="7 Benefits of Artificial Intelligence for Business"/>
          <p:cNvSpPr>
            <a:spLocks noChangeAspect="1" noChangeArrowheads="1"/>
          </p:cNvSpPr>
          <p:nvPr/>
        </p:nvSpPr>
        <p:spPr bwMode="auto">
          <a:xfrm>
            <a:off x="919163" y="4691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9DC38062-D1EA-41EB-A541-22DEA81520E6}"/>
              </a:ext>
            </a:extLst>
          </p:cNvPr>
          <p:cNvSpPr txBox="1"/>
          <p:nvPr/>
        </p:nvSpPr>
        <p:spPr>
          <a:xfrm>
            <a:off x="1810139" y="2533893"/>
            <a:ext cx="14813838" cy="4739759"/>
          </a:xfrm>
          <a:prstGeom prst="rect">
            <a:avLst/>
          </a:prstGeom>
          <a:noFill/>
        </p:spPr>
        <p:txBody>
          <a:bodyPr wrap="square" rtlCol="0">
            <a:spAutoFit/>
          </a:bodyPr>
          <a:lstStyle/>
          <a:p>
            <a:pPr algn="l"/>
            <a:r>
              <a:rPr lang="en-US" sz="3200" b="0" i="0" dirty="0">
                <a:effectLst/>
                <a:latin typeface="Georgia" panose="02040502050405020303" pitchFamily="18" charset="0"/>
              </a:rPr>
              <a:t>1950                               </a:t>
            </a:r>
          </a:p>
          <a:p>
            <a:pPr algn="l"/>
            <a:r>
              <a:rPr lang="en-US" sz="3200" b="0" i="0" dirty="0">
                <a:effectLst/>
                <a:latin typeface="Georgia" panose="02040502050405020303" pitchFamily="18" charset="0"/>
              </a:rPr>
              <a:t>Claude Shannon’s </a:t>
            </a:r>
            <a:r>
              <a:rPr lang="en-US" sz="3200" b="0" i="0" u="none" strike="noStrike" dirty="0">
                <a:effectLst/>
                <a:latin typeface="Georgia" panose="02040502050405020303" pitchFamily="18" charset="0"/>
                <a:hlinkClick r:id="rId3" tooltip="http://www.pi.infn.it/%7Ecarosi/chess/shannon.txt">
                  <a:extLst>
                    <a:ext uri="{A12FA001-AC4F-418D-AE19-62706E023703}">
                      <ahyp:hlinkClr xmlns:ahyp="http://schemas.microsoft.com/office/drawing/2018/hyperlinkcolor" val="tx"/>
                    </a:ext>
                  </a:extLst>
                </a:hlinkClick>
              </a:rPr>
              <a:t>“Programming a Computer for Playing Chess”</a:t>
            </a:r>
            <a:r>
              <a:rPr lang="en-US" sz="3200" b="0" i="0" dirty="0">
                <a:effectLst/>
                <a:latin typeface="Georgia" panose="02040502050405020303" pitchFamily="18" charset="0"/>
              </a:rPr>
              <a:t> is the first published article on developing a chess-playing computer program.</a:t>
            </a:r>
          </a:p>
          <a:p>
            <a:pPr algn="l"/>
            <a:endParaRPr lang="en-US" sz="3200" b="0" i="0" dirty="0">
              <a:effectLst/>
              <a:latin typeface="Georgia" panose="02040502050405020303" pitchFamily="18" charset="0"/>
            </a:endParaRPr>
          </a:p>
          <a:p>
            <a:pPr algn="l"/>
            <a:r>
              <a:rPr lang="en-US" sz="3200" b="0" i="0" dirty="0">
                <a:effectLst/>
                <a:latin typeface="Georgia" panose="02040502050405020303" pitchFamily="18" charset="0"/>
              </a:rPr>
              <a:t>1950                               </a:t>
            </a:r>
          </a:p>
          <a:p>
            <a:pPr algn="l"/>
            <a:r>
              <a:rPr lang="en-US" sz="3200" b="0" i="0" dirty="0">
                <a:effectLst/>
                <a:latin typeface="Georgia" panose="02040502050405020303" pitchFamily="18" charset="0"/>
              </a:rPr>
              <a:t>Alan Turing publishes </a:t>
            </a:r>
            <a:r>
              <a:rPr lang="en-US" sz="3200" b="0" i="0" u="sng" strike="noStrike" dirty="0">
                <a:effectLst/>
                <a:latin typeface="Georgia" panose="02040502050405020303" pitchFamily="18" charset="0"/>
                <a:hlinkClick r:id="rId4" tooltip="https://academic.oup.com/mind/article/LIX/236/433/986238">
                  <a:extLst>
                    <a:ext uri="{A12FA001-AC4F-418D-AE19-62706E023703}">
                      <ahyp:hlinkClr xmlns:ahyp="http://schemas.microsoft.com/office/drawing/2018/hyperlinkcolor" val="tx"/>
                    </a:ext>
                  </a:extLst>
                </a:hlinkClick>
              </a:rPr>
              <a:t>“Computing Machinery and Intelligence”</a:t>
            </a:r>
            <a:r>
              <a:rPr lang="en-US" sz="3200" b="0" i="0" dirty="0">
                <a:effectLst/>
                <a:latin typeface="Georgia" panose="02040502050405020303" pitchFamily="18" charset="0"/>
              </a:rPr>
              <a:t> in which he proposes “the imitation game” which will later become known as the “Turing Test.”</a:t>
            </a:r>
          </a:p>
          <a:p>
            <a:pPr algn="l"/>
            <a:endParaRPr lang="en-US" sz="2800" b="0" i="0" dirty="0">
              <a:effectLst/>
              <a:latin typeface="Georgia" panose="02040502050405020303" pitchFamily="18" charset="0"/>
            </a:endParaRPr>
          </a:p>
          <a:p>
            <a:endParaRPr lang="en-US" dirty="0"/>
          </a:p>
        </p:txBody>
      </p:sp>
    </p:spTree>
    <p:custDataLst>
      <p:tags r:id="rId1"/>
    </p:custDataLst>
    <p:extLst>
      <p:ext uri="{BB962C8B-B14F-4D97-AF65-F5344CB8AC3E}">
        <p14:creationId xmlns:p14="http://schemas.microsoft.com/office/powerpoint/2010/main" val="1115310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BD47-95F6-47E0-B51D-F7E51C499338}"/>
              </a:ext>
            </a:extLst>
          </p:cNvPr>
          <p:cNvSpPr>
            <a:spLocks noGrp="1"/>
          </p:cNvSpPr>
          <p:nvPr>
            <p:ph type="title"/>
          </p:nvPr>
        </p:nvSpPr>
        <p:spPr/>
        <p:txBody>
          <a:bodyPr/>
          <a:lstStyle/>
          <a:p>
            <a:r>
              <a:rPr lang="en-US" sz="4400" b="1" dirty="0">
                <a:solidFill>
                  <a:schemeClr val="bg1"/>
                </a:solidFill>
              </a:rPr>
              <a:t>A quick review of AI History from your reading</a:t>
            </a:r>
            <a:br>
              <a:rPr lang="en-US" sz="4400" b="1" dirty="0">
                <a:solidFill>
                  <a:schemeClr val="bg1"/>
                </a:solidFill>
              </a:rPr>
            </a:br>
            <a:r>
              <a:rPr lang="en-US" sz="4400" b="1" dirty="0">
                <a:solidFill>
                  <a:schemeClr val="bg1"/>
                </a:solidFill>
              </a:rPr>
              <a:t>(Key milestones extracted from Forbes 2021)</a:t>
            </a:r>
          </a:p>
        </p:txBody>
      </p:sp>
      <p:sp>
        <p:nvSpPr>
          <p:cNvPr id="4" name="AutoShape 2" descr="Artificial Intelligence (2016) - AMP New Ventures"/>
          <p:cNvSpPr>
            <a:spLocks noChangeAspect="1" noChangeArrowheads="1"/>
          </p:cNvSpPr>
          <p:nvPr/>
        </p:nvSpPr>
        <p:spPr bwMode="auto">
          <a:xfrm>
            <a:off x="233363" y="-216694"/>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5" name="AutoShape 4" descr="Artificial Intelligence (2016) - AMP New Ventures"/>
          <p:cNvSpPr>
            <a:spLocks noChangeAspect="1" noChangeArrowheads="1"/>
          </p:cNvSpPr>
          <p:nvPr/>
        </p:nvSpPr>
        <p:spPr bwMode="auto">
          <a:xfrm>
            <a:off x="461963" y="119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6" name="AutoShape 6" descr="Artificial Intelligence (2016) - AMP New Ventures"/>
          <p:cNvSpPr>
            <a:spLocks noChangeAspect="1" noChangeArrowheads="1"/>
          </p:cNvSpPr>
          <p:nvPr/>
        </p:nvSpPr>
        <p:spPr bwMode="auto">
          <a:xfrm>
            <a:off x="690563" y="2405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7" name="AutoShape 8" descr="7 Benefits of Artificial Intelligence for Business"/>
          <p:cNvSpPr>
            <a:spLocks noChangeAspect="1" noChangeArrowheads="1"/>
          </p:cNvSpPr>
          <p:nvPr/>
        </p:nvSpPr>
        <p:spPr bwMode="auto">
          <a:xfrm>
            <a:off x="919163" y="4691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9DC38062-D1EA-41EB-A541-22DEA81520E6}"/>
              </a:ext>
            </a:extLst>
          </p:cNvPr>
          <p:cNvSpPr txBox="1"/>
          <p:nvPr/>
        </p:nvSpPr>
        <p:spPr>
          <a:xfrm>
            <a:off x="1810139" y="2533893"/>
            <a:ext cx="14813838" cy="6709529"/>
          </a:xfrm>
          <a:prstGeom prst="rect">
            <a:avLst/>
          </a:prstGeom>
          <a:noFill/>
        </p:spPr>
        <p:txBody>
          <a:bodyPr wrap="square" rtlCol="0">
            <a:spAutoFit/>
          </a:bodyPr>
          <a:lstStyle/>
          <a:p>
            <a:pPr algn="l"/>
            <a:r>
              <a:rPr lang="en-US" sz="3200" b="0" i="0" dirty="0">
                <a:effectLst/>
                <a:latin typeface="Georgia" panose="02040502050405020303" pitchFamily="18" charset="0"/>
              </a:rPr>
              <a:t>1955             </a:t>
            </a:r>
          </a:p>
          <a:p>
            <a:pPr algn="l"/>
            <a:r>
              <a:rPr lang="en-US" sz="3200" b="0" i="0" dirty="0">
                <a:effectLst/>
                <a:latin typeface="Georgia" panose="02040502050405020303" pitchFamily="18" charset="0"/>
              </a:rPr>
              <a:t>The term </a:t>
            </a:r>
            <a:r>
              <a:rPr lang="en-US" sz="3200" b="0" i="0" u="none" strike="noStrike" dirty="0">
                <a:effectLst/>
                <a:latin typeface="Georgia" panose="02040502050405020303" pitchFamily="18" charset="0"/>
                <a:hlinkClick r:id="rId3" tooltip="http://www-formal.stanford.edu/jmc/history/dartmouth/dartmouth.html">
                  <a:extLst>
                    <a:ext uri="{A12FA001-AC4F-418D-AE19-62706E023703}">
                      <ahyp:hlinkClr xmlns:ahyp="http://schemas.microsoft.com/office/drawing/2018/hyperlinkcolor" val="tx"/>
                    </a:ext>
                  </a:extLst>
                </a:hlinkClick>
              </a:rPr>
              <a:t>“artificial intelligence” is coined in a proposal</a:t>
            </a:r>
            <a:r>
              <a:rPr lang="en-US" sz="3200" b="0" i="0" dirty="0">
                <a:effectLst/>
                <a:latin typeface="Georgia" panose="02040502050405020303" pitchFamily="18" charset="0"/>
              </a:rPr>
              <a:t> for a “2 month, 10 man study of artificial intelligence” submitted by John McCarthy (Dartmouth College), Marvin Minsky (Harvard University), Nathaniel Rochester (IBM), and Claude Shannon (Bell Telephone Laboratories). The workshop, which took place a year later, in July and August 1956, is generally considered as the official birthdate of the new field.</a:t>
            </a:r>
          </a:p>
          <a:p>
            <a:pPr algn="l"/>
            <a:endParaRPr lang="en-US" sz="3200" dirty="0">
              <a:latin typeface="Georgia" panose="02040502050405020303" pitchFamily="18" charset="0"/>
            </a:endParaRPr>
          </a:p>
          <a:p>
            <a:pPr algn="l"/>
            <a:r>
              <a:rPr lang="en-US" sz="3200" b="0" i="0" dirty="0">
                <a:solidFill>
                  <a:srgbClr val="333333"/>
                </a:solidFill>
                <a:effectLst/>
                <a:latin typeface="Georgia" panose="02040502050405020303" pitchFamily="18" charset="0"/>
              </a:rPr>
              <a:t>1959                                 </a:t>
            </a:r>
          </a:p>
          <a:p>
            <a:pPr algn="l"/>
            <a:r>
              <a:rPr lang="en-US" sz="3200" b="0" i="0" dirty="0">
                <a:solidFill>
                  <a:srgbClr val="333333"/>
                </a:solidFill>
                <a:effectLst/>
                <a:latin typeface="Georgia" panose="02040502050405020303" pitchFamily="18" charset="0"/>
              </a:rPr>
              <a:t>Arthur Samuel coins the term “machine learning,” </a:t>
            </a:r>
            <a:r>
              <a:rPr lang="en-US" sz="3200" b="0" i="0" u="none" strike="noStrike" dirty="0">
                <a:solidFill>
                  <a:srgbClr val="003891"/>
                </a:solidFill>
                <a:effectLst/>
                <a:latin typeface="Georgia" panose="02040502050405020303" pitchFamily="18" charset="0"/>
                <a:hlinkClick r:id="rId4" tooltip="http://citeseerx.ist.psu.edu/viewdoc/download?doi=10.1.1.368.2254&amp;rep=rep1&amp;type=pdf"/>
              </a:rPr>
              <a:t>reporting</a:t>
            </a:r>
            <a:r>
              <a:rPr lang="en-US" sz="3200" b="0" i="0" dirty="0">
                <a:solidFill>
                  <a:srgbClr val="333333"/>
                </a:solidFill>
                <a:effectLst/>
                <a:latin typeface="Georgia" panose="02040502050405020303" pitchFamily="18" charset="0"/>
              </a:rPr>
              <a:t> on programming a computer “so that it will learn to play a better game of checkers than can be played by the person who wrote the program.”</a:t>
            </a:r>
          </a:p>
          <a:p>
            <a:pPr algn="l"/>
            <a:endParaRPr lang="en-US" sz="2800" b="0" i="0" dirty="0">
              <a:effectLst/>
              <a:latin typeface="Georgia" panose="02040502050405020303" pitchFamily="18" charset="0"/>
            </a:endParaRPr>
          </a:p>
          <a:p>
            <a:endParaRPr lang="en-US" dirty="0"/>
          </a:p>
        </p:txBody>
      </p:sp>
    </p:spTree>
    <p:custDataLst>
      <p:tags r:id="rId1"/>
    </p:custDataLst>
    <p:extLst>
      <p:ext uri="{BB962C8B-B14F-4D97-AF65-F5344CB8AC3E}">
        <p14:creationId xmlns:p14="http://schemas.microsoft.com/office/powerpoint/2010/main" val="488379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BD47-95F6-47E0-B51D-F7E51C499338}"/>
              </a:ext>
            </a:extLst>
          </p:cNvPr>
          <p:cNvSpPr>
            <a:spLocks noGrp="1"/>
          </p:cNvSpPr>
          <p:nvPr>
            <p:ph type="title"/>
          </p:nvPr>
        </p:nvSpPr>
        <p:spPr>
          <a:xfrm>
            <a:off x="919163" y="278097"/>
            <a:ext cx="16084552" cy="1296421"/>
          </a:xfrm>
        </p:spPr>
        <p:txBody>
          <a:bodyPr/>
          <a:lstStyle/>
          <a:p>
            <a:br>
              <a:rPr lang="en-US" sz="6000" b="1" dirty="0">
                <a:solidFill>
                  <a:schemeClr val="bg1"/>
                </a:solidFill>
              </a:rPr>
            </a:br>
            <a:br>
              <a:rPr lang="en-US" sz="6000" b="1" dirty="0">
                <a:solidFill>
                  <a:schemeClr val="bg1"/>
                </a:solidFill>
              </a:rPr>
            </a:br>
            <a:br>
              <a:rPr lang="en-US" sz="6000" b="1" dirty="0">
                <a:solidFill>
                  <a:schemeClr val="bg1"/>
                </a:solidFill>
              </a:rPr>
            </a:br>
            <a:br>
              <a:rPr lang="en-US" sz="6000" b="1" dirty="0">
                <a:solidFill>
                  <a:schemeClr val="bg1"/>
                </a:solidFill>
              </a:rPr>
            </a:br>
            <a:r>
              <a:rPr lang="en-US" sz="4400" b="1" dirty="0">
                <a:solidFill>
                  <a:schemeClr val="bg1"/>
                </a:solidFill>
              </a:rPr>
              <a:t>A quick review of AI History from your reading</a:t>
            </a:r>
            <a:br>
              <a:rPr lang="en-US" sz="4400" b="1" dirty="0">
                <a:solidFill>
                  <a:schemeClr val="bg1"/>
                </a:solidFill>
              </a:rPr>
            </a:br>
            <a:r>
              <a:rPr lang="en-US" sz="4400" b="1" dirty="0">
                <a:solidFill>
                  <a:schemeClr val="bg1"/>
                </a:solidFill>
              </a:rPr>
              <a:t>(Key milestones extracted from Forbes 2021)</a:t>
            </a:r>
            <a:endParaRPr lang="en-US" b="1" dirty="0">
              <a:solidFill>
                <a:schemeClr val="bg1"/>
              </a:solidFill>
            </a:endParaRPr>
          </a:p>
        </p:txBody>
      </p:sp>
      <p:sp>
        <p:nvSpPr>
          <p:cNvPr id="4" name="AutoShape 2" descr="Artificial Intelligence (2016) - AMP New Ventures"/>
          <p:cNvSpPr>
            <a:spLocks noChangeAspect="1" noChangeArrowheads="1"/>
          </p:cNvSpPr>
          <p:nvPr/>
        </p:nvSpPr>
        <p:spPr bwMode="auto">
          <a:xfrm>
            <a:off x="233363" y="-216694"/>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5" name="AutoShape 4" descr="Artificial Intelligence (2016) - AMP New Ventures"/>
          <p:cNvSpPr>
            <a:spLocks noChangeAspect="1" noChangeArrowheads="1"/>
          </p:cNvSpPr>
          <p:nvPr/>
        </p:nvSpPr>
        <p:spPr bwMode="auto">
          <a:xfrm>
            <a:off x="461963" y="119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6" name="AutoShape 6" descr="Artificial Intelligence (2016) - AMP New Ventures"/>
          <p:cNvSpPr>
            <a:spLocks noChangeAspect="1" noChangeArrowheads="1"/>
          </p:cNvSpPr>
          <p:nvPr/>
        </p:nvSpPr>
        <p:spPr bwMode="auto">
          <a:xfrm>
            <a:off x="690563" y="2405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7" name="AutoShape 8" descr="7 Benefits of Artificial Intelligence for Business"/>
          <p:cNvSpPr>
            <a:spLocks noChangeAspect="1" noChangeArrowheads="1"/>
          </p:cNvSpPr>
          <p:nvPr/>
        </p:nvSpPr>
        <p:spPr bwMode="auto">
          <a:xfrm>
            <a:off x="919163" y="4691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9DC38062-D1EA-41EB-A541-22DEA81520E6}"/>
              </a:ext>
            </a:extLst>
          </p:cNvPr>
          <p:cNvSpPr txBox="1"/>
          <p:nvPr/>
        </p:nvSpPr>
        <p:spPr>
          <a:xfrm>
            <a:off x="1747934" y="1574518"/>
            <a:ext cx="14966302" cy="7201972"/>
          </a:xfrm>
          <a:prstGeom prst="rect">
            <a:avLst/>
          </a:prstGeom>
          <a:noFill/>
        </p:spPr>
        <p:txBody>
          <a:bodyPr wrap="square" rtlCol="0">
            <a:spAutoFit/>
          </a:bodyPr>
          <a:lstStyle/>
          <a:p>
            <a:pPr algn="l"/>
            <a:r>
              <a:rPr lang="en-US" sz="3200" b="0" i="0" dirty="0">
                <a:solidFill>
                  <a:srgbClr val="333333"/>
                </a:solidFill>
                <a:effectLst/>
                <a:latin typeface="Georgia" panose="02040502050405020303" pitchFamily="18" charset="0"/>
              </a:rPr>
              <a:t>1965                                 </a:t>
            </a:r>
          </a:p>
          <a:p>
            <a:pPr algn="l"/>
            <a:r>
              <a:rPr lang="en-US" sz="3200" b="0" i="0" u="none" strike="noStrike" dirty="0">
                <a:solidFill>
                  <a:srgbClr val="003891"/>
                </a:solidFill>
                <a:effectLst/>
                <a:latin typeface="Georgia" panose="02040502050405020303" pitchFamily="18" charset="0"/>
                <a:hlinkClick r:id="rId3" tooltip="https://en.wikipedia.org/wiki/Hubert_Dreyfus's_views_on_artificial_intelligence#Alchemy_and_AI"/>
              </a:rPr>
              <a:t>Hubert Dreyfus</a:t>
            </a:r>
            <a:r>
              <a:rPr lang="en-US" sz="3200" b="0" i="0" dirty="0">
                <a:solidFill>
                  <a:srgbClr val="333333"/>
                </a:solidFill>
                <a:effectLst/>
                <a:latin typeface="Georgia" panose="02040502050405020303" pitchFamily="18" charset="0"/>
              </a:rPr>
              <a:t> publishes "Alchemy and AI," arguing that the mind is not like a computer and that there were limits beyond which AI would not progress.</a:t>
            </a:r>
          </a:p>
          <a:p>
            <a:pPr algn="l"/>
            <a:endParaRPr lang="en-US" sz="3200" b="0" i="0" dirty="0">
              <a:solidFill>
                <a:srgbClr val="333333"/>
              </a:solidFill>
              <a:effectLst/>
              <a:latin typeface="Georgia" panose="02040502050405020303" pitchFamily="18" charset="0"/>
            </a:endParaRPr>
          </a:p>
          <a:p>
            <a:pPr algn="l"/>
            <a:r>
              <a:rPr lang="en-US" sz="3200" b="0" i="0" dirty="0">
                <a:solidFill>
                  <a:srgbClr val="333333"/>
                </a:solidFill>
                <a:effectLst/>
                <a:latin typeface="Georgia" panose="02040502050405020303" pitchFamily="18" charset="0"/>
              </a:rPr>
              <a:t>1965                                 </a:t>
            </a:r>
          </a:p>
          <a:p>
            <a:pPr algn="l"/>
            <a:r>
              <a:rPr lang="en-US" sz="3200" b="0" i="0" u="none" strike="noStrike" dirty="0">
                <a:solidFill>
                  <a:srgbClr val="003891"/>
                </a:solidFill>
                <a:effectLst/>
                <a:latin typeface="Georgia" panose="02040502050405020303" pitchFamily="18" charset="0"/>
                <a:hlinkClick r:id="rId4" tooltip="https://en.wikipedia.org/wiki/I._J._Good"/>
              </a:rPr>
              <a:t>I.J. Good</a:t>
            </a:r>
            <a:r>
              <a:rPr lang="en-US" sz="3200" b="0" i="0" dirty="0">
                <a:solidFill>
                  <a:srgbClr val="333333"/>
                </a:solidFill>
                <a:effectLst/>
                <a:latin typeface="Georgia" panose="02040502050405020303" pitchFamily="18" charset="0"/>
              </a:rPr>
              <a:t> writes in "Speculations Concerning the First </a:t>
            </a:r>
            <a:r>
              <a:rPr lang="en-US" sz="3200" b="0" i="0" dirty="0" err="1">
                <a:solidFill>
                  <a:srgbClr val="333333"/>
                </a:solidFill>
                <a:effectLst/>
                <a:latin typeface="Georgia" panose="02040502050405020303" pitchFamily="18" charset="0"/>
              </a:rPr>
              <a:t>Ultraintelligent</a:t>
            </a:r>
            <a:r>
              <a:rPr lang="en-US" sz="3200" b="0" i="0" dirty="0">
                <a:solidFill>
                  <a:srgbClr val="333333"/>
                </a:solidFill>
                <a:effectLst/>
                <a:latin typeface="Georgia" panose="02040502050405020303" pitchFamily="18" charset="0"/>
              </a:rPr>
              <a:t> Machine" that “the first ultra-intelligent machine is the last invention that man need ever make, provided that the machine is docile enough to tell us how to keep it under control.”</a:t>
            </a:r>
          </a:p>
          <a:p>
            <a:pPr algn="l"/>
            <a:endParaRPr lang="en-US" sz="3200" dirty="0">
              <a:solidFill>
                <a:srgbClr val="333333"/>
              </a:solidFill>
              <a:latin typeface="Georgia" panose="02040502050405020303" pitchFamily="18" charset="0"/>
            </a:endParaRPr>
          </a:p>
          <a:p>
            <a:r>
              <a:rPr lang="en-US" sz="3200" b="0" i="0" dirty="0">
                <a:solidFill>
                  <a:srgbClr val="333333"/>
                </a:solidFill>
                <a:effectLst/>
                <a:latin typeface="Georgia" panose="02040502050405020303" pitchFamily="18" charset="0"/>
              </a:rPr>
              <a:t>1970s through 2000s: The field of AI experienced two “AI winters” during 1974-1980 and 1987-2000 when, following disappointing outcomes, government funding and other incentives to investigate AI dried up.</a:t>
            </a:r>
          </a:p>
          <a:p>
            <a:pPr algn="l"/>
            <a:endParaRPr lang="en-US" sz="2800" b="0" i="0" dirty="0">
              <a:solidFill>
                <a:srgbClr val="333333"/>
              </a:solidFill>
              <a:effectLst/>
              <a:latin typeface="Georgia" panose="02040502050405020303" pitchFamily="18" charset="0"/>
            </a:endParaRPr>
          </a:p>
          <a:p>
            <a:endParaRPr lang="en-US" dirty="0"/>
          </a:p>
        </p:txBody>
      </p:sp>
    </p:spTree>
    <p:custDataLst>
      <p:tags r:id="rId1"/>
    </p:custDataLst>
    <p:extLst>
      <p:ext uri="{BB962C8B-B14F-4D97-AF65-F5344CB8AC3E}">
        <p14:creationId xmlns:p14="http://schemas.microsoft.com/office/powerpoint/2010/main" val="2293119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BD47-95F6-47E0-B51D-F7E51C499338}"/>
              </a:ext>
            </a:extLst>
          </p:cNvPr>
          <p:cNvSpPr>
            <a:spLocks noGrp="1"/>
          </p:cNvSpPr>
          <p:nvPr>
            <p:ph type="title"/>
          </p:nvPr>
        </p:nvSpPr>
        <p:spPr>
          <a:xfrm>
            <a:off x="1098550" y="469108"/>
            <a:ext cx="16084552" cy="1551434"/>
          </a:xfrm>
        </p:spPr>
        <p:txBody>
          <a:bodyPr/>
          <a:lstStyle/>
          <a:p>
            <a:r>
              <a:rPr lang="en-US" sz="4400" b="1" dirty="0">
                <a:solidFill>
                  <a:schemeClr val="bg1"/>
                </a:solidFill>
              </a:rPr>
              <a:t>A quick review of AI History from your reading</a:t>
            </a:r>
            <a:br>
              <a:rPr lang="en-US" sz="4400" b="1" dirty="0">
                <a:solidFill>
                  <a:schemeClr val="bg1"/>
                </a:solidFill>
              </a:rPr>
            </a:br>
            <a:r>
              <a:rPr lang="en-US" sz="4400" b="1" dirty="0">
                <a:solidFill>
                  <a:schemeClr val="bg1"/>
                </a:solidFill>
              </a:rPr>
              <a:t>(Key milestones extracted from Forbes 2021)</a:t>
            </a:r>
          </a:p>
        </p:txBody>
      </p:sp>
      <p:sp>
        <p:nvSpPr>
          <p:cNvPr id="4" name="AutoShape 2" descr="Artificial Intelligence (2016) - AMP New Ventures"/>
          <p:cNvSpPr>
            <a:spLocks noChangeAspect="1" noChangeArrowheads="1"/>
          </p:cNvSpPr>
          <p:nvPr/>
        </p:nvSpPr>
        <p:spPr bwMode="auto">
          <a:xfrm>
            <a:off x="233363" y="-216694"/>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5" name="AutoShape 4" descr="Artificial Intelligence (2016) - AMP New Ventures"/>
          <p:cNvSpPr>
            <a:spLocks noChangeAspect="1" noChangeArrowheads="1"/>
          </p:cNvSpPr>
          <p:nvPr/>
        </p:nvSpPr>
        <p:spPr bwMode="auto">
          <a:xfrm>
            <a:off x="461963" y="119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6" name="AutoShape 6" descr="Artificial Intelligence (2016) - AMP New Ventures"/>
          <p:cNvSpPr>
            <a:spLocks noChangeAspect="1" noChangeArrowheads="1"/>
          </p:cNvSpPr>
          <p:nvPr/>
        </p:nvSpPr>
        <p:spPr bwMode="auto">
          <a:xfrm>
            <a:off x="690563" y="2405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7" name="AutoShape 8" descr="7 Benefits of Artificial Intelligence for Business"/>
          <p:cNvSpPr>
            <a:spLocks noChangeAspect="1" noChangeArrowheads="1"/>
          </p:cNvSpPr>
          <p:nvPr/>
        </p:nvSpPr>
        <p:spPr bwMode="auto">
          <a:xfrm>
            <a:off x="919163" y="4691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9DC38062-D1EA-41EB-A541-22DEA81520E6}"/>
              </a:ext>
            </a:extLst>
          </p:cNvPr>
          <p:cNvSpPr txBox="1"/>
          <p:nvPr/>
        </p:nvSpPr>
        <p:spPr>
          <a:xfrm>
            <a:off x="1657675" y="2020542"/>
            <a:ext cx="14966302" cy="7632859"/>
          </a:xfrm>
          <a:prstGeom prst="rect">
            <a:avLst/>
          </a:prstGeom>
          <a:noFill/>
        </p:spPr>
        <p:txBody>
          <a:bodyPr wrap="square" rtlCol="0">
            <a:spAutoFit/>
          </a:bodyPr>
          <a:lstStyle/>
          <a:p>
            <a:pPr algn="l"/>
            <a:endParaRPr lang="en-US" sz="2800" dirty="0">
              <a:latin typeface="Georgia" panose="02040502050405020303" pitchFamily="18" charset="0"/>
            </a:endParaRPr>
          </a:p>
          <a:p>
            <a:pPr algn="l"/>
            <a:r>
              <a:rPr lang="en-US" sz="3200" b="0" i="0" dirty="0">
                <a:effectLst/>
                <a:latin typeface="Georgia" panose="02040502050405020303" pitchFamily="18" charset="0"/>
              </a:rPr>
              <a:t>2009                                 </a:t>
            </a:r>
          </a:p>
          <a:p>
            <a:pPr algn="l"/>
            <a:r>
              <a:rPr lang="en-US" sz="3200" b="0" i="0" dirty="0">
                <a:effectLst/>
                <a:latin typeface="Georgia" panose="02040502050405020303" pitchFamily="18" charset="0"/>
              </a:rPr>
              <a:t>Rajat Raina, Anand </a:t>
            </a:r>
            <a:r>
              <a:rPr lang="en-US" sz="3200" b="0" i="0" dirty="0" err="1">
                <a:effectLst/>
                <a:latin typeface="Georgia" panose="02040502050405020303" pitchFamily="18" charset="0"/>
              </a:rPr>
              <a:t>Madhavan</a:t>
            </a:r>
            <a:r>
              <a:rPr lang="en-US" sz="3200" b="0" i="0" dirty="0">
                <a:effectLst/>
                <a:latin typeface="Georgia" panose="02040502050405020303" pitchFamily="18" charset="0"/>
              </a:rPr>
              <a:t> and Andrew Ng publish “</a:t>
            </a:r>
            <a:r>
              <a:rPr lang="en-US" sz="3200" b="0" i="0" u="none" strike="noStrike" dirty="0">
                <a:effectLst/>
                <a:latin typeface="Georgia" panose="02040502050405020303" pitchFamily="18" charset="0"/>
                <a:hlinkClick r:id="rId2" tooltip="http://www.machinelearning.org/archive/icml2009/papers/218.pdf">
                  <a:extLst>
                    <a:ext uri="{A12FA001-AC4F-418D-AE19-62706E023703}">
                      <ahyp:hlinkClr xmlns:ahyp="http://schemas.microsoft.com/office/drawing/2018/hyperlinkcolor" val="tx"/>
                    </a:ext>
                  </a:extLst>
                </a:hlinkClick>
              </a:rPr>
              <a:t>Large-scale Deep Unsupervised Learning using Graphics Processors</a:t>
            </a:r>
            <a:r>
              <a:rPr lang="en-US" sz="3200" b="0" i="0" dirty="0">
                <a:effectLst/>
                <a:latin typeface="Georgia" panose="02040502050405020303" pitchFamily="18" charset="0"/>
              </a:rPr>
              <a:t>,” arguing that “modern graphics processors far surpass the computational capabilities of multicore CPUs, and have the potential to revolutionize the applicability of deep unsupervised learning methods.”</a:t>
            </a:r>
          </a:p>
          <a:p>
            <a:pPr algn="l"/>
            <a:endParaRPr lang="en-US" sz="3200" dirty="0">
              <a:latin typeface="Georgia" panose="02040502050405020303" pitchFamily="18" charset="0"/>
            </a:endParaRPr>
          </a:p>
          <a:p>
            <a:pPr algn="l"/>
            <a:r>
              <a:rPr lang="en-US" sz="3200" b="0" i="0" dirty="0">
                <a:effectLst/>
                <a:latin typeface="Georgia" panose="02040502050405020303" pitchFamily="18" charset="0"/>
              </a:rPr>
              <a:t>2009                                </a:t>
            </a:r>
          </a:p>
          <a:p>
            <a:pPr algn="l"/>
            <a:r>
              <a:rPr lang="en-US" sz="3200" b="0" i="0" dirty="0">
                <a:effectLst/>
                <a:latin typeface="Georgia" panose="02040502050405020303" pitchFamily="18" charset="0"/>
              </a:rPr>
              <a:t>Google starts developing, in secret, </a:t>
            </a:r>
            <a:r>
              <a:rPr lang="en-US" sz="3200" b="0" i="0" u="none" strike="noStrike" dirty="0">
                <a:effectLst/>
                <a:latin typeface="Georgia" panose="02040502050405020303" pitchFamily="18" charset="0"/>
                <a:hlinkClick r:id="rId3" tooltip="https://googleblog.blogspot.com/2010/10/what-were-driving-at.html">
                  <a:extLst>
                    <a:ext uri="{A12FA001-AC4F-418D-AE19-62706E023703}">
                      <ahyp:hlinkClr xmlns:ahyp="http://schemas.microsoft.com/office/drawing/2018/hyperlinkcolor" val="tx"/>
                    </a:ext>
                  </a:extLst>
                </a:hlinkClick>
              </a:rPr>
              <a:t>a driverless car</a:t>
            </a:r>
            <a:r>
              <a:rPr lang="en-US" sz="3200" b="0" i="0" dirty="0">
                <a:effectLst/>
                <a:latin typeface="Georgia" panose="02040502050405020303" pitchFamily="18" charset="0"/>
              </a:rPr>
              <a:t>. In 2014, it became the first to pass, in </a:t>
            </a:r>
            <a:r>
              <a:rPr lang="en-US" sz="3200" b="0" i="0" u="none" strike="noStrike" dirty="0">
                <a:effectLst/>
                <a:latin typeface="Georgia" panose="02040502050405020303" pitchFamily="18" charset="0"/>
                <a:hlinkClick r:id="rId4" tooltip="http://spectrum.ieee.org/transportation/advanced-cars/how-googles-autonomous-car-passed-the-first-us-state-selfdriving-test">
                  <a:extLst>
                    <a:ext uri="{A12FA001-AC4F-418D-AE19-62706E023703}">
                      <ahyp:hlinkClr xmlns:ahyp="http://schemas.microsoft.com/office/drawing/2018/hyperlinkcolor" val="tx"/>
                    </a:ext>
                  </a:extLst>
                </a:hlinkClick>
              </a:rPr>
              <a:t>Nevada</a:t>
            </a:r>
            <a:r>
              <a:rPr lang="en-US" sz="3200" b="0" i="0" dirty="0">
                <a:effectLst/>
                <a:latin typeface="Georgia" panose="02040502050405020303" pitchFamily="18" charset="0"/>
              </a:rPr>
              <a:t>, a U.S. state self-driving test.</a:t>
            </a:r>
          </a:p>
          <a:p>
            <a:pPr algn="l"/>
            <a:endParaRPr lang="en-US" sz="3200" dirty="0">
              <a:latin typeface="Georgia" panose="02040502050405020303" pitchFamily="18" charset="0"/>
            </a:endParaRPr>
          </a:p>
          <a:p>
            <a:pPr algn="l"/>
            <a:r>
              <a:rPr lang="en-US" sz="3200" b="0" i="0" dirty="0">
                <a:effectLst/>
                <a:latin typeface="Georgia" panose="02040502050405020303" pitchFamily="18" charset="0"/>
              </a:rPr>
              <a:t>2022</a:t>
            </a:r>
          </a:p>
          <a:p>
            <a:pPr algn="l"/>
            <a:r>
              <a:rPr lang="en-US" sz="3200" dirty="0" err="1">
                <a:latin typeface="Georgia" panose="02040502050405020303" pitchFamily="18" charset="0"/>
              </a:rPr>
              <a:t>OpenAI</a:t>
            </a:r>
            <a:r>
              <a:rPr lang="en-US" sz="3200" dirty="0">
                <a:latin typeface="Georgia" panose="02040502050405020303" pitchFamily="18" charset="0"/>
              </a:rPr>
              <a:t> introduces </a:t>
            </a:r>
            <a:r>
              <a:rPr lang="en-US" sz="3200" dirty="0" err="1">
                <a:latin typeface="Georgia" panose="02040502050405020303" pitchFamily="18" charset="0"/>
              </a:rPr>
              <a:t>ChatGPT</a:t>
            </a:r>
            <a:r>
              <a:rPr lang="en-US" sz="3200" dirty="0">
                <a:latin typeface="Georgia" panose="02040502050405020303" pitchFamily="18" charset="0"/>
              </a:rPr>
              <a:t>, and reached 100 million users within two months.</a:t>
            </a:r>
          </a:p>
          <a:p>
            <a:pPr algn="l"/>
            <a:endParaRPr lang="en-US" sz="2800" b="0" i="0" dirty="0">
              <a:effectLst/>
              <a:latin typeface="Georgia" panose="02040502050405020303" pitchFamily="18" charset="0"/>
            </a:endParaRPr>
          </a:p>
          <a:p>
            <a:endParaRPr lang="en-US" dirty="0"/>
          </a:p>
        </p:txBody>
      </p:sp>
    </p:spTree>
    <p:extLst>
      <p:ext uri="{BB962C8B-B14F-4D97-AF65-F5344CB8AC3E}">
        <p14:creationId xmlns:p14="http://schemas.microsoft.com/office/powerpoint/2010/main" val="3316411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B69EF-9A9E-4898-AECA-2E815E458094}"/>
              </a:ext>
            </a:extLst>
          </p:cNvPr>
          <p:cNvSpPr>
            <a:spLocks noGrp="1"/>
          </p:cNvSpPr>
          <p:nvPr>
            <p:ph type="title"/>
          </p:nvPr>
        </p:nvSpPr>
        <p:spPr/>
        <p:txBody>
          <a:bodyPr/>
          <a:lstStyle/>
          <a:p>
            <a:r>
              <a:rPr lang="en-US" sz="4800" b="1" dirty="0">
                <a:solidFill>
                  <a:schemeClr val="bg1"/>
                </a:solidFill>
              </a:rPr>
              <a:t>A quick review of AI History from your reading</a:t>
            </a:r>
            <a:br>
              <a:rPr lang="en-US" sz="4800" b="1" dirty="0">
                <a:solidFill>
                  <a:schemeClr val="bg1"/>
                </a:solidFill>
              </a:rPr>
            </a:br>
            <a:r>
              <a:rPr lang="en-US" sz="4800" b="1" dirty="0">
                <a:solidFill>
                  <a:schemeClr val="bg1"/>
                </a:solidFill>
              </a:rPr>
              <a:t>(Key milestones extracted from Forbes 2021)</a:t>
            </a:r>
            <a:endParaRPr lang="en-US" sz="4800" dirty="0"/>
          </a:p>
        </p:txBody>
      </p:sp>
      <p:sp>
        <p:nvSpPr>
          <p:cNvPr id="3" name="Content Placeholder 2">
            <a:extLst>
              <a:ext uri="{FF2B5EF4-FFF2-40B4-BE49-F238E27FC236}">
                <a16:creationId xmlns:a16="http://schemas.microsoft.com/office/drawing/2014/main" id="{908BF00F-2A88-4A31-BD77-459684107DA3}"/>
              </a:ext>
            </a:extLst>
          </p:cNvPr>
          <p:cNvSpPr>
            <a:spLocks noGrp="1"/>
          </p:cNvSpPr>
          <p:nvPr>
            <p:ph idx="1"/>
          </p:nvPr>
        </p:nvSpPr>
        <p:spPr/>
        <p:txBody>
          <a:bodyPr/>
          <a:lstStyle/>
          <a:p>
            <a:pPr marL="0" indent="0" algn="l">
              <a:buNone/>
            </a:pPr>
            <a:r>
              <a:rPr lang="en-US" sz="3200" b="1" dirty="0">
                <a:latin typeface="Georgia" panose="02040502050405020303" pitchFamily="18" charset="0"/>
              </a:rPr>
              <a:t>Implications and follow-up developments: </a:t>
            </a:r>
          </a:p>
          <a:p>
            <a:pPr algn="l"/>
            <a:r>
              <a:rPr lang="en-US" sz="3200" dirty="0">
                <a:latin typeface="Georgia" panose="02040502050405020303" pitchFamily="18" charset="0"/>
              </a:rPr>
              <a:t>With the exception of the two “AI winters,” AI made steady progress by integrating several technology capabilities together following the introduction of GPUs, NPUs and IPUs. These technologies are discussed further in Module 3. </a:t>
            </a:r>
          </a:p>
          <a:p>
            <a:pPr algn="l"/>
            <a:r>
              <a:rPr lang="en-US" sz="3200" dirty="0">
                <a:latin typeface="Georgia" panose="02040502050405020303" pitchFamily="18" charset="0"/>
              </a:rPr>
              <a:t>Much excitement has accompanied </a:t>
            </a:r>
            <a:r>
              <a:rPr lang="en-US" sz="3200" dirty="0" err="1">
                <a:latin typeface="Georgia" panose="02040502050405020303" pitchFamily="18" charset="0"/>
              </a:rPr>
              <a:t>ChatGPT</a:t>
            </a:r>
            <a:r>
              <a:rPr lang="en-US" sz="3200" dirty="0">
                <a:latin typeface="Georgia" panose="02040502050405020303" pitchFamily="18" charset="0"/>
              </a:rPr>
              <a:t> and other LLMs that arrived soon </a:t>
            </a:r>
            <a:r>
              <a:rPr lang="en-US" sz="3200" i="0" dirty="0">
                <a:effectLst/>
                <a:latin typeface="Georgia" panose="02040502050405020303" pitchFamily="18" charset="0"/>
              </a:rPr>
              <a:t>thereafter. On the hardware side, Nvidia’s H100 and H200 have become wildly popular to deploy </a:t>
            </a:r>
            <a:r>
              <a:rPr lang="en-US" sz="3200" dirty="0">
                <a:latin typeface="Georgia" panose="02040502050405020303" pitchFamily="18" charset="0"/>
              </a:rPr>
              <a:t>Generative AI applications to business problems.</a:t>
            </a:r>
            <a:endParaRPr lang="en-US" sz="3200" i="0" dirty="0">
              <a:effectLst/>
              <a:latin typeface="Georgia" panose="02040502050405020303" pitchFamily="18" charset="0"/>
            </a:endParaRPr>
          </a:p>
          <a:p>
            <a:pPr marL="0" indent="0">
              <a:buNone/>
            </a:pPr>
            <a:endParaRPr lang="en-US" dirty="0"/>
          </a:p>
        </p:txBody>
      </p:sp>
    </p:spTree>
    <p:extLst>
      <p:ext uri="{BB962C8B-B14F-4D97-AF65-F5344CB8AC3E}">
        <p14:creationId xmlns:p14="http://schemas.microsoft.com/office/powerpoint/2010/main" val="3983030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1674B-2949-492E-98C1-E730E972B154}"/>
              </a:ext>
            </a:extLst>
          </p:cNvPr>
          <p:cNvSpPr>
            <a:spLocks noGrp="1"/>
          </p:cNvSpPr>
          <p:nvPr>
            <p:ph type="title"/>
          </p:nvPr>
        </p:nvSpPr>
        <p:spPr>
          <a:xfrm>
            <a:off x="1257300" y="493259"/>
            <a:ext cx="15773400" cy="1988345"/>
          </a:xfrm>
        </p:spPr>
        <p:txBody>
          <a:bodyPr>
            <a:normAutofit/>
          </a:bodyPr>
          <a:lstStyle/>
          <a:p>
            <a:r>
              <a:rPr lang="en-US" b="1" dirty="0">
                <a:solidFill>
                  <a:srgbClr val="C00000"/>
                </a:solidFill>
              </a:rPr>
              <a:t>AI types: Narrow AI, Broad AI, AGI </a:t>
            </a:r>
            <a:br>
              <a:rPr lang="en-US" b="1" dirty="0">
                <a:solidFill>
                  <a:srgbClr val="FF0000"/>
                </a:solidFill>
              </a:rPr>
            </a:br>
            <a:endParaRPr lang="en-US" b="1" dirty="0">
              <a:solidFill>
                <a:srgbClr val="FF0000"/>
              </a:solidFill>
            </a:endParaRPr>
          </a:p>
        </p:txBody>
      </p:sp>
      <p:sp>
        <p:nvSpPr>
          <p:cNvPr id="3" name="Content Placeholder 2">
            <a:extLst>
              <a:ext uri="{FF2B5EF4-FFF2-40B4-BE49-F238E27FC236}">
                <a16:creationId xmlns:a16="http://schemas.microsoft.com/office/drawing/2014/main" id="{EC9533A5-C1FB-41A8-BD4A-C6DC91E0C787}"/>
              </a:ext>
            </a:extLst>
          </p:cNvPr>
          <p:cNvSpPr>
            <a:spLocks noGrp="1"/>
          </p:cNvSpPr>
          <p:nvPr>
            <p:ph idx="1"/>
          </p:nvPr>
        </p:nvSpPr>
        <p:spPr>
          <a:xfrm>
            <a:off x="713013" y="2781981"/>
            <a:ext cx="16317687" cy="6527007"/>
          </a:xfrm>
        </p:spPr>
        <p:txBody>
          <a:bodyPr>
            <a:normAutofit fontScale="85000" lnSpcReduction="20000"/>
          </a:bodyPr>
          <a:lstStyle/>
          <a:p>
            <a:pPr marL="0" indent="0">
              <a:buNone/>
            </a:pPr>
            <a:r>
              <a:rPr lang="en-US" sz="3600" b="1" dirty="0">
                <a:solidFill>
                  <a:srgbClr val="C00000"/>
                </a:solidFill>
              </a:rPr>
              <a:t>Narrow AI: </a:t>
            </a:r>
            <a:r>
              <a:rPr lang="en-US" sz="3600" i="1" dirty="0"/>
              <a:t>AI task that is structured with limited domain/knowledge focus, such as internet search or face recognition, or a simple ‘Alexa’ voice command. Accomplishes a single/simple task as well as a human, usually more efficiently. AI systems that are limited to one function or operation can be characterized as “narrow AI”. This type of AI only performs a specific task. </a:t>
            </a:r>
          </a:p>
          <a:p>
            <a:pPr marL="0" indent="0">
              <a:buNone/>
            </a:pPr>
            <a:r>
              <a:rPr lang="en-US" sz="3600" b="1" dirty="0">
                <a:solidFill>
                  <a:srgbClr val="C00000"/>
                </a:solidFill>
              </a:rPr>
              <a:t>Broad AI: </a:t>
            </a:r>
            <a:r>
              <a:rPr lang="en-US" sz="3600" i="1" dirty="0"/>
              <a:t>represents a more complex collection of decision making AI systems, such as a self-driving car (autonomous vehicle). Accomplishes complex tasks simultaneously (in real time) as well as a human.</a:t>
            </a:r>
          </a:p>
          <a:p>
            <a:pPr marL="0" indent="0">
              <a:buNone/>
            </a:pPr>
            <a:r>
              <a:rPr lang="en-US" sz="3600" i="1" dirty="0"/>
              <a:t>Much of the progress on narrow AI and Broad AI s currently based on </a:t>
            </a:r>
            <a:r>
              <a:rPr lang="en-US" sz="3600" b="1" i="1" dirty="0"/>
              <a:t>machine learning </a:t>
            </a:r>
            <a:r>
              <a:rPr lang="en-US" sz="3600" i="1" dirty="0"/>
              <a:t>i.e., algorithms or models that make predictions.</a:t>
            </a:r>
          </a:p>
          <a:p>
            <a:pPr marL="0" indent="0">
              <a:buNone/>
            </a:pPr>
            <a:r>
              <a:rPr lang="en-US" sz="3600" b="1" dirty="0">
                <a:solidFill>
                  <a:srgbClr val="C00000"/>
                </a:solidFill>
              </a:rPr>
              <a:t>Artificial General Intelligence (AGI): </a:t>
            </a:r>
            <a:r>
              <a:rPr lang="en-US" sz="3600" i="1" dirty="0"/>
              <a:t>an AI system that accomplishes tasks that are beyond human intelligence, somethings humans are not capable of.</a:t>
            </a:r>
          </a:p>
        </p:txBody>
      </p:sp>
    </p:spTree>
    <p:extLst>
      <p:ext uri="{BB962C8B-B14F-4D97-AF65-F5344CB8AC3E}">
        <p14:creationId xmlns:p14="http://schemas.microsoft.com/office/powerpoint/2010/main" val="3526434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CDAF6-035A-4F89-A61B-0FB470CC7765}"/>
              </a:ext>
            </a:extLst>
          </p:cNvPr>
          <p:cNvSpPr>
            <a:spLocks noGrp="1"/>
          </p:cNvSpPr>
          <p:nvPr>
            <p:ph type="title"/>
          </p:nvPr>
        </p:nvSpPr>
        <p:spPr>
          <a:xfrm>
            <a:off x="1257300" y="351745"/>
            <a:ext cx="15773400" cy="845684"/>
          </a:xfrm>
        </p:spPr>
        <p:txBody>
          <a:bodyPr>
            <a:noAutofit/>
          </a:bodyPr>
          <a:lstStyle/>
          <a:p>
            <a:r>
              <a:rPr lang="en-US" sz="4800" dirty="0">
                <a:solidFill>
                  <a:srgbClr val="C00000"/>
                </a:solidFill>
              </a:rPr>
              <a:t>There are no AGI Myths. Only Facts and Real Worries</a:t>
            </a:r>
          </a:p>
        </p:txBody>
      </p:sp>
      <p:sp>
        <p:nvSpPr>
          <p:cNvPr id="3" name="Content Placeholder 2">
            <a:extLst>
              <a:ext uri="{FF2B5EF4-FFF2-40B4-BE49-F238E27FC236}">
                <a16:creationId xmlns:a16="http://schemas.microsoft.com/office/drawing/2014/main" id="{745B5C8B-E7B3-4011-8565-47E0CA158F40}"/>
              </a:ext>
            </a:extLst>
          </p:cNvPr>
          <p:cNvSpPr>
            <a:spLocks noGrp="1"/>
          </p:cNvSpPr>
          <p:nvPr>
            <p:ph idx="1"/>
          </p:nvPr>
        </p:nvSpPr>
        <p:spPr>
          <a:xfrm>
            <a:off x="1077686" y="1312958"/>
            <a:ext cx="16132628" cy="7285944"/>
          </a:xfrm>
        </p:spPr>
        <p:txBody>
          <a:bodyPr>
            <a:noAutofit/>
          </a:bodyPr>
          <a:lstStyle/>
          <a:p>
            <a:pPr marL="0" indent="0">
              <a:spcBef>
                <a:spcPts val="0"/>
              </a:spcBef>
              <a:buNone/>
            </a:pPr>
            <a:r>
              <a:rPr lang="en-US" sz="3200" i="1" dirty="0">
                <a:latin typeface="Arial" panose="020B0604020202020204" pitchFamily="34" charset="0"/>
                <a:cs typeface="Arial" panose="020B0604020202020204" pitchFamily="34" charset="0"/>
              </a:rPr>
              <a:t>Myths about AGI: </a:t>
            </a:r>
          </a:p>
          <a:p>
            <a:pPr marL="771525" indent="-771525">
              <a:spcBef>
                <a:spcPts val="0"/>
              </a:spcBef>
              <a:buFont typeface="+mj-lt"/>
              <a:buAutoNum type="arabicPeriod"/>
            </a:pPr>
            <a:r>
              <a:rPr lang="en-US" sz="3200" i="1" dirty="0">
                <a:latin typeface="Arial" panose="020B0604020202020204" pitchFamily="34" charset="0"/>
                <a:cs typeface="Arial" panose="020B0604020202020204" pitchFamily="34" charset="0"/>
              </a:rPr>
              <a:t>Myth</a:t>
            </a:r>
            <a:r>
              <a:rPr lang="en-US" sz="3200" dirty="0">
                <a:latin typeface="Arial" panose="020B0604020202020204" pitchFamily="34" charset="0"/>
                <a:cs typeface="Arial" panose="020B0604020202020204" pitchFamily="34" charset="0"/>
              </a:rPr>
              <a:t>: Super-intelligence by 2100 is inevitable; Super-intelligence by 2100 is impossible.</a:t>
            </a:r>
          </a:p>
          <a:p>
            <a:pPr marL="0" indent="0">
              <a:spcBef>
                <a:spcPts val="0"/>
              </a:spcBef>
              <a:buNone/>
            </a:pPr>
            <a:r>
              <a:rPr lang="en-US" sz="3200" b="1" dirty="0">
                <a:solidFill>
                  <a:srgbClr val="C00000"/>
                </a:solidFill>
                <a:latin typeface="Arial" panose="020B0604020202020204" pitchFamily="34" charset="0"/>
                <a:cs typeface="Arial" panose="020B0604020202020204" pitchFamily="34" charset="0"/>
              </a:rPr>
              <a:t>		Fact</a:t>
            </a:r>
            <a:r>
              <a:rPr lang="en-US" sz="3200" dirty="0">
                <a:solidFill>
                  <a:srgbClr val="C00000"/>
                </a:solidFill>
                <a:latin typeface="Arial" panose="020B0604020202020204" pitchFamily="34" charset="0"/>
                <a:cs typeface="Arial" panose="020B0604020202020204" pitchFamily="34" charset="0"/>
              </a:rPr>
              <a:t>: It may happen in decades, centuries or never: we simply don’t know.</a:t>
            </a:r>
          </a:p>
          <a:p>
            <a:pPr marL="771525" indent="-771525">
              <a:spcBef>
                <a:spcPts val="0"/>
              </a:spcBef>
              <a:buAutoNum type="arabicPeriod" startAt="2"/>
            </a:pPr>
            <a:r>
              <a:rPr lang="en-US" sz="3200" i="1" dirty="0">
                <a:latin typeface="Arial" panose="020B0604020202020204" pitchFamily="34" charset="0"/>
                <a:cs typeface="Arial" panose="020B0604020202020204" pitchFamily="34" charset="0"/>
              </a:rPr>
              <a:t>Myth</a:t>
            </a:r>
            <a:r>
              <a:rPr lang="en-US" sz="3200" dirty="0">
                <a:latin typeface="Arial" panose="020B0604020202020204" pitchFamily="34" charset="0"/>
                <a:cs typeface="Arial" panose="020B0604020202020204" pitchFamily="34" charset="0"/>
              </a:rPr>
              <a:t>: Only Luddites worry about AI.</a:t>
            </a:r>
          </a:p>
          <a:p>
            <a:pPr marL="0" indent="0">
              <a:spcBef>
                <a:spcPts val="0"/>
              </a:spcBef>
              <a:buNone/>
            </a:pPr>
            <a:r>
              <a:rPr lang="en-US" sz="3200" dirty="0">
                <a:solidFill>
                  <a:srgbClr val="C00000"/>
                </a:solidFill>
                <a:latin typeface="Arial" panose="020B0604020202020204" pitchFamily="34" charset="0"/>
                <a:cs typeface="Arial" panose="020B0604020202020204" pitchFamily="34" charset="0"/>
              </a:rPr>
              <a:t>            	</a:t>
            </a:r>
            <a:r>
              <a:rPr lang="en-US" sz="3200" b="1" dirty="0">
                <a:solidFill>
                  <a:srgbClr val="C00000"/>
                </a:solidFill>
                <a:latin typeface="Arial" panose="020B0604020202020204" pitchFamily="34" charset="0"/>
                <a:cs typeface="Arial" panose="020B0604020202020204" pitchFamily="34" charset="0"/>
              </a:rPr>
              <a:t>Fact</a:t>
            </a:r>
            <a:r>
              <a:rPr lang="en-US" sz="3200" dirty="0">
                <a:solidFill>
                  <a:srgbClr val="C00000"/>
                </a:solidFill>
                <a:latin typeface="Arial" panose="020B0604020202020204" pitchFamily="34" charset="0"/>
                <a:cs typeface="Arial" panose="020B0604020202020204" pitchFamily="34" charset="0"/>
              </a:rPr>
              <a:t>: Many top AI researchers are extremely concerned. </a:t>
            </a:r>
          </a:p>
          <a:p>
            <a:pPr marL="771525" indent="-771525">
              <a:spcBef>
                <a:spcPts val="0"/>
              </a:spcBef>
              <a:buAutoNum type="arabicPeriod" startAt="3"/>
            </a:pPr>
            <a:r>
              <a:rPr lang="en-US" sz="3200" i="1" dirty="0">
                <a:latin typeface="Arial" panose="020B0604020202020204" pitchFamily="34" charset="0"/>
                <a:cs typeface="Arial" panose="020B0604020202020204" pitchFamily="34" charset="0"/>
              </a:rPr>
              <a:t>Mythical worry</a:t>
            </a:r>
            <a:r>
              <a:rPr lang="en-US" sz="3200" dirty="0">
                <a:latin typeface="Arial" panose="020B0604020202020204" pitchFamily="34" charset="0"/>
                <a:cs typeface="Arial" panose="020B0604020202020204" pitchFamily="34" charset="0"/>
              </a:rPr>
              <a:t>: AI may turn evil; AI may become conscious (aka sentience).</a:t>
            </a:r>
          </a:p>
          <a:p>
            <a:pPr marL="0" indent="0">
              <a:spcBef>
                <a:spcPts val="0"/>
              </a:spcBef>
              <a:buNone/>
            </a:pPr>
            <a:r>
              <a:rPr lang="en-US" sz="3200" dirty="0">
                <a:solidFill>
                  <a:srgbClr val="C00000"/>
                </a:solidFill>
                <a:latin typeface="Arial" panose="020B0604020202020204" pitchFamily="34" charset="0"/>
                <a:cs typeface="Arial" panose="020B0604020202020204" pitchFamily="34" charset="0"/>
              </a:rPr>
              <a:t>            	</a:t>
            </a:r>
            <a:r>
              <a:rPr lang="en-US" sz="3200" b="1" dirty="0">
                <a:solidFill>
                  <a:srgbClr val="C00000"/>
                </a:solidFill>
                <a:latin typeface="Arial" panose="020B0604020202020204" pitchFamily="34" charset="0"/>
                <a:cs typeface="Arial" panose="020B0604020202020204" pitchFamily="34" charset="0"/>
              </a:rPr>
              <a:t>Real worry</a:t>
            </a:r>
            <a:r>
              <a:rPr lang="en-US" sz="3200" dirty="0">
                <a:solidFill>
                  <a:srgbClr val="C00000"/>
                </a:solidFill>
                <a:latin typeface="Arial" panose="020B0604020202020204" pitchFamily="34" charset="0"/>
                <a:cs typeface="Arial" panose="020B0604020202020204" pitchFamily="34" charset="0"/>
              </a:rPr>
              <a:t>: AI may become competent, with goals misaligned with humans.</a:t>
            </a:r>
          </a:p>
          <a:p>
            <a:pPr marL="771525" indent="-771525">
              <a:spcBef>
                <a:spcPts val="0"/>
              </a:spcBef>
              <a:buAutoNum type="arabicPeriod" startAt="4"/>
            </a:pPr>
            <a:r>
              <a:rPr lang="en-US" sz="3200" i="1" dirty="0">
                <a:latin typeface="Arial" panose="020B0604020202020204" pitchFamily="34" charset="0"/>
                <a:cs typeface="Arial" panose="020B0604020202020204" pitchFamily="34" charset="0"/>
              </a:rPr>
              <a:t>Myth</a:t>
            </a:r>
            <a:r>
              <a:rPr lang="en-US" sz="3200" dirty="0">
                <a:latin typeface="Arial" panose="020B0604020202020204" pitchFamily="34" charset="0"/>
                <a:cs typeface="Arial" panose="020B0604020202020204" pitchFamily="34" charset="0"/>
              </a:rPr>
              <a:t>: Robots are the main concern.</a:t>
            </a:r>
          </a:p>
          <a:p>
            <a:pPr marL="0" indent="0">
              <a:spcBef>
                <a:spcPts val="0"/>
              </a:spcBef>
              <a:buNone/>
            </a:pPr>
            <a:r>
              <a:rPr lang="en-US" sz="3200" dirty="0">
                <a:solidFill>
                  <a:srgbClr val="C00000"/>
                </a:solidFill>
                <a:latin typeface="Arial" panose="020B0604020202020204" pitchFamily="34" charset="0"/>
                <a:cs typeface="Arial" panose="020B0604020202020204" pitchFamily="34" charset="0"/>
              </a:rPr>
              <a:t>            	</a:t>
            </a:r>
            <a:r>
              <a:rPr lang="en-US" sz="3200" b="1" dirty="0">
                <a:solidFill>
                  <a:srgbClr val="C00000"/>
                </a:solidFill>
                <a:latin typeface="Arial" panose="020B0604020202020204" pitchFamily="34" charset="0"/>
                <a:cs typeface="Arial" panose="020B0604020202020204" pitchFamily="34" charset="0"/>
              </a:rPr>
              <a:t>Fact</a:t>
            </a:r>
            <a:r>
              <a:rPr lang="en-US" sz="3200" dirty="0">
                <a:solidFill>
                  <a:srgbClr val="C00000"/>
                </a:solidFill>
                <a:latin typeface="Arial" panose="020B0604020202020204" pitchFamily="34" charset="0"/>
                <a:cs typeface="Arial" panose="020B0604020202020204" pitchFamily="34" charset="0"/>
              </a:rPr>
              <a:t>: Misaligned intelligence in AGI is the main concern.</a:t>
            </a:r>
          </a:p>
          <a:p>
            <a:pPr marL="771525" indent="-771525">
              <a:spcBef>
                <a:spcPts val="0"/>
              </a:spcBef>
              <a:buAutoNum type="arabicPeriod" startAt="5"/>
            </a:pPr>
            <a:r>
              <a:rPr lang="en-US" sz="3200" i="1" dirty="0">
                <a:latin typeface="Arial" panose="020B0604020202020204" pitchFamily="34" charset="0"/>
                <a:cs typeface="Arial" panose="020B0604020202020204" pitchFamily="34" charset="0"/>
              </a:rPr>
              <a:t>Myth</a:t>
            </a:r>
            <a:r>
              <a:rPr lang="en-US" sz="3200" dirty="0">
                <a:latin typeface="Arial" panose="020B0604020202020204" pitchFamily="34" charset="0"/>
                <a:cs typeface="Arial" panose="020B0604020202020204" pitchFamily="34" charset="0"/>
              </a:rPr>
              <a:t>: AI can’t control humans.</a:t>
            </a:r>
          </a:p>
          <a:p>
            <a:pPr marL="0" indent="0">
              <a:spcBef>
                <a:spcPts val="0"/>
              </a:spcBef>
              <a:buNone/>
            </a:pPr>
            <a:r>
              <a:rPr lang="en-US" sz="3200" dirty="0">
                <a:solidFill>
                  <a:srgbClr val="C00000"/>
                </a:solidFill>
                <a:latin typeface="Arial" panose="020B0604020202020204" pitchFamily="34" charset="0"/>
                <a:cs typeface="Arial" panose="020B0604020202020204" pitchFamily="34" charset="0"/>
              </a:rPr>
              <a:t>            	</a:t>
            </a:r>
            <a:r>
              <a:rPr lang="en-US" sz="3200" b="1" dirty="0">
                <a:solidFill>
                  <a:srgbClr val="C00000"/>
                </a:solidFill>
                <a:latin typeface="Arial" panose="020B0604020202020204" pitchFamily="34" charset="0"/>
                <a:cs typeface="Arial" panose="020B0604020202020204" pitchFamily="34" charset="0"/>
              </a:rPr>
              <a:t>Fact</a:t>
            </a:r>
            <a:r>
              <a:rPr lang="en-US" sz="3200" dirty="0">
                <a:solidFill>
                  <a:srgbClr val="C00000"/>
                </a:solidFill>
                <a:latin typeface="Arial" panose="020B0604020202020204" pitchFamily="34" charset="0"/>
                <a:cs typeface="Arial" panose="020B0604020202020204" pitchFamily="34" charset="0"/>
              </a:rPr>
              <a:t>: Intelligence enables control. Humans can gain control by being smarter.</a:t>
            </a:r>
          </a:p>
          <a:p>
            <a:pPr marL="771525" indent="-771525">
              <a:spcBef>
                <a:spcPts val="0"/>
              </a:spcBef>
              <a:buAutoNum type="arabicPeriod" startAt="6"/>
            </a:pPr>
            <a:r>
              <a:rPr lang="en-US" sz="3200" i="1" dirty="0">
                <a:latin typeface="Arial" panose="020B0604020202020204" pitchFamily="34" charset="0"/>
                <a:cs typeface="Arial" panose="020B0604020202020204" pitchFamily="34" charset="0"/>
              </a:rPr>
              <a:t>Myth</a:t>
            </a:r>
            <a:r>
              <a:rPr lang="en-US" sz="3200" dirty="0">
                <a:latin typeface="Arial" panose="020B0604020202020204" pitchFamily="34" charset="0"/>
                <a:cs typeface="Arial" panose="020B0604020202020204" pitchFamily="34" charset="0"/>
              </a:rPr>
              <a:t>: Machines can’t have goals.</a:t>
            </a:r>
          </a:p>
          <a:p>
            <a:pPr marL="0" indent="0">
              <a:spcBef>
                <a:spcPts val="0"/>
              </a:spcBef>
              <a:buNone/>
            </a:pPr>
            <a:r>
              <a:rPr lang="en-US" sz="3200" dirty="0">
                <a:solidFill>
                  <a:srgbClr val="C00000"/>
                </a:solidFill>
                <a:latin typeface="Arial" panose="020B0604020202020204" pitchFamily="34" charset="0"/>
                <a:cs typeface="Arial" panose="020B0604020202020204" pitchFamily="34" charset="0"/>
              </a:rPr>
              <a:t>            	</a:t>
            </a:r>
            <a:r>
              <a:rPr lang="en-US" sz="3200" b="1" dirty="0">
                <a:solidFill>
                  <a:srgbClr val="C00000"/>
                </a:solidFill>
                <a:latin typeface="Arial" panose="020B0604020202020204" pitchFamily="34" charset="0"/>
                <a:cs typeface="Arial" panose="020B0604020202020204" pitchFamily="34" charset="0"/>
              </a:rPr>
              <a:t>Fact</a:t>
            </a:r>
            <a:r>
              <a:rPr lang="en-US" sz="3200" dirty="0">
                <a:solidFill>
                  <a:srgbClr val="C00000"/>
                </a:solidFill>
                <a:latin typeface="Arial" panose="020B0604020202020204" pitchFamily="34" charset="0"/>
                <a:cs typeface="Arial" panose="020B0604020202020204" pitchFamily="34" charset="0"/>
              </a:rPr>
              <a:t>: This is not true. Even a heat-seeking missile has a goal.</a:t>
            </a:r>
          </a:p>
          <a:p>
            <a:pPr marL="771525" indent="-771525">
              <a:spcBef>
                <a:spcPts val="0"/>
              </a:spcBef>
              <a:buAutoNum type="arabicPeriod" startAt="7"/>
            </a:pPr>
            <a:r>
              <a:rPr lang="en-US" sz="3200" i="1" dirty="0">
                <a:latin typeface="Arial" panose="020B0604020202020204" pitchFamily="34" charset="0"/>
                <a:cs typeface="Arial" panose="020B0604020202020204" pitchFamily="34" charset="0"/>
              </a:rPr>
              <a:t>Mythical worry</a:t>
            </a:r>
            <a:r>
              <a:rPr lang="en-US" sz="3200" dirty="0">
                <a:latin typeface="Arial" panose="020B0604020202020204" pitchFamily="34" charset="0"/>
                <a:cs typeface="Arial" panose="020B0604020202020204" pitchFamily="34" charset="0"/>
              </a:rPr>
              <a:t>: AGI is just years away.</a:t>
            </a:r>
          </a:p>
          <a:p>
            <a:pPr marL="0" indent="0">
              <a:spcBef>
                <a:spcPts val="0"/>
              </a:spcBef>
              <a:buNone/>
            </a:pPr>
            <a:r>
              <a:rPr lang="en-US" sz="3200" dirty="0">
                <a:solidFill>
                  <a:srgbClr val="C00000"/>
                </a:solidFill>
                <a:latin typeface="Arial" panose="020B0604020202020204" pitchFamily="34" charset="0"/>
                <a:cs typeface="Arial" panose="020B0604020202020204" pitchFamily="34" charset="0"/>
              </a:rPr>
              <a:t>            	</a:t>
            </a:r>
            <a:r>
              <a:rPr lang="en-US" sz="3200" b="1" dirty="0">
                <a:solidFill>
                  <a:srgbClr val="C00000"/>
                </a:solidFill>
                <a:latin typeface="Arial" panose="020B0604020202020204" pitchFamily="34" charset="0"/>
                <a:cs typeface="Arial" panose="020B0604020202020204" pitchFamily="34" charset="0"/>
              </a:rPr>
              <a:t>Real worry</a:t>
            </a:r>
            <a:r>
              <a:rPr lang="en-US" sz="3200" dirty="0">
                <a:solidFill>
                  <a:srgbClr val="C00000"/>
                </a:solidFill>
                <a:latin typeface="Arial" panose="020B0604020202020204" pitchFamily="34" charset="0"/>
                <a:cs typeface="Arial" panose="020B0604020202020204" pitchFamily="34" charset="0"/>
              </a:rPr>
              <a:t>: AGI may be decades away, but it may take that long to be safe.</a:t>
            </a:r>
          </a:p>
        </p:txBody>
      </p:sp>
    </p:spTree>
    <p:custDataLst>
      <p:tags r:id="rId1"/>
    </p:custDataLst>
    <p:extLst>
      <p:ext uri="{BB962C8B-B14F-4D97-AF65-F5344CB8AC3E}">
        <p14:creationId xmlns:p14="http://schemas.microsoft.com/office/powerpoint/2010/main" val="31713089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Props1.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2.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12761</TotalTime>
  <Words>1034</Words>
  <Application>Microsoft Office PowerPoint</Application>
  <PresentationFormat>Custom</PresentationFormat>
  <Paragraphs>62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Georgia</vt:lpstr>
      <vt:lpstr>Wingdings 2</vt:lpstr>
      <vt:lpstr>Breeze</vt:lpstr>
      <vt:lpstr>MBA532 – AI in Business </vt:lpstr>
      <vt:lpstr>What AI Represents/Means</vt:lpstr>
      <vt:lpstr>Review of AI History</vt:lpstr>
      <vt:lpstr>A quick review of AI History from your reading (Key milestones extracted from Forbes 2021)</vt:lpstr>
      <vt:lpstr>A quick review of AI History from your reading (Key milestones extracted from Forbes 2021)</vt:lpstr>
      <vt:lpstr>    A quick review of AI History from your reading (Key milestones extracted from Forbes 2021)</vt:lpstr>
      <vt:lpstr>A quick review of AI History from your reading (Key milestones extracted from Forbes 2021)</vt:lpstr>
      <vt:lpstr>A quick review of AI History from your reading (Key milestones extracted from Forbes 2021)</vt:lpstr>
      <vt:lpstr>AI types: Narrow AI, Broad AI, AGI  </vt:lpstr>
      <vt:lpstr>There are no AGI Myths. Only Facts and Real Worries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84</cp:revision>
  <dcterms:created xsi:type="dcterms:W3CDTF">2024-03-17T05:07:31Z</dcterms:created>
  <dcterms:modified xsi:type="dcterms:W3CDTF">2024-05-24T14:28:36Z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F716C819-72B3-464F-96D8-1FAFB7DBC1B4</vt:lpwstr>
  </property>
  <property fmtid="{D5CDD505-2E9C-101B-9397-08002B2CF9AE}" pid="5" name="ArticulatePath">
    <vt:lpwstr>MBA532 – AI in Business - Module 1</vt:lpwstr>
  </property>
</Properties>
</file>