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1"/>
  </p:notesMasterIdLst>
  <p:sldIdLst>
    <p:sldId id="259" r:id="rId5"/>
    <p:sldId id="338" r:id="rId6"/>
    <p:sldId id="329" r:id="rId7"/>
    <p:sldId id="266" r:id="rId8"/>
    <p:sldId id="336" r:id="rId9"/>
    <p:sldId id="283" r:id="rId10"/>
  </p:sldIdLst>
  <p:sldSz cx="18288000" cy="10287000"/>
  <p:notesSz cx="6858000" cy="9144000"/>
  <p:custDataLst>
    <p:tags r:id="rId12"/>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522205-2A7D-452B-26CB-953AFDC8A93E}" v="23" dt="2024-05-21T04:47:37.2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gs" Target="tags/tag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Superpowers China, Silicon Valley and the New World Order</a:t>
            </a:r>
          </a:p>
        </p:txBody>
      </p:sp>
      <p:sp>
        <p:nvSpPr>
          <p:cNvPr id="4" name="Slide Number Placeholder 3"/>
          <p:cNvSpPr>
            <a:spLocks noGrp="1"/>
          </p:cNvSpPr>
          <p:nvPr>
            <p:ph type="sldNum" sz="quarter" idx="5"/>
          </p:nvPr>
        </p:nvSpPr>
        <p:spPr/>
        <p:txBody>
          <a:bodyPr/>
          <a:lstStyle/>
          <a:p>
            <a:fld id="{FDF9B396-BE7F-4412-985B-05B577789B9E}" type="slidenum">
              <a:rPr lang="en-US" smtClean="0"/>
              <a:t>6</a:t>
            </a:fld>
            <a:endParaRPr lang="en-US"/>
          </a:p>
        </p:txBody>
      </p:sp>
    </p:spTree>
    <p:extLst>
      <p:ext uri="{BB962C8B-B14F-4D97-AF65-F5344CB8AC3E}">
        <p14:creationId xmlns:p14="http://schemas.microsoft.com/office/powerpoint/2010/main" val="4052121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7" y="4949827"/>
            <a:ext cx="12998450" cy="1374774"/>
          </a:xfrm>
        </p:spPr>
        <p:txBody>
          <a:bodyPr/>
          <a:lstStyle/>
          <a:p>
            <a:pPr fontAlgn="auto">
              <a:spcAft>
                <a:spcPts val="0"/>
              </a:spcAft>
              <a:defRPr/>
            </a:pPr>
            <a:r>
              <a:rPr lang="en-US" dirty="0"/>
              <a:t>MODULE 2 – Defining </a:t>
            </a:r>
            <a:r>
              <a:rPr lang="en-US"/>
              <a:t>and Clarifying </a:t>
            </a:r>
            <a:r>
              <a:rPr lang="en-US" dirty="0"/>
              <a:t>AI and Machine Learning Concepts</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4CA3A-51CE-48F0-8E8E-115A4A7E9F6C}"/>
              </a:ext>
            </a:extLst>
          </p:cNvPr>
          <p:cNvSpPr>
            <a:spLocks noGrp="1"/>
          </p:cNvSpPr>
          <p:nvPr>
            <p:ph type="title"/>
          </p:nvPr>
        </p:nvSpPr>
        <p:spPr/>
        <p:txBody>
          <a:bodyPr/>
          <a:lstStyle/>
          <a:p>
            <a:r>
              <a:rPr lang="en-US" dirty="0"/>
              <a:t>The Broad AI/Machine Learning Domain</a:t>
            </a:r>
          </a:p>
        </p:txBody>
      </p:sp>
      <p:sp>
        <p:nvSpPr>
          <p:cNvPr id="3" name="Content Placeholder 2">
            <a:extLst>
              <a:ext uri="{FF2B5EF4-FFF2-40B4-BE49-F238E27FC236}">
                <a16:creationId xmlns:a16="http://schemas.microsoft.com/office/drawing/2014/main" id="{58F7F519-C62F-481C-A7D3-5DC54F3C5B04}"/>
              </a:ext>
            </a:extLst>
          </p:cNvPr>
          <p:cNvSpPr>
            <a:spLocks noGrp="1"/>
          </p:cNvSpPr>
          <p:nvPr>
            <p:ph idx="1"/>
          </p:nvPr>
        </p:nvSpPr>
        <p:spPr/>
        <p:txBody>
          <a:bodyPr/>
          <a:lstStyle/>
          <a:p>
            <a:r>
              <a:rPr lang="en-US" dirty="0"/>
              <a:t>The Broad AI/Machine Learning Domain</a:t>
            </a:r>
          </a:p>
        </p:txBody>
      </p:sp>
    </p:spTree>
    <p:custDataLst>
      <p:tags r:id="rId1"/>
    </p:custDataLst>
    <p:extLst>
      <p:ext uri="{BB962C8B-B14F-4D97-AF65-F5344CB8AC3E}">
        <p14:creationId xmlns:p14="http://schemas.microsoft.com/office/powerpoint/2010/main" val="4164832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42F2D-F7D4-4475-8C2C-5579E0D8DB6C}"/>
              </a:ext>
            </a:extLst>
          </p:cNvPr>
          <p:cNvSpPr>
            <a:spLocks noGrp="1"/>
          </p:cNvSpPr>
          <p:nvPr>
            <p:ph type="title"/>
          </p:nvPr>
        </p:nvSpPr>
        <p:spPr/>
        <p:txBody>
          <a:bodyPr/>
          <a:lstStyle/>
          <a:p>
            <a:r>
              <a:rPr lang="en-US" dirty="0"/>
              <a:t>What is an AI System? OECD Definition </a:t>
            </a:r>
            <a:br>
              <a:rPr lang="en-US" dirty="0"/>
            </a:br>
            <a:endParaRPr lang="en-US" dirty="0"/>
          </a:p>
        </p:txBody>
      </p:sp>
      <p:sp>
        <p:nvSpPr>
          <p:cNvPr id="3" name="Content Placeholder 2">
            <a:extLst>
              <a:ext uri="{FF2B5EF4-FFF2-40B4-BE49-F238E27FC236}">
                <a16:creationId xmlns:a16="http://schemas.microsoft.com/office/drawing/2014/main" id="{317D63F0-876B-4D47-A020-BBB9AF930C72}"/>
              </a:ext>
            </a:extLst>
          </p:cNvPr>
          <p:cNvSpPr>
            <a:spLocks noGrp="1"/>
          </p:cNvSpPr>
          <p:nvPr>
            <p:ph idx="1"/>
          </p:nvPr>
        </p:nvSpPr>
        <p:spPr/>
        <p:txBody>
          <a:bodyPr/>
          <a:lstStyle/>
          <a:p>
            <a:pPr marL="0" indent="0">
              <a:buNone/>
            </a:pPr>
            <a:r>
              <a:rPr lang="en-US" dirty="0"/>
              <a:t>OECD (Organization for Economic Cooperation and Development) defines an AI system as follows:</a:t>
            </a:r>
          </a:p>
          <a:p>
            <a:pPr marL="0" indent="0">
              <a:buNone/>
            </a:pPr>
            <a:r>
              <a:rPr lang="en-US" i="1" dirty="0"/>
              <a:t>An AI system is a machine-based system that, for explicit or implicit objectives, infers, from the input it receives, how to generate outputs such as predictions, content, recommendations, or decisions that can influence physical or virtual environments. Different AI systems</a:t>
            </a:r>
            <a:r>
              <a:rPr lang="en-US" dirty="0"/>
              <a:t> vary</a:t>
            </a:r>
            <a:r>
              <a:rPr lang="en-US" i="1" dirty="0"/>
              <a:t> in their levels of autonomy and adaptiveness after deployment</a:t>
            </a:r>
            <a:endParaRPr lang="en-US" dirty="0"/>
          </a:p>
          <a:p>
            <a:pPr marL="0" indent="0">
              <a:buNone/>
            </a:pPr>
            <a:endParaRPr lang="en-US" dirty="0"/>
          </a:p>
        </p:txBody>
      </p:sp>
    </p:spTree>
    <p:custDataLst>
      <p:tags r:id="rId1"/>
    </p:custDataLst>
    <p:extLst>
      <p:ext uri="{BB962C8B-B14F-4D97-AF65-F5344CB8AC3E}">
        <p14:creationId xmlns:p14="http://schemas.microsoft.com/office/powerpoint/2010/main" val="1184461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D8507-9014-44C9-8C7B-FE3D2D9AA721}"/>
              </a:ext>
            </a:extLst>
          </p:cNvPr>
          <p:cNvSpPr>
            <a:spLocks noGrp="1"/>
          </p:cNvSpPr>
          <p:nvPr>
            <p:ph type="title"/>
          </p:nvPr>
        </p:nvSpPr>
        <p:spPr/>
        <p:txBody>
          <a:bodyPr>
            <a:normAutofit/>
          </a:bodyPr>
          <a:lstStyle/>
          <a:p>
            <a:r>
              <a:rPr lang="en-US" sz="6000" dirty="0">
                <a:solidFill>
                  <a:srgbClr val="C00000"/>
                </a:solidFill>
              </a:rPr>
              <a:t>AI And Some of Its Subfields</a:t>
            </a:r>
          </a:p>
        </p:txBody>
      </p:sp>
      <p:sp>
        <p:nvSpPr>
          <p:cNvPr id="3" name="Content Placeholder 2">
            <a:extLst>
              <a:ext uri="{FF2B5EF4-FFF2-40B4-BE49-F238E27FC236}">
                <a16:creationId xmlns:a16="http://schemas.microsoft.com/office/drawing/2014/main" id="{ADE0FC66-C512-47A6-83A7-08787AF1E550}"/>
              </a:ext>
            </a:extLst>
          </p:cNvPr>
          <p:cNvSpPr>
            <a:spLocks noGrp="1"/>
          </p:cNvSpPr>
          <p:nvPr>
            <p:ph idx="1"/>
          </p:nvPr>
        </p:nvSpPr>
        <p:spPr>
          <a:xfrm>
            <a:off x="1257300" y="1327355"/>
            <a:ext cx="15773400" cy="8798280"/>
          </a:xfrm>
        </p:spPr>
        <p:txBody>
          <a:bodyPr anchor="ctr">
            <a:normAutofit/>
          </a:bodyPr>
          <a:lstStyle/>
          <a:p>
            <a:pPr>
              <a:spcBef>
                <a:spcPts val="0"/>
              </a:spcBef>
            </a:pPr>
            <a:endParaRPr lang="en-US" sz="3200" dirty="0">
              <a:solidFill>
                <a:srgbClr val="000000"/>
              </a:solidFill>
            </a:endParaRPr>
          </a:p>
          <a:p>
            <a:pPr>
              <a:spcBef>
                <a:spcPts val="0"/>
              </a:spcBef>
            </a:pPr>
            <a:endParaRPr lang="en-US" sz="3200" dirty="0">
              <a:solidFill>
                <a:srgbClr val="000000"/>
              </a:solidFill>
            </a:endParaRPr>
          </a:p>
          <a:p>
            <a:pPr>
              <a:spcBef>
                <a:spcPts val="0"/>
              </a:spcBef>
            </a:pPr>
            <a:endParaRPr lang="en-US" sz="3200" dirty="0">
              <a:solidFill>
                <a:srgbClr val="000000"/>
              </a:solidFill>
            </a:endParaRPr>
          </a:p>
          <a:p>
            <a:pPr>
              <a:spcBef>
                <a:spcPts val="0"/>
              </a:spcBef>
            </a:pPr>
            <a:endParaRPr lang="en-US" sz="3200" dirty="0">
              <a:solidFill>
                <a:srgbClr val="000000"/>
              </a:solidFill>
            </a:endParaRPr>
          </a:p>
          <a:p>
            <a:pPr>
              <a:spcBef>
                <a:spcPts val="0"/>
              </a:spcBef>
            </a:pPr>
            <a:endParaRPr lang="en-US" sz="3200" dirty="0">
              <a:solidFill>
                <a:srgbClr val="000000"/>
              </a:solidFill>
            </a:endParaRPr>
          </a:p>
          <a:p>
            <a:pPr>
              <a:spcBef>
                <a:spcPts val="0"/>
              </a:spcBef>
            </a:pPr>
            <a:endParaRPr lang="en-US" sz="3200" dirty="0">
              <a:solidFill>
                <a:srgbClr val="000000"/>
              </a:solidFill>
            </a:endParaRPr>
          </a:p>
          <a:p>
            <a:pPr>
              <a:spcBef>
                <a:spcPts val="0"/>
              </a:spcBef>
            </a:pPr>
            <a:endParaRPr lang="en-US" sz="3200" dirty="0">
              <a:solidFill>
                <a:srgbClr val="000000"/>
              </a:solidFill>
            </a:endParaRPr>
          </a:p>
          <a:p>
            <a:pPr>
              <a:spcBef>
                <a:spcPts val="0"/>
              </a:spcBef>
            </a:pPr>
            <a:endParaRPr lang="en-US" sz="3200" dirty="0">
              <a:solidFill>
                <a:srgbClr val="000000"/>
              </a:solidFill>
            </a:endParaRPr>
          </a:p>
          <a:p>
            <a:pPr marL="0" indent="0">
              <a:spcBef>
                <a:spcPts val="0"/>
              </a:spcBef>
              <a:buNone/>
            </a:pPr>
            <a:endParaRPr lang="en-US" sz="3200" dirty="0">
              <a:solidFill>
                <a:srgbClr val="000000"/>
              </a:solidFill>
            </a:endParaRPr>
          </a:p>
          <a:p>
            <a:pPr>
              <a:spcBef>
                <a:spcPts val="0"/>
              </a:spcBef>
            </a:pPr>
            <a:r>
              <a:rPr lang="en-US" sz="3200" dirty="0">
                <a:solidFill>
                  <a:srgbClr val="000000"/>
                </a:solidFill>
              </a:rPr>
              <a:t>A handy way to think about the embedded relationships among concepts such as deep learning, machine learning and AI is the Venn diagram below.</a:t>
            </a:r>
          </a:p>
          <a:p>
            <a:pPr>
              <a:spcBef>
                <a:spcPts val="0"/>
              </a:spcBef>
            </a:pPr>
            <a:r>
              <a:rPr lang="en-US" sz="3200" dirty="0">
                <a:solidFill>
                  <a:srgbClr val="000000"/>
                </a:solidFill>
              </a:rPr>
              <a:t>AI includes machine learning, but also includes, for example, algorithms or other knowledge that is hand-coded or built by traditional programming techniques rather than learned.</a:t>
            </a:r>
          </a:p>
          <a:p>
            <a:pPr>
              <a:spcBef>
                <a:spcPts val="0"/>
              </a:spcBef>
            </a:pPr>
            <a:r>
              <a:rPr lang="en-US" sz="3200" dirty="0">
                <a:solidFill>
                  <a:srgbClr val="000000"/>
                </a:solidFill>
              </a:rPr>
              <a:t>Machine learning includes any technique that allows a machine to learn from data; deep learning is the best-known among those techniques, but not the only one.</a:t>
            </a:r>
          </a:p>
          <a:p>
            <a:endParaRPr lang="en-US" sz="2700" dirty="0">
              <a:solidFill>
                <a:srgbClr val="000000"/>
              </a:solidFill>
            </a:endParaRPr>
          </a:p>
        </p:txBody>
      </p:sp>
      <p:pic>
        <p:nvPicPr>
          <p:cNvPr id="5" name="Picture 4" descr="A picture containing device&#10;&#10;Description automatically generated">
            <a:extLst>
              <a:ext uri="{FF2B5EF4-FFF2-40B4-BE49-F238E27FC236}">
                <a16:creationId xmlns:a16="http://schemas.microsoft.com/office/drawing/2014/main" id="{7AD5FEA2-1658-40D4-93A7-70218CB0D3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8237" y="1675458"/>
            <a:ext cx="7432040" cy="4017686"/>
          </a:xfrm>
          <a:prstGeom prst="rect">
            <a:avLst/>
          </a:prstGeom>
        </p:spPr>
      </p:pic>
    </p:spTree>
    <p:custDataLst>
      <p:tags r:id="rId1"/>
    </p:custDataLst>
    <p:extLst>
      <p:ext uri="{BB962C8B-B14F-4D97-AF65-F5344CB8AC3E}">
        <p14:creationId xmlns:p14="http://schemas.microsoft.com/office/powerpoint/2010/main" val="3351879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764B5-A29A-8C42-A8EB-815EEF0329FD}"/>
              </a:ext>
            </a:extLst>
          </p:cNvPr>
          <p:cNvSpPr>
            <a:spLocks noGrp="1"/>
          </p:cNvSpPr>
          <p:nvPr>
            <p:ph type="title"/>
          </p:nvPr>
        </p:nvSpPr>
        <p:spPr>
          <a:xfrm>
            <a:off x="1639956" y="533400"/>
            <a:ext cx="15773400" cy="771507"/>
          </a:xfrm>
        </p:spPr>
        <p:txBody>
          <a:bodyPr>
            <a:normAutofit/>
          </a:bodyPr>
          <a:lstStyle/>
          <a:p>
            <a:r>
              <a:rPr lang="en-US" sz="4400" dirty="0">
                <a:solidFill>
                  <a:srgbClr val="C00000"/>
                </a:solidFill>
              </a:rPr>
              <a:t>Overview of Today’s AI, Machine Learning, Deep Learning</a:t>
            </a:r>
          </a:p>
        </p:txBody>
      </p:sp>
      <p:sp>
        <p:nvSpPr>
          <p:cNvPr id="3" name="Content Placeholder 2">
            <a:extLst>
              <a:ext uri="{FF2B5EF4-FFF2-40B4-BE49-F238E27FC236}">
                <a16:creationId xmlns:a16="http://schemas.microsoft.com/office/drawing/2014/main" id="{CD766612-AEC5-1A49-9CCF-E059118F778C}"/>
              </a:ext>
            </a:extLst>
          </p:cNvPr>
          <p:cNvSpPr>
            <a:spLocks noGrp="1"/>
          </p:cNvSpPr>
          <p:nvPr>
            <p:ph idx="1"/>
          </p:nvPr>
        </p:nvSpPr>
        <p:spPr>
          <a:xfrm>
            <a:off x="1511448" y="1342170"/>
            <a:ext cx="16156056" cy="7621529"/>
          </a:xfrm>
        </p:spPr>
        <p:txBody>
          <a:bodyPr>
            <a:noAutofit/>
          </a:bodyPr>
          <a:lstStyle/>
          <a:p>
            <a:r>
              <a:rPr lang="en-US" sz="3300" dirty="0"/>
              <a:t>In general, AI denotes software and machines that together demonstrate equal or better-than-human-level performance effectiveness at tasks.</a:t>
            </a:r>
          </a:p>
          <a:p>
            <a:r>
              <a:rPr lang="en-US" sz="3300" dirty="0"/>
              <a:t>Improvements in the field of computer vision and audio/text analysis led to the introduction of </a:t>
            </a:r>
            <a:r>
              <a:rPr lang="en-US" sz="3300" b="1" i="1" dirty="0"/>
              <a:t>deep learning </a:t>
            </a:r>
            <a:r>
              <a:rPr lang="en-US" sz="3300" dirty="0"/>
              <a:t>in 2012. </a:t>
            </a:r>
            <a:r>
              <a:rPr lang="en-US" sz="3300" b="1" i="1" dirty="0">
                <a:solidFill>
                  <a:srgbClr val="C00000"/>
                </a:solidFill>
              </a:rPr>
              <a:t>Deep learning </a:t>
            </a:r>
            <a:r>
              <a:rPr lang="en-US" sz="3300" dirty="0"/>
              <a:t>consists of layered </a:t>
            </a:r>
            <a:r>
              <a:rPr lang="en-US" sz="3300" b="1" dirty="0">
                <a:solidFill>
                  <a:srgbClr val="C00000"/>
                </a:solidFill>
              </a:rPr>
              <a:t>Artificial Neural Networks (ANNs)</a:t>
            </a:r>
            <a:r>
              <a:rPr lang="en-US" sz="3300" dirty="0"/>
              <a:t> to produce a richer understanding of tasks, leading to more accurate and nuanced recommendations/predictions when compared to basic </a:t>
            </a:r>
            <a:r>
              <a:rPr lang="en-US" sz="3300" b="1" i="1" dirty="0">
                <a:solidFill>
                  <a:srgbClr val="C00000"/>
                </a:solidFill>
              </a:rPr>
              <a:t>machine learning</a:t>
            </a:r>
            <a:r>
              <a:rPr lang="en-US" sz="3300" dirty="0">
                <a:solidFill>
                  <a:srgbClr val="C00000"/>
                </a:solidFill>
              </a:rPr>
              <a:t>.</a:t>
            </a:r>
          </a:p>
          <a:p>
            <a:r>
              <a:rPr lang="en-US" sz="3300" dirty="0"/>
              <a:t>An influential book (</a:t>
            </a:r>
            <a:r>
              <a:rPr lang="en-US" sz="3300" i="1" dirty="0"/>
              <a:t>Digital Transformation</a:t>
            </a:r>
            <a:r>
              <a:rPr lang="en-US" sz="3300" dirty="0"/>
              <a:t>, Siebel 2019) increases our understanding of the relationships between computing capabilities and AI abilities. Siebel identified four key technologies </a:t>
            </a:r>
            <a:r>
              <a:rPr lang="en-US" sz="3300" b="1" i="1" dirty="0"/>
              <a:t>that both drive and enable </a:t>
            </a:r>
            <a:r>
              <a:rPr lang="en-US" sz="3300" dirty="0"/>
              <a:t>digital transformation: Elastic cloud computing, Big Data, AI and </a:t>
            </a:r>
            <a:r>
              <a:rPr lang="en-US" sz="3300" dirty="0" err="1"/>
              <a:t>IoT</a:t>
            </a:r>
            <a:r>
              <a:rPr lang="en-US" sz="3300" dirty="0"/>
              <a:t>. Recent AI advances integrate these technologies with advances in computer vision, neural networks and Natural Language Processing (NLP). </a:t>
            </a:r>
          </a:p>
        </p:txBody>
      </p:sp>
    </p:spTree>
    <p:custDataLst>
      <p:tags r:id="rId1"/>
    </p:custDataLst>
    <p:extLst>
      <p:ext uri="{BB962C8B-B14F-4D97-AF65-F5344CB8AC3E}">
        <p14:creationId xmlns:p14="http://schemas.microsoft.com/office/powerpoint/2010/main" val="2529183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6A178-665A-C24C-8A79-7A3D50F956B5}"/>
              </a:ext>
            </a:extLst>
          </p:cNvPr>
          <p:cNvSpPr>
            <a:spLocks noGrp="1"/>
          </p:cNvSpPr>
          <p:nvPr>
            <p:ph type="title"/>
          </p:nvPr>
        </p:nvSpPr>
        <p:spPr>
          <a:xfrm>
            <a:off x="1257300" y="341196"/>
            <a:ext cx="15773400" cy="823575"/>
          </a:xfrm>
        </p:spPr>
        <p:txBody>
          <a:bodyPr/>
          <a:lstStyle/>
          <a:p>
            <a:r>
              <a:rPr lang="en-US" b="1" dirty="0">
                <a:solidFill>
                  <a:srgbClr val="C00000"/>
                </a:solidFill>
              </a:rPr>
              <a:t>AI deployment in Business, some examples</a:t>
            </a:r>
          </a:p>
        </p:txBody>
      </p:sp>
      <p:sp>
        <p:nvSpPr>
          <p:cNvPr id="3" name="Content Placeholder 2">
            <a:extLst>
              <a:ext uri="{FF2B5EF4-FFF2-40B4-BE49-F238E27FC236}">
                <a16:creationId xmlns:a16="http://schemas.microsoft.com/office/drawing/2014/main" id="{BFE9404D-5693-7E47-9022-7F1D978429CC}"/>
              </a:ext>
            </a:extLst>
          </p:cNvPr>
          <p:cNvSpPr>
            <a:spLocks noGrp="1"/>
          </p:cNvSpPr>
          <p:nvPr>
            <p:ph idx="1"/>
          </p:nvPr>
        </p:nvSpPr>
        <p:spPr>
          <a:xfrm>
            <a:off x="1156788" y="1158073"/>
            <a:ext cx="16364780" cy="8402096"/>
          </a:xfrm>
        </p:spPr>
        <p:txBody>
          <a:bodyPr anchor="ctr">
            <a:noAutofit/>
          </a:bodyPr>
          <a:lstStyle/>
          <a:p>
            <a:pPr marL="0">
              <a:spcBef>
                <a:spcPts val="0"/>
              </a:spcBef>
            </a:pPr>
            <a:r>
              <a:rPr lang="en-US" sz="3200" b="1" dirty="0"/>
              <a:t>Alibaba</a:t>
            </a:r>
            <a:r>
              <a:rPr lang="en-US" sz="3200" dirty="0"/>
              <a:t> recommends products; </a:t>
            </a:r>
            <a:r>
              <a:rPr lang="en-US" sz="3200" b="1" dirty="0"/>
              <a:t>Google</a:t>
            </a:r>
            <a:r>
              <a:rPr lang="en-US" sz="3200" dirty="0"/>
              <a:t> targets appropriate ads that we are more likely to click on, and </a:t>
            </a:r>
            <a:r>
              <a:rPr lang="en-US" sz="3200" b="1" dirty="0"/>
              <a:t>YouTube</a:t>
            </a:r>
            <a:r>
              <a:rPr lang="en-US" sz="3200" dirty="0"/>
              <a:t> can suggest videos we are more likely to watch. All these examples depend heavily on Recommender Systems powered by </a:t>
            </a:r>
            <a:r>
              <a:rPr lang="en-US" sz="3200" b="1" dirty="0"/>
              <a:t>AI Algorithms</a:t>
            </a:r>
            <a:r>
              <a:rPr lang="en-US" sz="3200" dirty="0"/>
              <a:t>, </a:t>
            </a:r>
          </a:p>
          <a:p>
            <a:pPr marL="0">
              <a:spcBef>
                <a:spcPts val="0"/>
              </a:spcBef>
            </a:pPr>
            <a:r>
              <a:rPr lang="en-US" sz="3200" b="1" dirty="0" err="1"/>
              <a:t>Jinri</a:t>
            </a:r>
            <a:r>
              <a:rPr lang="en-US" sz="3200" b="1" dirty="0"/>
              <a:t> </a:t>
            </a:r>
            <a:r>
              <a:rPr lang="en-US" sz="3200" b="1" dirty="0" err="1"/>
              <a:t>Toutiao’s</a:t>
            </a:r>
            <a:r>
              <a:rPr lang="en-US" sz="3200" b="1" dirty="0"/>
              <a:t> AI </a:t>
            </a:r>
            <a:r>
              <a:rPr lang="en-US" sz="3200" dirty="0"/>
              <a:t>engines search the internet for content, using </a:t>
            </a:r>
            <a:r>
              <a:rPr lang="en-US" sz="3200" b="1" dirty="0"/>
              <a:t>natural language processing</a:t>
            </a:r>
            <a:r>
              <a:rPr lang="en-US" sz="3200" dirty="0"/>
              <a:t> and </a:t>
            </a:r>
            <a:r>
              <a:rPr lang="en-US" sz="3200" b="1" dirty="0"/>
              <a:t>computer vision </a:t>
            </a:r>
            <a:r>
              <a:rPr lang="en-US" sz="3200" dirty="0"/>
              <a:t>to digest articles and videos from its partner sites. It then analyses data of its users to curate a personalized newsfeed for each person.</a:t>
            </a:r>
          </a:p>
          <a:p>
            <a:pPr marL="0">
              <a:spcBef>
                <a:spcPts val="0"/>
              </a:spcBef>
            </a:pPr>
            <a:r>
              <a:rPr lang="en-US" sz="3200" b="1" dirty="0"/>
              <a:t>Business AI </a:t>
            </a:r>
            <a:r>
              <a:rPr lang="en-US" sz="3200" dirty="0"/>
              <a:t>exploits the fact that traditional AI has labeled data for decades. AI models trained using labeled data get insights that the human eye cannot figure out. </a:t>
            </a:r>
          </a:p>
          <a:p>
            <a:pPr marL="0">
              <a:spcBef>
                <a:spcPts val="0"/>
              </a:spcBef>
            </a:pPr>
            <a:r>
              <a:rPr lang="en-US" sz="3200" dirty="0"/>
              <a:t>Within judicial AI systems, an evidence cross reference system uses </a:t>
            </a:r>
            <a:r>
              <a:rPr lang="en-US" sz="3200" b="1" dirty="0"/>
              <a:t>speech recognition </a:t>
            </a:r>
            <a:r>
              <a:rPr lang="en-US" sz="3200" dirty="0"/>
              <a:t>and </a:t>
            </a:r>
            <a:r>
              <a:rPr lang="en-US" sz="3200" b="1" dirty="0"/>
              <a:t>natural language processing </a:t>
            </a:r>
            <a:r>
              <a:rPr lang="en-US" sz="3200" dirty="0"/>
              <a:t>to compare all the evidences presented to identify any contradictions. </a:t>
            </a:r>
          </a:p>
          <a:p>
            <a:pPr marL="0">
              <a:spcBef>
                <a:spcPts val="0"/>
              </a:spcBef>
            </a:pPr>
            <a:r>
              <a:rPr lang="en-US" sz="3200" dirty="0"/>
              <a:t>Swarms of AI-based autonomous drones can work together to paint the exterior of homes, fight forest fires, monitor and attack enemy terrain or conduct rescue operations more efficiently.</a:t>
            </a:r>
          </a:p>
          <a:p>
            <a:pPr marL="0" indent="0">
              <a:spcBef>
                <a:spcPts val="0"/>
              </a:spcBef>
              <a:buNone/>
            </a:pPr>
            <a:r>
              <a:rPr lang="en-US" sz="3200" b="1" dirty="0">
                <a:solidFill>
                  <a:srgbClr val="C00000"/>
                </a:solidFill>
              </a:rPr>
              <a:t>Point to Ponder: After one robot or AI agent has been trained, a huge benefit is that training can be instantly and effortlessly </a:t>
            </a:r>
            <a:r>
              <a:rPr lang="en-US" sz="3200" b="1" dirty="0" err="1">
                <a:solidFill>
                  <a:srgbClr val="C00000"/>
                </a:solidFill>
              </a:rPr>
              <a:t>propogated</a:t>
            </a:r>
            <a:r>
              <a:rPr lang="en-US" sz="3200" b="1" dirty="0">
                <a:solidFill>
                  <a:srgbClr val="C00000"/>
                </a:solidFill>
              </a:rPr>
              <a:t> to a very large number of other robots or AI agents.</a:t>
            </a:r>
            <a:endParaRPr lang="en-US" sz="3600" dirty="0"/>
          </a:p>
        </p:txBody>
      </p:sp>
    </p:spTree>
    <p:custDataLst>
      <p:tags r:id="rId1"/>
    </p:custDataLst>
    <p:extLst>
      <p:ext uri="{BB962C8B-B14F-4D97-AF65-F5344CB8AC3E}">
        <p14:creationId xmlns:p14="http://schemas.microsoft.com/office/powerpoint/2010/main" val="42549709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6"/>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6CEFF4B-9EC7-4D38-B437-9DE5B52C77FE}">
  <ds:schemaRefs>
    <ds:schemaRef ds:uri="http://schemas.microsoft.com/sharepoint/v3/contenttype/forms"/>
  </ds:schemaRefs>
</ds:datastoreItem>
</file>

<file path=customXml/itemProps2.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customXml/itemProps3.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16119</TotalTime>
  <Words>588</Words>
  <Application>Microsoft Office PowerPoint</Application>
  <PresentationFormat>Custom</PresentationFormat>
  <Paragraphs>33</Paragraphs>
  <Slides>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Wingdings 2</vt:lpstr>
      <vt:lpstr>Breeze</vt:lpstr>
      <vt:lpstr>MBA532 – AI in Business </vt:lpstr>
      <vt:lpstr>The Broad AI/Machine Learning Domain</vt:lpstr>
      <vt:lpstr>What is an AI System? OECD Definition  </vt:lpstr>
      <vt:lpstr>AI And Some of Its Subfields</vt:lpstr>
      <vt:lpstr>Overview of Today’s AI, Machine Learning, Deep Learning</vt:lpstr>
      <vt:lpstr>AI deployment in Business, some examples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114</cp:revision>
  <dcterms:created xsi:type="dcterms:W3CDTF">2024-03-17T05:07:31Z</dcterms:created>
  <dcterms:modified xsi:type="dcterms:W3CDTF">2024-05-24T14:36:08Z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7D0CC2B7-AC46-4F58-95A0-B63E45F23D53</vt:lpwstr>
  </property>
  <property fmtid="{D5CDD505-2E9C-101B-9397-08002B2CF9AE}" pid="5" name="ArticulatePath">
    <vt:lpwstr>MBA532 – AI in Business - Module 2</vt:lpwstr>
  </property>
</Properties>
</file>