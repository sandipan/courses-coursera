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3"/>
  </p:notesMasterIdLst>
  <p:sldIdLst>
    <p:sldId id="259" r:id="rId5"/>
    <p:sldId id="340" r:id="rId6"/>
    <p:sldId id="334" r:id="rId7"/>
    <p:sldId id="335" r:id="rId8"/>
    <p:sldId id="341" r:id="rId9"/>
    <p:sldId id="319" r:id="rId10"/>
    <p:sldId id="330" r:id="rId11"/>
    <p:sldId id="331" r:id="rId12"/>
  </p:sldIdLst>
  <p:sldSz cx="18288000" cy="10287000"/>
  <p:notesSz cx="6858000" cy="9144000"/>
  <p:custDataLst>
    <p:tags r:id="rId14"/>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2 – Defining </a:t>
            </a:r>
            <a:r>
              <a:rPr lang="en-US"/>
              <a:t>and Clarifying </a:t>
            </a:r>
            <a:r>
              <a:rPr lang="en-US" dirty="0"/>
              <a:t>AI and Machine Learning Concepts</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55C98-099C-4DBF-82FE-6B8BA3AF2441}"/>
              </a:ext>
            </a:extLst>
          </p:cNvPr>
          <p:cNvSpPr>
            <a:spLocks noGrp="1"/>
          </p:cNvSpPr>
          <p:nvPr>
            <p:ph type="title"/>
          </p:nvPr>
        </p:nvSpPr>
        <p:spPr>
          <a:xfrm>
            <a:off x="1098550" y="161364"/>
            <a:ext cx="16084552" cy="1879471"/>
          </a:xfrm>
        </p:spPr>
        <p:txBody>
          <a:bodyPr/>
          <a:lstStyle/>
          <a:p>
            <a:r>
              <a:rPr lang="en-US" sz="4600" dirty="0"/>
              <a:t>AI Agents - Design/Legal Considerations and Alignment with Human Values/Goals; System 1/System 2 Thinking</a:t>
            </a:r>
          </a:p>
        </p:txBody>
      </p:sp>
      <p:sp>
        <p:nvSpPr>
          <p:cNvPr id="3" name="Content Placeholder 2">
            <a:extLst>
              <a:ext uri="{FF2B5EF4-FFF2-40B4-BE49-F238E27FC236}">
                <a16:creationId xmlns:a16="http://schemas.microsoft.com/office/drawing/2014/main" id="{7025E23F-F2EA-456A-80DE-D4264C3BACE2}"/>
              </a:ext>
            </a:extLst>
          </p:cNvPr>
          <p:cNvSpPr>
            <a:spLocks noGrp="1"/>
          </p:cNvSpPr>
          <p:nvPr>
            <p:ph idx="1"/>
          </p:nvPr>
        </p:nvSpPr>
        <p:spPr>
          <a:xfrm>
            <a:off x="1098550" y="2411897"/>
            <a:ext cx="16084552" cy="6526808"/>
          </a:xfrm>
        </p:spPr>
        <p:txBody>
          <a:bodyPr/>
          <a:lstStyle/>
          <a:p>
            <a:r>
              <a:rPr lang="en-US" dirty="0"/>
              <a:t>What factors are important for designing AI agents or Machine Learning models?</a:t>
            </a:r>
          </a:p>
        </p:txBody>
      </p:sp>
    </p:spTree>
    <p:custDataLst>
      <p:tags r:id="rId1"/>
    </p:custDataLst>
    <p:extLst>
      <p:ext uri="{BB962C8B-B14F-4D97-AF65-F5344CB8AC3E}">
        <p14:creationId xmlns:p14="http://schemas.microsoft.com/office/powerpoint/2010/main" val="3448748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17336-A31F-4405-85A7-7887A2A2B771}"/>
              </a:ext>
            </a:extLst>
          </p:cNvPr>
          <p:cNvSpPr>
            <a:spLocks noGrp="1"/>
          </p:cNvSpPr>
          <p:nvPr>
            <p:ph type="title"/>
          </p:nvPr>
        </p:nvSpPr>
        <p:spPr>
          <a:xfrm>
            <a:off x="1016488" y="222738"/>
            <a:ext cx="16084552" cy="915630"/>
          </a:xfrm>
        </p:spPr>
        <p:txBody>
          <a:bodyPr/>
          <a:lstStyle/>
          <a:p>
            <a:r>
              <a:rPr lang="en-US" b="1" dirty="0">
                <a:solidFill>
                  <a:srgbClr val="C00000"/>
                </a:solidFill>
              </a:rPr>
              <a:t>Characteristics Affecting Design of AI Agents</a:t>
            </a:r>
          </a:p>
        </p:txBody>
      </p:sp>
      <p:sp>
        <p:nvSpPr>
          <p:cNvPr id="6" name="Content Placeholder 5">
            <a:extLst>
              <a:ext uri="{FF2B5EF4-FFF2-40B4-BE49-F238E27FC236}">
                <a16:creationId xmlns:a16="http://schemas.microsoft.com/office/drawing/2014/main" id="{D0A966BC-8995-470C-BA1C-697EDAB72C1F}"/>
              </a:ext>
            </a:extLst>
          </p:cNvPr>
          <p:cNvSpPr>
            <a:spLocks noGrp="1"/>
          </p:cNvSpPr>
          <p:nvPr>
            <p:ph idx="1"/>
          </p:nvPr>
        </p:nvSpPr>
        <p:spPr>
          <a:xfrm>
            <a:off x="840643" y="1548675"/>
            <a:ext cx="16084552" cy="7818063"/>
          </a:xfrm>
        </p:spPr>
        <p:txBody>
          <a:bodyPr>
            <a:noAutofit/>
          </a:bodyPr>
          <a:lstStyle/>
          <a:p>
            <a:pPr>
              <a:spcBef>
                <a:spcPts val="0"/>
              </a:spcBef>
            </a:pPr>
            <a:r>
              <a:rPr lang="en-US" sz="3200" dirty="0"/>
              <a:t>Whether the environment is </a:t>
            </a:r>
            <a:r>
              <a:rPr lang="en-US" sz="3200" b="1" dirty="0">
                <a:solidFill>
                  <a:srgbClr val="C00000"/>
                </a:solidFill>
              </a:rPr>
              <a:t>fully observable </a:t>
            </a:r>
            <a:r>
              <a:rPr lang="en-US" sz="3200" dirty="0"/>
              <a:t>or </a:t>
            </a:r>
            <a:r>
              <a:rPr lang="en-US" sz="3200" b="1" dirty="0">
                <a:solidFill>
                  <a:srgbClr val="C00000"/>
                </a:solidFill>
              </a:rPr>
              <a:t>partially observable</a:t>
            </a:r>
            <a:r>
              <a:rPr lang="en-US" sz="3200" dirty="0"/>
              <a:t>;</a:t>
            </a:r>
          </a:p>
          <a:p>
            <a:pPr marL="685800" lvl="1" indent="0">
              <a:spcBef>
                <a:spcPts val="0"/>
              </a:spcBef>
              <a:buNone/>
            </a:pPr>
            <a:r>
              <a:rPr lang="en-US" sz="3200" dirty="0">
                <a:ea typeface="ＭＳ Ｐゴシック"/>
              </a:rPr>
              <a:t>E.g. In chess, where the inputs provide direct access to all the relevant aspects of the current state of the environment; In driving, where one’s field of view is limited, vehicles are opaque, and other drivers’ intentions are mysterious.</a:t>
            </a:r>
            <a:endParaRPr lang="en-US" sz="3200" dirty="0">
              <a:ea typeface="ＭＳ Ｐゴシック"/>
              <a:cs typeface="Arial"/>
            </a:endParaRPr>
          </a:p>
          <a:p>
            <a:pPr>
              <a:spcBef>
                <a:spcPts val="0"/>
              </a:spcBef>
            </a:pPr>
            <a:r>
              <a:rPr lang="en-US" sz="3200" dirty="0">
                <a:ea typeface="ＭＳ Ｐゴシック"/>
              </a:rPr>
              <a:t>Fundamental characteristics of the environment (</a:t>
            </a:r>
            <a:r>
              <a:rPr lang="en-US" sz="3200" b="1" dirty="0">
                <a:solidFill>
                  <a:srgbClr val="C00000"/>
                </a:solidFill>
                <a:ea typeface="ＭＳ Ｐゴシック"/>
              </a:rPr>
              <a:t>very structured or very unstructured</a:t>
            </a:r>
            <a:r>
              <a:rPr lang="en-US" sz="3200" dirty="0">
                <a:ea typeface="ＭＳ Ｐゴシック"/>
              </a:rPr>
              <a:t>) and actions involved (</a:t>
            </a:r>
            <a:r>
              <a:rPr lang="en-US" sz="3200" b="1" dirty="0">
                <a:solidFill>
                  <a:srgbClr val="C00000"/>
                </a:solidFill>
                <a:ea typeface="ＭＳ Ｐゴシック"/>
              </a:rPr>
              <a:t>discrete or effectively continuous</a:t>
            </a:r>
            <a:r>
              <a:rPr lang="en-US" sz="3200" dirty="0">
                <a:solidFill>
                  <a:schemeClr val="accent1"/>
                </a:solidFill>
                <a:ea typeface="ＭＳ Ｐゴシック"/>
              </a:rPr>
              <a:t>)</a:t>
            </a:r>
            <a:r>
              <a:rPr lang="en-US" sz="3200" dirty="0">
                <a:ea typeface="ＭＳ Ｐゴシック"/>
              </a:rPr>
              <a:t>; respectively for E.g. chess and driving.</a:t>
            </a:r>
            <a:endParaRPr lang="en-US" sz="3200" dirty="0">
              <a:ea typeface="ＭＳ Ｐゴシック"/>
              <a:cs typeface="Arial"/>
            </a:endParaRPr>
          </a:p>
          <a:p>
            <a:pPr>
              <a:spcBef>
                <a:spcPts val="0"/>
              </a:spcBef>
            </a:pPr>
            <a:r>
              <a:rPr lang="en-US" sz="3200" dirty="0">
                <a:ea typeface="ＭＳ Ｐゴシック"/>
              </a:rPr>
              <a:t>Whether the environment includes </a:t>
            </a:r>
            <a:r>
              <a:rPr lang="en-US" sz="3200" b="1" dirty="0">
                <a:solidFill>
                  <a:srgbClr val="C00000"/>
                </a:solidFill>
                <a:ea typeface="ＭＳ Ｐゴシック"/>
              </a:rPr>
              <a:t>other agents </a:t>
            </a:r>
            <a:r>
              <a:rPr lang="en-US" sz="3200" dirty="0">
                <a:ea typeface="ＭＳ Ｐゴシック"/>
              </a:rPr>
              <a:t>(as in chess and driving) or </a:t>
            </a:r>
            <a:r>
              <a:rPr lang="en-US" sz="3200" b="1" dirty="0">
                <a:solidFill>
                  <a:srgbClr val="C00000"/>
                </a:solidFill>
                <a:ea typeface="ＭＳ Ｐゴシック"/>
              </a:rPr>
              <a:t>not</a:t>
            </a:r>
            <a:r>
              <a:rPr lang="en-US" sz="3200" dirty="0">
                <a:ea typeface="ＭＳ Ｐゴシック"/>
              </a:rPr>
              <a:t> (as in finding the shortest routes on a map);</a:t>
            </a:r>
            <a:endParaRPr lang="en-US" sz="3200" dirty="0">
              <a:ea typeface="ＭＳ Ｐゴシック"/>
              <a:cs typeface="Arial"/>
            </a:endParaRPr>
          </a:p>
          <a:p>
            <a:pPr>
              <a:spcBef>
                <a:spcPts val="0"/>
              </a:spcBef>
            </a:pPr>
            <a:r>
              <a:rPr lang="en-US" sz="3200" dirty="0">
                <a:ea typeface="ＭＳ Ｐゴシック"/>
              </a:rPr>
              <a:t>Whether the outcomes of actions, as specified by the “rules” or “physics” of the environment, are </a:t>
            </a:r>
            <a:r>
              <a:rPr lang="en-US" sz="3200" b="1" dirty="0">
                <a:solidFill>
                  <a:srgbClr val="C00000"/>
                </a:solidFill>
                <a:ea typeface="ＭＳ Ｐゴシック"/>
              </a:rPr>
              <a:t>predictable</a:t>
            </a:r>
            <a:r>
              <a:rPr lang="en-US" sz="3200" dirty="0">
                <a:ea typeface="ＭＳ Ｐゴシック"/>
              </a:rPr>
              <a:t> (as in chess) or </a:t>
            </a:r>
            <a:r>
              <a:rPr lang="en-US" sz="3200" b="1" dirty="0">
                <a:solidFill>
                  <a:srgbClr val="C00000"/>
                </a:solidFill>
                <a:ea typeface="ＭＳ Ｐゴシック"/>
              </a:rPr>
              <a:t>unpredictable</a:t>
            </a:r>
            <a:r>
              <a:rPr lang="en-US" sz="3200" dirty="0">
                <a:ea typeface="ＭＳ Ｐゴシック"/>
              </a:rPr>
              <a:t> (e.g., while driving; weather conditions), and whether those rules are</a:t>
            </a:r>
            <a:r>
              <a:rPr lang="en-US" sz="3200" dirty="0">
                <a:solidFill>
                  <a:srgbClr val="C00000"/>
                </a:solidFill>
                <a:ea typeface="ＭＳ Ｐゴシック"/>
              </a:rPr>
              <a:t> </a:t>
            </a:r>
            <a:r>
              <a:rPr lang="en-US" sz="3200" b="1" dirty="0">
                <a:solidFill>
                  <a:srgbClr val="C00000"/>
                </a:solidFill>
                <a:ea typeface="ＭＳ Ｐゴシック"/>
              </a:rPr>
              <a:t>known</a:t>
            </a:r>
            <a:r>
              <a:rPr lang="en-US" sz="3200" dirty="0">
                <a:solidFill>
                  <a:srgbClr val="C00000"/>
                </a:solidFill>
                <a:ea typeface="ＭＳ Ｐゴシック"/>
              </a:rPr>
              <a:t> </a:t>
            </a:r>
            <a:r>
              <a:rPr lang="en-US" sz="3200" dirty="0">
                <a:ea typeface="ＭＳ Ｐゴシック"/>
              </a:rPr>
              <a:t>or </a:t>
            </a:r>
            <a:r>
              <a:rPr lang="en-US" sz="3200" b="1" dirty="0">
                <a:solidFill>
                  <a:srgbClr val="C00000"/>
                </a:solidFill>
                <a:ea typeface="ＭＳ Ｐゴシック"/>
              </a:rPr>
              <a:t>unknown</a:t>
            </a:r>
            <a:r>
              <a:rPr lang="en-US" sz="3200" dirty="0">
                <a:ea typeface="ＭＳ Ｐゴシック"/>
              </a:rPr>
              <a:t>; weather cycles).</a:t>
            </a:r>
            <a:endParaRPr lang="en-US" sz="3200" dirty="0">
              <a:ea typeface="ＭＳ Ｐゴシック"/>
              <a:cs typeface="Arial"/>
            </a:endParaRPr>
          </a:p>
        </p:txBody>
      </p:sp>
    </p:spTree>
    <p:custDataLst>
      <p:tags r:id="rId1"/>
    </p:custDataLst>
    <p:extLst>
      <p:ext uri="{BB962C8B-B14F-4D97-AF65-F5344CB8AC3E}">
        <p14:creationId xmlns:p14="http://schemas.microsoft.com/office/powerpoint/2010/main" val="1141958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17336-A31F-4405-85A7-7887A2A2B771}"/>
              </a:ext>
            </a:extLst>
          </p:cNvPr>
          <p:cNvSpPr>
            <a:spLocks noGrp="1"/>
          </p:cNvSpPr>
          <p:nvPr>
            <p:ph type="title"/>
          </p:nvPr>
        </p:nvSpPr>
        <p:spPr>
          <a:xfrm>
            <a:off x="1016488" y="222738"/>
            <a:ext cx="16084552" cy="915630"/>
          </a:xfrm>
        </p:spPr>
        <p:txBody>
          <a:bodyPr/>
          <a:lstStyle/>
          <a:p>
            <a:r>
              <a:rPr lang="en-US" b="1" dirty="0">
                <a:solidFill>
                  <a:srgbClr val="C00000"/>
                </a:solidFill>
              </a:rPr>
              <a:t>Characteristics Affecting Design of AI Agents</a:t>
            </a:r>
          </a:p>
        </p:txBody>
      </p:sp>
      <p:sp>
        <p:nvSpPr>
          <p:cNvPr id="6" name="Content Placeholder 5">
            <a:extLst>
              <a:ext uri="{FF2B5EF4-FFF2-40B4-BE49-F238E27FC236}">
                <a16:creationId xmlns:a16="http://schemas.microsoft.com/office/drawing/2014/main" id="{D0A966BC-8995-470C-BA1C-697EDAB72C1F}"/>
              </a:ext>
            </a:extLst>
          </p:cNvPr>
          <p:cNvSpPr>
            <a:spLocks noGrp="1"/>
          </p:cNvSpPr>
          <p:nvPr>
            <p:ph idx="1"/>
          </p:nvPr>
        </p:nvSpPr>
        <p:spPr>
          <a:xfrm>
            <a:off x="840643" y="1900368"/>
            <a:ext cx="16084552" cy="6888006"/>
          </a:xfrm>
        </p:spPr>
        <p:txBody>
          <a:bodyPr>
            <a:noAutofit/>
          </a:bodyPr>
          <a:lstStyle/>
          <a:p>
            <a:pPr>
              <a:lnSpc>
                <a:spcPct val="120000"/>
              </a:lnSpc>
              <a:spcBef>
                <a:spcPts val="0"/>
              </a:spcBef>
            </a:pPr>
            <a:r>
              <a:rPr lang="en-US" sz="3200" dirty="0"/>
              <a:t>Whether the environment is </a:t>
            </a:r>
            <a:r>
              <a:rPr lang="en-US" sz="3200" b="1" dirty="0">
                <a:solidFill>
                  <a:srgbClr val="C00000"/>
                </a:solidFill>
              </a:rPr>
              <a:t>dynamically changing</a:t>
            </a:r>
            <a:r>
              <a:rPr lang="en-US" sz="3200" b="1" dirty="0">
                <a:solidFill>
                  <a:srgbClr val="FF0000"/>
                </a:solidFill>
              </a:rPr>
              <a:t> </a:t>
            </a:r>
            <a:r>
              <a:rPr lang="en-US" sz="3200" dirty="0"/>
              <a:t>or </a:t>
            </a:r>
            <a:r>
              <a:rPr lang="en-US" sz="3200" b="1" dirty="0">
                <a:solidFill>
                  <a:srgbClr val="C00000"/>
                </a:solidFill>
              </a:rPr>
              <a:t>static</a:t>
            </a:r>
            <a:r>
              <a:rPr lang="en-US" sz="3200" dirty="0"/>
              <a:t>, so that the time to make decisions is tightly constrained or not.</a:t>
            </a:r>
          </a:p>
          <a:p>
            <a:pPr>
              <a:lnSpc>
                <a:spcPct val="120000"/>
              </a:lnSpc>
              <a:spcBef>
                <a:spcPts val="0"/>
              </a:spcBef>
            </a:pPr>
            <a:r>
              <a:rPr lang="en-US" sz="3200" dirty="0"/>
              <a:t>The time horizon over which decision quality is measured relative to the objective – this may be </a:t>
            </a:r>
            <a:r>
              <a:rPr lang="en-US" sz="3200" b="1" dirty="0">
                <a:solidFill>
                  <a:srgbClr val="C00000"/>
                </a:solidFill>
              </a:rPr>
              <a:t>short</a:t>
            </a:r>
            <a:r>
              <a:rPr lang="en-US" sz="3200" dirty="0"/>
              <a:t> (as in emergency braking), </a:t>
            </a:r>
            <a:r>
              <a:rPr lang="en-US" sz="3200" b="1" dirty="0">
                <a:solidFill>
                  <a:srgbClr val="C00000"/>
                </a:solidFill>
              </a:rPr>
              <a:t>intermediate duration </a:t>
            </a:r>
            <a:r>
              <a:rPr lang="en-US" sz="3200" dirty="0"/>
              <a:t>(as in chess), or </a:t>
            </a:r>
            <a:r>
              <a:rPr lang="en-US" sz="3200" b="1" dirty="0">
                <a:solidFill>
                  <a:srgbClr val="C00000"/>
                </a:solidFill>
              </a:rPr>
              <a:t>long</a:t>
            </a:r>
            <a:r>
              <a:rPr lang="en-US" sz="3200" dirty="0">
                <a:solidFill>
                  <a:srgbClr val="C00000"/>
                </a:solidFill>
              </a:rPr>
              <a:t> </a:t>
            </a:r>
            <a:r>
              <a:rPr lang="en-US" sz="3200" dirty="0"/>
              <a:t>(as in driving to airport that involves hundreds or thousands of decision cycles).</a:t>
            </a:r>
          </a:p>
        </p:txBody>
      </p:sp>
    </p:spTree>
    <p:custDataLst>
      <p:tags r:id="rId1"/>
    </p:custDataLst>
    <p:extLst>
      <p:ext uri="{BB962C8B-B14F-4D97-AF65-F5344CB8AC3E}">
        <p14:creationId xmlns:p14="http://schemas.microsoft.com/office/powerpoint/2010/main" val="384021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A5E383-811A-4C7E-B8A3-9D67EA8BFC3D}"/>
              </a:ext>
            </a:extLst>
          </p:cNvPr>
          <p:cNvSpPr>
            <a:spLocks noGrp="1"/>
          </p:cNvSpPr>
          <p:nvPr>
            <p:ph idx="1"/>
          </p:nvPr>
        </p:nvSpPr>
        <p:spPr/>
        <p:txBody>
          <a:bodyPr/>
          <a:lstStyle/>
          <a:p>
            <a:r>
              <a:rPr lang="en-US" dirty="0"/>
              <a:t>Other key considerations for Business: System 1/System 2 thinking, Legal Issues, Alignment Problem</a:t>
            </a:r>
          </a:p>
        </p:txBody>
      </p:sp>
    </p:spTree>
    <p:custDataLst>
      <p:tags r:id="rId1"/>
    </p:custDataLst>
    <p:extLst>
      <p:ext uri="{BB962C8B-B14F-4D97-AF65-F5344CB8AC3E}">
        <p14:creationId xmlns:p14="http://schemas.microsoft.com/office/powerpoint/2010/main" val="14776849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FC04E-E9F8-44EB-AB93-1CC8ACF0B76F}"/>
              </a:ext>
            </a:extLst>
          </p:cNvPr>
          <p:cNvSpPr>
            <a:spLocks noGrp="1"/>
          </p:cNvSpPr>
          <p:nvPr>
            <p:ph type="title"/>
          </p:nvPr>
        </p:nvSpPr>
        <p:spPr>
          <a:xfrm>
            <a:off x="1101724" y="696191"/>
            <a:ext cx="16084552" cy="1337894"/>
          </a:xfrm>
        </p:spPr>
        <p:txBody>
          <a:bodyPr/>
          <a:lstStyle/>
          <a:p>
            <a:r>
              <a:rPr lang="en-US" sz="4400" b="1" dirty="0">
                <a:solidFill>
                  <a:srgbClr val="C00000"/>
                </a:solidFill>
              </a:rPr>
              <a:t>System 1 versus System 2 reasoning/thinking: </a:t>
            </a:r>
            <a:br>
              <a:rPr lang="en-US" sz="4400" b="1" dirty="0">
                <a:solidFill>
                  <a:srgbClr val="C00000"/>
                </a:solidFill>
              </a:rPr>
            </a:br>
            <a:r>
              <a:rPr lang="en-US" sz="4400" b="1" dirty="0">
                <a:solidFill>
                  <a:srgbClr val="C00000"/>
                </a:solidFill>
              </a:rPr>
              <a:t>How does AI/ML perform?</a:t>
            </a:r>
          </a:p>
        </p:txBody>
      </p:sp>
      <p:sp>
        <p:nvSpPr>
          <p:cNvPr id="5" name="TextBox 4">
            <a:extLst>
              <a:ext uri="{FF2B5EF4-FFF2-40B4-BE49-F238E27FC236}">
                <a16:creationId xmlns:a16="http://schemas.microsoft.com/office/drawing/2014/main" id="{FE558749-5FA5-4BBB-AA80-9E1E10E89605}"/>
              </a:ext>
            </a:extLst>
          </p:cNvPr>
          <p:cNvSpPr txBox="1"/>
          <p:nvPr/>
        </p:nvSpPr>
        <p:spPr>
          <a:xfrm>
            <a:off x="1319438" y="2288394"/>
            <a:ext cx="16084553" cy="6494085"/>
          </a:xfrm>
          <a:prstGeom prst="rect">
            <a:avLst/>
          </a:prstGeom>
          <a:noFill/>
        </p:spPr>
        <p:txBody>
          <a:bodyPr wrap="square" rtlCol="0">
            <a:spAutoFit/>
          </a:bodyPr>
          <a:lstStyle/>
          <a:p>
            <a:r>
              <a:rPr lang="en-US" sz="3200" b="1" dirty="0">
                <a:solidFill>
                  <a:srgbClr val="C00000"/>
                </a:solidFill>
              </a:rPr>
              <a:t>System 1 versus System 2 reasoning/thinking: </a:t>
            </a:r>
          </a:p>
          <a:p>
            <a:r>
              <a:rPr lang="en-US" sz="3200" dirty="0"/>
              <a:t>Research conducted by Daniel Kahneman indicates that:</a:t>
            </a:r>
          </a:p>
          <a:p>
            <a:r>
              <a:rPr lang="en-US" sz="3200" dirty="0"/>
              <a:t>System 1 thinking is a near-instantaneous, involuntary process; </a:t>
            </a:r>
          </a:p>
          <a:p>
            <a:r>
              <a:rPr lang="en-US" sz="3200" dirty="0"/>
              <a:t>it happens automatically, intuitively, and with little effort. It's driven by instinct and our experiences. Kahneman also labels this as “Thinking Fast.”</a:t>
            </a:r>
          </a:p>
          <a:p>
            <a:endParaRPr lang="en-US" sz="3200" dirty="0"/>
          </a:p>
          <a:p>
            <a:r>
              <a:rPr lang="en-US" sz="3200" dirty="0"/>
              <a:t>System 2 thinking is slower and requires more effort. It is conscious and logical.  This process allocates attention resources to effortful mental activities that demand it, including complex computations. Kahneman also labels this as “Thinking Slow.”</a:t>
            </a:r>
          </a:p>
          <a:p>
            <a:endParaRPr lang="en-US" sz="3200" dirty="0"/>
          </a:p>
          <a:p>
            <a:r>
              <a:rPr lang="en-US" sz="3200" dirty="0"/>
              <a:t>Humans are characterized by both types of thinking. Available evidence suggests that AI/ML systems do well on System 1 thinking, but currently cannot perform System 2 reasoning.</a:t>
            </a:r>
          </a:p>
        </p:txBody>
      </p:sp>
    </p:spTree>
    <p:custDataLst>
      <p:tags r:id="rId1"/>
    </p:custDataLst>
    <p:extLst>
      <p:ext uri="{BB962C8B-B14F-4D97-AF65-F5344CB8AC3E}">
        <p14:creationId xmlns:p14="http://schemas.microsoft.com/office/powerpoint/2010/main" val="714925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A346-87D6-49F5-9803-9C3149EC7945}"/>
              </a:ext>
            </a:extLst>
          </p:cNvPr>
          <p:cNvSpPr>
            <a:spLocks noGrp="1"/>
          </p:cNvSpPr>
          <p:nvPr>
            <p:ph type="title"/>
          </p:nvPr>
        </p:nvSpPr>
        <p:spPr>
          <a:xfrm>
            <a:off x="1098550" y="161365"/>
            <a:ext cx="16084552" cy="881989"/>
          </a:xfrm>
        </p:spPr>
        <p:txBody>
          <a:bodyPr/>
          <a:lstStyle/>
          <a:p>
            <a:r>
              <a:rPr lang="en-US" b="1" dirty="0">
                <a:solidFill>
                  <a:srgbClr val="C00000"/>
                </a:solidFill>
              </a:rPr>
              <a:t>Legal Controversies for AI</a:t>
            </a:r>
          </a:p>
        </p:txBody>
      </p:sp>
      <p:sp>
        <p:nvSpPr>
          <p:cNvPr id="3" name="Content Placeholder 2">
            <a:extLst>
              <a:ext uri="{FF2B5EF4-FFF2-40B4-BE49-F238E27FC236}">
                <a16:creationId xmlns:a16="http://schemas.microsoft.com/office/drawing/2014/main" id="{736D38CC-E09D-4228-9855-01CEEB6D8FB9}"/>
              </a:ext>
            </a:extLst>
          </p:cNvPr>
          <p:cNvSpPr>
            <a:spLocks noGrp="1"/>
          </p:cNvSpPr>
          <p:nvPr>
            <p:ph idx="1"/>
          </p:nvPr>
        </p:nvSpPr>
        <p:spPr>
          <a:xfrm>
            <a:off x="1098550" y="1093963"/>
            <a:ext cx="15773400" cy="8331391"/>
          </a:xfrm>
        </p:spPr>
        <p:txBody>
          <a:bodyPr>
            <a:noAutofit/>
          </a:bodyPr>
          <a:lstStyle/>
          <a:p>
            <a:pPr marL="771525" indent="-771525">
              <a:lnSpc>
                <a:spcPct val="120000"/>
              </a:lnSpc>
              <a:spcBef>
                <a:spcPts val="0"/>
              </a:spcBef>
              <a:buFont typeface="+mj-lt"/>
              <a:buAutoNum type="arabicPeriod"/>
            </a:pPr>
            <a:r>
              <a:rPr lang="en-US" sz="3200" b="1" dirty="0"/>
              <a:t>How to best alter our laws to reflect AI progress?</a:t>
            </a:r>
          </a:p>
          <a:p>
            <a:pPr marL="0" indent="0">
              <a:lnSpc>
                <a:spcPct val="120000"/>
              </a:lnSpc>
              <a:spcBef>
                <a:spcPts val="0"/>
              </a:spcBef>
              <a:buNone/>
            </a:pPr>
            <a:r>
              <a:rPr lang="en-US" sz="3200" dirty="0"/>
              <a:t>	</a:t>
            </a:r>
            <a:r>
              <a:rPr lang="en-US" sz="3200" i="1" dirty="0"/>
              <a:t>E.g. Resolving the tension between privacy versus freedom of info</a:t>
            </a:r>
            <a:r>
              <a:rPr lang="en-US" sz="3200" dirty="0"/>
              <a:t>.</a:t>
            </a:r>
          </a:p>
          <a:p>
            <a:pPr marL="1371600" lvl="2" indent="0">
              <a:lnSpc>
                <a:spcPct val="120000"/>
              </a:lnSpc>
              <a:spcBef>
                <a:spcPts val="0"/>
              </a:spcBef>
              <a:buNone/>
            </a:pPr>
            <a:r>
              <a:rPr lang="en-US" dirty="0">
                <a:solidFill>
                  <a:srgbClr val="C00000"/>
                </a:solidFill>
              </a:rPr>
              <a:t>Where do we draw the line between justice and privacy, and between protecting society and protecting personal freedom?</a:t>
            </a:r>
          </a:p>
          <a:p>
            <a:pPr marL="1371600" lvl="2" indent="0">
              <a:lnSpc>
                <a:spcPct val="120000"/>
              </a:lnSpc>
              <a:spcBef>
                <a:spcPts val="0"/>
              </a:spcBef>
              <a:buNone/>
            </a:pPr>
            <a:r>
              <a:rPr lang="en-US" dirty="0">
                <a:solidFill>
                  <a:srgbClr val="C00000"/>
                </a:solidFill>
              </a:rPr>
              <a:t>Will we gradually but inexorably move toward reduced privacy to compensate for the fact that evidence or reality gets progressively easier to fake?</a:t>
            </a:r>
          </a:p>
          <a:p>
            <a:pPr marL="771525" indent="-771525">
              <a:lnSpc>
                <a:spcPct val="120000"/>
              </a:lnSpc>
              <a:spcBef>
                <a:spcPts val="0"/>
              </a:spcBef>
              <a:buAutoNum type="arabicPeriod" startAt="2"/>
            </a:pPr>
            <a:r>
              <a:rPr lang="en-US" sz="3200" b="1" dirty="0"/>
              <a:t> Should AI research be regulated?</a:t>
            </a:r>
          </a:p>
          <a:p>
            <a:pPr marL="0" indent="0">
              <a:lnSpc>
                <a:spcPct val="120000"/>
              </a:lnSpc>
              <a:spcBef>
                <a:spcPts val="0"/>
              </a:spcBef>
              <a:buNone/>
            </a:pPr>
            <a:r>
              <a:rPr lang="en-US" sz="3200" dirty="0"/>
              <a:t>	</a:t>
            </a:r>
            <a:r>
              <a:rPr lang="en-US" sz="3200" i="1" dirty="0"/>
              <a:t>E.g. What research incentives are needed to maximize beneficial AI outcomes?</a:t>
            </a:r>
          </a:p>
          <a:p>
            <a:pPr marL="1371600" lvl="2" indent="0">
              <a:lnSpc>
                <a:spcPct val="120000"/>
              </a:lnSpc>
              <a:spcBef>
                <a:spcPts val="0"/>
              </a:spcBef>
              <a:buNone/>
            </a:pPr>
            <a:r>
              <a:rPr lang="en-US" dirty="0">
                <a:solidFill>
                  <a:srgbClr val="C00000"/>
                </a:solidFill>
              </a:rPr>
              <a:t>Some researchers have argued against all forms of regulation of AI development, claiming that they would delay urgently needed innovation.</a:t>
            </a:r>
          </a:p>
          <a:p>
            <a:pPr marL="1371600" lvl="2" indent="0">
              <a:lnSpc>
                <a:spcPct val="120000"/>
              </a:lnSpc>
              <a:spcBef>
                <a:spcPts val="0"/>
              </a:spcBef>
              <a:buNone/>
            </a:pPr>
            <a:r>
              <a:rPr lang="en-US" dirty="0">
                <a:solidFill>
                  <a:srgbClr val="C00000"/>
                </a:solidFill>
              </a:rPr>
              <a:t>Others have argued for a stop to AI research for a pre-specified period. </a:t>
            </a:r>
          </a:p>
          <a:p>
            <a:pPr marL="1371600" lvl="2" indent="0">
              <a:lnSpc>
                <a:spcPct val="120000"/>
              </a:lnSpc>
              <a:spcBef>
                <a:spcPts val="0"/>
              </a:spcBef>
              <a:buNone/>
            </a:pPr>
            <a:r>
              <a:rPr lang="en-US" sz="3200" dirty="0">
                <a:solidFill>
                  <a:srgbClr val="C00000"/>
                </a:solidFill>
              </a:rPr>
              <a:t>Finally, while conducting research, are there valid bases to discriminate against machines as entities relative to humans?</a:t>
            </a:r>
          </a:p>
          <a:p>
            <a:pPr marL="1371600" lvl="2" indent="0">
              <a:lnSpc>
                <a:spcPct val="120000"/>
              </a:lnSpc>
              <a:spcBef>
                <a:spcPts val="0"/>
              </a:spcBef>
              <a:buNone/>
            </a:pPr>
            <a:endParaRPr lang="en-US" dirty="0">
              <a:solidFill>
                <a:srgbClr val="C00000"/>
              </a:solidFill>
            </a:endParaRPr>
          </a:p>
          <a:p>
            <a:pPr marL="771525" indent="-771525">
              <a:lnSpc>
                <a:spcPct val="120000"/>
              </a:lnSpc>
              <a:spcBef>
                <a:spcPts val="0"/>
              </a:spcBef>
              <a:buAutoNum type="arabicPeriod" startAt="3"/>
            </a:pPr>
            <a:endParaRPr lang="en-US" sz="3200" dirty="0">
              <a:solidFill>
                <a:srgbClr val="C00000"/>
              </a:solidFill>
            </a:endParaRPr>
          </a:p>
        </p:txBody>
      </p:sp>
    </p:spTree>
    <p:custDataLst>
      <p:tags r:id="rId1"/>
    </p:custDataLst>
    <p:extLst>
      <p:ext uri="{BB962C8B-B14F-4D97-AF65-F5344CB8AC3E}">
        <p14:creationId xmlns:p14="http://schemas.microsoft.com/office/powerpoint/2010/main" val="3299372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D1A5-A73D-432A-BDA0-E32E9B423511}"/>
              </a:ext>
            </a:extLst>
          </p:cNvPr>
          <p:cNvSpPr>
            <a:spLocks noGrp="1"/>
          </p:cNvSpPr>
          <p:nvPr>
            <p:ph type="title"/>
          </p:nvPr>
        </p:nvSpPr>
        <p:spPr/>
        <p:txBody>
          <a:bodyPr/>
          <a:lstStyle/>
          <a:p>
            <a:r>
              <a:rPr lang="en-US" sz="4400" b="1" dirty="0">
                <a:solidFill>
                  <a:srgbClr val="C00000"/>
                </a:solidFill>
              </a:rPr>
              <a:t>Friendly AI: Aligning AI with Human goals is both important and challenging </a:t>
            </a:r>
          </a:p>
        </p:txBody>
      </p:sp>
      <p:sp>
        <p:nvSpPr>
          <p:cNvPr id="3" name="Content Placeholder 2">
            <a:extLst>
              <a:ext uri="{FF2B5EF4-FFF2-40B4-BE49-F238E27FC236}">
                <a16:creationId xmlns:a16="http://schemas.microsoft.com/office/drawing/2014/main" id="{61C7753C-2911-4F83-B207-84878103C391}"/>
              </a:ext>
            </a:extLst>
          </p:cNvPr>
          <p:cNvSpPr>
            <a:spLocks noGrp="1"/>
          </p:cNvSpPr>
          <p:nvPr>
            <p:ph idx="1"/>
          </p:nvPr>
        </p:nvSpPr>
        <p:spPr>
          <a:xfrm>
            <a:off x="1254126" y="1739871"/>
            <a:ext cx="16576674" cy="7424756"/>
          </a:xfrm>
        </p:spPr>
        <p:txBody>
          <a:bodyPr>
            <a:normAutofit fontScale="25000" lnSpcReduction="20000"/>
          </a:bodyPr>
          <a:lstStyle/>
          <a:p>
            <a:pPr marL="0">
              <a:lnSpc>
                <a:spcPct val="120000"/>
              </a:lnSpc>
              <a:spcBef>
                <a:spcPts val="0"/>
              </a:spcBef>
            </a:pPr>
            <a:r>
              <a:rPr lang="en-US" sz="12800" dirty="0"/>
              <a:t>The more intelligent and powerful machines get, the more important it becomes that their goals are aligned with ours.</a:t>
            </a:r>
          </a:p>
          <a:p>
            <a:pPr marL="0">
              <a:lnSpc>
                <a:spcPct val="120000"/>
              </a:lnSpc>
              <a:spcBef>
                <a:spcPts val="0"/>
              </a:spcBef>
            </a:pPr>
            <a:r>
              <a:rPr lang="en-US" sz="12800" dirty="0"/>
              <a:t>The problem of how to align the goals of a super-intelligent AI with our goals is currently </a:t>
            </a:r>
            <a:r>
              <a:rPr lang="en-US" sz="12800" b="1" dirty="0"/>
              <a:t>unsolved</a:t>
            </a:r>
            <a:r>
              <a:rPr lang="en-US" sz="12800" dirty="0"/>
              <a:t>. It splits into three tough subproblems:</a:t>
            </a:r>
          </a:p>
          <a:p>
            <a:pPr marL="0" indent="-771525">
              <a:lnSpc>
                <a:spcPct val="120000"/>
              </a:lnSpc>
              <a:spcBef>
                <a:spcPts val="0"/>
              </a:spcBef>
              <a:buFont typeface="+mj-lt"/>
              <a:buAutoNum type="arabicPeriod"/>
            </a:pPr>
            <a:r>
              <a:rPr lang="en-US" sz="12800" dirty="0"/>
              <a:t>Making AI </a:t>
            </a:r>
            <a:r>
              <a:rPr lang="en-US" sz="12800" b="1" i="1" dirty="0"/>
              <a:t>understand</a:t>
            </a:r>
            <a:r>
              <a:rPr lang="en-US" sz="12800" i="1" dirty="0"/>
              <a:t> </a:t>
            </a:r>
            <a:r>
              <a:rPr lang="en-US" sz="12800" dirty="0"/>
              <a:t>our goals.</a:t>
            </a:r>
          </a:p>
          <a:p>
            <a:pPr marL="0" indent="-771525">
              <a:lnSpc>
                <a:spcPct val="120000"/>
              </a:lnSpc>
              <a:spcBef>
                <a:spcPts val="0"/>
              </a:spcBef>
              <a:buFont typeface="+mj-lt"/>
              <a:buAutoNum type="arabicPeriod"/>
            </a:pPr>
            <a:r>
              <a:rPr lang="en-US" sz="12800" dirty="0"/>
              <a:t>Making AI </a:t>
            </a:r>
            <a:r>
              <a:rPr lang="en-US" sz="12800" b="1" i="1" dirty="0"/>
              <a:t>adopt</a:t>
            </a:r>
            <a:r>
              <a:rPr lang="en-US" sz="12800" i="1" dirty="0"/>
              <a:t> </a:t>
            </a:r>
            <a:r>
              <a:rPr lang="en-US" sz="12800" dirty="0"/>
              <a:t>our goals.</a:t>
            </a:r>
          </a:p>
          <a:p>
            <a:pPr marL="0" indent="-771525">
              <a:lnSpc>
                <a:spcPct val="120000"/>
              </a:lnSpc>
              <a:spcBef>
                <a:spcPts val="0"/>
              </a:spcBef>
              <a:buFont typeface="+mj-lt"/>
              <a:buAutoNum type="arabicPeriod"/>
            </a:pPr>
            <a:r>
              <a:rPr lang="en-US" sz="12800" dirty="0"/>
              <a:t>Making AI </a:t>
            </a:r>
            <a:r>
              <a:rPr lang="en-US" sz="12800" b="1" i="1" dirty="0"/>
              <a:t>retain</a:t>
            </a:r>
            <a:r>
              <a:rPr lang="en-US" sz="12800" i="1" dirty="0"/>
              <a:t> </a:t>
            </a:r>
            <a:r>
              <a:rPr lang="en-US" sz="12800" dirty="0"/>
              <a:t>our goals.</a:t>
            </a:r>
          </a:p>
          <a:p>
            <a:pPr marL="0" indent="0">
              <a:lnSpc>
                <a:spcPct val="120000"/>
              </a:lnSpc>
              <a:spcBef>
                <a:spcPts val="0"/>
              </a:spcBef>
              <a:buNone/>
            </a:pPr>
            <a:r>
              <a:rPr lang="en-US" sz="12800" dirty="0"/>
              <a:t>Additional related challenges persist:</a:t>
            </a:r>
          </a:p>
          <a:p>
            <a:pPr marL="0">
              <a:lnSpc>
                <a:spcPct val="120000"/>
              </a:lnSpc>
              <a:spcBef>
                <a:spcPts val="0"/>
              </a:spcBef>
            </a:pPr>
            <a:r>
              <a:rPr lang="en-US" sz="12800" dirty="0"/>
              <a:t>To understand our goals, AI must figure out not just </a:t>
            </a:r>
            <a:r>
              <a:rPr lang="en-US" sz="12800" i="1" dirty="0"/>
              <a:t>what</a:t>
            </a:r>
            <a:r>
              <a:rPr lang="en-US" sz="12800" dirty="0"/>
              <a:t> we do, but </a:t>
            </a:r>
            <a:r>
              <a:rPr lang="en-US" sz="12800" i="1" dirty="0"/>
              <a:t>why</a:t>
            </a:r>
            <a:r>
              <a:rPr lang="en-US" sz="12800" dirty="0"/>
              <a:t> we do it.</a:t>
            </a:r>
          </a:p>
          <a:p>
            <a:pPr marL="0">
              <a:lnSpc>
                <a:spcPct val="120000"/>
              </a:lnSpc>
              <a:spcBef>
                <a:spcPts val="0"/>
              </a:spcBef>
            </a:pPr>
            <a:r>
              <a:rPr lang="en-US" sz="12800" dirty="0"/>
              <a:t>The currently popular approach to the second challenge is known as </a:t>
            </a:r>
            <a:r>
              <a:rPr lang="en-US" sz="12800" i="1" dirty="0"/>
              <a:t>inverse reinforcement learning</a:t>
            </a:r>
            <a:r>
              <a:rPr lang="en-US" sz="12800" dirty="0"/>
              <a:t>, whose core idea is that the AI is trying to maximize not the goal-satisfaction of its own AI system, but that of its human owner. An alternative approach is called </a:t>
            </a:r>
            <a:r>
              <a:rPr lang="en-US" sz="12800" i="1" dirty="0"/>
              <a:t>corrigibility</a:t>
            </a:r>
            <a:r>
              <a:rPr lang="en-US" sz="12800" dirty="0"/>
              <a:t>, whose goal is to give a primitive AI a goal system.</a:t>
            </a:r>
          </a:p>
          <a:p>
            <a:pPr marL="0">
              <a:lnSpc>
                <a:spcPct val="120000"/>
              </a:lnSpc>
              <a:spcBef>
                <a:spcPts val="0"/>
              </a:spcBef>
            </a:pPr>
            <a:r>
              <a:rPr lang="en-US" sz="12800" dirty="0"/>
              <a:t>The propensity to change goals in response to new experiences and insights increases rather than decreases with intelligence.</a:t>
            </a:r>
          </a:p>
          <a:p>
            <a:endParaRPr lang="en-US" dirty="0"/>
          </a:p>
        </p:txBody>
      </p:sp>
      <p:pic>
        <p:nvPicPr>
          <p:cNvPr id="4" name="Picture 3"/>
          <p:cNvPicPr>
            <a:picLocks noChangeAspect="1"/>
          </p:cNvPicPr>
          <p:nvPr/>
        </p:nvPicPr>
        <p:blipFill>
          <a:blip r:embed="rId3"/>
          <a:stretch>
            <a:fillRect/>
          </a:stretch>
        </p:blipFill>
        <p:spPr>
          <a:xfrm>
            <a:off x="11992708" y="3479351"/>
            <a:ext cx="4735638" cy="2249428"/>
          </a:xfrm>
          <a:prstGeom prst="rect">
            <a:avLst/>
          </a:prstGeom>
        </p:spPr>
      </p:pic>
    </p:spTree>
    <p:custDataLst>
      <p:tags r:id="rId1"/>
    </p:custDataLst>
    <p:extLst>
      <p:ext uri="{BB962C8B-B14F-4D97-AF65-F5344CB8AC3E}">
        <p14:creationId xmlns:p14="http://schemas.microsoft.com/office/powerpoint/2010/main" val="19185746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8"/>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2.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16129</TotalTime>
  <Words>802</Words>
  <Application>Microsoft Office PowerPoint</Application>
  <PresentationFormat>Custom</PresentationFormat>
  <Paragraphs>43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ＭＳ Ｐゴシック</vt:lpstr>
      <vt:lpstr>Arial</vt:lpstr>
      <vt:lpstr>Calibri</vt:lpstr>
      <vt:lpstr>Wingdings 2</vt:lpstr>
      <vt:lpstr>Breeze</vt:lpstr>
      <vt:lpstr>MBA532 – AI in Business </vt:lpstr>
      <vt:lpstr>AI Agents - Design/Legal Considerations and Alignment with Human Values/Goals; System 1/System 2 Thinking</vt:lpstr>
      <vt:lpstr>Characteristics Affecting Design of AI Agents</vt:lpstr>
      <vt:lpstr>Characteristics Affecting Design of AI Agents</vt:lpstr>
      <vt:lpstr>PowerPoint Presentation</vt:lpstr>
      <vt:lpstr>System 1 versus System 2 reasoning/thinking:  How does AI/ML perform?</vt:lpstr>
      <vt:lpstr>Legal Controversies for AI</vt:lpstr>
      <vt:lpstr>Friendly AI: Aligning AI with Human goals is both important and challenging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116</cp:revision>
  <dcterms:created xsi:type="dcterms:W3CDTF">2024-03-17T05:07:31Z</dcterms:created>
  <dcterms:modified xsi:type="dcterms:W3CDTF">2024-05-24T14:46:09Z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7D0CC2B7-AC46-4F58-95A0-B63E45F23D53</vt:lpwstr>
  </property>
  <property fmtid="{D5CDD505-2E9C-101B-9397-08002B2CF9AE}" pid="5" name="ArticulatePath">
    <vt:lpwstr>MBA532 – AI in Business - Module 2</vt:lpwstr>
  </property>
</Properties>
</file>