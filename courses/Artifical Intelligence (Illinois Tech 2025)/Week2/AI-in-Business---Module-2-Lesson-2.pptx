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1.xml" ContentType="application/vnd.openxmlformats-officedocument.presentationml.notesSlide+xml"/>
  <Override PartName="/ppt/tags/tag21.xml" ContentType="application/vnd.openxmlformats-officedocument.presentationml.tags+xml"/>
  <Override PartName="/ppt/notesSlides/notesSlide2.xml" ContentType="application/vnd.openxmlformats-officedocument.presentationml.notesSlide+xml"/>
  <Override PartName="/ppt/tags/tag22.xml" ContentType="application/vnd.openxmlformats-officedocument.presentationml.tags+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6"/>
  </p:notesMasterIdLst>
  <p:sldIdLst>
    <p:sldId id="259" r:id="rId5"/>
    <p:sldId id="339" r:id="rId6"/>
    <p:sldId id="260" r:id="rId7"/>
    <p:sldId id="286" r:id="rId8"/>
    <p:sldId id="285" r:id="rId9"/>
    <p:sldId id="261" r:id="rId10"/>
    <p:sldId id="307" r:id="rId11"/>
    <p:sldId id="302" r:id="rId12"/>
    <p:sldId id="304" r:id="rId13"/>
    <p:sldId id="305" r:id="rId14"/>
    <p:sldId id="287" r:id="rId15"/>
    <p:sldId id="288" r:id="rId16"/>
    <p:sldId id="267" r:id="rId17"/>
    <p:sldId id="279" r:id="rId18"/>
    <p:sldId id="265" r:id="rId19"/>
    <p:sldId id="268" r:id="rId20"/>
    <p:sldId id="280" r:id="rId21"/>
    <p:sldId id="289" r:id="rId22"/>
    <p:sldId id="277" r:id="rId23"/>
    <p:sldId id="278" r:id="rId24"/>
    <p:sldId id="337" r:id="rId25"/>
  </p:sldIdLst>
  <p:sldSz cx="18288000" cy="10287000"/>
  <p:notesSz cx="6858000" cy="9144000"/>
  <p:custDataLst>
    <p:tags r:id="rId27"/>
  </p:custDataLst>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6327"/>
  </p:normalViewPr>
  <p:slideViewPr>
    <p:cSldViewPr snapToGrid="0" snapToObjects="1">
      <p:cViewPr varScale="1">
        <p:scale>
          <a:sx n="72" d="100"/>
          <a:sy n="72" d="100"/>
        </p:scale>
        <p:origin x="612" y="84"/>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gs" Target="tags/tag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E003E7-8F9F-4D5E-92EA-A0649DA6C082}" type="datetimeFigureOut">
              <a:rPr lang="en-US" smtClean="0"/>
              <a:t>5/24/2024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B4D9E7-08EA-4B3D-BC2D-203B18CB11E8}" type="slidenum">
              <a:rPr lang="en-US" smtClean="0"/>
              <a:t>‹#›</a:t>
            </a:fld>
            <a:endParaRPr lang="en-US"/>
          </a:p>
        </p:txBody>
      </p:sp>
    </p:spTree>
    <p:extLst>
      <p:ext uri="{BB962C8B-B14F-4D97-AF65-F5344CB8AC3E}">
        <p14:creationId xmlns:p14="http://schemas.microsoft.com/office/powerpoint/2010/main" val="1123783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Intelligence-A Guide For Thinking Humans</a:t>
            </a:r>
          </a:p>
        </p:txBody>
      </p:sp>
      <p:sp>
        <p:nvSpPr>
          <p:cNvPr id="4" name="Slide Number Placeholder 3"/>
          <p:cNvSpPr>
            <a:spLocks noGrp="1"/>
          </p:cNvSpPr>
          <p:nvPr>
            <p:ph type="sldNum" sz="quarter" idx="5"/>
          </p:nvPr>
        </p:nvSpPr>
        <p:spPr/>
        <p:txBody>
          <a:bodyPr/>
          <a:lstStyle/>
          <a:p>
            <a:fld id="{FDF9B396-BE7F-4412-985B-05B577789B9E}" type="slidenum">
              <a:rPr lang="en-US" smtClean="0"/>
              <a:t>19</a:t>
            </a:fld>
            <a:endParaRPr lang="en-US"/>
          </a:p>
        </p:txBody>
      </p:sp>
    </p:spTree>
    <p:extLst>
      <p:ext uri="{BB962C8B-B14F-4D97-AF65-F5344CB8AC3E}">
        <p14:creationId xmlns:p14="http://schemas.microsoft.com/office/powerpoint/2010/main" val="1562737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Intelligence-A Guide For Thinking Humans</a:t>
            </a:r>
          </a:p>
        </p:txBody>
      </p:sp>
      <p:sp>
        <p:nvSpPr>
          <p:cNvPr id="4" name="Slide Number Placeholder 3"/>
          <p:cNvSpPr>
            <a:spLocks noGrp="1"/>
          </p:cNvSpPr>
          <p:nvPr>
            <p:ph type="sldNum" sz="quarter" idx="5"/>
          </p:nvPr>
        </p:nvSpPr>
        <p:spPr/>
        <p:txBody>
          <a:bodyPr/>
          <a:lstStyle/>
          <a:p>
            <a:fld id="{FDF9B396-BE7F-4412-985B-05B577789B9E}" type="slidenum">
              <a:rPr lang="en-US" smtClean="0"/>
              <a:t>20</a:t>
            </a:fld>
            <a:endParaRPr lang="en-US"/>
          </a:p>
        </p:txBody>
      </p:sp>
    </p:spTree>
    <p:extLst>
      <p:ext uri="{BB962C8B-B14F-4D97-AF65-F5344CB8AC3E}">
        <p14:creationId xmlns:p14="http://schemas.microsoft.com/office/powerpoint/2010/main" val="304788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Artificial Intelligence-A Guide For Thinking Humans</a:t>
            </a:r>
          </a:p>
        </p:txBody>
      </p:sp>
      <p:sp>
        <p:nvSpPr>
          <p:cNvPr id="4" name="Slide Number Placeholder 3"/>
          <p:cNvSpPr>
            <a:spLocks noGrp="1"/>
          </p:cNvSpPr>
          <p:nvPr>
            <p:ph type="sldNum" sz="quarter" idx="5"/>
          </p:nvPr>
        </p:nvSpPr>
        <p:spPr/>
        <p:txBody>
          <a:bodyPr/>
          <a:lstStyle/>
          <a:p>
            <a:fld id="{FDF9B396-BE7F-4412-985B-05B577789B9E}" type="slidenum">
              <a:rPr lang="en-US" smtClean="0"/>
              <a:t>21</a:t>
            </a:fld>
            <a:endParaRPr lang="en-US"/>
          </a:p>
        </p:txBody>
      </p:sp>
    </p:spTree>
    <p:extLst>
      <p:ext uri="{BB962C8B-B14F-4D97-AF65-F5344CB8AC3E}">
        <p14:creationId xmlns:p14="http://schemas.microsoft.com/office/powerpoint/2010/main" val="3899879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lum/>
          </a:blip>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eaLnBrk="1" fontAlgn="base" hangingPunct="1">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eaLnBrk="1" fontAlgn="base" hangingPunct="1">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eaLnBrk="1" fontAlgn="base" hangingPunct="1">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eaLnBrk="1" fontAlgn="base" hangingPunct="1">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eaLnBrk="1" fontAlgn="base" hangingPunct="1">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eaLnBrk="1" fontAlgn="base" hangingPunct="1">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eaLnBrk="1" fontAlgn="base" hangingPunct="1">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hyperlink" Target="https://www.nytimes.com/2012/02/19/magazine/shopping-habits.html" TargetMode="Externa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0.xml.rels><?xml version="1.0" encoding="UTF-8" standalone="yes"?>
<Relationships xmlns="http://schemas.openxmlformats.org/package/2006/relationships"><Relationship Id="rId3" Type="http://schemas.openxmlformats.org/officeDocument/2006/relationships/hyperlink" Target="https://tinyurl.com/atariai" TargetMode="Externa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Layout" Target="../slideLayouts/slideLayout2.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MBA532 – AI in Business </a:t>
            </a:r>
          </a:p>
        </p:txBody>
      </p:sp>
      <p:sp>
        <p:nvSpPr>
          <p:cNvPr id="3" name="Subtitle 2">
            <a:extLst>
              <a:ext uri="{FF2B5EF4-FFF2-40B4-BE49-F238E27FC236}">
                <a16:creationId xmlns:a16="http://schemas.microsoft.com/office/drawing/2014/main" id="{1773A97B-06C2-BD5D-13DD-A14A00967D4E}"/>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MODULE 2 – Defining </a:t>
            </a:r>
            <a:r>
              <a:rPr lang="en-US"/>
              <a:t>and Clarifying </a:t>
            </a:r>
            <a:r>
              <a:rPr lang="en-US" dirty="0"/>
              <a:t>AI and Machine Learning Concepts</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0AE76-77DE-40D2-8488-C93F3D82BAE6}"/>
              </a:ext>
            </a:extLst>
          </p:cNvPr>
          <p:cNvSpPr>
            <a:spLocks noGrp="1"/>
          </p:cNvSpPr>
          <p:nvPr>
            <p:ph type="title"/>
          </p:nvPr>
        </p:nvSpPr>
        <p:spPr/>
        <p:txBody>
          <a:bodyPr/>
          <a:lstStyle/>
          <a:p>
            <a:r>
              <a:rPr lang="en-US" dirty="0"/>
              <a:t>Understanding What Learning Truly Means in AI/ML</a:t>
            </a:r>
          </a:p>
        </p:txBody>
      </p:sp>
      <p:sp>
        <p:nvSpPr>
          <p:cNvPr id="3" name="Content Placeholder 2">
            <a:extLst>
              <a:ext uri="{FF2B5EF4-FFF2-40B4-BE49-F238E27FC236}">
                <a16:creationId xmlns:a16="http://schemas.microsoft.com/office/drawing/2014/main" id="{F5DC55C1-2BE8-45BD-AE32-819AB8D8529B}"/>
              </a:ext>
            </a:extLst>
          </p:cNvPr>
          <p:cNvSpPr>
            <a:spLocks noGrp="1"/>
          </p:cNvSpPr>
          <p:nvPr>
            <p:ph idx="1"/>
          </p:nvPr>
        </p:nvSpPr>
        <p:spPr/>
        <p:txBody>
          <a:bodyPr/>
          <a:lstStyle/>
          <a:p>
            <a:r>
              <a:rPr lang="en-US" dirty="0"/>
              <a:t>Understanding What Learning truly means in AI and Machine Learning Models</a:t>
            </a:r>
          </a:p>
        </p:txBody>
      </p:sp>
    </p:spTree>
    <p:custDataLst>
      <p:tags r:id="rId1"/>
    </p:custDataLst>
    <p:extLst>
      <p:ext uri="{BB962C8B-B14F-4D97-AF65-F5344CB8AC3E}">
        <p14:creationId xmlns:p14="http://schemas.microsoft.com/office/powerpoint/2010/main" val="35244222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31DF-F95F-456E-A0E5-28FDAB1176B0}"/>
              </a:ext>
            </a:extLst>
          </p:cNvPr>
          <p:cNvSpPr>
            <a:spLocks noGrp="1"/>
          </p:cNvSpPr>
          <p:nvPr>
            <p:ph type="title"/>
          </p:nvPr>
        </p:nvSpPr>
        <p:spPr>
          <a:xfrm>
            <a:off x="957036" y="424542"/>
            <a:ext cx="16084552" cy="722199"/>
          </a:xfrm>
        </p:spPr>
        <p:txBody>
          <a:bodyPr>
            <a:normAutofit fontScale="90000"/>
          </a:bodyPr>
          <a:lstStyle/>
          <a:p>
            <a:r>
              <a:rPr lang="en-US" sz="4400" dirty="0">
                <a:solidFill>
                  <a:srgbClr val="C00000"/>
                </a:solidFill>
              </a:rPr>
              <a:t>Consider three examples of Machine wins over Expert Humans</a:t>
            </a:r>
          </a:p>
        </p:txBody>
      </p:sp>
      <p:sp>
        <p:nvSpPr>
          <p:cNvPr id="3" name="Content Placeholder 2">
            <a:extLst>
              <a:ext uri="{FF2B5EF4-FFF2-40B4-BE49-F238E27FC236}">
                <a16:creationId xmlns:a16="http://schemas.microsoft.com/office/drawing/2014/main" id="{3268288E-0291-4816-B602-F7292DD529D1}"/>
              </a:ext>
            </a:extLst>
          </p:cNvPr>
          <p:cNvSpPr>
            <a:spLocks noGrp="1"/>
          </p:cNvSpPr>
          <p:nvPr>
            <p:ph idx="1"/>
          </p:nvPr>
        </p:nvSpPr>
        <p:spPr>
          <a:xfrm>
            <a:off x="957036" y="1364899"/>
            <a:ext cx="16862878" cy="7811758"/>
          </a:xfrm>
        </p:spPr>
        <p:txBody>
          <a:bodyPr>
            <a:normAutofit fontScale="25000" lnSpcReduction="20000"/>
          </a:bodyPr>
          <a:lstStyle/>
          <a:p>
            <a:pPr>
              <a:lnSpc>
                <a:spcPct val="120000"/>
              </a:lnSpc>
              <a:spcBef>
                <a:spcPts val="0"/>
              </a:spcBef>
            </a:pPr>
            <a:r>
              <a:rPr lang="en-US" sz="12800" b="1" dirty="0">
                <a:solidFill>
                  <a:srgbClr val="0070C0"/>
                </a:solidFill>
              </a:rPr>
              <a:t>Example 1: </a:t>
            </a:r>
            <a:r>
              <a:rPr lang="en-US" sz="12800" dirty="0">
                <a:solidFill>
                  <a:srgbClr val="C00000"/>
                </a:solidFill>
              </a:rPr>
              <a:t>IBM’s Deep Blue computer defeated reigning world chess champion Garry Kasparov in </a:t>
            </a:r>
            <a:r>
              <a:rPr lang="en-US" sz="12800" b="1" dirty="0">
                <a:solidFill>
                  <a:srgbClr val="0070C0"/>
                </a:solidFill>
              </a:rPr>
              <a:t>1996</a:t>
            </a:r>
            <a:endParaRPr lang="en-US" sz="12800" dirty="0">
              <a:solidFill>
                <a:srgbClr val="C00000"/>
              </a:solidFill>
            </a:endParaRPr>
          </a:p>
          <a:p>
            <a:pPr>
              <a:lnSpc>
                <a:spcPct val="120000"/>
              </a:lnSpc>
              <a:spcBef>
                <a:spcPts val="0"/>
              </a:spcBef>
            </a:pPr>
            <a:r>
              <a:rPr lang="en-US" sz="12800" b="1" dirty="0">
                <a:solidFill>
                  <a:srgbClr val="0070C0"/>
                </a:solidFill>
              </a:rPr>
              <a:t>Example 2: </a:t>
            </a:r>
            <a:r>
              <a:rPr lang="en-US" sz="12800" i="1" dirty="0">
                <a:solidFill>
                  <a:srgbClr val="C00000"/>
                </a:solidFill>
              </a:rPr>
              <a:t>IBM’s</a:t>
            </a:r>
            <a:r>
              <a:rPr lang="en-US" sz="12800" dirty="0">
                <a:solidFill>
                  <a:srgbClr val="C00000"/>
                </a:solidFill>
              </a:rPr>
              <a:t> AI-based </a:t>
            </a:r>
            <a:r>
              <a:rPr lang="en-US" sz="12800" i="1" dirty="0">
                <a:solidFill>
                  <a:srgbClr val="C00000"/>
                </a:solidFill>
              </a:rPr>
              <a:t>Watson </a:t>
            </a:r>
            <a:r>
              <a:rPr lang="en-US" sz="12800" dirty="0">
                <a:solidFill>
                  <a:srgbClr val="C00000"/>
                </a:solidFill>
              </a:rPr>
              <a:t>defeated the reigning champion of </a:t>
            </a:r>
            <a:r>
              <a:rPr lang="en-US" sz="12800" i="1" dirty="0">
                <a:solidFill>
                  <a:srgbClr val="C00000"/>
                </a:solidFill>
              </a:rPr>
              <a:t>Jeopardy</a:t>
            </a:r>
            <a:r>
              <a:rPr lang="en-US" sz="12800" dirty="0">
                <a:solidFill>
                  <a:srgbClr val="C00000"/>
                </a:solidFill>
              </a:rPr>
              <a:t> in </a:t>
            </a:r>
            <a:r>
              <a:rPr lang="en-US" sz="12800" b="1" dirty="0">
                <a:solidFill>
                  <a:srgbClr val="0070C0"/>
                </a:solidFill>
              </a:rPr>
              <a:t>2011</a:t>
            </a:r>
          </a:p>
          <a:p>
            <a:pPr>
              <a:lnSpc>
                <a:spcPct val="120000"/>
              </a:lnSpc>
              <a:spcBef>
                <a:spcPts val="0"/>
              </a:spcBef>
            </a:pPr>
            <a:r>
              <a:rPr lang="en-US" sz="12800" b="1" dirty="0">
                <a:solidFill>
                  <a:srgbClr val="0070C0"/>
                </a:solidFill>
              </a:rPr>
              <a:t>Example 3: </a:t>
            </a:r>
            <a:r>
              <a:rPr lang="en-US" sz="12800" i="1" dirty="0">
                <a:solidFill>
                  <a:srgbClr val="C00000"/>
                </a:solidFill>
              </a:rPr>
              <a:t>AlphaGo AI </a:t>
            </a:r>
            <a:r>
              <a:rPr lang="en-US" sz="12800" dirty="0">
                <a:solidFill>
                  <a:srgbClr val="C00000"/>
                </a:solidFill>
              </a:rPr>
              <a:t>from </a:t>
            </a:r>
            <a:r>
              <a:rPr lang="en-US" sz="12800" i="1" dirty="0">
                <a:solidFill>
                  <a:srgbClr val="C00000"/>
                </a:solidFill>
              </a:rPr>
              <a:t>Google Deep Mind </a:t>
            </a:r>
            <a:r>
              <a:rPr lang="en-US" sz="12800" dirty="0">
                <a:solidFill>
                  <a:srgbClr val="C00000"/>
                </a:solidFill>
              </a:rPr>
              <a:t>defeated worldwide </a:t>
            </a:r>
            <a:r>
              <a:rPr lang="en-US" sz="12800" i="1" dirty="0">
                <a:solidFill>
                  <a:srgbClr val="C00000"/>
                </a:solidFill>
              </a:rPr>
              <a:t>Go</a:t>
            </a:r>
            <a:r>
              <a:rPr lang="en-US" sz="12800" dirty="0">
                <a:solidFill>
                  <a:srgbClr val="C00000"/>
                </a:solidFill>
              </a:rPr>
              <a:t> champion Lee Sedol in </a:t>
            </a:r>
            <a:r>
              <a:rPr lang="en-US" sz="12800" b="1" dirty="0">
                <a:solidFill>
                  <a:srgbClr val="0070C0"/>
                </a:solidFill>
              </a:rPr>
              <a:t>2016</a:t>
            </a:r>
            <a:r>
              <a:rPr lang="en-US" sz="12800" dirty="0">
                <a:solidFill>
                  <a:srgbClr val="C00000"/>
                </a:solidFill>
              </a:rPr>
              <a:t>.</a:t>
            </a:r>
          </a:p>
          <a:p>
            <a:pPr marL="0" indent="0">
              <a:lnSpc>
                <a:spcPct val="120000"/>
              </a:lnSpc>
              <a:spcBef>
                <a:spcPts val="0"/>
              </a:spcBef>
              <a:buNone/>
            </a:pPr>
            <a:endParaRPr lang="en-US" sz="12800" dirty="0">
              <a:solidFill>
                <a:srgbClr val="C00000"/>
              </a:solidFill>
            </a:endParaRPr>
          </a:p>
          <a:p>
            <a:pPr>
              <a:lnSpc>
                <a:spcPct val="120000"/>
              </a:lnSpc>
              <a:spcBef>
                <a:spcPts val="0"/>
              </a:spcBef>
            </a:pPr>
            <a:r>
              <a:rPr lang="en-US" sz="12800" b="1" dirty="0">
                <a:solidFill>
                  <a:srgbClr val="0070C0"/>
                </a:solidFill>
              </a:rPr>
              <a:t>Implications:</a:t>
            </a:r>
          </a:p>
          <a:p>
            <a:pPr marL="685800" lvl="1" indent="0">
              <a:lnSpc>
                <a:spcPct val="120000"/>
              </a:lnSpc>
              <a:spcBef>
                <a:spcPts val="0"/>
              </a:spcBef>
              <a:buNone/>
            </a:pPr>
            <a:r>
              <a:rPr lang="en-US" sz="12800" dirty="0"/>
              <a:t>The above pattern of wins illustrates that machines dominate when rules are well defined and known in advance (e.g., a chess or </a:t>
            </a:r>
            <a:r>
              <a:rPr lang="en-US" sz="12800" i="1" dirty="0"/>
              <a:t>Go</a:t>
            </a:r>
            <a:r>
              <a:rPr lang="en-US" sz="12800" dirty="0"/>
              <a:t> game). Machines have a limitless capacity to translate/simulate at scale procedural knowledge into formal knowledge representation rules (often using </a:t>
            </a:r>
            <a:r>
              <a:rPr lang="en-US" sz="12800" b="1" dirty="0">
                <a:solidFill>
                  <a:srgbClr val="FF0000"/>
                </a:solidFill>
              </a:rPr>
              <a:t>if-then</a:t>
            </a:r>
            <a:r>
              <a:rPr lang="en-US" sz="12800" dirty="0"/>
              <a:t> clauses) to make deductions, or derive new knowledge that inform action. Even human experts are not be able to compete at scale because of memory, cognitive, or other human constraints.</a:t>
            </a:r>
          </a:p>
          <a:p>
            <a:pPr marL="685800" lvl="1" indent="0">
              <a:lnSpc>
                <a:spcPct val="120000"/>
              </a:lnSpc>
              <a:spcBef>
                <a:spcPts val="0"/>
              </a:spcBef>
              <a:buNone/>
            </a:pPr>
            <a:r>
              <a:rPr lang="en-US" sz="12800" dirty="0"/>
              <a:t>However, business decisions operate in an environment of uncertainty, with no clear rules. So AI’s ability to excel in such an environment has not been tested over a long time horizon, but appears promising and is just beginning to unfold. </a:t>
            </a:r>
          </a:p>
          <a:p>
            <a:pPr marL="0" indent="0">
              <a:buNone/>
            </a:pPr>
            <a:endParaRPr lang="en-US" dirty="0">
              <a:solidFill>
                <a:srgbClr val="FF0000"/>
              </a:solidFill>
            </a:endParaRPr>
          </a:p>
        </p:txBody>
      </p:sp>
    </p:spTree>
    <p:custDataLst>
      <p:tags r:id="rId1"/>
    </p:custDataLst>
    <p:extLst>
      <p:ext uri="{BB962C8B-B14F-4D97-AF65-F5344CB8AC3E}">
        <p14:creationId xmlns:p14="http://schemas.microsoft.com/office/powerpoint/2010/main" val="9013342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9F576-7E2E-264B-A24F-745719A473C1}"/>
              </a:ext>
            </a:extLst>
          </p:cNvPr>
          <p:cNvSpPr>
            <a:spLocks noGrp="1"/>
          </p:cNvSpPr>
          <p:nvPr>
            <p:ph type="title"/>
          </p:nvPr>
        </p:nvSpPr>
        <p:spPr>
          <a:xfrm>
            <a:off x="1104898" y="596793"/>
            <a:ext cx="16084552" cy="1551434"/>
          </a:xfrm>
        </p:spPr>
        <p:txBody>
          <a:bodyPr/>
          <a:lstStyle/>
          <a:p>
            <a:r>
              <a:rPr lang="en-US" sz="4800" b="1" dirty="0">
                <a:solidFill>
                  <a:srgbClr val="C00000"/>
                </a:solidFill>
              </a:rPr>
              <a:t>Machine Learning (ML) is quite different from typical/traditional Statistics-based </a:t>
            </a:r>
            <a:r>
              <a:rPr lang="en-US" sz="4800" dirty="0">
                <a:solidFill>
                  <a:srgbClr val="C00000"/>
                </a:solidFill>
              </a:rPr>
              <a:t>models</a:t>
            </a:r>
            <a:endParaRPr lang="en-US" sz="4800" b="1" dirty="0">
              <a:solidFill>
                <a:srgbClr val="C00000"/>
              </a:solidFill>
            </a:endParaRPr>
          </a:p>
        </p:txBody>
      </p:sp>
      <p:sp>
        <p:nvSpPr>
          <p:cNvPr id="3" name="Content Placeholder 2">
            <a:extLst>
              <a:ext uri="{FF2B5EF4-FFF2-40B4-BE49-F238E27FC236}">
                <a16:creationId xmlns:a16="http://schemas.microsoft.com/office/drawing/2014/main" id="{57E6A364-4475-4648-9D2C-87DBC6C6BE2F}"/>
              </a:ext>
            </a:extLst>
          </p:cNvPr>
          <p:cNvSpPr>
            <a:spLocks noGrp="1"/>
          </p:cNvSpPr>
          <p:nvPr>
            <p:ph idx="1"/>
          </p:nvPr>
        </p:nvSpPr>
        <p:spPr>
          <a:xfrm>
            <a:off x="1098550" y="1767228"/>
            <a:ext cx="16514536" cy="7500257"/>
          </a:xfrm>
        </p:spPr>
        <p:txBody>
          <a:bodyPr anchor="ctr">
            <a:noAutofit/>
          </a:bodyPr>
          <a:lstStyle/>
          <a:p>
            <a:pPr marL="0">
              <a:spcBef>
                <a:spcPts val="0"/>
              </a:spcBef>
            </a:pPr>
            <a:r>
              <a:rPr lang="en-US" sz="3200" dirty="0"/>
              <a:t>Statistics emphasizes </a:t>
            </a:r>
            <a:r>
              <a:rPr lang="en-US" sz="3200" b="1" dirty="0">
                <a:solidFill>
                  <a:srgbClr val="C00000"/>
                </a:solidFill>
              </a:rPr>
              <a:t>being correct on average</a:t>
            </a:r>
            <a:r>
              <a:rPr lang="en-US" sz="3200" dirty="0">
                <a:solidFill>
                  <a:srgbClr val="C00000"/>
                </a:solidFill>
              </a:rPr>
              <a:t>, </a:t>
            </a:r>
            <a:r>
              <a:rPr lang="en-US" sz="3200" dirty="0"/>
              <a:t>while machine learning (ML) does not. Instead, the key goal of machine learning is </a:t>
            </a:r>
            <a:r>
              <a:rPr lang="en-US" sz="3200" b="1" dirty="0">
                <a:solidFill>
                  <a:srgbClr val="C00000"/>
                </a:solidFill>
              </a:rPr>
              <a:t>operational effectiveness</a:t>
            </a:r>
            <a:r>
              <a:rPr lang="en-US" sz="3200" dirty="0">
                <a:solidFill>
                  <a:srgbClr val="C00000"/>
                </a:solidFill>
              </a:rPr>
              <a:t>. </a:t>
            </a:r>
          </a:p>
          <a:p>
            <a:pPr marL="0">
              <a:spcBef>
                <a:spcPts val="0"/>
              </a:spcBef>
            </a:pPr>
            <a:r>
              <a:rPr lang="en-US" sz="3200" dirty="0">
                <a:ea typeface="ＭＳ Ｐゴシック"/>
              </a:rPr>
              <a:t>Traditional statistics requires </a:t>
            </a:r>
            <a:r>
              <a:rPr lang="en-US" sz="3200" b="1" dirty="0">
                <a:solidFill>
                  <a:srgbClr val="C00000"/>
                </a:solidFill>
                <a:ea typeface="ＭＳ Ｐゴシック"/>
              </a:rPr>
              <a:t>a hypothesis or theory </a:t>
            </a:r>
            <a:r>
              <a:rPr lang="en-US" sz="3200" dirty="0">
                <a:ea typeface="ＭＳ Ｐゴシック"/>
              </a:rPr>
              <a:t>to specify a model with a limited set of variables. ML does not require that;</a:t>
            </a:r>
            <a:r>
              <a:rPr lang="en-US" sz="3200" dirty="0">
                <a:solidFill>
                  <a:srgbClr val="C00000"/>
                </a:solidFill>
                <a:ea typeface="ＭＳ Ｐゴシック"/>
              </a:rPr>
              <a:t> </a:t>
            </a:r>
            <a:r>
              <a:rPr lang="en-US" sz="3200" dirty="0">
                <a:ea typeface="ＭＳ Ｐゴシック"/>
              </a:rPr>
              <a:t>it flexibly accommodates very complex models with a large number of variables. focuses on predictions. </a:t>
            </a:r>
            <a:endParaRPr lang="en-US" sz="3200">
              <a:ea typeface="ＭＳ Ｐゴシック"/>
              <a:cs typeface="Arial"/>
            </a:endParaRPr>
          </a:p>
          <a:p>
            <a:pPr marL="0">
              <a:spcBef>
                <a:spcPts val="0"/>
              </a:spcBef>
            </a:pPr>
            <a:r>
              <a:rPr lang="en-US" sz="3200" dirty="0">
                <a:ea typeface="ＭＳ Ｐゴシック"/>
              </a:rPr>
              <a:t>Such prediction-based ML systems “learn” and improve markedly over time. This enables ML to perform tasks that previously depended on human intelligence. However, ML models typically cannot explain the “why” behind their predictions. Only Explainable AI (XAI) models, discussed in Module 7, are capable of addressing that.</a:t>
            </a:r>
            <a:endParaRPr lang="en-US" sz="3200" dirty="0">
              <a:ea typeface="ＭＳ Ｐゴシック"/>
              <a:cs typeface="Arial"/>
            </a:endParaRPr>
          </a:p>
          <a:p>
            <a:pPr marL="0">
              <a:spcBef>
                <a:spcPts val="0"/>
              </a:spcBef>
            </a:pPr>
            <a:r>
              <a:rPr lang="en-US" sz="3200" dirty="0"/>
              <a:t>(To illustrate this, discuss the 2012 NYT story on Target coupon for baby-care products for a high school student, “</a:t>
            </a:r>
            <a:r>
              <a:rPr lang="en-US" sz="3200" b="1" dirty="0">
                <a:solidFill>
                  <a:srgbClr val="C00000"/>
                </a:solidFill>
              </a:rPr>
              <a:t>How Companies Learn Your Secrets,”</a:t>
            </a:r>
            <a:r>
              <a:rPr lang="en-US" sz="3200" dirty="0"/>
              <a:t> </a:t>
            </a:r>
            <a:r>
              <a:rPr lang="en-US" sz="3200" dirty="0">
                <a:solidFill>
                  <a:srgbClr val="0070C0"/>
                </a:solidFill>
                <a:hlinkClick r:id="rId3">
                  <a:extLst>
                    <a:ext uri="{A12FA001-AC4F-418D-AE19-62706E023703}">
                      <ahyp:hlinkClr xmlns:ahyp="http://schemas.microsoft.com/office/drawing/2018/hyperlinkcolor" val="tx"/>
                    </a:ext>
                  </a:extLst>
                </a:hlinkClick>
              </a:rPr>
              <a:t>https://www.nytimes.com/2012/02/19/magazine/shopping-habits.html</a:t>
            </a:r>
            <a:r>
              <a:rPr lang="en-US" sz="3200" dirty="0"/>
              <a:t>)</a:t>
            </a:r>
          </a:p>
        </p:txBody>
      </p:sp>
    </p:spTree>
    <p:custDataLst>
      <p:tags r:id="rId1"/>
    </p:custDataLst>
    <p:extLst>
      <p:ext uri="{BB962C8B-B14F-4D97-AF65-F5344CB8AC3E}">
        <p14:creationId xmlns:p14="http://schemas.microsoft.com/office/powerpoint/2010/main" val="3836798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87C24-545B-7149-9B0A-78FB38AAD988}"/>
              </a:ext>
            </a:extLst>
          </p:cNvPr>
          <p:cNvSpPr>
            <a:spLocks noGrp="1"/>
          </p:cNvSpPr>
          <p:nvPr>
            <p:ph type="title"/>
          </p:nvPr>
        </p:nvSpPr>
        <p:spPr>
          <a:xfrm>
            <a:off x="1229178" y="533401"/>
            <a:ext cx="16084552" cy="863713"/>
          </a:xfrm>
        </p:spPr>
        <p:txBody>
          <a:bodyPr/>
          <a:lstStyle/>
          <a:p>
            <a:r>
              <a:rPr lang="en-US" b="1" dirty="0">
                <a:solidFill>
                  <a:srgbClr val="C00000"/>
                </a:solidFill>
              </a:rPr>
              <a:t>ML models focus on Prediction</a:t>
            </a:r>
          </a:p>
        </p:txBody>
      </p:sp>
      <p:sp>
        <p:nvSpPr>
          <p:cNvPr id="3" name="Content Placeholder 2">
            <a:extLst>
              <a:ext uri="{FF2B5EF4-FFF2-40B4-BE49-F238E27FC236}">
                <a16:creationId xmlns:a16="http://schemas.microsoft.com/office/drawing/2014/main" id="{54C85789-B4EF-954D-B639-57912015347B}"/>
              </a:ext>
            </a:extLst>
          </p:cNvPr>
          <p:cNvSpPr>
            <a:spLocks noGrp="1"/>
          </p:cNvSpPr>
          <p:nvPr>
            <p:ph idx="1"/>
          </p:nvPr>
        </p:nvSpPr>
        <p:spPr>
          <a:xfrm>
            <a:off x="1098550" y="1441098"/>
            <a:ext cx="16084552" cy="8312501"/>
          </a:xfrm>
        </p:spPr>
        <p:txBody>
          <a:bodyPr>
            <a:noAutofit/>
          </a:bodyPr>
          <a:lstStyle/>
          <a:p>
            <a:pPr>
              <a:lnSpc>
                <a:spcPct val="120000"/>
              </a:lnSpc>
              <a:spcBef>
                <a:spcPts val="0"/>
              </a:spcBef>
            </a:pPr>
            <a:r>
              <a:rPr lang="en-US" sz="3200" dirty="0"/>
              <a:t>Machine Learning relies heavily on predictions and reinforcement learning. </a:t>
            </a:r>
          </a:p>
          <a:p>
            <a:pPr>
              <a:lnSpc>
                <a:spcPct val="120000"/>
              </a:lnSpc>
              <a:spcBef>
                <a:spcPts val="0"/>
              </a:spcBef>
            </a:pPr>
            <a:r>
              <a:rPr lang="en-US" sz="3200" dirty="0">
                <a:ea typeface="ＭＳ Ｐゴシック"/>
              </a:rPr>
              <a:t>Predictions resemble the process of filling in missing information. Predictions use information </a:t>
            </a:r>
            <a:r>
              <a:rPr lang="en-US" sz="3200" b="1" i="1" dirty="0">
                <a:ea typeface="ＭＳ Ｐゴシック"/>
              </a:rPr>
              <a:t>we have </a:t>
            </a:r>
            <a:r>
              <a:rPr lang="en-US" sz="3200" dirty="0">
                <a:ea typeface="ＭＳ Ｐゴシック"/>
              </a:rPr>
              <a:t>(i.e., data) to generate information </a:t>
            </a:r>
            <a:r>
              <a:rPr lang="en-US" sz="3200" b="1" i="1" dirty="0">
                <a:ea typeface="ＭＳ Ｐゴシック"/>
              </a:rPr>
              <a:t>we do not have</a:t>
            </a:r>
            <a:r>
              <a:rPr lang="en-US" sz="3200" b="1" dirty="0">
                <a:ea typeface="ＭＳ Ｐゴシック"/>
              </a:rPr>
              <a:t> </a:t>
            </a:r>
            <a:r>
              <a:rPr lang="en-US" sz="3200" dirty="0">
                <a:ea typeface="ＭＳ Ｐゴシック"/>
              </a:rPr>
              <a:t>(e.g., forecasts). </a:t>
            </a:r>
            <a:endParaRPr lang="en-US" sz="3200" dirty="0">
              <a:cs typeface="Arial"/>
            </a:endParaRPr>
          </a:p>
          <a:p>
            <a:pPr>
              <a:lnSpc>
                <a:spcPct val="120000"/>
              </a:lnSpc>
              <a:spcBef>
                <a:spcPts val="0"/>
              </a:spcBef>
            </a:pPr>
            <a:r>
              <a:rPr lang="en-US" sz="3200" dirty="0"/>
              <a:t>In addition to generating information about the future, predictions improve our understanding about both the present and the past. </a:t>
            </a:r>
            <a:r>
              <a:rPr lang="en-US" sz="3200" dirty="0">
                <a:solidFill>
                  <a:srgbClr val="C00000"/>
                </a:solidFill>
              </a:rPr>
              <a:t>Examples: if a current transaction is fraudulent or not; if a tumor in an x-ray image is malignant or not.</a:t>
            </a:r>
          </a:p>
          <a:p>
            <a:pPr>
              <a:lnSpc>
                <a:spcPct val="120000"/>
              </a:lnSpc>
              <a:spcBef>
                <a:spcPts val="0"/>
              </a:spcBef>
            </a:pPr>
            <a:r>
              <a:rPr lang="en-US" sz="3200" dirty="0"/>
              <a:t>Small improvements in prediction accuracy are deceptive. An improvement from 85 percent to 90 percent accuracy appears over twice as large as an improvement from say 98 percent to 99.9 percent accuracy. However, the former may represent the reduction of mistakes by nearly a third, while the latter may reduce mistakes by only 5% of total mistakes, but the latter achievement deserves greater appreciation because it requires an exponentially higher effort, and because it is truly transformational: </a:t>
            </a:r>
            <a:r>
              <a:rPr lang="en-US" sz="3200" dirty="0">
                <a:solidFill>
                  <a:srgbClr val="C00000"/>
                </a:solidFill>
              </a:rPr>
              <a:t>getting closer to 100% is the holy grail.</a:t>
            </a:r>
          </a:p>
        </p:txBody>
      </p:sp>
    </p:spTree>
    <p:custDataLst>
      <p:tags r:id="rId1"/>
    </p:custDataLst>
    <p:extLst>
      <p:ext uri="{BB962C8B-B14F-4D97-AF65-F5344CB8AC3E}">
        <p14:creationId xmlns:p14="http://schemas.microsoft.com/office/powerpoint/2010/main" val="2127439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7F103-513D-4336-8CED-F26ED0B209A5}"/>
              </a:ext>
            </a:extLst>
          </p:cNvPr>
          <p:cNvSpPr>
            <a:spLocks noGrp="1"/>
          </p:cNvSpPr>
          <p:nvPr>
            <p:ph type="title"/>
          </p:nvPr>
        </p:nvSpPr>
        <p:spPr>
          <a:xfrm>
            <a:off x="1101724" y="478971"/>
            <a:ext cx="16084552" cy="939913"/>
          </a:xfrm>
        </p:spPr>
        <p:txBody>
          <a:bodyPr/>
          <a:lstStyle/>
          <a:p>
            <a:r>
              <a:rPr lang="en-US" sz="4400" b="1" dirty="0">
                <a:solidFill>
                  <a:srgbClr val="C00000"/>
                </a:solidFill>
              </a:rPr>
              <a:t>Supervised, Unsupervised, Reinforcement, Deep ML</a:t>
            </a:r>
          </a:p>
        </p:txBody>
      </p:sp>
      <p:sp>
        <p:nvSpPr>
          <p:cNvPr id="3" name="Content Placeholder 2">
            <a:extLst>
              <a:ext uri="{FF2B5EF4-FFF2-40B4-BE49-F238E27FC236}">
                <a16:creationId xmlns:a16="http://schemas.microsoft.com/office/drawing/2014/main" id="{CFB6A134-70D1-46BA-AC41-41F2192538B5}"/>
              </a:ext>
            </a:extLst>
          </p:cNvPr>
          <p:cNvSpPr>
            <a:spLocks noGrp="1"/>
          </p:cNvSpPr>
          <p:nvPr>
            <p:ph idx="1"/>
          </p:nvPr>
        </p:nvSpPr>
        <p:spPr>
          <a:xfrm>
            <a:off x="1101724" y="1539069"/>
            <a:ext cx="16220621" cy="8268959"/>
          </a:xfrm>
        </p:spPr>
        <p:txBody>
          <a:bodyPr>
            <a:noAutofit/>
          </a:bodyPr>
          <a:lstStyle/>
          <a:p>
            <a:pPr>
              <a:lnSpc>
                <a:spcPct val="120000"/>
              </a:lnSpc>
              <a:spcBef>
                <a:spcPts val="0"/>
              </a:spcBef>
            </a:pPr>
            <a:r>
              <a:rPr lang="en-US" sz="3200" dirty="0">
                <a:solidFill>
                  <a:srgbClr val="C00000"/>
                </a:solidFill>
              </a:rPr>
              <a:t>Supervised learning: </a:t>
            </a:r>
            <a:r>
              <a:rPr lang="en-US" sz="3200" dirty="0"/>
              <a:t>the goal is to learn a function that, given the data sample and the expected outputs, best describes the links between input and output. E.g. classification, regression or probability estimation. </a:t>
            </a:r>
          </a:p>
          <a:p>
            <a:pPr>
              <a:lnSpc>
                <a:spcPct val="120000"/>
              </a:lnSpc>
              <a:spcBef>
                <a:spcPts val="0"/>
              </a:spcBef>
            </a:pPr>
            <a:r>
              <a:rPr lang="en-US" sz="3200" dirty="0">
                <a:solidFill>
                  <a:srgbClr val="C00000"/>
                </a:solidFill>
              </a:rPr>
              <a:t>Unsupervised learning: </a:t>
            </a:r>
            <a:r>
              <a:rPr lang="en-US" sz="3200" dirty="0"/>
              <a:t>without any information about the output, the goal is to identify any structures or patterns present in the input data. E.g. cluster analysis.</a:t>
            </a:r>
          </a:p>
          <a:p>
            <a:pPr>
              <a:lnSpc>
                <a:spcPct val="120000"/>
              </a:lnSpc>
              <a:spcBef>
                <a:spcPts val="0"/>
              </a:spcBef>
            </a:pPr>
            <a:r>
              <a:rPr lang="en-US" sz="3200" dirty="0">
                <a:solidFill>
                  <a:srgbClr val="C00000"/>
                </a:solidFill>
              </a:rPr>
              <a:t>Reinforcement learning: </a:t>
            </a:r>
            <a:r>
              <a:rPr lang="en-US" sz="3200" dirty="0"/>
              <a:t>define the reward function that best helps the AI agent reach its objectives.</a:t>
            </a:r>
          </a:p>
          <a:p>
            <a:pPr>
              <a:lnSpc>
                <a:spcPct val="120000"/>
              </a:lnSpc>
              <a:spcBef>
                <a:spcPts val="0"/>
              </a:spcBef>
            </a:pPr>
            <a:r>
              <a:rPr lang="en-US" sz="3200" dirty="0">
                <a:solidFill>
                  <a:srgbClr val="C00000"/>
                </a:solidFill>
              </a:rPr>
              <a:t>Deep learning: </a:t>
            </a:r>
            <a:r>
              <a:rPr lang="en-US" sz="3200" dirty="0"/>
              <a:t>Approaches to ML that use Neural Network models with multiple layers.</a:t>
            </a:r>
          </a:p>
          <a:p>
            <a:pPr>
              <a:lnSpc>
                <a:spcPct val="120000"/>
              </a:lnSpc>
              <a:spcBef>
                <a:spcPts val="0"/>
              </a:spcBef>
            </a:pPr>
            <a:r>
              <a:rPr lang="en-US" sz="3200" dirty="0"/>
              <a:t>Fundamental ML include applications include computer vision, speech understanding, autonomous robots, self-driving cars, </a:t>
            </a:r>
            <a:r>
              <a:rPr lang="en-US" sz="3200" dirty="0" err="1"/>
              <a:t>eVTOLs</a:t>
            </a:r>
            <a:r>
              <a:rPr lang="en-US" sz="3200" dirty="0"/>
              <a:t> (electric Vertical Take Off and Landing vehicles), facial recognition, email filtering, optical character recognition, product recommendations, identifying cancerous tumors, </a:t>
            </a:r>
          </a:p>
          <a:p>
            <a:pPr marL="0" indent="0">
              <a:lnSpc>
                <a:spcPct val="120000"/>
              </a:lnSpc>
              <a:spcBef>
                <a:spcPts val="0"/>
              </a:spcBef>
              <a:buNone/>
            </a:pPr>
            <a:r>
              <a:rPr lang="en-US" sz="3200" dirty="0"/>
              <a:t>      detecting data breaches, vetting hires etc.</a:t>
            </a:r>
          </a:p>
          <a:p>
            <a:endParaRPr lang="en-US" sz="3200" dirty="0"/>
          </a:p>
        </p:txBody>
      </p:sp>
    </p:spTree>
    <p:custDataLst>
      <p:tags r:id="rId1"/>
    </p:custDataLst>
    <p:extLst>
      <p:ext uri="{BB962C8B-B14F-4D97-AF65-F5344CB8AC3E}">
        <p14:creationId xmlns:p14="http://schemas.microsoft.com/office/powerpoint/2010/main" val="3827020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7F103-513D-4336-8CED-F26ED0B209A5}"/>
              </a:ext>
            </a:extLst>
          </p:cNvPr>
          <p:cNvSpPr>
            <a:spLocks noGrp="1"/>
          </p:cNvSpPr>
          <p:nvPr>
            <p:ph type="title"/>
          </p:nvPr>
        </p:nvSpPr>
        <p:spPr/>
        <p:txBody>
          <a:bodyPr/>
          <a:lstStyle/>
          <a:p>
            <a:r>
              <a:rPr lang="en-US" b="1" dirty="0">
                <a:solidFill>
                  <a:srgbClr val="C00000"/>
                </a:solidFill>
              </a:rPr>
              <a:t>Supervised learning – more highlights</a:t>
            </a:r>
          </a:p>
        </p:txBody>
      </p:sp>
      <p:sp>
        <p:nvSpPr>
          <p:cNvPr id="3" name="Content Placeholder 2">
            <a:extLst>
              <a:ext uri="{FF2B5EF4-FFF2-40B4-BE49-F238E27FC236}">
                <a16:creationId xmlns:a16="http://schemas.microsoft.com/office/drawing/2014/main" id="{CFB6A134-70D1-46BA-AC41-41F2192538B5}"/>
              </a:ext>
            </a:extLst>
          </p:cNvPr>
          <p:cNvSpPr>
            <a:spLocks noGrp="1"/>
          </p:cNvSpPr>
          <p:nvPr>
            <p:ph idx="1"/>
          </p:nvPr>
        </p:nvSpPr>
        <p:spPr/>
        <p:txBody>
          <a:bodyPr>
            <a:normAutofit lnSpcReduction="10000"/>
          </a:bodyPr>
          <a:lstStyle/>
          <a:p>
            <a:r>
              <a:rPr lang="en-US" dirty="0">
                <a:solidFill>
                  <a:srgbClr val="C00000"/>
                </a:solidFill>
              </a:rPr>
              <a:t>What is Supervised Learning?</a:t>
            </a:r>
          </a:p>
          <a:p>
            <a:r>
              <a:rPr lang="en-US" dirty="0"/>
              <a:t>In summary, supervised learning applies machine learning training algorithms to labeled data; where each case in the training data has both observation and outcome data. </a:t>
            </a:r>
          </a:p>
          <a:p>
            <a:r>
              <a:rPr lang="en-US" dirty="0"/>
              <a:t>After the ML system has “learned” these categorization and variable relationships, it can be assigned to work with new data where the outcome will be known in the future, so the machine is now required to make a prediction about the future. The training algorithms can predict those future outcomes based on the previous supervised learning.</a:t>
            </a:r>
          </a:p>
          <a:p>
            <a:endParaRPr lang="en-US" dirty="0"/>
          </a:p>
        </p:txBody>
      </p:sp>
    </p:spTree>
    <p:custDataLst>
      <p:tags r:id="rId1"/>
    </p:custDataLst>
    <p:extLst>
      <p:ext uri="{BB962C8B-B14F-4D97-AF65-F5344CB8AC3E}">
        <p14:creationId xmlns:p14="http://schemas.microsoft.com/office/powerpoint/2010/main" val="24224560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7F103-513D-4336-8CED-F26ED0B209A5}"/>
              </a:ext>
            </a:extLst>
          </p:cNvPr>
          <p:cNvSpPr>
            <a:spLocks noGrp="1"/>
          </p:cNvSpPr>
          <p:nvPr>
            <p:ph type="title"/>
          </p:nvPr>
        </p:nvSpPr>
        <p:spPr/>
        <p:txBody>
          <a:bodyPr/>
          <a:lstStyle/>
          <a:p>
            <a:r>
              <a:rPr lang="en-US" b="1" dirty="0">
                <a:solidFill>
                  <a:srgbClr val="C00000"/>
                </a:solidFill>
              </a:rPr>
              <a:t>Unsupervised learning – more highlights</a:t>
            </a:r>
          </a:p>
        </p:txBody>
      </p:sp>
      <p:sp>
        <p:nvSpPr>
          <p:cNvPr id="3" name="Content Placeholder 2">
            <a:extLst>
              <a:ext uri="{FF2B5EF4-FFF2-40B4-BE49-F238E27FC236}">
                <a16:creationId xmlns:a16="http://schemas.microsoft.com/office/drawing/2014/main" id="{CFB6A134-70D1-46BA-AC41-41F2192538B5}"/>
              </a:ext>
            </a:extLst>
          </p:cNvPr>
          <p:cNvSpPr>
            <a:spLocks noGrp="1"/>
          </p:cNvSpPr>
          <p:nvPr>
            <p:ph idx="1"/>
          </p:nvPr>
        </p:nvSpPr>
        <p:spPr/>
        <p:txBody>
          <a:bodyPr>
            <a:normAutofit fontScale="85000" lnSpcReduction="10000"/>
          </a:bodyPr>
          <a:lstStyle/>
          <a:p>
            <a:r>
              <a:rPr lang="en-US" dirty="0">
                <a:solidFill>
                  <a:srgbClr val="C00000"/>
                </a:solidFill>
              </a:rPr>
              <a:t>What is Unsupervised Learning?</a:t>
            </a:r>
          </a:p>
          <a:p>
            <a:r>
              <a:rPr lang="en-US" dirty="0"/>
              <a:t>For certain types of activity where there is not a database available that contains labelled data for the algorithm to use, a different set of techniques called unsupervised learning can be applied. This approach identifies and groups things together based on similarities between them (e.g., clustering), but they </a:t>
            </a:r>
            <a:r>
              <a:rPr lang="en-US" b="1" i="1" dirty="0">
                <a:solidFill>
                  <a:srgbClr val="C00000"/>
                </a:solidFill>
              </a:rPr>
              <a:t>do not </a:t>
            </a:r>
            <a:r>
              <a:rPr lang="en-US" dirty="0"/>
              <a:t>provide predictions that indicate how someone or something is going to behave. </a:t>
            </a:r>
            <a:r>
              <a:rPr lang="en-US" b="1" i="1" dirty="0">
                <a:solidFill>
                  <a:srgbClr val="C00000"/>
                </a:solidFill>
              </a:rPr>
              <a:t>The objectives and outputs of supervised and unsupervised learning are therefore very different</a:t>
            </a:r>
            <a:r>
              <a:rPr lang="en-US" dirty="0">
                <a:solidFill>
                  <a:srgbClr val="C00000"/>
                </a:solidFill>
              </a:rPr>
              <a:t>. </a:t>
            </a:r>
          </a:p>
          <a:p>
            <a:r>
              <a:rPr lang="en-US" dirty="0"/>
              <a:t>With supervised learning, the end game is always a prediction that could be used in decision making. With unsupervised learning, the outcome is a representation of the structure of the data which is a different thing altogether.</a:t>
            </a:r>
          </a:p>
          <a:p>
            <a:endParaRPr lang="en-US" dirty="0"/>
          </a:p>
        </p:txBody>
      </p:sp>
    </p:spTree>
    <p:custDataLst>
      <p:tags r:id="rId1"/>
    </p:custDataLst>
    <p:extLst>
      <p:ext uri="{BB962C8B-B14F-4D97-AF65-F5344CB8AC3E}">
        <p14:creationId xmlns:p14="http://schemas.microsoft.com/office/powerpoint/2010/main" val="2689599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7F103-513D-4336-8CED-F26ED0B209A5}"/>
              </a:ext>
            </a:extLst>
          </p:cNvPr>
          <p:cNvSpPr>
            <a:spLocks noGrp="1"/>
          </p:cNvSpPr>
          <p:nvPr>
            <p:ph type="title"/>
          </p:nvPr>
        </p:nvSpPr>
        <p:spPr/>
        <p:txBody>
          <a:bodyPr/>
          <a:lstStyle/>
          <a:p>
            <a:r>
              <a:rPr lang="en-US" b="1" dirty="0">
                <a:solidFill>
                  <a:srgbClr val="C00000"/>
                </a:solidFill>
              </a:rPr>
              <a:t>Reinforcement Learning – more highlights</a:t>
            </a:r>
          </a:p>
        </p:txBody>
      </p:sp>
      <p:sp>
        <p:nvSpPr>
          <p:cNvPr id="3" name="Content Placeholder 2">
            <a:extLst>
              <a:ext uri="{FF2B5EF4-FFF2-40B4-BE49-F238E27FC236}">
                <a16:creationId xmlns:a16="http://schemas.microsoft.com/office/drawing/2014/main" id="{CFB6A134-70D1-46BA-AC41-41F2192538B5}"/>
              </a:ext>
            </a:extLst>
          </p:cNvPr>
          <p:cNvSpPr>
            <a:spLocks noGrp="1"/>
          </p:cNvSpPr>
          <p:nvPr>
            <p:ph idx="1"/>
          </p:nvPr>
        </p:nvSpPr>
        <p:spPr/>
        <p:txBody>
          <a:bodyPr/>
          <a:lstStyle/>
          <a:p>
            <a:pPr marL="0" indent="0">
              <a:buNone/>
            </a:pPr>
            <a:r>
              <a:rPr lang="en-US" dirty="0">
                <a:solidFill>
                  <a:srgbClr val="C00000"/>
                </a:solidFill>
              </a:rPr>
              <a:t>Reinforcement learning </a:t>
            </a:r>
            <a:r>
              <a:rPr lang="en-US" dirty="0"/>
              <a:t>is an approach in machine learning based on “rewards” and “punishments or penalties” designed by developers to steer the machine into desirable behavior. Algorithms learn as desired by developers through trial and error. </a:t>
            </a:r>
          </a:p>
          <a:p>
            <a:pPr marL="0" indent="0">
              <a:buNone/>
            </a:pPr>
            <a:r>
              <a:rPr lang="en-US" dirty="0"/>
              <a:t>A notorious application of reinforcement learning is </a:t>
            </a:r>
            <a:r>
              <a:rPr lang="en-US" dirty="0" err="1"/>
              <a:t>AlphaGo</a:t>
            </a:r>
            <a:r>
              <a:rPr lang="en-US" dirty="0"/>
              <a:t> created by Google DeepMind, which was trained to play Go at a world-class level.</a:t>
            </a:r>
          </a:p>
          <a:p>
            <a:pPr marL="0" indent="0">
              <a:buNone/>
            </a:pPr>
            <a:endParaRPr lang="en-US" dirty="0"/>
          </a:p>
        </p:txBody>
      </p:sp>
    </p:spTree>
    <p:custDataLst>
      <p:tags r:id="rId1"/>
    </p:custDataLst>
    <p:extLst>
      <p:ext uri="{BB962C8B-B14F-4D97-AF65-F5344CB8AC3E}">
        <p14:creationId xmlns:p14="http://schemas.microsoft.com/office/powerpoint/2010/main" val="1885397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1BDFB-FF00-45A4-9121-524CEAFEA2C4}"/>
              </a:ext>
            </a:extLst>
          </p:cNvPr>
          <p:cNvSpPr>
            <a:spLocks noGrp="1"/>
          </p:cNvSpPr>
          <p:nvPr>
            <p:ph type="title"/>
          </p:nvPr>
        </p:nvSpPr>
        <p:spPr/>
        <p:txBody>
          <a:bodyPr/>
          <a:lstStyle/>
          <a:p>
            <a:r>
              <a:rPr lang="en-US" b="1" dirty="0">
                <a:solidFill>
                  <a:srgbClr val="C00000"/>
                </a:solidFill>
              </a:rPr>
              <a:t>Deep Reinforcement Learning Agents</a:t>
            </a:r>
          </a:p>
        </p:txBody>
      </p:sp>
      <p:sp>
        <p:nvSpPr>
          <p:cNvPr id="3" name="Content Placeholder 2">
            <a:extLst>
              <a:ext uri="{FF2B5EF4-FFF2-40B4-BE49-F238E27FC236}">
                <a16:creationId xmlns:a16="http://schemas.microsoft.com/office/drawing/2014/main" id="{D2DBFC4C-C790-4AB4-A61C-CB63B6DD82EF}"/>
              </a:ext>
            </a:extLst>
          </p:cNvPr>
          <p:cNvSpPr>
            <a:spLocks noGrp="1"/>
          </p:cNvSpPr>
          <p:nvPr>
            <p:ph idx="1"/>
          </p:nvPr>
        </p:nvSpPr>
        <p:spPr/>
        <p:txBody>
          <a:bodyPr>
            <a:normAutofit lnSpcReduction="10000"/>
          </a:bodyPr>
          <a:lstStyle/>
          <a:p>
            <a:r>
              <a:rPr lang="en-US" dirty="0"/>
              <a:t>Google DeepMind created an artificial intelligence program using </a:t>
            </a:r>
            <a:r>
              <a:rPr lang="en-US" b="1" dirty="0"/>
              <a:t>deep reinforcement learning </a:t>
            </a:r>
            <a:r>
              <a:rPr lang="en-US" dirty="0"/>
              <a:t>that can start with Atari games and improve itself to a superhuman level. It is capable of playing and learning from many Atari games by using a combination of deep artificial neural networks and reinforcement learning.</a:t>
            </a:r>
          </a:p>
          <a:p>
            <a:r>
              <a:rPr lang="en-US" dirty="0"/>
              <a:t>This AI system initially knew nothing about this game – or about any other games, or even about concepts such as games, paddles, bricks or balls. The AI was simply told to maximize the score of outcomes.</a:t>
            </a:r>
          </a:p>
          <a:p>
            <a:r>
              <a:rPr lang="en-US" dirty="0">
                <a:hlinkClick r:id="rId3"/>
              </a:rPr>
              <a:t>https://tinyurl.com/atariai</a:t>
            </a:r>
            <a:endParaRPr lang="en-US" dirty="0"/>
          </a:p>
        </p:txBody>
      </p:sp>
    </p:spTree>
    <p:custDataLst>
      <p:tags r:id="rId1"/>
    </p:custDataLst>
    <p:extLst>
      <p:ext uri="{BB962C8B-B14F-4D97-AF65-F5344CB8AC3E}">
        <p14:creationId xmlns:p14="http://schemas.microsoft.com/office/powerpoint/2010/main" val="25515619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3609-5AF4-4A17-AC68-66AD01CAB75B}"/>
              </a:ext>
            </a:extLst>
          </p:cNvPr>
          <p:cNvSpPr>
            <a:spLocks noGrp="1"/>
          </p:cNvSpPr>
          <p:nvPr>
            <p:ph type="title"/>
          </p:nvPr>
        </p:nvSpPr>
        <p:spPr/>
        <p:txBody>
          <a:bodyPr/>
          <a:lstStyle/>
          <a:p>
            <a:r>
              <a:rPr lang="en-US" b="1" dirty="0">
                <a:solidFill>
                  <a:srgbClr val="C00000"/>
                </a:solidFill>
              </a:rPr>
              <a:t>What is the Turing Test?</a:t>
            </a:r>
          </a:p>
        </p:txBody>
      </p:sp>
      <p:sp>
        <p:nvSpPr>
          <p:cNvPr id="3" name="Content Placeholder 2">
            <a:extLst>
              <a:ext uri="{FF2B5EF4-FFF2-40B4-BE49-F238E27FC236}">
                <a16:creationId xmlns:a16="http://schemas.microsoft.com/office/drawing/2014/main" id="{E7A9261F-DDFE-484C-AF4A-76564925C275}"/>
              </a:ext>
            </a:extLst>
          </p:cNvPr>
          <p:cNvSpPr>
            <a:spLocks noGrp="1"/>
          </p:cNvSpPr>
          <p:nvPr>
            <p:ph idx="1"/>
          </p:nvPr>
        </p:nvSpPr>
        <p:spPr/>
        <p:txBody>
          <a:bodyPr>
            <a:normAutofit/>
          </a:bodyPr>
          <a:lstStyle/>
          <a:p>
            <a:r>
              <a:rPr lang="en-US" dirty="0"/>
              <a:t>A </a:t>
            </a:r>
            <a:r>
              <a:rPr lang="en-US" b="1" dirty="0"/>
              <a:t>Turing Test</a:t>
            </a:r>
            <a:r>
              <a:rPr lang="en-US" dirty="0"/>
              <a:t> is a method of inquiry in artificial intelligence (AI) to determine whether or not a computer is capable of thinking like a human being. </a:t>
            </a:r>
          </a:p>
          <a:p>
            <a:r>
              <a:rPr lang="en-US" dirty="0" err="1"/>
              <a:t>ChatGPT</a:t>
            </a:r>
            <a:r>
              <a:rPr lang="en-US" dirty="0"/>
              <a:t> has recently passed the Turing Test.</a:t>
            </a:r>
          </a:p>
          <a:p>
            <a:r>
              <a:rPr lang="en-US" dirty="0"/>
              <a:t>The </a:t>
            </a:r>
            <a:r>
              <a:rPr lang="en-US" b="1" dirty="0"/>
              <a:t>test</a:t>
            </a:r>
            <a:r>
              <a:rPr lang="en-US" dirty="0"/>
              <a:t> is named after Alan </a:t>
            </a:r>
            <a:r>
              <a:rPr lang="en-US" b="1" dirty="0"/>
              <a:t>Turing</a:t>
            </a:r>
            <a:r>
              <a:rPr lang="en-US" dirty="0"/>
              <a:t>, who first suggested this as a </a:t>
            </a:r>
            <a:r>
              <a:rPr lang="en-US" b="1" dirty="0"/>
              <a:t>Test</a:t>
            </a:r>
            <a:r>
              <a:rPr lang="en-US" dirty="0"/>
              <a:t> concept. Turing was a well-known UK-based computer scientist, crypto-analyst, mathematician and theoretical biologist.</a:t>
            </a:r>
          </a:p>
          <a:p>
            <a:endParaRPr lang="en-US" sz="3600" dirty="0"/>
          </a:p>
        </p:txBody>
      </p:sp>
    </p:spTree>
    <p:custDataLst>
      <p:tags r:id="rId1"/>
    </p:custDataLst>
    <p:extLst>
      <p:ext uri="{BB962C8B-B14F-4D97-AF65-F5344CB8AC3E}">
        <p14:creationId xmlns:p14="http://schemas.microsoft.com/office/powerpoint/2010/main" val="490972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3609-5AF4-4A17-AC68-66AD01CAB75B}"/>
              </a:ext>
            </a:extLst>
          </p:cNvPr>
          <p:cNvSpPr>
            <a:spLocks noGrp="1"/>
          </p:cNvSpPr>
          <p:nvPr>
            <p:ph type="title"/>
          </p:nvPr>
        </p:nvSpPr>
        <p:spPr/>
        <p:txBody>
          <a:bodyPr/>
          <a:lstStyle/>
          <a:p>
            <a:r>
              <a:rPr lang="en-US" b="1" dirty="0">
                <a:solidFill>
                  <a:srgbClr val="C00000"/>
                </a:solidFill>
              </a:rPr>
              <a:t>Computational Creativity and AI?</a:t>
            </a:r>
          </a:p>
        </p:txBody>
      </p:sp>
      <p:sp>
        <p:nvSpPr>
          <p:cNvPr id="3" name="Content Placeholder 2">
            <a:extLst>
              <a:ext uri="{FF2B5EF4-FFF2-40B4-BE49-F238E27FC236}">
                <a16:creationId xmlns:a16="http://schemas.microsoft.com/office/drawing/2014/main" id="{E7A9261F-DDFE-484C-AF4A-76564925C275}"/>
              </a:ext>
            </a:extLst>
          </p:cNvPr>
          <p:cNvSpPr>
            <a:spLocks noGrp="1"/>
          </p:cNvSpPr>
          <p:nvPr>
            <p:ph idx="1"/>
          </p:nvPr>
        </p:nvSpPr>
        <p:spPr/>
        <p:txBody>
          <a:bodyPr>
            <a:normAutofit fontScale="85000" lnSpcReduction="20000"/>
          </a:bodyPr>
          <a:lstStyle/>
          <a:p>
            <a:r>
              <a:rPr lang="en-US" dirty="0"/>
              <a:t>Computational Creativity (CC) as a final frontier for AI….</a:t>
            </a:r>
          </a:p>
          <a:p>
            <a:pPr lvl="1"/>
            <a:r>
              <a:rPr lang="en-US" i="1" dirty="0">
                <a:solidFill>
                  <a:schemeClr val="accent1"/>
                </a:solidFill>
              </a:rPr>
              <a:t>As a society, we are jealous of our creativity. Creative people and their contributions to cultural progression are highly valued. Moreover, creative behavior in people draws on a full set of intelligent abilities, so simulating such behavior represents a serious technical challenge for Artificial Intelligence research. As such, we believe it is fair to characterize Computational Creativity as a frontier for AI research beyond all others – maybe, even, the final frontier</a:t>
            </a:r>
            <a:r>
              <a:rPr lang="en-US" dirty="0">
                <a:solidFill>
                  <a:schemeClr val="accent1"/>
                </a:solidFill>
              </a:rPr>
              <a:t>. - Simon Colton and Geraint Wiggins</a:t>
            </a:r>
          </a:p>
          <a:p>
            <a:r>
              <a:rPr lang="en-US" dirty="0"/>
              <a:t>AI-based CC can formulate tasty recipes, new visual art, creative poetry and stories, jokes, mathematical theorems, games, or chess puzzles. </a:t>
            </a:r>
            <a:r>
              <a:rPr lang="en-US" i="1" dirty="0"/>
              <a:t>In short, using computational or artificial means, a computer can generate designs that, if any human produced them, would be deemed as creative art. </a:t>
            </a:r>
          </a:p>
          <a:p>
            <a:r>
              <a:rPr lang="en-US" i="1" dirty="0">
                <a:solidFill>
                  <a:srgbClr val="C00000"/>
                </a:solidFill>
              </a:rPr>
              <a:t>(Question to Ponder: Does this mean CC passes the Turing Test?)</a:t>
            </a:r>
          </a:p>
          <a:p>
            <a:endParaRPr lang="en-US" sz="3600" dirty="0"/>
          </a:p>
        </p:txBody>
      </p:sp>
    </p:spTree>
    <p:custDataLst>
      <p:tags r:id="rId1"/>
    </p:custDataLst>
    <p:extLst>
      <p:ext uri="{BB962C8B-B14F-4D97-AF65-F5344CB8AC3E}">
        <p14:creationId xmlns:p14="http://schemas.microsoft.com/office/powerpoint/2010/main" val="7822060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11E56-7021-46E9-B548-2B8ABA9351E4}"/>
              </a:ext>
            </a:extLst>
          </p:cNvPr>
          <p:cNvSpPr>
            <a:spLocks noGrp="1"/>
          </p:cNvSpPr>
          <p:nvPr>
            <p:ph type="title"/>
          </p:nvPr>
        </p:nvSpPr>
        <p:spPr/>
        <p:txBody>
          <a:bodyPr/>
          <a:lstStyle/>
          <a:p>
            <a:r>
              <a:rPr lang="en-US" b="1" dirty="0" err="1">
                <a:solidFill>
                  <a:srgbClr val="C00000"/>
                </a:solidFill>
              </a:rPr>
              <a:t>Neocognition</a:t>
            </a:r>
            <a:endParaRPr lang="en-US" b="1" dirty="0">
              <a:solidFill>
                <a:srgbClr val="C00000"/>
              </a:solidFill>
            </a:endParaRPr>
          </a:p>
        </p:txBody>
      </p:sp>
      <p:sp>
        <p:nvSpPr>
          <p:cNvPr id="3" name="Content Placeholder 2">
            <a:extLst>
              <a:ext uri="{FF2B5EF4-FFF2-40B4-BE49-F238E27FC236}">
                <a16:creationId xmlns:a16="http://schemas.microsoft.com/office/drawing/2014/main" id="{4CBEA176-2B3F-473D-BCED-D21A706015F1}"/>
              </a:ext>
            </a:extLst>
          </p:cNvPr>
          <p:cNvSpPr>
            <a:spLocks noGrp="1"/>
          </p:cNvSpPr>
          <p:nvPr>
            <p:ph idx="1"/>
          </p:nvPr>
        </p:nvSpPr>
        <p:spPr/>
        <p:txBody>
          <a:bodyPr>
            <a:normAutofit fontScale="85000" lnSpcReduction="20000"/>
          </a:bodyPr>
          <a:lstStyle/>
          <a:p>
            <a:r>
              <a:rPr lang="en-US" dirty="0"/>
              <a:t>Deep learning is based on two fundamental ideas</a:t>
            </a:r>
            <a:r>
              <a:rPr lang="en-US" b="1" dirty="0"/>
              <a:t>: </a:t>
            </a:r>
            <a:r>
              <a:rPr lang="en-US" b="1" i="1" dirty="0"/>
              <a:t>hierarchical pattern recognition</a:t>
            </a:r>
            <a:r>
              <a:rPr lang="en-US" i="1" dirty="0"/>
              <a:t> </a:t>
            </a:r>
            <a:r>
              <a:rPr lang="en-US" dirty="0"/>
              <a:t>and learning.</a:t>
            </a:r>
          </a:p>
          <a:p>
            <a:r>
              <a:rPr lang="en-US" dirty="0"/>
              <a:t>Neuroscientists David Hubel and </a:t>
            </a:r>
            <a:r>
              <a:rPr lang="en-US" dirty="0" err="1"/>
              <a:t>Torsten</a:t>
            </a:r>
            <a:r>
              <a:rPr lang="en-US" dirty="0"/>
              <a:t> Wiesel won the 1981 Nobel Prize in Physiology or Medicine. Hubel and Wiesel discovered that different neurons in the visual system responded to visual stimuli in sharply different ways. Some responded more actively to very simple stimuli while others responded more vigorously to more complex stimuli.</a:t>
            </a:r>
          </a:p>
          <a:p>
            <a:r>
              <a:rPr lang="en-US" dirty="0"/>
              <a:t>In the 1980s, Japanese neural network pioneer </a:t>
            </a:r>
            <a:r>
              <a:rPr lang="en-US" dirty="0" err="1"/>
              <a:t>Kunahiko</a:t>
            </a:r>
            <a:r>
              <a:rPr lang="en-US" dirty="0"/>
              <a:t> Fukushima built an actual computational adaptation of Hubel and Wiesel’s idea, that was labeled </a:t>
            </a:r>
            <a:r>
              <a:rPr lang="en-US" dirty="0" err="1">
                <a:solidFill>
                  <a:srgbClr val="C00000"/>
                </a:solidFill>
              </a:rPr>
              <a:t>Neocognition</a:t>
            </a:r>
            <a:r>
              <a:rPr lang="en-US" dirty="0">
                <a:solidFill>
                  <a:srgbClr val="C00000"/>
                </a:solidFill>
              </a:rPr>
              <a:t>.</a:t>
            </a:r>
          </a:p>
          <a:p>
            <a:r>
              <a:rPr lang="en-US" dirty="0" err="1">
                <a:solidFill>
                  <a:srgbClr val="C00000"/>
                </a:solidFill>
              </a:rPr>
              <a:t>Neocognition</a:t>
            </a:r>
            <a:r>
              <a:rPr lang="en-US" dirty="0"/>
              <a:t> was made up of a set of layers, which set the stage for the development of ANNs </a:t>
            </a:r>
            <a:r>
              <a:rPr lang="en-US" dirty="0">
                <a:solidFill>
                  <a:srgbClr val="FF0000"/>
                </a:solidFill>
              </a:rPr>
              <a:t>(</a:t>
            </a:r>
            <a:r>
              <a:rPr lang="en-US" dirty="0">
                <a:solidFill>
                  <a:srgbClr val="C00000"/>
                </a:solidFill>
              </a:rPr>
              <a:t>Artificial Neural Networks</a:t>
            </a:r>
            <a:r>
              <a:rPr lang="en-US" dirty="0"/>
              <a:t>).</a:t>
            </a:r>
          </a:p>
        </p:txBody>
      </p:sp>
    </p:spTree>
    <p:custDataLst>
      <p:tags r:id="rId1"/>
    </p:custDataLst>
    <p:extLst>
      <p:ext uri="{BB962C8B-B14F-4D97-AF65-F5344CB8AC3E}">
        <p14:creationId xmlns:p14="http://schemas.microsoft.com/office/powerpoint/2010/main" val="535251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C0AFD-F6F7-40F1-9593-31C691B9DF6C}"/>
              </a:ext>
            </a:extLst>
          </p:cNvPr>
          <p:cNvSpPr>
            <a:spLocks noGrp="1"/>
          </p:cNvSpPr>
          <p:nvPr>
            <p:ph type="title"/>
          </p:nvPr>
        </p:nvSpPr>
        <p:spPr/>
        <p:txBody>
          <a:bodyPr/>
          <a:lstStyle/>
          <a:p>
            <a:r>
              <a:rPr lang="en-US" b="1" dirty="0">
                <a:solidFill>
                  <a:srgbClr val="C00000"/>
                </a:solidFill>
              </a:rPr>
              <a:t>What does Learning mean for Machines?</a:t>
            </a:r>
          </a:p>
        </p:txBody>
      </p:sp>
      <p:sp>
        <p:nvSpPr>
          <p:cNvPr id="3" name="Content Placeholder 2">
            <a:extLst>
              <a:ext uri="{FF2B5EF4-FFF2-40B4-BE49-F238E27FC236}">
                <a16:creationId xmlns:a16="http://schemas.microsoft.com/office/drawing/2014/main" id="{DB6BA748-0566-4AEE-8E62-D116A8472DAD}"/>
              </a:ext>
            </a:extLst>
          </p:cNvPr>
          <p:cNvSpPr>
            <a:spLocks noGrp="1"/>
          </p:cNvSpPr>
          <p:nvPr>
            <p:ph idx="1"/>
          </p:nvPr>
        </p:nvSpPr>
        <p:spPr/>
        <p:txBody>
          <a:bodyPr>
            <a:normAutofit fontScale="92500" lnSpcReduction="20000"/>
          </a:bodyPr>
          <a:lstStyle/>
          <a:p>
            <a:r>
              <a:rPr lang="en-US" dirty="0"/>
              <a:t>For any physical matter (like a machine) to master learning, the machine must be configured to get better and better at reaching the desired goal of learning – simply by obeying the laws of physics.</a:t>
            </a:r>
          </a:p>
          <a:p>
            <a:r>
              <a:rPr lang="en-US" dirty="0"/>
              <a:t>The human brain’s network of interconnected neurons learns in an analogous way: if the brain is repeatedly subjected into certain states (or experiences), it will gradually learn those states and return to them from any nearby state.</a:t>
            </a:r>
          </a:p>
          <a:p>
            <a:pPr marL="685800" lvl="1" indent="0">
              <a:buNone/>
            </a:pPr>
            <a:r>
              <a:rPr lang="en-US" dirty="0">
                <a:solidFill>
                  <a:srgbClr val="C00000"/>
                </a:solidFill>
              </a:rPr>
              <a:t>For example, if you’ve seen each of your family members many times, then memories of what they look like can be triggered by anything related to them (such as a phone call or a written message from them).</a:t>
            </a:r>
          </a:p>
          <a:p>
            <a:r>
              <a:rPr lang="en-US" dirty="0"/>
              <a:t>A similar learning function could be inferred by machines, by deploying a system widely known as Artificial Neural Networks (ANNs).</a:t>
            </a:r>
          </a:p>
        </p:txBody>
      </p:sp>
    </p:spTree>
    <p:custDataLst>
      <p:tags r:id="rId1"/>
    </p:custDataLst>
    <p:extLst>
      <p:ext uri="{BB962C8B-B14F-4D97-AF65-F5344CB8AC3E}">
        <p14:creationId xmlns:p14="http://schemas.microsoft.com/office/powerpoint/2010/main" val="12550468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53548-B0F6-4F70-9EA7-738F2E756459}"/>
              </a:ext>
            </a:extLst>
          </p:cNvPr>
          <p:cNvSpPr>
            <a:spLocks noGrp="1"/>
          </p:cNvSpPr>
          <p:nvPr>
            <p:ph type="title"/>
          </p:nvPr>
        </p:nvSpPr>
        <p:spPr/>
        <p:txBody>
          <a:bodyPr>
            <a:normAutofit fontScale="90000"/>
          </a:bodyPr>
          <a:lstStyle/>
          <a:p>
            <a:r>
              <a:rPr lang="en-US" sz="5400" dirty="0">
                <a:solidFill>
                  <a:srgbClr val="C00000"/>
                </a:solidFill>
              </a:rPr>
              <a:t>GPUs as principal contributor to the widespread use of Artificial Neural Networks (ANNs)</a:t>
            </a:r>
          </a:p>
        </p:txBody>
      </p:sp>
      <p:sp>
        <p:nvSpPr>
          <p:cNvPr id="3" name="Content Placeholder 2">
            <a:extLst>
              <a:ext uri="{FF2B5EF4-FFF2-40B4-BE49-F238E27FC236}">
                <a16:creationId xmlns:a16="http://schemas.microsoft.com/office/drawing/2014/main" id="{F4B59818-8788-4A4E-97A4-BB56304923AC}"/>
              </a:ext>
            </a:extLst>
          </p:cNvPr>
          <p:cNvSpPr>
            <a:spLocks noGrp="1"/>
          </p:cNvSpPr>
          <p:nvPr>
            <p:ph idx="1"/>
          </p:nvPr>
        </p:nvSpPr>
        <p:spPr/>
        <p:txBody>
          <a:bodyPr>
            <a:normAutofit fontScale="70000" lnSpcReduction="20000"/>
          </a:bodyPr>
          <a:lstStyle/>
          <a:p>
            <a:r>
              <a:rPr lang="en-US" dirty="0"/>
              <a:t>In some ways, the most important advance came not from some technical breakthrough in neural networks – that evolved in the 1980s – but from a special piece of hardware known as a </a:t>
            </a:r>
            <a:r>
              <a:rPr lang="en-US" b="1" dirty="0">
                <a:solidFill>
                  <a:srgbClr val="C00000"/>
                </a:solidFill>
              </a:rPr>
              <a:t>GPU</a:t>
            </a:r>
            <a:r>
              <a:rPr lang="en-US" dirty="0"/>
              <a:t> (Graphics Processing Unit).</a:t>
            </a:r>
          </a:p>
          <a:p>
            <a:r>
              <a:rPr lang="en-US" dirty="0"/>
              <a:t>GPUs had originally been developed for video games since the 1970s, and applied to neural network applications since the early 2000s.</a:t>
            </a:r>
          </a:p>
          <a:p>
            <a:r>
              <a:rPr lang="en-US" dirty="0"/>
              <a:t>Key to this newfound success was the fact that GPUs allowed researchers to “train” neural networks that were much deeper (having more layers) than was previously feasible</a:t>
            </a:r>
          </a:p>
          <a:p>
            <a:r>
              <a:rPr lang="en-US" dirty="0"/>
              <a:t>Leveraging GPUs meant that more layers could be trained faster, with much better results.</a:t>
            </a:r>
          </a:p>
          <a:p>
            <a:r>
              <a:rPr lang="en-US" dirty="0"/>
              <a:t>By 2012 GPUs had become extremely powerful, and were generally more efficient than </a:t>
            </a:r>
            <a:r>
              <a:rPr lang="en-US" b="1" dirty="0">
                <a:solidFill>
                  <a:srgbClr val="C00000"/>
                </a:solidFill>
              </a:rPr>
              <a:t>CPUs</a:t>
            </a:r>
            <a:r>
              <a:rPr lang="en-US" b="1" dirty="0"/>
              <a:t> </a:t>
            </a:r>
            <a:r>
              <a:rPr lang="en-US" dirty="0"/>
              <a:t>in computers. At this time, </a:t>
            </a:r>
            <a:r>
              <a:rPr lang="en-US" b="1" dirty="0">
                <a:solidFill>
                  <a:srgbClr val="C00000"/>
                </a:solidFill>
              </a:rPr>
              <a:t>GPUs</a:t>
            </a:r>
            <a:r>
              <a:rPr lang="en-US" dirty="0"/>
              <a:t>, and other chips that also function in parallel processing mode (such as Intelligence Processing Units or </a:t>
            </a:r>
            <a:r>
              <a:rPr lang="en-US" b="1" dirty="0">
                <a:solidFill>
                  <a:srgbClr val="C00000"/>
                </a:solidFill>
              </a:rPr>
              <a:t>IPUs</a:t>
            </a:r>
            <a:r>
              <a:rPr lang="en-US" dirty="0">
                <a:solidFill>
                  <a:srgbClr val="C00000"/>
                </a:solidFill>
              </a:rPr>
              <a:t> </a:t>
            </a:r>
            <a:r>
              <a:rPr lang="en-US" dirty="0"/>
              <a:t>pioneered by GRAPHCORE) and Neural Processing Units (</a:t>
            </a:r>
            <a:r>
              <a:rPr lang="en-US" b="1" dirty="0">
                <a:solidFill>
                  <a:srgbClr val="C00000"/>
                </a:solidFill>
              </a:rPr>
              <a:t>NPUs</a:t>
            </a:r>
            <a:r>
              <a:rPr lang="en-US" dirty="0"/>
              <a:t>) are used extensively in AI applications.</a:t>
            </a:r>
          </a:p>
        </p:txBody>
      </p:sp>
    </p:spTree>
    <p:custDataLst>
      <p:tags r:id="rId1"/>
    </p:custDataLst>
    <p:extLst>
      <p:ext uri="{BB962C8B-B14F-4D97-AF65-F5344CB8AC3E}">
        <p14:creationId xmlns:p14="http://schemas.microsoft.com/office/powerpoint/2010/main" val="1855088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69E553-BF07-48A3-A7B8-B0A0C7FC07B6}"/>
              </a:ext>
            </a:extLst>
          </p:cNvPr>
          <p:cNvSpPr>
            <a:spLocks noGrp="1"/>
          </p:cNvSpPr>
          <p:nvPr>
            <p:ph type="title"/>
          </p:nvPr>
        </p:nvSpPr>
        <p:spPr>
          <a:xfrm>
            <a:off x="2562725" y="533401"/>
            <a:ext cx="12602481" cy="1469624"/>
          </a:xfrm>
        </p:spPr>
        <p:txBody>
          <a:bodyPr>
            <a:normAutofit/>
          </a:bodyPr>
          <a:lstStyle/>
          <a:p>
            <a:r>
              <a:rPr lang="en-US" sz="4200" dirty="0">
                <a:solidFill>
                  <a:srgbClr val="C00000"/>
                </a:solidFill>
              </a:rPr>
              <a:t>Layered Elements of Artificial Neural Networks (ANNs)</a:t>
            </a:r>
          </a:p>
        </p:txBody>
      </p:sp>
      <p:sp>
        <p:nvSpPr>
          <p:cNvPr id="3" name="Content Placeholder 2">
            <a:extLst>
              <a:ext uri="{FF2B5EF4-FFF2-40B4-BE49-F238E27FC236}">
                <a16:creationId xmlns:a16="http://schemas.microsoft.com/office/drawing/2014/main" id="{940B6303-AAD4-44B2-927B-19CC93EFF3FF}"/>
              </a:ext>
            </a:extLst>
          </p:cNvPr>
          <p:cNvSpPr>
            <a:spLocks noGrp="1"/>
          </p:cNvSpPr>
          <p:nvPr>
            <p:ph idx="1"/>
          </p:nvPr>
        </p:nvSpPr>
        <p:spPr>
          <a:xfrm>
            <a:off x="1196714" y="2416681"/>
            <a:ext cx="10954518" cy="7336918"/>
          </a:xfrm>
        </p:spPr>
        <p:txBody>
          <a:bodyPr anchor="ctr">
            <a:normAutofit fontScale="70000" lnSpcReduction="20000"/>
          </a:bodyPr>
          <a:lstStyle/>
          <a:p>
            <a:r>
              <a:rPr lang="en-US" sz="4600" dirty="0">
                <a:solidFill>
                  <a:srgbClr val="000000"/>
                </a:solidFill>
              </a:rPr>
              <a:t>Going from left to right in the diagram, there is first an input layer that is presented with a stimulus e.g., the pixels in a digital image; then subsequent layers analyze the image, looking for variations in contrast, edges, and so forth, ultimately culminating in an output layer that identifies what category the input image belongs to.</a:t>
            </a:r>
          </a:p>
          <a:p>
            <a:r>
              <a:rPr lang="en-US" sz="4600" dirty="0">
                <a:solidFill>
                  <a:srgbClr val="000000"/>
                </a:solidFill>
              </a:rPr>
              <a:t>Systems like these are called </a:t>
            </a:r>
            <a:r>
              <a:rPr lang="en-US" sz="4600" b="1" dirty="0">
                <a:solidFill>
                  <a:srgbClr val="000000"/>
                </a:solidFill>
              </a:rPr>
              <a:t>neural networks</a:t>
            </a:r>
            <a:r>
              <a:rPr lang="en-US" sz="4600" dirty="0">
                <a:solidFill>
                  <a:srgbClr val="000000"/>
                </a:solidFill>
              </a:rPr>
              <a:t>, because each layer consists of elements called </a:t>
            </a:r>
            <a:r>
              <a:rPr lang="en-US" sz="4600" b="1" dirty="0">
                <a:solidFill>
                  <a:srgbClr val="000000"/>
                </a:solidFill>
              </a:rPr>
              <a:t>nodes</a:t>
            </a:r>
            <a:r>
              <a:rPr lang="en-US" sz="4600" dirty="0">
                <a:solidFill>
                  <a:srgbClr val="000000"/>
                </a:solidFill>
              </a:rPr>
              <a:t> that can be likened to simplified neurons.</a:t>
            </a:r>
          </a:p>
          <a:p>
            <a:r>
              <a:rPr lang="en-US" sz="4600" dirty="0">
                <a:solidFill>
                  <a:srgbClr val="000000"/>
                </a:solidFill>
              </a:rPr>
              <a:t>There are connections between those nodes, also called </a:t>
            </a:r>
            <a:r>
              <a:rPr lang="en-US" sz="4600" b="1" dirty="0">
                <a:solidFill>
                  <a:srgbClr val="000000"/>
                </a:solidFill>
              </a:rPr>
              <a:t>connection weights</a:t>
            </a:r>
            <a:r>
              <a:rPr lang="en-US" sz="4600" dirty="0">
                <a:solidFill>
                  <a:srgbClr val="000000"/>
                </a:solidFill>
              </a:rPr>
              <a:t>, or just weights. The larger the weight on the connection from node A to node B, the greater the influence of A on B.</a:t>
            </a:r>
          </a:p>
          <a:p>
            <a:endParaRPr lang="en-US" sz="3000" dirty="0">
              <a:solidFill>
                <a:srgbClr val="000000"/>
              </a:solidFill>
            </a:endParaRPr>
          </a:p>
        </p:txBody>
      </p:sp>
      <p:pic>
        <p:nvPicPr>
          <p:cNvPr id="7" name="Picture 6" descr="A picture containing text, drawing&#10;&#10;Description automatically generated">
            <a:extLst>
              <a:ext uri="{FF2B5EF4-FFF2-40B4-BE49-F238E27FC236}">
                <a16:creationId xmlns:a16="http://schemas.microsoft.com/office/drawing/2014/main" id="{0BD3FF92-3B19-49E8-BA35-082418B7847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51232" y="3064539"/>
            <a:ext cx="5492747" cy="4188219"/>
          </a:xfrm>
          <a:prstGeom prst="rect">
            <a:avLst/>
          </a:prstGeom>
        </p:spPr>
      </p:pic>
    </p:spTree>
    <p:custDataLst>
      <p:tags r:id="rId1"/>
    </p:custDataLst>
    <p:extLst>
      <p:ext uri="{BB962C8B-B14F-4D97-AF65-F5344CB8AC3E}">
        <p14:creationId xmlns:p14="http://schemas.microsoft.com/office/powerpoint/2010/main" val="1594412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A87E6-F541-4EB0-9029-B80CC2B29AE8}"/>
              </a:ext>
            </a:extLst>
          </p:cNvPr>
          <p:cNvSpPr>
            <a:spLocks noGrp="1"/>
          </p:cNvSpPr>
          <p:nvPr>
            <p:ph type="title"/>
          </p:nvPr>
        </p:nvSpPr>
        <p:spPr>
          <a:xfrm>
            <a:off x="402772" y="1491343"/>
            <a:ext cx="6281057" cy="1153886"/>
          </a:xfrm>
        </p:spPr>
        <p:txBody>
          <a:bodyPr>
            <a:noAutofit/>
          </a:bodyPr>
          <a:lstStyle/>
          <a:p>
            <a:r>
              <a:rPr lang="en-US" sz="3600" dirty="0">
                <a:solidFill>
                  <a:srgbClr val="C00000"/>
                </a:solidFill>
              </a:rPr>
              <a:t>How do Artificial Neural Networks (ANNs) Work?</a:t>
            </a:r>
          </a:p>
        </p:txBody>
      </p:sp>
      <p:sp>
        <p:nvSpPr>
          <p:cNvPr id="3" name="Content Placeholder 2">
            <a:extLst>
              <a:ext uri="{FF2B5EF4-FFF2-40B4-BE49-F238E27FC236}">
                <a16:creationId xmlns:a16="http://schemas.microsoft.com/office/drawing/2014/main" id="{14EE2712-E49C-4C63-AA09-78DC617FD5B9}"/>
              </a:ext>
            </a:extLst>
          </p:cNvPr>
          <p:cNvSpPr>
            <a:spLocks noGrp="1"/>
          </p:cNvSpPr>
          <p:nvPr>
            <p:ph idx="1"/>
          </p:nvPr>
        </p:nvSpPr>
        <p:spPr>
          <a:xfrm>
            <a:off x="996043" y="4768813"/>
            <a:ext cx="15773400" cy="4701759"/>
          </a:xfrm>
        </p:spPr>
        <p:txBody>
          <a:bodyPr>
            <a:noAutofit/>
          </a:bodyPr>
          <a:lstStyle/>
          <a:p>
            <a:pPr>
              <a:spcBef>
                <a:spcPts val="0"/>
              </a:spcBef>
            </a:pPr>
            <a:r>
              <a:rPr lang="en-US" sz="3200" dirty="0"/>
              <a:t>Artificial Neural networks (ANNs) dominate the ML domain.</a:t>
            </a:r>
          </a:p>
          <a:p>
            <a:pPr>
              <a:spcBef>
                <a:spcPts val="0"/>
              </a:spcBef>
            </a:pPr>
            <a:r>
              <a:rPr lang="en-US" sz="3200" dirty="0"/>
              <a:t>The ANNs have been trained to input numbers representing the brightness of different image pixels and output numbers representing the probability that the image depicts various people.</a:t>
            </a:r>
          </a:p>
          <a:p>
            <a:pPr>
              <a:spcBef>
                <a:spcPts val="0"/>
              </a:spcBef>
            </a:pPr>
            <a:r>
              <a:rPr lang="en-US" sz="3200" dirty="0"/>
              <a:t>Each artificial neuron (circle) computes a weighted sum of the numbers sent to it via connections (lines) from above, applies a simple function and passes the result downward, each subsequent layer computing higher-level features.</a:t>
            </a:r>
          </a:p>
          <a:p>
            <a:pPr>
              <a:spcBef>
                <a:spcPts val="0"/>
              </a:spcBef>
            </a:pPr>
            <a:r>
              <a:rPr lang="en-US" sz="3200" dirty="0"/>
              <a:t>Typical face-recognition networks contain hundreds of thousands of neurons. The figure above shows a small number for clarity. </a:t>
            </a:r>
          </a:p>
        </p:txBody>
      </p:sp>
      <p:pic>
        <p:nvPicPr>
          <p:cNvPr id="5" name="Picture 4" descr="A picture containing knife&#10;&#10;Description automatically generated">
            <a:extLst>
              <a:ext uri="{FF2B5EF4-FFF2-40B4-BE49-F238E27FC236}">
                <a16:creationId xmlns:a16="http://schemas.microsoft.com/office/drawing/2014/main" id="{548847C2-6E35-442E-9B99-753E54E6F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32171" y="446315"/>
            <a:ext cx="9655629" cy="4006812"/>
          </a:xfrm>
          <a:prstGeom prst="rect">
            <a:avLst/>
          </a:prstGeom>
        </p:spPr>
      </p:pic>
    </p:spTree>
    <p:custDataLst>
      <p:tags r:id="rId1"/>
    </p:custDataLst>
    <p:extLst>
      <p:ext uri="{BB962C8B-B14F-4D97-AF65-F5344CB8AC3E}">
        <p14:creationId xmlns:p14="http://schemas.microsoft.com/office/powerpoint/2010/main" val="32405256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63609-5AF4-4A17-AC68-66AD01CAB75B}"/>
              </a:ext>
            </a:extLst>
          </p:cNvPr>
          <p:cNvSpPr>
            <a:spLocks noGrp="1"/>
          </p:cNvSpPr>
          <p:nvPr>
            <p:ph type="title"/>
          </p:nvPr>
        </p:nvSpPr>
        <p:spPr>
          <a:xfrm>
            <a:off x="1098550" y="707571"/>
            <a:ext cx="16084552" cy="1005228"/>
          </a:xfrm>
        </p:spPr>
        <p:txBody>
          <a:bodyPr/>
          <a:lstStyle/>
          <a:p>
            <a:r>
              <a:rPr lang="en-US" b="1" dirty="0">
                <a:solidFill>
                  <a:srgbClr val="C00000"/>
                </a:solidFill>
              </a:rPr>
              <a:t>Types of NNs (a quick tour)</a:t>
            </a:r>
          </a:p>
        </p:txBody>
      </p:sp>
      <p:sp>
        <p:nvSpPr>
          <p:cNvPr id="3" name="Content Placeholder 2">
            <a:extLst>
              <a:ext uri="{FF2B5EF4-FFF2-40B4-BE49-F238E27FC236}">
                <a16:creationId xmlns:a16="http://schemas.microsoft.com/office/drawing/2014/main" id="{E7A9261F-DDFE-484C-AF4A-76564925C275}"/>
              </a:ext>
            </a:extLst>
          </p:cNvPr>
          <p:cNvSpPr>
            <a:spLocks noGrp="1"/>
          </p:cNvSpPr>
          <p:nvPr>
            <p:ph idx="1"/>
          </p:nvPr>
        </p:nvSpPr>
        <p:spPr/>
        <p:txBody>
          <a:bodyPr>
            <a:normAutofit fontScale="62500" lnSpcReduction="20000"/>
          </a:bodyPr>
          <a:lstStyle/>
          <a:p>
            <a:pPr marL="0" indent="0">
              <a:lnSpc>
                <a:spcPct val="120000"/>
              </a:lnSpc>
              <a:spcBef>
                <a:spcPts val="0"/>
              </a:spcBef>
            </a:pPr>
            <a:r>
              <a:rPr lang="en-US" sz="5000" dirty="0"/>
              <a:t>Using </a:t>
            </a:r>
            <a:r>
              <a:rPr lang="en-US" sz="5000" dirty="0">
                <a:solidFill>
                  <a:srgbClr val="C00000"/>
                </a:solidFill>
              </a:rPr>
              <a:t>Artificial Neural Networks (ANNs) </a:t>
            </a:r>
            <a:r>
              <a:rPr lang="en-US" sz="5000" dirty="0"/>
              <a:t>and other methods, researchers have produced beautiful music or paintings in the style of well-known (but deceased) artists. </a:t>
            </a:r>
          </a:p>
          <a:p>
            <a:pPr marL="0" indent="0">
              <a:lnSpc>
                <a:spcPct val="120000"/>
              </a:lnSpc>
              <a:spcBef>
                <a:spcPts val="0"/>
              </a:spcBef>
            </a:pPr>
            <a:r>
              <a:rPr lang="en-US" sz="5000" dirty="0">
                <a:solidFill>
                  <a:srgbClr val="C00000"/>
                </a:solidFill>
              </a:rPr>
              <a:t>Feedforward Neural Networks (FNNs) </a:t>
            </a:r>
            <a:r>
              <a:rPr lang="en-US" sz="5000" dirty="0"/>
              <a:t>are the simplest where information moves only in the forward direction from the input layer through the hidden layers (between input and output) to the output layer. There are no loops in this network.</a:t>
            </a:r>
          </a:p>
          <a:p>
            <a:pPr marL="0" indent="0">
              <a:lnSpc>
                <a:spcPct val="120000"/>
              </a:lnSpc>
              <a:spcBef>
                <a:spcPts val="0"/>
              </a:spcBef>
            </a:pPr>
            <a:r>
              <a:rPr lang="en-US" sz="5000" dirty="0">
                <a:solidFill>
                  <a:srgbClr val="C00000"/>
                </a:solidFill>
              </a:rPr>
              <a:t>Recurrent Neural Networks (RNNs) </a:t>
            </a:r>
            <a:r>
              <a:rPr lang="en-US" sz="5000" dirty="0"/>
              <a:t>are characterized by connections between neurons that include loops. A good example is Long Short Term Memory networks (LSTMs) with feedback connectors that are used in language processing tasks.</a:t>
            </a:r>
          </a:p>
          <a:p>
            <a:pPr marL="0" indent="0">
              <a:lnSpc>
                <a:spcPct val="120000"/>
              </a:lnSpc>
              <a:spcBef>
                <a:spcPts val="0"/>
              </a:spcBef>
            </a:pPr>
            <a:r>
              <a:rPr lang="en-US" sz="5000" dirty="0">
                <a:solidFill>
                  <a:srgbClr val="C00000"/>
                </a:solidFill>
              </a:rPr>
              <a:t>Convolutional neural networks (CNNs) </a:t>
            </a:r>
            <a:r>
              <a:rPr lang="en-US" sz="5000" dirty="0"/>
              <a:t>were invented as a superior neural network model for handling input data consisting of images.</a:t>
            </a:r>
          </a:p>
          <a:p>
            <a:pPr marL="0" indent="0">
              <a:lnSpc>
                <a:spcPct val="120000"/>
              </a:lnSpc>
              <a:spcBef>
                <a:spcPts val="0"/>
              </a:spcBef>
            </a:pPr>
            <a:r>
              <a:rPr lang="en-US" sz="5000" dirty="0">
                <a:solidFill>
                  <a:srgbClr val="C00000"/>
                </a:solidFill>
              </a:rPr>
              <a:t>Generative Adversarial Networks (GANs) </a:t>
            </a:r>
            <a:r>
              <a:rPr lang="en-US" sz="5000" dirty="0"/>
              <a:t>may employ competing ANNs to produce photorealistic images of faces. GANs use two neural networks that compete against each other: one network is trained to detect fakes, and the other is trying to fool the first one. </a:t>
            </a:r>
          </a:p>
          <a:p>
            <a:endParaRPr lang="en-US" sz="3600" dirty="0"/>
          </a:p>
        </p:txBody>
      </p:sp>
    </p:spTree>
    <p:custDataLst>
      <p:tags r:id="rId1"/>
    </p:custDataLst>
    <p:extLst>
      <p:ext uri="{BB962C8B-B14F-4D97-AF65-F5344CB8AC3E}">
        <p14:creationId xmlns:p14="http://schemas.microsoft.com/office/powerpoint/2010/main" val="1759370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CFA19-D709-42DE-BCB6-1CC0C0C614B4}"/>
              </a:ext>
            </a:extLst>
          </p:cNvPr>
          <p:cNvSpPr>
            <a:spLocks noGrp="1"/>
          </p:cNvSpPr>
          <p:nvPr>
            <p:ph type="title"/>
          </p:nvPr>
        </p:nvSpPr>
        <p:spPr/>
        <p:txBody>
          <a:bodyPr/>
          <a:lstStyle/>
          <a:p>
            <a:r>
              <a:rPr lang="en-US" b="1" dirty="0">
                <a:solidFill>
                  <a:srgbClr val="C00000"/>
                </a:solidFill>
              </a:rPr>
              <a:t>Convolutional Neural Networks (</a:t>
            </a:r>
            <a:r>
              <a:rPr lang="en-US" b="1" dirty="0" err="1">
                <a:solidFill>
                  <a:srgbClr val="C00000"/>
                </a:solidFill>
              </a:rPr>
              <a:t>ConvNets</a:t>
            </a:r>
            <a:r>
              <a:rPr lang="en-US" b="1" dirty="0">
                <a:solidFill>
                  <a:srgbClr val="C00000"/>
                </a:solidFill>
              </a:rPr>
              <a:t>)</a:t>
            </a:r>
          </a:p>
        </p:txBody>
      </p:sp>
      <p:sp>
        <p:nvSpPr>
          <p:cNvPr id="3" name="Content Placeholder 2">
            <a:extLst>
              <a:ext uri="{FF2B5EF4-FFF2-40B4-BE49-F238E27FC236}">
                <a16:creationId xmlns:a16="http://schemas.microsoft.com/office/drawing/2014/main" id="{C87DE2C6-43FE-4E4A-BAD3-CCB8EDE11B2E}"/>
              </a:ext>
            </a:extLst>
          </p:cNvPr>
          <p:cNvSpPr>
            <a:spLocks noGrp="1"/>
          </p:cNvSpPr>
          <p:nvPr>
            <p:ph idx="1"/>
          </p:nvPr>
        </p:nvSpPr>
        <p:spPr/>
        <p:txBody>
          <a:bodyPr>
            <a:normAutofit lnSpcReduction="10000"/>
          </a:bodyPr>
          <a:lstStyle/>
          <a:p>
            <a:r>
              <a:rPr lang="en-US" b="1" dirty="0" err="1"/>
              <a:t>ConvNets</a:t>
            </a:r>
            <a:r>
              <a:rPr lang="en-US" dirty="0"/>
              <a:t> are the driving force behind today’s deep-learning revolution in computer vision and other applications.</a:t>
            </a:r>
          </a:p>
          <a:p>
            <a:r>
              <a:rPr lang="en-US" dirty="0"/>
              <a:t>Like </a:t>
            </a:r>
            <a:r>
              <a:rPr lang="en-US" b="1" dirty="0" err="1"/>
              <a:t>neocognition</a:t>
            </a:r>
            <a:r>
              <a:rPr lang="en-US" dirty="0"/>
              <a:t>, the design of </a:t>
            </a:r>
            <a:r>
              <a:rPr lang="en-US" dirty="0" err="1"/>
              <a:t>ConvNets</a:t>
            </a:r>
            <a:r>
              <a:rPr lang="en-US" dirty="0"/>
              <a:t> draws on key insights about the human brain’s visual systems.</a:t>
            </a:r>
          </a:p>
          <a:p>
            <a:r>
              <a:rPr lang="en-US" dirty="0"/>
              <a:t>A </a:t>
            </a:r>
            <a:r>
              <a:rPr lang="en-US" dirty="0" err="1"/>
              <a:t>ConvNet</a:t>
            </a:r>
            <a:r>
              <a:rPr lang="en-US" dirty="0"/>
              <a:t> consists of a sequence of layers of simulated neurons called units. Units in each layer provide input to units in the next layer. Analogous to how neural networks function, when a </a:t>
            </a:r>
            <a:r>
              <a:rPr lang="en-US" dirty="0" err="1"/>
              <a:t>ConvNet</a:t>
            </a:r>
            <a:r>
              <a:rPr lang="en-US" dirty="0"/>
              <a:t> processes an image, each unit takes on a particular activation value – a real number that is computed from the unit’s inputs and their weights. E.g. Google’s “Search by images” operates this way.</a:t>
            </a:r>
          </a:p>
        </p:txBody>
      </p:sp>
    </p:spTree>
    <p:custDataLst>
      <p:tags r:id="rId1"/>
    </p:custDataLst>
    <p:extLst>
      <p:ext uri="{BB962C8B-B14F-4D97-AF65-F5344CB8AC3E}">
        <p14:creationId xmlns:p14="http://schemas.microsoft.com/office/powerpoint/2010/main" val="11843990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2BB84-8DD3-400B-A80C-7ADFB1EE65AA}"/>
              </a:ext>
            </a:extLst>
          </p:cNvPr>
          <p:cNvSpPr>
            <a:spLocks noGrp="1"/>
          </p:cNvSpPr>
          <p:nvPr>
            <p:ph type="title"/>
          </p:nvPr>
        </p:nvSpPr>
        <p:spPr>
          <a:xfrm>
            <a:off x="1101724" y="170431"/>
            <a:ext cx="16084552" cy="972570"/>
          </a:xfrm>
        </p:spPr>
        <p:txBody>
          <a:bodyPr/>
          <a:lstStyle/>
          <a:p>
            <a:r>
              <a:rPr lang="en-US" b="1" dirty="0">
                <a:solidFill>
                  <a:srgbClr val="C00000"/>
                </a:solidFill>
              </a:rPr>
              <a:t>Applications of </a:t>
            </a:r>
            <a:r>
              <a:rPr lang="en-US" b="1" dirty="0" err="1">
                <a:solidFill>
                  <a:srgbClr val="C00000"/>
                </a:solidFill>
              </a:rPr>
              <a:t>ConvNet</a:t>
            </a:r>
            <a:r>
              <a:rPr lang="en-US" b="1" dirty="0">
                <a:solidFill>
                  <a:srgbClr val="C00000"/>
                </a:solidFill>
              </a:rPr>
              <a:t> to computer vision</a:t>
            </a:r>
          </a:p>
        </p:txBody>
      </p:sp>
      <p:sp>
        <p:nvSpPr>
          <p:cNvPr id="3" name="Content Placeholder 2">
            <a:extLst>
              <a:ext uri="{FF2B5EF4-FFF2-40B4-BE49-F238E27FC236}">
                <a16:creationId xmlns:a16="http://schemas.microsoft.com/office/drawing/2014/main" id="{D0E2B425-288C-4850-B4E7-6ABBC94629C2}"/>
              </a:ext>
            </a:extLst>
          </p:cNvPr>
          <p:cNvSpPr>
            <a:spLocks noGrp="1"/>
          </p:cNvSpPr>
          <p:nvPr>
            <p:ph idx="1"/>
          </p:nvPr>
        </p:nvSpPr>
        <p:spPr>
          <a:xfrm>
            <a:off x="1257300" y="1143001"/>
            <a:ext cx="15773400" cy="8036168"/>
          </a:xfrm>
        </p:spPr>
        <p:txBody>
          <a:bodyPr>
            <a:noAutofit/>
          </a:bodyPr>
          <a:lstStyle/>
          <a:p>
            <a:pPr>
              <a:spcBef>
                <a:spcPts val="0"/>
              </a:spcBef>
            </a:pPr>
            <a:r>
              <a:rPr lang="en-US" sz="3200" b="1" dirty="0"/>
              <a:t>ImageNet</a:t>
            </a:r>
            <a:r>
              <a:rPr lang="en-US" sz="3200" dirty="0"/>
              <a:t> and other data sources provide </a:t>
            </a:r>
            <a:r>
              <a:rPr lang="en-US" sz="3200" b="1" dirty="0" err="1"/>
              <a:t>ConvNet</a:t>
            </a:r>
            <a:r>
              <a:rPr lang="en-US" sz="3200" dirty="0"/>
              <a:t> vast amounts of training examples needed to improve AI applications, allowing firms to apply computer vision in new ways: </a:t>
            </a:r>
          </a:p>
          <a:p>
            <a:pPr marL="771525" indent="-771525">
              <a:spcBef>
                <a:spcPts val="0"/>
              </a:spcBef>
              <a:buFont typeface="+mj-lt"/>
              <a:buAutoNum type="arabicPeriod"/>
            </a:pPr>
            <a:r>
              <a:rPr lang="en-US" sz="3200" dirty="0"/>
              <a:t>Google offered a photo-storage system that tags photos by describing the objects in it; similarly, </a:t>
            </a:r>
            <a:r>
              <a:rPr lang="en-US" sz="3200" b="1" dirty="0"/>
              <a:t>Google’s Street View </a:t>
            </a:r>
            <a:r>
              <a:rPr lang="en-US" sz="3200" dirty="0"/>
              <a:t>service recognizes and blurs out street addresses and license plates in its images.</a:t>
            </a:r>
          </a:p>
          <a:p>
            <a:pPr marL="771525" indent="-771525">
              <a:spcBef>
                <a:spcPts val="0"/>
              </a:spcBef>
              <a:buFont typeface="+mj-lt"/>
              <a:buAutoNum type="arabicPeriod"/>
            </a:pPr>
            <a:r>
              <a:rPr lang="en-US" sz="3200" b="1" dirty="0"/>
              <a:t>Facebook</a:t>
            </a:r>
            <a:r>
              <a:rPr lang="en-US" sz="3200" dirty="0"/>
              <a:t> labels all uploaded photos with names of users’ friends; it has also patented a system to classify emotions behind facial expressions in uploaded photos.</a:t>
            </a:r>
          </a:p>
          <a:p>
            <a:pPr marL="771525" indent="-771525">
              <a:spcBef>
                <a:spcPts val="0"/>
              </a:spcBef>
              <a:buFont typeface="+mj-lt"/>
              <a:buAutoNum type="arabicPeriod"/>
            </a:pPr>
            <a:r>
              <a:rPr lang="en-US" sz="3200" b="1" dirty="0"/>
              <a:t>Twitter (X) </a:t>
            </a:r>
            <a:r>
              <a:rPr lang="en-US" sz="3200" dirty="0"/>
              <a:t>developed a filter that screens tweets for pornographic images; and several photo- and video-sharing sites apply tools that detect imagery associated with terrorist groups.</a:t>
            </a:r>
          </a:p>
          <a:p>
            <a:pPr marL="771525" indent="-771525">
              <a:spcBef>
                <a:spcPts val="0"/>
              </a:spcBef>
              <a:buFont typeface="+mj-lt"/>
              <a:buAutoNum type="arabicPeriod"/>
            </a:pPr>
            <a:r>
              <a:rPr lang="en-US" sz="3200" b="1" dirty="0" err="1"/>
              <a:t>ConvNets</a:t>
            </a:r>
            <a:r>
              <a:rPr lang="en-US" sz="3200" dirty="0"/>
              <a:t> can be applied to video and used in self-driving cars to track pedestrians, to read lips or to classify body language.</a:t>
            </a:r>
          </a:p>
          <a:p>
            <a:pPr marL="771525" indent="-771525">
              <a:spcBef>
                <a:spcPts val="0"/>
              </a:spcBef>
              <a:buFont typeface="+mj-lt"/>
              <a:buAutoNum type="arabicPeriod"/>
            </a:pPr>
            <a:r>
              <a:rPr lang="en-US" sz="3200" b="1" dirty="0" err="1"/>
              <a:t>ConvNets</a:t>
            </a:r>
            <a:r>
              <a:rPr lang="en-US" sz="3200" dirty="0"/>
              <a:t> can even diagnose breast and skin cancer from medical images, determine from images the stage of diabetic retinopathy, or prostate cancer.</a:t>
            </a:r>
          </a:p>
        </p:txBody>
      </p:sp>
    </p:spTree>
    <p:custDataLst>
      <p:tags r:id="rId1"/>
    </p:custDataLst>
    <p:extLst>
      <p:ext uri="{BB962C8B-B14F-4D97-AF65-F5344CB8AC3E}">
        <p14:creationId xmlns:p14="http://schemas.microsoft.com/office/powerpoint/2010/main" val="20117292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8E5DB-6A43-445A-B4AF-34834B09290B}"/>
              </a:ext>
            </a:extLst>
          </p:cNvPr>
          <p:cNvSpPr>
            <a:spLocks noGrp="1"/>
          </p:cNvSpPr>
          <p:nvPr>
            <p:ph type="title"/>
          </p:nvPr>
        </p:nvSpPr>
        <p:spPr/>
        <p:txBody>
          <a:bodyPr/>
          <a:lstStyle/>
          <a:p>
            <a:r>
              <a:rPr lang="en-US" b="1" dirty="0">
                <a:solidFill>
                  <a:srgbClr val="C00000"/>
                </a:solidFill>
              </a:rPr>
              <a:t>Caveat on </a:t>
            </a:r>
            <a:r>
              <a:rPr lang="en-US" b="1" dirty="0" err="1">
                <a:solidFill>
                  <a:srgbClr val="C00000"/>
                </a:solidFill>
              </a:rPr>
              <a:t>ConvNets</a:t>
            </a:r>
            <a:endParaRPr lang="en-US" b="1" dirty="0">
              <a:solidFill>
                <a:srgbClr val="C00000"/>
              </a:solidFill>
            </a:endParaRPr>
          </a:p>
        </p:txBody>
      </p:sp>
      <p:sp>
        <p:nvSpPr>
          <p:cNvPr id="3" name="Content Placeholder 2">
            <a:extLst>
              <a:ext uri="{FF2B5EF4-FFF2-40B4-BE49-F238E27FC236}">
                <a16:creationId xmlns:a16="http://schemas.microsoft.com/office/drawing/2014/main" id="{8F1BD91E-CA21-4206-9E00-DB520F054527}"/>
              </a:ext>
            </a:extLst>
          </p:cNvPr>
          <p:cNvSpPr>
            <a:spLocks noGrp="1"/>
          </p:cNvSpPr>
          <p:nvPr>
            <p:ph idx="1"/>
          </p:nvPr>
        </p:nvSpPr>
        <p:spPr>
          <a:xfrm>
            <a:off x="1098550" y="2050698"/>
            <a:ext cx="16084552" cy="7374655"/>
          </a:xfrm>
        </p:spPr>
        <p:txBody>
          <a:bodyPr>
            <a:noAutofit/>
          </a:bodyPr>
          <a:lstStyle/>
          <a:p>
            <a:pPr>
              <a:spcBef>
                <a:spcPts val="0"/>
              </a:spcBef>
            </a:pPr>
            <a:r>
              <a:rPr lang="en-US" sz="3200" dirty="0"/>
              <a:t>Have </a:t>
            </a:r>
            <a:r>
              <a:rPr lang="en-US" sz="3200" dirty="0" err="1"/>
              <a:t>ConvNets</a:t>
            </a:r>
            <a:r>
              <a:rPr lang="en-US" sz="3200" dirty="0"/>
              <a:t> Surpassed Humans at Object Recognition? Machines are now better than humans at object recognition on ImageNet, since humans have an error rate of about 5%; error rate for machines is close to 2%.</a:t>
            </a:r>
          </a:p>
          <a:p>
            <a:pPr>
              <a:spcBef>
                <a:spcPts val="0"/>
              </a:spcBef>
            </a:pPr>
            <a:r>
              <a:rPr lang="en-US" sz="3200" dirty="0">
                <a:solidFill>
                  <a:srgbClr val="0070C0"/>
                </a:solidFill>
              </a:rPr>
              <a:t>Question to ponder: Convnet’s response could be falsely derived even if it is correct:</a:t>
            </a:r>
          </a:p>
          <a:p>
            <a:pPr marL="685800" lvl="1" indent="0">
              <a:spcBef>
                <a:spcPts val="0"/>
              </a:spcBef>
              <a:buNone/>
            </a:pPr>
            <a:r>
              <a:rPr lang="en-US" sz="3200" dirty="0">
                <a:solidFill>
                  <a:srgbClr val="C00000"/>
                </a:solidFill>
              </a:rPr>
              <a:t>When a human correctly says that a photo contains a dog, it is safe to assume that the human actually saw a dog there. But if a </a:t>
            </a:r>
            <a:r>
              <a:rPr lang="en-US" sz="3200" dirty="0" err="1">
                <a:solidFill>
                  <a:srgbClr val="C00000"/>
                </a:solidFill>
              </a:rPr>
              <a:t>ConvNet</a:t>
            </a:r>
            <a:r>
              <a:rPr lang="en-US" sz="3200" dirty="0">
                <a:solidFill>
                  <a:srgbClr val="C00000"/>
                </a:solidFill>
              </a:rPr>
              <a:t> correctly identifies a “dog” in a photo, maybe it is because there is something else there that it recognized (such as a dog leash) that was associated with dogs in the images on which it was trained, so it uses that learned association to falsely infer that there is a dog in the photo.</a:t>
            </a:r>
          </a:p>
          <a:p>
            <a:pPr marL="685800" lvl="1" indent="0">
              <a:spcBef>
                <a:spcPts val="0"/>
              </a:spcBef>
              <a:buNone/>
            </a:pPr>
            <a:r>
              <a:rPr lang="en-US" sz="3200" b="1" dirty="0">
                <a:solidFill>
                  <a:srgbClr val="C00000"/>
                </a:solidFill>
              </a:rPr>
              <a:t>Bottomline: </a:t>
            </a:r>
          </a:p>
          <a:p>
            <a:pPr marL="685800" lvl="1" indent="0">
              <a:spcBef>
                <a:spcPts val="0"/>
              </a:spcBef>
              <a:buNone/>
            </a:pPr>
            <a:r>
              <a:rPr lang="en-US" sz="3200" b="1" dirty="0">
                <a:solidFill>
                  <a:srgbClr val="C00000"/>
                </a:solidFill>
              </a:rPr>
              <a:t>Given the current state of AI evolution, we can never be sure that an AI system is actually as intelligent as it “appears” to be from its performance. So the word “artificial” in AI acquires new meaning here, because what if the AI pretends or appears to understand as humans do, but in fact does not?</a:t>
            </a:r>
          </a:p>
        </p:txBody>
      </p:sp>
    </p:spTree>
    <p:custDataLst>
      <p:tags r:id="rId1"/>
    </p:custDataLst>
    <p:extLst>
      <p:ext uri="{BB962C8B-B14F-4D97-AF65-F5344CB8AC3E}">
        <p14:creationId xmlns:p14="http://schemas.microsoft.com/office/powerpoint/2010/main" val="34566745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2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F55A57D-0C50-904A-83D4-4E1CC0E2D52F}" vid="{6952F4DD-38AA-7342-AB40-4D73DFEF48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e41b080-9453-459c-bb93-b19be7335f42">
      <Terms xmlns="http://schemas.microsoft.com/office/infopath/2007/PartnerControls"/>
    </lcf76f155ced4ddcb4097134ff3c332f>
    <TaxCatchAll xmlns="4e58ebf2-e4df-4cd3-9186-1e42b3ede124" xsi:nil="true"/>
    <Status xmlns="5e41b080-9453-459c-bb93-b19be7335f42" xsi:nil="true"/>
    <Comments xmlns="5e41b080-9453-459c-bb93-b19be7335f42" xsi:nil="true"/>
    <Due_x0020_Date xmlns="5e41b080-9453-459c-bb93-b19be7335f42"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7" ma:contentTypeDescription="Create a new document." ma:contentTypeScope="" ma:versionID="6dd4d27a79178d964495491d99d85ab0">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5371f2543c27c65efb9018a9acd511a8"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dexed="true" ma:internalName="Due_x0020_Date">
      <xsd:simpleType>
        <xsd:restriction base="dms:DateTime"/>
      </xsd:simpleType>
    </xsd:element>
    <xsd:element name="Status" ma:index="9" nillable="true" ma:displayName="Status" ma:format="Dropdown" ma:indexed="true"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6CEFF4B-9EC7-4D38-B437-9DE5B52C77FE}">
  <ds:schemaRefs>
    <ds:schemaRef ds:uri="http://schemas.microsoft.com/sharepoint/v3/contenttype/forms"/>
  </ds:schemaRefs>
</ds:datastoreItem>
</file>

<file path=customXml/itemProps2.xml><?xml version="1.0" encoding="utf-8"?>
<ds:datastoreItem xmlns:ds="http://schemas.openxmlformats.org/officeDocument/2006/customXml" ds:itemID="{3CB4D3F3-2161-4501-B555-558D1DDA1F60}">
  <ds:schemaRefs>
    <ds:schemaRef ds:uri="http://purl.org/dc/dcmitype/"/>
    <ds:schemaRef ds:uri="88c1e295-a029-41eb-a982-8bcc7d01c0cb"/>
    <ds:schemaRef ds:uri="http://purl.org/dc/terms/"/>
    <ds:schemaRef ds:uri="http://schemas.microsoft.com/office/2006/metadata/properties"/>
    <ds:schemaRef ds:uri="57db6fc0-2530-4489-bd2f-42335d65b94d"/>
    <ds:schemaRef ds:uri="http://schemas.microsoft.com/office/2006/documentManagement/types"/>
    <ds:schemaRef ds:uri="http://schemas.openxmlformats.org/package/2006/metadata/core-properties"/>
    <ds:schemaRef ds:uri="http://schemas.microsoft.com/office/infopath/2007/PartnerControls"/>
    <ds:schemaRef ds:uri="http://www.w3.org/XML/1998/namespace"/>
    <ds:schemaRef ds:uri="http://purl.org/dc/elements/1.1/"/>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28F0A47A-9E10-4FE4-8BE8-0C808C85F1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 - MBA_Stuart_ILTECH__PPT</Template>
  <TotalTime>16128</TotalTime>
  <Words>2854</Words>
  <Application>Microsoft Office PowerPoint</Application>
  <PresentationFormat>Custom</PresentationFormat>
  <Paragraphs>107</Paragraphs>
  <Slides>21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ＭＳ Ｐゴシック</vt:lpstr>
      <vt:lpstr>Arial</vt:lpstr>
      <vt:lpstr>Calibri</vt:lpstr>
      <vt:lpstr>Wingdings 2</vt:lpstr>
      <vt:lpstr>Breeze</vt:lpstr>
      <vt:lpstr>MBA532 – AI in Business </vt:lpstr>
      <vt:lpstr>Understanding What Learning Truly Means in AI/ML</vt:lpstr>
      <vt:lpstr>Consider three examples of Machine wins over Expert Humans</vt:lpstr>
      <vt:lpstr>Machine Learning (ML) is quite different from typical/traditional Statistics-based models</vt:lpstr>
      <vt:lpstr>ML models focus on Prediction</vt:lpstr>
      <vt:lpstr>Supervised, Unsupervised, Reinforcement, Deep ML</vt:lpstr>
      <vt:lpstr>Supervised learning – more highlights</vt:lpstr>
      <vt:lpstr>Unsupervised learning – more highlights</vt:lpstr>
      <vt:lpstr>Reinforcement Learning – more highlights</vt:lpstr>
      <vt:lpstr>Deep Reinforcement Learning Agents</vt:lpstr>
      <vt:lpstr>What is the Turing Test?</vt:lpstr>
      <vt:lpstr>Computational Creativity and AI?</vt:lpstr>
      <vt:lpstr>Neocognition</vt:lpstr>
      <vt:lpstr>What does Learning mean for Machines?</vt:lpstr>
      <vt:lpstr>GPUs as principal contributor to the widespread use of Artificial Neural Networks (ANNs)</vt:lpstr>
      <vt:lpstr>Layered Elements of Artificial Neural Networks (ANNs)</vt:lpstr>
      <vt:lpstr>How do Artificial Neural Networks (ANNs) Work?</vt:lpstr>
      <vt:lpstr>Types of NNs (a quick tour)</vt:lpstr>
      <vt:lpstr>Convolutional Neural Networks (ConvNets)</vt:lpstr>
      <vt:lpstr>Applications of ConvNet to computer vision</vt:lpstr>
      <vt:lpstr>Caveat on ConvNets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MBA532 – AI in Business</dc:title>
  <dc:subject/>
  <dc:creator>Siva Balasubramanian</dc:creator>
  <cp:keywords/>
  <dc:description/>
  <cp:lastModifiedBy>Bernadette Otoo</cp:lastModifiedBy>
  <cp:revision>115</cp:revision>
  <dcterms:created xsi:type="dcterms:W3CDTF">2024-03-17T05:07:31Z</dcterms:created>
  <dcterms:modified xsi:type="dcterms:W3CDTF">2024-05-24T14:45:08Z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y fmtid="{D5CDD505-2E9C-101B-9397-08002B2CF9AE}" pid="3" name="MediaServiceImageTags">
    <vt:lpwstr/>
  </property>
  <property fmtid="{D5CDD505-2E9C-101B-9397-08002B2CF9AE}" pid="4" name="ArticulateGUID">
    <vt:lpwstr>7D0CC2B7-AC46-4F58-95A0-B63E45F23D53</vt:lpwstr>
  </property>
  <property fmtid="{D5CDD505-2E9C-101B-9397-08002B2CF9AE}" pid="5" name="ArticulatePath">
    <vt:lpwstr>MBA532 – AI in Business - Module 2</vt:lpwstr>
  </property>
</Properties>
</file>