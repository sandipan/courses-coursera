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7"/>
  </p:notesMasterIdLst>
  <p:sldIdLst>
    <p:sldId id="259" r:id="rId5"/>
    <p:sldId id="360" r:id="rId6"/>
    <p:sldId id="359" r:id="rId7"/>
    <p:sldId id="346" r:id="rId8"/>
    <p:sldId id="347" r:id="rId9"/>
    <p:sldId id="361" r:id="rId10"/>
    <p:sldId id="339" r:id="rId11"/>
    <p:sldId id="340" r:id="rId12"/>
    <p:sldId id="348" r:id="rId13"/>
    <p:sldId id="344" r:id="rId14"/>
    <p:sldId id="343" r:id="rId15"/>
    <p:sldId id="345" r:id="rId16"/>
  </p:sldIdLst>
  <p:sldSz cx="18288000" cy="10287000"/>
  <p:notesSz cx="6858000" cy="9144000"/>
  <p:custDataLst>
    <p:tags r:id="rId18"/>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hyperlink" Target="https://www.bbvaopenmind.com/en/technology/artificial-intelligence/ai-and-drone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softskills.com/the-convergence-of-ai-nlp-and-machine-learnin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linkedin.com/pulse/convergence-ai-robotics-unveiling-future-nvidia-gtc-erin-rapacki-1gqic"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linkedin.com/pulse/convergence-ai-geospatial-data-climate-change-research-bhoda-zqezc"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linkedin.com/pulse/convergence-ai-computervision-darcy-lorincz?trk=public_pos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medium.com/@3dailyai/ai-3d-modeling-the-next-gen-of-3d-rendering-design-fad254360cd5#id_token=eyJhbGciOiJSUzI1NiIsImtpZCI6IjA5YmNmODAyOGUwNjUzN2Q0ZDNhZTRkODRmNWM1YmFiY2YyYzBmMGEiLCJ0eXAiOiJKV1QifQ.eyJpc3MiOiJodHRwczovL2FjY291bnRzLmdvb2dsZS5jb20iLCJhenAiOiIyMTYyOTYwMzU4MzQtazFrNnFlMDYwczJ0cDJhMmphbTRsamRjbXMwMHN0dGcuYXBwcy5nb29nbGV1c2VyY29udGVudC5jb20iLCJhdWQiOiIyMTYyOTYwMzU4MzQtazFrNnFlMDYwczJ0cDJhMmphbTRsamRjbXMwMHN0dGcuYXBwcy5nb29nbGV1c2VyY29udGVudC5jb20iLCJzdWIiOiIxMDI2MTg5NzkwMDMxOTk0NDYyNTYiLCJlbWFpbCI6InNpdmFrYmFsYXNAZ21haWwuY29tIiwiZW1haWxfdmVyaWZpZWQiOnRydWUsIm5iZiI6MTcxMDkxMTEyMiwibmFtZSI6IlNpdmEgQmFsYXN1YnJhbWFuaWFuIiwicGljdHVyZSI6Imh0dHBzOi8vbGgzLmdvb2dsZXVzZXJjb250ZW50LmNvbS9hL0FDZzhvY0xKUV9qX1JkOWhFLTN1R3dsNFVsNk0zZUJfdl83S091RmpRVG0zWXhVZEJmYz1zOTYtYyIsImdpdmVuX25hbWUiOiJTaXZhIiwiZmFtaWx5X25hbWUiOiJCYWxhc3VicmFtYW5pYW4iLCJpYXQiOjE3MTA5MTE0MjIsImV4cCI6MTcxMDkxNTAyMiwianRpIjoiMzNjNDI2YzM5M2Y2MzQ5NzE4YTY2ZGJmNTkzMzRhYTFkYzk2ZmEwOSJ9.grkexQkwEd1qYa-X-PYEPjjBJZe5djE9q1NaSIFLiNutCInNGqzhqbGRJrlAJfrpT-5E-Vc0rRqTlX2oFRVmL49CxDRYspgwYeMBA5Ka5W_HQ8x7y5XO1FTNF2OwacWtRvDFJoSo9_aN-nlEj24OfQN6NveDSIcDYgwdPv47TgFj-Fv84aLbtYKxYNLxrCvPLvCZohQ1TAyCMHmXqQMQyYn-jACmvkl0AX_fJR9z5qzE5DdEfQRMgeQ4GPq6tytEIMU6y0zEGN8uFbBfB5JZWy4-pPg8x5Wfb_8xZhrKJQ-35JxvI67tGIQCCQmNWa-4xKN4eqAk5f-FYYCeUdRvLA" TargetMode="External"/><Relationship Id="rId2" Type="http://schemas.openxmlformats.org/officeDocument/2006/relationships/slideLayout" Target="../slideLayouts/slideLayout2.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normAutofit/>
          </a:bodyPr>
          <a:lstStyle/>
          <a:p>
            <a:pPr fontAlgn="auto">
              <a:spcAft>
                <a:spcPts val="0"/>
              </a:spcAft>
              <a:defRPr/>
            </a:pPr>
            <a:r>
              <a:rPr lang="en-US" dirty="0">
                <a:latin typeface="+mj-lt"/>
              </a:rPr>
              <a:t>MODULE 3 – </a:t>
            </a:r>
            <a:r>
              <a:rPr lang="en-US" dirty="0">
                <a:effectLst/>
                <a:latin typeface="+mj-lt"/>
                <a:ea typeface="Calibri" panose="020F0502020204030204" pitchFamily="34" charset="0"/>
                <a:cs typeface="Times New Roman" panose="02020603050405020304" pitchFamily="18" charset="0"/>
              </a:rPr>
              <a:t>AI and Technology Convergence</a:t>
            </a:r>
            <a:endParaRPr lang="en-US" dirty="0">
              <a:latin typeface="+mj-lt"/>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81F58-F80B-49D8-9AF0-6F4EE154D62E}"/>
              </a:ext>
            </a:extLst>
          </p:cNvPr>
          <p:cNvSpPr>
            <a:spLocks noGrp="1"/>
          </p:cNvSpPr>
          <p:nvPr>
            <p:ph type="title"/>
          </p:nvPr>
        </p:nvSpPr>
        <p:spPr>
          <a:xfrm>
            <a:off x="1098550" y="596348"/>
            <a:ext cx="16084552" cy="1683025"/>
          </a:xfrm>
        </p:spPr>
        <p:txBody>
          <a:bodyPr/>
          <a:lstStyle/>
          <a:p>
            <a:r>
              <a:rPr lang="en-US" sz="4600" dirty="0"/>
              <a:t>AI Progress Based on Contributions from Fully-Evolved Technologies</a:t>
            </a:r>
          </a:p>
        </p:txBody>
      </p:sp>
      <p:sp>
        <p:nvSpPr>
          <p:cNvPr id="3" name="Content Placeholder 2">
            <a:extLst>
              <a:ext uri="{FF2B5EF4-FFF2-40B4-BE49-F238E27FC236}">
                <a16:creationId xmlns:a16="http://schemas.microsoft.com/office/drawing/2014/main" id="{AE553D1E-00B0-4898-8686-2D44CEAF63D8}"/>
              </a:ext>
            </a:extLst>
          </p:cNvPr>
          <p:cNvSpPr>
            <a:spLocks noGrp="1"/>
          </p:cNvSpPr>
          <p:nvPr>
            <p:ph idx="1"/>
          </p:nvPr>
        </p:nvSpPr>
        <p:spPr>
          <a:xfrm>
            <a:off x="1098550" y="3207025"/>
            <a:ext cx="16084552" cy="5731679"/>
          </a:xfrm>
        </p:spPr>
        <p:txBody>
          <a:bodyPr/>
          <a:lstStyle/>
          <a:p>
            <a:r>
              <a:rPr lang="en-US" dirty="0"/>
              <a:t>Quick tour of list of technologies impacting/potentially impacting AI</a:t>
            </a:r>
          </a:p>
        </p:txBody>
      </p:sp>
    </p:spTree>
    <p:custDataLst>
      <p:tags r:id="rId1"/>
    </p:custDataLst>
    <p:extLst>
      <p:ext uri="{BB962C8B-B14F-4D97-AF65-F5344CB8AC3E}">
        <p14:creationId xmlns:p14="http://schemas.microsoft.com/office/powerpoint/2010/main" val="2033078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DC9BB-1C9B-4725-A265-D0EFACEAE6B1}"/>
              </a:ext>
            </a:extLst>
          </p:cNvPr>
          <p:cNvSpPr>
            <a:spLocks noGrp="1"/>
          </p:cNvSpPr>
          <p:nvPr>
            <p:ph type="title"/>
          </p:nvPr>
        </p:nvSpPr>
        <p:spPr/>
        <p:txBody>
          <a:bodyPr/>
          <a:lstStyle/>
          <a:p>
            <a:r>
              <a:rPr lang="en-US" dirty="0"/>
              <a:t>A quick tour of many technologies that impact AI/ML</a:t>
            </a:r>
          </a:p>
        </p:txBody>
      </p:sp>
      <p:sp>
        <p:nvSpPr>
          <p:cNvPr id="3" name="Content Placeholder 2">
            <a:extLst>
              <a:ext uri="{FF2B5EF4-FFF2-40B4-BE49-F238E27FC236}">
                <a16:creationId xmlns:a16="http://schemas.microsoft.com/office/drawing/2014/main" id="{C87675D0-9870-4FB4-B4F7-0B50EFC15434}"/>
              </a:ext>
            </a:extLst>
          </p:cNvPr>
          <p:cNvSpPr>
            <a:spLocks noGrp="1"/>
          </p:cNvSpPr>
          <p:nvPr>
            <p:ph idx="1"/>
          </p:nvPr>
        </p:nvSpPr>
        <p:spPr/>
        <p:txBody>
          <a:bodyPr/>
          <a:lstStyle/>
          <a:p>
            <a:r>
              <a:rPr lang="en-US" dirty="0"/>
              <a:t>In this lesson, many technologies that influence and improve AI/ML capabilities and performance are reviewed, along with the year when each of those technologies was introduced…</a:t>
            </a:r>
          </a:p>
          <a:p>
            <a:r>
              <a:rPr lang="en-US" dirty="0"/>
              <a:t>A more extended discussion of specific technologies in this list will be limited to those that are not highlighted in yellow. That is, all the technologies highlighted in yellow (such as ANNs and its variants, deep learning </a:t>
            </a:r>
            <a:r>
              <a:rPr lang="en-US" dirty="0" err="1"/>
              <a:t>etc</a:t>
            </a:r>
            <a:r>
              <a:rPr lang="en-US" dirty="0"/>
              <a:t>) are considered to be fully integrated into AI/ML at this point, and we have already touch upon those highlighted technologies in earlier modules…</a:t>
            </a:r>
          </a:p>
        </p:txBody>
      </p:sp>
    </p:spTree>
    <p:extLst>
      <p:ext uri="{BB962C8B-B14F-4D97-AF65-F5344CB8AC3E}">
        <p14:creationId xmlns:p14="http://schemas.microsoft.com/office/powerpoint/2010/main" val="33583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A13FA-E167-4CE8-8C41-E822835EED1B}"/>
              </a:ext>
            </a:extLst>
          </p:cNvPr>
          <p:cNvSpPr>
            <a:spLocks noGrp="1"/>
          </p:cNvSpPr>
          <p:nvPr>
            <p:ph type="title"/>
          </p:nvPr>
        </p:nvSpPr>
        <p:spPr/>
        <p:txBody>
          <a:bodyPr/>
          <a:lstStyle/>
          <a:p>
            <a:r>
              <a:rPr lang="en-US" dirty="0"/>
              <a:t>Technologies broadly discussed in this course</a:t>
            </a:r>
          </a:p>
        </p:txBody>
      </p:sp>
      <p:sp>
        <p:nvSpPr>
          <p:cNvPr id="3" name="Content Placeholder 2">
            <a:extLst>
              <a:ext uri="{FF2B5EF4-FFF2-40B4-BE49-F238E27FC236}">
                <a16:creationId xmlns:a16="http://schemas.microsoft.com/office/drawing/2014/main" id="{5BAE814D-7358-4B3D-9186-0147D5B5CBD4}"/>
              </a:ext>
            </a:extLst>
          </p:cNvPr>
          <p:cNvSpPr>
            <a:spLocks noGrp="1"/>
          </p:cNvSpPr>
          <p:nvPr>
            <p:ph idx="1"/>
          </p:nvPr>
        </p:nvSpPr>
        <p:spPr/>
        <p:txBody>
          <a:bodyPr/>
          <a:lstStyle/>
          <a:p>
            <a:r>
              <a:rPr lang="en-US" sz="3200" dirty="0">
                <a:effectLst/>
                <a:ea typeface="Calibri" panose="020F0502020204030204" pitchFamily="34" charset="0"/>
                <a:cs typeface="Calibri" panose="020F0502020204030204" pitchFamily="34" charset="0"/>
              </a:rPr>
              <a:t>Technologies and new capabilities have increasingly converged over time (e.g., robots and autonomous vehicles) to reimagine and accelerate AI-based products and services: </a:t>
            </a:r>
          </a:p>
          <a:p>
            <a:r>
              <a:rPr lang="en-US" sz="3200" dirty="0">
                <a:effectLst/>
                <a:ea typeface="Calibri" panose="020F0502020204030204" pitchFamily="34" charset="0"/>
                <a:cs typeface="Calibri" panose="020F0502020204030204" pitchFamily="34" charset="0"/>
              </a:rPr>
              <a:t>Drones (1935); NLP - speech recognition, speech processing, speech to text, text to speech (1940s-2012); Robotics; </a:t>
            </a:r>
            <a:r>
              <a:rPr lang="en-US" sz="3200" dirty="0">
                <a:effectLst/>
                <a:highlight>
                  <a:srgbClr val="FFFF00"/>
                </a:highlight>
                <a:ea typeface="Calibri" panose="020F0502020204030204" pitchFamily="34" charset="0"/>
                <a:cs typeface="Calibri" panose="020F0502020204030204" pitchFamily="34" charset="0"/>
              </a:rPr>
              <a:t>Artificial Neural Networks – ANNs; machine learnin</a:t>
            </a:r>
            <a:r>
              <a:rPr lang="en-US" sz="3200" dirty="0">
                <a:effectLst/>
                <a:ea typeface="Calibri" panose="020F0502020204030204" pitchFamily="34" charset="0"/>
                <a:cs typeface="Calibri" panose="020F0502020204030204" pitchFamily="34" charset="0"/>
              </a:rPr>
              <a:t>g (1950s); satellites, GPS (1957-1973); computer vision (1960s-2012); 3D-Modeling/3D-Simultaneous Location and Mapping – 3D SLAM; </a:t>
            </a:r>
            <a:r>
              <a:rPr lang="en-US" sz="3200" dirty="0">
                <a:effectLst/>
                <a:highlight>
                  <a:srgbClr val="FFFF00"/>
                </a:highlight>
                <a:ea typeface="Calibri" panose="020F0502020204030204" pitchFamily="34" charset="0"/>
                <a:cs typeface="Calibri" panose="020F0502020204030204" pitchFamily="34" charset="0"/>
              </a:rPr>
              <a:t>Convolutional Neural Networks – CNNs; Recurrent Neural Networks - RNNs (1963-1980s); Feedforward Neural Networks – FNNs (1965); </a:t>
            </a:r>
            <a:r>
              <a:rPr lang="en-US" sz="3200" dirty="0">
                <a:effectLst/>
                <a:ea typeface="Calibri" panose="020F0502020204030204" pitchFamily="34" charset="0"/>
                <a:cs typeface="Calibri" panose="020F0502020204030204" pitchFamily="34" charset="0"/>
              </a:rPr>
              <a:t>3D-Printing (1981);</a:t>
            </a:r>
            <a:endParaRPr lang="en-US" sz="3200" dirty="0">
              <a:highlight>
                <a:srgbClr val="FFFF00"/>
              </a:highlight>
            </a:endParaRPr>
          </a:p>
        </p:txBody>
      </p:sp>
    </p:spTree>
    <p:extLst>
      <p:ext uri="{BB962C8B-B14F-4D97-AF65-F5344CB8AC3E}">
        <p14:creationId xmlns:p14="http://schemas.microsoft.com/office/powerpoint/2010/main" val="632041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3930B-4EAC-4C8D-A3E4-8005152EA9FF}"/>
              </a:ext>
            </a:extLst>
          </p:cNvPr>
          <p:cNvSpPr>
            <a:spLocks noGrp="1"/>
          </p:cNvSpPr>
          <p:nvPr>
            <p:ph type="title"/>
          </p:nvPr>
        </p:nvSpPr>
        <p:spPr/>
        <p:txBody>
          <a:bodyPr/>
          <a:lstStyle/>
          <a:p>
            <a:r>
              <a:rPr lang="en-US" dirty="0"/>
              <a:t>Technologies broadly discussed in this course….</a:t>
            </a:r>
          </a:p>
        </p:txBody>
      </p:sp>
      <p:sp>
        <p:nvSpPr>
          <p:cNvPr id="3" name="Content Placeholder 2">
            <a:extLst>
              <a:ext uri="{FF2B5EF4-FFF2-40B4-BE49-F238E27FC236}">
                <a16:creationId xmlns:a16="http://schemas.microsoft.com/office/drawing/2014/main" id="{51B56CBE-A34A-4064-A4F8-88D31911A929}"/>
              </a:ext>
            </a:extLst>
          </p:cNvPr>
          <p:cNvSpPr>
            <a:spLocks noGrp="1"/>
          </p:cNvSpPr>
          <p:nvPr>
            <p:ph idx="1"/>
          </p:nvPr>
        </p:nvSpPr>
        <p:spPr/>
        <p:txBody>
          <a:bodyPr/>
          <a:lstStyle/>
          <a:p>
            <a:r>
              <a:rPr lang="en-US" sz="3200" dirty="0">
                <a:effectLst/>
                <a:highlight>
                  <a:srgbClr val="FFFF00"/>
                </a:highlight>
                <a:ea typeface="Calibri" panose="020F0502020204030204" pitchFamily="34" charset="0"/>
                <a:cs typeface="Calibri" panose="020F0502020204030204" pitchFamily="34" charset="0"/>
              </a:rPr>
              <a:t>deep learning </a:t>
            </a:r>
            <a:r>
              <a:rPr lang="en-US" sz="3200" dirty="0">
                <a:effectLst/>
                <a:ea typeface="Calibri" panose="020F0502020204030204" pitchFamily="34" charset="0"/>
                <a:cs typeface="Calibri" panose="020F0502020204030204" pitchFamily="34" charset="0"/>
              </a:rPr>
              <a:t>(1986-2012); edge computing; Internet of Things - IoT; </a:t>
            </a:r>
            <a:r>
              <a:rPr lang="en-US" sz="3200" dirty="0">
                <a:effectLst/>
                <a:highlight>
                  <a:srgbClr val="FFFF00"/>
                </a:highlight>
                <a:ea typeface="Calibri" panose="020F0502020204030204" pitchFamily="34" charset="0"/>
                <a:cs typeface="Calibri" panose="020F0502020204030204" pitchFamily="34" charset="0"/>
              </a:rPr>
              <a:t>accelerated computing that efficiently distributes workload through parallel processing as opposed to serial processing in general purpose computing </a:t>
            </a:r>
            <a:r>
              <a:rPr lang="en-US" sz="3200" dirty="0">
                <a:effectLst/>
                <a:ea typeface="Calibri" panose="020F0502020204030204" pitchFamily="34" charset="0"/>
                <a:cs typeface="Calibri" panose="020F0502020204030204" pitchFamily="34" charset="0"/>
              </a:rPr>
              <a:t>(1990s); quantum computing (1998); digital twins (2002); elastic cloud computing (2006); Blockchain (2009); Universal Scene Description-USD and its 3D framework (2012-2024); </a:t>
            </a:r>
            <a:r>
              <a:rPr lang="en-US" sz="3200" dirty="0">
                <a:effectLst/>
                <a:highlight>
                  <a:srgbClr val="FFFF00"/>
                </a:highlight>
                <a:ea typeface="Calibri" panose="020F0502020204030204" pitchFamily="34" charset="0"/>
                <a:cs typeface="Calibri" panose="020F0502020204030204" pitchFamily="34" charset="0"/>
              </a:rPr>
              <a:t>Generative Adversarial Networks - GANs (2014); transformer models and multimodal AI capabilities including Generative Pre-Trained Transformer (GPT) variants e.g., speech, text, images, audio and video: paired combinations of these modalities such as speech to text conversion, and vice versa; text to images and vice versa </a:t>
            </a:r>
            <a:r>
              <a:rPr lang="en-US" sz="3200" dirty="0" err="1">
                <a:effectLst/>
                <a:highlight>
                  <a:srgbClr val="FFFF00"/>
                </a:highlight>
                <a:ea typeface="Calibri" panose="020F0502020204030204" pitchFamily="34" charset="0"/>
                <a:cs typeface="Calibri" panose="020F0502020204030204" pitchFamily="34" charset="0"/>
              </a:rPr>
              <a:t>etc</a:t>
            </a:r>
            <a:r>
              <a:rPr lang="en-US" sz="3200" dirty="0">
                <a:effectLst/>
                <a:highlight>
                  <a:srgbClr val="FFFF00"/>
                </a:highlight>
                <a:ea typeface="Calibri" panose="020F0502020204030204" pitchFamily="34" charset="0"/>
                <a:cs typeface="Calibri" panose="020F0502020204030204" pitchFamily="34" charset="0"/>
              </a:rPr>
              <a:t> (2017-2023); </a:t>
            </a:r>
            <a:r>
              <a:rPr lang="en-US" sz="3200" dirty="0" err="1">
                <a:effectLst/>
                <a:ea typeface="Calibri" panose="020F0502020204030204" pitchFamily="34" charset="0"/>
                <a:cs typeface="Calibri" panose="020F0502020204030204" pitchFamily="34" charset="0"/>
              </a:rPr>
              <a:t>Idata</a:t>
            </a:r>
            <a:r>
              <a:rPr lang="en-US" sz="3200" dirty="0">
                <a:effectLst/>
                <a:ea typeface="Calibri" panose="020F0502020204030204" pitchFamily="34" charset="0"/>
                <a:cs typeface="Calibri" panose="020F0502020204030204" pitchFamily="34" charset="0"/>
              </a:rPr>
              <a:t>-in-Motion (2016); AI agents that automate complex tasks by controlling a user’s device (2024); vision/audio/computing wearables such as Apple’s Vision Pro’s Augmented Reality (AR) glasses/headset that integrates physical and digital realms seamlessly (1960s-2024); 6G mobile networks underpinned by AI (R&amp;D work is ongoing)</a:t>
            </a:r>
            <a:endParaRPr lang="en-US" sz="3200" dirty="0"/>
          </a:p>
        </p:txBody>
      </p:sp>
    </p:spTree>
    <p:extLst>
      <p:ext uri="{BB962C8B-B14F-4D97-AF65-F5344CB8AC3E}">
        <p14:creationId xmlns:p14="http://schemas.microsoft.com/office/powerpoint/2010/main" val="599953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C73A7C-43DC-45B5-B5B0-E229A173A2B3}"/>
              </a:ext>
            </a:extLst>
          </p:cNvPr>
          <p:cNvSpPr>
            <a:spLocks noGrp="1"/>
          </p:cNvSpPr>
          <p:nvPr>
            <p:ph idx="1"/>
          </p:nvPr>
        </p:nvSpPr>
        <p:spPr/>
        <p:txBody>
          <a:bodyPr/>
          <a:lstStyle/>
          <a:p>
            <a:r>
              <a:rPr lang="en-US" dirty="0"/>
              <a:t>Fully evolved (and older) technologies impacting AI</a:t>
            </a:r>
          </a:p>
        </p:txBody>
      </p:sp>
    </p:spTree>
    <p:custDataLst>
      <p:tags r:id="rId1"/>
    </p:custDataLst>
    <p:extLst>
      <p:ext uri="{BB962C8B-B14F-4D97-AF65-F5344CB8AC3E}">
        <p14:creationId xmlns:p14="http://schemas.microsoft.com/office/powerpoint/2010/main" val="1650591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a:xfrm>
            <a:off x="1101724" y="607730"/>
            <a:ext cx="16084552" cy="896370"/>
          </a:xfrm>
        </p:spPr>
        <p:txBody>
          <a:bodyPr>
            <a:normAutofit fontScale="90000"/>
          </a:bodyPr>
          <a:lstStyle/>
          <a:p>
            <a:r>
              <a:rPr lang="en-US" sz="6000" dirty="0">
                <a:solidFill>
                  <a:srgbClr val="C00000"/>
                </a:solidFill>
              </a:rPr>
              <a:t>The Convergence of AI/ML and Drones (1935)</a:t>
            </a: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1257300" y="1886655"/>
            <a:ext cx="15773400" cy="7425978"/>
          </a:xfrm>
        </p:spPr>
        <p:txBody>
          <a:bodyPr anchor="ctr">
            <a:normAutofit/>
          </a:bodyPr>
          <a:lstStyle/>
          <a:p>
            <a:pPr marL="0">
              <a:spcBef>
                <a:spcPts val="0"/>
              </a:spcBef>
            </a:pPr>
            <a:r>
              <a:rPr lang="en-US" sz="3200" b="1" dirty="0"/>
              <a:t>Benefits of Combining AI and Drones (1935)</a:t>
            </a:r>
          </a:p>
          <a:p>
            <a:pPr marL="0" indent="0">
              <a:spcBef>
                <a:spcPts val="0"/>
              </a:spcBef>
              <a:buNone/>
            </a:pPr>
            <a:endParaRPr lang="en-US" sz="3200" b="1" dirty="0"/>
          </a:p>
          <a:p>
            <a:pPr marL="0" indent="0">
              <a:spcBef>
                <a:spcPts val="0"/>
              </a:spcBef>
              <a:buNone/>
            </a:pPr>
            <a:r>
              <a:rPr lang="en-US" sz="3200" dirty="0"/>
              <a:t>      The integration of AI into drones offers numerous advantages:</a:t>
            </a:r>
          </a:p>
          <a:p>
            <a:pPr marL="0">
              <a:spcBef>
                <a:spcPts val="0"/>
              </a:spcBef>
              <a:buFont typeface="Arial" panose="020B0604020202020204" pitchFamily="34" charset="0"/>
              <a:buChar char="•"/>
            </a:pPr>
            <a:r>
              <a:rPr lang="en-US" sz="3200" i="1" dirty="0">
                <a:highlight>
                  <a:srgbClr val="00FFFF"/>
                </a:highlight>
              </a:rPr>
              <a:t>Enhanced autonomy</a:t>
            </a:r>
            <a:r>
              <a:rPr lang="en-US" sz="3200" dirty="0">
                <a:highlight>
                  <a:srgbClr val="00FFFF"/>
                </a:highlight>
              </a:rPr>
              <a:t>: </a:t>
            </a:r>
          </a:p>
          <a:p>
            <a:pPr marL="0">
              <a:spcBef>
                <a:spcPts val="0"/>
              </a:spcBef>
              <a:buFont typeface="Arial" panose="020B0604020202020204" pitchFamily="34" charset="0"/>
              <a:buChar char="•"/>
            </a:pPr>
            <a:r>
              <a:rPr lang="en-US" sz="3200" dirty="0"/>
              <a:t>AI algorithms enable drones to operate autonomously, reducing the need for    			constant human intervention.</a:t>
            </a:r>
          </a:p>
          <a:p>
            <a:pPr marL="0">
              <a:spcBef>
                <a:spcPts val="0"/>
              </a:spcBef>
              <a:buFont typeface="Arial" panose="020B0604020202020204" pitchFamily="34" charset="0"/>
              <a:buChar char="•"/>
            </a:pPr>
            <a:r>
              <a:rPr lang="en-US" sz="3200" i="1" dirty="0">
                <a:highlight>
                  <a:srgbClr val="00FFFF"/>
                </a:highlight>
              </a:rPr>
              <a:t>Improved data processing</a:t>
            </a:r>
            <a:r>
              <a:rPr lang="en-US" sz="3200" dirty="0">
                <a:highlight>
                  <a:srgbClr val="00FFFF"/>
                </a:highlight>
              </a:rPr>
              <a:t>: </a:t>
            </a:r>
            <a:r>
              <a:rPr lang="en-US" sz="3200" dirty="0"/>
              <a:t>Drones equipped with AI can process and analyze data 		in real-time, making them more efficient for applications like surveillance and 		monitoring.</a:t>
            </a:r>
          </a:p>
          <a:p>
            <a:pPr marL="0">
              <a:spcBef>
                <a:spcPts val="0"/>
              </a:spcBef>
              <a:buFont typeface="Arial" panose="020B0604020202020204" pitchFamily="34" charset="0"/>
              <a:buChar char="•"/>
            </a:pPr>
            <a:r>
              <a:rPr lang="en-US" sz="3200" i="1" dirty="0">
                <a:highlight>
                  <a:srgbClr val="00FFFF"/>
                </a:highlight>
              </a:rPr>
              <a:t>Adaptive behavior</a:t>
            </a:r>
            <a:r>
              <a:rPr lang="en-US" sz="3200" dirty="0">
                <a:highlight>
                  <a:srgbClr val="00FFFF"/>
                </a:highlight>
              </a:rPr>
              <a:t>: </a:t>
            </a:r>
            <a:r>
              <a:rPr lang="en-US" sz="3200" dirty="0"/>
              <a:t>AI allows drones to adapt to changing conditions and 				scenarios, making them versatile for various tasks.</a:t>
            </a:r>
          </a:p>
          <a:p>
            <a:pPr marL="0">
              <a:spcBef>
                <a:spcPts val="0"/>
              </a:spcBef>
              <a:buFont typeface="Arial" panose="020B0604020202020204" pitchFamily="34" charset="0"/>
              <a:buChar char="•"/>
            </a:pPr>
            <a:r>
              <a:rPr lang="en-US" sz="3200" i="1" dirty="0">
                <a:highlight>
                  <a:srgbClr val="00FFFF"/>
                </a:highlight>
              </a:rPr>
              <a:t>Increased safety</a:t>
            </a:r>
            <a:r>
              <a:rPr lang="en-US" sz="3200" dirty="0">
                <a:highlight>
                  <a:srgbClr val="00FFFF"/>
                </a:highlight>
              </a:rPr>
              <a:t>: </a:t>
            </a:r>
            <a:r>
              <a:rPr lang="en-US" sz="3200" dirty="0"/>
              <a:t>AI helps drones detect and avoid obstacles, reducing the risk of 			collisions and accidents</a:t>
            </a:r>
          </a:p>
          <a:p>
            <a:pPr marL="0">
              <a:spcBef>
                <a:spcPts val="0"/>
              </a:spcBef>
              <a:buFont typeface="Arial" panose="020B0604020202020204" pitchFamily="34" charset="0"/>
              <a:buChar char="•"/>
            </a:pPr>
            <a:endParaRPr lang="en-US" sz="3200" dirty="0"/>
          </a:p>
          <a:p>
            <a:pPr marL="0" indent="0">
              <a:spcBef>
                <a:spcPts val="0"/>
              </a:spcBef>
              <a:buNone/>
            </a:pPr>
            <a:r>
              <a:rPr lang="en-US" sz="3200" dirty="0"/>
              <a:t>Source: </a:t>
            </a:r>
            <a:r>
              <a:rPr lang="en-US" sz="3200" dirty="0">
                <a:hlinkClick r:id="rId2"/>
              </a:rPr>
              <a:t>AI and Drones</a:t>
            </a:r>
            <a:endParaRPr lang="en-US" sz="3200" dirty="0"/>
          </a:p>
        </p:txBody>
      </p:sp>
    </p:spTree>
    <p:extLst>
      <p:ext uri="{BB962C8B-B14F-4D97-AF65-F5344CB8AC3E}">
        <p14:creationId xmlns:p14="http://schemas.microsoft.com/office/powerpoint/2010/main" val="509184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a:xfrm>
            <a:off x="1101724" y="509758"/>
            <a:ext cx="16084552" cy="896370"/>
          </a:xfrm>
        </p:spPr>
        <p:txBody>
          <a:bodyPr>
            <a:normAutofit fontScale="90000"/>
          </a:bodyPr>
          <a:lstStyle/>
          <a:p>
            <a:r>
              <a:rPr lang="en-US" sz="6000" dirty="0">
                <a:solidFill>
                  <a:srgbClr val="C00000"/>
                </a:solidFill>
              </a:rPr>
              <a:t>The Convergence of AI/ML and NLP (1940s-2012)</a:t>
            </a: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1101724" y="1827865"/>
            <a:ext cx="17025256" cy="7415042"/>
          </a:xfrm>
        </p:spPr>
        <p:txBody>
          <a:bodyPr anchor="ctr">
            <a:noAutofit/>
          </a:bodyPr>
          <a:lstStyle/>
          <a:p>
            <a:pPr marL="0" indent="-457200">
              <a:spcBef>
                <a:spcPts val="0"/>
              </a:spcBef>
            </a:pPr>
            <a:r>
              <a:rPr lang="en-US" sz="3200" b="1" dirty="0"/>
              <a:t>What is Natural Language Processing (NLP)? </a:t>
            </a:r>
            <a:r>
              <a:rPr lang="en-US" sz="3200" dirty="0"/>
              <a:t>NLP is a discipline within AI that 	combines linguistics and computational technology. It focuses on enhancing machines’ 	ability to understand and generate human language, enabling </a:t>
            </a:r>
            <a:r>
              <a:rPr lang="en-US" sz="3200" b="1" dirty="0"/>
              <a:t>communication</a:t>
            </a:r>
            <a:r>
              <a:rPr lang="en-US" sz="3200" dirty="0"/>
              <a:t> between 	humans and machines.</a:t>
            </a:r>
          </a:p>
          <a:p>
            <a:pPr marL="0" indent="-457200">
              <a:spcBef>
                <a:spcPts val="0"/>
              </a:spcBef>
              <a:buFont typeface="Arial" panose="020B0604020202020204" pitchFamily="34" charset="0"/>
              <a:buChar char="•"/>
            </a:pPr>
            <a:r>
              <a:rPr lang="en-US" sz="3200" b="1" dirty="0"/>
              <a:t>The convergence of AI</a:t>
            </a:r>
            <a:r>
              <a:rPr lang="en-US" sz="3200" dirty="0"/>
              <a:t>, </a:t>
            </a:r>
            <a:r>
              <a:rPr lang="en-US" sz="3200" b="1" dirty="0"/>
              <a:t>NLP</a:t>
            </a:r>
            <a:r>
              <a:rPr lang="en-US" sz="3200" dirty="0"/>
              <a:t>, </a:t>
            </a:r>
            <a:r>
              <a:rPr lang="en-US" sz="3200" b="1" dirty="0"/>
              <a:t>and machine learning</a:t>
            </a:r>
            <a:r>
              <a:rPr lang="en-US" sz="3200" dirty="0"/>
              <a:t> is transformative.</a:t>
            </a:r>
          </a:p>
          <a:p>
            <a:pPr marL="0" indent="-457200">
              <a:spcBef>
                <a:spcPts val="0"/>
              </a:spcBef>
              <a:buFont typeface="Arial" panose="020B0604020202020204" pitchFamily="34" charset="0"/>
              <a:buChar char="•"/>
            </a:pPr>
            <a:r>
              <a:rPr lang="en-US" sz="3200" b="1" dirty="0"/>
              <a:t>Machine learning algorithms</a:t>
            </a:r>
            <a:r>
              <a:rPr lang="en-US" sz="3200" dirty="0"/>
              <a:t> enhance NLP systems, enabling accurate and context-		aware understanding of human language.</a:t>
            </a:r>
          </a:p>
          <a:p>
            <a:pPr marL="0" indent="-457200">
              <a:spcBef>
                <a:spcPts val="0"/>
              </a:spcBef>
              <a:buFont typeface="Arial" panose="020B0604020202020204" pitchFamily="34" charset="0"/>
              <a:buChar char="•"/>
            </a:pPr>
            <a:r>
              <a:rPr lang="en-US" sz="3200" b="1" dirty="0"/>
              <a:t>Advancements</a:t>
            </a:r>
            <a:r>
              <a:rPr lang="en-US" sz="3200" dirty="0"/>
              <a:t> in language generation models have been driven by techniques like 		</a:t>
            </a:r>
            <a:r>
              <a:rPr lang="en-US" sz="3200" b="1" dirty="0"/>
              <a:t>recurrent neural networks</a:t>
            </a:r>
            <a:r>
              <a:rPr lang="en-US" sz="3200" dirty="0"/>
              <a:t> and transformer models.</a:t>
            </a:r>
          </a:p>
          <a:p>
            <a:pPr marL="0" indent="-457200">
              <a:spcBef>
                <a:spcPts val="0"/>
              </a:spcBef>
              <a:buFont typeface="Arial" panose="020B0604020202020204" pitchFamily="34" charset="0"/>
              <a:buChar char="•"/>
            </a:pPr>
            <a:r>
              <a:rPr lang="en-US" sz="3200" dirty="0"/>
              <a:t>The integration of AI, NLP, </a:t>
            </a:r>
            <a:r>
              <a:rPr lang="en-US" sz="3200" b="1" dirty="0"/>
              <a:t>and machine learning</a:t>
            </a:r>
            <a:r>
              <a:rPr lang="en-US" sz="3200" dirty="0"/>
              <a:t> has paved the way for innovative 		applications in </a:t>
            </a:r>
            <a:r>
              <a:rPr lang="en-US" sz="3200" b="1" dirty="0"/>
              <a:t>NLP</a:t>
            </a:r>
            <a:r>
              <a:rPr lang="en-US" sz="3200" dirty="0"/>
              <a:t>.</a:t>
            </a:r>
          </a:p>
          <a:p>
            <a:pPr marL="0" indent="-457200">
              <a:spcBef>
                <a:spcPts val="0"/>
              </a:spcBef>
              <a:buFont typeface="Arial" panose="020B0604020202020204" pitchFamily="34" charset="0"/>
              <a:buChar char="•"/>
            </a:pPr>
            <a:r>
              <a:rPr lang="en-US" sz="3200" dirty="0"/>
              <a:t>The </a:t>
            </a:r>
            <a:r>
              <a:rPr lang="en-US" sz="3200" b="1" dirty="0"/>
              <a:t>impact of AI on NLP</a:t>
            </a:r>
            <a:r>
              <a:rPr lang="en-US" sz="3200" dirty="0"/>
              <a:t> has fueled </a:t>
            </a:r>
            <a:r>
              <a:rPr lang="en-US" sz="3200" b="1" dirty="0"/>
              <a:t>advancements</a:t>
            </a:r>
            <a:r>
              <a:rPr lang="en-US" sz="3200" dirty="0"/>
              <a:t> in </a:t>
            </a:r>
            <a:r>
              <a:rPr lang="en-US" sz="3200" b="1" dirty="0"/>
              <a:t>machine learning algorithms</a:t>
            </a:r>
            <a:r>
              <a:rPr lang="en-US" sz="3200" dirty="0"/>
              <a:t> 		and </a:t>
            </a:r>
            <a:r>
              <a:rPr lang="en-US" sz="3200" b="1" dirty="0"/>
              <a:t>NLP technologies</a:t>
            </a:r>
            <a:r>
              <a:rPr lang="en-US" sz="3200" dirty="0"/>
              <a:t>.</a:t>
            </a:r>
          </a:p>
          <a:p>
            <a:pPr marL="0" indent="0">
              <a:spcBef>
                <a:spcPts val="0"/>
              </a:spcBef>
              <a:buNone/>
            </a:pPr>
            <a:endParaRPr lang="en-US" sz="3200" dirty="0"/>
          </a:p>
          <a:p>
            <a:pPr marL="0" indent="-457200">
              <a:spcBef>
                <a:spcPts val="0"/>
              </a:spcBef>
            </a:pPr>
            <a:r>
              <a:rPr lang="en-US" sz="2800" dirty="0"/>
              <a:t>Source:  </a:t>
            </a:r>
            <a:r>
              <a:rPr lang="en-US" sz="2800" dirty="0">
                <a:hlinkClick r:id="rId2"/>
              </a:rPr>
              <a:t>The Convergence of AI, NLP and Machine Learning Technologies: Driving Innovation in  Language Technologies</a:t>
            </a:r>
            <a:endParaRPr lang="en-US" sz="2800" dirty="0"/>
          </a:p>
        </p:txBody>
      </p:sp>
    </p:spTree>
    <p:extLst>
      <p:ext uri="{BB962C8B-B14F-4D97-AF65-F5344CB8AC3E}">
        <p14:creationId xmlns:p14="http://schemas.microsoft.com/office/powerpoint/2010/main" val="2869836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D804-69D3-4DEE-9F29-14BEB780F350}"/>
              </a:ext>
            </a:extLst>
          </p:cNvPr>
          <p:cNvSpPr>
            <a:spLocks noGrp="1"/>
          </p:cNvSpPr>
          <p:nvPr>
            <p:ph type="title"/>
          </p:nvPr>
        </p:nvSpPr>
        <p:spPr>
          <a:xfrm>
            <a:off x="1101724" y="522515"/>
            <a:ext cx="16084552" cy="966350"/>
          </a:xfrm>
        </p:spPr>
        <p:txBody>
          <a:bodyPr/>
          <a:lstStyle/>
          <a:p>
            <a:r>
              <a:rPr lang="en-US" sz="4400" dirty="0"/>
              <a:t>Convergence of AI/ML and Robotics (1950s)</a:t>
            </a:r>
          </a:p>
        </p:txBody>
      </p:sp>
      <p:sp>
        <p:nvSpPr>
          <p:cNvPr id="3" name="Content Placeholder 2">
            <a:extLst>
              <a:ext uri="{FF2B5EF4-FFF2-40B4-BE49-F238E27FC236}">
                <a16:creationId xmlns:a16="http://schemas.microsoft.com/office/drawing/2014/main" id="{F4A27895-FBFE-4113-B70B-D86A820733B0}"/>
              </a:ext>
            </a:extLst>
          </p:cNvPr>
          <p:cNvSpPr>
            <a:spLocks noGrp="1"/>
          </p:cNvSpPr>
          <p:nvPr>
            <p:ph idx="1"/>
          </p:nvPr>
        </p:nvSpPr>
        <p:spPr>
          <a:xfrm>
            <a:off x="1101724" y="1699496"/>
            <a:ext cx="16084552" cy="7351197"/>
          </a:xfrm>
        </p:spPr>
        <p:txBody>
          <a:bodyPr/>
          <a:lstStyle/>
          <a:p>
            <a:r>
              <a:rPr lang="en-US" dirty="0"/>
              <a:t>NVIDIA, a large US-based leader in the AI space, aims to harness expertise in accelerated computing and advanced graphics, thereby empowering robots to sense, think, and act autonomously. This revolutionary approach outlines remarkable advancements in manufacturing, warehousing, agriculture, and service robots. </a:t>
            </a:r>
          </a:p>
          <a:p>
            <a:r>
              <a:rPr lang="en-US" dirty="0"/>
              <a:t>At the core of NVIDIA's vision lies the belief that all machines that move will eventually be autonomous. This audacious goal requires the development of machines that can perceive and navigate the world around them. </a:t>
            </a:r>
          </a:p>
          <a:p>
            <a:r>
              <a:rPr lang="en-US" dirty="0"/>
              <a:t>Source: </a:t>
            </a:r>
            <a:r>
              <a:rPr lang="en-US" dirty="0">
                <a:hlinkClick r:id="rId2"/>
              </a:rPr>
              <a:t>The Convergence of AI and Robotics</a:t>
            </a:r>
            <a:endParaRPr lang="en-US" dirty="0"/>
          </a:p>
          <a:p>
            <a:endParaRPr lang="en-US" dirty="0"/>
          </a:p>
        </p:txBody>
      </p:sp>
    </p:spTree>
    <p:extLst>
      <p:ext uri="{BB962C8B-B14F-4D97-AF65-F5344CB8AC3E}">
        <p14:creationId xmlns:p14="http://schemas.microsoft.com/office/powerpoint/2010/main" val="628857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a:xfrm>
            <a:off x="1101724" y="213973"/>
            <a:ext cx="16084552" cy="896370"/>
          </a:xfrm>
        </p:spPr>
        <p:txBody>
          <a:bodyPr>
            <a:normAutofit/>
          </a:bodyPr>
          <a:lstStyle/>
          <a:p>
            <a:r>
              <a:rPr lang="en-US" sz="4400" dirty="0">
                <a:solidFill>
                  <a:srgbClr val="C00000"/>
                </a:solidFill>
              </a:rPr>
              <a:t>The Convergence of AI/ML and GPS/Satellites (1957-1973)</a:t>
            </a: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1101724" y="1595534"/>
            <a:ext cx="16709571" cy="8315130"/>
          </a:xfrm>
        </p:spPr>
        <p:txBody>
          <a:bodyPr anchor="ctr">
            <a:noAutofit/>
          </a:bodyPr>
          <a:lstStyle/>
          <a:p>
            <a:pPr marL="0" indent="457200">
              <a:spcBef>
                <a:spcPts val="0"/>
              </a:spcBef>
            </a:pPr>
            <a:r>
              <a:rPr lang="en-US" sz="3200" dirty="0"/>
              <a:t>AI's role in climate research has been transformative. Machine learning capabilities are  	essential in climate research, where the data is often vast and intricate. Geospatial 	data are obtained from satellites, aerial photography, and GPS. The convergence of AI 	and geospatial data helps in the following areas:</a:t>
            </a:r>
          </a:p>
          <a:p>
            <a:pPr marL="0" indent="0">
              <a:spcBef>
                <a:spcPts val="0"/>
              </a:spcBef>
              <a:buNone/>
            </a:pPr>
            <a:endParaRPr lang="en-US" sz="3200" dirty="0"/>
          </a:p>
          <a:p>
            <a:pPr marL="0" indent="457200">
              <a:spcBef>
                <a:spcPts val="0"/>
              </a:spcBef>
              <a:buFont typeface="+mj-lt"/>
              <a:buAutoNum type="arabicPeriod"/>
            </a:pPr>
            <a:r>
              <a:rPr lang="en-US" sz="3200" dirty="0"/>
              <a:t>Predictive Analysis: AI-powered geospatial analytics play a vital role in predicting the path 	of hurricanes or the spread of wildfires. </a:t>
            </a:r>
          </a:p>
          <a:p>
            <a:pPr marL="0" indent="457200">
              <a:spcBef>
                <a:spcPts val="0"/>
              </a:spcBef>
              <a:buFont typeface="+mj-lt"/>
              <a:buAutoNum type="arabicPeriod"/>
            </a:pPr>
            <a:r>
              <a:rPr lang="en-US" sz="3200" dirty="0"/>
              <a:t>Agricultural Adaptation: Climate-smart agriculture relies heavily on AI to predict weather 	patterns, analyze soil health, and suggest optimal planting/harvesting efforts; design 	flood defenses and plan urban landscapes to mitigate the impacts of heavy rainfall and 	rising sea levels, land-use changes, deforestation and ice melt patterns.</a:t>
            </a:r>
          </a:p>
          <a:p>
            <a:pPr marL="0" indent="-457200">
              <a:spcBef>
                <a:spcPts val="0"/>
              </a:spcBef>
            </a:pPr>
            <a:endParaRPr lang="en-US" sz="3200" dirty="0"/>
          </a:p>
          <a:p>
            <a:pPr marL="0" indent="-457200">
              <a:spcBef>
                <a:spcPts val="0"/>
              </a:spcBef>
            </a:pPr>
            <a:r>
              <a:rPr lang="en-US" sz="3200" dirty="0"/>
              <a:t>Source:  </a:t>
            </a:r>
            <a:r>
              <a:rPr lang="en-US" sz="3200" dirty="0">
                <a:hlinkClick r:id="rId2"/>
              </a:rPr>
              <a:t>The Convergence of AI and Geospatial data in Climate Change Research and Adaptation</a:t>
            </a:r>
            <a:endParaRPr lang="en-US" sz="3200" dirty="0"/>
          </a:p>
          <a:p>
            <a:pPr marL="0" indent="-457200">
              <a:spcBef>
                <a:spcPts val="0"/>
              </a:spcBef>
            </a:pPr>
            <a:endParaRPr lang="en-US" sz="3200" dirty="0"/>
          </a:p>
          <a:p>
            <a:pPr marL="0" indent="-457200">
              <a:spcBef>
                <a:spcPts val="0"/>
              </a:spcBef>
            </a:pPr>
            <a:endParaRPr lang="en-US" sz="3200" dirty="0"/>
          </a:p>
          <a:p>
            <a:pPr marL="0" indent="-457200">
              <a:spcBef>
                <a:spcPts val="0"/>
              </a:spcBef>
            </a:pPr>
            <a:endParaRPr lang="en-US" sz="3200" dirty="0"/>
          </a:p>
        </p:txBody>
      </p:sp>
    </p:spTree>
    <p:extLst>
      <p:ext uri="{BB962C8B-B14F-4D97-AF65-F5344CB8AC3E}">
        <p14:creationId xmlns:p14="http://schemas.microsoft.com/office/powerpoint/2010/main" val="3820845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a:xfrm>
            <a:off x="1101724" y="509758"/>
            <a:ext cx="16084552" cy="896370"/>
          </a:xfrm>
        </p:spPr>
        <p:txBody>
          <a:bodyPr>
            <a:noAutofit/>
          </a:bodyPr>
          <a:lstStyle/>
          <a:p>
            <a:r>
              <a:rPr lang="en-US" sz="4000" dirty="0">
                <a:solidFill>
                  <a:srgbClr val="C00000"/>
                </a:solidFill>
              </a:rPr>
              <a:t>The Convergence of AI/ML and Computer Vision </a:t>
            </a:r>
            <a:r>
              <a:rPr lang="en-US" sz="4000" dirty="0">
                <a:effectLst/>
                <a:ea typeface="Calibri" panose="020F0502020204030204" pitchFamily="34" charset="0"/>
                <a:cs typeface="Calibri" panose="020F0502020204030204" pitchFamily="34" charset="0"/>
              </a:rPr>
              <a:t>(1960s-2012)</a:t>
            </a:r>
            <a:endParaRPr lang="en-US" sz="4000" dirty="0">
              <a:solidFill>
                <a:srgbClr val="C00000"/>
              </a:solidFill>
            </a:endParaRP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1101724" y="1858967"/>
            <a:ext cx="17025256" cy="7599164"/>
          </a:xfrm>
        </p:spPr>
        <p:txBody>
          <a:bodyPr anchor="ctr">
            <a:noAutofit/>
          </a:bodyPr>
          <a:lstStyle/>
          <a:p>
            <a:pPr marL="0" indent="-457200">
              <a:spcBef>
                <a:spcPts val="0"/>
              </a:spcBef>
            </a:pPr>
            <a:r>
              <a:rPr lang="en-US" sz="3200" dirty="0"/>
              <a:t>Computer Vision, a field of machine learning and Artificial Intelligence (AI), empowers compute with the gift of vision. It enables the ability to perceive and comprehend images and videos, surpassing the capabilities of human processing (eyeballs). By leveraging algorithms and imaging techniques, computers can now recognize objects, track movements, and interpret visual information in real-time.</a:t>
            </a:r>
          </a:p>
          <a:p>
            <a:pPr marL="0" indent="0">
              <a:spcBef>
                <a:spcPts val="0"/>
              </a:spcBef>
              <a:buNone/>
            </a:pPr>
            <a:endParaRPr lang="en-US" sz="3200" dirty="0"/>
          </a:p>
          <a:p>
            <a:pPr marL="0" indent="-457200">
              <a:spcBef>
                <a:spcPts val="0"/>
              </a:spcBef>
            </a:pPr>
            <a:r>
              <a:rPr lang="en-US" sz="3200" dirty="0"/>
              <a:t>The applications of Computer Vision are revolutionizing sports and motorsports. In sports, Computer Vision systems track and analyze movements of players to offer invaluable data on speed, technique, and positioning. In racing, teams utilize Computer Vision to provide real-time insights to driving coaches, team owners, and ultimately fans. Interactive elements enhance the delivery of player, equipment, and stick/ball tracking data, enabling advanced player analysis that offer fans very immersive experiences. Data visualization and augmented experiences not only enhance accessibility but also brings fans automated highlights, real-time statistics, and unique video angles, elevating the overall viewing experience.</a:t>
            </a:r>
          </a:p>
          <a:p>
            <a:pPr marL="0" indent="0">
              <a:spcBef>
                <a:spcPts val="0"/>
              </a:spcBef>
              <a:buNone/>
            </a:pPr>
            <a:endParaRPr lang="en-US" sz="3200" dirty="0"/>
          </a:p>
          <a:p>
            <a:pPr marL="0" indent="-457200">
              <a:spcBef>
                <a:spcPts val="0"/>
              </a:spcBef>
            </a:pPr>
            <a:r>
              <a:rPr lang="en-US" sz="3200" dirty="0"/>
              <a:t>Source:  </a:t>
            </a:r>
            <a:r>
              <a:rPr lang="en-US" sz="3200" dirty="0">
                <a:hlinkClick r:id="rId2"/>
              </a:rPr>
              <a:t>The Convergence of AI and Computer Vision</a:t>
            </a:r>
            <a:endParaRPr lang="en-US" sz="3200" dirty="0"/>
          </a:p>
        </p:txBody>
      </p:sp>
    </p:spTree>
    <p:extLst>
      <p:ext uri="{BB962C8B-B14F-4D97-AF65-F5344CB8AC3E}">
        <p14:creationId xmlns:p14="http://schemas.microsoft.com/office/powerpoint/2010/main" val="1737624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a:xfrm>
            <a:off x="1101724" y="213973"/>
            <a:ext cx="16084552" cy="896370"/>
          </a:xfrm>
        </p:spPr>
        <p:txBody>
          <a:bodyPr>
            <a:normAutofit fontScale="90000"/>
          </a:bodyPr>
          <a:lstStyle/>
          <a:p>
            <a:r>
              <a:rPr lang="en-US" sz="4800" dirty="0">
                <a:solidFill>
                  <a:srgbClr val="C00000"/>
                </a:solidFill>
              </a:rPr>
              <a:t>The Convergence of AI/ML and 3D Modeling/3D-SLAM (1965)</a:t>
            </a: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476705" y="1856792"/>
            <a:ext cx="16709571" cy="6573416"/>
          </a:xfrm>
        </p:spPr>
        <p:txBody>
          <a:bodyPr anchor="ctr">
            <a:noAutofit/>
          </a:bodyPr>
          <a:lstStyle/>
          <a:p>
            <a:pPr marL="0" indent="-457200">
              <a:spcBef>
                <a:spcPts val="0"/>
              </a:spcBef>
            </a:pPr>
            <a:r>
              <a:rPr lang="en-US" sz="3200" dirty="0"/>
              <a:t>The integration of Artificial Intelligence (AI) into 3D model-maker tools has revolutionized 		the design landscape. AI algorithms enhance efficiency by automating repetitive tasks 	and streamlining workflows. Machine learning algorithms, for example, can analyze 	user preferences, suggest design elements, and optimize models based on historical 	data.</a:t>
            </a:r>
          </a:p>
          <a:p>
            <a:pPr marL="0" indent="-457200">
              <a:spcBef>
                <a:spcPts val="0"/>
              </a:spcBef>
            </a:pPr>
            <a:endParaRPr lang="en-US" sz="3200" dirty="0"/>
          </a:p>
          <a:p>
            <a:pPr marL="0" indent="-457200">
              <a:spcBef>
                <a:spcPts val="0"/>
              </a:spcBef>
            </a:pPr>
            <a:r>
              <a:rPr lang="en-US" sz="3200" dirty="0"/>
              <a:t> Using Spatial AI, visual SLAM (</a:t>
            </a:r>
            <a:r>
              <a:rPr lang="en-US" sz="3200" dirty="0">
                <a:effectLst/>
                <a:ea typeface="Calibri" panose="020F0502020204030204" pitchFamily="34" charset="0"/>
                <a:cs typeface="Calibri" panose="020F0502020204030204" pitchFamily="34" charset="0"/>
              </a:rPr>
              <a:t>Simultaneous Location and Mapping) </a:t>
            </a:r>
            <a:r>
              <a:rPr lang="en-US" sz="3200" dirty="0"/>
              <a:t>capability has 	increased over the years. More research must still be done in this area to achieve true 	Spatial AI performance and a key issue is how estimation and machine learning 	components can be used and trained together in continuing to search for the best long-	term scene representations to enable intelligent interaction.</a:t>
            </a:r>
          </a:p>
          <a:p>
            <a:pPr marL="0" indent="-457200">
              <a:spcBef>
                <a:spcPts val="0"/>
              </a:spcBef>
            </a:pPr>
            <a:endParaRPr lang="en-US" sz="3200" dirty="0"/>
          </a:p>
          <a:p>
            <a:pPr marL="0" indent="-457200">
              <a:spcBef>
                <a:spcPts val="0"/>
              </a:spcBef>
            </a:pPr>
            <a:r>
              <a:rPr lang="en-US" sz="3200" dirty="0"/>
              <a:t>Source: AI 3D Modeling: </a:t>
            </a:r>
            <a:r>
              <a:rPr lang="en-US" sz="3200" dirty="0">
                <a:hlinkClick r:id="rId3"/>
              </a:rPr>
              <a:t>The NextGen of 3D Rendering Design</a:t>
            </a:r>
            <a:endParaRPr lang="en-US" sz="3200" dirty="0"/>
          </a:p>
        </p:txBody>
      </p:sp>
    </p:spTree>
    <p:custDataLst>
      <p:tags r:id="rId1"/>
    </p:custDataLst>
    <p:extLst>
      <p:ext uri="{BB962C8B-B14F-4D97-AF65-F5344CB8AC3E}">
        <p14:creationId xmlns:p14="http://schemas.microsoft.com/office/powerpoint/2010/main" val="1670191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2"/>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CEFF4B-9EC7-4D38-B437-9DE5B52C77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14399</TotalTime>
  <Words>1394</Words>
  <Application>Microsoft Office PowerPoint</Application>
  <PresentationFormat>Custom</PresentationFormat>
  <Paragraphs>57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 2</vt:lpstr>
      <vt:lpstr>Breeze</vt:lpstr>
      <vt:lpstr>MBA532 – AI in Business </vt:lpstr>
      <vt:lpstr>AI Progress Based on Contributions from Fully-Evolved Technologies</vt:lpstr>
      <vt:lpstr>A quick tour of many technologies that impact AI/ML</vt:lpstr>
      <vt:lpstr>Technologies broadly discussed in this course</vt:lpstr>
      <vt:lpstr>Technologies broadly discussed in this course….</vt:lpstr>
      <vt:lpstr>PowerPoint Presentation</vt:lpstr>
      <vt:lpstr>The Convergence of AI/ML and Drones (1935)</vt:lpstr>
      <vt:lpstr>The Convergence of AI/ML and NLP (1940s-2012)</vt:lpstr>
      <vt:lpstr>Convergence of AI/ML and Robotics (1950s)</vt:lpstr>
      <vt:lpstr>The Convergence of AI/ML and GPS/Satellites (1957-1973)</vt:lpstr>
      <vt:lpstr>The Convergence of AI/ML and Computer Vision (1960s-2012)</vt:lpstr>
      <vt:lpstr>The Convergence of AI/ML and 3D Modeling/3D-SLAM (1965)</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179</cp:revision>
  <dcterms:created xsi:type="dcterms:W3CDTF">2024-03-17T05:07:31Z</dcterms:created>
  <dcterms:modified xsi:type="dcterms:W3CDTF">2024-05-24T15:02:25Z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4594CCCC-45B7-44D4-A6B4-2A041FD5CA3A</vt:lpwstr>
  </property>
  <property fmtid="{D5CDD505-2E9C-101B-9397-08002B2CF9AE}" pid="5" name="ArticulatePath">
    <vt:lpwstr>MBA532 – AI in Business - Module 3-updated May 15 2024</vt:lpwstr>
  </property>
</Properties>
</file>