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3"/>
  </p:notesMasterIdLst>
  <p:sldIdLst>
    <p:sldId id="259" r:id="rId5"/>
    <p:sldId id="362" r:id="rId6"/>
    <p:sldId id="356" r:id="rId7"/>
    <p:sldId id="329" r:id="rId8"/>
    <p:sldId id="341" r:id="rId9"/>
    <p:sldId id="342" r:id="rId10"/>
    <p:sldId id="363" r:id="rId11"/>
    <p:sldId id="349" r:id="rId12"/>
    <p:sldId id="350" r:id="rId13"/>
    <p:sldId id="355" r:id="rId14"/>
    <p:sldId id="351" r:id="rId15"/>
    <p:sldId id="266" r:id="rId16"/>
    <p:sldId id="352" r:id="rId17"/>
    <p:sldId id="353" r:id="rId18"/>
    <p:sldId id="364" r:id="rId19"/>
    <p:sldId id="354" r:id="rId20"/>
    <p:sldId id="357" r:id="rId21"/>
    <p:sldId id="307" r:id="rId22"/>
  </p:sldIdLst>
  <p:sldSz cx="18288000" cy="10287000"/>
  <p:notesSz cx="6858000" cy="9144000"/>
  <p:custDataLst>
    <p:tags r:id="rId2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8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hyperlink" Target="https://intuitivex.com/tpost/eh30kurod1-the-ai-renaissance-how-generative-ai-can" TargetMode="Externa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hyperlink" Target="https://www.fictiv.com/articles/5-ways-ai-is-impacting-3d-printing" TargetMode="External"/><Relationship Id="rId4" Type="http://schemas.openxmlformats.org/officeDocument/2006/relationships/hyperlink" Target="https://www.nature.com/articles/d41586-020-03348-4"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clouddatainsights.com/the-convergence-will-be-a-powerful-trend-in-technology/"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pulse/convergence-ai-iot-exploring-aiot-gabi-molina" TargetMode="Externa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pulse/convergence-ai-quantum-computing-glimpse-future-maurice-bretzfield-fzjmc" TargetMode="Externa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pulse/digital-twins-generative-ai-convergence-simulation-raveendran-evghc?trk=article-ssr-frontend-pulse_more-articles_related-content-card" TargetMode="Externa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hyperlink" Target="https://appinventiv.com/blog/ai-in-cloud-computing/" TargetMode="Externa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pulse/how-convergence-ai-blockchain-revolutionizing-industries-maven11-ss75e?trk=public_post_main-feed-card_feed-article-content" TargetMode="Externa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hyperlink" Target="https://blogs.nvidia.com/blog/usd-metaverse-gtc/" TargetMode="Externa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clouddatainsights.com/the-convergence-will-be-a-powerful-trend-in-technology/" TargetMode="Externa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hyperlink" Target="https://www.simplilearn.com/what-is-intelligent-agent-in-ai-types-function-article" TargetMode="Externa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hyperlink" Target="https://www.valuecoders.com/blog/technology-and-apps/the-convergence-of-ai-ml-and-wearables-whats-in-store-for-the-healthcare-industry/" TargetMode="Externa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hyperlink" Target="https://www.technoexponent.com/blog/the-next-era-of-connectivity-exploring-the-convergence-of-ai-blockchain-iot-and-6g/" TargetMode="Externa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hyperlink" Target="https://www.technologyreview.com/2023/07/14/1076296/mustafa-suleyman-my-new-turing-test-would-see-if-ai-can-make-1-million/" TargetMode="Externa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hyperlink" Target="https://www.ben-evans.com/benedictevans/2023/7/2/working-with-ai" TargetMode="Externa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hyperlink" Target="https://www.slashgear.com/1332806/worlds-first-ai-designed-cp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fontAlgn="auto">
              <a:spcAft>
                <a:spcPts val="0"/>
              </a:spcAft>
              <a:defRPr/>
            </a:pPr>
            <a:r>
              <a:rPr lang="en-US" dirty="0">
                <a:latin typeface="+mj-lt"/>
              </a:rPr>
              <a:t>MODULE 3 – </a:t>
            </a:r>
            <a:r>
              <a:rPr lang="en-US" dirty="0">
                <a:effectLst/>
                <a:latin typeface="+mj-lt"/>
                <a:ea typeface="Calibri" panose="020F0502020204030204" pitchFamily="34" charset="0"/>
                <a:cs typeface="Times New Roman" panose="02020603050405020304" pitchFamily="18" charset="0"/>
              </a:rPr>
              <a:t>AI and Technology Convergence</a:t>
            </a:r>
            <a:endParaRPr lang="en-US" dirty="0">
              <a:latin typeface="+mj-lt"/>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E2DF8-F556-4DF6-AB66-FB73BB3C62BD}"/>
              </a:ext>
            </a:extLst>
          </p:cNvPr>
          <p:cNvSpPr>
            <a:spLocks noGrp="1"/>
          </p:cNvSpPr>
          <p:nvPr>
            <p:ph type="title"/>
          </p:nvPr>
        </p:nvSpPr>
        <p:spPr>
          <a:xfrm>
            <a:off x="1098550" y="795130"/>
            <a:ext cx="16084552" cy="1775792"/>
          </a:xfrm>
        </p:spPr>
        <p:txBody>
          <a:bodyPr/>
          <a:lstStyle/>
          <a:p>
            <a:r>
              <a:rPr lang="en-US" sz="4600" dirty="0"/>
              <a:t>AI Progress Based on Contributions From Midstream or Still Evolving, and Emergent Technologies</a:t>
            </a:r>
          </a:p>
        </p:txBody>
      </p:sp>
      <p:sp>
        <p:nvSpPr>
          <p:cNvPr id="3" name="Content Placeholder 2">
            <a:extLst>
              <a:ext uri="{FF2B5EF4-FFF2-40B4-BE49-F238E27FC236}">
                <a16:creationId xmlns:a16="http://schemas.microsoft.com/office/drawing/2014/main" id="{1ED67E0D-ECBD-4AF6-8C1B-F39BDD21EECA}"/>
              </a:ext>
            </a:extLst>
          </p:cNvPr>
          <p:cNvSpPr>
            <a:spLocks noGrp="1"/>
          </p:cNvSpPr>
          <p:nvPr>
            <p:ph idx="1"/>
          </p:nvPr>
        </p:nvSpPr>
        <p:spPr>
          <a:xfrm>
            <a:off x="1098550" y="3260035"/>
            <a:ext cx="16084552" cy="5678670"/>
          </a:xfrm>
        </p:spPr>
        <p:txBody>
          <a:bodyPr/>
          <a:lstStyle/>
          <a:p>
            <a:r>
              <a:rPr lang="en-US" dirty="0"/>
              <a:t>More midstream and still evolving technologies impacting AI</a:t>
            </a:r>
          </a:p>
        </p:txBody>
      </p:sp>
    </p:spTree>
    <p:custDataLst>
      <p:tags r:id="rId1"/>
    </p:custDataLst>
    <p:extLst>
      <p:ext uri="{BB962C8B-B14F-4D97-AF65-F5344CB8AC3E}">
        <p14:creationId xmlns:p14="http://schemas.microsoft.com/office/powerpoint/2010/main" val="3823186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213973"/>
            <a:ext cx="16084552" cy="896370"/>
          </a:xfrm>
        </p:spPr>
        <p:txBody>
          <a:bodyPr>
            <a:normAutofit/>
          </a:bodyPr>
          <a:lstStyle/>
          <a:p>
            <a:r>
              <a:rPr lang="en-US" sz="4800" dirty="0">
                <a:solidFill>
                  <a:srgbClr val="C00000"/>
                </a:solidFill>
              </a:rPr>
              <a:t>How Convergence with AI/ML helps 3D Printing (1981)</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789214" y="1344239"/>
            <a:ext cx="16709571" cy="8392886"/>
          </a:xfrm>
        </p:spPr>
        <p:txBody>
          <a:bodyPr anchor="ctr">
            <a:noAutofit/>
          </a:bodyPr>
          <a:lstStyle/>
          <a:p>
            <a:pPr marL="514350" indent="-514350">
              <a:spcBef>
                <a:spcPts val="0"/>
              </a:spcBef>
              <a:buFont typeface="+mj-lt"/>
              <a:buAutoNum type="arabicPeriod"/>
            </a:pPr>
            <a:r>
              <a:rPr lang="en-US" sz="3200" dirty="0"/>
              <a:t>Better Prints, Fewer Errors: AI also can detect and correct failures on the fly — the models learn from and prevent defects and failed prints from happening.</a:t>
            </a:r>
          </a:p>
          <a:p>
            <a:pPr marL="514350" indent="-514350">
              <a:spcBef>
                <a:spcPts val="0"/>
              </a:spcBef>
              <a:buFont typeface="+mj-lt"/>
              <a:buAutoNum type="arabicPeriod"/>
            </a:pPr>
            <a:r>
              <a:rPr lang="en-US" sz="3200" dirty="0"/>
              <a:t>3D Printing for Everyone: Small tweaks to 3D Printing settings greatly impacts a finished print’s quality and strength. AI can handle these tasks to improve results.</a:t>
            </a:r>
          </a:p>
          <a:p>
            <a:pPr marL="514350" indent="-514350">
              <a:spcBef>
                <a:spcPts val="0"/>
              </a:spcBef>
              <a:buFont typeface="+mj-lt"/>
              <a:buAutoNum type="arabicPeriod"/>
            </a:pPr>
            <a:r>
              <a:rPr lang="en-US" sz="3200" dirty="0"/>
              <a:t>A Design for Manufacturing (DFM) Copilot to 3D Printing:  AI can assist such a DFM Copilot to substantially improve the quality of the finished products.</a:t>
            </a:r>
          </a:p>
          <a:p>
            <a:pPr marL="514350" indent="-514350">
              <a:spcBef>
                <a:spcPts val="0"/>
              </a:spcBef>
              <a:buFont typeface="+mj-lt"/>
              <a:buAutoNum type="arabicPeriod"/>
            </a:pPr>
            <a:r>
              <a:rPr lang="en-US" sz="3200" dirty="0"/>
              <a:t>Generative Design: Tools like </a:t>
            </a:r>
            <a:r>
              <a:rPr lang="en-US" sz="3200" dirty="0" err="1"/>
              <a:t>ChatGPT</a:t>
            </a:r>
            <a:r>
              <a:rPr lang="en-US" sz="3200" dirty="0"/>
              <a:t>, </a:t>
            </a:r>
            <a:r>
              <a:rPr lang="en-US" sz="3200" dirty="0" err="1"/>
              <a:t>MidJourney</a:t>
            </a:r>
            <a:r>
              <a:rPr lang="en-US" sz="3200" dirty="0"/>
              <a:t>, and Stable Diffusion can create original imagery based only on a description of the desired image. These tools currently focus on 2D images, but can evolve to accommodate 3D. </a:t>
            </a:r>
            <a:r>
              <a:rPr lang="en-US" sz="3200" dirty="0" err="1"/>
              <a:t>ChatGPT</a:t>
            </a:r>
            <a:r>
              <a:rPr lang="en-US" sz="3200" dirty="0"/>
              <a:t> could be used to turn text prompts into physical, 3D-printed objects. Using large amounts of data from MRI and CT scans, this approach create new markets for </a:t>
            </a:r>
            <a:r>
              <a:rPr lang="en-US" sz="3200" dirty="0">
                <a:hlinkClick r:id="rId3"/>
              </a:rPr>
              <a:t>personalized medical devices</a:t>
            </a:r>
            <a:r>
              <a:rPr lang="en-US" sz="3200" dirty="0"/>
              <a:t>. </a:t>
            </a:r>
          </a:p>
          <a:p>
            <a:pPr marL="514350" indent="-514350">
              <a:spcBef>
                <a:spcPts val="0"/>
              </a:spcBef>
              <a:buAutoNum type="arabicPeriod" startAt="5"/>
            </a:pPr>
            <a:r>
              <a:rPr lang="en-US" sz="3200" dirty="0"/>
              <a:t>Material Science and Selection Innovation: With artificial intelligence and additive manufacturing, novel material combinations and designs can be developed to produce more powerful and efficient engines. AI can develop complex alloys, similar to how it has </a:t>
            </a:r>
            <a:r>
              <a:rPr lang="en-US" sz="3200" dirty="0">
                <a:hlinkClick r:id="rId4"/>
              </a:rPr>
              <a:t>advanced the science of protein folding</a:t>
            </a:r>
            <a:r>
              <a:rPr lang="en-US" sz="3200" dirty="0"/>
              <a:t> in medicine. </a:t>
            </a:r>
          </a:p>
          <a:p>
            <a:pPr marL="0" indent="0">
              <a:spcBef>
                <a:spcPts val="0"/>
              </a:spcBef>
              <a:buNone/>
            </a:pPr>
            <a:endParaRPr lang="en-US" sz="3200" dirty="0"/>
          </a:p>
          <a:p>
            <a:pPr marL="0" indent="0">
              <a:spcBef>
                <a:spcPts val="0"/>
              </a:spcBef>
              <a:buNone/>
            </a:pPr>
            <a:r>
              <a:rPr lang="en-US" sz="3200" dirty="0"/>
              <a:t>Source: </a:t>
            </a:r>
            <a:r>
              <a:rPr lang="en-US" sz="3200" dirty="0">
                <a:hlinkClick r:id="rId5"/>
              </a:rPr>
              <a:t>5 Ways AI is Impacting 3D Printing</a:t>
            </a:r>
            <a:endParaRPr lang="en-US" sz="3200" dirty="0"/>
          </a:p>
        </p:txBody>
      </p:sp>
    </p:spTree>
    <p:custDataLst>
      <p:tags r:id="rId1"/>
    </p:custDataLst>
    <p:extLst>
      <p:ext uri="{BB962C8B-B14F-4D97-AF65-F5344CB8AC3E}">
        <p14:creationId xmlns:p14="http://schemas.microsoft.com/office/powerpoint/2010/main" val="164905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2F2D-F7D4-4475-8C2C-5579E0D8DB6C}"/>
              </a:ext>
            </a:extLst>
          </p:cNvPr>
          <p:cNvSpPr>
            <a:spLocks noGrp="1"/>
          </p:cNvSpPr>
          <p:nvPr>
            <p:ph type="title"/>
          </p:nvPr>
        </p:nvSpPr>
        <p:spPr>
          <a:xfrm>
            <a:off x="1098550" y="402772"/>
            <a:ext cx="16084552" cy="1284514"/>
          </a:xfrm>
        </p:spPr>
        <p:txBody>
          <a:bodyPr/>
          <a:lstStyle/>
          <a:p>
            <a:r>
              <a:rPr lang="en-US" dirty="0"/>
              <a:t>Convergence of AI/ML and Edge Computing (1990s)</a:t>
            </a:r>
          </a:p>
        </p:txBody>
      </p:sp>
      <p:sp>
        <p:nvSpPr>
          <p:cNvPr id="3" name="Content Placeholder 2">
            <a:extLst>
              <a:ext uri="{FF2B5EF4-FFF2-40B4-BE49-F238E27FC236}">
                <a16:creationId xmlns:a16="http://schemas.microsoft.com/office/drawing/2014/main" id="{317D63F0-876B-4D47-A020-BBB9AF930C72}"/>
              </a:ext>
            </a:extLst>
          </p:cNvPr>
          <p:cNvSpPr>
            <a:spLocks noGrp="1"/>
          </p:cNvSpPr>
          <p:nvPr>
            <p:ph idx="1"/>
          </p:nvPr>
        </p:nvSpPr>
        <p:spPr>
          <a:xfrm>
            <a:off x="1098550" y="2575632"/>
            <a:ext cx="16084552" cy="6888006"/>
          </a:xfrm>
        </p:spPr>
        <p:txBody>
          <a:bodyPr/>
          <a:lstStyle/>
          <a:p>
            <a:r>
              <a:rPr lang="en-US" sz="3200" dirty="0"/>
              <a:t>Edge computing involves processing data near the source of data generation rather than relying on a centralized cloud server. It brings computational power closer to where data is produced, reducing latency and improving efficiency.</a:t>
            </a:r>
          </a:p>
          <a:p>
            <a:r>
              <a:rPr lang="en-US" sz="3200" dirty="0"/>
              <a:t>Edge computing is crucial for AI applications that require real-time processing and low latency. By processing data locally on edge devices, AI algorithms can make faster decisions, which is particularly important for applications such as autonomous vehicles, industrial automation, and augmented reality.</a:t>
            </a:r>
          </a:p>
          <a:p>
            <a:r>
              <a:rPr lang="en-US" sz="3200" dirty="0">
                <a:solidFill>
                  <a:srgbClr val="000000"/>
                </a:solidFill>
              </a:rPr>
              <a:t>Source: </a:t>
            </a:r>
            <a:r>
              <a:rPr lang="en-US" sz="3200" dirty="0">
                <a:solidFill>
                  <a:srgbClr val="000000"/>
                </a:solidFill>
                <a:hlinkClick r:id="rId3"/>
              </a:rPr>
              <a:t>The Convergence will be a Powerful Trend in Technology</a:t>
            </a:r>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1184461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509758"/>
            <a:ext cx="16084552" cy="896370"/>
          </a:xfrm>
        </p:spPr>
        <p:txBody>
          <a:bodyPr>
            <a:normAutofit fontScale="90000"/>
          </a:bodyPr>
          <a:lstStyle/>
          <a:p>
            <a:r>
              <a:rPr lang="en-US" sz="6000" dirty="0">
                <a:solidFill>
                  <a:srgbClr val="C00000"/>
                </a:solidFill>
              </a:rPr>
              <a:t>The Convergence of AI/ML and IoT (1990s)</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631372" y="2152261"/>
            <a:ext cx="17025256" cy="7599164"/>
          </a:xfrm>
        </p:spPr>
        <p:txBody>
          <a:bodyPr anchor="ctr">
            <a:noAutofit/>
          </a:bodyPr>
          <a:lstStyle/>
          <a:p>
            <a:r>
              <a:rPr lang="en-US" sz="3200" dirty="0"/>
              <a:t>IoT represents a network of physical devices connected to the internet that collect and share data. These devices can range from everyday household items like refrigerators and thermostats to industrial tools in factories. They are equipped with sensors to collect data and actuators to perform actions.</a:t>
            </a:r>
          </a:p>
          <a:p>
            <a:r>
              <a:rPr lang="en-US" sz="3200" dirty="0"/>
              <a:t>When AI and IoT come together, they create a system where IoT devices gather data and AI processes it. This allows for real-time analysis and decision making, creating a more efficient and intelligent system. </a:t>
            </a:r>
          </a:p>
          <a:p>
            <a:r>
              <a:rPr lang="en-US" sz="3200" dirty="0"/>
              <a:t>For example, in a smart home, an </a:t>
            </a:r>
            <a:r>
              <a:rPr lang="en-US" sz="3200" dirty="0" err="1"/>
              <a:t>AIoT</a:t>
            </a:r>
            <a:r>
              <a:rPr lang="en-US" sz="3200" dirty="0"/>
              <a:t> system could analyze data from various sensors and make decisions like adjusting the thermostat based on your preferences, turning off lights when no one is in the room, or even alerting you if it detects unusual activity while you're away.. In devices that integrate AI and IoT, These devices can collect data, interpret it, and make decisions without human intervention.</a:t>
            </a:r>
          </a:p>
          <a:p>
            <a:pPr marL="0" indent="-457200">
              <a:spcBef>
                <a:spcPts val="0"/>
              </a:spcBef>
            </a:pPr>
            <a:endParaRPr lang="en-US" sz="3200" dirty="0"/>
          </a:p>
          <a:p>
            <a:pPr marL="0" indent="-457200">
              <a:spcBef>
                <a:spcPts val="0"/>
              </a:spcBef>
            </a:pPr>
            <a:r>
              <a:rPr lang="en-US" sz="3200" dirty="0"/>
              <a:t>Source:  </a:t>
            </a:r>
            <a:r>
              <a:rPr lang="en-US" sz="3200" dirty="0">
                <a:hlinkClick r:id="rId3"/>
              </a:rPr>
              <a:t>The Convergence of AI and IoT</a:t>
            </a:r>
            <a:endParaRPr lang="en-US" sz="3200" dirty="0"/>
          </a:p>
          <a:p>
            <a:pPr marL="0" indent="0">
              <a:spcBef>
                <a:spcPts val="0"/>
              </a:spcBef>
              <a:buNone/>
            </a:pPr>
            <a:endParaRPr lang="en-US" sz="3200" dirty="0"/>
          </a:p>
        </p:txBody>
      </p:sp>
    </p:spTree>
    <p:custDataLst>
      <p:tags r:id="rId1"/>
    </p:custDataLst>
    <p:extLst>
      <p:ext uri="{BB962C8B-B14F-4D97-AF65-F5344CB8AC3E}">
        <p14:creationId xmlns:p14="http://schemas.microsoft.com/office/powerpoint/2010/main" val="3695968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455013"/>
            <a:ext cx="16084552" cy="896370"/>
          </a:xfrm>
        </p:spPr>
        <p:txBody>
          <a:bodyPr>
            <a:normAutofit/>
          </a:bodyPr>
          <a:lstStyle/>
          <a:p>
            <a:r>
              <a:rPr lang="en-US" sz="4400" dirty="0">
                <a:solidFill>
                  <a:srgbClr val="C00000"/>
                </a:solidFill>
              </a:rPr>
              <a:t>The Convergence of AI/ML and Quantum Computing (1998)</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1101724" y="1747320"/>
            <a:ext cx="17025256" cy="8401907"/>
          </a:xfrm>
        </p:spPr>
        <p:txBody>
          <a:bodyPr anchor="ctr">
            <a:noAutofit/>
          </a:bodyPr>
          <a:lstStyle/>
          <a:p>
            <a:pPr marL="0" indent="-457200">
              <a:spcBef>
                <a:spcPts val="0"/>
              </a:spcBef>
            </a:pPr>
            <a:r>
              <a:rPr lang="en-US" sz="3200" dirty="0"/>
              <a:t>Quantum computing leverages quantum mechanics, using qubits that exist in superposed 	states, allows simultaneous processing and exponential computing power. The 	convergence of QC and AI leads to Quantum Machine Learning (QML), which 	accelerates computations, boosts AI capabilities, and promises breakthroughs such as:</a:t>
            </a:r>
          </a:p>
          <a:p>
            <a:pPr marL="0">
              <a:spcBef>
                <a:spcPts val="0"/>
              </a:spcBef>
              <a:buFont typeface="Arial" panose="020B0604020202020204" pitchFamily="34" charset="0"/>
              <a:buChar char="•"/>
            </a:pPr>
            <a:r>
              <a:rPr lang="en-US" sz="3200" dirty="0"/>
              <a:t>Supercharge Machine Learning: This convergence will yield faster algorithms and 	optimized complex systems. This means businesses can process vast amounts of data 	more efficiently, leading to quicker insights and better decision-making.</a:t>
            </a:r>
          </a:p>
          <a:p>
            <a:pPr marL="0">
              <a:spcBef>
                <a:spcPts val="0"/>
              </a:spcBef>
              <a:buFont typeface="Arial" panose="020B0604020202020204" pitchFamily="34" charset="0"/>
              <a:buChar char="•"/>
            </a:pPr>
            <a:r>
              <a:rPr lang="en-US" sz="3200" dirty="0"/>
              <a:t>Revolutionize Industries: In healthcare, Quantum Machine Learning can enhance drug 	discovery processes, while in finance, it can optimize trading strategies and risk 	assessments.</a:t>
            </a:r>
          </a:p>
          <a:p>
            <a:pPr marL="0">
              <a:spcBef>
                <a:spcPts val="0"/>
              </a:spcBef>
              <a:buFont typeface="Arial" panose="020B0604020202020204" pitchFamily="34" charset="0"/>
              <a:buChar char="•"/>
            </a:pPr>
            <a:r>
              <a:rPr lang="en-US" sz="3200" dirty="0"/>
              <a:t>Address Global Challenges: Quantum-AI convergence can tackle issues like energy 	consumption, traffic management, climate change and drug discovery. </a:t>
            </a:r>
          </a:p>
          <a:p>
            <a:pPr marL="0">
              <a:spcBef>
                <a:spcPts val="0"/>
              </a:spcBef>
              <a:buFont typeface="Arial" panose="020B0604020202020204" pitchFamily="34" charset="0"/>
              <a:buChar char="•"/>
            </a:pPr>
            <a:r>
              <a:rPr lang="en-US" sz="3200" dirty="0"/>
              <a:t>Security and Communication: Quantum Key Distribution (QKD) can assure secure 	communication via entangled photons to revolutionize cybersecurity.</a:t>
            </a:r>
          </a:p>
          <a:p>
            <a:pPr marL="0">
              <a:spcBef>
                <a:spcPts val="0"/>
              </a:spcBef>
              <a:buFont typeface="Arial" panose="020B0604020202020204" pitchFamily="34" charset="0"/>
              <a:buChar char="•"/>
            </a:pPr>
            <a:endParaRPr lang="en-US" sz="3200" dirty="0"/>
          </a:p>
          <a:p>
            <a:pPr marL="0" indent="0">
              <a:spcBef>
                <a:spcPts val="0"/>
              </a:spcBef>
              <a:buNone/>
            </a:pPr>
            <a:r>
              <a:rPr lang="en-US" sz="3200" dirty="0"/>
              <a:t>Source: </a:t>
            </a:r>
            <a:r>
              <a:rPr lang="en-US" sz="3200" dirty="0">
                <a:hlinkClick r:id="rId3"/>
              </a:rPr>
              <a:t>The Convergence of AI and Quantum Computing</a:t>
            </a:r>
            <a:endParaRPr lang="en-US" sz="3200" dirty="0"/>
          </a:p>
          <a:p>
            <a:pPr marL="0" indent="-457200">
              <a:spcBef>
                <a:spcPts val="0"/>
              </a:spcBef>
            </a:pPr>
            <a:endParaRPr lang="en-US" sz="3200" dirty="0"/>
          </a:p>
        </p:txBody>
      </p:sp>
    </p:spTree>
    <p:custDataLst>
      <p:tags r:id="rId1"/>
    </p:custDataLst>
    <p:extLst>
      <p:ext uri="{BB962C8B-B14F-4D97-AF65-F5344CB8AC3E}">
        <p14:creationId xmlns:p14="http://schemas.microsoft.com/office/powerpoint/2010/main" val="140034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8DAAC3-F538-445F-8B99-B4151FC33BB4}"/>
              </a:ext>
            </a:extLst>
          </p:cNvPr>
          <p:cNvSpPr>
            <a:spLocks noGrp="1"/>
          </p:cNvSpPr>
          <p:nvPr>
            <p:ph idx="1"/>
          </p:nvPr>
        </p:nvSpPr>
        <p:spPr/>
        <p:txBody>
          <a:bodyPr/>
          <a:lstStyle/>
          <a:p>
            <a:r>
              <a:rPr lang="en-US" dirty="0"/>
              <a:t>Technologies introduced in the 21</a:t>
            </a:r>
            <a:r>
              <a:rPr lang="en-US" baseline="30000" dirty="0"/>
              <a:t>st</a:t>
            </a:r>
            <a:r>
              <a:rPr lang="en-US" dirty="0"/>
              <a:t> Century impacting AI</a:t>
            </a:r>
          </a:p>
        </p:txBody>
      </p:sp>
    </p:spTree>
    <p:custDataLst>
      <p:tags r:id="rId1"/>
    </p:custDataLst>
    <p:extLst>
      <p:ext uri="{BB962C8B-B14F-4D97-AF65-F5344CB8AC3E}">
        <p14:creationId xmlns:p14="http://schemas.microsoft.com/office/powerpoint/2010/main" val="3978054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0988F-1DA1-4FAA-B1F0-A00323C343BF}"/>
              </a:ext>
            </a:extLst>
          </p:cNvPr>
          <p:cNvSpPr>
            <a:spLocks noGrp="1"/>
          </p:cNvSpPr>
          <p:nvPr>
            <p:ph type="title"/>
          </p:nvPr>
        </p:nvSpPr>
        <p:spPr>
          <a:xfrm>
            <a:off x="1098550" y="503853"/>
            <a:ext cx="16084552" cy="1003672"/>
          </a:xfrm>
        </p:spPr>
        <p:txBody>
          <a:bodyPr/>
          <a:lstStyle/>
          <a:p>
            <a:r>
              <a:rPr lang="en-US" dirty="0"/>
              <a:t>Convergence of AI/ML and Digital Twins (2002)</a:t>
            </a:r>
          </a:p>
        </p:txBody>
      </p:sp>
      <p:sp>
        <p:nvSpPr>
          <p:cNvPr id="3" name="Content Placeholder 2">
            <a:extLst>
              <a:ext uri="{FF2B5EF4-FFF2-40B4-BE49-F238E27FC236}">
                <a16:creationId xmlns:a16="http://schemas.microsoft.com/office/drawing/2014/main" id="{C5C097D1-06B6-4CC9-9209-2CFCF0ECCE68}"/>
              </a:ext>
            </a:extLst>
          </p:cNvPr>
          <p:cNvSpPr>
            <a:spLocks noGrp="1"/>
          </p:cNvSpPr>
          <p:nvPr>
            <p:ph idx="1"/>
          </p:nvPr>
        </p:nvSpPr>
        <p:spPr>
          <a:xfrm>
            <a:off x="1098550" y="1617457"/>
            <a:ext cx="16084552" cy="7877072"/>
          </a:xfrm>
        </p:spPr>
        <p:txBody>
          <a:bodyPr/>
          <a:lstStyle/>
          <a:p>
            <a:pPr marL="0">
              <a:spcBef>
                <a:spcPts val="0"/>
              </a:spcBef>
            </a:pPr>
            <a:r>
              <a:rPr lang="en-US" sz="3200" dirty="0"/>
              <a:t>A digital twin is a virtual representation of an object or system designed to reflect a 	physical object accurately. It spans the object's lifecycle, is updated from real-time 	data and uses simulation, machine learning and reasoning to help make decisions.</a:t>
            </a:r>
          </a:p>
          <a:p>
            <a:pPr marL="0">
              <a:spcBef>
                <a:spcPts val="0"/>
              </a:spcBef>
            </a:pPr>
            <a:r>
              <a:rPr lang="en-US" sz="3200" dirty="0"/>
              <a:t>The fusion of Digital Twins with Generative AI opens up a world of possibilities. In 	healthcare, a virtual patient model treated and monitored digitally could	continuously inform a Generative AI system that, in turn, develops a 	comprehensive understanding of the patient's responses to various treatments, 	offering invaluable insights to doctors. Such optimization of treatment plans goes 	beyond mere prediction to offer personalized healthcare strategies tailored to an 	individual's lifestyle and potential health risks.</a:t>
            </a:r>
          </a:p>
          <a:p>
            <a:pPr marL="0">
              <a:spcBef>
                <a:spcPts val="0"/>
              </a:spcBef>
            </a:pPr>
            <a:r>
              <a:rPr lang="en-US" sz="3200" dirty="0"/>
              <a:t>digital replicas of each airplane in a fleet providing real-time insights into their 	condition and maintenance needs. This leap in technological capability is not just 	about preemptive maintenance or cost-effective routes; it's about understanding 	and managing the complexities of the physical world in a digital space.</a:t>
            </a:r>
          </a:p>
          <a:p>
            <a:pPr marL="0">
              <a:spcBef>
                <a:spcPts val="0"/>
              </a:spcBef>
            </a:pPr>
            <a:endParaRPr lang="en-US" sz="3200" dirty="0"/>
          </a:p>
          <a:p>
            <a:pPr marL="0">
              <a:spcBef>
                <a:spcPts val="0"/>
              </a:spcBef>
            </a:pPr>
            <a:r>
              <a:rPr lang="en-US" sz="3200" dirty="0"/>
              <a:t>Source: </a:t>
            </a:r>
            <a:r>
              <a:rPr lang="en-US" sz="3200" dirty="0">
                <a:hlinkClick r:id="rId3"/>
              </a:rPr>
              <a:t>Digital Twins and Generative AI: A Convergence</a:t>
            </a:r>
            <a:endParaRPr lang="en-US" sz="3200" dirty="0"/>
          </a:p>
        </p:txBody>
      </p:sp>
    </p:spTree>
    <p:custDataLst>
      <p:tags r:id="rId1"/>
    </p:custDataLst>
    <p:extLst>
      <p:ext uri="{BB962C8B-B14F-4D97-AF65-F5344CB8AC3E}">
        <p14:creationId xmlns:p14="http://schemas.microsoft.com/office/powerpoint/2010/main" val="412969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5CC9-7D56-4929-9128-1BF62EAE834D}"/>
              </a:ext>
            </a:extLst>
          </p:cNvPr>
          <p:cNvSpPr>
            <a:spLocks noGrp="1"/>
          </p:cNvSpPr>
          <p:nvPr>
            <p:ph type="title"/>
          </p:nvPr>
        </p:nvSpPr>
        <p:spPr>
          <a:xfrm>
            <a:off x="1098550" y="597159"/>
            <a:ext cx="16084552" cy="873044"/>
          </a:xfrm>
        </p:spPr>
        <p:txBody>
          <a:bodyPr/>
          <a:lstStyle/>
          <a:p>
            <a:r>
              <a:rPr lang="en-US" sz="4400" dirty="0"/>
              <a:t>Convergence of AI/ML and Elastic Cloud Computing (2006)</a:t>
            </a:r>
          </a:p>
        </p:txBody>
      </p:sp>
      <p:sp>
        <p:nvSpPr>
          <p:cNvPr id="3" name="Content Placeholder 2">
            <a:extLst>
              <a:ext uri="{FF2B5EF4-FFF2-40B4-BE49-F238E27FC236}">
                <a16:creationId xmlns:a16="http://schemas.microsoft.com/office/drawing/2014/main" id="{682DDBA1-D118-4C50-8E60-21E94D518D58}"/>
              </a:ext>
            </a:extLst>
          </p:cNvPr>
          <p:cNvSpPr>
            <a:spLocks noGrp="1"/>
          </p:cNvSpPr>
          <p:nvPr>
            <p:ph idx="1"/>
          </p:nvPr>
        </p:nvSpPr>
        <p:spPr>
          <a:xfrm>
            <a:off x="1098550" y="1699497"/>
            <a:ext cx="16084552" cy="7990344"/>
          </a:xfrm>
        </p:spPr>
        <p:txBody>
          <a:bodyPr/>
          <a:lstStyle/>
          <a:p>
            <a:pPr marL="0">
              <a:spcBef>
                <a:spcPts val="0"/>
              </a:spcBef>
            </a:pPr>
            <a:r>
              <a:rPr lang="en-US" dirty="0"/>
              <a:t>AI in cloud computing has emerged as a game-changer in recent 	times. As businesses seek agile solutions, combining cloud 	computing with AI offers unparalleled potential. This dynamic 	convergence leads to groundbreaking AI cloud solutions that 	revolutionize operations.</a:t>
            </a:r>
          </a:p>
          <a:p>
            <a:pPr marL="0">
              <a:spcBef>
                <a:spcPts val="0"/>
              </a:spcBef>
            </a:pPr>
            <a:r>
              <a:rPr lang="en-US" dirty="0"/>
              <a:t>Key Benefits to Businesses of this Convergence: Scalability and 	Flexibility; Cost Savings; Improved Productivity and Decision 	Making; and Better Data Access.</a:t>
            </a:r>
          </a:p>
          <a:p>
            <a:pPr marL="0">
              <a:spcBef>
                <a:spcPts val="0"/>
              </a:spcBef>
            </a:pPr>
            <a:r>
              <a:rPr lang="en-US" dirty="0"/>
              <a:t>Key Applications include: Supply Chain optimization; Predictive 	Analytics; Cybersecurity and Threat Detection; Automation and 	Process Innovation </a:t>
            </a:r>
          </a:p>
          <a:p>
            <a:pPr marL="0">
              <a:spcBef>
                <a:spcPts val="0"/>
              </a:spcBef>
            </a:pPr>
            <a:endParaRPr lang="en-US" dirty="0"/>
          </a:p>
          <a:p>
            <a:pPr marL="0">
              <a:spcBef>
                <a:spcPts val="0"/>
              </a:spcBef>
            </a:pPr>
            <a:r>
              <a:rPr lang="en-US" dirty="0"/>
              <a:t>Source: </a:t>
            </a:r>
            <a:r>
              <a:rPr lang="en-US" dirty="0">
                <a:hlinkClick r:id="rId3"/>
              </a:rPr>
              <a:t>AI in Cloud Computing</a:t>
            </a:r>
            <a:endParaRPr lang="en-US" dirty="0"/>
          </a:p>
        </p:txBody>
      </p:sp>
    </p:spTree>
    <p:custDataLst>
      <p:tags r:id="rId1"/>
    </p:custDataLst>
    <p:extLst>
      <p:ext uri="{BB962C8B-B14F-4D97-AF65-F5344CB8AC3E}">
        <p14:creationId xmlns:p14="http://schemas.microsoft.com/office/powerpoint/2010/main" val="253155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788A-1807-48DC-BAB0-BC756E17DC8F}"/>
              </a:ext>
            </a:extLst>
          </p:cNvPr>
          <p:cNvSpPr>
            <a:spLocks noGrp="1"/>
          </p:cNvSpPr>
          <p:nvPr>
            <p:ph type="title"/>
          </p:nvPr>
        </p:nvSpPr>
        <p:spPr>
          <a:xfrm>
            <a:off x="949260" y="363284"/>
            <a:ext cx="16084552" cy="966350"/>
          </a:xfrm>
        </p:spPr>
        <p:txBody>
          <a:bodyPr/>
          <a:lstStyle/>
          <a:p>
            <a:r>
              <a:rPr lang="en-US" sz="4400" dirty="0"/>
              <a:t>Convergence of AI/ML and Blockchain Technology (2009)</a:t>
            </a:r>
          </a:p>
        </p:txBody>
      </p:sp>
      <p:sp>
        <p:nvSpPr>
          <p:cNvPr id="3" name="Content Placeholder 2">
            <a:extLst>
              <a:ext uri="{FF2B5EF4-FFF2-40B4-BE49-F238E27FC236}">
                <a16:creationId xmlns:a16="http://schemas.microsoft.com/office/drawing/2014/main" id="{0DC8BBA5-0D11-4D46-9FF5-7854C4054227}"/>
              </a:ext>
            </a:extLst>
          </p:cNvPr>
          <p:cNvSpPr>
            <a:spLocks noGrp="1"/>
          </p:cNvSpPr>
          <p:nvPr>
            <p:ph idx="1"/>
          </p:nvPr>
        </p:nvSpPr>
        <p:spPr>
          <a:xfrm>
            <a:off x="1101724" y="1424265"/>
            <a:ext cx="16084552" cy="7701073"/>
          </a:xfrm>
        </p:spPr>
        <p:txBody>
          <a:bodyPr/>
          <a:lstStyle/>
          <a:p>
            <a:pPr marL="0">
              <a:spcBef>
                <a:spcPts val="0"/>
              </a:spcBef>
            </a:pPr>
            <a:r>
              <a:rPr lang="en-US" sz="3200" dirty="0"/>
              <a:t>Blockchain is an electronic, decentralized, distributed ledger records transactions 	securely between the computers in a network. It ensures that data cannot be 	altered retroactively, making it ideal to track assets and establishing provenance.</a:t>
            </a:r>
          </a:p>
          <a:p>
            <a:pPr marL="0">
              <a:spcBef>
                <a:spcPts val="0"/>
              </a:spcBef>
            </a:pPr>
            <a:r>
              <a:rPr lang="en-US" sz="3200" dirty="0"/>
              <a:t>Artificial intelligence (AI) and blockchain are converging in a powerful synergy, 	creating a new innovation frontier. This represents a fusion where the boundary-	pushing intelligence of AI meets the revolutionary decentralization of blockchain. </a:t>
            </a:r>
          </a:p>
          <a:p>
            <a:pPr marL="0">
              <a:spcBef>
                <a:spcPts val="0"/>
              </a:spcBef>
            </a:pPr>
            <a:r>
              <a:rPr lang="en-US" sz="3200" dirty="0"/>
              <a:t>Blockchain technology offers a transformative boost to AI. By providing a 	decentralized, tamper-proof ledger, blockchain ensures the integrity and quality of 	data used to train AI models, directly enhancing their reliability and minimizing 	biases. Blockchain’s distributed nature prevents single points of failure and reduces 	the potential for data manipulation. Its robust encryption and permission controls 	allow for secure sharing of sensitive data, fueling AI development while respecting 	privacy concerns. This combination accelerates the growth of more accurate, 	ethical, and powerful AI systems.</a:t>
            </a:r>
          </a:p>
          <a:p>
            <a:pPr marL="0" indent="0">
              <a:spcBef>
                <a:spcPts val="0"/>
              </a:spcBef>
              <a:buNone/>
            </a:pPr>
            <a:endParaRPr lang="en-US" sz="3200" dirty="0"/>
          </a:p>
          <a:p>
            <a:pPr>
              <a:spcBef>
                <a:spcPts val="0"/>
              </a:spcBef>
            </a:pPr>
            <a:r>
              <a:rPr lang="en-US" sz="3200" dirty="0"/>
              <a:t>Source: </a:t>
            </a:r>
            <a:r>
              <a:rPr lang="en-US" sz="3200" dirty="0">
                <a:hlinkClick r:id="rId3"/>
              </a:rPr>
              <a:t>How the Convergence of AI and Blockchain is Revolutionizing Industries</a:t>
            </a:r>
            <a:endParaRPr lang="en-US" sz="3200" dirty="0"/>
          </a:p>
        </p:txBody>
      </p:sp>
    </p:spTree>
    <p:custDataLst>
      <p:tags r:id="rId1"/>
    </p:custDataLst>
    <p:extLst>
      <p:ext uri="{BB962C8B-B14F-4D97-AF65-F5344CB8AC3E}">
        <p14:creationId xmlns:p14="http://schemas.microsoft.com/office/powerpoint/2010/main" val="116077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A30E7-55DF-47D2-9F8F-A8565945CF8F}"/>
              </a:ext>
            </a:extLst>
          </p:cNvPr>
          <p:cNvSpPr>
            <a:spLocks noGrp="1"/>
          </p:cNvSpPr>
          <p:nvPr>
            <p:ph type="title"/>
          </p:nvPr>
        </p:nvSpPr>
        <p:spPr>
          <a:xfrm>
            <a:off x="1101724" y="671539"/>
            <a:ext cx="16084552" cy="1022334"/>
          </a:xfrm>
        </p:spPr>
        <p:txBody>
          <a:bodyPr/>
          <a:lstStyle/>
          <a:p>
            <a:r>
              <a:rPr lang="en-US" sz="4000" dirty="0"/>
              <a:t>Convergence of AI/ML and Universal Scene Description (USD) – (2012-2024)</a:t>
            </a:r>
          </a:p>
        </p:txBody>
      </p:sp>
      <p:sp>
        <p:nvSpPr>
          <p:cNvPr id="3" name="Content Placeholder 2">
            <a:extLst>
              <a:ext uri="{FF2B5EF4-FFF2-40B4-BE49-F238E27FC236}">
                <a16:creationId xmlns:a16="http://schemas.microsoft.com/office/drawing/2014/main" id="{19DD6991-1251-4E34-96E7-5874480312CE}"/>
              </a:ext>
            </a:extLst>
          </p:cNvPr>
          <p:cNvSpPr>
            <a:spLocks noGrp="1"/>
          </p:cNvSpPr>
          <p:nvPr>
            <p:ph idx="1"/>
          </p:nvPr>
        </p:nvSpPr>
        <p:spPr>
          <a:xfrm>
            <a:off x="1098550" y="2092764"/>
            <a:ext cx="16084552" cy="6888006"/>
          </a:xfrm>
        </p:spPr>
        <p:txBody>
          <a:bodyPr/>
          <a:lstStyle/>
          <a:p>
            <a:pPr marL="0">
              <a:spcBef>
                <a:spcPts val="0"/>
              </a:spcBef>
            </a:pPr>
            <a:r>
              <a:rPr lang="en-US" sz="3200" dirty="0"/>
              <a:t>One of NVIDIA’s key additions to the USD ecosystem is a replication system. An 	application programmer can use the standard USD API to query a scene and alter 	it at will. With no special effort on the part of the programmer, the system keeps 	track of everything that changes.</a:t>
            </a:r>
          </a:p>
          <a:p>
            <a:pPr marL="0">
              <a:spcBef>
                <a:spcPts val="0"/>
              </a:spcBef>
            </a:pPr>
            <a:r>
              <a:rPr lang="en-US" sz="3200" dirty="0"/>
              <a:t>In real time, changes to a 3D scene are sent to creators and collaborators via 	NVIDIA’s Omniverse Nucleus server, the platform’s powerful collaboration engine. 	As a result, different teams in different places using different tools can work 	together and see each other’s changes instantaneously – something previously not 	possible.</a:t>
            </a:r>
          </a:p>
          <a:p>
            <a:pPr marL="0">
              <a:spcBef>
                <a:spcPts val="0"/>
              </a:spcBef>
            </a:pPr>
            <a:r>
              <a:rPr lang="en-US" sz="3200" dirty="0"/>
              <a:t>That technology has become invaluable in architecture, engineering and 	construction, where large teams from many different disciplines can now 	collaborate far more easily.</a:t>
            </a:r>
          </a:p>
          <a:p>
            <a:r>
              <a:rPr lang="en-US" dirty="0"/>
              <a:t>Source: </a:t>
            </a:r>
            <a:r>
              <a:rPr lang="en-US" dirty="0">
                <a:hlinkClick r:id="rId3"/>
              </a:rPr>
              <a:t>Universal Scene Description Key to Shared Metaverse</a:t>
            </a:r>
            <a:endParaRPr lang="en-US" dirty="0"/>
          </a:p>
        </p:txBody>
      </p:sp>
    </p:spTree>
    <p:custDataLst>
      <p:tags r:id="rId1"/>
    </p:custDataLst>
    <p:extLst>
      <p:ext uri="{BB962C8B-B14F-4D97-AF65-F5344CB8AC3E}">
        <p14:creationId xmlns:p14="http://schemas.microsoft.com/office/powerpoint/2010/main" val="1262761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8507-9014-44C9-8C7B-FE3D2D9AA721}"/>
              </a:ext>
            </a:extLst>
          </p:cNvPr>
          <p:cNvSpPr>
            <a:spLocks noGrp="1"/>
          </p:cNvSpPr>
          <p:nvPr>
            <p:ph type="title"/>
          </p:nvPr>
        </p:nvSpPr>
        <p:spPr>
          <a:xfrm>
            <a:off x="1101724" y="511920"/>
            <a:ext cx="16084552" cy="896370"/>
          </a:xfrm>
        </p:spPr>
        <p:txBody>
          <a:bodyPr>
            <a:normAutofit fontScale="90000"/>
          </a:bodyPr>
          <a:lstStyle/>
          <a:p>
            <a:r>
              <a:rPr lang="en-US" sz="6000" dirty="0">
                <a:solidFill>
                  <a:srgbClr val="C00000"/>
                </a:solidFill>
              </a:rPr>
              <a:t>Convergence of AI/ML and Data-in-Motion (2016)</a:t>
            </a:r>
          </a:p>
        </p:txBody>
      </p:sp>
      <p:sp>
        <p:nvSpPr>
          <p:cNvPr id="3" name="Content Placeholder 2">
            <a:extLst>
              <a:ext uri="{FF2B5EF4-FFF2-40B4-BE49-F238E27FC236}">
                <a16:creationId xmlns:a16="http://schemas.microsoft.com/office/drawing/2014/main" id="{ADE0FC66-C512-47A6-83A7-08787AF1E550}"/>
              </a:ext>
            </a:extLst>
          </p:cNvPr>
          <p:cNvSpPr>
            <a:spLocks noGrp="1"/>
          </p:cNvSpPr>
          <p:nvPr>
            <p:ph idx="1"/>
          </p:nvPr>
        </p:nvSpPr>
        <p:spPr>
          <a:xfrm>
            <a:off x="958720" y="1370968"/>
            <a:ext cx="16638814" cy="8320427"/>
          </a:xfrm>
        </p:spPr>
        <p:txBody>
          <a:bodyPr anchor="ctr">
            <a:noAutofit/>
          </a:bodyPr>
          <a:lstStyle/>
          <a:p>
            <a:pPr marL="0" indent="0">
              <a:spcBef>
                <a:spcPts val="0"/>
              </a:spcBef>
              <a:buNone/>
            </a:pPr>
            <a:r>
              <a:rPr lang="en-US" sz="3200" dirty="0"/>
              <a:t>Data-in-motion refers to the streaming or real-time flow of data from one point to another. This data is actively moving and being processed as it travels between devices or systems.</a:t>
            </a:r>
          </a:p>
          <a:p>
            <a:pPr marL="0" indent="0">
              <a:spcBef>
                <a:spcPts val="0"/>
              </a:spcBef>
              <a:buNone/>
            </a:pPr>
            <a:endParaRPr lang="en-US" sz="3200" dirty="0"/>
          </a:p>
          <a:p>
            <a:pPr marL="0" indent="0">
              <a:spcBef>
                <a:spcPts val="0"/>
              </a:spcBef>
              <a:buNone/>
            </a:pPr>
            <a:r>
              <a:rPr lang="en-US" sz="3200" dirty="0"/>
              <a:t>Real-time data is essential for many AI applications, and data-in-motion ensures that the latest information is available for analysis. Streaming data from sensors, devices, or other sources enables AI systems to respond quickly to changing conditions, contributing to more dynamic and adaptive solutions.</a:t>
            </a:r>
          </a:p>
          <a:p>
            <a:pPr marL="0" indent="0">
              <a:spcBef>
                <a:spcPts val="0"/>
              </a:spcBef>
              <a:buNone/>
            </a:pPr>
            <a:endParaRPr lang="en-US" sz="3200" dirty="0">
              <a:solidFill>
                <a:srgbClr val="000000"/>
              </a:solidFill>
            </a:endParaRPr>
          </a:p>
          <a:p>
            <a:pPr marL="0" indent="0">
              <a:spcBef>
                <a:spcPts val="0"/>
              </a:spcBef>
              <a:buNone/>
            </a:pPr>
            <a:r>
              <a:rPr lang="en-US" sz="3200" dirty="0"/>
              <a:t>There’s an increasing need for businesses to act intelligently and in real time to win in today’s digital-first world. To achieve this, forward-thinking companies are modernizing their data infrastructure with real-time data streams—what we call, “data in motion.” In order to capitalize on strategic opportunities enabled by real-time data, many businesses have begun to use data streaming platforms to help create better experiences for their customers, as well as run data-driven operations.</a:t>
            </a:r>
          </a:p>
          <a:p>
            <a:pPr>
              <a:spcBef>
                <a:spcPts val="0"/>
              </a:spcBef>
            </a:pPr>
            <a:endParaRPr lang="en-US" sz="3200" dirty="0">
              <a:solidFill>
                <a:srgbClr val="000000"/>
              </a:solidFill>
            </a:endParaRPr>
          </a:p>
          <a:p>
            <a:pPr marL="0" indent="0">
              <a:spcBef>
                <a:spcPts val="0"/>
              </a:spcBef>
              <a:buNone/>
            </a:pPr>
            <a:r>
              <a:rPr lang="en-US" sz="3200" dirty="0">
                <a:solidFill>
                  <a:srgbClr val="000000"/>
                </a:solidFill>
              </a:rPr>
              <a:t>Source: </a:t>
            </a:r>
            <a:r>
              <a:rPr lang="en-US" sz="3200" dirty="0">
                <a:solidFill>
                  <a:srgbClr val="000000"/>
                </a:solidFill>
                <a:hlinkClick r:id="rId3"/>
              </a:rPr>
              <a:t>Convergence will be a Powerful Trend in Technology</a:t>
            </a:r>
            <a:endParaRPr lang="en-US" sz="3200" dirty="0">
              <a:solidFill>
                <a:srgbClr val="000000"/>
              </a:solidFill>
            </a:endParaRPr>
          </a:p>
        </p:txBody>
      </p:sp>
    </p:spTree>
    <p:custDataLst>
      <p:tags r:id="rId1"/>
    </p:custDataLst>
    <p:extLst>
      <p:ext uri="{BB962C8B-B14F-4D97-AF65-F5344CB8AC3E}">
        <p14:creationId xmlns:p14="http://schemas.microsoft.com/office/powerpoint/2010/main" val="335187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0D102-56D3-422C-85EA-0FBE8D4BE54A}"/>
              </a:ext>
            </a:extLst>
          </p:cNvPr>
          <p:cNvSpPr>
            <a:spLocks noGrp="1"/>
          </p:cNvSpPr>
          <p:nvPr>
            <p:ph type="title"/>
          </p:nvPr>
        </p:nvSpPr>
        <p:spPr>
          <a:xfrm>
            <a:off x="1101724" y="559837"/>
            <a:ext cx="16084552" cy="966350"/>
          </a:xfrm>
        </p:spPr>
        <p:txBody>
          <a:bodyPr/>
          <a:lstStyle/>
          <a:p>
            <a:r>
              <a:rPr lang="en-US" sz="4400" dirty="0"/>
              <a:t>Convergence of AI/ML with Intelligent Agents (2024)</a:t>
            </a:r>
          </a:p>
        </p:txBody>
      </p:sp>
      <p:sp>
        <p:nvSpPr>
          <p:cNvPr id="3" name="Content Placeholder 2">
            <a:extLst>
              <a:ext uri="{FF2B5EF4-FFF2-40B4-BE49-F238E27FC236}">
                <a16:creationId xmlns:a16="http://schemas.microsoft.com/office/drawing/2014/main" id="{37A66DEC-847E-4802-92A8-4043BE97D0A8}"/>
              </a:ext>
            </a:extLst>
          </p:cNvPr>
          <p:cNvSpPr>
            <a:spLocks noGrp="1"/>
          </p:cNvSpPr>
          <p:nvPr>
            <p:ph idx="1"/>
          </p:nvPr>
        </p:nvSpPr>
        <p:spPr>
          <a:xfrm>
            <a:off x="1101724" y="1598795"/>
            <a:ext cx="16084552" cy="7993073"/>
          </a:xfrm>
        </p:spPr>
        <p:txBody>
          <a:bodyPr/>
          <a:lstStyle/>
          <a:p>
            <a:pPr marL="0">
              <a:spcBef>
                <a:spcPts val="0"/>
              </a:spcBef>
            </a:pPr>
            <a:r>
              <a:rPr lang="en-US" sz="3200" dirty="0"/>
              <a:t>Intelligent agents in AI are autonomous entities that act upon an environment using 	sensors and actuators to achieve their goals. In addition, intelligent agents may 	learn from the environment to achieve those goals. Driverless cars and the Siri 	virtual assistant are examples of intelligent agents in AI.</a:t>
            </a:r>
          </a:p>
          <a:p>
            <a:pPr marL="0">
              <a:spcBef>
                <a:spcPts val="0"/>
              </a:spcBef>
            </a:pPr>
            <a:r>
              <a:rPr lang="en-US" sz="3200" dirty="0"/>
              <a:t>These are the main four rules all AI agents must adhere to:</a:t>
            </a:r>
          </a:p>
          <a:p>
            <a:pPr marL="0">
              <a:spcBef>
                <a:spcPts val="0"/>
              </a:spcBef>
              <a:buFont typeface="Arial" panose="020B0604020202020204" pitchFamily="34" charset="0"/>
              <a:buChar char="•"/>
            </a:pPr>
            <a:r>
              <a:rPr lang="en-US" sz="3200" dirty="0"/>
              <a:t>Rule 1: An AI agent must be able to perceive the environment.</a:t>
            </a:r>
          </a:p>
          <a:p>
            <a:pPr marL="0">
              <a:spcBef>
                <a:spcPts val="0"/>
              </a:spcBef>
              <a:buFont typeface="Arial" panose="020B0604020202020204" pitchFamily="34" charset="0"/>
              <a:buChar char="•"/>
            </a:pPr>
            <a:r>
              <a:rPr lang="en-US" sz="3200" dirty="0"/>
              <a:t>Rule 2: The environmental observations must be used to make decisions.</a:t>
            </a:r>
          </a:p>
          <a:p>
            <a:pPr marL="0">
              <a:spcBef>
                <a:spcPts val="0"/>
              </a:spcBef>
              <a:buFont typeface="Arial" panose="020B0604020202020204" pitchFamily="34" charset="0"/>
              <a:buChar char="•"/>
            </a:pPr>
            <a:r>
              <a:rPr lang="en-US" sz="3200" dirty="0"/>
              <a:t>Rule 3: The decisions should result in action.</a:t>
            </a:r>
          </a:p>
          <a:p>
            <a:pPr marL="0">
              <a:spcBef>
                <a:spcPts val="0"/>
              </a:spcBef>
              <a:buFont typeface="Arial" panose="020B0604020202020204" pitchFamily="34" charset="0"/>
              <a:buChar char="•"/>
            </a:pPr>
            <a:r>
              <a:rPr lang="en-US" sz="3200" dirty="0"/>
              <a:t>Rule 4: The action taken by the AI agent must be a rational. Rational actions are 	actions that maximize performance and yield the best positive outcome.</a:t>
            </a:r>
          </a:p>
          <a:p>
            <a:pPr marL="0">
              <a:spcBef>
                <a:spcPts val="0"/>
              </a:spcBef>
            </a:pPr>
            <a:r>
              <a:rPr lang="en-US" sz="3200" dirty="0"/>
              <a:t>Artificial Intelligence agents perform these functions continuously: Perceiving 	dynamic conditions in the environment; Acting to affect conditions in the 	environment; Using reasoning to interpret perceptions; Problem-solving; Drawing 	inferences; Determining actions and their outcomes.</a:t>
            </a:r>
          </a:p>
          <a:p>
            <a:pPr marL="0">
              <a:spcBef>
                <a:spcPts val="0"/>
              </a:spcBef>
            </a:pPr>
            <a:endParaRPr lang="en-US" sz="3200" dirty="0"/>
          </a:p>
          <a:p>
            <a:pPr marL="0">
              <a:spcBef>
                <a:spcPts val="0"/>
              </a:spcBef>
            </a:pPr>
            <a:r>
              <a:rPr lang="en-US" sz="3200" dirty="0"/>
              <a:t>Source:  </a:t>
            </a:r>
            <a:r>
              <a:rPr lang="en-US" sz="3200" dirty="0">
                <a:hlinkClick r:id="rId3"/>
              </a:rPr>
              <a:t>Exploring Intelligent Agents in AI</a:t>
            </a:r>
            <a:endParaRPr lang="en-US" sz="3200" dirty="0"/>
          </a:p>
          <a:p>
            <a:endParaRPr lang="en-US" dirty="0"/>
          </a:p>
        </p:txBody>
      </p:sp>
    </p:spTree>
    <p:custDataLst>
      <p:tags r:id="rId1"/>
    </p:custDataLst>
    <p:extLst>
      <p:ext uri="{BB962C8B-B14F-4D97-AF65-F5344CB8AC3E}">
        <p14:creationId xmlns:p14="http://schemas.microsoft.com/office/powerpoint/2010/main" val="865285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CD6D-83F0-4CD9-B4B8-77D3191B0400}"/>
              </a:ext>
            </a:extLst>
          </p:cNvPr>
          <p:cNvSpPr>
            <a:spLocks noGrp="1"/>
          </p:cNvSpPr>
          <p:nvPr>
            <p:ph type="title"/>
          </p:nvPr>
        </p:nvSpPr>
        <p:spPr/>
        <p:txBody>
          <a:bodyPr/>
          <a:lstStyle/>
          <a:p>
            <a:r>
              <a:rPr lang="en-US" sz="4400" dirty="0"/>
              <a:t>Convergence of AI/ML and Wearables (1960s-2024)</a:t>
            </a:r>
          </a:p>
        </p:txBody>
      </p:sp>
      <p:sp>
        <p:nvSpPr>
          <p:cNvPr id="3" name="Content Placeholder 2">
            <a:extLst>
              <a:ext uri="{FF2B5EF4-FFF2-40B4-BE49-F238E27FC236}">
                <a16:creationId xmlns:a16="http://schemas.microsoft.com/office/drawing/2014/main" id="{6ADFDC57-4FA9-4237-9293-01C8864C4CF1}"/>
              </a:ext>
            </a:extLst>
          </p:cNvPr>
          <p:cNvSpPr>
            <a:spLocks noGrp="1"/>
          </p:cNvSpPr>
          <p:nvPr>
            <p:ph idx="1"/>
          </p:nvPr>
        </p:nvSpPr>
        <p:spPr/>
        <p:txBody>
          <a:bodyPr/>
          <a:lstStyle/>
          <a:p>
            <a:r>
              <a:rPr lang="en-US" b="0" dirty="0">
                <a:effectLst/>
              </a:rPr>
              <a:t>The evolution behind wearable devices is driven by IoT in the healthcare industry, which is now being known as the Internet of Health Things (</a:t>
            </a:r>
            <a:r>
              <a:rPr lang="en-US" b="0" dirty="0" err="1">
                <a:effectLst/>
              </a:rPr>
              <a:t>IoHT</a:t>
            </a:r>
            <a:r>
              <a:rPr lang="en-US" b="0" dirty="0">
                <a:effectLst/>
              </a:rPr>
              <a:t>), where medical devices and applications are connecting to the healthcare IT system using an AI/ML engine to generate insights from the data collected.</a:t>
            </a:r>
          </a:p>
          <a:p>
            <a:r>
              <a:rPr lang="en-US" dirty="0"/>
              <a:t>Examples include wearables for Preventive Health, Medication Management, and Tracking Pulse and Blood Pressure for Stress Monitoring.</a:t>
            </a:r>
          </a:p>
          <a:p>
            <a:r>
              <a:rPr lang="en-US" dirty="0"/>
              <a:t>Source: </a:t>
            </a:r>
            <a:r>
              <a:rPr lang="en-US" dirty="0">
                <a:hlinkClick r:id="rId3"/>
              </a:rPr>
              <a:t>The Convergence of AI/ML and Wearables</a:t>
            </a:r>
            <a:endParaRPr lang="en-US" dirty="0"/>
          </a:p>
        </p:txBody>
      </p:sp>
    </p:spTree>
    <p:custDataLst>
      <p:tags r:id="rId1"/>
    </p:custDataLst>
    <p:extLst>
      <p:ext uri="{BB962C8B-B14F-4D97-AF65-F5344CB8AC3E}">
        <p14:creationId xmlns:p14="http://schemas.microsoft.com/office/powerpoint/2010/main" val="3438143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080BE6-7EE6-433E-8B06-067023B71B4D}"/>
              </a:ext>
            </a:extLst>
          </p:cNvPr>
          <p:cNvSpPr>
            <a:spLocks noGrp="1"/>
          </p:cNvSpPr>
          <p:nvPr>
            <p:ph idx="1"/>
          </p:nvPr>
        </p:nvSpPr>
        <p:spPr/>
        <p:txBody>
          <a:bodyPr/>
          <a:lstStyle/>
          <a:p>
            <a:r>
              <a:rPr lang="en-US" dirty="0"/>
              <a:t>Ongoing work with emergent technologies that will likely be integrated with AI</a:t>
            </a:r>
          </a:p>
        </p:txBody>
      </p:sp>
    </p:spTree>
    <p:custDataLst>
      <p:tags r:id="rId1"/>
    </p:custDataLst>
    <p:extLst>
      <p:ext uri="{BB962C8B-B14F-4D97-AF65-F5344CB8AC3E}">
        <p14:creationId xmlns:p14="http://schemas.microsoft.com/office/powerpoint/2010/main" val="205551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1658-F4ED-459D-911D-6220918A205A}"/>
              </a:ext>
            </a:extLst>
          </p:cNvPr>
          <p:cNvSpPr>
            <a:spLocks noGrp="1"/>
          </p:cNvSpPr>
          <p:nvPr>
            <p:ph type="title"/>
          </p:nvPr>
        </p:nvSpPr>
        <p:spPr>
          <a:xfrm>
            <a:off x="1098550" y="516965"/>
            <a:ext cx="16084552" cy="1551434"/>
          </a:xfrm>
        </p:spPr>
        <p:txBody>
          <a:bodyPr/>
          <a:lstStyle/>
          <a:p>
            <a:r>
              <a:rPr lang="en-US" sz="4800" dirty="0"/>
              <a:t>Convergence of AI/ML and 6G Wireless Technology (ongoing work)</a:t>
            </a:r>
          </a:p>
        </p:txBody>
      </p:sp>
      <p:sp>
        <p:nvSpPr>
          <p:cNvPr id="3" name="Content Placeholder 2">
            <a:extLst>
              <a:ext uri="{FF2B5EF4-FFF2-40B4-BE49-F238E27FC236}">
                <a16:creationId xmlns:a16="http://schemas.microsoft.com/office/drawing/2014/main" id="{90A35A3A-FD68-496B-A2E8-D553A05EC8B1}"/>
              </a:ext>
            </a:extLst>
          </p:cNvPr>
          <p:cNvSpPr>
            <a:spLocks noGrp="1"/>
          </p:cNvSpPr>
          <p:nvPr>
            <p:ph idx="1"/>
          </p:nvPr>
        </p:nvSpPr>
        <p:spPr>
          <a:xfrm>
            <a:off x="1098550" y="2440166"/>
            <a:ext cx="16084552" cy="6888006"/>
          </a:xfrm>
        </p:spPr>
        <p:txBody>
          <a:bodyPr/>
          <a:lstStyle/>
          <a:p>
            <a:pPr marL="0">
              <a:spcBef>
                <a:spcPts val="0"/>
              </a:spcBef>
            </a:pPr>
            <a:r>
              <a:rPr lang="en-US" sz="3200" dirty="0"/>
              <a:t>Envisioned to be operational by the 2030s, 6G will offer data transmission speeds up 	to 100 times faster than 5G, enabling applications like high-fidelity holograms, and 	augmented and virtual reality experiences in real-time. It also intends to achieve 	near-instantaneous communication, essential for autonomous vehicles and remote 	surgery. Incorporating AI and machine learning, 6G will dynamically adapt to 	ensure optimal performance, paving the way for a more interconnected and 	efficient digital connectivity.</a:t>
            </a:r>
          </a:p>
          <a:p>
            <a:pPr marL="0">
              <a:spcBef>
                <a:spcPts val="0"/>
              </a:spcBef>
            </a:pPr>
            <a:r>
              <a:rPr lang="en-US" sz="3200" dirty="0"/>
              <a:t>AI will enable autonomous decision-making in 6G networks, optimizing network 	performance and resource allocation.</a:t>
            </a:r>
          </a:p>
          <a:p>
            <a:pPr marL="0" indent="0">
              <a:spcBef>
                <a:spcPts val="0"/>
              </a:spcBef>
              <a:buNone/>
            </a:pPr>
            <a:endParaRPr lang="en-US" sz="3200" dirty="0"/>
          </a:p>
          <a:p>
            <a:pPr>
              <a:spcBef>
                <a:spcPts val="0"/>
              </a:spcBef>
            </a:pPr>
            <a:r>
              <a:rPr lang="en-US" sz="3200" dirty="0"/>
              <a:t>Source: </a:t>
            </a:r>
            <a:r>
              <a:rPr lang="en-US" sz="3200" dirty="0">
                <a:hlinkClick r:id="rId3"/>
              </a:rPr>
              <a:t>The Next Era of Connectivity Exploring the Convergence of AI, Blockchain, IoT and 6G</a:t>
            </a:r>
            <a:endParaRPr lang="en-US" sz="3200" dirty="0"/>
          </a:p>
          <a:p>
            <a:endParaRPr lang="en-US" dirty="0"/>
          </a:p>
        </p:txBody>
      </p:sp>
    </p:spTree>
    <p:custDataLst>
      <p:tags r:id="rId1"/>
    </p:custDataLst>
    <p:extLst>
      <p:ext uri="{BB962C8B-B14F-4D97-AF65-F5344CB8AC3E}">
        <p14:creationId xmlns:p14="http://schemas.microsoft.com/office/powerpoint/2010/main" val="1410108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1658-F4ED-459D-911D-6220918A205A}"/>
              </a:ext>
            </a:extLst>
          </p:cNvPr>
          <p:cNvSpPr>
            <a:spLocks noGrp="1"/>
          </p:cNvSpPr>
          <p:nvPr>
            <p:ph type="title"/>
          </p:nvPr>
        </p:nvSpPr>
        <p:spPr/>
        <p:txBody>
          <a:bodyPr/>
          <a:lstStyle/>
          <a:p>
            <a:r>
              <a:rPr lang="en-US" dirty="0"/>
              <a:t>Updated Turing Test? Suleyman’s proposal</a:t>
            </a:r>
          </a:p>
        </p:txBody>
      </p:sp>
      <p:sp>
        <p:nvSpPr>
          <p:cNvPr id="3" name="Content Placeholder 2">
            <a:extLst>
              <a:ext uri="{FF2B5EF4-FFF2-40B4-BE49-F238E27FC236}">
                <a16:creationId xmlns:a16="http://schemas.microsoft.com/office/drawing/2014/main" id="{90A35A3A-FD68-496B-A2E8-D553A05EC8B1}"/>
              </a:ext>
            </a:extLst>
          </p:cNvPr>
          <p:cNvSpPr>
            <a:spLocks noGrp="1"/>
          </p:cNvSpPr>
          <p:nvPr>
            <p:ph idx="1"/>
          </p:nvPr>
        </p:nvSpPr>
        <p:spPr/>
        <p:txBody>
          <a:bodyPr/>
          <a:lstStyle/>
          <a:p>
            <a:pPr marL="673100" lvl="1">
              <a:spcBef>
                <a:spcPts val="0"/>
              </a:spcBef>
              <a:buFont typeface="+mj-lt"/>
              <a:buAutoNum type="arabicPeriod"/>
            </a:pPr>
            <a:r>
              <a:rPr lang="en-US" sz="3200" dirty="0" err="1"/>
              <a:t>ChatGPT</a:t>
            </a:r>
            <a:r>
              <a:rPr lang="en-US" sz="3200" dirty="0"/>
              <a:t> and other LLMs appear to have passed the Turing Test. </a:t>
            </a:r>
          </a:p>
          <a:p>
            <a:pPr marL="673100" lvl="1">
              <a:spcBef>
                <a:spcPts val="0"/>
              </a:spcBef>
              <a:buFont typeface="+mj-lt"/>
              <a:buAutoNum type="arabicPeriod"/>
            </a:pPr>
            <a:r>
              <a:rPr lang="en-US" sz="3200" dirty="0"/>
              <a:t>Put simply, we need a Modern Turing Test where an AI would have to successfully act on this instruction: “Go make $1 million on a retail web platform in a few months with just a $100,000 investment.” </a:t>
            </a:r>
          </a:p>
          <a:p>
            <a:pPr marL="673100" lvl="1">
              <a:spcBef>
                <a:spcPts val="0"/>
              </a:spcBef>
              <a:buFont typeface="+mj-lt"/>
              <a:buAutoNum type="arabicPeriod"/>
            </a:pPr>
            <a:r>
              <a:rPr lang="en-US" sz="3200" dirty="0"/>
              <a:t>To do so, it would need to go far beyond outlining a strategy and drafting some copy, as current systems like GPT-4 are so good at doing. It would need to research and design products, interface with manufacturers and logistics hubs, negotiate contracts, create and operate marketing campaigns. It would need, in short, to tie together a series of complex real-world goals with minimal oversight. You would still need a human to approve various points, open a bank account, actually sign on the dotted line. But the work would all be done by an AI.</a:t>
            </a:r>
          </a:p>
          <a:p>
            <a:pPr marL="673100" lvl="1">
              <a:spcBef>
                <a:spcPts val="0"/>
              </a:spcBef>
              <a:buFont typeface="+mj-lt"/>
              <a:buAutoNum type="arabicPeriod"/>
            </a:pPr>
            <a:endParaRPr lang="en-US" sz="3200" dirty="0"/>
          </a:p>
          <a:p>
            <a:pPr>
              <a:spcBef>
                <a:spcPts val="0"/>
              </a:spcBef>
            </a:pPr>
            <a:r>
              <a:rPr lang="en-US" sz="3200" dirty="0"/>
              <a:t>Source: </a:t>
            </a:r>
            <a:r>
              <a:rPr lang="en-US" sz="3200" dirty="0">
                <a:hlinkClick r:id="rId3"/>
              </a:rPr>
              <a:t>My New Turing Test would see if AI can make $1 million</a:t>
            </a:r>
            <a:endParaRPr lang="en-US" sz="3200" dirty="0"/>
          </a:p>
          <a:p>
            <a:endParaRPr lang="en-US" dirty="0"/>
          </a:p>
        </p:txBody>
      </p:sp>
    </p:spTree>
    <p:custDataLst>
      <p:tags r:id="rId1"/>
    </p:custDataLst>
    <p:extLst>
      <p:ext uri="{BB962C8B-B14F-4D97-AF65-F5344CB8AC3E}">
        <p14:creationId xmlns:p14="http://schemas.microsoft.com/office/powerpoint/2010/main" val="1088057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a:xfrm>
            <a:off x="1409702" y="361129"/>
            <a:ext cx="16084552" cy="908254"/>
          </a:xfrm>
        </p:spPr>
        <p:txBody>
          <a:bodyPr>
            <a:normAutofit fontScale="90000"/>
          </a:bodyPr>
          <a:lstStyle/>
          <a:p>
            <a:r>
              <a:rPr lang="en-US" b="1" dirty="0">
                <a:solidFill>
                  <a:srgbClr val="C00000"/>
                </a:solidFill>
              </a:rPr>
              <a:t>AI Designed Chips</a:t>
            </a:r>
          </a:p>
        </p:txBody>
      </p:sp>
      <p:sp>
        <p:nvSpPr>
          <p:cNvPr id="3" name="Content Placeholder 2">
            <a:extLst>
              <a:ext uri="{FF2B5EF4-FFF2-40B4-BE49-F238E27FC236}">
                <a16:creationId xmlns:a16="http://schemas.microsoft.com/office/drawing/2014/main" id="{217FDCCD-9EAB-4069-9EC7-655A33D7C72E}"/>
              </a:ext>
            </a:extLst>
          </p:cNvPr>
          <p:cNvSpPr>
            <a:spLocks noGrp="1"/>
          </p:cNvSpPr>
          <p:nvPr>
            <p:ph idx="1"/>
          </p:nvPr>
        </p:nvSpPr>
        <p:spPr>
          <a:xfrm>
            <a:off x="1409702" y="1133485"/>
            <a:ext cx="15773400" cy="8968805"/>
          </a:xfrm>
        </p:spPr>
        <p:txBody>
          <a:bodyPr>
            <a:normAutofit fontScale="47500" lnSpcReduction="20000"/>
          </a:bodyPr>
          <a:lstStyle/>
          <a:p>
            <a:pPr>
              <a:lnSpc>
                <a:spcPct val="120000"/>
              </a:lnSpc>
            </a:pPr>
            <a:endParaRPr lang="en-US" sz="8000" dirty="0">
              <a:solidFill>
                <a:srgbClr val="FF0000"/>
              </a:solidFill>
            </a:endParaRPr>
          </a:p>
          <a:p>
            <a:pPr marL="0">
              <a:lnSpc>
                <a:spcPct val="120000"/>
              </a:lnSpc>
              <a:spcBef>
                <a:spcPts val="0"/>
              </a:spcBef>
            </a:pPr>
            <a:endParaRPr lang="en-US" sz="8000" b="1" i="1" dirty="0">
              <a:solidFill>
                <a:srgbClr val="0070C0"/>
              </a:solidFill>
            </a:endParaRPr>
          </a:p>
          <a:p>
            <a:pPr marL="0">
              <a:lnSpc>
                <a:spcPct val="120000"/>
              </a:lnSpc>
              <a:spcBef>
                <a:spcPts val="0"/>
              </a:spcBef>
            </a:pPr>
            <a:endParaRPr lang="en-US" sz="8000" b="1" i="1" dirty="0">
              <a:solidFill>
                <a:srgbClr val="0070C0"/>
              </a:solidFill>
            </a:endParaRPr>
          </a:p>
          <a:p>
            <a:pPr marL="0" indent="0">
              <a:lnSpc>
                <a:spcPct val="120000"/>
              </a:lnSpc>
              <a:spcBef>
                <a:spcPts val="0"/>
              </a:spcBef>
              <a:buNone/>
            </a:pPr>
            <a:endParaRPr lang="en-US" sz="8000" b="1" i="1" dirty="0">
              <a:solidFill>
                <a:srgbClr val="0070C0"/>
              </a:solidFill>
            </a:endParaRPr>
          </a:p>
          <a:p>
            <a:pPr marL="0">
              <a:lnSpc>
                <a:spcPct val="120000"/>
              </a:lnSpc>
              <a:spcBef>
                <a:spcPts val="0"/>
              </a:spcBef>
            </a:pPr>
            <a:r>
              <a:rPr lang="en-US" sz="8000" i="1" dirty="0">
                <a:solidFill>
                  <a:srgbClr val="0070C0"/>
                </a:solidFill>
              </a:rPr>
              <a:t>On the HARDWARE side</a:t>
            </a:r>
            <a:r>
              <a:rPr lang="en-US" sz="8000" i="1" dirty="0">
                <a:solidFill>
                  <a:srgbClr val="C00000"/>
                </a:solidFill>
              </a:rPr>
              <a:t>, </a:t>
            </a:r>
            <a:r>
              <a:rPr lang="en-US" sz="8000" dirty="0">
                <a:solidFill>
                  <a:srgbClr val="C00000"/>
                </a:solidFill>
              </a:rPr>
              <a:t>AI-Designed chips are helping machine intelligence evolve without human intervention. This  development, along with GPUs and IPUs already discussed in class sessions, are perfect complements to help AI capabilities grow exponentially. </a:t>
            </a:r>
          </a:p>
          <a:p>
            <a:pPr marL="0">
              <a:lnSpc>
                <a:spcPct val="120000"/>
              </a:lnSpc>
              <a:spcBef>
                <a:spcPts val="0"/>
              </a:spcBef>
            </a:pPr>
            <a:r>
              <a:rPr lang="en-US" sz="8000" i="1" dirty="0">
                <a:solidFill>
                  <a:srgbClr val="0070C0"/>
                </a:solidFill>
              </a:rPr>
              <a:t>On the SOFTWARE side</a:t>
            </a:r>
            <a:r>
              <a:rPr lang="en-US" sz="8000" dirty="0">
                <a:solidFill>
                  <a:srgbClr val="C00000"/>
                </a:solidFill>
              </a:rPr>
              <a:t>, AI growth is aided by recent and emergent tools. Consider examples here that go beyond (e.g., performing tasks to </a:t>
            </a:r>
            <a:r>
              <a:rPr lang="en-US" sz="8000" i="1" dirty="0">
                <a:solidFill>
                  <a:srgbClr val="C00000"/>
                </a:solidFill>
              </a:rPr>
              <a:t>revolutionizing tasks</a:t>
            </a:r>
            <a:r>
              <a:rPr lang="en-US" sz="8000" dirty="0">
                <a:solidFill>
                  <a:srgbClr val="C00000"/>
                </a:solidFill>
              </a:rPr>
              <a:t>). AI Tools such as Tensor Flow, </a:t>
            </a:r>
            <a:r>
              <a:rPr lang="en-US" sz="8000" dirty="0" err="1">
                <a:solidFill>
                  <a:srgbClr val="C00000"/>
                </a:solidFill>
              </a:rPr>
              <a:t>PyTorch</a:t>
            </a:r>
            <a:r>
              <a:rPr lang="en-US" sz="8000" dirty="0">
                <a:solidFill>
                  <a:srgbClr val="C00000"/>
                </a:solidFill>
              </a:rPr>
              <a:t>, IBM Watson contribute to rapid and flawless task execution.  Google’s </a:t>
            </a:r>
            <a:r>
              <a:rPr lang="en-US" sz="8000" dirty="0" err="1">
                <a:solidFill>
                  <a:srgbClr val="C00000"/>
                </a:solidFill>
              </a:rPr>
              <a:t>AutoML</a:t>
            </a:r>
            <a:r>
              <a:rPr lang="en-US" sz="8000" dirty="0">
                <a:solidFill>
                  <a:srgbClr val="C00000"/>
                </a:solidFill>
              </a:rPr>
              <a:t> and Amazon’s </a:t>
            </a:r>
            <a:r>
              <a:rPr lang="en-US" sz="8000" dirty="0" err="1">
                <a:solidFill>
                  <a:srgbClr val="C00000"/>
                </a:solidFill>
              </a:rPr>
              <a:t>SageMaker</a:t>
            </a:r>
            <a:r>
              <a:rPr lang="en-US" sz="8000" dirty="0">
                <a:solidFill>
                  <a:srgbClr val="C00000"/>
                </a:solidFill>
              </a:rPr>
              <a:t> help developers to train high quality Machine Learning Models rapidly with minimal human input.</a:t>
            </a:r>
          </a:p>
          <a:p>
            <a:pPr marL="0" indent="0">
              <a:lnSpc>
                <a:spcPct val="120000"/>
              </a:lnSpc>
              <a:spcBef>
                <a:spcPts val="0"/>
              </a:spcBef>
              <a:buNone/>
            </a:pPr>
            <a:endParaRPr lang="en-US" sz="8000" dirty="0"/>
          </a:p>
          <a:p>
            <a:pPr marL="0">
              <a:lnSpc>
                <a:spcPct val="120000"/>
              </a:lnSpc>
              <a:spcBef>
                <a:spcPts val="0"/>
              </a:spcBef>
            </a:pPr>
            <a:endParaRPr lang="en-US" sz="8000" b="1" dirty="0"/>
          </a:p>
          <a:p>
            <a:pPr marL="0">
              <a:lnSpc>
                <a:spcPct val="120000"/>
              </a:lnSpc>
              <a:spcBef>
                <a:spcPts val="0"/>
              </a:spcBef>
            </a:pPr>
            <a:endParaRPr lang="en-US" sz="8000" b="1" dirty="0">
              <a:solidFill>
                <a:srgbClr val="FF0000"/>
              </a:solidFill>
            </a:endParaRPr>
          </a:p>
          <a:p>
            <a:pPr marL="0">
              <a:lnSpc>
                <a:spcPct val="120000"/>
              </a:lnSpc>
              <a:spcBef>
                <a:spcPts val="0"/>
              </a:spcBef>
            </a:pPr>
            <a:endParaRPr lang="en-US" sz="8000" b="1" dirty="0">
              <a:solidFill>
                <a:srgbClr val="FF0000"/>
              </a:solidFill>
            </a:endParaRPr>
          </a:p>
          <a:p>
            <a:endParaRPr lang="en-US" dirty="0"/>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10" name="Rectangle 3"/>
          <p:cNvSpPr>
            <a:spLocks noChangeArrowheads="1"/>
          </p:cNvSpPr>
          <p:nvPr/>
        </p:nvSpPr>
        <p:spPr bwMode="auto">
          <a:xfrm>
            <a:off x="1" y="-484747"/>
            <a:ext cx="27706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br>
              <a:rPr lang="en-US" altLang="en-US" sz="2700" dirty="0"/>
            </a:br>
            <a:endParaRPr lang="en-US" altLang="en-US" sz="2700" dirty="0">
              <a:hlinkClick r:id="rId3"/>
            </a:endParaRPr>
          </a:p>
        </p:txBody>
      </p:sp>
      <p:sp>
        <p:nvSpPr>
          <p:cNvPr id="14" name="Rectangle 6"/>
          <p:cNvSpPr>
            <a:spLocks noChangeArrowheads="1"/>
          </p:cNvSpPr>
          <p:nvPr/>
        </p:nvSpPr>
        <p:spPr bwMode="auto">
          <a:xfrm>
            <a:off x="1" y="231562"/>
            <a:ext cx="27706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endParaRPr lang="en-US" altLang="en-US" sz="2700" dirty="0"/>
          </a:p>
        </p:txBody>
      </p:sp>
      <p:sp>
        <p:nvSpPr>
          <p:cNvPr id="9" name="Rectangle 2"/>
          <p:cNvSpPr>
            <a:spLocks noChangeArrowheads="1"/>
          </p:cNvSpPr>
          <p:nvPr/>
        </p:nvSpPr>
        <p:spPr bwMode="auto">
          <a:xfrm>
            <a:off x="1343024" y="1612457"/>
            <a:ext cx="13170258"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pPr defTabSz="1371600" eaLnBrk="0" hangingPunct="0"/>
            <a:r>
              <a:rPr lang="en-US" altLang="en-US" sz="3200" b="1" dirty="0"/>
              <a:t>World's First AI-Designed CPU Paves Way For 'Self-Evolving Machines'</a:t>
            </a:r>
            <a:br>
              <a:rPr lang="en-US" altLang="en-US" sz="3200" dirty="0"/>
            </a:br>
            <a:r>
              <a:rPr lang="en-US" altLang="en-US" sz="3200" dirty="0">
                <a:hlinkClick r:id="rId4"/>
              </a:rPr>
              <a:t>https://www.slashgear.com/1332806/worlds-first-ai-designed-cpu/</a:t>
            </a:r>
            <a:r>
              <a:rPr lang="en-US" altLang="en-US" sz="3200" dirty="0"/>
              <a:t> </a:t>
            </a:r>
          </a:p>
        </p:txBody>
      </p:sp>
    </p:spTree>
    <p:custDataLst>
      <p:tags r:id="rId1"/>
    </p:custDataLst>
    <p:extLst>
      <p:ext uri="{BB962C8B-B14F-4D97-AF65-F5344CB8AC3E}">
        <p14:creationId xmlns:p14="http://schemas.microsoft.com/office/powerpoint/2010/main" val="36226882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CEFF4B-9EC7-4D38-B437-9DE5B52C7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14403</TotalTime>
  <Words>2381</Words>
  <Application>Microsoft Office PowerPoint</Application>
  <PresentationFormat>Custom</PresentationFormat>
  <Paragraphs>100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 2</vt:lpstr>
      <vt:lpstr>Breeze</vt:lpstr>
      <vt:lpstr>MBA532 – AI in Business </vt:lpstr>
      <vt:lpstr>AI Progress Based on Contributions From Midstream or Still Evolving, and Emergent Technologies</vt:lpstr>
      <vt:lpstr>How Convergence with AI/ML helps 3D Printing (1981)</vt:lpstr>
      <vt:lpstr>Convergence of AI/ML and Edge Computing (1990s)</vt:lpstr>
      <vt:lpstr>The Convergence of AI/ML and IoT (1990s)</vt:lpstr>
      <vt:lpstr>The Convergence of AI/ML and Quantum Computing (1998)</vt:lpstr>
      <vt:lpstr>PowerPoint Presentation</vt:lpstr>
      <vt:lpstr>Convergence of AI/ML and Digital Twins (2002)</vt:lpstr>
      <vt:lpstr>Convergence of AI/ML and Elastic Cloud Computing (2006)</vt:lpstr>
      <vt:lpstr>Convergence of AI/ML and Blockchain Technology (2009)</vt:lpstr>
      <vt:lpstr>Convergence of AI/ML and Universal Scene Description (USD) – (2012-2024)</vt:lpstr>
      <vt:lpstr>Convergence of AI/ML and Data-in-Motion (2016)</vt:lpstr>
      <vt:lpstr>Convergence of AI/ML with Intelligent Agents (2024)</vt:lpstr>
      <vt:lpstr>Convergence of AI/ML and Wearables (1960s-2024)</vt:lpstr>
      <vt:lpstr>PowerPoint Presentation</vt:lpstr>
      <vt:lpstr>Convergence of AI/ML and 6G Wireless Technology (ongoing work)</vt:lpstr>
      <vt:lpstr>Updated Turing Test? Suleyman’s proposal</vt:lpstr>
      <vt:lpstr>AI Designed Chips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180</cp:revision>
  <dcterms:created xsi:type="dcterms:W3CDTF">2024-03-17T05:07:31Z</dcterms:created>
  <dcterms:modified xsi:type="dcterms:W3CDTF">2024-05-24T15:06:17Z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4594CCCC-45B7-44D4-A6B4-2A041FD5CA3A</vt:lpwstr>
  </property>
  <property fmtid="{D5CDD505-2E9C-101B-9397-08002B2CF9AE}" pid="5" name="ArticulatePath">
    <vt:lpwstr>MBA532 – AI in Business - Module 3-updated May 15 2024</vt:lpwstr>
  </property>
</Properties>
</file>