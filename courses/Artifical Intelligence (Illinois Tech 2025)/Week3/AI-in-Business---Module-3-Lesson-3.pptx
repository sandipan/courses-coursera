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2"/>
  </p:notesMasterIdLst>
  <p:sldIdLst>
    <p:sldId id="259" r:id="rId5"/>
    <p:sldId id="365" r:id="rId6"/>
    <p:sldId id="286" r:id="rId7"/>
    <p:sldId id="308" r:id="rId8"/>
    <p:sldId id="284" r:id="rId9"/>
    <p:sldId id="287" r:id="rId10"/>
    <p:sldId id="358" r:id="rId11"/>
  </p:sldIdLst>
  <p:sldSz cx="18288000" cy="10287000"/>
  <p:notesSz cx="6858000" cy="9144000"/>
  <p:custDataLst>
    <p:tags r:id="rId13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6327"/>
  </p:normalViewPr>
  <p:slideViewPr>
    <p:cSldViewPr snapToGrid="0" snapToObjects="1">
      <p:cViewPr varScale="1">
        <p:scale>
          <a:sx n="72" d="100"/>
          <a:sy n="72" d="100"/>
        </p:scale>
        <p:origin x="612" y="72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E003E7-8F9F-4D5E-92EA-A0649DA6C082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4D9E7-08EA-4B3D-BC2D-203B18CB1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8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Superpowers China, </a:t>
            </a:r>
            <a:r>
              <a:rPr lang="en-US" dirty="0" err="1"/>
              <a:t>SIlicon</a:t>
            </a:r>
            <a:r>
              <a:rPr lang="en-US"/>
              <a:t> Valley and the New World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9B396-BE7F-4412-985B-05B577789B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629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Artificial Intelligenc-101 Things You Must Know Today About Our Future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9B396-BE7F-4412-985B-05B577789B9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89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Superpowers China, </a:t>
            </a:r>
            <a:r>
              <a:rPr lang="en-US" dirty="0" err="1"/>
              <a:t>SIlicon</a:t>
            </a:r>
            <a:r>
              <a:rPr lang="en-US"/>
              <a:t> Valley and the New World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9B396-BE7F-4412-985B-05B577789B9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992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Superpowers China, </a:t>
            </a:r>
            <a:r>
              <a:rPr lang="en-US" dirty="0" err="1"/>
              <a:t>SIlicon</a:t>
            </a:r>
            <a:r>
              <a:rPr lang="en-US"/>
              <a:t> Valley and the New World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9B396-BE7F-4412-985B-05B577789B9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62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DDBDA-FF39-4299-B39A-63DD03A3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6E33AA-2830-4FC0-8D12-46FE85B54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2B07-01C0-42E7-AF11-2D0BE945537D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A3942-702B-4CF5-AEE7-704949B64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65419-233B-4F2C-A1E5-CDA46E29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F204-A453-4BC4-B44E-F40CFBFD1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357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eaLnBrk="1" fontAlgn="base" hangingPunct="1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eaLnBrk="1" fontAlgn="base" hangingPunct="1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eaLnBrk="1" fontAlgn="base" hangingPunct="1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eaLnBrk="1" fontAlgn="base" hangingPunct="1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eaLnBrk="1" fontAlgn="base" hangingPunct="1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eaLnBrk="1" fontAlgn="base" hangingPunct="1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eaLnBrk="1" fontAlgn="base" hangingPunct="1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eaLnBrk="1" fontAlgn="base" hangingPunct="1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eaLnBrk="1" fontAlgn="base" hangingPunct="1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MBA532 – AI in Business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3A97B-06C2-BD5D-13DD-A14A00967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latin typeface="+mj-lt"/>
              </a:rPr>
              <a:t>MODULE 3 – </a:t>
            </a:r>
            <a:r>
              <a:rPr lang="en-US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AI and Technology Convergence</a:t>
            </a:r>
            <a:endParaRPr lang="en-US" dirty="0">
              <a:latin typeface="+mj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E899-9F45-4471-BC43-82F65124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3125174"/>
          </a:xfrm>
        </p:spPr>
        <p:txBody>
          <a:bodyPr/>
          <a:lstStyle/>
          <a:p>
            <a:r>
              <a:rPr lang="en-US" sz="4600" dirty="0"/>
              <a:t>Kurzweil’s Law of Accelerating Returns; Updated/New Turing Tests and Standards; Other Recent AI Approaches Such as Affective Computing and BCI (Brain-Computer Interface)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9B610-5DD3-4FED-8D61-6637E622B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0" y="3710609"/>
            <a:ext cx="16084552" cy="5228096"/>
          </a:xfrm>
        </p:spPr>
        <p:txBody>
          <a:bodyPr/>
          <a:lstStyle/>
          <a:p>
            <a:r>
              <a:rPr lang="en-US" dirty="0"/>
              <a:t>Leveraging Kurzweil’s Law to Understand Implications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315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17D81-2D60-6843-92D4-6278B97ED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813" y="517357"/>
            <a:ext cx="15773400" cy="1473279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Kurzweil’s Law of Accelerating Returns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0FC98-C953-054A-BC8B-3CE5C16A6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093495"/>
            <a:ext cx="16394595" cy="7676148"/>
          </a:xfrm>
        </p:spPr>
        <p:txBody>
          <a:bodyPr anchor="ctr">
            <a:noAutofit/>
          </a:bodyPr>
          <a:lstStyle/>
          <a:p>
            <a:r>
              <a:rPr lang="en-US" sz="4800" dirty="0"/>
              <a:t>The Law of Accelerating Returns is an</a:t>
            </a:r>
            <a:r>
              <a:rPr lang="en-US" sz="4800" b="1" dirty="0"/>
              <a:t> evolutionary process</a:t>
            </a:r>
            <a:r>
              <a:rPr lang="en-US" sz="4800" dirty="0"/>
              <a:t> – this means that a) </a:t>
            </a:r>
            <a:r>
              <a:rPr lang="en-US" sz="4800" i="1" dirty="0"/>
              <a:t>the rate of technological innovation is exponential</a:t>
            </a:r>
            <a:r>
              <a:rPr lang="en-US" sz="4800" dirty="0"/>
              <a:t> and b) </a:t>
            </a:r>
            <a:r>
              <a:rPr lang="en-US" sz="4800" i="1" dirty="0"/>
              <a:t>that as technological progress is made throughout shorter and shorter timespans, the use of new technologies to create novel ones accelerates the rate of exponential growth itself.</a:t>
            </a:r>
            <a:r>
              <a:rPr lang="en-US" sz="4800" dirty="0"/>
              <a:t> This means there are </a:t>
            </a:r>
            <a:r>
              <a:rPr lang="en-US" sz="4800" b="1" dirty="0"/>
              <a:t>two positive feedback loops</a:t>
            </a:r>
            <a:r>
              <a:rPr lang="en-US" sz="4800" dirty="0"/>
              <a:t> at work here, one that dictates the initial rate of innovation and another that dictates </a:t>
            </a:r>
            <a:r>
              <a:rPr lang="en-US" sz="4800" i="1" dirty="0"/>
              <a:t>the rate of</a:t>
            </a:r>
            <a:r>
              <a:rPr lang="en-US" sz="4800" dirty="0"/>
              <a:t> innovation, both of which are exponential.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5191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54B79-D8B1-4B82-96A1-CE3BDACD1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1" y="278039"/>
            <a:ext cx="16084550" cy="1120321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Kurzweil’s Law of Accelerating Returns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B42A2-8D62-47EB-86AE-C3548F9B4401}"/>
              </a:ext>
            </a:extLst>
          </p:cNvPr>
          <p:cNvSpPr txBox="1"/>
          <p:nvPr/>
        </p:nvSpPr>
        <p:spPr>
          <a:xfrm>
            <a:off x="1249591" y="1526760"/>
            <a:ext cx="1655101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cs typeface="Arial" panose="020B0604020202020204" pitchFamily="34" charset="0"/>
              </a:rPr>
              <a:t>We now use computers to design even faster new computers, and this creates a positive feedback loop called the “law of accelerating returns” that helps tech convergence. </a:t>
            </a:r>
            <a:r>
              <a:rPr lang="en-US" sz="4400" dirty="0"/>
              <a:t>Converging technologies and interdisciplinary work have together accentuated AI’s role in the following areas:</a:t>
            </a:r>
          </a:p>
          <a:p>
            <a:pPr lvl="1"/>
            <a:r>
              <a:rPr lang="en-US" sz="4400" b="1" dirty="0">
                <a:solidFill>
                  <a:srgbClr val="C00000"/>
                </a:solidFill>
              </a:rPr>
              <a:t>Autonomous car rollout (Level 4) and Hyperloop applications </a:t>
            </a:r>
            <a:r>
              <a:rPr lang="en-US" sz="4400" dirty="0">
                <a:solidFill>
                  <a:srgbClr val="C00000"/>
                </a:solidFill>
              </a:rPr>
              <a:t>expected in the future</a:t>
            </a:r>
          </a:p>
          <a:p>
            <a:pPr lvl="1"/>
            <a:r>
              <a:rPr lang="en-US" sz="4400" b="1" dirty="0">
                <a:solidFill>
                  <a:srgbClr val="C00000"/>
                </a:solidFill>
              </a:rPr>
              <a:t>Power electronics, computational modeling, material sciences, 3-D printing </a:t>
            </a:r>
            <a:r>
              <a:rPr lang="en-US" sz="4400" dirty="0"/>
              <a:t>contributed to Hyperloop concepts.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9083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3E4B-A24C-4CA9-A7C3-6C5EF140F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459216"/>
            <a:ext cx="16084552" cy="835721"/>
          </a:xfrm>
        </p:spPr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</a:rPr>
              <a:t>SAE Levels of AI based Self-Driving Car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22A7E-296F-4714-8119-BC17E503A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0" y="1369582"/>
            <a:ext cx="16084552" cy="7737096"/>
          </a:xfrm>
        </p:spPr>
        <p:txBody>
          <a:bodyPr>
            <a:noAutofit/>
          </a:bodyPr>
          <a:lstStyle/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en-US" sz="3200" b="1" dirty="0"/>
              <a:t>0 – No Automation</a:t>
            </a:r>
            <a:r>
              <a:rPr lang="en-US" sz="3200" dirty="0"/>
              <a:t>: at this level, the human driver maintains 100% control, performing all tasks, even when receiving warnings from car systems.</a:t>
            </a: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en-US" sz="3200" b="1" dirty="0"/>
              <a:t>1 – Driver Assistance</a:t>
            </a:r>
            <a:r>
              <a:rPr lang="en-US" sz="3200" dirty="0"/>
              <a:t>: at Level 1, small and specific functions, like steering can be done automatically by the car, but all other functions are under human control.</a:t>
            </a: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en-US" sz="3200" b="1" dirty="0"/>
              <a:t>2 – Partial Automation</a:t>
            </a:r>
            <a:r>
              <a:rPr lang="en-US" sz="3200" dirty="0"/>
              <a:t>: at Level 2, the human driver is responsible for primary tasks, but the assistance system in the car helps with some elements of the driving experience, like acceleration or deceleration.</a:t>
            </a: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en-US" sz="3200" b="1" dirty="0"/>
              <a:t>3 – Conditional Automation</a:t>
            </a:r>
            <a:r>
              <a:rPr lang="en-US" sz="3200" dirty="0"/>
              <a:t>: at Level 3, the car can drive under most conditions, even performing tasks like changing lanes, but can also ask the driver to take control.</a:t>
            </a: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en-US" sz="3200" b="1" dirty="0"/>
              <a:t>4 – High Automation</a:t>
            </a:r>
            <a:r>
              <a:rPr lang="en-US" sz="3200" dirty="0"/>
              <a:t>: at Level 4, the car has the ability to drive in nearly any situation without human input. Cars can be programmed not to drive in severe weather.</a:t>
            </a: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en-US" sz="3200" b="1" dirty="0"/>
              <a:t>5 – Full Automation</a:t>
            </a:r>
            <a:r>
              <a:rPr lang="en-US" sz="3200" dirty="0"/>
              <a:t>: at Level 5, vehicles use a fully automated system that can handle even the most difficult conditions without any human intervention.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8428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17D81-2D60-6843-92D4-6278B97ED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509665"/>
            <a:ext cx="16084552" cy="90333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Applications of Affective Computing, BCIs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0FC98-C953-054A-BC8B-3CE5C16A6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1707311"/>
            <a:ext cx="16394595" cy="7691522"/>
          </a:xfrm>
        </p:spPr>
        <p:txBody>
          <a:bodyPr anchor="ctr">
            <a:noAutofit/>
          </a:bodyPr>
          <a:lstStyle/>
          <a:p>
            <a:pPr marL="0">
              <a:spcBef>
                <a:spcPts val="0"/>
              </a:spcBef>
            </a:pPr>
            <a:r>
              <a:rPr lang="en-US" sz="3200" b="1" dirty="0">
                <a:solidFill>
                  <a:srgbClr val="C00000"/>
                </a:solidFill>
              </a:rPr>
              <a:t>Affective Computing: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	Used extensively in gaming and marketing applications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	Effective tool for advertisers to test the emotional effectiveness of their ads</a:t>
            </a:r>
          </a:p>
          <a:p>
            <a:pPr marL="0" lvl="2" indent="0">
              <a:spcBef>
                <a:spcPts val="0"/>
              </a:spcBef>
              <a:buNone/>
            </a:pPr>
            <a:r>
              <a:rPr lang="en-US" dirty="0" err="1"/>
              <a:t>Lightwave</a:t>
            </a:r>
            <a:r>
              <a:rPr lang="en-US" dirty="0"/>
              <a:t>, an emotional-computing startup, can capture not just the emotional state of an individual, but that of a whole crowd. It was used by Cisco to judge a startup pitch competition, helped DJ Paul </a:t>
            </a:r>
            <a:r>
              <a:rPr lang="en-US" dirty="0" err="1"/>
              <a:t>Oakenfold</a:t>
            </a:r>
            <a:r>
              <a:rPr lang="en-US" dirty="0"/>
              <a:t> increase listener engagement at a concert in Singapore, and measured viewer reactions during a pre-screening of a movie (</a:t>
            </a:r>
            <a:r>
              <a:rPr lang="en-US" i="1" dirty="0"/>
              <a:t>The Revenant</a:t>
            </a:r>
            <a:r>
              <a:rPr lang="en-US" dirty="0"/>
              <a:t>)</a:t>
            </a:r>
          </a:p>
          <a:p>
            <a:pPr marL="0">
              <a:spcBef>
                <a:spcPts val="0"/>
              </a:spcBef>
            </a:pPr>
            <a:r>
              <a:rPr lang="en-US" sz="3200" b="1" dirty="0">
                <a:solidFill>
                  <a:srgbClr val="C00000"/>
                </a:solidFill>
              </a:rPr>
              <a:t>BCIs (Brain-Computer Interfaces): </a:t>
            </a:r>
          </a:p>
          <a:p>
            <a:pPr marL="0" lvl="2" indent="0">
              <a:spcBef>
                <a:spcPts val="0"/>
              </a:spcBef>
              <a:buNone/>
            </a:pPr>
            <a:r>
              <a:rPr lang="en-US" dirty="0"/>
              <a:t>Using </a:t>
            </a:r>
            <a:r>
              <a:rPr lang="en-US" b="1" dirty="0">
                <a:solidFill>
                  <a:srgbClr val="C00000"/>
                </a:solidFill>
              </a:rPr>
              <a:t>Electroencephalograms (EEGs) </a:t>
            </a:r>
            <a:r>
              <a:rPr lang="en-US" dirty="0"/>
              <a:t>to “read” brain signals and </a:t>
            </a:r>
            <a:r>
              <a:rPr lang="en-US" b="1" dirty="0">
                <a:solidFill>
                  <a:srgbClr val="C00000"/>
                </a:solidFill>
              </a:rPr>
              <a:t>transcranial magnetic stimulation (TMS) </a:t>
            </a:r>
            <a:r>
              <a:rPr lang="en-US" dirty="0"/>
              <a:t>to “write” brain signals, participants in a brain to brain communication study were linked together to play a modified game of Tetris. They communicated and collaborated only through EEG, TMS and a set of blinking lightbulbs, marking the birth of a new kind of “hive-mind gaming” frontier that researchers are exploring more in-depth now.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9319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17D81-2D60-6843-92D4-6278B97ED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To summarize Module 3 raises questions</a:t>
            </a:r>
            <a:r>
              <a:rPr lang="en-US" b="1" dirty="0">
                <a:solidFill>
                  <a:srgbClr val="C00000"/>
                </a:solidFill>
              </a:rPr>
              <a:t>…..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0FC98-C953-054A-BC8B-3CE5C16A6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1947153"/>
            <a:ext cx="16394595" cy="7075697"/>
          </a:xfrm>
        </p:spPr>
        <p:txBody>
          <a:bodyPr anchor="ctr">
            <a:noAutofit/>
          </a:bodyPr>
          <a:lstStyle/>
          <a:p>
            <a:pPr marL="0">
              <a:spcBef>
                <a:spcPts val="0"/>
              </a:spcBef>
            </a:pPr>
            <a:r>
              <a:rPr lang="en-US" sz="3400" dirty="0">
                <a:solidFill>
                  <a:srgbClr val="C00000"/>
                </a:solidFill>
              </a:rPr>
              <a:t>There are lots of issues to ponder over here….</a:t>
            </a:r>
          </a:p>
          <a:p>
            <a:pPr marL="0">
              <a:spcBef>
                <a:spcPts val="0"/>
              </a:spcBef>
            </a:pPr>
            <a:r>
              <a:rPr lang="en-US" sz="3400" dirty="0">
                <a:solidFill>
                  <a:srgbClr val="C00000"/>
                </a:solidFill>
              </a:rPr>
              <a:t>The discussion thus far documents that a plethora of technologies (a few 	were developed even before the onset of AI, and many since the 1950s 	when AI gained currency) have impacted AI/ML developments.</a:t>
            </a:r>
          </a:p>
          <a:p>
            <a:pPr marL="0">
              <a:spcBef>
                <a:spcPts val="0"/>
              </a:spcBef>
            </a:pPr>
            <a:r>
              <a:rPr lang="en-US" sz="3400" dirty="0">
                <a:solidFill>
                  <a:srgbClr val="C00000"/>
                </a:solidFill>
              </a:rPr>
              <a:t>As an integrative summary, Kurzweil’s “Law of Accelerating Returns” implies 	that the cumulative (and interactive) impact of so many </a:t>
            </a:r>
            <a:r>
              <a:rPr lang="en-US" sz="3400">
                <a:solidFill>
                  <a:srgbClr val="C00000"/>
                </a:solidFill>
              </a:rPr>
              <a:t>key technologies	influencing </a:t>
            </a:r>
            <a:r>
              <a:rPr lang="en-US" sz="3400" dirty="0">
                <a:solidFill>
                  <a:srgbClr val="C00000"/>
                </a:solidFill>
              </a:rPr>
              <a:t>AI/ML discussed in this module will be exponential and likely to 	occur in a relatively short time horizon.</a:t>
            </a:r>
          </a:p>
          <a:p>
            <a:pPr marL="0">
              <a:spcBef>
                <a:spcPts val="0"/>
              </a:spcBef>
            </a:pPr>
            <a:r>
              <a:rPr lang="en-US" sz="3400" dirty="0">
                <a:solidFill>
                  <a:srgbClr val="C00000"/>
                </a:solidFill>
              </a:rPr>
              <a:t>What do all these technology developments discussed in this module mean?</a:t>
            </a:r>
          </a:p>
          <a:p>
            <a:pPr marL="0">
              <a:spcBef>
                <a:spcPts val="0"/>
              </a:spcBef>
            </a:pPr>
            <a:r>
              <a:rPr lang="en-US" sz="3400" dirty="0">
                <a:solidFill>
                  <a:srgbClr val="C00000"/>
                </a:solidFill>
              </a:rPr>
              <a:t>How does it change our lives?</a:t>
            </a:r>
          </a:p>
          <a:p>
            <a:pPr marL="0">
              <a:spcBef>
                <a:spcPts val="0"/>
              </a:spcBef>
            </a:pPr>
            <a:r>
              <a:rPr lang="en-US" sz="3400" dirty="0">
                <a:solidFill>
                  <a:srgbClr val="C00000"/>
                </a:solidFill>
              </a:rPr>
              <a:t>In what time-frame?</a:t>
            </a:r>
          </a:p>
          <a:p>
            <a:pPr marL="0">
              <a:spcBef>
                <a:spcPts val="0"/>
              </a:spcBef>
            </a:pPr>
            <a:r>
              <a:rPr lang="en-US" sz="3400" dirty="0">
                <a:solidFill>
                  <a:srgbClr val="C00000"/>
                </a:solidFill>
              </a:rPr>
              <a:t>Do they potentially impact developed and less-developed nations differently?</a:t>
            </a:r>
          </a:p>
          <a:p>
            <a:pPr marL="0">
              <a:spcBef>
                <a:spcPts val="0"/>
              </a:spcBef>
            </a:pPr>
            <a:r>
              <a:rPr lang="en-US" sz="3400" dirty="0">
                <a:solidFill>
                  <a:srgbClr val="C00000"/>
                </a:solidFill>
              </a:rPr>
              <a:t>How can we maximize good outcomes and minimize unexpected/bad ones?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28293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2F55A57D-0C50-904A-83D4-4E1CC0E2D52F}" vid="{6952F4DD-38AA-7342-AB40-4D73DFEF48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  <Status xmlns="5e41b080-9453-459c-bb93-b19be7335f42" xsi:nil="true"/>
    <Comments xmlns="5e41b080-9453-459c-bb93-b19be7335f42" xsi:nil="true"/>
    <Due_x0020_Date xmlns="5e41b080-9453-459c-bb93-b19be7335f4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B4D3F3-2161-4501-B555-558D1DDA1F60}">
  <ds:schemaRefs>
    <ds:schemaRef ds:uri="http://purl.org/dc/dcmitype/"/>
    <ds:schemaRef ds:uri="88c1e295-a029-41eb-a982-8bcc7d01c0cb"/>
    <ds:schemaRef ds:uri="http://purl.org/dc/terms/"/>
    <ds:schemaRef ds:uri="http://schemas.microsoft.com/office/2006/metadata/properties"/>
    <ds:schemaRef ds:uri="57db6fc0-2530-4489-bd2f-42335d65b94d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elements/1.1/"/>
    <ds:schemaRef ds:uri="5e41b080-9453-459c-bb93-b19be7335f42"/>
    <ds:schemaRef ds:uri="4e58ebf2-e4df-4cd3-9186-1e42b3ede124"/>
  </ds:schemaRefs>
</ds:datastoreItem>
</file>

<file path=customXml/itemProps2.xml><?xml version="1.0" encoding="utf-8"?>
<ds:datastoreItem xmlns:ds="http://schemas.openxmlformats.org/officeDocument/2006/customXml" ds:itemID="{28F0A47A-9E10-4FE4-8BE8-0C808C85F1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6CEFF4B-9EC7-4D38-B437-9DE5B52C77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- MBA_Stuart_ILTECH__PPT</Template>
  <TotalTime>14405</TotalTime>
  <Words>808</Words>
  <Application>Microsoft Office PowerPoint</Application>
  <PresentationFormat>Custom</PresentationFormat>
  <Paragraphs>41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 2</vt:lpstr>
      <vt:lpstr>Breeze</vt:lpstr>
      <vt:lpstr>MBA532 – AI in Business </vt:lpstr>
      <vt:lpstr>Kurzweil’s Law of Accelerating Returns; Updated/New Turing Tests and Standards; Other Recent AI Approaches Such as Affective Computing and BCI (Brain-Computer Interface)</vt:lpstr>
      <vt:lpstr>Kurzweil’s Law of Accelerating Returns</vt:lpstr>
      <vt:lpstr>Kurzweil’s Law of Accelerating Returns</vt:lpstr>
      <vt:lpstr>SAE Levels of AI based Self-Driving Car Technology</vt:lpstr>
      <vt:lpstr>Applications of Affective Computing, BCIs</vt:lpstr>
      <vt:lpstr>To summarize Module 3 raises questions…..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MBA532 – AI in Business</dc:title>
  <dc:subject/>
  <dc:creator>Siva Balasubramanian</dc:creator>
  <cp:keywords/>
  <dc:description/>
  <cp:lastModifiedBy>Bernadette Otoo</cp:lastModifiedBy>
  <cp:revision>181</cp:revision>
  <dcterms:created xsi:type="dcterms:W3CDTF">2024-03-17T05:07:31Z</dcterms:created>
  <dcterms:modified xsi:type="dcterms:W3CDTF">2024-05-24T15:07:43Z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ArticulateGUID">
    <vt:lpwstr>4594CCCC-45B7-44D4-A6B4-2A041FD5CA3A</vt:lpwstr>
  </property>
  <property fmtid="{D5CDD505-2E9C-101B-9397-08002B2CF9AE}" pid="5" name="ArticulatePath">
    <vt:lpwstr>MBA532 – AI in Business - Module 3-updated May 15 2024</vt:lpwstr>
  </property>
</Properties>
</file>