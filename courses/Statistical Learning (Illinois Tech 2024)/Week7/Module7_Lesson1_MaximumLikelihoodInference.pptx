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3"/>
  </p:notesMasterIdLst>
  <p:sldIdLst>
    <p:sldId id="259" r:id="rId5"/>
    <p:sldId id="262" r:id="rId6"/>
    <p:sldId id="263" r:id="rId7"/>
    <p:sldId id="269" r:id="rId8"/>
    <p:sldId id="322" r:id="rId9"/>
    <p:sldId id="330" r:id="rId10"/>
    <p:sldId id="326" r:id="rId11"/>
    <p:sldId id="332" r:id="rId12"/>
    <p:sldId id="327" r:id="rId13"/>
    <p:sldId id="331" r:id="rId14"/>
    <p:sldId id="328" r:id="rId15"/>
    <p:sldId id="333" r:id="rId16"/>
    <p:sldId id="329" r:id="rId17"/>
    <p:sldId id="335" r:id="rId18"/>
    <p:sldId id="334" r:id="rId19"/>
    <p:sldId id="336" r:id="rId20"/>
    <p:sldId id="337" r:id="rId21"/>
    <p:sldId id="325" r:id="rId22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3095"/>
  </p:normalViewPr>
  <p:slideViewPr>
    <p:cSldViewPr snapToGrid="0" snapToObjects="1">
      <p:cViewPr varScale="1">
        <p:scale>
          <a:sx n="73" d="100"/>
          <a:sy n="73" d="100"/>
        </p:scale>
        <p:origin x="216" y="60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9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6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6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3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73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24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73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60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77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7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05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17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Maximum Likelihood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In the last module, we discussed in detail the challenge of balancing the bias-variance tradeoff.</a:t>
            </a:r>
          </a:p>
          <a:p>
            <a:r>
              <a:rPr lang="en-US" altLang="en-US" dirty="0"/>
              <a:t>AIC, BIC, and MDL were metrics one could use to perform model selection. All three balance fit with model complexity.</a:t>
            </a:r>
          </a:p>
          <a:p>
            <a:r>
              <a:rPr lang="en-US" altLang="en-US" dirty="0"/>
              <a:t>We also discussed VC Dimension, Cross Validation, and Bootstrapping as methods for estimating the prediction error or the expected prediction error when the dataset is too small to allow for a testing set.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maximum likelihood inference, maximum likelihood estimator, and related terms.</a:t>
            </a:r>
          </a:p>
          <a:p>
            <a:r>
              <a:rPr lang="en-US" altLang="en-US" dirty="0"/>
              <a:t>Describe the process of maximum likelihood inference.</a:t>
            </a:r>
          </a:p>
          <a:p>
            <a:r>
              <a:rPr lang="en-US" altLang="en-US" dirty="0"/>
              <a:t>Compute two examples of maximum likelihood inference, one of which is OLS linear regression.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Likelihood</a:t>
            </a:r>
            <a:r>
              <a:rPr lang="en-US" dirty="0"/>
              <a:t> is the probability of observing the given data under a particular model.</a:t>
            </a:r>
          </a:p>
          <a:p>
            <a:pPr lvl="1"/>
            <a:r>
              <a:rPr lang="en-US" dirty="0"/>
              <a:t>a fundamental concept in statistics, </a:t>
            </a:r>
          </a:p>
          <a:p>
            <a:pPr lvl="1"/>
            <a:r>
              <a:rPr lang="en-US" dirty="0"/>
              <a:t>represents the probability of observing the data given a set of parameters in a statistical model </a:t>
            </a:r>
          </a:p>
          <a:p>
            <a:pPr lvl="1"/>
            <a:r>
              <a:rPr lang="en-US" dirty="0"/>
              <a:t>unlike probability, likelihood varies with the model's parameters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Maximum likelihood inference </a:t>
            </a:r>
            <a:r>
              <a:rPr lang="en-US" dirty="0"/>
              <a:t>is a method to estimate model parameters by maximizing the log-likelihood function. </a:t>
            </a:r>
          </a:p>
          <a:p>
            <a:r>
              <a:rPr lang="en-US" dirty="0"/>
              <a:t>In other words, we construct the model that maximizes the likelihood of getting our dataset.</a:t>
            </a:r>
          </a:p>
        </p:txBody>
      </p:sp>
    </p:spTree>
    <p:extLst>
      <p:ext uri="{BB962C8B-B14F-4D97-AF65-F5344CB8AC3E}">
        <p14:creationId xmlns:p14="http://schemas.microsoft.com/office/powerpoint/2010/main" val="217138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likelihood function </a:t>
                </a:r>
                <a:r>
                  <a:rPr lang="en-US" dirty="0"/>
                  <a:t>measures how well the model explains the observed data.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use this function to find the </a:t>
                </a:r>
                <a:r>
                  <a:rPr lang="en-US" i="1" dirty="0"/>
                  <a:t>maximum likelihood estimator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41" t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55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Estimator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maximum likelihood estimator (MLE)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, is a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that maximizes the likelihood. </a:t>
                </a:r>
              </a:p>
              <a:p>
                <a:r>
                  <a:rPr lang="en-US" dirty="0"/>
                  <a:t>Properties of the MLE:</a:t>
                </a:r>
              </a:p>
              <a:p>
                <a:pPr lvl="1"/>
                <a:r>
                  <a:rPr lang="en-US" b="1" dirty="0"/>
                  <a:t>Consistent</a:t>
                </a:r>
                <a:r>
                  <a:rPr lang="en-US" dirty="0"/>
                  <a:t>: it converges to the correct value as the sample size increase (asymptotically unbiased).</a:t>
                </a:r>
              </a:p>
              <a:p>
                <a:pPr lvl="1"/>
                <a:r>
                  <a:rPr lang="en-US" b="1" dirty="0"/>
                  <a:t>Invariance</a:t>
                </a:r>
                <a:r>
                  <a:rPr lang="en-US" dirty="0"/>
                  <a:t>: it is invariant under reparameterizations</a:t>
                </a:r>
              </a:p>
              <a:p>
                <a:pPr lvl="1"/>
                <a:r>
                  <a:rPr lang="en-US" b="1" dirty="0"/>
                  <a:t>Asymptotically Normal</a:t>
                </a:r>
                <a:r>
                  <a:rPr lang="en-US" dirty="0"/>
                  <a:t>: As the sample size grows, the distribution of the MLE tends towards a normal distribution</a:t>
                </a:r>
              </a:p>
              <a:p>
                <a:pPr lvl="1"/>
                <a:r>
                  <a:rPr lang="en-US" b="1" dirty="0"/>
                  <a:t>Efficient</a:t>
                </a:r>
                <a:r>
                  <a:rPr lang="en-US" dirty="0"/>
                  <a:t>: MLEs achieve the lowest possible variance among all unbiased estimators under certain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105" r="-237" b="-3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10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MLI process typically involves: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Defining the likelihood function for the model.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Using calculus (differentiation) to find the MLE.</a:t>
            </a:r>
          </a:p>
        </p:txBody>
      </p:sp>
    </p:spTree>
    <p:extLst>
      <p:ext uri="{BB962C8B-B14F-4D97-AF65-F5344CB8AC3E}">
        <p14:creationId xmlns:p14="http://schemas.microsoft.com/office/powerpoint/2010/main" val="384347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Log-Likelihood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log-likelihood function </a:t>
                </a:r>
                <a:r>
                  <a:rPr lang="en-US" dirty="0"/>
                  <a:t>is the log transformation of the likelihood function, turning the product into a sum.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log-likelihood function is 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Easier to differentiate in order to maximize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Is often concave, ensuring any local maximum is a global maximum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Has a correspondence in critical points with the likelihood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96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score function is the gradient of the log-likelihood function.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MLE generally solves the equation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Sometimes no solution exists and we look for the parameter that minimizes this.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9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36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order to determine if the critical point is a maximum, we look at 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observed information matrix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the Hessian matrix evaluated at the MLE.</a:t>
                </a:r>
              </a:p>
              <a:p>
                <a:r>
                  <a:rPr lang="en-US" dirty="0"/>
                  <a:t>The Fisher information matrix is the expectation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867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Mean and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independent observations. </a:t>
                </a:r>
              </a:p>
              <a:p>
                <a:r>
                  <a:rPr lang="en-US" dirty="0"/>
                  <a:t>Then we model this normal distribution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likelihood function is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b="-3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63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Mean and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log likelihood function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Following performing the first and second derivative shows we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9337" b="-20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87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OLS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model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/>
                  <a:t> parameters; the conditional probability function is Gaussian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14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OLS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Following the same logic as the previous example, we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Maximizing the log-likelihood is equivalent to minimizing the sum of squares. </a:t>
                </a: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is precisely the estimate from Module 2.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081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OLS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Maximizing our last parameter yields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other words, the MLE is the mean sum of squares.</a:t>
                </a:r>
              </a:p>
              <a:p>
                <a:r>
                  <a:rPr lang="en-US" dirty="0"/>
                  <a:t>This is a biased estimator, however—meaning its expectation is not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To make it unbiased, we need to adjust the denominator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510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likelihood inference is a method of estimating a model’s parameters by maximizing the log-likelihood function. </a:t>
            </a:r>
          </a:p>
          <a:p>
            <a:pPr lvl="1"/>
            <a:r>
              <a:rPr lang="en-US" dirty="0"/>
              <a:t>Philosophically, this selects the parameters for which our dataset is most-likely to get sampled. </a:t>
            </a:r>
          </a:p>
          <a:p>
            <a:r>
              <a:rPr lang="en-US" dirty="0"/>
              <a:t>We do this by taking the first derivative of the log-likelihood function, find its critical points, and check the Hessian to determine if we have a maximum.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C9F2F99E-8632-4610-90C2-09DDB8AD60B0}"/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11571</TotalTime>
  <Words>868</Words>
  <Application>Microsoft Macintosh PowerPoint</Application>
  <PresentationFormat>Custom</PresentationFormat>
  <Paragraphs>99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 2</vt:lpstr>
      <vt:lpstr>Breeze</vt:lpstr>
      <vt:lpstr>Math 769: Statistical Learning</vt:lpstr>
      <vt:lpstr>Maximum Likelihood Inference</vt:lpstr>
      <vt:lpstr>Last Time</vt:lpstr>
      <vt:lpstr>Objectives</vt:lpstr>
      <vt:lpstr>Likelihood</vt:lpstr>
      <vt:lpstr>Maximum Likelihood Inference</vt:lpstr>
      <vt:lpstr>Likelihood Function</vt:lpstr>
      <vt:lpstr>Maximum Likelihood Estimator (MLE)</vt:lpstr>
      <vt:lpstr>Calculating the MLE</vt:lpstr>
      <vt:lpstr>Log-Likelihood Function</vt:lpstr>
      <vt:lpstr>Score Function</vt:lpstr>
      <vt:lpstr>Information Matrix</vt:lpstr>
      <vt:lpstr>Example 1: Mean and Variance</vt:lpstr>
      <vt:lpstr>Example 1: Mean and Variance</vt:lpstr>
      <vt:lpstr>Example 2: OLS Regression</vt:lpstr>
      <vt:lpstr>Example 2: OLS Regression</vt:lpstr>
      <vt:lpstr>Example 2: OLS Regression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58</cp:revision>
  <dcterms:created xsi:type="dcterms:W3CDTF">2019-02-13T16:04:21Z</dcterms:created>
  <dcterms:modified xsi:type="dcterms:W3CDTF">2023-12-06T17:09:49Z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