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19"/>
  </p:notesMasterIdLst>
  <p:sldIdLst>
    <p:sldId id="259" r:id="rId5"/>
    <p:sldId id="262" r:id="rId6"/>
    <p:sldId id="263" r:id="rId7"/>
    <p:sldId id="269" r:id="rId8"/>
    <p:sldId id="322" r:id="rId9"/>
    <p:sldId id="329" r:id="rId10"/>
    <p:sldId id="326" r:id="rId11"/>
    <p:sldId id="330" r:id="rId12"/>
    <p:sldId id="325" r:id="rId13"/>
    <p:sldId id="331" r:id="rId14"/>
    <p:sldId id="332" r:id="rId15"/>
    <p:sldId id="333" r:id="rId16"/>
    <p:sldId id="334" r:id="rId17"/>
    <p:sldId id="327" r:id="rId18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348"/>
    <p:restoredTop sz="96327"/>
  </p:normalViewPr>
  <p:slideViewPr>
    <p:cSldViewPr snapToGrid="0" snapToObjects="1">
      <p:cViewPr varScale="1">
        <p:scale>
          <a:sx n="58" d="100"/>
          <a:sy n="58" d="100"/>
        </p:scale>
        <p:origin x="240" y="1096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B339E-DD24-AF4D-951A-8F87C48A3888}" type="datetimeFigureOut">
              <a:rPr lang="en-US" smtClean="0"/>
              <a:t>12/6/23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2D538-1C4E-BA48-98E5-173D2FE01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925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D2C4-084C-C545-00AC-430EC19B6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Math 769: Statistical Learning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803D9D7-D926-E270-BBAA-C017CB0F03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2807F-AA75-8289-ABFC-30F1E44E6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Bayesian Inference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820C0-3BC8-687A-7D56-C3951CF5E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Shahrzad Jamshidi, PhD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Last Time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We discussed maximum likelihood inference as a method for finding parameters in a model. </a:t>
            </a:r>
          </a:p>
          <a:p>
            <a:r>
              <a:rPr lang="en-US" altLang="en-US" dirty="0"/>
              <a:t>The method involves constructing the log-likelihood function and finding the values of the parameters that maximize the function.</a:t>
            </a:r>
          </a:p>
          <a:p>
            <a:r>
              <a:rPr lang="en-US" altLang="en-US" dirty="0"/>
              <a:t>Conceptually, this technique is finding the model for which our dataset is the most likely. </a:t>
            </a:r>
          </a:p>
          <a:p>
            <a:r>
              <a:rPr lang="en-US" altLang="en-US" dirty="0"/>
              <a:t>Sometimes the estimates from this technique are biased.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Objectives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dirty="0"/>
              <a:t>Understand the basics of Bayes' Theorem.</a:t>
            </a:r>
          </a:p>
          <a:p>
            <a:r>
              <a:rPr lang="en-US" dirty="0"/>
              <a:t>Explore how Bayesian Inference differs from the frequentist approach.</a:t>
            </a:r>
          </a:p>
          <a:p>
            <a:r>
              <a:rPr lang="en-US" dirty="0"/>
              <a:t>Learn the process of constructing models using Bayesian methods.</a:t>
            </a:r>
          </a:p>
        </p:txBody>
      </p:sp>
    </p:spTree>
    <p:extLst>
      <p:ext uri="{BB962C8B-B14F-4D97-AF65-F5344CB8AC3E}">
        <p14:creationId xmlns:p14="http://schemas.microsoft.com/office/powerpoint/2010/main" val="2774394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be events associated with sample space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then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Bayes' Theorem combines prior probability with new evidence to form a posterior probability.</a:t>
                </a:r>
              </a:p>
              <a:p>
                <a:r>
                  <a:rPr lang="en-US" dirty="0"/>
                  <a:t>It mathematically expresses how a subjective degree of belief should change with evidence.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41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724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 vs. Frequentists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9E1FF-60C6-FC18-0E3A-403B67A61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standard (“frequentist”) inference, probabilities are interpreted as long-run frequencies.</a:t>
            </a:r>
          </a:p>
          <a:p>
            <a:r>
              <a:rPr lang="en-US" dirty="0"/>
              <a:t>In the Bayesian inference, probabilities are interpreted as subjective degrees of belief.</a:t>
            </a:r>
          </a:p>
          <a:p>
            <a:pPr lvl="1"/>
            <a:r>
              <a:rPr lang="en-US" dirty="0"/>
              <a:t>The prior distribution, which is a or belief, gets updated in the face of evidence. </a:t>
            </a:r>
          </a:p>
          <a:p>
            <a:pPr lvl="1"/>
            <a:r>
              <a:rPr lang="en-US" dirty="0"/>
              <a:t>The posterior distribution is a reflection of that update.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576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Important terms:</a:t>
                </a:r>
              </a:p>
              <a:p>
                <a:pPr lvl="1"/>
                <a:r>
                  <a:rPr lang="en-US" dirty="0"/>
                  <a:t>The </a:t>
                </a:r>
                <a:r>
                  <a:rPr lang="en-US" b="1" dirty="0">
                    <a:solidFill>
                      <a:schemeClr val="accent1"/>
                    </a:solidFill>
                  </a:rPr>
                  <a:t>prior probability</a:t>
                </a:r>
                <a:r>
                  <a:rPr lang="en-US" dirty="0"/>
                  <a:t> is the initial belief,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The </a:t>
                </a:r>
                <a:r>
                  <a:rPr lang="en-US" b="1" dirty="0">
                    <a:solidFill>
                      <a:schemeClr val="bg1"/>
                    </a:solidFill>
                  </a:rPr>
                  <a:t>evidence</a:t>
                </a:r>
                <a:r>
                  <a:rPr lang="en-US" dirty="0"/>
                  <a:t> is the probability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The </a:t>
                </a:r>
                <a:r>
                  <a:rPr lang="en-US" b="1" dirty="0">
                    <a:solidFill>
                      <a:schemeClr val="accent1"/>
                    </a:solidFill>
                  </a:rPr>
                  <a:t>likelihood</a:t>
                </a:r>
                <a:r>
                  <a:rPr lang="en-US" dirty="0"/>
                  <a:t> is the probability of the evidence given the hypothesis,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The </a:t>
                </a:r>
                <a:r>
                  <a:rPr lang="en-US" b="1" dirty="0">
                    <a:solidFill>
                      <a:schemeClr val="accent1"/>
                    </a:solidFill>
                  </a:rPr>
                  <a:t>posterior probability</a:t>
                </a:r>
                <a:r>
                  <a:rPr lang="en-US" dirty="0"/>
                  <a:t> is the updated belief after considering the evidence,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6116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15803-72E3-0A13-DB0B-636F022CA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 Inference from Bayes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72C919-87FA-7E6A-BC86-6D4A734D6A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8550" y="4448431"/>
                <a:ext cx="16084552" cy="1551435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72C919-87FA-7E6A-BC86-6D4A734D6A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8550" y="4448431"/>
                <a:ext cx="16084552" cy="1551435"/>
              </a:xfrm>
              <a:blipFill>
                <a:blip r:embed="rId2"/>
                <a:stretch>
                  <a:fillRect b="-16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894A77F-79EF-8557-FAD4-2FF820C9480A}"/>
              </a:ext>
            </a:extLst>
          </p:cNvPr>
          <p:cNvSpPr txBox="1"/>
          <p:nvPr/>
        </p:nvSpPr>
        <p:spPr>
          <a:xfrm>
            <a:off x="4408499" y="2185071"/>
            <a:ext cx="51683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>
                <a:solidFill>
                  <a:schemeClr val="bg1"/>
                </a:solidFill>
              </a:rPr>
              <a:t>The prior distribution of the unknown parameter(s).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148431F-EB40-BD22-5B61-598370BADA51}"/>
              </a:ext>
            </a:extLst>
          </p:cNvPr>
          <p:cNvCxnSpPr>
            <a:cxnSpLocks/>
          </p:cNvCxnSpPr>
          <p:nvPr/>
        </p:nvCxnSpPr>
        <p:spPr>
          <a:xfrm flipH="1">
            <a:off x="11748052" y="3098902"/>
            <a:ext cx="834887" cy="1349529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7080D69-E8EF-07AF-CF42-9F32F5FF376C}"/>
              </a:ext>
            </a:extLst>
          </p:cNvPr>
          <p:cNvCxnSpPr>
            <a:cxnSpLocks/>
          </p:cNvCxnSpPr>
          <p:nvPr/>
        </p:nvCxnSpPr>
        <p:spPr>
          <a:xfrm flipH="1" flipV="1">
            <a:off x="10933043" y="5999866"/>
            <a:ext cx="1808922" cy="847244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67D9632-5EC1-E33D-E7FF-3E779D1034CE}"/>
              </a:ext>
            </a:extLst>
          </p:cNvPr>
          <p:cNvCxnSpPr>
            <a:cxnSpLocks/>
          </p:cNvCxnSpPr>
          <p:nvPr/>
        </p:nvCxnSpPr>
        <p:spPr>
          <a:xfrm>
            <a:off x="6992673" y="3754731"/>
            <a:ext cx="2299163" cy="1129639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04996F9-C403-ED45-1A9A-B6B6CD529F56}"/>
              </a:ext>
            </a:extLst>
          </p:cNvPr>
          <p:cNvCxnSpPr>
            <a:cxnSpLocks/>
          </p:cNvCxnSpPr>
          <p:nvPr/>
        </p:nvCxnSpPr>
        <p:spPr>
          <a:xfrm flipV="1">
            <a:off x="5700727" y="5570806"/>
            <a:ext cx="1291946" cy="112276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49BDA05-A90C-0807-3A9D-44B735BA1D74}"/>
                  </a:ext>
                </a:extLst>
              </p:cNvPr>
              <p:cNvSpPr txBox="1"/>
              <p:nvPr/>
            </p:nvSpPr>
            <p:spPr>
              <a:xfrm>
                <a:off x="1824324" y="6847110"/>
                <a:ext cx="5168349" cy="18889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i="1" dirty="0">
                    <a:solidFill>
                      <a:schemeClr val="bg1"/>
                    </a:solidFill>
                  </a:rPr>
                  <a:t>The posterior distribution of the unknown parameter(s); equals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lang="en-US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endParaRPr lang="en-US" sz="3200" i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49BDA05-A90C-0807-3A9D-44B735BA1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4324" y="6847110"/>
                <a:ext cx="5168349" cy="1888915"/>
              </a:xfrm>
              <a:prstGeom prst="rect">
                <a:avLst/>
              </a:prstGeom>
              <a:blipFill>
                <a:blip r:embed="rId3"/>
                <a:stretch>
                  <a:fillRect l="-2941" t="-4698" r="-3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5E28FAC0-CDE7-F3FA-2392-ABA7816CEFB8}"/>
              </a:ext>
            </a:extLst>
          </p:cNvPr>
          <p:cNvSpPr txBox="1"/>
          <p:nvPr/>
        </p:nvSpPr>
        <p:spPr>
          <a:xfrm>
            <a:off x="11295326" y="2514127"/>
            <a:ext cx="51683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>
                <a:solidFill>
                  <a:schemeClr val="bg1"/>
                </a:solidFill>
              </a:rPr>
              <a:t>The statistical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D63BDB2-3421-43FE-AE60-11407EE119CF}"/>
                  </a:ext>
                </a:extLst>
              </p:cNvPr>
              <p:cNvSpPr txBox="1"/>
              <p:nvPr/>
            </p:nvSpPr>
            <p:spPr>
              <a:xfrm>
                <a:off x="8766313" y="6930054"/>
                <a:ext cx="9064487" cy="11532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e>
                            <m:r>
                              <a:rPr lang="en-US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nary>
                    <m:r>
                      <a:rPr lang="en-US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nary>
                  </m:oMath>
                </a14:m>
                <a:r>
                  <a:rPr lang="en-US" sz="3200" dirty="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en-US" sz="3200" i="1" dirty="0">
                  <a:solidFill>
                    <a:schemeClr val="bg1"/>
                  </a:solidFill>
                </a:endParaRPr>
              </a:p>
              <a:p>
                <a:r>
                  <a:rPr lang="en-US" sz="3200" i="1" dirty="0">
                    <a:solidFill>
                      <a:schemeClr val="bg1"/>
                    </a:solidFill>
                  </a:rPr>
                  <a:t>The probability of the data under assumptions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D63BDB2-3421-43FE-AE60-11407EE11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6313" y="6930054"/>
                <a:ext cx="9064487" cy="1153264"/>
              </a:xfrm>
              <a:prstGeom prst="rect">
                <a:avLst/>
              </a:prstGeom>
              <a:blipFill>
                <a:blip r:embed="rId4"/>
                <a:stretch>
                  <a:fillRect l="-1681" t="-85870" b="-8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3957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Process of Bayes Inference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Bayes Inference Process: </a:t>
                </a:r>
              </a:p>
              <a:p>
                <a:pPr marL="1441450" lvl="1" indent="-742950">
                  <a:buFont typeface="+mj-lt"/>
                  <a:buAutoNum type="arabicPeriod"/>
                </a:pPr>
                <a:r>
                  <a:rPr lang="en-US" dirty="0"/>
                  <a:t>Start with a prior distribution.</a:t>
                </a:r>
              </a:p>
              <a:p>
                <a:pPr marL="1441450" lvl="1" indent="-742950">
                  <a:buFont typeface="+mj-lt"/>
                  <a:buAutoNum type="arabicPeriod"/>
                </a:pPr>
                <a:r>
                  <a:rPr lang="en-US" dirty="0"/>
                  <a:t>Collect data.</a:t>
                </a:r>
              </a:p>
              <a:p>
                <a:pPr marL="1441450" lvl="1" indent="-742950">
                  <a:buFont typeface="+mj-lt"/>
                  <a:buAutoNum type="arabicPeriod"/>
                </a:pPr>
                <a:r>
                  <a:rPr lang="en-US" dirty="0"/>
                  <a:t>Compute the posterior: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nary>
                          <m:naryPr>
                            <m:limLoc m:val="undOvr"/>
                            <m:subHide m:val="on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θ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nary>
                      </m:den>
                    </m:f>
                  </m:oMath>
                </a14:m>
                <a:br>
                  <a:rPr lang="en-US" dirty="0"/>
                </a:br>
                <a:endParaRPr lang="en-US" dirty="0"/>
              </a:p>
              <a:p>
                <a:pPr marL="1441450" lvl="1" indent="-742950">
                  <a:buFont typeface="+mj-lt"/>
                  <a:buAutoNum type="arabicPeriod"/>
                </a:pPr>
                <a:r>
                  <a:rPr lang="en-US" dirty="0"/>
                  <a:t>Update the prior distribution with the posterior and repeat (optional).</a:t>
                </a:r>
              </a:p>
              <a:p>
                <a:pPr marL="25400" indent="0">
                  <a:buNone/>
                </a:pPr>
                <a:endParaRPr lang="en-US" dirty="0"/>
              </a:p>
              <a:p>
                <a:pPr marL="1441450" lvl="1" indent="-74295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9373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D60E75-422C-A6A0-A9D5-01AA83A8B3B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0" dirty="0"/>
                  <a:t>Model: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>
                    <a:ea typeface="Cambria Math" panose="02040503050406030204" pitchFamily="18" charset="0"/>
                  </a:rPr>
                  <a:t>Initial Prior: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~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(0, 1)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Data: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0.8,1.7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0.7,1.7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0.6,1.4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D60E75-422C-A6A0-A9D5-01AA83A8B3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310" t="-17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B91623-F4DD-6485-19F3-6425722D0AD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Posterior Mean</a:t>
            </a:r>
            <a:r>
              <a:rPr lang="en-US" dirty="0"/>
              <a:t>: ~1.6</a:t>
            </a:r>
          </a:p>
          <a:p>
            <a:r>
              <a:rPr lang="en-US" b="1" dirty="0"/>
              <a:t>Posterior Variance</a:t>
            </a:r>
            <a:r>
              <a:rPr lang="en-US" dirty="0"/>
              <a:t>: ~0.7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0774E9-7ADF-8875-EA7F-D278D1092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Iteration 1</a:t>
            </a:r>
          </a:p>
        </p:txBody>
      </p:sp>
    </p:spTree>
    <p:extLst>
      <p:ext uri="{BB962C8B-B14F-4D97-AF65-F5344CB8AC3E}">
        <p14:creationId xmlns:p14="http://schemas.microsoft.com/office/powerpoint/2010/main" val="1117957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D60E75-422C-A6A0-A9D5-01AA83A8B3B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0" dirty="0"/>
                  <a:t>Model: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>
                    <a:ea typeface="Cambria Math" panose="02040503050406030204" pitchFamily="18" charset="0"/>
                  </a:rPr>
                  <a:t>Initial Prior: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~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(1.6, 0.7)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Data: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0.2,0.4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0.2,0.5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0.9,1.8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D60E75-422C-A6A0-A9D5-01AA83A8B3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310" t="-17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B91623-F4DD-6485-19F3-6425722D0AD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Posterior Mean</a:t>
            </a:r>
            <a:r>
              <a:rPr lang="en-US" dirty="0"/>
              <a:t> about 1.8</a:t>
            </a:r>
          </a:p>
          <a:p>
            <a:r>
              <a:rPr lang="en-US" b="1" dirty="0"/>
              <a:t>Posterior Variance </a:t>
            </a:r>
            <a:r>
              <a:rPr lang="en-US" dirty="0"/>
              <a:t>about</a:t>
            </a:r>
            <a:r>
              <a:rPr lang="en-US" b="1" dirty="0"/>
              <a:t> </a:t>
            </a:r>
            <a:r>
              <a:rPr lang="en-US" dirty="0"/>
              <a:t>0.3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0774E9-7ADF-8875-EA7F-D278D1092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Iteration 2</a:t>
            </a:r>
          </a:p>
        </p:txBody>
      </p:sp>
    </p:spTree>
    <p:extLst>
      <p:ext uri="{BB962C8B-B14F-4D97-AF65-F5344CB8AC3E}">
        <p14:creationId xmlns:p14="http://schemas.microsoft.com/office/powerpoint/2010/main" val="3020592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D60E75-422C-A6A0-A9D5-01AA83A8B3B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0" dirty="0"/>
                  <a:t>Model: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>
                    <a:ea typeface="Cambria Math" panose="02040503050406030204" pitchFamily="18" charset="0"/>
                  </a:rPr>
                  <a:t>Initial Prior: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~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(1.8, 0.3)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Data: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(1.2,2.5),(1.9, 3.9),(1.8, 3.7)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D60E75-422C-A6A0-A9D5-01AA83A8B3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310" t="-17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B91623-F4DD-6485-19F3-6425722D0AD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Posterior Mean</a:t>
            </a:r>
            <a:r>
              <a:rPr lang="en-US" dirty="0"/>
              <a:t> about 2.0</a:t>
            </a:r>
          </a:p>
          <a:p>
            <a:r>
              <a:rPr lang="en-US" b="1" dirty="0"/>
              <a:t>Posterior Variance </a:t>
            </a:r>
            <a:r>
              <a:rPr lang="en-US" dirty="0"/>
              <a:t>about</a:t>
            </a:r>
            <a:r>
              <a:rPr lang="en-US" b="1" dirty="0"/>
              <a:t> </a:t>
            </a:r>
            <a:r>
              <a:rPr lang="en-US" dirty="0"/>
              <a:t>0.01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0774E9-7ADF-8875-EA7F-D278D1092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Iteration 3</a:t>
            </a:r>
          </a:p>
        </p:txBody>
      </p:sp>
    </p:spTree>
    <p:extLst>
      <p:ext uri="{BB962C8B-B14F-4D97-AF65-F5344CB8AC3E}">
        <p14:creationId xmlns:p14="http://schemas.microsoft.com/office/powerpoint/2010/main" val="1607826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D60E75-422C-A6A0-A9D5-01AA83A8B3B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0" dirty="0"/>
                  <a:t>Model: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>
                    <a:ea typeface="Cambria Math" panose="02040503050406030204" pitchFamily="18" charset="0"/>
                  </a:rPr>
                  <a:t>Initial Prior: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~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(1.8, 0.3)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Data: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(1.2,2.5),(1.9, 3.9),(1.8, 3.7)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D60E75-422C-A6A0-A9D5-01AA83A8B3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310" t="-17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B91623-F4DD-6485-19F3-6425722D0AD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Posterior Mean</a:t>
            </a:r>
            <a:r>
              <a:rPr lang="en-US" dirty="0"/>
              <a:t> about 2.0</a:t>
            </a:r>
          </a:p>
          <a:p>
            <a:r>
              <a:rPr lang="en-US" b="1" dirty="0"/>
              <a:t>Posterior Variance </a:t>
            </a:r>
            <a:r>
              <a:rPr lang="en-US" dirty="0"/>
              <a:t>about</a:t>
            </a:r>
            <a:r>
              <a:rPr lang="en-US" b="1" dirty="0"/>
              <a:t> </a:t>
            </a:r>
            <a:r>
              <a:rPr lang="en-US" dirty="0"/>
              <a:t>0.01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0774E9-7ADF-8875-EA7F-D278D1092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Iteration 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9DA300-BB01-08F0-75DA-B8166C5E74F8}"/>
              </a:ext>
            </a:extLst>
          </p:cNvPr>
          <p:cNvSpPr txBox="1"/>
          <p:nvPr/>
        </p:nvSpPr>
        <p:spPr>
          <a:xfrm rot="20701071">
            <a:off x="6443814" y="2968990"/>
            <a:ext cx="467139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True distribution: </a:t>
            </a:r>
            <a:br>
              <a:rPr lang="en-US" sz="4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en-US" sz="4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N(2, 0.1)</a:t>
            </a:r>
          </a:p>
        </p:txBody>
      </p:sp>
    </p:spTree>
    <p:extLst>
      <p:ext uri="{BB962C8B-B14F-4D97-AF65-F5344CB8AC3E}">
        <p14:creationId xmlns:p14="http://schemas.microsoft.com/office/powerpoint/2010/main" val="4187104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Bayes Inference relies on Bayes theorem.</a:t>
                </a:r>
              </a:p>
              <a:p>
                <a:r>
                  <a:rPr lang="en-US" dirty="0"/>
                  <a:t>Bayes theorem provides a dynamic way of computing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dirty="0"/>
                  <a:t> based on an assumed distribution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Once the data is collected,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 can be computed and, using Bayes theorem, we find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The distribution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dirty="0"/>
                  <a:t> redefines the distribution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The coding example illustrates one way to manage the convergence.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 b="-5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87267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6" ma:contentTypeDescription="Create a new document." ma:contentTypeScope="" ma:versionID="81a54cd395f61cfc29bb41b0389d7858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db123aac500611cfff64836afef3716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customXml/itemProps3.xml><?xml version="1.0" encoding="utf-8"?>
<ds:datastoreItem xmlns:ds="http://schemas.openxmlformats.org/officeDocument/2006/customXml" ds:itemID="{071E49A4-2882-46E0-83BA-09403D1F4F9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11579</TotalTime>
  <Words>578</Words>
  <Application>Microsoft Macintosh PowerPoint</Application>
  <PresentationFormat>Custom</PresentationFormat>
  <Paragraphs>73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 Math</vt:lpstr>
      <vt:lpstr>Wingdings 2</vt:lpstr>
      <vt:lpstr>Breeze</vt:lpstr>
      <vt:lpstr>Math 769: Statistical Learning</vt:lpstr>
      <vt:lpstr>Bayesian Inference</vt:lpstr>
      <vt:lpstr>Last Time</vt:lpstr>
      <vt:lpstr>Objectives</vt:lpstr>
      <vt:lpstr>Bayes Theorem</vt:lpstr>
      <vt:lpstr>Bayes vs. Frequentists</vt:lpstr>
      <vt:lpstr>Bayes Theorem</vt:lpstr>
      <vt:lpstr>Bayes Inference from Bayes Theorem</vt:lpstr>
      <vt:lpstr>The Process of Bayes Inference</vt:lpstr>
      <vt:lpstr>Example: Iteration 1</vt:lpstr>
      <vt:lpstr>Example: Iteration 2</vt:lpstr>
      <vt:lpstr>Example: Iteration 3</vt:lpstr>
      <vt:lpstr>Example: Iteration 3</vt:lpstr>
      <vt:lpstr>Conclusion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Jamshidi, Sara (She/Her/Hers)</cp:lastModifiedBy>
  <cp:revision>61</cp:revision>
  <dcterms:created xsi:type="dcterms:W3CDTF">2019-02-13T16:04:21Z</dcterms:created>
  <dcterms:modified xsi:type="dcterms:W3CDTF">2023-12-06T21:54:29Z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SIP_Label_f2dee603-0001-4639-81f8-0608a53322f1_Enabled">
    <vt:lpwstr>true</vt:lpwstr>
  </property>
  <property fmtid="{D5CDD505-2E9C-101B-9397-08002B2CF9AE}" pid="4" name="MSIP_Label_f2dee603-0001-4639-81f8-0608a53322f1_SetDate">
    <vt:lpwstr>2023-11-13T19:27:41Z</vt:lpwstr>
  </property>
  <property fmtid="{D5CDD505-2E9C-101B-9397-08002B2CF9AE}" pid="5" name="MSIP_Label_f2dee603-0001-4639-81f8-0608a53322f1_Method">
    <vt:lpwstr>Standard</vt:lpwstr>
  </property>
  <property fmtid="{D5CDD505-2E9C-101B-9397-08002B2CF9AE}" pid="6" name="MSIP_Label_f2dee603-0001-4639-81f8-0608a53322f1_Name">
    <vt:lpwstr>defa4170-0d19-0005-0004-bc88714345d2</vt:lpwstr>
  </property>
  <property fmtid="{D5CDD505-2E9C-101B-9397-08002B2CF9AE}" pid="7" name="MSIP_Label_f2dee603-0001-4639-81f8-0608a53322f1_SiteId">
    <vt:lpwstr>b4478c05-3dd9-4e06-a7fb-5dcf72bd44ee</vt:lpwstr>
  </property>
  <property fmtid="{D5CDD505-2E9C-101B-9397-08002B2CF9AE}" pid="8" name="MSIP_Label_f2dee603-0001-4639-81f8-0608a53322f1_ActionId">
    <vt:lpwstr>1b0daab6-fbab-47d6-a526-f1d5535b6116</vt:lpwstr>
  </property>
  <property fmtid="{D5CDD505-2E9C-101B-9397-08002B2CF9AE}" pid="9" name="MSIP_Label_f2dee603-0001-4639-81f8-0608a53322f1_ContentBits">
    <vt:lpwstr>0</vt:lpwstr>
  </property>
</Properties>
</file>