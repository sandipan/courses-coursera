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2"/>
  </p:notesMasterIdLst>
  <p:sldIdLst>
    <p:sldId id="259" r:id="rId5"/>
    <p:sldId id="262" r:id="rId6"/>
    <p:sldId id="263" r:id="rId7"/>
    <p:sldId id="269" r:id="rId8"/>
    <p:sldId id="317" r:id="rId9"/>
    <p:sldId id="280" r:id="rId10"/>
    <p:sldId id="318" r:id="rId11"/>
    <p:sldId id="313" r:id="rId12"/>
    <p:sldId id="314" r:id="rId13"/>
    <p:sldId id="315" r:id="rId14"/>
    <p:sldId id="316" r:id="rId15"/>
    <p:sldId id="312" r:id="rId16"/>
    <p:sldId id="320" r:id="rId17"/>
    <p:sldId id="321" r:id="rId18"/>
    <p:sldId id="319" r:id="rId19"/>
    <p:sldId id="322" r:id="rId20"/>
    <p:sldId id="323" r:id="rId21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0000"/>
  </p:normalViewPr>
  <p:slideViewPr>
    <p:cSldViewPr snapToGrid="0" snapToObjects="1">
      <p:cViewPr varScale="1">
        <p:scale>
          <a:sx n="56" d="100"/>
          <a:sy n="56" d="100"/>
        </p:scale>
        <p:origin x="192" y="25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Bias, Variance, and </a:t>
            </a:r>
            <a:br>
              <a:rPr lang="en-US" dirty="0"/>
            </a:br>
            <a:r>
              <a:rPr lang="en-US" dirty="0"/>
              <a:t>Model Complexity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Modeling based on local data: </a:t>
            </a:r>
          </a:p>
          <a:p>
            <a:pPr lvl="1"/>
            <a:r>
              <a:rPr lang="en-US" altLang="en-US" dirty="0"/>
              <a:t>Kernel smoothing functions </a:t>
            </a:r>
          </a:p>
          <a:p>
            <a:pPr lvl="1"/>
            <a:r>
              <a:rPr lang="en-US" altLang="en-US" dirty="0"/>
              <a:t>Local linear and polynomial regression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Model bias and model variance to explain the tradeoff between the two. </a:t>
            </a:r>
          </a:p>
          <a:p>
            <a:r>
              <a:rPr lang="en-US" altLang="en-US" dirty="0"/>
              <a:t>List 4 examples of loss functions</a:t>
            </a:r>
          </a:p>
          <a:p>
            <a:r>
              <a:rPr lang="en-US" altLang="en-US" dirty="0"/>
              <a:t>Define two kinds of model error to evaluate bias versus variance. </a:t>
            </a:r>
          </a:p>
          <a:p>
            <a:r>
              <a:rPr lang="en-US" altLang="en-US" dirty="0"/>
              <a:t>Explain why training error is not good for this purpose. </a:t>
            </a:r>
          </a:p>
          <a:p>
            <a:r>
              <a:rPr lang="en-US" altLang="en-US" dirty="0"/>
              <a:t>Describe the purpose of a training-validation-test split of the dataset.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Bias versus Variance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Statistical models balance an important tradeoff:</a:t>
            </a:r>
          </a:p>
          <a:p>
            <a:pPr lvl="1"/>
            <a:r>
              <a:rPr lang="en-US" altLang="en-US" b="1" dirty="0">
                <a:solidFill>
                  <a:schemeClr val="bg1"/>
                </a:solidFill>
              </a:rPr>
              <a:t>bias</a:t>
            </a:r>
            <a:r>
              <a:rPr lang="en-US" altLang="en-US" dirty="0"/>
              <a:t> (error from erroneous assumptions) and </a:t>
            </a:r>
          </a:p>
          <a:p>
            <a:pPr lvl="1"/>
            <a:r>
              <a:rPr lang="en-US" altLang="en-US" b="1" dirty="0">
                <a:solidFill>
                  <a:schemeClr val="bg1"/>
                </a:solidFill>
              </a:rPr>
              <a:t>variance</a:t>
            </a:r>
            <a:r>
              <a:rPr lang="en-US" altLang="en-US" dirty="0"/>
              <a:t> (error from sensitivity to fluctuations in the training set). </a:t>
            </a:r>
          </a:p>
          <a:p>
            <a:r>
              <a:rPr lang="en-US" altLang="en-US" dirty="0"/>
              <a:t>The goal is to find a sweet spot that minimizes total </a:t>
            </a:r>
            <a:r>
              <a:rPr lang="en-US" altLang="en-US" b="1" dirty="0">
                <a:solidFill>
                  <a:schemeClr val="bg1"/>
                </a:solidFill>
              </a:rPr>
              <a:t>error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009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course, we have seen two kinds of loss functions: </a:t>
                </a:r>
              </a:p>
              <a:p>
                <a:pPr lvl="1"/>
                <a:r>
                  <a:rPr lang="en-US" dirty="0"/>
                  <a:t>Squared error: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Absolute error: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purpose of the loss function is to measure </a:t>
                </a:r>
                <a:r>
                  <a:rPr lang="en-US" b="1" dirty="0">
                    <a:solidFill>
                      <a:schemeClr val="bg1"/>
                    </a:solidFill>
                  </a:rPr>
                  <a:t>errors</a:t>
                </a:r>
                <a:r>
                  <a:rPr lang="en-US" dirty="0"/>
                  <a:t>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30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categorical problems, we have two additional loss functions</a:t>
                </a:r>
              </a:p>
              <a:p>
                <a:pPr lvl="1"/>
                <a:r>
                  <a:rPr lang="en-US" dirty="0"/>
                  <a:t>0-1 loss: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-2 Log-likelihood 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-2 Log-likelihood is also called </a:t>
                </a:r>
                <a:r>
                  <a:rPr lang="en-US" i="1" dirty="0"/>
                  <a:t>deviance</a:t>
                </a:r>
                <a:r>
                  <a:rPr lang="en-US" dirty="0"/>
                  <a:t> and is closely related to cross entropy.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40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kinds of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Regardless of the type of loss we use, there are two kinds of error. 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b="1" u="sng" dirty="0"/>
                  <a:t>Test </a:t>
                </a:r>
                <a:r>
                  <a:rPr lang="en-US" b="1" u="sng" dirty="0" err="1"/>
                  <a:t>error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</m:d>
                  </m:oMath>
                </a14:m>
                <a:endParaRPr lang="en-US" b="0" dirty="0"/>
              </a:p>
              <a:p>
                <a:pPr marL="1416050" lvl="1" indent="-742950"/>
                <a:r>
                  <a:rPr lang="en-US" dirty="0"/>
                  <a:t>the expectation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conditioned on a fixed training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416050" lvl="1" indent="-742950"/>
                <a:r>
                  <a:rPr lang="en-US" dirty="0"/>
                  <a:t>The training set is fixed, so the test error refers to the error for the specific training set. 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b="1" u="sng" dirty="0"/>
                  <a:t>Expected test error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416050" lvl="1" indent="-742950"/>
                <a:r>
                  <a:rPr lang="en-US" dirty="0"/>
                  <a:t>the expectation with respect to the training data set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3" t="-1657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553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image to the right, we have the test error depicted in light red of 100 simulated training sets. </a:t>
            </a:r>
          </a:p>
          <a:p>
            <a:r>
              <a:rPr lang="en-US" dirty="0"/>
              <a:t>The dark red line is the expected test error. </a:t>
            </a:r>
          </a:p>
          <a:p>
            <a:r>
              <a:rPr lang="en-US" dirty="0"/>
              <a:t>The blue portion are training set error analogs. </a:t>
            </a:r>
          </a:p>
        </p:txBody>
      </p:sp>
      <p:pic>
        <p:nvPicPr>
          <p:cNvPr id="6" name="Content Placeholder 5" descr="A graph of different types of lines&#10;&#10;Description automatically generated with medium confidence">
            <a:extLst>
              <a:ext uri="{FF2B5EF4-FFF2-40B4-BE49-F238E27FC236}">
                <a16:creationId xmlns:a16="http://schemas.microsoft.com/office/drawing/2014/main" id="{30B7B9CA-C938-0931-E6F8-A5A3E11712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2775" y="2295373"/>
            <a:ext cx="7680325" cy="609630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Error vs Expected Test Error</a:t>
            </a:r>
          </a:p>
        </p:txBody>
      </p:sp>
    </p:spTree>
    <p:extLst>
      <p:ext uri="{BB962C8B-B14F-4D97-AF65-F5344CB8AC3E}">
        <p14:creationId xmlns:p14="http://schemas.microsoft.com/office/powerpoint/2010/main" val="213068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sub>
                    </m:sSub>
                  </m:oMath>
                </a14:m>
                <a:r>
                  <a:rPr lang="en-US" b="0" dirty="0"/>
                  <a:t> is what we want to know.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</m:t>
                    </m:r>
                  </m:oMath>
                </a14:m>
                <a:r>
                  <a:rPr lang="en-US" b="0" dirty="0"/>
                  <a:t> is easier to understand from a statistical standpoint.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77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The training error is the average loss over the training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err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We want the expected test error. </a:t>
                </a:r>
              </a:p>
              <a:p>
                <a:r>
                  <a:rPr lang="en-US" dirty="0"/>
                  <a:t>The model uses the training data and adapts to it, which decreases bias and increases variance.</a:t>
                </a:r>
              </a:p>
              <a:p>
                <a:r>
                  <a:rPr lang="en-US" b="0" dirty="0"/>
                  <a:t>This is the </a:t>
                </a:r>
                <a:r>
                  <a:rPr lang="en-US" b="0" i="1" dirty="0"/>
                  <a:t>optimism of the training error rate</a:t>
                </a:r>
                <a:r>
                  <a:rPr lang="en-US" b="0" dirty="0"/>
                  <a:t>—it is optimized when we use it to find parameters.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9337" r="-1420" b="-5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95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Parameters and Bias-Variance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additional consideration: </a:t>
            </a:r>
            <a:r>
              <a:rPr lang="en-US" i="1" dirty="0"/>
              <a:t>hyperparameters</a:t>
            </a:r>
            <a:r>
              <a:rPr lang="en-US" dirty="0"/>
              <a:t>.</a:t>
            </a:r>
          </a:p>
          <a:p>
            <a:r>
              <a:rPr lang="en-US" dirty="0"/>
              <a:t>Hyperparameters, or tuning parameters, tweak the complexity of the model. </a:t>
            </a:r>
          </a:p>
          <a:p>
            <a:r>
              <a:rPr lang="en-US" dirty="0"/>
              <a:t>Selecting the optimal level so as to balance bias and variance is ideal.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13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goals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Model selection </a:t>
                </a:r>
              </a:p>
              <a:p>
                <a:pPr lvl="1"/>
                <a:r>
                  <a:rPr lang="en-US" dirty="0"/>
                  <a:t>Picking optimal hyperparameters</a:t>
                </a:r>
              </a:p>
              <a:p>
                <a:r>
                  <a:rPr lang="en-US" dirty="0"/>
                  <a:t>Model assessment</a:t>
                </a:r>
              </a:p>
              <a:p>
                <a:pPr lvl="1"/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sub>
                    </m:sSub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Err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140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Data is Abundant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we have more than enough data to train the model, we split our dataset into three parts: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Validation set is used for model selection. </a:t>
                </a:r>
              </a:p>
              <a:p>
                <a:r>
                  <a:rPr lang="en-US" dirty="0"/>
                  <a:t>Testing is used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4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62EFB2-AFE1-7DAC-B72A-59C3F5EED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334343"/>
              </p:ext>
            </p:extLst>
          </p:nvPr>
        </p:nvGraphicFramePr>
        <p:xfrm>
          <a:off x="3044826" y="3863340"/>
          <a:ext cx="1219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7933866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57563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8694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84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27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227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820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007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Data is NOT Abundant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do not have an abundance of data, we need to use other methods such as: </a:t>
            </a:r>
          </a:p>
          <a:p>
            <a:pPr lvl="1"/>
            <a:r>
              <a:rPr lang="en-US" dirty="0"/>
              <a:t>AIC</a:t>
            </a:r>
          </a:p>
          <a:p>
            <a:pPr lvl="1"/>
            <a:r>
              <a:rPr lang="en-US" dirty="0"/>
              <a:t>BIC</a:t>
            </a:r>
          </a:p>
          <a:p>
            <a:pPr lvl="1"/>
            <a:r>
              <a:rPr lang="en-US" dirty="0"/>
              <a:t>MDL</a:t>
            </a:r>
          </a:p>
          <a:p>
            <a:pPr lvl="1"/>
            <a:r>
              <a:rPr lang="en-US" dirty="0"/>
              <a:t>Cross Validation</a:t>
            </a:r>
          </a:p>
          <a:p>
            <a:pPr lvl="1"/>
            <a:r>
              <a:rPr lang="en-US" dirty="0"/>
              <a:t>Bootstrapping</a:t>
            </a:r>
          </a:p>
        </p:txBody>
      </p:sp>
    </p:spTree>
    <p:extLst>
      <p:ext uri="{BB962C8B-B14F-4D97-AF65-F5344CB8AC3E}">
        <p14:creationId xmlns:p14="http://schemas.microsoft.com/office/powerpoint/2010/main" val="3141497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building a model based on a dataset, we wish to balance bias versus variance.</a:t>
            </a:r>
          </a:p>
          <a:p>
            <a:r>
              <a:rPr lang="en-US" dirty="0"/>
              <a:t>This notion relies on how we measure error and there are several possible loss functions for both regression and classification. </a:t>
            </a:r>
          </a:p>
          <a:p>
            <a:r>
              <a:rPr lang="en-US" dirty="0"/>
              <a:t>There are two forms of error we can measure, the test error and the expected test error. </a:t>
            </a:r>
          </a:p>
          <a:p>
            <a:pPr lvl="1"/>
            <a:r>
              <a:rPr lang="en-US" dirty="0"/>
              <a:t>The training error will not capture the bias-variance tradeoff. 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aspect of this balance is model selection in the form of choosing hyperparameters. </a:t>
            </a:r>
          </a:p>
          <a:p>
            <a:r>
              <a:rPr lang="en-US" dirty="0"/>
              <a:t>When we have a large dataset, we simply split the set into three parts: </a:t>
            </a:r>
          </a:p>
          <a:p>
            <a:pPr lvl="1"/>
            <a:r>
              <a:rPr lang="en-US" dirty="0"/>
              <a:t>The training set to find the parameters</a:t>
            </a:r>
          </a:p>
          <a:p>
            <a:pPr lvl="1"/>
            <a:r>
              <a:rPr lang="en-US" dirty="0"/>
              <a:t>The validation set to tune the hyperparameters</a:t>
            </a:r>
          </a:p>
          <a:p>
            <a:pPr lvl="1"/>
            <a:r>
              <a:rPr lang="en-US" dirty="0"/>
              <a:t>The testing set to estimate the test error</a:t>
            </a:r>
          </a:p>
          <a:p>
            <a:r>
              <a:rPr lang="en-US" dirty="0"/>
              <a:t>When our dataset is too small for this split, we have other methods that we will discuss in this module. </a:t>
            </a:r>
          </a:p>
        </p:txBody>
      </p:sp>
    </p:spTree>
    <p:extLst>
      <p:ext uri="{BB962C8B-B14F-4D97-AF65-F5344CB8AC3E}">
        <p14:creationId xmlns:p14="http://schemas.microsoft.com/office/powerpoint/2010/main" val="1495765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25EA48-4B48-43A9-B38D-8FD66982708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10574</TotalTime>
  <Words>735</Words>
  <Application>Microsoft Macintosh PowerPoint</Application>
  <PresentationFormat>Custom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Wingdings 2</vt:lpstr>
      <vt:lpstr>Breeze</vt:lpstr>
      <vt:lpstr>Math 769: Statistical Learning</vt:lpstr>
      <vt:lpstr>Bias, Variance, and  Model Complexity</vt:lpstr>
      <vt:lpstr>Last Time</vt:lpstr>
      <vt:lpstr>Objectives</vt:lpstr>
      <vt:lpstr>Bias versus Variance</vt:lpstr>
      <vt:lpstr>Loss Functions</vt:lpstr>
      <vt:lpstr>Categorical Loss Functions</vt:lpstr>
      <vt:lpstr>Two kinds of Error</vt:lpstr>
      <vt:lpstr>Test Error vs Expected Test Error</vt:lpstr>
      <vt:lpstr>Test Error</vt:lpstr>
      <vt:lpstr>Training Error</vt:lpstr>
      <vt:lpstr>Tuning Parameters and Bias-Variance Tradeoff</vt:lpstr>
      <vt:lpstr>Two goals</vt:lpstr>
      <vt:lpstr>When Data is Abundant</vt:lpstr>
      <vt:lpstr>When Data is NOT Abundant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49</cp:revision>
  <dcterms:created xsi:type="dcterms:W3CDTF">2019-02-13T16:04:21Z</dcterms:created>
  <dcterms:modified xsi:type="dcterms:W3CDTF">2023-12-04T17:36:27Z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