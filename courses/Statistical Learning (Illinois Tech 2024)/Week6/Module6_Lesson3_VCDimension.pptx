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7"/>
  </p:notesMasterIdLst>
  <p:sldIdLst>
    <p:sldId id="259" r:id="rId5"/>
    <p:sldId id="262" r:id="rId6"/>
    <p:sldId id="263" r:id="rId7"/>
    <p:sldId id="269" r:id="rId8"/>
    <p:sldId id="318" r:id="rId9"/>
    <p:sldId id="325" r:id="rId10"/>
    <p:sldId id="323" r:id="rId11"/>
    <p:sldId id="324" r:id="rId12"/>
    <p:sldId id="326" r:id="rId13"/>
    <p:sldId id="327" r:id="rId14"/>
    <p:sldId id="328" r:id="rId15"/>
    <p:sldId id="322" r:id="rId16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68"/>
    <p:restoredTop sz="70000"/>
  </p:normalViewPr>
  <p:slideViewPr>
    <p:cSldViewPr snapToGrid="0" snapToObjects="1">
      <p:cViewPr varScale="1">
        <p:scale>
          <a:sx n="58" d="100"/>
          <a:sy n="58" d="100"/>
        </p:scale>
        <p:origin x="1096" y="216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B339E-DD24-AF4D-951A-8F87C48A3888}" type="datetimeFigureOut">
              <a:rPr lang="en-US" smtClean="0"/>
              <a:t>12/4/23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D538-1C4E-BA48-98E5-173D2FE0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err="1"/>
              <a:t>Vapnik</a:t>
            </a:r>
            <a:r>
              <a:rPr lang="en-US" dirty="0"/>
              <a:t>–</a:t>
            </a:r>
            <a:r>
              <a:rPr lang="en-US" dirty="0" err="1"/>
              <a:t>Chervonenkis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(VC) Dimension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Time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We discussed the minimum description length, a metric that prioritizes compression. </a:t>
            </a:r>
          </a:p>
          <a:p>
            <a:r>
              <a:rPr lang="en-US" altLang="en-US" dirty="0"/>
              <a:t>We stated this metric is equivalent to BIC.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State what VC Dimension computes.</a:t>
            </a:r>
          </a:p>
          <a:p>
            <a:r>
              <a:rPr lang="en-US" altLang="en-US" dirty="0"/>
              <a:t>Provide an example with linear regression.</a:t>
            </a:r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 Dimension and Shattering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787E8-152D-274E-5662-9C6EABD3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Named after Vladimir </a:t>
            </a:r>
            <a:r>
              <a:rPr lang="en-US" dirty="0" err="1"/>
              <a:t>Vapnik</a:t>
            </a:r>
            <a:r>
              <a:rPr lang="en-US" dirty="0"/>
              <a:t> and Alexey </a:t>
            </a:r>
            <a:r>
              <a:rPr lang="en-US" dirty="0" err="1"/>
              <a:t>Chervonenkis</a:t>
            </a:r>
            <a:r>
              <a:rPr lang="en-US" dirty="0"/>
              <a:t>, </a:t>
            </a:r>
          </a:p>
          <a:p>
            <a:r>
              <a:rPr lang="en-US" dirty="0"/>
              <a:t>Quantifies the complexity of a model in terms of its ability to </a:t>
            </a:r>
            <a:r>
              <a:rPr lang="en-US" i="1" dirty="0"/>
              <a:t>“shatter,”</a:t>
            </a:r>
            <a:r>
              <a:rPr lang="en-US" dirty="0"/>
              <a:t> or perfectly classify, sets of points. </a:t>
            </a:r>
          </a:p>
          <a:p>
            <a:r>
              <a:rPr lang="en-US" dirty="0"/>
              <a:t>A model can </a:t>
            </a:r>
            <a:r>
              <a:rPr lang="en-US" b="1" dirty="0">
                <a:solidFill>
                  <a:schemeClr val="bg1"/>
                </a:solidFill>
              </a:rPr>
              <a:t>shatter</a:t>
            </a:r>
            <a:r>
              <a:rPr lang="en-US" dirty="0"/>
              <a:t> a set of points if, for all possible </a:t>
            </a:r>
            <a:r>
              <a:rPr lang="en-US" dirty="0" err="1"/>
              <a:t>labelings</a:t>
            </a:r>
            <a:r>
              <a:rPr lang="en-US" dirty="0"/>
              <a:t> of these points, there exists a function in the class that can classify the points perfectly.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404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 Dimension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787E8-152D-274E-5662-9C6EABD3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bg1"/>
                </a:solidFill>
              </a:rPr>
              <a:t>VC dimension </a:t>
            </a:r>
            <a:r>
              <a:rPr lang="en-US" dirty="0"/>
              <a:t>of a </a:t>
            </a:r>
            <a:r>
              <a:rPr lang="en-US" i="1" dirty="0"/>
              <a:t>family</a:t>
            </a:r>
            <a:r>
              <a:rPr lang="en-US" dirty="0"/>
              <a:t> of functions is the largest number of points (in some configuration) that can be shattered by its members.</a:t>
            </a:r>
          </a:p>
          <a:p>
            <a:r>
              <a:rPr lang="en-US" dirty="0"/>
              <a:t>Note that this complexity corresponds not to any one model, but an entire family of them. </a:t>
            </a:r>
          </a:p>
        </p:txBody>
      </p:sp>
    </p:spTree>
    <p:extLst>
      <p:ext uri="{BB962C8B-B14F-4D97-AF65-F5344CB8AC3E}">
        <p14:creationId xmlns:p14="http://schemas.microsoft.com/office/powerpoint/2010/main" val="1704139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Shattering Visually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787E8-152D-274E-5662-9C6EABD3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Below is an example of four points and the cases for line shattering.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the last square, a single line cannot separate (i.e., shatter) the two sets.</a:t>
            </a:r>
          </a:p>
          <a:p>
            <a:r>
              <a:rPr lang="en-US" dirty="0"/>
              <a:t>Hence a linear model has VC dimension 3--the largest set it can shatter.</a:t>
            </a:r>
          </a:p>
        </p:txBody>
      </p:sp>
      <p:pic>
        <p:nvPicPr>
          <p:cNvPr id="5" name="Picture 4" descr="A white rectangle with red and blue lines&#10;&#10;Description automatically generated">
            <a:extLst>
              <a:ext uri="{FF2B5EF4-FFF2-40B4-BE49-F238E27FC236}">
                <a16:creationId xmlns:a16="http://schemas.microsoft.com/office/drawing/2014/main" id="{B1D0C337-EA6E-13C8-5E9B-9EC19AF77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4072" y="3744642"/>
            <a:ext cx="7772400" cy="196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069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787E8-152D-274E-5662-9C6EABD3A3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our coded example, we set up linear regression and logistic regression to consider how many points it can separate.</a:t>
            </a:r>
          </a:p>
          <a:p>
            <a:r>
              <a:rPr lang="en-US" dirty="0"/>
              <a:t>Our code will even display the specific lines for the given dataset illustrating all possible splits.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Content Placeholder 5" descr="A graph of a scatter plot&#10;&#10;Description automatically generated">
            <a:extLst>
              <a:ext uri="{FF2B5EF4-FFF2-40B4-BE49-F238E27FC236}">
                <a16:creationId xmlns:a16="http://schemas.microsoft.com/office/drawing/2014/main" id="{C4E4320B-0BF4-0208-E15E-12AC5EB9E8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300117" y="2021912"/>
            <a:ext cx="7929694" cy="65151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Example</a:t>
            </a:r>
          </a:p>
        </p:txBody>
      </p:sp>
    </p:spTree>
    <p:extLst>
      <p:ext uri="{BB962C8B-B14F-4D97-AF65-F5344CB8AC3E}">
        <p14:creationId xmlns:p14="http://schemas.microsoft.com/office/powerpoint/2010/main" val="752752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 Dimension to Estimate Prediction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VC dimension can be used to construct an estimate of the prediction (test) error.</a:t>
                </a:r>
              </a:p>
              <a:p>
                <a:r>
                  <a:rPr lang="en-US" dirty="0"/>
                  <a:t>Here is the equation for regression: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Err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𝒯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err</m:t>
                          </m:r>
                        </m:e>
                      </m:acc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𝜌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func>
                                            <m:func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fName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e>
                                          </m:func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den>
                                      </m:f>
                                    </m:e>
                                  </m:func>
                                </m:e>
                              </m:rad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the number of samples in the training set,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is the VC dimension,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err</m:t>
                        </m:r>
                      </m:e>
                    </m:acc>
                  </m:oMath>
                </a14:m>
                <a:r>
                  <a:rPr lang="en-US" dirty="0"/>
                  <a:t> is the training error.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1076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 Dimension to Estimate Prediction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Here is the equation for binary (2-class) classification with probability at least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 over training sets: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Err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𝒯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err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err</m:t>
                                      </m:r>
                                    </m:e>
                                  </m:acc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err</m:t>
                        </m:r>
                      </m:e>
                    </m:acc>
                  </m:oMath>
                </a14:m>
                <a:r>
                  <a:rPr lang="en-US" dirty="0"/>
                  <a:t> is the training error and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</m:func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𝜂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func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9297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Upper bounds like this provide a way for us to estimate a prediction error without a testing set. </a:t>
                </a:r>
              </a:p>
              <a:p>
                <a:r>
                  <a:rPr lang="en-US" dirty="0"/>
                  <a:t>The computation relies on the VC dimension of the family of functions from which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comes from and the training error—something gotten when we select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This is a powerful technique when we do not have a large enough dataset to allow for a testing set.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r="-1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0122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VC Dimension looks at the family of functions a model comes from.</a:t>
            </a:r>
          </a:p>
          <a:p>
            <a:r>
              <a:rPr lang="en-US" dirty="0"/>
              <a:t>It characterizes the complexity of the family of functions by considering the maximum number of points it can perfectly </a:t>
            </a:r>
            <a:r>
              <a:rPr lang="en-US" b="1" dirty="0">
                <a:solidFill>
                  <a:schemeClr val="bg1"/>
                </a:solidFill>
              </a:rPr>
              <a:t>shatter</a:t>
            </a:r>
            <a:r>
              <a:rPr lang="en-US" dirty="0"/>
              <a:t>.</a:t>
            </a:r>
          </a:p>
          <a:p>
            <a:r>
              <a:rPr lang="en-US" dirty="0"/>
              <a:t>This provides a measure for the complexity of the model.</a:t>
            </a:r>
          </a:p>
          <a:p>
            <a:r>
              <a:rPr lang="en-US" dirty="0"/>
              <a:t> The VC dimension is 3 for linear regression.</a:t>
            </a:r>
          </a:p>
          <a:p>
            <a:r>
              <a:rPr lang="en-US" dirty="0"/>
              <a:t>This complexity score allows us to compute an upper bound on prediction error using training error; a useful computation when working with a small dataset. </a:t>
            </a:r>
          </a:p>
        </p:txBody>
      </p:sp>
    </p:spTree>
    <p:extLst>
      <p:ext uri="{BB962C8B-B14F-4D97-AF65-F5344CB8AC3E}">
        <p14:creationId xmlns:p14="http://schemas.microsoft.com/office/powerpoint/2010/main" val="3367245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7212E8C0-7709-4177-A743-D02995E42041}"/>
</file>

<file path=customXml/itemProps2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11260</TotalTime>
  <Words>525</Words>
  <Application>Microsoft Macintosh PowerPoint</Application>
  <PresentationFormat>Custom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Wingdings 2</vt:lpstr>
      <vt:lpstr>Breeze</vt:lpstr>
      <vt:lpstr>Math 769: Statistical Learning</vt:lpstr>
      <vt:lpstr>Vapnik–Chervonenkis  (VC) Dimension</vt:lpstr>
      <vt:lpstr>Last Time</vt:lpstr>
      <vt:lpstr>Objectives</vt:lpstr>
      <vt:lpstr>VC Dimension and Shattering</vt:lpstr>
      <vt:lpstr>VC Dimension Definition</vt:lpstr>
      <vt:lpstr>Shattering Visually</vt:lpstr>
      <vt:lpstr>Coding Example</vt:lpstr>
      <vt:lpstr>VC Dimension to Estimate Prediction Error</vt:lpstr>
      <vt:lpstr>VC Dimension to Estimate Prediction Error</vt:lpstr>
      <vt:lpstr>Utility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55</cp:revision>
  <dcterms:created xsi:type="dcterms:W3CDTF">2019-02-13T16:04:21Z</dcterms:created>
  <dcterms:modified xsi:type="dcterms:W3CDTF">2023-12-05T05:21:42Z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2023-11-13T19:27:41Z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1b0daab6-fbab-47d6-a526-f1d5535b6116</vt:lpwstr>
  </property>
  <property fmtid="{D5CDD505-2E9C-101B-9397-08002B2CF9AE}" pid="9" name="MSIP_Label_f2dee603-0001-4639-81f8-0608a53322f1_ContentBits">
    <vt:lpwstr>0</vt:lpwstr>
  </property>
</Properties>
</file>