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7" r:id="rId4"/>
  </p:sldMasterIdLst>
  <p:notesMasterIdLst>
    <p:notesMasterId r:id="rId15"/>
  </p:notesMasterIdLst>
  <p:sldIdLst>
    <p:sldId id="259" r:id="rId5"/>
    <p:sldId id="262" r:id="rId6"/>
    <p:sldId id="263" r:id="rId7"/>
    <p:sldId id="269" r:id="rId8"/>
    <p:sldId id="318" r:id="rId9"/>
    <p:sldId id="323" r:id="rId10"/>
    <p:sldId id="324" r:id="rId11"/>
    <p:sldId id="326" r:id="rId12"/>
    <p:sldId id="327" r:id="rId13"/>
    <p:sldId id="322" r:id="rId14"/>
  </p:sldIdLst>
  <p:sldSz cx="18288000" cy="10287000"/>
  <p:notesSz cx="6858000" cy="9144000"/>
  <p:defaultTextStyle>
    <a:defPPr>
      <a:defRPr lang="en-US"/>
    </a:defPPr>
    <a:lvl1pPr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9144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18288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27432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36576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45720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54864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64008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73152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40" userDrawn="1">
          <p15:clr>
            <a:srgbClr val="A4A3A4"/>
          </p15:clr>
        </p15:guide>
        <p15:guide id="2" pos="57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/>
    <p:restoredTop sz="70000"/>
  </p:normalViewPr>
  <p:slideViewPr>
    <p:cSldViewPr snapToGrid="0" snapToObjects="1">
      <p:cViewPr varScale="1">
        <p:scale>
          <a:sx n="58" d="100"/>
          <a:sy n="58" d="100"/>
        </p:scale>
        <p:origin x="1096" y="216"/>
      </p:cViewPr>
      <p:guideLst>
        <p:guide orient="horz" pos="3240"/>
        <p:guide pos="57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0B339E-DD24-AF4D-951A-8F87C48A3888}" type="datetimeFigureOut">
              <a:rPr lang="en-US" smtClean="0"/>
              <a:t>12/5/23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12D538-1C4E-BA48-98E5-173D2FE01A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9254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2A486D6-E442-077A-EEB3-88D208F2FC4C}"/>
              </a:ext>
            </a:extLst>
          </p:cNvPr>
          <p:cNvSpPr/>
          <p:nvPr/>
        </p:nvSpPr>
        <p:spPr>
          <a:xfrm>
            <a:off x="2657477" y="1943101"/>
            <a:ext cx="12973050" cy="4730750"/>
          </a:xfrm>
          <a:prstGeom prst="rect">
            <a:avLst/>
          </a:prstGeom>
          <a:noFill/>
          <a:ln w="12700" cap="flat" cmpd="sng">
            <a:solidFill>
              <a:schemeClr val="bg1"/>
            </a:solidFill>
            <a:prstDash val="solid"/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>
            <a:normAutofit/>
          </a:bodyPr>
          <a:lstStyle/>
          <a:p>
            <a:pPr defTabSz="1828800" fontAlgn="auto">
              <a:spcBef>
                <a:spcPts val="4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/>
            </a:pPr>
            <a:endParaRPr sz="64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5842" y="2286000"/>
            <a:ext cx="12996316" cy="2587300"/>
          </a:xfrm>
        </p:spPr>
        <p:txBody>
          <a:bodyPr lIns="182880" rIns="182880" rtlCol="0">
            <a:noAutofit/>
          </a:bodyPr>
          <a:lstStyle>
            <a:lvl1pPr marL="0" indent="0" algn="ctr" defTabSz="1828800" rtl="0" eaLnBrk="1" latinLnBrk="0" hangingPunct="1">
              <a:spcBef>
                <a:spcPct val="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7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5845" y="4948519"/>
            <a:ext cx="12996318" cy="1374962"/>
          </a:xfrm>
        </p:spPr>
        <p:txBody>
          <a:bodyPr rtlCol="0">
            <a:normAutofit/>
          </a:bodyPr>
          <a:lstStyle>
            <a:lvl1pPr marL="0" indent="0" algn="ctr" defTabSz="18288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572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6400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7315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6748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8550" y="2050699"/>
            <a:ext cx="16084552" cy="6888006"/>
          </a:xfrm>
        </p:spPr>
        <p:txBody>
          <a:bodyPr/>
          <a:lstStyle>
            <a:lvl1pPr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025930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8550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502142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56114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482098A7-74DB-47EC-8637-CFD1F5FF8EA6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098551" y="161926"/>
            <a:ext cx="16084550" cy="2003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A30E7C49-5D51-22BD-9218-005012D508B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098551" y="2400300"/>
            <a:ext cx="16084550" cy="651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pic>
        <p:nvPicPr>
          <p:cNvPr id="1028" name="Picture 5" descr="ILTECH_wht_horiz.png">
            <a:extLst>
              <a:ext uri="{FF2B5EF4-FFF2-40B4-BE49-F238E27FC236}">
                <a16:creationId xmlns:a16="http://schemas.microsoft.com/office/drawing/2014/main" id="{42D74730-BBC2-6B47-9AEF-9E8FDE440A0D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89076" y="9185276"/>
            <a:ext cx="35560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4" r:id="rId2"/>
    <p:sldLayoutId id="2147483675" r:id="rId3"/>
  </p:sldLayoutIdLst>
  <p:txStyles>
    <p:titleStyle>
      <a:lvl1pPr algn="ctr" rtl="0" fontAlgn="base">
        <a:spcBef>
          <a:spcPct val="0"/>
        </a:spcBef>
        <a:spcAft>
          <a:spcPct val="0"/>
        </a:spcAft>
        <a:defRPr sz="5600" b="1" kern="1200">
          <a:solidFill>
            <a:schemeClr val="accent1"/>
          </a:solidFill>
          <a:latin typeface="+mj-lt"/>
          <a:ea typeface="ＭＳ Ｐゴシック" panose="020B0600070205080204" pitchFamily="34" charset="-128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2pPr>
      <a:lvl3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3pPr>
      <a:lvl4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4pPr>
      <a:lvl5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5pPr>
      <a:lvl6pPr marL="9144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6pPr>
      <a:lvl7pPr marL="18288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7pPr>
      <a:lvl8pPr marL="27432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8pPr>
      <a:lvl9pPr marL="36576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9pPr>
    </p:titleStyle>
    <p:bodyStyle>
      <a:lvl1pPr marL="698500" indent="-698500" algn="l" rtl="0" fontAlgn="base">
        <a:spcBef>
          <a:spcPts val="4000"/>
        </a:spcBef>
        <a:spcAft>
          <a:spcPct val="0"/>
        </a:spcAft>
        <a:buClr>
          <a:schemeClr val="accent2"/>
        </a:buClr>
        <a:buSzPct val="100000"/>
        <a:buFont typeface="Wingdings 2" pitchFamily="2" charset="2"/>
        <a:buChar char=""/>
        <a:defRPr sz="48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1pPr>
      <a:lvl2pPr marL="1371600" indent="-673100" algn="l" rtl="0" fontAlgn="base">
        <a:spcBef>
          <a:spcPts val="1200"/>
        </a:spcBef>
        <a:spcAft>
          <a:spcPct val="0"/>
        </a:spcAft>
        <a:buClr>
          <a:srgbClr val="808080"/>
        </a:buClr>
        <a:buSzPct val="100000"/>
        <a:buFont typeface="Wingdings 2" pitchFamily="2" charset="2"/>
        <a:buChar char=""/>
        <a:defRPr sz="44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2pPr>
      <a:lvl3pPr marL="1936750" indent="-565150" algn="l" rtl="0" fontAlgn="base">
        <a:spcBef>
          <a:spcPts val="1200"/>
        </a:spcBef>
        <a:spcAft>
          <a:spcPct val="0"/>
        </a:spcAft>
        <a:buClr>
          <a:srgbClr val="969696"/>
        </a:buClr>
        <a:buSzPct val="100000"/>
        <a:buFont typeface="Wingdings 2" pitchFamily="2" charset="2"/>
        <a:buChar char=""/>
        <a:defRPr sz="40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3pPr>
      <a:lvl4pPr marL="2527300" indent="-590550" algn="l" rtl="0" fontAlgn="base">
        <a:spcBef>
          <a:spcPts val="1200"/>
        </a:spcBef>
        <a:spcAft>
          <a:spcPct val="0"/>
        </a:spcAft>
        <a:buClr>
          <a:srgbClr val="F8BC65"/>
        </a:buClr>
        <a:buSzPct val="100000"/>
        <a:buFont typeface="Wingdings 2" pitchFamily="2" charset="2"/>
        <a:buChar char=""/>
        <a:defRPr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4pPr>
      <a:lvl5pPr marL="3092450" indent="-565150" algn="l" rtl="0" fontAlgn="base">
        <a:spcBef>
          <a:spcPts val="1200"/>
        </a:spcBef>
        <a:spcAft>
          <a:spcPct val="0"/>
        </a:spcAft>
        <a:buClr>
          <a:srgbClr val="FBD299"/>
        </a:buClr>
        <a:buSzPct val="100000"/>
        <a:buFont typeface="Wingdings 2" pitchFamily="2" charset="2"/>
        <a:buChar char=""/>
        <a:defRPr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5pPr>
      <a:lvl6pPr marL="3657600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4235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4797426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5378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"/>
        <a:defRPr lang="en-US" sz="3600" kern="1200" dirty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3D2C4-084C-C545-00AC-430EC19B6C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44777" y="2286001"/>
            <a:ext cx="12998450" cy="2587626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Math 769: Statistical Learning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E803D9D7-D926-E270-BBAA-C017CB0F03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2807F-AA75-8289-ABFC-30F1E44E67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44777" y="2286001"/>
            <a:ext cx="12998450" cy="2587626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Model Selection with </a:t>
            </a:r>
            <a:br>
              <a:rPr lang="en-US" dirty="0"/>
            </a:br>
            <a:r>
              <a:rPr lang="en-US" dirty="0"/>
              <a:t>AIC and BIC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D820C0-3BC8-687A-7D56-C3951CF5E8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44777" y="4949827"/>
            <a:ext cx="12998450" cy="1374774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Shahrzad Jamshidi, PhD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>
            <a:extLst>
              <a:ext uri="{FF2B5EF4-FFF2-40B4-BE49-F238E27FC236}">
                <a16:creationId xmlns:a16="http://schemas.microsoft.com/office/drawing/2014/main" id="{7437B09B-40A5-6CD5-DCB3-08809A79E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551" y="161926"/>
            <a:ext cx="16084550" cy="1549400"/>
          </a:xfrm>
        </p:spPr>
        <p:txBody>
          <a:bodyPr/>
          <a:lstStyle/>
          <a:p>
            <a:r>
              <a:rPr lang="en-US" altLang="en-US" dirty="0"/>
              <a:t>Last Time</a:t>
            </a:r>
          </a:p>
        </p:txBody>
      </p:sp>
      <p:sp>
        <p:nvSpPr>
          <p:cNvPr id="6146" name="Content Placeholder 2">
            <a:extLst>
              <a:ext uri="{FF2B5EF4-FFF2-40B4-BE49-F238E27FC236}">
                <a16:creationId xmlns:a16="http://schemas.microsoft.com/office/drawing/2014/main" id="{8DFB1FDB-789D-3A4E-B0C7-3BAF194C66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8551" y="2051050"/>
            <a:ext cx="16084550" cy="6886576"/>
          </a:xfrm>
        </p:spPr>
        <p:txBody>
          <a:bodyPr/>
          <a:lstStyle/>
          <a:p>
            <a:r>
              <a:rPr lang="en-US" altLang="en-US" dirty="0"/>
              <a:t>We discussed model error and its relation to bias and variance.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>
            <a:extLst>
              <a:ext uri="{FF2B5EF4-FFF2-40B4-BE49-F238E27FC236}">
                <a16:creationId xmlns:a16="http://schemas.microsoft.com/office/drawing/2014/main" id="{7437B09B-40A5-6CD5-DCB3-08809A79E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551" y="161926"/>
            <a:ext cx="16084550" cy="1549400"/>
          </a:xfrm>
        </p:spPr>
        <p:txBody>
          <a:bodyPr/>
          <a:lstStyle/>
          <a:p>
            <a:r>
              <a:rPr lang="en-US" altLang="en-US" dirty="0"/>
              <a:t>Objectives</a:t>
            </a:r>
          </a:p>
        </p:txBody>
      </p:sp>
      <p:sp>
        <p:nvSpPr>
          <p:cNvPr id="6146" name="Content Placeholder 2">
            <a:extLst>
              <a:ext uri="{FF2B5EF4-FFF2-40B4-BE49-F238E27FC236}">
                <a16:creationId xmlns:a16="http://schemas.microsoft.com/office/drawing/2014/main" id="{8DFB1FDB-789D-3A4E-B0C7-3BAF194C66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8551" y="2051050"/>
            <a:ext cx="16084550" cy="6886576"/>
          </a:xfrm>
        </p:spPr>
        <p:txBody>
          <a:bodyPr/>
          <a:lstStyle/>
          <a:p>
            <a:r>
              <a:rPr lang="en-US" altLang="en-US" dirty="0"/>
              <a:t>Define AIC and BIC and state their equations.</a:t>
            </a:r>
          </a:p>
          <a:p>
            <a:r>
              <a:rPr lang="en-US" altLang="en-US" dirty="0"/>
              <a:t>Compare and contrast the two metrics. </a:t>
            </a:r>
          </a:p>
          <a:p>
            <a:r>
              <a:rPr lang="en-US" altLang="en-US" dirty="0"/>
              <a:t>Identify how best to utilize them. </a:t>
            </a:r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7743940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CB9D2-9582-18D1-3E23-7F92F4871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Bias-Variance Tradeoff and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1787E8-152D-274E-5662-9C6EABD3A3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Bias boils down to the worry of </a:t>
            </a:r>
            <a:r>
              <a:rPr lang="en-US" b="1" dirty="0"/>
              <a:t>underfitting</a:t>
            </a:r>
            <a:r>
              <a:rPr lang="en-US" dirty="0"/>
              <a:t>.</a:t>
            </a:r>
          </a:p>
          <a:p>
            <a:r>
              <a:rPr lang="en-US" dirty="0"/>
              <a:t>Variance boils down to the worry of </a:t>
            </a:r>
            <a:r>
              <a:rPr lang="en-US" b="1" dirty="0"/>
              <a:t>overfitting</a:t>
            </a:r>
            <a:r>
              <a:rPr lang="en-US" dirty="0"/>
              <a:t>.</a:t>
            </a:r>
          </a:p>
          <a:p>
            <a:r>
              <a:rPr lang="en-US" dirty="0"/>
              <a:t>Metrics like </a:t>
            </a:r>
          </a:p>
          <a:p>
            <a:pPr lvl="1"/>
            <a:r>
              <a:rPr lang="en-US" dirty="0"/>
              <a:t>the coefficient of determination, </a:t>
            </a:r>
          </a:p>
          <a:p>
            <a:pPr lvl="1"/>
            <a:r>
              <a:rPr lang="en-US" dirty="0"/>
              <a:t>the mean squared error, and </a:t>
            </a:r>
          </a:p>
          <a:p>
            <a:pPr lvl="1"/>
            <a:r>
              <a:rPr lang="en-US" dirty="0"/>
              <a:t>the mean absolute error</a:t>
            </a:r>
          </a:p>
          <a:p>
            <a:pPr marL="0" indent="0">
              <a:buNone/>
            </a:pPr>
            <a:r>
              <a:rPr lang="en-US" dirty="0"/>
              <a:t>can be blind to model complexity—which increases variance.</a:t>
            </a:r>
          </a:p>
        </p:txBody>
      </p:sp>
    </p:spTree>
    <p:extLst>
      <p:ext uri="{BB962C8B-B14F-4D97-AF65-F5344CB8AC3E}">
        <p14:creationId xmlns:p14="http://schemas.microsoft.com/office/powerpoint/2010/main" val="27024046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CB9D2-9582-18D1-3E23-7F92F4871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Information Criterion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1787E8-152D-274E-5662-9C6EABD3A3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Two popular information criteria for model selection are </a:t>
            </a:r>
          </a:p>
          <a:p>
            <a:pPr lvl="1"/>
            <a:r>
              <a:rPr lang="en-US" dirty="0"/>
              <a:t>the Akaike Information Criterion (AIC) and </a:t>
            </a:r>
          </a:p>
          <a:p>
            <a:pPr lvl="1"/>
            <a:r>
              <a:rPr lang="en-US" dirty="0"/>
              <a:t>the Bayesian Information Criterion (BIC). </a:t>
            </a:r>
          </a:p>
          <a:p>
            <a:r>
              <a:rPr lang="en-US" dirty="0"/>
              <a:t>Both serve to penalize complexity to avoid overfitting while rewarding good fit.</a:t>
            </a:r>
          </a:p>
        </p:txBody>
      </p:sp>
    </p:spTree>
    <p:extLst>
      <p:ext uri="{BB962C8B-B14F-4D97-AF65-F5344CB8AC3E}">
        <p14:creationId xmlns:p14="http://schemas.microsoft.com/office/powerpoint/2010/main" val="7680693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CB9D2-9582-18D1-3E23-7F92F4871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Akaike Information Criterion (AIC)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1787E8-152D-274E-5662-9C6EABD3A33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Developed by </a:t>
                </a:r>
                <a:r>
                  <a:rPr lang="en-US" dirty="0" err="1"/>
                  <a:t>Hirotugu</a:t>
                </a:r>
                <a:r>
                  <a:rPr lang="en-US" dirty="0"/>
                  <a:t> Akaike</a:t>
                </a:r>
              </a:p>
              <a:p>
                <a:r>
                  <a:rPr lang="en-US" dirty="0"/>
                  <a:t>Estimates the relative amount of information lost by a given model.</a:t>
                </a:r>
              </a:p>
              <a:p>
                <a:pPr lvl="1"/>
                <a:r>
                  <a:rPr lang="en-US" dirty="0"/>
                  <a:t>The less information lost, the higher the quality of the model.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AIC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−2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ln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is the number of parameters,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dirty="0"/>
                  <a:t> is the maximum likelihood of the model.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1787E8-152D-274E-5662-9C6EABD3A3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41" t="-1657" r="-17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527525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CB9D2-9582-18D1-3E23-7F92F4871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Bayesian Information Criterion (BIC)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1787E8-152D-274E-5662-9C6EABD3A33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BIC is similar to AIC but introduces a stronger penalty for the number of parameters</a:t>
                </a:r>
              </a:p>
              <a:p>
                <a:r>
                  <a:rPr lang="en-US" dirty="0"/>
                  <a:t>It is derived from Bayesian probability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B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IC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ln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 −2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ln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is the sample size.</a:t>
                </a:r>
              </a:p>
              <a:p>
                <a:r>
                  <a:rPr lang="en-US" dirty="0"/>
                  <a:t>BIC typically penalizes complexity more than AIC, especially as sample size grows. </a:t>
                </a:r>
              </a:p>
              <a:p>
                <a:r>
                  <a:rPr lang="en-US" dirty="0"/>
                  <a:t>This can lead to the selection of simpler models with BIC.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1787E8-152D-274E-5662-9C6EABD3A3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41" t="-1657" b="-55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302578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CB9D2-9582-18D1-3E23-7F92F4871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AIC and BIC in Practice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1787E8-152D-274E-5662-9C6EABD3A3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AIC is often used when the goal is predictive accuracy. </a:t>
            </a:r>
          </a:p>
          <a:p>
            <a:pPr lvl="1"/>
            <a:r>
              <a:rPr lang="en-US" dirty="0"/>
              <a:t>It is less strict about model simplicity </a:t>
            </a:r>
          </a:p>
          <a:p>
            <a:pPr lvl="1"/>
            <a:r>
              <a:rPr lang="en-US" dirty="0"/>
              <a:t>Best when the true model is complex</a:t>
            </a:r>
          </a:p>
          <a:p>
            <a:r>
              <a:rPr lang="en-US" dirty="0"/>
              <a:t>BIC can be preferred when aiming for a simpler model. </a:t>
            </a:r>
          </a:p>
          <a:p>
            <a:pPr lvl="1"/>
            <a:r>
              <a:rPr lang="en-US" dirty="0"/>
              <a:t>It's more suitable for larger datasets.</a:t>
            </a:r>
          </a:p>
          <a:p>
            <a:r>
              <a:rPr lang="en-US" dirty="0"/>
              <a:t>AIC and BIC are typically </a:t>
            </a:r>
            <a:r>
              <a:rPr lang="en-US" b="1" dirty="0"/>
              <a:t>NOT</a:t>
            </a:r>
            <a:r>
              <a:rPr lang="en-US" dirty="0"/>
              <a:t> used to estimate </a:t>
            </a:r>
            <a:r>
              <a:rPr lang="en-US"/>
              <a:t>testing error</a:t>
            </a:r>
            <a:endParaRPr lang="en-US" dirty="0"/>
          </a:p>
          <a:p>
            <a:pPr lvl="1"/>
            <a:r>
              <a:rPr lang="en-US" dirty="0"/>
              <a:t>Best for </a:t>
            </a:r>
            <a:r>
              <a:rPr lang="en-US" b="1" u="sng" dirty="0"/>
              <a:t>model selection</a:t>
            </a:r>
          </a:p>
        </p:txBody>
      </p:sp>
    </p:spTree>
    <p:extLst>
      <p:ext uri="{BB962C8B-B14F-4D97-AF65-F5344CB8AC3E}">
        <p14:creationId xmlns:p14="http://schemas.microsoft.com/office/powerpoint/2010/main" val="16866331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40723-192D-3EB8-0B1E-A2215463E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89E1FF-60C6-FC18-0E3A-403B67A61F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AIC and BIC are information-based metrics that balance model complexity with fit. </a:t>
            </a:r>
          </a:p>
          <a:p>
            <a:pPr lvl="1"/>
            <a:r>
              <a:rPr lang="en-US" dirty="0"/>
              <a:t>AIC favors predictive accuracy more than model simplicity</a:t>
            </a:r>
          </a:p>
          <a:p>
            <a:pPr lvl="1"/>
            <a:r>
              <a:rPr lang="en-US" dirty="0"/>
              <a:t>BIC favors model simplicity and takes into account sample size</a:t>
            </a:r>
          </a:p>
          <a:p>
            <a:r>
              <a:rPr lang="en-US" dirty="0"/>
              <a:t>They are best used in model selection (e.g. tuning hyperparameters). </a:t>
            </a:r>
          </a:p>
        </p:txBody>
      </p:sp>
    </p:spTree>
    <p:extLst>
      <p:ext uri="{BB962C8B-B14F-4D97-AF65-F5344CB8AC3E}">
        <p14:creationId xmlns:p14="http://schemas.microsoft.com/office/powerpoint/2010/main" val="33672457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reeze">
  <a:themeElements>
    <a:clrScheme name="Custom 3">
      <a:dk1>
        <a:sysClr val="windowText" lastClr="000000"/>
      </a:dk1>
      <a:lt1>
        <a:srgbClr val="C40724"/>
      </a:lt1>
      <a:dk2>
        <a:srgbClr val="000000"/>
      </a:dk2>
      <a:lt2>
        <a:srgbClr val="F8F8F8"/>
      </a:lt2>
      <a:accent1>
        <a:srgbClr val="BD061C"/>
      </a:accent1>
      <a:accent2>
        <a:srgbClr val="E98D0A"/>
      </a:accent2>
      <a:accent3>
        <a:srgbClr val="969696"/>
      </a:accent3>
      <a:accent4>
        <a:srgbClr val="808080"/>
      </a:accent4>
      <a:accent5>
        <a:srgbClr val="C40724"/>
      </a:accent5>
      <a:accent6>
        <a:srgbClr val="3F4F6C"/>
      </a:accent6>
      <a:hlink>
        <a:srgbClr val="5F5F5F"/>
      </a:hlink>
      <a:folHlink>
        <a:srgbClr val="919191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reeze">
      <a:fillStyleLst>
        <a:solidFill>
          <a:schemeClr val="phClr"/>
        </a:solidFill>
        <a:gradFill rotWithShape="1">
          <a:gsLst>
            <a:gs pos="31000">
              <a:schemeClr val="phClr">
                <a:tint val="100000"/>
                <a:shade val="100000"/>
                <a:satMod val="120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shade val="100000"/>
                <a:satMod val="120000"/>
              </a:schemeClr>
            </a:gs>
            <a:gs pos="69000">
              <a:schemeClr val="phClr">
                <a:tint val="80000"/>
                <a:shade val="100000"/>
                <a:satMod val="150000"/>
              </a:schemeClr>
            </a:gs>
            <a:gs pos="100000">
              <a:schemeClr val="phClr">
                <a:tint val="50000"/>
                <a:shade val="100000"/>
                <a:satMod val="15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dbl" algn="ctr">
          <a:solidFill>
            <a:schemeClr val="phClr"/>
          </a:solidFill>
          <a:prstDash val="solid"/>
        </a:ln>
        <a:ln w="31750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sx="101000" sy="101000" rotWithShape="0">
              <a:srgbClr val="000000">
                <a:alpha val="40000"/>
              </a:srgbClr>
            </a:outerShdw>
          </a:effectLst>
        </a:effectStyle>
        <a:effectStyle>
          <a:effectLst>
            <a:innerShdw blurRad="127000" dist="25400" dir="13500000">
              <a:srgbClr val="C0C0C0">
                <a:alpha val="75000"/>
              </a:srgbClr>
            </a:innerShdw>
            <a:outerShdw blurRad="88900" dist="25400" dir="5400000" sx="102000" sy="102000" algn="ctr" rotWithShape="0">
              <a:srgbClr val="C0C0C0">
                <a:alpha val="40000"/>
              </a:srgbClr>
            </a:outerShdw>
          </a:effectLst>
          <a:scene3d>
            <a:camera prst="perspectiveLeft" fov="300000"/>
            <a:lightRig rig="soft" dir="l">
              <a:rot lat="0" lon="0" rev="4200000"/>
            </a:lightRig>
          </a:scene3d>
          <a:sp3d extrusionH="38100" prstMaterial="powder">
            <a:bevelT w="50800" h="88900" prst="convex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0000"/>
                <a:satMod val="400000"/>
              </a:schemeClr>
              <a:schemeClr val="phClr">
                <a:tint val="10000"/>
                <a:satMod val="200000"/>
              </a:schemeClr>
            </a:duotone>
          </a:blip>
          <a:stretch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ILTECH_Template_2019 (1)  -  Compatibility Mode" id="{96DF2388-B785-2045-9157-84F6A1D402CB}" vid="{FA40E05E-1420-CD4F-AB4E-3CD2BC76CD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5e41b080-9453-459c-bb93-b19be7335f42" xsi:nil="true"/>
    <Comments xmlns="5e41b080-9453-459c-bb93-b19be7335f42" xsi:nil="true"/>
    <Due_x0020_Date xmlns="5e41b080-9453-459c-bb93-b19be7335f42" xsi:nil="true"/>
    <lcf76f155ced4ddcb4097134ff3c332f xmlns="5e41b080-9453-459c-bb93-b19be7335f42">
      <Terms xmlns="http://schemas.microsoft.com/office/infopath/2007/PartnerControls"/>
    </lcf76f155ced4ddcb4097134ff3c332f>
    <TaxCatchAll xmlns="4e58ebf2-e4df-4cd3-9186-1e42b3ede124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EF55019BAB0549B2C20BFAAB8A2896" ma:contentTypeVersion="16" ma:contentTypeDescription="Create a new document." ma:contentTypeScope="" ma:versionID="81a54cd395f61cfc29bb41b0389d7858">
  <xsd:schema xmlns:xsd="http://www.w3.org/2001/XMLSchema" xmlns:xs="http://www.w3.org/2001/XMLSchema" xmlns:p="http://schemas.microsoft.com/office/2006/metadata/properties" xmlns:ns2="5e41b080-9453-459c-bb93-b19be7335f42" xmlns:ns3="4e58ebf2-e4df-4cd3-9186-1e42b3ede124" targetNamespace="http://schemas.microsoft.com/office/2006/metadata/properties" ma:root="true" ma:fieldsID="1db123aac500611cfff64836afef3716" ns2:_="" ns3:_="">
    <xsd:import namespace="5e41b080-9453-459c-bb93-b19be7335f42"/>
    <xsd:import namespace="4e58ebf2-e4df-4cd3-9186-1e42b3ede124"/>
    <xsd:element name="properties">
      <xsd:complexType>
        <xsd:sequence>
          <xsd:element name="documentManagement">
            <xsd:complexType>
              <xsd:all>
                <xsd:element ref="ns2:Due_x0020_Date" minOccurs="0"/>
                <xsd:element ref="ns2:Status" minOccurs="0"/>
                <xsd:element ref="ns2:Comments" minOccurs="0"/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41b080-9453-459c-bb93-b19be7335f42" elementFormDefault="qualified">
    <xsd:import namespace="http://schemas.microsoft.com/office/2006/documentManagement/types"/>
    <xsd:import namespace="http://schemas.microsoft.com/office/infopath/2007/PartnerControls"/>
    <xsd:element name="Due_x0020_Date" ma:index="8" nillable="true" ma:displayName="Due Date" ma:format="DateOnly" ma:indexed="true" ma:internalName="Due_x0020_Date">
      <xsd:simpleType>
        <xsd:restriction base="dms:DateTime"/>
      </xsd:simpleType>
    </xsd:element>
    <xsd:element name="Status" ma:index="9" nillable="true" ma:displayName="Status" ma:format="Dropdown" ma:indexed="true" ma:internalName="Status">
      <xsd:simpleType>
        <xsd:restriction base="dms:Choice">
          <xsd:enumeration value="For Partner Review"/>
          <xsd:enumeration value="For Collegis Review"/>
          <xsd:enumeration value="Approved by Partner"/>
        </xsd:restriction>
      </xsd:simpleType>
    </xsd:element>
    <xsd:element name="Comments" ma:index="10" nillable="true" ma:displayName="Comments" ma:internalName="Comments">
      <xsd:simpleType>
        <xsd:restriction base="dms:Note">
          <xsd:maxLength value="255"/>
        </xsd:restriction>
      </xsd:simple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11040b95-0fdc-46ce-be91-73dc895452d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3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58ebf2-e4df-4cd3-9186-1e42b3ede124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ef5f3a8b-878a-4d06-a8de-79a1d9f1fffd}" ma:internalName="TaxCatchAll" ma:showField="CatchAllData" ma:web="4e58ebf2-e4df-4cd3-9186-1e42b3ede12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C6A4EEA-2556-441D-B20B-0657893061DE}">
  <ds:schemaRefs>
    <ds:schemaRef ds:uri="http://schemas.microsoft.com/office/2006/metadata/properties"/>
    <ds:schemaRef ds:uri="http://schemas.microsoft.com/office/infopath/2007/PartnerControls"/>
    <ds:schemaRef ds:uri="5e41b080-9453-459c-bb93-b19be7335f42"/>
    <ds:schemaRef ds:uri="4e58ebf2-e4df-4cd3-9186-1e42b3ede124"/>
  </ds:schemaRefs>
</ds:datastoreItem>
</file>

<file path=customXml/itemProps2.xml><?xml version="1.0" encoding="utf-8"?>
<ds:datastoreItem xmlns:ds="http://schemas.openxmlformats.org/officeDocument/2006/customXml" ds:itemID="{BFA838ED-C12F-4A42-8E88-98BAC73D214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66A087C-BB0A-4372-ACC7-37C82BD035FE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10605</TotalTime>
  <Words>389</Words>
  <Application>Microsoft Macintosh PowerPoint</Application>
  <PresentationFormat>Custom</PresentationFormat>
  <Paragraphs>48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 Math</vt:lpstr>
      <vt:lpstr>Wingdings 2</vt:lpstr>
      <vt:lpstr>Breeze</vt:lpstr>
      <vt:lpstr>Math 769: Statistical Learning</vt:lpstr>
      <vt:lpstr>Model Selection with  AIC and BIC</vt:lpstr>
      <vt:lpstr>Last Time</vt:lpstr>
      <vt:lpstr>Objectives</vt:lpstr>
      <vt:lpstr>Bias-Variance Tradeoff and Metrics</vt:lpstr>
      <vt:lpstr>Information Criterion</vt:lpstr>
      <vt:lpstr>Akaike Information Criterion (AIC)</vt:lpstr>
      <vt:lpstr>Bayesian Information Criterion (BIC)</vt:lpstr>
      <vt:lpstr>AIC and BIC in Practice</vt:lpstr>
      <vt:lpstr>Conclusion</vt:lpstr>
    </vt:vector>
  </TitlesOfParts>
  <Manager/>
  <Company>Illinois Institute of Technology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Illinois Tech President's PowerPoint Presentation</dc:title>
  <dc:subject/>
  <dc:creator>Sandra Laporte</dc:creator>
  <cp:keywords/>
  <dc:description/>
  <cp:lastModifiedBy>Jamshidi, Sara (She/Her/Hers)</cp:lastModifiedBy>
  <cp:revision>52</cp:revision>
  <dcterms:created xsi:type="dcterms:W3CDTF">2019-02-13T16:04:21Z</dcterms:created>
  <dcterms:modified xsi:type="dcterms:W3CDTF">2023-12-05T08:08:26Z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0x010100F3EF55019BAB0549B2C20BFAAB8A2896</vt:lpwstr>
  </property>
  <property fmtid="{D5CDD505-2E9C-101B-9397-08002B2CF9AE}" pid="3" name="MSIP_Label_f2dee603-0001-4639-81f8-0608a53322f1_Enabled">
    <vt:lpwstr>true</vt:lpwstr>
  </property>
  <property fmtid="{D5CDD505-2E9C-101B-9397-08002B2CF9AE}" pid="4" name="MSIP_Label_f2dee603-0001-4639-81f8-0608a53322f1_SetDate">
    <vt:lpwstr>2023-11-13T19:27:41Z</vt:lpwstr>
  </property>
  <property fmtid="{D5CDD505-2E9C-101B-9397-08002B2CF9AE}" pid="5" name="MSIP_Label_f2dee603-0001-4639-81f8-0608a53322f1_Method">
    <vt:lpwstr>Standard</vt:lpwstr>
  </property>
  <property fmtid="{D5CDD505-2E9C-101B-9397-08002B2CF9AE}" pid="6" name="MSIP_Label_f2dee603-0001-4639-81f8-0608a53322f1_Name">
    <vt:lpwstr>defa4170-0d19-0005-0004-bc88714345d2</vt:lpwstr>
  </property>
  <property fmtid="{D5CDD505-2E9C-101B-9397-08002B2CF9AE}" pid="7" name="MSIP_Label_f2dee603-0001-4639-81f8-0608a53322f1_SiteId">
    <vt:lpwstr>b4478c05-3dd9-4e06-a7fb-5dcf72bd44ee</vt:lpwstr>
  </property>
  <property fmtid="{D5CDD505-2E9C-101B-9397-08002B2CF9AE}" pid="8" name="MSIP_Label_f2dee603-0001-4639-81f8-0608a53322f1_ActionId">
    <vt:lpwstr>1b0daab6-fbab-47d6-a526-f1d5535b6116</vt:lpwstr>
  </property>
  <property fmtid="{D5CDD505-2E9C-101B-9397-08002B2CF9AE}" pid="9" name="MSIP_Label_f2dee603-0001-4639-81f8-0608a53322f1_ContentBits">
    <vt:lpwstr>0</vt:lpwstr>
  </property>
</Properties>
</file>