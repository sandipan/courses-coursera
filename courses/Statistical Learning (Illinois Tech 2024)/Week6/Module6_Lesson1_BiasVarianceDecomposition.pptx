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8"/>
  </p:notesMasterIdLst>
  <p:sldIdLst>
    <p:sldId id="259" r:id="rId5"/>
    <p:sldId id="262" r:id="rId6"/>
    <p:sldId id="263" r:id="rId7"/>
    <p:sldId id="269" r:id="rId8"/>
    <p:sldId id="317" r:id="rId9"/>
    <p:sldId id="324" r:id="rId10"/>
    <p:sldId id="318" r:id="rId11"/>
    <p:sldId id="327" r:id="rId12"/>
    <p:sldId id="325" r:id="rId13"/>
    <p:sldId id="326" r:id="rId14"/>
    <p:sldId id="328" r:id="rId15"/>
    <p:sldId id="329" r:id="rId16"/>
    <p:sldId id="322" r:id="rId17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70000"/>
  </p:normalViewPr>
  <p:slideViewPr>
    <p:cSldViewPr snapToGrid="0" snapToObjects="1">
      <p:cViewPr>
        <p:scale>
          <a:sx n="50" d="100"/>
          <a:sy n="50" d="100"/>
        </p:scale>
        <p:origin x="296" y="44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Bias-Variance Decomposition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Model Complexity</a:t>
            </a:r>
          </a:p>
          <a:p>
            <a:pPr lvl="1"/>
            <a:r>
              <a:rPr lang="en-US" altLang="en-US" dirty="0"/>
              <a:t>Bias-Variance tradeoff</a:t>
            </a:r>
          </a:p>
          <a:p>
            <a:pPr lvl="1"/>
            <a:r>
              <a:rPr lang="en-US" altLang="en-US" dirty="0"/>
              <a:t>Different loss functions related to error</a:t>
            </a:r>
          </a:p>
          <a:p>
            <a:pPr lvl="1"/>
            <a:r>
              <a:rPr lang="en-US" altLang="en-US" dirty="0"/>
              <a:t>Testing error versus expected testing error</a:t>
            </a:r>
          </a:p>
          <a:p>
            <a:r>
              <a:rPr lang="en-US" altLang="en-US" dirty="0"/>
              <a:t>Training-Validation-Test split of the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dirty="0"/>
              <a:t>Explain the error decomposition into irreducible error, bias, and variance. </a:t>
            </a:r>
          </a:p>
          <a:p>
            <a:r>
              <a:rPr lang="en-US" dirty="0"/>
              <a:t>Describe this decomposition with a diagram from the textbook.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Bias-Variance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From module 2, let’s recall the assumption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dirty="0"/>
                  <a:t>.</a:t>
                </a:r>
              </a:p>
              <a:p>
                <a:r>
                  <a:rPr lang="en-US" altLang="en-US" dirty="0"/>
                  <a:t>We can derive the expected prediction error of a regression fit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at 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, using the squared error loss</a:t>
                </a:r>
              </a:p>
            </p:txBody>
          </p:sp>
        </mc:Choice>
        <mc:Fallback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341" t="-1657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09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Expected Prediction Error at a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br>
                  <a:rPr lang="en-US" alt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altLang="en-US" dirty="0"/>
                </a:br>
                <a:br>
                  <a:rPr lang="en-US" altLang="en-US" dirty="0"/>
                </a:br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𝐵𝑖𝑎𝑠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This is the irreducible error plus the squared bias plus the variance.</a:t>
                </a:r>
              </a:p>
            </p:txBody>
          </p:sp>
        </mc:Choice>
        <mc:Fallback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2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odel space&#10;&#10;Description automatically generated">
            <a:extLst>
              <a:ext uri="{FF2B5EF4-FFF2-40B4-BE49-F238E27FC236}">
                <a16:creationId xmlns:a16="http://schemas.microsoft.com/office/drawing/2014/main" id="{9730D453-03A0-7DA0-C010-9CE147FDD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2550" y="2085975"/>
            <a:ext cx="7332325" cy="65151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782F-97D4-C4D0-1E96-9AA270023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diagram illustrates the idea of bias and variance. </a:t>
            </a:r>
          </a:p>
          <a:p>
            <a:r>
              <a:rPr lang="en-US" dirty="0"/>
              <a:t>The blue circle is the set of all possible datasets. </a:t>
            </a:r>
          </a:p>
          <a:p>
            <a:r>
              <a:rPr lang="en-US" b="1" dirty="0">
                <a:solidFill>
                  <a:schemeClr val="bg1"/>
                </a:solidFill>
              </a:rPr>
              <a:t>Truth</a:t>
            </a:r>
            <a:r>
              <a:rPr lang="en-US" dirty="0"/>
              <a:t> is the dataset with no noise. </a:t>
            </a:r>
          </a:p>
          <a:p>
            <a:r>
              <a:rPr lang="en-US" b="1" dirty="0">
                <a:solidFill>
                  <a:schemeClr val="bg1"/>
                </a:solidFill>
              </a:rPr>
              <a:t>Realization</a:t>
            </a:r>
            <a:r>
              <a:rPr lang="en-US" dirty="0"/>
              <a:t> is the dataset we end up with.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Visually</a:t>
            </a:r>
          </a:p>
        </p:txBody>
      </p:sp>
    </p:spTree>
    <p:extLst>
      <p:ext uri="{BB962C8B-B14F-4D97-AF65-F5344CB8AC3E}">
        <p14:creationId xmlns:p14="http://schemas.microsoft.com/office/powerpoint/2010/main" val="270240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odel space&#10;&#10;Description automatically generated">
            <a:extLst>
              <a:ext uri="{FF2B5EF4-FFF2-40B4-BE49-F238E27FC236}">
                <a16:creationId xmlns:a16="http://schemas.microsoft.com/office/drawing/2014/main" id="{9730D453-03A0-7DA0-C010-9CE147FDD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2550" y="2085975"/>
            <a:ext cx="7332325" cy="65151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805782F-97D4-C4D0-1E96-9AA270023FA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radius of the blue circle reflects the </a:t>
                </a:r>
                <a:r>
                  <a:rPr lang="en-US" b="1" dirty="0">
                    <a:solidFill>
                      <a:schemeClr val="bg1"/>
                    </a:solidFill>
                  </a:rPr>
                  <a:t>irreducible error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red line marks the boundary of the possible predictions coming from the family of functions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distance from the dataset to the closest point reflects the </a:t>
                </a:r>
                <a:r>
                  <a:rPr lang="en-US" b="1" dirty="0">
                    <a:solidFill>
                      <a:schemeClr val="bg1"/>
                    </a:solidFill>
                  </a:rPr>
                  <a:t>model bias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805782F-97D4-C4D0-1E96-9AA270023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310" t="-1751" r="-3630" b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Visually</a:t>
            </a:r>
          </a:p>
        </p:txBody>
      </p:sp>
    </p:spTree>
    <p:extLst>
      <p:ext uri="{BB962C8B-B14F-4D97-AF65-F5344CB8AC3E}">
        <p14:creationId xmlns:p14="http://schemas.microsoft.com/office/powerpoint/2010/main" val="319174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odel space&#10;&#10;Description automatically generated">
            <a:extLst>
              <a:ext uri="{FF2B5EF4-FFF2-40B4-BE49-F238E27FC236}">
                <a16:creationId xmlns:a16="http://schemas.microsoft.com/office/drawing/2014/main" id="{9730D453-03A0-7DA0-C010-9CE147FDD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2550" y="2085975"/>
            <a:ext cx="7332325" cy="65151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805782F-97D4-C4D0-1E96-9AA270023FA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radius of the yellow circles represent the </a:t>
                </a:r>
                <a:r>
                  <a:rPr lang="en-US" b="1" dirty="0">
                    <a:solidFill>
                      <a:schemeClr val="bg1"/>
                    </a:solidFill>
                  </a:rPr>
                  <a:t>model variance</a:t>
                </a:r>
                <a:r>
                  <a:rPr lang="en-US" dirty="0"/>
                  <a:t>—the extent to which the model can respond to noise.</a:t>
                </a:r>
              </a:p>
              <a:p>
                <a:r>
                  <a:rPr lang="en-US" dirty="0"/>
                  <a:t>The magenta line marks the boundary of predictions with additional model restrictions, such as a smoothing parameter,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805782F-97D4-C4D0-1E96-9AA270023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310" t="-2724" r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Visually</a:t>
            </a:r>
          </a:p>
        </p:txBody>
      </p:sp>
    </p:spTree>
    <p:extLst>
      <p:ext uri="{BB962C8B-B14F-4D97-AF65-F5344CB8AC3E}">
        <p14:creationId xmlns:p14="http://schemas.microsoft.com/office/powerpoint/2010/main" val="47042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odel space&#10;&#10;Description automatically generated">
            <a:extLst>
              <a:ext uri="{FF2B5EF4-FFF2-40B4-BE49-F238E27FC236}">
                <a16:creationId xmlns:a16="http://schemas.microsoft.com/office/drawing/2014/main" id="{9730D453-03A0-7DA0-C010-9CE147FDD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2550" y="2085975"/>
            <a:ext cx="7332325" cy="65151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782F-97D4-C4D0-1E96-9AA270023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Notice that the variance for the restricted models is lower even though the bias (the distance from the dataset) is higher!</a:t>
            </a:r>
          </a:p>
          <a:p>
            <a:r>
              <a:rPr lang="en-US" dirty="0"/>
              <a:t>This is why some biased estimators can produce a lower predicted error.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Visually</a:t>
            </a:r>
          </a:p>
        </p:txBody>
      </p:sp>
    </p:spTree>
    <p:extLst>
      <p:ext uri="{BB962C8B-B14F-4D97-AF65-F5344CB8AC3E}">
        <p14:creationId xmlns:p14="http://schemas.microsoft.com/office/powerpoint/2010/main" val="168554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odel space&#10;&#10;Description automatically generated">
            <a:extLst>
              <a:ext uri="{FF2B5EF4-FFF2-40B4-BE49-F238E27FC236}">
                <a16:creationId xmlns:a16="http://schemas.microsoft.com/office/drawing/2014/main" id="{9730D453-03A0-7DA0-C010-9CE147FDD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2550" y="2085975"/>
            <a:ext cx="7332325" cy="65151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782F-97D4-C4D0-1E96-9AA270023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is the sum of 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The radius of the blue circle (irreducible error)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The radius of the yellow circle (model variance)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The distance from the actual data to the predicted data (model bias)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Visually</a:t>
            </a:r>
          </a:p>
        </p:txBody>
      </p:sp>
    </p:spTree>
    <p:extLst>
      <p:ext uri="{BB962C8B-B14F-4D97-AF65-F5344CB8AC3E}">
        <p14:creationId xmlns:p14="http://schemas.microsoft.com/office/powerpoint/2010/main" val="54120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odel space&#10;&#10;Description automatically generated">
            <a:extLst>
              <a:ext uri="{FF2B5EF4-FFF2-40B4-BE49-F238E27FC236}">
                <a16:creationId xmlns:a16="http://schemas.microsoft.com/office/drawing/2014/main" id="{9730D453-03A0-7DA0-C010-9CE147FDD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2550" y="2085975"/>
            <a:ext cx="7332325" cy="65151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782F-97D4-C4D0-1E96-9AA270023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do not have access to the information represented by the solid line</a:t>
            </a:r>
          </a:p>
          <a:p>
            <a:r>
              <a:rPr lang="en-US" dirty="0"/>
              <a:t>We do have access to the distance between our realization and the model spaces. </a:t>
            </a:r>
          </a:p>
          <a:p>
            <a:r>
              <a:rPr lang="en-US" dirty="0"/>
              <a:t>This allows us to estimate model bias.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Visually</a:t>
            </a:r>
          </a:p>
        </p:txBody>
      </p:sp>
    </p:spTree>
    <p:extLst>
      <p:ext uri="{BB962C8B-B14F-4D97-AF65-F5344CB8AC3E}">
        <p14:creationId xmlns:p14="http://schemas.microsoft.com/office/powerpoint/2010/main" val="105007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error can be broken down into </a:t>
            </a:r>
          </a:p>
          <a:p>
            <a:pPr lvl="1"/>
            <a:r>
              <a:rPr lang="en-US" dirty="0"/>
              <a:t>Irreducible error</a:t>
            </a:r>
          </a:p>
          <a:p>
            <a:pPr lvl="1"/>
            <a:r>
              <a:rPr lang="en-US" dirty="0"/>
              <a:t>Model bias</a:t>
            </a:r>
          </a:p>
          <a:p>
            <a:pPr lvl="1"/>
            <a:r>
              <a:rPr lang="en-US" dirty="0"/>
              <a:t>Model Variance</a:t>
            </a:r>
          </a:p>
          <a:p>
            <a:r>
              <a:rPr lang="en-US" dirty="0"/>
              <a:t>Sometimes we introduce more bias to have </a:t>
            </a:r>
            <a:r>
              <a:rPr lang="en-US"/>
              <a:t>less variance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66E75-DDC2-42EB-81D9-F40263664C9A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10622</TotalTime>
  <Words>445</Words>
  <Application>Microsoft Macintosh PowerPoint</Application>
  <PresentationFormat>Custom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 2</vt:lpstr>
      <vt:lpstr>Breeze</vt:lpstr>
      <vt:lpstr>Math 769: Statistical Learning</vt:lpstr>
      <vt:lpstr>Bias-Variance Decomposition</vt:lpstr>
      <vt:lpstr>Last Time</vt:lpstr>
      <vt:lpstr>Objectives</vt:lpstr>
      <vt:lpstr>Bias-Variance Decomposition</vt:lpstr>
      <vt:lpstr>Expected Prediction Error at a Point</vt:lpstr>
      <vt:lpstr>Bias and Variance Visually</vt:lpstr>
      <vt:lpstr>Bias and Variance Visually</vt:lpstr>
      <vt:lpstr>Bias and Variance Visually</vt:lpstr>
      <vt:lpstr>Bias and Variance Visually</vt:lpstr>
      <vt:lpstr>Bias and Variance Visually</vt:lpstr>
      <vt:lpstr>Bias and Variance Visually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48</cp:revision>
  <dcterms:created xsi:type="dcterms:W3CDTF">2019-02-13T16:04:21Z</dcterms:created>
  <dcterms:modified xsi:type="dcterms:W3CDTF">2023-12-04T17:40:12Z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