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9"/>
  </p:notesMasterIdLst>
  <p:sldIdLst>
    <p:sldId id="259" r:id="rId5"/>
    <p:sldId id="262" r:id="rId6"/>
    <p:sldId id="263" r:id="rId7"/>
    <p:sldId id="269" r:id="rId8"/>
    <p:sldId id="322" r:id="rId9"/>
    <p:sldId id="324" r:id="rId10"/>
    <p:sldId id="323" r:id="rId11"/>
    <p:sldId id="326" r:id="rId12"/>
    <p:sldId id="331" r:id="rId13"/>
    <p:sldId id="327" r:id="rId14"/>
    <p:sldId id="328" r:id="rId15"/>
    <p:sldId id="329" r:id="rId16"/>
    <p:sldId id="330" r:id="rId17"/>
    <p:sldId id="325" r:id="rId18"/>
  </p:sldIdLst>
  <p:sldSz cx="18288000" cy="10287000"/>
  <p:notesSz cx="6858000" cy="9144000"/>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68"/>
    <p:restoredTop sz="70000"/>
  </p:normalViewPr>
  <p:slideViewPr>
    <p:cSldViewPr snapToGrid="0" snapToObjects="1">
      <p:cViewPr varScale="1">
        <p:scale>
          <a:sx n="52" d="100"/>
          <a:sy n="52" d="100"/>
        </p:scale>
        <p:origin x="216" y="39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0B339E-DD24-AF4D-951A-8F87C48A3888}" type="datetimeFigureOut">
              <a:rPr lang="en-US" smtClean="0"/>
              <a:t>12/5/23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12D538-1C4E-BA48-98E5-173D2FE01ACA}" type="slidenum">
              <a:rPr lang="en-US" smtClean="0"/>
              <a:t>‹#›</a:t>
            </a:fld>
            <a:endParaRPr lang="en-US"/>
          </a:p>
        </p:txBody>
      </p:sp>
    </p:spTree>
    <p:extLst>
      <p:ext uri="{BB962C8B-B14F-4D97-AF65-F5344CB8AC3E}">
        <p14:creationId xmlns:p14="http://schemas.microsoft.com/office/powerpoint/2010/main" val="3442925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Math 769: Statistical Learning</a:t>
            </a:r>
          </a:p>
        </p:txBody>
      </p:sp>
      <p:sp>
        <p:nvSpPr>
          <p:cNvPr id="4" name="Subtitle 3">
            <a:extLst>
              <a:ext uri="{FF2B5EF4-FFF2-40B4-BE49-F238E27FC236}">
                <a16:creationId xmlns:a16="http://schemas.microsoft.com/office/drawing/2014/main" id="{E803D9D7-D926-E270-BBAA-C017CB0F0397}"/>
              </a:ext>
            </a:extLst>
          </p:cNvPr>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2807F-AA75-8289-ABFC-30F1E44E67A4}"/>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Bootstrapping</a:t>
            </a:r>
          </a:p>
        </p:txBody>
      </p:sp>
      <p:sp>
        <p:nvSpPr>
          <p:cNvPr id="3" name="Subtitle 2">
            <a:extLst>
              <a:ext uri="{FF2B5EF4-FFF2-40B4-BE49-F238E27FC236}">
                <a16:creationId xmlns:a16="http://schemas.microsoft.com/office/drawing/2014/main" id="{A1D820C0-3BC8-687A-7D56-C3951CF5E866}"/>
              </a:ext>
            </a:extLst>
          </p:cNvPr>
          <p:cNvSpPr>
            <a:spLocks noGrp="1"/>
          </p:cNvSpPr>
          <p:nvPr>
            <p:ph type="subTitle" idx="1"/>
          </p:nvPr>
        </p:nvSpPr>
        <p:spPr>
          <a:xfrm>
            <a:off x="2644777" y="4949827"/>
            <a:ext cx="12998450" cy="1374774"/>
          </a:xfrm>
        </p:spPr>
        <p:txBody>
          <a:bodyPr/>
          <a:lstStyle/>
          <a:p>
            <a:pPr fontAlgn="auto">
              <a:spcAft>
                <a:spcPts val="0"/>
              </a:spcAft>
              <a:defRPr/>
            </a:pPr>
            <a:r>
              <a:rPr lang="en-US" dirty="0"/>
              <a:t>Shahrzad Jamshidi, PhD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a:extLst>
              <a:ext uri="{FF2B5EF4-FFF2-40B4-BE49-F238E27FC236}">
                <a16:creationId xmlns:a16="http://schemas.microsoft.com/office/drawing/2014/main" id="{7437B09B-40A5-6CD5-DCB3-08809A79E57D}"/>
              </a:ext>
            </a:extLst>
          </p:cNvPr>
          <p:cNvSpPr>
            <a:spLocks noGrp="1"/>
          </p:cNvSpPr>
          <p:nvPr>
            <p:ph type="title"/>
          </p:nvPr>
        </p:nvSpPr>
        <p:spPr>
          <a:xfrm>
            <a:off x="1098551" y="161926"/>
            <a:ext cx="16084550" cy="1549400"/>
          </a:xfrm>
        </p:spPr>
        <p:txBody>
          <a:bodyPr/>
          <a:lstStyle/>
          <a:p>
            <a:r>
              <a:rPr lang="en-US" altLang="en-US" dirty="0"/>
              <a:t>Last Time</a:t>
            </a:r>
          </a:p>
        </p:txBody>
      </p:sp>
      <p:sp>
        <p:nvSpPr>
          <p:cNvPr id="6146" name="Content Placeholder 2">
            <a:extLst>
              <a:ext uri="{FF2B5EF4-FFF2-40B4-BE49-F238E27FC236}">
                <a16:creationId xmlns:a16="http://schemas.microsoft.com/office/drawing/2014/main" id="{8DFB1FDB-789D-3A4E-B0C7-3BAF194C6643}"/>
              </a:ext>
            </a:extLst>
          </p:cNvPr>
          <p:cNvSpPr>
            <a:spLocks noGrp="1"/>
          </p:cNvSpPr>
          <p:nvPr>
            <p:ph idx="1"/>
          </p:nvPr>
        </p:nvSpPr>
        <p:spPr>
          <a:xfrm>
            <a:off x="1098551" y="2051050"/>
            <a:ext cx="16084550" cy="6886576"/>
          </a:xfrm>
        </p:spPr>
        <p:txBody>
          <a:bodyPr/>
          <a:lstStyle/>
          <a:p>
            <a:r>
              <a:rPr lang="en-US" altLang="en-US" dirty="0"/>
              <a:t>We explored k-fold cross validation, which was a technique we can use when our dataset is too small to allow for a testing set. </a:t>
            </a:r>
          </a:p>
          <a:p>
            <a:r>
              <a:rPr lang="en-US" altLang="en-US" dirty="0"/>
              <a:t>We discussed how to use this method to estimate the expected prediction error as well as some considerations for picking the number of folds.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a:extLst>
              <a:ext uri="{FF2B5EF4-FFF2-40B4-BE49-F238E27FC236}">
                <a16:creationId xmlns:a16="http://schemas.microsoft.com/office/drawing/2014/main" id="{7437B09B-40A5-6CD5-DCB3-08809A79E57D}"/>
              </a:ext>
            </a:extLst>
          </p:cNvPr>
          <p:cNvSpPr>
            <a:spLocks noGrp="1"/>
          </p:cNvSpPr>
          <p:nvPr>
            <p:ph type="title"/>
          </p:nvPr>
        </p:nvSpPr>
        <p:spPr>
          <a:xfrm>
            <a:off x="1098551" y="161926"/>
            <a:ext cx="16084550" cy="1549400"/>
          </a:xfrm>
        </p:spPr>
        <p:txBody>
          <a:bodyPr/>
          <a:lstStyle/>
          <a:p>
            <a:r>
              <a:rPr lang="en-US" altLang="en-US" dirty="0"/>
              <a:t>Objectives</a:t>
            </a:r>
          </a:p>
        </p:txBody>
      </p:sp>
      <p:sp>
        <p:nvSpPr>
          <p:cNvPr id="6146" name="Content Placeholder 2">
            <a:extLst>
              <a:ext uri="{FF2B5EF4-FFF2-40B4-BE49-F238E27FC236}">
                <a16:creationId xmlns:a16="http://schemas.microsoft.com/office/drawing/2014/main" id="{8DFB1FDB-789D-3A4E-B0C7-3BAF194C6643}"/>
              </a:ext>
            </a:extLst>
          </p:cNvPr>
          <p:cNvSpPr>
            <a:spLocks noGrp="1"/>
          </p:cNvSpPr>
          <p:nvPr>
            <p:ph idx="1"/>
          </p:nvPr>
        </p:nvSpPr>
        <p:spPr>
          <a:xfrm>
            <a:off x="1098551" y="2051050"/>
            <a:ext cx="16084550" cy="6886576"/>
          </a:xfrm>
        </p:spPr>
        <p:txBody>
          <a:bodyPr/>
          <a:lstStyle/>
          <a:p>
            <a:r>
              <a:rPr lang="en-US" altLang="en-US" dirty="0"/>
              <a:t>Define Bootstrapping.</a:t>
            </a:r>
          </a:p>
          <a:p>
            <a:r>
              <a:rPr lang="en-US" altLang="en-US" dirty="0"/>
              <a:t>Explain how bootstrapping can construct an estimator for the model. </a:t>
            </a:r>
          </a:p>
          <a:p>
            <a:r>
              <a:rPr lang="en-US" altLang="en-US" dirty="0"/>
              <a:t>Construct the estimator for the expected prediction error.</a:t>
            </a:r>
          </a:p>
          <a:p>
            <a:r>
              <a:rPr lang="en-US" altLang="en-US" dirty="0"/>
              <a:t>Define the 0.632 estimator. </a:t>
            </a:r>
          </a:p>
        </p:txBody>
      </p:sp>
    </p:spTree>
    <p:extLst>
      <p:ext uri="{BB962C8B-B14F-4D97-AF65-F5344CB8AC3E}">
        <p14:creationId xmlns:p14="http://schemas.microsoft.com/office/powerpoint/2010/main" val="2774394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40723-192D-3EB8-0B1E-A2215463EB90}"/>
              </a:ext>
            </a:extLst>
          </p:cNvPr>
          <p:cNvSpPr>
            <a:spLocks noGrp="1"/>
          </p:cNvSpPr>
          <p:nvPr>
            <p:ph type="title"/>
          </p:nvPr>
        </p:nvSpPr>
        <p:spPr/>
        <p:txBody>
          <a:bodyPr/>
          <a:lstStyle/>
          <a:p>
            <a:r>
              <a:rPr lang="en-US" dirty="0"/>
              <a:t>Purpose of Bootstrapping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789E1FF-60C6-FC18-0E3A-403B67A61FAD}"/>
                  </a:ext>
                </a:extLst>
              </p:cNvPr>
              <p:cNvSpPr>
                <a:spLocks noGrp="1"/>
              </p:cNvSpPr>
              <p:nvPr>
                <p:ph idx="1"/>
              </p:nvPr>
            </p:nvSpPr>
            <p:spPr/>
            <p:txBody>
              <a:bodyPr/>
              <a:lstStyle/>
              <a:p>
                <a:r>
                  <a:rPr lang="en-US" dirty="0"/>
                  <a:t>Like cross validation, bootstrapping is a method to estimate the expected prediction error, </a:t>
                </a:r>
                <a14:m>
                  <m:oMath xmlns:m="http://schemas.openxmlformats.org/officeDocument/2006/math">
                    <m:r>
                      <m:rPr>
                        <m:nor/>
                      </m:rPr>
                      <a:rPr lang="en-US" b="0" i="0" smtClean="0">
                        <a:latin typeface="Cambria Math" panose="02040503050406030204" pitchFamily="18" charset="0"/>
                      </a:rPr>
                      <m:t>Err</m:t>
                    </m:r>
                  </m:oMath>
                </a14:m>
                <a:r>
                  <a:rPr lang="en-US" dirty="0"/>
                  <a:t>, when working with a dataset that does not allow for a testing set. </a:t>
                </a:r>
              </a:p>
              <a:p>
                <a:r>
                  <a:rPr lang="en-US" dirty="0"/>
                  <a:t>Instead of “folds,” bootstrapping relies on “bootstrapped” samples of the dataset </a:t>
                </a:r>
                <a:r>
                  <a:rPr lang="en-US" i="1" u="sng" dirty="0"/>
                  <a:t>with</a:t>
                </a:r>
                <a:r>
                  <a:rPr lang="en-US" dirty="0"/>
                  <a:t> replacement. </a:t>
                </a:r>
              </a:p>
              <a:p>
                <a:r>
                  <a:rPr lang="en-US" dirty="0"/>
                  <a:t>It allows us to understand the variability and stability of an estimate without making strong assumptions about the dataset’s distribution.</a:t>
                </a:r>
              </a:p>
            </p:txBody>
          </p:sp>
        </mc:Choice>
        <mc:Fallback>
          <p:sp>
            <p:nvSpPr>
              <p:cNvPr id="3" name="Content Placeholder 2">
                <a:extLst>
                  <a:ext uri="{FF2B5EF4-FFF2-40B4-BE49-F238E27FC236}">
                    <a16:creationId xmlns:a16="http://schemas.microsoft.com/office/drawing/2014/main" id="{D789E1FF-60C6-FC18-0E3A-403B67A61FAD}"/>
                  </a:ext>
                </a:extLst>
              </p:cNvPr>
              <p:cNvSpPr>
                <a:spLocks noGrp="1" noRot="1" noChangeAspect="1" noMove="1" noResize="1" noEditPoints="1" noAdjustHandles="1" noChangeArrowheads="1" noChangeShapeType="1" noTextEdit="1"/>
              </p:cNvSpPr>
              <p:nvPr>
                <p:ph idx="1"/>
              </p:nvPr>
            </p:nvSpPr>
            <p:spPr>
              <a:blipFill>
                <a:blip r:embed="rId2"/>
                <a:stretch>
                  <a:fillRect l="-1104" t="-1657" r="-1104"/>
                </a:stretch>
              </a:blipFill>
            </p:spPr>
            <p:txBody>
              <a:bodyPr/>
              <a:lstStyle/>
              <a:p>
                <a:r>
                  <a:rPr lang="en-US">
                    <a:noFill/>
                  </a:rPr>
                  <a:t> </a:t>
                </a:r>
              </a:p>
            </p:txBody>
          </p:sp>
        </mc:Fallback>
      </mc:AlternateContent>
    </p:spTree>
    <p:extLst>
      <p:ext uri="{BB962C8B-B14F-4D97-AF65-F5344CB8AC3E}">
        <p14:creationId xmlns:p14="http://schemas.microsoft.com/office/powerpoint/2010/main" val="336724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789E1FF-60C6-FC18-0E3A-403B67A61FAD}"/>
                  </a:ext>
                </a:extLst>
              </p:cNvPr>
              <p:cNvSpPr>
                <a:spLocks noGrp="1"/>
              </p:cNvSpPr>
              <p:nvPr>
                <p:ph sz="half" idx="1"/>
              </p:nvPr>
            </p:nvSpPr>
            <p:spPr/>
            <p:txBody>
              <a:bodyPr>
                <a:normAutofit/>
              </a:bodyPr>
              <a:lstStyle/>
              <a:p>
                <a:r>
                  <a:rPr lang="en-US" dirty="0"/>
                  <a:t>Suppose we have a model fit to a dataset. </a:t>
                </a:r>
              </a:p>
              <a:p>
                <a14:m>
                  <m:oMath xmlns:m="http://schemas.openxmlformats.org/officeDocument/2006/math">
                    <m:r>
                      <m:rPr>
                        <m:nor/>
                      </m:rPr>
                      <a:rPr lang="en-US" b="0" i="1" smtClean="0">
                        <a:latin typeface="Cambria Math" panose="02040503050406030204" pitchFamily="18" charset="0"/>
                      </a:rPr>
                      <m:t>B</m:t>
                    </m:r>
                  </m:oMath>
                </a14:m>
                <a:r>
                  <a:rPr lang="en-US" dirty="0"/>
                  <a:t>  bootstrapped samples are constructed from randomly sampling the dataset with replacement to construct sets of the same size. </a:t>
                </a:r>
              </a:p>
              <a:p>
                <a:r>
                  <a:rPr lang="en-US" dirty="0"/>
                  <a:t>A small example</a:t>
                </a:r>
              </a:p>
            </p:txBody>
          </p:sp>
        </mc:Choice>
        <mc:Fallback>
          <p:sp>
            <p:nvSpPr>
              <p:cNvPr id="3" name="Content Placeholder 2">
                <a:extLst>
                  <a:ext uri="{FF2B5EF4-FFF2-40B4-BE49-F238E27FC236}">
                    <a16:creationId xmlns:a16="http://schemas.microsoft.com/office/drawing/2014/main" id="{D789E1FF-60C6-FC18-0E3A-403B67A61FAD}"/>
                  </a:ext>
                </a:extLst>
              </p:cNvPr>
              <p:cNvSpPr>
                <a:spLocks noGrp="1" noRot="1" noChangeAspect="1" noMove="1" noResize="1" noEditPoints="1" noAdjustHandles="1" noChangeArrowheads="1" noChangeShapeType="1" noTextEdit="1"/>
              </p:cNvSpPr>
              <p:nvPr>
                <p:ph sz="half" idx="1"/>
              </p:nvPr>
            </p:nvSpPr>
            <p:spPr>
              <a:blipFill>
                <a:blip r:embed="rId2"/>
                <a:stretch>
                  <a:fillRect l="-2310" t="-1751" r="-264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A420F167-6AE7-4EFF-E1AC-13A12A353552}"/>
                  </a:ext>
                </a:extLst>
              </p:cNvPr>
              <p:cNvSpPr>
                <a:spLocks noGrp="1"/>
              </p:cNvSpPr>
              <p:nvPr>
                <p:ph sz="half" idx="2"/>
              </p:nvPr>
            </p:nvSpPr>
            <p:spPr/>
            <p:txBody>
              <a:bodyPr>
                <a:normAutofit/>
              </a:bodyPr>
              <a:lstStyle/>
              <a:p>
                <a:pPr marL="0" indent="0">
                  <a:buNone/>
                </a:pPr>
                <a:r>
                  <a:rPr lang="en-US" dirty="0"/>
                  <a:t>Dataset: </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d>
                            <m:dPr>
                              <m:ctrlPr>
                                <a:rPr lang="en-US" b="0" i="1" smtClean="0">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2, 8</m:t>
                              </m:r>
                            </m:e>
                          </m:d>
                          <m:r>
                            <a:rPr lang="en-US" b="0" i="1" smtClean="0">
                              <a:latin typeface="Cambria Math" panose="02040503050406030204" pitchFamily="18" charset="0"/>
                            </a:rPr>
                            <m:t>, </m:t>
                          </m:r>
                          <m:d>
                            <m:dPr>
                              <m:ctrlPr>
                                <a:rPr lang="en-US" b="0" i="1" smtClean="0">
                                  <a:solidFill>
                                    <a:srgbClr val="FFC000"/>
                                  </a:solidFill>
                                  <a:latin typeface="Cambria Math" panose="02040503050406030204" pitchFamily="18" charset="0"/>
                                </a:rPr>
                              </m:ctrlPr>
                            </m:dPr>
                            <m:e>
                              <m:r>
                                <a:rPr lang="en-US" i="1">
                                  <a:solidFill>
                                    <a:srgbClr val="FFC000"/>
                                  </a:solidFill>
                                  <a:latin typeface="Cambria Math" panose="02040503050406030204" pitchFamily="18" charset="0"/>
                                </a:rPr>
                                <m:t>9, 2</m:t>
                              </m:r>
                            </m:e>
                          </m:d>
                          <m:r>
                            <a:rPr lang="en-US" b="0" i="1" smtClean="0">
                              <a:latin typeface="Cambria Math" panose="02040503050406030204" pitchFamily="18" charset="0"/>
                            </a:rPr>
                            <m:t>, </m:t>
                          </m:r>
                          <m:d>
                            <m:dPr>
                              <m:ctrlPr>
                                <a:rPr lang="en-US" b="0" i="1" smtClean="0">
                                  <a:solidFill>
                                    <a:srgbClr val="00B050"/>
                                  </a:solidFill>
                                  <a:latin typeface="Cambria Math" panose="02040503050406030204" pitchFamily="18" charset="0"/>
                                </a:rPr>
                              </m:ctrlPr>
                            </m:dPr>
                            <m:e>
                              <m:r>
                                <a:rPr lang="en-US" i="1">
                                  <a:solidFill>
                                    <a:srgbClr val="00B050"/>
                                  </a:solidFill>
                                  <a:latin typeface="Cambria Math" panose="02040503050406030204" pitchFamily="18" charset="0"/>
                                </a:rPr>
                                <m:t>3, 7</m:t>
                              </m:r>
                            </m:e>
                          </m:d>
                          <m:r>
                            <a:rPr lang="en-US" b="0" i="1" smtClean="0">
                              <a:latin typeface="Cambria Math" panose="02040503050406030204" pitchFamily="18" charset="0"/>
                            </a:rPr>
                            <m:t>, </m:t>
                          </m:r>
                          <m:d>
                            <m:dPr>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9, 7</m:t>
                              </m:r>
                            </m:e>
                          </m:d>
                          <m:r>
                            <a:rPr lang="en-US" b="0" i="1" smtClean="0">
                              <a:latin typeface="Cambria Math" panose="02040503050406030204" pitchFamily="18" charset="0"/>
                            </a:rPr>
                            <m:t>, </m:t>
                          </m:r>
                          <m:d>
                            <m:dPr>
                              <m:ctrlPr>
                                <a:rPr lang="en-US" b="0"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1, 6</m:t>
                              </m:r>
                            </m:e>
                          </m:d>
                        </m:e>
                      </m:d>
                    </m:oMath>
                  </m:oMathPara>
                </a14:m>
                <a:endParaRPr lang="en-US" dirty="0"/>
              </a:p>
              <a:p>
                <a:pPr marL="0" indent="0">
                  <a:buNone/>
                </a:pPr>
                <a:r>
                  <a:rPr lang="en-US" dirty="0"/>
                  <a:t>Bootstrapped Samples: </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d>
                            <m:dPr>
                              <m:ctrlPr>
                                <a:rPr lang="en-US" i="1" smtClean="0">
                                  <a:solidFill>
                                    <a:srgbClr val="FFC000"/>
                                  </a:solidFill>
                                  <a:latin typeface="Cambria Math" panose="02040503050406030204" pitchFamily="18" charset="0"/>
                                </a:rPr>
                              </m:ctrlPr>
                            </m:dPr>
                            <m:e>
                              <m:r>
                                <a:rPr lang="en-US" i="1">
                                  <a:solidFill>
                                    <a:srgbClr val="FFC000"/>
                                  </a:solidFill>
                                  <a:latin typeface="Cambria Math" panose="02040503050406030204" pitchFamily="18" charset="0"/>
                                </a:rPr>
                                <m:t>9, 2</m:t>
                              </m:r>
                            </m:e>
                          </m:d>
                          <m:r>
                            <a:rPr lang="en-US" b="0" i="1" smtClean="0">
                              <a:latin typeface="Cambria Math" panose="02040503050406030204" pitchFamily="18" charset="0"/>
                            </a:rPr>
                            <m:t>,</m:t>
                          </m:r>
                          <m:d>
                            <m:dPr>
                              <m:ctrlPr>
                                <a:rPr lang="en-US" i="1" smtClean="0">
                                  <a:solidFill>
                                    <a:srgbClr val="FFC000"/>
                                  </a:solidFill>
                                  <a:latin typeface="Cambria Math" panose="02040503050406030204" pitchFamily="18" charset="0"/>
                                </a:rPr>
                              </m:ctrlPr>
                            </m:dPr>
                            <m:e>
                              <m:r>
                                <a:rPr lang="en-US" i="1">
                                  <a:solidFill>
                                    <a:srgbClr val="FFC000"/>
                                  </a:solidFill>
                                  <a:latin typeface="Cambria Math" panose="02040503050406030204" pitchFamily="18" charset="0"/>
                                </a:rPr>
                                <m:t>9, 2</m:t>
                              </m:r>
                            </m:e>
                          </m:d>
                          <m:r>
                            <a:rPr lang="en-US" b="0" i="1" smtClean="0">
                              <a:latin typeface="Cambria Math" panose="02040503050406030204" pitchFamily="18" charset="0"/>
                            </a:rPr>
                            <m:t>,</m:t>
                          </m:r>
                          <m:d>
                            <m:dPr>
                              <m:ctrlPr>
                                <a:rPr lang="en-US" i="1" smtClean="0">
                                  <a:solidFill>
                                    <a:srgbClr val="0070C0"/>
                                  </a:solidFill>
                                  <a:latin typeface="Cambria Math" panose="02040503050406030204" pitchFamily="18" charset="0"/>
                                </a:rPr>
                              </m:ctrlPr>
                            </m:dPr>
                            <m:e>
                              <m:r>
                                <a:rPr lang="en-US" i="1">
                                  <a:solidFill>
                                    <a:srgbClr val="0070C0"/>
                                  </a:solidFill>
                                  <a:latin typeface="Cambria Math" panose="02040503050406030204" pitchFamily="18" charset="0"/>
                                </a:rPr>
                                <m:t>9, 7</m:t>
                              </m:r>
                            </m:e>
                          </m:d>
                          <m:r>
                            <a:rPr lang="en-US" b="0" i="1" smtClean="0">
                              <a:latin typeface="Cambria Math" panose="02040503050406030204" pitchFamily="18" charset="0"/>
                            </a:rPr>
                            <m:t>, </m:t>
                          </m:r>
                          <m:d>
                            <m:dPr>
                              <m:ctrlPr>
                                <a:rPr lang="en-US" b="0" i="1" smtClean="0">
                                  <a:solidFill>
                                    <a:srgbClr val="FFC000"/>
                                  </a:solidFill>
                                  <a:latin typeface="Cambria Math" panose="02040503050406030204" pitchFamily="18" charset="0"/>
                                </a:rPr>
                              </m:ctrlPr>
                            </m:dPr>
                            <m:e>
                              <m:r>
                                <a:rPr lang="en-US" b="0" i="1" smtClean="0">
                                  <a:solidFill>
                                    <a:srgbClr val="FFC000"/>
                                  </a:solidFill>
                                  <a:latin typeface="Cambria Math" panose="02040503050406030204" pitchFamily="18" charset="0"/>
                                </a:rPr>
                                <m:t>9, </m:t>
                              </m:r>
                              <m:r>
                                <a:rPr lang="en-US" b="0" i="1" smtClean="0">
                                  <a:solidFill>
                                    <a:srgbClr val="FFC000"/>
                                  </a:solidFill>
                                  <a:latin typeface="Cambria Math" panose="02040503050406030204" pitchFamily="18" charset="0"/>
                                </a:rPr>
                                <m:t>2</m:t>
                              </m:r>
                            </m:e>
                          </m:d>
                          <m:r>
                            <a:rPr lang="en-US" b="0" i="1" smtClean="0">
                              <a:latin typeface="Cambria Math" panose="02040503050406030204" pitchFamily="18" charset="0"/>
                            </a:rPr>
                            <m:t>, </m:t>
                          </m:r>
                          <m:d>
                            <m:dPr>
                              <m:ctrlPr>
                                <a:rPr lang="en-US" b="0"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1, 6</m:t>
                              </m:r>
                            </m:e>
                          </m:d>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d>
                            <m:dPr>
                              <m:ctrlPr>
                                <a:rPr lang="en-US" i="1" smtClean="0">
                                  <a:solidFill>
                                    <a:srgbClr val="7030A0"/>
                                  </a:solidFill>
                                  <a:latin typeface="Cambria Math" panose="02040503050406030204" pitchFamily="18" charset="0"/>
                                </a:rPr>
                              </m:ctrlPr>
                            </m:dPr>
                            <m:e>
                              <m:r>
                                <a:rPr lang="en-US" i="1">
                                  <a:solidFill>
                                    <a:srgbClr val="7030A0"/>
                                  </a:solidFill>
                                  <a:latin typeface="Cambria Math" panose="02040503050406030204" pitchFamily="18" charset="0"/>
                                </a:rPr>
                                <m:t>1, 6</m:t>
                              </m:r>
                            </m:e>
                          </m:d>
                          <m:r>
                            <a:rPr lang="en-US" b="0" i="1" smtClean="0">
                              <a:latin typeface="Cambria Math" panose="02040503050406030204" pitchFamily="18" charset="0"/>
                            </a:rPr>
                            <m:t>,</m:t>
                          </m:r>
                          <m:d>
                            <m:dPr>
                              <m:ctrlPr>
                                <a:rPr lang="en-US" i="1" smtClean="0">
                                  <a:solidFill>
                                    <a:srgbClr val="92D050"/>
                                  </a:solidFill>
                                  <a:latin typeface="Cambria Math" panose="02040503050406030204" pitchFamily="18" charset="0"/>
                                </a:rPr>
                              </m:ctrlPr>
                            </m:dPr>
                            <m:e>
                              <m:r>
                                <a:rPr lang="en-US" i="1">
                                  <a:solidFill>
                                    <a:srgbClr val="92D050"/>
                                  </a:solidFill>
                                  <a:latin typeface="Cambria Math" panose="02040503050406030204" pitchFamily="18" charset="0"/>
                                </a:rPr>
                                <m:t>3, 7</m:t>
                              </m:r>
                            </m:e>
                          </m:d>
                          <m:r>
                            <a:rPr lang="en-US" i="1">
                              <a:latin typeface="Cambria Math" panose="02040503050406030204" pitchFamily="18" charset="0"/>
                            </a:rPr>
                            <m:t>,</m:t>
                          </m:r>
                          <m:d>
                            <m:dPr>
                              <m:ctrlPr>
                                <a:rPr lang="en-US" i="1" smtClean="0">
                                  <a:solidFill>
                                    <a:srgbClr val="FFC000"/>
                                  </a:solidFill>
                                  <a:latin typeface="Cambria Math" panose="02040503050406030204" pitchFamily="18" charset="0"/>
                                </a:rPr>
                              </m:ctrlPr>
                            </m:dPr>
                            <m:e>
                              <m:r>
                                <a:rPr lang="en-US" i="1">
                                  <a:solidFill>
                                    <a:srgbClr val="FFC000"/>
                                  </a:solidFill>
                                  <a:latin typeface="Cambria Math" panose="02040503050406030204" pitchFamily="18" charset="0"/>
                                </a:rPr>
                                <m:t>9, </m:t>
                              </m:r>
                              <m:r>
                                <a:rPr lang="en-US" b="0" i="1" smtClean="0">
                                  <a:solidFill>
                                    <a:srgbClr val="FFC000"/>
                                  </a:solidFill>
                                  <a:latin typeface="Cambria Math" panose="02040503050406030204" pitchFamily="18" charset="0"/>
                                </a:rPr>
                                <m:t>2</m:t>
                              </m:r>
                            </m:e>
                          </m:d>
                          <m:r>
                            <a:rPr lang="en-US" b="0" i="1" smtClean="0">
                              <a:latin typeface="Cambria Math" panose="02040503050406030204" pitchFamily="18" charset="0"/>
                            </a:rPr>
                            <m:t>,</m:t>
                          </m:r>
                          <m:d>
                            <m:dPr>
                              <m:ctrlPr>
                                <a:rPr lang="en-US" i="1" smtClean="0">
                                  <a:solidFill>
                                    <a:srgbClr val="92D050"/>
                                  </a:solidFill>
                                  <a:latin typeface="Cambria Math" panose="02040503050406030204" pitchFamily="18" charset="0"/>
                                </a:rPr>
                              </m:ctrlPr>
                            </m:dPr>
                            <m:e>
                              <m:r>
                                <a:rPr lang="en-US" i="1">
                                  <a:solidFill>
                                    <a:srgbClr val="92D050"/>
                                  </a:solidFill>
                                  <a:latin typeface="Cambria Math" panose="02040503050406030204" pitchFamily="18" charset="0"/>
                                </a:rPr>
                                <m:t>3, 7</m:t>
                              </m:r>
                            </m:e>
                          </m:d>
                          <m:r>
                            <a:rPr lang="en-US" i="1">
                              <a:latin typeface="Cambria Math" panose="02040503050406030204" pitchFamily="18" charset="0"/>
                            </a:rPr>
                            <m:t>,</m:t>
                          </m:r>
                          <m:d>
                            <m:dPr>
                              <m:ctrlPr>
                                <a:rPr lang="en-US" i="1" smtClean="0">
                                  <a:solidFill>
                                    <a:srgbClr val="92D050"/>
                                  </a:solidFill>
                                  <a:latin typeface="Cambria Math" panose="02040503050406030204" pitchFamily="18" charset="0"/>
                                </a:rPr>
                              </m:ctrlPr>
                            </m:dPr>
                            <m:e>
                              <m:r>
                                <a:rPr lang="en-US" i="1">
                                  <a:solidFill>
                                    <a:srgbClr val="92D050"/>
                                  </a:solidFill>
                                  <a:latin typeface="Cambria Math" panose="02040503050406030204" pitchFamily="18" charset="0"/>
                                </a:rPr>
                                <m:t>3, 7</m:t>
                              </m:r>
                            </m:e>
                          </m:d>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d>
                            <m:dPr>
                              <m:ctrlPr>
                                <a:rPr lang="en-US" i="1" smtClean="0">
                                  <a:solidFill>
                                    <a:srgbClr val="0070C0"/>
                                  </a:solidFill>
                                  <a:latin typeface="Cambria Math" panose="02040503050406030204" pitchFamily="18" charset="0"/>
                                </a:rPr>
                              </m:ctrlPr>
                            </m:dPr>
                            <m:e>
                              <m:r>
                                <a:rPr lang="en-US" i="1">
                                  <a:solidFill>
                                    <a:srgbClr val="0070C0"/>
                                  </a:solidFill>
                                  <a:latin typeface="Cambria Math" panose="02040503050406030204" pitchFamily="18" charset="0"/>
                                </a:rPr>
                                <m:t>9, 7</m:t>
                              </m:r>
                            </m:e>
                          </m:d>
                          <m:r>
                            <a:rPr lang="en-US" b="0" i="1" smtClean="0">
                              <a:latin typeface="Cambria Math" panose="02040503050406030204" pitchFamily="18" charset="0"/>
                            </a:rPr>
                            <m:t>,</m:t>
                          </m:r>
                          <m:d>
                            <m:dPr>
                              <m:ctrlPr>
                                <a:rPr lang="en-US" i="1" smtClean="0">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2, 8</m:t>
                              </m:r>
                            </m:e>
                          </m:d>
                          <m:r>
                            <a:rPr lang="en-US" i="1">
                              <a:latin typeface="Cambria Math" panose="02040503050406030204" pitchFamily="18" charset="0"/>
                            </a:rPr>
                            <m:t>,</m:t>
                          </m:r>
                          <m:d>
                            <m:dPr>
                              <m:ctrlPr>
                                <a:rPr lang="en-US" i="1" smtClean="0">
                                  <a:solidFill>
                                    <a:srgbClr val="92D050"/>
                                  </a:solidFill>
                                  <a:latin typeface="Cambria Math" panose="02040503050406030204" pitchFamily="18" charset="0"/>
                                </a:rPr>
                              </m:ctrlPr>
                            </m:dPr>
                            <m:e>
                              <m:r>
                                <a:rPr lang="en-US" b="0" i="1" smtClean="0">
                                  <a:solidFill>
                                    <a:srgbClr val="92D050"/>
                                  </a:solidFill>
                                  <a:latin typeface="Cambria Math" panose="02040503050406030204" pitchFamily="18" charset="0"/>
                                </a:rPr>
                                <m:t>3,</m:t>
                              </m:r>
                              <m:r>
                                <a:rPr lang="en-US" i="1">
                                  <a:solidFill>
                                    <a:srgbClr val="92D050"/>
                                  </a:solidFill>
                                  <a:latin typeface="Cambria Math" panose="02040503050406030204" pitchFamily="18" charset="0"/>
                                </a:rPr>
                                <m:t> </m:t>
                              </m:r>
                              <m:r>
                                <a:rPr lang="en-US" b="0" i="1" smtClean="0">
                                  <a:solidFill>
                                    <a:srgbClr val="92D050"/>
                                  </a:solidFill>
                                  <a:latin typeface="Cambria Math" panose="02040503050406030204" pitchFamily="18" charset="0"/>
                                </a:rPr>
                                <m:t>7</m:t>
                              </m:r>
                            </m:e>
                          </m:d>
                          <m:r>
                            <a:rPr lang="en-US" b="0" i="1" smtClean="0">
                              <a:latin typeface="Cambria Math" panose="02040503050406030204" pitchFamily="18" charset="0"/>
                            </a:rPr>
                            <m:t>,</m:t>
                          </m:r>
                          <m:d>
                            <m:dPr>
                              <m:ctrlPr>
                                <a:rPr lang="en-US"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6</m:t>
                              </m:r>
                              <m:r>
                                <a:rPr lang="en-US" i="1">
                                  <a:solidFill>
                                    <a:srgbClr val="7030A0"/>
                                  </a:solidFill>
                                  <a:latin typeface="Cambria Math" panose="02040503050406030204" pitchFamily="18" charset="0"/>
                                </a:rPr>
                                <m:t>, </m:t>
                              </m:r>
                              <m:r>
                                <a:rPr lang="en-US" b="0" i="1" smtClean="0">
                                  <a:solidFill>
                                    <a:srgbClr val="7030A0"/>
                                  </a:solidFill>
                                  <a:latin typeface="Cambria Math" panose="02040503050406030204" pitchFamily="18" charset="0"/>
                                </a:rPr>
                                <m:t>1</m:t>
                              </m:r>
                            </m:e>
                          </m:d>
                          <m:r>
                            <a:rPr lang="en-US" i="1">
                              <a:latin typeface="Cambria Math" panose="02040503050406030204" pitchFamily="18" charset="0"/>
                            </a:rPr>
                            <m:t>,</m:t>
                          </m:r>
                          <m:d>
                            <m:dPr>
                              <m:ctrlPr>
                                <a:rPr lang="en-US" i="1" smtClean="0">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2, 8</m:t>
                              </m:r>
                            </m:e>
                          </m:d>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d>
                            <m:dPr>
                              <m:ctrlPr>
                                <a:rPr lang="en-US"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2, 8</m:t>
                              </m:r>
                            </m:e>
                          </m:d>
                          <m:r>
                            <a:rPr lang="en-US" b="0" i="1" smtClean="0">
                              <a:latin typeface="Cambria Math" panose="02040503050406030204" pitchFamily="18" charset="0"/>
                            </a:rPr>
                            <m:t>,</m:t>
                          </m:r>
                          <m:d>
                            <m:dPr>
                              <m:ctrlPr>
                                <a:rPr lang="en-US"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1, 6</m:t>
                              </m:r>
                            </m:e>
                          </m:d>
                          <m:r>
                            <a:rPr lang="en-US" i="1">
                              <a:latin typeface="Cambria Math" panose="02040503050406030204" pitchFamily="18" charset="0"/>
                            </a:rPr>
                            <m:t>,</m:t>
                          </m:r>
                          <m:d>
                            <m:dPr>
                              <m:ctrlPr>
                                <a:rPr lang="en-US" i="1" smtClean="0">
                                  <a:solidFill>
                                    <a:srgbClr val="92D050"/>
                                  </a:solidFill>
                                  <a:latin typeface="Cambria Math" panose="02040503050406030204" pitchFamily="18" charset="0"/>
                                </a:rPr>
                              </m:ctrlPr>
                            </m:dPr>
                            <m:e>
                              <m:r>
                                <a:rPr lang="en-US" i="1" smtClean="0">
                                  <a:solidFill>
                                    <a:srgbClr val="92D050"/>
                                  </a:solidFill>
                                  <a:latin typeface="Cambria Math" panose="02040503050406030204" pitchFamily="18" charset="0"/>
                                </a:rPr>
                                <m:t>3</m:t>
                              </m:r>
                              <m:r>
                                <a:rPr lang="en-US" b="0" i="1" smtClean="0">
                                  <a:solidFill>
                                    <a:srgbClr val="92D050"/>
                                  </a:solidFill>
                                  <a:latin typeface="Cambria Math" panose="02040503050406030204" pitchFamily="18" charset="0"/>
                                </a:rPr>
                                <m:t>, 7</m:t>
                              </m:r>
                            </m:e>
                          </m:d>
                          <m:r>
                            <a:rPr lang="en-US" b="0" i="1" smtClean="0">
                              <a:latin typeface="Cambria Math" panose="02040503050406030204" pitchFamily="18" charset="0"/>
                            </a:rPr>
                            <m:t>,</m:t>
                          </m:r>
                          <m:d>
                            <m:dPr>
                              <m:ctrlPr>
                                <a:rPr lang="en-US"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9</m:t>
                              </m:r>
                              <m:r>
                                <a:rPr lang="en-US" i="1">
                                  <a:solidFill>
                                    <a:srgbClr val="0070C0"/>
                                  </a:solidFill>
                                  <a:latin typeface="Cambria Math" panose="02040503050406030204" pitchFamily="18" charset="0"/>
                                </a:rPr>
                                <m:t>, 7</m:t>
                              </m:r>
                            </m:e>
                          </m:d>
                          <m:r>
                            <a:rPr lang="en-US" i="1">
                              <a:latin typeface="Cambria Math" panose="02040503050406030204" pitchFamily="18" charset="0"/>
                            </a:rPr>
                            <m:t>,</m:t>
                          </m:r>
                          <m:d>
                            <m:dPr>
                              <m:ctrlPr>
                                <a:rPr lang="en-US"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2, 8</m:t>
                              </m:r>
                            </m:e>
                          </m:d>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d>
                            <m:dPr>
                              <m:ctrlPr>
                                <a:rPr lang="en-US" i="1" smtClean="0">
                                  <a:solidFill>
                                    <a:srgbClr val="7030A0"/>
                                  </a:solidFill>
                                  <a:latin typeface="Cambria Math" panose="02040503050406030204" pitchFamily="18" charset="0"/>
                                </a:rPr>
                              </m:ctrlPr>
                            </m:dPr>
                            <m:e>
                              <m:r>
                                <a:rPr lang="en-US" i="1">
                                  <a:solidFill>
                                    <a:srgbClr val="7030A0"/>
                                  </a:solidFill>
                                  <a:latin typeface="Cambria Math" panose="02040503050406030204" pitchFamily="18" charset="0"/>
                                </a:rPr>
                                <m:t>1, 6</m:t>
                              </m:r>
                            </m:e>
                          </m:d>
                          <m:r>
                            <a:rPr lang="en-US" b="0" i="1" smtClean="0">
                              <a:latin typeface="Cambria Math" panose="02040503050406030204" pitchFamily="18" charset="0"/>
                            </a:rPr>
                            <m:t>,</m:t>
                          </m:r>
                          <m:d>
                            <m:dPr>
                              <m:ctrlPr>
                                <a:rPr lang="en-US" i="1" smtClean="0">
                                  <a:solidFill>
                                    <a:srgbClr val="92D050"/>
                                  </a:solidFill>
                                  <a:latin typeface="Cambria Math" panose="02040503050406030204" pitchFamily="18" charset="0"/>
                                </a:rPr>
                              </m:ctrlPr>
                            </m:dPr>
                            <m:e>
                              <m:r>
                                <a:rPr lang="en-US" i="1">
                                  <a:solidFill>
                                    <a:srgbClr val="92D050"/>
                                  </a:solidFill>
                                  <a:latin typeface="Cambria Math" panose="02040503050406030204" pitchFamily="18" charset="0"/>
                                </a:rPr>
                                <m:t>3, 7</m:t>
                              </m:r>
                            </m:e>
                          </m:d>
                          <m:r>
                            <a:rPr lang="en-US" i="1">
                              <a:latin typeface="Cambria Math" panose="02040503050406030204" pitchFamily="18" charset="0"/>
                            </a:rPr>
                            <m:t>,</m:t>
                          </m:r>
                          <m:d>
                            <m:dPr>
                              <m:ctrlPr>
                                <a:rPr lang="en-US" i="1" smtClean="0">
                                  <a:solidFill>
                                    <a:srgbClr val="FFC000"/>
                                  </a:solidFill>
                                  <a:latin typeface="Cambria Math" panose="02040503050406030204" pitchFamily="18" charset="0"/>
                                </a:rPr>
                              </m:ctrlPr>
                            </m:dPr>
                            <m:e>
                              <m:r>
                                <a:rPr lang="en-US" i="1">
                                  <a:solidFill>
                                    <a:srgbClr val="FFC000"/>
                                  </a:solidFill>
                                  <a:latin typeface="Cambria Math" panose="02040503050406030204" pitchFamily="18" charset="0"/>
                                </a:rPr>
                                <m:t>9, </m:t>
                              </m:r>
                              <m:r>
                                <a:rPr lang="en-US" b="0" i="1" smtClean="0">
                                  <a:solidFill>
                                    <a:srgbClr val="FFC000"/>
                                  </a:solidFill>
                                  <a:latin typeface="Cambria Math" panose="02040503050406030204" pitchFamily="18" charset="0"/>
                                </a:rPr>
                                <m:t>2</m:t>
                              </m:r>
                            </m:e>
                          </m:d>
                          <m:r>
                            <a:rPr lang="en-US" b="0" i="1" smtClean="0">
                              <a:latin typeface="Cambria Math" panose="02040503050406030204" pitchFamily="18" charset="0"/>
                            </a:rPr>
                            <m:t>,</m:t>
                          </m:r>
                          <m:d>
                            <m:dPr>
                              <m:ctrlPr>
                                <a:rPr lang="en-US"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2, 8</m:t>
                              </m:r>
                            </m:e>
                          </m:d>
                          <m:r>
                            <a:rPr lang="en-US" i="1">
                              <a:latin typeface="Cambria Math" panose="02040503050406030204" pitchFamily="18" charset="0"/>
                            </a:rPr>
                            <m:t>,</m:t>
                          </m:r>
                          <m:d>
                            <m:dPr>
                              <m:ctrlPr>
                                <a:rPr lang="en-US"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2, 8</m:t>
                              </m:r>
                            </m:e>
                          </m:d>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d>
                            <m:dPr>
                              <m:ctrlPr>
                                <a:rPr lang="en-US" i="1" smtClean="0">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2, 8</m:t>
                              </m:r>
                            </m:e>
                          </m:d>
                          <m:r>
                            <a:rPr lang="en-US" b="0" i="1" smtClean="0">
                              <a:latin typeface="Cambria Math" panose="02040503050406030204" pitchFamily="18" charset="0"/>
                            </a:rPr>
                            <m:t>,</m:t>
                          </m:r>
                          <m:d>
                            <m:dPr>
                              <m:ctrlPr>
                                <a:rPr lang="en-US" i="1" smtClean="0">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2, 8</m:t>
                              </m:r>
                            </m:e>
                          </m:d>
                          <m:r>
                            <a:rPr lang="en-US" i="1">
                              <a:latin typeface="Cambria Math" panose="02040503050406030204" pitchFamily="18" charset="0"/>
                            </a:rPr>
                            <m:t>,</m:t>
                          </m:r>
                          <m:d>
                            <m:dPr>
                              <m:ctrlPr>
                                <a:rPr lang="en-US" i="1" smtClean="0">
                                  <a:solidFill>
                                    <a:srgbClr val="92D050"/>
                                  </a:solidFill>
                                  <a:latin typeface="Cambria Math" panose="02040503050406030204" pitchFamily="18" charset="0"/>
                                </a:rPr>
                              </m:ctrlPr>
                            </m:dPr>
                            <m:e>
                              <m:r>
                                <a:rPr lang="en-US" b="0" i="1" smtClean="0">
                                  <a:solidFill>
                                    <a:srgbClr val="92D050"/>
                                  </a:solidFill>
                                  <a:latin typeface="Cambria Math" panose="02040503050406030204" pitchFamily="18" charset="0"/>
                                </a:rPr>
                                <m:t>3</m:t>
                              </m:r>
                              <m:r>
                                <a:rPr lang="en-US" i="1">
                                  <a:solidFill>
                                    <a:srgbClr val="92D050"/>
                                  </a:solidFill>
                                  <a:latin typeface="Cambria Math" panose="02040503050406030204" pitchFamily="18" charset="0"/>
                                </a:rPr>
                                <m:t>, </m:t>
                              </m:r>
                              <m:r>
                                <a:rPr lang="en-US" b="0" i="1" smtClean="0">
                                  <a:solidFill>
                                    <a:srgbClr val="92D050"/>
                                  </a:solidFill>
                                  <a:latin typeface="Cambria Math" panose="02040503050406030204" pitchFamily="18" charset="0"/>
                                </a:rPr>
                                <m:t>7</m:t>
                              </m:r>
                            </m:e>
                          </m:d>
                          <m:r>
                            <a:rPr lang="en-US" b="0" i="1" smtClean="0">
                              <a:latin typeface="Cambria Math" panose="02040503050406030204" pitchFamily="18" charset="0"/>
                            </a:rPr>
                            <m:t>,</m:t>
                          </m:r>
                          <m:d>
                            <m:dPr>
                              <m:ctrlPr>
                                <a:rPr lang="en-US" i="1" smtClean="0">
                                  <a:solidFill>
                                    <a:srgbClr val="FFC000"/>
                                  </a:solidFill>
                                  <a:latin typeface="Cambria Math" panose="02040503050406030204" pitchFamily="18" charset="0"/>
                                </a:rPr>
                              </m:ctrlPr>
                            </m:dPr>
                            <m:e>
                              <m:r>
                                <a:rPr lang="en-US" b="0" i="1" smtClean="0">
                                  <a:solidFill>
                                    <a:srgbClr val="FFC000"/>
                                  </a:solidFill>
                                  <a:latin typeface="Cambria Math" panose="02040503050406030204" pitchFamily="18" charset="0"/>
                                </a:rPr>
                                <m:t>9, 2</m:t>
                              </m:r>
                            </m:e>
                          </m:d>
                          <m:r>
                            <a:rPr lang="en-US" i="1">
                              <a:latin typeface="Cambria Math" panose="02040503050406030204" pitchFamily="18" charset="0"/>
                            </a:rPr>
                            <m:t>,</m:t>
                          </m:r>
                          <m:d>
                            <m:dPr>
                              <m:ctrlPr>
                                <a:rPr lang="en-US"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9</m:t>
                              </m:r>
                              <m:r>
                                <a:rPr lang="en-US" i="1">
                                  <a:solidFill>
                                    <a:srgbClr val="0070C0"/>
                                  </a:solidFill>
                                  <a:latin typeface="Cambria Math" panose="02040503050406030204" pitchFamily="18" charset="0"/>
                                </a:rPr>
                                <m:t>, 7</m:t>
                              </m:r>
                            </m:e>
                          </m:d>
                        </m:e>
                      </m:d>
                    </m:oMath>
                  </m:oMathPara>
                </a14:m>
                <a:endParaRPr lang="en-US" dirty="0"/>
              </a:p>
              <a:p>
                <a:pPr marL="0" indent="0">
                  <a:buNone/>
                </a:pPr>
                <a:endParaRPr lang="en-US" dirty="0"/>
              </a:p>
              <a:p>
                <a:pPr marL="0" indent="0">
                  <a:buNone/>
                </a:pPr>
                <a:endParaRPr lang="en-US" dirty="0"/>
              </a:p>
            </p:txBody>
          </p:sp>
        </mc:Choice>
        <mc:Fallback>
          <p:sp>
            <p:nvSpPr>
              <p:cNvPr id="4" name="Content Placeholder 3">
                <a:extLst>
                  <a:ext uri="{FF2B5EF4-FFF2-40B4-BE49-F238E27FC236}">
                    <a16:creationId xmlns:a16="http://schemas.microsoft.com/office/drawing/2014/main" id="{A420F167-6AE7-4EFF-E1AC-13A12A353552}"/>
                  </a:ext>
                </a:extLst>
              </p:cNvPr>
              <p:cNvSpPr>
                <a:spLocks noGrp="1" noRot="1" noChangeAspect="1" noMove="1" noResize="1" noEditPoints="1" noAdjustHandles="1" noChangeArrowheads="1" noChangeShapeType="1" noTextEdit="1"/>
              </p:cNvSpPr>
              <p:nvPr>
                <p:ph sz="half" idx="2"/>
              </p:nvPr>
            </p:nvSpPr>
            <p:spPr>
              <a:blipFill>
                <a:blip r:embed="rId3"/>
                <a:stretch>
                  <a:fillRect l="-2805" t="-1751"/>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38D40723-192D-3EB8-0B1E-A2215463EB90}"/>
              </a:ext>
            </a:extLst>
          </p:cNvPr>
          <p:cNvSpPr>
            <a:spLocks noGrp="1"/>
          </p:cNvSpPr>
          <p:nvPr>
            <p:ph type="title"/>
          </p:nvPr>
        </p:nvSpPr>
        <p:spPr/>
        <p:txBody>
          <a:bodyPr/>
          <a:lstStyle/>
          <a:p>
            <a:r>
              <a:rPr lang="en-US" dirty="0"/>
              <a:t>Bootstrapped Samples</a:t>
            </a:r>
          </a:p>
        </p:txBody>
      </p:sp>
      <p:cxnSp>
        <p:nvCxnSpPr>
          <p:cNvPr id="6" name="Straight Arrow Connector 5">
            <a:extLst>
              <a:ext uri="{FF2B5EF4-FFF2-40B4-BE49-F238E27FC236}">
                <a16:creationId xmlns:a16="http://schemas.microsoft.com/office/drawing/2014/main" id="{83BCA0F6-2DEA-B285-3FBA-9EA5E542571E}"/>
              </a:ext>
            </a:extLst>
          </p:cNvPr>
          <p:cNvCxnSpPr/>
          <p:nvPr/>
        </p:nvCxnSpPr>
        <p:spPr>
          <a:xfrm>
            <a:off x="5999355" y="7560527"/>
            <a:ext cx="1371600"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9951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789E1FF-60C6-FC18-0E3A-403B67A61FAD}"/>
                  </a:ext>
                </a:extLst>
              </p:cNvPr>
              <p:cNvSpPr>
                <a:spLocks noGrp="1"/>
              </p:cNvSpPr>
              <p:nvPr>
                <p:ph sz="half" idx="1"/>
              </p:nvPr>
            </p:nvSpPr>
            <p:spPr/>
            <p:txBody>
              <a:bodyPr/>
              <a:lstStyle/>
              <a:p>
                <a:r>
                  <a:rPr lang="en-US" dirty="0"/>
                  <a:t>For each of the </a:t>
                </a:r>
                <a14:m>
                  <m:oMath xmlns:m="http://schemas.openxmlformats.org/officeDocument/2006/math">
                    <m:r>
                      <m:rPr>
                        <m:nor/>
                      </m:rPr>
                      <a:rPr lang="en-US" b="0" i="1" smtClean="0">
                        <a:latin typeface="Cambria Math" panose="02040503050406030204" pitchFamily="18" charset="0"/>
                      </a:rPr>
                      <m:t>B</m:t>
                    </m:r>
                  </m:oMath>
                </a14:m>
                <a:r>
                  <a:rPr lang="en-US" dirty="0"/>
                  <a:t> bootstrapped samples, we refit the model to the bootstrapped sample and examine the behavior of the fits. </a:t>
                </a:r>
              </a:p>
              <a:p>
                <a:r>
                  <a:rPr lang="en-US" dirty="0"/>
                  <a:t>Notice that we can estimate several aspects, such as variance.</a:t>
                </a:r>
              </a:p>
            </p:txBody>
          </p:sp>
        </mc:Choice>
        <mc:Fallback>
          <p:sp>
            <p:nvSpPr>
              <p:cNvPr id="3" name="Content Placeholder 2">
                <a:extLst>
                  <a:ext uri="{FF2B5EF4-FFF2-40B4-BE49-F238E27FC236}">
                    <a16:creationId xmlns:a16="http://schemas.microsoft.com/office/drawing/2014/main" id="{D789E1FF-60C6-FC18-0E3A-403B67A61FAD}"/>
                  </a:ext>
                </a:extLst>
              </p:cNvPr>
              <p:cNvSpPr>
                <a:spLocks noGrp="1" noRot="1" noChangeAspect="1" noMove="1" noResize="1" noEditPoints="1" noAdjustHandles="1" noChangeArrowheads="1" noChangeShapeType="1" noTextEdit="1"/>
              </p:cNvSpPr>
              <p:nvPr>
                <p:ph sz="half" idx="1"/>
              </p:nvPr>
            </p:nvSpPr>
            <p:spPr>
              <a:blipFill>
                <a:blip r:embed="rId2"/>
                <a:stretch>
                  <a:fillRect l="-2310" t="-1751"/>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38D40723-192D-3EB8-0B1E-A2215463EB90}"/>
              </a:ext>
            </a:extLst>
          </p:cNvPr>
          <p:cNvSpPr>
            <a:spLocks noGrp="1"/>
          </p:cNvSpPr>
          <p:nvPr>
            <p:ph type="title"/>
          </p:nvPr>
        </p:nvSpPr>
        <p:spPr/>
        <p:txBody>
          <a:bodyPr/>
          <a:lstStyle/>
          <a:p>
            <a:r>
              <a:rPr lang="en-US" dirty="0"/>
              <a:t>Using the Bootstrapped Samples</a:t>
            </a:r>
          </a:p>
        </p:txBody>
      </p:sp>
      <p:pic>
        <p:nvPicPr>
          <p:cNvPr id="10" name="Content Placeholder 9" descr="A group of graphs with red and green dots&#10;&#10;Description automatically generated">
            <a:extLst>
              <a:ext uri="{FF2B5EF4-FFF2-40B4-BE49-F238E27FC236}">
                <a16:creationId xmlns:a16="http://schemas.microsoft.com/office/drawing/2014/main" id="{E6C7C6A1-99A9-7C93-2177-6F91A72666EB}"/>
              </a:ext>
            </a:extLst>
          </p:cNvPr>
          <p:cNvPicPr>
            <a:picLocks noGrp="1" noChangeAspect="1"/>
          </p:cNvPicPr>
          <p:nvPr>
            <p:ph sz="half" idx="2"/>
          </p:nvPr>
        </p:nvPicPr>
        <p:blipFill>
          <a:blip r:embed="rId3"/>
          <a:stretch>
            <a:fillRect/>
          </a:stretch>
        </p:blipFill>
        <p:spPr>
          <a:xfrm>
            <a:off x="8779510" y="2085975"/>
            <a:ext cx="8005197" cy="6515100"/>
          </a:xfrm>
        </p:spPr>
      </p:pic>
    </p:spTree>
    <p:extLst>
      <p:ext uri="{BB962C8B-B14F-4D97-AF65-F5344CB8AC3E}">
        <p14:creationId xmlns:p14="http://schemas.microsoft.com/office/powerpoint/2010/main" val="676579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DB7E1D-0EE2-7B7D-F2F3-333D299D3523}"/>
              </a:ext>
            </a:extLst>
          </p:cNvPr>
          <p:cNvSpPr>
            <a:spLocks noGrp="1"/>
          </p:cNvSpPr>
          <p:nvPr>
            <p:ph type="title"/>
          </p:nvPr>
        </p:nvSpPr>
        <p:spPr/>
        <p:txBody>
          <a:bodyPr/>
          <a:lstStyle/>
          <a:p>
            <a:r>
              <a:rPr lang="en-US" dirty="0"/>
              <a:t>Example: Estimating Parameter Variance</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EE0E29CC-5BED-5852-983F-2728324E02FF}"/>
                  </a:ext>
                </a:extLst>
              </p:cNvPr>
              <p:cNvSpPr>
                <a:spLocks noGrp="1"/>
              </p:cNvSpPr>
              <p:nvPr>
                <p:ph idx="1"/>
              </p:nvPr>
            </p:nvSpPr>
            <p:spPr/>
            <p:txBody>
              <a:bodyPr/>
              <a:lstStyle/>
              <a:p>
                <a:r>
                  <a:rPr lang="en-US" dirty="0"/>
                  <a:t>Let’s say that we wish to estimate the variance of a parameter, </a:t>
                </a: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𝛽</m:t>
                            </m:r>
                          </m:e>
                        </m:acc>
                      </m:e>
                      <m:sub>
                        <m:r>
                          <a:rPr lang="en-US" b="0" i="1" smtClean="0">
                            <a:latin typeface="Cambria Math" panose="02040503050406030204" pitchFamily="18" charset="0"/>
                          </a:rPr>
                          <m:t>𝑖</m:t>
                        </m:r>
                      </m:sub>
                    </m:sSub>
                  </m:oMath>
                </a14:m>
                <a:r>
                  <a:rPr lang="en-US" dirty="0"/>
                  <a:t>.</a:t>
                </a: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m:rPr>
                              <m:sty m:val="p"/>
                            </m:rPr>
                            <a:rPr lang="en-US" b="0" i="0" smtClean="0">
                              <a:latin typeface="Cambria Math" panose="02040503050406030204" pitchFamily="18" charset="0"/>
                            </a:rPr>
                            <m:t>Var</m:t>
                          </m:r>
                        </m:e>
                      </m:acc>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US" i="1">
                                  <a:latin typeface="Cambria Math" panose="02040503050406030204" pitchFamily="18" charset="0"/>
                                </a:rPr>
                                <m:t>𝑖</m:t>
                              </m:r>
                            </m:sub>
                          </m:sSub>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𝐵</m:t>
                          </m:r>
                          <m:r>
                            <a:rPr lang="en-US" b="0" i="1" smtClean="0">
                              <a:latin typeface="Cambria Math" panose="02040503050406030204" pitchFamily="18" charset="0"/>
                            </a:rPr>
                            <m:t>−1</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𝑏</m:t>
                          </m:r>
                          <m:r>
                            <a:rPr lang="en-US" b="0" i="1" smtClean="0">
                              <a:latin typeface="Cambria Math" panose="02040503050406030204" pitchFamily="18" charset="0"/>
                            </a:rPr>
                            <m:t>=1</m:t>
                          </m:r>
                        </m:sub>
                        <m:sup>
                          <m:r>
                            <a:rPr lang="en-US" b="0" i="1" smtClean="0">
                              <a:latin typeface="Cambria Math" panose="02040503050406030204" pitchFamily="18" charset="0"/>
                            </a:rPr>
                            <m:t>𝐵</m:t>
                          </m:r>
                        </m:sup>
                        <m:e>
                          <m:sSup>
                            <m:sSupPr>
                              <m:ctrlPr>
                                <a:rPr lang="en-US" b="0" i="1" smtClean="0">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US" i="1">
                                              <a:latin typeface="Cambria Math" panose="02040503050406030204" pitchFamily="18" charset="0"/>
                                            </a:rPr>
                                            <m:t>𝑖</m:t>
                                          </m:r>
                                        </m:sub>
                                      </m:sSub>
                                    </m:e>
                                    <m:sup>
                                      <m: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m:t>
                                      </m:r>
                                    </m:sup>
                                  </m:sSup>
                                  <m:r>
                                    <a:rPr lang="en-US" i="1">
                                      <a:latin typeface="Cambria Math" panose="02040503050406030204" pitchFamily="18" charset="0"/>
                                    </a:rPr>
                                    <m:t> − </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US" i="1">
                                              <a:latin typeface="Cambria Math" panose="02040503050406030204" pitchFamily="18" charset="0"/>
                                            </a:rPr>
                                            <m:t>𝑖</m:t>
                                          </m:r>
                                        </m:sub>
                                      </m:sSub>
                                    </m:e>
                                  </m:acc>
                                </m:e>
                              </m:d>
                            </m:e>
                            <m:sup>
                              <m:r>
                                <a:rPr lang="en-US" b="0" i="1" smtClean="0">
                                  <a:latin typeface="Cambria Math" panose="02040503050406030204" pitchFamily="18" charset="0"/>
                                </a:rPr>
                                <m:t>2</m:t>
                              </m:r>
                            </m:sup>
                          </m:sSup>
                        </m:e>
                      </m:nary>
                    </m:oMath>
                  </m:oMathPara>
                </a14:m>
                <a:endParaRPr lang="en-US" dirty="0"/>
              </a:p>
              <a:p>
                <a:pPr marL="0" indent="0">
                  <a:buNone/>
                </a:pPr>
                <a:r>
                  <a:rPr lang="en-US" dirty="0"/>
                  <a:t>where </a:t>
                </a:r>
              </a:p>
              <a:p>
                <a:pPr marL="0" indent="0">
                  <a:buNone/>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US" i="1">
                                  <a:latin typeface="Cambria Math" panose="02040503050406030204" pitchFamily="18" charset="0"/>
                                </a:rPr>
                                <m:t>𝑖</m:t>
                              </m:r>
                            </m:sub>
                          </m:sSub>
                        </m:e>
                      </m:acc>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𝐵</m:t>
                          </m:r>
                        </m:den>
                      </m:f>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𝑏</m:t>
                          </m:r>
                          <m:r>
                            <a:rPr lang="en-US" i="1">
                              <a:latin typeface="Cambria Math" panose="02040503050406030204" pitchFamily="18" charset="0"/>
                            </a:rPr>
                            <m:t>=1</m:t>
                          </m:r>
                        </m:sub>
                        <m:sup>
                          <m:r>
                            <a:rPr lang="en-US" i="1">
                              <a:latin typeface="Cambria Math" panose="02040503050406030204" pitchFamily="18" charset="0"/>
                            </a:rPr>
                            <m:t>𝐵</m:t>
                          </m:r>
                        </m:sup>
                        <m:e>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US" i="1">
                                      <a:latin typeface="Cambria Math" panose="02040503050406030204" pitchFamily="18" charset="0"/>
                                    </a:rPr>
                                    <m:t>𝑖</m:t>
                                  </m:r>
                                </m:sub>
                              </m:sSub>
                            </m:e>
                            <m:sup>
                              <m: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m:t>
                              </m:r>
                            </m:sup>
                          </m:sSup>
                        </m:e>
                      </m:nary>
                    </m:oMath>
                  </m:oMathPara>
                </a14:m>
                <a:endParaRPr lang="en-US" dirty="0"/>
              </a:p>
              <a:p>
                <a:r>
                  <a:rPr lang="en-US" dirty="0"/>
                  <a:t>Essentially, we use these samples to construct estimates for whatever we need. </a:t>
                </a:r>
              </a:p>
            </p:txBody>
          </p:sp>
        </mc:Choice>
        <mc:Fallback>
          <p:sp>
            <p:nvSpPr>
              <p:cNvPr id="6" name="Content Placeholder 5">
                <a:extLst>
                  <a:ext uri="{FF2B5EF4-FFF2-40B4-BE49-F238E27FC236}">
                    <a16:creationId xmlns:a16="http://schemas.microsoft.com/office/drawing/2014/main" id="{EE0E29CC-5BED-5852-983F-2728324E02FF}"/>
                  </a:ext>
                </a:extLst>
              </p:cNvPr>
              <p:cNvSpPr>
                <a:spLocks noGrp="1" noRot="1" noChangeAspect="1" noMove="1" noResize="1" noEditPoints="1" noAdjustHandles="1" noChangeArrowheads="1" noChangeShapeType="1" noTextEdit="1"/>
              </p:cNvSpPr>
              <p:nvPr>
                <p:ph idx="1"/>
              </p:nvPr>
            </p:nvSpPr>
            <p:spPr>
              <a:blipFill>
                <a:blip r:embed="rId2"/>
                <a:stretch>
                  <a:fillRect l="-1341" t="-18785" b="-20442"/>
                </a:stretch>
              </a:blipFill>
            </p:spPr>
            <p:txBody>
              <a:bodyPr/>
              <a:lstStyle/>
              <a:p>
                <a:r>
                  <a:rPr lang="en-US">
                    <a:noFill/>
                  </a:rPr>
                  <a:t> </a:t>
                </a:r>
              </a:p>
            </p:txBody>
          </p:sp>
        </mc:Fallback>
      </mc:AlternateContent>
    </p:spTree>
    <p:extLst>
      <p:ext uri="{BB962C8B-B14F-4D97-AF65-F5344CB8AC3E}">
        <p14:creationId xmlns:p14="http://schemas.microsoft.com/office/powerpoint/2010/main" val="3144456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DB7E1D-0EE2-7B7D-F2F3-333D299D3523}"/>
              </a:ext>
            </a:extLst>
          </p:cNvPr>
          <p:cNvSpPr>
            <a:spLocks noGrp="1"/>
          </p:cNvSpPr>
          <p:nvPr>
            <p:ph type="title"/>
          </p:nvPr>
        </p:nvSpPr>
        <p:spPr>
          <a:xfrm>
            <a:off x="1101724" y="3731046"/>
            <a:ext cx="16084552" cy="2824907"/>
          </a:xfrm>
        </p:spPr>
        <p:txBody>
          <a:bodyPr/>
          <a:lstStyle/>
          <a:p>
            <a:r>
              <a:rPr lang="en-US" dirty="0"/>
              <a:t>This technique can be thought of as a </a:t>
            </a:r>
            <a:br>
              <a:rPr lang="en-US" dirty="0"/>
            </a:br>
            <a:r>
              <a:rPr lang="en-US" dirty="0"/>
              <a:t>Monte-Carlo estimate under sampling from an empirical distribution.</a:t>
            </a:r>
          </a:p>
        </p:txBody>
      </p:sp>
    </p:spTree>
    <p:extLst>
      <p:ext uri="{BB962C8B-B14F-4D97-AF65-F5344CB8AC3E}">
        <p14:creationId xmlns:p14="http://schemas.microsoft.com/office/powerpoint/2010/main" val="3961911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DB7E1D-0EE2-7B7D-F2F3-333D299D3523}"/>
              </a:ext>
            </a:extLst>
          </p:cNvPr>
          <p:cNvSpPr>
            <a:spLocks noGrp="1"/>
          </p:cNvSpPr>
          <p:nvPr>
            <p:ph type="title"/>
          </p:nvPr>
        </p:nvSpPr>
        <p:spPr/>
        <p:txBody>
          <a:bodyPr/>
          <a:lstStyle/>
          <a:p>
            <a:r>
              <a:rPr lang="en-US" dirty="0"/>
              <a:t>Estimating Expected Prediction Error</a:t>
            </a:r>
          </a:p>
        </p:txBody>
      </p:sp>
      <p:sp>
        <p:nvSpPr>
          <p:cNvPr id="6" name="Content Placeholder 5">
            <a:extLst>
              <a:ext uri="{FF2B5EF4-FFF2-40B4-BE49-F238E27FC236}">
                <a16:creationId xmlns:a16="http://schemas.microsoft.com/office/drawing/2014/main" id="{EE0E29CC-5BED-5852-983F-2728324E02FF}"/>
              </a:ext>
            </a:extLst>
          </p:cNvPr>
          <p:cNvSpPr>
            <a:spLocks noGrp="1"/>
          </p:cNvSpPr>
          <p:nvPr>
            <p:ph idx="1"/>
          </p:nvPr>
        </p:nvSpPr>
        <p:spPr/>
        <p:txBody>
          <a:bodyPr/>
          <a:lstStyle/>
          <a:p>
            <a:r>
              <a:rPr lang="en-US" dirty="0"/>
              <a:t>The process for estimating the expected prediction error involves looking at the average loss of a hold-out set from the bootstrapped one. </a:t>
            </a:r>
          </a:p>
          <a:p>
            <a:r>
              <a:rPr lang="en-US" dirty="0"/>
              <a:t>Here are two ways to set this up. </a:t>
            </a:r>
          </a:p>
          <a:p>
            <a:pPr marL="1441450" lvl="1" indent="-742950">
              <a:buFont typeface="+mj-lt"/>
              <a:buAutoNum type="arabicPeriod"/>
            </a:pPr>
            <a:r>
              <a:rPr lang="en-US" dirty="0"/>
              <a:t>Do a training-test split of each bootstrapped sample, construct the model on the training portion and measure the loss on the testing portion. Take the average of the losses to estimate the error. </a:t>
            </a:r>
          </a:p>
          <a:p>
            <a:pPr marL="1441450" lvl="1" indent="-742950">
              <a:buFont typeface="+mj-lt"/>
              <a:buAutoNum type="arabicPeriod"/>
            </a:pPr>
            <a:r>
              <a:rPr lang="en-US" dirty="0"/>
              <a:t>We compute the loss for each point on only models trained on samples without the point. </a:t>
            </a:r>
          </a:p>
          <a:p>
            <a:pPr marL="0" indent="0">
              <a:buNone/>
            </a:pPr>
            <a:endParaRPr lang="en-US" dirty="0"/>
          </a:p>
        </p:txBody>
      </p:sp>
    </p:spTree>
    <p:extLst>
      <p:ext uri="{BB962C8B-B14F-4D97-AF65-F5344CB8AC3E}">
        <p14:creationId xmlns:p14="http://schemas.microsoft.com/office/powerpoint/2010/main" val="3406422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DB7E1D-0EE2-7B7D-F2F3-333D299D3523}"/>
              </a:ext>
            </a:extLst>
          </p:cNvPr>
          <p:cNvSpPr>
            <a:spLocks noGrp="1"/>
          </p:cNvSpPr>
          <p:nvPr>
            <p:ph type="title"/>
          </p:nvPr>
        </p:nvSpPr>
        <p:spPr/>
        <p:txBody>
          <a:bodyPr/>
          <a:lstStyle/>
          <a:p>
            <a:r>
              <a:rPr lang="en-US" dirty="0"/>
              <a:t>Estimating Expected Prediction Error</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EE0E29CC-5BED-5852-983F-2728324E02FF}"/>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m:rPr>
                              <m:sty m:val="p"/>
                            </m:rPr>
                            <a:rPr lang="en-US" b="0" i="0" smtClean="0">
                              <a:latin typeface="Cambria Math" panose="02040503050406030204" pitchFamily="18" charset="0"/>
                            </a:rPr>
                            <m:t>Err</m:t>
                          </m:r>
                        </m:e>
                      </m:acc>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𝐶</m:t>
                                      </m:r>
                                    </m:e>
                                    <m:sup>
                                      <m:r>
                                        <a:rPr lang="en-US" b="0" i="1" smtClean="0">
                                          <a:latin typeface="Cambria Math" panose="02040503050406030204" pitchFamily="18" charset="0"/>
                                        </a:rPr>
                                        <m:t>−</m:t>
                                      </m:r>
                                      <m:r>
                                        <a:rPr lang="en-US" b="0" i="1" smtClean="0">
                                          <a:latin typeface="Cambria Math" panose="02040503050406030204" pitchFamily="18" charset="0"/>
                                        </a:rPr>
                                        <m:t>𝑖</m:t>
                                      </m:r>
                                    </m:sup>
                                  </m:sSup>
                                </m:e>
                              </m:d>
                            </m:den>
                          </m:f>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𝐶</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sup>
                              </m:sSup>
                            </m:sub>
                            <m:sup/>
                            <m:e>
                              <m:r>
                                <a:rPr lang="en-US" b="0" i="1" smtClean="0">
                                  <a:latin typeface="Cambria Math" panose="02040503050406030204" pitchFamily="18" charset="0"/>
                                </a:rPr>
                                <m:t>𝐿</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𝑓</m:t>
                                          </m:r>
                                        </m:e>
                                      </m:acc>
                                    </m:e>
                                    <m:sup>
                                      <m:d>
                                        <m:dPr>
                                          <m:ctrlPr>
                                            <a:rPr lang="en-US" i="1">
                                              <a:latin typeface="Cambria Math" panose="02040503050406030204" pitchFamily="18" charset="0"/>
                                            </a:rPr>
                                          </m:ctrlPr>
                                        </m:dPr>
                                        <m:e>
                                          <m:r>
                                            <a:rPr lang="en-US" i="1">
                                              <a:latin typeface="Cambria Math" panose="02040503050406030204" pitchFamily="18" charset="0"/>
                                            </a:rPr>
                                            <m:t>𝑏</m:t>
                                          </m:r>
                                        </m:e>
                                      </m:d>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e>
                              </m:d>
                            </m:e>
                          </m:nary>
                        </m:e>
                      </m:nary>
                    </m:oMath>
                  </m:oMathPara>
                </a14:m>
                <a:endParaRPr lang="en-US" dirty="0"/>
              </a:p>
              <a:p>
                <a:pPr marL="0" indent="0">
                  <a:buNone/>
                </a:pPr>
                <a:r>
                  <a:rPr lang="en-US" dirty="0"/>
                  <a:t>where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𝐶</m:t>
                        </m:r>
                      </m:e>
                      <m:sup>
                        <m:r>
                          <a:rPr lang="en-US" b="0" i="1" smtClean="0">
                            <a:latin typeface="Cambria Math" panose="02040503050406030204" pitchFamily="18" charset="0"/>
                          </a:rPr>
                          <m:t>−</m:t>
                        </m:r>
                        <m:r>
                          <a:rPr lang="en-US" b="0" i="1" smtClean="0">
                            <a:latin typeface="Cambria Math" panose="02040503050406030204" pitchFamily="18" charset="0"/>
                          </a:rPr>
                          <m:t>𝑖</m:t>
                        </m:r>
                      </m:sup>
                    </m:sSup>
                  </m:oMath>
                </a14:m>
                <a:r>
                  <a:rPr lang="en-US" dirty="0"/>
                  <a:t> is the set of bootstrapped samples without the point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𝑥</m:t>
                        </m:r>
                      </m:e>
                      <m:sub>
                        <m:r>
                          <a:rPr lang="en-US" i="1">
                            <a:latin typeface="Cambria Math" panose="02040503050406030204" pitchFamily="18" charset="0"/>
                          </a:rPr>
                          <m:t>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b="0" i="1" smtClean="0">
                        <a:latin typeface="Cambria Math" panose="02040503050406030204" pitchFamily="18" charset="0"/>
                      </a:rPr>
                      <m:t>)</m:t>
                    </m:r>
                  </m:oMath>
                </a14:m>
                <a:r>
                  <a:rPr lang="en-US" dirty="0"/>
                  <a:t> and </a:t>
                </a:r>
                <a14:m>
                  <m:oMath xmlns:m="http://schemas.openxmlformats.org/officeDocument/2006/math">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𝑓</m:t>
                            </m:r>
                          </m:e>
                        </m:acc>
                      </m:e>
                      <m:sup>
                        <m:d>
                          <m:dPr>
                            <m:ctrlPr>
                              <a:rPr lang="en-US" i="1">
                                <a:latin typeface="Cambria Math" panose="02040503050406030204" pitchFamily="18" charset="0"/>
                              </a:rPr>
                            </m:ctrlPr>
                          </m:dPr>
                          <m:e>
                            <m:r>
                              <a:rPr lang="en-US" i="1">
                                <a:latin typeface="Cambria Math" panose="02040503050406030204" pitchFamily="18" charset="0"/>
                              </a:rPr>
                              <m:t>𝑏</m:t>
                            </m:r>
                          </m:e>
                        </m:d>
                      </m:sup>
                    </m:sSup>
                  </m:oMath>
                </a14:m>
                <a:r>
                  <a:rPr lang="en-US" dirty="0"/>
                  <a:t> is the model trained on bootstrapped sample </a:t>
                </a:r>
                <a14:m>
                  <m:oMath xmlns:m="http://schemas.openxmlformats.org/officeDocument/2006/math">
                    <m:r>
                      <a:rPr lang="en-US" i="1">
                        <a:latin typeface="Cambria Math" panose="02040503050406030204" pitchFamily="18" charset="0"/>
                      </a:rPr>
                      <m:t>𝑏</m:t>
                    </m:r>
                  </m:oMath>
                </a14:m>
                <a:r>
                  <a:rPr lang="en-US" dirty="0"/>
                  <a:t>.</a:t>
                </a:r>
              </a:p>
            </p:txBody>
          </p:sp>
        </mc:Choice>
        <mc:Fallback>
          <p:sp>
            <p:nvSpPr>
              <p:cNvPr id="6" name="Content Placeholder 5">
                <a:extLst>
                  <a:ext uri="{FF2B5EF4-FFF2-40B4-BE49-F238E27FC236}">
                    <a16:creationId xmlns:a16="http://schemas.microsoft.com/office/drawing/2014/main" id="{EE0E29CC-5BED-5852-983F-2728324E02FF}"/>
                  </a:ext>
                </a:extLst>
              </p:cNvPr>
              <p:cNvSpPr>
                <a:spLocks noGrp="1" noRot="1" noChangeAspect="1" noMove="1" noResize="1" noEditPoints="1" noAdjustHandles="1" noChangeArrowheads="1" noChangeShapeType="1" noTextEdit="1"/>
              </p:cNvSpPr>
              <p:nvPr>
                <p:ph idx="1"/>
              </p:nvPr>
            </p:nvSpPr>
            <p:spPr>
              <a:blipFill>
                <a:blip r:embed="rId2"/>
                <a:stretch>
                  <a:fillRect l="-1341" t="-28177"/>
                </a:stretch>
              </a:blipFill>
            </p:spPr>
            <p:txBody>
              <a:bodyPr/>
              <a:lstStyle/>
              <a:p>
                <a:r>
                  <a:rPr lang="en-US">
                    <a:noFill/>
                  </a:rPr>
                  <a:t> </a:t>
                </a:r>
              </a:p>
            </p:txBody>
          </p:sp>
        </mc:Fallback>
      </mc:AlternateContent>
    </p:spTree>
    <p:extLst>
      <p:ext uri="{BB962C8B-B14F-4D97-AF65-F5344CB8AC3E}">
        <p14:creationId xmlns:p14="http://schemas.microsoft.com/office/powerpoint/2010/main" val="1975040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789E1FF-60C6-FC18-0E3A-403B67A61FAD}"/>
                  </a:ext>
                </a:extLst>
              </p:cNvPr>
              <p:cNvSpPr>
                <a:spLocks noGrp="1"/>
              </p:cNvSpPr>
              <p:nvPr>
                <p:ph sz="half" idx="1"/>
              </p:nvPr>
            </p:nvSpPr>
            <p:spPr/>
            <p:txBody>
              <a:bodyPr>
                <a:normAutofit/>
              </a:bodyPr>
              <a:lstStyle/>
              <a:p>
                <a:r>
                  <a:rPr lang="en-US" dirty="0"/>
                  <a:t>For example, suppose we want to consider the point </a:t>
                </a:r>
                <a14:m>
                  <m:oMath xmlns:m="http://schemas.openxmlformats.org/officeDocument/2006/math">
                    <m:d>
                      <m:dPr>
                        <m:ctrlPr>
                          <a:rPr lang="en-US" b="0" i="1" smtClean="0">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2, 8</m:t>
                        </m:r>
                      </m:e>
                    </m:d>
                  </m:oMath>
                </a14:m>
                <a:r>
                  <a:rPr lang="en-US" dirty="0"/>
                  <a:t> (</a:t>
                </a:r>
                <a14:m>
                  <m:oMath xmlns:m="http://schemas.openxmlformats.org/officeDocument/2006/math">
                    <m:r>
                      <m:rPr>
                        <m:brk m:alnAt="23"/>
                      </m:rPr>
                      <a:rPr lang="en-US" i="1">
                        <a:latin typeface="Cambria Math" panose="02040503050406030204" pitchFamily="18" charset="0"/>
                      </a:rPr>
                      <m:t>𝑖</m:t>
                    </m:r>
                    <m:r>
                      <a:rPr lang="en-US" i="1">
                        <a:latin typeface="Cambria Math" panose="02040503050406030204" pitchFamily="18" charset="0"/>
                      </a:rPr>
                      <m:t>=1</m:t>
                    </m:r>
                  </m:oMath>
                </a14:m>
                <a:r>
                  <a:rPr lang="en-US" dirty="0"/>
                  <a:t>). </a:t>
                </a: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𝐶</m:t>
                        </m:r>
                      </m:e>
                      <m:sup>
                        <m:r>
                          <a:rPr lang="en-US" b="0" i="1" smtClean="0">
                            <a:latin typeface="Cambria Math" panose="02040503050406030204" pitchFamily="18" charset="0"/>
                          </a:rPr>
                          <m:t>−</m:t>
                        </m:r>
                        <m:r>
                          <a:rPr lang="en-US" b="0" i="1" smtClean="0">
                            <a:latin typeface="Cambria Math" panose="02040503050406030204" pitchFamily="18" charset="0"/>
                          </a:rPr>
                          <m:t>𝑖</m:t>
                        </m:r>
                      </m:sup>
                    </m:sSup>
                  </m:oMath>
                </a14:m>
                <a:r>
                  <a:rPr lang="en-US" dirty="0"/>
                  <a:t> contains only samples 1 and 2. </a:t>
                </a:r>
              </a:p>
              <a:p>
                <a:r>
                  <a:rPr lang="en-US" dirty="0"/>
                  <a:t>If </a:t>
                </a:r>
                <a14:m>
                  <m:oMath xmlns:m="http://schemas.openxmlformats.org/officeDocument/2006/math">
                    <m:r>
                      <m:rPr>
                        <m:brk m:alnAt="23"/>
                      </m:rPr>
                      <a:rPr lang="en-US" i="1" smtClean="0">
                        <a:latin typeface="Cambria Math" panose="02040503050406030204" pitchFamily="18" charset="0"/>
                      </a:rPr>
                      <m:t>𝑖</m:t>
                    </m:r>
                    <m:r>
                      <a:rPr lang="en-US" i="1">
                        <a:latin typeface="Cambria Math" panose="02040503050406030204" pitchFamily="18" charset="0"/>
                      </a:rPr>
                      <m:t>=</m:t>
                    </m:r>
                    <m:r>
                      <a:rPr lang="en-US" b="0" i="1" smtClean="0">
                        <a:latin typeface="Cambria Math" panose="02040503050406030204" pitchFamily="18" charset="0"/>
                      </a:rPr>
                      <m:t>2</m:t>
                    </m:r>
                  </m:oMath>
                </a14:m>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𝐶</m:t>
                        </m:r>
                      </m:e>
                      <m:sup>
                        <m:r>
                          <a:rPr lang="en-US" i="1">
                            <a:latin typeface="Cambria Math" panose="02040503050406030204" pitchFamily="18" charset="0"/>
                          </a:rPr>
                          <m:t>−</m:t>
                        </m:r>
                        <m:r>
                          <a:rPr lang="en-US" i="1">
                            <a:latin typeface="Cambria Math" panose="02040503050406030204" pitchFamily="18" charset="0"/>
                          </a:rPr>
                          <m:t>𝑖</m:t>
                        </m:r>
                      </m:sup>
                    </m:sSup>
                  </m:oMath>
                </a14:m>
                <a:r>
                  <a:rPr lang="en-US" dirty="0"/>
                  <a:t> contains only samples 3 and 4. </a:t>
                </a:r>
              </a:p>
              <a:p>
                <a:r>
                  <a:rPr lang="en-US" dirty="0"/>
                  <a:t>And so on. </a:t>
                </a:r>
              </a:p>
            </p:txBody>
          </p:sp>
        </mc:Choice>
        <mc:Fallback>
          <p:sp>
            <p:nvSpPr>
              <p:cNvPr id="3" name="Content Placeholder 2">
                <a:extLst>
                  <a:ext uri="{FF2B5EF4-FFF2-40B4-BE49-F238E27FC236}">
                    <a16:creationId xmlns:a16="http://schemas.microsoft.com/office/drawing/2014/main" id="{D789E1FF-60C6-FC18-0E3A-403B67A61FAD}"/>
                  </a:ext>
                </a:extLst>
              </p:cNvPr>
              <p:cNvSpPr>
                <a:spLocks noGrp="1" noRot="1" noChangeAspect="1" noMove="1" noResize="1" noEditPoints="1" noAdjustHandles="1" noChangeArrowheads="1" noChangeShapeType="1" noTextEdit="1"/>
              </p:cNvSpPr>
              <p:nvPr>
                <p:ph sz="half" idx="1"/>
              </p:nvPr>
            </p:nvSpPr>
            <p:spPr>
              <a:blipFill>
                <a:blip r:embed="rId2"/>
                <a:stretch>
                  <a:fillRect l="-2310" t="-175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A420F167-6AE7-4EFF-E1AC-13A12A353552}"/>
                  </a:ext>
                </a:extLst>
              </p:cNvPr>
              <p:cNvSpPr>
                <a:spLocks noGrp="1"/>
              </p:cNvSpPr>
              <p:nvPr>
                <p:ph sz="half" idx="2"/>
              </p:nvPr>
            </p:nvSpPr>
            <p:spPr/>
            <p:txBody>
              <a:bodyPr>
                <a:normAutofit fontScale="92500" lnSpcReduction="20000"/>
              </a:bodyPr>
              <a:lstStyle/>
              <a:p>
                <a:pPr marL="0" indent="0">
                  <a:buNone/>
                </a:pPr>
                <a:r>
                  <a:rPr lang="en-US" dirty="0"/>
                  <a:t>Dataset: </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d>
                            <m:dPr>
                              <m:ctrlPr>
                                <a:rPr lang="en-US" b="0" i="1" smtClean="0">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2, 8</m:t>
                              </m:r>
                            </m:e>
                          </m:d>
                          <m:r>
                            <a:rPr lang="en-US" b="0" i="1" smtClean="0">
                              <a:latin typeface="Cambria Math" panose="02040503050406030204" pitchFamily="18" charset="0"/>
                            </a:rPr>
                            <m:t>, </m:t>
                          </m:r>
                          <m:d>
                            <m:dPr>
                              <m:ctrlPr>
                                <a:rPr lang="en-US" b="0" i="1" smtClean="0">
                                  <a:solidFill>
                                    <a:srgbClr val="FFC000"/>
                                  </a:solidFill>
                                  <a:latin typeface="Cambria Math" panose="02040503050406030204" pitchFamily="18" charset="0"/>
                                </a:rPr>
                              </m:ctrlPr>
                            </m:dPr>
                            <m:e>
                              <m:r>
                                <a:rPr lang="en-US" i="1">
                                  <a:solidFill>
                                    <a:srgbClr val="FFC000"/>
                                  </a:solidFill>
                                  <a:latin typeface="Cambria Math" panose="02040503050406030204" pitchFamily="18" charset="0"/>
                                </a:rPr>
                                <m:t>9, 2</m:t>
                              </m:r>
                            </m:e>
                          </m:d>
                          <m:r>
                            <a:rPr lang="en-US" b="0" i="1" smtClean="0">
                              <a:latin typeface="Cambria Math" panose="02040503050406030204" pitchFamily="18" charset="0"/>
                            </a:rPr>
                            <m:t>, </m:t>
                          </m:r>
                          <m:d>
                            <m:dPr>
                              <m:ctrlPr>
                                <a:rPr lang="en-US" b="0" i="1" smtClean="0">
                                  <a:solidFill>
                                    <a:srgbClr val="00B050"/>
                                  </a:solidFill>
                                  <a:latin typeface="Cambria Math" panose="02040503050406030204" pitchFamily="18" charset="0"/>
                                </a:rPr>
                              </m:ctrlPr>
                            </m:dPr>
                            <m:e>
                              <m:r>
                                <a:rPr lang="en-US" i="1">
                                  <a:solidFill>
                                    <a:srgbClr val="00B050"/>
                                  </a:solidFill>
                                  <a:latin typeface="Cambria Math" panose="02040503050406030204" pitchFamily="18" charset="0"/>
                                </a:rPr>
                                <m:t>3, 7</m:t>
                              </m:r>
                            </m:e>
                          </m:d>
                          <m:r>
                            <a:rPr lang="en-US" b="0" i="1" smtClean="0">
                              <a:latin typeface="Cambria Math" panose="02040503050406030204" pitchFamily="18" charset="0"/>
                            </a:rPr>
                            <m:t>, </m:t>
                          </m:r>
                          <m:d>
                            <m:dPr>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9, 7</m:t>
                              </m:r>
                            </m:e>
                          </m:d>
                          <m:r>
                            <a:rPr lang="en-US" b="0" i="1" smtClean="0">
                              <a:latin typeface="Cambria Math" panose="02040503050406030204" pitchFamily="18" charset="0"/>
                            </a:rPr>
                            <m:t>, </m:t>
                          </m:r>
                          <m:d>
                            <m:dPr>
                              <m:ctrlPr>
                                <a:rPr lang="en-US" b="0"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1, 6</m:t>
                              </m:r>
                            </m:e>
                          </m:d>
                        </m:e>
                      </m:d>
                    </m:oMath>
                  </m:oMathPara>
                </a14:m>
                <a:endParaRPr lang="en-US" dirty="0"/>
              </a:p>
              <a:p>
                <a:pPr marL="0" indent="0">
                  <a:buNone/>
                </a:pPr>
                <a:r>
                  <a:rPr lang="en-US" dirty="0"/>
                  <a:t>Bootstrapped Samples: </a:t>
                </a:r>
              </a:p>
              <a:p>
                <a:pPr marL="0" indent="0">
                  <a:buNone/>
                </a:pPr>
                <a:r>
                  <a:rPr lang="en-US" dirty="0"/>
                  <a:t>1:</a:t>
                </a:r>
                <a14:m>
                  <m:oMath xmlns:m="http://schemas.openxmlformats.org/officeDocument/2006/math">
                    <m:d>
                      <m:dPr>
                        <m:begChr m:val="{"/>
                        <m:endChr m:val="}"/>
                        <m:ctrlPr>
                          <a:rPr lang="en-US" i="1" smtClean="0">
                            <a:latin typeface="Cambria Math" panose="02040503050406030204" pitchFamily="18" charset="0"/>
                          </a:rPr>
                        </m:ctrlPr>
                      </m:dPr>
                      <m:e>
                        <m:d>
                          <m:dPr>
                            <m:ctrlPr>
                              <a:rPr lang="en-US" i="1" smtClean="0">
                                <a:solidFill>
                                  <a:srgbClr val="FFC000"/>
                                </a:solidFill>
                                <a:latin typeface="Cambria Math" panose="02040503050406030204" pitchFamily="18" charset="0"/>
                              </a:rPr>
                            </m:ctrlPr>
                          </m:dPr>
                          <m:e>
                            <m:r>
                              <a:rPr lang="en-US" i="1">
                                <a:solidFill>
                                  <a:srgbClr val="FFC000"/>
                                </a:solidFill>
                                <a:latin typeface="Cambria Math" panose="02040503050406030204" pitchFamily="18" charset="0"/>
                              </a:rPr>
                              <m:t>9, 2</m:t>
                            </m:r>
                          </m:e>
                        </m:d>
                        <m:r>
                          <a:rPr lang="en-US" b="0" i="1" smtClean="0">
                            <a:latin typeface="Cambria Math" panose="02040503050406030204" pitchFamily="18" charset="0"/>
                          </a:rPr>
                          <m:t>,</m:t>
                        </m:r>
                        <m:d>
                          <m:dPr>
                            <m:ctrlPr>
                              <a:rPr lang="en-US" i="1" smtClean="0">
                                <a:solidFill>
                                  <a:srgbClr val="FFC000"/>
                                </a:solidFill>
                                <a:latin typeface="Cambria Math" panose="02040503050406030204" pitchFamily="18" charset="0"/>
                              </a:rPr>
                            </m:ctrlPr>
                          </m:dPr>
                          <m:e>
                            <m:r>
                              <a:rPr lang="en-US" i="1">
                                <a:solidFill>
                                  <a:srgbClr val="FFC000"/>
                                </a:solidFill>
                                <a:latin typeface="Cambria Math" panose="02040503050406030204" pitchFamily="18" charset="0"/>
                              </a:rPr>
                              <m:t>9, 2</m:t>
                            </m:r>
                          </m:e>
                        </m:d>
                        <m:r>
                          <a:rPr lang="en-US" b="0" i="1" smtClean="0">
                            <a:latin typeface="Cambria Math" panose="02040503050406030204" pitchFamily="18" charset="0"/>
                          </a:rPr>
                          <m:t>,</m:t>
                        </m:r>
                        <m:d>
                          <m:dPr>
                            <m:ctrlPr>
                              <a:rPr lang="en-US" i="1" smtClean="0">
                                <a:solidFill>
                                  <a:srgbClr val="0070C0"/>
                                </a:solidFill>
                                <a:latin typeface="Cambria Math" panose="02040503050406030204" pitchFamily="18" charset="0"/>
                              </a:rPr>
                            </m:ctrlPr>
                          </m:dPr>
                          <m:e>
                            <m:r>
                              <a:rPr lang="en-US" i="1">
                                <a:solidFill>
                                  <a:srgbClr val="0070C0"/>
                                </a:solidFill>
                                <a:latin typeface="Cambria Math" panose="02040503050406030204" pitchFamily="18" charset="0"/>
                              </a:rPr>
                              <m:t>9, 7</m:t>
                            </m:r>
                          </m:e>
                        </m:d>
                        <m:r>
                          <a:rPr lang="en-US" b="0" i="1" smtClean="0">
                            <a:latin typeface="Cambria Math" panose="02040503050406030204" pitchFamily="18" charset="0"/>
                          </a:rPr>
                          <m:t>, </m:t>
                        </m:r>
                        <m:d>
                          <m:dPr>
                            <m:ctrlPr>
                              <a:rPr lang="en-US" b="0" i="1" smtClean="0">
                                <a:solidFill>
                                  <a:srgbClr val="FFC000"/>
                                </a:solidFill>
                                <a:latin typeface="Cambria Math" panose="02040503050406030204" pitchFamily="18" charset="0"/>
                              </a:rPr>
                            </m:ctrlPr>
                          </m:dPr>
                          <m:e>
                            <m:r>
                              <a:rPr lang="en-US" b="0" i="1" smtClean="0">
                                <a:solidFill>
                                  <a:srgbClr val="FFC000"/>
                                </a:solidFill>
                                <a:latin typeface="Cambria Math" panose="02040503050406030204" pitchFamily="18" charset="0"/>
                              </a:rPr>
                              <m:t>9, </m:t>
                            </m:r>
                            <m:r>
                              <a:rPr lang="en-US" b="0" i="1" smtClean="0">
                                <a:solidFill>
                                  <a:srgbClr val="FFC000"/>
                                </a:solidFill>
                                <a:latin typeface="Cambria Math" panose="02040503050406030204" pitchFamily="18" charset="0"/>
                              </a:rPr>
                              <m:t>2</m:t>
                            </m:r>
                          </m:e>
                        </m:d>
                        <m:r>
                          <a:rPr lang="en-US" b="0" i="1" smtClean="0">
                            <a:latin typeface="Cambria Math" panose="02040503050406030204" pitchFamily="18" charset="0"/>
                          </a:rPr>
                          <m:t>, </m:t>
                        </m:r>
                        <m:d>
                          <m:dPr>
                            <m:ctrlPr>
                              <a:rPr lang="en-US" b="0"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1, 6</m:t>
                            </m:r>
                          </m:e>
                        </m:d>
                      </m:e>
                    </m:d>
                  </m:oMath>
                </a14:m>
                <a:endParaRPr lang="en-US" dirty="0"/>
              </a:p>
              <a:p>
                <a:pPr marL="0" indent="0">
                  <a:buNone/>
                </a:pPr>
                <a:r>
                  <a:rPr lang="en-US" dirty="0"/>
                  <a:t>2:</a:t>
                </a:r>
                <a14:m>
                  <m:oMath xmlns:m="http://schemas.openxmlformats.org/officeDocument/2006/math">
                    <m:d>
                      <m:dPr>
                        <m:begChr m:val="{"/>
                        <m:endChr m:val="}"/>
                        <m:ctrlPr>
                          <a:rPr lang="en-US" i="1" smtClean="0">
                            <a:latin typeface="Cambria Math" panose="02040503050406030204" pitchFamily="18" charset="0"/>
                          </a:rPr>
                        </m:ctrlPr>
                      </m:dPr>
                      <m:e>
                        <m:d>
                          <m:dPr>
                            <m:ctrlPr>
                              <a:rPr lang="en-US" i="1" smtClean="0">
                                <a:solidFill>
                                  <a:srgbClr val="7030A0"/>
                                </a:solidFill>
                                <a:latin typeface="Cambria Math" panose="02040503050406030204" pitchFamily="18" charset="0"/>
                              </a:rPr>
                            </m:ctrlPr>
                          </m:dPr>
                          <m:e>
                            <m:r>
                              <a:rPr lang="en-US" i="1">
                                <a:solidFill>
                                  <a:srgbClr val="7030A0"/>
                                </a:solidFill>
                                <a:latin typeface="Cambria Math" panose="02040503050406030204" pitchFamily="18" charset="0"/>
                              </a:rPr>
                              <m:t>1, 6</m:t>
                            </m:r>
                          </m:e>
                        </m:d>
                        <m:r>
                          <a:rPr lang="en-US" b="0" i="1" smtClean="0">
                            <a:latin typeface="Cambria Math" panose="02040503050406030204" pitchFamily="18" charset="0"/>
                          </a:rPr>
                          <m:t>,</m:t>
                        </m:r>
                        <m:d>
                          <m:dPr>
                            <m:ctrlPr>
                              <a:rPr lang="en-US" i="1" smtClean="0">
                                <a:solidFill>
                                  <a:srgbClr val="92D050"/>
                                </a:solidFill>
                                <a:latin typeface="Cambria Math" panose="02040503050406030204" pitchFamily="18" charset="0"/>
                              </a:rPr>
                            </m:ctrlPr>
                          </m:dPr>
                          <m:e>
                            <m:r>
                              <a:rPr lang="en-US" i="1">
                                <a:solidFill>
                                  <a:srgbClr val="92D050"/>
                                </a:solidFill>
                                <a:latin typeface="Cambria Math" panose="02040503050406030204" pitchFamily="18" charset="0"/>
                              </a:rPr>
                              <m:t>3, 7</m:t>
                            </m:r>
                          </m:e>
                        </m:d>
                        <m:r>
                          <a:rPr lang="en-US" i="1">
                            <a:latin typeface="Cambria Math" panose="02040503050406030204" pitchFamily="18" charset="0"/>
                          </a:rPr>
                          <m:t>,</m:t>
                        </m:r>
                        <m:d>
                          <m:dPr>
                            <m:ctrlPr>
                              <a:rPr lang="en-US" i="1" smtClean="0">
                                <a:solidFill>
                                  <a:srgbClr val="FFC000"/>
                                </a:solidFill>
                                <a:latin typeface="Cambria Math" panose="02040503050406030204" pitchFamily="18" charset="0"/>
                              </a:rPr>
                            </m:ctrlPr>
                          </m:dPr>
                          <m:e>
                            <m:r>
                              <a:rPr lang="en-US" i="1">
                                <a:solidFill>
                                  <a:srgbClr val="FFC000"/>
                                </a:solidFill>
                                <a:latin typeface="Cambria Math" panose="02040503050406030204" pitchFamily="18" charset="0"/>
                              </a:rPr>
                              <m:t>9, </m:t>
                            </m:r>
                            <m:r>
                              <a:rPr lang="en-US" b="0" i="1" smtClean="0">
                                <a:solidFill>
                                  <a:srgbClr val="FFC000"/>
                                </a:solidFill>
                                <a:latin typeface="Cambria Math" panose="02040503050406030204" pitchFamily="18" charset="0"/>
                              </a:rPr>
                              <m:t>2</m:t>
                            </m:r>
                          </m:e>
                        </m:d>
                        <m:r>
                          <a:rPr lang="en-US" b="0" i="1" smtClean="0">
                            <a:latin typeface="Cambria Math" panose="02040503050406030204" pitchFamily="18" charset="0"/>
                          </a:rPr>
                          <m:t>,</m:t>
                        </m:r>
                        <m:d>
                          <m:dPr>
                            <m:ctrlPr>
                              <a:rPr lang="en-US" i="1" smtClean="0">
                                <a:solidFill>
                                  <a:srgbClr val="92D050"/>
                                </a:solidFill>
                                <a:latin typeface="Cambria Math" panose="02040503050406030204" pitchFamily="18" charset="0"/>
                              </a:rPr>
                            </m:ctrlPr>
                          </m:dPr>
                          <m:e>
                            <m:r>
                              <a:rPr lang="en-US" i="1">
                                <a:solidFill>
                                  <a:srgbClr val="92D050"/>
                                </a:solidFill>
                                <a:latin typeface="Cambria Math" panose="02040503050406030204" pitchFamily="18" charset="0"/>
                              </a:rPr>
                              <m:t>3, 7</m:t>
                            </m:r>
                          </m:e>
                        </m:d>
                        <m:r>
                          <a:rPr lang="en-US" i="1">
                            <a:latin typeface="Cambria Math" panose="02040503050406030204" pitchFamily="18" charset="0"/>
                          </a:rPr>
                          <m:t>,</m:t>
                        </m:r>
                        <m:d>
                          <m:dPr>
                            <m:ctrlPr>
                              <a:rPr lang="en-US" i="1" smtClean="0">
                                <a:solidFill>
                                  <a:srgbClr val="92D050"/>
                                </a:solidFill>
                                <a:latin typeface="Cambria Math" panose="02040503050406030204" pitchFamily="18" charset="0"/>
                              </a:rPr>
                            </m:ctrlPr>
                          </m:dPr>
                          <m:e>
                            <m:r>
                              <a:rPr lang="en-US" i="1">
                                <a:solidFill>
                                  <a:srgbClr val="92D050"/>
                                </a:solidFill>
                                <a:latin typeface="Cambria Math" panose="02040503050406030204" pitchFamily="18" charset="0"/>
                              </a:rPr>
                              <m:t>3, 7</m:t>
                            </m:r>
                          </m:e>
                        </m:d>
                      </m:e>
                    </m:d>
                  </m:oMath>
                </a14:m>
                <a:endParaRPr lang="en-US" dirty="0"/>
              </a:p>
              <a:p>
                <a:pPr marL="0" indent="0">
                  <a:buNone/>
                </a:pPr>
                <a:r>
                  <a:rPr lang="en-US" dirty="0"/>
                  <a:t>3:</a:t>
                </a:r>
                <a14:m>
                  <m:oMath xmlns:m="http://schemas.openxmlformats.org/officeDocument/2006/math">
                    <m:d>
                      <m:dPr>
                        <m:begChr m:val="{"/>
                        <m:endChr m:val="}"/>
                        <m:ctrlPr>
                          <a:rPr lang="en-US" i="1" smtClean="0">
                            <a:latin typeface="Cambria Math" panose="02040503050406030204" pitchFamily="18" charset="0"/>
                          </a:rPr>
                        </m:ctrlPr>
                      </m:dPr>
                      <m:e>
                        <m:d>
                          <m:dPr>
                            <m:ctrlPr>
                              <a:rPr lang="en-US" i="1" smtClean="0">
                                <a:solidFill>
                                  <a:srgbClr val="0070C0"/>
                                </a:solidFill>
                                <a:latin typeface="Cambria Math" panose="02040503050406030204" pitchFamily="18" charset="0"/>
                              </a:rPr>
                            </m:ctrlPr>
                          </m:dPr>
                          <m:e>
                            <m:r>
                              <a:rPr lang="en-US" i="1">
                                <a:solidFill>
                                  <a:srgbClr val="0070C0"/>
                                </a:solidFill>
                                <a:latin typeface="Cambria Math" panose="02040503050406030204" pitchFamily="18" charset="0"/>
                              </a:rPr>
                              <m:t>9, 7</m:t>
                            </m:r>
                          </m:e>
                        </m:d>
                        <m:r>
                          <a:rPr lang="en-US" b="0" i="1" smtClean="0">
                            <a:latin typeface="Cambria Math" panose="02040503050406030204" pitchFamily="18" charset="0"/>
                          </a:rPr>
                          <m:t>,</m:t>
                        </m:r>
                        <m:d>
                          <m:dPr>
                            <m:ctrlPr>
                              <a:rPr lang="en-US" i="1" smtClean="0">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2, 8</m:t>
                            </m:r>
                          </m:e>
                        </m:d>
                        <m:r>
                          <a:rPr lang="en-US" i="1">
                            <a:latin typeface="Cambria Math" panose="02040503050406030204" pitchFamily="18" charset="0"/>
                          </a:rPr>
                          <m:t>,</m:t>
                        </m:r>
                        <m:d>
                          <m:dPr>
                            <m:ctrlPr>
                              <a:rPr lang="en-US" i="1" smtClean="0">
                                <a:solidFill>
                                  <a:srgbClr val="92D050"/>
                                </a:solidFill>
                                <a:latin typeface="Cambria Math" panose="02040503050406030204" pitchFamily="18" charset="0"/>
                              </a:rPr>
                            </m:ctrlPr>
                          </m:dPr>
                          <m:e>
                            <m:r>
                              <a:rPr lang="en-US" b="0" i="1" smtClean="0">
                                <a:solidFill>
                                  <a:srgbClr val="92D050"/>
                                </a:solidFill>
                                <a:latin typeface="Cambria Math" panose="02040503050406030204" pitchFamily="18" charset="0"/>
                              </a:rPr>
                              <m:t>3,</m:t>
                            </m:r>
                            <m:r>
                              <a:rPr lang="en-US" i="1">
                                <a:solidFill>
                                  <a:srgbClr val="92D050"/>
                                </a:solidFill>
                                <a:latin typeface="Cambria Math" panose="02040503050406030204" pitchFamily="18" charset="0"/>
                              </a:rPr>
                              <m:t> </m:t>
                            </m:r>
                            <m:r>
                              <a:rPr lang="en-US" b="0" i="1" smtClean="0">
                                <a:solidFill>
                                  <a:srgbClr val="92D050"/>
                                </a:solidFill>
                                <a:latin typeface="Cambria Math" panose="02040503050406030204" pitchFamily="18" charset="0"/>
                              </a:rPr>
                              <m:t>7</m:t>
                            </m:r>
                          </m:e>
                        </m:d>
                        <m:r>
                          <a:rPr lang="en-US" b="0" i="1" smtClean="0">
                            <a:latin typeface="Cambria Math" panose="02040503050406030204" pitchFamily="18" charset="0"/>
                          </a:rPr>
                          <m:t>,</m:t>
                        </m:r>
                        <m:d>
                          <m:dPr>
                            <m:ctrlPr>
                              <a:rPr lang="en-US"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6</m:t>
                            </m:r>
                            <m:r>
                              <a:rPr lang="en-US" i="1">
                                <a:solidFill>
                                  <a:srgbClr val="7030A0"/>
                                </a:solidFill>
                                <a:latin typeface="Cambria Math" panose="02040503050406030204" pitchFamily="18" charset="0"/>
                              </a:rPr>
                              <m:t>, </m:t>
                            </m:r>
                            <m:r>
                              <a:rPr lang="en-US" b="0" i="1" smtClean="0">
                                <a:solidFill>
                                  <a:srgbClr val="7030A0"/>
                                </a:solidFill>
                                <a:latin typeface="Cambria Math" panose="02040503050406030204" pitchFamily="18" charset="0"/>
                              </a:rPr>
                              <m:t>1</m:t>
                            </m:r>
                          </m:e>
                        </m:d>
                        <m:r>
                          <a:rPr lang="en-US" i="1">
                            <a:latin typeface="Cambria Math" panose="02040503050406030204" pitchFamily="18" charset="0"/>
                          </a:rPr>
                          <m:t>,</m:t>
                        </m:r>
                        <m:d>
                          <m:dPr>
                            <m:ctrlPr>
                              <a:rPr lang="en-US" i="1" smtClean="0">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2, 8</m:t>
                            </m:r>
                          </m:e>
                        </m:d>
                      </m:e>
                    </m:d>
                  </m:oMath>
                </a14:m>
                <a:endParaRPr lang="en-US" dirty="0"/>
              </a:p>
              <a:p>
                <a:pPr marL="0" indent="0">
                  <a:buNone/>
                </a:pPr>
                <a:r>
                  <a:rPr lang="en-US" dirty="0"/>
                  <a:t>4:</a:t>
                </a:r>
                <a14:m>
                  <m:oMath xmlns:m="http://schemas.openxmlformats.org/officeDocument/2006/math">
                    <m:d>
                      <m:dPr>
                        <m:begChr m:val="{"/>
                        <m:endChr m:val="}"/>
                        <m:ctrlPr>
                          <a:rPr lang="en-US" i="1" smtClean="0">
                            <a:latin typeface="Cambria Math" panose="02040503050406030204" pitchFamily="18" charset="0"/>
                          </a:rPr>
                        </m:ctrlPr>
                      </m:dPr>
                      <m:e>
                        <m:d>
                          <m:dPr>
                            <m:ctrlPr>
                              <a:rPr lang="en-US"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2, 8</m:t>
                            </m:r>
                          </m:e>
                        </m:d>
                        <m:r>
                          <a:rPr lang="en-US" b="0" i="1" smtClean="0">
                            <a:latin typeface="Cambria Math" panose="02040503050406030204" pitchFamily="18" charset="0"/>
                          </a:rPr>
                          <m:t>,</m:t>
                        </m:r>
                        <m:d>
                          <m:dPr>
                            <m:ctrlPr>
                              <a:rPr lang="en-US"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1, 6</m:t>
                            </m:r>
                          </m:e>
                        </m:d>
                        <m:r>
                          <a:rPr lang="en-US" i="1">
                            <a:latin typeface="Cambria Math" panose="02040503050406030204" pitchFamily="18" charset="0"/>
                          </a:rPr>
                          <m:t>,</m:t>
                        </m:r>
                        <m:d>
                          <m:dPr>
                            <m:ctrlPr>
                              <a:rPr lang="en-US" i="1" smtClean="0">
                                <a:solidFill>
                                  <a:srgbClr val="92D050"/>
                                </a:solidFill>
                                <a:latin typeface="Cambria Math" panose="02040503050406030204" pitchFamily="18" charset="0"/>
                              </a:rPr>
                            </m:ctrlPr>
                          </m:dPr>
                          <m:e>
                            <m:r>
                              <a:rPr lang="en-US" i="1" smtClean="0">
                                <a:solidFill>
                                  <a:srgbClr val="92D050"/>
                                </a:solidFill>
                                <a:latin typeface="Cambria Math" panose="02040503050406030204" pitchFamily="18" charset="0"/>
                              </a:rPr>
                              <m:t>3</m:t>
                            </m:r>
                            <m:r>
                              <a:rPr lang="en-US" b="0" i="1" smtClean="0">
                                <a:solidFill>
                                  <a:srgbClr val="92D050"/>
                                </a:solidFill>
                                <a:latin typeface="Cambria Math" panose="02040503050406030204" pitchFamily="18" charset="0"/>
                              </a:rPr>
                              <m:t>, 7</m:t>
                            </m:r>
                          </m:e>
                        </m:d>
                        <m:r>
                          <a:rPr lang="en-US" b="0" i="1" smtClean="0">
                            <a:latin typeface="Cambria Math" panose="02040503050406030204" pitchFamily="18" charset="0"/>
                          </a:rPr>
                          <m:t>,</m:t>
                        </m:r>
                        <m:d>
                          <m:dPr>
                            <m:ctrlPr>
                              <a:rPr lang="en-US"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9</m:t>
                            </m:r>
                            <m:r>
                              <a:rPr lang="en-US" i="1">
                                <a:solidFill>
                                  <a:srgbClr val="0070C0"/>
                                </a:solidFill>
                                <a:latin typeface="Cambria Math" panose="02040503050406030204" pitchFamily="18" charset="0"/>
                              </a:rPr>
                              <m:t>, 7</m:t>
                            </m:r>
                          </m:e>
                        </m:d>
                        <m:r>
                          <a:rPr lang="en-US" i="1">
                            <a:latin typeface="Cambria Math" panose="02040503050406030204" pitchFamily="18" charset="0"/>
                          </a:rPr>
                          <m:t>,</m:t>
                        </m:r>
                        <m:d>
                          <m:dPr>
                            <m:ctrlPr>
                              <a:rPr lang="en-US"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2, 8</m:t>
                            </m:r>
                          </m:e>
                        </m:d>
                      </m:e>
                    </m:d>
                  </m:oMath>
                </a14:m>
                <a:endParaRPr lang="en-US" dirty="0"/>
              </a:p>
              <a:p>
                <a:pPr marL="0" indent="0">
                  <a:buNone/>
                </a:pPr>
                <a:r>
                  <a:rPr lang="en-US" dirty="0"/>
                  <a:t>5:</a:t>
                </a:r>
                <a14:m>
                  <m:oMath xmlns:m="http://schemas.openxmlformats.org/officeDocument/2006/math">
                    <m:d>
                      <m:dPr>
                        <m:begChr m:val="{"/>
                        <m:endChr m:val="}"/>
                        <m:ctrlPr>
                          <a:rPr lang="en-US" i="1" smtClean="0">
                            <a:latin typeface="Cambria Math" panose="02040503050406030204" pitchFamily="18" charset="0"/>
                          </a:rPr>
                        </m:ctrlPr>
                      </m:dPr>
                      <m:e>
                        <m:d>
                          <m:dPr>
                            <m:ctrlPr>
                              <a:rPr lang="en-US" i="1" smtClean="0">
                                <a:solidFill>
                                  <a:srgbClr val="7030A0"/>
                                </a:solidFill>
                                <a:latin typeface="Cambria Math" panose="02040503050406030204" pitchFamily="18" charset="0"/>
                              </a:rPr>
                            </m:ctrlPr>
                          </m:dPr>
                          <m:e>
                            <m:r>
                              <a:rPr lang="en-US" i="1">
                                <a:solidFill>
                                  <a:srgbClr val="7030A0"/>
                                </a:solidFill>
                                <a:latin typeface="Cambria Math" panose="02040503050406030204" pitchFamily="18" charset="0"/>
                              </a:rPr>
                              <m:t>1, 6</m:t>
                            </m:r>
                          </m:e>
                        </m:d>
                        <m:r>
                          <a:rPr lang="en-US" b="0" i="1" smtClean="0">
                            <a:latin typeface="Cambria Math" panose="02040503050406030204" pitchFamily="18" charset="0"/>
                          </a:rPr>
                          <m:t>,</m:t>
                        </m:r>
                        <m:d>
                          <m:dPr>
                            <m:ctrlPr>
                              <a:rPr lang="en-US" i="1" smtClean="0">
                                <a:solidFill>
                                  <a:srgbClr val="92D050"/>
                                </a:solidFill>
                                <a:latin typeface="Cambria Math" panose="02040503050406030204" pitchFamily="18" charset="0"/>
                              </a:rPr>
                            </m:ctrlPr>
                          </m:dPr>
                          <m:e>
                            <m:r>
                              <a:rPr lang="en-US" i="1">
                                <a:solidFill>
                                  <a:srgbClr val="92D050"/>
                                </a:solidFill>
                                <a:latin typeface="Cambria Math" panose="02040503050406030204" pitchFamily="18" charset="0"/>
                              </a:rPr>
                              <m:t>3, 7</m:t>
                            </m:r>
                          </m:e>
                        </m:d>
                        <m:r>
                          <a:rPr lang="en-US" i="1">
                            <a:latin typeface="Cambria Math" panose="02040503050406030204" pitchFamily="18" charset="0"/>
                          </a:rPr>
                          <m:t>,</m:t>
                        </m:r>
                        <m:d>
                          <m:dPr>
                            <m:ctrlPr>
                              <a:rPr lang="en-US" i="1" smtClean="0">
                                <a:solidFill>
                                  <a:srgbClr val="FFC000"/>
                                </a:solidFill>
                                <a:latin typeface="Cambria Math" panose="02040503050406030204" pitchFamily="18" charset="0"/>
                              </a:rPr>
                            </m:ctrlPr>
                          </m:dPr>
                          <m:e>
                            <m:r>
                              <a:rPr lang="en-US" i="1">
                                <a:solidFill>
                                  <a:srgbClr val="FFC000"/>
                                </a:solidFill>
                                <a:latin typeface="Cambria Math" panose="02040503050406030204" pitchFamily="18" charset="0"/>
                              </a:rPr>
                              <m:t>9, </m:t>
                            </m:r>
                            <m:r>
                              <a:rPr lang="en-US" b="0" i="1" smtClean="0">
                                <a:solidFill>
                                  <a:srgbClr val="FFC000"/>
                                </a:solidFill>
                                <a:latin typeface="Cambria Math" panose="02040503050406030204" pitchFamily="18" charset="0"/>
                              </a:rPr>
                              <m:t>2</m:t>
                            </m:r>
                          </m:e>
                        </m:d>
                        <m:r>
                          <a:rPr lang="en-US" b="0" i="1" smtClean="0">
                            <a:latin typeface="Cambria Math" panose="02040503050406030204" pitchFamily="18" charset="0"/>
                          </a:rPr>
                          <m:t>,</m:t>
                        </m:r>
                        <m:d>
                          <m:dPr>
                            <m:ctrlPr>
                              <a:rPr lang="en-US"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2, 8</m:t>
                            </m:r>
                          </m:e>
                        </m:d>
                        <m:r>
                          <a:rPr lang="en-US" i="1">
                            <a:latin typeface="Cambria Math" panose="02040503050406030204" pitchFamily="18" charset="0"/>
                          </a:rPr>
                          <m:t>,</m:t>
                        </m:r>
                        <m:d>
                          <m:dPr>
                            <m:ctrlPr>
                              <a:rPr lang="en-US"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2, 8</m:t>
                            </m:r>
                          </m:e>
                        </m:d>
                      </m:e>
                    </m:d>
                  </m:oMath>
                </a14:m>
                <a:endParaRPr lang="en-US" dirty="0"/>
              </a:p>
              <a:p>
                <a:pPr marL="0" indent="0">
                  <a:buNone/>
                </a:pPr>
                <a:endParaRPr lang="en-US" dirty="0"/>
              </a:p>
              <a:p>
                <a:pPr marL="0" indent="0">
                  <a:buNone/>
                </a:pPr>
                <a:endParaRPr lang="en-US" dirty="0"/>
              </a:p>
            </p:txBody>
          </p:sp>
        </mc:Choice>
        <mc:Fallback>
          <p:sp>
            <p:nvSpPr>
              <p:cNvPr id="4" name="Content Placeholder 3">
                <a:extLst>
                  <a:ext uri="{FF2B5EF4-FFF2-40B4-BE49-F238E27FC236}">
                    <a16:creationId xmlns:a16="http://schemas.microsoft.com/office/drawing/2014/main" id="{A420F167-6AE7-4EFF-E1AC-13A12A353552}"/>
                  </a:ext>
                </a:extLst>
              </p:cNvPr>
              <p:cNvSpPr>
                <a:spLocks noGrp="1" noRot="1" noChangeAspect="1" noMove="1" noResize="1" noEditPoints="1" noAdjustHandles="1" noChangeArrowheads="1" noChangeShapeType="1" noTextEdit="1"/>
              </p:cNvSpPr>
              <p:nvPr>
                <p:ph sz="half" idx="2"/>
              </p:nvPr>
            </p:nvSpPr>
            <p:spPr>
              <a:blipFill>
                <a:blip r:embed="rId3"/>
                <a:stretch>
                  <a:fillRect l="-2640" t="-3307"/>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38D40723-192D-3EB8-0B1E-A2215463EB90}"/>
              </a:ext>
            </a:extLst>
          </p:cNvPr>
          <p:cNvSpPr>
            <a:spLocks noGrp="1"/>
          </p:cNvSpPr>
          <p:nvPr>
            <p:ph type="title"/>
          </p:nvPr>
        </p:nvSpPr>
        <p:spPr/>
        <p:txBody>
          <a:bodyPr/>
          <a:lstStyle/>
          <a:p>
            <a:r>
              <a:rPr lang="en-US" dirty="0"/>
              <a:t>Estimating Expected Prediction Error</a:t>
            </a:r>
          </a:p>
        </p:txBody>
      </p:sp>
    </p:spTree>
    <p:extLst>
      <p:ext uri="{BB962C8B-B14F-4D97-AF65-F5344CB8AC3E}">
        <p14:creationId xmlns:p14="http://schemas.microsoft.com/office/powerpoint/2010/main" val="2289989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40723-192D-3EB8-0B1E-A2215463EB90}"/>
              </a:ext>
            </a:extLst>
          </p:cNvPr>
          <p:cNvSpPr>
            <a:spLocks noGrp="1"/>
          </p:cNvSpPr>
          <p:nvPr>
            <p:ph type="title"/>
          </p:nvPr>
        </p:nvSpPr>
        <p:spPr/>
        <p:txBody>
          <a:bodyPr/>
          <a:lstStyle/>
          <a:p>
            <a:r>
              <a:rPr lang="en-US" dirty="0"/>
              <a:t>0.632 Estimator</a:t>
            </a:r>
          </a:p>
        </p:txBody>
      </p:sp>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33FD80DB-805B-097A-F1EA-E746E7BB700E}"/>
                  </a:ext>
                </a:extLst>
              </p:cNvPr>
              <p:cNvSpPr>
                <a:spLocks noGrp="1"/>
              </p:cNvSpPr>
              <p:nvPr>
                <p:ph idx="1"/>
              </p:nvPr>
            </p:nvSpPr>
            <p:spPr/>
            <p:txBody>
              <a:bodyPr/>
              <a:lstStyle/>
              <a:p>
                <a:r>
                  <a:rPr lang="en-US" dirty="0"/>
                  <a:t>Unfortunately, this estimation has been shown to be biased upwards. </a:t>
                </a:r>
              </a:p>
              <a:p>
                <a:r>
                  <a:rPr lang="en-US" dirty="0"/>
                  <a:t>To alleviate this, we combine this error with the training error of the estimated model </a:t>
                </a:r>
                <a14:m>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𝑓</m:t>
                        </m:r>
                      </m:e>
                    </m:acc>
                  </m:oMath>
                </a14:m>
                <a:r>
                  <a:rPr lang="en-US" dirty="0"/>
                  <a:t>.</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acc>
                            <m:accPr>
                              <m:chr m:val="̂"/>
                              <m:ctrlPr>
                                <a:rPr lang="en-US" i="1">
                                  <a:latin typeface="Cambria Math" panose="02040503050406030204" pitchFamily="18" charset="0"/>
                                </a:rPr>
                              </m:ctrlPr>
                            </m:accPr>
                            <m:e>
                              <m:r>
                                <m:rPr>
                                  <m:sty m:val="p"/>
                                </m:rPr>
                                <a:rPr lang="en-US">
                                  <a:latin typeface="Cambria Math" panose="02040503050406030204" pitchFamily="18" charset="0"/>
                                </a:rPr>
                                <m:t>Err</m:t>
                              </m:r>
                            </m:e>
                          </m:acc>
                        </m:e>
                        <m:sup>
                          <m:r>
                            <a:rPr lang="en-US" b="0" i="1" smtClean="0">
                              <a:latin typeface="Cambria Math" panose="02040503050406030204" pitchFamily="18" charset="0"/>
                            </a:rPr>
                            <m:t>(.632)</m:t>
                          </m:r>
                        </m:sup>
                      </m:sSup>
                      <m:r>
                        <a:rPr lang="en-US" b="0" i="1" smtClean="0">
                          <a:latin typeface="Cambria Math" panose="02040503050406030204" pitchFamily="18" charset="0"/>
                        </a:rPr>
                        <m:t>=0.632∗</m:t>
                      </m:r>
                      <m:acc>
                        <m:accPr>
                          <m:chr m:val="̂"/>
                          <m:ctrlPr>
                            <a:rPr lang="en-US" i="1">
                              <a:latin typeface="Cambria Math" panose="02040503050406030204" pitchFamily="18" charset="0"/>
                            </a:rPr>
                          </m:ctrlPr>
                        </m:accPr>
                        <m:e>
                          <m:r>
                            <m:rPr>
                              <m:sty m:val="p"/>
                            </m:rPr>
                            <a:rPr lang="en-US">
                              <a:latin typeface="Cambria Math" panose="02040503050406030204" pitchFamily="18" charset="0"/>
                            </a:rPr>
                            <m:t>Err</m:t>
                          </m:r>
                        </m:e>
                      </m:acc>
                      <m:r>
                        <a:rPr lang="en-US" b="0" i="1" smtClean="0">
                          <a:latin typeface="Cambria Math" panose="02040503050406030204" pitchFamily="18" charset="0"/>
                        </a:rPr>
                        <m:t>+0.368∗</m:t>
                      </m:r>
                      <m:acc>
                        <m:accPr>
                          <m:chr m:val="̅"/>
                          <m:ctrlPr>
                            <a:rPr lang="en-US" b="0" i="1" smtClean="0">
                              <a:latin typeface="Cambria Math" panose="02040503050406030204" pitchFamily="18" charset="0"/>
                            </a:rPr>
                          </m:ctrlPr>
                        </m:accPr>
                        <m:e>
                          <m:r>
                            <m:rPr>
                              <m:sty m:val="p"/>
                            </m:rPr>
                            <a:rPr lang="en-US" b="0" i="0" smtClean="0">
                              <a:latin typeface="Cambria Math" panose="02040503050406030204" pitchFamily="18" charset="0"/>
                            </a:rPr>
                            <m:t>err</m:t>
                          </m:r>
                        </m:e>
                      </m:acc>
                    </m:oMath>
                  </m:oMathPara>
                </a14:m>
                <a:endParaRPr lang="en-US" dirty="0"/>
              </a:p>
              <a:p>
                <a:pPr marL="0" indent="0">
                  <a:buNone/>
                </a:pPr>
                <a:r>
                  <a:rPr lang="en-US" dirty="0"/>
                  <a:t>where </a:t>
                </a:r>
                <a14:m>
                  <m:oMath xmlns:m="http://schemas.openxmlformats.org/officeDocument/2006/math">
                    <m:acc>
                      <m:accPr>
                        <m:chr m:val="̅"/>
                        <m:ctrlPr>
                          <a:rPr lang="en-US" b="0" i="1" smtClean="0">
                            <a:latin typeface="Cambria Math" panose="02040503050406030204" pitchFamily="18" charset="0"/>
                          </a:rPr>
                        </m:ctrlPr>
                      </m:accPr>
                      <m:e>
                        <m:r>
                          <m:rPr>
                            <m:sty m:val="p"/>
                          </m:rPr>
                          <a:rPr lang="en-US" b="0" i="0" smtClean="0">
                            <a:latin typeface="Cambria Math" panose="02040503050406030204" pitchFamily="18" charset="0"/>
                          </a:rPr>
                          <m:t>err</m:t>
                        </m:r>
                      </m:e>
                    </m:acc>
                  </m:oMath>
                </a14:m>
                <a:r>
                  <a:rPr lang="en-US" dirty="0"/>
                  <a:t> is the average training error of the dataset for the model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𝑓</m:t>
                        </m:r>
                      </m:e>
                    </m:acc>
                  </m:oMath>
                </a14:m>
                <a:r>
                  <a:rPr lang="en-US" dirty="0"/>
                  <a:t>. </a:t>
                </a:r>
              </a:p>
            </p:txBody>
          </p:sp>
        </mc:Choice>
        <mc:Fallback>
          <p:sp>
            <p:nvSpPr>
              <p:cNvPr id="7" name="Content Placeholder 6">
                <a:extLst>
                  <a:ext uri="{FF2B5EF4-FFF2-40B4-BE49-F238E27FC236}">
                    <a16:creationId xmlns:a16="http://schemas.microsoft.com/office/drawing/2014/main" id="{33FD80DB-805B-097A-F1EA-E746E7BB700E}"/>
                  </a:ext>
                </a:extLst>
              </p:cNvPr>
              <p:cNvSpPr>
                <a:spLocks noGrp="1" noRot="1" noChangeAspect="1" noMove="1" noResize="1" noEditPoints="1" noAdjustHandles="1" noChangeArrowheads="1" noChangeShapeType="1" noTextEdit="1"/>
              </p:cNvSpPr>
              <p:nvPr>
                <p:ph idx="1"/>
              </p:nvPr>
            </p:nvSpPr>
            <p:spPr>
              <a:blipFill>
                <a:blip r:embed="rId2"/>
                <a:stretch>
                  <a:fillRect l="-1341" t="-1657" r="-552"/>
                </a:stretch>
              </a:blipFill>
            </p:spPr>
            <p:txBody>
              <a:bodyPr/>
              <a:lstStyle/>
              <a:p>
                <a:r>
                  <a:rPr lang="en-US">
                    <a:noFill/>
                  </a:rPr>
                  <a:t> </a:t>
                </a:r>
              </a:p>
            </p:txBody>
          </p:sp>
        </mc:Fallback>
      </mc:AlternateContent>
    </p:spTree>
    <p:extLst>
      <p:ext uri="{BB962C8B-B14F-4D97-AF65-F5344CB8AC3E}">
        <p14:creationId xmlns:p14="http://schemas.microsoft.com/office/powerpoint/2010/main" val="3008159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40723-192D-3EB8-0B1E-A2215463EB90}"/>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789E1FF-60C6-FC18-0E3A-403B67A61FAD}"/>
              </a:ext>
            </a:extLst>
          </p:cNvPr>
          <p:cNvSpPr>
            <a:spLocks noGrp="1"/>
          </p:cNvSpPr>
          <p:nvPr>
            <p:ph idx="1"/>
          </p:nvPr>
        </p:nvSpPr>
        <p:spPr/>
        <p:txBody>
          <a:bodyPr/>
          <a:lstStyle/>
          <a:p>
            <a:r>
              <a:rPr lang="en-US" dirty="0"/>
              <a:t>Bootstrapping is a technique where one samples the dataset with replacement to constructed Monte-Carlo-type estimates for almost anything related to the model. </a:t>
            </a:r>
          </a:p>
          <a:p>
            <a:r>
              <a:rPr lang="en-US" dirty="0"/>
              <a:t>This is ideal for datasets too small to allow for a testing set. </a:t>
            </a:r>
          </a:p>
          <a:p>
            <a:r>
              <a:rPr lang="en-US" dirty="0"/>
              <a:t>The expected prediction error can be estimated; however, it has been shown to have bias. </a:t>
            </a:r>
          </a:p>
          <a:p>
            <a:r>
              <a:rPr lang="en-US" dirty="0"/>
              <a:t>We often use the “0.632 estimator” to better EPE estimate.</a:t>
            </a:r>
          </a:p>
        </p:txBody>
      </p:sp>
    </p:spTree>
    <p:extLst>
      <p:ext uri="{BB962C8B-B14F-4D97-AF65-F5344CB8AC3E}">
        <p14:creationId xmlns:p14="http://schemas.microsoft.com/office/powerpoint/2010/main" val="34393738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6" ma:contentTypeDescription="Create a new document." ma:contentTypeScope="" ma:versionID="81a54cd395f61cfc29bb41b0389d7858">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db123aac500611cfff64836afef3716"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Props1.xml><?xml version="1.0" encoding="utf-8"?>
<ds:datastoreItem xmlns:ds="http://schemas.openxmlformats.org/officeDocument/2006/customXml" ds:itemID="{D8C03C32-9960-470F-89FB-7C6EFC7B8613}"/>
</file>

<file path=customXml/itemProps2.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3.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docProps/app.xml><?xml version="1.0" encoding="utf-8"?>
<Properties xmlns="http://schemas.openxmlformats.org/officeDocument/2006/extended-properties" xmlns:vt="http://schemas.openxmlformats.org/officeDocument/2006/docPropsVTypes">
  <Template/>
  <TotalTime>11355</TotalTime>
  <Words>628</Words>
  <Application>Microsoft Macintosh PowerPoint</Application>
  <PresentationFormat>Custom</PresentationFormat>
  <Paragraphs>69</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 Math</vt:lpstr>
      <vt:lpstr>Wingdings 2</vt:lpstr>
      <vt:lpstr>Breeze</vt:lpstr>
      <vt:lpstr>Math 769: Statistical Learning</vt:lpstr>
      <vt:lpstr>Bootstrapping</vt:lpstr>
      <vt:lpstr>Last Time</vt:lpstr>
      <vt:lpstr>Objectives</vt:lpstr>
      <vt:lpstr>Purpose of Bootstrapping</vt:lpstr>
      <vt:lpstr>Bootstrapped Samples</vt:lpstr>
      <vt:lpstr>Using the Bootstrapped Samples</vt:lpstr>
      <vt:lpstr>Example: Estimating Parameter Variance</vt:lpstr>
      <vt:lpstr>This technique can be thought of as a  Monte-Carlo estimate under sampling from an empirical distribution.</vt:lpstr>
      <vt:lpstr>Estimating Expected Prediction Error</vt:lpstr>
      <vt:lpstr>Estimating Expected Prediction Error</vt:lpstr>
      <vt:lpstr>Estimating Expected Prediction Error</vt:lpstr>
      <vt:lpstr>0.632 Estimator</vt:lpstr>
      <vt:lpstr>Conclusion</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Jamshidi, Sara (She/Her/Hers)</cp:lastModifiedBy>
  <cp:revision>56</cp:revision>
  <dcterms:created xsi:type="dcterms:W3CDTF">2019-02-13T16:04:21Z</dcterms:created>
  <dcterms:modified xsi:type="dcterms:W3CDTF">2023-12-05T08:51:11Z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SIP_Label_f2dee603-0001-4639-81f8-0608a53322f1_Enabled">
    <vt:lpwstr>true</vt:lpwstr>
  </property>
  <property fmtid="{D5CDD505-2E9C-101B-9397-08002B2CF9AE}" pid="4" name="MSIP_Label_f2dee603-0001-4639-81f8-0608a53322f1_SetDate">
    <vt:lpwstr>2023-11-13T19:27:41Z</vt:lpwstr>
  </property>
  <property fmtid="{D5CDD505-2E9C-101B-9397-08002B2CF9AE}" pid="5" name="MSIP_Label_f2dee603-0001-4639-81f8-0608a53322f1_Method">
    <vt:lpwstr>Standard</vt:lpwstr>
  </property>
  <property fmtid="{D5CDD505-2E9C-101B-9397-08002B2CF9AE}" pid="6" name="MSIP_Label_f2dee603-0001-4639-81f8-0608a53322f1_Name">
    <vt:lpwstr>defa4170-0d19-0005-0004-bc88714345d2</vt:lpwstr>
  </property>
  <property fmtid="{D5CDD505-2E9C-101B-9397-08002B2CF9AE}" pid="7" name="MSIP_Label_f2dee603-0001-4639-81f8-0608a53322f1_SiteId">
    <vt:lpwstr>b4478c05-3dd9-4e06-a7fb-5dcf72bd44ee</vt:lpwstr>
  </property>
  <property fmtid="{D5CDD505-2E9C-101B-9397-08002B2CF9AE}" pid="8" name="MSIP_Label_f2dee603-0001-4639-81f8-0608a53322f1_ActionId">
    <vt:lpwstr>1b0daab6-fbab-47d6-a526-f1d5535b6116</vt:lpwstr>
  </property>
  <property fmtid="{D5CDD505-2E9C-101B-9397-08002B2CF9AE}" pid="9" name="MSIP_Label_f2dee603-0001-4639-81f8-0608a53322f1_ContentBits">
    <vt:lpwstr>0</vt:lpwstr>
  </property>
</Properties>
</file>