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8"/>
  </p:notesMasterIdLst>
  <p:sldIdLst>
    <p:sldId id="259" r:id="rId5"/>
    <p:sldId id="262" r:id="rId6"/>
    <p:sldId id="263" r:id="rId7"/>
    <p:sldId id="269" r:id="rId8"/>
    <p:sldId id="323" r:id="rId9"/>
    <p:sldId id="324" r:id="rId10"/>
    <p:sldId id="325" r:id="rId11"/>
    <p:sldId id="326" r:id="rId12"/>
    <p:sldId id="322" r:id="rId13"/>
    <p:sldId id="328" r:id="rId14"/>
    <p:sldId id="329" r:id="rId15"/>
    <p:sldId id="327" r:id="rId16"/>
    <p:sldId id="330" r:id="rId17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09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k-Fold Cross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defined VC dimension, a method of evaluating model complexity.</a:t>
            </a:r>
          </a:p>
          <a:p>
            <a:r>
              <a:rPr lang="en-US" altLang="en-US" dirty="0"/>
              <a:t>The VC dimension can be used to estimate prediction error using only the training error.</a:t>
            </a:r>
          </a:p>
          <a:p>
            <a:r>
              <a:rPr lang="en-US" altLang="en-US" dirty="0"/>
              <a:t>This is useful when working with datasets too small to allow for a testing set.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k-fold cross validation.</a:t>
            </a:r>
          </a:p>
          <a:p>
            <a:r>
              <a:rPr lang="en-US" altLang="en-US" dirty="0"/>
              <a:t>Compute an estimate for the expected prediction error using k-fold cross validation.</a:t>
            </a:r>
          </a:p>
          <a:p>
            <a:r>
              <a:rPr lang="en-US" altLang="en-US" dirty="0"/>
              <a:t>Discuss some considerations for picking the number of folds.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Purpose of Cross 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Cross validation is an alternative to the use of a testing set or the VC dimension for estimating predicting error. </a:t>
                </a:r>
              </a:p>
              <a:p>
                <a:r>
                  <a:rPr lang="en-US" altLang="en-US" dirty="0"/>
                  <a:t>It is a method for estimating the expected prediction error,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</m:t>
                    </m:r>
                  </m:oMath>
                </a14:m>
                <a:r>
                  <a:rPr lang="en-US" altLang="en-US" dirty="0"/>
                  <a:t>,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sub>
                    </m:sSub>
                  </m:oMath>
                </a14:m>
                <a:r>
                  <a:rPr lang="en-US" altLang="en-US" dirty="0"/>
                  <a:t>.</a:t>
                </a:r>
              </a:p>
              <a:p>
                <a:r>
                  <a:rPr lang="en-US" altLang="en-US" dirty="0"/>
                  <a:t>Recall: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Err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],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the average generalization error when the method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applied to an independent test sample from the joint distribution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en-US" dirty="0"/>
                  <a:t>.</a:t>
                </a:r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29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k-Fold Cross Validation Setup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Ideally, a dataset is large enough to allow for a testing set, where some proportion of samples are set aside for evaluation of the final model. </a:t>
            </a:r>
          </a:p>
          <a:p>
            <a:endParaRPr lang="en-US" altLang="en-US" dirty="0"/>
          </a:p>
          <a:p>
            <a:r>
              <a:rPr lang="en-US" altLang="en-US" dirty="0"/>
              <a:t>If the dataset is too small to allow this, k-fold cross validation involves randomly breaking up the dataset into k roughly </a:t>
            </a:r>
            <a:r>
              <a:rPr lang="en-US" altLang="en-US" dirty="0" err="1"/>
              <a:t>equa</a:t>
            </a:r>
            <a:r>
              <a:rPr lang="en-US" altLang="en-US" dirty="0"/>
              <a:t>-sized “folds”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053402-BC37-6C4F-EE20-50A62F082FFB}"/>
              </a:ext>
            </a:extLst>
          </p:cNvPr>
          <p:cNvGrpSpPr/>
          <p:nvPr/>
        </p:nvGrpSpPr>
        <p:grpSpPr>
          <a:xfrm>
            <a:off x="3754787" y="3969834"/>
            <a:ext cx="10772078" cy="691376"/>
            <a:chOff x="2341756" y="3657600"/>
            <a:chExt cx="10772078" cy="6913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C8513388-642E-230B-641E-3C1189B7544C}"/>
                    </a:ext>
                  </a:extLst>
                </p:cNvPr>
                <p:cNvSpPr/>
                <p:nvPr/>
              </p:nvSpPr>
              <p:spPr>
                <a:xfrm>
                  <a:off x="2341756" y="3657600"/>
                  <a:ext cx="7672039" cy="69137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36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Training</m:t>
                        </m:r>
                        <m:r>
                          <m:rPr>
                            <m:nor/>
                          </m:rPr>
                          <a:rPr lang="en-US" sz="3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(85%)</m:t>
                        </m:r>
                      </m:oMath>
                    </m:oMathPara>
                  </a14:m>
                  <a:endParaRPr lang="en-US" sz="3600" b="1" dirty="0"/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C8513388-642E-230B-641E-3C1189B754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756" y="3657600"/>
                  <a:ext cx="7672039" cy="691376"/>
                </a:xfrm>
                <a:prstGeom prst="rect">
                  <a:avLst/>
                </a:prstGeom>
                <a:blipFill>
                  <a:blip r:embed="rId2"/>
                  <a:stretch>
                    <a:fillRect b="-214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7411A35E-F640-F2FD-994B-F6BA4890141A}"/>
                    </a:ext>
                  </a:extLst>
                </p:cNvPr>
                <p:cNvSpPr/>
                <p:nvPr/>
              </p:nvSpPr>
              <p:spPr>
                <a:xfrm>
                  <a:off x="10013795" y="3657600"/>
                  <a:ext cx="3100039" cy="69137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𝐓𝐞𝐬𝐭</m:t>
                        </m:r>
                        <m:r>
                          <a:rPr lang="en-US" sz="3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3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US" sz="3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%)</m:t>
                        </m:r>
                      </m:oMath>
                    </m:oMathPara>
                  </a14:m>
                  <a:endParaRPr lang="en-US" sz="3600" b="1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7411A35E-F640-F2FD-994B-F6BA489014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3795" y="3657600"/>
                  <a:ext cx="3100039" cy="691376"/>
                </a:xfrm>
                <a:prstGeom prst="rect">
                  <a:avLst/>
                </a:prstGeom>
                <a:blipFill>
                  <a:blip r:embed="rId3"/>
                  <a:stretch>
                    <a:fillRect b="-214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B57245-2726-941C-8131-D021625FDCFE}"/>
              </a:ext>
            </a:extLst>
          </p:cNvPr>
          <p:cNvGrpSpPr/>
          <p:nvPr/>
        </p:nvGrpSpPr>
        <p:grpSpPr>
          <a:xfrm>
            <a:off x="2383188" y="7672029"/>
            <a:ext cx="13515276" cy="675428"/>
            <a:chOff x="2252548" y="7560522"/>
            <a:chExt cx="13515276" cy="6754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3DDA1A-B26C-DAED-083D-7785ACF13934}"/>
                </a:ext>
              </a:extLst>
            </p:cNvPr>
            <p:cNvSpPr/>
            <p:nvPr/>
          </p:nvSpPr>
          <p:spPr>
            <a:xfrm>
              <a:off x="2252548" y="7560527"/>
              <a:ext cx="2252546" cy="675423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C0B988-60B4-46D2-4890-68F19F5E34CF}"/>
                </a:ext>
              </a:extLst>
            </p:cNvPr>
            <p:cNvSpPr/>
            <p:nvPr/>
          </p:nvSpPr>
          <p:spPr>
            <a:xfrm>
              <a:off x="4505094" y="7560526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835967-2E1E-121D-E88F-06C3C02F2349}"/>
                </a:ext>
              </a:extLst>
            </p:cNvPr>
            <p:cNvSpPr/>
            <p:nvPr/>
          </p:nvSpPr>
          <p:spPr>
            <a:xfrm>
              <a:off x="6757640" y="7560525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B2E966-4131-D716-46FF-8D5605F8CCEB}"/>
                </a:ext>
              </a:extLst>
            </p:cNvPr>
            <p:cNvSpPr/>
            <p:nvPr/>
          </p:nvSpPr>
          <p:spPr>
            <a:xfrm>
              <a:off x="9010186" y="7560524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4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11EE3F-00A4-2CCA-1619-E41D37B5E825}"/>
                </a:ext>
              </a:extLst>
            </p:cNvPr>
            <p:cNvSpPr/>
            <p:nvPr/>
          </p:nvSpPr>
          <p:spPr>
            <a:xfrm>
              <a:off x="11273887" y="7560523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5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2B748A-A439-9E1E-F46A-A9B3B5BE6134}"/>
                </a:ext>
              </a:extLst>
            </p:cNvPr>
            <p:cNvSpPr/>
            <p:nvPr/>
          </p:nvSpPr>
          <p:spPr>
            <a:xfrm>
              <a:off x="13515278" y="7560522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526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Computing k-Fold Cross Validation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2464B1-E8B2-5373-F0FE-AEB19DD129EE}"/>
              </a:ext>
            </a:extLst>
          </p:cNvPr>
          <p:cNvGrpSpPr/>
          <p:nvPr/>
        </p:nvGrpSpPr>
        <p:grpSpPr>
          <a:xfrm>
            <a:off x="2211655" y="7158649"/>
            <a:ext cx="13526431" cy="675425"/>
            <a:chOff x="2211655" y="7158649"/>
            <a:chExt cx="13526431" cy="67542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66C35-C98B-5751-EC8F-13F83BE1333B}"/>
                </a:ext>
              </a:extLst>
            </p:cNvPr>
            <p:cNvSpPr/>
            <p:nvPr/>
          </p:nvSpPr>
          <p:spPr>
            <a:xfrm>
              <a:off x="6716747" y="7158649"/>
              <a:ext cx="2252546" cy="67542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A635AC5-822B-D1AD-E9E6-D4FD83F3A6A4}"/>
                </a:ext>
              </a:extLst>
            </p:cNvPr>
            <p:cNvSpPr/>
            <p:nvPr/>
          </p:nvSpPr>
          <p:spPr>
            <a:xfrm>
              <a:off x="2211655" y="7158649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4B4496-C04B-8856-7224-C0003D950024}"/>
                </a:ext>
              </a:extLst>
            </p:cNvPr>
            <p:cNvSpPr/>
            <p:nvPr/>
          </p:nvSpPr>
          <p:spPr>
            <a:xfrm>
              <a:off x="4475356" y="7158649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338FCA-8866-FF77-20BB-2AFAC4801A7D}"/>
                </a:ext>
              </a:extLst>
            </p:cNvPr>
            <p:cNvSpPr/>
            <p:nvPr/>
          </p:nvSpPr>
          <p:spPr>
            <a:xfrm>
              <a:off x="8980448" y="7158651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4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F9A266-7734-8F9B-158A-7A8443559CA4}"/>
                </a:ext>
              </a:extLst>
            </p:cNvPr>
            <p:cNvSpPr/>
            <p:nvPr/>
          </p:nvSpPr>
          <p:spPr>
            <a:xfrm>
              <a:off x="11244149" y="7158650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8F8443-83D4-8105-4193-F23E5FED3BE9}"/>
                </a:ext>
              </a:extLst>
            </p:cNvPr>
            <p:cNvSpPr/>
            <p:nvPr/>
          </p:nvSpPr>
          <p:spPr>
            <a:xfrm>
              <a:off x="13485540" y="7158649"/>
              <a:ext cx="2252546" cy="675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Fold 6</a:t>
              </a:r>
            </a:p>
          </p:txBody>
        </p:sp>
      </p:grp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3FD653A-0391-1D3A-B7F7-110551732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1807623"/>
          </a:xfrm>
        </p:spPr>
        <p:txBody>
          <a:bodyPr/>
          <a:lstStyle/>
          <a:p>
            <a:r>
              <a:rPr lang="en-US" b="1" dirty="0"/>
              <a:t>Idea</a:t>
            </a:r>
            <a:r>
              <a:rPr lang="en-US" dirty="0"/>
              <a:t>: We do k iterations where treat each fold like a testing set. </a:t>
            </a:r>
          </a:p>
          <a:p>
            <a:r>
              <a:rPr lang="en-US" dirty="0"/>
              <a:t>For example, for the 3</a:t>
            </a:r>
            <a:r>
              <a:rPr lang="en-US" baseline="30000" dirty="0"/>
              <a:t>rd</a:t>
            </a:r>
            <a:r>
              <a:rPr lang="en-US" dirty="0"/>
              <a:t> iteration, we 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use folds 1, 2, 4, 5, and 6 as a training set 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fit the model to the training set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compute the loss of the model using fold 3 (like a testing set)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store the results of the evaluation</a:t>
            </a:r>
          </a:p>
        </p:txBody>
      </p:sp>
    </p:spTree>
    <p:extLst>
      <p:ext uri="{BB962C8B-B14F-4D97-AF65-F5344CB8AC3E}">
        <p14:creationId xmlns:p14="http://schemas.microsoft.com/office/powerpoint/2010/main" val="1330097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Iterations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Losses are found for each possible hold out.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DDA1A-B26C-DAED-083D-7785ACF13934}"/>
              </a:ext>
            </a:extLst>
          </p:cNvPr>
          <p:cNvSpPr/>
          <p:nvPr/>
        </p:nvSpPr>
        <p:spPr>
          <a:xfrm>
            <a:off x="2222810" y="2977387"/>
            <a:ext cx="2252546" cy="6754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C0B988-60B4-46D2-4890-68F19F5E34CF}"/>
              </a:ext>
            </a:extLst>
          </p:cNvPr>
          <p:cNvSpPr/>
          <p:nvPr/>
        </p:nvSpPr>
        <p:spPr>
          <a:xfrm>
            <a:off x="4475356" y="2977386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835967-2E1E-121D-E88F-06C3C02F2349}"/>
              </a:ext>
            </a:extLst>
          </p:cNvPr>
          <p:cNvSpPr/>
          <p:nvPr/>
        </p:nvSpPr>
        <p:spPr>
          <a:xfrm>
            <a:off x="6727902" y="2977385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2E966-4131-D716-46FF-8D5605F8CCEB}"/>
              </a:ext>
            </a:extLst>
          </p:cNvPr>
          <p:cNvSpPr/>
          <p:nvPr/>
        </p:nvSpPr>
        <p:spPr>
          <a:xfrm>
            <a:off x="8980448" y="2977384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11EE3F-00A4-2CCA-1619-E41D37B5E825}"/>
              </a:ext>
            </a:extLst>
          </p:cNvPr>
          <p:cNvSpPr/>
          <p:nvPr/>
        </p:nvSpPr>
        <p:spPr>
          <a:xfrm>
            <a:off x="11244149" y="2977383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2B748A-A439-9E1E-F46A-A9B3B5BE6134}"/>
              </a:ext>
            </a:extLst>
          </p:cNvPr>
          <p:cNvSpPr/>
          <p:nvPr/>
        </p:nvSpPr>
        <p:spPr>
          <a:xfrm>
            <a:off x="13485540" y="2977382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E3D22-07B9-2E7E-6E67-AFC980C9B92F}"/>
              </a:ext>
            </a:extLst>
          </p:cNvPr>
          <p:cNvSpPr/>
          <p:nvPr/>
        </p:nvSpPr>
        <p:spPr>
          <a:xfrm>
            <a:off x="4464201" y="3942755"/>
            <a:ext cx="2252546" cy="6754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99CA1-9557-EBEE-5E80-88B26689D051}"/>
              </a:ext>
            </a:extLst>
          </p:cNvPr>
          <p:cNvSpPr/>
          <p:nvPr/>
        </p:nvSpPr>
        <p:spPr>
          <a:xfrm>
            <a:off x="2211655" y="3942755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59F3BE-EAE2-6DCB-553B-0B557A5DA4D2}"/>
              </a:ext>
            </a:extLst>
          </p:cNvPr>
          <p:cNvSpPr/>
          <p:nvPr/>
        </p:nvSpPr>
        <p:spPr>
          <a:xfrm>
            <a:off x="6727902" y="3942758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B7DF44-696B-F132-ED8F-5D639166AADB}"/>
              </a:ext>
            </a:extLst>
          </p:cNvPr>
          <p:cNvSpPr/>
          <p:nvPr/>
        </p:nvSpPr>
        <p:spPr>
          <a:xfrm>
            <a:off x="8980448" y="3942757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80C6D0-BDC8-0E28-E008-82368FB8CAF7}"/>
              </a:ext>
            </a:extLst>
          </p:cNvPr>
          <p:cNvSpPr/>
          <p:nvPr/>
        </p:nvSpPr>
        <p:spPr>
          <a:xfrm>
            <a:off x="11244149" y="3942756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55A392-2E17-D157-558E-585FDDE48A78}"/>
              </a:ext>
            </a:extLst>
          </p:cNvPr>
          <p:cNvSpPr/>
          <p:nvPr/>
        </p:nvSpPr>
        <p:spPr>
          <a:xfrm>
            <a:off x="13485540" y="3942755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66C35-C98B-5751-EC8F-13F83BE1333B}"/>
              </a:ext>
            </a:extLst>
          </p:cNvPr>
          <p:cNvSpPr/>
          <p:nvPr/>
        </p:nvSpPr>
        <p:spPr>
          <a:xfrm>
            <a:off x="6716747" y="4928409"/>
            <a:ext cx="2252546" cy="6754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635AC5-822B-D1AD-E9E6-D4FD83F3A6A4}"/>
              </a:ext>
            </a:extLst>
          </p:cNvPr>
          <p:cNvSpPr/>
          <p:nvPr/>
        </p:nvSpPr>
        <p:spPr>
          <a:xfrm>
            <a:off x="2211655" y="4928409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4B4496-C04B-8856-7224-C0003D950024}"/>
              </a:ext>
            </a:extLst>
          </p:cNvPr>
          <p:cNvSpPr/>
          <p:nvPr/>
        </p:nvSpPr>
        <p:spPr>
          <a:xfrm>
            <a:off x="4475356" y="4928409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338FCA-8866-FF77-20BB-2AFAC4801A7D}"/>
              </a:ext>
            </a:extLst>
          </p:cNvPr>
          <p:cNvSpPr/>
          <p:nvPr/>
        </p:nvSpPr>
        <p:spPr>
          <a:xfrm>
            <a:off x="8980448" y="492841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9A266-7734-8F9B-158A-7A8443559CA4}"/>
              </a:ext>
            </a:extLst>
          </p:cNvPr>
          <p:cNvSpPr/>
          <p:nvPr/>
        </p:nvSpPr>
        <p:spPr>
          <a:xfrm>
            <a:off x="11244149" y="4928410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8F8443-83D4-8105-4193-F23E5FED3BE9}"/>
              </a:ext>
            </a:extLst>
          </p:cNvPr>
          <p:cNvSpPr/>
          <p:nvPr/>
        </p:nvSpPr>
        <p:spPr>
          <a:xfrm>
            <a:off x="13485540" y="4928409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9548C2-68B6-5F3D-9393-590987F95F9D}"/>
              </a:ext>
            </a:extLst>
          </p:cNvPr>
          <p:cNvSpPr/>
          <p:nvPr/>
        </p:nvSpPr>
        <p:spPr>
          <a:xfrm>
            <a:off x="9002758" y="5924528"/>
            <a:ext cx="2252546" cy="6754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858E0-04D6-74F1-D571-7822D2B86E5A}"/>
              </a:ext>
            </a:extLst>
          </p:cNvPr>
          <p:cNvSpPr/>
          <p:nvPr/>
        </p:nvSpPr>
        <p:spPr>
          <a:xfrm>
            <a:off x="2222810" y="5924528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7E0101-45EC-A56B-B475-3FB58BEC5902}"/>
              </a:ext>
            </a:extLst>
          </p:cNvPr>
          <p:cNvSpPr/>
          <p:nvPr/>
        </p:nvSpPr>
        <p:spPr>
          <a:xfrm>
            <a:off x="4486511" y="5924528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586262-0D38-2F61-23DD-1B747C69FE78}"/>
              </a:ext>
            </a:extLst>
          </p:cNvPr>
          <p:cNvSpPr/>
          <p:nvPr/>
        </p:nvSpPr>
        <p:spPr>
          <a:xfrm>
            <a:off x="6739057" y="5916084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3C058A-A8D3-0433-4F21-C616A56AB8B9}"/>
              </a:ext>
            </a:extLst>
          </p:cNvPr>
          <p:cNvSpPr/>
          <p:nvPr/>
        </p:nvSpPr>
        <p:spPr>
          <a:xfrm>
            <a:off x="11255304" y="5924529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8CB20B-E17A-B42A-88E1-BBD395C6A104}"/>
              </a:ext>
            </a:extLst>
          </p:cNvPr>
          <p:cNvSpPr/>
          <p:nvPr/>
        </p:nvSpPr>
        <p:spPr>
          <a:xfrm>
            <a:off x="13496695" y="5924528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EDD4CE-42B1-2475-AF94-30E6359DE2F5}"/>
              </a:ext>
            </a:extLst>
          </p:cNvPr>
          <p:cNvSpPr/>
          <p:nvPr/>
        </p:nvSpPr>
        <p:spPr>
          <a:xfrm>
            <a:off x="11232994" y="6918123"/>
            <a:ext cx="2252546" cy="6754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C54AFB-35DC-7360-EBEE-58B583BCFB9D}"/>
              </a:ext>
            </a:extLst>
          </p:cNvPr>
          <p:cNvSpPr/>
          <p:nvPr/>
        </p:nvSpPr>
        <p:spPr>
          <a:xfrm>
            <a:off x="2222810" y="692094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CEF382-A64F-1202-F46E-DB7274D5F5C2}"/>
              </a:ext>
            </a:extLst>
          </p:cNvPr>
          <p:cNvSpPr/>
          <p:nvPr/>
        </p:nvSpPr>
        <p:spPr>
          <a:xfrm>
            <a:off x="4486511" y="692094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B00E57-ED22-CCEE-DFF3-638B791DE925}"/>
              </a:ext>
            </a:extLst>
          </p:cNvPr>
          <p:cNvSpPr/>
          <p:nvPr/>
        </p:nvSpPr>
        <p:spPr>
          <a:xfrm>
            <a:off x="8991603" y="6920943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9CBA6C-ECC6-6F65-8083-7B7C0740595C}"/>
              </a:ext>
            </a:extLst>
          </p:cNvPr>
          <p:cNvSpPr/>
          <p:nvPr/>
        </p:nvSpPr>
        <p:spPr>
          <a:xfrm>
            <a:off x="6750212" y="6929387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2B29D7-9E03-6451-1015-608158FD928D}"/>
              </a:ext>
            </a:extLst>
          </p:cNvPr>
          <p:cNvSpPr/>
          <p:nvPr/>
        </p:nvSpPr>
        <p:spPr>
          <a:xfrm>
            <a:off x="13496695" y="692094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6C672C-5155-2E99-91CE-223991973519}"/>
              </a:ext>
            </a:extLst>
          </p:cNvPr>
          <p:cNvSpPr/>
          <p:nvPr/>
        </p:nvSpPr>
        <p:spPr>
          <a:xfrm>
            <a:off x="13520718" y="7909766"/>
            <a:ext cx="2252546" cy="6754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21B8F6-6C87-CBB9-22E5-EF3EBCC3E89F}"/>
              </a:ext>
            </a:extLst>
          </p:cNvPr>
          <p:cNvSpPr/>
          <p:nvPr/>
        </p:nvSpPr>
        <p:spPr>
          <a:xfrm>
            <a:off x="2219096" y="792083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EDFA15-8809-64D7-A374-D3718C66CECE}"/>
              </a:ext>
            </a:extLst>
          </p:cNvPr>
          <p:cNvSpPr/>
          <p:nvPr/>
        </p:nvSpPr>
        <p:spPr>
          <a:xfrm>
            <a:off x="4482797" y="792083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C3BC97-3754-4864-AF2A-5881C6F591AB}"/>
              </a:ext>
            </a:extLst>
          </p:cNvPr>
          <p:cNvSpPr/>
          <p:nvPr/>
        </p:nvSpPr>
        <p:spPr>
          <a:xfrm>
            <a:off x="8987889" y="7920833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1892AD-10C1-1536-2966-87AD96D71442}"/>
              </a:ext>
            </a:extLst>
          </p:cNvPr>
          <p:cNvSpPr/>
          <p:nvPr/>
        </p:nvSpPr>
        <p:spPr>
          <a:xfrm>
            <a:off x="6746498" y="7929277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7CF6F2-8034-4DCA-75F0-6B9C199F18FA}"/>
              </a:ext>
            </a:extLst>
          </p:cNvPr>
          <p:cNvSpPr/>
          <p:nvPr/>
        </p:nvSpPr>
        <p:spPr>
          <a:xfrm>
            <a:off x="11255304" y="7920831"/>
            <a:ext cx="2252546" cy="6754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Fold 5</a:t>
            </a:r>
          </a:p>
        </p:txBody>
      </p:sp>
    </p:spTree>
    <p:extLst>
      <p:ext uri="{BB962C8B-B14F-4D97-AF65-F5344CB8AC3E}">
        <p14:creationId xmlns:p14="http://schemas.microsoft.com/office/powerpoint/2010/main" val="155712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Tabulating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sum of the losses calculated is an estimate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</m:t>
                    </m:r>
                  </m:oMath>
                </a14:m>
                <a:r>
                  <a:rPr lang="en-US" dirty="0"/>
                  <a:t>. Specifically, we calculate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is the model excluding the fold containing point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b="1" i="1" u="sng" dirty="0"/>
                  <a:t>Note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constructed using the </a:t>
                </a:r>
                <a:r>
                  <a:rPr lang="en-US" i="1" dirty="0"/>
                  <a:t>entire</a:t>
                </a:r>
                <a:r>
                  <a:rPr lang="en-US" dirty="0"/>
                  <a:t> dataset when we do this.</a:t>
                </a:r>
              </a:p>
              <a:p>
                <a:pPr lvl="1"/>
                <a:r>
                  <a:rPr lang="en-US" dirty="0"/>
                  <a:t>That’s the whole point; we’re doing this because we cannot have a testing set in the first place!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0497" r="-1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Leave-one-out Cross 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way we can perform Cross Validation is having the number of folds be equal to the number of samples: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is the model constructed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point removed. </a:t>
                </a:r>
              </a:p>
              <a:p>
                <a:r>
                  <a:rPr lang="en-US" dirty="0"/>
                  <a:t>This setup could be used to determine a tuning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0497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58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 of K to Pick?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the cross-validation estimator is approximately unbiased for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Err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but has a high variance. 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less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the cross-validation estimator has lower variance but may have bias. </a:t>
                </a:r>
              </a:p>
              <a:p>
                <a:r>
                  <a:rPr lang="en-US" dirty="0"/>
                  <a:t>Unfortunately, the smaller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the more computationally feasible the problem</a:t>
                </a:r>
              </a:p>
              <a:p>
                <a:r>
                  <a:rPr lang="en-US" u="sng" dirty="0"/>
                  <a:t>A good rule of thumb</a:t>
                </a:r>
                <a:r>
                  <a:rPr lang="en-US" dirty="0"/>
                  <a:t>: try to aim for small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trained on at least 100 points.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058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k-fold cross validation is a method one can use when working with a dataset too small to allow for a testing set. </a:t>
                </a:r>
              </a:p>
              <a:p>
                <a:r>
                  <a:rPr lang="en-US" dirty="0"/>
                  <a:t>It involves randomly dividing up the dataset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“folds” of roughly equal size and treating each fold like a testing set for a model trained on the remaining folds. </a:t>
                </a:r>
              </a:p>
              <a:p>
                <a:r>
                  <a:rPr lang="en-US" dirty="0"/>
                  <a:t>This computation estimates the expected prediction error,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latin typeface="Cambria Math" panose="02040503050406030204" pitchFamily="18" charset="0"/>
                      </a:rPr>
                      <m:t>Err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656" b="-3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347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is trained on the entire dataset and is distinct from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s.</a:t>
                </a:r>
              </a:p>
              <a:p>
                <a:r>
                  <a:rPr lang="en-US" dirty="0"/>
                  <a:t>Ideally, we would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but this estimator has a high variance and is often computationally impractical. </a:t>
                </a:r>
              </a:p>
              <a:p>
                <a:r>
                  <a:rPr lang="en-US" dirty="0"/>
                  <a:t>A good rule is to pick a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to guarantee a training set for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that is at least 100.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921" r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4572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01A9F3-80E2-4F44-A2B2-7FB892A292A2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11389</TotalTime>
  <Words>759</Words>
  <Application>Microsoft Macintosh PowerPoint</Application>
  <PresentationFormat>Custom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 2</vt:lpstr>
      <vt:lpstr>Breeze</vt:lpstr>
      <vt:lpstr>Math 769: Statistical Learning</vt:lpstr>
      <vt:lpstr>k-Fold Cross Validation</vt:lpstr>
      <vt:lpstr>Last Time</vt:lpstr>
      <vt:lpstr>Objectives</vt:lpstr>
      <vt:lpstr>Purpose of Cross Validation</vt:lpstr>
      <vt:lpstr>k-Fold Cross Validation Setup</vt:lpstr>
      <vt:lpstr>Computing k-Fold Cross Validation</vt:lpstr>
      <vt:lpstr>Iterations</vt:lpstr>
      <vt:lpstr>Tabulating Results</vt:lpstr>
      <vt:lpstr>Leave-one-out Cross Validation</vt:lpstr>
      <vt:lpstr>What Value of K to Pick?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56</cp:revision>
  <dcterms:created xsi:type="dcterms:W3CDTF">2019-02-13T16:04:21Z</dcterms:created>
  <dcterms:modified xsi:type="dcterms:W3CDTF">2023-12-05T07:32:16Z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