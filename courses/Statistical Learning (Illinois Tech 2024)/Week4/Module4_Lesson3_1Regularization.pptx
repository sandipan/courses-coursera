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24"/>
  </p:notesMasterIdLst>
  <p:sldIdLst>
    <p:sldId id="259" r:id="rId5"/>
    <p:sldId id="262" r:id="rId6"/>
    <p:sldId id="263" r:id="rId7"/>
    <p:sldId id="269" r:id="rId8"/>
    <p:sldId id="280" r:id="rId9"/>
    <p:sldId id="281" r:id="rId10"/>
    <p:sldId id="285" r:id="rId11"/>
    <p:sldId id="286" r:id="rId12"/>
    <p:sldId id="282" r:id="rId13"/>
    <p:sldId id="283" r:id="rId14"/>
    <p:sldId id="284" r:id="rId15"/>
    <p:sldId id="287" r:id="rId16"/>
    <p:sldId id="288" r:id="rId17"/>
    <p:sldId id="289" r:id="rId18"/>
    <p:sldId id="290" r:id="rId19"/>
    <p:sldId id="291" r:id="rId20"/>
    <p:sldId id="279" r:id="rId21"/>
    <p:sldId id="292" r:id="rId22"/>
    <p:sldId id="293" r:id="rId23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70609A-D6D1-4398-8205-3727AD454177}" v="1" dt="2023-05-09T15:11:37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32"/>
    <p:restoredTop sz="70000"/>
  </p:normalViewPr>
  <p:slideViewPr>
    <p:cSldViewPr snapToGrid="0" snapToObjects="1">
      <p:cViewPr varScale="1">
        <p:scale>
          <a:sx n="58" d="100"/>
          <a:sy n="58" d="100"/>
        </p:scale>
        <p:origin x="1552" y="216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12/4/23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2D538-1C4E-BA48-98E5-173D2FE01AC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62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Regularization &amp; </a:t>
            </a:r>
            <a:br>
              <a:rPr lang="en-US" dirty="0"/>
            </a:br>
            <a:r>
              <a:rPr lang="en-US" dirty="0"/>
              <a:t>Kernel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Previous Material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</p:spPr>
            <p:txBody>
              <a:bodyPr/>
              <a:lstStyle/>
              <a:p>
                <a:r>
                  <a:rPr lang="en-US" altLang="en-US" dirty="0"/>
                  <a:t>We studied smoothing splines, which involved a regularization with a </a:t>
                </a:r>
                <a:r>
                  <a:rPr lang="en-US" dirty="0"/>
                  <a:t>roughness penalty,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en-US" dirty="0"/>
                  <a:t>.</a:t>
                </a:r>
              </a:p>
              <a:p>
                <a:r>
                  <a:rPr lang="en-US" altLang="en-US" dirty="0"/>
                  <a:t>The choice of this value controlled how the function moved. </a:t>
                </a:r>
              </a:p>
              <a:p>
                <a:r>
                  <a:rPr lang="en-US" altLang="en-US" dirty="0"/>
                  <a:t>We also saw similar hyperparameters with LASSO and Ridge Regression.</a:t>
                </a:r>
              </a:p>
            </p:txBody>
          </p:sp>
        </mc:Choice>
        <mc:Fallback xmlns="">
          <p:sp>
            <p:nvSpPr>
              <p:cNvPr id="6146" name="Content Placeholder 2">
                <a:extLst>
                  <a:ext uri="{FF2B5EF4-FFF2-40B4-BE49-F238E27FC236}">
                    <a16:creationId xmlns:a16="http://schemas.microsoft.com/office/drawing/2014/main" id="{8DFB1FDB-789D-3A4E-B0C7-3BAF194C66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8551" y="2051050"/>
                <a:ext cx="16084550" cy="6886576"/>
              </a:xfrm>
              <a:blipFill>
                <a:blip r:embed="rId2"/>
                <a:stretch>
                  <a:fillRect l="-1104" t="-1657" r="-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State the regularization problem in full generality. </a:t>
            </a:r>
          </a:p>
          <a:p>
            <a:r>
              <a:rPr lang="en-US" altLang="en-US" dirty="0"/>
              <a:t>State the general form of the penalty function, according to </a:t>
            </a:r>
            <a:r>
              <a:rPr lang="en-US" altLang="en-US" dirty="0" err="1"/>
              <a:t>Girosi</a:t>
            </a:r>
            <a:r>
              <a:rPr lang="en-US" altLang="en-US" dirty="0"/>
              <a:t> et. al.</a:t>
            </a:r>
          </a:p>
          <a:p>
            <a:r>
              <a:rPr lang="en-US" altLang="en-US" dirty="0"/>
              <a:t>Define kernel functions. </a:t>
            </a:r>
          </a:p>
          <a:p>
            <a:r>
              <a:rPr lang="en-US" altLang="en-US" dirty="0"/>
              <a:t>Define a reproducing kernel Hilbert space (RKHS) and explain its properties. 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of Regularization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Regularization problems </a:t>
                </a:r>
                <a:r>
                  <a:rPr lang="en-US" dirty="0"/>
                  <a:t>within Statistical Learning follow a particular form: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 is a loss function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penalty function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dirty="0"/>
                  <a:t> is the space of potential functions we are considering.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12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9300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Smoothing Splines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𝑅𝑆𝑆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′′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Notice that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limLoc m:val="undOvr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′′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dirty="0"/>
                  <a:t> is the space of cubic splines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34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102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Ridge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b="1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𝜷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</m:d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rgbClr val="37415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rgbClr val="37415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rgbClr val="37415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sup>
                                  <m: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Notice that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acc>
                              <m:accPr>
                                <m:chr m:val="̂"/>
                                <m:ctrlPr>
                                  <a:rPr lang="en-US" b="1" i="1">
                                    <a:solidFill>
                                      <a:srgbClr val="37415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solidFill>
                                      <a:srgbClr val="37415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acc>
                          <m:accPr>
                            <m:chr m:val="̂"/>
                            <m:ctrlPr>
                              <a:rPr lang="en-US" b="1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solidFill>
                                      <a:srgbClr val="37415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37415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37415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37415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  <m:sup>
                            <m:r>
                              <a:rPr lang="en-US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dirty="0"/>
                  <a:t> is the space of linear functions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28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945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LASSO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sub>
                          <m:acc>
                            <m:accPr>
                              <m:chr m:val="̂"/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sub>
                      </m:sSub>
                      <m:r>
                        <a:rPr lang="en-US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acc>
                                <m:accPr>
                                  <m:chr m:val="̂"/>
                                  <m:ctrlP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  <m:acc>
                            <m:accPr>
                              <m:chr m:val="̂"/>
                              <m:ctrlP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1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i="1">
                          <a:solidFill>
                            <a:srgbClr val="37415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37415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solidFill>
                                    <a:srgbClr val="37415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i="1">
                                      <a:solidFill>
                                        <a:srgbClr val="37415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rgbClr val="37415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Notice that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  <m:r>
                              <a:rPr lang="en-US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acc>
                              <m:accPr>
                                <m:chr m:val="̂"/>
                                <m:ctrlPr>
                                  <a:rPr lang="en-US" b="1" i="1">
                                    <a:solidFill>
                                      <a:srgbClr val="37415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solidFill>
                                      <a:srgbClr val="37415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acc>
                          <m:accPr>
                            <m:chr m:val="̂"/>
                            <m:ctrlPr>
                              <a:rPr lang="en-US" b="1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</m:acc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solidFill>
                              <a:srgbClr val="37415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solidFill>
                                  <a:srgbClr val="37415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solidFill>
                                      <a:srgbClr val="37415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rgbClr val="37415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rgbClr val="37415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rgbClr val="37415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ℋ</m:t>
                    </m:r>
                  </m:oMath>
                </a14:m>
                <a:r>
                  <a:rPr lang="en-US" dirty="0"/>
                  <a:t> is the space of linear functions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6AC67DE-EECD-8CCA-C610-660596787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28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3535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Penalty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Girosi et. al. (1995) described the penalty function in a general form  </a:t>
                </a:r>
              </a:p>
              <a:p>
                <a:pPr marL="6985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</m:acc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acc>
                                <m:accPr>
                                  <m:chr m:val="̃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n-US" dirty="0"/>
                  <a:t> is the Fourier transform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en-US" dirty="0"/>
                  <a:t> is some positive function that falls off to zero as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acc>
                      <m:accPr>
                        <m:chr m:val="̃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en-US" dirty="0"/>
                  <a:t> increases the penalty for high-frequency components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21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1386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Solution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Under some assumptions, the general solution to the Regularization Problem is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span the null space of the penalty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the inverse Fourier transform of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</m:e>
                    </m:acc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Ridge regression fits nicely into this framework, which is why it yields a closed form solution.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41" t="-10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3130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Functions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With this framework in mind, a special space of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 can be defined called a </a:t>
                </a:r>
                <a:r>
                  <a:rPr lang="en-US" b="1" dirty="0">
                    <a:solidFill>
                      <a:schemeClr val="accent1"/>
                    </a:solidFill>
                  </a:rPr>
                  <a:t>reproducing kernel Hilbert space (RKHS)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This space relies on defining the problem (and solution) with respect to a </a:t>
                </a:r>
                <a:r>
                  <a:rPr lang="en-US" b="1" dirty="0">
                    <a:solidFill>
                      <a:schemeClr val="accent1"/>
                    </a:solidFill>
                  </a:rPr>
                  <a:t>kernel function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Framing the problem this way, yields a solution of this form: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04" t="-1657" b="-28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1677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Hilbert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787E8-152D-274E-5662-9C6EABD3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RKHS is a Hilbert space. </a:t>
            </a:r>
          </a:p>
          <a:p>
            <a:pPr lvl="1"/>
            <a:r>
              <a:rPr lang="en-US" dirty="0"/>
              <a:t>a vector space equipped with an inner product (a generalization of the dot product) </a:t>
            </a:r>
          </a:p>
          <a:p>
            <a:pPr lvl="1"/>
            <a:r>
              <a:rPr lang="en-US" dirty="0"/>
              <a:t>satisfies certain completeness and continuity properties. </a:t>
            </a:r>
          </a:p>
          <a:p>
            <a:r>
              <a:rPr lang="en-US" dirty="0"/>
              <a:t>Hilbert spaces are used to define the concept of orthogonality, distance, and convergence for functions.</a:t>
            </a:r>
          </a:p>
        </p:txBody>
      </p:sp>
    </p:spTree>
    <p:extLst>
      <p:ext uri="{BB962C8B-B14F-4D97-AF65-F5344CB8AC3E}">
        <p14:creationId xmlns:p14="http://schemas.microsoft.com/office/powerpoint/2010/main" val="1165978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RKHS is associated with a kernel function, denoted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This kernel function measure the similarity or inner product between two data points, x and y, in a high-dimensional feature space implicitly </a:t>
                </a:r>
                <a:r>
                  <a:rPr lang="en-US" i="1" u="sng" dirty="0"/>
                  <a:t>without</a:t>
                </a:r>
                <a:r>
                  <a:rPr lang="en-US" dirty="0"/>
                  <a:t> explicitly transforming the data.</a:t>
                </a:r>
              </a:p>
              <a:p>
                <a:r>
                  <a:rPr lang="en-US" dirty="0"/>
                  <a:t>Kernels play a crucial role in transforming data into higher-dimensional feature spaces, enabling linear algorithms to effectively capture complex patterns and relationships in the data.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64525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Reproducing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defining characteristic of an RKHS is its reproducing property.</a:t>
                </a:r>
              </a:p>
              <a:p>
                <a:r>
                  <a:rPr lang="en-US" dirty="0"/>
                  <a:t>This property states that for any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in the RKHS, </a:t>
                </a:r>
                <a:br>
                  <a:rPr lang="en-US" dirty="0"/>
                </a:br>
                <a:r>
                  <a:rPr lang="en-US" dirty="0"/>
                  <a:t>the evaluation functional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, defined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ℋ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(the inner product of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), is continuous and equal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all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in the input space. </a:t>
                </a:r>
              </a:p>
              <a:p>
                <a:r>
                  <a:rPr lang="en-US" dirty="0"/>
                  <a:t>In other words, an RKHS "reproduces" the function values of its elements when evaluated at any point in the input space using an evaluation function.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1365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CB9D2-9582-18D1-3E23-7F92F4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kernel,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, lives in an infinite dimensional space with a basis, so it is expressible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kernel function defines a mapping of the input data into this </a:t>
                </a:r>
                <a:r>
                  <a:rPr lang="en-US" i="1" dirty="0"/>
                  <a:t>feature space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</a:t>
                </a:r>
                <a:r>
                  <a:rPr lang="en-US" b="1" dirty="0">
                    <a:solidFill>
                      <a:schemeClr val="accent1"/>
                    </a:solidFill>
                  </a:rPr>
                  <a:t>kernel trick </a:t>
                </a:r>
                <a:r>
                  <a:rPr lang="en-US" dirty="0"/>
                  <a:t>is a fundamental idea that we operate in this high-dimensional feature space defined by the kernel function without explicitly computing feature vectors,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1787E8-152D-274E-5662-9C6EABD3A3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1234" r="-552" b="-6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7175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5C0B-4363-EF6C-D49E-3B7A466E2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869F8-66F0-605E-CF27-F49D8C1A2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this mathematical trick of kernels, we end up with more complex models without adding a great deal of computational complexity. </a:t>
            </a:r>
          </a:p>
          <a:p>
            <a:r>
              <a:rPr lang="en-US" dirty="0"/>
              <a:t>How does the math work? Section 5.8.1 and 5.8.2 provide the details and an example with a generalized ridge regression. </a:t>
            </a:r>
          </a:p>
        </p:txBody>
      </p:sp>
    </p:spTree>
    <p:extLst>
      <p:ext uri="{BB962C8B-B14F-4D97-AF65-F5344CB8AC3E}">
        <p14:creationId xmlns:p14="http://schemas.microsoft.com/office/powerpoint/2010/main" val="3272077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Regularization problems follow this form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ℋ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𝐽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With some assumptions about spaces, they yield the following solution: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20074" b="-281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2066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construct a special space of functions with this solution in mind called reproducing kernel Hilbert spaces (RKHS). </a:t>
                </a:r>
              </a:p>
              <a:p>
                <a:r>
                  <a:rPr lang="en-US" dirty="0"/>
                  <a:t>These spaces rely on a kernel function,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which defines an inner product that can be used to construct an evaluation functional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  <m:sub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ℋ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/>
                  <a:t> that is equal 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thereby ”reproducing” it. </a:t>
                </a:r>
              </a:p>
              <a:p>
                <a:r>
                  <a:rPr lang="en-US" dirty="0"/>
                  <a:t>This characterization relies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which lives in an infinite dimensional space corresponding to the feature space.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r="-1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0372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result is a more complex model without a great deal of added computational complexity. </a:t>
                </a:r>
              </a:p>
              <a:p>
                <a:r>
                  <a:rPr lang="en-US" dirty="0"/>
                  <a:t>All this comes as a mathematical consequence of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to define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89E1FF-60C6-FC18-0E3A-403B67A61F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04" t="-1657" b="-12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65693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6A800A-0C46-466D-97FC-24382065030A}"/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10074</TotalTime>
  <Words>885</Words>
  <Application>Microsoft Macintosh PowerPoint</Application>
  <PresentationFormat>Custom</PresentationFormat>
  <Paragraphs>87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Wingdings 2</vt:lpstr>
      <vt:lpstr>Breeze</vt:lpstr>
      <vt:lpstr>Math 769: Statistical Learning</vt:lpstr>
      <vt:lpstr>Regularization &amp;  Kernel Functions</vt:lpstr>
      <vt:lpstr>Previous Material</vt:lpstr>
      <vt:lpstr>Objectives</vt:lpstr>
      <vt:lpstr>Class of Regularization Problems</vt:lpstr>
      <vt:lpstr>Example: Smoothing Splines</vt:lpstr>
      <vt:lpstr>Example: Ridge Regression</vt:lpstr>
      <vt:lpstr>Example: LASSO</vt:lpstr>
      <vt:lpstr>Penalty Function</vt:lpstr>
      <vt:lpstr>General Solution</vt:lpstr>
      <vt:lpstr>Kernel Functions </vt:lpstr>
      <vt:lpstr>Hilbert Space</vt:lpstr>
      <vt:lpstr>Kernel Function</vt:lpstr>
      <vt:lpstr>Reproducing Property</vt:lpstr>
      <vt:lpstr>Feature Space</vt:lpstr>
      <vt:lpstr>Take Away</vt:lpstr>
      <vt:lpstr>Conclusion</vt:lpstr>
      <vt:lpstr>Conclusion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39</cp:revision>
  <dcterms:created xsi:type="dcterms:W3CDTF">2019-02-13T16:04:21Z</dcterms:created>
  <dcterms:modified xsi:type="dcterms:W3CDTF">2023-12-04T07:59:52Z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