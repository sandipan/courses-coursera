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20"/>
  </p:notesMasterIdLst>
  <p:sldIdLst>
    <p:sldId id="259" r:id="rId5"/>
    <p:sldId id="262" r:id="rId6"/>
    <p:sldId id="263" r:id="rId7"/>
    <p:sldId id="269" r:id="rId8"/>
    <p:sldId id="280" r:id="rId9"/>
    <p:sldId id="306" r:id="rId10"/>
    <p:sldId id="307" r:id="rId11"/>
    <p:sldId id="308" r:id="rId12"/>
    <p:sldId id="270" r:id="rId13"/>
    <p:sldId id="301" r:id="rId14"/>
    <p:sldId id="309" r:id="rId15"/>
    <p:sldId id="304" r:id="rId16"/>
    <p:sldId id="272" r:id="rId17"/>
    <p:sldId id="310" r:id="rId18"/>
    <p:sldId id="279" r:id="rId19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70609A-D6D1-4398-8205-3727AD454177}" v="1" dt="2023-05-09T15:11:37.5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232"/>
    <p:restoredTop sz="70000"/>
  </p:normalViewPr>
  <p:slideViewPr>
    <p:cSldViewPr snapToGrid="0" snapToObjects="1">
      <p:cViewPr varScale="1">
        <p:scale>
          <a:sx n="58" d="100"/>
          <a:sy n="58" d="100"/>
        </p:scale>
        <p:origin x="1552" y="216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B339E-DD24-AF4D-951A-8F87C48A3888}" type="datetimeFigureOut">
              <a:rPr lang="en-US" smtClean="0"/>
              <a:t>12/4/23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2D538-1C4E-BA48-98E5-173D2FE01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925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the linear algebra comes 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A3C0B-F0DF-7644-AE6F-69278FE8407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532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D2C4-084C-C545-00AC-430EC19B6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Math 769: Statistical Learning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803D9D7-D926-E270-BBAA-C017CB0F03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2807F-AA75-8289-ABFC-30F1E44E6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Piecewise Polynomials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D820C0-3BC8-687A-7D56-C3951CF5E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4777" y="494982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Shahrzad Jamshidi, PhD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Last Time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We discussed the basic idea of basis expansion methods.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Objectives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Define a spline.</a:t>
            </a:r>
          </a:p>
          <a:p>
            <a:r>
              <a:rPr lang="en-US" altLang="en-US" dirty="0"/>
              <a:t>State the advantage of splines over high-degree polynomials.</a:t>
            </a:r>
          </a:p>
          <a:p>
            <a:r>
              <a:rPr lang="en-US" altLang="en-US" dirty="0"/>
              <a:t>Define a knot.</a:t>
            </a:r>
          </a:p>
          <a:p>
            <a:r>
              <a:rPr lang="en-US" altLang="en-US" dirty="0"/>
              <a:t>State the model of a </a:t>
            </a:r>
            <a:r>
              <a:rPr lang="en-US" altLang="en-US"/>
              <a:t>cubic spline.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74394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ABF0C-46EB-506D-5EF2-140FCC220C9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Suppose the “ideal” model goes through all the points.</a:t>
            </a:r>
          </a:p>
          <a:p>
            <a:r>
              <a:rPr lang="en-US" dirty="0"/>
              <a:t>Such a function could not be linear.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Content Placeholder 5" descr="A graph with red dots&#10;&#10;Description automatically generated">
            <a:extLst>
              <a:ext uri="{FF2B5EF4-FFF2-40B4-BE49-F238E27FC236}">
                <a16:creationId xmlns:a16="http://schemas.microsoft.com/office/drawing/2014/main" id="{DCA123D5-E107-B13C-0F76-4814804AD95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186987" y="2847975"/>
            <a:ext cx="6311900" cy="49911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E72E93-0C48-B90B-D91D-1C6EBB35A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627533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 descr="A graph with a line and red dots&#10;&#10;Description automatically generated">
            <a:extLst>
              <a:ext uri="{FF2B5EF4-FFF2-40B4-BE49-F238E27FC236}">
                <a16:creationId xmlns:a16="http://schemas.microsoft.com/office/drawing/2014/main" id="{30662A45-9499-B494-4854-9AF6B3271A4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144000" y="2023239"/>
            <a:ext cx="8239198" cy="6515100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F660232-52D5-05EE-A9CD-94C64870D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C9F70AC-933F-23ED-32C3-81499190323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 piecewise linear model provides a way to go through all the points, </a:t>
            </a:r>
          </a:p>
          <a:p>
            <a:r>
              <a:rPr lang="en-US" dirty="0"/>
              <a:t>but provides little predictive power and </a:t>
            </a:r>
          </a:p>
          <a:p>
            <a:r>
              <a:rPr lang="en-US" dirty="0"/>
              <a:t>virtually no insights into the relationship between variables.</a:t>
            </a:r>
          </a:p>
        </p:txBody>
      </p:sp>
    </p:spTree>
    <p:extLst>
      <p:ext uri="{BB962C8B-B14F-4D97-AF65-F5344CB8AC3E}">
        <p14:creationId xmlns:p14="http://schemas.microsoft.com/office/powerpoint/2010/main" val="2913839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E7641-3E10-B249-BF2B-83E6F625B1B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 high-degree polynomial can achieve a more smoothed out model. </a:t>
            </a:r>
          </a:p>
          <a:p>
            <a:r>
              <a:rPr lang="en-US" dirty="0"/>
              <a:t>But notice that we have more extreme peaks.</a:t>
            </a:r>
          </a:p>
          <a:p>
            <a:r>
              <a:rPr lang="en-US" dirty="0"/>
              <a:t>This reduces the predictive power.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49FBC2A-D082-A29C-882B-0E3C3F8FD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9" name="Content Placeholder 8" descr="A graph with a line graph&#10;&#10;Description automatically generated">
            <a:extLst>
              <a:ext uri="{FF2B5EF4-FFF2-40B4-BE49-F238E27FC236}">
                <a16:creationId xmlns:a16="http://schemas.microsoft.com/office/drawing/2014/main" id="{5DD1AAAB-461D-9A52-991E-BF036BAABCF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27052" y="2085698"/>
            <a:ext cx="8222620" cy="6515100"/>
          </a:xfrm>
        </p:spPr>
      </p:pic>
    </p:spTree>
    <p:extLst>
      <p:ext uri="{BB962C8B-B14F-4D97-AF65-F5344CB8AC3E}">
        <p14:creationId xmlns:p14="http://schemas.microsoft.com/office/powerpoint/2010/main" val="1838564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E7641-3E10-B249-BF2B-83E6F625B1B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Piece-wise polynomials keep local degree low.</a:t>
            </a:r>
          </a:p>
          <a:p>
            <a:r>
              <a:rPr lang="en-US" dirty="0"/>
              <a:t>Peaks are less extreme than high-degree polynomials.</a:t>
            </a:r>
          </a:p>
          <a:p>
            <a:r>
              <a:rPr lang="en-US" dirty="0"/>
              <a:t>These are the kinds of models we are interested in for this lesson.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49FBC2A-D082-A29C-882B-0E3C3F8FD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6" name="Content Placeholder 5" descr="A graph with a blue line&#10;&#10;Description automatically generated">
            <a:extLst>
              <a:ext uri="{FF2B5EF4-FFF2-40B4-BE49-F238E27FC236}">
                <a16:creationId xmlns:a16="http://schemas.microsoft.com/office/drawing/2014/main" id="{A6A334E3-161D-D513-253A-D315D6A0FEF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18763" y="2085698"/>
            <a:ext cx="8239198" cy="6515100"/>
          </a:xfrm>
        </p:spPr>
      </p:pic>
    </p:spTree>
    <p:extLst>
      <p:ext uri="{BB962C8B-B14F-4D97-AF65-F5344CB8AC3E}">
        <p14:creationId xmlns:p14="http://schemas.microsoft.com/office/powerpoint/2010/main" val="2713197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682B7-438E-C306-8136-E6BB76E57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A8CF1-8317-0B55-01F0-A06EA1238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chemeClr val="accent1"/>
                </a:solidFill>
              </a:rPr>
              <a:t>spline</a:t>
            </a:r>
            <a:r>
              <a:rPr lang="en-US" dirty="0"/>
              <a:t> is a function defined piecewise by polynomials;</a:t>
            </a:r>
          </a:p>
          <a:p>
            <a:r>
              <a:rPr lang="en-US" dirty="0"/>
              <a:t>Advantages: </a:t>
            </a:r>
          </a:p>
          <a:p>
            <a:pPr lvl="1"/>
            <a:r>
              <a:rPr lang="en-US" dirty="0"/>
              <a:t>Simple construction, </a:t>
            </a:r>
          </a:p>
          <a:p>
            <a:pPr lvl="1"/>
            <a:r>
              <a:rPr lang="en-US" dirty="0"/>
              <a:t>Easy to evaluate, </a:t>
            </a:r>
          </a:p>
          <a:p>
            <a:pPr lvl="1"/>
            <a:r>
              <a:rPr lang="en-US" dirty="0"/>
              <a:t>Can approximate complex shapes, and </a:t>
            </a:r>
          </a:p>
          <a:p>
            <a:pPr lvl="1"/>
            <a:r>
              <a:rPr lang="en-US" dirty="0"/>
              <a:t>Relies small datasets and go through all points.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192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19D1710-18A7-C83C-8E26-ED529C23B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724" y="4641341"/>
            <a:ext cx="16084552" cy="1004317"/>
          </a:xfrm>
        </p:spPr>
        <p:txBody>
          <a:bodyPr wrap="square" anchor="b">
            <a:normAutofit fontScale="90000"/>
          </a:bodyPr>
          <a:lstStyle/>
          <a:p>
            <a:r>
              <a:rPr lang="en-US" dirty="0"/>
              <a:t>Why do I want to go through all or most of the points exactly?</a:t>
            </a:r>
          </a:p>
        </p:txBody>
      </p:sp>
    </p:spTree>
    <p:extLst>
      <p:ext uri="{BB962C8B-B14F-4D97-AF65-F5344CB8AC3E}">
        <p14:creationId xmlns:p14="http://schemas.microsoft.com/office/powerpoint/2010/main" val="3607097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and with red strings">
            <a:extLst>
              <a:ext uri="{FF2B5EF4-FFF2-40B4-BE49-F238E27FC236}">
                <a16:creationId xmlns:a16="http://schemas.microsoft.com/office/drawing/2014/main" id="{BE10A3A1-577A-FABA-8AC2-C6D19F1A18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645" r="8660" b="-1"/>
          <a:stretch/>
        </p:blipFill>
        <p:spPr>
          <a:xfrm>
            <a:off x="1098550" y="2085698"/>
            <a:ext cx="7680960" cy="6515100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FF381-144D-E2BA-B3A6-AAEA77465B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Modeling physical, curvy surfaces or paths</a:t>
            </a:r>
          </a:p>
          <a:p>
            <a:pPr lvl="1"/>
            <a:r>
              <a:rPr lang="en-US" dirty="0"/>
              <a:t>Measured points are assumed to have very small error.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CF4F90-ED0B-B225-C25C-7573C068D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Applications</a:t>
            </a:r>
          </a:p>
        </p:txBody>
      </p:sp>
    </p:spTree>
    <p:extLst>
      <p:ext uri="{BB962C8B-B14F-4D97-AF65-F5344CB8AC3E}">
        <p14:creationId xmlns:p14="http://schemas.microsoft.com/office/powerpoint/2010/main" val="3579243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FA8CF1-8317-0B55-01F0-A06EA12389B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0" dirty="0"/>
                  <a:t>Cubic splines are the most commonly used. </a:t>
                </a:r>
              </a:p>
              <a:p>
                <a:r>
                  <a:rPr lang="en-US" dirty="0"/>
                  <a:t>The domain is cut up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</a:p>
              <a:p>
                <a:pPr lvl="1"/>
                <a:r>
                  <a:rPr lang="en-US" dirty="0"/>
                  <a:t>If the function needs to travel through all the points, these values should be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are </a:t>
                </a:r>
                <a:r>
                  <a:rPr lang="en-US" b="1" dirty="0">
                    <a:solidFill>
                      <a:schemeClr val="accent1"/>
                    </a:solidFill>
                  </a:rPr>
                  <a:t>knots</a:t>
                </a:r>
                <a:r>
                  <a:rPr lang="en-US" dirty="0"/>
                  <a:t>, they mark the transition between two distinct cubic functions.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FA8CF1-8317-0B55-01F0-A06EA12389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310" t="-1751" r="-660" b="-1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734682B7-438E-C306-8136-E6BB76E57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Cubic Splines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2B77F4D-B83F-D601-5ECA-E7823919019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37787" y="2454275"/>
            <a:ext cx="6210300" cy="5778500"/>
          </a:xfrm>
          <a:noFill/>
        </p:spPr>
      </p:pic>
    </p:spTree>
    <p:extLst>
      <p:ext uri="{BB962C8B-B14F-4D97-AF65-F5344CB8AC3E}">
        <p14:creationId xmlns:p14="http://schemas.microsoft.com/office/powerpoint/2010/main" val="18878056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8416D-24AB-E177-D3F6-9527D0C93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Cubic Splines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083858-B578-B873-5C00-8D110DB995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latin typeface="Cambria Math" panose="02040503050406030204" pitchFamily="18" charset="0"/>
                  </a:rPr>
                  <a:t>Cubic splines are constructed from the following transformations,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 are the knots (hyperparameters) and K is the number of knots.</a:t>
                </a: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=1, 2, 3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ℓ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)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=1, …,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Cubic splines have the property that the first three derivatives of each piece match up at the end points, giving a smoothed appearance.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083858-B578-B873-5C00-8D110DB995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 b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98684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graph with red and blue lines&#10;&#10;Description automatically generated">
            <a:extLst>
              <a:ext uri="{FF2B5EF4-FFF2-40B4-BE49-F238E27FC236}">
                <a16:creationId xmlns:a16="http://schemas.microsoft.com/office/drawing/2014/main" id="{233260E5-6BFC-4A31-FE38-2178303970A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76154" y="2564780"/>
            <a:ext cx="8202721" cy="5224748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DC71A-092C-2D55-D3F3-1F32B0F7752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The example on the left models 500 points with X values between 0 and 6.</a:t>
            </a:r>
          </a:p>
          <a:p>
            <a:r>
              <a:rPr lang="en-US" dirty="0"/>
              <a:t>When programming this, we use the SciPy library, which automatically generates intervals to go through as many points as possible.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9B938B0-B83B-A12C-64EC-622C3537E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15549630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Piece-wise polynomials, also called splines, are a way to model points with several curves while not having extreme peaks. </a:t>
                </a:r>
              </a:p>
              <a:p>
                <a:r>
                  <a:rPr lang="en-US" dirty="0"/>
                  <a:t>The common form of splines are cubic splines.</a:t>
                </a:r>
              </a:p>
              <a:p>
                <a:r>
                  <a:rPr lang="en-US" dirty="0"/>
                  <a:t>The formula for cubic splines are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=1, 2, 3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ℓ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)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=1, …,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20667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TECH_Template_2019 (1)  -  Compatibility Mode" id="{96DF2388-B785-2045-9157-84F6A1D402CB}" vid="{FA40E05E-1420-CD4F-AB4E-3CD2BC76CD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6" ma:contentTypeDescription="Create a new document." ma:contentTypeScope="" ma:versionID="81a54cd395f61cfc29bb41b0389d7858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1db123aac500611cfff64836afef3716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6A4EEA-2556-441D-B20B-0657893061DE}">
  <ds:schemaRefs>
    <ds:schemaRef ds:uri="http://schemas.microsoft.com/office/2006/metadata/properties"/>
    <ds:schemaRef ds:uri="http://schemas.microsoft.com/office/infopath/2007/PartnerControls"/>
    <ds:schemaRef ds:uri="5e41b080-9453-459c-bb93-b19be7335f42"/>
    <ds:schemaRef ds:uri="4e58ebf2-e4df-4cd3-9186-1e42b3ede124"/>
  </ds:schemaRefs>
</ds:datastoreItem>
</file>

<file path=customXml/itemProps2.xml><?xml version="1.0" encoding="utf-8"?>
<ds:datastoreItem xmlns:ds="http://schemas.openxmlformats.org/officeDocument/2006/customXml" ds:itemID="{BFA838ED-C12F-4A42-8E88-98BAC73D214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A8A8912-516C-4469-8204-6EF3F717B0F5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8887</TotalTime>
  <Words>461</Words>
  <Application>Microsoft Macintosh PowerPoint</Application>
  <PresentationFormat>Custom</PresentationFormat>
  <Paragraphs>58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 Math</vt:lpstr>
      <vt:lpstr>Wingdings 2</vt:lpstr>
      <vt:lpstr>Breeze</vt:lpstr>
      <vt:lpstr>Math 769: Statistical Learning</vt:lpstr>
      <vt:lpstr>Piecewise Polynomials</vt:lpstr>
      <vt:lpstr>Last Time</vt:lpstr>
      <vt:lpstr>Objectives</vt:lpstr>
      <vt:lpstr>Introduction</vt:lpstr>
      <vt:lpstr>Introduction</vt:lpstr>
      <vt:lpstr>Introduction</vt:lpstr>
      <vt:lpstr>Introduction</vt:lpstr>
      <vt:lpstr>Splines</vt:lpstr>
      <vt:lpstr>Why do I want to go through all or most of the points exactly?</vt:lpstr>
      <vt:lpstr>Applications</vt:lpstr>
      <vt:lpstr>Cubic Splines</vt:lpstr>
      <vt:lpstr>Cubic Splines</vt:lpstr>
      <vt:lpstr>Example</vt:lpstr>
      <vt:lpstr>Conclusion</vt:lpstr>
    </vt:vector>
  </TitlesOfParts>
  <Manager/>
  <Company>Illinois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subject/>
  <dc:creator>Sandra Laporte</dc:creator>
  <cp:keywords/>
  <dc:description/>
  <cp:lastModifiedBy>Jamshidi, Sara (She/Her/Hers)</cp:lastModifiedBy>
  <cp:revision>39</cp:revision>
  <dcterms:created xsi:type="dcterms:W3CDTF">2019-02-13T16:04:21Z</dcterms:created>
  <dcterms:modified xsi:type="dcterms:W3CDTF">2023-12-04T06:50:57Z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SIP_Label_f2dee603-0001-4639-81f8-0608a53322f1_Enabled">
    <vt:lpwstr>true</vt:lpwstr>
  </property>
  <property fmtid="{D5CDD505-2E9C-101B-9397-08002B2CF9AE}" pid="4" name="MSIP_Label_f2dee603-0001-4639-81f8-0608a53322f1_SetDate">
    <vt:lpwstr>2023-11-13T19:27:41Z</vt:lpwstr>
  </property>
  <property fmtid="{D5CDD505-2E9C-101B-9397-08002B2CF9AE}" pid="5" name="MSIP_Label_f2dee603-0001-4639-81f8-0608a53322f1_Method">
    <vt:lpwstr>Standard</vt:lpwstr>
  </property>
  <property fmtid="{D5CDD505-2E9C-101B-9397-08002B2CF9AE}" pid="6" name="MSIP_Label_f2dee603-0001-4639-81f8-0608a53322f1_Name">
    <vt:lpwstr>defa4170-0d19-0005-0004-bc88714345d2</vt:lpwstr>
  </property>
  <property fmtid="{D5CDD505-2E9C-101B-9397-08002B2CF9AE}" pid="7" name="MSIP_Label_f2dee603-0001-4639-81f8-0608a53322f1_SiteId">
    <vt:lpwstr>b4478c05-3dd9-4e06-a7fb-5dcf72bd44ee</vt:lpwstr>
  </property>
  <property fmtid="{D5CDD505-2E9C-101B-9397-08002B2CF9AE}" pid="8" name="MSIP_Label_f2dee603-0001-4639-81f8-0608a53322f1_ActionId">
    <vt:lpwstr>1b0daab6-fbab-47d6-a526-f1d5535b6116</vt:lpwstr>
  </property>
  <property fmtid="{D5CDD505-2E9C-101B-9397-08002B2CF9AE}" pid="9" name="MSIP_Label_f2dee603-0001-4639-81f8-0608a53322f1_ContentBits">
    <vt:lpwstr>0</vt:lpwstr>
  </property>
</Properties>
</file>