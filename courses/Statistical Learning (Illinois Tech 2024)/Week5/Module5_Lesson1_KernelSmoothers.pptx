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1"/>
  </p:notesMasterIdLst>
  <p:sldIdLst>
    <p:sldId id="259" r:id="rId5"/>
    <p:sldId id="262" r:id="rId6"/>
    <p:sldId id="263" r:id="rId7"/>
    <p:sldId id="269" r:id="rId8"/>
    <p:sldId id="280" r:id="rId9"/>
    <p:sldId id="281" r:id="rId10"/>
    <p:sldId id="293" r:id="rId11"/>
    <p:sldId id="294" r:id="rId12"/>
    <p:sldId id="295" r:id="rId13"/>
    <p:sldId id="296" r:id="rId14"/>
    <p:sldId id="297" r:id="rId15"/>
    <p:sldId id="301" r:id="rId16"/>
    <p:sldId id="302" r:id="rId17"/>
    <p:sldId id="303" r:id="rId18"/>
    <p:sldId id="304" r:id="rId19"/>
    <p:sldId id="292" r:id="rId20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47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344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Kernel Smoothers and </a:t>
            </a:r>
            <a:br>
              <a:rPr lang="en-US" dirty="0"/>
            </a:br>
            <a:r>
              <a:rPr lang="en-US" dirty="0"/>
              <a:t>k-Nearest Neighbors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Regularization problems give rise to solutions based on kernel functions. </a:t>
            </a:r>
          </a:p>
          <a:p>
            <a:r>
              <a:rPr lang="en-US" altLang="en-US" dirty="0"/>
              <a:t>Reproducing kernel Hilbert spaces (RKHS) are spaces defined by these kernel functions.</a:t>
            </a:r>
          </a:p>
          <a:p>
            <a:r>
              <a:rPr lang="en-US" altLang="en-US" dirty="0"/>
              <a:t>This allows for us to embed our problem in a higher dimensional feature space without having to define these features.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a kernel smoothing method. </a:t>
            </a:r>
          </a:p>
          <a:p>
            <a:r>
              <a:rPr lang="en-US" altLang="en-US" dirty="0"/>
              <a:t>Describe the k-Nearest Neighbors model. </a:t>
            </a:r>
          </a:p>
          <a:p>
            <a:r>
              <a:rPr lang="en-US" altLang="en-US" dirty="0"/>
              <a:t>Explain why </a:t>
            </a:r>
            <a:r>
              <a:rPr lang="en-US" altLang="en-US" dirty="0" err="1"/>
              <a:t>kNN</a:t>
            </a:r>
            <a:r>
              <a:rPr lang="en-US" altLang="en-US" dirty="0"/>
              <a:t> is not a kernel smoothing method.</a:t>
            </a:r>
          </a:p>
          <a:p>
            <a:r>
              <a:rPr lang="en-US" altLang="en-US" dirty="0"/>
              <a:t>Describe the general setup for a kernel smoothing method. 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 as Localizers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type of kernel method that is distinct from what we’ve previously seen is called a </a:t>
            </a:r>
            <a:r>
              <a:rPr lang="en-US" b="1" dirty="0">
                <a:solidFill>
                  <a:schemeClr val="accent1"/>
                </a:solidFill>
              </a:rPr>
              <a:t>kernel smoothing method</a:t>
            </a:r>
            <a:r>
              <a:rPr lang="en-US" dirty="0"/>
              <a:t>. </a:t>
            </a:r>
          </a:p>
          <a:p>
            <a:r>
              <a:rPr lang="en-US" dirty="0"/>
              <a:t>These are kernel functions specifically for localizing data—rather than focusing on the entire training set, we only consider a subset of nearby points. </a:t>
            </a:r>
          </a:p>
        </p:txBody>
      </p:sp>
    </p:spTree>
    <p:extLst>
      <p:ext uri="{BB962C8B-B14F-4D97-AF65-F5344CB8AC3E}">
        <p14:creationId xmlns:p14="http://schemas.microsoft.com/office/powerpoint/2010/main" val="325930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Smoothing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Formally, for each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en-US" dirty="0"/>
                  <a:t>, we construct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based on nearby points in the dataset in a way that ensures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smooth function. </a:t>
                </a:r>
              </a:p>
              <a:p>
                <a:r>
                  <a:rPr lang="en-US" dirty="0"/>
                  <a:t>This is a regression technique. </a:t>
                </a:r>
              </a:p>
              <a:p>
                <a:r>
                  <a:rPr lang="en-US" dirty="0"/>
                  <a:t>Localization is based on a kernel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assigns a weight to the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(from the dataset) based on its distance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a hyperparameter that helps define when points are considered too far.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2578" r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-Nearest Neighbors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-nearest neighbors is a common technique in machine learning where points are estimated based on nearby points in the dataset.</a:t>
                </a:r>
              </a:p>
              <a:p>
                <a:r>
                  <a:rPr lang="en-US" dirty="0"/>
                  <a:t>It is NOT a kernel smoothing method, but it is related in spirit to the idea. </a:t>
                </a:r>
              </a:p>
              <a:p>
                <a:r>
                  <a:rPr lang="en-US" dirty="0"/>
                  <a:t>The model works as such: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Ave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other words, we select a hyperparameter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and we consider the average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of the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nearest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dataset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99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dataset to your right is a training set and suppose you want to construct a 3-nearest neighbors model. </a:t>
                </a:r>
              </a:p>
              <a:p>
                <a:r>
                  <a:rPr lang="en-US" dirty="0"/>
                  <a:t>Suppose we wish to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3AD4A7-E7CC-E539-6EB3-F9DCFB7E74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1110097"/>
              </p:ext>
            </p:extLst>
          </p:nvPr>
        </p:nvGraphicFramePr>
        <p:xfrm>
          <a:off x="9502775" y="2085975"/>
          <a:ext cx="76803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162">
                  <a:extLst>
                    <a:ext uri="{9D8B030D-6E8A-4147-A177-3AD203B41FA5}">
                      <a16:colId xmlns:a16="http://schemas.microsoft.com/office/drawing/2014/main" val="3876512776"/>
                    </a:ext>
                  </a:extLst>
                </a:gridCol>
                <a:gridCol w="3840162">
                  <a:extLst>
                    <a:ext uri="{9D8B030D-6E8A-4147-A177-3AD203B41FA5}">
                      <a16:colId xmlns:a16="http://schemas.microsoft.com/office/drawing/2014/main" val="1844526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4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4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73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94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2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247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392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85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-Nearest Neighbors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38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three nearest values to 2.5 are: 2.2, 3.3, and 1.1.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3.5+1.5+2.3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=2.433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=2.433</m:t>
                    </m:r>
                  </m:oMath>
                </a14:m>
                <a:r>
                  <a:rPr lang="en-US" dirty="0"/>
                  <a:t>. Why?</a:t>
                </a:r>
              </a:p>
              <a:p>
                <a:r>
                  <a:rPr lang="en-US" dirty="0"/>
                  <a:t>At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will you see a change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2724" b="-3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3AD4A7-E7CC-E539-6EB3-F9DCFB7E74C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502775" y="2085975"/>
          <a:ext cx="76803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162">
                  <a:extLst>
                    <a:ext uri="{9D8B030D-6E8A-4147-A177-3AD203B41FA5}">
                      <a16:colId xmlns:a16="http://schemas.microsoft.com/office/drawing/2014/main" val="3876512776"/>
                    </a:ext>
                  </a:extLst>
                </a:gridCol>
                <a:gridCol w="3840162">
                  <a:extLst>
                    <a:ext uri="{9D8B030D-6E8A-4147-A177-3AD203B41FA5}">
                      <a16:colId xmlns:a16="http://schemas.microsoft.com/office/drawing/2014/main" val="1844526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4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4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73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94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2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247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392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85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-Nearest Neighbors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770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-Nearest Neighbors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53468-8D57-6486-C66B-FD304493E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kNN</a:t>
            </a:r>
            <a:r>
              <a:rPr lang="en-US" dirty="0"/>
              <a:t> can be used for classification as well, using ordinal encoding and rounding. </a:t>
            </a:r>
          </a:p>
          <a:p>
            <a:r>
              <a:rPr lang="en-US" dirty="0"/>
              <a:t>Suppose we have two classes. Below is the training and testing set. </a:t>
            </a:r>
          </a:p>
        </p:txBody>
      </p:sp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572FB78A-B2F8-8CDD-F7EF-ACB8E69D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323" y="4617564"/>
            <a:ext cx="9924585" cy="465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8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a validation set, we discover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is the best choice for the hyperparameter and get the following model: </a:t>
                </a:r>
              </a:p>
              <a:p>
                <a:r>
                  <a:rPr lang="en-US" dirty="0"/>
                  <a:t>The testing accuracy is 0.9667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53468-8D57-6486-C66B-FD304493E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 r="-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-Nearest Neighbors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Diagram of a kNN model classifying two groups in a space of features.">
            <a:extLst>
              <a:ext uri="{FF2B5EF4-FFF2-40B4-BE49-F238E27FC236}">
                <a16:creationId xmlns:a16="http://schemas.microsoft.com/office/drawing/2014/main" id="{0C12864C-E8E9-203E-1D86-5EE68F7A8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508492" y="2305346"/>
            <a:ext cx="7945405" cy="6295452"/>
          </a:xfrm>
        </p:spPr>
      </p:pic>
    </p:spTree>
    <p:extLst>
      <p:ext uri="{BB962C8B-B14F-4D97-AF65-F5344CB8AC3E}">
        <p14:creationId xmlns:p14="http://schemas.microsoft.com/office/powerpoint/2010/main" val="421872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Why isn’t </a:t>
            </a:r>
            <a:r>
              <a:rPr lang="en-US" dirty="0" err="1"/>
              <a:t>kNN</a:t>
            </a:r>
            <a:r>
              <a:rPr lang="en-US" dirty="0"/>
              <a:t> a kernel smoothing method?</a:t>
            </a:r>
          </a:p>
        </p:txBody>
      </p:sp>
    </p:spTree>
    <p:extLst>
      <p:ext uri="{BB962C8B-B14F-4D97-AF65-F5344CB8AC3E}">
        <p14:creationId xmlns:p14="http://schemas.microsoft.com/office/powerpoint/2010/main" val="360709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C053-7F76-8581-7EB9-109ACF62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kNN</a:t>
            </a:r>
            <a:r>
              <a:rPr lang="en-US" dirty="0"/>
              <a:t> versus Kernel Smoothing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A26C6-72C8-671E-756E-E5FB2B83C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BOTH are localized methods, </a:t>
            </a:r>
            <a:r>
              <a:rPr lang="en-US" dirty="0" err="1"/>
              <a:t>kNN</a:t>
            </a:r>
            <a:r>
              <a:rPr lang="en-US" dirty="0"/>
              <a:t> does not produce a smooth function. </a:t>
            </a:r>
          </a:p>
          <a:p>
            <a:r>
              <a:rPr lang="en-US" dirty="0"/>
              <a:t>We can see that within the first examples—estimated output values can jump wildly. </a:t>
            </a:r>
          </a:p>
        </p:txBody>
      </p:sp>
    </p:spTree>
    <p:extLst>
      <p:ext uri="{BB962C8B-B14F-4D97-AF65-F5344CB8AC3E}">
        <p14:creationId xmlns:p14="http://schemas.microsoft.com/office/powerpoint/2010/main" val="6478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48294E6-FB01-E20E-7460-8276F6AD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Example of a Kernel Smoother?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4CB5F9-8944-9933-8428-46D0C7889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kernel function is used to define the weight of each point based on its distance from the target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defines the weights relative to the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smoothing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determines the width of the neighborhood, similar to the k in </a:t>
                </a:r>
                <a:r>
                  <a:rPr lang="en-US" dirty="0" err="1"/>
                  <a:t>kNN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4CB5F9-8944-9933-8428-46D0C7889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1550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148294E6-FB01-E20E-7460-8276F6AD4B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Choices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148294E6-FB01-E20E-7460-8276F6AD4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4CB5F9-8944-9933-8428-46D0C7889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Quadratic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Cubic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Gaussian</a:t>
                </a:r>
              </a:p>
              <a:p>
                <a:r>
                  <a:rPr lang="en-US" dirty="0"/>
                  <a:t>The choice of kernel affects the smoothness of the estimated function.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4CB5F9-8944-9933-8428-46D0C7889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3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Kernel smoothing functions make predictions based on data local to the target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k-Nearest Neighbors (</a:t>
                </a:r>
                <a:r>
                  <a:rPr lang="en-US" dirty="0" err="1"/>
                  <a:t>kNN</a:t>
                </a:r>
                <a:r>
                  <a:rPr lang="en-US" dirty="0"/>
                  <a:t>), also makes predictions of a target point,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by taking the average of the output of k closest points. It is not smooth, however. </a:t>
                </a:r>
              </a:p>
              <a:p>
                <a:r>
                  <a:rPr lang="en-US" dirty="0"/>
                  <a:t>The kernel function for kernel smoothing methods are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372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FE5075-87E3-45D5-8DCC-EE39EA02D565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10152</TotalTime>
  <Words>734</Words>
  <Application>Microsoft Macintosh PowerPoint</Application>
  <PresentationFormat>Custom</PresentationFormat>
  <Paragraphs>99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Wingdings 2</vt:lpstr>
      <vt:lpstr>Breeze</vt:lpstr>
      <vt:lpstr>Math 769: Statistical Learning</vt:lpstr>
      <vt:lpstr>Kernel Smoothers and  k-Nearest Neighbors</vt:lpstr>
      <vt:lpstr>Last Time</vt:lpstr>
      <vt:lpstr>Objectives</vt:lpstr>
      <vt:lpstr>Kernels as Localizers</vt:lpstr>
      <vt:lpstr>Kernel Smoothing Methods</vt:lpstr>
      <vt:lpstr>k-Nearest Neighbors</vt:lpstr>
      <vt:lpstr>k-Nearest Neighbors</vt:lpstr>
      <vt:lpstr>k-Nearest Neighbors</vt:lpstr>
      <vt:lpstr>k-Nearest Neighbors</vt:lpstr>
      <vt:lpstr>k-Nearest Neighbors</vt:lpstr>
      <vt:lpstr>Why isn’t kNN a kernel smoothing method?</vt:lpstr>
      <vt:lpstr>kNN versus Kernel Smoothing Methods</vt:lpstr>
      <vt:lpstr>What is an Example of a Kernel Smoother?</vt:lpstr>
      <vt:lpstr>Choices for D(t)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44</cp:revision>
  <dcterms:created xsi:type="dcterms:W3CDTF">2019-02-13T16:04:21Z</dcterms:created>
  <dcterms:modified xsi:type="dcterms:W3CDTF">2023-12-04T10:04:44Z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