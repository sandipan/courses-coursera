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0"/>
  </p:notesMasterIdLst>
  <p:sldIdLst>
    <p:sldId id="259" r:id="rId5"/>
    <p:sldId id="262" r:id="rId6"/>
    <p:sldId id="263" r:id="rId7"/>
    <p:sldId id="269" r:id="rId8"/>
    <p:sldId id="280" r:id="rId9"/>
    <p:sldId id="281" r:id="rId10"/>
    <p:sldId id="306" r:id="rId11"/>
    <p:sldId id="307" r:id="rId12"/>
    <p:sldId id="293" r:id="rId13"/>
    <p:sldId id="308" r:id="rId14"/>
    <p:sldId id="311" r:id="rId15"/>
    <p:sldId id="309" r:id="rId16"/>
    <p:sldId id="310" r:id="rId17"/>
    <p:sldId id="305" r:id="rId18"/>
    <p:sldId id="312" r:id="rId1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93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560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Local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Kernel Smoothing functions make predictions based on local data. </a:t>
                </a:r>
              </a:p>
              <a:p>
                <a:r>
                  <a:rPr lang="en-US" altLang="en-US" dirty="0" err="1"/>
                  <a:t>kNN</a:t>
                </a:r>
                <a:r>
                  <a:rPr lang="en-US" altLang="en-US" dirty="0"/>
                  <a:t> is another model that uses local data, but is not smooth. </a:t>
                </a:r>
              </a:p>
              <a:p>
                <a:r>
                  <a:rPr lang="en-US" altLang="en-US" dirty="0"/>
                  <a:t>The kernel function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can be several types of functions that determine the weights based on 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dirty="0"/>
                  <a:t>.</a:t>
                </a:r>
              </a:p>
            </p:txBody>
          </p:sp>
        </mc:Choice>
        <mc:Fallback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 r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Define local linear regression.</a:t>
            </a:r>
          </a:p>
          <a:p>
            <a:r>
              <a:rPr lang="en-US" altLang="en-US" dirty="0"/>
              <a:t>Define local polynomial regression.</a:t>
            </a:r>
          </a:p>
          <a:p>
            <a:r>
              <a:rPr lang="en-US" altLang="en-US" dirty="0"/>
              <a:t>List their hyperparameters.</a:t>
            </a:r>
          </a:p>
          <a:p>
            <a:r>
              <a:rPr lang="en-US" altLang="en-US" dirty="0"/>
              <a:t>Describe their strengths and weaknesses. 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regression is a non-parametric technique used for constructing a smooth function. </a:t>
            </a:r>
          </a:p>
          <a:p>
            <a:r>
              <a:rPr lang="en-US" dirty="0"/>
              <a:t>This function estimation is ideal when the relationship between variables is complex and not adequately captured by a global model.</a:t>
            </a:r>
          </a:p>
        </p:txBody>
      </p:sp>
    </p:spTree>
    <p:extLst>
      <p:ext uri="{BB962C8B-B14F-4D97-AF65-F5344CB8AC3E}">
        <p14:creationId xmlns:p14="http://schemas.microsoft.com/office/powerpoint/2010/main" val="325930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Local linear regression is designed to overcome some of the shortcomings of kernel smoothing methods, particularly at the boundaries of the domain. </a:t>
                </a:r>
              </a:p>
              <a:p>
                <a:r>
                  <a:rPr lang="en-US" dirty="0"/>
                  <a:t>In LLR, at each target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where a prediction is needed, a linear regression model is fit to the data points that are 'local'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. </a:t>
                </a:r>
              </a:p>
              <a:p>
                <a:r>
                  <a:rPr lang="en-US" dirty="0"/>
                  <a:t>'Local' is defined by a kernel function that assigns weights to data points based on their distance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.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0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7C9C-9421-BCF3-4E32-51298ED0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Mechanics of Local </a:t>
            </a:r>
            <a:r>
              <a:rPr lang="en-US" dirty="0"/>
              <a:t>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D5250-C75C-BCF1-4DD0-2998AAEC8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kernel function is typically centered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a hyperparameter,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determines the width of the neighborhood.</a:t>
                </a:r>
              </a:p>
              <a:p>
                <a:pPr lvl="1"/>
                <a:r>
                  <a:rPr lang="en-US" dirty="0"/>
                  <a:t>a 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leads to a narrower, more local fitting. </a:t>
                </a:r>
              </a:p>
              <a:p>
                <a:r>
                  <a:rPr lang="en-US" dirty="0"/>
                  <a:t>The fit is done by minimizing the weighted sum of squared residuals, with the weights provided by the kernel function.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D5250-C75C-BCF1-4DD0-2998AAEC8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83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BCE2EB-7CDE-AD72-F080-8CFF64B8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23" name="Content Placeholder 2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0494B5AC-6551-64A6-6440-4BF5F69B01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8550" y="2897522"/>
            <a:ext cx="7680325" cy="4892006"/>
          </a:xfrm>
        </p:spPr>
      </p:pic>
      <p:pic>
        <p:nvPicPr>
          <p:cNvPr id="25" name="Content Placeholder 24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DA61CC88-6CDE-1713-CABF-4565944AB2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502775" y="2897522"/>
            <a:ext cx="7680325" cy="4892006"/>
          </a:xfrm>
        </p:spPr>
      </p:pic>
    </p:spTree>
    <p:extLst>
      <p:ext uri="{BB962C8B-B14F-4D97-AF65-F5344CB8AC3E}">
        <p14:creationId xmlns:p14="http://schemas.microsoft.com/office/powerpoint/2010/main" val="406398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Polynomial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Local polynomial regression generalizes LLR by fitting polynomials of degree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&gt; 1 to the data within the neighborhood defined by the kernel function. </a:t>
                </a:r>
              </a:p>
              <a:p>
                <a:r>
                  <a:rPr lang="en-US" dirty="0"/>
                  <a:t>This approach allows for more flexibility in capturing the local structure of the data.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99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Degree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9CB9D2-9582-18D1-3E23-7F92F4871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each target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, a polynomial of degree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fit to the points in the neighborhood, with the kernel function determining the weights. </a:t>
                </a:r>
              </a:p>
              <a:p>
                <a:r>
                  <a:rPr lang="en-US" dirty="0"/>
                  <a:t>The polynomial degree d dictates the complexity of the curve; for example,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for a quadratic curve,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for cubic, and so on. </a:t>
                </a:r>
              </a:p>
              <a:p>
                <a:r>
                  <a:rPr lang="en-US" dirty="0"/>
                  <a:t>The choice of d depends on the desired smoothness of the curve and the nature of the underlying function being estimated.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r="-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617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9752C366-E083-FFC1-7804-0259EF0F7A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02775" y="2897522"/>
            <a:ext cx="7680325" cy="4892006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405CE97-E72F-97FC-FEBA-B4256D374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1" name="Content Placeholder 10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E3DECEB4-B6ED-1DAC-1071-3AFF63B70C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98550" y="2897522"/>
            <a:ext cx="7680325" cy="4892006"/>
          </a:xfrm>
        </p:spPr>
      </p:pic>
    </p:spTree>
    <p:extLst>
      <p:ext uri="{BB962C8B-B14F-4D97-AF65-F5344CB8AC3E}">
        <p14:creationId xmlns:p14="http://schemas.microsoft.com/office/powerpoint/2010/main" val="2560411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Polynomial and Linear Regression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C67DE-EECD-8CCA-C610-660596787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Both are particularly useful for </a:t>
            </a:r>
          </a:p>
          <a:p>
            <a:pPr lvl="1"/>
            <a:r>
              <a:rPr lang="en-US" dirty="0"/>
              <a:t>Smoothing data </a:t>
            </a:r>
          </a:p>
          <a:p>
            <a:pPr lvl="1"/>
            <a:r>
              <a:rPr lang="en-US" dirty="0"/>
              <a:t>Function estimation </a:t>
            </a:r>
          </a:p>
          <a:p>
            <a:r>
              <a:rPr lang="en-US" dirty="0"/>
              <a:t>Best for cases where the relationship between the independent and dependent variables is too complex for global models. </a:t>
            </a:r>
          </a:p>
        </p:txBody>
      </p:sp>
    </p:spTree>
    <p:extLst>
      <p:ext uri="{BB962C8B-B14F-4D97-AF65-F5344CB8AC3E}">
        <p14:creationId xmlns:p14="http://schemas.microsoft.com/office/powerpoint/2010/main" val="2355659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Polynomial and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Advantages</a:t>
                </a:r>
                <a:endParaRPr lang="en-US" dirty="0"/>
              </a:p>
              <a:p>
                <a:pPr lvl="1"/>
                <a:r>
                  <a:rPr lang="en-US" b="1" dirty="0"/>
                  <a:t>Adaptive</a:t>
                </a:r>
                <a:r>
                  <a:rPr lang="en-US" dirty="0"/>
                  <a:t>. Allows the shape of the regression function to change depending on the local distribution of the data</a:t>
                </a:r>
              </a:p>
              <a:p>
                <a:pPr lvl="1"/>
                <a:r>
                  <a:rPr lang="en-US" b="1" dirty="0"/>
                  <a:t>Fit</a:t>
                </a:r>
                <a:r>
                  <a:rPr lang="en-US" dirty="0"/>
                  <a:t>. Provides a better fit for data with varying trends</a:t>
                </a:r>
              </a:p>
              <a:p>
                <a:r>
                  <a:rPr lang="en-US" b="1" dirty="0"/>
                  <a:t>Challenges</a:t>
                </a:r>
              </a:p>
              <a:p>
                <a:pPr lvl="1"/>
                <a:r>
                  <a:rPr lang="en-US" b="1" dirty="0"/>
                  <a:t>Selection</a:t>
                </a:r>
                <a:r>
                  <a:rPr lang="en-US" dirty="0"/>
                  <a:t>. Picking appropriate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for the kernel function</a:t>
                </a:r>
              </a:p>
              <a:p>
                <a:pPr lvl="1"/>
                <a:r>
                  <a:rPr lang="en-US" b="1" dirty="0"/>
                  <a:t>Computational power</a:t>
                </a:r>
                <a:r>
                  <a:rPr lang="en-US" dirty="0"/>
                  <a:t>. Especially for large datasets.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262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Local linear regression is a technique where at each target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where a prediction is needed, a linear regression model is fit to the data points that are 'local'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 kernel function is used to define what is local and how it is weighted. </a:t>
                </a:r>
              </a:p>
              <a:p>
                <a:r>
                  <a:rPr lang="en-US" dirty="0"/>
                  <a:t>Local polynomial regression is similar to local linear regression, except we fit a polynomial of degree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514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models are highly adaptive and provide a good fit for a variety of datasets.</a:t>
            </a:r>
          </a:p>
          <a:p>
            <a:r>
              <a:rPr lang="en-US" dirty="0"/>
              <a:t>It is, however, challenging to select the hyperparameters and they can be computationally expensive for large datasets. </a:t>
            </a:r>
          </a:p>
        </p:txBody>
      </p:sp>
    </p:spTree>
    <p:extLst>
      <p:ext uri="{BB962C8B-B14F-4D97-AF65-F5344CB8AC3E}">
        <p14:creationId xmlns:p14="http://schemas.microsoft.com/office/powerpoint/2010/main" val="38451311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599DAC-DBA8-49CC-9EEC-701252DB29D6}"/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10183</TotalTime>
  <Words>589</Words>
  <Application>Microsoft Macintosh PowerPoint</Application>
  <PresentationFormat>Custom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 2</vt:lpstr>
      <vt:lpstr>Breeze</vt:lpstr>
      <vt:lpstr>Math 769: Statistical Learning</vt:lpstr>
      <vt:lpstr>Local Regression</vt:lpstr>
      <vt:lpstr>Last Time</vt:lpstr>
      <vt:lpstr>Objectives</vt:lpstr>
      <vt:lpstr>Local Regression</vt:lpstr>
      <vt:lpstr>Local Linear Regression</vt:lpstr>
      <vt:lpstr>Mechanics of Local Linear Regression</vt:lpstr>
      <vt:lpstr>Example</vt:lpstr>
      <vt:lpstr>Local Polynomial Regression</vt:lpstr>
      <vt:lpstr>Degree d</vt:lpstr>
      <vt:lpstr>Example</vt:lpstr>
      <vt:lpstr>Local Polynomial and Linear Regression</vt:lpstr>
      <vt:lpstr>Local Polynomial and Linear Regression</vt:lpstr>
      <vt:lpstr>Conclusion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44</cp:revision>
  <dcterms:created xsi:type="dcterms:W3CDTF">2019-02-13T16:04:21Z</dcterms:created>
  <dcterms:modified xsi:type="dcterms:W3CDTF">2023-12-04T10:06:42Z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