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4"/>
  </p:notesMasterIdLst>
  <p:sldIdLst>
    <p:sldId id="259" r:id="rId5"/>
    <p:sldId id="262" r:id="rId6"/>
    <p:sldId id="263" r:id="rId7"/>
    <p:sldId id="269" r:id="rId8"/>
    <p:sldId id="322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7" r:id="rId20"/>
    <p:sldId id="336" r:id="rId21"/>
    <p:sldId id="338" r:id="rId22"/>
    <p:sldId id="325" r:id="rId23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397"/>
    <p:restoredTop sz="69967"/>
  </p:normalViewPr>
  <p:slideViewPr>
    <p:cSldViewPr snapToGrid="0" snapToObjects="1">
      <p:cViewPr varScale="1">
        <p:scale>
          <a:sx n="34" d="100"/>
          <a:sy n="34" d="100"/>
        </p:scale>
        <p:origin x="224" y="62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12/12/23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41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the aim k-means clustering—to group unlabeled data into a specified number of clusters. </a:t>
            </a:r>
          </a:p>
          <a:p>
            <a:r>
              <a:rPr lang="en-US" altLang="en-US" dirty="0"/>
              <a:t>We discussed the algorithm of the process as well.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Describe the biological inspiration of artificial neurons. </a:t>
            </a:r>
          </a:p>
          <a:p>
            <a:r>
              <a:rPr lang="en-US" altLang="en-US" dirty="0"/>
              <a:t>Define key terms such as weights, bias, activation function, and hidden layer. </a:t>
            </a:r>
          </a:p>
          <a:p>
            <a:r>
              <a:rPr lang="en-US" altLang="en-US" dirty="0"/>
              <a:t>List some hyperparameters of neural network models.</a:t>
            </a:r>
          </a:p>
          <a:p>
            <a:r>
              <a:rPr lang="en-US" altLang="en-US" dirty="0"/>
              <a:t>List two activation functions commonly used in these networks. </a:t>
            </a:r>
          </a:p>
          <a:p>
            <a:r>
              <a:rPr lang="en-US" altLang="en-US" dirty="0"/>
              <a:t>List two ways the model variance is mitigated.</a:t>
            </a:r>
          </a:p>
          <a:p>
            <a:r>
              <a:rPr lang="en-US" altLang="en-US" dirty="0"/>
              <a:t>List two ways parameter convergence is improved. 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Neurons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Mathematical models from the 1950s provided a foundation for how biological neurons work. </a:t>
            </a:r>
          </a:p>
          <a:p>
            <a:r>
              <a:rPr lang="en-US" dirty="0"/>
              <a:t>One neuron would generate a potential. The following neuron would have a probability of firing based on the electrical potential. </a:t>
            </a:r>
          </a:p>
        </p:txBody>
      </p:sp>
      <p:pic>
        <p:nvPicPr>
          <p:cNvPr id="5" name="Picture 4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86BE078F-F284-CB06-3D0D-323BD5105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307" y="7125163"/>
            <a:ext cx="3352800" cy="1104900"/>
          </a:xfrm>
          <a:prstGeom prst="rect">
            <a:avLst/>
          </a:prstGeom>
        </p:spPr>
      </p:pic>
      <p:pic>
        <p:nvPicPr>
          <p:cNvPr id="6" name="Picture 5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EE2AC1A8-1483-F94E-C597-078092A03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290" y="7161405"/>
            <a:ext cx="3352800" cy="1104900"/>
          </a:xfrm>
          <a:prstGeom prst="rect">
            <a:avLst/>
          </a:prstGeom>
        </p:spPr>
      </p:pic>
      <p:pic>
        <p:nvPicPr>
          <p:cNvPr id="8" name="Picture 7" descr="A graph on a piece of paper&#10;&#10;Description automatically generated">
            <a:extLst>
              <a:ext uri="{FF2B5EF4-FFF2-40B4-BE49-F238E27FC236}">
                <a16:creationId xmlns:a16="http://schemas.microsoft.com/office/drawing/2014/main" id="{A47C1B82-36D8-3705-79AE-3AC425EC9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026" y="5474006"/>
            <a:ext cx="2971800" cy="147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49F0C5-62D1-A57E-B49C-F9A2C1E55549}"/>
              </a:ext>
            </a:extLst>
          </p:cNvPr>
          <p:cNvSpPr txBox="1"/>
          <p:nvPr/>
        </p:nvSpPr>
        <p:spPr>
          <a:xfrm>
            <a:off x="5587307" y="8408020"/>
            <a:ext cx="31725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Neuron sending signal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FFFC50-A26F-4D7E-A62B-E0B87DBB233D}"/>
              </a:ext>
            </a:extLst>
          </p:cNvPr>
          <p:cNvSpPr txBox="1"/>
          <p:nvPr/>
        </p:nvSpPr>
        <p:spPr>
          <a:xfrm>
            <a:off x="9303290" y="8461651"/>
            <a:ext cx="31725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Neuron receiving signal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0CB86-D30A-1EAE-F4CE-214B06D58BA9}"/>
              </a:ext>
            </a:extLst>
          </p:cNvPr>
          <p:cNvSpPr txBox="1"/>
          <p:nvPr/>
        </p:nvSpPr>
        <p:spPr>
          <a:xfrm>
            <a:off x="2301415" y="5881215"/>
            <a:ext cx="3352800" cy="54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Potential = signal</a:t>
            </a:r>
          </a:p>
        </p:txBody>
      </p:sp>
      <p:pic>
        <p:nvPicPr>
          <p:cNvPr id="13" name="Picture 12" descr="A graph on a piece of paper&#10;&#10;Description automatically generated">
            <a:extLst>
              <a:ext uri="{FF2B5EF4-FFF2-40B4-BE49-F238E27FC236}">
                <a16:creationId xmlns:a16="http://schemas.microsoft.com/office/drawing/2014/main" id="{AB98DD29-159C-D175-9373-69F78AFE4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290" y="5512106"/>
            <a:ext cx="3556000" cy="1435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41EFC3-3BB0-AF46-7B10-C132EB7AAC25}"/>
              </a:ext>
            </a:extLst>
          </p:cNvPr>
          <p:cNvSpPr txBox="1"/>
          <p:nvPr/>
        </p:nvSpPr>
        <p:spPr>
          <a:xfrm>
            <a:off x="13030275" y="5506041"/>
            <a:ext cx="3352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Probability of also firing based on signal received</a:t>
            </a:r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9A120-70DD-C2F1-624A-1C85A559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Neurons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67244-3DEB-00AA-4C67-163B2DB0C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Artificial neurons (ones that exist theoretically and are represented by computer calculations) are just entries in a vector. </a:t>
            </a:r>
          </a:p>
          <a:p>
            <a:r>
              <a:rPr lang="en-US" dirty="0"/>
              <a:t>Their connections (edges) represent </a:t>
            </a:r>
            <a:r>
              <a:rPr lang="en-US" b="1" dirty="0"/>
              <a:t>transformations</a:t>
            </a:r>
            <a:r>
              <a:rPr lang="en-US" dirty="0"/>
              <a:t> that can be sigmoid.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46BFC7-6DFF-99D3-800D-2D8554606531}"/>
              </a:ext>
            </a:extLst>
          </p:cNvPr>
          <p:cNvSpPr/>
          <p:nvPr/>
        </p:nvSpPr>
        <p:spPr>
          <a:xfrm>
            <a:off x="4250724" y="6508163"/>
            <a:ext cx="1026515" cy="1036159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F773DC-9BD1-1CD5-D2DC-8CD35EEA510A}"/>
                  </a:ext>
                </a:extLst>
              </p:cNvPr>
              <p:cNvSpPr/>
              <p:nvPr/>
            </p:nvSpPr>
            <p:spPr>
              <a:xfrm>
                <a:off x="8429413" y="6508163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(5)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F773DC-9BD1-1CD5-D2DC-8CD35EEA51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413" y="6508163"/>
                <a:ext cx="1026515" cy="1036159"/>
              </a:xfrm>
              <a:prstGeom prst="ellipse">
                <a:avLst/>
              </a:prstGeom>
              <a:blipFill>
                <a:blip r:embed="rId2"/>
                <a:stretch>
                  <a:fillRect l="-10638" r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6ED2A8-0067-955D-B3BD-D914EE32A9A9}"/>
              </a:ext>
            </a:extLst>
          </p:cNvPr>
          <p:cNvCxnSpPr/>
          <p:nvPr/>
        </p:nvCxnSpPr>
        <p:spPr>
          <a:xfrm>
            <a:off x="5684108" y="7026242"/>
            <a:ext cx="2496065" cy="0"/>
          </a:xfrm>
          <a:prstGeom prst="straightConnector1">
            <a:avLst/>
          </a:prstGeom>
          <a:ln w="60325" cmpd="sng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968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9A120-70DD-C2F1-624A-1C85A559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Weights, Bias, and 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67244-3DEB-00AA-4C67-163B2DB0C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transformations between neurons follow a specific form: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>
                    <a:solidFill>
                      <a:schemeClr val="bg1"/>
                    </a:solidFill>
                  </a:rPr>
                  <a:t>weight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>
                    <a:solidFill>
                      <a:schemeClr val="bg1"/>
                    </a:solidFill>
                  </a:rPr>
                  <a:t>bias</a:t>
                </a:r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>
                    <a:solidFill>
                      <a:schemeClr val="bg1"/>
                    </a:solidFill>
                  </a:rPr>
                  <a:t>activation function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67244-3DEB-00AA-4C67-163B2DB0C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r="-2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046BFC7-6DFF-99D3-800D-2D8554606531}"/>
                  </a:ext>
                </a:extLst>
              </p:cNvPr>
              <p:cNvSpPr/>
              <p:nvPr/>
            </p:nvSpPr>
            <p:spPr>
              <a:xfrm>
                <a:off x="4250724" y="6508163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046BFC7-6DFF-99D3-800D-2D8554606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724" y="6508163"/>
                <a:ext cx="1026515" cy="103615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F773DC-9BD1-1CD5-D2DC-8CD35EEA510A}"/>
                  </a:ext>
                </a:extLst>
              </p:cNvPr>
              <p:cNvSpPr/>
              <p:nvPr/>
            </p:nvSpPr>
            <p:spPr>
              <a:xfrm>
                <a:off x="8429413" y="6508163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F773DC-9BD1-1CD5-D2DC-8CD35EEA51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413" y="6508163"/>
                <a:ext cx="1026515" cy="1036159"/>
              </a:xfrm>
              <a:prstGeom prst="ellipse">
                <a:avLst/>
              </a:prstGeom>
              <a:blipFill>
                <a:blip r:embed="rId4"/>
                <a:stretch>
                  <a:fillRect l="-10638" r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6ED2A8-0067-955D-B3BD-D914EE32A9A9}"/>
              </a:ext>
            </a:extLst>
          </p:cNvPr>
          <p:cNvCxnSpPr/>
          <p:nvPr/>
        </p:nvCxnSpPr>
        <p:spPr>
          <a:xfrm>
            <a:off x="5684108" y="7026242"/>
            <a:ext cx="2496065" cy="0"/>
          </a:xfrm>
          <a:prstGeom prst="straightConnector1">
            <a:avLst/>
          </a:prstGeom>
          <a:ln w="60325" cmpd="sng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99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9A120-70DD-C2F1-624A-1C85A559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Weights, Bias, and Activation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67244-3DEB-00AA-4C67-163B2DB0C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Conceptually, the weight is how </a:t>
            </a:r>
            <a:r>
              <a:rPr lang="en-US" i="1" dirty="0">
                <a:solidFill>
                  <a:schemeClr val="bg1"/>
                </a:solidFill>
              </a:rPr>
              <a:t>responsive</a:t>
            </a:r>
            <a:r>
              <a:rPr lang="en-US" dirty="0"/>
              <a:t> neuron 2 is to the signals from neuron 1. </a:t>
            </a:r>
          </a:p>
          <a:p>
            <a:pPr lvl="1"/>
            <a:r>
              <a:rPr lang="en-US" dirty="0"/>
              <a:t>High weight means very responsive to signal; low weight means not responsive. </a:t>
            </a:r>
          </a:p>
          <a:p>
            <a:r>
              <a:rPr lang="en-US" dirty="0"/>
              <a:t>The bias represents a neuron’s general proclivity to send a signal.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046BFC7-6DFF-99D3-800D-2D8554606531}"/>
                  </a:ext>
                </a:extLst>
              </p:cNvPr>
              <p:cNvSpPr/>
              <p:nvPr/>
            </p:nvSpPr>
            <p:spPr>
              <a:xfrm>
                <a:off x="4250724" y="6508163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046BFC7-6DFF-99D3-800D-2D8554606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724" y="6508163"/>
                <a:ext cx="1026515" cy="103615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F773DC-9BD1-1CD5-D2DC-8CD35EEA510A}"/>
                  </a:ext>
                </a:extLst>
              </p:cNvPr>
              <p:cNvSpPr/>
              <p:nvPr/>
            </p:nvSpPr>
            <p:spPr>
              <a:xfrm>
                <a:off x="8429413" y="6508163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F773DC-9BD1-1CD5-D2DC-8CD35EEA51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413" y="6508163"/>
                <a:ext cx="1026515" cy="1036159"/>
              </a:xfrm>
              <a:prstGeom prst="ellipse">
                <a:avLst/>
              </a:prstGeom>
              <a:blipFill>
                <a:blip r:embed="rId3"/>
                <a:stretch>
                  <a:fillRect l="-10638" r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6ED2A8-0067-955D-B3BD-D914EE32A9A9}"/>
              </a:ext>
            </a:extLst>
          </p:cNvPr>
          <p:cNvCxnSpPr/>
          <p:nvPr/>
        </p:nvCxnSpPr>
        <p:spPr>
          <a:xfrm>
            <a:off x="5684108" y="7026242"/>
            <a:ext cx="2496065" cy="0"/>
          </a:xfrm>
          <a:prstGeom prst="straightConnector1">
            <a:avLst/>
          </a:prstGeom>
          <a:ln w="60325" cmpd="sng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58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9A120-70DD-C2F1-624A-1C85A559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67244-3DEB-00AA-4C67-163B2DB0C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Neuronal models are organized into layers.</a:t>
            </a:r>
          </a:p>
          <a:p>
            <a:pPr lvl="1"/>
            <a:r>
              <a:rPr lang="en-US" dirty="0"/>
              <a:t>Each layer represents a vector; the entries of the vector are the values stored in the neuron.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046BFC7-6DFF-99D3-800D-2D8554606531}"/>
                  </a:ext>
                </a:extLst>
              </p:cNvPr>
              <p:cNvSpPr/>
              <p:nvPr/>
            </p:nvSpPr>
            <p:spPr>
              <a:xfrm>
                <a:off x="4250724" y="6483449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046BFC7-6DFF-99D3-800D-2D8554606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724" y="6483449"/>
                <a:ext cx="1026515" cy="103615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F773DC-9BD1-1CD5-D2DC-8CD35EEA510A}"/>
                  </a:ext>
                </a:extLst>
              </p:cNvPr>
              <p:cNvSpPr/>
              <p:nvPr/>
            </p:nvSpPr>
            <p:spPr>
              <a:xfrm>
                <a:off x="8429413" y="6508163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F773DC-9BD1-1CD5-D2DC-8CD35EEA51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413" y="6508163"/>
                <a:ext cx="1026515" cy="103615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6ED2A8-0067-955D-B3BD-D914EE32A9A9}"/>
              </a:ext>
            </a:extLst>
          </p:cNvPr>
          <p:cNvCxnSpPr/>
          <p:nvPr/>
        </p:nvCxnSpPr>
        <p:spPr>
          <a:xfrm>
            <a:off x="5684108" y="7026242"/>
            <a:ext cx="2496065" cy="0"/>
          </a:xfrm>
          <a:prstGeom prst="straightConnector1">
            <a:avLst/>
          </a:prstGeom>
          <a:ln w="60325" cmpd="sng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68A44D2-B163-4ACB-F076-2514B761B1FB}"/>
                  </a:ext>
                </a:extLst>
              </p:cNvPr>
              <p:cNvSpPr/>
              <p:nvPr/>
            </p:nvSpPr>
            <p:spPr>
              <a:xfrm>
                <a:off x="4254840" y="5350742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68A44D2-B163-4ACB-F076-2514B761B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840" y="5350742"/>
                <a:ext cx="1026515" cy="103615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AE4FB80-722A-B33A-9CE5-C0098127FE3B}"/>
                  </a:ext>
                </a:extLst>
              </p:cNvPr>
              <p:cNvSpPr/>
              <p:nvPr/>
            </p:nvSpPr>
            <p:spPr>
              <a:xfrm>
                <a:off x="4279554" y="4213913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AE4FB80-722A-B33A-9CE5-C0098127FE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554" y="4213913"/>
                <a:ext cx="1026515" cy="103615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B8DD23-B375-7774-437D-485DE3B2C778}"/>
              </a:ext>
            </a:extLst>
          </p:cNvPr>
          <p:cNvCxnSpPr>
            <a:cxnSpLocks/>
          </p:cNvCxnSpPr>
          <p:nvPr/>
        </p:nvCxnSpPr>
        <p:spPr>
          <a:xfrm>
            <a:off x="5684108" y="6079524"/>
            <a:ext cx="2496065" cy="582510"/>
          </a:xfrm>
          <a:prstGeom prst="straightConnector1">
            <a:avLst/>
          </a:prstGeom>
          <a:ln w="60325" cmpd="sng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C7FA07-90EF-474D-4420-3F6272D27782}"/>
              </a:ext>
            </a:extLst>
          </p:cNvPr>
          <p:cNvCxnSpPr>
            <a:cxnSpLocks/>
          </p:cNvCxnSpPr>
          <p:nvPr/>
        </p:nvCxnSpPr>
        <p:spPr>
          <a:xfrm>
            <a:off x="5526479" y="4731992"/>
            <a:ext cx="2902934" cy="1776171"/>
          </a:xfrm>
          <a:prstGeom prst="straightConnector1">
            <a:avLst/>
          </a:prstGeom>
          <a:ln w="60325" cmpd="sng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FEC37F-9240-46D3-224E-CDEEA256EA45}"/>
                  </a:ext>
                </a:extLst>
              </p:cNvPr>
              <p:cNvSpPr txBox="1"/>
              <p:nvPr/>
            </p:nvSpPr>
            <p:spPr>
              <a:xfrm>
                <a:off x="9140826" y="4389080"/>
                <a:ext cx="677360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  <a:p>
                <a:pPr algn="ctr"/>
                <a:r>
                  <a:rPr lang="en-US" sz="3600" dirty="0"/>
                  <a:t>OR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FEC37F-9240-46D3-224E-CDEEA256E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0826" y="4389080"/>
                <a:ext cx="6773606" cy="1200329"/>
              </a:xfrm>
              <a:prstGeom prst="rect">
                <a:avLst/>
              </a:prstGeom>
              <a:blipFill>
                <a:blip r:embed="rId6"/>
                <a:stretch>
                  <a:fillRect r="-18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57D6CF-A24B-BE28-3D37-B6C07DBC0095}"/>
                  </a:ext>
                </a:extLst>
              </p:cNvPr>
              <p:cNvSpPr txBox="1"/>
              <p:nvPr/>
            </p:nvSpPr>
            <p:spPr>
              <a:xfrm>
                <a:off x="2372200" y="5105967"/>
                <a:ext cx="1471655" cy="1556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57D6CF-A24B-BE28-3D37-B6C07DBC0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200" y="5105967"/>
                <a:ext cx="1471655" cy="1556067"/>
              </a:xfrm>
              <a:prstGeom prst="rect">
                <a:avLst/>
              </a:prstGeom>
              <a:blipFill>
                <a:blip r:embed="rId7"/>
                <a:stretch>
                  <a:fillRect b="-3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8E51BC-772B-A36D-C348-BC98ABE7BCC7}"/>
                  </a:ext>
                </a:extLst>
              </p:cNvPr>
              <p:cNvSpPr txBox="1"/>
              <p:nvPr/>
            </p:nvSpPr>
            <p:spPr>
              <a:xfrm>
                <a:off x="9140826" y="5589409"/>
                <a:ext cx="677360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8E51BC-772B-A36D-C348-BC98ABE7B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0826" y="5589409"/>
                <a:ext cx="6773606" cy="646331"/>
              </a:xfrm>
              <a:prstGeom prst="rect">
                <a:avLst/>
              </a:prstGeom>
              <a:blipFill>
                <a:blip r:embed="rId8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276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B3D8-B376-E4E5-9994-43A3FFFB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98E03-84EE-F4DB-7FB2-5442390B8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use this framework to build a model for a dataset, 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The first layer must correspond to the independent variables  from your dataset (i.e., it must be p neurons). 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dirty="0"/>
              <a:t>The last layer must correspond to the dependent variable(s) from your dataset.</a:t>
            </a:r>
          </a:p>
          <a:p>
            <a:pPr marL="768350" indent="-742950"/>
            <a:r>
              <a:rPr lang="en-US" dirty="0"/>
              <a:t>One can have any number of </a:t>
            </a:r>
            <a:r>
              <a:rPr lang="en-US" b="1" dirty="0">
                <a:solidFill>
                  <a:schemeClr val="bg1"/>
                </a:solidFill>
              </a:rPr>
              <a:t>hidden layers</a:t>
            </a:r>
            <a:r>
              <a:rPr lang="en-US" dirty="0"/>
              <a:t> (layers between the first and last layer) with any number of neurons. </a:t>
            </a:r>
          </a:p>
          <a:p>
            <a:pPr marL="768350" indent="-742950"/>
            <a:r>
              <a:rPr lang="en-US" dirty="0"/>
              <a:t>Each neuron is defined by the layer of previous neurons: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B8C049-015C-E65B-D213-02CA532D8596}"/>
                  </a:ext>
                </a:extLst>
              </p:cNvPr>
              <p:cNvSpPr txBox="1"/>
              <p:nvPr/>
            </p:nvSpPr>
            <p:spPr>
              <a:xfrm>
                <a:off x="5754023" y="8236301"/>
                <a:ext cx="677360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B8C049-015C-E65B-D213-02CA532D8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023" y="8236301"/>
                <a:ext cx="6773606" cy="646331"/>
              </a:xfrm>
              <a:prstGeom prst="rect">
                <a:avLst/>
              </a:prstGeom>
              <a:blipFill>
                <a:blip r:embed="rId2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008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0AE14C-67F9-E716-1DB5-577EC5297D08}"/>
              </a:ext>
            </a:extLst>
          </p:cNvPr>
          <p:cNvCxnSpPr>
            <a:cxnSpLocks/>
          </p:cNvCxnSpPr>
          <p:nvPr/>
        </p:nvCxnSpPr>
        <p:spPr>
          <a:xfrm>
            <a:off x="9073010" y="5758116"/>
            <a:ext cx="2155865" cy="8575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2F44D5A-DC3F-2A59-67C7-0FCE0EE1020C}"/>
              </a:ext>
            </a:extLst>
          </p:cNvPr>
          <p:cNvCxnSpPr>
            <a:cxnSpLocks/>
          </p:cNvCxnSpPr>
          <p:nvPr/>
        </p:nvCxnSpPr>
        <p:spPr>
          <a:xfrm flipV="1">
            <a:off x="9172121" y="6849072"/>
            <a:ext cx="1997487" cy="6829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6707FEC-FA44-49A8-F597-43E7CA9D4447}"/>
              </a:ext>
            </a:extLst>
          </p:cNvPr>
          <p:cNvCxnSpPr>
            <a:cxnSpLocks/>
          </p:cNvCxnSpPr>
          <p:nvPr/>
        </p:nvCxnSpPr>
        <p:spPr>
          <a:xfrm>
            <a:off x="6987316" y="5370522"/>
            <a:ext cx="1739922" cy="1800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A5C94AA-D31B-95AB-4376-A801DC89B276}"/>
              </a:ext>
            </a:extLst>
          </p:cNvPr>
          <p:cNvCxnSpPr>
            <a:cxnSpLocks/>
          </p:cNvCxnSpPr>
          <p:nvPr/>
        </p:nvCxnSpPr>
        <p:spPr>
          <a:xfrm>
            <a:off x="7137782" y="5325752"/>
            <a:ext cx="1473059" cy="647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268567E-113E-0AC4-4E92-E4DFCB45CFD3}"/>
              </a:ext>
            </a:extLst>
          </p:cNvPr>
          <p:cNvCxnSpPr>
            <a:cxnSpLocks/>
          </p:cNvCxnSpPr>
          <p:nvPr/>
        </p:nvCxnSpPr>
        <p:spPr>
          <a:xfrm>
            <a:off x="7192579" y="7060002"/>
            <a:ext cx="1473059" cy="647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4CD026-AD7A-A62F-99C0-C63FD4A0C06E}"/>
              </a:ext>
            </a:extLst>
          </p:cNvPr>
          <p:cNvCxnSpPr>
            <a:cxnSpLocks/>
          </p:cNvCxnSpPr>
          <p:nvPr/>
        </p:nvCxnSpPr>
        <p:spPr>
          <a:xfrm flipV="1">
            <a:off x="7199710" y="6057551"/>
            <a:ext cx="1465928" cy="808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003E8EF-D293-CF7C-6F38-661F5ABB4B2F}"/>
              </a:ext>
            </a:extLst>
          </p:cNvPr>
          <p:cNvCxnSpPr>
            <a:cxnSpLocks/>
          </p:cNvCxnSpPr>
          <p:nvPr/>
        </p:nvCxnSpPr>
        <p:spPr>
          <a:xfrm flipV="1">
            <a:off x="7177340" y="7614216"/>
            <a:ext cx="1692374" cy="907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6CB248F-4A3A-6B49-3776-90081849D4C3}"/>
              </a:ext>
            </a:extLst>
          </p:cNvPr>
          <p:cNvCxnSpPr>
            <a:cxnSpLocks/>
          </p:cNvCxnSpPr>
          <p:nvPr/>
        </p:nvCxnSpPr>
        <p:spPr>
          <a:xfrm flipV="1">
            <a:off x="7106167" y="6301109"/>
            <a:ext cx="1621071" cy="18043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5438D0-BE1E-D00A-2FCC-9E94F8B99B5E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5089071" y="5494702"/>
            <a:ext cx="1247628" cy="4279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E56566-8F1D-FD6A-DD86-71CEAB3AD5E5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5056883" y="6379119"/>
            <a:ext cx="1275698" cy="558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65703C-5203-DE6E-4D44-51A973954B17}"/>
              </a:ext>
            </a:extLst>
          </p:cNvPr>
          <p:cNvCxnSpPr>
            <a:cxnSpLocks/>
          </p:cNvCxnSpPr>
          <p:nvPr/>
        </p:nvCxnSpPr>
        <p:spPr>
          <a:xfrm>
            <a:off x="4756934" y="6530861"/>
            <a:ext cx="1739922" cy="1800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B7602D-B86F-D6CD-40F1-D9685AD557F8}"/>
              </a:ext>
            </a:extLst>
          </p:cNvPr>
          <p:cNvCxnSpPr>
            <a:cxnSpLocks/>
          </p:cNvCxnSpPr>
          <p:nvPr/>
        </p:nvCxnSpPr>
        <p:spPr>
          <a:xfrm>
            <a:off x="5037836" y="7813642"/>
            <a:ext cx="1302988" cy="6081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CF9E60-E5A2-AB89-3850-1C9D247DA570}"/>
              </a:ext>
            </a:extLst>
          </p:cNvPr>
          <p:cNvCxnSpPr>
            <a:cxnSpLocks/>
          </p:cNvCxnSpPr>
          <p:nvPr/>
        </p:nvCxnSpPr>
        <p:spPr>
          <a:xfrm flipV="1">
            <a:off x="5044997" y="7105204"/>
            <a:ext cx="1347429" cy="5180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C3C3965-320B-E622-59F5-7895686B5763}"/>
              </a:ext>
            </a:extLst>
          </p:cNvPr>
          <p:cNvCxnSpPr>
            <a:cxnSpLocks/>
          </p:cNvCxnSpPr>
          <p:nvPr/>
        </p:nvCxnSpPr>
        <p:spPr>
          <a:xfrm flipV="1">
            <a:off x="5047055" y="5634332"/>
            <a:ext cx="1411903" cy="1820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22B3D8-B376-E4E5-9994-43A3FFFB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 in 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98E03-84EE-F4DB-7FB2-5442390B8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The number of hidden layers in the model.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The number of neurons within each hidden layer. 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The choice of activation function.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396E2D1-DE23-A549-4A8E-7B1339749F02}"/>
                  </a:ext>
                </a:extLst>
              </p:cNvPr>
              <p:cNvSpPr/>
              <p:nvPr/>
            </p:nvSpPr>
            <p:spPr>
              <a:xfrm>
                <a:off x="4180698" y="5494702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396E2D1-DE23-A549-4A8E-7B1339749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698" y="5494702"/>
                <a:ext cx="1026515" cy="103615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351A879-9732-6063-4D94-2AED0FFBCF45}"/>
                  </a:ext>
                </a:extLst>
              </p:cNvPr>
              <p:cNvSpPr/>
              <p:nvPr/>
            </p:nvSpPr>
            <p:spPr>
              <a:xfrm>
                <a:off x="4184815" y="7105204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351A879-9732-6063-4D94-2AED0FFBCF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815" y="7105204"/>
                <a:ext cx="1026515" cy="103615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48DD82-EDB1-D74F-109E-6E478ABFAA8C}"/>
                  </a:ext>
                </a:extLst>
              </p:cNvPr>
              <p:cNvSpPr/>
              <p:nvPr/>
            </p:nvSpPr>
            <p:spPr>
              <a:xfrm>
                <a:off x="10715618" y="6069045"/>
                <a:ext cx="1026515" cy="10361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48DD82-EDB1-D74F-109E-6E478ABFA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618" y="6069045"/>
                <a:ext cx="1026515" cy="103615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1871E0C-CA5A-BE46-180D-65AAF3566884}"/>
              </a:ext>
            </a:extLst>
          </p:cNvPr>
          <p:cNvSpPr/>
          <p:nvPr/>
        </p:nvSpPr>
        <p:spPr>
          <a:xfrm>
            <a:off x="6336698" y="6439583"/>
            <a:ext cx="1026515" cy="1036159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09BD1B-1E09-9483-1BCA-9D67CBC00CA0}"/>
              </a:ext>
            </a:extLst>
          </p:cNvPr>
          <p:cNvSpPr/>
          <p:nvPr/>
        </p:nvSpPr>
        <p:spPr>
          <a:xfrm>
            <a:off x="6336699" y="4976622"/>
            <a:ext cx="1026515" cy="1036159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56C2BF-61BA-04E6-4B8B-9A14DA98F7BF}"/>
              </a:ext>
            </a:extLst>
          </p:cNvPr>
          <p:cNvSpPr/>
          <p:nvPr/>
        </p:nvSpPr>
        <p:spPr>
          <a:xfrm>
            <a:off x="6285465" y="7813642"/>
            <a:ext cx="1026515" cy="1036159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185005-8C97-B6D1-B1B5-22C10E7D1AC1}"/>
              </a:ext>
            </a:extLst>
          </p:cNvPr>
          <p:cNvSpPr/>
          <p:nvPr/>
        </p:nvSpPr>
        <p:spPr>
          <a:xfrm>
            <a:off x="8441474" y="6937974"/>
            <a:ext cx="1026515" cy="1036159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8830C5-DAEC-8FD0-4E99-8B4ED8540EE5}"/>
              </a:ext>
            </a:extLst>
          </p:cNvPr>
          <p:cNvSpPr/>
          <p:nvPr/>
        </p:nvSpPr>
        <p:spPr>
          <a:xfrm>
            <a:off x="8441475" y="5475013"/>
            <a:ext cx="1026515" cy="1036159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38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3DB5-40BD-13F7-8874-DC167D647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238285"/>
            <a:ext cx="16084552" cy="1810430"/>
          </a:xfrm>
        </p:spPr>
        <p:txBody>
          <a:bodyPr/>
          <a:lstStyle/>
          <a:p>
            <a:r>
              <a:rPr lang="en-US" dirty="0"/>
              <a:t>More neurons and more layers means a </a:t>
            </a:r>
            <a:br>
              <a:rPr lang="en-US" dirty="0"/>
            </a:br>
            <a:r>
              <a:rPr lang="en-US" dirty="0"/>
              <a:t>more complex model!</a:t>
            </a:r>
          </a:p>
        </p:txBody>
      </p:sp>
    </p:spTree>
    <p:extLst>
      <p:ext uri="{BB962C8B-B14F-4D97-AF65-F5344CB8AC3E}">
        <p14:creationId xmlns:p14="http://schemas.microsoft.com/office/powerpoint/2010/main" val="1319848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B272-0263-CA81-7CC4-7E8E5DF9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D90645-9AA0-4CB6-E4AF-1F80FEFFB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r>
                  <a:rPr lang="en-US" dirty="0"/>
                  <a:t>There are several kinds of activation function commonly used. </a:t>
                </a:r>
              </a:p>
              <a:p>
                <a:r>
                  <a:rPr lang="en-US" dirty="0"/>
                  <a:t>The two most common are: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called rectified linear unit, or </a:t>
                </a:r>
                <a:r>
                  <a:rPr lang="en-US" dirty="0" err="1"/>
                  <a:t>ReLU</a:t>
                </a:r>
                <a:r>
                  <a:rPr lang="en-US" dirty="0"/>
                  <a:t>, and sigmoid. </a:t>
                </a:r>
              </a:p>
              <a:p>
                <a:r>
                  <a:rPr lang="en-US" dirty="0" err="1"/>
                  <a:t>Softmax</a:t>
                </a:r>
                <a:r>
                  <a:rPr lang="en-US" dirty="0"/>
                  <a:t> is also important when using neural networks for classification (as you can see in the example).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D90645-9AA0-4CB6-E4AF-1F80FEFFB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C6CB1E-6869-6D85-EC26-599A5EFD00F5}"/>
              </a:ext>
            </a:extLst>
          </p:cNvPr>
          <p:cNvCxnSpPr>
            <a:cxnSpLocks/>
          </p:cNvCxnSpPr>
          <p:nvPr/>
        </p:nvCxnSpPr>
        <p:spPr>
          <a:xfrm>
            <a:off x="12010768" y="4695568"/>
            <a:ext cx="3113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7DB5EC-6F02-F38A-3BF5-67152B714718}"/>
              </a:ext>
            </a:extLst>
          </p:cNvPr>
          <p:cNvCxnSpPr/>
          <p:nvPr/>
        </p:nvCxnSpPr>
        <p:spPr>
          <a:xfrm flipV="1">
            <a:off x="13543005" y="3286897"/>
            <a:ext cx="0" cy="1655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BCF34B-9E27-BCE8-AF89-DD6149F89501}"/>
              </a:ext>
            </a:extLst>
          </p:cNvPr>
          <p:cNvCxnSpPr/>
          <p:nvPr/>
        </p:nvCxnSpPr>
        <p:spPr>
          <a:xfrm>
            <a:off x="12010768" y="4695568"/>
            <a:ext cx="1532237" cy="0"/>
          </a:xfrm>
          <a:prstGeom prst="line">
            <a:avLst/>
          </a:prstGeom>
          <a:ln w="6032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F51B1-59B3-AC38-4258-4643A042A2EE}"/>
              </a:ext>
            </a:extLst>
          </p:cNvPr>
          <p:cNvCxnSpPr>
            <a:cxnSpLocks/>
          </p:cNvCxnSpPr>
          <p:nvPr/>
        </p:nvCxnSpPr>
        <p:spPr>
          <a:xfrm flipV="1">
            <a:off x="13543005" y="3534032"/>
            <a:ext cx="1581665" cy="1161536"/>
          </a:xfrm>
          <a:prstGeom prst="line">
            <a:avLst/>
          </a:prstGeom>
          <a:ln w="6032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325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86FBC-75FA-1207-6714-E126FA94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Variance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53036-98CA-D69E-6163-39748987B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these models are high-variance, there are several techniques to avoid overfitting or “converging to a sub-optimal solution.”</a:t>
            </a:r>
          </a:p>
          <a:p>
            <a:r>
              <a:rPr lang="en-US" dirty="0"/>
              <a:t>Note: parameters (the weights and biases) are found using backpropagation, a method of gradient descent.  </a:t>
            </a:r>
          </a:p>
          <a:p>
            <a:pPr lvl="1"/>
            <a:r>
              <a:rPr lang="en-US" dirty="0"/>
              <a:t>Review calc III and numerical analysis. </a:t>
            </a:r>
          </a:p>
        </p:txBody>
      </p:sp>
    </p:spTree>
    <p:extLst>
      <p:ext uri="{BB962C8B-B14F-4D97-AF65-F5344CB8AC3E}">
        <p14:creationId xmlns:p14="http://schemas.microsoft.com/office/powerpoint/2010/main" val="4269792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53036-98CA-D69E-6163-39748987B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5796520" cy="6515100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>
                <a:solidFill>
                  <a:schemeClr val="accent1"/>
                </a:solidFill>
              </a:rPr>
              <a:t>epoch</a:t>
            </a:r>
            <a:r>
              <a:rPr lang="en-US" dirty="0"/>
              <a:t> is one step in updating the parameters. Limiting the number of epochs will prevent overfitting. </a:t>
            </a:r>
          </a:p>
          <a:p>
            <a:endParaRPr lang="en-US" dirty="0"/>
          </a:p>
        </p:txBody>
      </p:sp>
      <p:pic>
        <p:nvPicPr>
          <p:cNvPr id="6" name="Content Placeholder 5" descr="A graph of a graph&#10;&#10;Description automatically generated">
            <a:extLst>
              <a:ext uri="{FF2B5EF4-FFF2-40B4-BE49-F238E27FC236}">
                <a16:creationId xmlns:a16="http://schemas.microsoft.com/office/drawing/2014/main" id="{F8E43DC4-088A-98C3-3C9D-CD844CD9CB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47156" y="2085698"/>
            <a:ext cx="10552795" cy="6515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D86FBC-75FA-1207-6714-E126FA94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Model Variance: Epochs</a:t>
            </a:r>
          </a:p>
        </p:txBody>
      </p:sp>
    </p:spTree>
    <p:extLst>
      <p:ext uri="{BB962C8B-B14F-4D97-AF65-F5344CB8AC3E}">
        <p14:creationId xmlns:p14="http://schemas.microsoft.com/office/powerpoint/2010/main" val="2799793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53036-98CA-D69E-6163-39748987B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5549385" cy="65151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Dropout</a:t>
            </a:r>
            <a:r>
              <a:rPr lang="en-US" dirty="0"/>
              <a:t> is a method of pushing some weights to 0 based on some threshold and/or probability. </a:t>
            </a:r>
          </a:p>
          <a:p>
            <a:pPr lvl="1"/>
            <a:r>
              <a:rPr lang="en-US" dirty="0"/>
              <a:t>This adds model bias and reduces variance. </a:t>
            </a:r>
          </a:p>
          <a:p>
            <a:endParaRPr lang="en-US" dirty="0"/>
          </a:p>
        </p:txBody>
      </p:sp>
      <p:pic>
        <p:nvPicPr>
          <p:cNvPr id="6" name="Content Placeholder 5" descr="A close-up of a graph&#10;&#10;Description automatically generated">
            <a:extLst>
              <a:ext uri="{FF2B5EF4-FFF2-40B4-BE49-F238E27FC236}">
                <a16:creationId xmlns:a16="http://schemas.microsoft.com/office/drawing/2014/main" id="{054BF0F0-96B1-9C56-683B-914131CCFF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3764" r="5509"/>
          <a:stretch/>
        </p:blipFill>
        <p:spPr>
          <a:xfrm>
            <a:off x="6385271" y="2085698"/>
            <a:ext cx="10797831" cy="584734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D86FBC-75FA-1207-6714-E126FA94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Model Variance: Dropout</a:t>
            </a:r>
          </a:p>
        </p:txBody>
      </p:sp>
    </p:spTree>
    <p:extLst>
      <p:ext uri="{BB962C8B-B14F-4D97-AF65-F5344CB8AC3E}">
        <p14:creationId xmlns:p14="http://schemas.microsoft.com/office/powerpoint/2010/main" val="3962240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A613-8332-B1AE-BD94-CCD97A0D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Noise-Inducing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0ACA-14CC-99BA-167C-4794682A3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set of techniques introduce noise into the process of updating parameters to improve convergence. </a:t>
            </a:r>
          </a:p>
          <a:p>
            <a:r>
              <a:rPr lang="en-US" b="1" dirty="0">
                <a:solidFill>
                  <a:schemeClr val="accent1"/>
                </a:solidFill>
              </a:rPr>
              <a:t>Batch size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</a:rPr>
              <a:t>optimizer</a:t>
            </a:r>
            <a:r>
              <a:rPr lang="en-US" dirty="0"/>
              <a:t> are both hyperparameters that introduce noise into backpropagation to reduce the likelihood of converging to a suboptimal solution. 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Batch size </a:t>
            </a:r>
            <a:r>
              <a:rPr lang="en-US" dirty="0"/>
              <a:t>represents smaller folds the dataset is broken into; each fold goes through gradient descent sequentially within one epoch. </a:t>
            </a:r>
          </a:p>
          <a:p>
            <a:pPr lvl="1"/>
            <a:r>
              <a:rPr lang="en-US" dirty="0"/>
              <a:t>An </a:t>
            </a:r>
            <a:r>
              <a:rPr lang="en-US" b="1" dirty="0">
                <a:solidFill>
                  <a:schemeClr val="accent1"/>
                </a:solidFill>
              </a:rPr>
              <a:t>optimizer</a:t>
            </a:r>
            <a:r>
              <a:rPr lang="en-US" dirty="0"/>
              <a:t> is an algorithm for adjusting the gradient to manage convergence rate and direction.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628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1CC8-DCC6-81CD-AD3D-55F6F42D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69FE-A149-9DE3-971F-A9BE71D2A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only very large datasets.</a:t>
            </a:r>
          </a:p>
          <a:p>
            <a:r>
              <a:rPr lang="en-US" dirty="0"/>
              <a:t>Start with a simpler model to establish a baseline.</a:t>
            </a:r>
          </a:p>
          <a:p>
            <a:r>
              <a:rPr lang="en-US" dirty="0"/>
              <a:t>Use cross-validation for a robust estimate of model performance.</a:t>
            </a:r>
          </a:p>
          <a:p>
            <a:r>
              <a:rPr lang="en-US" dirty="0"/>
              <a:t>Gradually increase model complexity as needed.</a:t>
            </a:r>
          </a:p>
          <a:p>
            <a:r>
              <a:rPr lang="en-US" dirty="0"/>
              <a:t>Regularly monitor and tune hyperparameters.</a:t>
            </a:r>
          </a:p>
          <a:p>
            <a:r>
              <a:rPr lang="en-US" dirty="0"/>
              <a:t>Utilize GPU acceleration for faster training.</a:t>
            </a:r>
          </a:p>
        </p:txBody>
      </p:sp>
    </p:spTree>
    <p:extLst>
      <p:ext uri="{BB962C8B-B14F-4D97-AF65-F5344CB8AC3E}">
        <p14:creationId xmlns:p14="http://schemas.microsoft.com/office/powerpoint/2010/main" val="3753250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networks are a versatile but high-variance model based on work modeling biological neurons. </a:t>
            </a:r>
          </a:p>
          <a:p>
            <a:r>
              <a:rPr lang="en-US" dirty="0"/>
              <a:t>They are constructed by picking layers, neurons per layer, and activation functions. </a:t>
            </a:r>
          </a:p>
          <a:p>
            <a:r>
              <a:rPr lang="en-US" dirty="0"/>
              <a:t>Hyperparameters like the number of epochs and dropout help manage some of the model variance. </a:t>
            </a:r>
          </a:p>
          <a:p>
            <a:r>
              <a:rPr lang="en-US" dirty="0"/>
              <a:t>Noise-inducing hyperparameters like batch-size and optimizers introduce noise to improve parameter convergence.</a:t>
            </a:r>
          </a:p>
        </p:txBody>
      </p:sp>
    </p:spTree>
    <p:extLst>
      <p:ext uri="{BB962C8B-B14F-4D97-AF65-F5344CB8AC3E}">
        <p14:creationId xmlns:p14="http://schemas.microsoft.com/office/powerpoint/2010/main" val="3439373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DB8BCE-E510-40AB-9F86-FEBA3B998D10}"/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11897</TotalTime>
  <Words>842</Words>
  <Application>Microsoft Macintosh PowerPoint</Application>
  <PresentationFormat>Custom</PresentationFormat>
  <Paragraphs>96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Wingdings 2</vt:lpstr>
      <vt:lpstr>Breeze</vt:lpstr>
      <vt:lpstr>Math 769: Statistical Learning</vt:lpstr>
      <vt:lpstr>Neural Networks</vt:lpstr>
      <vt:lpstr>Last Time</vt:lpstr>
      <vt:lpstr>Objectives</vt:lpstr>
      <vt:lpstr>Modeling Neurons</vt:lpstr>
      <vt:lpstr>Artificial Neurons</vt:lpstr>
      <vt:lpstr>Weights, Bias, and Activation Function</vt:lpstr>
      <vt:lpstr>Weights, Bias, and Activation Function</vt:lpstr>
      <vt:lpstr>Layers</vt:lpstr>
      <vt:lpstr>Model Building</vt:lpstr>
      <vt:lpstr>Hyperparameters in Model Building</vt:lpstr>
      <vt:lpstr>More neurons and more layers means a  more complex model!</vt:lpstr>
      <vt:lpstr>Activation Functions</vt:lpstr>
      <vt:lpstr>High Variance Models</vt:lpstr>
      <vt:lpstr>Managing Model Variance: Epochs</vt:lpstr>
      <vt:lpstr>Managing Model Variance: Dropout</vt:lpstr>
      <vt:lpstr>Noise-Inducing Hyperparameters</vt:lpstr>
      <vt:lpstr>Best Practices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60</cp:revision>
  <dcterms:created xsi:type="dcterms:W3CDTF">2019-02-13T16:04:21Z</dcterms:created>
  <dcterms:modified xsi:type="dcterms:W3CDTF">2023-12-12T09:50:03Z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  <property fmtid="{D5CDD505-2E9C-101B-9397-08002B2CF9AE}" pid="10" name="MediaServiceImageTags">
    <vt:lpwstr/>
  </property>
</Properties>
</file>