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1"/>
  </p:notesMasterIdLst>
  <p:sldIdLst>
    <p:sldId id="259" r:id="rId5"/>
    <p:sldId id="262" r:id="rId6"/>
    <p:sldId id="263" r:id="rId7"/>
    <p:sldId id="269" r:id="rId8"/>
    <p:sldId id="322" r:id="rId9"/>
    <p:sldId id="326" r:id="rId10"/>
    <p:sldId id="327" r:id="rId11"/>
    <p:sldId id="328" r:id="rId12"/>
    <p:sldId id="334" r:id="rId13"/>
    <p:sldId id="332" r:id="rId14"/>
    <p:sldId id="329" r:id="rId15"/>
    <p:sldId id="330" r:id="rId16"/>
    <p:sldId id="331" r:id="rId17"/>
    <p:sldId id="333" r:id="rId18"/>
    <p:sldId id="325" r:id="rId19"/>
    <p:sldId id="335" r:id="rId20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2C03E7-54E3-8771-1217-C7ED9EABDA13}" v="13" dt="2023-12-12T09:15:10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0884"/>
  </p:normalViewPr>
  <p:slideViewPr>
    <p:cSldViewPr snapToGrid="0" snapToObjects="1">
      <p:cViewPr varScale="1">
        <p:scale>
          <a:sx n="68" d="100"/>
          <a:sy n="68" d="100"/>
        </p:scale>
        <p:origin x="536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jamshidi@lakeforest.edu" userId="S::urn:spo:guest#sjamshidi@lakeforest.edu::" providerId="AD" clId="Web-{F42C03E7-54E3-8771-1217-C7ED9EABDA13}"/>
    <pc:docChg chg="modSld">
      <pc:chgData name="sjamshidi@lakeforest.edu" userId="S::urn:spo:guest#sjamshidi@lakeforest.edu::" providerId="AD" clId="Web-{F42C03E7-54E3-8771-1217-C7ED9EABDA13}" dt="2023-12-12T09:15:09.871" v="11" actId="20577"/>
      <pc:docMkLst>
        <pc:docMk/>
      </pc:docMkLst>
      <pc:sldChg chg="modSp">
        <pc:chgData name="sjamshidi@lakeforest.edu" userId="S::urn:spo:guest#sjamshidi@lakeforest.edu::" providerId="AD" clId="Web-{F42C03E7-54E3-8771-1217-C7ED9EABDA13}" dt="2023-12-12T09:15:09.871" v="11" actId="20577"/>
        <pc:sldMkLst>
          <pc:docMk/>
          <pc:sldMk cId="0" sldId="262"/>
        </pc:sldMkLst>
        <pc:spChg chg="mod">
          <ac:chgData name="sjamshidi@lakeforest.edu" userId="S::urn:spo:guest#sjamshidi@lakeforest.edu::" providerId="AD" clId="Web-{F42C03E7-54E3-8771-1217-C7ED9EABDA13}" dt="2023-12-12T09:15:09.871" v="11" actId="20577"/>
          <ac:spMkLst>
            <pc:docMk/>
            <pc:sldMk cId="0" sldId="262"/>
            <ac:spMk id="2" creationId="{B1A2807F-AA75-8289-ABFC-30F1E44E67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MTI9"/>
              </a:rPr>
              <a:t>Top right panel shows a partition of a two-dimensional feature space by recursive binary splitting, as used in CART, applied to some fake data.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MTI9"/>
              </a:rPr>
              <a:t>Top left panel shows a general partition that cannot be obtained from recursive binary splitting.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MTI9"/>
              </a:rPr>
              <a:t>Bottom left panel shows the tree corresponding to the partition in the top right panel, and a perspective plot of the prediction surface appears in the bottom right panel.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1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Tree Models and </a:t>
            </a:r>
            <a:br>
              <a:rPr lang="en-US" dirty="0">
                <a:cs typeface="Arial"/>
              </a:rPr>
            </a:br>
            <a:r>
              <a:rPr lang="en-US" dirty="0"/>
              <a:t>Random Forests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maximum likelihood inference, a method that constructs the model for which the data is maximally likely. </a:t>
            </a:r>
          </a:p>
          <a:p>
            <a:r>
              <a:rPr lang="en-US" altLang="en-US" dirty="0"/>
              <a:t>We also discussed Bayes theorem, which relies on setting a prior probability and sampling to compute 𝑃(𝜃│𝑍).</a:t>
            </a:r>
          </a:p>
          <a:p>
            <a:pPr lvl="1"/>
            <a:r>
              <a:rPr lang="en-US" altLang="en-US" dirty="0"/>
              <a:t>One can iterate this process until the parameters convert to an maximally likely probability.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Define a decision tree and its components.</a:t>
            </a:r>
          </a:p>
          <a:p>
            <a:r>
              <a:rPr lang="en-US" altLang="en-US" dirty="0"/>
              <a:t>Describe the construction process of a decision tree. </a:t>
            </a:r>
          </a:p>
          <a:p>
            <a:r>
              <a:rPr lang="en-US" altLang="en-US" dirty="0"/>
              <a:t>Understand the decision </a:t>
            </a:r>
            <a:r>
              <a:rPr lang="en-US" altLang="en-US"/>
              <a:t>tree diagram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Define a random forest. </a:t>
            </a:r>
          </a:p>
          <a:p>
            <a:r>
              <a:rPr lang="en-US" altLang="en-US" dirty="0"/>
              <a:t>Describe its construction. </a:t>
            </a:r>
          </a:p>
          <a:p>
            <a:r>
              <a:rPr lang="en-US" altLang="en-US" dirty="0"/>
              <a:t>List its hyperparameters. 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Decision trees </a:t>
            </a:r>
            <a:r>
              <a:rPr lang="en-US" dirty="0"/>
              <a:t>are a non-parametric supervised learning method used for both classification and regression.</a:t>
            </a:r>
          </a:p>
          <a:p>
            <a:r>
              <a:rPr lang="en-US" dirty="0"/>
              <a:t>They model decisions and their possible consequences as a tree-like structure, where nodes represent tests on attributes, and branches represent the outcomes of these tests.</a:t>
            </a:r>
          </a:p>
          <a:p>
            <a:r>
              <a:rPr lang="en-US" dirty="0"/>
              <a:t>Mathematically, these models can construct piecewise constant models.</a:t>
            </a:r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Root Node</a:t>
            </a:r>
            <a:r>
              <a:rPr lang="en-US" dirty="0"/>
              <a:t>: Represents the entire dataset, which gets divided into subsets.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Internal Nodes</a:t>
            </a:r>
            <a:r>
              <a:rPr lang="en-US" dirty="0"/>
              <a:t>: Each node corresponds to an attribute test.</a:t>
            </a:r>
          </a:p>
          <a:p>
            <a:r>
              <a:rPr lang="en-US" b="1" dirty="0">
                <a:solidFill>
                  <a:schemeClr val="accent1"/>
                </a:solidFill>
              </a:rPr>
              <a:t>Branches</a:t>
            </a:r>
            <a:r>
              <a:rPr lang="en-US" dirty="0"/>
              <a:t>: Represent outcomes of tests, leading to new nodes.</a:t>
            </a:r>
          </a:p>
          <a:p>
            <a:r>
              <a:rPr lang="en-US" b="1" dirty="0">
                <a:solidFill>
                  <a:schemeClr val="accent1"/>
                </a:solidFill>
              </a:rPr>
              <a:t>Leaf Nodes</a:t>
            </a:r>
            <a:r>
              <a:rPr lang="en-US" dirty="0"/>
              <a:t>: Terminal nodes that give a classification or decision (in classification trees) or a continuous output (in regression trees).</a:t>
            </a:r>
          </a:p>
        </p:txBody>
      </p:sp>
    </p:spTree>
    <p:extLst>
      <p:ext uri="{BB962C8B-B14F-4D97-AF65-F5344CB8AC3E}">
        <p14:creationId xmlns:p14="http://schemas.microsoft.com/office/powerpoint/2010/main" val="168523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46A2-E8D4-5380-20B7-68DDABAC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Construction of a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E0EE9-1F98-5184-88B1-3AD6A0294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Trees are built by recursively splitting the training set along one dimension into subsets based on an attribute value test.</a:t>
            </a:r>
          </a:p>
          <a:p>
            <a:r>
              <a:rPr lang="en-US" dirty="0"/>
              <a:t>Criteria for splitting include Gini Impurity, Entropy (for classification), and Variance Reduction (for regression). </a:t>
            </a:r>
          </a:p>
          <a:p>
            <a:pPr lvl="1"/>
            <a:r>
              <a:rPr lang="en-US" dirty="0"/>
              <a:t>The lower the better.</a:t>
            </a:r>
          </a:p>
          <a:p>
            <a:r>
              <a:rPr lang="en-US" dirty="0"/>
              <a:t>The process continues until a </a:t>
            </a:r>
            <a:r>
              <a:rPr lang="en-US" b="1" dirty="0">
                <a:solidFill>
                  <a:schemeClr val="bg1"/>
                </a:solidFill>
              </a:rPr>
              <a:t>stopping criterion </a:t>
            </a:r>
            <a:r>
              <a:rPr lang="en-US" dirty="0"/>
              <a:t>(like a maximum depth or minimum number of samples required to split) is reached.</a:t>
            </a:r>
          </a:p>
          <a:p>
            <a:pPr lvl="1"/>
            <a:r>
              <a:rPr lang="en-US" dirty="0"/>
              <a:t>The stopping criterion is a hyperparameter of the model that requires tuning. </a:t>
            </a:r>
          </a:p>
        </p:txBody>
      </p:sp>
    </p:spTree>
    <p:extLst>
      <p:ext uri="{BB962C8B-B14F-4D97-AF65-F5344CB8AC3E}">
        <p14:creationId xmlns:p14="http://schemas.microsoft.com/office/powerpoint/2010/main" val="254547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F70484-8B1D-847F-045F-A35F8F56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Diagram</a:t>
            </a:r>
          </a:p>
        </p:txBody>
      </p:sp>
      <p:pic>
        <p:nvPicPr>
          <p:cNvPr id="10" name="Content Placeholder 9" descr="A diagram of a tree&#10;&#10;Description automatically generated">
            <a:extLst>
              <a:ext uri="{FF2B5EF4-FFF2-40B4-BE49-F238E27FC236}">
                <a16:creationId xmlns:a16="http://schemas.microsoft.com/office/drawing/2014/main" id="{99B934DC-D819-5CD4-2EE4-9DB631EB2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356" y="2233032"/>
            <a:ext cx="17082940" cy="5820936"/>
          </a:xfrm>
        </p:spPr>
      </p:pic>
    </p:spTree>
    <p:extLst>
      <p:ext uri="{BB962C8B-B14F-4D97-AF65-F5344CB8AC3E}">
        <p14:creationId xmlns:p14="http://schemas.microsoft.com/office/powerpoint/2010/main" val="3854033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F70484-8B1D-847F-045F-A35F8F56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Function</a:t>
            </a:r>
          </a:p>
        </p:txBody>
      </p:sp>
      <p:pic>
        <p:nvPicPr>
          <p:cNvPr id="4" name="Content Placeholder 3" descr="A diagram of a cube with different colored squares&#10;&#10;Description automatically generated">
            <a:extLst>
              <a:ext uri="{FF2B5EF4-FFF2-40B4-BE49-F238E27FC236}">
                <a16:creationId xmlns:a16="http://schemas.microsoft.com/office/drawing/2014/main" id="{9ABE29CC-94C0-E12B-5B44-370AD93CB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29200" y="2104838"/>
            <a:ext cx="8229600" cy="7272244"/>
          </a:xfrm>
        </p:spPr>
      </p:pic>
    </p:spTree>
    <p:extLst>
      <p:ext uri="{BB962C8B-B14F-4D97-AF65-F5344CB8AC3E}">
        <p14:creationId xmlns:p14="http://schemas.microsoft.com/office/powerpoint/2010/main" val="355736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3E31FD-1FB6-6F34-9CC4-0766BF4961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Advantages</a:t>
            </a:r>
          </a:p>
          <a:p>
            <a:r>
              <a:rPr lang="en-US" dirty="0"/>
              <a:t>Easy to interpret and visualize.</a:t>
            </a:r>
          </a:p>
          <a:p>
            <a:r>
              <a:rPr lang="en-US" dirty="0"/>
              <a:t>Requires little data preprocessing (no need for normalization).</a:t>
            </a:r>
          </a:p>
          <a:p>
            <a:r>
              <a:rPr lang="en-US" dirty="0"/>
              <a:t>Can handle both numerical and categorical data.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A7804-D969-00CA-9A3B-12A71E658A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Limitations</a:t>
            </a:r>
          </a:p>
          <a:p>
            <a:r>
              <a:rPr lang="en-US" dirty="0"/>
              <a:t>Prone to overfitting, especially if the tree is very deep.</a:t>
            </a:r>
          </a:p>
          <a:p>
            <a:r>
              <a:rPr lang="en-US" dirty="0"/>
              <a:t>Can be unstable because small variations in data might result in a completely different tree.</a:t>
            </a:r>
          </a:p>
          <a:p>
            <a:r>
              <a:rPr lang="en-US" dirty="0"/>
              <a:t>Biased with imbalanced datasets.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1450FF-B048-7293-86E4-B0127A75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and Weaknesses of Trees </a:t>
            </a:r>
          </a:p>
        </p:txBody>
      </p:sp>
    </p:spTree>
    <p:extLst>
      <p:ext uri="{BB962C8B-B14F-4D97-AF65-F5344CB8AC3E}">
        <p14:creationId xmlns:p14="http://schemas.microsoft.com/office/powerpoint/2010/main" val="1744037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055A-8E7B-682F-262C-CEAC9AFD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96A6C-D35F-D7D7-CE20-DB54E1B73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Random forests </a:t>
            </a:r>
            <a:r>
              <a:rPr lang="en-US" dirty="0"/>
              <a:t>are an ensemble learning model constructed from multiple decision trees.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653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055A-8E7B-682F-262C-CEAC9AFD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96A6C-D35F-D7D7-CE20-DB54E1B73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tree in a random forest is built from a sample drawn with replacement (a bootstrap sample) from the training set.</a:t>
            </a:r>
          </a:p>
          <a:p>
            <a:r>
              <a:rPr lang="en-US" dirty="0"/>
              <a:t>When splitting nodes during the construction of trees, the best split is found from a random subset of the features.</a:t>
            </a:r>
          </a:p>
          <a:p>
            <a:r>
              <a:rPr lang="en-US" dirty="0"/>
              <a:t>These random choices insert more noise into the trees. </a:t>
            </a:r>
          </a:p>
          <a:p>
            <a:pPr lvl="1"/>
            <a:r>
              <a:rPr lang="en-US" dirty="0"/>
              <a:t>This enhancing the overall predictive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313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055A-8E7B-682F-262C-CEAC9AFD9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Hyperparameters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96A6C-D35F-D7D7-CE20-DB54E1B73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Number of Trees</a:t>
            </a:r>
            <a:r>
              <a:rPr lang="en-US" dirty="0"/>
              <a:t>: More trees increase performance but also computation time.</a:t>
            </a:r>
          </a:p>
          <a:p>
            <a:r>
              <a:rPr lang="en-US" b="1" dirty="0">
                <a:solidFill>
                  <a:schemeClr val="bg1"/>
                </a:solidFill>
              </a:rPr>
              <a:t>Max Depth of Trees</a:t>
            </a:r>
            <a:r>
              <a:rPr lang="en-US" dirty="0"/>
              <a:t>: Controls the depth of each tree.</a:t>
            </a:r>
          </a:p>
          <a:p>
            <a:r>
              <a:rPr lang="en-US" b="1" dirty="0">
                <a:solidFill>
                  <a:schemeClr val="bg1"/>
                </a:solidFill>
              </a:rPr>
              <a:t>Min Samples per Leaf</a:t>
            </a:r>
            <a:r>
              <a:rPr lang="en-US" dirty="0"/>
              <a:t>: Minimum number of samples required to be at a leaf node.</a:t>
            </a:r>
          </a:p>
          <a:p>
            <a:r>
              <a:rPr lang="en-US" b="1" dirty="0">
                <a:solidFill>
                  <a:schemeClr val="bg1"/>
                </a:solidFill>
              </a:rPr>
              <a:t>Max Features</a:t>
            </a:r>
            <a:r>
              <a:rPr lang="en-US" dirty="0"/>
              <a:t>: The number of features to consider when looking for the best split.</a:t>
            </a:r>
          </a:p>
        </p:txBody>
      </p:sp>
    </p:spTree>
    <p:extLst>
      <p:ext uri="{BB962C8B-B14F-4D97-AF65-F5344CB8AC3E}">
        <p14:creationId xmlns:p14="http://schemas.microsoft.com/office/powerpoint/2010/main" val="1874457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3E31FD-1FB6-6F34-9CC4-0766BF4961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Advantages</a:t>
            </a:r>
          </a:p>
          <a:p>
            <a:r>
              <a:rPr lang="en-US" dirty="0"/>
              <a:t>Strong performance with default settings.</a:t>
            </a:r>
          </a:p>
          <a:p>
            <a:r>
              <a:rPr lang="en-US" dirty="0"/>
              <a:t>Reduces overfitting compared to a single decision tree.</a:t>
            </a:r>
          </a:p>
          <a:p>
            <a:r>
              <a:rPr lang="en-US" dirty="0"/>
              <a:t>Effectively handles large datasets with higher dimensionality.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A7804-D969-00CA-9A3B-12A71E658A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Limitations</a:t>
            </a:r>
          </a:p>
          <a:p>
            <a:r>
              <a:rPr lang="en-US" dirty="0"/>
              <a:t>Less interpretable than individual decision trees.</a:t>
            </a:r>
          </a:p>
          <a:p>
            <a:r>
              <a:rPr lang="en-US" dirty="0"/>
              <a:t>Can be computationally intensive, particularly in training and making predictions.</a:t>
            </a:r>
          </a:p>
          <a:p>
            <a:r>
              <a:rPr lang="en-US" dirty="0"/>
              <a:t>Overfitting can still occur with noisy datasets.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1450FF-B048-7293-86E4-B0127A75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and Weaknesses of Forests </a:t>
            </a:r>
          </a:p>
        </p:txBody>
      </p:sp>
    </p:spTree>
    <p:extLst>
      <p:ext uri="{BB962C8B-B14F-4D97-AF65-F5344CB8AC3E}">
        <p14:creationId xmlns:p14="http://schemas.microsoft.com/office/powerpoint/2010/main" val="424113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Decision trees construct piecewise flat functions based on successive splits along a specific feature, picked based on the lowest metric value such as Gini Impurity. </a:t>
            </a:r>
          </a:p>
          <a:p>
            <a:r>
              <a:rPr lang="en-US" dirty="0"/>
              <a:t>The construction can be visually depicted as a binary tree. </a:t>
            </a:r>
          </a:p>
          <a:p>
            <a:r>
              <a:rPr lang="en-US" dirty="0"/>
              <a:t>One picks some kind of stopping criterion has a hyperparameter to control overfitting.</a:t>
            </a:r>
          </a:p>
        </p:txBody>
      </p:sp>
    </p:spTree>
    <p:extLst>
      <p:ext uri="{BB962C8B-B14F-4D97-AF65-F5344CB8AC3E}">
        <p14:creationId xmlns:p14="http://schemas.microsoft.com/office/powerpoint/2010/main" val="3439373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forests are ensembles of several decision trees constructed from the same dataset. </a:t>
            </a:r>
          </a:p>
          <a:p>
            <a:r>
              <a:rPr lang="en-US" dirty="0"/>
              <a:t>Each tree is constructed from a bootstrapped sample; a random choice of candidate features are selected at each split. </a:t>
            </a:r>
          </a:p>
          <a:p>
            <a:r>
              <a:rPr lang="en-US" dirty="0"/>
              <a:t>These choices introduce noise into the trees, which lead to a stronger ensemble model since the noise “</a:t>
            </a:r>
            <a:r>
              <a:rPr lang="en-US"/>
              <a:t>cancels out”. </a:t>
            </a:r>
            <a:endParaRPr lang="en-US" dirty="0"/>
          </a:p>
          <a:p>
            <a:r>
              <a:rPr lang="en-US" dirty="0"/>
              <a:t>There are four hyperparameters to pick for a random forest: the number of trees, the max depth, the minimum number of samples per leaf, and the maximum features. </a:t>
            </a:r>
          </a:p>
        </p:txBody>
      </p:sp>
    </p:spTree>
    <p:extLst>
      <p:ext uri="{BB962C8B-B14F-4D97-AF65-F5344CB8AC3E}">
        <p14:creationId xmlns:p14="http://schemas.microsoft.com/office/powerpoint/2010/main" val="28530815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06F72B-8F7D-48EF-8CF0-A5A2539193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11806</TotalTime>
  <Words>802</Words>
  <Application>Microsoft Office PowerPoint</Application>
  <PresentationFormat>Custom</PresentationFormat>
  <Paragraphs>74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Breeze</vt:lpstr>
      <vt:lpstr>Math 769: Statistical Learning</vt:lpstr>
      <vt:lpstr>Tree Models and  Random Forests</vt:lpstr>
      <vt:lpstr>Last Time</vt:lpstr>
      <vt:lpstr>Objectives</vt:lpstr>
      <vt:lpstr>Decision Trees</vt:lpstr>
      <vt:lpstr>Structure of a Tree</vt:lpstr>
      <vt:lpstr>Construction of a Tree</vt:lpstr>
      <vt:lpstr>Decision Tree Diagram</vt:lpstr>
      <vt:lpstr>Decision Tree Function</vt:lpstr>
      <vt:lpstr>Strengths and Weaknesses of Trees </vt:lpstr>
      <vt:lpstr>Random Forests</vt:lpstr>
      <vt:lpstr>Random Forest Construction</vt:lpstr>
      <vt:lpstr>Key Hyperparameters</vt:lpstr>
      <vt:lpstr>Strengths and Weaknesses of Forests </vt:lpstr>
      <vt:lpstr>Conclusion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63</cp:revision>
  <dcterms:created xsi:type="dcterms:W3CDTF">2019-02-13T16:04:21Z</dcterms:created>
  <dcterms:modified xsi:type="dcterms:W3CDTF">2023-12-12T09:15:14Z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  <property fmtid="{D5CDD505-2E9C-101B-9397-08002B2CF9AE}" pid="10" name="MediaServiceImageTags">
    <vt:lpwstr/>
  </property>
</Properties>
</file>