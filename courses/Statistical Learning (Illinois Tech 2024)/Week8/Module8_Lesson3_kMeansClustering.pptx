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7" r:id="rId4"/>
  </p:sldMasterIdLst>
  <p:notesMasterIdLst>
    <p:notesMasterId r:id="rId17"/>
  </p:notesMasterIdLst>
  <p:sldIdLst>
    <p:sldId id="259" r:id="rId5"/>
    <p:sldId id="262" r:id="rId6"/>
    <p:sldId id="263" r:id="rId7"/>
    <p:sldId id="269" r:id="rId8"/>
    <p:sldId id="322" r:id="rId9"/>
    <p:sldId id="326" r:id="rId10"/>
    <p:sldId id="327" r:id="rId11"/>
    <p:sldId id="331" r:id="rId12"/>
    <p:sldId id="328" r:id="rId13"/>
    <p:sldId id="329" r:id="rId14"/>
    <p:sldId id="330" r:id="rId15"/>
    <p:sldId id="325" r:id="rId16"/>
  </p:sldIdLst>
  <p:sldSz cx="18288000" cy="10287000"/>
  <p:notesSz cx="6858000" cy="9144000"/>
  <p:defaultTextStyle>
    <a:defPPr>
      <a:defRPr lang="en-US"/>
    </a:defPPr>
    <a:lvl1pPr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9144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18288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27432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3657600" algn="l" defTabSz="9144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45720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54864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64008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7315200" algn="l" defTabSz="18288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4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74"/>
    <p:restoredTop sz="70000"/>
  </p:normalViewPr>
  <p:slideViewPr>
    <p:cSldViewPr snapToGrid="0" snapToObjects="1">
      <p:cViewPr varScale="1">
        <p:scale>
          <a:sx n="41" d="100"/>
          <a:sy n="41" d="100"/>
        </p:scale>
        <p:origin x="248" y="752"/>
      </p:cViewPr>
      <p:guideLst>
        <p:guide orient="horz" pos="3240"/>
        <p:guide pos="57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B339E-DD24-AF4D-951A-8F87C48A3888}" type="datetimeFigureOut">
              <a:rPr lang="en-US" smtClean="0"/>
              <a:t>12/5/23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2D538-1C4E-BA48-98E5-173D2FE01A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925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2A486D6-E442-077A-EEB3-88D208F2FC4C}"/>
              </a:ext>
            </a:extLst>
          </p:cNvPr>
          <p:cNvSpPr/>
          <p:nvPr/>
        </p:nvSpPr>
        <p:spPr>
          <a:xfrm>
            <a:off x="2657477" y="1943101"/>
            <a:ext cx="12973050" cy="4730750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/>
          <a:p>
            <a:pPr defTabSz="1828800" fontAlgn="auto">
              <a:spcBef>
                <a:spcPts val="4000"/>
              </a:spcBef>
              <a:spcAft>
                <a:spcPts val="0"/>
              </a:spcAft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/>
            </a:pPr>
            <a:endParaRPr sz="64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45842" y="2286000"/>
            <a:ext cx="12996316" cy="2587300"/>
          </a:xfrm>
        </p:spPr>
        <p:txBody>
          <a:bodyPr lIns="182880" rIns="182880" rtlCol="0">
            <a:noAutofit/>
          </a:bodyPr>
          <a:lstStyle>
            <a:lvl1pPr marL="0" indent="0" algn="ctr" defTabSz="18288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72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45845" y="4948519"/>
            <a:ext cx="12996318" cy="1374962"/>
          </a:xfrm>
        </p:spPr>
        <p:txBody>
          <a:bodyPr rtlCol="0">
            <a:normAutofit/>
          </a:bodyPr>
          <a:lstStyle>
            <a:lvl1pPr marL="0" indent="0" algn="ctr" defTabSz="1828800" rtl="0" eaLnBrk="1" latinLnBrk="0" hangingPunct="1">
              <a:spcBef>
                <a:spcPts val="6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748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8550" y="2050699"/>
            <a:ext cx="16084552" cy="6888006"/>
          </a:xfrm>
        </p:spPr>
        <p:txBody>
          <a:bodyPr/>
          <a:lstStyle>
            <a:lvl1pPr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0259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8550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502142" y="2085698"/>
            <a:ext cx="7680960" cy="6515100"/>
          </a:xfrm>
        </p:spPr>
        <p:txBody>
          <a:bodyPr>
            <a:normAutofit/>
          </a:bodyPr>
          <a:lstStyle>
            <a:lvl1pPr>
              <a:spcBef>
                <a:spcPts val="3200"/>
              </a:spcBef>
              <a:defRPr sz="4000"/>
            </a:lvl1pPr>
            <a:lvl2pPr>
              <a:defRPr sz="3600"/>
            </a:lvl2pPr>
            <a:lvl3pPr>
              <a:defRPr sz="3200"/>
            </a:lvl3pPr>
            <a:lvl4pPr>
              <a:defRPr sz="2800"/>
            </a:lvl4pPr>
            <a:lvl5pPr>
              <a:defRPr sz="24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98550" y="161365"/>
            <a:ext cx="16084552" cy="1551434"/>
          </a:xfrm>
        </p:spPr>
        <p:txBody>
          <a:bodyPr/>
          <a:lstStyle>
            <a:lvl1pPr>
              <a:defRPr sz="5600"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114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82098A7-74DB-47EC-8637-CFD1F5FF8E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98551" y="161926"/>
            <a:ext cx="16084550" cy="20034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30E7C49-5D51-22BD-9218-005012D508B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98551" y="2400300"/>
            <a:ext cx="16084550" cy="6515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1028" name="Picture 5" descr="ILTECH_wht_horiz.png">
            <a:extLst>
              <a:ext uri="{FF2B5EF4-FFF2-40B4-BE49-F238E27FC236}">
                <a16:creationId xmlns:a16="http://schemas.microsoft.com/office/drawing/2014/main" id="{42D74730-BBC2-6B47-9AEF-9E8FDE440A0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89076" y="9185276"/>
            <a:ext cx="3556000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4" r:id="rId2"/>
    <p:sldLayoutId id="2147483675" r:id="rId3"/>
  </p:sldLayoutIdLst>
  <p:txStyles>
    <p:titleStyle>
      <a:lvl1pPr algn="ctr" rtl="0" fontAlgn="base">
        <a:spcBef>
          <a:spcPct val="0"/>
        </a:spcBef>
        <a:spcAft>
          <a:spcPct val="0"/>
        </a:spcAft>
        <a:defRPr sz="5600" b="1" kern="1200">
          <a:solidFill>
            <a:schemeClr val="accent1"/>
          </a:solidFill>
          <a:latin typeface="+mj-lt"/>
          <a:ea typeface="ＭＳ Ｐゴシック" panose="020B0600070205080204" pitchFamily="34" charset="-128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2pPr>
      <a:lvl3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3pPr>
      <a:lvl4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4pPr>
      <a:lvl5pPr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5pPr>
      <a:lvl6pPr marL="9144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6pPr>
      <a:lvl7pPr marL="18288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7pPr>
      <a:lvl8pPr marL="27432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8pPr>
      <a:lvl9pPr marL="3657600" algn="ctr" rtl="0" fontAlgn="base">
        <a:spcBef>
          <a:spcPct val="0"/>
        </a:spcBef>
        <a:spcAft>
          <a:spcPct val="0"/>
        </a:spcAft>
        <a:defRPr sz="5600" b="1">
          <a:solidFill>
            <a:schemeClr val="accent1"/>
          </a:solidFill>
          <a:latin typeface="Arial" panose="020B0604020202020204" pitchFamily="34" charset="0"/>
          <a:ea typeface="ＭＳ Ｐゴシック" panose="020B0600070205080204" pitchFamily="34" charset="-128"/>
        </a:defRPr>
      </a:lvl9pPr>
    </p:titleStyle>
    <p:bodyStyle>
      <a:lvl1pPr marL="698500" indent="-698500" algn="l" rtl="0" fontAlgn="base">
        <a:spcBef>
          <a:spcPts val="4000"/>
        </a:spcBef>
        <a:spcAft>
          <a:spcPct val="0"/>
        </a:spcAft>
        <a:buClr>
          <a:schemeClr val="accent2"/>
        </a:buClr>
        <a:buSzPct val="100000"/>
        <a:buFont typeface="Wingdings 2" pitchFamily="2" charset="2"/>
        <a:buChar char=""/>
        <a:defRPr sz="48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1pPr>
      <a:lvl2pPr marL="1371600" indent="-673100" algn="l" rtl="0" fontAlgn="base">
        <a:spcBef>
          <a:spcPts val="1200"/>
        </a:spcBef>
        <a:spcAft>
          <a:spcPct val="0"/>
        </a:spcAft>
        <a:buClr>
          <a:srgbClr val="808080"/>
        </a:buClr>
        <a:buSzPct val="100000"/>
        <a:buFont typeface="Wingdings 2" pitchFamily="2" charset="2"/>
        <a:buChar char=""/>
        <a:defRPr sz="44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2pPr>
      <a:lvl3pPr marL="1936750" indent="-565150" algn="l" rtl="0" fontAlgn="base">
        <a:spcBef>
          <a:spcPts val="1200"/>
        </a:spcBef>
        <a:spcAft>
          <a:spcPct val="0"/>
        </a:spcAft>
        <a:buClr>
          <a:srgbClr val="969696"/>
        </a:buClr>
        <a:buSzPct val="100000"/>
        <a:buFont typeface="Wingdings 2" pitchFamily="2" charset="2"/>
        <a:buChar char=""/>
        <a:defRPr sz="4000"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3pPr>
      <a:lvl4pPr marL="2527300" indent="-590550" algn="l" rtl="0" fontAlgn="base">
        <a:spcBef>
          <a:spcPts val="1200"/>
        </a:spcBef>
        <a:spcAft>
          <a:spcPct val="0"/>
        </a:spcAft>
        <a:buClr>
          <a:srgbClr val="F8BC65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4pPr>
      <a:lvl5pPr marL="3092450" indent="-565150" algn="l" rtl="0" fontAlgn="base">
        <a:spcBef>
          <a:spcPts val="1200"/>
        </a:spcBef>
        <a:spcAft>
          <a:spcPct val="0"/>
        </a:spcAft>
        <a:buClr>
          <a:srgbClr val="FBD299"/>
        </a:buClr>
        <a:buSzPct val="100000"/>
        <a:buFont typeface="Wingdings 2" pitchFamily="2" charset="2"/>
        <a:buChar char=""/>
        <a:defRPr kern="1200">
          <a:solidFill>
            <a:schemeClr val="tx1"/>
          </a:solidFill>
          <a:latin typeface="+mn-lt"/>
          <a:ea typeface="ＭＳ Ｐゴシック" panose="020B0600070205080204" pitchFamily="34" charset="-128"/>
          <a:cs typeface="+mn-cs"/>
        </a:defRPr>
      </a:lvl5pPr>
      <a:lvl6pPr marL="3657600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235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4797426" indent="-565150" algn="l" defTabSz="18288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36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378450" indent="-565150" algn="l" defTabSz="18288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36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3D2C4-084C-C545-00AC-430EC19B6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Math 769: Statistical Learning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E803D9D7-D926-E270-BBAA-C017CB0F03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2807F-AA75-8289-ABFC-30F1E44E67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4777" y="2286001"/>
            <a:ext cx="12998450" cy="2587626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K-Means 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820C0-3BC8-687A-7D56-C3951CF5E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44777" y="4949827"/>
            <a:ext cx="12998450" cy="1374774"/>
          </a:xfrm>
        </p:spPr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Shahrzad Jamshidi, PhD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Last Time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We discussed how SVM constructs a decision boundary by finding one that corresponds to a maximal margin between two classes. </a:t>
            </a:r>
          </a:p>
          <a:p>
            <a:r>
              <a:rPr lang="en-US" altLang="en-US" dirty="0"/>
              <a:t>If the classes overlap, the technique allows for slack to be incorporated. 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>
            <a:extLst>
              <a:ext uri="{FF2B5EF4-FFF2-40B4-BE49-F238E27FC236}">
                <a16:creationId xmlns:a16="http://schemas.microsoft.com/office/drawing/2014/main" id="{7437B09B-40A5-6CD5-DCB3-08809A79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551" y="161926"/>
            <a:ext cx="16084550" cy="1549400"/>
          </a:xfrm>
        </p:spPr>
        <p:txBody>
          <a:bodyPr/>
          <a:lstStyle/>
          <a:p>
            <a:r>
              <a:rPr lang="en-US" altLang="en-US" dirty="0"/>
              <a:t>Objectives</a:t>
            </a:r>
          </a:p>
        </p:txBody>
      </p:sp>
      <p:sp>
        <p:nvSpPr>
          <p:cNvPr id="6146" name="Content Placeholder 2">
            <a:extLst>
              <a:ext uri="{FF2B5EF4-FFF2-40B4-BE49-F238E27FC236}">
                <a16:creationId xmlns:a16="http://schemas.microsoft.com/office/drawing/2014/main" id="{8DFB1FDB-789D-3A4E-B0C7-3BAF194C6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8551" y="2051050"/>
            <a:ext cx="16084550" cy="6886576"/>
          </a:xfrm>
        </p:spPr>
        <p:txBody>
          <a:bodyPr/>
          <a:lstStyle/>
          <a:p>
            <a:r>
              <a:rPr lang="en-US" altLang="en-US" dirty="0"/>
              <a:t>Discuss the aim of k-means clustering.</a:t>
            </a:r>
          </a:p>
          <a:p>
            <a:r>
              <a:rPr lang="en-US" altLang="en-US" dirty="0"/>
              <a:t>Discuss the strengths and limitations of k-means clustering.</a:t>
            </a:r>
          </a:p>
          <a:p>
            <a:r>
              <a:rPr lang="en-US" altLang="en-US" dirty="0"/>
              <a:t>Define the k-means clustering algorithm.</a:t>
            </a:r>
          </a:p>
        </p:txBody>
      </p:sp>
    </p:spTree>
    <p:extLst>
      <p:ext uri="{BB962C8B-B14F-4D97-AF65-F5344CB8AC3E}">
        <p14:creationId xmlns:p14="http://schemas.microsoft.com/office/powerpoint/2010/main" val="27743940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K-means clustering is a widely-used, </a:t>
            </a:r>
            <a:r>
              <a:rPr lang="en-US" b="1" u="sng" dirty="0"/>
              <a:t>unsupervised</a:t>
            </a:r>
            <a:r>
              <a:rPr lang="en-US" dirty="0"/>
              <a:t> learning method for grouping data into k distinct, non-overlapping clusters. </a:t>
            </a:r>
          </a:p>
          <a:p>
            <a:r>
              <a:rPr lang="en-US" dirty="0"/>
              <a:t>It does this by minimizing the variance within each cluster. </a:t>
            </a:r>
          </a:p>
          <a:p>
            <a:r>
              <a:rPr lang="en-US" dirty="0"/>
              <a:t>The 'means' in the algorithm's name refers to the centroid of each cluster (depicted in red).</a:t>
            </a:r>
          </a:p>
        </p:txBody>
      </p:sp>
      <p:pic>
        <p:nvPicPr>
          <p:cNvPr id="6" name="Content Placeholder 5" descr="A diagram of a cluster of dots&#10;&#10;Description automatically generated">
            <a:extLst>
              <a:ext uri="{FF2B5EF4-FFF2-40B4-BE49-F238E27FC236}">
                <a16:creationId xmlns:a16="http://schemas.microsoft.com/office/drawing/2014/main" id="{7FA9D77F-973D-85C1-2E57-F4FE9DB5A07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508492" y="1828617"/>
            <a:ext cx="7374454" cy="6759916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k-Means Clustering?</a:t>
            </a:r>
          </a:p>
        </p:txBody>
      </p:sp>
    </p:spTree>
    <p:extLst>
      <p:ext uri="{BB962C8B-B14F-4D97-AF65-F5344CB8AC3E}">
        <p14:creationId xmlns:p14="http://schemas.microsoft.com/office/powerpoint/2010/main" val="336724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4482D31-FF56-756D-6FCE-245722833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Algorithm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3E554C-C39B-56BE-33D3-5B20E3065D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algorithm works iteratively to assign each data point to one of k groups based on the features that are provided. </a:t>
            </a:r>
          </a:p>
          <a:p>
            <a:r>
              <a:rPr lang="en-US" dirty="0"/>
              <a:t>Data points are clustered based on feature similarity determined by a chosen metric for distance.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8831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05A70E-E8A4-A9B3-9C17-CE9EED091B8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Steps</a:t>
            </a:r>
            <a:endParaRPr lang="en-US" dirty="0"/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Select k random initial centroids (red </a:t>
            </a:r>
            <a:r>
              <a:rPr lang="en-US" dirty="0" err="1"/>
              <a:t>Xs</a:t>
            </a:r>
            <a:r>
              <a:rPr lang="en-US" dirty="0"/>
              <a:t>).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Assign each data point to the nearest centroid.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Recalculate the centroid of each cluster.</a:t>
            </a:r>
          </a:p>
          <a:p>
            <a:pPr marL="742950" indent="-742950">
              <a:buFont typeface="+mj-lt"/>
              <a:buAutoNum type="arabicPeriod"/>
            </a:pPr>
            <a:r>
              <a:rPr lang="en-US" dirty="0"/>
              <a:t>Repeat 2 &amp; 3 until convergence.</a:t>
            </a:r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6647919-EED2-90C5-C399-214E77710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Conceptual Steps of Algorithm</a:t>
            </a:r>
          </a:p>
        </p:txBody>
      </p:sp>
      <p:pic>
        <p:nvPicPr>
          <p:cNvPr id="11" name="Content Placeholder 10" descr="A diagram of different colored dots&#10;&#10;Description automatically generated">
            <a:extLst>
              <a:ext uri="{FF2B5EF4-FFF2-40B4-BE49-F238E27FC236}">
                <a16:creationId xmlns:a16="http://schemas.microsoft.com/office/drawing/2014/main" id="{06436752-29C3-D9D3-98AA-8D7E3FA97F2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502775" y="2463403"/>
            <a:ext cx="7680325" cy="5760243"/>
          </a:xfrm>
        </p:spPr>
      </p:pic>
    </p:spTree>
    <p:extLst>
      <p:ext uri="{BB962C8B-B14F-4D97-AF65-F5344CB8AC3E}">
        <p14:creationId xmlns:p14="http://schemas.microsoft.com/office/powerpoint/2010/main" val="2785842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562954-2661-A7B8-576C-0A2B9A1A321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Strengths</a:t>
            </a:r>
          </a:p>
          <a:p>
            <a:r>
              <a:rPr lang="en-US" dirty="0"/>
              <a:t>Simple and easy to implement.</a:t>
            </a:r>
          </a:p>
          <a:p>
            <a:r>
              <a:rPr lang="en-US" dirty="0"/>
              <a:t>Efficient in terms of computational cost.</a:t>
            </a:r>
          </a:p>
          <a:p>
            <a:r>
              <a:rPr lang="en-US" dirty="0"/>
              <a:t>Works well with large datasets.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D76A7-6F2B-995A-61E8-659E426E1E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Weaknesses</a:t>
            </a:r>
          </a:p>
          <a:p>
            <a:r>
              <a:rPr lang="en-US" dirty="0"/>
              <a:t>Sensitive to the initial choice of centroids.</a:t>
            </a:r>
          </a:p>
          <a:p>
            <a:r>
              <a:rPr lang="en-US" dirty="0"/>
              <a:t>Struggles with non-spherical shapes or varying sizes of clusters.</a:t>
            </a:r>
          </a:p>
          <a:p>
            <a:r>
              <a:rPr lang="en-US" dirty="0"/>
              <a:t>Not suitable for datasets with complex, overlapping distributions.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0FBB84-3CBD-4DF1-1290-40AE6B785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Strengths and Weaknesses</a:t>
            </a:r>
          </a:p>
        </p:txBody>
      </p:sp>
    </p:spTree>
    <p:extLst>
      <p:ext uri="{BB962C8B-B14F-4D97-AF65-F5344CB8AC3E}">
        <p14:creationId xmlns:p14="http://schemas.microsoft.com/office/powerpoint/2010/main" val="1435612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diagram of different colored dots&#10;&#10;Description automatically generated">
            <a:extLst>
              <a:ext uri="{FF2B5EF4-FFF2-40B4-BE49-F238E27FC236}">
                <a16:creationId xmlns:a16="http://schemas.microsoft.com/office/drawing/2014/main" id="{80B23378-6EEC-35C6-9B79-1612AB9F10F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098550" y="2463403"/>
            <a:ext cx="7680325" cy="5760243"/>
          </a:xfrm>
        </p:spPr>
      </p:pic>
      <p:pic>
        <p:nvPicPr>
          <p:cNvPr id="8" name="Content Placeholder 7" descr="A diagram of different colored dots&#10;&#10;Description automatically generated">
            <a:extLst>
              <a:ext uri="{FF2B5EF4-FFF2-40B4-BE49-F238E27FC236}">
                <a16:creationId xmlns:a16="http://schemas.microsoft.com/office/drawing/2014/main" id="{F6FD5CA2-12D9-E8AF-AF97-AD1BCD9B8A6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9502775" y="2463403"/>
            <a:ext cx="7680325" cy="5760243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C56CA38-7AAD-20D9-4D99-9144F83C3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Initialization Matters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C60D07-721B-799F-3EB4-E865F78D41C9}"/>
              </a:ext>
            </a:extLst>
          </p:cNvPr>
          <p:cNvSpPr txBox="1"/>
          <p:nvPr/>
        </p:nvSpPr>
        <p:spPr>
          <a:xfrm>
            <a:off x="2195512" y="8266364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</a:rPr>
              <a:t>Good Initialization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B02C77-6EFA-9C58-C857-F6159816966F}"/>
              </a:ext>
            </a:extLst>
          </p:cNvPr>
          <p:cNvSpPr txBox="1"/>
          <p:nvPr/>
        </p:nvSpPr>
        <p:spPr>
          <a:xfrm>
            <a:off x="10599737" y="8266364"/>
            <a:ext cx="5486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accent1"/>
                </a:solidFill>
              </a:rPr>
              <a:t>Bad Initialization</a:t>
            </a:r>
          </a:p>
        </p:txBody>
      </p:sp>
    </p:spTree>
    <p:extLst>
      <p:ext uri="{BB962C8B-B14F-4D97-AF65-F5344CB8AC3E}">
        <p14:creationId xmlns:p14="http://schemas.microsoft.com/office/powerpoint/2010/main" val="430823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AA6908F-FDB1-7D26-3860-7CACDF1BB2E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098550" y="2085698"/>
                <a:ext cx="8045450" cy="651510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600" dirty="0"/>
                  <a:t>Initial guess: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=2.0, 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=−2.8</m:t>
                    </m:r>
                  </m:oMath>
                </a14:m>
                <a:endParaRPr lang="en-US" sz="3600" dirty="0"/>
              </a:p>
              <a:p>
                <a:pPr marL="0" indent="0">
                  <a:buNone/>
                </a:pPr>
                <a:r>
                  <a:rPr lang="en-US" sz="3600" dirty="0"/>
                  <a:t>Clusters: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2.0,6.8,3.3,3.2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begChr m:val="{"/>
                        <m:endChr m:val="}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3.1,−2.1,−2.8,−3.2, −3.3</m:t>
                        </m:r>
                      </m:e>
                    </m:d>
                  </m:oMath>
                </a14:m>
                <a:endParaRPr lang="en-US" sz="3600" dirty="0"/>
              </a:p>
              <a:p>
                <a:pPr marL="0" indent="0">
                  <a:buNone/>
                </a:pPr>
                <a:r>
                  <a:rPr lang="en-US" sz="3600" dirty="0"/>
                  <a:t>New Centroids: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3.825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=−2.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en-US" sz="3600" dirty="0"/>
              </a:p>
              <a:p>
                <a:pPr marL="0" indent="0">
                  <a:buNone/>
                </a:pPr>
                <a:r>
                  <a:rPr lang="en-US" sz="3600" dirty="0"/>
                  <a:t>Clusters: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2.0,6.8,3.3,3.2</m:t>
                        </m:r>
                      </m:e>
                    </m:d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,  </m:t>
                    </m:r>
                    <m:d>
                      <m:dPr>
                        <m:begChr m:val="{"/>
                        <m:endChr m:val="}"/>
                        <m:ctrlPr>
                          <a:rPr lang="en-US" sz="3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3.1,−2.1,−2.8,−3.2, −3.3</m:t>
                        </m:r>
                      </m:e>
                    </m:d>
                  </m:oMath>
                </a14:m>
                <a:endParaRPr lang="en-US" sz="3600" dirty="0"/>
              </a:p>
              <a:p>
                <a:pPr marL="0" indent="0">
                  <a:buNone/>
                </a:pPr>
                <a:r>
                  <a:rPr lang="en-US" sz="3600" dirty="0"/>
                  <a:t>New Centroids: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600" i="1">
                        <a:latin typeface="Cambria Math" panose="02040503050406030204" pitchFamily="18" charset="0"/>
                      </a:rPr>
                      <m:t>3.825</m:t>
                    </m:r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600" b="0" i="1" smtClean="0">
                        <a:latin typeface="Cambria Math" panose="02040503050406030204" pitchFamily="18" charset="0"/>
                      </a:rPr>
                      <m:t>=−2.9</m:t>
                    </m:r>
                  </m:oMath>
                </a14:m>
                <a:endParaRPr lang="en-US" sz="3600" dirty="0"/>
              </a:p>
              <a:p>
                <a:pPr marL="0" indent="0">
                  <a:buNone/>
                </a:pPr>
                <a:r>
                  <a:rPr lang="en-US" sz="3600" dirty="0"/>
                  <a:t>Convergence!</a:t>
                </a:r>
              </a:p>
            </p:txBody>
          </p:sp>
        </mc:Choice>
        <mc:Fallback>
          <p:sp>
            <p:nvSpPr>
              <p:cNvPr id="7" name="Content Placeholder 6">
                <a:extLst>
                  <a:ext uri="{FF2B5EF4-FFF2-40B4-BE49-F238E27FC236}">
                    <a16:creationId xmlns:a16="http://schemas.microsoft.com/office/drawing/2014/main" id="{CAA6908F-FDB1-7D26-3860-7CACDF1BB2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098550" y="2085698"/>
                <a:ext cx="8045450" cy="6515100"/>
              </a:xfrm>
              <a:blipFill>
                <a:blip r:embed="rId2"/>
                <a:stretch>
                  <a:fillRect l="-2208" t="-1556" b="-33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Content Placeholder 9">
                <a:extLst>
                  <a:ext uri="{FF2B5EF4-FFF2-40B4-BE49-F238E27FC236}">
                    <a16:creationId xmlns:a16="http://schemas.microsoft.com/office/drawing/2014/main" id="{0B603E0A-D255-292F-0BD2-84329039B67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868323850"/>
                  </p:ext>
                </p:extLst>
              </p:nvPr>
            </p:nvGraphicFramePr>
            <p:xfrm>
              <a:off x="15812429" y="2085975"/>
              <a:ext cx="1370670" cy="640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0670">
                      <a:extLst>
                        <a:ext uri="{9D8B030D-6E8A-4147-A177-3AD203B41FA5}">
                          <a16:colId xmlns:a16="http://schemas.microsoft.com/office/drawing/2014/main" val="2223271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𝑿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solidFill>
                                          <a:schemeClr val="bg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774714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-3.1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9794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18272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655237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48700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944678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36182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75078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-3.2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3991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-3.3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801297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Content Placeholder 9">
                <a:extLst>
                  <a:ext uri="{FF2B5EF4-FFF2-40B4-BE49-F238E27FC236}">
                    <a16:creationId xmlns:a16="http://schemas.microsoft.com/office/drawing/2014/main" id="{0B603E0A-D255-292F-0BD2-84329039B675}"/>
                  </a:ext>
                </a:extLst>
              </p:cNvPr>
              <p:cNvGraphicFramePr>
                <a:graphicFrameLocks noGrp="1"/>
              </p:cNvGraphicFramePr>
              <p:nvPr>
                <p:ph sz="half" idx="2"/>
                <p:extLst>
                  <p:ext uri="{D42A27DB-BD31-4B8C-83A1-F6EECF244321}">
                    <p14:modId xmlns:p14="http://schemas.microsoft.com/office/powerpoint/2010/main" val="1868323850"/>
                  </p:ext>
                </p:extLst>
              </p:nvPr>
            </p:nvGraphicFramePr>
            <p:xfrm>
              <a:off x="15812429" y="2085975"/>
              <a:ext cx="1370670" cy="64008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70670">
                      <a:extLst>
                        <a:ext uri="{9D8B030D-6E8A-4147-A177-3AD203B41FA5}">
                          <a16:colId xmlns:a16="http://schemas.microsoft.com/office/drawing/2014/main" val="222327121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926" t="-1961" r="-2778" b="-9254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7747145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-3.1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297941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2.0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1827203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56552375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6.8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94870006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-2.8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79446782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3618289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3.2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47507801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-3.2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213991907"/>
                      </a:ext>
                    </a:extLst>
                  </a:tr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-3.3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71801297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5" name="Title 4">
            <a:extLst>
              <a:ext uri="{FF2B5EF4-FFF2-40B4-BE49-F238E27FC236}">
                <a16:creationId xmlns:a16="http://schemas.microsoft.com/office/drawing/2014/main" id="{4D178476-A279-AD6B-9AF4-8EADB449C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2-Means Clustering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A8F07EA-2085-EEC7-FEB9-092C8A00C005}"/>
              </a:ext>
            </a:extLst>
          </p:cNvPr>
          <p:cNvCxnSpPr/>
          <p:nvPr/>
        </p:nvCxnSpPr>
        <p:spPr>
          <a:xfrm>
            <a:off x="9397787" y="6120961"/>
            <a:ext cx="5330283" cy="0"/>
          </a:xfrm>
          <a:prstGeom prst="straightConnector1">
            <a:avLst/>
          </a:prstGeom>
          <a:ln w="82550" cmpd="sng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58FE448D-0B55-0A27-A2CC-6DB81E436476}"/>
              </a:ext>
            </a:extLst>
          </p:cNvPr>
          <p:cNvSpPr/>
          <p:nvPr/>
        </p:nvSpPr>
        <p:spPr>
          <a:xfrm>
            <a:off x="10026873" y="5707115"/>
            <a:ext cx="157655" cy="157655"/>
          </a:xfrm>
          <a:prstGeom prst="ellipse">
            <a:avLst/>
          </a:prstGeom>
          <a:solidFill>
            <a:srgbClr val="00B0F0"/>
          </a:solidFill>
          <a:ln>
            <a:solidFill>
              <a:schemeClr val="accent6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1ED422B-A9C2-768B-87DC-6B9A5D5B5DB7}"/>
              </a:ext>
            </a:extLst>
          </p:cNvPr>
          <p:cNvCxnSpPr>
            <a:cxnSpLocks/>
          </p:cNvCxnSpPr>
          <p:nvPr/>
        </p:nvCxnSpPr>
        <p:spPr>
          <a:xfrm>
            <a:off x="12124613" y="5868713"/>
            <a:ext cx="0" cy="46902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84C277C-C330-143D-42BE-57EE0EA84D63}"/>
              </a:ext>
            </a:extLst>
          </p:cNvPr>
          <p:cNvSpPr/>
          <p:nvPr/>
        </p:nvSpPr>
        <p:spPr>
          <a:xfrm>
            <a:off x="13174718" y="5733391"/>
            <a:ext cx="157655" cy="157655"/>
          </a:xfrm>
          <a:prstGeom prst="ellipse">
            <a:avLst/>
          </a:prstGeom>
          <a:solidFill>
            <a:srgbClr val="00B0F0"/>
          </a:solidFill>
          <a:ln>
            <a:solidFill>
              <a:schemeClr val="accent6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A15DCCE-0D50-F177-3018-04DDF2E78DD0}"/>
              </a:ext>
            </a:extLst>
          </p:cNvPr>
          <p:cNvSpPr/>
          <p:nvPr/>
        </p:nvSpPr>
        <p:spPr>
          <a:xfrm>
            <a:off x="10773107" y="5696605"/>
            <a:ext cx="157655" cy="157655"/>
          </a:xfrm>
          <a:prstGeom prst="ellipse">
            <a:avLst/>
          </a:prstGeom>
          <a:solidFill>
            <a:srgbClr val="00B0F0"/>
          </a:solidFill>
          <a:ln>
            <a:solidFill>
              <a:schemeClr val="accent6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0575967-5556-9AE5-06CF-8A36EB178090}"/>
              </a:ext>
            </a:extLst>
          </p:cNvPr>
          <p:cNvSpPr/>
          <p:nvPr/>
        </p:nvSpPr>
        <p:spPr>
          <a:xfrm>
            <a:off x="14961475" y="5691350"/>
            <a:ext cx="157655" cy="157655"/>
          </a:xfrm>
          <a:prstGeom prst="ellipse">
            <a:avLst/>
          </a:prstGeom>
          <a:solidFill>
            <a:srgbClr val="00B0F0"/>
          </a:solidFill>
          <a:ln>
            <a:solidFill>
              <a:schemeClr val="accent6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A182C8-8810-32BF-D025-934D355CBC2F}"/>
              </a:ext>
            </a:extLst>
          </p:cNvPr>
          <p:cNvSpPr/>
          <p:nvPr/>
        </p:nvSpPr>
        <p:spPr>
          <a:xfrm>
            <a:off x="10263356" y="5691350"/>
            <a:ext cx="157655" cy="157655"/>
          </a:xfrm>
          <a:prstGeom prst="ellipse">
            <a:avLst/>
          </a:prstGeom>
          <a:solidFill>
            <a:srgbClr val="00B0F0"/>
          </a:solidFill>
          <a:ln>
            <a:solidFill>
              <a:schemeClr val="accent6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BCAFE39-B27B-935C-C487-66ED73B618F3}"/>
              </a:ext>
            </a:extLst>
          </p:cNvPr>
          <p:cNvSpPr/>
          <p:nvPr/>
        </p:nvSpPr>
        <p:spPr>
          <a:xfrm>
            <a:off x="14178455" y="5728136"/>
            <a:ext cx="157655" cy="157655"/>
          </a:xfrm>
          <a:prstGeom prst="ellipse">
            <a:avLst/>
          </a:prstGeom>
          <a:solidFill>
            <a:srgbClr val="00B0F0"/>
          </a:solidFill>
          <a:ln>
            <a:solidFill>
              <a:schemeClr val="accent6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F70589F-F214-F930-DD3D-5151CE719862}"/>
              </a:ext>
            </a:extLst>
          </p:cNvPr>
          <p:cNvSpPr/>
          <p:nvPr/>
        </p:nvSpPr>
        <p:spPr>
          <a:xfrm>
            <a:off x="14015545" y="5754412"/>
            <a:ext cx="157655" cy="157655"/>
          </a:xfrm>
          <a:prstGeom prst="ellipse">
            <a:avLst/>
          </a:prstGeom>
          <a:solidFill>
            <a:srgbClr val="00B0F0"/>
          </a:solidFill>
          <a:ln>
            <a:solidFill>
              <a:schemeClr val="accent6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3D5B86C-BCD8-7E3D-D7D6-C0ABBD0F8A21}"/>
              </a:ext>
            </a:extLst>
          </p:cNvPr>
          <p:cNvSpPr/>
          <p:nvPr/>
        </p:nvSpPr>
        <p:spPr>
          <a:xfrm>
            <a:off x="9911260" y="5717626"/>
            <a:ext cx="157655" cy="157655"/>
          </a:xfrm>
          <a:prstGeom prst="ellipse">
            <a:avLst/>
          </a:prstGeom>
          <a:solidFill>
            <a:srgbClr val="00B0F0"/>
          </a:solidFill>
          <a:ln>
            <a:solidFill>
              <a:schemeClr val="accent6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CE1CDA8-70D7-B754-000F-4C882B846AE6}"/>
              </a:ext>
            </a:extLst>
          </p:cNvPr>
          <p:cNvSpPr/>
          <p:nvPr/>
        </p:nvSpPr>
        <p:spPr>
          <a:xfrm>
            <a:off x="9811412" y="5743902"/>
            <a:ext cx="157655" cy="157655"/>
          </a:xfrm>
          <a:prstGeom prst="ellipse">
            <a:avLst/>
          </a:prstGeom>
          <a:solidFill>
            <a:srgbClr val="00B0F0"/>
          </a:solidFill>
          <a:ln>
            <a:solidFill>
              <a:schemeClr val="accent6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9B611E7-CED5-3855-925C-86A7DB2EFBBD}"/>
              </a:ext>
            </a:extLst>
          </p:cNvPr>
          <p:cNvSpPr/>
          <p:nvPr/>
        </p:nvSpPr>
        <p:spPr>
          <a:xfrm>
            <a:off x="10137232" y="5691350"/>
            <a:ext cx="157655" cy="157655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B54C46D-040A-DF02-6B6A-A573A66F55F4}"/>
              </a:ext>
            </a:extLst>
          </p:cNvPr>
          <p:cNvSpPr/>
          <p:nvPr/>
        </p:nvSpPr>
        <p:spPr>
          <a:xfrm>
            <a:off x="14420193" y="5717626"/>
            <a:ext cx="157655" cy="157655"/>
          </a:xfrm>
          <a:prstGeom prst="ellipse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6599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570BC-EB76-7240-6903-F2DD48BAA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in 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AA197-141D-B812-8D74-F43B6A7BB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Clusters are constructed around centroids based on their Euclidean distance.</a:t>
            </a:r>
          </a:p>
          <a:p>
            <a:pPr lvl="1"/>
            <a:r>
              <a:rPr lang="en-US" dirty="0"/>
              <a:t>The closest centroid determines the cluster. </a:t>
            </a:r>
          </a:p>
          <a:p>
            <a:r>
              <a:rPr lang="en-US" dirty="0"/>
              <a:t>Centroids are then redefined by taking the mean of the points (in higher dimension, we compute the mean of each dimension).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339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40723-192D-3EB8-0B1E-A2215463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89E1FF-60C6-FC18-0E3A-403B67A61F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k-means clustering is an unsupervised model designed to cluster data into groups. </a:t>
            </a:r>
          </a:p>
          <a:p>
            <a:r>
              <a:rPr lang="en-US" dirty="0"/>
              <a:t>The method involves specifying the number of clusters, making an initial guess of the centroids, and sorting points based on the nearest centroid. </a:t>
            </a:r>
          </a:p>
          <a:p>
            <a:r>
              <a:rPr lang="en-US" dirty="0"/>
              <a:t>Once sorted, new centroids are formed and the points are grouped once again. </a:t>
            </a:r>
          </a:p>
          <a:p>
            <a:r>
              <a:rPr lang="en-US" dirty="0"/>
              <a:t>The process repeats until the centroids converge. </a:t>
            </a:r>
          </a:p>
        </p:txBody>
      </p:sp>
    </p:spTree>
    <p:extLst>
      <p:ext uri="{BB962C8B-B14F-4D97-AF65-F5344CB8AC3E}">
        <p14:creationId xmlns:p14="http://schemas.microsoft.com/office/powerpoint/2010/main" val="343937380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Custom 3">
      <a:dk1>
        <a:sysClr val="windowText" lastClr="000000"/>
      </a:dk1>
      <a:lt1>
        <a:srgbClr val="C40724"/>
      </a:lt1>
      <a:dk2>
        <a:srgbClr val="000000"/>
      </a:dk2>
      <a:lt2>
        <a:srgbClr val="F8F8F8"/>
      </a:lt2>
      <a:accent1>
        <a:srgbClr val="BD061C"/>
      </a:accent1>
      <a:accent2>
        <a:srgbClr val="E98D0A"/>
      </a:accent2>
      <a:accent3>
        <a:srgbClr val="969696"/>
      </a:accent3>
      <a:accent4>
        <a:srgbClr val="808080"/>
      </a:accent4>
      <a:accent5>
        <a:srgbClr val="C40724"/>
      </a:accent5>
      <a:accent6>
        <a:srgbClr val="3F4F6C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ILTECH_Template_2019 (1)  -  Compatibility Mode" id="{96DF2388-B785-2045-9157-84F6A1D402CB}" vid="{FA40E05E-1420-CD4F-AB4E-3CD2BC76CD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6" ma:contentTypeDescription="Create a new document." ma:contentTypeScope="" ma:versionID="81a54cd395f61cfc29bb41b0389d7858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db123aac500611cfff64836afef3716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82751A81-70CC-447F-8A2C-16B1B6F3D05E}"/>
</file>

<file path=customXml/itemProps2.xml><?xml version="1.0" encoding="utf-8"?>
<ds:datastoreItem xmlns:ds="http://schemas.openxmlformats.org/officeDocument/2006/customXml" ds:itemID="{BFA838ED-C12F-4A42-8E88-98BAC73D21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C6A4EEA-2556-441D-B20B-0657893061DE}">
  <ds:schemaRefs>
    <ds:schemaRef ds:uri="http://schemas.microsoft.com/office/2006/metadata/properties"/>
    <ds:schemaRef ds:uri="http://schemas.microsoft.com/office/infopath/2007/PartnerControls"/>
    <ds:schemaRef ds:uri="5e41b080-9453-459c-bb93-b19be7335f42"/>
    <ds:schemaRef ds:uri="4e58ebf2-e4df-4cd3-9186-1e42b3ede1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11463</TotalTime>
  <Words>432</Words>
  <Application>Microsoft Macintosh PowerPoint</Application>
  <PresentationFormat>Custom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 Math</vt:lpstr>
      <vt:lpstr>Wingdings 2</vt:lpstr>
      <vt:lpstr>Breeze</vt:lpstr>
      <vt:lpstr>Math 769: Statistical Learning</vt:lpstr>
      <vt:lpstr>K-Means Clustering</vt:lpstr>
      <vt:lpstr>Last Time</vt:lpstr>
      <vt:lpstr>Objectives</vt:lpstr>
      <vt:lpstr>What is k-Means Clustering?</vt:lpstr>
      <vt:lpstr>About Algorithm</vt:lpstr>
      <vt:lpstr>Conceptual Steps of Algorithm</vt:lpstr>
      <vt:lpstr>Strengths and Weaknesses</vt:lpstr>
      <vt:lpstr>Initialization Matters</vt:lpstr>
      <vt:lpstr>Example: 2-Means Clustering</vt:lpstr>
      <vt:lpstr>Algorithm in Practice</vt:lpstr>
      <vt:lpstr>Conclusion</vt:lpstr>
    </vt:vector>
  </TitlesOfParts>
  <Manager/>
  <Company>Illinois Institute of Technology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Illinois Tech President's PowerPoint Presentation</dc:title>
  <dc:subject/>
  <dc:creator>Sandra Laporte</dc:creator>
  <cp:keywords/>
  <dc:description/>
  <cp:lastModifiedBy>Jamshidi, Sara (She/Her/Hers)</cp:lastModifiedBy>
  <cp:revision>60</cp:revision>
  <dcterms:created xsi:type="dcterms:W3CDTF">2019-02-13T16:04:21Z</dcterms:created>
  <dcterms:modified xsi:type="dcterms:W3CDTF">2023-12-06T07:38:41Z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  <property fmtid="{D5CDD505-2E9C-101B-9397-08002B2CF9AE}" pid="3" name="MSIP_Label_f2dee603-0001-4639-81f8-0608a53322f1_Enabled">
    <vt:lpwstr>true</vt:lpwstr>
  </property>
  <property fmtid="{D5CDD505-2E9C-101B-9397-08002B2CF9AE}" pid="4" name="MSIP_Label_f2dee603-0001-4639-81f8-0608a53322f1_SetDate">
    <vt:lpwstr>2023-11-13T19:27:41Z</vt:lpwstr>
  </property>
  <property fmtid="{D5CDD505-2E9C-101B-9397-08002B2CF9AE}" pid="5" name="MSIP_Label_f2dee603-0001-4639-81f8-0608a53322f1_Method">
    <vt:lpwstr>Standard</vt:lpwstr>
  </property>
  <property fmtid="{D5CDD505-2E9C-101B-9397-08002B2CF9AE}" pid="6" name="MSIP_Label_f2dee603-0001-4639-81f8-0608a53322f1_Name">
    <vt:lpwstr>defa4170-0d19-0005-0004-bc88714345d2</vt:lpwstr>
  </property>
  <property fmtid="{D5CDD505-2E9C-101B-9397-08002B2CF9AE}" pid="7" name="MSIP_Label_f2dee603-0001-4639-81f8-0608a53322f1_SiteId">
    <vt:lpwstr>b4478c05-3dd9-4e06-a7fb-5dcf72bd44ee</vt:lpwstr>
  </property>
  <property fmtid="{D5CDD505-2E9C-101B-9397-08002B2CF9AE}" pid="8" name="MSIP_Label_f2dee603-0001-4639-81f8-0608a53322f1_ActionId">
    <vt:lpwstr>1b0daab6-fbab-47d6-a526-f1d5535b6116</vt:lpwstr>
  </property>
  <property fmtid="{D5CDD505-2E9C-101B-9397-08002B2CF9AE}" pid="9" name="MSIP_Label_f2dee603-0001-4639-81f8-0608a53322f1_ContentBits">
    <vt:lpwstr>0</vt:lpwstr>
  </property>
</Properties>
</file>