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7" r:id="rId4"/>
  </p:sldMasterIdLst>
  <p:notesMasterIdLst>
    <p:notesMasterId r:id="rId23"/>
  </p:notesMasterIdLst>
  <p:sldIdLst>
    <p:sldId id="259" r:id="rId5"/>
    <p:sldId id="262" r:id="rId6"/>
    <p:sldId id="264" r:id="rId7"/>
    <p:sldId id="292" r:id="rId8"/>
    <p:sldId id="263" r:id="rId9"/>
    <p:sldId id="265" r:id="rId10"/>
    <p:sldId id="266" r:id="rId11"/>
    <p:sldId id="267" r:id="rId12"/>
    <p:sldId id="281" r:id="rId13"/>
    <p:sldId id="282" r:id="rId14"/>
    <p:sldId id="283" r:id="rId15"/>
    <p:sldId id="284" r:id="rId16"/>
    <p:sldId id="285" r:id="rId17"/>
    <p:sldId id="287" r:id="rId18"/>
    <p:sldId id="288" r:id="rId19"/>
    <p:sldId id="289" r:id="rId20"/>
    <p:sldId id="290" r:id="rId21"/>
    <p:sldId id="291" r:id="rId22"/>
  </p:sldIdLst>
  <p:sldSz cx="18288000" cy="10287000"/>
  <p:notesSz cx="6858000" cy="9144000"/>
  <p:defaultTextStyle>
    <a:defPPr>
      <a:defRPr lang="en-US"/>
    </a:defPPr>
    <a:lvl1pPr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9144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18288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27432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3657600" algn="l" defTabSz="914400" rtl="0" fontAlgn="base">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45720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54864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64008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7315200" algn="l" defTabSz="18288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3240" userDrawn="1">
          <p15:clr>
            <a:srgbClr val="A4A3A4"/>
          </p15:clr>
        </p15:guide>
        <p15:guide id="2" pos="576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70609A-D6D1-4398-8205-3727AD454177}" v="1" dt="2023-05-09T15:11:37.5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3741"/>
  </p:normalViewPr>
  <p:slideViewPr>
    <p:cSldViewPr snapToGrid="0" snapToObjects="1">
      <p:cViewPr varScale="1">
        <p:scale>
          <a:sx n="80" d="100"/>
          <a:sy n="80" d="100"/>
        </p:scale>
        <p:origin x="824" y="192"/>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9D7080-C9B2-9B47-AB76-6D04D4E2DB7B}" type="datetimeFigureOut">
              <a:rPr lang="en-US" smtClean="0"/>
              <a:t>10/5/23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9ACFE8-C731-7D4D-AA0C-C6184FC5CA88}" type="slidenum">
              <a:rPr lang="en-US" smtClean="0"/>
              <a:t>‹#›</a:t>
            </a:fld>
            <a:endParaRPr lang="en-US"/>
          </a:p>
        </p:txBody>
      </p:sp>
    </p:spTree>
    <p:extLst>
      <p:ext uri="{BB962C8B-B14F-4D97-AF65-F5344CB8AC3E}">
        <p14:creationId xmlns:p14="http://schemas.microsoft.com/office/powerpoint/2010/main" val="4154504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Depending on your prerequisite classes, the content of this lecture may be beyond your mathematical training. By the end of this course, however, you will see that the descriptions we provide here will appear again and again for all the models we cover. Over time, the formalism will feel more and more familiar to you. My advice: be patient and don’t stress too much about the details right now. </a:t>
            </a:r>
          </a:p>
        </p:txBody>
      </p:sp>
      <p:sp>
        <p:nvSpPr>
          <p:cNvPr id="4" name="Slide Number Placeholder 3"/>
          <p:cNvSpPr>
            <a:spLocks noGrp="1"/>
          </p:cNvSpPr>
          <p:nvPr>
            <p:ph type="sldNum" sz="quarter" idx="5"/>
          </p:nvPr>
        </p:nvSpPr>
        <p:spPr/>
        <p:txBody>
          <a:bodyPr/>
          <a:lstStyle/>
          <a:p>
            <a:fld id="{7A9ACFE8-C731-7D4D-AA0C-C6184FC5CA88}" type="slidenum">
              <a:rPr lang="en-US" smtClean="0"/>
              <a:t>3</a:t>
            </a:fld>
            <a:endParaRPr lang="en-US"/>
          </a:p>
        </p:txBody>
      </p:sp>
    </p:spTree>
    <p:extLst>
      <p:ext uri="{BB962C8B-B14F-4D97-AF65-F5344CB8AC3E}">
        <p14:creationId xmlns:p14="http://schemas.microsoft.com/office/powerpoint/2010/main" val="20828013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Depending on your prerequisite classes, the content of this lecture may be beyond your mathematical training. By the end of this course, however, you will see that the descriptions we provide here will appear again and again for all the models we cover. Over time, the formalism will feel more and more familiar to you. My advice: be patient and don’t stress too much about the details right now. </a:t>
            </a:r>
          </a:p>
        </p:txBody>
      </p:sp>
      <p:sp>
        <p:nvSpPr>
          <p:cNvPr id="4" name="Slide Number Placeholder 3"/>
          <p:cNvSpPr>
            <a:spLocks noGrp="1"/>
          </p:cNvSpPr>
          <p:nvPr>
            <p:ph type="sldNum" sz="quarter" idx="5"/>
          </p:nvPr>
        </p:nvSpPr>
        <p:spPr/>
        <p:txBody>
          <a:bodyPr/>
          <a:lstStyle/>
          <a:p>
            <a:fld id="{7A9ACFE8-C731-7D4D-AA0C-C6184FC5CA88}" type="slidenum">
              <a:rPr lang="en-US" smtClean="0"/>
              <a:t>4</a:t>
            </a:fld>
            <a:endParaRPr lang="en-US"/>
          </a:p>
        </p:txBody>
      </p:sp>
    </p:spTree>
    <p:extLst>
      <p:ext uri="{BB962C8B-B14F-4D97-AF65-F5344CB8AC3E}">
        <p14:creationId xmlns:p14="http://schemas.microsoft.com/office/powerpoint/2010/main" val="921986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A9ACFE8-C731-7D4D-AA0C-C6184FC5CA88}" type="slidenum">
              <a:rPr lang="en-US" smtClean="0"/>
              <a:t>6</a:t>
            </a:fld>
            <a:endParaRPr lang="en-US"/>
          </a:p>
        </p:txBody>
      </p:sp>
    </p:spTree>
    <p:extLst>
      <p:ext uri="{BB962C8B-B14F-4D97-AF65-F5344CB8AC3E}">
        <p14:creationId xmlns:p14="http://schemas.microsoft.com/office/powerpoint/2010/main" val="41385031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that we can use </a:t>
            </a:r>
            <a:r>
              <a:rPr lang="en-US" dirty="0" err="1"/>
              <a:t>Fubini’s</a:t>
            </a:r>
            <a:r>
              <a:rPr lang="en-US" dirty="0"/>
              <a:t> theorem because the loss function is continuous and will, therefore, be measurable. The probability density function is also measurable and the product of two measurable functions is measurable. </a:t>
            </a:r>
          </a:p>
        </p:txBody>
      </p:sp>
      <p:sp>
        <p:nvSpPr>
          <p:cNvPr id="4" name="Slide Number Placeholder 3"/>
          <p:cNvSpPr>
            <a:spLocks noGrp="1"/>
          </p:cNvSpPr>
          <p:nvPr>
            <p:ph type="sldNum" sz="quarter" idx="5"/>
          </p:nvPr>
        </p:nvSpPr>
        <p:spPr/>
        <p:txBody>
          <a:bodyPr/>
          <a:lstStyle/>
          <a:p>
            <a:fld id="{7A9ACFE8-C731-7D4D-AA0C-C6184FC5CA88}" type="slidenum">
              <a:rPr lang="en-US" smtClean="0"/>
              <a:t>14</a:t>
            </a:fld>
            <a:endParaRPr lang="en-US"/>
          </a:p>
        </p:txBody>
      </p:sp>
    </p:spTree>
    <p:extLst>
      <p:ext uri="{BB962C8B-B14F-4D97-AF65-F5344CB8AC3E}">
        <p14:creationId xmlns:p14="http://schemas.microsoft.com/office/powerpoint/2010/main" val="27893518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Especially if your prerequisite course in probability or statistics lacked formal treatment of the mathematics</a:t>
            </a:r>
          </a:p>
        </p:txBody>
      </p:sp>
      <p:sp>
        <p:nvSpPr>
          <p:cNvPr id="4" name="Slide Number Placeholder 3"/>
          <p:cNvSpPr>
            <a:spLocks noGrp="1"/>
          </p:cNvSpPr>
          <p:nvPr>
            <p:ph type="sldNum" sz="quarter" idx="5"/>
          </p:nvPr>
        </p:nvSpPr>
        <p:spPr/>
        <p:txBody>
          <a:bodyPr/>
          <a:lstStyle/>
          <a:p>
            <a:fld id="{7A9ACFE8-C731-7D4D-AA0C-C6184FC5CA88}" type="slidenum">
              <a:rPr lang="en-US" smtClean="0"/>
              <a:t>18</a:t>
            </a:fld>
            <a:endParaRPr lang="en-US"/>
          </a:p>
        </p:txBody>
      </p:sp>
    </p:spTree>
    <p:extLst>
      <p:ext uri="{BB962C8B-B14F-4D97-AF65-F5344CB8AC3E}">
        <p14:creationId xmlns:p14="http://schemas.microsoft.com/office/powerpoint/2010/main" val="3043705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2A486D6-E442-077A-EEB3-88D208F2FC4C}"/>
              </a:ext>
            </a:extLst>
          </p:cNvPr>
          <p:cNvSpPr/>
          <p:nvPr/>
        </p:nvSpPr>
        <p:spPr>
          <a:xfrm>
            <a:off x="2657477" y="1943101"/>
            <a:ext cx="12973050" cy="4730750"/>
          </a:xfrm>
          <a:prstGeom prst="rect">
            <a:avLst/>
          </a:prstGeom>
          <a:noFill/>
          <a:ln w="12700" cap="flat" cmpd="sng">
            <a:solidFill>
              <a:schemeClr val="bg1"/>
            </a:solidFill>
            <a:prstDash val="solid"/>
          </a:ln>
          <a:effectLst>
            <a:outerShdw blurRad="63500" sx="100500" sy="100500" algn="ctr" rotWithShape="0">
              <a:prstClr val="black">
                <a:alpha val="50000"/>
              </a:prstClr>
            </a:outerShdw>
          </a:effectLst>
        </p:spPr>
        <p:txBody>
          <a:bodyPr>
            <a:normAutofit/>
          </a:bodyPr>
          <a:lstStyle/>
          <a:p>
            <a:pPr defTabSz="1828800" fontAlgn="auto">
              <a:spcBef>
                <a:spcPts val="4000"/>
              </a:spcBef>
              <a:spcAft>
                <a:spcPts val="0"/>
              </a:spcAft>
              <a:buClr>
                <a:schemeClr val="accent1">
                  <a:lumMod val="60000"/>
                  <a:lumOff val="40000"/>
                </a:schemeClr>
              </a:buClr>
              <a:buSzPct val="110000"/>
              <a:buFont typeface="Wingdings 2" pitchFamily="18" charset="2"/>
              <a:buNone/>
              <a:defRPr/>
            </a:pPr>
            <a:endParaRPr sz="6400">
              <a:solidFill>
                <a:schemeClr val="tx1">
                  <a:lumMod val="65000"/>
                  <a:lumOff val="35000"/>
                </a:schemeClr>
              </a:solidFill>
              <a:latin typeface="+mn-lt"/>
              <a:ea typeface="+mn-ea"/>
            </a:endParaRPr>
          </a:p>
        </p:txBody>
      </p:sp>
      <p:sp>
        <p:nvSpPr>
          <p:cNvPr id="2" name="Title 1"/>
          <p:cNvSpPr>
            <a:spLocks noGrp="1"/>
          </p:cNvSpPr>
          <p:nvPr>
            <p:ph type="ctrTitle"/>
          </p:nvPr>
        </p:nvSpPr>
        <p:spPr>
          <a:xfrm>
            <a:off x="2645842" y="2286000"/>
            <a:ext cx="12996316" cy="2587300"/>
          </a:xfrm>
        </p:spPr>
        <p:txBody>
          <a:bodyPr lIns="182880" rIns="182880" rtlCol="0">
            <a:noAutofit/>
          </a:bodyPr>
          <a:lstStyle>
            <a:lvl1pPr marL="0" indent="0" algn="ctr" defTabSz="1828800" rtl="0" eaLnBrk="1" latinLnBrk="0" hangingPunct="1">
              <a:spcBef>
                <a:spcPct val="0"/>
              </a:spcBef>
              <a:buClr>
                <a:schemeClr val="accent1">
                  <a:lumMod val="60000"/>
                  <a:lumOff val="40000"/>
                </a:schemeClr>
              </a:buClr>
              <a:buSzPct val="110000"/>
              <a:buFont typeface="Wingdings 2" pitchFamily="18" charset="2"/>
              <a:buNone/>
              <a:defRPr sz="7200" b="1"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2645845" y="4948519"/>
            <a:ext cx="12996318" cy="1374962"/>
          </a:xfrm>
        </p:spPr>
        <p:txBody>
          <a:bodyPr rtlCol="0">
            <a:normAutofit/>
          </a:bodyPr>
          <a:lstStyle>
            <a:lvl1pPr marL="0" indent="0" algn="ctr" defTabSz="1828800" rtl="0" eaLnBrk="1" latinLnBrk="0" hangingPunct="1">
              <a:spcBef>
                <a:spcPts val="600"/>
              </a:spcBef>
              <a:buClr>
                <a:schemeClr val="accent1">
                  <a:lumMod val="60000"/>
                  <a:lumOff val="40000"/>
                </a:schemeClr>
              </a:buClr>
              <a:buSzPct val="110000"/>
              <a:buFont typeface="Wingdings 2" pitchFamily="18" charset="2"/>
              <a:buNone/>
              <a:defRPr sz="3600" kern="1200">
                <a:solidFill>
                  <a:schemeClr val="tx1"/>
                </a:solidFill>
                <a:latin typeface="+mn-lt"/>
                <a:ea typeface="+mn-ea"/>
                <a:cs typeface="+mn-cs"/>
              </a:defRPr>
            </a:lvl1pPr>
            <a:lvl2pPr marL="914400" indent="0" algn="ctr">
              <a:buNone/>
              <a:defRPr>
                <a:solidFill>
                  <a:schemeClr val="tx1">
                    <a:tint val="75000"/>
                  </a:schemeClr>
                </a:solidFill>
              </a:defRPr>
            </a:lvl2pPr>
            <a:lvl3pPr marL="1828800" indent="0" algn="ctr">
              <a:buNone/>
              <a:defRPr>
                <a:solidFill>
                  <a:schemeClr val="tx1">
                    <a:tint val="75000"/>
                  </a:schemeClr>
                </a:solidFill>
              </a:defRPr>
            </a:lvl3pPr>
            <a:lvl4pPr marL="2743200" indent="0" algn="ctr">
              <a:buNone/>
              <a:defRPr>
                <a:solidFill>
                  <a:schemeClr val="tx1">
                    <a:tint val="75000"/>
                  </a:schemeClr>
                </a:solidFill>
              </a:defRPr>
            </a:lvl4pPr>
            <a:lvl5pPr marL="3657600" indent="0" algn="ctr">
              <a:buNone/>
              <a:defRPr>
                <a:solidFill>
                  <a:schemeClr val="tx1">
                    <a:tint val="75000"/>
                  </a:schemeClr>
                </a:solidFill>
              </a:defRPr>
            </a:lvl5pPr>
            <a:lvl6pPr marL="4572000" indent="0" algn="ctr">
              <a:buNone/>
              <a:defRPr>
                <a:solidFill>
                  <a:schemeClr val="tx1">
                    <a:tint val="75000"/>
                  </a:schemeClr>
                </a:solidFill>
              </a:defRPr>
            </a:lvl6pPr>
            <a:lvl7pPr marL="5486400" indent="0" algn="ctr">
              <a:buNone/>
              <a:defRPr>
                <a:solidFill>
                  <a:schemeClr val="tx1">
                    <a:tint val="75000"/>
                  </a:schemeClr>
                </a:solidFill>
              </a:defRPr>
            </a:lvl7pPr>
            <a:lvl8pPr marL="6400800" indent="0" algn="ctr">
              <a:buNone/>
              <a:defRPr>
                <a:solidFill>
                  <a:schemeClr val="tx1">
                    <a:tint val="75000"/>
                  </a:schemeClr>
                </a:solidFill>
              </a:defRPr>
            </a:lvl8pPr>
            <a:lvl9pPr marL="7315200" indent="0" algn="ctr">
              <a:buNone/>
              <a:defRPr>
                <a:solidFill>
                  <a:schemeClr val="tx1">
                    <a:tint val="75000"/>
                  </a:schemeClr>
                </a:solidFill>
              </a:defRPr>
            </a:lvl9pPr>
          </a:lstStyle>
          <a:p>
            <a:r>
              <a:rPr lang="en-US" dirty="0"/>
              <a:t>Click to edit Master subtitle style</a:t>
            </a:r>
            <a:endParaRPr dirty="0"/>
          </a:p>
        </p:txBody>
      </p:sp>
    </p:spTree>
    <p:extLst>
      <p:ext uri="{BB962C8B-B14F-4D97-AF65-F5344CB8AC3E}">
        <p14:creationId xmlns:p14="http://schemas.microsoft.com/office/powerpoint/2010/main" val="16674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
        <p:nvSpPr>
          <p:cNvPr id="3" name="Content Placeholder 2"/>
          <p:cNvSpPr>
            <a:spLocks noGrp="1"/>
          </p:cNvSpPr>
          <p:nvPr>
            <p:ph idx="1"/>
          </p:nvPr>
        </p:nvSpPr>
        <p:spPr>
          <a:xfrm>
            <a:off x="1098550" y="2050699"/>
            <a:ext cx="16084552" cy="6888006"/>
          </a:xfrm>
        </p:spPr>
        <p:txBody>
          <a:bodyPr/>
          <a:lstStyle>
            <a:lvl1pPr>
              <a:defRPr sz="4000"/>
            </a:lvl1pPr>
            <a:lvl2pPr>
              <a:defRPr sz="3600"/>
            </a:lvl2pPr>
            <a:lvl3pPr>
              <a:defRPr sz="3200"/>
            </a:lvl3pPr>
            <a:lvl4pPr>
              <a:defRPr sz="28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Tree>
    <p:extLst>
      <p:ext uri="{BB962C8B-B14F-4D97-AF65-F5344CB8AC3E}">
        <p14:creationId xmlns:p14="http://schemas.microsoft.com/office/powerpoint/2010/main" val="2602593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1098550"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p:nvPr>
        </p:nvSpPr>
        <p:spPr>
          <a:xfrm>
            <a:off x="9502142" y="2085698"/>
            <a:ext cx="7680960" cy="6515100"/>
          </a:xfrm>
        </p:spPr>
        <p:txBody>
          <a:bodyPr>
            <a:normAutofit/>
          </a:bodyPr>
          <a:lstStyle>
            <a:lvl1pPr>
              <a:spcBef>
                <a:spcPts val="3200"/>
              </a:spcBef>
              <a:defRPr sz="4000"/>
            </a:lvl1pPr>
            <a:lvl2pPr>
              <a:defRPr sz="3600"/>
            </a:lvl2pPr>
            <a:lvl3pPr>
              <a:defRPr sz="3200"/>
            </a:lvl3pPr>
            <a:lvl4pPr>
              <a:defRPr sz="2800"/>
            </a:lvl4pPr>
            <a:lvl5pPr>
              <a:defRPr sz="2400"/>
            </a:lvl5pPr>
            <a:lvl6pPr>
              <a:defRPr sz="3600"/>
            </a:lvl6pPr>
            <a:lvl7pPr>
              <a:defRPr sz="3600"/>
            </a:lvl7pPr>
            <a:lvl8pPr>
              <a:defRPr sz="3600"/>
            </a:lvl8pPr>
            <a:lvl9pPr>
              <a:defRPr sz="3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itle 1"/>
          <p:cNvSpPr>
            <a:spLocks noGrp="1"/>
          </p:cNvSpPr>
          <p:nvPr>
            <p:ph type="title"/>
          </p:nvPr>
        </p:nvSpPr>
        <p:spPr>
          <a:xfrm>
            <a:off x="1098550" y="161365"/>
            <a:ext cx="16084552" cy="1551434"/>
          </a:xfrm>
        </p:spPr>
        <p:txBody>
          <a:bodyPr/>
          <a:lstStyle>
            <a:lvl1pPr>
              <a:defRPr sz="5600" b="1"/>
            </a:lvl1pPr>
          </a:lstStyle>
          <a:p>
            <a:r>
              <a:rPr lang="en-US"/>
              <a:t>Click to edit Master title style</a:t>
            </a:r>
            <a:endParaRPr/>
          </a:p>
        </p:txBody>
      </p:sp>
    </p:spTree>
    <p:extLst>
      <p:ext uri="{BB962C8B-B14F-4D97-AF65-F5344CB8AC3E}">
        <p14:creationId xmlns:p14="http://schemas.microsoft.com/office/powerpoint/2010/main" val="5561141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5"/>
          <a:srcRect/>
          <a:stretch>
            <a:fillRect/>
          </a:stretch>
        </a:blip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482098A7-74DB-47EC-8637-CFD1F5FF8EA6}"/>
              </a:ext>
            </a:extLst>
          </p:cNvPr>
          <p:cNvSpPr>
            <a:spLocks noGrp="1"/>
          </p:cNvSpPr>
          <p:nvPr>
            <p:ph type="title"/>
          </p:nvPr>
        </p:nvSpPr>
        <p:spPr bwMode="auto">
          <a:xfrm>
            <a:off x="1098551" y="161926"/>
            <a:ext cx="16084550" cy="20034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A30E7C49-5D51-22BD-9218-005012D508B4}"/>
              </a:ext>
            </a:extLst>
          </p:cNvPr>
          <p:cNvSpPr>
            <a:spLocks noGrp="1"/>
          </p:cNvSpPr>
          <p:nvPr>
            <p:ph type="body" idx="1"/>
          </p:nvPr>
        </p:nvSpPr>
        <p:spPr bwMode="auto">
          <a:xfrm>
            <a:off x="1098551" y="2400300"/>
            <a:ext cx="16084550" cy="6515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pic>
        <p:nvPicPr>
          <p:cNvPr id="1028" name="Picture 5" descr="ILTECH_wht_horiz.png">
            <a:extLst>
              <a:ext uri="{FF2B5EF4-FFF2-40B4-BE49-F238E27FC236}">
                <a16:creationId xmlns:a16="http://schemas.microsoft.com/office/drawing/2014/main" id="{42D74730-BBC2-6B47-9AEF-9E8FDE440A0D}"/>
              </a:ext>
            </a:extLst>
          </p:cNvPr>
          <p:cNvPicPr>
            <a:picLocks noChangeAspect="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14189076" y="9185276"/>
            <a:ext cx="3556000" cy="55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76" r:id="rId1"/>
    <p:sldLayoutId id="2147483674" r:id="rId2"/>
    <p:sldLayoutId id="2147483675" r:id="rId3"/>
  </p:sldLayoutIdLst>
  <p:txStyles>
    <p:titleStyle>
      <a:lvl1pPr algn="ctr" rtl="0" fontAlgn="base">
        <a:spcBef>
          <a:spcPct val="0"/>
        </a:spcBef>
        <a:spcAft>
          <a:spcPct val="0"/>
        </a:spcAft>
        <a:defRPr sz="5600" b="1" kern="1200">
          <a:solidFill>
            <a:schemeClr val="accent1"/>
          </a:solidFill>
          <a:latin typeface="+mj-lt"/>
          <a:ea typeface="ＭＳ Ｐゴシック" panose="020B0600070205080204" pitchFamily="34" charset="-128"/>
          <a:cs typeface="+mj-cs"/>
        </a:defRPr>
      </a:lvl1pPr>
      <a:lvl2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2pPr>
      <a:lvl3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3pPr>
      <a:lvl4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4pPr>
      <a:lvl5pPr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5pPr>
      <a:lvl6pPr marL="9144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6pPr>
      <a:lvl7pPr marL="18288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7pPr>
      <a:lvl8pPr marL="27432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8pPr>
      <a:lvl9pPr marL="3657600" algn="ctr" rtl="0" fontAlgn="base">
        <a:spcBef>
          <a:spcPct val="0"/>
        </a:spcBef>
        <a:spcAft>
          <a:spcPct val="0"/>
        </a:spcAft>
        <a:defRPr sz="5600" b="1">
          <a:solidFill>
            <a:schemeClr val="accent1"/>
          </a:solidFill>
          <a:latin typeface="Arial" panose="020B0604020202020204" pitchFamily="34" charset="0"/>
          <a:ea typeface="ＭＳ Ｐゴシック" panose="020B0600070205080204" pitchFamily="34" charset="-128"/>
        </a:defRPr>
      </a:lvl9pPr>
    </p:titleStyle>
    <p:bodyStyle>
      <a:lvl1pPr marL="698500" indent="-698500" algn="l" rtl="0" fontAlgn="base">
        <a:spcBef>
          <a:spcPts val="4000"/>
        </a:spcBef>
        <a:spcAft>
          <a:spcPct val="0"/>
        </a:spcAft>
        <a:buClr>
          <a:schemeClr val="accent2"/>
        </a:buClr>
        <a:buSzPct val="100000"/>
        <a:buFont typeface="Wingdings 2" pitchFamily="2" charset="2"/>
        <a:buChar char=""/>
        <a:defRPr sz="48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44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dirty="0" smtClean="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dirty="0">
          <a:solidFill>
            <a:schemeClr val="tx1">
              <a:lumMod val="65000"/>
              <a:lumOff val="35000"/>
            </a:schemeClr>
          </a:solidFill>
          <a:latin typeface="+mn-lt"/>
          <a:ea typeface="+mn-ea"/>
          <a:cs typeface="+mn-cs"/>
        </a:defRPr>
      </a:lvl9pPr>
    </p:bodyStyle>
    <p:otherStyle>
      <a:defPPr>
        <a:defRPr/>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3D2C4-084C-C545-00AC-430EC19B6C87}"/>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Math 769: Statistical Learning</a:t>
            </a:r>
          </a:p>
        </p:txBody>
      </p:sp>
      <p:sp>
        <p:nvSpPr>
          <p:cNvPr id="4" name="Subtitle 3">
            <a:extLst>
              <a:ext uri="{FF2B5EF4-FFF2-40B4-BE49-F238E27FC236}">
                <a16:creationId xmlns:a16="http://schemas.microsoft.com/office/drawing/2014/main" id="{BF32BD05-CBF9-2A77-16D1-3A2491695B8A}"/>
              </a:ext>
            </a:extLst>
          </p:cNvPr>
          <p:cNvSpPr>
            <a:spLocks noGrp="1"/>
          </p:cNvSpPr>
          <p:nvPr>
            <p:ph type="subTitle" idx="1"/>
          </p:nvPr>
        </p:nvSpPr>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A2807F-AA75-8289-ABFC-30F1E44E67A4}"/>
              </a:ext>
            </a:extLst>
          </p:cNvPr>
          <p:cNvSpPr>
            <a:spLocks noGrp="1"/>
          </p:cNvSpPr>
          <p:nvPr>
            <p:ph type="ctrTitle"/>
          </p:nvPr>
        </p:nvSpPr>
        <p:spPr>
          <a:xfrm>
            <a:off x="2644777" y="2286001"/>
            <a:ext cx="12998450" cy="2587626"/>
          </a:xfrm>
        </p:spPr>
        <p:txBody>
          <a:bodyPr/>
          <a:lstStyle/>
          <a:p>
            <a:pPr fontAlgn="auto">
              <a:spcAft>
                <a:spcPts val="0"/>
              </a:spcAft>
              <a:defRPr/>
            </a:pPr>
            <a:r>
              <a:rPr lang="en-US" dirty="0"/>
              <a:t>Formal Description of the Statistical Learning Problem</a:t>
            </a:r>
          </a:p>
        </p:txBody>
      </p:sp>
      <p:sp>
        <p:nvSpPr>
          <p:cNvPr id="3" name="Subtitle 2">
            <a:extLst>
              <a:ext uri="{FF2B5EF4-FFF2-40B4-BE49-F238E27FC236}">
                <a16:creationId xmlns:a16="http://schemas.microsoft.com/office/drawing/2014/main" id="{A1D820C0-3BC8-687A-7D56-C3951CF5E866}"/>
              </a:ext>
            </a:extLst>
          </p:cNvPr>
          <p:cNvSpPr>
            <a:spLocks noGrp="1"/>
          </p:cNvSpPr>
          <p:nvPr>
            <p:ph type="subTitle" idx="1"/>
          </p:nvPr>
        </p:nvSpPr>
        <p:spPr>
          <a:xfrm>
            <a:off x="2644777" y="4949827"/>
            <a:ext cx="12998450" cy="1374774"/>
          </a:xfrm>
        </p:spPr>
        <p:txBody>
          <a:bodyPr/>
          <a:lstStyle/>
          <a:p>
            <a:pPr fontAlgn="auto">
              <a:spcAft>
                <a:spcPts val="0"/>
              </a:spcAft>
              <a:defRPr/>
            </a:pPr>
            <a:r>
              <a:rPr lang="en-US" dirty="0"/>
              <a:t>Shahrzad Jamshidi, PhD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8EE3E-CA8B-62FE-FCF0-2C1F7D1ABB1C}"/>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CB229C3D-BF78-0E95-08A3-14C81D8C68FE}"/>
              </a:ext>
            </a:extLst>
          </p:cNvPr>
          <p:cNvSpPr>
            <a:spLocks noGrp="1"/>
          </p:cNvSpPr>
          <p:nvPr>
            <p:ph idx="1"/>
          </p:nvPr>
        </p:nvSpPr>
        <p:spPr/>
        <p:txBody>
          <a:bodyPr/>
          <a:lstStyle/>
          <a:p>
            <a:r>
              <a:rPr lang="en-US" dirty="0"/>
              <a:t>In the last few lectures, we’ve discussed </a:t>
            </a:r>
          </a:p>
          <a:p>
            <a:pPr lvl="1"/>
            <a:r>
              <a:rPr lang="en-US" dirty="0"/>
              <a:t>what a statistical learning problem is,</a:t>
            </a:r>
          </a:p>
          <a:p>
            <a:pPr lvl="1"/>
            <a:r>
              <a:rPr lang="en-US" dirty="0"/>
              <a:t>what kinds of data might influence how we go about the problem, and </a:t>
            </a:r>
          </a:p>
          <a:p>
            <a:pPr lvl="1"/>
            <a:r>
              <a:rPr lang="en-US" dirty="0"/>
              <a:t>what other considerations exist when analyzing potential models. </a:t>
            </a:r>
          </a:p>
          <a:p>
            <a:r>
              <a:rPr lang="en-US" dirty="0"/>
              <a:t>In this lesson, we provide a formal description for the statistical learning problem </a:t>
            </a:r>
            <a:r>
              <a:rPr lang="en-US" i="1" dirty="0"/>
              <a:t>from a statistical perspective</a:t>
            </a:r>
            <a:r>
              <a:rPr lang="en-US" dirty="0"/>
              <a:t>. </a:t>
            </a:r>
          </a:p>
          <a:p>
            <a:r>
              <a:rPr lang="en-US" dirty="0"/>
              <a:t>Note: it’s ok if this lecture feels confusing</a:t>
            </a:r>
          </a:p>
        </p:txBody>
      </p:sp>
    </p:spTree>
    <p:extLst>
      <p:ext uri="{BB962C8B-B14F-4D97-AF65-F5344CB8AC3E}">
        <p14:creationId xmlns:p14="http://schemas.microsoft.com/office/powerpoint/2010/main" val="27571953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8EE3E-CA8B-62FE-FCF0-2C1F7D1ABB1C}"/>
              </a:ext>
            </a:extLst>
          </p:cNvPr>
          <p:cNvSpPr>
            <a:spLocks noGrp="1"/>
          </p:cNvSpPr>
          <p:nvPr>
            <p:ph type="title"/>
          </p:nvPr>
        </p:nvSpPr>
        <p:spPr/>
        <p:txBody>
          <a:bodyPr/>
          <a:lstStyle/>
          <a:p>
            <a:r>
              <a:rPr lang="en-US" dirty="0"/>
              <a:t>Objectives</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CB229C3D-BF78-0E95-08A3-14C81D8C68FE}"/>
                  </a:ext>
                </a:extLst>
              </p:cNvPr>
              <p:cNvSpPr>
                <a:spLocks noGrp="1"/>
              </p:cNvSpPr>
              <p:nvPr>
                <p:ph idx="1"/>
              </p:nvPr>
            </p:nvSpPr>
            <p:spPr/>
            <p:txBody>
              <a:bodyPr/>
              <a:lstStyle/>
              <a:p>
                <a:r>
                  <a:rPr lang="en-US" dirty="0"/>
                  <a:t>Define the loss function. </a:t>
                </a:r>
              </a:p>
              <a:p>
                <a:r>
                  <a:rPr lang="en-US" dirty="0"/>
                  <a:t>Define the expected prediction error, </a:t>
                </a:r>
                <a14:m>
                  <m:oMath xmlns:m="http://schemas.openxmlformats.org/officeDocument/2006/math">
                    <m:r>
                      <a:rPr lang="en-US" b="0" i="1" smtClean="0">
                        <a:latin typeface="Cambria Math" panose="02040503050406030204" pitchFamily="18" charset="0"/>
                      </a:rPr>
                      <m:t>𝐸𝑃𝐸</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e>
                    </m:d>
                  </m:oMath>
                </a14:m>
                <a:r>
                  <a:rPr lang="en-US" dirty="0"/>
                  <a:t>, and explain its components: the irreducible and reducible error</a:t>
                </a:r>
              </a:p>
              <a:p>
                <a:r>
                  <a:rPr lang="en-US" dirty="0"/>
                  <a:t>Explain why we can optimize </a:t>
                </a:r>
                <a14:m>
                  <m:oMath xmlns:m="http://schemas.openxmlformats.org/officeDocument/2006/math">
                    <m:r>
                      <a:rPr lang="en-US" i="1" smtClean="0">
                        <a:latin typeface="Cambria Math" panose="02040503050406030204" pitchFamily="18" charset="0"/>
                      </a:rPr>
                      <m:t>𝑓</m:t>
                    </m:r>
                  </m:oMath>
                </a14:m>
                <a:r>
                  <a:rPr lang="en-US" dirty="0"/>
                  <a:t> by minimizing the </a:t>
                </a:r>
                <a14:m>
                  <m:oMath xmlns:m="http://schemas.openxmlformats.org/officeDocument/2006/math">
                    <m:r>
                      <a:rPr lang="en-US" i="1">
                        <a:latin typeface="Cambria Math" panose="02040503050406030204" pitchFamily="18" charset="0"/>
                      </a:rPr>
                      <m:t>𝐸𝑃𝐸</m:t>
                    </m:r>
                    <m:d>
                      <m:dPr>
                        <m:ctrlPr>
                          <a:rPr lang="en-US" i="1">
                            <a:latin typeface="Cambria Math" panose="02040503050406030204" pitchFamily="18" charset="0"/>
                          </a:rPr>
                        </m:ctrlPr>
                      </m:dPr>
                      <m:e>
                        <m:r>
                          <a:rPr lang="en-US" i="1">
                            <a:latin typeface="Cambria Math" panose="02040503050406030204" pitchFamily="18" charset="0"/>
                          </a:rPr>
                          <m:t>𝑓</m:t>
                        </m:r>
                      </m:e>
                    </m:d>
                  </m:oMath>
                </a14:m>
                <a:r>
                  <a:rPr lang="en-US" dirty="0"/>
                  <a:t> pointwise.</a:t>
                </a:r>
              </a:p>
              <a:p>
                <a:r>
                  <a:rPr lang="en-US" dirty="0"/>
                  <a:t>Explain why </a:t>
                </a:r>
                <a14:m>
                  <m:oMath xmlns:m="http://schemas.openxmlformats.org/officeDocument/2006/math">
                    <m:r>
                      <a:rPr lang="en-US" i="1" smtClean="0">
                        <a:latin typeface="Cambria Math" panose="02040503050406030204" pitchFamily="18" charset="0"/>
                      </a:rPr>
                      <m:t>𝑓</m:t>
                    </m:r>
                  </m:oMath>
                </a14:m>
                <a:r>
                  <a:rPr lang="en-US" dirty="0"/>
                  <a:t> arises from a pre-defined family of functions rather than all possible functions. </a:t>
                </a:r>
              </a:p>
              <a:p>
                <a:endParaRPr lang="en-US" dirty="0"/>
              </a:p>
            </p:txBody>
          </p:sp>
        </mc:Choice>
        <mc:Fallback>
          <p:sp>
            <p:nvSpPr>
              <p:cNvPr id="3" name="Content Placeholder 2">
                <a:extLst>
                  <a:ext uri="{FF2B5EF4-FFF2-40B4-BE49-F238E27FC236}">
                    <a16:creationId xmlns:a16="http://schemas.microsoft.com/office/drawing/2014/main" id="{CB229C3D-BF78-0E95-08A3-14C81D8C68FE}"/>
                  </a:ext>
                </a:extLst>
              </p:cNvPr>
              <p:cNvSpPr>
                <a:spLocks noGrp="1" noRot="1" noChangeAspect="1" noMove="1" noResize="1" noEditPoints="1" noAdjustHandles="1" noChangeArrowheads="1" noChangeShapeType="1" noTextEdit="1"/>
              </p:cNvSpPr>
              <p:nvPr>
                <p:ph idx="1"/>
              </p:nvPr>
            </p:nvSpPr>
            <p:spPr>
              <a:blipFill>
                <a:blip r:embed="rId3"/>
                <a:stretch>
                  <a:fillRect l="-1104" t="-1657"/>
                </a:stretch>
              </a:blipFill>
            </p:spPr>
            <p:txBody>
              <a:bodyPr/>
              <a:lstStyle/>
              <a:p>
                <a:r>
                  <a:rPr lang="en-US">
                    <a:noFill/>
                  </a:rPr>
                  <a:t> </a:t>
                </a:r>
              </a:p>
            </p:txBody>
          </p:sp>
        </mc:Fallback>
      </mc:AlternateContent>
    </p:spTree>
    <p:extLst>
      <p:ext uri="{BB962C8B-B14F-4D97-AF65-F5344CB8AC3E}">
        <p14:creationId xmlns:p14="http://schemas.microsoft.com/office/powerpoint/2010/main" val="3437234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a:extLst>
              <a:ext uri="{FF2B5EF4-FFF2-40B4-BE49-F238E27FC236}">
                <a16:creationId xmlns:a16="http://schemas.microsoft.com/office/drawing/2014/main" id="{7437B09B-40A5-6CD5-DCB3-08809A79E57D}"/>
              </a:ext>
            </a:extLst>
          </p:cNvPr>
          <p:cNvSpPr>
            <a:spLocks noGrp="1"/>
          </p:cNvSpPr>
          <p:nvPr>
            <p:ph type="title"/>
          </p:nvPr>
        </p:nvSpPr>
        <p:spPr>
          <a:xfrm>
            <a:off x="1098551" y="161926"/>
            <a:ext cx="16084550" cy="1549400"/>
          </a:xfrm>
        </p:spPr>
        <p:txBody>
          <a:bodyPr/>
          <a:lstStyle/>
          <a:p>
            <a:r>
              <a:rPr lang="en-US" altLang="en-US" dirty="0"/>
              <a:t>Formal Setup</a:t>
            </a:r>
          </a:p>
        </p:txBody>
      </p:sp>
      <mc:AlternateContent xmlns:mc="http://schemas.openxmlformats.org/markup-compatibility/2006" xmlns:a14="http://schemas.microsoft.com/office/drawing/2010/main">
        <mc:Choice Requires="a14">
          <p:sp>
            <p:nvSpPr>
              <p:cNvPr id="6146" name="Content Placeholder 2">
                <a:extLst>
                  <a:ext uri="{FF2B5EF4-FFF2-40B4-BE49-F238E27FC236}">
                    <a16:creationId xmlns:a16="http://schemas.microsoft.com/office/drawing/2014/main" id="{8DFB1FDB-789D-3A4E-B0C7-3BAF194C6643}"/>
                  </a:ext>
                </a:extLst>
              </p:cNvPr>
              <p:cNvSpPr>
                <a:spLocks noGrp="1"/>
              </p:cNvSpPr>
              <p:nvPr>
                <p:ph idx="1"/>
              </p:nvPr>
            </p:nvSpPr>
            <p:spPr>
              <a:xfrm>
                <a:off x="1098551" y="2051050"/>
                <a:ext cx="16084550" cy="6886576"/>
              </a:xfrm>
            </p:spPr>
            <p:txBody>
              <a:bodyPr/>
              <a:lstStyle/>
              <a:p>
                <a:r>
                  <a:rPr lang="en-US" altLang="en-US" dirty="0"/>
                  <a:t>Let </a:t>
                </a:r>
                <a14:m>
                  <m:oMath xmlns:m="http://schemas.openxmlformats.org/officeDocument/2006/math">
                    <m:r>
                      <a:rPr lang="en-US" altLang="en-US" b="0" i="1" smtClean="0">
                        <a:latin typeface="Cambria Math" panose="02040503050406030204" pitchFamily="18" charset="0"/>
                      </a:rPr>
                      <m:t>𝑋</m:t>
                    </m:r>
                    <m:r>
                      <a:rPr lang="en-US" altLang="en-US" b="0" i="1" smtClean="0">
                        <a:latin typeface="Cambria Math" panose="02040503050406030204" pitchFamily="18" charset="0"/>
                        <a:ea typeface="Cambria Math" panose="02040503050406030204" pitchFamily="18" charset="0"/>
                      </a:rPr>
                      <m:t>∈</m:t>
                    </m:r>
                    <m:sSup>
                      <m:sSupPr>
                        <m:ctrlPr>
                          <a:rPr lang="en-US" altLang="en-US" b="0" i="1" smtClean="0">
                            <a:latin typeface="Cambria Math" panose="02040503050406030204" pitchFamily="18" charset="0"/>
                            <a:ea typeface="Cambria Math" panose="02040503050406030204" pitchFamily="18" charset="0"/>
                          </a:rPr>
                        </m:ctrlPr>
                      </m:sSupPr>
                      <m:e>
                        <m:r>
                          <a:rPr lang="en-US" altLang="en-US" i="1">
                            <a:latin typeface="Cambria Math" panose="02040503050406030204" pitchFamily="18" charset="0"/>
                            <a:ea typeface="Cambria Math" panose="02040503050406030204" pitchFamily="18" charset="0"/>
                          </a:rPr>
                          <m:t>ℝ</m:t>
                        </m:r>
                      </m:e>
                      <m:sup>
                        <m:r>
                          <a:rPr lang="en-US" altLang="en-US" b="0" i="1" smtClean="0">
                            <a:latin typeface="Cambria Math" panose="02040503050406030204" pitchFamily="18" charset="0"/>
                            <a:ea typeface="Cambria Math" panose="02040503050406030204" pitchFamily="18" charset="0"/>
                          </a:rPr>
                          <m:t>𝑝</m:t>
                        </m:r>
                      </m:sup>
                    </m:sSup>
                  </m:oMath>
                </a14:m>
                <a:r>
                  <a:rPr lang="en-US" altLang="en-US" dirty="0"/>
                  <a:t> denote a real-valued random input vector and</a:t>
                </a:r>
              </a:p>
              <a:p>
                <a:pPr lvl="1"/>
                <a14:m>
                  <m:oMath xmlns:m="http://schemas.openxmlformats.org/officeDocument/2006/math">
                    <m:r>
                      <a:rPr lang="en-US" altLang="en-US" b="0" i="1" smtClean="0">
                        <a:latin typeface="Cambria Math" panose="02040503050406030204" pitchFamily="18" charset="0"/>
                      </a:rPr>
                      <m:t>𝑋</m:t>
                    </m:r>
                  </m:oMath>
                </a14:m>
                <a:r>
                  <a:rPr lang="en-US" altLang="en-US" dirty="0"/>
                  <a:t> is our independent variable that takes on the values of our dataset</a:t>
                </a:r>
              </a:p>
              <a:p>
                <a14:m>
                  <m:oMath xmlns:m="http://schemas.openxmlformats.org/officeDocument/2006/math">
                    <m:r>
                      <a:rPr lang="en-US" altLang="en-US" b="0" i="1" smtClean="0">
                        <a:latin typeface="Cambria Math" panose="02040503050406030204" pitchFamily="18" charset="0"/>
                      </a:rPr>
                      <m:t>𝑌</m:t>
                    </m:r>
                    <m:r>
                      <a:rPr lang="en-US" altLang="en-US" b="0" i="1" smtClean="0">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ℝ</m:t>
                    </m:r>
                  </m:oMath>
                </a14:m>
                <a:r>
                  <a:rPr lang="en-US" altLang="en-US" dirty="0"/>
                  <a:t> denote a real-valued random output variable, with </a:t>
                </a:r>
              </a:p>
              <a:p>
                <a:pPr lvl="1"/>
                <a14:m>
                  <m:oMath xmlns:m="http://schemas.openxmlformats.org/officeDocument/2006/math">
                    <m:r>
                      <a:rPr lang="en-US" altLang="en-US" b="0" i="1" smtClean="0">
                        <a:latin typeface="Cambria Math" panose="02040503050406030204" pitchFamily="18" charset="0"/>
                      </a:rPr>
                      <m:t>𝑌</m:t>
                    </m:r>
                  </m:oMath>
                </a14:m>
                <a:r>
                  <a:rPr lang="en-US" altLang="en-US" dirty="0"/>
                  <a:t> is our dependent variable</a:t>
                </a:r>
              </a:p>
              <a:p>
                <a:r>
                  <a:rPr lang="en-US" altLang="en-US" dirty="0"/>
                  <a:t>joint distribution </a:t>
                </a:r>
                <a14:m>
                  <m:oMath xmlns:m="http://schemas.openxmlformats.org/officeDocument/2006/math">
                    <m:r>
                      <m:rPr>
                        <m:sty m:val="p"/>
                      </m:rPr>
                      <a:rPr lang="en-US" altLang="en-US" b="0" i="0" smtClean="0">
                        <a:latin typeface="Cambria Math" panose="02040503050406030204" pitchFamily="18" charset="0"/>
                      </a:rPr>
                      <m:t>Pr</m:t>
                    </m:r>
                    <m:r>
                      <a:rPr lang="en-US" altLang="en-US" b="0" i="1" smtClean="0">
                        <a:latin typeface="Cambria Math" panose="02040503050406030204" pitchFamily="18" charset="0"/>
                      </a:rPr>
                      <m:t>⁡(</m:t>
                    </m:r>
                    <m:r>
                      <a:rPr lang="en-US" altLang="en-US" b="0" i="1" smtClean="0">
                        <a:latin typeface="Cambria Math" panose="02040503050406030204" pitchFamily="18" charset="0"/>
                      </a:rPr>
                      <m:t>𝑋</m:t>
                    </m:r>
                    <m:r>
                      <a:rPr lang="en-US" altLang="en-US" b="0" i="1" smtClean="0">
                        <a:latin typeface="Cambria Math" panose="02040503050406030204" pitchFamily="18" charset="0"/>
                      </a:rPr>
                      <m:t>,</m:t>
                    </m:r>
                    <m:r>
                      <a:rPr lang="en-US" altLang="en-US" b="0" i="1" smtClean="0">
                        <a:latin typeface="Cambria Math" panose="02040503050406030204" pitchFamily="18" charset="0"/>
                      </a:rPr>
                      <m:t>𝑌</m:t>
                    </m:r>
                    <m:r>
                      <a:rPr lang="en-US" altLang="en-US" b="0" i="1" smtClean="0">
                        <a:latin typeface="Cambria Math" panose="02040503050406030204" pitchFamily="18" charset="0"/>
                      </a:rPr>
                      <m:t>)</m:t>
                    </m:r>
                  </m:oMath>
                </a14:m>
                <a:r>
                  <a:rPr lang="en-US" altLang="en-US" dirty="0"/>
                  <a:t>.</a:t>
                </a:r>
              </a:p>
              <a:p>
                <a:r>
                  <a:rPr lang="en-US" altLang="en-US" b="1" dirty="0"/>
                  <a:t>Aim</a:t>
                </a:r>
                <a:r>
                  <a:rPr lang="en-US" altLang="en-US" dirty="0"/>
                  <a:t>: Find </a:t>
                </a:r>
                <a14:m>
                  <m:oMath xmlns:m="http://schemas.openxmlformats.org/officeDocument/2006/math">
                    <m:r>
                      <a:rPr lang="en-US" altLang="en-US" b="0" i="1" smtClean="0">
                        <a:latin typeface="Cambria Math" panose="02040503050406030204" pitchFamily="18" charset="0"/>
                      </a:rPr>
                      <m:t>𝑓</m:t>
                    </m:r>
                    <m:r>
                      <a:rPr lang="en-US" altLang="en-US" b="0" i="1" smtClean="0">
                        <a:latin typeface="Cambria Math" panose="02040503050406030204" pitchFamily="18" charset="0"/>
                      </a:rPr>
                      <m:t>(</m:t>
                    </m:r>
                    <m:r>
                      <a:rPr lang="en-US" altLang="en-US" b="0" i="1" smtClean="0">
                        <a:latin typeface="Cambria Math" panose="02040503050406030204" pitchFamily="18" charset="0"/>
                      </a:rPr>
                      <m:t>𝑋</m:t>
                    </m:r>
                    <m:r>
                      <a:rPr lang="en-US" altLang="en-US" b="0" i="1" smtClean="0">
                        <a:latin typeface="Cambria Math" panose="02040503050406030204" pitchFamily="18" charset="0"/>
                      </a:rPr>
                      <m:t>)</m:t>
                    </m:r>
                  </m:oMath>
                </a14:m>
                <a:r>
                  <a:rPr lang="en-US" altLang="en-US" dirty="0"/>
                  <a:t> for predicting </a:t>
                </a:r>
                <a14:m>
                  <m:oMath xmlns:m="http://schemas.openxmlformats.org/officeDocument/2006/math">
                    <m:r>
                      <a:rPr lang="en-US" altLang="en-US" b="0" i="1" smtClean="0">
                        <a:latin typeface="Cambria Math" panose="02040503050406030204" pitchFamily="18" charset="0"/>
                      </a:rPr>
                      <m:t>𝑌</m:t>
                    </m:r>
                  </m:oMath>
                </a14:m>
                <a:r>
                  <a:rPr lang="en-US" altLang="en-US" dirty="0"/>
                  <a:t> given </a:t>
                </a:r>
                <a14:m>
                  <m:oMath xmlns:m="http://schemas.openxmlformats.org/officeDocument/2006/math">
                    <m:r>
                      <a:rPr lang="en-US" altLang="en-US" b="0" i="1" smtClean="0">
                        <a:latin typeface="Cambria Math" panose="02040503050406030204" pitchFamily="18" charset="0"/>
                      </a:rPr>
                      <m:t>𝑋</m:t>
                    </m:r>
                  </m:oMath>
                </a14:m>
                <a:r>
                  <a:rPr lang="en-US" altLang="en-US" dirty="0"/>
                  <a:t>.</a:t>
                </a:r>
              </a:p>
              <a:p>
                <a:pPr lvl="1"/>
                <a14:m>
                  <m:oMath xmlns:m="http://schemas.openxmlformats.org/officeDocument/2006/math">
                    <m:r>
                      <a:rPr lang="en-US" altLang="en-US" b="0" i="1" smtClean="0">
                        <a:latin typeface="Cambria Math" panose="02040503050406030204" pitchFamily="18" charset="0"/>
                      </a:rPr>
                      <m:t>𝑓</m:t>
                    </m:r>
                    <m:r>
                      <a:rPr lang="en-US" altLang="en-US" b="0" i="1" smtClean="0">
                        <a:latin typeface="Cambria Math" panose="02040503050406030204" pitchFamily="18" charset="0"/>
                      </a:rPr>
                      <m:t>(</m:t>
                    </m:r>
                    <m:r>
                      <a:rPr lang="en-US" altLang="en-US" b="0" i="1" smtClean="0">
                        <a:latin typeface="Cambria Math" panose="02040503050406030204" pitchFamily="18" charset="0"/>
                      </a:rPr>
                      <m:t>𝑋</m:t>
                    </m:r>
                    <m:r>
                      <a:rPr lang="en-US" altLang="en-US" b="0" i="1" smtClean="0">
                        <a:latin typeface="Cambria Math" panose="02040503050406030204" pitchFamily="18" charset="0"/>
                      </a:rPr>
                      <m:t>)</m:t>
                    </m:r>
                  </m:oMath>
                </a14:m>
                <a:r>
                  <a:rPr lang="en-US" altLang="en-US" dirty="0"/>
                  <a:t> is our model. </a:t>
                </a:r>
              </a:p>
            </p:txBody>
          </p:sp>
        </mc:Choice>
        <mc:Fallback xmlns="">
          <p:sp>
            <p:nvSpPr>
              <p:cNvPr id="6146" name="Content Placeholder 2">
                <a:extLst>
                  <a:ext uri="{FF2B5EF4-FFF2-40B4-BE49-F238E27FC236}">
                    <a16:creationId xmlns:a16="http://schemas.microsoft.com/office/drawing/2014/main" id="{8DFB1FDB-789D-3A4E-B0C7-3BAF194C6643}"/>
                  </a:ext>
                </a:extLst>
              </p:cNvPr>
              <p:cNvSpPr>
                <a:spLocks noGrp="1" noRot="1" noChangeAspect="1" noMove="1" noResize="1" noEditPoints="1" noAdjustHandles="1" noChangeArrowheads="1" noChangeShapeType="1" noTextEdit="1"/>
              </p:cNvSpPr>
              <p:nvPr>
                <p:ph idx="1"/>
              </p:nvPr>
            </p:nvSpPr>
            <p:spPr>
              <a:xfrm>
                <a:off x="1098551" y="2051050"/>
                <a:ext cx="16084550" cy="6886576"/>
              </a:xfrm>
              <a:blipFill>
                <a:blip r:embed="rId2"/>
                <a:stretch>
                  <a:fillRect l="-1104" t="-1657"/>
                </a:stretch>
              </a:blipFill>
            </p:spPr>
            <p:txBody>
              <a:bodyPr/>
              <a:lstStyle/>
              <a:p>
                <a:r>
                  <a:rPr lang="en-US">
                    <a:noFill/>
                  </a:rPr>
                  <a:t> </a:t>
                </a:r>
              </a:p>
            </p:txBody>
          </p:sp>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86DD80-A1E0-5EE6-48CA-DD367866D04B}"/>
              </a:ext>
            </a:extLst>
          </p:cNvPr>
          <p:cNvSpPr>
            <a:spLocks noGrp="1"/>
          </p:cNvSpPr>
          <p:nvPr>
            <p:ph type="title"/>
          </p:nvPr>
        </p:nvSpPr>
        <p:spPr/>
        <p:txBody>
          <a:bodyPr/>
          <a:lstStyle/>
          <a:p>
            <a:r>
              <a:rPr lang="en-US" dirty="0"/>
              <a:t>The Loss Function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DD7BB69-5A5B-6D75-DE02-EED62F9565A7}"/>
                  </a:ext>
                </a:extLst>
              </p:cNvPr>
              <p:cNvSpPr>
                <a:spLocks noGrp="1"/>
              </p:cNvSpPr>
              <p:nvPr>
                <p:ph idx="1"/>
              </p:nvPr>
            </p:nvSpPr>
            <p:spPr/>
            <p:txBody>
              <a:bodyPr/>
              <a:lstStyle/>
              <a:p>
                <a:r>
                  <a:rPr lang="en-US" dirty="0"/>
                  <a:t>We define a </a:t>
                </a:r>
                <a:r>
                  <a:rPr lang="en-US" b="1" dirty="0">
                    <a:solidFill>
                      <a:schemeClr val="bg1"/>
                    </a:solidFill>
                  </a:rPr>
                  <a:t>loss function</a:t>
                </a:r>
                <a:r>
                  <a:rPr lang="en-US" dirty="0"/>
                  <a:t>, denoted </a:t>
                </a:r>
                <a14:m>
                  <m:oMath xmlns:m="http://schemas.openxmlformats.org/officeDocument/2006/math">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oMath>
                </a14:m>
                <a:r>
                  <a:rPr lang="en-US" dirty="0"/>
                  <a:t>, to measure the errors in prediction of </a:t>
                </a:r>
                <a14:m>
                  <m:oMath xmlns:m="http://schemas.openxmlformats.org/officeDocument/2006/math">
                    <m:r>
                      <a:rPr lang="en-US" altLang="en-US" i="1">
                        <a:latin typeface="Cambria Math" panose="02040503050406030204" pitchFamily="18" charset="0"/>
                      </a:rPr>
                      <m:t>𝑓</m:t>
                    </m:r>
                    <m:d>
                      <m:dPr>
                        <m:ctrlPr>
                          <a:rPr lang="en-US" altLang="en-US" i="1">
                            <a:latin typeface="Cambria Math" panose="02040503050406030204" pitchFamily="18" charset="0"/>
                          </a:rPr>
                        </m:ctrlPr>
                      </m:dPr>
                      <m:e>
                        <m:r>
                          <a:rPr lang="en-US" altLang="en-US" i="1">
                            <a:latin typeface="Cambria Math" panose="02040503050406030204" pitchFamily="18" charset="0"/>
                          </a:rPr>
                          <m:t>𝑋</m:t>
                        </m:r>
                      </m:e>
                    </m:d>
                  </m:oMath>
                </a14:m>
                <a:r>
                  <a:rPr lang="en-US" dirty="0"/>
                  <a:t>.</a:t>
                </a:r>
              </a:p>
              <a:p>
                <a:pPr lvl="1"/>
                <a:r>
                  <a:rPr lang="en-US" dirty="0"/>
                  <a:t>There are several possible loss functions.</a:t>
                </a:r>
              </a:p>
              <a:p>
                <a:pPr lvl="1"/>
                <a:r>
                  <a:rPr lang="en-US" dirty="0"/>
                  <a:t>A common one is the </a:t>
                </a:r>
                <a:r>
                  <a:rPr lang="en-US" b="1" dirty="0">
                    <a:solidFill>
                      <a:schemeClr val="bg1"/>
                    </a:solidFill>
                  </a:rPr>
                  <a:t>squared error loss function</a:t>
                </a:r>
                <a:r>
                  <a:rPr lang="en-US" dirty="0"/>
                  <a:t>, </a:t>
                </a:r>
              </a:p>
              <a:p>
                <a:pPr marL="6985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b="0" i="1"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e>
                      </m:d>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e>
                        <m:sup>
                          <m:r>
                            <a:rPr lang="en-US" b="0" i="1" smtClean="0">
                              <a:latin typeface="Cambria Math" panose="02040503050406030204" pitchFamily="18" charset="0"/>
                            </a:rPr>
                            <m:t>2</m:t>
                          </m:r>
                        </m:sup>
                      </m:sSup>
                      <m:r>
                        <a:rPr lang="en-US" b="0" i="1" smtClean="0">
                          <a:latin typeface="Cambria Math" panose="02040503050406030204" pitchFamily="18" charset="0"/>
                        </a:rPr>
                        <m:t> </m:t>
                      </m:r>
                    </m:oMath>
                  </m:oMathPara>
                </a14:m>
                <a:endParaRPr lang="en-US" dirty="0"/>
              </a:p>
              <a:p>
                <a14:m>
                  <m:oMath xmlns:m="http://schemas.openxmlformats.org/officeDocument/2006/math">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b="0" i="1"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e>
                    </m:d>
                  </m:oMath>
                </a14:m>
                <a:r>
                  <a:rPr lang="en-US" dirty="0"/>
                  <a:t> is non-negative and continuous.</a:t>
                </a:r>
              </a:p>
              <a:p>
                <a:pPr lvl="1"/>
                <a14:m>
                  <m:oMath xmlns:m="http://schemas.openxmlformats.org/officeDocument/2006/math">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b="0" i="1"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e>
                    </m:d>
                  </m:oMath>
                </a14:m>
                <a:r>
                  <a:rPr lang="en-US" dirty="0"/>
                  <a:t> is almost always symmetric and often differentiable.</a:t>
                </a:r>
              </a:p>
            </p:txBody>
          </p:sp>
        </mc:Choice>
        <mc:Fallback xmlns="">
          <p:sp>
            <p:nvSpPr>
              <p:cNvPr id="3" name="Content Placeholder 2">
                <a:extLst>
                  <a:ext uri="{FF2B5EF4-FFF2-40B4-BE49-F238E27FC236}">
                    <a16:creationId xmlns:a16="http://schemas.microsoft.com/office/drawing/2014/main" id="{7DD7BB69-5A5B-6D75-DE02-EED62F9565A7}"/>
                  </a:ext>
                </a:extLst>
              </p:cNvPr>
              <p:cNvSpPr>
                <a:spLocks noGrp="1" noRot="1" noChangeAspect="1" noMove="1" noResize="1" noEditPoints="1" noAdjustHandles="1" noChangeArrowheads="1" noChangeShapeType="1" noTextEdit="1"/>
              </p:cNvSpPr>
              <p:nvPr>
                <p:ph idx="1"/>
              </p:nvPr>
            </p:nvSpPr>
            <p:spPr>
              <a:blipFill>
                <a:blip r:embed="rId3"/>
                <a:stretch>
                  <a:fillRect l="-1104" t="-1657"/>
                </a:stretch>
              </a:blipFill>
            </p:spPr>
            <p:txBody>
              <a:bodyPr/>
              <a:lstStyle/>
              <a:p>
                <a:r>
                  <a:rPr lang="en-US">
                    <a:noFill/>
                  </a:rPr>
                  <a:t> </a:t>
                </a:r>
              </a:p>
            </p:txBody>
          </p:sp>
        </mc:Fallback>
      </mc:AlternateContent>
    </p:spTree>
    <p:extLst>
      <p:ext uri="{BB962C8B-B14F-4D97-AF65-F5344CB8AC3E}">
        <p14:creationId xmlns:p14="http://schemas.microsoft.com/office/powerpoint/2010/main" val="2184255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CD971-B488-0F5E-C20C-A69CA707B5A5}"/>
              </a:ext>
            </a:extLst>
          </p:cNvPr>
          <p:cNvSpPr>
            <a:spLocks noGrp="1"/>
          </p:cNvSpPr>
          <p:nvPr>
            <p:ph type="title"/>
          </p:nvPr>
        </p:nvSpPr>
        <p:spPr/>
        <p:txBody>
          <a:bodyPr/>
          <a:lstStyle/>
          <a:p>
            <a:r>
              <a:rPr lang="en-US" dirty="0"/>
              <a:t>The Expected Prediction Error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B0B36D-7A8E-9EE0-2F6C-D13AF2D91F31}"/>
                  </a:ext>
                </a:extLst>
              </p:cNvPr>
              <p:cNvSpPr>
                <a:spLocks noGrp="1"/>
              </p:cNvSpPr>
              <p:nvPr>
                <p:ph idx="1"/>
              </p:nvPr>
            </p:nvSpPr>
            <p:spPr/>
            <p:txBody>
              <a:bodyPr/>
              <a:lstStyle/>
              <a:p>
                <a:r>
                  <a:rPr lang="en-US" dirty="0"/>
                  <a:t>We use the loss function to define </a:t>
                </a:r>
                <a:r>
                  <a:rPr lang="en-US" b="1" dirty="0">
                    <a:solidFill>
                      <a:schemeClr val="bg1"/>
                    </a:solidFill>
                  </a:rPr>
                  <a:t>expected prediction error </a:t>
                </a:r>
                <a:r>
                  <a:rPr lang="en-US" dirty="0"/>
                  <a:t>of </a:t>
                </a:r>
                <a14:m>
                  <m:oMath xmlns:m="http://schemas.openxmlformats.org/officeDocument/2006/math">
                    <m:r>
                      <a:rPr lang="en-US" altLang="en-US" i="1" smtClean="0">
                        <a:latin typeface="Cambria Math" panose="02040503050406030204" pitchFamily="18" charset="0"/>
                      </a:rPr>
                      <m:t>𝑓</m:t>
                    </m:r>
                    <m:d>
                      <m:dPr>
                        <m:ctrlPr>
                          <a:rPr lang="en-US" altLang="en-US" i="1">
                            <a:latin typeface="Cambria Math" panose="02040503050406030204" pitchFamily="18" charset="0"/>
                          </a:rPr>
                        </m:ctrlPr>
                      </m:dPr>
                      <m:e>
                        <m:r>
                          <a:rPr lang="en-US" altLang="en-US" i="1">
                            <a:latin typeface="Cambria Math" panose="02040503050406030204" pitchFamily="18" charset="0"/>
                          </a:rPr>
                          <m:t>𝑋</m:t>
                        </m:r>
                      </m:e>
                    </m:d>
                  </m:oMath>
                </a14:m>
                <a:r>
                  <a:rPr lang="en-US" dirty="0"/>
                  <a:t>, denoted </a:t>
                </a:r>
                <a14:m>
                  <m:oMath xmlns:m="http://schemas.openxmlformats.org/officeDocument/2006/math">
                    <m:r>
                      <a:rPr lang="en-US" b="0" i="1" smtClean="0">
                        <a:latin typeface="Cambria Math" panose="02040503050406030204" pitchFamily="18" charset="0"/>
                      </a:rPr>
                      <m:t>𝐸𝑃𝐸</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oMath>
                </a14:m>
                <a:r>
                  <a:rPr lang="en-US" dirty="0"/>
                  <a:t>, by taking the expectation of the loss function: </a:t>
                </a:r>
              </a:p>
              <a:p>
                <a:pPr marL="698500" lvl="1"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𝐸𝑃𝐸</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e>
                      </m:d>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b="0" i="1"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e>
                      </m:d>
                      <m:r>
                        <a:rPr lang="en-US" b="0" i="1" smtClean="0">
                          <a:latin typeface="Cambria Math" panose="02040503050406030204" pitchFamily="18" charset="0"/>
                        </a:rPr>
                        <m:t>]</m:t>
                      </m:r>
                    </m:oMath>
                  </m:oMathPara>
                </a14:m>
                <a:endParaRPr lang="en-US" b="0" dirty="0"/>
              </a:p>
              <a:p>
                <a14:m>
                  <m:oMath xmlns:m="http://schemas.openxmlformats.org/officeDocument/2006/math">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is the expectation, which represents the average over all possible datasets.</a:t>
                </a:r>
              </a:p>
              <a:p>
                <a:r>
                  <a:rPr lang="en-US" dirty="0"/>
                  <a:t>Hence, </a:t>
                </a:r>
                <a14:m>
                  <m:oMath xmlns:m="http://schemas.openxmlformats.org/officeDocument/2006/math">
                    <m:r>
                      <a:rPr lang="en-US" b="0" i="1" smtClean="0">
                        <a:latin typeface="Cambria Math" panose="02040503050406030204" pitchFamily="18" charset="0"/>
                      </a:rPr>
                      <m:t>𝐸𝑃𝐸</m:t>
                    </m:r>
                    <m:r>
                      <a:rPr lang="en-US" b="0" i="1" smtClean="0">
                        <a:latin typeface="Cambria Math" panose="02040503050406030204" pitchFamily="18" charset="0"/>
                      </a:rPr>
                      <m:t>(</m:t>
                    </m:r>
                    <m:r>
                      <a:rPr lang="en-US" b="0" i="1" smtClean="0">
                        <a:latin typeface="Cambria Math" panose="02040503050406030204" pitchFamily="18" charset="0"/>
                      </a:rPr>
                      <m:t>𝑓</m:t>
                    </m:r>
                    <m:r>
                      <a:rPr lang="en-US" b="0" i="1" smtClean="0">
                        <a:latin typeface="Cambria Math" panose="02040503050406030204" pitchFamily="18" charset="0"/>
                      </a:rPr>
                      <m:t>)</m:t>
                    </m:r>
                  </m:oMath>
                </a14:m>
                <a:r>
                  <a:rPr lang="en-US" dirty="0"/>
                  <a:t> computes the average error in predictions. </a:t>
                </a:r>
              </a:p>
            </p:txBody>
          </p:sp>
        </mc:Choice>
        <mc:Fallback xmlns="">
          <p:sp>
            <p:nvSpPr>
              <p:cNvPr id="3" name="Content Placeholder 2">
                <a:extLst>
                  <a:ext uri="{FF2B5EF4-FFF2-40B4-BE49-F238E27FC236}">
                    <a16:creationId xmlns:a16="http://schemas.microsoft.com/office/drawing/2014/main" id="{91B0B36D-7A8E-9EE0-2F6C-D13AF2D91F31}"/>
                  </a:ext>
                </a:extLst>
              </p:cNvPr>
              <p:cNvSpPr>
                <a:spLocks noGrp="1" noRot="1" noChangeAspect="1" noMove="1" noResize="1" noEditPoints="1" noAdjustHandles="1" noChangeArrowheads="1" noChangeShapeType="1" noTextEdit="1"/>
              </p:cNvSpPr>
              <p:nvPr>
                <p:ph idx="1"/>
              </p:nvPr>
            </p:nvSpPr>
            <p:spPr>
              <a:blipFill>
                <a:blip r:embed="rId2"/>
                <a:stretch>
                  <a:fillRect l="-1104" t="-1657"/>
                </a:stretch>
              </a:blipFill>
            </p:spPr>
            <p:txBody>
              <a:bodyPr/>
              <a:lstStyle/>
              <a:p>
                <a:r>
                  <a:rPr lang="en-US">
                    <a:noFill/>
                  </a:rPr>
                  <a:t> </a:t>
                </a:r>
              </a:p>
            </p:txBody>
          </p:sp>
        </mc:Fallback>
      </mc:AlternateContent>
    </p:spTree>
    <p:extLst>
      <p:ext uri="{BB962C8B-B14F-4D97-AF65-F5344CB8AC3E}">
        <p14:creationId xmlns:p14="http://schemas.microsoft.com/office/powerpoint/2010/main" val="123811906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8A858C-F3C7-8D41-0B89-437CDDEC592D}"/>
              </a:ext>
            </a:extLst>
          </p:cNvPr>
          <p:cNvSpPr>
            <a:spLocks noGrp="1"/>
          </p:cNvSpPr>
          <p:nvPr>
            <p:ph type="title"/>
          </p:nvPr>
        </p:nvSpPr>
        <p:spPr/>
        <p:txBody>
          <a:bodyPr/>
          <a:lstStyle/>
          <a:p>
            <a:r>
              <a:rPr lang="en-US" dirty="0"/>
              <a:t>Components of EPE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2A0D684-D534-06F2-AB3E-1ADB9D82FC59}"/>
                  </a:ext>
                </a:extLst>
              </p:cNvPr>
              <p:cNvSpPr>
                <a:spLocks noGrp="1"/>
              </p:cNvSpPr>
              <p:nvPr>
                <p:ph idx="1"/>
              </p:nvPr>
            </p:nvSpPr>
            <p:spPr/>
            <p:txBody>
              <a:bodyPr/>
              <a:lstStyle/>
              <a:p>
                <a:r>
                  <a:rPr lang="en-US" dirty="0"/>
                  <a:t>EPE = Reducible error + Irreducible error</a:t>
                </a:r>
                <a:endParaRPr lang="en-US" b="1" dirty="0">
                  <a:solidFill>
                    <a:schemeClr val="bg1"/>
                  </a:solidFill>
                </a:endParaRPr>
              </a:p>
              <a:p>
                <a:r>
                  <a:rPr lang="en-US" b="1" dirty="0">
                    <a:solidFill>
                      <a:schemeClr val="bg1"/>
                    </a:solidFill>
                  </a:rPr>
                  <a:t>Irreducible error</a:t>
                </a:r>
                <a:r>
                  <a:rPr lang="en-US" dirty="0"/>
                  <a:t>, denoted as </a:t>
                </a:r>
                <a14:m>
                  <m:oMath xmlns:m="http://schemas.openxmlformats.org/officeDocument/2006/math">
                    <m:r>
                      <a:rPr lang="en-US" i="1" smtClean="0">
                        <a:latin typeface="Cambria Math" panose="02040503050406030204" pitchFamily="18" charset="0"/>
                        <a:ea typeface="Cambria Math" panose="02040503050406030204" pitchFamily="18" charset="0"/>
                      </a:rPr>
                      <m:t>𝜀</m:t>
                    </m:r>
                    <m:r>
                      <a:rPr lang="en-US" b="0" i="1" smtClean="0">
                        <a:latin typeface="Cambria Math" panose="02040503050406030204" pitchFamily="18" charset="0"/>
                        <a:ea typeface="Cambria Math" panose="02040503050406030204" pitchFamily="18" charset="0"/>
                      </a:rPr>
                      <m:t>.</m:t>
                    </m:r>
                  </m:oMath>
                </a14:m>
                <a:r>
                  <a:rPr lang="en-US" dirty="0"/>
                  <a:t> </a:t>
                </a:r>
              </a:p>
              <a:p>
                <a:pPr lvl="1"/>
                <a14:m>
                  <m:oMath xmlns:m="http://schemas.openxmlformats.org/officeDocument/2006/math">
                    <m:r>
                      <a:rPr lang="en-US" b="0" i="1" smtClean="0">
                        <a:latin typeface="Cambria Math" panose="02040503050406030204" pitchFamily="18" charset="0"/>
                        <a:ea typeface="Cambria Math" panose="02040503050406030204" pitchFamily="18" charset="0"/>
                      </a:rPr>
                      <m:t>𝐸</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𝜀</m:t>
                        </m:r>
                      </m:e>
                    </m:d>
                    <m:r>
                      <a:rPr lang="en-US" b="0" i="1" smtClean="0">
                        <a:latin typeface="Cambria Math" panose="02040503050406030204" pitchFamily="18" charset="0"/>
                        <a:ea typeface="Cambria Math" panose="02040503050406030204" pitchFamily="18" charset="0"/>
                      </a:rPr>
                      <m:t>=0</m:t>
                    </m:r>
                  </m:oMath>
                </a14:m>
                <a:r>
                  <a:rPr lang="en-US" i="1" dirty="0">
                    <a:latin typeface="Cambria Math" panose="02040503050406030204" pitchFamily="18" charset="0"/>
                    <a:ea typeface="Cambria Math" panose="02040503050406030204" pitchFamily="18" charset="0"/>
                  </a:rPr>
                  <a:t> </a:t>
                </a:r>
                <a:r>
                  <a:rPr lang="en-US" dirty="0">
                    <a:latin typeface="Cambria Math" panose="02040503050406030204" pitchFamily="18" charset="0"/>
                    <a:ea typeface="Cambria Math" panose="02040503050406030204" pitchFamily="18" charset="0"/>
                  </a:rPr>
                  <a:t>and </a:t>
                </a:r>
                <a14:m>
                  <m:oMath xmlns:m="http://schemas.openxmlformats.org/officeDocument/2006/math">
                    <m:r>
                      <m:rPr>
                        <m:nor/>
                      </m:rPr>
                      <a:rPr lang="en-US" b="0" i="0" smtClean="0">
                        <a:latin typeface="Cambria Math" panose="02040503050406030204" pitchFamily="18" charset="0"/>
                        <a:ea typeface="Cambria Math" panose="02040503050406030204" pitchFamily="18" charset="0"/>
                      </a:rPr>
                      <m:t>Var</m:t>
                    </m:r>
                    <m:d>
                      <m:dPr>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𝜀</m:t>
                        </m:r>
                      </m:e>
                    </m:d>
                    <m:r>
                      <a:rPr lang="en-US" b="0" i="1" smtClean="0">
                        <a:latin typeface="Cambria Math" panose="02040503050406030204" pitchFamily="18" charset="0"/>
                        <a:ea typeface="Cambria Math" panose="02040503050406030204" pitchFamily="18" charset="0"/>
                      </a:rPr>
                      <m:t>= </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𝜎</m:t>
                        </m:r>
                      </m:e>
                      <m:sup>
                        <m:r>
                          <a:rPr lang="en-US" b="0" i="1" smtClean="0">
                            <a:latin typeface="Cambria Math" panose="02040503050406030204" pitchFamily="18" charset="0"/>
                            <a:ea typeface="Cambria Math" panose="02040503050406030204" pitchFamily="18" charset="0"/>
                          </a:rPr>
                          <m:t>2</m:t>
                        </m:r>
                      </m:sup>
                    </m:sSup>
                    <m:r>
                      <a:rPr lang="en-US" b="0" i="1" smtClean="0">
                        <a:latin typeface="Cambria Math" panose="02040503050406030204" pitchFamily="18" charset="0"/>
                        <a:ea typeface="Cambria Math" panose="02040503050406030204" pitchFamily="18" charset="0"/>
                      </a:rPr>
                      <m:t>,</m:t>
                    </m:r>
                  </m:oMath>
                </a14:m>
                <a:r>
                  <a:rPr lang="en-US" dirty="0">
                    <a:latin typeface="Cambria Math" panose="02040503050406030204" pitchFamily="18" charset="0"/>
                    <a:ea typeface="Cambria Math" panose="02040503050406030204" pitchFamily="18" charset="0"/>
                  </a:rPr>
                  <a:t> </a:t>
                </a:r>
                <a:r>
                  <a:rPr lang="en-US" dirty="0"/>
                  <a:t>the </a:t>
                </a:r>
                <a:r>
                  <a:rPr lang="en-US" i="1" dirty="0"/>
                  <a:t>variance</a:t>
                </a:r>
                <a:r>
                  <a:rPr lang="en-US" dirty="0"/>
                  <a:t> of irreducible error. </a:t>
                </a:r>
              </a:p>
              <a:p>
                <a:pPr lvl="1"/>
                <a:r>
                  <a:rPr lang="en-US" dirty="0"/>
                  <a:t>Arises from the inherent variability and noise in the data</a:t>
                </a:r>
              </a:p>
              <a:p>
                <a:pPr lvl="1"/>
                <a:r>
                  <a:rPr lang="en-US" dirty="0"/>
                  <a:t>Can never go away, regardless of the model</a:t>
                </a:r>
              </a:p>
              <a:p>
                <a:r>
                  <a:rPr lang="en-US" b="1" dirty="0">
                    <a:solidFill>
                      <a:schemeClr val="bg1"/>
                    </a:solidFill>
                  </a:rPr>
                  <a:t>Reducible error</a:t>
                </a:r>
              </a:p>
              <a:p>
                <a:pPr lvl="1"/>
                <a:r>
                  <a:rPr lang="en-US" dirty="0"/>
                  <a:t>Arises from the model’s inability to full capture the relationship between </a:t>
                </a:r>
                <a14:m>
                  <m:oMath xmlns:m="http://schemas.openxmlformats.org/officeDocument/2006/math">
                    <m:r>
                      <a:rPr lang="en-US" b="0" i="1" smtClean="0">
                        <a:latin typeface="Cambria Math" panose="02040503050406030204" pitchFamily="18" charset="0"/>
                      </a:rPr>
                      <m:t>𝑋</m:t>
                    </m:r>
                  </m:oMath>
                </a14:m>
                <a:r>
                  <a:rPr lang="en-US" dirty="0"/>
                  <a:t> and </a:t>
                </a:r>
                <a14:m>
                  <m:oMath xmlns:m="http://schemas.openxmlformats.org/officeDocument/2006/math">
                    <m:r>
                      <a:rPr lang="en-US" b="0" i="1" smtClean="0">
                        <a:latin typeface="Cambria Math" panose="02040503050406030204" pitchFamily="18" charset="0"/>
                      </a:rPr>
                      <m:t>𝑌</m:t>
                    </m:r>
                  </m:oMath>
                </a14:m>
                <a:r>
                  <a:rPr lang="en-US" dirty="0"/>
                  <a:t>, which can be reduced with a better model</a:t>
                </a:r>
              </a:p>
            </p:txBody>
          </p:sp>
        </mc:Choice>
        <mc:Fallback xmlns="">
          <p:sp>
            <p:nvSpPr>
              <p:cNvPr id="3" name="Content Placeholder 2">
                <a:extLst>
                  <a:ext uri="{FF2B5EF4-FFF2-40B4-BE49-F238E27FC236}">
                    <a16:creationId xmlns:a16="http://schemas.microsoft.com/office/drawing/2014/main" id="{12A0D684-D534-06F2-AB3E-1ADB9D82FC59}"/>
                  </a:ext>
                </a:extLst>
              </p:cNvPr>
              <p:cNvSpPr>
                <a:spLocks noGrp="1" noRot="1" noChangeAspect="1" noMove="1" noResize="1" noEditPoints="1" noAdjustHandles="1" noChangeArrowheads="1" noChangeShapeType="1" noTextEdit="1"/>
              </p:cNvSpPr>
              <p:nvPr>
                <p:ph idx="1"/>
              </p:nvPr>
            </p:nvSpPr>
            <p:spPr>
              <a:blipFill>
                <a:blip r:embed="rId2"/>
                <a:stretch>
                  <a:fillRect l="-1104" t="-1657" r="-868"/>
                </a:stretch>
              </a:blipFill>
            </p:spPr>
            <p:txBody>
              <a:bodyPr/>
              <a:lstStyle/>
              <a:p>
                <a:r>
                  <a:rPr lang="en-US">
                    <a:noFill/>
                  </a:rPr>
                  <a:t> </a:t>
                </a:r>
              </a:p>
            </p:txBody>
          </p:sp>
        </mc:Fallback>
      </mc:AlternateContent>
    </p:spTree>
    <p:extLst>
      <p:ext uri="{BB962C8B-B14F-4D97-AF65-F5344CB8AC3E}">
        <p14:creationId xmlns:p14="http://schemas.microsoft.com/office/powerpoint/2010/main" val="3694758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7C14E-B10E-885B-6909-4F12178480F4}"/>
              </a:ext>
            </a:extLst>
          </p:cNvPr>
          <p:cNvSpPr>
            <a:spLocks noGrp="1"/>
          </p:cNvSpPr>
          <p:nvPr>
            <p:ph type="title"/>
          </p:nvPr>
        </p:nvSpPr>
        <p:spPr>
          <a:xfrm>
            <a:off x="1101724" y="4641341"/>
            <a:ext cx="16084552" cy="1004317"/>
          </a:xfrm>
        </p:spPr>
        <p:txBody>
          <a:bodyPr wrap="square" anchor="b">
            <a:normAutofit fontScale="90000"/>
          </a:bodyPr>
          <a:lstStyle/>
          <a:p>
            <a:r>
              <a:rPr lang="en-US" dirty="0"/>
              <a:t>Our aim is to minimize EPE. </a:t>
            </a:r>
            <a:br>
              <a:rPr lang="en-US" dirty="0"/>
            </a:br>
            <a:r>
              <a:rPr lang="en-US" dirty="0"/>
              <a:t>So, what are we minimizing? </a:t>
            </a:r>
          </a:p>
        </p:txBody>
      </p:sp>
    </p:spTree>
    <p:extLst>
      <p:ext uri="{BB962C8B-B14F-4D97-AF65-F5344CB8AC3E}">
        <p14:creationId xmlns:p14="http://schemas.microsoft.com/office/powerpoint/2010/main" val="6514503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7C14E-B10E-885B-6909-4F12178480F4}"/>
              </a:ext>
            </a:extLst>
          </p:cNvPr>
          <p:cNvSpPr>
            <a:spLocks noGrp="1"/>
          </p:cNvSpPr>
          <p:nvPr>
            <p:ph type="title"/>
          </p:nvPr>
        </p:nvSpPr>
        <p:spPr>
          <a:xfrm>
            <a:off x="1101724" y="4641341"/>
            <a:ext cx="16084552" cy="1004317"/>
          </a:xfrm>
        </p:spPr>
        <p:txBody>
          <a:bodyPr wrap="square" anchor="b">
            <a:normAutofit/>
          </a:bodyPr>
          <a:lstStyle/>
          <a:p>
            <a:r>
              <a:rPr lang="en-US" dirty="0"/>
              <a:t>The reducible error!</a:t>
            </a:r>
          </a:p>
        </p:txBody>
      </p:sp>
    </p:spTree>
    <p:extLst>
      <p:ext uri="{BB962C8B-B14F-4D97-AF65-F5344CB8AC3E}">
        <p14:creationId xmlns:p14="http://schemas.microsoft.com/office/powerpoint/2010/main" val="2147020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1207C14E-B10E-885B-6909-4F12178480F4}"/>
                  </a:ext>
                </a:extLst>
              </p:cNvPr>
              <p:cNvSpPr>
                <a:spLocks noGrp="1"/>
              </p:cNvSpPr>
              <p:nvPr>
                <p:ph type="title"/>
              </p:nvPr>
            </p:nvSpPr>
            <p:spPr>
              <a:xfrm>
                <a:off x="1101724" y="4641341"/>
                <a:ext cx="16084552" cy="1004317"/>
              </a:xfrm>
            </p:spPr>
            <p:txBody>
              <a:bodyPr wrap="square" anchor="b">
                <a:normAutofit/>
              </a:bodyPr>
              <a:lstStyle/>
              <a:p>
                <a:r>
                  <a:rPr lang="en-US" dirty="0"/>
                  <a:t>That means we are changing </a:t>
                </a:r>
                <a14:m>
                  <m:oMath xmlns:m="http://schemas.openxmlformats.org/officeDocument/2006/math">
                    <m:r>
                      <a:rPr lang="en-US" altLang="en-US" i="1" smtClean="0">
                        <a:latin typeface="Cambria Math" panose="02040503050406030204" pitchFamily="18" charset="0"/>
                      </a:rPr>
                      <m:t>𝑓</m:t>
                    </m:r>
                    <m:d>
                      <m:dPr>
                        <m:ctrlPr>
                          <a:rPr lang="en-US" altLang="en-US" i="1">
                            <a:latin typeface="Cambria Math" panose="02040503050406030204" pitchFamily="18" charset="0"/>
                          </a:rPr>
                        </m:ctrlPr>
                      </m:dPr>
                      <m:e>
                        <m:r>
                          <a:rPr lang="en-US" altLang="en-US" i="1">
                            <a:latin typeface="Cambria Math" panose="02040503050406030204" pitchFamily="18" charset="0"/>
                          </a:rPr>
                          <m:t>𝑋</m:t>
                        </m:r>
                      </m:e>
                    </m:d>
                  </m:oMath>
                </a14:m>
                <a:r>
                  <a:rPr lang="en-US" dirty="0"/>
                  <a:t>!</a:t>
                </a:r>
              </a:p>
            </p:txBody>
          </p:sp>
        </mc:Choice>
        <mc:Fallback xmlns="">
          <p:sp>
            <p:nvSpPr>
              <p:cNvPr id="2" name="Title 1">
                <a:extLst>
                  <a:ext uri="{FF2B5EF4-FFF2-40B4-BE49-F238E27FC236}">
                    <a16:creationId xmlns:a16="http://schemas.microsoft.com/office/drawing/2014/main" id="{1207C14E-B10E-885B-6909-4F12178480F4}"/>
                  </a:ext>
                </a:extLst>
              </p:cNvPr>
              <p:cNvSpPr>
                <a:spLocks noGrp="1" noRot="1" noChangeAspect="1" noMove="1" noResize="1" noEditPoints="1" noAdjustHandles="1" noChangeArrowheads="1" noChangeShapeType="1" noTextEdit="1"/>
              </p:cNvSpPr>
              <p:nvPr>
                <p:ph type="title"/>
              </p:nvPr>
            </p:nvSpPr>
            <p:spPr>
              <a:xfrm>
                <a:off x="1101724" y="4641341"/>
                <a:ext cx="16084552" cy="1004317"/>
              </a:xfrm>
              <a:blipFill>
                <a:blip r:embed="rId2"/>
                <a:stretch>
                  <a:fillRect t="-11250" b="-37500"/>
                </a:stretch>
              </a:blipFill>
            </p:spPr>
            <p:txBody>
              <a:bodyPr/>
              <a:lstStyle/>
              <a:p>
                <a:r>
                  <a:rPr lang="en-US">
                    <a:noFill/>
                  </a:rPr>
                  <a:t> </a:t>
                </a:r>
              </a:p>
            </p:txBody>
          </p:sp>
        </mc:Fallback>
      </mc:AlternateContent>
    </p:spTree>
    <p:extLst>
      <p:ext uri="{BB962C8B-B14F-4D97-AF65-F5344CB8AC3E}">
        <p14:creationId xmlns:p14="http://schemas.microsoft.com/office/powerpoint/2010/main" val="12560583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07C14E-B10E-885B-6909-4F12178480F4}"/>
              </a:ext>
            </a:extLst>
          </p:cNvPr>
          <p:cNvSpPr>
            <a:spLocks noGrp="1"/>
          </p:cNvSpPr>
          <p:nvPr>
            <p:ph type="title"/>
          </p:nvPr>
        </p:nvSpPr>
        <p:spPr>
          <a:xfrm>
            <a:off x="1101724" y="4641341"/>
            <a:ext cx="16084552" cy="1004317"/>
          </a:xfrm>
        </p:spPr>
        <p:txBody>
          <a:bodyPr wrap="square" anchor="b">
            <a:normAutofit/>
          </a:bodyPr>
          <a:lstStyle/>
          <a:p>
            <a:r>
              <a:rPr lang="en-US" dirty="0"/>
              <a:t>But how???</a:t>
            </a:r>
          </a:p>
        </p:txBody>
      </p:sp>
    </p:spTree>
    <p:extLst>
      <p:ext uri="{BB962C8B-B14F-4D97-AF65-F5344CB8AC3E}">
        <p14:creationId xmlns:p14="http://schemas.microsoft.com/office/powerpoint/2010/main" val="152914525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5551580-5742-354F-5076-7BC059FEB555}"/>
                  </a:ext>
                </a:extLst>
              </p:cNvPr>
              <p:cNvSpPr>
                <a:spLocks noGrp="1"/>
              </p:cNvSpPr>
              <p:nvPr>
                <p:ph sz="half" idx="1"/>
              </p:nvPr>
            </p:nvSpPr>
            <p:spPr>
              <a:xfrm>
                <a:off x="1098551" y="2061746"/>
                <a:ext cx="5542882" cy="898134"/>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𝐸𝑃𝐸</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e>
                      </m:d>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b="0" i="1"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e>
                      </m:d>
                      <m:r>
                        <a:rPr lang="en-US" b="0" i="1" smtClean="0">
                          <a:latin typeface="Cambria Math" panose="02040503050406030204" pitchFamily="18" charset="0"/>
                        </a:rPr>
                        <m:t>]</m:t>
                      </m:r>
                    </m:oMath>
                  </m:oMathPara>
                </a14:m>
                <a:endParaRPr lang="en-US" b="0" dirty="0"/>
              </a:p>
            </p:txBody>
          </p:sp>
        </mc:Choice>
        <mc:Fallback xmlns="">
          <p:sp>
            <p:nvSpPr>
              <p:cNvPr id="3" name="Content Placeholder 2">
                <a:extLst>
                  <a:ext uri="{FF2B5EF4-FFF2-40B4-BE49-F238E27FC236}">
                    <a16:creationId xmlns:a16="http://schemas.microsoft.com/office/drawing/2014/main" id="{D5551580-5742-354F-5076-7BC059FEB555}"/>
                  </a:ext>
                </a:extLst>
              </p:cNvPr>
              <p:cNvSpPr>
                <a:spLocks noGrp="1" noRot="1" noChangeAspect="1" noMove="1" noResize="1" noEditPoints="1" noAdjustHandles="1" noChangeArrowheads="1" noChangeShapeType="1" noTextEdit="1"/>
              </p:cNvSpPr>
              <p:nvPr>
                <p:ph sz="half" idx="1"/>
              </p:nvPr>
            </p:nvSpPr>
            <p:spPr>
              <a:xfrm>
                <a:off x="1098551" y="2061746"/>
                <a:ext cx="5542882" cy="898134"/>
              </a:xfrm>
              <a:blipFill>
                <a:blip r:embed="rId2"/>
                <a:stretch>
                  <a:fillRect l="-1373" r="-2517" b="-1389"/>
                </a:stretch>
              </a:blipFill>
            </p:spPr>
            <p:txBody>
              <a:bodyPr/>
              <a:lstStyle/>
              <a:p>
                <a:r>
                  <a:rPr lang="en-US">
                    <a:noFill/>
                  </a:rPr>
                  <a:t> </a:t>
                </a:r>
              </a:p>
            </p:txBody>
          </p:sp>
        </mc:Fallback>
      </mc:AlternateContent>
      <p:sp>
        <p:nvSpPr>
          <p:cNvPr id="4" name="Content Placeholder 3">
            <a:extLst>
              <a:ext uri="{FF2B5EF4-FFF2-40B4-BE49-F238E27FC236}">
                <a16:creationId xmlns:a16="http://schemas.microsoft.com/office/drawing/2014/main" id="{ED482371-7C2F-AE12-C60C-984CA5E255C6}"/>
              </a:ext>
            </a:extLst>
          </p:cNvPr>
          <p:cNvSpPr>
            <a:spLocks noGrp="1"/>
          </p:cNvSpPr>
          <p:nvPr>
            <p:ph sz="half" idx="2"/>
          </p:nvPr>
        </p:nvSpPr>
        <p:spPr>
          <a:xfrm>
            <a:off x="11133219" y="2085699"/>
            <a:ext cx="6049882" cy="1026470"/>
          </a:xfrm>
        </p:spPr>
        <p:txBody>
          <a:bodyPr/>
          <a:lstStyle/>
          <a:p>
            <a:pPr marL="0" indent="0">
              <a:buNone/>
            </a:pPr>
            <a:r>
              <a:rPr lang="en-US" sz="3600" i="1" dirty="0">
                <a:solidFill>
                  <a:schemeClr val="accent2"/>
                </a:solidFill>
              </a:rPr>
              <a:t>Definition of EPE.</a:t>
            </a:r>
            <a:endParaRPr lang="en-US" dirty="0">
              <a:solidFill>
                <a:schemeClr val="accent2"/>
              </a:solidFill>
            </a:endParaRPr>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BEC8D1E-8E41-A494-5E25-C79038E3163A}"/>
                  </a:ext>
                </a:extLst>
              </p:cNvPr>
              <p:cNvSpPr>
                <a:spLocks noGrp="1"/>
              </p:cNvSpPr>
              <p:nvPr>
                <p:ph type="title"/>
              </p:nvPr>
            </p:nvSpPr>
            <p:spPr/>
            <p:txBody>
              <a:bodyPr/>
              <a:lstStyle/>
              <a:p>
                <a:r>
                  <a:rPr lang="en-US" dirty="0"/>
                  <a:t>Derivation of </a:t>
                </a:r>
                <a14:m>
                  <m:oMath xmlns:m="http://schemas.openxmlformats.org/officeDocument/2006/math">
                    <m:r>
                      <a:rPr lang="en-US" b="1" i="1" smtClean="0">
                        <a:latin typeface="Cambria Math" panose="02040503050406030204" pitchFamily="18" charset="0"/>
                      </a:rPr>
                      <m:t>𝑬𝑷𝑬</m:t>
                    </m:r>
                    <m:r>
                      <a:rPr lang="en-US" b="1" i="1" smtClean="0">
                        <a:latin typeface="Cambria Math" panose="02040503050406030204" pitchFamily="18" charset="0"/>
                      </a:rPr>
                      <m:t>(</m:t>
                    </m:r>
                    <m:r>
                      <a:rPr lang="en-US" b="1" i="1" smtClean="0">
                        <a:latin typeface="Cambria Math" panose="02040503050406030204" pitchFamily="18" charset="0"/>
                      </a:rPr>
                      <m:t>𝒇</m:t>
                    </m:r>
                    <m:r>
                      <a:rPr lang="en-US" b="1" i="1" smtClean="0">
                        <a:latin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DBEC8D1E-8E41-A494-5E25-C79038E3163A}"/>
                  </a:ext>
                </a:extLst>
              </p:cNvPr>
              <p:cNvSpPr>
                <a:spLocks noGrp="1" noRot="1" noChangeAspect="1" noMove="1" noResize="1" noEditPoints="1" noAdjustHandles="1" noChangeArrowheads="1" noChangeShapeType="1" noTextEdit="1"/>
              </p:cNvSpPr>
              <p:nvPr>
                <p:ph type="title"/>
              </p:nvPr>
            </p:nvSpPr>
            <p:spPr>
              <a:blipFill>
                <a:blip r:embed="rId3"/>
                <a:stretch>
                  <a:fillRect b="-24390"/>
                </a:stretch>
              </a:blipFill>
            </p:spPr>
            <p:txBody>
              <a:bodyPr/>
              <a:lstStyle/>
              <a:p>
                <a:r>
                  <a:rPr lang="en-US">
                    <a:noFill/>
                  </a:rPr>
                  <a:t> </a:t>
                </a:r>
              </a:p>
            </p:txBody>
          </p:sp>
        </mc:Fallback>
      </mc:AlternateContent>
      <p:sp>
        <p:nvSpPr>
          <p:cNvPr id="5" name="Content Placeholder 3">
            <a:extLst>
              <a:ext uri="{FF2B5EF4-FFF2-40B4-BE49-F238E27FC236}">
                <a16:creationId xmlns:a16="http://schemas.microsoft.com/office/drawing/2014/main" id="{AE755274-E174-6045-2473-EC1CE5BECDDB}"/>
              </a:ext>
            </a:extLst>
          </p:cNvPr>
          <p:cNvSpPr txBox="1">
            <a:spLocks/>
          </p:cNvSpPr>
          <p:nvPr/>
        </p:nvSpPr>
        <p:spPr bwMode="auto">
          <a:xfrm>
            <a:off x="11133219" y="4742334"/>
            <a:ext cx="6049882" cy="1249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698500" indent="-698500" algn="l" rtl="0" fontAlgn="base">
              <a:spcBef>
                <a:spcPts val="3200"/>
              </a:spcBef>
              <a:spcAft>
                <a:spcPct val="0"/>
              </a:spcAft>
              <a:buClr>
                <a:schemeClr val="accent2"/>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9pPr>
          </a:lstStyle>
          <a:p>
            <a:pPr marL="0" indent="0">
              <a:buFont typeface="Wingdings 2" pitchFamily="2" charset="2"/>
              <a:buNone/>
            </a:pPr>
            <a:r>
              <a:rPr lang="en-US" sz="3600" i="1" dirty="0">
                <a:solidFill>
                  <a:schemeClr val="accent2"/>
                </a:solidFill>
              </a:rPr>
              <a:t>Definition of the probability density function</a:t>
            </a:r>
          </a:p>
          <a:p>
            <a:pPr marL="0" indent="0">
              <a:buFont typeface="Wingdings 2" pitchFamily="2" charset="2"/>
              <a:buNone/>
            </a:pPr>
            <a:endParaRPr lang="en-US" dirty="0">
              <a:solidFill>
                <a:schemeClr val="accent2"/>
              </a:solidFill>
            </a:endParaRPr>
          </a:p>
        </p:txBody>
      </p:sp>
      <p:sp>
        <p:nvSpPr>
          <p:cNvPr id="6" name="Content Placeholder 3">
            <a:extLst>
              <a:ext uri="{FF2B5EF4-FFF2-40B4-BE49-F238E27FC236}">
                <a16:creationId xmlns:a16="http://schemas.microsoft.com/office/drawing/2014/main" id="{5EFDD8D2-D922-5BA9-9174-AB6947462E65}"/>
              </a:ext>
            </a:extLst>
          </p:cNvPr>
          <p:cNvSpPr txBox="1">
            <a:spLocks/>
          </p:cNvSpPr>
          <p:nvPr/>
        </p:nvSpPr>
        <p:spPr bwMode="auto">
          <a:xfrm>
            <a:off x="11133220" y="6452938"/>
            <a:ext cx="6049881" cy="1249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698500" indent="-698500" algn="l" rtl="0" fontAlgn="base">
              <a:spcBef>
                <a:spcPts val="3200"/>
              </a:spcBef>
              <a:spcAft>
                <a:spcPct val="0"/>
              </a:spcAft>
              <a:buClr>
                <a:schemeClr val="accent2"/>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9pPr>
          </a:lstStyle>
          <a:p>
            <a:pPr marL="0" indent="0">
              <a:buFont typeface="Wingdings 2" pitchFamily="2" charset="2"/>
              <a:buNone/>
            </a:pPr>
            <a:r>
              <a:rPr lang="en-US" sz="3600" i="1" dirty="0">
                <a:solidFill>
                  <a:schemeClr val="accent2"/>
                </a:solidFill>
              </a:rPr>
              <a:t>The chain rule for conditional probabilities</a:t>
            </a:r>
          </a:p>
          <a:p>
            <a:pPr marL="0" indent="0">
              <a:buFont typeface="Wingdings 2" pitchFamily="2" charset="2"/>
              <a:buNone/>
            </a:pPr>
            <a:endParaRPr lang="en-US" dirty="0">
              <a:solidFill>
                <a:schemeClr val="accent2"/>
              </a:solidFill>
            </a:endParaRPr>
          </a:p>
        </p:txBody>
      </p:sp>
      <mc:AlternateContent xmlns:mc="http://schemas.openxmlformats.org/markup-compatibility/2006" xmlns:a14="http://schemas.microsoft.com/office/drawing/2010/main">
        <mc:Choice Requires="a14">
          <p:sp>
            <p:nvSpPr>
              <p:cNvPr id="7" name="Content Placeholder 2">
                <a:extLst>
                  <a:ext uri="{FF2B5EF4-FFF2-40B4-BE49-F238E27FC236}">
                    <a16:creationId xmlns:a16="http://schemas.microsoft.com/office/drawing/2014/main" id="{01FDC7C6-C6E3-07F4-CCFB-70A171FD5672}"/>
                  </a:ext>
                </a:extLst>
              </p:cNvPr>
              <p:cNvSpPr txBox="1">
                <a:spLocks/>
              </p:cNvSpPr>
              <p:nvPr/>
            </p:nvSpPr>
            <p:spPr bwMode="auto">
              <a:xfrm>
                <a:off x="2610120" y="2902450"/>
                <a:ext cx="6530706" cy="18632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698500" indent="-698500" algn="l" rtl="0" fontAlgn="base">
                  <a:spcBef>
                    <a:spcPts val="3200"/>
                  </a:spcBef>
                  <a:spcAft>
                    <a:spcPct val="0"/>
                  </a:spcAft>
                  <a:buClr>
                    <a:schemeClr val="accent2"/>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9pPr>
              </a:lstStyle>
              <a:p>
                <a:pPr marL="0" indent="0">
                  <a:buFont typeface="Wingdings 2" pitchFamily="2" charset="2"/>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nary>
                        <m:naryPr>
                          <m:limLoc m:val="undOvr"/>
                          <m:subHide m:val="on"/>
                          <m:supHide m:val="on"/>
                          <m:ctrlPr>
                            <a:rPr lang="en-US" i="1" smtClean="0">
                              <a:latin typeface="Cambria Math" panose="02040503050406030204" pitchFamily="18" charset="0"/>
                            </a:rPr>
                          </m:ctrlPr>
                        </m:naryPr>
                        <m:sub/>
                        <m:sup/>
                        <m:e>
                          <m:r>
                            <a:rPr lang="en-US" i="1" smtClean="0">
                              <a:latin typeface="Cambria Math" panose="02040503050406030204" pitchFamily="18" charset="0"/>
                            </a:rPr>
                            <m:t>𝐿</m:t>
                          </m:r>
                          <m:d>
                            <m:dPr>
                              <m:ctrlPr>
                                <a:rPr lang="en-US" i="1" smtClean="0">
                                  <a:latin typeface="Cambria Math" panose="02040503050406030204" pitchFamily="18" charset="0"/>
                                </a:rPr>
                              </m:ctrlPr>
                            </m:dPr>
                            <m:e>
                              <m:r>
                                <a:rPr lang="en-US" b="0" i="1" smtClean="0">
                                  <a:latin typeface="Cambria Math" panose="02040503050406030204" pitchFamily="18" charset="0"/>
                                </a:rPr>
                                <m:t>𝑦</m:t>
                              </m:r>
                              <m:r>
                                <a:rPr lang="en-US" i="1" smtClean="0">
                                  <a:latin typeface="Cambria Math" panose="02040503050406030204" pitchFamily="18" charset="0"/>
                                </a:rPr>
                                <m:t>, </m:t>
                              </m:r>
                              <m:r>
                                <a:rPr lang="en-US" i="1" smtClean="0">
                                  <a:latin typeface="Cambria Math" panose="02040503050406030204" pitchFamily="18" charset="0"/>
                                </a:rPr>
                                <m:t>𝑓</m:t>
                              </m:r>
                              <m:d>
                                <m:dPr>
                                  <m:ctrlPr>
                                    <a:rPr lang="en-US" i="1" smtClean="0">
                                      <a:latin typeface="Cambria Math" panose="02040503050406030204" pitchFamily="18" charset="0"/>
                                    </a:rPr>
                                  </m:ctrlPr>
                                </m:dPr>
                                <m:e>
                                  <m:r>
                                    <a:rPr lang="en-US" b="0" i="1" smtClean="0">
                                      <a:latin typeface="Cambria Math" panose="02040503050406030204" pitchFamily="18" charset="0"/>
                                    </a:rPr>
                                    <m:t>𝑥</m:t>
                                  </m:r>
                                </m:e>
                              </m:d>
                            </m:e>
                          </m:d>
                          <m:r>
                            <m:rPr>
                              <m:sty m:val="p"/>
                            </m:rPr>
                            <a:rPr lang="en-US" smtClean="0">
                              <a:latin typeface="Cambria Math" panose="02040503050406030204" pitchFamily="18" charset="0"/>
                            </a:rPr>
                            <m:t>Pr</m:t>
                          </m:r>
                          <m:r>
                            <a:rPr lang="en-US" i="1" smtClean="0">
                              <a:latin typeface="Cambria Math" panose="02040503050406030204" pitchFamily="18" charset="0"/>
                            </a:rPr>
                            <m:t>⁡(</m:t>
                          </m:r>
                          <m:r>
                            <a:rPr lang="en-US" i="1" smtClean="0">
                              <a:latin typeface="Cambria Math" panose="02040503050406030204" pitchFamily="18" charset="0"/>
                            </a:rPr>
                            <m:t>𝑑𝑥</m:t>
                          </m:r>
                          <m:r>
                            <a:rPr lang="en-US" i="1" smtClean="0">
                              <a:latin typeface="Cambria Math" panose="02040503050406030204" pitchFamily="18" charset="0"/>
                            </a:rPr>
                            <m:t>, </m:t>
                          </m:r>
                          <m:r>
                            <a:rPr lang="en-US" i="1" smtClean="0">
                              <a:latin typeface="Cambria Math" panose="02040503050406030204" pitchFamily="18" charset="0"/>
                            </a:rPr>
                            <m:t>𝑑𝑦</m:t>
                          </m:r>
                          <m:r>
                            <a:rPr lang="en-US" i="1" smtClean="0">
                              <a:latin typeface="Cambria Math" panose="02040503050406030204" pitchFamily="18" charset="0"/>
                            </a:rPr>
                            <m:t>)</m:t>
                          </m:r>
                        </m:e>
                      </m:nary>
                    </m:oMath>
                  </m:oMathPara>
                </a14:m>
                <a:endParaRPr lang="en-US" dirty="0"/>
              </a:p>
            </p:txBody>
          </p:sp>
        </mc:Choice>
        <mc:Fallback xmlns="">
          <p:sp>
            <p:nvSpPr>
              <p:cNvPr id="7" name="Content Placeholder 2">
                <a:extLst>
                  <a:ext uri="{FF2B5EF4-FFF2-40B4-BE49-F238E27FC236}">
                    <a16:creationId xmlns:a16="http://schemas.microsoft.com/office/drawing/2014/main" id="{01FDC7C6-C6E3-07F4-CCFB-70A171FD5672}"/>
                  </a:ext>
                </a:extLst>
              </p:cNvPr>
              <p:cNvSpPr txBox="1">
                <a:spLocks noRot="1" noChangeAspect="1" noMove="1" noResize="1" noEditPoints="1" noAdjustHandles="1" noChangeArrowheads="1" noChangeShapeType="1" noTextEdit="1"/>
              </p:cNvSpPr>
              <p:nvPr/>
            </p:nvSpPr>
            <p:spPr bwMode="auto">
              <a:xfrm>
                <a:off x="2610120" y="2902450"/>
                <a:ext cx="6530706" cy="1863225"/>
              </a:xfrm>
              <a:prstGeom prst="rect">
                <a:avLst/>
              </a:prstGeom>
              <a:blipFill>
                <a:blip r:embed="rId4"/>
                <a:stretch>
                  <a:fillRect l="-17670" t="-132432" b="-17567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Content Placeholder 2">
                <a:extLst>
                  <a:ext uri="{FF2B5EF4-FFF2-40B4-BE49-F238E27FC236}">
                    <a16:creationId xmlns:a16="http://schemas.microsoft.com/office/drawing/2014/main" id="{79BB5A6F-B60A-8042-7718-837B54C534C2}"/>
                  </a:ext>
                </a:extLst>
              </p:cNvPr>
              <p:cNvSpPr txBox="1">
                <a:spLocks/>
              </p:cNvSpPr>
              <p:nvPr/>
            </p:nvSpPr>
            <p:spPr bwMode="auto">
              <a:xfrm>
                <a:off x="2938339" y="4421494"/>
                <a:ext cx="7406188" cy="17483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698500" indent="-698500" algn="l" rtl="0" fontAlgn="base">
                  <a:spcBef>
                    <a:spcPts val="3200"/>
                  </a:spcBef>
                  <a:spcAft>
                    <a:spcPct val="0"/>
                  </a:spcAft>
                  <a:buClr>
                    <a:schemeClr val="accent2"/>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9pPr>
              </a:lstStyle>
              <a:p>
                <a:pPr marL="0" indent="0">
                  <a:buFont typeface="Wingdings 2" pitchFamily="2" charset="2"/>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nary>
                        <m:naryPr>
                          <m:ctrlPr>
                            <a:rPr lang="en-US" i="1" smtClean="0">
                              <a:latin typeface="Cambria Math" panose="02040503050406030204" pitchFamily="18" charset="0"/>
                            </a:rPr>
                          </m:ctrlPr>
                        </m:naryPr>
                        <m:sub>
                          <m:r>
                            <m:rPr>
                              <m:brk m:alnAt="23"/>
                            </m:rPr>
                            <a:rPr lang="en-US" i="1" smtClean="0">
                              <a:latin typeface="Cambria Math" panose="02040503050406030204" pitchFamily="18" charset="0"/>
                            </a:rPr>
                            <m:t>𝑥</m:t>
                          </m:r>
                        </m:sub>
                        <m:sup/>
                        <m:e>
                          <m:nary>
                            <m:naryPr>
                              <m:ctrlPr>
                                <a:rPr lang="en-US" i="1" smtClean="0">
                                  <a:latin typeface="Cambria Math" panose="02040503050406030204" pitchFamily="18" charset="0"/>
                                </a:rPr>
                              </m:ctrlPr>
                            </m:naryPr>
                            <m:sub>
                              <m:r>
                                <m:rPr>
                                  <m:brk m:alnAt="23"/>
                                </m:rPr>
                                <a:rPr lang="en-US" i="1" smtClean="0">
                                  <a:latin typeface="Cambria Math" panose="02040503050406030204" pitchFamily="18" charset="0"/>
                                </a:rPr>
                                <m:t>𝑦</m:t>
                              </m:r>
                            </m:sub>
                            <m:sup/>
                            <m:e>
                              <m:r>
                                <a:rPr lang="en-US" i="1" smtClean="0">
                                  <a:latin typeface="Cambria Math" panose="02040503050406030204" pitchFamily="18" charset="0"/>
                                </a:rPr>
                                <m:t>𝐿</m:t>
                              </m:r>
                              <m:d>
                                <m:dPr>
                                  <m:ctrlPr>
                                    <a:rPr lang="en-US" i="1" smtClean="0">
                                      <a:latin typeface="Cambria Math" panose="02040503050406030204" pitchFamily="18" charset="0"/>
                                    </a:rPr>
                                  </m:ctrlPr>
                                </m:dPr>
                                <m:e>
                                  <m:r>
                                    <a:rPr lang="en-US" b="0" i="1" smtClean="0">
                                      <a:latin typeface="Cambria Math" panose="02040503050406030204" pitchFamily="18" charset="0"/>
                                    </a:rPr>
                                    <m:t>𝑦</m:t>
                                  </m:r>
                                  <m:r>
                                    <a:rPr lang="en-US" i="1" smtClean="0">
                                      <a:latin typeface="Cambria Math" panose="02040503050406030204" pitchFamily="18" charset="0"/>
                                    </a:rPr>
                                    <m:t>, </m:t>
                                  </m:r>
                                  <m:r>
                                    <a:rPr lang="en-US" i="1" smtClean="0">
                                      <a:latin typeface="Cambria Math" panose="02040503050406030204" pitchFamily="18" charset="0"/>
                                    </a:rPr>
                                    <m:t>𝑓</m:t>
                                  </m:r>
                                  <m:d>
                                    <m:dPr>
                                      <m:ctrlPr>
                                        <a:rPr lang="en-US" i="1" smtClean="0">
                                          <a:latin typeface="Cambria Math" panose="02040503050406030204" pitchFamily="18" charset="0"/>
                                        </a:rPr>
                                      </m:ctrlPr>
                                    </m:dPr>
                                    <m:e>
                                      <m:r>
                                        <a:rPr lang="en-US" b="0" i="1" smtClean="0">
                                          <a:latin typeface="Cambria Math" panose="02040503050406030204" pitchFamily="18" charset="0"/>
                                        </a:rPr>
                                        <m:t>𝑥</m:t>
                                      </m:r>
                                    </m:e>
                                  </m:d>
                                </m:e>
                              </m:d>
                              <m:r>
                                <a:rPr lang="en-US" i="1" smtClean="0">
                                  <a:latin typeface="Cambria Math" panose="02040503050406030204" pitchFamily="18" charset="0"/>
                                </a:rPr>
                                <m:t>𝑝</m:t>
                              </m:r>
                              <m:d>
                                <m:dPr>
                                  <m:ctrlPr>
                                    <a:rPr lang="en-US" i="1" smtClean="0">
                                      <a:latin typeface="Cambria Math" panose="02040503050406030204" pitchFamily="18" charset="0"/>
                                    </a:rPr>
                                  </m:ctrlPr>
                                </m:dPr>
                                <m:e>
                                  <m:r>
                                    <a:rPr lang="en-US" i="1" smtClean="0">
                                      <a:latin typeface="Cambria Math" panose="02040503050406030204" pitchFamily="18" charset="0"/>
                                    </a:rPr>
                                    <m:t>𝑥</m:t>
                                  </m:r>
                                  <m:r>
                                    <a:rPr lang="en-US" i="1" smtClean="0">
                                      <a:latin typeface="Cambria Math" panose="02040503050406030204" pitchFamily="18" charset="0"/>
                                    </a:rPr>
                                    <m:t>, </m:t>
                                  </m:r>
                                  <m:r>
                                    <a:rPr lang="en-US" i="1" smtClean="0">
                                      <a:latin typeface="Cambria Math" panose="02040503050406030204" pitchFamily="18" charset="0"/>
                                    </a:rPr>
                                    <m:t>𝑦</m:t>
                                  </m:r>
                                </m:e>
                              </m:d>
                              <m:r>
                                <a:rPr lang="en-US" i="1" smtClean="0">
                                  <a:latin typeface="Cambria Math" panose="02040503050406030204" pitchFamily="18" charset="0"/>
                                </a:rPr>
                                <m:t>𝑑𝑥</m:t>
                              </m:r>
                              <m:r>
                                <a:rPr lang="en-US" i="1" smtClean="0">
                                  <a:latin typeface="Cambria Math" panose="02040503050406030204" pitchFamily="18" charset="0"/>
                                </a:rPr>
                                <m:t> </m:t>
                              </m:r>
                              <m:r>
                                <a:rPr lang="en-US" i="1" smtClean="0">
                                  <a:latin typeface="Cambria Math" panose="02040503050406030204" pitchFamily="18" charset="0"/>
                                </a:rPr>
                                <m:t>𝑑𝑦</m:t>
                              </m:r>
                            </m:e>
                          </m:nary>
                        </m:e>
                      </m:nary>
                    </m:oMath>
                  </m:oMathPara>
                </a14:m>
                <a:endParaRPr lang="en-US" dirty="0"/>
              </a:p>
              <a:p>
                <a:pPr marL="0" indent="0">
                  <a:buFont typeface="Wingdings 2" pitchFamily="2" charset="2"/>
                  <a:buNone/>
                </a:pPr>
                <a:endParaRPr lang="en-US" dirty="0"/>
              </a:p>
              <a:p>
                <a:pPr marL="0" indent="0">
                  <a:buFont typeface="Wingdings 2" pitchFamily="2" charset="2"/>
                  <a:buNone/>
                </a:pPr>
                <a:endParaRPr lang="en-US" dirty="0"/>
              </a:p>
            </p:txBody>
          </p:sp>
        </mc:Choice>
        <mc:Fallback xmlns="">
          <p:sp>
            <p:nvSpPr>
              <p:cNvPr id="8" name="Content Placeholder 2">
                <a:extLst>
                  <a:ext uri="{FF2B5EF4-FFF2-40B4-BE49-F238E27FC236}">
                    <a16:creationId xmlns:a16="http://schemas.microsoft.com/office/drawing/2014/main" id="{79BB5A6F-B60A-8042-7718-837B54C534C2}"/>
                  </a:ext>
                </a:extLst>
              </p:cNvPr>
              <p:cNvSpPr txBox="1">
                <a:spLocks noRot="1" noChangeAspect="1" noMove="1" noResize="1" noEditPoints="1" noAdjustHandles="1" noChangeArrowheads="1" noChangeShapeType="1" noTextEdit="1"/>
              </p:cNvSpPr>
              <p:nvPr/>
            </p:nvSpPr>
            <p:spPr bwMode="auto">
              <a:xfrm>
                <a:off x="2938339" y="4421494"/>
                <a:ext cx="7406188" cy="1748365"/>
              </a:xfrm>
              <a:prstGeom prst="rect">
                <a:avLst/>
              </a:prstGeom>
              <a:blipFill>
                <a:blip r:embed="rId5"/>
                <a:stretch>
                  <a:fillRect l="-20377" t="-139130" r="-856" b="-19782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8442C6D6-38AE-9EE6-579E-533C59255420}"/>
                  </a:ext>
                </a:extLst>
              </p:cNvPr>
              <p:cNvSpPr txBox="1">
                <a:spLocks/>
              </p:cNvSpPr>
              <p:nvPr/>
            </p:nvSpPr>
            <p:spPr bwMode="auto">
              <a:xfrm>
                <a:off x="2938338" y="6295553"/>
                <a:ext cx="8194881" cy="190574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a:bodyPr>
              <a:lstStyle>
                <a:lvl1pPr marL="698500" indent="-698500" algn="l" rtl="0" fontAlgn="base">
                  <a:spcBef>
                    <a:spcPts val="3200"/>
                  </a:spcBef>
                  <a:spcAft>
                    <a:spcPct val="0"/>
                  </a:spcAft>
                  <a:buClr>
                    <a:schemeClr val="accent2"/>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9pPr>
              </a:lstStyle>
              <a:p>
                <a:pPr marL="0" indent="0">
                  <a:buFont typeface="Wingdings 2" pitchFamily="2" charset="2"/>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nary>
                        <m:naryPr>
                          <m:ctrlPr>
                            <a:rPr lang="en-US" i="1" smtClean="0">
                              <a:latin typeface="Cambria Math" panose="02040503050406030204" pitchFamily="18" charset="0"/>
                            </a:rPr>
                          </m:ctrlPr>
                        </m:naryPr>
                        <m:sub>
                          <m:r>
                            <m:rPr>
                              <m:brk m:alnAt="23"/>
                            </m:rPr>
                            <a:rPr lang="en-US" i="1" smtClean="0">
                              <a:latin typeface="Cambria Math" panose="02040503050406030204" pitchFamily="18" charset="0"/>
                            </a:rPr>
                            <m:t>𝑥</m:t>
                          </m:r>
                        </m:sub>
                        <m:sup/>
                        <m:e>
                          <m:nary>
                            <m:naryPr>
                              <m:ctrlPr>
                                <a:rPr lang="en-US" i="1" smtClean="0">
                                  <a:latin typeface="Cambria Math" panose="02040503050406030204" pitchFamily="18" charset="0"/>
                                </a:rPr>
                              </m:ctrlPr>
                            </m:naryPr>
                            <m:sub>
                              <m:r>
                                <m:rPr>
                                  <m:brk m:alnAt="23"/>
                                </m:rPr>
                                <a:rPr lang="en-US" i="1" smtClean="0">
                                  <a:latin typeface="Cambria Math" panose="02040503050406030204" pitchFamily="18" charset="0"/>
                                </a:rPr>
                                <m:t>𝑦</m:t>
                              </m:r>
                            </m:sub>
                            <m:sup/>
                            <m:e>
                              <m:r>
                                <a:rPr lang="en-US" i="1" smtClean="0">
                                  <a:latin typeface="Cambria Math" panose="02040503050406030204" pitchFamily="18" charset="0"/>
                                </a:rPr>
                                <m:t>𝐿</m:t>
                              </m:r>
                              <m:d>
                                <m:dPr>
                                  <m:ctrlPr>
                                    <a:rPr lang="en-US" i="1" smtClean="0">
                                      <a:latin typeface="Cambria Math" panose="02040503050406030204" pitchFamily="18" charset="0"/>
                                    </a:rPr>
                                  </m:ctrlPr>
                                </m:dPr>
                                <m:e>
                                  <m:r>
                                    <a:rPr lang="en-US" b="0" i="1" smtClean="0">
                                      <a:latin typeface="Cambria Math" panose="02040503050406030204" pitchFamily="18" charset="0"/>
                                    </a:rPr>
                                    <m:t>𝑦</m:t>
                                  </m:r>
                                  <m:r>
                                    <a:rPr lang="en-US" i="1" smtClean="0">
                                      <a:latin typeface="Cambria Math" panose="02040503050406030204" pitchFamily="18" charset="0"/>
                                    </a:rPr>
                                    <m:t>, </m:t>
                                  </m:r>
                                  <m:r>
                                    <a:rPr lang="en-US" i="1" smtClean="0">
                                      <a:latin typeface="Cambria Math" panose="02040503050406030204" pitchFamily="18" charset="0"/>
                                    </a:rPr>
                                    <m:t>𝑓</m:t>
                                  </m:r>
                                  <m:d>
                                    <m:dPr>
                                      <m:ctrlPr>
                                        <a:rPr lang="en-US" i="1" smtClean="0">
                                          <a:latin typeface="Cambria Math" panose="02040503050406030204" pitchFamily="18" charset="0"/>
                                        </a:rPr>
                                      </m:ctrlPr>
                                    </m:dPr>
                                    <m:e>
                                      <m:r>
                                        <a:rPr lang="en-US" b="0" i="1" smtClean="0">
                                          <a:latin typeface="Cambria Math" panose="02040503050406030204" pitchFamily="18" charset="0"/>
                                        </a:rPr>
                                        <m:t>𝑥</m:t>
                                      </m:r>
                                    </m:e>
                                  </m:d>
                                </m:e>
                              </m:d>
                              <m:r>
                                <a:rPr lang="en-US" i="1" smtClean="0">
                                  <a:latin typeface="Cambria Math" panose="02040503050406030204" pitchFamily="18" charset="0"/>
                                </a:rPr>
                                <m:t>𝑝</m:t>
                              </m:r>
                              <m:d>
                                <m:dPr>
                                  <m:ctrlPr>
                                    <a:rPr lang="en-US" i="1" smtClean="0">
                                      <a:latin typeface="Cambria Math" panose="02040503050406030204" pitchFamily="18" charset="0"/>
                                    </a:rPr>
                                  </m:ctrlPr>
                                </m:dPr>
                                <m:e>
                                  <m:r>
                                    <a:rPr lang="en-US" i="1" smtClean="0">
                                      <a:latin typeface="Cambria Math" panose="02040503050406030204" pitchFamily="18" charset="0"/>
                                    </a:rPr>
                                    <m:t>𝑥</m:t>
                                  </m:r>
                                  <m:r>
                                    <a:rPr lang="en-US" i="1" smtClean="0">
                                      <a:latin typeface="Cambria Math" panose="02040503050406030204" pitchFamily="18" charset="0"/>
                                    </a:rPr>
                                    <m:t>) </m:t>
                                  </m:r>
                                  <m:r>
                                    <a:rPr lang="en-US" i="1" smtClean="0">
                                      <a:latin typeface="Cambria Math" panose="02040503050406030204" pitchFamily="18" charset="0"/>
                                    </a:rPr>
                                    <m:t>𝑝</m:t>
                                  </m:r>
                                  <m:r>
                                    <a:rPr lang="en-US" i="1" smtClean="0">
                                      <a:latin typeface="Cambria Math" panose="02040503050406030204" pitchFamily="18" charset="0"/>
                                    </a:rPr>
                                    <m:t>(</m:t>
                                  </m:r>
                                  <m:r>
                                    <a:rPr lang="en-US" i="1" smtClean="0">
                                      <a:latin typeface="Cambria Math" panose="02040503050406030204" pitchFamily="18" charset="0"/>
                                    </a:rPr>
                                    <m:t>𝑦</m:t>
                                  </m:r>
                                  <m:r>
                                    <a:rPr lang="en-US" i="1" smtClean="0">
                                      <a:latin typeface="Cambria Math" panose="02040503050406030204" pitchFamily="18" charset="0"/>
                                    </a:rPr>
                                    <m:t>|</m:t>
                                  </m:r>
                                  <m:r>
                                    <a:rPr lang="en-US" i="1" smtClean="0">
                                      <a:latin typeface="Cambria Math" panose="02040503050406030204" pitchFamily="18" charset="0"/>
                                    </a:rPr>
                                    <m:t>𝑥</m:t>
                                  </m:r>
                                </m:e>
                              </m:d>
                              <m:r>
                                <a:rPr lang="en-US" i="1" smtClean="0">
                                  <a:latin typeface="Cambria Math" panose="02040503050406030204" pitchFamily="18" charset="0"/>
                                </a:rPr>
                                <m:t>𝑑𝑥</m:t>
                              </m:r>
                              <m:r>
                                <a:rPr lang="en-US" i="1" smtClean="0">
                                  <a:latin typeface="Cambria Math" panose="02040503050406030204" pitchFamily="18" charset="0"/>
                                </a:rPr>
                                <m:t> </m:t>
                              </m:r>
                              <m:r>
                                <a:rPr lang="en-US" i="1" smtClean="0">
                                  <a:latin typeface="Cambria Math" panose="02040503050406030204" pitchFamily="18" charset="0"/>
                                </a:rPr>
                                <m:t>𝑑𝑦</m:t>
                              </m:r>
                            </m:e>
                          </m:nary>
                        </m:e>
                      </m:nary>
                    </m:oMath>
                  </m:oMathPara>
                </a14:m>
                <a:endParaRPr lang="en-US" dirty="0"/>
              </a:p>
              <a:p>
                <a:pPr marL="0" indent="0">
                  <a:buFont typeface="Wingdings 2" pitchFamily="2" charset="2"/>
                  <a:buNone/>
                </a:pPr>
                <a:endParaRPr lang="en-US" dirty="0"/>
              </a:p>
            </p:txBody>
          </p:sp>
        </mc:Choice>
        <mc:Fallback xmlns="">
          <p:sp>
            <p:nvSpPr>
              <p:cNvPr id="9" name="Content Placeholder 2">
                <a:extLst>
                  <a:ext uri="{FF2B5EF4-FFF2-40B4-BE49-F238E27FC236}">
                    <a16:creationId xmlns:a16="http://schemas.microsoft.com/office/drawing/2014/main" id="{8442C6D6-38AE-9EE6-579E-533C59255420}"/>
                  </a:ext>
                </a:extLst>
              </p:cNvPr>
              <p:cNvSpPr txBox="1">
                <a:spLocks noRot="1" noChangeAspect="1" noMove="1" noResize="1" noEditPoints="1" noAdjustHandles="1" noChangeArrowheads="1" noChangeShapeType="1" noTextEdit="1"/>
              </p:cNvSpPr>
              <p:nvPr/>
            </p:nvSpPr>
            <p:spPr bwMode="auto">
              <a:xfrm>
                <a:off x="2938338" y="6295553"/>
                <a:ext cx="8194881" cy="1905748"/>
              </a:xfrm>
              <a:prstGeom prst="rect">
                <a:avLst/>
              </a:prstGeom>
              <a:blipFill>
                <a:blip r:embed="rId6"/>
                <a:stretch>
                  <a:fillRect l="-15170" t="-118543" b="-15364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0" name="Content Placeholder 3">
            <a:extLst>
              <a:ext uri="{FF2B5EF4-FFF2-40B4-BE49-F238E27FC236}">
                <a16:creationId xmlns:a16="http://schemas.microsoft.com/office/drawing/2014/main" id="{F536D8D9-9176-1777-DD49-65CD79697B61}"/>
              </a:ext>
            </a:extLst>
          </p:cNvPr>
          <p:cNvSpPr txBox="1">
            <a:spLocks/>
          </p:cNvSpPr>
          <p:nvPr/>
        </p:nvSpPr>
        <p:spPr bwMode="auto">
          <a:xfrm>
            <a:off x="11133219" y="3361086"/>
            <a:ext cx="6049882" cy="721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698500" indent="-698500" algn="l" rtl="0" fontAlgn="base">
              <a:spcBef>
                <a:spcPts val="3200"/>
              </a:spcBef>
              <a:spcAft>
                <a:spcPct val="0"/>
              </a:spcAft>
              <a:buClr>
                <a:schemeClr val="accent2"/>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9pPr>
          </a:lstStyle>
          <a:p>
            <a:pPr marL="0" indent="0">
              <a:buFont typeface="Wingdings 2" pitchFamily="2" charset="2"/>
              <a:buNone/>
            </a:pPr>
            <a:r>
              <a:rPr lang="en-US" sz="3600" i="1" dirty="0">
                <a:solidFill>
                  <a:schemeClr val="accent2"/>
                </a:solidFill>
              </a:rPr>
              <a:t>Definition of expectation.</a:t>
            </a:r>
          </a:p>
          <a:p>
            <a:pPr marL="0" indent="0">
              <a:buFont typeface="Wingdings 2" pitchFamily="2" charset="2"/>
              <a:buNone/>
            </a:pPr>
            <a:endParaRPr lang="en-US" dirty="0">
              <a:solidFill>
                <a:schemeClr val="accent2"/>
              </a:solidFill>
            </a:endParaRPr>
          </a:p>
        </p:txBody>
      </p:sp>
    </p:spTree>
    <p:extLst>
      <p:ext uri="{BB962C8B-B14F-4D97-AF65-F5344CB8AC3E}">
        <p14:creationId xmlns:p14="http://schemas.microsoft.com/office/powerpoint/2010/main" val="17537171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D482371-7C2F-AE12-C60C-984CA5E255C6}"/>
              </a:ext>
            </a:extLst>
          </p:cNvPr>
          <p:cNvSpPr>
            <a:spLocks noGrp="1"/>
          </p:cNvSpPr>
          <p:nvPr>
            <p:ph sz="half" idx="2"/>
          </p:nvPr>
        </p:nvSpPr>
        <p:spPr>
          <a:xfrm>
            <a:off x="11133219" y="2085699"/>
            <a:ext cx="6049882" cy="1026470"/>
          </a:xfrm>
        </p:spPr>
        <p:txBody>
          <a:bodyPr/>
          <a:lstStyle/>
          <a:p>
            <a:pPr marL="0" indent="0">
              <a:buNone/>
            </a:pPr>
            <a:r>
              <a:rPr lang="en-US" sz="3600" i="1" dirty="0">
                <a:solidFill>
                  <a:schemeClr val="accent2"/>
                </a:solidFill>
              </a:rPr>
              <a:t>From previous slide</a:t>
            </a:r>
            <a:endParaRPr lang="en-US" dirty="0">
              <a:solidFill>
                <a:schemeClr val="accent2"/>
              </a:solidFill>
            </a:endParaRPr>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BEC8D1E-8E41-A494-5E25-C79038E3163A}"/>
                  </a:ext>
                </a:extLst>
              </p:cNvPr>
              <p:cNvSpPr>
                <a:spLocks noGrp="1"/>
              </p:cNvSpPr>
              <p:nvPr>
                <p:ph type="title"/>
              </p:nvPr>
            </p:nvSpPr>
            <p:spPr/>
            <p:txBody>
              <a:bodyPr/>
              <a:lstStyle/>
              <a:p>
                <a:r>
                  <a:rPr lang="en-US" dirty="0"/>
                  <a:t>Derivation of </a:t>
                </a:r>
                <a14:m>
                  <m:oMath xmlns:m="http://schemas.openxmlformats.org/officeDocument/2006/math">
                    <m:r>
                      <a:rPr lang="en-US" b="1" i="1" smtClean="0">
                        <a:latin typeface="Cambria Math" panose="02040503050406030204" pitchFamily="18" charset="0"/>
                      </a:rPr>
                      <m:t>𝑬𝑷𝑬</m:t>
                    </m:r>
                    <m:r>
                      <a:rPr lang="en-US" b="1" i="1" smtClean="0">
                        <a:latin typeface="Cambria Math" panose="02040503050406030204" pitchFamily="18" charset="0"/>
                      </a:rPr>
                      <m:t>(</m:t>
                    </m:r>
                    <m:r>
                      <a:rPr lang="en-US" b="1" i="1" smtClean="0">
                        <a:latin typeface="Cambria Math" panose="02040503050406030204" pitchFamily="18" charset="0"/>
                      </a:rPr>
                      <m:t>𝒇</m:t>
                    </m:r>
                    <m:r>
                      <a:rPr lang="en-US" b="1" i="1" smtClean="0">
                        <a:latin typeface="Cambria Math" panose="02040503050406030204" pitchFamily="18" charset="0"/>
                      </a:rPr>
                      <m:t>)</m:t>
                    </m:r>
                  </m:oMath>
                </a14:m>
                <a:r>
                  <a:rPr lang="en-US" dirty="0"/>
                  <a:t> Continued</a:t>
                </a:r>
              </a:p>
            </p:txBody>
          </p:sp>
        </mc:Choice>
        <mc:Fallback xmlns="">
          <p:sp>
            <p:nvSpPr>
              <p:cNvPr id="2" name="Title 1">
                <a:extLst>
                  <a:ext uri="{FF2B5EF4-FFF2-40B4-BE49-F238E27FC236}">
                    <a16:creationId xmlns:a16="http://schemas.microsoft.com/office/drawing/2014/main" id="{DBEC8D1E-8E41-A494-5E25-C79038E3163A}"/>
                  </a:ext>
                </a:extLst>
              </p:cNvPr>
              <p:cNvSpPr>
                <a:spLocks noGrp="1" noRot="1" noChangeAspect="1" noMove="1" noResize="1" noEditPoints="1" noAdjustHandles="1" noChangeArrowheads="1" noChangeShapeType="1" noTextEdit="1"/>
              </p:cNvSpPr>
              <p:nvPr>
                <p:ph type="title"/>
              </p:nvPr>
            </p:nvSpPr>
            <p:spPr>
              <a:blipFill>
                <a:blip r:embed="rId3"/>
                <a:stretch>
                  <a:fillRect b="-24390"/>
                </a:stretch>
              </a:blipFill>
            </p:spPr>
            <p:txBody>
              <a:bodyPr/>
              <a:lstStyle/>
              <a:p>
                <a:r>
                  <a:rPr lang="en-US">
                    <a:noFill/>
                  </a:rPr>
                  <a:t> </a:t>
                </a:r>
              </a:p>
            </p:txBody>
          </p:sp>
        </mc:Fallback>
      </mc:AlternateContent>
      <p:sp>
        <p:nvSpPr>
          <p:cNvPr id="5" name="Content Placeholder 3">
            <a:extLst>
              <a:ext uri="{FF2B5EF4-FFF2-40B4-BE49-F238E27FC236}">
                <a16:creationId xmlns:a16="http://schemas.microsoft.com/office/drawing/2014/main" id="{AE755274-E174-6045-2473-EC1CE5BECDDB}"/>
              </a:ext>
            </a:extLst>
          </p:cNvPr>
          <p:cNvSpPr txBox="1">
            <a:spLocks/>
          </p:cNvSpPr>
          <p:nvPr/>
        </p:nvSpPr>
        <p:spPr bwMode="auto">
          <a:xfrm>
            <a:off x="11133219" y="5283054"/>
            <a:ext cx="6049882" cy="1249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698500" indent="-698500" algn="l" rtl="0" fontAlgn="base">
              <a:spcBef>
                <a:spcPts val="3200"/>
              </a:spcBef>
              <a:spcAft>
                <a:spcPct val="0"/>
              </a:spcAft>
              <a:buClr>
                <a:schemeClr val="accent2"/>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9pPr>
          </a:lstStyle>
          <a:p>
            <a:pPr marL="0" indent="0">
              <a:buFont typeface="Wingdings 2" pitchFamily="2" charset="2"/>
              <a:buNone/>
            </a:pPr>
            <a:r>
              <a:rPr lang="en-US" sz="3600" i="1" dirty="0">
                <a:solidFill>
                  <a:schemeClr val="accent2"/>
                </a:solidFill>
              </a:rPr>
              <a:t>Definition of Conditional Expectation</a:t>
            </a:r>
          </a:p>
          <a:p>
            <a:pPr marL="0" indent="0">
              <a:buFont typeface="Wingdings 2" pitchFamily="2" charset="2"/>
              <a:buNone/>
            </a:pPr>
            <a:endParaRPr lang="en-US" dirty="0">
              <a:solidFill>
                <a:schemeClr val="accent2"/>
              </a:solidFill>
            </a:endParaRPr>
          </a:p>
        </p:txBody>
      </p:sp>
      <p:sp>
        <p:nvSpPr>
          <p:cNvPr id="6" name="Content Placeholder 3">
            <a:extLst>
              <a:ext uri="{FF2B5EF4-FFF2-40B4-BE49-F238E27FC236}">
                <a16:creationId xmlns:a16="http://schemas.microsoft.com/office/drawing/2014/main" id="{5EFDD8D2-D922-5BA9-9174-AB6947462E65}"/>
              </a:ext>
            </a:extLst>
          </p:cNvPr>
          <p:cNvSpPr txBox="1">
            <a:spLocks/>
          </p:cNvSpPr>
          <p:nvPr/>
        </p:nvSpPr>
        <p:spPr bwMode="auto">
          <a:xfrm>
            <a:off x="11133220" y="7060314"/>
            <a:ext cx="6049881" cy="1249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698500" indent="-698500" algn="l" rtl="0" fontAlgn="base">
              <a:spcBef>
                <a:spcPts val="3200"/>
              </a:spcBef>
              <a:spcAft>
                <a:spcPct val="0"/>
              </a:spcAft>
              <a:buClr>
                <a:schemeClr val="accent2"/>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9pPr>
          </a:lstStyle>
          <a:p>
            <a:pPr marL="0" indent="0">
              <a:buFont typeface="Wingdings 2" pitchFamily="2" charset="2"/>
              <a:buNone/>
            </a:pPr>
            <a:r>
              <a:rPr lang="en-US" sz="3600" i="1" dirty="0">
                <a:solidFill>
                  <a:schemeClr val="accent2"/>
                </a:solidFill>
              </a:rPr>
              <a:t>Definition of Expectation</a:t>
            </a:r>
          </a:p>
          <a:p>
            <a:pPr marL="0" indent="0">
              <a:buFont typeface="Wingdings 2" pitchFamily="2" charset="2"/>
              <a:buNone/>
            </a:pPr>
            <a:endParaRPr lang="en-US" dirty="0">
              <a:solidFill>
                <a:schemeClr val="accent2"/>
              </a:solidFill>
            </a:endParaRPr>
          </a:p>
        </p:txBody>
      </p:sp>
      <mc:AlternateContent xmlns:mc="http://schemas.openxmlformats.org/markup-compatibility/2006" xmlns:a14="http://schemas.microsoft.com/office/drawing/2010/main">
        <mc:Choice Requires="a14">
          <p:sp>
            <p:nvSpPr>
              <p:cNvPr id="9" name="Content Placeholder 2">
                <a:extLst>
                  <a:ext uri="{FF2B5EF4-FFF2-40B4-BE49-F238E27FC236}">
                    <a16:creationId xmlns:a16="http://schemas.microsoft.com/office/drawing/2014/main" id="{8442C6D6-38AE-9EE6-579E-533C59255420}"/>
                  </a:ext>
                </a:extLst>
              </p:cNvPr>
              <p:cNvSpPr txBox="1">
                <a:spLocks/>
              </p:cNvSpPr>
              <p:nvPr/>
            </p:nvSpPr>
            <p:spPr bwMode="auto">
              <a:xfrm>
                <a:off x="2761876" y="1731857"/>
                <a:ext cx="8194881" cy="190574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a:bodyPr>
              <a:lstStyle>
                <a:lvl1pPr marL="698500" indent="-698500" algn="l" rtl="0" fontAlgn="base">
                  <a:spcBef>
                    <a:spcPts val="3200"/>
                  </a:spcBef>
                  <a:spcAft>
                    <a:spcPct val="0"/>
                  </a:spcAft>
                  <a:buClr>
                    <a:schemeClr val="accent2"/>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9pPr>
              </a:lstStyle>
              <a:p>
                <a:pPr marL="0" indent="0">
                  <a:buFont typeface="Wingdings 2" pitchFamily="2" charset="2"/>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nary>
                        <m:naryPr>
                          <m:ctrlPr>
                            <a:rPr lang="en-US" i="1" smtClean="0">
                              <a:latin typeface="Cambria Math" panose="02040503050406030204" pitchFamily="18" charset="0"/>
                            </a:rPr>
                          </m:ctrlPr>
                        </m:naryPr>
                        <m:sub>
                          <m:r>
                            <m:rPr>
                              <m:brk m:alnAt="23"/>
                            </m:rPr>
                            <a:rPr lang="en-US" i="1" smtClean="0">
                              <a:latin typeface="Cambria Math" panose="02040503050406030204" pitchFamily="18" charset="0"/>
                            </a:rPr>
                            <m:t>𝑥</m:t>
                          </m:r>
                        </m:sub>
                        <m:sup/>
                        <m:e>
                          <m:nary>
                            <m:naryPr>
                              <m:ctrlPr>
                                <a:rPr lang="en-US" i="1" smtClean="0">
                                  <a:latin typeface="Cambria Math" panose="02040503050406030204" pitchFamily="18" charset="0"/>
                                </a:rPr>
                              </m:ctrlPr>
                            </m:naryPr>
                            <m:sub>
                              <m:r>
                                <m:rPr>
                                  <m:brk m:alnAt="23"/>
                                </m:rPr>
                                <a:rPr lang="en-US" i="1" smtClean="0">
                                  <a:latin typeface="Cambria Math" panose="02040503050406030204" pitchFamily="18" charset="0"/>
                                </a:rPr>
                                <m:t>𝑦</m:t>
                              </m:r>
                            </m:sub>
                            <m:sup/>
                            <m:e>
                              <m:r>
                                <a:rPr lang="en-US" i="1" smtClean="0">
                                  <a:latin typeface="Cambria Math" panose="02040503050406030204" pitchFamily="18" charset="0"/>
                                </a:rPr>
                                <m:t>𝐿</m:t>
                              </m:r>
                              <m:d>
                                <m:dPr>
                                  <m:ctrlPr>
                                    <a:rPr lang="en-US" i="1" smtClean="0">
                                      <a:latin typeface="Cambria Math" panose="02040503050406030204" pitchFamily="18" charset="0"/>
                                    </a:rPr>
                                  </m:ctrlPr>
                                </m:dPr>
                                <m:e>
                                  <m:r>
                                    <a:rPr lang="en-US" b="0" i="1" smtClean="0">
                                      <a:latin typeface="Cambria Math" panose="02040503050406030204" pitchFamily="18" charset="0"/>
                                    </a:rPr>
                                    <m:t>𝑦</m:t>
                                  </m:r>
                                  <m:r>
                                    <a:rPr lang="en-US" i="1" smtClean="0">
                                      <a:latin typeface="Cambria Math" panose="02040503050406030204" pitchFamily="18" charset="0"/>
                                    </a:rPr>
                                    <m:t>, </m:t>
                                  </m:r>
                                  <m:r>
                                    <a:rPr lang="en-US" i="1" smtClean="0">
                                      <a:latin typeface="Cambria Math" panose="02040503050406030204" pitchFamily="18" charset="0"/>
                                    </a:rPr>
                                    <m:t>𝑓</m:t>
                                  </m:r>
                                  <m:d>
                                    <m:dPr>
                                      <m:ctrlPr>
                                        <a:rPr lang="en-US" i="1" smtClean="0">
                                          <a:latin typeface="Cambria Math" panose="02040503050406030204" pitchFamily="18" charset="0"/>
                                        </a:rPr>
                                      </m:ctrlPr>
                                    </m:dPr>
                                    <m:e>
                                      <m:r>
                                        <a:rPr lang="en-US" b="0" i="1" smtClean="0">
                                          <a:latin typeface="Cambria Math" panose="02040503050406030204" pitchFamily="18" charset="0"/>
                                        </a:rPr>
                                        <m:t>𝑥</m:t>
                                      </m:r>
                                    </m:e>
                                  </m:d>
                                </m:e>
                              </m:d>
                              <m:r>
                                <a:rPr lang="en-US" i="1" smtClean="0">
                                  <a:latin typeface="Cambria Math" panose="02040503050406030204" pitchFamily="18" charset="0"/>
                                </a:rPr>
                                <m:t>𝑝</m:t>
                              </m:r>
                              <m:d>
                                <m:dPr>
                                  <m:ctrlPr>
                                    <a:rPr lang="en-US" i="1" smtClean="0">
                                      <a:latin typeface="Cambria Math" panose="02040503050406030204" pitchFamily="18" charset="0"/>
                                    </a:rPr>
                                  </m:ctrlPr>
                                </m:dPr>
                                <m:e>
                                  <m:r>
                                    <a:rPr lang="en-US" i="1" smtClean="0">
                                      <a:latin typeface="Cambria Math" panose="02040503050406030204" pitchFamily="18" charset="0"/>
                                    </a:rPr>
                                    <m:t>𝑥</m:t>
                                  </m:r>
                                  <m:r>
                                    <a:rPr lang="en-US" i="1" smtClean="0">
                                      <a:latin typeface="Cambria Math" panose="02040503050406030204" pitchFamily="18" charset="0"/>
                                    </a:rPr>
                                    <m:t>) </m:t>
                                  </m:r>
                                  <m:r>
                                    <a:rPr lang="en-US" i="1" smtClean="0">
                                      <a:latin typeface="Cambria Math" panose="02040503050406030204" pitchFamily="18" charset="0"/>
                                    </a:rPr>
                                    <m:t>𝑝</m:t>
                                  </m:r>
                                  <m:r>
                                    <a:rPr lang="en-US" i="1" smtClean="0">
                                      <a:latin typeface="Cambria Math" panose="02040503050406030204" pitchFamily="18" charset="0"/>
                                    </a:rPr>
                                    <m:t>(</m:t>
                                  </m:r>
                                  <m:r>
                                    <a:rPr lang="en-US" i="1" smtClean="0">
                                      <a:latin typeface="Cambria Math" panose="02040503050406030204" pitchFamily="18" charset="0"/>
                                    </a:rPr>
                                    <m:t>𝑦</m:t>
                                  </m:r>
                                  <m:r>
                                    <a:rPr lang="en-US" i="1" smtClean="0">
                                      <a:latin typeface="Cambria Math" panose="02040503050406030204" pitchFamily="18" charset="0"/>
                                    </a:rPr>
                                    <m:t>|</m:t>
                                  </m:r>
                                  <m:r>
                                    <a:rPr lang="en-US" i="1" smtClean="0">
                                      <a:latin typeface="Cambria Math" panose="02040503050406030204" pitchFamily="18" charset="0"/>
                                    </a:rPr>
                                    <m:t>𝑥</m:t>
                                  </m:r>
                                </m:e>
                              </m:d>
                              <m:r>
                                <a:rPr lang="en-US" i="1" smtClean="0">
                                  <a:latin typeface="Cambria Math" panose="02040503050406030204" pitchFamily="18" charset="0"/>
                                </a:rPr>
                                <m:t>𝑑𝑥</m:t>
                              </m:r>
                              <m:r>
                                <a:rPr lang="en-US" i="1" smtClean="0">
                                  <a:latin typeface="Cambria Math" panose="02040503050406030204" pitchFamily="18" charset="0"/>
                                </a:rPr>
                                <m:t> </m:t>
                              </m:r>
                              <m:r>
                                <a:rPr lang="en-US" i="1" smtClean="0">
                                  <a:latin typeface="Cambria Math" panose="02040503050406030204" pitchFamily="18" charset="0"/>
                                </a:rPr>
                                <m:t>𝑑𝑦</m:t>
                              </m:r>
                            </m:e>
                          </m:nary>
                        </m:e>
                      </m:nary>
                    </m:oMath>
                  </m:oMathPara>
                </a14:m>
                <a:endParaRPr lang="en-US" dirty="0"/>
              </a:p>
              <a:p>
                <a:pPr marL="0" indent="0">
                  <a:buFont typeface="Wingdings 2" pitchFamily="2" charset="2"/>
                  <a:buNone/>
                </a:pPr>
                <a:endParaRPr lang="en-US" dirty="0"/>
              </a:p>
            </p:txBody>
          </p:sp>
        </mc:Choice>
        <mc:Fallback xmlns="">
          <p:sp>
            <p:nvSpPr>
              <p:cNvPr id="9" name="Content Placeholder 2">
                <a:extLst>
                  <a:ext uri="{FF2B5EF4-FFF2-40B4-BE49-F238E27FC236}">
                    <a16:creationId xmlns:a16="http://schemas.microsoft.com/office/drawing/2014/main" id="{8442C6D6-38AE-9EE6-579E-533C59255420}"/>
                  </a:ext>
                </a:extLst>
              </p:cNvPr>
              <p:cNvSpPr txBox="1">
                <a:spLocks noRot="1" noChangeAspect="1" noMove="1" noResize="1" noEditPoints="1" noAdjustHandles="1" noChangeArrowheads="1" noChangeShapeType="1" noTextEdit="1"/>
              </p:cNvSpPr>
              <p:nvPr/>
            </p:nvSpPr>
            <p:spPr bwMode="auto">
              <a:xfrm>
                <a:off x="2761876" y="1731857"/>
                <a:ext cx="8194881" cy="1905748"/>
              </a:xfrm>
              <a:prstGeom prst="rect">
                <a:avLst/>
              </a:prstGeom>
              <a:blipFill>
                <a:blip r:embed="rId4"/>
                <a:stretch>
                  <a:fillRect l="-15015" t="-118543" b="-15298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
        <p:nvSpPr>
          <p:cNvPr id="10" name="Content Placeholder 3">
            <a:extLst>
              <a:ext uri="{FF2B5EF4-FFF2-40B4-BE49-F238E27FC236}">
                <a16:creationId xmlns:a16="http://schemas.microsoft.com/office/drawing/2014/main" id="{F536D8D9-9176-1777-DD49-65CD79697B61}"/>
              </a:ext>
            </a:extLst>
          </p:cNvPr>
          <p:cNvSpPr txBox="1">
            <a:spLocks/>
          </p:cNvSpPr>
          <p:nvPr/>
        </p:nvSpPr>
        <p:spPr bwMode="auto">
          <a:xfrm>
            <a:off x="11133219" y="3697855"/>
            <a:ext cx="6049882" cy="7217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698500" indent="-698500" algn="l" rtl="0" fontAlgn="base">
              <a:spcBef>
                <a:spcPts val="3200"/>
              </a:spcBef>
              <a:spcAft>
                <a:spcPct val="0"/>
              </a:spcAft>
              <a:buClr>
                <a:schemeClr val="accent2"/>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9pPr>
          </a:lstStyle>
          <a:p>
            <a:pPr marL="0" indent="0">
              <a:buFont typeface="Wingdings 2" pitchFamily="2" charset="2"/>
              <a:buNone/>
            </a:pPr>
            <a:r>
              <a:rPr lang="en-US" sz="3600" i="1" dirty="0" err="1">
                <a:solidFill>
                  <a:schemeClr val="accent2"/>
                </a:solidFill>
              </a:rPr>
              <a:t>Fubini’s</a:t>
            </a:r>
            <a:r>
              <a:rPr lang="en-US" sz="3600" i="1" dirty="0">
                <a:solidFill>
                  <a:schemeClr val="accent2"/>
                </a:solidFill>
              </a:rPr>
              <a:t> Theorem</a:t>
            </a:r>
          </a:p>
          <a:p>
            <a:pPr marL="0" indent="0">
              <a:buFont typeface="Wingdings 2" pitchFamily="2" charset="2"/>
              <a:buNone/>
            </a:pPr>
            <a:endParaRPr lang="en-US" dirty="0">
              <a:solidFill>
                <a:schemeClr val="accent2"/>
              </a:solidFill>
            </a:endParaRPr>
          </a:p>
        </p:txBody>
      </p:sp>
      <mc:AlternateContent xmlns:mc="http://schemas.openxmlformats.org/markup-compatibility/2006" xmlns:a14="http://schemas.microsoft.com/office/drawing/2010/main">
        <mc:Choice Requires="a14">
          <p:sp>
            <p:nvSpPr>
              <p:cNvPr id="12" name="Content Placeholder 2">
                <a:extLst>
                  <a:ext uri="{FF2B5EF4-FFF2-40B4-BE49-F238E27FC236}">
                    <a16:creationId xmlns:a16="http://schemas.microsoft.com/office/drawing/2014/main" id="{091E1D9C-3B9D-BD7B-5020-9E0AA9971797}"/>
                  </a:ext>
                </a:extLst>
              </p:cNvPr>
              <p:cNvSpPr txBox="1">
                <a:spLocks/>
              </p:cNvSpPr>
              <p:nvPr/>
            </p:nvSpPr>
            <p:spPr bwMode="auto">
              <a:xfrm>
                <a:off x="2761875" y="5038627"/>
                <a:ext cx="8194881" cy="190574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698500" indent="-698500" algn="l" rtl="0" fontAlgn="base">
                  <a:spcBef>
                    <a:spcPts val="3200"/>
                  </a:spcBef>
                  <a:spcAft>
                    <a:spcPct val="0"/>
                  </a:spcAft>
                  <a:buClr>
                    <a:schemeClr val="accent2"/>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9pPr>
              </a:lstStyle>
              <a:p>
                <a:pPr marL="0" indent="0">
                  <a:buFont typeface="Wingdings 2" pitchFamily="2" charset="2"/>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𝑥</m:t>
                          </m:r>
                        </m:sub>
                        <m:sup/>
                        <m:e>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𝑌</m:t>
                              </m:r>
                              <m:r>
                                <a:rPr lang="en-US" b="0" i="1" smtClean="0">
                                  <a:latin typeface="Cambria Math" panose="02040503050406030204" pitchFamily="18" charset="0"/>
                                </a:rPr>
                                <m:t>|</m:t>
                              </m:r>
                              <m:r>
                                <a:rPr lang="en-US" b="0" i="1" smtClean="0">
                                  <a:latin typeface="Cambria Math" panose="02040503050406030204" pitchFamily="18" charset="0"/>
                                </a:rPr>
                                <m:t>𝑋</m:t>
                              </m:r>
                            </m:sub>
                          </m:sSub>
                          <m:r>
                            <a:rPr lang="en-US" b="0" i="1" smtClean="0">
                              <a:latin typeface="Cambria Math" panose="02040503050406030204" pitchFamily="18" charset="0"/>
                            </a:rPr>
                            <m:t>[</m:t>
                          </m:r>
                          <m:r>
                            <a:rPr lang="en-US" b="0" i="1" smtClean="0">
                              <a:latin typeface="Cambria Math" panose="02040503050406030204" pitchFamily="18" charset="0"/>
                            </a:rPr>
                            <m:t>𝐿</m:t>
                          </m:r>
                          <m:d>
                            <m:dPr>
                              <m:endChr m:val="]"/>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b="0" i="1"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r>
                                <a:rPr lang="en-US" b="0" i="1" smtClean="0">
                                  <a:latin typeface="Cambria Math" panose="02040503050406030204" pitchFamily="18" charset="0"/>
                                </a:rPr>
                                <m:t>)</m:t>
                              </m:r>
                            </m:e>
                            <m:e>
                              <m:r>
                                <a:rPr lang="en-US" b="0" i="1" smtClean="0">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𝑑𝑥</m:t>
                          </m:r>
                        </m:e>
                      </m:nary>
                    </m:oMath>
                  </m:oMathPara>
                </a14:m>
                <a:endParaRPr lang="en-US" dirty="0"/>
              </a:p>
            </p:txBody>
          </p:sp>
        </mc:Choice>
        <mc:Fallback xmlns="">
          <p:sp>
            <p:nvSpPr>
              <p:cNvPr id="12" name="Content Placeholder 2">
                <a:extLst>
                  <a:ext uri="{FF2B5EF4-FFF2-40B4-BE49-F238E27FC236}">
                    <a16:creationId xmlns:a16="http://schemas.microsoft.com/office/drawing/2014/main" id="{091E1D9C-3B9D-BD7B-5020-9E0AA9971797}"/>
                  </a:ext>
                </a:extLst>
              </p:cNvPr>
              <p:cNvSpPr txBox="1">
                <a:spLocks noRot="1" noChangeAspect="1" noMove="1" noResize="1" noEditPoints="1" noAdjustHandles="1" noChangeArrowheads="1" noChangeShapeType="1" noTextEdit="1"/>
              </p:cNvSpPr>
              <p:nvPr/>
            </p:nvSpPr>
            <p:spPr bwMode="auto">
              <a:xfrm>
                <a:off x="2761875" y="5038627"/>
                <a:ext cx="8194881" cy="1905748"/>
              </a:xfrm>
              <a:prstGeom prst="rect">
                <a:avLst/>
              </a:prstGeom>
              <a:blipFill>
                <a:blip r:embed="rId5"/>
                <a:stretch>
                  <a:fillRect l="-18266" t="-127152" b="-17284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Content Placeholder 2">
                <a:extLst>
                  <a:ext uri="{FF2B5EF4-FFF2-40B4-BE49-F238E27FC236}">
                    <a16:creationId xmlns:a16="http://schemas.microsoft.com/office/drawing/2014/main" id="{E0F6DDA1-B703-6613-9324-F28894935E75}"/>
                  </a:ext>
                </a:extLst>
              </p:cNvPr>
              <p:cNvSpPr txBox="1">
                <a:spLocks/>
              </p:cNvSpPr>
              <p:nvPr/>
            </p:nvSpPr>
            <p:spPr bwMode="auto">
              <a:xfrm>
                <a:off x="2056022" y="6944375"/>
                <a:ext cx="8194881" cy="10527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a:bodyPr>
              <a:lstStyle>
                <a:lvl1pPr marL="698500" indent="-698500" algn="l" rtl="0" fontAlgn="base">
                  <a:spcBef>
                    <a:spcPts val="3200"/>
                  </a:spcBef>
                  <a:spcAft>
                    <a:spcPct val="0"/>
                  </a:spcAft>
                  <a:buClr>
                    <a:schemeClr val="accent2"/>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9pPr>
              </a:lstStyle>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𝑋</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𝑋</m:t>
                          </m:r>
                        </m:sub>
                      </m:sSub>
                      <m:r>
                        <a:rPr lang="en-US" i="1">
                          <a:latin typeface="Cambria Math" panose="02040503050406030204" pitchFamily="18" charset="0"/>
                        </a:rPr>
                        <m:t>[</m:t>
                      </m:r>
                      <m:r>
                        <a:rPr lang="en-US" i="1">
                          <a:latin typeface="Cambria Math" panose="02040503050406030204" pitchFamily="18" charset="0"/>
                        </a:rPr>
                        <m:t>𝐿</m:t>
                      </m:r>
                      <m:d>
                        <m:dPr>
                          <m:endChr m:val="]"/>
                          <m:ctrlPr>
                            <a:rPr lang="en-US" i="1">
                              <a:latin typeface="Cambria Math" panose="02040503050406030204" pitchFamily="18" charset="0"/>
                            </a:rPr>
                          </m:ctrlPr>
                        </m:dPr>
                        <m:e>
                          <m:r>
                            <a:rPr lang="en-US" i="1">
                              <a:latin typeface="Cambria Math" panose="02040503050406030204" pitchFamily="18" charset="0"/>
                            </a:rPr>
                            <m:t>𝑌</m:t>
                          </m:r>
                          <m:r>
                            <a:rPr lang="en-US" i="1">
                              <a:latin typeface="Cambria Math" panose="02040503050406030204" pitchFamily="18" charset="0"/>
                            </a:rPr>
                            <m:t>, </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𝑋</m:t>
                              </m:r>
                            </m:e>
                          </m:d>
                          <m:r>
                            <a:rPr lang="en-US" b="0" i="1" smtClean="0">
                              <a:latin typeface="Cambria Math" panose="02040503050406030204" pitchFamily="18" charset="0"/>
                            </a:rPr>
                            <m:t>)</m:t>
                          </m:r>
                        </m:e>
                        <m:e>
                          <m:r>
                            <a:rPr lang="en-US" i="1">
                              <a:latin typeface="Cambria Math" panose="02040503050406030204" pitchFamily="18" charset="0"/>
                            </a:rPr>
                            <m:t>𝑋</m:t>
                          </m:r>
                        </m:e>
                      </m:d>
                      <m:r>
                        <a:rPr lang="en-US" b="0" i="1" smtClean="0">
                          <a:latin typeface="Cambria Math" panose="02040503050406030204" pitchFamily="18" charset="0"/>
                        </a:rPr>
                        <m:t>]</m:t>
                      </m:r>
                    </m:oMath>
                  </m:oMathPara>
                </a14:m>
                <a:endParaRPr lang="en-US" b="0" dirty="0"/>
              </a:p>
            </p:txBody>
          </p:sp>
        </mc:Choice>
        <mc:Fallback xmlns="">
          <p:sp>
            <p:nvSpPr>
              <p:cNvPr id="13" name="Content Placeholder 2">
                <a:extLst>
                  <a:ext uri="{FF2B5EF4-FFF2-40B4-BE49-F238E27FC236}">
                    <a16:creationId xmlns:a16="http://schemas.microsoft.com/office/drawing/2014/main" id="{E0F6DDA1-B703-6613-9324-F28894935E75}"/>
                  </a:ext>
                </a:extLst>
              </p:cNvPr>
              <p:cNvSpPr txBox="1">
                <a:spLocks noRot="1" noChangeAspect="1" noMove="1" noResize="1" noEditPoints="1" noAdjustHandles="1" noChangeArrowheads="1" noChangeShapeType="1" noTextEdit="1"/>
              </p:cNvSpPr>
              <p:nvPr/>
            </p:nvSpPr>
            <p:spPr bwMode="auto">
              <a:xfrm>
                <a:off x="2056022" y="6944375"/>
                <a:ext cx="8194881" cy="1052710"/>
              </a:xfrm>
              <a:prstGeom prst="rect">
                <a:avLst/>
              </a:prstGeom>
              <a:blipFill>
                <a:blip r:embed="rId6"/>
                <a:stretch>
                  <a:fillRect/>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Content Placeholder 2">
                <a:extLst>
                  <a:ext uri="{FF2B5EF4-FFF2-40B4-BE49-F238E27FC236}">
                    <a16:creationId xmlns:a16="http://schemas.microsoft.com/office/drawing/2014/main" id="{9A5EC3F1-A2D4-AF60-D1D3-16DFAA108D4D}"/>
                  </a:ext>
                </a:extLst>
              </p:cNvPr>
              <p:cNvSpPr txBox="1">
                <a:spLocks/>
              </p:cNvSpPr>
              <p:nvPr/>
            </p:nvSpPr>
            <p:spPr bwMode="auto">
              <a:xfrm>
                <a:off x="2761873" y="3245682"/>
                <a:ext cx="8194881" cy="190574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normAutofit fontScale="92500"/>
              </a:bodyPr>
              <a:lstStyle>
                <a:lvl1pPr marL="698500" indent="-698500" algn="l" rtl="0" fontAlgn="base">
                  <a:spcBef>
                    <a:spcPts val="3200"/>
                  </a:spcBef>
                  <a:spcAft>
                    <a:spcPct val="0"/>
                  </a:spcAft>
                  <a:buClr>
                    <a:schemeClr val="accent2"/>
                  </a:buClr>
                  <a:buSzPct val="100000"/>
                  <a:buFont typeface="Wingdings 2" pitchFamily="2" charset="2"/>
                  <a:buChar char=""/>
                  <a:defRPr sz="4000" kern="1200">
                    <a:solidFill>
                      <a:schemeClr val="tx1"/>
                    </a:solidFill>
                    <a:latin typeface="+mn-lt"/>
                    <a:ea typeface="ＭＳ Ｐゴシック" panose="020B0600070205080204" pitchFamily="34" charset="-128"/>
                    <a:cs typeface="+mn-cs"/>
                  </a:defRPr>
                </a:lvl1pPr>
                <a:lvl2pPr marL="1371600" indent="-673100" algn="l" rtl="0" fontAlgn="base">
                  <a:spcBef>
                    <a:spcPts val="1200"/>
                  </a:spcBef>
                  <a:spcAft>
                    <a:spcPct val="0"/>
                  </a:spcAft>
                  <a:buClr>
                    <a:srgbClr val="808080"/>
                  </a:buClr>
                  <a:buSzPct val="100000"/>
                  <a:buFont typeface="Wingdings 2" pitchFamily="2" charset="2"/>
                  <a:buChar char=""/>
                  <a:defRPr sz="3600" kern="1200">
                    <a:solidFill>
                      <a:schemeClr val="tx1"/>
                    </a:solidFill>
                    <a:latin typeface="+mn-lt"/>
                    <a:ea typeface="ＭＳ Ｐゴシック" panose="020B0600070205080204" pitchFamily="34" charset="-128"/>
                    <a:cs typeface="+mn-cs"/>
                  </a:defRPr>
                </a:lvl2pPr>
                <a:lvl3pPr marL="1936750" indent="-565150" algn="l" rtl="0" fontAlgn="base">
                  <a:spcBef>
                    <a:spcPts val="1200"/>
                  </a:spcBef>
                  <a:spcAft>
                    <a:spcPct val="0"/>
                  </a:spcAft>
                  <a:buClr>
                    <a:srgbClr val="969696"/>
                  </a:buClr>
                  <a:buSzPct val="100000"/>
                  <a:buFont typeface="Wingdings 2" pitchFamily="2" charset="2"/>
                  <a:buChar char=""/>
                  <a:defRPr sz="3200" kern="1200">
                    <a:solidFill>
                      <a:schemeClr val="tx1"/>
                    </a:solidFill>
                    <a:latin typeface="+mn-lt"/>
                    <a:ea typeface="ＭＳ Ｐゴシック" panose="020B0600070205080204" pitchFamily="34" charset="-128"/>
                    <a:cs typeface="+mn-cs"/>
                  </a:defRPr>
                </a:lvl3pPr>
                <a:lvl4pPr marL="2527300" indent="-590550" algn="l" rtl="0" fontAlgn="base">
                  <a:spcBef>
                    <a:spcPts val="1200"/>
                  </a:spcBef>
                  <a:spcAft>
                    <a:spcPct val="0"/>
                  </a:spcAft>
                  <a:buClr>
                    <a:srgbClr val="F8BC65"/>
                  </a:buClr>
                  <a:buSzPct val="100000"/>
                  <a:buFont typeface="Wingdings 2" pitchFamily="2" charset="2"/>
                  <a:buChar char=""/>
                  <a:defRPr sz="2800" kern="1200">
                    <a:solidFill>
                      <a:schemeClr val="tx1"/>
                    </a:solidFill>
                    <a:latin typeface="+mn-lt"/>
                    <a:ea typeface="ＭＳ Ｐゴシック" panose="020B0600070205080204" pitchFamily="34" charset="-128"/>
                    <a:cs typeface="+mn-cs"/>
                  </a:defRPr>
                </a:lvl4pPr>
                <a:lvl5pPr marL="3092450" indent="-565150" algn="l" rtl="0" fontAlgn="base">
                  <a:spcBef>
                    <a:spcPts val="1200"/>
                  </a:spcBef>
                  <a:spcAft>
                    <a:spcPct val="0"/>
                  </a:spcAft>
                  <a:buClr>
                    <a:srgbClr val="FBD299"/>
                  </a:buClr>
                  <a:buSzPct val="100000"/>
                  <a:buFont typeface="Wingdings 2" pitchFamily="2" charset="2"/>
                  <a:buChar char=""/>
                  <a:defRPr sz="2400" kern="1200">
                    <a:solidFill>
                      <a:schemeClr val="tx1"/>
                    </a:solidFill>
                    <a:latin typeface="+mn-lt"/>
                    <a:ea typeface="ＭＳ Ｐゴシック" panose="020B0600070205080204" pitchFamily="34" charset="-128"/>
                    <a:cs typeface="+mn-cs"/>
                  </a:defRPr>
                </a:lvl5pPr>
                <a:lvl6pPr marL="3657600"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6pPr>
                <a:lvl7pPr marL="4235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7pPr>
                <a:lvl8pPr marL="4797426" indent="-565150" algn="l" defTabSz="1828800" rtl="0" eaLnBrk="1" latinLnBrk="0" hangingPunct="1">
                  <a:spcBef>
                    <a:spcPct val="20000"/>
                  </a:spcBef>
                  <a:buClr>
                    <a:schemeClr val="accent2"/>
                  </a:buClr>
                  <a:buSzPct val="110000"/>
                  <a:buFont typeface="Wingdings 2" pitchFamily="18" charset="2"/>
                  <a:buChar char=""/>
                  <a:defRPr lang="en-US" sz="3600" kern="1200">
                    <a:solidFill>
                      <a:schemeClr val="tx1">
                        <a:lumMod val="65000"/>
                        <a:lumOff val="35000"/>
                      </a:schemeClr>
                    </a:solidFill>
                    <a:latin typeface="+mn-lt"/>
                    <a:ea typeface="+mn-ea"/>
                    <a:cs typeface="+mn-cs"/>
                  </a:defRPr>
                </a:lvl8pPr>
                <a:lvl9pPr marL="5378450" indent="-565150" algn="l" defTabSz="1828800" rtl="0" eaLnBrk="1" latinLnBrk="0" hangingPunct="1">
                  <a:spcBef>
                    <a:spcPct val="20000"/>
                  </a:spcBef>
                  <a:buClr>
                    <a:schemeClr val="accent1">
                      <a:lumMod val="60000"/>
                      <a:lumOff val="40000"/>
                    </a:schemeClr>
                  </a:buClr>
                  <a:buSzPct val="110000"/>
                  <a:buFont typeface="Wingdings 2" pitchFamily="18" charset="2"/>
                  <a:buChar char=""/>
                  <a:defRPr lang="en-US" sz="3600" kern="1200">
                    <a:solidFill>
                      <a:schemeClr val="tx1">
                        <a:lumMod val="65000"/>
                        <a:lumOff val="35000"/>
                      </a:schemeClr>
                    </a:solidFill>
                    <a:latin typeface="+mn-lt"/>
                    <a:ea typeface="+mn-ea"/>
                    <a:cs typeface="+mn-cs"/>
                  </a:defRPr>
                </a:lvl9pPr>
              </a:lstStyle>
              <a:p>
                <a:pPr marL="0" indent="0">
                  <a:buFont typeface="Wingdings 2" pitchFamily="2" charset="2"/>
                  <a:buNone/>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m:t>
                      </m:r>
                      <m:nary>
                        <m:naryPr>
                          <m:ctrlPr>
                            <a:rPr lang="en-US" i="1" smtClean="0">
                              <a:latin typeface="Cambria Math" panose="02040503050406030204" pitchFamily="18" charset="0"/>
                            </a:rPr>
                          </m:ctrlPr>
                        </m:naryPr>
                        <m:sub>
                          <m:r>
                            <m:rPr>
                              <m:brk m:alnAt="23"/>
                            </m:rPr>
                            <a:rPr lang="en-US" i="1" smtClean="0">
                              <a:latin typeface="Cambria Math" panose="02040503050406030204" pitchFamily="18" charset="0"/>
                            </a:rPr>
                            <m:t>𝑥</m:t>
                          </m:r>
                        </m:sub>
                        <m:sup/>
                        <m:e>
                          <m:d>
                            <m:dPr>
                              <m:ctrlPr>
                                <a:rPr lang="en-US" b="0" i="1" smtClean="0">
                                  <a:latin typeface="Cambria Math" panose="02040503050406030204" pitchFamily="18" charset="0"/>
                                </a:rPr>
                              </m:ctrlPr>
                            </m:dPr>
                            <m:e>
                              <m:nary>
                                <m:naryPr>
                                  <m:ctrlPr>
                                    <a:rPr lang="en-US" b="0" i="1" smtClean="0">
                                      <a:latin typeface="Cambria Math" panose="02040503050406030204" pitchFamily="18" charset="0"/>
                                    </a:rPr>
                                  </m:ctrlPr>
                                </m:naryPr>
                                <m:sub>
                                  <m:r>
                                    <m:rPr>
                                      <m:brk m:alnAt="23"/>
                                    </m:rPr>
                                    <a:rPr lang="en-US" b="0" i="1" smtClean="0">
                                      <a:latin typeface="Cambria Math" panose="02040503050406030204" pitchFamily="18" charset="0"/>
                                    </a:rPr>
                                    <m:t>𝑦</m:t>
                                  </m:r>
                                </m:sub>
                                <m:sup/>
                                <m:e>
                                  <m:r>
                                    <a:rPr lang="en-US" b="0" i="1" smtClean="0">
                                      <a:latin typeface="Cambria Math" panose="02040503050406030204" pitchFamily="18" charset="0"/>
                                    </a:rPr>
                                    <m:t>𝐿</m:t>
                                  </m:r>
                                  <m:r>
                                    <a:rPr lang="en-US" b="0" i="1" smtClean="0">
                                      <a:latin typeface="Cambria Math" panose="02040503050406030204" pitchFamily="18" charset="0"/>
                                    </a:rPr>
                                    <m:t>(</m:t>
                                  </m:r>
                                  <m:r>
                                    <a:rPr lang="en-US" b="0" i="1" smtClean="0">
                                      <a:latin typeface="Cambria Math" panose="02040503050406030204" pitchFamily="18" charset="0"/>
                                    </a:rPr>
                                    <m:t>𝑦</m:t>
                                  </m:r>
                                  <m:r>
                                    <a:rPr lang="en-US" b="0" i="1"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m:t>
                                  </m:r>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𝑦</m:t>
                                      </m:r>
                                    </m:e>
                                    <m:e>
                                      <m:r>
                                        <a:rPr lang="en-US" b="0" i="1" smtClean="0">
                                          <a:latin typeface="Cambria Math" panose="02040503050406030204" pitchFamily="18" charset="0"/>
                                        </a:rPr>
                                        <m:t>𝑥</m:t>
                                      </m:r>
                                    </m:e>
                                  </m:d>
                                  <m:r>
                                    <a:rPr lang="en-US" b="0" i="1" smtClean="0">
                                      <a:latin typeface="Cambria Math" panose="02040503050406030204" pitchFamily="18" charset="0"/>
                                    </a:rPr>
                                    <m:t>𝑑𝑦</m:t>
                                  </m:r>
                                </m:e>
                              </m:nary>
                            </m:e>
                          </m:d>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𝑑𝑥</m:t>
                          </m:r>
                        </m:e>
                      </m:nary>
                    </m:oMath>
                  </m:oMathPara>
                </a14:m>
                <a:endParaRPr lang="en-US" dirty="0"/>
              </a:p>
              <a:p>
                <a:pPr marL="0" indent="0">
                  <a:buFont typeface="Wingdings 2" pitchFamily="2" charset="2"/>
                  <a:buNone/>
                </a:pPr>
                <a:endParaRPr lang="en-US" dirty="0"/>
              </a:p>
            </p:txBody>
          </p:sp>
        </mc:Choice>
        <mc:Fallback xmlns="">
          <p:sp>
            <p:nvSpPr>
              <p:cNvPr id="14" name="Content Placeholder 2">
                <a:extLst>
                  <a:ext uri="{FF2B5EF4-FFF2-40B4-BE49-F238E27FC236}">
                    <a16:creationId xmlns:a16="http://schemas.microsoft.com/office/drawing/2014/main" id="{9A5EC3F1-A2D4-AF60-D1D3-16DFAA108D4D}"/>
                  </a:ext>
                </a:extLst>
              </p:cNvPr>
              <p:cNvSpPr txBox="1">
                <a:spLocks noRot="1" noChangeAspect="1" noMove="1" noResize="1" noEditPoints="1" noAdjustHandles="1" noChangeArrowheads="1" noChangeShapeType="1" noTextEdit="1"/>
              </p:cNvSpPr>
              <p:nvPr/>
            </p:nvSpPr>
            <p:spPr bwMode="auto">
              <a:xfrm>
                <a:off x="2761873" y="3245682"/>
                <a:ext cx="8194881" cy="1905748"/>
              </a:xfrm>
              <a:prstGeom prst="rect">
                <a:avLst/>
              </a:prstGeom>
              <a:blipFill>
                <a:blip r:embed="rId7"/>
                <a:stretch>
                  <a:fillRect l="-17337" t="-118543" r="-310" b="-15364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spTree>
    <p:extLst>
      <p:ext uri="{BB962C8B-B14F-4D97-AF65-F5344CB8AC3E}">
        <p14:creationId xmlns:p14="http://schemas.microsoft.com/office/powerpoint/2010/main" val="16318899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79BB968-EBC1-2138-0D45-D397EB7800CE}"/>
                  </a:ext>
                </a:extLst>
              </p:cNvPr>
              <p:cNvSpPr>
                <a:spLocks noGrp="1"/>
              </p:cNvSpPr>
              <p:nvPr>
                <p:ph type="title"/>
              </p:nvPr>
            </p:nvSpPr>
            <p:spPr/>
            <p:txBody>
              <a:bodyPr/>
              <a:lstStyle/>
              <a:p>
                <a:r>
                  <a:rPr lang="en-US" dirty="0"/>
                  <a:t>Minimizing </a:t>
                </a:r>
                <a14:m>
                  <m:oMath xmlns:m="http://schemas.openxmlformats.org/officeDocument/2006/math">
                    <m:r>
                      <a:rPr lang="en-US" b="1" i="1" smtClean="0">
                        <a:latin typeface="Cambria Math" panose="02040503050406030204" pitchFamily="18" charset="0"/>
                      </a:rPr>
                      <m:t>𝑬𝑷𝑬</m:t>
                    </m:r>
                    <m:r>
                      <a:rPr lang="en-US" b="1" i="1" smtClean="0">
                        <a:latin typeface="Cambria Math" panose="02040503050406030204" pitchFamily="18" charset="0"/>
                      </a:rPr>
                      <m:t>(</m:t>
                    </m:r>
                    <m:r>
                      <a:rPr lang="en-US" b="1" i="1" smtClean="0">
                        <a:latin typeface="Cambria Math" panose="02040503050406030204" pitchFamily="18" charset="0"/>
                      </a:rPr>
                      <m:t>𝒇</m:t>
                    </m:r>
                    <m:r>
                      <a:rPr lang="en-US" b="1" i="1" smtClean="0">
                        <a:latin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479BB968-EBC1-2138-0D45-D397EB7800CE}"/>
                  </a:ext>
                </a:extLst>
              </p:cNvPr>
              <p:cNvSpPr>
                <a:spLocks noGrp="1" noRot="1" noChangeAspect="1" noMove="1" noResize="1" noEditPoints="1" noAdjustHandles="1" noChangeArrowheads="1" noChangeShapeType="1" noTextEdit="1"/>
              </p:cNvSpPr>
              <p:nvPr>
                <p:ph type="title"/>
              </p:nvPr>
            </p:nvSpPr>
            <p:spPr>
              <a:blipFill>
                <a:blip r:embed="rId2"/>
                <a:stretch>
                  <a:fillRect b="-24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877E6DD-0DF3-3D4A-5C01-3F18B60C9A99}"/>
                  </a:ext>
                </a:extLst>
              </p:cNvPr>
              <p:cNvSpPr>
                <a:spLocks noGrp="1"/>
              </p:cNvSpPr>
              <p:nvPr>
                <p:ph idx="1"/>
              </p:nvPr>
            </p:nvSpPr>
            <p:spPr/>
            <p:txBody>
              <a:bodyPr/>
              <a:lstStyle/>
              <a:p>
                <a:r>
                  <a:rPr lang="en-US" dirty="0"/>
                  <a:t>What we’ve shown is that minimizing </a:t>
                </a:r>
                <a14:m>
                  <m:oMath xmlns:m="http://schemas.openxmlformats.org/officeDocument/2006/math">
                    <m:r>
                      <a:rPr lang="en-US" b="0" i="1" smtClean="0">
                        <a:latin typeface="Cambria Math" panose="02040503050406030204" pitchFamily="18" charset="0"/>
                      </a:rPr>
                      <m:t>𝐸𝑃𝐸</m:t>
                    </m:r>
                    <m:d>
                      <m:dPr>
                        <m:ctrlPr>
                          <a:rPr lang="en-US" b="0" i="1" smtClean="0">
                            <a:latin typeface="Cambria Math" panose="02040503050406030204" pitchFamily="18" charset="0"/>
                          </a:rPr>
                        </m:ctrlPr>
                      </m:dPr>
                      <m:e>
                        <m:r>
                          <a:rPr lang="en-US" b="0" i="1" smtClean="0">
                            <a:latin typeface="Cambria Math" panose="02040503050406030204" pitchFamily="18" charset="0"/>
                          </a:rPr>
                          <m:t>𝑓</m:t>
                        </m:r>
                      </m:e>
                    </m:d>
                  </m:oMath>
                </a14:m>
                <a:r>
                  <a:rPr lang="en-US" dirty="0"/>
                  <a:t>, we are minimizing the expression </a:t>
                </a:r>
              </a:p>
              <a:p>
                <a:pPr marL="0" indent="0">
                  <a:buNone/>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𝑋</m:t>
                          </m:r>
                        </m:sub>
                      </m:sSub>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𝑌</m:t>
                          </m:r>
                          <m:r>
                            <a:rPr lang="en-US" i="1">
                              <a:latin typeface="Cambria Math" panose="02040503050406030204" pitchFamily="18" charset="0"/>
                            </a:rPr>
                            <m:t>|</m:t>
                          </m:r>
                          <m:r>
                            <a:rPr lang="en-US" i="1">
                              <a:latin typeface="Cambria Math" panose="02040503050406030204" pitchFamily="18" charset="0"/>
                            </a:rPr>
                            <m:t>𝑋</m:t>
                          </m:r>
                        </m:sub>
                      </m:sSub>
                      <m:r>
                        <a:rPr lang="en-US" i="1">
                          <a:latin typeface="Cambria Math" panose="02040503050406030204" pitchFamily="18" charset="0"/>
                        </a:rPr>
                        <m:t>[</m:t>
                      </m:r>
                      <m:r>
                        <a:rPr lang="en-US" i="1">
                          <a:latin typeface="Cambria Math" panose="02040503050406030204" pitchFamily="18" charset="0"/>
                        </a:rPr>
                        <m:t>𝐿</m:t>
                      </m:r>
                      <m:d>
                        <m:dPr>
                          <m:endChr m:val="]"/>
                          <m:ctrlPr>
                            <a:rPr lang="en-US" i="1">
                              <a:latin typeface="Cambria Math" panose="02040503050406030204" pitchFamily="18" charset="0"/>
                            </a:rPr>
                          </m:ctrlPr>
                        </m:dPr>
                        <m:e>
                          <m:r>
                            <a:rPr lang="en-US" i="1">
                              <a:latin typeface="Cambria Math" panose="02040503050406030204" pitchFamily="18" charset="0"/>
                            </a:rPr>
                            <m:t>𝑌</m:t>
                          </m:r>
                          <m:r>
                            <a:rPr lang="en-US" i="1">
                              <a:latin typeface="Cambria Math" panose="02040503050406030204" pitchFamily="18" charset="0"/>
                            </a:rPr>
                            <m:t>, </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𝑋</m:t>
                              </m:r>
                            </m:e>
                          </m:d>
                          <m:r>
                            <a:rPr lang="en-US" b="0" i="1" smtClean="0">
                              <a:latin typeface="Cambria Math" panose="02040503050406030204" pitchFamily="18" charset="0"/>
                            </a:rPr>
                            <m:t>)</m:t>
                          </m:r>
                        </m:e>
                        <m:e>
                          <m:r>
                            <a:rPr lang="en-US" i="1">
                              <a:latin typeface="Cambria Math" panose="02040503050406030204" pitchFamily="18" charset="0"/>
                            </a:rPr>
                            <m:t>𝑋</m:t>
                          </m:r>
                          <m:r>
                            <a:rPr lang="en-US" b="0" i="1" smtClean="0">
                              <a:latin typeface="Cambria Math" panose="02040503050406030204" pitchFamily="18" charset="0"/>
                            </a:rPr>
                            <m:t>=</m:t>
                          </m:r>
                          <m:r>
                            <a:rPr lang="en-US" b="0" i="1" smtClean="0">
                              <a:latin typeface="Cambria Math" panose="02040503050406030204" pitchFamily="18" charset="0"/>
                            </a:rPr>
                            <m:t>𝑥</m:t>
                          </m:r>
                        </m:e>
                      </m:d>
                      <m:r>
                        <a:rPr lang="en-US" b="0" i="1" smtClean="0">
                          <a:latin typeface="Cambria Math" panose="02040503050406030204" pitchFamily="18" charset="0"/>
                        </a:rPr>
                        <m:t>]</m:t>
                      </m:r>
                    </m:oMath>
                  </m:oMathPara>
                </a14:m>
                <a:endParaRPr lang="en-US" dirty="0"/>
              </a:p>
              <a:p>
                <a:r>
                  <a:rPr lang="en-US" dirty="0"/>
                  <a:t>If we minimize the inner expression, we minimize the total expression and the portion we can change is </a:t>
                </a:r>
                <a14:m>
                  <m:oMath xmlns:m="http://schemas.openxmlformats.org/officeDocument/2006/math">
                    <m:r>
                      <a:rPr lang="en-US" b="0" i="1" smtClean="0">
                        <a:latin typeface="Cambria Math" panose="02040503050406030204" pitchFamily="18" charset="0"/>
                      </a:rPr>
                      <m:t>𝑓</m:t>
                    </m:r>
                  </m:oMath>
                </a14:m>
                <a:r>
                  <a:rPr lang="en-US" dirty="0"/>
                  <a:t> given </a:t>
                </a:r>
                <a14:m>
                  <m:oMath xmlns:m="http://schemas.openxmlformats.org/officeDocument/2006/math">
                    <m:r>
                      <a:rPr lang="en-US" i="1">
                        <a:latin typeface="Cambria Math" panose="02040503050406030204" pitchFamily="18" charset="0"/>
                      </a:rPr>
                      <m:t>𝑋</m:t>
                    </m:r>
                  </m:oMath>
                </a14:m>
                <a:r>
                  <a:rPr lang="en-US" dirty="0"/>
                  <a:t>.</a:t>
                </a:r>
              </a:p>
              <a:p>
                <a:r>
                  <a:rPr lang="en-US" dirty="0"/>
                  <a:t>Hence, this minimization can be treated as average error over the individual values of </a:t>
                </a:r>
                <a14:m>
                  <m:oMath xmlns:m="http://schemas.openxmlformats.org/officeDocument/2006/math">
                    <m:r>
                      <a:rPr lang="en-US" i="1" smtClean="0">
                        <a:latin typeface="Cambria Math" panose="02040503050406030204" pitchFamily="18" charset="0"/>
                      </a:rPr>
                      <m:t>𝑋</m:t>
                    </m:r>
                  </m:oMath>
                </a14:m>
                <a:r>
                  <a:rPr lang="en-US" dirty="0"/>
                  <a:t>.</a:t>
                </a:r>
              </a:p>
            </p:txBody>
          </p:sp>
        </mc:Choice>
        <mc:Fallback xmlns="">
          <p:sp>
            <p:nvSpPr>
              <p:cNvPr id="3" name="Content Placeholder 2">
                <a:extLst>
                  <a:ext uri="{FF2B5EF4-FFF2-40B4-BE49-F238E27FC236}">
                    <a16:creationId xmlns:a16="http://schemas.microsoft.com/office/drawing/2014/main" id="{9877E6DD-0DF3-3D4A-5C01-3F18B60C9A99}"/>
                  </a:ext>
                </a:extLst>
              </p:cNvPr>
              <p:cNvSpPr>
                <a:spLocks noGrp="1" noRot="1" noChangeAspect="1" noMove="1" noResize="1" noEditPoints="1" noAdjustHandles="1" noChangeArrowheads="1" noChangeShapeType="1" noTextEdit="1"/>
              </p:cNvSpPr>
              <p:nvPr>
                <p:ph idx="1"/>
              </p:nvPr>
            </p:nvSpPr>
            <p:spPr>
              <a:blipFill>
                <a:blip r:embed="rId3"/>
                <a:stretch>
                  <a:fillRect l="-1104" t="-1657"/>
                </a:stretch>
              </a:blipFill>
            </p:spPr>
            <p:txBody>
              <a:bodyPr/>
              <a:lstStyle/>
              <a:p>
                <a:r>
                  <a:rPr lang="en-US">
                    <a:noFill/>
                  </a:rPr>
                  <a:t> </a:t>
                </a:r>
              </a:p>
            </p:txBody>
          </p:sp>
        </mc:Fallback>
      </mc:AlternateContent>
    </p:spTree>
    <p:extLst>
      <p:ext uri="{BB962C8B-B14F-4D97-AF65-F5344CB8AC3E}">
        <p14:creationId xmlns:p14="http://schemas.microsoft.com/office/powerpoint/2010/main" val="24020173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C1C8CB9-92BD-F556-279D-D5E5FC0B8FA2}"/>
                  </a:ext>
                </a:extLst>
              </p:cNvPr>
              <p:cNvSpPr>
                <a:spLocks noGrp="1"/>
              </p:cNvSpPr>
              <p:nvPr>
                <p:ph type="title"/>
              </p:nvPr>
            </p:nvSpPr>
            <p:spPr/>
            <p:txBody>
              <a:bodyPr/>
              <a:lstStyle/>
              <a:p>
                <a:r>
                  <a:rPr lang="en-US" dirty="0"/>
                  <a:t>Consequences of Minimizing </a:t>
                </a:r>
                <a14:m>
                  <m:oMath xmlns:m="http://schemas.openxmlformats.org/officeDocument/2006/math">
                    <m:r>
                      <a:rPr lang="en-US" b="1" i="1" smtClean="0">
                        <a:latin typeface="Cambria Math" panose="02040503050406030204" pitchFamily="18" charset="0"/>
                      </a:rPr>
                      <m:t>𝑬𝑷𝑬</m:t>
                    </m:r>
                    <m:r>
                      <a:rPr lang="en-US" b="1" i="1" smtClean="0">
                        <a:latin typeface="Cambria Math" panose="02040503050406030204" pitchFamily="18" charset="0"/>
                      </a:rPr>
                      <m:t>(</m:t>
                    </m:r>
                    <m:r>
                      <a:rPr lang="en-US" b="1" i="1" smtClean="0">
                        <a:latin typeface="Cambria Math" panose="02040503050406030204" pitchFamily="18" charset="0"/>
                      </a:rPr>
                      <m:t>𝒇</m:t>
                    </m:r>
                    <m:r>
                      <a:rPr lang="en-US" b="1" i="1" smtClean="0">
                        <a:latin typeface="Cambria Math" panose="02040503050406030204" pitchFamily="18" charset="0"/>
                      </a:rPr>
                      <m:t>)</m:t>
                    </m:r>
                  </m:oMath>
                </a14:m>
                <a:endParaRPr lang="en-US" dirty="0"/>
              </a:p>
            </p:txBody>
          </p:sp>
        </mc:Choice>
        <mc:Fallback xmlns="">
          <p:sp>
            <p:nvSpPr>
              <p:cNvPr id="2" name="Title 1">
                <a:extLst>
                  <a:ext uri="{FF2B5EF4-FFF2-40B4-BE49-F238E27FC236}">
                    <a16:creationId xmlns:a16="http://schemas.microsoft.com/office/drawing/2014/main" id="{DC1C8CB9-92BD-F556-279D-D5E5FC0B8FA2}"/>
                  </a:ext>
                </a:extLst>
              </p:cNvPr>
              <p:cNvSpPr>
                <a:spLocks noGrp="1" noRot="1" noChangeAspect="1" noMove="1" noResize="1" noEditPoints="1" noAdjustHandles="1" noChangeArrowheads="1" noChangeShapeType="1" noTextEdit="1"/>
              </p:cNvSpPr>
              <p:nvPr>
                <p:ph type="title"/>
              </p:nvPr>
            </p:nvSpPr>
            <p:spPr>
              <a:blipFill>
                <a:blip r:embed="rId2"/>
                <a:stretch>
                  <a:fillRect b="-243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920F6DB-6198-4348-14DB-63118B51DADC}"/>
                  </a:ext>
                </a:extLst>
              </p:cNvPr>
              <p:cNvSpPr>
                <a:spLocks noGrp="1"/>
              </p:cNvSpPr>
              <p:nvPr>
                <p:ph idx="1"/>
              </p:nvPr>
            </p:nvSpPr>
            <p:spPr/>
            <p:txBody>
              <a:bodyPr/>
              <a:lstStyle/>
              <a:p>
                <a:r>
                  <a:rPr lang="en-US" dirty="0"/>
                  <a:t>If there are no restrictions on </a:t>
                </a:r>
                <a14:m>
                  <m:oMath xmlns:m="http://schemas.openxmlformats.org/officeDocument/2006/math">
                    <m:r>
                      <a:rPr lang="en-US" i="1" smtClean="0">
                        <a:latin typeface="Cambria Math" panose="02040503050406030204" pitchFamily="18" charset="0"/>
                      </a:rPr>
                      <m:t>𝑓</m:t>
                    </m:r>
                  </m:oMath>
                </a14:m>
                <a:r>
                  <a:rPr lang="en-US" dirty="0"/>
                  <a:t>, it has to be the function going through all the points in the dataset!</a:t>
                </a:r>
              </a:p>
              <a:p>
                <a:r>
                  <a:rPr lang="en-US" dirty="0"/>
                  <a:t>We know, however, that would be a high-variance (overfitted) model, which is not good. </a:t>
                </a:r>
              </a:p>
              <a:p>
                <a:r>
                  <a:rPr lang="en-US" dirty="0"/>
                  <a:t>Instead, the family of functions from which </a:t>
                </a:r>
                <a14:m>
                  <m:oMath xmlns:m="http://schemas.openxmlformats.org/officeDocument/2006/math">
                    <m:r>
                      <a:rPr lang="en-US" i="1" smtClean="0">
                        <a:latin typeface="Cambria Math" panose="02040503050406030204" pitchFamily="18" charset="0"/>
                      </a:rPr>
                      <m:t>𝑓</m:t>
                    </m:r>
                  </m:oMath>
                </a14:m>
                <a:r>
                  <a:rPr lang="en-US" dirty="0"/>
                  <a:t> arises is restricted in some way.</a:t>
                </a:r>
              </a:p>
              <a:p>
                <a:pPr lvl="1"/>
                <a:r>
                  <a:rPr lang="en-US" dirty="0"/>
                  <a:t>For example, the family of functions may be only linear functions. </a:t>
                </a:r>
              </a:p>
            </p:txBody>
          </p:sp>
        </mc:Choice>
        <mc:Fallback xmlns="">
          <p:sp>
            <p:nvSpPr>
              <p:cNvPr id="3" name="Content Placeholder 2">
                <a:extLst>
                  <a:ext uri="{FF2B5EF4-FFF2-40B4-BE49-F238E27FC236}">
                    <a16:creationId xmlns:a16="http://schemas.microsoft.com/office/drawing/2014/main" id="{7920F6DB-6198-4348-14DB-63118B51DADC}"/>
                  </a:ext>
                </a:extLst>
              </p:cNvPr>
              <p:cNvSpPr>
                <a:spLocks noGrp="1" noRot="1" noChangeAspect="1" noMove="1" noResize="1" noEditPoints="1" noAdjustHandles="1" noChangeArrowheads="1" noChangeShapeType="1" noTextEdit="1"/>
              </p:cNvSpPr>
              <p:nvPr>
                <p:ph idx="1"/>
              </p:nvPr>
            </p:nvSpPr>
            <p:spPr>
              <a:blipFill>
                <a:blip r:embed="rId3"/>
                <a:stretch>
                  <a:fillRect l="-1104" t="-1657"/>
                </a:stretch>
              </a:blipFill>
            </p:spPr>
            <p:txBody>
              <a:bodyPr/>
              <a:lstStyle/>
              <a:p>
                <a:r>
                  <a:rPr lang="en-US">
                    <a:noFill/>
                  </a:rPr>
                  <a:t> </a:t>
                </a:r>
              </a:p>
            </p:txBody>
          </p:sp>
        </mc:Fallback>
      </mc:AlternateContent>
    </p:spTree>
    <p:extLst>
      <p:ext uri="{BB962C8B-B14F-4D97-AF65-F5344CB8AC3E}">
        <p14:creationId xmlns:p14="http://schemas.microsoft.com/office/powerpoint/2010/main" val="1359898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EC94A-4940-51D7-CF91-39F558C61EC2}"/>
              </a:ext>
            </a:extLst>
          </p:cNvPr>
          <p:cNvSpPr>
            <a:spLocks noGrp="1"/>
          </p:cNvSpPr>
          <p:nvPr>
            <p:ph type="title"/>
          </p:nvPr>
        </p:nvSpPr>
        <p:spPr/>
        <p:txBody>
          <a:bodyPr/>
          <a:lstStyle/>
          <a:p>
            <a:r>
              <a:rPr lang="en-US"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B3218D-E391-874C-99B9-A1539E3D87D0}"/>
                  </a:ext>
                </a:extLst>
              </p:cNvPr>
              <p:cNvSpPr>
                <a:spLocks noGrp="1"/>
              </p:cNvSpPr>
              <p:nvPr>
                <p:ph idx="1"/>
              </p:nvPr>
            </p:nvSpPr>
            <p:spPr/>
            <p:txBody>
              <a:bodyPr/>
              <a:lstStyle/>
              <a:p>
                <a:r>
                  <a:rPr lang="en-US" dirty="0"/>
                  <a:t>The formal problem states that, given </a:t>
                </a:r>
              </a:p>
              <a:p>
                <a:pPr lvl="1"/>
                <a14:m>
                  <m:oMath xmlns:m="http://schemas.openxmlformats.org/officeDocument/2006/math">
                    <m:r>
                      <a:rPr lang="en-US" altLang="en-US" b="0" i="1" smtClean="0">
                        <a:latin typeface="Cambria Math" panose="02040503050406030204" pitchFamily="18" charset="0"/>
                      </a:rPr>
                      <m:t>𝑋</m:t>
                    </m:r>
                    <m:r>
                      <a:rPr lang="en-US" altLang="en-US" b="0" i="1" smtClean="0">
                        <a:latin typeface="Cambria Math" panose="02040503050406030204" pitchFamily="18" charset="0"/>
                        <a:ea typeface="Cambria Math" panose="02040503050406030204" pitchFamily="18" charset="0"/>
                      </a:rPr>
                      <m:t>∈</m:t>
                    </m:r>
                    <m:sSup>
                      <m:sSupPr>
                        <m:ctrlPr>
                          <a:rPr lang="en-US" altLang="en-US" b="0" i="1" smtClean="0">
                            <a:latin typeface="Cambria Math" panose="02040503050406030204" pitchFamily="18" charset="0"/>
                            <a:ea typeface="Cambria Math" panose="02040503050406030204" pitchFamily="18" charset="0"/>
                          </a:rPr>
                        </m:ctrlPr>
                      </m:sSupPr>
                      <m:e>
                        <m:r>
                          <a:rPr lang="en-US" altLang="en-US" i="1">
                            <a:latin typeface="Cambria Math" panose="02040503050406030204" pitchFamily="18" charset="0"/>
                            <a:ea typeface="Cambria Math" panose="02040503050406030204" pitchFamily="18" charset="0"/>
                          </a:rPr>
                          <m:t>ℝ</m:t>
                        </m:r>
                      </m:e>
                      <m:sup>
                        <m:r>
                          <a:rPr lang="en-US" altLang="en-US" b="0" i="1" smtClean="0">
                            <a:latin typeface="Cambria Math" panose="02040503050406030204" pitchFamily="18" charset="0"/>
                            <a:ea typeface="Cambria Math" panose="02040503050406030204" pitchFamily="18" charset="0"/>
                          </a:rPr>
                          <m:t>𝑝</m:t>
                        </m:r>
                      </m:sup>
                    </m:sSup>
                    <m:r>
                      <a:rPr lang="en-US" altLang="en-US" b="0" i="1" smtClean="0">
                        <a:latin typeface="Cambria Math" panose="02040503050406030204" pitchFamily="18" charset="0"/>
                        <a:ea typeface="Cambria Math" panose="02040503050406030204" pitchFamily="18" charset="0"/>
                      </a:rPr>
                      <m:t>,</m:t>
                    </m:r>
                  </m:oMath>
                </a14:m>
                <a:endParaRPr lang="en-US" altLang="en-US" b="0" i="1" dirty="0">
                  <a:latin typeface="Cambria Math" panose="02040503050406030204" pitchFamily="18" charset="0"/>
                  <a:ea typeface="Cambria Math" panose="02040503050406030204" pitchFamily="18" charset="0"/>
                </a:endParaRPr>
              </a:p>
              <a:p>
                <a:pPr lvl="1"/>
                <a14:m>
                  <m:oMath xmlns:m="http://schemas.openxmlformats.org/officeDocument/2006/math">
                    <m:r>
                      <a:rPr lang="en-US" altLang="en-US" i="1">
                        <a:latin typeface="Cambria Math" panose="02040503050406030204" pitchFamily="18" charset="0"/>
                      </a:rPr>
                      <m:t>𝑌</m:t>
                    </m:r>
                    <m:r>
                      <a:rPr lang="en-US" altLang="en-US" i="1">
                        <a:latin typeface="Cambria Math" panose="02040503050406030204" pitchFamily="18" charset="0"/>
                        <a:ea typeface="Cambria Math" panose="02040503050406030204" pitchFamily="18" charset="0"/>
                      </a:rPr>
                      <m:t>∈</m:t>
                    </m:r>
                    <m:r>
                      <a:rPr lang="en-US" altLang="en-US" i="1">
                        <a:latin typeface="Cambria Math" panose="02040503050406030204" pitchFamily="18" charset="0"/>
                        <a:ea typeface="Cambria Math" panose="02040503050406030204" pitchFamily="18" charset="0"/>
                      </a:rPr>
                      <m:t>ℝ</m:t>
                    </m:r>
                  </m:oMath>
                </a14:m>
                <a:r>
                  <a:rPr lang="en-US" dirty="0"/>
                  <a:t>, </a:t>
                </a:r>
              </a:p>
              <a:p>
                <a:pPr lvl="1"/>
                <a:r>
                  <a:rPr lang="en-US" altLang="en-US" dirty="0"/>
                  <a:t>joint probability distribution </a:t>
                </a:r>
                <a14:m>
                  <m:oMath xmlns:m="http://schemas.openxmlformats.org/officeDocument/2006/math">
                    <m:func>
                      <m:funcPr>
                        <m:ctrlPr>
                          <a:rPr lang="en-US" altLang="en-US" i="1">
                            <a:latin typeface="Cambria Math" panose="02040503050406030204" pitchFamily="18" charset="0"/>
                          </a:rPr>
                        </m:ctrlPr>
                      </m:funcPr>
                      <m:fName>
                        <m:r>
                          <m:rPr>
                            <m:sty m:val="p"/>
                          </m:rPr>
                          <a:rPr lang="en-US" altLang="en-US">
                            <a:latin typeface="Cambria Math" panose="02040503050406030204" pitchFamily="18" charset="0"/>
                          </a:rPr>
                          <m:t>Pr</m:t>
                        </m:r>
                      </m:fName>
                      <m:e>
                        <m:d>
                          <m:dPr>
                            <m:ctrlPr>
                              <a:rPr lang="en-US" altLang="en-US" i="1">
                                <a:latin typeface="Cambria Math" panose="02040503050406030204" pitchFamily="18" charset="0"/>
                              </a:rPr>
                            </m:ctrlPr>
                          </m:dPr>
                          <m:e>
                            <m:r>
                              <a:rPr lang="en-US" altLang="en-US" i="1">
                                <a:latin typeface="Cambria Math" panose="02040503050406030204" pitchFamily="18" charset="0"/>
                              </a:rPr>
                              <m:t>𝑋</m:t>
                            </m:r>
                            <m:r>
                              <a:rPr lang="en-US" altLang="en-US" i="1">
                                <a:latin typeface="Cambria Math" panose="02040503050406030204" pitchFamily="18" charset="0"/>
                              </a:rPr>
                              <m:t>,</m:t>
                            </m:r>
                            <m:r>
                              <a:rPr lang="en-US" altLang="en-US" i="1">
                                <a:latin typeface="Cambria Math" panose="02040503050406030204" pitchFamily="18" charset="0"/>
                              </a:rPr>
                              <m:t>𝑌</m:t>
                            </m:r>
                          </m:e>
                        </m:d>
                      </m:e>
                    </m:func>
                  </m:oMath>
                </a14:m>
                <a:r>
                  <a:rPr lang="en-US" dirty="0"/>
                  <a:t> and </a:t>
                </a:r>
              </a:p>
              <a:p>
                <a:pPr lvl="1"/>
                <a14:m>
                  <m:oMath xmlns:m="http://schemas.openxmlformats.org/officeDocument/2006/math">
                    <m:r>
                      <a:rPr lang="en-US" b="0" i="1" smtClean="0">
                        <a:latin typeface="Cambria Math" panose="02040503050406030204" pitchFamily="18" charset="0"/>
                      </a:rPr>
                      <m:t>𝐿</m:t>
                    </m:r>
                    <m:d>
                      <m:dPr>
                        <m:ctrlPr>
                          <a:rPr lang="en-US" b="0" i="1" smtClean="0">
                            <a:latin typeface="Cambria Math" panose="02040503050406030204" pitchFamily="18" charset="0"/>
                          </a:rPr>
                        </m:ctrlPr>
                      </m:dPr>
                      <m:e>
                        <m:r>
                          <a:rPr lang="en-US" b="0" i="1" smtClean="0">
                            <a:latin typeface="Cambria Math" panose="02040503050406030204" pitchFamily="18" charset="0"/>
                          </a:rPr>
                          <m:t>𝑌</m:t>
                        </m:r>
                        <m:r>
                          <a:rPr lang="en-US" b="0" i="1" smtClean="0">
                            <a:latin typeface="Cambria Math" panose="02040503050406030204" pitchFamily="18" charset="0"/>
                          </a:rPr>
                          <m:t>, </m:t>
                        </m:r>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e>
                    </m:d>
                    <m:r>
                      <a:rPr lang="en-US" b="0" i="1" smtClean="0">
                        <a:latin typeface="Cambria Math" panose="02040503050406030204" pitchFamily="18" charset="0"/>
                      </a:rPr>
                      <m:t>: </m:t>
                    </m:r>
                    <m:r>
                      <a:rPr lang="en-US" b="0" i="1" smtClean="0">
                        <a:latin typeface="Cambria Math" panose="02040503050406030204" pitchFamily="18" charset="0"/>
                        <a:ea typeface="Cambria Math" panose="02040503050406030204" pitchFamily="18" charset="0"/>
                      </a:rPr>
                      <m:t>ℝ</m:t>
                    </m:r>
                    <m:sSup>
                      <m:sSupPr>
                        <m:ctrlPr>
                          <a:rPr lang="en-US" b="0" i="1" smtClean="0">
                            <a:latin typeface="Cambria Math" panose="02040503050406030204" pitchFamily="18" charset="0"/>
                            <a:ea typeface="Cambria Math" panose="02040503050406030204" pitchFamily="18" charset="0"/>
                          </a:rPr>
                        </m:ctrlPr>
                      </m:sSupPr>
                      <m:e>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ℝ</m:t>
                        </m:r>
                      </m:e>
                      <m:sup>
                        <m:r>
                          <a:rPr lang="en-US" b="0" i="1" smtClean="0">
                            <a:latin typeface="Cambria Math" panose="02040503050406030204" pitchFamily="18" charset="0"/>
                            <a:ea typeface="Cambria Math" panose="02040503050406030204" pitchFamily="18" charset="0"/>
                          </a:rPr>
                          <m:t>𝑝</m:t>
                        </m:r>
                      </m:sup>
                    </m:sSup>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ℝ</m:t>
                        </m:r>
                      </m:e>
                      <m:sub>
                        <m:r>
                          <a:rPr lang="en-US" b="0" i="1" smtClean="0">
                            <a:latin typeface="Cambria Math" panose="02040503050406030204" pitchFamily="18" charset="0"/>
                            <a:ea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oMath>
                </a14:m>
                <a:r>
                  <a:rPr lang="en-US" dirty="0"/>
                  <a:t> non-negative and continuous, </a:t>
                </a:r>
              </a:p>
              <a:p>
                <a:pPr marL="0" indent="0">
                  <a:buNone/>
                </a:pPr>
                <a:r>
                  <a:rPr lang="en-US" dirty="0"/>
                  <a:t>the statistical learning problem aims to find an </a:t>
                </a:r>
                <a14:m>
                  <m:oMath xmlns:m="http://schemas.openxmlformats.org/officeDocument/2006/math">
                    <m:r>
                      <a:rPr lang="en-US" i="1">
                        <a:latin typeface="Cambria Math" panose="02040503050406030204" pitchFamily="18" charset="0"/>
                      </a:rPr>
                      <m:t>𝑓</m:t>
                    </m:r>
                  </m:oMath>
                </a14:m>
                <a:r>
                  <a:rPr lang="en-US" dirty="0"/>
                  <a:t> to minimize </a:t>
                </a:r>
                <a14:m>
                  <m:oMath xmlns:m="http://schemas.openxmlformats.org/officeDocument/2006/math">
                    <m:r>
                      <a:rPr lang="en-US" i="1">
                        <a:latin typeface="Cambria Math" panose="02040503050406030204" pitchFamily="18" charset="0"/>
                      </a:rPr>
                      <m:t>𝐿</m:t>
                    </m:r>
                    <m:d>
                      <m:dPr>
                        <m:ctrlPr>
                          <a:rPr lang="en-US" i="1">
                            <a:latin typeface="Cambria Math" panose="02040503050406030204" pitchFamily="18" charset="0"/>
                          </a:rPr>
                        </m:ctrlPr>
                      </m:dPr>
                      <m:e>
                        <m:r>
                          <a:rPr lang="en-US" i="1">
                            <a:latin typeface="Cambria Math" panose="02040503050406030204" pitchFamily="18" charset="0"/>
                          </a:rPr>
                          <m:t>𝑌</m:t>
                        </m:r>
                        <m:r>
                          <a:rPr lang="en-US" i="1">
                            <a:latin typeface="Cambria Math" panose="02040503050406030204" pitchFamily="18" charset="0"/>
                          </a:rPr>
                          <m:t>, </m:t>
                        </m:r>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𝑋</m:t>
                            </m:r>
                          </m:e>
                        </m:d>
                      </m:e>
                    </m:d>
                  </m:oMath>
                </a14:m>
                <a:r>
                  <a:rPr lang="en-US" dirty="0"/>
                  <a:t>. </a:t>
                </a:r>
              </a:p>
              <a:p>
                <a:endParaRPr lang="en-US" dirty="0"/>
              </a:p>
            </p:txBody>
          </p:sp>
        </mc:Choice>
        <mc:Fallback xmlns="">
          <p:sp>
            <p:nvSpPr>
              <p:cNvPr id="3" name="Content Placeholder 2">
                <a:extLst>
                  <a:ext uri="{FF2B5EF4-FFF2-40B4-BE49-F238E27FC236}">
                    <a16:creationId xmlns:a16="http://schemas.microsoft.com/office/drawing/2014/main" id="{33B3218D-E391-874C-99B9-A1539E3D87D0}"/>
                  </a:ext>
                </a:extLst>
              </p:cNvPr>
              <p:cNvSpPr>
                <a:spLocks noGrp="1" noRot="1" noChangeAspect="1" noMove="1" noResize="1" noEditPoints="1" noAdjustHandles="1" noChangeArrowheads="1" noChangeShapeType="1" noTextEdit="1"/>
              </p:cNvSpPr>
              <p:nvPr>
                <p:ph idx="1"/>
              </p:nvPr>
            </p:nvSpPr>
            <p:spPr>
              <a:blipFill>
                <a:blip r:embed="rId2"/>
                <a:stretch>
                  <a:fillRect l="-1341" t="-1657"/>
                </a:stretch>
              </a:blipFill>
            </p:spPr>
            <p:txBody>
              <a:bodyPr/>
              <a:lstStyle/>
              <a:p>
                <a:r>
                  <a:rPr lang="en-US">
                    <a:noFill/>
                  </a:rPr>
                  <a:t> </a:t>
                </a:r>
              </a:p>
            </p:txBody>
          </p:sp>
        </mc:Fallback>
      </mc:AlternateContent>
    </p:spTree>
    <p:extLst>
      <p:ext uri="{BB962C8B-B14F-4D97-AF65-F5344CB8AC3E}">
        <p14:creationId xmlns:p14="http://schemas.microsoft.com/office/powerpoint/2010/main" val="30439778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EC94A-4940-51D7-CF91-39F558C61EC2}"/>
              </a:ext>
            </a:extLst>
          </p:cNvPr>
          <p:cNvSpPr>
            <a:spLocks noGrp="1"/>
          </p:cNvSpPr>
          <p:nvPr>
            <p:ph type="title"/>
          </p:nvPr>
        </p:nvSpPr>
        <p:spPr/>
        <p:txBody>
          <a:bodyPr/>
          <a:lstStyle/>
          <a:p>
            <a:r>
              <a:rPr lang="en-US" dirty="0"/>
              <a:t>Conclusion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3B3218D-E391-874C-99B9-A1539E3D87D0}"/>
                  </a:ext>
                </a:extLst>
              </p:cNvPr>
              <p:cNvSpPr>
                <a:spLocks noGrp="1"/>
              </p:cNvSpPr>
              <p:nvPr>
                <p:ph idx="1"/>
              </p:nvPr>
            </p:nvSpPr>
            <p:spPr/>
            <p:txBody>
              <a:bodyPr/>
              <a:lstStyle/>
              <a:p>
                <a:r>
                  <a:rPr lang="en-US" dirty="0"/>
                  <a:t>It ends up being sufficient to study the average of the pointwise loss.</a:t>
                </a:r>
              </a:p>
              <a:p>
                <a:r>
                  <a:rPr lang="en-US" dirty="0"/>
                  <a:t>We also will restrict the family of functions that </a:t>
                </a:r>
                <a14:m>
                  <m:oMath xmlns:m="http://schemas.openxmlformats.org/officeDocument/2006/math">
                    <m:r>
                      <a:rPr lang="en-US" i="1" smtClean="0">
                        <a:latin typeface="Cambria Math" panose="02040503050406030204" pitchFamily="18" charset="0"/>
                      </a:rPr>
                      <m:t>𝑓</m:t>
                    </m:r>
                  </m:oMath>
                </a14:m>
                <a:r>
                  <a:rPr lang="en-US" dirty="0"/>
                  <a:t> comes from, both to simplify the problem and to reduce the chance of overfitting. </a:t>
                </a:r>
              </a:p>
              <a:p>
                <a:r>
                  <a:rPr lang="en-US" dirty="0"/>
                  <a:t>Remember: it is completely ok to feel uncomfortable with this lecture. </a:t>
                </a:r>
              </a:p>
            </p:txBody>
          </p:sp>
        </mc:Choice>
        <mc:Fallback xmlns="">
          <p:sp>
            <p:nvSpPr>
              <p:cNvPr id="3" name="Content Placeholder 2">
                <a:extLst>
                  <a:ext uri="{FF2B5EF4-FFF2-40B4-BE49-F238E27FC236}">
                    <a16:creationId xmlns:a16="http://schemas.microsoft.com/office/drawing/2014/main" id="{33B3218D-E391-874C-99B9-A1539E3D87D0}"/>
                  </a:ext>
                </a:extLst>
              </p:cNvPr>
              <p:cNvSpPr>
                <a:spLocks noGrp="1" noRot="1" noChangeAspect="1" noMove="1" noResize="1" noEditPoints="1" noAdjustHandles="1" noChangeArrowheads="1" noChangeShapeType="1" noTextEdit="1"/>
              </p:cNvSpPr>
              <p:nvPr>
                <p:ph idx="1"/>
              </p:nvPr>
            </p:nvSpPr>
            <p:spPr>
              <a:blipFill>
                <a:blip r:embed="rId3"/>
                <a:stretch>
                  <a:fillRect l="-1104" t="-1657" r="-237"/>
                </a:stretch>
              </a:blipFill>
            </p:spPr>
            <p:txBody>
              <a:bodyPr/>
              <a:lstStyle/>
              <a:p>
                <a:r>
                  <a:rPr lang="en-US">
                    <a:noFill/>
                  </a:rPr>
                  <a:t> </a:t>
                </a:r>
              </a:p>
            </p:txBody>
          </p:sp>
        </mc:Fallback>
      </mc:AlternateContent>
    </p:spTree>
    <p:extLst>
      <p:ext uri="{BB962C8B-B14F-4D97-AF65-F5344CB8AC3E}">
        <p14:creationId xmlns:p14="http://schemas.microsoft.com/office/powerpoint/2010/main" val="58998088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Breeze">
  <a:themeElements>
    <a:clrScheme name="Custom 3">
      <a:dk1>
        <a:sysClr val="windowText" lastClr="000000"/>
      </a:dk1>
      <a:lt1>
        <a:srgbClr val="C40724"/>
      </a:lt1>
      <a:dk2>
        <a:srgbClr val="000000"/>
      </a:dk2>
      <a:lt2>
        <a:srgbClr val="F8F8F8"/>
      </a:lt2>
      <a:accent1>
        <a:srgbClr val="BD061C"/>
      </a:accent1>
      <a:accent2>
        <a:srgbClr val="E98D0A"/>
      </a:accent2>
      <a:accent3>
        <a:srgbClr val="969696"/>
      </a:accent3>
      <a:accent4>
        <a:srgbClr val="808080"/>
      </a:accent4>
      <a:accent5>
        <a:srgbClr val="C40724"/>
      </a:accent5>
      <a:accent6>
        <a:srgbClr val="3F4F6C"/>
      </a:accent6>
      <a:hlink>
        <a:srgbClr val="5F5F5F"/>
      </a:hlink>
      <a:folHlink>
        <a:srgbClr val="919191"/>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Breeze">
      <a:fillStyleLst>
        <a:solidFill>
          <a:schemeClr val="phClr"/>
        </a:solidFill>
        <a:gradFill rotWithShape="1">
          <a:gsLst>
            <a:gs pos="31000">
              <a:schemeClr val="phClr">
                <a:tint val="100000"/>
                <a:shade val="100000"/>
                <a:satMod val="120000"/>
              </a:schemeClr>
            </a:gs>
            <a:gs pos="100000">
              <a:schemeClr val="phClr">
                <a:tint val="50000"/>
                <a:satMod val="150000"/>
              </a:schemeClr>
            </a:gs>
          </a:gsLst>
          <a:lin ang="5400000" scaled="1"/>
        </a:gradFill>
        <a:gradFill rotWithShape="1">
          <a:gsLst>
            <a:gs pos="0">
              <a:schemeClr val="phClr">
                <a:shade val="100000"/>
                <a:satMod val="120000"/>
              </a:schemeClr>
            </a:gs>
            <a:gs pos="69000">
              <a:schemeClr val="phClr">
                <a:tint val="80000"/>
                <a:shade val="100000"/>
                <a:satMod val="150000"/>
              </a:schemeClr>
            </a:gs>
            <a:gs pos="100000">
              <a:schemeClr val="phClr">
                <a:tint val="50000"/>
                <a:shade val="100000"/>
                <a:satMod val="150000"/>
              </a:schemeClr>
            </a:gs>
          </a:gsLst>
          <a:path path="circle">
            <a:fillToRect l="100000" t="100000" r="100000" b="100000"/>
          </a:path>
        </a:gradFill>
      </a:fillStyleLst>
      <a:lnStyleLst>
        <a:ln w="12700" cap="flat" cmpd="sng" algn="ctr">
          <a:solidFill>
            <a:schemeClr val="phClr">
              <a:shade val="95000"/>
              <a:satMod val="105000"/>
            </a:schemeClr>
          </a:solidFill>
          <a:prstDash val="solid"/>
        </a:ln>
        <a:ln w="25400" cap="flat" cmpd="dbl" algn="ctr">
          <a:solidFill>
            <a:schemeClr val="phClr"/>
          </a:solidFill>
          <a:prstDash val="solid"/>
        </a:ln>
        <a:ln w="31750" cap="flat" cmpd="dbl" algn="ctr">
          <a:solidFill>
            <a:schemeClr val="phClr"/>
          </a:solidFill>
          <a:prstDash val="solid"/>
        </a:ln>
      </a:lnStyleLst>
      <a:effectStyleLst>
        <a:effectStyle>
          <a:effectLst/>
        </a:effectStyle>
        <a:effectStyle>
          <a:effectLst>
            <a:outerShdw blurRad="63500" dist="25400" dir="5400000" sx="101000" sy="101000" rotWithShape="0">
              <a:srgbClr val="000000">
                <a:alpha val="40000"/>
              </a:srgbClr>
            </a:outerShdw>
          </a:effectLst>
        </a:effectStyle>
        <a:effectStyle>
          <a:effectLst>
            <a:innerShdw blurRad="127000" dist="25400" dir="13500000">
              <a:srgbClr val="C0C0C0">
                <a:alpha val="75000"/>
              </a:srgbClr>
            </a:innerShdw>
            <a:outerShdw blurRad="88900" dist="25400" dir="5400000" sx="102000" sy="102000" algn="ctr" rotWithShape="0">
              <a:srgbClr val="C0C0C0">
                <a:alpha val="40000"/>
              </a:srgbClr>
            </a:outerShdw>
          </a:effectLst>
          <a:scene3d>
            <a:camera prst="perspectiveLeft" fov="300000"/>
            <a:lightRig rig="soft" dir="l">
              <a:rot lat="0" lon="0" rev="4200000"/>
            </a:lightRig>
          </a:scene3d>
          <a:sp3d extrusionH="38100" prstMaterial="powder">
            <a:bevelT w="50800" h="88900" prst="convex"/>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blipFill rotWithShape="1">
          <a:blip xmlns:r="http://schemas.openxmlformats.org/officeDocument/2006/relationships" r:embed="rId1">
            <a:duotone>
              <a:schemeClr val="phClr">
                <a:shade val="40000"/>
                <a:satMod val="400000"/>
              </a:schemeClr>
              <a:schemeClr val="phClr">
                <a:tint val="10000"/>
                <a:satMod val="200000"/>
              </a:schemeClr>
            </a:duotone>
          </a:blip>
          <a:stretch/>
        </a:blip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ILTECH_Template_2019 (1)  -  Compatibility Mode" id="{96DF2388-B785-2045-9157-84F6A1D402CB}" vid="{FA40E05E-1420-CD4F-AB4E-3CD2BC76CD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5e41b080-9453-459c-bb93-b19be7335f42" xsi:nil="true"/>
    <Comments xmlns="5e41b080-9453-459c-bb93-b19be7335f42" xsi:nil="true"/>
    <Due_x0020_Date xmlns="5e41b080-9453-459c-bb93-b19be7335f42" xsi:nil="true"/>
    <lcf76f155ced4ddcb4097134ff3c332f xmlns="5e41b080-9453-459c-bb93-b19be7335f42">
      <Terms xmlns="http://schemas.microsoft.com/office/infopath/2007/PartnerControls"/>
    </lcf76f155ced4ddcb4097134ff3c332f>
    <TaxCatchAll xmlns="4e58ebf2-e4df-4cd3-9186-1e42b3ede12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F3EF55019BAB0549B2C20BFAAB8A2896" ma:contentTypeVersion="16" ma:contentTypeDescription="Create a new document." ma:contentTypeScope="" ma:versionID="85cef1d12f529d56583853ef5dc33f7c">
  <xsd:schema xmlns:xsd="http://www.w3.org/2001/XMLSchema" xmlns:xs="http://www.w3.org/2001/XMLSchema" xmlns:p="http://schemas.microsoft.com/office/2006/metadata/properties" xmlns:ns2="5e41b080-9453-459c-bb93-b19be7335f42" xmlns:ns3="4e58ebf2-e4df-4cd3-9186-1e42b3ede124" targetNamespace="http://schemas.microsoft.com/office/2006/metadata/properties" ma:root="true" ma:fieldsID="ccccdfc22f8c8f07a3477280a29706aa" ns2:_="" ns3:_="">
    <xsd:import namespace="5e41b080-9453-459c-bb93-b19be7335f42"/>
    <xsd:import namespace="4e58ebf2-e4df-4cd3-9186-1e42b3ede124"/>
    <xsd:element name="properties">
      <xsd:complexType>
        <xsd:sequence>
          <xsd:element name="documentManagement">
            <xsd:complexType>
              <xsd:all>
                <xsd:element ref="ns2:Due_x0020_Date" minOccurs="0"/>
                <xsd:element ref="ns2:Status" minOccurs="0"/>
                <xsd:element ref="ns2:Comments" minOccurs="0"/>
                <xsd:element ref="ns2:MediaServiceMetadata" minOccurs="0"/>
                <xsd:element ref="ns2:MediaServiceFastMetadata" minOccurs="0"/>
                <xsd:element ref="ns3:SharedWithUsers" minOccurs="0"/>
                <xsd:element ref="ns3:SharedWithDetails" minOccurs="0"/>
                <xsd:element ref="ns2:MediaServiceDateTaken"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e41b080-9453-459c-bb93-b19be7335f42" elementFormDefault="qualified">
    <xsd:import namespace="http://schemas.microsoft.com/office/2006/documentManagement/types"/>
    <xsd:import namespace="http://schemas.microsoft.com/office/infopath/2007/PartnerControls"/>
    <xsd:element name="Due_x0020_Date" ma:index="8" nillable="true" ma:displayName="Due Date" ma:format="DateOnly" ma:internalName="Due_x0020_Date">
      <xsd:simpleType>
        <xsd:restriction base="dms:DateTime"/>
      </xsd:simpleType>
    </xsd:element>
    <xsd:element name="Status" ma:index="9" nillable="true" ma:displayName="Status" ma:format="Dropdown" ma:internalName="Status">
      <xsd:simpleType>
        <xsd:restriction base="dms:Choice">
          <xsd:enumeration value="For Partner Review"/>
          <xsd:enumeration value="For Collegis Review"/>
          <xsd:enumeration value="Approved by Partner"/>
        </xsd:restriction>
      </xsd:simpleType>
    </xsd:element>
    <xsd:element name="Comments" ma:index="10" nillable="true" ma:displayName="Comments" ma:internalName="Comments">
      <xsd:simpleType>
        <xsd:restriction base="dms:Note">
          <xsd:maxLength value="255"/>
        </xsd:restriction>
      </xsd:simple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bjectDetectorVersions" ma:index="16" nillable="true" ma:displayName="MediaServiceObjectDetectorVersions" ma:hidden="true" ma:indexed="true" ma:internalName="MediaServiceObjectDetectorVersions"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11040b95-0fdc-46ce-be91-73dc895452db"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GenerationTime" ma:index="22" nillable="true" ma:displayName="MediaServiceGenerationTime" ma:hidden="true" ma:internalName="MediaServiceGenerationTime" ma:readOnly="true">
      <xsd:simpleType>
        <xsd:restriction base="dms:Text"/>
      </xsd:simpleType>
    </xsd:element>
    <xsd:element name="MediaServiceEventHashCode" ma:index="23"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58ebf2-e4df-4cd3-9186-1e42b3ede124"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20" nillable="true" ma:displayName="Taxonomy Catch All Column" ma:hidden="true" ma:list="{ef5f3a8b-878a-4d06-a8de-79a1d9f1fffd}" ma:internalName="TaxCatchAll" ma:showField="CatchAllData" ma:web="4e58ebf2-e4df-4cd3-9186-1e42b3ede12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FA838ED-C12F-4A42-8E88-98BAC73D2147}">
  <ds:schemaRefs>
    <ds:schemaRef ds:uri="http://schemas.microsoft.com/sharepoint/v3/contenttype/forms"/>
  </ds:schemaRefs>
</ds:datastoreItem>
</file>

<file path=customXml/itemProps2.xml><?xml version="1.0" encoding="utf-8"?>
<ds:datastoreItem xmlns:ds="http://schemas.openxmlformats.org/officeDocument/2006/customXml" ds:itemID="{3C6A4EEA-2556-441D-B20B-0657893061DE}">
  <ds:schemaRefs>
    <ds:schemaRef ds:uri="http://schemas.microsoft.com/office/2006/metadata/properties"/>
    <ds:schemaRef ds:uri="http://schemas.microsoft.com/office/infopath/2007/PartnerControls"/>
    <ds:schemaRef ds:uri="5e41b080-9453-459c-bb93-b19be7335f42"/>
    <ds:schemaRef ds:uri="4e58ebf2-e4df-4cd3-9186-1e42b3ede124"/>
  </ds:schemaRefs>
</ds:datastoreItem>
</file>

<file path=customXml/itemProps3.xml><?xml version="1.0" encoding="utf-8"?>
<ds:datastoreItem xmlns:ds="http://schemas.openxmlformats.org/officeDocument/2006/customXml" ds:itemID="{39A3ACA1-D96F-4A96-85DE-54D87646E2C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e41b080-9453-459c-bb93-b19be7335f42"/>
    <ds:schemaRef ds:uri="4e58ebf2-e4df-4cd3-9186-1e42b3ede12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1218</TotalTime>
  <Words>985</Words>
  <Application>Microsoft Macintosh PowerPoint</Application>
  <PresentationFormat>Custom</PresentationFormat>
  <Paragraphs>95</Paragraphs>
  <Slides>18</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 Math</vt:lpstr>
      <vt:lpstr>Wingdings 2</vt:lpstr>
      <vt:lpstr>Breeze</vt:lpstr>
      <vt:lpstr>Math 769: Statistical Learning</vt:lpstr>
      <vt:lpstr>Formal Description of the Statistical Learning Problem</vt:lpstr>
      <vt:lpstr>Last Time</vt:lpstr>
      <vt:lpstr>Objectives</vt:lpstr>
      <vt:lpstr>Formal Setup</vt:lpstr>
      <vt:lpstr>The Loss Function</vt:lpstr>
      <vt:lpstr>The Expected Prediction Error</vt:lpstr>
      <vt:lpstr>Components of EPE</vt:lpstr>
      <vt:lpstr>Our aim is to minimize EPE.  So, what are we minimizing? </vt:lpstr>
      <vt:lpstr>The reducible error!</vt:lpstr>
      <vt:lpstr>That means we are changing f(X)!</vt:lpstr>
      <vt:lpstr>But how???</vt:lpstr>
      <vt:lpstr>Derivation of EPE(f)</vt:lpstr>
      <vt:lpstr>Derivation of EPE(f) Continued</vt:lpstr>
      <vt:lpstr>Minimizing EPE(f)</vt:lpstr>
      <vt:lpstr>Consequences of Minimizing EPE(f)</vt:lpstr>
      <vt:lpstr>Conclusion</vt:lpstr>
      <vt:lpstr>Conclusion</vt:lpstr>
    </vt:vector>
  </TitlesOfParts>
  <Manager/>
  <Company>Illinois Institute of Technology</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Illinois Tech President's PowerPoint Presentation</dc:title>
  <dc:subject/>
  <dc:creator>Sandra Laporte</dc:creator>
  <cp:keywords/>
  <dc:description/>
  <cp:lastModifiedBy>Jamshidi, Sara (She/Her/Hers)</cp:lastModifiedBy>
  <cp:revision>18</cp:revision>
  <dcterms:created xsi:type="dcterms:W3CDTF">2019-02-13T16:04:21Z</dcterms:created>
  <dcterms:modified xsi:type="dcterms:W3CDTF">2023-10-05T18:52:35Z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0x010100F3EF55019BAB0549B2C20BFAAB8A2896</vt:lpwstr>
  </property>
</Properties>
</file>