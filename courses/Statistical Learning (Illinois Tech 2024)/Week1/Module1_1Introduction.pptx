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2.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9"/>
  </p:notesMasterIdLst>
  <p:sldIdLst>
    <p:sldId id="259" r:id="rId5"/>
    <p:sldId id="262" r:id="rId6"/>
    <p:sldId id="289" r:id="rId7"/>
    <p:sldId id="260" r:id="rId8"/>
    <p:sldId id="290" r:id="rId9"/>
    <p:sldId id="264" r:id="rId10"/>
    <p:sldId id="275" r:id="rId11"/>
    <p:sldId id="276" r:id="rId12"/>
    <p:sldId id="278" r:id="rId13"/>
    <p:sldId id="277" r:id="rId14"/>
    <p:sldId id="279" r:id="rId15"/>
    <p:sldId id="288" r:id="rId16"/>
    <p:sldId id="287" r:id="rId17"/>
    <p:sldId id="285" r:id="rId18"/>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30"/>
    <p:restoredTop sz="93832"/>
  </p:normalViewPr>
  <p:slideViewPr>
    <p:cSldViewPr snapToGrid="0" snapToObjects="1">
      <p:cViewPr varScale="1">
        <p:scale>
          <a:sx n="86" d="100"/>
          <a:sy n="86" d="100"/>
        </p:scale>
        <p:origin x="232" y="41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EC40-D94D-BE0A-63E61D41E8AB}"/>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EC40-D94D-BE0A-63E61D41E8AB}"/>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EC40-D94D-BE0A-63E61D41E8AB}"/>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EC40-D94D-BE0A-63E61D41E8AB}"/>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EC40-D94D-BE0A-63E61D41E8AB}"/>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r>
              <a:rPr lang="en-US" sz="2800" b="1" dirty="0">
                <a:solidFill>
                  <a:schemeClr val="accent1"/>
                </a:solidFill>
              </a:rPr>
              <a:t>Optional Homework Assignments</a:t>
            </a:r>
            <a:r>
              <a:rPr lang="en-US" sz="2800" b="1" baseline="0" dirty="0">
                <a:solidFill>
                  <a:schemeClr val="accent1"/>
                </a:solidFill>
              </a:rPr>
              <a:t> and Midterm Grades</a:t>
            </a:r>
            <a:endParaRPr lang="en-US" sz="2800" b="1" dirty="0">
              <a:solidFill>
                <a:schemeClr val="accent1"/>
              </a:solidFill>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0.44646131511361825"/>
                  <c:y val="0.20356233979524488"/>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47625" cap="rnd">
                <a:solidFill>
                  <a:schemeClr val="accent1"/>
                </a:solidFill>
                <a:prstDash val="sysDot"/>
              </a:ln>
              <a:effectLst/>
            </c:spPr>
            <c:trendlineType val="linear"/>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2-C553-B74A-841D-FEE80E4C2416}"/>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0.26581</cdr:x>
      <cdr:y>0.27984</cdr:y>
    </cdr:from>
    <cdr:to>
      <cdr:x>0.64531</cdr:x>
      <cdr:y>0.37633</cdr:y>
    </cdr:to>
    <cdr:sp macro="" textlink="">
      <cdr:nvSpPr>
        <cdr:cNvPr id="2" name="TextBox 1">
          <a:extLst xmlns:a="http://schemas.openxmlformats.org/drawingml/2006/main">
            <a:ext uri="{FF2B5EF4-FFF2-40B4-BE49-F238E27FC236}">
              <a16:creationId xmlns:a16="http://schemas.microsoft.com/office/drawing/2014/main" id="{9086370A-BD32-7B5E-6C22-98D052A36C6B}"/>
            </a:ext>
          </a:extLst>
        </cdr:cNvPr>
        <cdr:cNvSpPr txBox="1"/>
      </cdr:nvSpPr>
      <cdr:spPr>
        <a:xfrm xmlns:a="http://schemas.openxmlformats.org/drawingml/2006/main">
          <a:off x="2041525" y="1823187"/>
          <a:ext cx="2914650" cy="6286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3200" b="1" dirty="0">
              <a:solidFill>
                <a:schemeClr val="bg1"/>
              </a:solidFill>
            </a:rPr>
            <a:t>Model</a:t>
          </a:r>
        </a:p>
      </cdr:txBody>
    </cdr:sp>
  </cdr:relSizeAnchor>
</c:userShapes>
</file>

<file path=ppt/drawings/drawing2.xml><?xml version="1.0" encoding="utf-8"?>
<c:userShapes xmlns:c="http://schemas.openxmlformats.org/drawingml/2006/chart">
  <cdr:relSizeAnchor xmlns:cdr="http://schemas.openxmlformats.org/drawingml/2006/chartDrawing">
    <cdr:from>
      <cdr:x>0.38859</cdr:x>
      <cdr:y>0.57336</cdr:y>
    </cdr:from>
    <cdr:to>
      <cdr:x>0.69368</cdr:x>
      <cdr:y>0.66693</cdr:y>
    </cdr:to>
    <cdr:sp macro="" textlink="">
      <cdr:nvSpPr>
        <cdr:cNvPr id="2" name="TextBox 1">
          <a:extLst xmlns:a="http://schemas.openxmlformats.org/drawingml/2006/main">
            <a:ext uri="{FF2B5EF4-FFF2-40B4-BE49-F238E27FC236}">
              <a16:creationId xmlns:a16="http://schemas.microsoft.com/office/drawing/2014/main" id="{7DE47DC0-8795-995B-8470-715237670B21}"/>
            </a:ext>
          </a:extLst>
        </cdr:cNvPr>
        <cdr:cNvSpPr txBox="1"/>
      </cdr:nvSpPr>
      <cdr:spPr>
        <a:xfrm xmlns:a="http://schemas.openxmlformats.org/drawingml/2006/main">
          <a:off x="2984500" y="3735501"/>
          <a:ext cx="2343150" cy="6096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2800" b="1" dirty="0">
              <a:solidFill>
                <a:schemeClr val="accent2"/>
              </a:solidFill>
            </a:rPr>
            <a:t>(2, 47.655)</a:t>
          </a:r>
        </a:p>
      </cdr:txBody>
    </cdr:sp>
  </cdr:relSizeAnchor>
  <cdr:relSizeAnchor xmlns:cdr="http://schemas.openxmlformats.org/drawingml/2006/chartDrawing">
    <cdr:from>
      <cdr:x>0.16412</cdr:x>
      <cdr:y>0.4693</cdr:y>
    </cdr:from>
    <cdr:to>
      <cdr:x>0.76933</cdr:x>
      <cdr:y>0.70906</cdr:y>
    </cdr:to>
    <cdr:sp macro="" textlink="">
      <cdr:nvSpPr>
        <cdr:cNvPr id="3" name="Oval 2">
          <a:extLst xmlns:a="http://schemas.openxmlformats.org/drawingml/2006/main">
            <a:ext uri="{FF2B5EF4-FFF2-40B4-BE49-F238E27FC236}">
              <a16:creationId xmlns:a16="http://schemas.microsoft.com/office/drawing/2014/main" id="{04DA800C-F66E-AB52-FF9A-496DE6BC9BD9}"/>
            </a:ext>
          </a:extLst>
        </cdr:cNvPr>
        <cdr:cNvSpPr/>
      </cdr:nvSpPr>
      <cdr:spPr>
        <a:xfrm xmlns:a="http://schemas.openxmlformats.org/drawingml/2006/main">
          <a:off x="1260475" y="3057525"/>
          <a:ext cx="4648200" cy="1562100"/>
        </a:xfrm>
        <a:prstGeom xmlns:a="http://schemas.openxmlformats.org/drawingml/2006/main" prst="ellipse">
          <a:avLst/>
        </a:prstGeom>
        <a:noFill xmlns:a="http://schemas.openxmlformats.org/drawingml/2006/main"/>
        <a:ln xmlns:a="http://schemas.openxmlformats.org/drawingml/2006/main" w="63500">
          <a:solidFill>
            <a:schemeClr val="bg1"/>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0.61058</cdr:x>
      <cdr:y>0.39474</cdr:y>
    </cdr:from>
    <cdr:to>
      <cdr:x>1</cdr:x>
      <cdr:y>0.5</cdr:y>
    </cdr:to>
    <cdr:sp macro="" textlink="">
      <cdr:nvSpPr>
        <cdr:cNvPr id="4" name="TextBox 3">
          <a:extLst xmlns:a="http://schemas.openxmlformats.org/drawingml/2006/main">
            <a:ext uri="{FF2B5EF4-FFF2-40B4-BE49-F238E27FC236}">
              <a16:creationId xmlns:a16="http://schemas.microsoft.com/office/drawing/2014/main" id="{1247926A-9D6E-677B-FA8E-D349E18A5A83}"/>
            </a:ext>
          </a:extLst>
        </cdr:cNvPr>
        <cdr:cNvSpPr txBox="1"/>
      </cdr:nvSpPr>
      <cdr:spPr>
        <a:xfrm xmlns:a="http://schemas.openxmlformats.org/drawingml/2006/main">
          <a:off x="4689475" y="2571750"/>
          <a:ext cx="2990850" cy="685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3200" b="1" dirty="0">
              <a:solidFill>
                <a:schemeClr val="accent1"/>
              </a:solidFill>
            </a:rPr>
            <a:t>Prediction</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81EC40-FA00-DF48-AC6E-AC49086684A0}" type="datetimeFigureOut">
              <a:rPr lang="en-US" smtClean="0"/>
              <a:t>10/10/23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F7E678-CF17-4E45-AC38-DD227A32DBF9}" type="slidenum">
              <a:rPr lang="en-US" smtClean="0"/>
              <a:t>‹#›</a:t>
            </a:fld>
            <a:endParaRPr lang="en-US"/>
          </a:p>
        </p:txBody>
      </p:sp>
    </p:spTree>
    <p:extLst>
      <p:ext uri="{BB962C8B-B14F-4D97-AF65-F5344CB8AC3E}">
        <p14:creationId xmlns:p14="http://schemas.microsoft.com/office/powerpoint/2010/main" val="249800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hypothetical classroom with 9 students. In this classroom, homework assignments are optional but the midterm is required. The instructor of this hypothetical classroom has collected data on how many optional homework assignments students completed and compared this data to their midterm grade. The instructor then created a model to describe that relationship. Let’s looks at the key elements of this statistical learning problem </a:t>
            </a:r>
            <a:r>
              <a:rPr lang="en-US" dirty="0" err="1"/>
              <a:t>indepth</a:t>
            </a:r>
            <a:r>
              <a:rPr lang="en-US" dirty="0"/>
              <a:t>, </a:t>
            </a:r>
          </a:p>
        </p:txBody>
      </p:sp>
      <p:sp>
        <p:nvSpPr>
          <p:cNvPr id="4" name="Slide Number Placeholder 3"/>
          <p:cNvSpPr>
            <a:spLocks noGrp="1"/>
          </p:cNvSpPr>
          <p:nvPr>
            <p:ph type="sldNum" sz="quarter" idx="5"/>
          </p:nvPr>
        </p:nvSpPr>
        <p:spPr/>
        <p:txBody>
          <a:bodyPr/>
          <a:lstStyle/>
          <a:p>
            <a:fld id="{C0F7E678-CF17-4E45-AC38-DD227A32DBF9}" type="slidenum">
              <a:rPr lang="en-US" smtClean="0"/>
              <a:t>7</a:t>
            </a:fld>
            <a:endParaRPr lang="en-US"/>
          </a:p>
        </p:txBody>
      </p:sp>
    </p:spTree>
    <p:extLst>
      <p:ext uri="{BB962C8B-B14F-4D97-AF65-F5344CB8AC3E}">
        <p14:creationId xmlns:p14="http://schemas.microsoft.com/office/powerpoint/2010/main" val="722502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unit of data in this example is a single student, the number of homework assignments completed, and the midterm grade. </a:t>
            </a:r>
          </a:p>
        </p:txBody>
      </p:sp>
      <p:sp>
        <p:nvSpPr>
          <p:cNvPr id="4" name="Slide Number Placeholder 3"/>
          <p:cNvSpPr>
            <a:spLocks noGrp="1"/>
          </p:cNvSpPr>
          <p:nvPr>
            <p:ph type="sldNum" sz="quarter" idx="5"/>
          </p:nvPr>
        </p:nvSpPr>
        <p:spPr/>
        <p:txBody>
          <a:bodyPr/>
          <a:lstStyle/>
          <a:p>
            <a:fld id="{C0F7E678-CF17-4E45-AC38-DD227A32DBF9}" type="slidenum">
              <a:rPr lang="en-US" smtClean="0"/>
              <a:t>8</a:t>
            </a:fld>
            <a:endParaRPr lang="en-US"/>
          </a:p>
        </p:txBody>
      </p:sp>
    </p:spTree>
    <p:extLst>
      <p:ext uri="{BB962C8B-B14F-4D97-AF65-F5344CB8AC3E}">
        <p14:creationId xmlns:p14="http://schemas.microsoft.com/office/powerpoint/2010/main" val="147411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collection of individual information for all the students. </a:t>
            </a:r>
          </a:p>
        </p:txBody>
      </p:sp>
      <p:sp>
        <p:nvSpPr>
          <p:cNvPr id="4" name="Slide Number Placeholder 3"/>
          <p:cNvSpPr>
            <a:spLocks noGrp="1"/>
          </p:cNvSpPr>
          <p:nvPr>
            <p:ph type="sldNum" sz="quarter" idx="5"/>
          </p:nvPr>
        </p:nvSpPr>
        <p:spPr/>
        <p:txBody>
          <a:bodyPr/>
          <a:lstStyle/>
          <a:p>
            <a:fld id="{C0F7E678-CF17-4E45-AC38-DD227A32DBF9}" type="slidenum">
              <a:rPr lang="en-US" smtClean="0"/>
              <a:t>9</a:t>
            </a:fld>
            <a:endParaRPr lang="en-US"/>
          </a:p>
        </p:txBody>
      </p:sp>
    </p:spTree>
    <p:extLst>
      <p:ext uri="{BB962C8B-B14F-4D97-AF65-F5344CB8AC3E}">
        <p14:creationId xmlns:p14="http://schemas.microsoft.com/office/powerpoint/2010/main" val="1530644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an equation that relates the number of optional homework assignments completed (represented by the variable X) and the midterm grade (represented by the variable Y).</a:t>
            </a:r>
          </a:p>
        </p:txBody>
      </p:sp>
      <p:sp>
        <p:nvSpPr>
          <p:cNvPr id="4" name="Slide Number Placeholder 3"/>
          <p:cNvSpPr>
            <a:spLocks noGrp="1"/>
          </p:cNvSpPr>
          <p:nvPr>
            <p:ph type="sldNum" sz="quarter" idx="5"/>
          </p:nvPr>
        </p:nvSpPr>
        <p:spPr/>
        <p:txBody>
          <a:bodyPr/>
          <a:lstStyle/>
          <a:p>
            <a:fld id="{C0F7E678-CF17-4E45-AC38-DD227A32DBF9}" type="slidenum">
              <a:rPr lang="en-US" smtClean="0"/>
              <a:t>10</a:t>
            </a:fld>
            <a:endParaRPr lang="en-US"/>
          </a:p>
        </p:txBody>
      </p:sp>
    </p:spTree>
    <p:extLst>
      <p:ext uri="{BB962C8B-B14F-4D97-AF65-F5344CB8AC3E}">
        <p14:creationId xmlns:p14="http://schemas.microsoft.com/office/powerpoint/2010/main" val="347781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 prediction that the instructor could make relates to the unseen case of completing only two homework assignments. The model estimates that such a student would receive a score of 47.655 out of 100. </a:t>
            </a:r>
          </a:p>
          <a:p>
            <a:endParaRPr lang="en-US" dirty="0"/>
          </a:p>
          <a:p>
            <a:r>
              <a:rPr lang="en-US" dirty="0"/>
              <a:t>And that’s it. That’s the basic idea of any statistical learning problem. We have a dataset—hopefully one that is sufficiently informative—we build a model, and we infer unknown information from that model. But even seeing this example should give rise to several questions in your mind. </a:t>
            </a:r>
          </a:p>
        </p:txBody>
      </p:sp>
      <p:sp>
        <p:nvSpPr>
          <p:cNvPr id="4" name="Slide Number Placeholder 3"/>
          <p:cNvSpPr>
            <a:spLocks noGrp="1"/>
          </p:cNvSpPr>
          <p:nvPr>
            <p:ph type="sldNum" sz="quarter" idx="5"/>
          </p:nvPr>
        </p:nvSpPr>
        <p:spPr/>
        <p:txBody>
          <a:bodyPr/>
          <a:lstStyle/>
          <a:p>
            <a:fld id="{C0F7E678-CF17-4E45-AC38-DD227A32DBF9}" type="slidenum">
              <a:rPr lang="en-US" smtClean="0"/>
              <a:t>11</a:t>
            </a:fld>
            <a:endParaRPr lang="en-US"/>
          </a:p>
        </p:txBody>
      </p:sp>
    </p:spTree>
    <p:extLst>
      <p:ext uri="{BB962C8B-B14F-4D97-AF65-F5344CB8AC3E}">
        <p14:creationId xmlns:p14="http://schemas.microsoft.com/office/powerpoint/2010/main" val="2801859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Such as, … [read questions]. These are the questions Statistical Learning aims to address. </a:t>
            </a:r>
          </a:p>
        </p:txBody>
      </p:sp>
      <p:sp>
        <p:nvSpPr>
          <p:cNvPr id="4" name="Slide Number Placeholder 3"/>
          <p:cNvSpPr>
            <a:spLocks noGrp="1"/>
          </p:cNvSpPr>
          <p:nvPr>
            <p:ph type="sldNum" sz="quarter" idx="5"/>
          </p:nvPr>
        </p:nvSpPr>
        <p:spPr/>
        <p:txBody>
          <a:bodyPr/>
          <a:lstStyle/>
          <a:p>
            <a:fld id="{C0F7E678-CF17-4E45-AC38-DD227A32DBF9}" type="slidenum">
              <a:rPr lang="en-US" smtClean="0"/>
              <a:t>13</a:t>
            </a:fld>
            <a:endParaRPr lang="en-US"/>
          </a:p>
        </p:txBody>
      </p:sp>
    </p:spTree>
    <p:extLst>
      <p:ext uri="{BB962C8B-B14F-4D97-AF65-F5344CB8AC3E}">
        <p14:creationId xmlns:p14="http://schemas.microsoft.com/office/powerpoint/2010/main" val="2007619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data</a:t>
            </a:r>
          </a:p>
        </p:txBody>
      </p:sp>
      <p:sp>
        <p:nvSpPr>
          <p:cNvPr id="4" name="Slide Number Placeholder 3"/>
          <p:cNvSpPr>
            <a:spLocks noGrp="1"/>
          </p:cNvSpPr>
          <p:nvPr>
            <p:ph type="sldNum" sz="quarter" idx="5"/>
          </p:nvPr>
        </p:nvSpPr>
        <p:spPr/>
        <p:txBody>
          <a:bodyPr/>
          <a:lstStyle/>
          <a:p>
            <a:fld id="{C0F7E678-CF17-4E45-AC38-DD227A32DBF9}" type="slidenum">
              <a:rPr lang="en-US" smtClean="0"/>
              <a:t>14</a:t>
            </a:fld>
            <a:endParaRPr lang="en-US"/>
          </a:p>
        </p:txBody>
      </p:sp>
    </p:spTree>
    <p:extLst>
      <p:ext uri="{BB962C8B-B14F-4D97-AF65-F5344CB8AC3E}">
        <p14:creationId xmlns:p14="http://schemas.microsoft.com/office/powerpoint/2010/main" val="1006664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u="none" strike="noStrike">
                <a:solidFill>
                  <a:schemeClr val="bg1"/>
                </a:solidFill>
                <a:effectLst/>
              </a:rPr>
              <a:t>What is Statistical Learning?</a:t>
            </a:r>
            <a:endParaRPr lang="en-US" dirty="0">
              <a:solidFill>
                <a:schemeClr val="bg1"/>
              </a:solidFill>
            </a:endParaRP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FD150-011C-1B1A-8F8C-090BD6EA795A}"/>
              </a:ext>
            </a:extLst>
          </p:cNvPr>
          <p:cNvSpPr>
            <a:spLocks noGrp="1"/>
          </p:cNvSpPr>
          <p:nvPr>
            <p:ph type="title"/>
          </p:nvPr>
        </p:nvSpPr>
        <p:spPr/>
        <p:txBody>
          <a:bodyPr/>
          <a:lstStyle/>
          <a:p>
            <a:r>
              <a:rPr lang="en-US" dirty="0"/>
              <a:t>Objectives for this Lesson</a:t>
            </a:r>
          </a:p>
        </p:txBody>
      </p:sp>
      <p:sp>
        <p:nvSpPr>
          <p:cNvPr id="3" name="Content Placeholder 2">
            <a:extLst>
              <a:ext uri="{FF2B5EF4-FFF2-40B4-BE49-F238E27FC236}">
                <a16:creationId xmlns:a16="http://schemas.microsoft.com/office/drawing/2014/main" id="{08B8A36D-B56C-711B-0794-019912738C76}"/>
              </a:ext>
            </a:extLst>
          </p:cNvPr>
          <p:cNvSpPr>
            <a:spLocks noGrp="1"/>
          </p:cNvSpPr>
          <p:nvPr>
            <p:ph idx="1"/>
          </p:nvPr>
        </p:nvSpPr>
        <p:spPr/>
        <p:txBody>
          <a:bodyPr/>
          <a:lstStyle/>
          <a:p>
            <a:r>
              <a:rPr lang="en-US" dirty="0"/>
              <a:t>Define statistical learning and give reasons why one should study it. </a:t>
            </a:r>
          </a:p>
          <a:p>
            <a:r>
              <a:rPr lang="en-US" dirty="0"/>
              <a:t>List and identify the three elements of a statistical learning problem.</a:t>
            </a:r>
          </a:p>
          <a:p>
            <a:r>
              <a:rPr lang="en-US" dirty="0"/>
              <a:t>Explain why there can be a difference between points on a model and points in a dataset. </a:t>
            </a:r>
          </a:p>
        </p:txBody>
      </p:sp>
    </p:spTree>
    <p:extLst>
      <p:ext uri="{BB962C8B-B14F-4D97-AF65-F5344CB8AC3E}">
        <p14:creationId xmlns:p14="http://schemas.microsoft.com/office/powerpoint/2010/main" val="1657780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1">
            <a:extLst>
              <a:ext uri="{FF2B5EF4-FFF2-40B4-BE49-F238E27FC236}">
                <a16:creationId xmlns:a16="http://schemas.microsoft.com/office/drawing/2014/main" id="{4201BE09-6437-8CAC-DA00-D42CB41E2B94}"/>
              </a:ext>
            </a:extLst>
          </p:cNvPr>
          <p:cNvSpPr>
            <a:spLocks noGrp="1"/>
          </p:cNvSpPr>
          <p:nvPr>
            <p:ph type="title"/>
          </p:nvPr>
        </p:nvSpPr>
        <p:spPr>
          <a:xfrm>
            <a:off x="1098551" y="161926"/>
            <a:ext cx="16084550" cy="1549400"/>
          </a:xfrm>
        </p:spPr>
        <p:txBody>
          <a:bodyPr/>
          <a:lstStyle/>
          <a:p>
            <a:r>
              <a:rPr lang="en-US" altLang="en-US" dirty="0"/>
              <a:t>What is Statistical Learning?</a:t>
            </a:r>
          </a:p>
        </p:txBody>
      </p:sp>
      <p:sp>
        <p:nvSpPr>
          <p:cNvPr id="5122" name="Content Placeholder 2">
            <a:extLst>
              <a:ext uri="{FF2B5EF4-FFF2-40B4-BE49-F238E27FC236}">
                <a16:creationId xmlns:a16="http://schemas.microsoft.com/office/drawing/2014/main" id="{B5CFF3DD-1E43-F576-FF57-62AAAE9F976D}"/>
              </a:ext>
            </a:extLst>
          </p:cNvPr>
          <p:cNvSpPr>
            <a:spLocks noGrp="1"/>
          </p:cNvSpPr>
          <p:nvPr>
            <p:ph idx="1"/>
          </p:nvPr>
        </p:nvSpPr>
        <p:spPr>
          <a:xfrm>
            <a:off x="1098551" y="2051050"/>
            <a:ext cx="7397749" cy="6886576"/>
          </a:xfrm>
        </p:spPr>
        <p:txBody>
          <a:bodyPr/>
          <a:lstStyle/>
          <a:p>
            <a:pPr algn="l">
              <a:buFont typeface="Arial" panose="020B0604020202020204" pitchFamily="34" charset="0"/>
              <a:buChar char="•"/>
            </a:pPr>
            <a:r>
              <a:rPr lang="en-US" b="1" i="0" u="none" strike="noStrike" dirty="0">
                <a:solidFill>
                  <a:schemeClr val="accent1"/>
                </a:solidFill>
                <a:effectLst/>
                <a:latin typeface="Söhne"/>
              </a:rPr>
              <a:t>Statistical learning </a:t>
            </a:r>
            <a:r>
              <a:rPr lang="en-US" b="0" i="0" u="none" strike="noStrike" dirty="0">
                <a:solidFill>
                  <a:srgbClr val="374151"/>
                </a:solidFill>
                <a:effectLst/>
                <a:latin typeface="Söhne"/>
              </a:rPr>
              <a:t>is a field in the intersection of </a:t>
            </a:r>
            <a:r>
              <a:rPr lang="en-US" dirty="0">
                <a:solidFill>
                  <a:srgbClr val="374151"/>
                </a:solidFill>
                <a:latin typeface="Söhne"/>
              </a:rPr>
              <a:t>machine learning </a:t>
            </a:r>
            <a:r>
              <a:rPr lang="en-US" b="0" i="0" u="none" strike="noStrike" dirty="0">
                <a:solidFill>
                  <a:srgbClr val="374151"/>
                </a:solidFill>
                <a:effectLst/>
                <a:latin typeface="Söhne"/>
              </a:rPr>
              <a:t>and statistics. </a:t>
            </a:r>
          </a:p>
          <a:p>
            <a:pPr algn="l">
              <a:buFont typeface="Arial" panose="020B0604020202020204" pitchFamily="34" charset="0"/>
              <a:buChar char="•"/>
            </a:pPr>
            <a:r>
              <a:rPr lang="en-US" b="0" i="0" u="none" strike="noStrike" dirty="0">
                <a:solidFill>
                  <a:srgbClr val="374151"/>
                </a:solidFill>
                <a:effectLst/>
                <a:latin typeface="Söhne"/>
              </a:rPr>
              <a:t>It involves the development and application of statistical concepts and techniques to gain insights from data and inform decision-making.</a:t>
            </a:r>
          </a:p>
        </p:txBody>
      </p:sp>
      <p:sp>
        <p:nvSpPr>
          <p:cNvPr id="4" name="Oval 3">
            <a:extLst>
              <a:ext uri="{FF2B5EF4-FFF2-40B4-BE49-F238E27FC236}">
                <a16:creationId xmlns:a16="http://schemas.microsoft.com/office/drawing/2014/main" id="{367C0888-FEA3-820F-82FC-E4FB97F5809A}"/>
              </a:ext>
            </a:extLst>
          </p:cNvPr>
          <p:cNvSpPr/>
          <p:nvPr/>
        </p:nvSpPr>
        <p:spPr>
          <a:xfrm>
            <a:off x="8669295" y="2276012"/>
            <a:ext cx="5381896" cy="5385264"/>
          </a:xfrm>
          <a:prstGeom prst="ellipse">
            <a:avLst/>
          </a:prstGeom>
          <a:solidFill>
            <a:schemeClr val="accent2">
              <a:alpha val="40000"/>
            </a:schemeClr>
          </a:solidFill>
          <a:ln>
            <a:solidFill>
              <a:schemeClr val="tx1"/>
            </a:solidFill>
          </a:ln>
          <a:effectLst>
            <a:outerShdw blurRad="63500" dist="25400" dir="5400000" sx="101000" sy="101000" rotWithShape="0">
              <a:srgbClr val="000000">
                <a:alpha val="40000"/>
              </a:srgbClr>
            </a:outerShdw>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7C91FD6-C001-2084-F2A7-C7582433890E}"/>
              </a:ext>
            </a:extLst>
          </p:cNvPr>
          <p:cNvSpPr/>
          <p:nvPr/>
        </p:nvSpPr>
        <p:spPr>
          <a:xfrm>
            <a:off x="11801205" y="2276012"/>
            <a:ext cx="5381896" cy="5385264"/>
          </a:xfrm>
          <a:prstGeom prst="ellipse">
            <a:avLst/>
          </a:prstGeom>
          <a:solidFill>
            <a:schemeClr val="bg1">
              <a:alpha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solidFill>
                  <a:schemeClr val="tx1"/>
                </a:solidFill>
              </a:ln>
            </a:endParaRPr>
          </a:p>
        </p:txBody>
      </p:sp>
      <p:sp>
        <p:nvSpPr>
          <p:cNvPr id="6" name="TextBox 5">
            <a:extLst>
              <a:ext uri="{FF2B5EF4-FFF2-40B4-BE49-F238E27FC236}">
                <a16:creationId xmlns:a16="http://schemas.microsoft.com/office/drawing/2014/main" id="{C98927AA-7B18-5E68-81B8-E3D37CF1C77B}"/>
              </a:ext>
            </a:extLst>
          </p:cNvPr>
          <p:cNvSpPr txBox="1"/>
          <p:nvPr/>
        </p:nvSpPr>
        <p:spPr>
          <a:xfrm>
            <a:off x="9580512" y="4460812"/>
            <a:ext cx="1881051" cy="954107"/>
          </a:xfrm>
          <a:prstGeom prst="rect">
            <a:avLst/>
          </a:prstGeom>
          <a:noFill/>
        </p:spPr>
        <p:txBody>
          <a:bodyPr wrap="square" rtlCol="0">
            <a:spAutoFit/>
          </a:bodyPr>
          <a:lstStyle/>
          <a:p>
            <a:r>
              <a:rPr lang="en-US" sz="2800" dirty="0"/>
              <a:t>Machine Learning</a:t>
            </a:r>
          </a:p>
        </p:txBody>
      </p:sp>
      <p:sp>
        <p:nvSpPr>
          <p:cNvPr id="9" name="TextBox 8">
            <a:extLst>
              <a:ext uri="{FF2B5EF4-FFF2-40B4-BE49-F238E27FC236}">
                <a16:creationId xmlns:a16="http://schemas.microsoft.com/office/drawing/2014/main" id="{F67470E4-9361-08CD-4D89-BD30CC30854D}"/>
              </a:ext>
            </a:extLst>
          </p:cNvPr>
          <p:cNvSpPr txBox="1"/>
          <p:nvPr/>
        </p:nvSpPr>
        <p:spPr>
          <a:xfrm>
            <a:off x="14675027" y="4676255"/>
            <a:ext cx="1881051" cy="523220"/>
          </a:xfrm>
          <a:prstGeom prst="rect">
            <a:avLst/>
          </a:prstGeom>
          <a:noFill/>
        </p:spPr>
        <p:txBody>
          <a:bodyPr wrap="square" rtlCol="0">
            <a:spAutoFit/>
          </a:bodyPr>
          <a:lstStyle/>
          <a:p>
            <a:r>
              <a:rPr lang="en-US" sz="2800" dirty="0"/>
              <a:t>Statistics</a:t>
            </a:r>
          </a:p>
        </p:txBody>
      </p:sp>
      <p:sp>
        <p:nvSpPr>
          <p:cNvPr id="10" name="TextBox 9">
            <a:extLst>
              <a:ext uri="{FF2B5EF4-FFF2-40B4-BE49-F238E27FC236}">
                <a16:creationId xmlns:a16="http://schemas.microsoft.com/office/drawing/2014/main" id="{7A03CBA4-C698-35A8-BBE3-BB070E760641}"/>
              </a:ext>
            </a:extLst>
          </p:cNvPr>
          <p:cNvSpPr txBox="1"/>
          <p:nvPr/>
        </p:nvSpPr>
        <p:spPr>
          <a:xfrm>
            <a:off x="12140838" y="4460812"/>
            <a:ext cx="1881051" cy="954107"/>
          </a:xfrm>
          <a:prstGeom prst="rect">
            <a:avLst/>
          </a:prstGeom>
          <a:noFill/>
        </p:spPr>
        <p:txBody>
          <a:bodyPr wrap="square" rtlCol="0">
            <a:spAutoFit/>
          </a:bodyPr>
          <a:lstStyle/>
          <a:p>
            <a:r>
              <a:rPr lang="en-US" sz="2800" dirty="0"/>
              <a:t>Statistical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6C77A-FC4B-A28A-BD75-4A24A2F0BCFC}"/>
              </a:ext>
            </a:extLst>
          </p:cNvPr>
          <p:cNvSpPr>
            <a:spLocks noGrp="1"/>
          </p:cNvSpPr>
          <p:nvPr>
            <p:ph type="title"/>
          </p:nvPr>
        </p:nvSpPr>
        <p:spPr/>
        <p:txBody>
          <a:bodyPr/>
          <a:lstStyle/>
          <a:p>
            <a:r>
              <a:rPr lang="en-US" b="1" i="0" u="none" strike="noStrike" dirty="0">
                <a:effectLst/>
                <a:latin typeface="Söhne"/>
              </a:rPr>
              <a:t>Why Study Statistical Learning?</a:t>
            </a:r>
            <a:endParaRPr lang="en-US" dirty="0"/>
          </a:p>
        </p:txBody>
      </p:sp>
      <p:sp>
        <p:nvSpPr>
          <p:cNvPr id="3" name="Content Placeholder 2">
            <a:extLst>
              <a:ext uri="{FF2B5EF4-FFF2-40B4-BE49-F238E27FC236}">
                <a16:creationId xmlns:a16="http://schemas.microsoft.com/office/drawing/2014/main" id="{E7BA8F73-F559-3B16-8AD0-F5985B1B269A}"/>
              </a:ext>
            </a:extLst>
          </p:cNvPr>
          <p:cNvSpPr>
            <a:spLocks noGrp="1"/>
          </p:cNvSpPr>
          <p:nvPr>
            <p:ph idx="1"/>
          </p:nvPr>
        </p:nvSpPr>
        <p:spPr/>
        <p:txBody>
          <a:bodyPr/>
          <a:lstStyle/>
          <a:p>
            <a:pPr algn="l">
              <a:buFont typeface="Arial" panose="020B0604020202020204" pitchFamily="34" charset="0"/>
              <a:buChar char="•"/>
            </a:pPr>
            <a:r>
              <a:rPr lang="en-US" dirty="0">
                <a:solidFill>
                  <a:srgbClr val="374151"/>
                </a:solidFill>
                <a:latin typeface="Söhne"/>
              </a:rPr>
              <a:t>The scale of online activity—such as this class—translates into massive datasets being constructed all the time. </a:t>
            </a:r>
          </a:p>
          <a:p>
            <a:pPr>
              <a:buFont typeface="Arial" panose="020B0604020202020204" pitchFamily="34" charset="0"/>
              <a:buChar char="•"/>
            </a:pPr>
            <a:r>
              <a:rPr lang="en-US" b="0" i="0" u="none" strike="noStrike" dirty="0">
                <a:solidFill>
                  <a:srgbClr val="374151"/>
                </a:solidFill>
                <a:effectLst/>
                <a:latin typeface="Söhne"/>
              </a:rPr>
              <a:t>Statistical learning helps us extract valuable information and insights from these and other datasets.</a:t>
            </a:r>
          </a:p>
          <a:p>
            <a:pPr algn="l">
              <a:buFont typeface="Arial" panose="020B0604020202020204" pitchFamily="34" charset="0"/>
              <a:buChar char="•"/>
            </a:pPr>
            <a:r>
              <a:rPr lang="en-US" b="0" i="0" u="none" strike="noStrike" dirty="0">
                <a:solidFill>
                  <a:srgbClr val="374151"/>
                </a:solidFill>
                <a:effectLst/>
                <a:latin typeface="Söhne"/>
              </a:rPr>
              <a:t>It allows society to make decisions by providing predictive and explanatory models.</a:t>
            </a:r>
          </a:p>
          <a:p>
            <a:pPr algn="l">
              <a:buFont typeface="Arial" panose="020B0604020202020204" pitchFamily="34" charset="0"/>
              <a:buChar char="•"/>
            </a:pPr>
            <a:r>
              <a:rPr lang="en-US" b="0" i="0" u="none" strike="noStrike" dirty="0">
                <a:solidFill>
                  <a:srgbClr val="374151"/>
                </a:solidFill>
                <a:effectLst/>
                <a:latin typeface="Söhne"/>
              </a:rPr>
              <a:t>Applications range from finance and healthcare to marketing and sports analytics.</a:t>
            </a:r>
          </a:p>
          <a:p>
            <a:endParaRPr lang="en-US" dirty="0"/>
          </a:p>
        </p:txBody>
      </p:sp>
    </p:spTree>
    <p:extLst>
      <p:ext uri="{BB962C8B-B14F-4D97-AF65-F5344CB8AC3E}">
        <p14:creationId xmlns:p14="http://schemas.microsoft.com/office/powerpoint/2010/main" val="1057769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0C02-9C6E-B32C-3B8F-5BABB1F6B97C}"/>
              </a:ext>
            </a:extLst>
          </p:cNvPr>
          <p:cNvSpPr>
            <a:spLocks noGrp="1"/>
          </p:cNvSpPr>
          <p:nvPr>
            <p:ph type="title"/>
          </p:nvPr>
        </p:nvSpPr>
        <p:spPr>
          <a:xfrm>
            <a:off x="1098550" y="161365"/>
            <a:ext cx="16084552" cy="1551434"/>
          </a:xfrm>
        </p:spPr>
        <p:txBody>
          <a:bodyPr wrap="square" anchor="b">
            <a:normAutofit/>
          </a:bodyPr>
          <a:lstStyle/>
          <a:p>
            <a:r>
              <a:rPr lang="en-US" b="1" i="0" u="none" strike="noStrike" dirty="0">
                <a:effectLst/>
              </a:rPr>
              <a:t>Elements of a </a:t>
            </a:r>
            <a:r>
              <a:rPr lang="en-US" b="1" i="1" u="none" strike="noStrike" dirty="0">
                <a:effectLst/>
              </a:rPr>
              <a:t>Statistical Learning Problem</a:t>
            </a:r>
            <a:endParaRPr lang="en-US" i="1" dirty="0"/>
          </a:p>
        </p:txBody>
      </p:sp>
      <p:sp>
        <p:nvSpPr>
          <p:cNvPr id="3" name="Content Placeholder 2">
            <a:extLst>
              <a:ext uri="{FF2B5EF4-FFF2-40B4-BE49-F238E27FC236}">
                <a16:creationId xmlns:a16="http://schemas.microsoft.com/office/drawing/2014/main" id="{FEA7114F-4EAE-F8A7-864F-7C98D1856F2E}"/>
              </a:ext>
            </a:extLst>
          </p:cNvPr>
          <p:cNvSpPr>
            <a:spLocks noGrp="1"/>
          </p:cNvSpPr>
          <p:nvPr>
            <p:ph idx="1"/>
          </p:nvPr>
        </p:nvSpPr>
        <p:spPr>
          <a:xfrm flipH="1">
            <a:off x="1098550" y="2050699"/>
            <a:ext cx="16084552" cy="6888006"/>
          </a:xfrm>
        </p:spPr>
        <p:txBody>
          <a:bodyPr wrap="square" anchor="t">
            <a:normAutofit/>
          </a:bodyPr>
          <a:lstStyle/>
          <a:p>
            <a:pPr>
              <a:buFont typeface="Arial" panose="020B0604020202020204" pitchFamily="34" charset="0"/>
              <a:buChar char="•"/>
            </a:pPr>
            <a:r>
              <a:rPr lang="en-US" b="1" i="0" u="none" strike="noStrike" dirty="0">
                <a:solidFill>
                  <a:schemeClr val="accent1"/>
                </a:solidFill>
                <a:effectLst/>
              </a:rPr>
              <a:t>Data</a:t>
            </a:r>
            <a:r>
              <a:rPr lang="en-US" b="0" i="0" u="none" strike="noStrike" dirty="0">
                <a:effectLst/>
              </a:rPr>
              <a:t> – Observations or measurements.</a:t>
            </a:r>
          </a:p>
          <a:p>
            <a:pPr marL="698500" lvl="1" indent="0">
              <a:buNone/>
            </a:pPr>
            <a:r>
              <a:rPr lang="en-US" sz="4000" b="1" dirty="0">
                <a:solidFill>
                  <a:schemeClr val="accent1"/>
                </a:solidFill>
              </a:rPr>
              <a:t> ↪️ Dataset</a:t>
            </a:r>
            <a:r>
              <a:rPr lang="en-US" sz="4000" dirty="0"/>
              <a:t> – A collection of related data from multiple samples.</a:t>
            </a:r>
            <a:endParaRPr lang="en-US" sz="4000" b="0" i="0" u="none" strike="noStrike" dirty="0">
              <a:effectLst/>
            </a:endParaRPr>
          </a:p>
          <a:p>
            <a:pPr>
              <a:buFont typeface="Arial" panose="020B0604020202020204" pitchFamily="34" charset="0"/>
              <a:buChar char="•"/>
            </a:pPr>
            <a:r>
              <a:rPr lang="en-US" b="1" i="0" u="none" strike="noStrike" dirty="0">
                <a:solidFill>
                  <a:schemeClr val="accent1"/>
                </a:solidFill>
                <a:effectLst/>
              </a:rPr>
              <a:t>Model</a:t>
            </a:r>
            <a:r>
              <a:rPr lang="en-US" dirty="0"/>
              <a:t> </a:t>
            </a:r>
            <a:r>
              <a:rPr lang="en-US" b="0" i="0" u="none" strike="noStrike" dirty="0">
                <a:effectLst/>
              </a:rPr>
              <a:t> – A mathematical representation, such as an equation, of relationships in the data. </a:t>
            </a:r>
          </a:p>
          <a:p>
            <a:pPr>
              <a:buFont typeface="Arial" panose="020B0604020202020204" pitchFamily="34" charset="0"/>
              <a:buChar char="•"/>
            </a:pPr>
            <a:r>
              <a:rPr lang="en-US" b="1" i="0" u="none" strike="noStrike" dirty="0">
                <a:solidFill>
                  <a:schemeClr val="accent1"/>
                </a:solidFill>
                <a:effectLst/>
              </a:rPr>
              <a:t>Inference</a:t>
            </a:r>
            <a:r>
              <a:rPr lang="en-US" dirty="0"/>
              <a:t> </a:t>
            </a:r>
            <a:r>
              <a:rPr lang="en-US" b="0" i="0" u="none" strike="noStrike" dirty="0">
                <a:effectLst/>
              </a:rPr>
              <a:t> – Drawing conclusions or making predictions based on the models.</a:t>
            </a:r>
          </a:p>
          <a:p>
            <a:pPr marL="698500" lvl="1" indent="0">
              <a:buNone/>
            </a:pPr>
            <a:r>
              <a:rPr lang="en-US" sz="4000" b="1" dirty="0">
                <a:solidFill>
                  <a:schemeClr val="accent1"/>
                </a:solidFill>
              </a:rPr>
              <a:t> ↪️</a:t>
            </a:r>
            <a:r>
              <a:rPr lang="en-US" sz="4000" b="1" i="0" u="none" strike="noStrike" dirty="0">
                <a:solidFill>
                  <a:schemeClr val="accent1"/>
                </a:solidFill>
                <a:effectLst/>
              </a:rPr>
              <a:t> Prediction</a:t>
            </a:r>
            <a:r>
              <a:rPr lang="en-US" sz="4000" dirty="0"/>
              <a:t> </a:t>
            </a:r>
            <a:r>
              <a:rPr lang="en-US" sz="4000" b="0" i="0" u="none" strike="noStrike" dirty="0">
                <a:effectLst/>
              </a:rPr>
              <a:t> – A type of inference that uses models to estimate outcomes for new or unseen data.</a:t>
            </a:r>
          </a:p>
        </p:txBody>
      </p:sp>
    </p:spTree>
    <p:extLst>
      <p:ext uri="{BB962C8B-B14F-4D97-AF65-F5344CB8AC3E}">
        <p14:creationId xmlns:p14="http://schemas.microsoft.com/office/powerpoint/2010/main" val="310353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extLst>
              <p:ext uri="{D42A27DB-BD31-4B8C-83A1-F6EECF244321}">
                <p14:modId xmlns:p14="http://schemas.microsoft.com/office/powerpoint/2010/main" val="2783856048"/>
              </p:ext>
            </p:extLst>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1" name="Content Placeholder 10">
            <a:extLst>
              <a:ext uri="{FF2B5EF4-FFF2-40B4-BE49-F238E27FC236}">
                <a16:creationId xmlns:a16="http://schemas.microsoft.com/office/drawing/2014/main" id="{6375FEBB-57B5-B087-2625-7FF5F7652000}"/>
              </a:ext>
            </a:extLst>
          </p:cNvPr>
          <p:cNvGraphicFramePr>
            <a:graphicFrameLocks noGrp="1" noChangeAspect="1"/>
          </p:cNvGraphicFramePr>
          <p:nvPr>
            <p:ph sz="half" idx="2"/>
            <p:extLst>
              <p:ext uri="{D42A27DB-BD31-4B8C-83A1-F6EECF244321}">
                <p14:modId xmlns:p14="http://schemas.microsoft.com/office/powerpoint/2010/main" val="4175166646"/>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13575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extLst>
              <p:ext uri="{D42A27DB-BD31-4B8C-83A1-F6EECF244321}">
                <p14:modId xmlns:p14="http://schemas.microsoft.com/office/powerpoint/2010/main" val="3249752882"/>
              </p:ext>
            </p:extLst>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1" name="Content Placeholder 10">
            <a:extLst>
              <a:ext uri="{FF2B5EF4-FFF2-40B4-BE49-F238E27FC236}">
                <a16:creationId xmlns:a16="http://schemas.microsoft.com/office/drawing/2014/main" id="{6375FEBB-57B5-B087-2625-7FF5F7652000}"/>
              </a:ext>
            </a:extLst>
          </p:cNvPr>
          <p:cNvGraphicFramePr>
            <a:graphicFrameLocks noGrp="1" noChangeAspect="1"/>
          </p:cNvGraphicFramePr>
          <p:nvPr>
            <p:ph sz="half" idx="2"/>
            <p:extLst>
              <p:ext uri="{D42A27DB-BD31-4B8C-83A1-F6EECF244321}">
                <p14:modId xmlns:p14="http://schemas.microsoft.com/office/powerpoint/2010/main" val="2991319919"/>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
        <p:nvSpPr>
          <p:cNvPr id="2" name="Oval 1">
            <a:extLst>
              <a:ext uri="{FF2B5EF4-FFF2-40B4-BE49-F238E27FC236}">
                <a16:creationId xmlns:a16="http://schemas.microsoft.com/office/drawing/2014/main" id="{59EFFE4D-85E9-2F5D-9EFB-3817D6304FEF}"/>
              </a:ext>
            </a:extLst>
          </p:cNvPr>
          <p:cNvSpPr/>
          <p:nvPr/>
        </p:nvSpPr>
        <p:spPr>
          <a:xfrm>
            <a:off x="523874" y="5710354"/>
            <a:ext cx="8743950" cy="933450"/>
          </a:xfrm>
          <a:prstGeom prst="ellipse">
            <a:avLst/>
          </a:prstGeom>
          <a:noFill/>
          <a:ln w="825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3" name="TextBox 2">
            <a:extLst>
              <a:ext uri="{FF2B5EF4-FFF2-40B4-BE49-F238E27FC236}">
                <a16:creationId xmlns:a16="http://schemas.microsoft.com/office/drawing/2014/main" id="{A255648C-046A-BD4E-89EE-C9DD5DE7A1B7}"/>
              </a:ext>
            </a:extLst>
          </p:cNvPr>
          <p:cNvSpPr txBox="1"/>
          <p:nvPr/>
        </p:nvSpPr>
        <p:spPr>
          <a:xfrm>
            <a:off x="4381499" y="5125579"/>
            <a:ext cx="2000250" cy="584775"/>
          </a:xfrm>
          <a:prstGeom prst="rect">
            <a:avLst/>
          </a:prstGeom>
          <a:noFill/>
        </p:spPr>
        <p:txBody>
          <a:bodyPr wrap="square" rtlCol="0">
            <a:spAutoFit/>
          </a:bodyPr>
          <a:lstStyle/>
          <a:p>
            <a:r>
              <a:rPr lang="en-US" sz="3200" b="1" dirty="0">
                <a:solidFill>
                  <a:schemeClr val="bg1"/>
                </a:solidFill>
              </a:rPr>
              <a:t>Data</a:t>
            </a:r>
          </a:p>
        </p:txBody>
      </p:sp>
    </p:spTree>
    <p:extLst>
      <p:ext uri="{BB962C8B-B14F-4D97-AF65-F5344CB8AC3E}">
        <p14:creationId xmlns:p14="http://schemas.microsoft.com/office/powerpoint/2010/main" val="2632018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extLst>
              <p:ext uri="{D42A27DB-BD31-4B8C-83A1-F6EECF244321}">
                <p14:modId xmlns:p14="http://schemas.microsoft.com/office/powerpoint/2010/main" val="3552122784"/>
              </p:ext>
            </p:extLst>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1" name="Content Placeholder 10">
            <a:extLst>
              <a:ext uri="{FF2B5EF4-FFF2-40B4-BE49-F238E27FC236}">
                <a16:creationId xmlns:a16="http://schemas.microsoft.com/office/drawing/2014/main" id="{6375FEBB-57B5-B087-2625-7FF5F7652000}"/>
              </a:ext>
            </a:extLst>
          </p:cNvPr>
          <p:cNvGraphicFramePr>
            <a:graphicFrameLocks noGrp="1" noChangeAspect="1"/>
          </p:cNvGraphicFramePr>
          <p:nvPr>
            <p:ph sz="half" idx="2"/>
            <p:extLst>
              <p:ext uri="{D42A27DB-BD31-4B8C-83A1-F6EECF244321}">
                <p14:modId xmlns:p14="http://schemas.microsoft.com/office/powerpoint/2010/main" val="2336105497"/>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
        <p:nvSpPr>
          <p:cNvPr id="3" name="Rounded Rectangle 2">
            <a:extLst>
              <a:ext uri="{FF2B5EF4-FFF2-40B4-BE49-F238E27FC236}">
                <a16:creationId xmlns:a16="http://schemas.microsoft.com/office/drawing/2014/main" id="{AD5AD466-60C2-A5C7-9D63-4BD13FAB9672}"/>
              </a:ext>
            </a:extLst>
          </p:cNvPr>
          <p:cNvSpPr/>
          <p:nvPr/>
        </p:nvSpPr>
        <p:spPr>
          <a:xfrm>
            <a:off x="685800" y="1712799"/>
            <a:ext cx="8458200" cy="7640751"/>
          </a:xfrm>
          <a:prstGeom prst="roundRect">
            <a:avLst/>
          </a:prstGeom>
          <a:noFill/>
          <a:ln w="635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CD22A4-B3EB-EE26-197C-9AB255455299}"/>
              </a:ext>
            </a:extLst>
          </p:cNvPr>
          <p:cNvSpPr txBox="1"/>
          <p:nvPr/>
        </p:nvSpPr>
        <p:spPr>
          <a:xfrm>
            <a:off x="3771904" y="1102276"/>
            <a:ext cx="1733550" cy="584775"/>
          </a:xfrm>
          <a:prstGeom prst="rect">
            <a:avLst/>
          </a:prstGeom>
          <a:noFill/>
        </p:spPr>
        <p:txBody>
          <a:bodyPr wrap="square" rtlCol="0">
            <a:spAutoFit/>
          </a:bodyPr>
          <a:lstStyle/>
          <a:p>
            <a:r>
              <a:rPr lang="en-US" sz="3200" b="1" dirty="0">
                <a:solidFill>
                  <a:schemeClr val="bg1"/>
                </a:solidFill>
              </a:rPr>
              <a:t>Dataset</a:t>
            </a:r>
          </a:p>
        </p:txBody>
      </p:sp>
    </p:spTree>
    <p:extLst>
      <p:ext uri="{BB962C8B-B14F-4D97-AF65-F5344CB8AC3E}">
        <p14:creationId xmlns:p14="http://schemas.microsoft.com/office/powerpoint/2010/main" val="3612812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extLst>
              <p:ext uri="{D42A27DB-BD31-4B8C-83A1-F6EECF244321}">
                <p14:modId xmlns:p14="http://schemas.microsoft.com/office/powerpoint/2010/main" val="3505578233"/>
              </p:ext>
            </p:extLst>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1" name="Content Placeholder 10">
            <a:extLst>
              <a:ext uri="{FF2B5EF4-FFF2-40B4-BE49-F238E27FC236}">
                <a16:creationId xmlns:a16="http://schemas.microsoft.com/office/drawing/2014/main" id="{6375FEBB-57B5-B087-2625-7FF5F7652000}"/>
              </a:ext>
            </a:extLst>
          </p:cNvPr>
          <p:cNvGraphicFramePr>
            <a:graphicFrameLocks noGrp="1" noChangeAspect="1"/>
          </p:cNvGraphicFramePr>
          <p:nvPr>
            <p:ph sz="half" idx="2"/>
            <p:extLst>
              <p:ext uri="{D42A27DB-BD31-4B8C-83A1-F6EECF244321}">
                <p14:modId xmlns:p14="http://schemas.microsoft.com/office/powerpoint/2010/main" val="3269381125"/>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
        <p:nvSpPr>
          <p:cNvPr id="2" name="Oval 1">
            <a:extLst>
              <a:ext uri="{FF2B5EF4-FFF2-40B4-BE49-F238E27FC236}">
                <a16:creationId xmlns:a16="http://schemas.microsoft.com/office/drawing/2014/main" id="{E5388A7C-B626-2E66-2CC9-02A412332744}"/>
              </a:ext>
            </a:extLst>
          </p:cNvPr>
          <p:cNvSpPr/>
          <p:nvPr/>
        </p:nvSpPr>
        <p:spPr>
          <a:xfrm>
            <a:off x="10248900" y="4495800"/>
            <a:ext cx="4057650" cy="647700"/>
          </a:xfrm>
          <a:prstGeom prst="ellipse">
            <a:avLst/>
          </a:prstGeom>
          <a:noFill/>
          <a:ln w="635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4520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extLst>
              <p:ext uri="{D42A27DB-BD31-4B8C-83A1-F6EECF244321}">
                <p14:modId xmlns:p14="http://schemas.microsoft.com/office/powerpoint/2010/main" val="4182639720"/>
              </p:ext>
            </p:extLst>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1" name="Content Placeholder 10">
            <a:extLst>
              <a:ext uri="{FF2B5EF4-FFF2-40B4-BE49-F238E27FC236}">
                <a16:creationId xmlns:a16="http://schemas.microsoft.com/office/drawing/2014/main" id="{6375FEBB-57B5-B087-2625-7FF5F7652000}"/>
              </a:ext>
            </a:extLst>
          </p:cNvPr>
          <p:cNvGraphicFramePr>
            <a:graphicFrameLocks noGrp="1" noChangeAspect="1"/>
          </p:cNvGraphicFramePr>
          <p:nvPr>
            <p:ph sz="half" idx="2"/>
            <p:extLst>
              <p:ext uri="{D42A27DB-BD31-4B8C-83A1-F6EECF244321}">
                <p14:modId xmlns:p14="http://schemas.microsoft.com/office/powerpoint/2010/main" val="3100784043"/>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
        <p:nvSpPr>
          <p:cNvPr id="2" name="Oval 1">
            <a:extLst>
              <a:ext uri="{FF2B5EF4-FFF2-40B4-BE49-F238E27FC236}">
                <a16:creationId xmlns:a16="http://schemas.microsoft.com/office/drawing/2014/main" id="{7BFFF91D-EBFE-5A9F-6953-8BB0781607BF}"/>
              </a:ext>
            </a:extLst>
          </p:cNvPr>
          <p:cNvSpPr/>
          <p:nvPr/>
        </p:nvSpPr>
        <p:spPr>
          <a:xfrm>
            <a:off x="12306300" y="5581650"/>
            <a:ext cx="323850" cy="323850"/>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606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FFC721-DC09-5C11-8884-FB51076A2CAD}"/>
              </a:ext>
            </a:extLst>
          </p:cNvPr>
          <p:cNvSpPr>
            <a:spLocks noGrp="1"/>
          </p:cNvSpPr>
          <p:nvPr>
            <p:ph sz="half" idx="1"/>
          </p:nvPr>
        </p:nvSpPr>
        <p:spPr/>
        <p:txBody>
          <a:bodyPr/>
          <a:lstStyle/>
          <a:p>
            <a:r>
              <a:rPr lang="en-US" dirty="0"/>
              <a:t>It is important to note that our data does not perfectly fall on the model we’ve constructed. </a:t>
            </a:r>
          </a:p>
          <a:p>
            <a:r>
              <a:rPr lang="en-US" dirty="0"/>
              <a:t>The difference between the data observed and the true model will be due to random fluctuations, called </a:t>
            </a:r>
            <a:r>
              <a:rPr lang="en-US" b="1" dirty="0">
                <a:solidFill>
                  <a:schemeClr val="bg1"/>
                </a:solidFill>
              </a:rPr>
              <a:t>noise</a:t>
            </a:r>
            <a:r>
              <a:rPr lang="en-US" dirty="0"/>
              <a:t>. </a:t>
            </a:r>
          </a:p>
        </p:txBody>
      </p:sp>
      <p:sp>
        <p:nvSpPr>
          <p:cNvPr id="2" name="Title 1">
            <a:extLst>
              <a:ext uri="{FF2B5EF4-FFF2-40B4-BE49-F238E27FC236}">
                <a16:creationId xmlns:a16="http://schemas.microsoft.com/office/drawing/2014/main" id="{9469BF77-0AF4-1BBD-5F77-64425E36DDC5}"/>
              </a:ext>
            </a:extLst>
          </p:cNvPr>
          <p:cNvSpPr>
            <a:spLocks noGrp="1"/>
          </p:cNvSpPr>
          <p:nvPr>
            <p:ph type="title"/>
          </p:nvPr>
        </p:nvSpPr>
        <p:spPr/>
        <p:txBody>
          <a:bodyPr/>
          <a:lstStyle/>
          <a:p>
            <a:r>
              <a:rPr lang="en-US" dirty="0"/>
              <a:t>Remark on Noise</a:t>
            </a:r>
          </a:p>
        </p:txBody>
      </p:sp>
      <p:graphicFrame>
        <p:nvGraphicFramePr>
          <p:cNvPr id="6" name="Content Placeholder 10">
            <a:extLst>
              <a:ext uri="{FF2B5EF4-FFF2-40B4-BE49-F238E27FC236}">
                <a16:creationId xmlns:a16="http://schemas.microsoft.com/office/drawing/2014/main" id="{FFDAAF7B-26B3-5165-265D-BA38B47E3622}"/>
              </a:ext>
            </a:extLst>
          </p:cNvPr>
          <p:cNvGraphicFramePr>
            <a:graphicFrameLocks noGrp="1" noChangeAspect="1"/>
          </p:cNvGraphicFramePr>
          <p:nvPr>
            <p:ph sz="half" idx="2"/>
            <p:extLst>
              <p:ext uri="{D42A27DB-BD31-4B8C-83A1-F6EECF244321}">
                <p14:modId xmlns:p14="http://schemas.microsoft.com/office/powerpoint/2010/main" val="3274137668"/>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9775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0C32-806C-8ECE-07EC-97D2053581B7}"/>
              </a:ext>
            </a:extLst>
          </p:cNvPr>
          <p:cNvSpPr>
            <a:spLocks noGrp="1"/>
          </p:cNvSpPr>
          <p:nvPr>
            <p:ph type="title"/>
          </p:nvPr>
        </p:nvSpPr>
        <p:spPr/>
        <p:txBody>
          <a:bodyPr/>
          <a:lstStyle/>
          <a:p>
            <a:r>
              <a:rPr lang="en-US" dirty="0"/>
              <a:t>Concluding Questions</a:t>
            </a:r>
          </a:p>
        </p:txBody>
      </p:sp>
      <p:sp>
        <p:nvSpPr>
          <p:cNvPr id="3" name="Content Placeholder 2">
            <a:extLst>
              <a:ext uri="{FF2B5EF4-FFF2-40B4-BE49-F238E27FC236}">
                <a16:creationId xmlns:a16="http://schemas.microsoft.com/office/drawing/2014/main" id="{22B6817E-F0AD-FABE-DCB1-93B6CDC2294D}"/>
              </a:ext>
            </a:extLst>
          </p:cNvPr>
          <p:cNvSpPr>
            <a:spLocks noGrp="1"/>
          </p:cNvSpPr>
          <p:nvPr>
            <p:ph idx="1"/>
          </p:nvPr>
        </p:nvSpPr>
        <p:spPr/>
        <p:txBody>
          <a:bodyPr/>
          <a:lstStyle/>
          <a:p>
            <a:r>
              <a:rPr lang="en-US" dirty="0"/>
              <a:t>What kinds of datasets can we learn from? </a:t>
            </a:r>
          </a:p>
          <a:p>
            <a:r>
              <a:rPr lang="en-US" dirty="0"/>
              <a:t>What kinds of models can we construct? </a:t>
            </a:r>
          </a:p>
          <a:p>
            <a:r>
              <a:rPr lang="en-US" dirty="0"/>
              <a:t>Can we have more than one model for the same dataset? If so, how do we determine which is better? </a:t>
            </a:r>
          </a:p>
          <a:p>
            <a:r>
              <a:rPr lang="en-US" dirty="0"/>
              <a:t>If there are several kinds of models, what considerations are necessary for selecting a model? </a:t>
            </a:r>
          </a:p>
        </p:txBody>
      </p:sp>
    </p:spTree>
    <p:extLst>
      <p:ext uri="{BB962C8B-B14F-4D97-AF65-F5344CB8AC3E}">
        <p14:creationId xmlns:p14="http://schemas.microsoft.com/office/powerpoint/2010/main" val="4249470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C637-E301-C0D0-A0C3-2108183D4010}"/>
              </a:ext>
            </a:extLst>
          </p:cNvPr>
          <p:cNvSpPr>
            <a:spLocks noGrp="1"/>
          </p:cNvSpPr>
          <p:nvPr>
            <p:ph type="title"/>
          </p:nvPr>
        </p:nvSpPr>
        <p:spPr/>
        <p:txBody>
          <a:bodyPr/>
          <a:lstStyle/>
          <a:p>
            <a:r>
              <a:rPr lang="en-US" dirty="0"/>
              <a:t>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F9CFB3-75A0-6D59-58B7-A42910FC6664}"/>
                  </a:ext>
                </a:extLst>
              </p:cNvPr>
              <p:cNvSpPr>
                <a:spLocks noGrp="1"/>
              </p:cNvSpPr>
              <p:nvPr>
                <p:ph idx="1"/>
              </p:nvPr>
            </p:nvSpPr>
            <p:spPr>
              <a:xfrm>
                <a:off x="1098550" y="2050699"/>
                <a:ext cx="16084552" cy="4083401"/>
              </a:xfrm>
            </p:spPr>
            <p:txBody>
              <a:bodyPr numCol="2"/>
              <a:lstStyle/>
              <a:p>
                <a:pPr marL="0" indent="0">
                  <a:buNone/>
                </a:pPr>
                <a:r>
                  <a:rPr lang="en-US" dirty="0"/>
                  <a:t>Suppose the following model is constructed from a dataset of outdoor temperatures (in Fahrenheit) and ice cream sales (in US dollars) of a single store: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=20</m:t>
                      </m:r>
                      <m:r>
                        <a:rPr lang="en-US" b="0" i="1" smtClean="0">
                          <a:latin typeface="Cambria Math" panose="02040503050406030204" pitchFamily="18" charset="0"/>
                        </a:rPr>
                        <m:t>𝑋</m:t>
                      </m:r>
                      <m:r>
                        <a:rPr lang="en-US" b="0" i="1" smtClean="0">
                          <a:latin typeface="Cambria Math" panose="02040503050406030204" pitchFamily="18" charset="0"/>
                        </a:rPr>
                        <m:t>+100</m:t>
                      </m:r>
                    </m:oMath>
                  </m:oMathPara>
                </a14:m>
                <a:endParaRPr lang="en-US" dirty="0"/>
              </a:p>
              <a:p>
                <a:pPr marL="0" indent="0">
                  <a:buNone/>
                </a:pPr>
                <a:r>
                  <a:rPr lang="en-US" dirty="0"/>
                  <a:t>The point </a:t>
                </a:r>
                <a14:m>
                  <m:oMath xmlns:m="http://schemas.openxmlformats.org/officeDocument/2006/math">
                    <m:r>
                      <a:rPr lang="en-US" b="0" i="1" smtClean="0">
                        <a:latin typeface="Cambria Math" panose="02040503050406030204" pitchFamily="18" charset="0"/>
                      </a:rPr>
                      <m:t>(77</m:t>
                    </m:r>
                    <m:r>
                      <a:rPr lang="en-US" i="1">
                        <a:latin typeface="Cambria Math" panose="02040503050406030204" pitchFamily="18" charset="0"/>
                      </a:rPr>
                      <m:t>℉</m:t>
                    </m:r>
                    <m:r>
                      <a:rPr lang="en-US" b="0" i="1" smtClean="0">
                        <a:latin typeface="Cambria Math" panose="02040503050406030204" pitchFamily="18" charset="0"/>
                      </a:rPr>
                      <m:t>,  $2000)</m:t>
                    </m:r>
                  </m:oMath>
                </a14:m>
                <a:r>
                  <a:rPr lang="en-US" dirty="0"/>
                  <a:t> could be which of the following: </a:t>
                </a:r>
              </a:p>
            </p:txBody>
          </p:sp>
        </mc:Choice>
        <mc:Fallback xmlns="">
          <p:sp>
            <p:nvSpPr>
              <p:cNvPr id="3" name="Content Placeholder 2">
                <a:extLst>
                  <a:ext uri="{FF2B5EF4-FFF2-40B4-BE49-F238E27FC236}">
                    <a16:creationId xmlns:a16="http://schemas.microsoft.com/office/drawing/2014/main" id="{21F9CFB3-75A0-6D59-58B7-A42910FC6664}"/>
                  </a:ext>
                </a:extLst>
              </p:cNvPr>
              <p:cNvSpPr>
                <a:spLocks noGrp="1" noRot="1" noChangeAspect="1" noMove="1" noResize="1" noEditPoints="1" noAdjustHandles="1" noChangeArrowheads="1" noChangeShapeType="1" noTextEdit="1"/>
              </p:cNvSpPr>
              <p:nvPr>
                <p:ph idx="1"/>
              </p:nvPr>
            </p:nvSpPr>
            <p:spPr>
              <a:xfrm>
                <a:off x="1098550" y="2050699"/>
                <a:ext cx="16084552" cy="4083401"/>
              </a:xfrm>
              <a:blipFill>
                <a:blip r:embed="rId3"/>
                <a:stretch>
                  <a:fillRect l="-1341" t="-2795" r="-237"/>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064AE985-892C-387E-0E83-FA5A09F87536}"/>
              </a:ext>
            </a:extLst>
          </p:cNvPr>
          <p:cNvSpPr txBox="1">
            <a:spLocks/>
          </p:cNvSpPr>
          <p:nvPr/>
        </p:nvSpPr>
        <p:spPr bwMode="auto">
          <a:xfrm>
            <a:off x="1098550" y="6472000"/>
            <a:ext cx="16084552" cy="225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2" anchor="t" anchorCtr="0" compatLnSpc="1">
            <a:prstTxWarp prst="textNoShape">
              <a:avLst/>
            </a:prstTxWarp>
          </a:bodyPr>
          <a:lstStyle>
            <a:lvl1pPr marL="698500" indent="-698500" algn="l" rtl="0" fontAlgn="base">
              <a:spcBef>
                <a:spcPts val="40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a:lstStyle>
          <a:p>
            <a:pPr marL="742950" indent="-742950">
              <a:buFont typeface="+mj-lt"/>
              <a:buAutoNum type="alphaLcParenR"/>
            </a:pPr>
            <a:r>
              <a:rPr lang="en-US" dirty="0"/>
              <a:t>Prediction </a:t>
            </a:r>
          </a:p>
          <a:p>
            <a:pPr marL="742950" indent="-742950">
              <a:buFont typeface="+mj-lt"/>
              <a:buAutoNum type="alphaLcParenR"/>
            </a:pPr>
            <a:r>
              <a:rPr lang="en-US" dirty="0"/>
              <a:t>Data</a:t>
            </a:r>
          </a:p>
          <a:p>
            <a:pPr marL="742950" indent="-742950">
              <a:buFont typeface="+mj-lt"/>
              <a:buAutoNum type="alphaLcParenR"/>
            </a:pPr>
            <a:r>
              <a:rPr lang="en-US" dirty="0"/>
              <a:t>Dataset</a:t>
            </a:r>
          </a:p>
          <a:p>
            <a:pPr marL="742950" indent="-742950">
              <a:buFont typeface="+mj-lt"/>
              <a:buAutoNum type="alphaLcParenR"/>
            </a:pPr>
            <a:r>
              <a:rPr lang="en-US" dirty="0"/>
              <a:t>Model</a:t>
            </a:r>
          </a:p>
        </p:txBody>
      </p:sp>
    </p:spTree>
    <p:extLst>
      <p:ext uri="{BB962C8B-B14F-4D97-AF65-F5344CB8AC3E}">
        <p14:creationId xmlns:p14="http://schemas.microsoft.com/office/powerpoint/2010/main" val="42485277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5cef1d12f529d56583853ef5dc33f7c">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ccccdfc22f8c8f07a3477280a29706aa"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ternalName="Due_x0020_Date">
      <xsd:simpleType>
        <xsd:restriction base="dms:DateTime"/>
      </xsd:simpleType>
    </xsd:element>
    <xsd:element name="Status" ma:index="9" nillable="true" ma:displayName="Status" ma:format="Dropdown"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9A3ACA1-D96F-4A96-85DE-54D87646E2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
  <TotalTime>6184</TotalTime>
  <Words>886</Words>
  <Application>Microsoft Macintosh PowerPoint</Application>
  <PresentationFormat>Custom</PresentationFormat>
  <Paragraphs>222</Paragraphs>
  <Slides>14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 Math</vt:lpstr>
      <vt:lpstr>Söhne</vt:lpstr>
      <vt:lpstr>Wingdings 2</vt:lpstr>
      <vt:lpstr>Breeze</vt:lpstr>
      <vt:lpstr>Math 769: Statistical Learning</vt:lpstr>
      <vt:lpstr>What is Statistical Learning?</vt:lpstr>
      <vt:lpstr>Objectives for this Lesson</vt:lpstr>
      <vt:lpstr>What is Statistical Learning?</vt:lpstr>
      <vt:lpstr>Why Study Statistical Learning?</vt:lpstr>
      <vt:lpstr>Elements of a Statistical Learning Problem</vt:lpstr>
      <vt:lpstr>Example</vt:lpstr>
      <vt:lpstr>Example</vt:lpstr>
      <vt:lpstr>Example</vt:lpstr>
      <vt:lpstr>Example</vt:lpstr>
      <vt:lpstr>Example</vt:lpstr>
      <vt:lpstr>Remark on Noise</vt:lpstr>
      <vt:lpstr>Concluding Questions</vt:lpstr>
      <vt:lpstr>Exercise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25</cp:revision>
  <cp:lastPrinted>2023-10-10T15:29:43Z</cp:lastPrinted>
  <dcterms:created xsi:type="dcterms:W3CDTF">2019-02-13T16:04:21Z</dcterms:created>
  <dcterms:modified xsi:type="dcterms:W3CDTF">2023-10-11T04:02:40Z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ies>
</file>