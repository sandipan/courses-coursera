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7"/>
  </p:notesMasterIdLst>
  <p:sldIdLst>
    <p:sldId id="259" r:id="rId5"/>
    <p:sldId id="262" r:id="rId6"/>
    <p:sldId id="275" r:id="rId7"/>
    <p:sldId id="303" r:id="rId8"/>
    <p:sldId id="280" r:id="rId9"/>
    <p:sldId id="300" r:id="rId10"/>
    <p:sldId id="301" r:id="rId11"/>
    <p:sldId id="289" r:id="rId12"/>
    <p:sldId id="302" r:id="rId13"/>
    <p:sldId id="287" r:id="rId14"/>
    <p:sldId id="284" r:id="rId15"/>
    <p:sldId id="291" r:id="rId16"/>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98"/>
    <p:restoredTop sz="81973"/>
  </p:normalViewPr>
  <p:slideViewPr>
    <p:cSldViewPr snapToGrid="0" snapToObjects="1">
      <p:cViewPr varScale="1">
        <p:scale>
          <a:sx n="69" d="100"/>
          <a:sy n="69" d="100"/>
        </p:scale>
        <p:origin x="1344" y="20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oleObject" Target="file:////Users/sjamshidi/Documents/Math%20769/IntroExamp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sjamshidi/Documents/Math%20769/IntroExampl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jamshidi/Documents/Math%20769/IntroExample.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i="0" u="none" strike="noStrike" kern="1200" spc="0" baseline="0" dirty="0">
                <a:solidFill>
                  <a:schemeClr val="accent1"/>
                </a:solidFill>
              </a:rPr>
              <a:t>Optional Homework Assignments and Midterm Grades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dPt>
            <c:idx val="3"/>
            <c:marker>
              <c:symbol val="circle"/>
              <c:size val="5"/>
              <c:spPr>
                <a:solidFill>
                  <a:schemeClr val="accent1"/>
                </a:solidFill>
                <a:ln w="101600">
                  <a:solidFill>
                    <a:schemeClr val="accent1"/>
                  </a:solidFill>
                </a:ln>
                <a:effectLst/>
              </c:spPr>
            </c:marker>
            <c:bubble3D val="0"/>
            <c:spPr>
              <a:ln w="22225" cap="rnd">
                <a:noFill/>
                <a:round/>
              </a:ln>
              <a:effectLst/>
            </c:spPr>
            <c:extLst>
              <c:ext xmlns:c16="http://schemas.microsoft.com/office/drawing/2014/chart" uri="{C3380CC4-5D6E-409C-BE32-E72D297353CC}">
                <c16:uniqueId val="{00000006-9658-9C4D-81EA-AD28FFDEF788}"/>
              </c:ext>
            </c:extLst>
          </c:dPt>
          <c:trendline>
            <c:spPr>
              <a:ln w="19050" cap="rnd">
                <a:solidFill>
                  <a:schemeClr val="accent1"/>
                </a:solidFill>
                <a:prstDash val="sysDot"/>
              </a:ln>
              <a:effectLst/>
            </c:spPr>
            <c:trendlineType val="linear"/>
            <c:dispRSqr val="0"/>
            <c:dispEq val="1"/>
            <c:trendlineLbl>
              <c:layout>
                <c:manualLayout>
                  <c:x val="-0.4613434978337505"/>
                  <c:y val="0.23085278813832483"/>
                </c:manualLayout>
              </c:layout>
              <c:tx>
                <c:rich>
                  <a:bodyPr rot="0" spcFirstLastPara="1" vertOverflow="ellipsis" vert="horz" wrap="square" anchor="ctr" anchorCtr="1"/>
                  <a:lstStyle/>
                  <a:p>
                    <a:pPr>
                      <a:defRPr sz="2000" b="1" i="0" u="none" strike="noStrike" kern="1200" baseline="0">
                        <a:solidFill>
                          <a:schemeClr val="accent2"/>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accent2"/>
                      </a:solidFill>
                      <a:latin typeface="+mn-lt"/>
                      <a:ea typeface="+mn-ea"/>
                      <a:cs typeface="+mn-cs"/>
                    </a:defRPr>
                  </a:pPr>
                  <a:endParaRPr lang="en-US"/>
                </a:p>
              </c:txPr>
            </c:trendlineLbl>
          </c:trendline>
          <c:trendline>
            <c:spPr>
              <a:ln w="47625" cap="rnd">
                <a:solidFill>
                  <a:schemeClr val="accent2"/>
                </a:solidFill>
                <a:prstDash val="sysDot"/>
              </a:ln>
              <a:effectLst/>
            </c:spPr>
            <c:trendlineType val="linear"/>
            <c:dispRSqr val="0"/>
            <c:dispEq val="0"/>
          </c:trendline>
          <c:trendline>
            <c:spPr>
              <a:ln w="47625" cap="rnd">
                <a:solidFill>
                  <a:schemeClr val="accent6"/>
                </a:solidFill>
                <a:prstDash val="sysDot"/>
              </a:ln>
              <a:effectLst/>
            </c:spPr>
            <c:trendlineType val="exp"/>
            <c:dispRSqr val="0"/>
            <c:dispEq val="1"/>
            <c:trendlineLbl>
              <c:layout>
                <c:manualLayout>
                  <c:x val="-0.11868130580411636"/>
                  <c:y val="0.3770516185476816"/>
                </c:manualLayout>
              </c:layout>
              <c:tx>
                <c:rich>
                  <a:bodyPr rot="0" spcFirstLastPara="1" vertOverflow="ellipsis" vert="horz" wrap="square" anchor="ctr" anchorCtr="1"/>
                  <a:lstStyle/>
                  <a:p>
                    <a:pPr>
                      <a:defRPr sz="2000" b="1" i="0" u="none" strike="noStrike" kern="1200" baseline="0">
                        <a:solidFill>
                          <a:schemeClr val="accent6"/>
                        </a:solidFill>
                        <a:latin typeface="+mn-lt"/>
                        <a:ea typeface="+mn-ea"/>
                        <a:cs typeface="+mn-cs"/>
                      </a:defRPr>
                    </a:pPr>
                    <a:r>
                      <a:rPr lang="en-US" baseline="0" dirty="0"/>
                      <a:t>Y = 22.217e</a:t>
                    </a:r>
                    <a:r>
                      <a:rPr lang="en-US" baseline="30000" dirty="0"/>
                      <a:t>0.2774X</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accent6"/>
                      </a:solidFill>
                      <a:latin typeface="+mn-lt"/>
                      <a:ea typeface="+mn-ea"/>
                      <a:cs typeface="+mn-cs"/>
                    </a:defRPr>
                  </a:pPr>
                  <a:endParaRPr lang="en-US"/>
                </a:p>
              </c:txPr>
            </c:trendlineLbl>
          </c:trendline>
          <c:trendline>
            <c:spPr>
              <a:ln w="19050" cap="rnd">
                <a:solidFill>
                  <a:schemeClr val="accent1"/>
                </a:solidFill>
                <a:prstDash val="sysDot"/>
              </a:ln>
              <a:effectLst/>
            </c:spPr>
            <c:trendlineType val="power"/>
            <c:dispRSqr val="0"/>
            <c:dispEq val="0"/>
          </c:trendline>
          <c:trendline>
            <c:spPr>
              <a:ln w="19050" cap="rnd">
                <a:solidFill>
                  <a:schemeClr val="accent1"/>
                </a:solidFill>
                <a:prstDash val="sysDot"/>
              </a:ln>
              <a:effectLst/>
            </c:spPr>
            <c:trendlineType val="log"/>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5-9658-9C4D-81EA-AD28FFDEF788}"/>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i="0" u="none" strike="noStrike" kern="1200" spc="0" baseline="0" dirty="0">
                <a:solidFill>
                  <a:schemeClr val="accent1"/>
                </a:solidFill>
              </a:rPr>
              <a:t>Optional Homework Assignments and Midterm Grades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101600">
                <a:solidFill>
                  <a:schemeClr val="accent1"/>
                </a:solidFill>
              </a:ln>
              <a:effectLst/>
            </c:spPr>
          </c:marker>
          <c:dPt>
            <c:idx val="3"/>
            <c:marker>
              <c:symbol val="circle"/>
              <c:size val="5"/>
              <c:spPr>
                <a:solidFill>
                  <a:schemeClr val="accent1"/>
                </a:solidFill>
                <a:ln w="101600">
                  <a:solidFill>
                    <a:schemeClr val="accent1"/>
                  </a:solidFill>
                </a:ln>
                <a:effectLst/>
              </c:spPr>
            </c:marker>
            <c:bubble3D val="0"/>
            <c:spPr>
              <a:ln w="22225" cap="rnd">
                <a:noFill/>
                <a:round/>
              </a:ln>
              <a:effectLst/>
            </c:spPr>
            <c:extLst>
              <c:ext xmlns:c16="http://schemas.microsoft.com/office/drawing/2014/chart" uri="{C3380CC4-5D6E-409C-BE32-E72D297353CC}">
                <c16:uniqueId val="{00000006-9658-9C4D-81EA-AD28FFDEF788}"/>
              </c:ext>
            </c:extLst>
          </c:dPt>
          <c:trendline>
            <c:spPr>
              <a:ln w="19050" cap="rnd">
                <a:solidFill>
                  <a:schemeClr val="accent1"/>
                </a:solidFill>
                <a:prstDash val="sysDot"/>
              </a:ln>
              <a:effectLst/>
            </c:spPr>
            <c:trendlineType val="linear"/>
            <c:dispRSqr val="0"/>
            <c:dispEq val="1"/>
            <c:trendlineLbl>
              <c:layout>
                <c:manualLayout>
                  <c:x val="-0.4613434978337505"/>
                  <c:y val="0.23085278813832483"/>
                </c:manualLayout>
              </c:layout>
              <c:tx>
                <c:rich>
                  <a:bodyPr rot="0" spcFirstLastPara="1" vertOverflow="ellipsis" vert="horz" wrap="square" anchor="ctr" anchorCtr="1"/>
                  <a:lstStyle/>
                  <a:p>
                    <a:pPr>
                      <a:defRPr sz="2000" b="1" i="0" u="none" strike="noStrike" kern="1200" baseline="0">
                        <a:solidFill>
                          <a:schemeClr val="accent2"/>
                        </a:solidFill>
                        <a:latin typeface="+mn-lt"/>
                        <a:ea typeface="+mn-ea"/>
                        <a:cs typeface="+mn-cs"/>
                      </a:defRPr>
                    </a:pPr>
                    <a:r>
                      <a:rPr lang="en-US" baseline="0" dirty="0"/>
                      <a:t>Y = 14.197X + 19.261</a:t>
                    </a:r>
                    <a:endParaRPr lang="en-US" dirty="0"/>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accent2"/>
                      </a:solidFill>
                      <a:latin typeface="+mn-lt"/>
                      <a:ea typeface="+mn-ea"/>
                      <a:cs typeface="+mn-cs"/>
                    </a:defRPr>
                  </a:pPr>
                  <a:endParaRPr lang="en-US"/>
                </a:p>
              </c:txPr>
            </c:trendlineLbl>
          </c:trendline>
          <c:trendline>
            <c:spPr>
              <a:ln w="47625" cap="rnd">
                <a:solidFill>
                  <a:schemeClr val="accent2"/>
                </a:solidFill>
                <a:prstDash val="sysDot"/>
              </a:ln>
              <a:effectLst/>
            </c:spPr>
            <c:trendlineType val="linear"/>
            <c:dispRSqr val="1"/>
            <c:dispEq val="0"/>
            <c:trendlineLbl>
              <c:layout>
                <c:manualLayout>
                  <c:x val="-0.57066973077311178"/>
                  <c:y val="0.29518027351844178"/>
                </c:manualLayout>
              </c:layout>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accent2"/>
                      </a:solidFill>
                      <a:latin typeface="+mn-lt"/>
                      <a:ea typeface="+mn-ea"/>
                      <a:cs typeface="+mn-cs"/>
                    </a:defRPr>
                  </a:pPr>
                  <a:endParaRPr lang="en-US"/>
                </a:p>
              </c:txPr>
            </c:trendlineLbl>
          </c:trendline>
          <c:trendline>
            <c:spPr>
              <a:ln w="47625" cap="rnd">
                <a:solidFill>
                  <a:schemeClr val="accent6"/>
                </a:solidFill>
                <a:prstDash val="sysDot"/>
              </a:ln>
              <a:effectLst/>
            </c:spPr>
            <c:trendlineType val="exp"/>
            <c:dispRSqr val="1"/>
            <c:dispEq val="1"/>
            <c:trendlineLbl>
              <c:layout>
                <c:manualLayout>
                  <c:x val="-0.11868130580411636"/>
                  <c:y val="0.3770516185476816"/>
                </c:manualLayout>
              </c:layout>
              <c:tx>
                <c:rich>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r>
                      <a:rPr lang="en-US" sz="2000" b="1" baseline="0" dirty="0">
                        <a:solidFill>
                          <a:schemeClr val="accent6"/>
                        </a:solidFill>
                      </a:rPr>
                      <a:t>Y = 22.217e</a:t>
                    </a:r>
                    <a:r>
                      <a:rPr lang="en-US" sz="2000" b="1" baseline="30000" dirty="0">
                        <a:solidFill>
                          <a:schemeClr val="accent6"/>
                        </a:solidFill>
                      </a:rPr>
                      <a:t>0.2774X</a:t>
                    </a:r>
                    <a:br>
                      <a:rPr lang="en-US" sz="2000" b="1" baseline="0" dirty="0">
                        <a:solidFill>
                          <a:schemeClr val="accent6"/>
                        </a:solidFill>
                      </a:rPr>
                    </a:br>
                    <a:r>
                      <a:rPr lang="en-US" sz="2000" b="1" baseline="0" dirty="0">
                        <a:solidFill>
                          <a:schemeClr val="accent6"/>
                        </a:solidFill>
                      </a:rPr>
                      <a:t>R² = 0.8863</a:t>
                    </a:r>
                    <a:endParaRPr lang="en-US" sz="2000" b="1" dirty="0">
                      <a:solidFill>
                        <a:schemeClr val="accent6"/>
                      </a:solidFill>
                    </a:endParaRPr>
                  </a:p>
                </c:rich>
              </c:tx>
              <c:numFmt formatCode="General"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trendlineLbl>
          </c:trendline>
          <c:trendline>
            <c:spPr>
              <a:ln w="19050" cap="rnd">
                <a:solidFill>
                  <a:schemeClr val="accent1"/>
                </a:solidFill>
                <a:prstDash val="sysDot"/>
              </a:ln>
              <a:effectLst/>
            </c:spPr>
            <c:trendlineType val="power"/>
            <c:dispRSqr val="0"/>
            <c:dispEq val="0"/>
          </c:trendline>
          <c:trendline>
            <c:spPr>
              <a:ln w="19050" cap="rnd">
                <a:solidFill>
                  <a:schemeClr val="accent1"/>
                </a:solidFill>
                <a:prstDash val="sysDot"/>
              </a:ln>
              <a:effectLst/>
            </c:spPr>
            <c:trendlineType val="log"/>
            <c:dispRSqr val="0"/>
            <c:dispEq val="0"/>
          </c:trendline>
          <c:xVal>
            <c:numRef>
              <c:f>Sheet1!$A$2:$A$9</c:f>
              <c:numCache>
                <c:formatCode>General</c:formatCode>
                <c:ptCount val="8"/>
                <c:pt idx="0">
                  <c:v>6</c:v>
                </c:pt>
                <c:pt idx="1">
                  <c:v>4</c:v>
                </c:pt>
                <c:pt idx="2">
                  <c:v>1</c:v>
                </c:pt>
                <c:pt idx="3">
                  <c:v>5</c:v>
                </c:pt>
                <c:pt idx="4">
                  <c:v>0</c:v>
                </c:pt>
                <c:pt idx="5">
                  <c:v>6</c:v>
                </c:pt>
                <c:pt idx="6">
                  <c:v>3</c:v>
                </c:pt>
                <c:pt idx="7">
                  <c:v>5</c:v>
                </c:pt>
              </c:numCache>
            </c:numRef>
          </c:xVal>
          <c:yVal>
            <c:numRef>
              <c:f>Sheet1!$B$2:$B$9</c:f>
              <c:numCache>
                <c:formatCode>General</c:formatCode>
                <c:ptCount val="8"/>
                <c:pt idx="0">
                  <c:v>100</c:v>
                </c:pt>
                <c:pt idx="1">
                  <c:v>79</c:v>
                </c:pt>
                <c:pt idx="2">
                  <c:v>33</c:v>
                </c:pt>
                <c:pt idx="3">
                  <c:v>98</c:v>
                </c:pt>
                <c:pt idx="4">
                  <c:v>17</c:v>
                </c:pt>
                <c:pt idx="5">
                  <c:v>97</c:v>
                </c:pt>
                <c:pt idx="6">
                  <c:v>61</c:v>
                </c:pt>
                <c:pt idx="7">
                  <c:v>95</c:v>
                </c:pt>
              </c:numCache>
            </c:numRef>
          </c:yVal>
          <c:smooth val="0"/>
          <c:extLst>
            <c:ext xmlns:c16="http://schemas.microsoft.com/office/drawing/2014/chart" uri="{C3380CC4-5D6E-409C-BE32-E72D297353CC}">
              <c16:uniqueId val="{00000005-9658-9C4D-81EA-AD28FFDEF788}"/>
            </c:ext>
          </c:extLst>
        </c:ser>
        <c:dLbls>
          <c:showLegendKey val="0"/>
          <c:showVal val="0"/>
          <c:showCatName val="0"/>
          <c:showSerName val="0"/>
          <c:showPercent val="0"/>
          <c:showBubbleSize val="0"/>
        </c:dLbls>
        <c:axId val="1165658224"/>
        <c:axId val="1946932223"/>
      </c:scatterChart>
      <c:valAx>
        <c:axId val="1165658224"/>
        <c:scaling>
          <c:orientation val="minMax"/>
          <c:max val="6"/>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946932223"/>
        <c:crosses val="autoZero"/>
        <c:crossBetween val="midCat"/>
      </c:valAx>
      <c:valAx>
        <c:axId val="1946932223"/>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116565822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sz="2800" b="1" dirty="0">
                <a:solidFill>
                  <a:schemeClr val="bg1"/>
                </a:solidFill>
              </a:rPr>
              <a:t>Example</a:t>
            </a:r>
            <a:r>
              <a:rPr lang="en-US" sz="2800" b="1" baseline="0" dirty="0">
                <a:solidFill>
                  <a:schemeClr val="bg1"/>
                </a:solidFill>
              </a:rPr>
              <a:t> of Overfitted and Underfitted Models</a:t>
            </a:r>
            <a:endParaRPr lang="en-US" sz="2800" b="1" dirty="0">
              <a:solidFill>
                <a:schemeClr val="bg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63500">
                <a:solidFill>
                  <a:schemeClr val="accent1"/>
                </a:solidFill>
              </a:ln>
              <a:effectLst/>
            </c:spPr>
          </c:marker>
          <c:trendline>
            <c:spPr>
              <a:ln w="47625" cap="rnd">
                <a:solidFill>
                  <a:schemeClr val="accent6"/>
                </a:solidFill>
                <a:prstDash val="solid"/>
              </a:ln>
              <a:effectLst/>
            </c:spPr>
            <c:trendlineType val="linear"/>
            <c:dispRSqr val="0"/>
            <c:dispEq val="0"/>
          </c:trendline>
          <c:trendline>
            <c:spPr>
              <a:ln w="47625" cap="rnd">
                <a:solidFill>
                  <a:schemeClr val="accent2"/>
                </a:solidFill>
                <a:prstDash val="solid"/>
              </a:ln>
              <a:effectLst/>
            </c:spPr>
            <c:trendlineType val="movingAvg"/>
            <c:period val="2"/>
            <c:dispRSqr val="0"/>
            <c:dispEq val="0"/>
          </c:trendline>
          <c:xVal>
            <c:numRef>
              <c:f>Sheet2!$A$1:$A$81</c:f>
              <c:numCache>
                <c:formatCode>General</c:formatCode>
                <c:ptCount val="81"/>
                <c:pt idx="0">
                  <c:v>9.3949002181775695E-2</c:v>
                </c:pt>
                <c:pt idx="1">
                  <c:v>0.101091987201628</c:v>
                </c:pt>
                <c:pt idx="2">
                  <c:v>0.19593896127160301</c:v>
                </c:pt>
                <c:pt idx="3">
                  <c:v>0.301127358146349</c:v>
                </c:pt>
                <c:pt idx="4">
                  <c:v>0.35518029098943399</c:v>
                </c:pt>
                <c:pt idx="5">
                  <c:v>0.43564649850770298</c:v>
                </c:pt>
                <c:pt idx="6">
                  <c:v>0.480492039469815</c:v>
                </c:pt>
                <c:pt idx="7">
                  <c:v>0.48550637896530602</c:v>
                </c:pt>
                <c:pt idx="8">
                  <c:v>0.51022405374014002</c:v>
                </c:pt>
                <c:pt idx="9">
                  <c:v>0.55187570582152501</c:v>
                </c:pt>
                <c:pt idx="10">
                  <c:v>0.59137212934466599</c:v>
                </c:pt>
                <c:pt idx="11">
                  <c:v>0.59363859477122005</c:v>
                </c:pt>
                <c:pt idx="12">
                  <c:v>0.60098280606584398</c:v>
                </c:pt>
                <c:pt idx="13">
                  <c:v>0.64463148827426597</c:v>
                </c:pt>
                <c:pt idx="14">
                  <c:v>0.69091475674306901</c:v>
                </c:pt>
                <c:pt idx="15">
                  <c:v>0.71676643704523202</c:v>
                </c:pt>
                <c:pt idx="16">
                  <c:v>0.79484791822759804</c:v>
                </c:pt>
                <c:pt idx="17">
                  <c:v>0.80654758942498095</c:v>
                </c:pt>
                <c:pt idx="18">
                  <c:v>0.98291180840026704</c:v>
                </c:pt>
                <c:pt idx="19">
                  <c:v>1.04438378047417</c:v>
                </c:pt>
                <c:pt idx="20">
                  <c:v>1.0519128053692</c:v>
                </c:pt>
                <c:pt idx="21">
                  <c:v>1.2221279600080099</c:v>
                </c:pt>
                <c:pt idx="22">
                  <c:v>1.26645801269891</c:v>
                </c:pt>
                <c:pt idx="23">
                  <c:v>1.3227780605231301</c:v>
                </c:pt>
                <c:pt idx="24">
                  <c:v>1.4140348128820399</c:v>
                </c:pt>
                <c:pt idx="25">
                  <c:v>1.48070098761072</c:v>
                </c:pt>
                <c:pt idx="26">
                  <c:v>1.5771417546209101</c:v>
                </c:pt>
                <c:pt idx="27">
                  <c:v>1.7975395028689301</c:v>
                </c:pt>
                <c:pt idx="28">
                  <c:v>1.8185538547131099</c:v>
                </c:pt>
                <c:pt idx="29">
                  <c:v>1.84362585330482</c:v>
                </c:pt>
                <c:pt idx="30">
                  <c:v>1.91720759412888</c:v>
                </c:pt>
                <c:pt idx="31">
                  <c:v>2.0733096999526102</c:v>
                </c:pt>
                <c:pt idx="32">
                  <c:v>2.1182739966945201</c:v>
                </c:pt>
                <c:pt idx="33">
                  <c:v>2.1851597689967002</c:v>
                </c:pt>
                <c:pt idx="34">
                  <c:v>2.1879360563134602</c:v>
                </c:pt>
                <c:pt idx="35">
                  <c:v>2.1930075673116001</c:v>
                </c:pt>
                <c:pt idx="36">
                  <c:v>2.2807516610827401</c:v>
                </c:pt>
                <c:pt idx="37">
                  <c:v>2.3073968112646499</c:v>
                </c:pt>
                <c:pt idx="38">
                  <c:v>2.3315538642815299</c:v>
                </c:pt>
                <c:pt idx="39">
                  <c:v>2.3432560082384999</c:v>
                </c:pt>
                <c:pt idx="40">
                  <c:v>2.60924160875035</c:v>
                </c:pt>
                <c:pt idx="41">
                  <c:v>2.64447459876452</c:v>
                </c:pt>
                <c:pt idx="42">
                  <c:v>2.7244159149844802</c:v>
                </c:pt>
                <c:pt idx="43">
                  <c:v>2.7440675196366202</c:v>
                </c:pt>
                <c:pt idx="44">
                  <c:v>2.8402228054696601</c:v>
                </c:pt>
                <c:pt idx="45">
                  <c:v>2.8421697443432401</c:v>
                </c:pt>
                <c:pt idx="46">
                  <c:v>2.85098385208939</c:v>
                </c:pt>
                <c:pt idx="47">
                  <c:v>3.0138168803582102</c:v>
                </c:pt>
                <c:pt idx="48">
                  <c:v>3.0242275987252301</c:v>
                </c:pt>
                <c:pt idx="49">
                  <c:v>3.0604786136121001</c:v>
                </c:pt>
                <c:pt idx="50">
                  <c:v>3.0846699843737801</c:v>
                </c:pt>
                <c:pt idx="51">
                  <c:v>3.0881774853793802</c:v>
                </c:pt>
                <c:pt idx="52">
                  <c:v>3.1996051066376099</c:v>
                </c:pt>
                <c:pt idx="53">
                  <c:v>3.2294705653332798</c:v>
                </c:pt>
                <c:pt idx="54">
                  <c:v>3.2655416273269902</c:v>
                </c:pt>
                <c:pt idx="55">
                  <c:v>3.28164794732636</c:v>
                </c:pt>
                <c:pt idx="56">
                  <c:v>3.3338335772283298</c:v>
                </c:pt>
                <c:pt idx="57">
                  <c:v>3.3531893480907899</c:v>
                </c:pt>
                <c:pt idx="58">
                  <c:v>3.4091014955174099</c:v>
                </c:pt>
                <c:pt idx="59">
                  <c:v>3.48815597963632</c:v>
                </c:pt>
                <c:pt idx="60">
                  <c:v>3.5759468318620899</c:v>
                </c:pt>
                <c:pt idx="61">
                  <c:v>3.6963178969914998</c:v>
                </c:pt>
                <c:pt idx="62">
                  <c:v>3.8711684471710801</c:v>
                </c:pt>
                <c:pt idx="63">
                  <c:v>3.8907837547492501</c:v>
                </c:pt>
                <c:pt idx="64">
                  <c:v>3.90264588143227</c:v>
                </c:pt>
                <c:pt idx="65">
                  <c:v>3.9586251904133198</c:v>
                </c:pt>
                <c:pt idx="66">
                  <c:v>3.9957928210836098</c:v>
                </c:pt>
                <c:pt idx="67">
                  <c:v>4.1049661492396696</c:v>
                </c:pt>
                <c:pt idx="68">
                  <c:v>4.1630992277396901</c:v>
                </c:pt>
                <c:pt idx="69">
                  <c:v>4.1897245374940102</c:v>
                </c:pt>
                <c:pt idx="70">
                  <c:v>4.3500607412340901</c:v>
                </c:pt>
                <c:pt idx="71">
                  <c:v>4.4588650039103896</c:v>
                </c:pt>
                <c:pt idx="72">
                  <c:v>4.6279831914632998</c:v>
                </c:pt>
                <c:pt idx="73">
                  <c:v>4.7187403925731202</c:v>
                </c:pt>
                <c:pt idx="74">
                  <c:v>4.7233445852479097</c:v>
                </c:pt>
                <c:pt idx="75">
                  <c:v>4.8183138025051404</c:v>
                </c:pt>
                <c:pt idx="76">
                  <c:v>4.8822973250669701</c:v>
                </c:pt>
                <c:pt idx="77">
                  <c:v>4.8838054409516802</c:v>
                </c:pt>
                <c:pt idx="78">
                  <c:v>4.8930917111638204</c:v>
                </c:pt>
                <c:pt idx="79">
                  <c:v>4.9418691902961296</c:v>
                </c:pt>
              </c:numCache>
            </c:numRef>
          </c:xVal>
          <c:yVal>
            <c:numRef>
              <c:f>Sheet2!$B$1:$B$81</c:f>
              <c:numCache>
                <c:formatCode>General</c:formatCode>
                <c:ptCount val="81"/>
                <c:pt idx="0">
                  <c:v>1.24962294769402E-2</c:v>
                </c:pt>
                <c:pt idx="1">
                  <c:v>-7.1708371510701904E-2</c:v>
                </c:pt>
                <c:pt idx="2">
                  <c:v>0.212430229402784</c:v>
                </c:pt>
                <c:pt idx="3">
                  <c:v>0.25641893139222599</c:v>
                </c:pt>
                <c:pt idx="4">
                  <c:v>0.184739574102288</c:v>
                </c:pt>
                <c:pt idx="5">
                  <c:v>0.46827482894100098</c:v>
                </c:pt>
                <c:pt idx="6">
                  <c:v>0.37148571969805699</c:v>
                </c:pt>
                <c:pt idx="7">
                  <c:v>0.47185082002201101</c:v>
                </c:pt>
                <c:pt idx="8">
                  <c:v>0.56128183251688202</c:v>
                </c:pt>
                <c:pt idx="9">
                  <c:v>0.53718368480001299</c:v>
                </c:pt>
                <c:pt idx="10">
                  <c:v>0.67144072535761501</c:v>
                </c:pt>
                <c:pt idx="11">
                  <c:v>0.43589820768496101</c:v>
                </c:pt>
                <c:pt idx="12">
                  <c:v>0.60568750953464701</c:v>
                </c:pt>
                <c:pt idx="13">
                  <c:v>0.53242291097088301</c:v>
                </c:pt>
                <c:pt idx="14">
                  <c:v>0.55016270337743001</c:v>
                </c:pt>
                <c:pt idx="15">
                  <c:v>0.59906525133973099</c:v>
                </c:pt>
                <c:pt idx="16">
                  <c:v>0.68260184291887704</c:v>
                </c:pt>
                <c:pt idx="17">
                  <c:v>0.72751896520512904</c:v>
                </c:pt>
                <c:pt idx="18">
                  <c:v>0.71560080631576395</c:v>
                </c:pt>
                <c:pt idx="19">
                  <c:v>0.95469774068343904</c:v>
                </c:pt>
                <c:pt idx="20">
                  <c:v>0.91493963868450601</c:v>
                </c:pt>
                <c:pt idx="21">
                  <c:v>0.78620412532401396</c:v>
                </c:pt>
                <c:pt idx="22">
                  <c:v>1.10287066288333</c:v>
                </c:pt>
                <c:pt idx="23">
                  <c:v>1.15898972517431</c:v>
                </c:pt>
                <c:pt idx="24">
                  <c:v>1.1056160124725301</c:v>
                </c:pt>
                <c:pt idx="25">
                  <c:v>0.97795167595683097</c:v>
                </c:pt>
                <c:pt idx="26">
                  <c:v>0.89290460568934904</c:v>
                </c:pt>
                <c:pt idx="27">
                  <c:v>1.0798488852516499</c:v>
                </c:pt>
                <c:pt idx="28">
                  <c:v>0.92914708684515501</c:v>
                </c:pt>
                <c:pt idx="29">
                  <c:v>1.0852568226616</c:v>
                </c:pt>
                <c:pt idx="30">
                  <c:v>0.96142472749126695</c:v>
                </c:pt>
                <c:pt idx="31">
                  <c:v>0.97403871966489097</c:v>
                </c:pt>
                <c:pt idx="32">
                  <c:v>0.889476838166955</c:v>
                </c:pt>
                <c:pt idx="33">
                  <c:v>0.88779786566113095</c:v>
                </c:pt>
                <c:pt idx="34">
                  <c:v>0.81658704495944101</c:v>
                </c:pt>
                <c:pt idx="35">
                  <c:v>0.99117870884855397</c:v>
                </c:pt>
                <c:pt idx="36">
                  <c:v>0.77108219912397302</c:v>
                </c:pt>
                <c:pt idx="37">
                  <c:v>0.78095547575850099</c:v>
                </c:pt>
                <c:pt idx="38">
                  <c:v>0.91262898869813802</c:v>
                </c:pt>
                <c:pt idx="39">
                  <c:v>0.58142032260409504</c:v>
                </c:pt>
                <c:pt idx="40">
                  <c:v>0.38051194045326803</c:v>
                </c:pt>
                <c:pt idx="41">
                  <c:v>0.57383407713243595</c:v>
                </c:pt>
                <c:pt idx="42">
                  <c:v>0.28786860212926102</c:v>
                </c:pt>
                <c:pt idx="43">
                  <c:v>0.581499768033783</c:v>
                </c:pt>
                <c:pt idx="44">
                  <c:v>0.25546669680039702</c:v>
                </c:pt>
                <c:pt idx="45">
                  <c:v>0.22022336048445901</c:v>
                </c:pt>
                <c:pt idx="46">
                  <c:v>0.478829755033433</c:v>
                </c:pt>
                <c:pt idx="47">
                  <c:v>0.27547984441316098</c:v>
                </c:pt>
                <c:pt idx="48">
                  <c:v>0.303851694496379</c:v>
                </c:pt>
                <c:pt idx="49">
                  <c:v>0.17162958692719599</c:v>
                </c:pt>
                <c:pt idx="50">
                  <c:v>-2.9230634356161501E-2</c:v>
                </c:pt>
                <c:pt idx="51">
                  <c:v>0.24439626662700201</c:v>
                </c:pt>
                <c:pt idx="52">
                  <c:v>-8.4780256000848694E-2</c:v>
                </c:pt>
                <c:pt idx="53">
                  <c:v>-7.5192092327799097E-3</c:v>
                </c:pt>
                <c:pt idx="54">
                  <c:v>-2.8906642132345998E-2</c:v>
                </c:pt>
                <c:pt idx="55">
                  <c:v>-0.15509887648241799</c:v>
                </c:pt>
                <c:pt idx="56">
                  <c:v>-0.129651078403897</c:v>
                </c:pt>
                <c:pt idx="57">
                  <c:v>-0.117800582882007</c:v>
                </c:pt>
                <c:pt idx="58">
                  <c:v>-0.22668715275845999</c:v>
                </c:pt>
                <c:pt idx="59">
                  <c:v>-0.44960755019947002</c:v>
                </c:pt>
                <c:pt idx="60">
                  <c:v>-0.39100081972711798</c:v>
                </c:pt>
                <c:pt idx="61">
                  <c:v>-0.39407117489389898</c:v>
                </c:pt>
                <c:pt idx="62">
                  <c:v>-0.73601025321982505</c:v>
                </c:pt>
                <c:pt idx="63">
                  <c:v>-0.69601012883895996</c:v>
                </c:pt>
                <c:pt idx="64">
                  <c:v>-0.73319983550290402</c:v>
                </c:pt>
                <c:pt idx="65">
                  <c:v>-0.54419177436591903</c:v>
                </c:pt>
                <c:pt idx="66">
                  <c:v>-0.68681633423247901</c:v>
                </c:pt>
                <c:pt idx="67">
                  <c:v>-0.78037548679596302</c:v>
                </c:pt>
                <c:pt idx="68">
                  <c:v>-0.92988715166612101</c:v>
                </c:pt>
                <c:pt idx="69">
                  <c:v>-0.81256727293073405</c:v>
                </c:pt>
                <c:pt idx="70">
                  <c:v>-1.0025073752173399</c:v>
                </c:pt>
                <c:pt idx="71">
                  <c:v>-0.96485150578591805</c:v>
                </c:pt>
                <c:pt idx="72">
                  <c:v>-1.06002455357486</c:v>
                </c:pt>
                <c:pt idx="73">
                  <c:v>-0.93233650035476201</c:v>
                </c:pt>
                <c:pt idx="74">
                  <c:v>-0.942280906299796</c:v>
                </c:pt>
                <c:pt idx="75">
                  <c:v>-1.0152250850392901</c:v>
                </c:pt>
                <c:pt idx="76">
                  <c:v>-0.94599959796552902</c:v>
                </c:pt>
                <c:pt idx="77">
                  <c:v>-1.09465028901763</c:v>
                </c:pt>
                <c:pt idx="78">
                  <c:v>-1.13284339955139</c:v>
                </c:pt>
                <c:pt idx="79">
                  <c:v>-0.92984559379729703</c:v>
                </c:pt>
              </c:numCache>
            </c:numRef>
          </c:yVal>
          <c:smooth val="0"/>
          <c:extLst>
            <c:ext xmlns:c16="http://schemas.microsoft.com/office/drawing/2014/chart" uri="{C3380CC4-5D6E-409C-BE32-E72D297353CC}">
              <c16:uniqueId val="{00000002-BCEC-BF4D-881E-B764F1F9A861}"/>
            </c:ext>
          </c:extLst>
        </c:ser>
        <c:dLbls>
          <c:showLegendKey val="0"/>
          <c:showVal val="0"/>
          <c:showCatName val="0"/>
          <c:showSerName val="0"/>
          <c:showPercent val="0"/>
          <c:showBubbleSize val="0"/>
        </c:dLbls>
        <c:axId val="705375984"/>
        <c:axId val="1236784416"/>
      </c:scatterChart>
      <c:valAx>
        <c:axId val="705375984"/>
        <c:scaling>
          <c:orientation val="minMax"/>
        </c:scaling>
        <c:delete val="0"/>
        <c:axPos val="b"/>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6784416"/>
        <c:crosses val="autoZero"/>
        <c:crossBetween val="midCat"/>
        <c:majorUnit val="0.5"/>
      </c:valAx>
      <c:valAx>
        <c:axId val="1236784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5375984"/>
        <c:crossesAt val="0"/>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A33D8A-2C8C-C048-A156-ECEF7569247B}" type="datetimeFigureOut">
              <a:rPr lang="en-US" smtClean="0"/>
              <a:t>10/23/23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A6951-2A84-6D41-968A-70D8B0F68262}" type="slidenum">
              <a:rPr lang="en-US" smtClean="0"/>
              <a:t>‹#›</a:t>
            </a:fld>
            <a:endParaRPr lang="en-US"/>
          </a:p>
        </p:txBody>
      </p:sp>
    </p:spTree>
    <p:extLst>
      <p:ext uri="{BB962C8B-B14F-4D97-AF65-F5344CB8AC3E}">
        <p14:creationId xmlns:p14="http://schemas.microsoft.com/office/powerpoint/2010/main" val="24279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it is possible to construct several potential models to explain the relationship between the independent variable and the dependent variable. The model we use impacts the predictions we make. Model evaluations allow us to estimate how well a model describes the data, which has consequences to the inferences we may make using this model. </a:t>
            </a:r>
          </a:p>
        </p:txBody>
      </p:sp>
      <p:sp>
        <p:nvSpPr>
          <p:cNvPr id="4" name="Slide Number Placeholder 3"/>
          <p:cNvSpPr>
            <a:spLocks noGrp="1"/>
          </p:cNvSpPr>
          <p:nvPr>
            <p:ph type="sldNum" sz="quarter" idx="5"/>
          </p:nvPr>
        </p:nvSpPr>
        <p:spPr/>
        <p:txBody>
          <a:bodyPr/>
          <a:lstStyle/>
          <a:p>
            <a:fld id="{552A6951-2A84-6D41-968A-70D8B0F68262}" type="slidenum">
              <a:rPr lang="en-US" smtClean="0"/>
              <a:t>6</a:t>
            </a:fld>
            <a:endParaRPr lang="en-US"/>
          </a:p>
        </p:txBody>
      </p:sp>
    </p:spTree>
    <p:extLst>
      <p:ext uri="{BB962C8B-B14F-4D97-AF65-F5344CB8AC3E}">
        <p14:creationId xmlns:p14="http://schemas.microsoft.com/office/powerpoint/2010/main" val="1992181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recall the coefficient of determination, or R^2 value, from your prerequisite Statistics or Probability class. The closer this value is to 1, the mode variability the model can explain in the dependent variable (the midterm grades). </a:t>
            </a:r>
          </a:p>
          <a:p>
            <a:endParaRPr lang="en-US" dirty="0"/>
          </a:p>
          <a:p>
            <a:r>
              <a:rPr lang="en-US" dirty="0"/>
              <a:t>Here, we see the linear model (in orange) does a better job explaining the changes in the dependent variable than the exponential model (in dark blue) does. </a:t>
            </a:r>
          </a:p>
          <a:p>
            <a:endParaRPr lang="en-US" dirty="0"/>
          </a:p>
          <a:p>
            <a:r>
              <a:rPr lang="en-US" dirty="0"/>
              <a:t>This is one example where statistics allow us to evaluate our model.</a:t>
            </a:r>
          </a:p>
        </p:txBody>
      </p:sp>
      <p:sp>
        <p:nvSpPr>
          <p:cNvPr id="4" name="Slide Number Placeholder 3"/>
          <p:cNvSpPr>
            <a:spLocks noGrp="1"/>
          </p:cNvSpPr>
          <p:nvPr>
            <p:ph type="sldNum" sz="quarter" idx="5"/>
          </p:nvPr>
        </p:nvSpPr>
        <p:spPr/>
        <p:txBody>
          <a:bodyPr/>
          <a:lstStyle/>
          <a:p>
            <a:fld id="{552A6951-2A84-6D41-968A-70D8B0F68262}" type="slidenum">
              <a:rPr lang="en-US" smtClean="0"/>
              <a:t>7</a:t>
            </a:fld>
            <a:endParaRPr lang="en-US"/>
          </a:p>
        </p:txBody>
      </p:sp>
    </p:spTree>
    <p:extLst>
      <p:ext uri="{BB962C8B-B14F-4D97-AF65-F5344CB8AC3E}">
        <p14:creationId xmlns:p14="http://schemas.microsoft.com/office/powerpoint/2010/main" val="1615026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
        <p:nvSpPr>
          <p:cNvPr id="4" name="Subtitle 3">
            <a:extLst>
              <a:ext uri="{FF2B5EF4-FFF2-40B4-BE49-F238E27FC236}">
                <a16:creationId xmlns:a16="http://schemas.microsoft.com/office/drawing/2014/main" id="{7C116FE9-9546-C877-33A3-EB561C3470BB}"/>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Model Selection</a:t>
            </a:r>
            <a:br>
              <a:rPr lang="en-US" dirty="0"/>
            </a:br>
            <a:r>
              <a:rPr lang="en-US" dirty="0"/>
              <a:t>in Statistical Learning</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8CA5-3EB8-D70C-181A-0305E81BBFF6}"/>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20DAA7D7-19F9-7E65-6E0B-5BC9FEB39659}"/>
              </a:ext>
            </a:extLst>
          </p:cNvPr>
          <p:cNvSpPr>
            <a:spLocks noGrp="1"/>
          </p:cNvSpPr>
          <p:nvPr>
            <p:ph idx="1"/>
          </p:nvPr>
        </p:nvSpPr>
        <p:spPr/>
        <p:txBody>
          <a:bodyPr/>
          <a:lstStyle/>
          <a:p>
            <a:r>
              <a:rPr lang="en-US" dirty="0"/>
              <a:t>We discussed various considerations regarding the models themselves, such as </a:t>
            </a:r>
          </a:p>
          <a:p>
            <a:pPr lvl="1"/>
            <a:r>
              <a:rPr lang="en-US" dirty="0"/>
              <a:t>Independent and dependent variables</a:t>
            </a:r>
          </a:p>
          <a:p>
            <a:pPr lvl="1"/>
            <a:r>
              <a:rPr lang="en-US" dirty="0"/>
              <a:t>Types of models: regression, classification, clustering and dimensionality reduction. </a:t>
            </a:r>
          </a:p>
          <a:p>
            <a:r>
              <a:rPr lang="en-US" dirty="0"/>
              <a:t>We also discussed two types of learning problems (supervised and unsupervised), which influences what kinds of models we can consider. </a:t>
            </a:r>
          </a:p>
        </p:txBody>
      </p:sp>
    </p:spTree>
    <p:extLst>
      <p:ext uri="{BB962C8B-B14F-4D97-AF65-F5344CB8AC3E}">
        <p14:creationId xmlns:p14="http://schemas.microsoft.com/office/powerpoint/2010/main" val="31675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FD150-011C-1B1A-8F8C-090BD6EA795A}"/>
              </a:ext>
            </a:extLst>
          </p:cNvPr>
          <p:cNvSpPr>
            <a:spLocks noGrp="1"/>
          </p:cNvSpPr>
          <p:nvPr>
            <p:ph type="title"/>
          </p:nvPr>
        </p:nvSpPr>
        <p:spPr/>
        <p:txBody>
          <a:bodyPr/>
          <a:lstStyle/>
          <a:p>
            <a:r>
              <a:rPr lang="en-US" dirty="0"/>
              <a:t>Objectives for this Lesson</a:t>
            </a:r>
          </a:p>
        </p:txBody>
      </p:sp>
      <p:sp>
        <p:nvSpPr>
          <p:cNvPr id="3" name="Content Placeholder 2">
            <a:extLst>
              <a:ext uri="{FF2B5EF4-FFF2-40B4-BE49-F238E27FC236}">
                <a16:creationId xmlns:a16="http://schemas.microsoft.com/office/drawing/2014/main" id="{08B8A36D-B56C-711B-0794-019912738C76}"/>
              </a:ext>
            </a:extLst>
          </p:cNvPr>
          <p:cNvSpPr>
            <a:spLocks noGrp="1"/>
          </p:cNvSpPr>
          <p:nvPr>
            <p:ph idx="1"/>
          </p:nvPr>
        </p:nvSpPr>
        <p:spPr/>
        <p:txBody>
          <a:bodyPr/>
          <a:lstStyle/>
          <a:p>
            <a:r>
              <a:rPr lang="en-US" dirty="0"/>
              <a:t>Define what model evaluation is and explain why we need it.</a:t>
            </a:r>
          </a:p>
          <a:p>
            <a:r>
              <a:rPr lang="en-US" dirty="0"/>
              <a:t>List the challenges of model selection and its connection to the bias-variance tradeoff. </a:t>
            </a:r>
          </a:p>
          <a:p>
            <a:r>
              <a:rPr lang="en-US" dirty="0"/>
              <a:t>List the practical steps in statistical learning.</a:t>
            </a:r>
          </a:p>
          <a:p>
            <a:endParaRPr lang="en-US" dirty="0"/>
          </a:p>
          <a:p>
            <a:endParaRPr lang="en-US" dirty="0"/>
          </a:p>
        </p:txBody>
      </p:sp>
    </p:spTree>
    <p:extLst>
      <p:ext uri="{BB962C8B-B14F-4D97-AF65-F5344CB8AC3E}">
        <p14:creationId xmlns:p14="http://schemas.microsoft.com/office/powerpoint/2010/main" val="165778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71901-3D29-2AC8-6FA1-86F21DC0D217}"/>
              </a:ext>
            </a:extLst>
          </p:cNvPr>
          <p:cNvSpPr>
            <a:spLocks noGrp="1"/>
          </p:cNvSpPr>
          <p:nvPr>
            <p:ph type="title"/>
          </p:nvPr>
        </p:nvSpPr>
        <p:spPr/>
        <p:txBody>
          <a:bodyPr/>
          <a:lstStyle/>
          <a:p>
            <a:r>
              <a:rPr lang="en-US" dirty="0"/>
              <a:t>Model Evaluation</a:t>
            </a:r>
          </a:p>
        </p:txBody>
      </p:sp>
      <p:sp>
        <p:nvSpPr>
          <p:cNvPr id="3" name="Content Placeholder 2">
            <a:extLst>
              <a:ext uri="{FF2B5EF4-FFF2-40B4-BE49-F238E27FC236}">
                <a16:creationId xmlns:a16="http://schemas.microsoft.com/office/drawing/2014/main" id="{ADCEAF12-1FD7-18A1-B66F-F88ECE10A253}"/>
              </a:ext>
            </a:extLst>
          </p:cNvPr>
          <p:cNvSpPr>
            <a:spLocks noGrp="1"/>
          </p:cNvSpPr>
          <p:nvPr>
            <p:ph idx="1"/>
          </p:nvPr>
        </p:nvSpPr>
        <p:spPr/>
        <p:txBody>
          <a:bodyPr/>
          <a:lstStyle/>
          <a:p>
            <a:r>
              <a:rPr lang="en-US" dirty="0"/>
              <a:t>Statistical learning uses statistical methods to evaluate models. </a:t>
            </a:r>
          </a:p>
          <a:p>
            <a:r>
              <a:rPr lang="en-US" b="1" dirty="0">
                <a:solidFill>
                  <a:schemeClr val="bg1"/>
                </a:solidFill>
              </a:rPr>
              <a:t>Model evaluation </a:t>
            </a:r>
            <a:r>
              <a:rPr lang="en-US" dirty="0"/>
              <a:t>measures both effectiveness and performance.</a:t>
            </a:r>
          </a:p>
          <a:p>
            <a:r>
              <a:rPr lang="en-US" dirty="0"/>
              <a:t>For example: </a:t>
            </a:r>
          </a:p>
          <a:p>
            <a:pPr lvl="1"/>
            <a:r>
              <a:rPr lang="en-US" dirty="0"/>
              <a:t>How “good” was our model in </a:t>
            </a:r>
            <a:r>
              <a:rPr lang="en-US" i="1" dirty="0"/>
              <a:t>explaining</a:t>
            </a:r>
            <a:r>
              <a:rPr lang="en-US" dirty="0"/>
              <a:t> the relationship between optional homework and a midterm grade? </a:t>
            </a:r>
          </a:p>
          <a:p>
            <a:pPr lvl="1"/>
            <a:r>
              <a:rPr lang="en-US" dirty="0"/>
              <a:t>How “good” was our prediction of a midterm grade after completing two homework assignments?</a:t>
            </a:r>
          </a:p>
          <a:p>
            <a:r>
              <a:rPr lang="en-US" dirty="0"/>
              <a:t>Common metrics include Mean Squared Error (MSE), Accuracy, Precision, Recall, and many more.</a:t>
            </a:r>
          </a:p>
        </p:txBody>
      </p:sp>
    </p:spTree>
    <p:extLst>
      <p:ext uri="{BB962C8B-B14F-4D97-AF65-F5344CB8AC3E}">
        <p14:creationId xmlns:p14="http://schemas.microsoft.com/office/powerpoint/2010/main" val="2372926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0" name="Content Placeholder 9">
            <a:extLst>
              <a:ext uri="{FF2B5EF4-FFF2-40B4-BE49-F238E27FC236}">
                <a16:creationId xmlns:a16="http://schemas.microsoft.com/office/drawing/2014/main" id="{6375FEBB-57B5-B087-2625-7FF5F7652000}"/>
              </a:ext>
            </a:extLst>
          </p:cNvPr>
          <p:cNvGraphicFramePr>
            <a:graphicFrameLocks noGrp="1"/>
          </p:cNvGraphicFramePr>
          <p:nvPr>
            <p:ph sz="half" idx="2"/>
            <p:extLst>
              <p:ext uri="{D42A27DB-BD31-4B8C-83A1-F6EECF244321}">
                <p14:modId xmlns:p14="http://schemas.microsoft.com/office/powerpoint/2010/main" val="2745730751"/>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1522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97DB7CD-29DC-62B2-D31F-192BDE5B4476}"/>
              </a:ext>
            </a:extLst>
          </p:cNvPr>
          <p:cNvGraphicFramePr>
            <a:graphicFrameLocks noGrp="1"/>
          </p:cNvGraphicFramePr>
          <p:nvPr>
            <p:ph sz="half" idx="1"/>
          </p:nvPr>
        </p:nvGraphicFramePr>
        <p:xfrm>
          <a:off x="1098550" y="2085975"/>
          <a:ext cx="7680324" cy="6949440"/>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4273917134"/>
                    </a:ext>
                  </a:extLst>
                </a:gridCol>
                <a:gridCol w="2977273">
                  <a:extLst>
                    <a:ext uri="{9D8B030D-6E8A-4147-A177-3AD203B41FA5}">
                      <a16:colId xmlns:a16="http://schemas.microsoft.com/office/drawing/2014/main" val="3353417482"/>
                    </a:ext>
                  </a:extLst>
                </a:gridCol>
                <a:gridCol w="2142943">
                  <a:extLst>
                    <a:ext uri="{9D8B030D-6E8A-4147-A177-3AD203B41FA5}">
                      <a16:colId xmlns:a16="http://schemas.microsoft.com/office/drawing/2014/main" val="1010915053"/>
                    </a:ext>
                  </a:extLst>
                </a:gridCol>
              </a:tblGrid>
              <a:tr h="370840">
                <a:tc>
                  <a:txBody>
                    <a:bodyPr/>
                    <a:lstStyle/>
                    <a:p>
                      <a:r>
                        <a:rPr lang="en-US" dirty="0">
                          <a:solidFill>
                            <a:schemeClr val="bg2"/>
                          </a:solidFill>
                        </a:rPr>
                        <a:t>Student</a:t>
                      </a:r>
                    </a:p>
                  </a:txBody>
                  <a:tcPr/>
                </a:tc>
                <a:tc>
                  <a:txBody>
                    <a:bodyPr/>
                    <a:lstStyle/>
                    <a:p>
                      <a:r>
                        <a:rPr lang="en-US" dirty="0">
                          <a:solidFill>
                            <a:schemeClr val="bg2"/>
                          </a:solidFill>
                        </a:rPr>
                        <a:t>Optional </a:t>
                      </a:r>
                      <a:r>
                        <a:rPr lang="en-US" dirty="0" err="1">
                          <a:solidFill>
                            <a:schemeClr val="bg2"/>
                          </a:solidFill>
                        </a:rPr>
                        <a:t>Hw</a:t>
                      </a:r>
                      <a:r>
                        <a:rPr lang="en-US" dirty="0">
                          <a:solidFill>
                            <a:schemeClr val="bg2"/>
                          </a:solidFill>
                        </a:rPr>
                        <a:t> Completed</a:t>
                      </a:r>
                    </a:p>
                  </a:txBody>
                  <a:tcPr/>
                </a:tc>
                <a:tc>
                  <a:txBody>
                    <a:bodyPr/>
                    <a:lstStyle/>
                    <a:p>
                      <a:r>
                        <a:rPr lang="en-US" dirty="0">
                          <a:solidFill>
                            <a:schemeClr val="bg2"/>
                          </a:solidFill>
                        </a:rPr>
                        <a:t>Midterm Grade</a:t>
                      </a:r>
                    </a:p>
                  </a:txBody>
                  <a:tcPr/>
                </a:tc>
                <a:extLst>
                  <a:ext uri="{0D108BD9-81ED-4DB2-BD59-A6C34878D82A}">
                    <a16:rowId xmlns:a16="http://schemas.microsoft.com/office/drawing/2014/main" val="668318335"/>
                  </a:ext>
                </a:extLst>
              </a:tr>
              <a:tr h="531676">
                <a:tc>
                  <a:txBody>
                    <a:bodyPr/>
                    <a:lstStyle/>
                    <a:p>
                      <a:r>
                        <a:rPr lang="en-US" dirty="0"/>
                        <a:t>Ahmed</a:t>
                      </a:r>
                    </a:p>
                  </a:txBody>
                  <a:tcPr/>
                </a:tc>
                <a:tc>
                  <a:txBody>
                    <a:bodyPr/>
                    <a:lstStyle/>
                    <a:p>
                      <a:r>
                        <a:rPr lang="en-US" dirty="0"/>
                        <a:t>0</a:t>
                      </a:r>
                    </a:p>
                  </a:txBody>
                  <a:tcPr/>
                </a:tc>
                <a:tc>
                  <a:txBody>
                    <a:bodyPr/>
                    <a:lstStyle/>
                    <a:p>
                      <a:r>
                        <a:rPr lang="en-US" dirty="0"/>
                        <a:t>12</a:t>
                      </a:r>
                    </a:p>
                  </a:txBody>
                  <a:tcPr/>
                </a:tc>
                <a:extLst>
                  <a:ext uri="{0D108BD9-81ED-4DB2-BD59-A6C34878D82A}">
                    <a16:rowId xmlns:a16="http://schemas.microsoft.com/office/drawing/2014/main" val="2953335679"/>
                  </a:ext>
                </a:extLst>
              </a:tr>
              <a:tr h="370840">
                <a:tc>
                  <a:txBody>
                    <a:bodyPr/>
                    <a:lstStyle/>
                    <a:p>
                      <a:r>
                        <a:rPr lang="en-US" dirty="0"/>
                        <a:t>Javier</a:t>
                      </a:r>
                    </a:p>
                  </a:txBody>
                  <a:tcPr/>
                </a:tc>
                <a:tc>
                  <a:txBody>
                    <a:bodyPr/>
                    <a:lstStyle/>
                    <a:p>
                      <a:r>
                        <a:rPr lang="en-US" dirty="0"/>
                        <a:t>6</a:t>
                      </a:r>
                    </a:p>
                  </a:txBody>
                  <a:tcPr/>
                </a:tc>
                <a:tc>
                  <a:txBody>
                    <a:bodyPr/>
                    <a:lstStyle/>
                    <a:p>
                      <a:r>
                        <a:rPr lang="en-US" dirty="0"/>
                        <a:t>100</a:t>
                      </a:r>
                    </a:p>
                  </a:txBody>
                  <a:tcPr/>
                </a:tc>
                <a:extLst>
                  <a:ext uri="{0D108BD9-81ED-4DB2-BD59-A6C34878D82A}">
                    <a16:rowId xmlns:a16="http://schemas.microsoft.com/office/drawing/2014/main" val="3366005123"/>
                  </a:ext>
                </a:extLst>
              </a:tr>
              <a:tr h="370840">
                <a:tc>
                  <a:txBody>
                    <a:bodyPr/>
                    <a:lstStyle/>
                    <a:p>
                      <a:r>
                        <a:rPr lang="en-US" dirty="0"/>
                        <a:t>Mei Ling</a:t>
                      </a:r>
                    </a:p>
                  </a:txBody>
                  <a:tcPr/>
                </a:tc>
                <a:tc>
                  <a:txBody>
                    <a:bodyPr/>
                    <a:lstStyle/>
                    <a:p>
                      <a:r>
                        <a:rPr lang="en-US" dirty="0"/>
                        <a:t>4</a:t>
                      </a:r>
                    </a:p>
                  </a:txBody>
                  <a:tcPr/>
                </a:tc>
                <a:tc>
                  <a:txBody>
                    <a:bodyPr/>
                    <a:lstStyle/>
                    <a:p>
                      <a:r>
                        <a:rPr lang="en-US" dirty="0"/>
                        <a:t>79</a:t>
                      </a:r>
                    </a:p>
                  </a:txBody>
                  <a:tcPr/>
                </a:tc>
                <a:extLst>
                  <a:ext uri="{0D108BD9-81ED-4DB2-BD59-A6C34878D82A}">
                    <a16:rowId xmlns:a16="http://schemas.microsoft.com/office/drawing/2014/main" val="3859957406"/>
                  </a:ext>
                </a:extLst>
              </a:tr>
              <a:tr h="370840">
                <a:tc>
                  <a:txBody>
                    <a:bodyPr/>
                    <a:lstStyle/>
                    <a:p>
                      <a:r>
                        <a:rPr lang="en-US" dirty="0"/>
                        <a:t>Priya</a:t>
                      </a:r>
                    </a:p>
                  </a:txBody>
                  <a:tcPr/>
                </a:tc>
                <a:tc>
                  <a:txBody>
                    <a:bodyPr/>
                    <a:lstStyle/>
                    <a:p>
                      <a:r>
                        <a:rPr lang="en-US" dirty="0"/>
                        <a:t>1</a:t>
                      </a:r>
                    </a:p>
                  </a:txBody>
                  <a:tcPr/>
                </a:tc>
                <a:tc>
                  <a:txBody>
                    <a:bodyPr/>
                    <a:lstStyle/>
                    <a:p>
                      <a:r>
                        <a:rPr lang="en-US" dirty="0"/>
                        <a:t>33</a:t>
                      </a:r>
                    </a:p>
                  </a:txBody>
                  <a:tcPr/>
                </a:tc>
                <a:extLst>
                  <a:ext uri="{0D108BD9-81ED-4DB2-BD59-A6C34878D82A}">
                    <a16:rowId xmlns:a16="http://schemas.microsoft.com/office/drawing/2014/main" val="1893556793"/>
                  </a:ext>
                </a:extLst>
              </a:tr>
              <a:tr h="370840">
                <a:tc>
                  <a:txBody>
                    <a:bodyPr/>
                    <a:lstStyle/>
                    <a:p>
                      <a:r>
                        <a:rPr lang="en-US" dirty="0"/>
                        <a:t>Malik</a:t>
                      </a:r>
                    </a:p>
                  </a:txBody>
                  <a:tcPr/>
                </a:tc>
                <a:tc>
                  <a:txBody>
                    <a:bodyPr/>
                    <a:lstStyle/>
                    <a:p>
                      <a:r>
                        <a:rPr lang="en-US" dirty="0"/>
                        <a:t>5</a:t>
                      </a:r>
                    </a:p>
                  </a:txBody>
                  <a:tcPr/>
                </a:tc>
                <a:tc>
                  <a:txBody>
                    <a:bodyPr/>
                    <a:lstStyle/>
                    <a:p>
                      <a:r>
                        <a:rPr lang="en-US" dirty="0"/>
                        <a:t>98</a:t>
                      </a:r>
                    </a:p>
                  </a:txBody>
                  <a:tcPr/>
                </a:tc>
                <a:extLst>
                  <a:ext uri="{0D108BD9-81ED-4DB2-BD59-A6C34878D82A}">
                    <a16:rowId xmlns:a16="http://schemas.microsoft.com/office/drawing/2014/main" val="2282574743"/>
                  </a:ext>
                </a:extLst>
              </a:tr>
              <a:tr h="370840">
                <a:tc>
                  <a:txBody>
                    <a:bodyPr/>
                    <a:lstStyle/>
                    <a:p>
                      <a:r>
                        <a:rPr lang="en-US" dirty="0"/>
                        <a:t>Sofia</a:t>
                      </a:r>
                    </a:p>
                  </a:txBody>
                  <a:tcPr/>
                </a:tc>
                <a:tc>
                  <a:txBody>
                    <a:bodyPr/>
                    <a:lstStyle/>
                    <a:p>
                      <a:r>
                        <a:rPr lang="en-US" dirty="0"/>
                        <a:t>0</a:t>
                      </a:r>
                    </a:p>
                  </a:txBody>
                  <a:tcPr/>
                </a:tc>
                <a:tc>
                  <a:txBody>
                    <a:bodyPr/>
                    <a:lstStyle/>
                    <a:p>
                      <a:r>
                        <a:rPr lang="en-US" dirty="0"/>
                        <a:t>17</a:t>
                      </a:r>
                    </a:p>
                  </a:txBody>
                  <a:tcPr/>
                </a:tc>
                <a:extLst>
                  <a:ext uri="{0D108BD9-81ED-4DB2-BD59-A6C34878D82A}">
                    <a16:rowId xmlns:a16="http://schemas.microsoft.com/office/drawing/2014/main" val="2045864458"/>
                  </a:ext>
                </a:extLst>
              </a:tr>
              <a:tr h="370840">
                <a:tc>
                  <a:txBody>
                    <a:bodyPr/>
                    <a:lstStyle/>
                    <a:p>
                      <a:r>
                        <a:rPr lang="en-US" dirty="0"/>
                        <a:t>Yuri</a:t>
                      </a:r>
                    </a:p>
                  </a:txBody>
                  <a:tcPr/>
                </a:tc>
                <a:tc>
                  <a:txBody>
                    <a:bodyPr/>
                    <a:lstStyle/>
                    <a:p>
                      <a:r>
                        <a:rPr lang="en-US" dirty="0"/>
                        <a:t>6</a:t>
                      </a:r>
                    </a:p>
                  </a:txBody>
                  <a:tcPr/>
                </a:tc>
                <a:tc>
                  <a:txBody>
                    <a:bodyPr/>
                    <a:lstStyle/>
                    <a:p>
                      <a:r>
                        <a:rPr lang="en-US" dirty="0"/>
                        <a:t>97</a:t>
                      </a:r>
                    </a:p>
                  </a:txBody>
                  <a:tcPr/>
                </a:tc>
                <a:extLst>
                  <a:ext uri="{0D108BD9-81ED-4DB2-BD59-A6C34878D82A}">
                    <a16:rowId xmlns:a16="http://schemas.microsoft.com/office/drawing/2014/main" val="3174652009"/>
                  </a:ext>
                </a:extLst>
              </a:tr>
              <a:tr h="370840">
                <a:tc>
                  <a:txBody>
                    <a:bodyPr/>
                    <a:lstStyle/>
                    <a:p>
                      <a:r>
                        <a:rPr lang="en-US" dirty="0"/>
                        <a:t>Aiden</a:t>
                      </a:r>
                    </a:p>
                  </a:txBody>
                  <a:tcPr/>
                </a:tc>
                <a:tc>
                  <a:txBody>
                    <a:bodyPr/>
                    <a:lstStyle/>
                    <a:p>
                      <a:r>
                        <a:rPr lang="en-US" dirty="0"/>
                        <a:t>3</a:t>
                      </a:r>
                    </a:p>
                  </a:txBody>
                  <a:tcPr/>
                </a:tc>
                <a:tc>
                  <a:txBody>
                    <a:bodyPr/>
                    <a:lstStyle/>
                    <a:p>
                      <a:r>
                        <a:rPr lang="en-US" dirty="0"/>
                        <a:t>61</a:t>
                      </a:r>
                    </a:p>
                  </a:txBody>
                  <a:tcPr/>
                </a:tc>
                <a:extLst>
                  <a:ext uri="{0D108BD9-81ED-4DB2-BD59-A6C34878D82A}">
                    <a16:rowId xmlns:a16="http://schemas.microsoft.com/office/drawing/2014/main" val="1297806237"/>
                  </a:ext>
                </a:extLst>
              </a:tr>
              <a:tr h="370840">
                <a:tc>
                  <a:txBody>
                    <a:bodyPr/>
                    <a:lstStyle/>
                    <a:p>
                      <a:r>
                        <a:rPr lang="en-US" dirty="0"/>
                        <a:t>Ingrid</a:t>
                      </a:r>
                    </a:p>
                  </a:txBody>
                  <a:tcPr/>
                </a:tc>
                <a:tc>
                  <a:txBody>
                    <a:bodyPr/>
                    <a:lstStyle/>
                    <a:p>
                      <a:r>
                        <a:rPr lang="en-US" dirty="0"/>
                        <a:t>5</a:t>
                      </a:r>
                    </a:p>
                  </a:txBody>
                  <a:tcPr/>
                </a:tc>
                <a:tc>
                  <a:txBody>
                    <a:bodyPr/>
                    <a:lstStyle/>
                    <a:p>
                      <a:r>
                        <a:rPr lang="en-US" dirty="0"/>
                        <a:t>95</a:t>
                      </a:r>
                    </a:p>
                  </a:txBody>
                  <a:tcPr/>
                </a:tc>
                <a:extLst>
                  <a:ext uri="{0D108BD9-81ED-4DB2-BD59-A6C34878D82A}">
                    <a16:rowId xmlns:a16="http://schemas.microsoft.com/office/drawing/2014/main" val="3712636546"/>
                  </a:ext>
                </a:extLst>
              </a:tr>
            </a:tbl>
          </a:graphicData>
        </a:graphic>
      </p:graphicFrame>
      <p:sp>
        <p:nvSpPr>
          <p:cNvPr id="4" name="Title 3">
            <a:extLst>
              <a:ext uri="{FF2B5EF4-FFF2-40B4-BE49-F238E27FC236}">
                <a16:creationId xmlns:a16="http://schemas.microsoft.com/office/drawing/2014/main" id="{CE8CA0C4-9FE6-E74C-7756-E38D87B08ED1}"/>
              </a:ext>
            </a:extLst>
          </p:cNvPr>
          <p:cNvSpPr>
            <a:spLocks noGrp="1"/>
          </p:cNvSpPr>
          <p:nvPr>
            <p:ph type="title"/>
          </p:nvPr>
        </p:nvSpPr>
        <p:spPr/>
        <p:txBody>
          <a:bodyPr/>
          <a:lstStyle/>
          <a:p>
            <a:r>
              <a:rPr lang="en-US" dirty="0"/>
              <a:t>Example</a:t>
            </a:r>
          </a:p>
        </p:txBody>
      </p:sp>
      <p:graphicFrame>
        <p:nvGraphicFramePr>
          <p:cNvPr id="10" name="Content Placeholder 9">
            <a:extLst>
              <a:ext uri="{FF2B5EF4-FFF2-40B4-BE49-F238E27FC236}">
                <a16:creationId xmlns:a16="http://schemas.microsoft.com/office/drawing/2014/main" id="{6375FEBB-57B5-B087-2625-7FF5F7652000}"/>
              </a:ext>
            </a:extLst>
          </p:cNvPr>
          <p:cNvGraphicFramePr>
            <a:graphicFrameLocks noGrp="1"/>
          </p:cNvGraphicFramePr>
          <p:nvPr>
            <p:ph sz="half" idx="2"/>
            <p:extLst>
              <p:ext uri="{D42A27DB-BD31-4B8C-83A1-F6EECF244321}">
                <p14:modId xmlns:p14="http://schemas.microsoft.com/office/powerpoint/2010/main" val="4009403782"/>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1763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6BFDA-DA02-E705-CD71-7A78A547143D}"/>
              </a:ext>
            </a:extLst>
          </p:cNvPr>
          <p:cNvSpPr>
            <a:spLocks noGrp="1"/>
          </p:cNvSpPr>
          <p:nvPr>
            <p:ph type="title"/>
          </p:nvPr>
        </p:nvSpPr>
        <p:spPr/>
        <p:txBody>
          <a:bodyPr/>
          <a:lstStyle/>
          <a:p>
            <a:r>
              <a:rPr lang="en-US" b="1" i="0" u="none" strike="noStrike" dirty="0">
                <a:effectLst/>
                <a:latin typeface="Söhne"/>
              </a:rPr>
              <a:t>Model Selection</a:t>
            </a:r>
            <a:endParaRPr lang="en-US" dirty="0"/>
          </a:p>
        </p:txBody>
      </p:sp>
      <p:sp>
        <p:nvSpPr>
          <p:cNvPr id="3" name="Content Placeholder 2">
            <a:extLst>
              <a:ext uri="{FF2B5EF4-FFF2-40B4-BE49-F238E27FC236}">
                <a16:creationId xmlns:a16="http://schemas.microsoft.com/office/drawing/2014/main" id="{A4FE61CB-DD7B-09DC-4980-91723DAB3EFE}"/>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374151"/>
                </a:solidFill>
                <a:effectLst/>
                <a:latin typeface="Söhne"/>
              </a:rPr>
              <a:t>A good model for a dataset captures a meaningful relationship between the independent and dependent variables. </a:t>
            </a:r>
          </a:p>
          <a:p>
            <a:pPr algn="l">
              <a:buFont typeface="Arial" panose="020B0604020202020204" pitchFamily="34" charset="0"/>
              <a:buChar char="•"/>
            </a:pPr>
            <a:r>
              <a:rPr lang="en-US" b="0" i="0" u="none" strike="noStrike" dirty="0">
                <a:solidFill>
                  <a:srgbClr val="374151"/>
                </a:solidFill>
                <a:effectLst/>
                <a:latin typeface="Söhne"/>
              </a:rPr>
              <a:t>A poor choice of model can lead to </a:t>
            </a:r>
          </a:p>
          <a:p>
            <a:pPr lvl="1">
              <a:buFont typeface="Arial" panose="020B0604020202020204" pitchFamily="34" charset="0"/>
              <a:buChar char="•"/>
            </a:pPr>
            <a:r>
              <a:rPr lang="en-US" b="1" i="0" u="none" strike="noStrike" dirty="0">
                <a:solidFill>
                  <a:schemeClr val="bg1"/>
                </a:solidFill>
                <a:effectLst/>
                <a:latin typeface="Söhne"/>
              </a:rPr>
              <a:t>Underfitting</a:t>
            </a:r>
            <a:r>
              <a:rPr lang="en-US" dirty="0">
                <a:solidFill>
                  <a:srgbClr val="374151"/>
                </a:solidFill>
                <a:latin typeface="Söhne"/>
              </a:rPr>
              <a:t>, when the </a:t>
            </a:r>
            <a:r>
              <a:rPr lang="en-US" b="0" i="0" u="none" strike="noStrike" dirty="0">
                <a:solidFill>
                  <a:srgbClr val="374151"/>
                </a:solidFill>
                <a:effectLst/>
                <a:latin typeface="Söhne"/>
              </a:rPr>
              <a:t>model is too </a:t>
            </a:r>
            <a:r>
              <a:rPr lang="en-US" b="0" u="none" strike="noStrike" dirty="0">
                <a:solidFill>
                  <a:schemeClr val="bg1"/>
                </a:solidFill>
                <a:effectLst/>
                <a:latin typeface="Söhne"/>
              </a:rPr>
              <a:t>simplistic</a:t>
            </a:r>
            <a:r>
              <a:rPr lang="en-US" b="0" i="0" u="none" strike="noStrike" dirty="0">
                <a:solidFill>
                  <a:srgbClr val="374151"/>
                </a:solidFill>
                <a:effectLst/>
                <a:latin typeface="Söhne"/>
              </a:rPr>
              <a:t> that it fails to capture the relationship between variables, or </a:t>
            </a:r>
          </a:p>
          <a:p>
            <a:pPr lvl="1">
              <a:buFont typeface="Arial" panose="020B0604020202020204" pitchFamily="34" charset="0"/>
              <a:buChar char="•"/>
            </a:pPr>
            <a:r>
              <a:rPr lang="en-US" b="1" i="0" u="none" strike="noStrike" dirty="0">
                <a:solidFill>
                  <a:schemeClr val="bg1"/>
                </a:solidFill>
                <a:effectLst/>
                <a:latin typeface="Söhne"/>
              </a:rPr>
              <a:t>Overfitting</a:t>
            </a:r>
            <a:r>
              <a:rPr lang="en-US" dirty="0">
                <a:solidFill>
                  <a:srgbClr val="374151"/>
                </a:solidFill>
                <a:latin typeface="Söhne"/>
              </a:rPr>
              <a:t>, when the </a:t>
            </a:r>
            <a:r>
              <a:rPr lang="en-US" b="0" i="0" u="none" strike="noStrike" dirty="0">
                <a:solidFill>
                  <a:srgbClr val="374151"/>
                </a:solidFill>
                <a:effectLst/>
                <a:latin typeface="Söhne"/>
              </a:rPr>
              <a:t>model is too </a:t>
            </a:r>
            <a:r>
              <a:rPr lang="en-US" b="0" u="none" strike="noStrike" dirty="0">
                <a:solidFill>
                  <a:schemeClr val="bg1"/>
                </a:solidFill>
                <a:effectLst/>
                <a:latin typeface="Söhne"/>
              </a:rPr>
              <a:t>complex</a:t>
            </a:r>
            <a:r>
              <a:rPr lang="en-US" b="0" i="0" u="none" strike="noStrike" dirty="0">
                <a:solidFill>
                  <a:srgbClr val="374151"/>
                </a:solidFill>
                <a:effectLst/>
                <a:latin typeface="Söhne"/>
              </a:rPr>
              <a:t> that it captures a more complex relationship between the variables.</a:t>
            </a:r>
          </a:p>
          <a:p>
            <a:pPr algn="l">
              <a:buFont typeface="Arial" panose="020B0604020202020204" pitchFamily="34" charset="0"/>
              <a:buChar char="•"/>
            </a:pPr>
            <a:endParaRPr lang="en-US" b="0" i="0" u="none" strike="noStrike" dirty="0">
              <a:solidFill>
                <a:srgbClr val="374151"/>
              </a:solidFill>
              <a:effectLst/>
              <a:latin typeface="Söhne"/>
            </a:endParaRPr>
          </a:p>
        </p:txBody>
      </p:sp>
    </p:spTree>
    <p:extLst>
      <p:ext uri="{BB962C8B-B14F-4D97-AF65-F5344CB8AC3E}">
        <p14:creationId xmlns:p14="http://schemas.microsoft.com/office/powerpoint/2010/main" val="2395157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A7A73E-AF55-66AD-050E-5CEAA70BE423}"/>
              </a:ext>
            </a:extLst>
          </p:cNvPr>
          <p:cNvSpPr>
            <a:spLocks noGrp="1"/>
          </p:cNvSpPr>
          <p:nvPr>
            <p:ph sz="half" idx="1"/>
          </p:nvPr>
        </p:nvSpPr>
        <p:spPr/>
        <p:txBody>
          <a:bodyPr>
            <a:normAutofit lnSpcReduction="10000"/>
          </a:bodyPr>
          <a:lstStyle/>
          <a:p>
            <a:r>
              <a:rPr lang="en-US" dirty="0"/>
              <a:t>The dataset to the right follows the pattern of a shifted sine curve. </a:t>
            </a:r>
          </a:p>
          <a:p>
            <a:r>
              <a:rPr lang="en-US" dirty="0"/>
              <a:t>The underfitted model, the line in dark blue, cannot capture the relationship between the variables. </a:t>
            </a:r>
          </a:p>
          <a:p>
            <a:r>
              <a:rPr lang="en-US" dirty="0"/>
              <a:t>The overfitted model, the line in orange, is too affected by </a:t>
            </a:r>
            <a:r>
              <a:rPr lang="en-US" b="1" dirty="0">
                <a:solidFill>
                  <a:schemeClr val="bg1"/>
                </a:solidFill>
              </a:rPr>
              <a:t>noise</a:t>
            </a:r>
            <a:r>
              <a:rPr lang="en-US" dirty="0"/>
              <a:t> in the data.</a:t>
            </a:r>
          </a:p>
        </p:txBody>
      </p:sp>
      <p:sp>
        <p:nvSpPr>
          <p:cNvPr id="4" name="Title 3">
            <a:extLst>
              <a:ext uri="{FF2B5EF4-FFF2-40B4-BE49-F238E27FC236}">
                <a16:creationId xmlns:a16="http://schemas.microsoft.com/office/drawing/2014/main" id="{B1093F8A-CDFB-2408-5D33-27EB50EE64AF}"/>
              </a:ext>
            </a:extLst>
          </p:cNvPr>
          <p:cNvSpPr>
            <a:spLocks noGrp="1"/>
          </p:cNvSpPr>
          <p:nvPr>
            <p:ph type="title"/>
          </p:nvPr>
        </p:nvSpPr>
        <p:spPr/>
        <p:txBody>
          <a:bodyPr/>
          <a:lstStyle/>
          <a:p>
            <a:r>
              <a:rPr lang="en-US" dirty="0"/>
              <a:t>Underfitting and Overfitting Example</a:t>
            </a:r>
          </a:p>
        </p:txBody>
      </p:sp>
      <p:graphicFrame>
        <p:nvGraphicFramePr>
          <p:cNvPr id="5" name="Content Placeholder 4">
            <a:extLst>
              <a:ext uri="{FF2B5EF4-FFF2-40B4-BE49-F238E27FC236}">
                <a16:creationId xmlns:a16="http://schemas.microsoft.com/office/drawing/2014/main" id="{3EACF690-7015-B084-10A4-582353951DD9}"/>
              </a:ext>
            </a:extLst>
          </p:cNvPr>
          <p:cNvGraphicFramePr>
            <a:graphicFrameLocks noGrp="1"/>
          </p:cNvGraphicFramePr>
          <p:nvPr>
            <p:ph sz="half" idx="2"/>
            <p:extLst>
              <p:ext uri="{D42A27DB-BD31-4B8C-83A1-F6EECF244321}">
                <p14:modId xmlns:p14="http://schemas.microsoft.com/office/powerpoint/2010/main" val="2108146077"/>
              </p:ext>
            </p:extLst>
          </p:nvPr>
        </p:nvGraphicFramePr>
        <p:xfrm>
          <a:off x="9502775" y="2085975"/>
          <a:ext cx="7680325" cy="65151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2804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0DE5-4C04-CD84-1DDB-09A71E3C3C85}"/>
              </a:ext>
            </a:extLst>
          </p:cNvPr>
          <p:cNvSpPr>
            <a:spLocks noGrp="1"/>
          </p:cNvSpPr>
          <p:nvPr>
            <p:ph type="title"/>
          </p:nvPr>
        </p:nvSpPr>
        <p:spPr/>
        <p:txBody>
          <a:bodyPr/>
          <a:lstStyle/>
          <a:p>
            <a:r>
              <a:rPr lang="en-US" b="1" i="0" u="none" strike="noStrike" dirty="0">
                <a:effectLst/>
                <a:latin typeface="Söhne"/>
              </a:rPr>
              <a:t>Bias-Variance Tradeoff</a:t>
            </a:r>
            <a:endParaRPr lang="en-US" dirty="0"/>
          </a:p>
        </p:txBody>
      </p:sp>
      <p:sp>
        <p:nvSpPr>
          <p:cNvPr id="3" name="Content Placeholder 2">
            <a:extLst>
              <a:ext uri="{FF2B5EF4-FFF2-40B4-BE49-F238E27FC236}">
                <a16:creationId xmlns:a16="http://schemas.microsoft.com/office/drawing/2014/main" id="{8878DE86-BF97-D78F-5DD0-CE4AE795A510}"/>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374151"/>
                </a:solidFill>
                <a:effectLst/>
                <a:latin typeface="Söhne"/>
              </a:rPr>
              <a:t>The bias-variance tradeoff is a concept that describes the balance between the model's ability to fit the data with its ability to generalize to new data.</a:t>
            </a:r>
          </a:p>
          <a:p>
            <a:pPr algn="l">
              <a:buFont typeface="Arial" panose="020B0604020202020204" pitchFamily="34" charset="0"/>
              <a:buChar char="•"/>
            </a:pPr>
            <a:r>
              <a:rPr lang="en-US" b="1" i="0" u="none" strike="noStrike" dirty="0">
                <a:solidFill>
                  <a:schemeClr val="bg1"/>
                </a:solidFill>
                <a:effectLst/>
                <a:latin typeface="Söhne"/>
              </a:rPr>
              <a:t>Bias</a:t>
            </a:r>
            <a:r>
              <a:rPr lang="en-US" b="0" i="0" u="none" strike="noStrike" dirty="0">
                <a:solidFill>
                  <a:srgbClr val="374151"/>
                </a:solidFill>
                <a:effectLst/>
                <a:latin typeface="Söhne"/>
              </a:rPr>
              <a:t> represents the error due to overly simplistic assumptions in the model, like the blue line in the previous slide. </a:t>
            </a:r>
          </a:p>
          <a:p>
            <a:pPr algn="l">
              <a:buFont typeface="Arial" panose="020B0604020202020204" pitchFamily="34" charset="0"/>
              <a:buChar char="•"/>
            </a:pPr>
            <a:r>
              <a:rPr lang="en-US" b="1" i="0" u="none" strike="noStrike" dirty="0">
                <a:solidFill>
                  <a:schemeClr val="bg1"/>
                </a:solidFill>
                <a:effectLst/>
                <a:latin typeface="Söhne"/>
              </a:rPr>
              <a:t>Variance</a:t>
            </a:r>
            <a:r>
              <a:rPr lang="en-US" b="0" i="0" u="none" strike="noStrike" dirty="0">
                <a:solidFill>
                  <a:srgbClr val="374151"/>
                </a:solidFill>
                <a:effectLst/>
                <a:latin typeface="Söhne"/>
              </a:rPr>
              <a:t> represents the error due to model's sensitivity to fluctuations in the training data,</a:t>
            </a:r>
            <a:r>
              <a:rPr lang="en-US" dirty="0">
                <a:solidFill>
                  <a:srgbClr val="374151"/>
                </a:solidFill>
                <a:latin typeface="Söhne"/>
              </a:rPr>
              <a:t> like the orange line in the previous slide.</a:t>
            </a:r>
          </a:p>
          <a:p>
            <a:pPr algn="l">
              <a:buFont typeface="Arial" panose="020B0604020202020204" pitchFamily="34" charset="0"/>
              <a:buChar char="•"/>
            </a:pPr>
            <a:r>
              <a:rPr lang="en-US" b="0" i="0" u="none" strike="noStrike" dirty="0">
                <a:solidFill>
                  <a:srgbClr val="374151"/>
                </a:solidFill>
                <a:effectLst/>
                <a:latin typeface="Söhne"/>
              </a:rPr>
              <a:t>When </a:t>
            </a:r>
            <a:r>
              <a:rPr lang="en-US" dirty="0">
                <a:solidFill>
                  <a:srgbClr val="374151"/>
                </a:solidFill>
                <a:latin typeface="Söhne"/>
              </a:rPr>
              <a:t>considering several models, we balance these concepts using model evaluation. </a:t>
            </a:r>
            <a:endParaRPr lang="en-US" b="0" i="0" u="none" strike="noStrike" dirty="0">
              <a:solidFill>
                <a:srgbClr val="374151"/>
              </a:solidFill>
              <a:effectLst/>
              <a:latin typeface="Söhne"/>
            </a:endParaRPr>
          </a:p>
        </p:txBody>
      </p:sp>
    </p:spTree>
    <p:extLst>
      <p:ext uri="{BB962C8B-B14F-4D97-AF65-F5344CB8AC3E}">
        <p14:creationId xmlns:p14="http://schemas.microsoft.com/office/powerpoint/2010/main" val="3004344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E349-E4BC-D24B-B450-B864948FD9A1}"/>
              </a:ext>
            </a:extLst>
          </p:cNvPr>
          <p:cNvSpPr>
            <a:spLocks noGrp="1"/>
          </p:cNvSpPr>
          <p:nvPr>
            <p:ph type="title"/>
          </p:nvPr>
        </p:nvSpPr>
        <p:spPr/>
        <p:txBody>
          <a:bodyPr/>
          <a:lstStyle/>
          <a:p>
            <a:r>
              <a:rPr lang="en-US" b="1" i="0" u="none" strike="noStrike" dirty="0">
                <a:effectLst/>
                <a:latin typeface="Söhne"/>
              </a:rPr>
              <a:t>Practical Steps in Statistical Learning</a:t>
            </a:r>
            <a:endParaRPr lang="en-US" dirty="0"/>
          </a:p>
        </p:txBody>
      </p:sp>
      <p:sp>
        <p:nvSpPr>
          <p:cNvPr id="3" name="Content Placeholder 2">
            <a:extLst>
              <a:ext uri="{FF2B5EF4-FFF2-40B4-BE49-F238E27FC236}">
                <a16:creationId xmlns:a16="http://schemas.microsoft.com/office/drawing/2014/main" id="{E4CBB60A-0688-3845-470D-D2C78A51AC67}"/>
              </a:ext>
            </a:extLst>
          </p:cNvPr>
          <p:cNvSpPr>
            <a:spLocks noGrp="1"/>
          </p:cNvSpPr>
          <p:nvPr>
            <p:ph idx="1"/>
          </p:nvPr>
        </p:nvSpPr>
        <p:spPr/>
        <p:txBody>
          <a:bodyPr/>
          <a:lstStyle/>
          <a:p>
            <a:pPr algn="l">
              <a:buFont typeface="Arial" panose="020B0604020202020204" pitchFamily="34" charset="0"/>
              <a:buChar char="•"/>
            </a:pPr>
            <a:r>
              <a:rPr lang="en-US" b="1" i="0" u="none" strike="noStrike" dirty="0">
                <a:solidFill>
                  <a:srgbClr val="374151"/>
                </a:solidFill>
                <a:effectLst/>
                <a:latin typeface="Söhne"/>
              </a:rPr>
              <a:t>Data Preprocessing</a:t>
            </a:r>
            <a:r>
              <a:rPr lang="en-US" b="0" i="0" u="none" strike="noStrike" dirty="0">
                <a:solidFill>
                  <a:srgbClr val="374151"/>
                </a:solidFill>
                <a:effectLst/>
                <a:latin typeface="Söhne"/>
              </a:rPr>
              <a:t>: Cleaning, handling missing values, and feature engineering.</a:t>
            </a:r>
          </a:p>
          <a:p>
            <a:pPr algn="l">
              <a:buFont typeface="Arial" panose="020B0604020202020204" pitchFamily="34" charset="0"/>
              <a:buChar char="•"/>
            </a:pPr>
            <a:r>
              <a:rPr lang="en-US" b="1" i="0" u="none" strike="noStrike" dirty="0">
                <a:solidFill>
                  <a:srgbClr val="374151"/>
                </a:solidFill>
                <a:effectLst/>
                <a:latin typeface="Söhne"/>
              </a:rPr>
              <a:t>Model Training</a:t>
            </a:r>
            <a:r>
              <a:rPr lang="en-US" b="0" i="0" u="none" strike="noStrike" dirty="0">
                <a:solidFill>
                  <a:srgbClr val="374151"/>
                </a:solidFill>
                <a:effectLst/>
                <a:latin typeface="Söhne"/>
              </a:rPr>
              <a:t>: Using algorithms to build predictive models.</a:t>
            </a:r>
          </a:p>
          <a:p>
            <a:pPr algn="l">
              <a:buFont typeface="Arial" panose="020B0604020202020204" pitchFamily="34" charset="0"/>
              <a:buChar char="•"/>
            </a:pPr>
            <a:r>
              <a:rPr lang="en-US" b="1" i="0" u="none" strike="noStrike" dirty="0">
                <a:solidFill>
                  <a:srgbClr val="374151"/>
                </a:solidFill>
                <a:effectLst/>
                <a:latin typeface="Söhne"/>
              </a:rPr>
              <a:t>Model Evaluation</a:t>
            </a:r>
            <a:r>
              <a:rPr lang="en-US" b="0" i="0" u="none" strike="noStrike" dirty="0">
                <a:solidFill>
                  <a:srgbClr val="374151"/>
                </a:solidFill>
                <a:effectLst/>
                <a:latin typeface="Söhne"/>
              </a:rPr>
              <a:t>: Assessing model accuracy and generalization.</a:t>
            </a:r>
          </a:p>
          <a:p>
            <a:pPr algn="l">
              <a:buFont typeface="Arial" panose="020B0604020202020204" pitchFamily="34" charset="0"/>
              <a:buChar char="•"/>
            </a:pPr>
            <a:r>
              <a:rPr lang="en-US" b="1" dirty="0">
                <a:solidFill>
                  <a:srgbClr val="374151"/>
                </a:solidFill>
                <a:latin typeface="Söhne"/>
              </a:rPr>
              <a:t>Model Selection</a:t>
            </a:r>
            <a:r>
              <a:rPr lang="en-US" dirty="0">
                <a:solidFill>
                  <a:srgbClr val="374151"/>
                </a:solidFill>
                <a:latin typeface="Söhne"/>
              </a:rPr>
              <a:t>: When considering multiple models, we use model evaluations to pick one that generalizes effectively</a:t>
            </a:r>
          </a:p>
          <a:p>
            <a:pPr algn="l">
              <a:buFont typeface="Arial" panose="020B0604020202020204" pitchFamily="34" charset="0"/>
              <a:buChar char="•"/>
            </a:pPr>
            <a:r>
              <a:rPr lang="en-US" b="1" i="0" u="none" strike="noStrike" dirty="0">
                <a:solidFill>
                  <a:srgbClr val="374151"/>
                </a:solidFill>
                <a:effectLst/>
                <a:latin typeface="Söhne"/>
              </a:rPr>
              <a:t>Model Deployment</a:t>
            </a:r>
            <a:r>
              <a:rPr lang="en-US" b="0" i="0" u="none" strike="noStrike" dirty="0">
                <a:solidFill>
                  <a:srgbClr val="374151"/>
                </a:solidFill>
                <a:effectLst/>
                <a:latin typeface="Söhne"/>
              </a:rPr>
              <a:t>: Using the model to make inferences, like predictions, on new data.</a:t>
            </a:r>
          </a:p>
        </p:txBody>
      </p:sp>
    </p:spTree>
    <p:extLst>
      <p:ext uri="{BB962C8B-B14F-4D97-AF65-F5344CB8AC3E}">
        <p14:creationId xmlns:p14="http://schemas.microsoft.com/office/powerpoint/2010/main" val="357142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FD06A-7CD7-5391-3F28-40D40B78918B}"/>
              </a:ext>
            </a:extLst>
          </p:cNvPr>
          <p:cNvSpPr>
            <a:spLocks noGrp="1"/>
          </p:cNvSpPr>
          <p:nvPr>
            <p:ph type="title"/>
          </p:nvPr>
        </p:nvSpPr>
        <p:spPr/>
        <p:txBody>
          <a:bodyPr/>
          <a:lstStyle/>
          <a:p>
            <a:r>
              <a:rPr lang="en-US" b="1" i="0" u="none" strike="noStrike" dirty="0">
                <a:effectLst/>
                <a:latin typeface="Söhne"/>
              </a:rPr>
              <a:t>Conclusion</a:t>
            </a:r>
            <a:endParaRPr lang="en-US" dirty="0"/>
          </a:p>
        </p:txBody>
      </p:sp>
      <p:sp>
        <p:nvSpPr>
          <p:cNvPr id="3" name="Content Placeholder 2">
            <a:extLst>
              <a:ext uri="{FF2B5EF4-FFF2-40B4-BE49-F238E27FC236}">
                <a16:creationId xmlns:a16="http://schemas.microsoft.com/office/drawing/2014/main" id="{E3B1B8D4-9DC4-0773-3782-128926280987}"/>
              </a:ext>
            </a:extLst>
          </p:cNvPr>
          <p:cNvSpPr>
            <a:spLocks noGrp="1"/>
          </p:cNvSpPr>
          <p:nvPr>
            <p:ph idx="1"/>
          </p:nvPr>
        </p:nvSpPr>
        <p:spPr/>
        <p:txBody>
          <a:bodyPr/>
          <a:lstStyle/>
          <a:p>
            <a:pPr algn="l">
              <a:buFont typeface="Arial" panose="020B0604020202020204" pitchFamily="34" charset="0"/>
              <a:buChar char="•"/>
            </a:pPr>
            <a:r>
              <a:rPr lang="en-US" b="0" i="0" u="none" strike="noStrike" dirty="0">
                <a:solidFill>
                  <a:srgbClr val="374151"/>
                </a:solidFill>
                <a:effectLst/>
                <a:latin typeface="Söhne"/>
              </a:rPr>
              <a:t>Model evaluation gives measures for how well the model fits the dataset.</a:t>
            </a:r>
          </a:p>
          <a:p>
            <a:pPr algn="l">
              <a:buFont typeface="Arial" panose="020B0604020202020204" pitchFamily="34" charset="0"/>
              <a:buChar char="•"/>
            </a:pPr>
            <a:r>
              <a:rPr lang="en-US" b="0" i="0" u="none" strike="noStrike" dirty="0">
                <a:solidFill>
                  <a:srgbClr val="374151"/>
                </a:solidFill>
                <a:effectLst/>
                <a:latin typeface="Söhne"/>
              </a:rPr>
              <a:t>Poor performing models can underfit</a:t>
            </a:r>
            <a:r>
              <a:rPr lang="en-US" dirty="0">
                <a:solidFill>
                  <a:srgbClr val="374151"/>
                </a:solidFill>
                <a:latin typeface="Söhne"/>
              </a:rPr>
              <a:t> or overfit the data.</a:t>
            </a:r>
          </a:p>
          <a:p>
            <a:pPr algn="l">
              <a:buFont typeface="Arial" panose="020B0604020202020204" pitchFamily="34" charset="0"/>
              <a:buChar char="•"/>
            </a:pPr>
            <a:r>
              <a:rPr lang="en-US" b="0" i="0" u="none" strike="noStrike" dirty="0">
                <a:solidFill>
                  <a:srgbClr val="374151"/>
                </a:solidFill>
                <a:effectLst/>
                <a:latin typeface="Söhne"/>
              </a:rPr>
              <a:t>The bias-variance tradeoff describes this balance between highly biased (or overly simplistic) models and highly variable (or overly complicated) models. </a:t>
            </a:r>
          </a:p>
          <a:p>
            <a:pPr algn="l">
              <a:buFont typeface="Arial" panose="020B0604020202020204" pitchFamily="34" charset="0"/>
              <a:buChar char="•"/>
            </a:pPr>
            <a:r>
              <a:rPr lang="en-US" dirty="0">
                <a:solidFill>
                  <a:srgbClr val="374151"/>
                </a:solidFill>
                <a:latin typeface="Söhne"/>
              </a:rPr>
              <a:t>Before we can make an inference from a model, we need to perform several prior steps to ensure we have settled on a good model. </a:t>
            </a:r>
            <a:endParaRPr lang="en-US" b="0" i="0" u="none" strike="noStrike" dirty="0">
              <a:solidFill>
                <a:srgbClr val="374151"/>
              </a:solidFill>
              <a:effectLst/>
              <a:latin typeface="Söhne"/>
            </a:endParaRPr>
          </a:p>
        </p:txBody>
      </p:sp>
    </p:spTree>
    <p:extLst>
      <p:ext uri="{BB962C8B-B14F-4D97-AF65-F5344CB8AC3E}">
        <p14:creationId xmlns:p14="http://schemas.microsoft.com/office/powerpoint/2010/main" val="1708872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5cef1d12f529d56583853ef5dc33f7c">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ccccdfc22f8c8f07a3477280a29706aa"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ternalName="Due_x0020_Date">
      <xsd:simpleType>
        <xsd:restriction base="dms:DateTime"/>
      </xsd:simpleType>
    </xsd:element>
    <xsd:element name="Status" ma:index="9" nillable="true" ma:displayName="Status" ma:format="Dropdown"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39A3ACA1-D96F-4A96-85DE-54D87646E2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6659</TotalTime>
  <Words>782</Words>
  <Application>Microsoft Macintosh PowerPoint</Application>
  <PresentationFormat>Custom</PresentationFormat>
  <Paragraphs>117</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Söhne</vt:lpstr>
      <vt:lpstr>Wingdings 2</vt:lpstr>
      <vt:lpstr>Breeze</vt:lpstr>
      <vt:lpstr>Math 769: Statistical Learning</vt:lpstr>
      <vt:lpstr>Model Selection in Statistical Learning</vt:lpstr>
      <vt:lpstr>Last Time</vt:lpstr>
      <vt:lpstr>Objectives for this Lesson</vt:lpstr>
      <vt:lpstr>Model Evaluation</vt:lpstr>
      <vt:lpstr>Example</vt:lpstr>
      <vt:lpstr>Example</vt:lpstr>
      <vt:lpstr>Model Selection</vt:lpstr>
      <vt:lpstr>Underfitting and Overfitting Example</vt:lpstr>
      <vt:lpstr>Bias-Variance Tradeoff</vt:lpstr>
      <vt:lpstr>Practical Steps in Statistical Learning</vt:lpstr>
      <vt:lpstr>Conclusion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22</cp:revision>
  <dcterms:created xsi:type="dcterms:W3CDTF">2019-02-13T16:04:21Z</dcterms:created>
  <dcterms:modified xsi:type="dcterms:W3CDTF">2023-10-24T02:54:30Z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ies>
</file>