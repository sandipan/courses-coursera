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43"/>
  </p:notesMasterIdLst>
  <p:sldIdLst>
    <p:sldId id="259" r:id="rId5"/>
    <p:sldId id="262" r:id="rId6"/>
    <p:sldId id="275" r:id="rId7"/>
    <p:sldId id="299" r:id="rId8"/>
    <p:sldId id="263" r:id="rId9"/>
    <p:sldId id="265" r:id="rId10"/>
    <p:sldId id="276" r:id="rId11"/>
    <p:sldId id="281" r:id="rId12"/>
    <p:sldId id="280" r:id="rId13"/>
    <p:sldId id="282" r:id="rId14"/>
    <p:sldId id="264" r:id="rId15"/>
    <p:sldId id="279" r:id="rId16"/>
    <p:sldId id="277" r:id="rId17"/>
    <p:sldId id="278" r:id="rId18"/>
    <p:sldId id="266" r:id="rId19"/>
    <p:sldId id="283" r:id="rId20"/>
    <p:sldId id="267" r:id="rId21"/>
    <p:sldId id="284" r:id="rId22"/>
    <p:sldId id="268" r:id="rId23"/>
    <p:sldId id="285" r:id="rId24"/>
    <p:sldId id="269" r:id="rId25"/>
    <p:sldId id="287" r:id="rId26"/>
    <p:sldId id="288" r:id="rId27"/>
    <p:sldId id="289" r:id="rId28"/>
    <p:sldId id="290" r:id="rId29"/>
    <p:sldId id="291" r:id="rId30"/>
    <p:sldId id="292" r:id="rId31"/>
    <p:sldId id="270" r:id="rId32"/>
    <p:sldId id="293" r:id="rId33"/>
    <p:sldId id="271" r:id="rId34"/>
    <p:sldId id="297" r:id="rId35"/>
    <p:sldId id="298" r:id="rId36"/>
    <p:sldId id="272" r:id="rId37"/>
    <p:sldId id="295" r:id="rId38"/>
    <p:sldId id="296" r:id="rId39"/>
    <p:sldId id="273" r:id="rId40"/>
    <p:sldId id="294" r:id="rId41"/>
    <p:sldId id="274" r:id="rId42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03"/>
    <p:restoredTop sz="80476"/>
  </p:normalViewPr>
  <p:slideViewPr>
    <p:cSldViewPr snapToGrid="0" snapToObjects="1">
      <p:cViewPr varScale="1">
        <p:scale>
          <a:sx n="68" d="100"/>
          <a:sy n="68" d="100"/>
        </p:scale>
        <p:origin x="1200" y="200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84576-79EF-8241-A1E7-7FCC62A1CA1A}" type="datetimeFigureOut">
              <a:rPr lang="en-US" smtClean="0"/>
              <a:t>10/4/23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AA93E-7455-0048-9F4D-C11C1A394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4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13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Suppose a government agency conducts a survey to gather information about household incomes in a particular city during the month of June 2023. The survey is administered to a randomly selected group of households, and the following data is collected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33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Here's a fictional example of a longitudinal dataset tracking the quarterly sales performance of three sales representatives (Salesperson A, Salesperson B, and Salesperson C) over three years. The sales figures are in thousands of dollars.</a:t>
            </a:r>
          </a:p>
          <a:p>
            <a:endParaRPr lang="en-US" b="0" i="0" u="none" strike="noStrike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This dataset allows for the analysis of sales performance trends over two years, including quarterly fluctuations and comparisons between salespeople.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71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Here's a fictional example of a panel dataset tracking the performance of two companies (Company A and Company B) over three years. The dataset includes financial metrics: Revenue (in millions of dollars), Profit Margin (as a percentage), and Market Share (as a percentage).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6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think of this panel data as three dimensional, which each of these charts layered on top of each other.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42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dimension happens over time in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63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dimension happens across the different financial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88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 third dimension happens across the different companies.</a:t>
            </a:r>
          </a:p>
          <a:p>
            <a:endParaRPr lang="en-US" dirty="0"/>
          </a:p>
          <a:p>
            <a:r>
              <a:rPr lang="en-US" dirty="0"/>
              <a:t>In several learning problems, it may make sense to organize data not in two dimensional tables (like a matrix), but in three-dimensional tables (like a tensor). We will talk about this more later on in the course.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86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Here's a fictional example of a binary dataset that represents whether customers made a purchase (1 for "Yes" and 0 for "No") for an online store's promotional campaign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0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Here's a fictional example of a dataset that combines voting data and geospatial information for a set of fictional precincts in a city. This dataset includes columns for precinct names, the number of registered voters, the number of votes cast, and the latitude and longitude coordinates for each precinct.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44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"Latitude" and "Longitude" provide the geographic coordinates of each precinct, specifying its position on the Earth's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51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that a black and white image could be thought of as two-dimensional data. But a black and white video could be thought of as three-dimensional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77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Whenever working with image datasets, we standardize the size of the images (in this slide, the image is 12 x 12 pixels). When these images are grayscale, they are converted into 2 dimensional array. Each entry is a value between 0 (which represents black) and 255 (which represents white). </a:t>
            </a:r>
          </a:p>
          <a:p>
            <a:endParaRPr lang="en-US" dirty="0"/>
          </a:p>
          <a:p>
            <a:r>
              <a:rPr lang="en-US" dirty="0"/>
              <a:t>When images are in color, we get an red-green-blue breakdown of each pixel, giving rise to a 3 dimensional array.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61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Here's a fictional example of a text dataset that represents customer reviews for a restaurant. This dataset includes columns for the customer's name, review date, and the text of their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AA93E-7455-0048-9F4D-C11C1A394B5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78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F255EEF-6ECC-30C1-4D9C-C70612DC1C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u="none" strike="noStrike" dirty="0">
                <a:solidFill>
                  <a:schemeClr val="bg1"/>
                </a:solidFill>
                <a:effectLst/>
              </a:rPr>
              <a:t>Types of Data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8CA5-3EB8-D70C-181A-0305E81B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AA7D7-19F9-7E65-6E0B-5BC9FEB39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central elements of a </a:t>
            </a:r>
            <a:r>
              <a:rPr lang="en-US" i="1" dirty="0"/>
              <a:t>statistical learning problem </a:t>
            </a:r>
            <a:r>
              <a:rPr lang="en-US" dirty="0"/>
              <a:t>are: </a:t>
            </a:r>
          </a:p>
          <a:p>
            <a:pPr lvl="1"/>
            <a:r>
              <a:rPr lang="en-US" dirty="0"/>
              <a:t>The data/the dataset</a:t>
            </a:r>
          </a:p>
          <a:p>
            <a:pPr lvl="1"/>
            <a:r>
              <a:rPr lang="en-US" dirty="0"/>
              <a:t>The model</a:t>
            </a:r>
          </a:p>
          <a:p>
            <a:pPr lvl="1"/>
            <a:r>
              <a:rPr lang="en-US" dirty="0"/>
              <a:t>What can be inferred? (e.g., a prediction)</a:t>
            </a:r>
          </a:p>
          <a:p>
            <a:r>
              <a:rPr lang="en-US" dirty="0"/>
              <a:t>We concluded with several questions.</a:t>
            </a:r>
          </a:p>
          <a:p>
            <a:pPr lvl="1"/>
            <a:r>
              <a:rPr lang="en-US" dirty="0"/>
              <a:t>What kinds of datasets can we use?</a:t>
            </a:r>
          </a:p>
          <a:p>
            <a:r>
              <a:rPr lang="en-US" dirty="0"/>
              <a:t>We cannot answer the above question without knowing what types of data are possible. </a:t>
            </a:r>
          </a:p>
        </p:txBody>
      </p:sp>
    </p:spTree>
    <p:extLst>
      <p:ext uri="{BB962C8B-B14F-4D97-AF65-F5344CB8AC3E}">
        <p14:creationId xmlns:p14="http://schemas.microsoft.com/office/powerpoint/2010/main" val="316756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D150-011C-1B1A-8F8C-090BD6EA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A36D-B56C-711B-0794-019912738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the 10 types of data as well as subtypes.</a:t>
            </a:r>
          </a:p>
          <a:p>
            <a:r>
              <a:rPr lang="en-US" dirty="0"/>
              <a:t>For each type of data, produce examples. </a:t>
            </a:r>
          </a:p>
          <a:p>
            <a:r>
              <a:rPr lang="en-US" dirty="0"/>
              <a:t>Describe how image data is represented in a computer. </a:t>
            </a:r>
          </a:p>
        </p:txBody>
      </p:sp>
    </p:spTree>
    <p:extLst>
      <p:ext uri="{BB962C8B-B14F-4D97-AF65-F5344CB8AC3E}">
        <p14:creationId xmlns:p14="http://schemas.microsoft.com/office/powerpoint/2010/main" val="165778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4BEC3-B86B-A73A-4F8C-E04DA46A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8536B-A431-0EE2-A6E3-14D178E85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103213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comes in a variety of forms and formats, each with its unique characteristics and properties.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Types of data include: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078FC3-6315-8CE0-2B05-14F520DA159C}"/>
              </a:ext>
            </a:extLst>
          </p:cNvPr>
          <p:cNvSpPr txBox="1">
            <a:spLocks/>
          </p:cNvSpPr>
          <p:nvPr/>
        </p:nvSpPr>
        <p:spPr bwMode="auto">
          <a:xfrm>
            <a:off x="1098550" y="4733719"/>
            <a:ext cx="16084552" cy="3502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anchor="t" anchorCtr="0" compatLnSpc="1">
            <a:prstTxWarp prst="textNoShape">
              <a:avLst/>
            </a:prstTxWarp>
          </a:bodyPr>
          <a:lstStyle>
            <a:lvl1pPr marL="698500" indent="-698500" algn="l" rtl="0" fontAlgn="base">
              <a:spcBef>
                <a:spcPts val="4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6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3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Numerical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Categorical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Time-series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Cross-sectional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Longitudinal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Panel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Geospatial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Image and Video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Audio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92449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9B7BE-9B97-B5B8-6834-9E4B95DD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Numerical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8C2AA-5DA1-3E6D-B69C-495C76173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  <a:latin typeface="Söhne"/>
              </a:rPr>
              <a:t>Numerical data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consists of measurable quantities.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Söhne"/>
              </a:rPr>
              <a:t>Examples include temperature, age, and income.</a:t>
            </a:r>
            <a:endParaRPr lang="en-US" b="0" i="0" u="none" strike="noStrike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Two main types: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accent1"/>
                </a:solidFill>
                <a:effectLst/>
                <a:latin typeface="Söhne"/>
              </a:rPr>
              <a:t>Discrete Data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: Countable values with gaps between them; often whole numbers.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accent1"/>
                </a:solidFill>
                <a:effectLst/>
                <a:latin typeface="Söhne"/>
              </a:rPr>
              <a:t>Continuous Data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: Values that can be any real number within a range.</a:t>
            </a:r>
          </a:p>
        </p:txBody>
      </p:sp>
    </p:spTree>
    <p:extLst>
      <p:ext uri="{BB962C8B-B14F-4D97-AF65-F5344CB8AC3E}">
        <p14:creationId xmlns:p14="http://schemas.microsoft.com/office/powerpoint/2010/main" val="4203243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Numerical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55568073"/>
              </p:ext>
            </p:extLst>
          </p:nvPr>
        </p:nvGraphicFramePr>
        <p:xfrm>
          <a:off x="1098549" y="2085697"/>
          <a:ext cx="16084552" cy="60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1518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4707227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6015807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Height (in 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Cars Owned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Sarah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Yasmine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Rajesh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 err="1"/>
                        <a:t>Hikaru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09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Numerical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49" y="2085697"/>
          <a:ext cx="16084552" cy="60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1518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4707227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6015807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Height (in 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Cars Owned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Sarah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Yasmine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Rajesh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 err="1"/>
                        <a:t>Hikaru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  <p:sp>
        <p:nvSpPr>
          <p:cNvPr id="3" name="Rounded Rectangle 2" descr="A rounded rectangle over the &quot;cars owned&quot; column labeling it &quot;discrete numerical data.&quot;">
            <a:extLst>
              <a:ext uri="{FF2B5EF4-FFF2-40B4-BE49-F238E27FC236}">
                <a16:creationId xmlns:a16="http://schemas.microsoft.com/office/drawing/2014/main" id="{92FBA2A5-0036-D55A-DED9-284D7BCD1C75}"/>
              </a:ext>
            </a:extLst>
          </p:cNvPr>
          <p:cNvSpPr/>
          <p:nvPr/>
        </p:nvSpPr>
        <p:spPr>
          <a:xfrm>
            <a:off x="10868301" y="1712799"/>
            <a:ext cx="6609802" cy="7196070"/>
          </a:xfrm>
          <a:prstGeom prst="roundRect">
            <a:avLst/>
          </a:prstGeom>
          <a:noFill/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0E5A2A-425C-D980-73A5-0C9E624D263F}"/>
              </a:ext>
            </a:extLst>
          </p:cNvPr>
          <p:cNvSpPr txBox="1"/>
          <p:nvPr/>
        </p:nvSpPr>
        <p:spPr>
          <a:xfrm rot="1227685">
            <a:off x="11275615" y="4649114"/>
            <a:ext cx="61656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Discrete </a:t>
            </a:r>
            <a:b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</a:br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Numerical Data</a:t>
            </a:r>
          </a:p>
        </p:txBody>
      </p:sp>
    </p:spTree>
    <p:extLst>
      <p:ext uri="{BB962C8B-B14F-4D97-AF65-F5344CB8AC3E}">
        <p14:creationId xmlns:p14="http://schemas.microsoft.com/office/powerpoint/2010/main" val="48043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Numerical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49" y="2085697"/>
          <a:ext cx="16084552" cy="60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1518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4707227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6015807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Height (in 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Cars Owned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Sarah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Yasmine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Rajesh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 err="1"/>
                        <a:t>Hikaru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  <p:sp>
        <p:nvSpPr>
          <p:cNvPr id="3" name="Rounded Rectangle 2" descr="A rounded rectangle over the height column labeling it &quot;continuous numerical data.&quot;">
            <a:extLst>
              <a:ext uri="{FF2B5EF4-FFF2-40B4-BE49-F238E27FC236}">
                <a16:creationId xmlns:a16="http://schemas.microsoft.com/office/drawing/2014/main" id="{BD8F089D-4C66-409F-D9B6-4F698C8198AD}"/>
              </a:ext>
            </a:extLst>
          </p:cNvPr>
          <p:cNvSpPr/>
          <p:nvPr/>
        </p:nvSpPr>
        <p:spPr>
          <a:xfrm>
            <a:off x="5878286" y="1712799"/>
            <a:ext cx="5721531" cy="7196070"/>
          </a:xfrm>
          <a:prstGeom prst="roundRect">
            <a:avLst/>
          </a:prstGeom>
          <a:noFill/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38833-B57A-C02B-0C05-BC40FD9E743B}"/>
              </a:ext>
            </a:extLst>
          </p:cNvPr>
          <p:cNvSpPr txBox="1"/>
          <p:nvPr/>
        </p:nvSpPr>
        <p:spPr>
          <a:xfrm rot="1227685">
            <a:off x="5915105" y="4649115"/>
            <a:ext cx="61656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Continuous </a:t>
            </a:r>
            <a:b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</a:br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Numerical Data</a:t>
            </a:r>
          </a:p>
        </p:txBody>
      </p:sp>
    </p:spTree>
    <p:extLst>
      <p:ext uri="{BB962C8B-B14F-4D97-AF65-F5344CB8AC3E}">
        <p14:creationId xmlns:p14="http://schemas.microsoft.com/office/powerpoint/2010/main" val="1951478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EA4B-1013-1612-91A3-3B0267E3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 on “Continuous” Numerical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6D62F-FA24-88E6-4C4A-13B361089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notice that “continuous” numerical data is made discrete due to limited decimal places. </a:t>
            </a:r>
          </a:p>
          <a:p>
            <a:r>
              <a:rPr lang="en-US" dirty="0"/>
              <a:t>Because all numbers within a computer are discrete from this perspective, we typically refer to numerical data as “continuous” if it is represented as a floating-point number that is rounded to a specific decimal place.</a:t>
            </a:r>
          </a:p>
        </p:txBody>
      </p:sp>
    </p:spTree>
    <p:extLst>
      <p:ext uri="{BB962C8B-B14F-4D97-AF65-F5344CB8AC3E}">
        <p14:creationId xmlns:p14="http://schemas.microsoft.com/office/powerpoint/2010/main" val="2455789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5408-883B-0475-364F-0ACD2BBF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Categorical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D69DD-0CDB-2F45-64DF-BB75E8573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accent1"/>
                </a:solidFill>
                <a:effectLst/>
                <a:latin typeface="Söhne"/>
              </a:rPr>
              <a:t>Categorical data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consists of categories or labels.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Examples include gender, blood type, and types of fruit.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It can be further classified 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Söhne"/>
              </a:rPr>
              <a:t>N</a:t>
            </a:r>
            <a:r>
              <a:rPr lang="en-US" b="1" i="0" u="none" strike="noStrike" dirty="0">
                <a:solidFill>
                  <a:schemeClr val="accent1"/>
                </a:solidFill>
                <a:effectLst/>
                <a:latin typeface="Söhne"/>
              </a:rPr>
              <a:t>ominal categorical data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meaning there is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no inherent order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to the categories.</a:t>
            </a:r>
            <a:endParaRPr lang="en-US" b="0" i="0" u="none" strike="noStrike" dirty="0">
              <a:solidFill>
                <a:srgbClr val="374151"/>
              </a:solidFill>
              <a:effectLst/>
              <a:latin typeface="Söhne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Söhne"/>
              </a:rPr>
              <a:t>O</a:t>
            </a:r>
            <a:r>
              <a:rPr lang="en-US" b="1" i="0" u="none" strike="noStrike" dirty="0">
                <a:solidFill>
                  <a:schemeClr val="accent1"/>
                </a:solidFill>
                <a:effectLst/>
                <a:latin typeface="Söhne"/>
              </a:rPr>
              <a:t>rdinal categorical data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meaning the categories are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ordered.</a:t>
            </a:r>
          </a:p>
        </p:txBody>
      </p:sp>
    </p:spTree>
    <p:extLst>
      <p:ext uri="{BB962C8B-B14F-4D97-AF65-F5344CB8AC3E}">
        <p14:creationId xmlns:p14="http://schemas.microsoft.com/office/powerpoint/2010/main" val="1031354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Categorical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49" y="2085697"/>
          <a:ext cx="16084552" cy="60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1518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4707227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6015807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Eye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Education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Bachelor’s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Jamal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School Diploma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Aisha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Master’s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Ricardo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Hazel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 College, No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Thanh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Associate’s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931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Categorical Data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49" y="2085697"/>
          <a:ext cx="16084552" cy="60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1518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4707227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6015807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Eye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Education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Bachelor’s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Jamal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School Diploma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Aisha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Master’s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Ricardo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Hazel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 College, No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Thanh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Associate’s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  <p:sp>
        <p:nvSpPr>
          <p:cNvPr id="4" name="Rounded Rectangle 3" descr="A rounded rectangle over the &quot;eye color&quot; column labeling it &quot;nominal categorical data.&quot;">
            <a:extLst>
              <a:ext uri="{FF2B5EF4-FFF2-40B4-BE49-F238E27FC236}">
                <a16:creationId xmlns:a16="http://schemas.microsoft.com/office/drawing/2014/main" id="{C33408C0-ACDE-CFF3-9474-094031CB0995}"/>
              </a:ext>
            </a:extLst>
          </p:cNvPr>
          <p:cNvSpPr/>
          <p:nvPr/>
        </p:nvSpPr>
        <p:spPr>
          <a:xfrm>
            <a:off x="5878286" y="1712799"/>
            <a:ext cx="5721531" cy="7196070"/>
          </a:xfrm>
          <a:prstGeom prst="roundRect">
            <a:avLst/>
          </a:prstGeom>
          <a:noFill/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76C5B-53F7-AF86-50B1-0D7171997ABB}"/>
              </a:ext>
            </a:extLst>
          </p:cNvPr>
          <p:cNvSpPr txBox="1"/>
          <p:nvPr/>
        </p:nvSpPr>
        <p:spPr>
          <a:xfrm rot="1227685">
            <a:off x="5915105" y="4649115"/>
            <a:ext cx="61656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Nominal </a:t>
            </a:r>
            <a:b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</a:br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588738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Categorical Data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49" y="2085697"/>
          <a:ext cx="16084552" cy="60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1518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4707227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6015807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Eye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Education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Bachelor’s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Jamal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School Diploma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Aisha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Master’s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Ricardo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Hazel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 College, No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Thanh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Associate’s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  <p:sp>
        <p:nvSpPr>
          <p:cNvPr id="4" name="Rounded Rectangle 3" descr="A rounded rectangle over the &quot;education level&quot; column labeling it &quot;ordinal categorical data.&quot;">
            <a:extLst>
              <a:ext uri="{FF2B5EF4-FFF2-40B4-BE49-F238E27FC236}">
                <a16:creationId xmlns:a16="http://schemas.microsoft.com/office/drawing/2014/main" id="{C33408C0-ACDE-CFF3-9474-094031CB0995}"/>
              </a:ext>
            </a:extLst>
          </p:cNvPr>
          <p:cNvSpPr/>
          <p:nvPr/>
        </p:nvSpPr>
        <p:spPr>
          <a:xfrm>
            <a:off x="10868301" y="1712799"/>
            <a:ext cx="6609802" cy="7196070"/>
          </a:xfrm>
          <a:prstGeom prst="roundRect">
            <a:avLst/>
          </a:prstGeom>
          <a:noFill/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76C5B-53F7-AF86-50B1-0D7171997ABB}"/>
              </a:ext>
            </a:extLst>
          </p:cNvPr>
          <p:cNvSpPr txBox="1"/>
          <p:nvPr/>
        </p:nvSpPr>
        <p:spPr>
          <a:xfrm rot="1227685">
            <a:off x="11275615" y="4649114"/>
            <a:ext cx="61656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Ordinal </a:t>
            </a:r>
            <a:b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</a:br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1597937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EFBB-53BF-A439-DAA9-6CADC8E8C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Time Series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415C9-5292-ED16-AF23-C40A5CA41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Time series data 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is collected or recorded at regular time intervals.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Examples include stock prices, weather data, and daily sales figures.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It is important to note that: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Temporal order is crucial</a:t>
            </a:r>
            <a:r>
              <a:rPr lang="en-US" dirty="0">
                <a:solidFill>
                  <a:srgbClr val="374151"/>
                </a:solidFill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1" u="none" strike="noStrike" dirty="0">
                <a:solidFill>
                  <a:schemeClr val="bg1"/>
                </a:solidFill>
                <a:effectLst/>
              </a:rPr>
              <a:t>Autocorrelation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, the statistical concept that data is heavily influenced by past points, generally exists in these datasets.</a:t>
            </a:r>
          </a:p>
        </p:txBody>
      </p:sp>
    </p:spTree>
    <p:extLst>
      <p:ext uri="{BB962C8B-B14F-4D97-AF65-F5344CB8AC3E}">
        <p14:creationId xmlns:p14="http://schemas.microsoft.com/office/powerpoint/2010/main" val="2106100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Time Series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68213854"/>
              </p:ext>
            </p:extLst>
          </p:nvPr>
        </p:nvGraphicFramePr>
        <p:xfrm>
          <a:off x="1098549" y="2085697"/>
          <a:ext cx="16084552" cy="60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9325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8065227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Stock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2023-09-01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2023-09-02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2023-09-03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2023-09-04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2023-09-05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712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7C1C4-F8D5-3735-DBB1-9BE104135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Cross-Sectional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9815B-2C9E-2C76-4874-54F08AB6F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  <a:latin typeface="Söhne"/>
              </a:rPr>
              <a:t>Cross-sectional data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is collected from multiple individuals, entities, or subjects at a single point in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Söhne"/>
              </a:rPr>
              <a:t>It provides a snapshot of a population or a sample at a specific moment.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Commonly used in surveys, polls, and market research.</a:t>
            </a:r>
          </a:p>
        </p:txBody>
      </p:sp>
    </p:spTree>
    <p:extLst>
      <p:ext uri="{BB962C8B-B14F-4D97-AF65-F5344CB8AC3E}">
        <p14:creationId xmlns:p14="http://schemas.microsoft.com/office/powerpoint/2010/main" val="1465183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Cross-Sectional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31918175"/>
              </p:ext>
            </p:extLst>
          </p:nvPr>
        </p:nvGraphicFramePr>
        <p:xfrm>
          <a:off x="1098549" y="2085697"/>
          <a:ext cx="16084552" cy="60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1819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6978397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Household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Household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Number of Family Members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029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E1BA-4532-2107-3C9F-0BCB0BDD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Longitudinal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01693-8B6D-9499-31C9-180FEFBB6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  <a:latin typeface="Söhne"/>
              </a:rPr>
              <a:t>Longitudinal data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tracks the same subjects or entities over multiple time points.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It is useful for studying changes and trends over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Examples include clinical trials, educational cohort studies, and environmental studies.</a:t>
            </a:r>
          </a:p>
        </p:txBody>
      </p:sp>
    </p:spTree>
    <p:extLst>
      <p:ext uri="{BB962C8B-B14F-4D97-AF65-F5344CB8AC3E}">
        <p14:creationId xmlns:p14="http://schemas.microsoft.com/office/powerpoint/2010/main" val="1218009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Cross-Sectional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03678505"/>
              </p:ext>
            </p:extLst>
          </p:nvPr>
        </p:nvGraphicFramePr>
        <p:xfrm>
          <a:off x="1098549" y="2085697"/>
          <a:ext cx="16084551" cy="60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233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2663328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2829497743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3808171060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</a:rPr>
                        <a:t>Quarter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Salesperson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Salesperson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Salesperson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120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36FB-E3F3-5DFF-56FA-811820CB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Panel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EF995-FD43-40CB-C109-2B4390E6A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  <a:latin typeface="Söhne"/>
              </a:rPr>
              <a:t>Panel data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combines cross-sectional and longitudinal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It involves multiple entities observed at multiple time points.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Often used in economics and social sciences for studying individual-level changes.</a:t>
            </a:r>
          </a:p>
        </p:txBody>
      </p:sp>
    </p:spTree>
    <p:extLst>
      <p:ext uri="{BB962C8B-B14F-4D97-AF65-F5344CB8AC3E}">
        <p14:creationId xmlns:p14="http://schemas.microsoft.com/office/powerpoint/2010/main" val="619271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Panel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29906601"/>
              </p:ext>
            </p:extLst>
          </p:nvPr>
        </p:nvGraphicFramePr>
        <p:xfrm>
          <a:off x="1098549" y="2085696"/>
          <a:ext cx="16084551" cy="6619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233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2663328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2829497743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3808171060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9456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Profit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Market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068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344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0C46-38DE-1CD3-7E94-D23A54498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and Panel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15030-7B31-CEDA-1990-233C4DC45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panel data combines longitudinal and cross-sectional data, it may be better to see it has “higher dimensional”</a:t>
            </a:r>
          </a:p>
          <a:p>
            <a:r>
              <a:rPr lang="en-US" dirty="0"/>
              <a:t>Previous examples are naturally presented in two-dimensional tables. </a:t>
            </a:r>
          </a:p>
          <a:p>
            <a:r>
              <a:rPr lang="en-US" dirty="0"/>
              <a:t>Panel data is harder to read in two dimensions, but works well in three dimensions. </a:t>
            </a:r>
          </a:p>
        </p:txBody>
      </p:sp>
    </p:spTree>
    <p:extLst>
      <p:ext uri="{BB962C8B-B14F-4D97-AF65-F5344CB8AC3E}">
        <p14:creationId xmlns:p14="http://schemas.microsoft.com/office/powerpoint/2010/main" val="130417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C09D3F-7977-8A92-50E4-72BC2980423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52057321"/>
              </p:ext>
            </p:extLst>
          </p:nvPr>
        </p:nvGraphicFramePr>
        <p:xfrm>
          <a:off x="1098550" y="373189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777203048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70419447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16004039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1232407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76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6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87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561191"/>
                  </a:ext>
                </a:extLst>
              </a:tr>
            </a:tbl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97F9D2-279D-1273-D755-1C6BBE4D312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80620182"/>
              </p:ext>
            </p:extLst>
          </p:nvPr>
        </p:nvGraphicFramePr>
        <p:xfrm>
          <a:off x="9502778" y="373189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29387220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665697231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55713549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008010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654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566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0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1990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DB380B3B-B927-D793-79D5-8E57B1ACA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Panel Dataset Example – “3D”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32789-5D34-6583-1D43-71147F982D58}"/>
              </a:ext>
            </a:extLst>
          </p:cNvPr>
          <p:cNvSpPr txBox="1"/>
          <p:nvPr/>
        </p:nvSpPr>
        <p:spPr>
          <a:xfrm>
            <a:off x="2981896" y="2399181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Company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C4033-4E7A-BC22-733B-5CD60087EFE6}"/>
              </a:ext>
            </a:extLst>
          </p:cNvPr>
          <p:cNvSpPr txBox="1"/>
          <p:nvPr/>
        </p:nvSpPr>
        <p:spPr>
          <a:xfrm>
            <a:off x="11386124" y="2399181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Company B</a:t>
            </a:r>
          </a:p>
        </p:txBody>
      </p:sp>
    </p:spTree>
    <p:extLst>
      <p:ext uri="{BB962C8B-B14F-4D97-AF65-F5344CB8AC3E}">
        <p14:creationId xmlns:p14="http://schemas.microsoft.com/office/powerpoint/2010/main" val="2666859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C09D3F-7977-8A92-50E4-72BC2980423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373189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777203048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70419447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16004039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1232407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76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6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87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561191"/>
                  </a:ext>
                </a:extLst>
              </a:tr>
            </a:tbl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97F9D2-279D-1273-D755-1C6BBE4D31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502778" y="373189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29387220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665697231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55713549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008010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654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566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0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1990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DB380B3B-B927-D793-79D5-8E57B1ACA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Panel Dataset Example – “3D”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32789-5D34-6583-1D43-71147F982D58}"/>
              </a:ext>
            </a:extLst>
          </p:cNvPr>
          <p:cNvSpPr txBox="1"/>
          <p:nvPr/>
        </p:nvSpPr>
        <p:spPr>
          <a:xfrm>
            <a:off x="2981896" y="2399181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Company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C4033-4E7A-BC22-733B-5CD60087EFE6}"/>
              </a:ext>
            </a:extLst>
          </p:cNvPr>
          <p:cNvSpPr txBox="1"/>
          <p:nvPr/>
        </p:nvSpPr>
        <p:spPr>
          <a:xfrm>
            <a:off x="11386124" y="2399181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Company B</a:t>
            </a:r>
          </a:p>
        </p:txBody>
      </p:sp>
      <p:cxnSp>
        <p:nvCxnSpPr>
          <p:cNvPr id="3" name="Straight Arrow Connector 2" descr="An arrow pointing downward adjacent to the table showing the direction of time. ">
            <a:extLst>
              <a:ext uri="{FF2B5EF4-FFF2-40B4-BE49-F238E27FC236}">
                <a16:creationId xmlns:a16="http://schemas.microsoft.com/office/drawing/2014/main" id="{20141540-9081-2017-FB3F-6DCB11D18A01}"/>
              </a:ext>
            </a:extLst>
          </p:cNvPr>
          <p:cNvCxnSpPr/>
          <p:nvPr/>
        </p:nvCxnSpPr>
        <p:spPr>
          <a:xfrm>
            <a:off x="621792" y="3731895"/>
            <a:ext cx="0" cy="2854071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 descr="An arrow pointing downward adjacent to the table showing the direction of time. ">
            <a:extLst>
              <a:ext uri="{FF2B5EF4-FFF2-40B4-BE49-F238E27FC236}">
                <a16:creationId xmlns:a16="http://schemas.microsoft.com/office/drawing/2014/main" id="{65718054-B5AE-B008-7BDE-D5FD90F57245}"/>
              </a:ext>
            </a:extLst>
          </p:cNvPr>
          <p:cNvCxnSpPr/>
          <p:nvPr/>
        </p:nvCxnSpPr>
        <p:spPr>
          <a:xfrm>
            <a:off x="9144000" y="3731895"/>
            <a:ext cx="0" cy="2854071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586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C09D3F-7977-8A92-50E4-72BC2980423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373189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777203048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70419447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16004039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1232407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76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6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87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561191"/>
                  </a:ext>
                </a:extLst>
              </a:tr>
            </a:tbl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97F9D2-279D-1273-D755-1C6BBE4D31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502778" y="373189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29387220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665697231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55713549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008010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654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566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0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1990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DB380B3B-B927-D793-79D5-8E57B1ACA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Panel Dataset Example – “3D”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32789-5D34-6583-1D43-71147F982D58}"/>
              </a:ext>
            </a:extLst>
          </p:cNvPr>
          <p:cNvSpPr txBox="1"/>
          <p:nvPr/>
        </p:nvSpPr>
        <p:spPr>
          <a:xfrm>
            <a:off x="2981896" y="2399181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Company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C4033-4E7A-BC22-733B-5CD60087EFE6}"/>
              </a:ext>
            </a:extLst>
          </p:cNvPr>
          <p:cNvSpPr txBox="1"/>
          <p:nvPr/>
        </p:nvSpPr>
        <p:spPr>
          <a:xfrm>
            <a:off x="11386124" y="2399181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Company B</a:t>
            </a:r>
          </a:p>
        </p:txBody>
      </p:sp>
      <p:cxnSp>
        <p:nvCxnSpPr>
          <p:cNvPr id="3" name="Straight Arrow Connector 2" descr="An arrow pointing to the right above to the table showing the direction of financial metrics. ">
            <a:extLst>
              <a:ext uri="{FF2B5EF4-FFF2-40B4-BE49-F238E27FC236}">
                <a16:creationId xmlns:a16="http://schemas.microsoft.com/office/drawing/2014/main" id="{20141540-9081-2017-FB3F-6DCB11D18A01}"/>
              </a:ext>
            </a:extLst>
          </p:cNvPr>
          <p:cNvCxnSpPr>
            <a:cxnSpLocks/>
          </p:cNvCxnSpPr>
          <p:nvPr/>
        </p:nvCxnSpPr>
        <p:spPr>
          <a:xfrm>
            <a:off x="1098550" y="3366135"/>
            <a:ext cx="7680324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 descr="An arrow pointing to the right above to the table showing the direction of financial metrics. ">
            <a:extLst>
              <a:ext uri="{FF2B5EF4-FFF2-40B4-BE49-F238E27FC236}">
                <a16:creationId xmlns:a16="http://schemas.microsoft.com/office/drawing/2014/main" id="{3EDDA6F3-3B70-4EAC-0BB2-18538025611C}"/>
              </a:ext>
            </a:extLst>
          </p:cNvPr>
          <p:cNvCxnSpPr>
            <a:cxnSpLocks/>
          </p:cNvCxnSpPr>
          <p:nvPr/>
        </p:nvCxnSpPr>
        <p:spPr>
          <a:xfrm>
            <a:off x="9502778" y="3366135"/>
            <a:ext cx="7680324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219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C09D3F-7977-8A92-50E4-72BC2980423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373189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777203048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70419447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16004039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1232407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76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6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87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561191"/>
                  </a:ext>
                </a:extLst>
              </a:tr>
            </a:tbl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97F9D2-279D-1273-D755-1C6BBE4D31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502778" y="373189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29387220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665697231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55713549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008010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654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566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0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91990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DB380B3B-B927-D793-79D5-8E57B1ACA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Panel Dataset Example – “3D”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32789-5D34-6583-1D43-71147F982D58}"/>
              </a:ext>
            </a:extLst>
          </p:cNvPr>
          <p:cNvSpPr txBox="1"/>
          <p:nvPr/>
        </p:nvSpPr>
        <p:spPr>
          <a:xfrm>
            <a:off x="2981896" y="2399181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Company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C4033-4E7A-BC22-733B-5CD60087EFE6}"/>
              </a:ext>
            </a:extLst>
          </p:cNvPr>
          <p:cNvSpPr txBox="1"/>
          <p:nvPr/>
        </p:nvSpPr>
        <p:spPr>
          <a:xfrm>
            <a:off x="11386124" y="2399181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Company B</a:t>
            </a:r>
          </a:p>
        </p:txBody>
      </p:sp>
      <p:cxnSp>
        <p:nvCxnSpPr>
          <p:cNvPr id="3" name="Straight Arrow Connector 2" descr="An arrow pointing to the right above both tables showing the direction of changing the company. ">
            <a:extLst>
              <a:ext uri="{FF2B5EF4-FFF2-40B4-BE49-F238E27FC236}">
                <a16:creationId xmlns:a16="http://schemas.microsoft.com/office/drawing/2014/main" id="{20141540-9081-2017-FB3F-6DCB11D18A01}"/>
              </a:ext>
            </a:extLst>
          </p:cNvPr>
          <p:cNvCxnSpPr>
            <a:cxnSpLocks/>
          </p:cNvCxnSpPr>
          <p:nvPr/>
        </p:nvCxnSpPr>
        <p:spPr>
          <a:xfrm>
            <a:off x="1098550" y="3366135"/>
            <a:ext cx="16084552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21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8732-61DA-A180-FF7C-FA561E7B7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Binary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FD62C-6568-3728-E62D-F3784E855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Binary data has only two possible values, typically 0 and 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Examples include yes/no responses, presence/absence indicators, and success/failure outcomes.</a:t>
            </a:r>
          </a:p>
        </p:txBody>
      </p:sp>
    </p:spTree>
    <p:extLst>
      <p:ext uri="{BB962C8B-B14F-4D97-AF65-F5344CB8AC3E}">
        <p14:creationId xmlns:p14="http://schemas.microsoft.com/office/powerpoint/2010/main" val="1715799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Binary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76970745"/>
              </p:ext>
            </p:extLst>
          </p:nvPr>
        </p:nvGraphicFramePr>
        <p:xfrm>
          <a:off x="1098549" y="2085697"/>
          <a:ext cx="16084552" cy="60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5291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4527805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Email Recipient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Link opened?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Purchase made?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 err="1"/>
                        <a:t>aliya.wilson@example.com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 err="1"/>
                        <a:t>rahul.patel@hotmail.com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 err="1"/>
                        <a:t>mohammed.kim@gmail.com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 err="1"/>
                        <a:t>elena.sanchez@outlook.com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 err="1"/>
                        <a:t>ivan.chen@yahoo.com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836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30B8-F24F-BCE6-35DC-6D6926F6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D604C-A22C-1582-822A-9B732DD3D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  <a:latin typeface="Söhne"/>
              </a:rPr>
              <a:t>Geospatial data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is associated with specific geographic locations.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Examples include GPS coordinates, land use maps, and climate data by region.</a:t>
            </a:r>
          </a:p>
        </p:txBody>
      </p:sp>
    </p:spTree>
    <p:extLst>
      <p:ext uri="{BB962C8B-B14F-4D97-AF65-F5344CB8AC3E}">
        <p14:creationId xmlns:p14="http://schemas.microsoft.com/office/powerpoint/2010/main" val="588435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Geospatial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97538588"/>
              </p:ext>
            </p:extLst>
          </p:nvPr>
        </p:nvGraphicFramePr>
        <p:xfrm>
          <a:off x="1098549" y="2085696"/>
          <a:ext cx="16084551" cy="5916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233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2663328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2829497743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3808171060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9456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Precinct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Registered Voters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Votes 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Latitude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Longitude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40.701758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-73.917794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40.692876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-73.982405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40.765953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-73.980750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40.727185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-73.925498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40.763679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-73.883070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375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Geospatial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49" y="2085696"/>
          <a:ext cx="16084551" cy="5916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233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2663328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2829497743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3808171060"/>
                    </a:ext>
                  </a:extLst>
                </a:gridCol>
                <a:gridCol w="3736330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9456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Precinct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Registered Voters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Votes 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Latitude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Longitude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40.701758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-73.917794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40.692876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-73.982405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40.765953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-73.980750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40.727185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-73.925498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945627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40.763679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-73.883070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  <p:sp>
        <p:nvSpPr>
          <p:cNvPr id="3" name="Rounded Rectangle 2" descr="A rounded rectangle over the &quot;Latitude&quot; and &quot;Longitude&quot; columns.">
            <a:extLst>
              <a:ext uri="{FF2B5EF4-FFF2-40B4-BE49-F238E27FC236}">
                <a16:creationId xmlns:a16="http://schemas.microsoft.com/office/drawing/2014/main" id="{7C845C9A-4108-1661-161E-F2E89A8DD547}"/>
              </a:ext>
            </a:extLst>
          </p:cNvPr>
          <p:cNvSpPr/>
          <p:nvPr/>
        </p:nvSpPr>
        <p:spPr>
          <a:xfrm>
            <a:off x="9473184" y="1712799"/>
            <a:ext cx="8339328" cy="6845985"/>
          </a:xfrm>
          <a:prstGeom prst="roundRect">
            <a:avLst/>
          </a:prstGeom>
          <a:noFill/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30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6EF7-0892-B9C0-D42B-EA616105F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Image and Video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57402-31B3-8AB7-C03D-0226328C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Image and video data are types of data used extensively in computer vision.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Images consist of pixels, while videos are sequences of images.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Applications include facial recognition and object detection.</a:t>
            </a:r>
          </a:p>
        </p:txBody>
      </p:sp>
    </p:spTree>
    <p:extLst>
      <p:ext uri="{BB962C8B-B14F-4D97-AF65-F5344CB8AC3E}">
        <p14:creationId xmlns:p14="http://schemas.microsoft.com/office/powerpoint/2010/main" val="2737663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splay of different types of clothing from the Fashion MNIST dataset. It contains t-shirts, trousers, pullovers, dresses, coats, sandals, shirts, sneakers, bags, and ankle boots. ">
            <a:extLst>
              <a:ext uri="{FF2B5EF4-FFF2-40B4-BE49-F238E27FC236}">
                <a16:creationId xmlns:a16="http://schemas.microsoft.com/office/drawing/2014/main" id="{4D14B268-EC54-4F22-6384-F77ECDE96D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8550" y="2144324"/>
            <a:ext cx="8045450" cy="6456473"/>
          </a:xfrm>
          <a:noFill/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41B7A0A-62D5-03E7-4550-BE3EAA21D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02142" y="5143500"/>
            <a:ext cx="7680960" cy="3457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Image taken from </a:t>
            </a:r>
            <a:r>
              <a:rPr lang="en-US" i="1" dirty="0"/>
              <a:t>Fashion-MNIST: a Novel Image Dataset for Benchmarking Machine Learning Algorithms</a:t>
            </a:r>
            <a:r>
              <a:rPr lang="en-US" dirty="0"/>
              <a:t> https://</a:t>
            </a:r>
            <a:r>
              <a:rPr lang="en-US" dirty="0" err="1"/>
              <a:t>arxiv.org</a:t>
            </a:r>
            <a:r>
              <a:rPr lang="en-US" dirty="0"/>
              <a:t>/abs/1708.07747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64DF1-23B4-D30C-A99B-67FB98EC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Image Dataset Example: Fashion MNIST</a:t>
            </a:r>
          </a:p>
        </p:txBody>
      </p:sp>
    </p:spTree>
    <p:extLst>
      <p:ext uri="{BB962C8B-B14F-4D97-AF65-F5344CB8AC3E}">
        <p14:creationId xmlns:p14="http://schemas.microsoft.com/office/powerpoint/2010/main" val="20829342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n array of numbers representing the grayscale values of the pixelated image. ">
            <a:extLst>
              <a:ext uri="{FF2B5EF4-FFF2-40B4-BE49-F238E27FC236}">
                <a16:creationId xmlns:a16="http://schemas.microsoft.com/office/drawing/2014/main" id="{C0F4A304-8753-A3FE-2A96-47EDF5D86B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58505" y="3050898"/>
            <a:ext cx="11351423" cy="45847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706D2CD-4914-6BC3-3760-8596CDE71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Images Processed?</a:t>
            </a:r>
          </a:p>
        </p:txBody>
      </p:sp>
      <p:pic>
        <p:nvPicPr>
          <p:cNvPr id="9" name="Content Placeholder 8" descr="A black and white pixelated image.">
            <a:extLst>
              <a:ext uri="{FF2B5EF4-FFF2-40B4-BE49-F238E27FC236}">
                <a16:creationId xmlns:a16="http://schemas.microsoft.com/office/drawing/2014/main" id="{0E51B995-9F5C-6064-BEA8-0F8586ED54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098550" y="3050898"/>
            <a:ext cx="4203700" cy="4584700"/>
          </a:xfrm>
        </p:spPr>
      </p:pic>
      <p:cxnSp>
        <p:nvCxnSpPr>
          <p:cNvPr id="14" name="Straight Arrow Connector 13" descr="An arrow pointing from the pixelated image to an array of integers. ">
            <a:extLst>
              <a:ext uri="{FF2B5EF4-FFF2-40B4-BE49-F238E27FC236}">
                <a16:creationId xmlns:a16="http://schemas.microsoft.com/office/drawing/2014/main" id="{28896C92-027F-6A1B-A77D-4091BDC318E3}"/>
              </a:ext>
            </a:extLst>
          </p:cNvPr>
          <p:cNvCxnSpPr/>
          <p:nvPr/>
        </p:nvCxnSpPr>
        <p:spPr>
          <a:xfrm>
            <a:off x="5498969" y="5143500"/>
            <a:ext cx="1719072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421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1E30-43A2-2A74-99FB-EFA8C3EF8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6A65A-2A45-8B3A-1C51-D6F8D2227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Text data consists of words, sentences, or paragraphs.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Widely used in natural language processing (NLP) for sentiment analysis, text classification, and more.</a:t>
            </a:r>
          </a:p>
        </p:txBody>
      </p:sp>
    </p:spTree>
    <p:extLst>
      <p:ext uri="{BB962C8B-B14F-4D97-AF65-F5344CB8AC3E}">
        <p14:creationId xmlns:p14="http://schemas.microsoft.com/office/powerpoint/2010/main" val="13214428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47F6-B552-D773-DC32-BD0EB6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Text Dataset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71753C-29F4-3990-199A-8796CA19EB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15736820"/>
              </p:ext>
            </p:extLst>
          </p:nvPr>
        </p:nvGraphicFramePr>
        <p:xfrm>
          <a:off x="1098549" y="2085697"/>
          <a:ext cx="16084552" cy="6768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0843">
                  <a:extLst>
                    <a:ext uri="{9D8B030D-6E8A-4147-A177-3AD203B41FA5}">
                      <a16:colId xmlns:a16="http://schemas.microsoft.com/office/drawing/2014/main" val="845499935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1658904727"/>
                    </a:ext>
                  </a:extLst>
                </a:gridCol>
                <a:gridCol w="9648445">
                  <a:extLst>
                    <a:ext uri="{9D8B030D-6E8A-4147-A177-3AD203B41FA5}">
                      <a16:colId xmlns:a16="http://schemas.microsoft.com/office/drawing/2014/main" val="3207897001"/>
                    </a:ext>
                  </a:extLst>
                </a:gridCol>
              </a:tblGrid>
              <a:tr h="10065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Review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Review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23222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John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2023-09-15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"I had the best burger ever! The fries were fantastic too."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3885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Emily 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2023-09-16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"The service was excellent, and the atmosphere was cozy."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31203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David Lee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2023-09-17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"I was disappointed with the food quality. Won't be returning."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00997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Sarah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2023-09-18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"The desserts here are to die for. Highly recommend!"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984"/>
                  </a:ext>
                </a:extLst>
              </a:tr>
              <a:tr h="1006567">
                <a:tc>
                  <a:txBody>
                    <a:bodyPr/>
                    <a:lstStyle/>
                    <a:p>
                      <a:r>
                        <a:rPr lang="en-US" dirty="0"/>
                        <a:t>Lisa 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2023-09-20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“The prices are high, but the food is worth it.”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8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807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18FB5-1FE5-BDE6-E659-0CA23C81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effectLst/>
                <a:latin typeface="Söhne"/>
              </a:rPr>
              <a:t>Concluding Thoughts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D035-116C-66A8-5489-A22F16F5A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Recognizing the type of data you are working with is crucial in statistical learning.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Different types of data require different statistical techniques and models.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>
                <a:solidFill>
                  <a:srgbClr val="374151"/>
                </a:solidFill>
                <a:effectLst/>
                <a:latin typeface="Söhne"/>
              </a:rPr>
              <a:t>Proper data preprocessing and understanding are fundamental to successful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4903378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5cef1d12f529d56583853ef5dc33f7c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ccccdfc22f8c8f07a3477280a29706aa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ternalName="Due_x0020_Date">
      <xsd:simpleType>
        <xsd:restriction base="dms:DateTime"/>
      </xsd:simpleType>
    </xsd:element>
    <xsd:element name="Status" ma:index="9" nillable="true" ma:displayName="Status" ma:format="Dropdown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A3ACA1-D96F-4A96-85DE-54D87646E2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4359</TotalTime>
  <Words>2038</Words>
  <Application>Microsoft Macintosh PowerPoint</Application>
  <PresentationFormat>Custom</PresentationFormat>
  <Paragraphs>575</Paragraphs>
  <Slides>38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Söhne</vt:lpstr>
      <vt:lpstr>Wingdings 2</vt:lpstr>
      <vt:lpstr>Breeze</vt:lpstr>
      <vt:lpstr>Math 769: Statistical Learning</vt:lpstr>
      <vt:lpstr>Types of Data</vt:lpstr>
      <vt:lpstr>Last Time</vt:lpstr>
      <vt:lpstr>Objectives for this Lesson</vt:lpstr>
      <vt:lpstr>Introduction</vt:lpstr>
      <vt:lpstr>Numerical Data</vt:lpstr>
      <vt:lpstr>Numerical Dataset Example</vt:lpstr>
      <vt:lpstr>Numerical Dataset Example</vt:lpstr>
      <vt:lpstr>Numerical Dataset Example</vt:lpstr>
      <vt:lpstr>Remark on “Continuous” Numerical Data</vt:lpstr>
      <vt:lpstr>Categorical Data</vt:lpstr>
      <vt:lpstr>Categorical Dataset Example</vt:lpstr>
      <vt:lpstr>Categorical Data Example</vt:lpstr>
      <vt:lpstr>Categorical Data Example</vt:lpstr>
      <vt:lpstr>Time Series Data</vt:lpstr>
      <vt:lpstr>Time Series Dataset Example</vt:lpstr>
      <vt:lpstr>Cross-Sectional Data</vt:lpstr>
      <vt:lpstr>Cross-Sectional Dataset Example</vt:lpstr>
      <vt:lpstr>Longitudinal Data</vt:lpstr>
      <vt:lpstr>Cross-Sectional Dataset Example</vt:lpstr>
      <vt:lpstr>Panel Data</vt:lpstr>
      <vt:lpstr>Panel Dataset Example</vt:lpstr>
      <vt:lpstr>Dimensionality and Panel Data</vt:lpstr>
      <vt:lpstr>Panel Dataset Example – “3D”</vt:lpstr>
      <vt:lpstr>Panel Dataset Example – “3D”</vt:lpstr>
      <vt:lpstr>Panel Dataset Example – “3D”</vt:lpstr>
      <vt:lpstr>Panel Dataset Example – “3D”</vt:lpstr>
      <vt:lpstr>Binary Data</vt:lpstr>
      <vt:lpstr>Binary Dataset Example</vt:lpstr>
      <vt:lpstr>Geospatial Data</vt:lpstr>
      <vt:lpstr>Geospatial Dataset Example</vt:lpstr>
      <vt:lpstr>Geospatial Dataset Example</vt:lpstr>
      <vt:lpstr>Image and Video Data</vt:lpstr>
      <vt:lpstr>Image Dataset Example: Fashion MNIST</vt:lpstr>
      <vt:lpstr>How are Images Processed?</vt:lpstr>
      <vt:lpstr>Text Data</vt:lpstr>
      <vt:lpstr>Text Dataset Example</vt:lpstr>
      <vt:lpstr>Concluding Thoughts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21</cp:revision>
  <dcterms:created xsi:type="dcterms:W3CDTF">2019-02-13T16:04:21Z</dcterms:created>
  <dcterms:modified xsi:type="dcterms:W3CDTF">2023-10-04T22:17:10Z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</Properties>
</file>