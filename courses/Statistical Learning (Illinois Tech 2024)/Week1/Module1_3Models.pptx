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4"/>
  </p:notesMasterIdLst>
  <p:sldIdLst>
    <p:sldId id="259" r:id="rId5"/>
    <p:sldId id="262" r:id="rId6"/>
    <p:sldId id="275" r:id="rId7"/>
    <p:sldId id="303" r:id="rId8"/>
    <p:sldId id="265" r:id="rId9"/>
    <p:sldId id="292" r:id="rId10"/>
    <p:sldId id="293" r:id="rId11"/>
    <p:sldId id="294" r:id="rId12"/>
    <p:sldId id="295" r:id="rId13"/>
    <p:sldId id="268" r:id="rId14"/>
    <p:sldId id="276" r:id="rId15"/>
    <p:sldId id="281" r:id="rId16"/>
    <p:sldId id="283" r:id="rId17"/>
    <p:sldId id="282" r:id="rId18"/>
    <p:sldId id="286" r:id="rId19"/>
    <p:sldId id="297" r:id="rId20"/>
    <p:sldId id="299" r:id="rId21"/>
    <p:sldId id="298" r:id="rId22"/>
    <p:sldId id="291" r:id="rId2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81973"/>
  </p:normalViewPr>
  <p:slideViewPr>
    <p:cSldViewPr snapToGrid="0" snapToObjects="1">
      <p:cViewPr varScale="1">
        <p:scale>
          <a:sx n="69" d="100"/>
          <a:sy n="69" d="100"/>
        </p:scale>
        <p:origin x="1344" y="20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33D8A-2C8C-C048-A156-ECEF7569247B}" type="datetimeFigureOut">
              <a:rPr lang="en-US" smtClean="0"/>
              <a:t>10/5/23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A6951-2A84-6D41-968A-70D8B0F6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our example in the introduction video. Here, we were looking at hypothetical data from a class where homework was optional but the midterm was not. In this example, the midterm is the *dependent* variable because it depends on the number of optional </a:t>
            </a:r>
            <a:r>
              <a:rPr lang="en-US" dirty="0" err="1"/>
              <a:t>homeworks</a:t>
            </a:r>
            <a:r>
              <a:rPr lang="en-US" dirty="0"/>
              <a:t> completed.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7E678-CF17-4E45-AC38-DD227A32DB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02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reflects this by setting the function equal to the dependent variable.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7E678-CF17-4E45-AC38-DD227A32DB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02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Similarly, our independent variable is the number of optional homework assignments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7E678-CF17-4E45-AC38-DD227A32DB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6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reflects this by writing the dependent variable as a function of the independent variable.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7E678-CF17-4E45-AC38-DD227A32DB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96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A6951-2A84-6D41-968A-70D8B0F682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1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Models in </a:t>
            </a:r>
            <a:br>
              <a:rPr lang="en-US" dirty="0"/>
            </a:br>
            <a:r>
              <a:rPr lang="en-US" dirty="0"/>
              <a:t>Statistical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8CA5-3EB8-D70C-181A-0305E81B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AA7D7-19F9-7E65-6E0B-5BC9FEB39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central elements of a </a:t>
            </a:r>
            <a:r>
              <a:rPr lang="en-US" i="1" dirty="0"/>
              <a:t>statistical learning problem </a:t>
            </a:r>
            <a:r>
              <a:rPr lang="en-US" dirty="0"/>
              <a:t>are: </a:t>
            </a:r>
          </a:p>
          <a:p>
            <a:pPr lvl="1"/>
            <a:r>
              <a:rPr lang="en-US" dirty="0"/>
              <a:t>The dataset</a:t>
            </a:r>
          </a:p>
          <a:p>
            <a:pPr lvl="1"/>
            <a:r>
              <a:rPr lang="en-US" dirty="0"/>
              <a:t>The model</a:t>
            </a:r>
          </a:p>
          <a:p>
            <a:pPr lvl="1"/>
            <a:r>
              <a:rPr lang="en-US" dirty="0"/>
              <a:t>What can be inferred? (e.g., a prediction)</a:t>
            </a:r>
          </a:p>
          <a:p>
            <a:r>
              <a:rPr lang="en-US" dirty="0"/>
              <a:t>Data within the dataset can come in several forms, each with its own considerations.</a:t>
            </a:r>
          </a:p>
        </p:txBody>
      </p:sp>
    </p:spTree>
    <p:extLst>
      <p:ext uri="{BB962C8B-B14F-4D97-AF65-F5344CB8AC3E}">
        <p14:creationId xmlns:p14="http://schemas.microsoft.com/office/powerpoint/2010/main" val="31675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D150-011C-1B1A-8F8C-090BD6EA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A36D-B56C-711B-0794-019912738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what a variable is as well as its two subtypes.</a:t>
            </a:r>
          </a:p>
          <a:p>
            <a:r>
              <a:rPr lang="en-US" dirty="0"/>
              <a:t>List and describe the four types of statistical learning models.</a:t>
            </a:r>
          </a:p>
          <a:p>
            <a:r>
              <a:rPr lang="en-US" dirty="0"/>
              <a:t>Explain the difference between supervised and unsupervised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78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22F9-64C7-DA42-DF2C-0F8A7E55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E8BA4-F3DF-E4C9-7FBB-CFC0E37CC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u="none" strike="noStrike" dirty="0">
                <a:solidFill>
                  <a:srgbClr val="374151"/>
                </a:solidFill>
                <a:effectLst/>
                <a:latin typeface="Söhne"/>
              </a:rPr>
              <a:t>A </a:t>
            </a:r>
            <a:r>
              <a:rPr lang="en-US" b="1" u="none" strike="noStrike" dirty="0">
                <a:solidFill>
                  <a:schemeClr val="bg1"/>
                </a:solidFill>
                <a:effectLst/>
                <a:latin typeface="Söhne"/>
              </a:rPr>
              <a:t>model</a:t>
            </a:r>
            <a:r>
              <a:rPr lang="en-US" u="none" strike="noStrike" dirty="0">
                <a:solidFill>
                  <a:srgbClr val="374151"/>
                </a:solidFill>
                <a:effectLst/>
                <a:latin typeface="Söhne"/>
              </a:rPr>
              <a:t> will consist of </a:t>
            </a:r>
            <a:r>
              <a:rPr lang="en-US" b="1" u="none" strike="noStrike" dirty="0">
                <a:solidFill>
                  <a:schemeClr val="bg1"/>
                </a:solidFill>
                <a:effectLst/>
                <a:latin typeface="Söhne"/>
              </a:rPr>
              <a:t>variables</a:t>
            </a:r>
            <a:r>
              <a:rPr lang="en-US" u="none" strike="noStrike" dirty="0">
                <a:solidFill>
                  <a:srgbClr val="374151"/>
                </a:solidFill>
                <a:effectLst/>
                <a:latin typeface="Söhne"/>
              </a:rPr>
              <a:t>, a characteristic or attribute that can change or take on different values.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Variables are often represented by letters.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u="none" strike="noStrike" dirty="0">
                <a:solidFill>
                  <a:srgbClr val="374151"/>
                </a:solidFill>
                <a:effectLst/>
                <a:latin typeface="Söhne"/>
              </a:rPr>
              <a:t>Recall from your prerequisite course</a:t>
            </a:r>
            <a:r>
              <a:rPr lang="en-US" u="none" strike="noStrike" dirty="0">
                <a:solidFill>
                  <a:srgbClr val="374151"/>
                </a:solidFill>
                <a:effectLst/>
                <a:latin typeface="Söhne"/>
              </a:rPr>
              <a:t>: We choose capital letters when using a random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Söhne"/>
              </a:rPr>
              <a:t>Dependent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variables are values that are thought to </a:t>
            </a:r>
            <a:r>
              <a:rPr lang="en-US" i="1" dirty="0">
                <a:solidFill>
                  <a:srgbClr val="374151"/>
                </a:solidFill>
                <a:latin typeface="Söhne"/>
              </a:rPr>
              <a:t>depend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on </a:t>
            </a:r>
            <a:r>
              <a:rPr lang="en-US" b="1" dirty="0">
                <a:solidFill>
                  <a:schemeClr val="bg1"/>
                </a:solidFill>
                <a:latin typeface="Söhne"/>
              </a:rPr>
              <a:t>independent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variables.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none" strike="noStrike" dirty="0">
                <a:solidFill>
                  <a:srgbClr val="374151"/>
                </a:solidFill>
                <a:effectLst/>
                <a:latin typeface="Söhne"/>
              </a:rPr>
              <a:t>We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sometimes call independent and dependent variables, </a:t>
            </a:r>
            <a:r>
              <a:rPr lang="en-US" b="1" dirty="0">
                <a:solidFill>
                  <a:schemeClr val="bg1"/>
                </a:solidFill>
                <a:latin typeface="Söhne"/>
              </a:rPr>
              <a:t>input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and </a:t>
            </a:r>
            <a:r>
              <a:rPr lang="en-US" b="1" dirty="0">
                <a:solidFill>
                  <a:schemeClr val="bg1"/>
                </a:solidFill>
                <a:latin typeface="Söhne"/>
              </a:rPr>
              <a:t>output variables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, respectively. </a:t>
            </a:r>
            <a:endParaRPr lang="en-US" u="none" strike="noStrike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49059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3343F2-323B-53DC-DAA4-EC204543E6CA}"/>
              </a:ext>
            </a:extLst>
          </p:cNvPr>
          <p:cNvSpPr/>
          <p:nvPr/>
        </p:nvSpPr>
        <p:spPr>
          <a:xfrm>
            <a:off x="6510528" y="1712799"/>
            <a:ext cx="2992247" cy="7668945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854D-F31A-B0AD-AE14-5B4A357DF303}"/>
              </a:ext>
            </a:extLst>
          </p:cNvPr>
          <p:cNvSpPr txBox="1"/>
          <p:nvPr/>
        </p:nvSpPr>
        <p:spPr>
          <a:xfrm rot="1227685">
            <a:off x="4975531" y="4717208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Dependent</a:t>
            </a:r>
          </a:p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91357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A252D179-0897-58F9-C8AB-559CB1E79617}"/>
              </a:ext>
            </a:extLst>
          </p:cNvPr>
          <p:cNvSpPr/>
          <p:nvPr/>
        </p:nvSpPr>
        <p:spPr>
          <a:xfrm>
            <a:off x="10660566" y="4348976"/>
            <a:ext cx="758283" cy="1048214"/>
          </a:xfrm>
          <a:prstGeom prst="ellipse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47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3343F2-323B-53DC-DAA4-EC204543E6CA}"/>
              </a:ext>
            </a:extLst>
          </p:cNvPr>
          <p:cNvSpPr/>
          <p:nvPr/>
        </p:nvSpPr>
        <p:spPr>
          <a:xfrm>
            <a:off x="3544235" y="1726222"/>
            <a:ext cx="3280311" cy="7668945"/>
          </a:xfrm>
          <a:prstGeom prst="roundRect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854D-F31A-B0AD-AE14-5B4A357DF303}"/>
              </a:ext>
            </a:extLst>
          </p:cNvPr>
          <p:cNvSpPr txBox="1"/>
          <p:nvPr/>
        </p:nvSpPr>
        <p:spPr>
          <a:xfrm rot="1227685">
            <a:off x="2002127" y="4681805"/>
            <a:ext cx="6165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Independent</a:t>
            </a:r>
          </a:p>
          <a:p>
            <a:pPr algn="ctr"/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73801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A252D179-0897-58F9-C8AB-559CB1E79617}"/>
              </a:ext>
            </a:extLst>
          </p:cNvPr>
          <p:cNvSpPr/>
          <p:nvPr/>
        </p:nvSpPr>
        <p:spPr>
          <a:xfrm>
            <a:off x="11842595" y="4295311"/>
            <a:ext cx="758283" cy="1048214"/>
          </a:xfrm>
          <a:prstGeom prst="ellipse">
            <a:avLst/>
          </a:prstGeom>
          <a:noFill/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3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6B339-3DE6-BE07-66BE-4F820894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Remark: Feature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361E-89C7-E13A-99B0-21336FC98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none" strike="noStrike" dirty="0">
                <a:solidFill>
                  <a:schemeClr val="bg1"/>
                </a:solidFill>
                <a:effectLst/>
                <a:latin typeface="Söhne"/>
              </a:rPr>
              <a:t>Feature </a:t>
            </a:r>
            <a:r>
              <a:rPr lang="en-US" u="none" strike="noStrike" dirty="0">
                <a:effectLst/>
                <a:latin typeface="Söhne"/>
              </a:rPr>
              <a:t>is a term from Machine Learning for an input variable. </a:t>
            </a:r>
          </a:p>
          <a:p>
            <a:r>
              <a:rPr lang="en-US" dirty="0">
                <a:latin typeface="Söhne"/>
              </a:rPr>
              <a:t>Within the context of Statistical Learning, we will think of features as synonymous with independent variables. </a:t>
            </a:r>
          </a:p>
          <a:p>
            <a:r>
              <a:rPr lang="en-US" dirty="0">
                <a:latin typeface="Söhne"/>
              </a:rPr>
              <a:t>…but there is technically a subtle difference: </a:t>
            </a:r>
          </a:p>
          <a:p>
            <a:pPr lvl="1"/>
            <a:r>
              <a:rPr lang="en-US" dirty="0">
                <a:latin typeface="Söhne"/>
              </a:rPr>
              <a:t>Independent variables are assumed to be gotten through experimental contexts. </a:t>
            </a:r>
          </a:p>
          <a:p>
            <a:pPr lvl="1"/>
            <a:r>
              <a:rPr lang="en-US" dirty="0">
                <a:latin typeface="Söhne"/>
              </a:rPr>
              <a:t>Features, on the other hand, may or may not be gotten through experimentation. </a:t>
            </a:r>
          </a:p>
        </p:txBody>
      </p:sp>
    </p:spTree>
    <p:extLst>
      <p:ext uri="{BB962C8B-B14F-4D97-AF65-F5344CB8AC3E}">
        <p14:creationId xmlns:p14="http://schemas.microsoft.com/office/powerpoint/2010/main" val="4779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99D3-233E-022B-7656-DC9ABB00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Types of Statistical Learning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9CE5-071D-6C3A-3F99-10D2F1496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chemeClr val="accent1"/>
                </a:solidFill>
                <a:effectLst/>
                <a:latin typeface="Söhne"/>
              </a:rPr>
              <a:t>Regression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Predicting a continuous outcome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chemeClr val="accent1"/>
                </a:solidFill>
                <a:effectLst/>
                <a:latin typeface="Söhne"/>
              </a:rPr>
              <a:t>Classification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Predicting a categorical outcome or class.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chemeClr val="accent1"/>
                </a:solidFill>
                <a:effectLst/>
                <a:latin typeface="Söhne"/>
              </a:rPr>
              <a:t>Clustering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Grouping similar data points together.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chemeClr val="accent1"/>
                </a:solidFill>
                <a:effectLst/>
                <a:latin typeface="Söhne"/>
              </a:rPr>
              <a:t>Dimensionality Reduction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: Reducing the complexity of high-dimensional data.</a:t>
            </a:r>
          </a:p>
        </p:txBody>
      </p:sp>
    </p:spTree>
    <p:extLst>
      <p:ext uri="{BB962C8B-B14F-4D97-AF65-F5344CB8AC3E}">
        <p14:creationId xmlns:p14="http://schemas.microsoft.com/office/powerpoint/2010/main" val="324626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What kind of model was the example?</a:t>
            </a:r>
          </a:p>
        </p:txBody>
      </p:sp>
    </p:spTree>
    <p:extLst>
      <p:ext uri="{BB962C8B-B14F-4D97-AF65-F5344CB8AC3E}">
        <p14:creationId xmlns:p14="http://schemas.microsoft.com/office/powerpoint/2010/main" val="65145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0364841"/>
              </p:ext>
            </p:extLst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63450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32337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B64F-BDB5-5894-F53A-3D5A74F1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Supervised vs. Unsupervised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8876-4BAB-1C22-589A-D2E7D8A9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effectLst/>
                <a:latin typeface="Söhne"/>
              </a:rPr>
              <a:t>Statistical learning problems exist in </a:t>
            </a:r>
            <a:r>
              <a:rPr lang="en-US" i="1" u="none" strike="noStrike" dirty="0">
                <a:effectLst/>
                <a:latin typeface="Söhne"/>
              </a:rPr>
              <a:t>several</a:t>
            </a:r>
            <a:r>
              <a:rPr lang="en-US" i="0" u="none" strike="noStrike" dirty="0">
                <a:effectLst/>
                <a:latin typeface="Söhne"/>
              </a:rPr>
              <a:t> forms. The two we will focus on in this class 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Supervised Learning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–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Training models with labeled data to make predictions or classifications.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accent1"/>
                </a:solidFill>
                <a:effectLst/>
                <a:latin typeface="Söhne"/>
              </a:rPr>
              <a:t>Unsupervised Learning 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–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Discovering patterns or structures in data without labeled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Which form we use depends on what information, if any, we have on the dependent variable.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This influences what kinds of models we can consider. </a:t>
            </a:r>
          </a:p>
        </p:txBody>
      </p:sp>
    </p:spTree>
    <p:extLst>
      <p:ext uri="{BB962C8B-B14F-4D97-AF65-F5344CB8AC3E}">
        <p14:creationId xmlns:p14="http://schemas.microsoft.com/office/powerpoint/2010/main" val="1641360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What kind of learning problem was the example?</a:t>
            </a:r>
          </a:p>
        </p:txBody>
      </p:sp>
    </p:spTree>
    <p:extLst>
      <p:ext uri="{BB962C8B-B14F-4D97-AF65-F5344CB8AC3E}">
        <p14:creationId xmlns:p14="http://schemas.microsoft.com/office/powerpoint/2010/main" val="16954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8209009"/>
              </p:ext>
            </p:extLst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034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Supervised</a:t>
            </a:r>
          </a:p>
        </p:txBody>
      </p:sp>
    </p:spTree>
    <p:extLst>
      <p:ext uri="{BB962C8B-B14F-4D97-AF65-F5344CB8AC3E}">
        <p14:creationId xmlns:p14="http://schemas.microsoft.com/office/powerpoint/2010/main" val="3498159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D06A-7CD7-5391-3F28-40D40B78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1B8D4-9DC4-0773-3782-128926280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Models in statistical learning use a dependent variable and one or more independent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Söhne"/>
              </a:rPr>
              <a:t>Features should be thought of as synonymous with independent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There are four types of models: regression, classification, clustering and dimensionality reduction.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Learning problems are either supervised or unsupervised; this influences what kinds of models we can consider.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70887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5cef1d12f529d56583853ef5dc33f7c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ccccdfc22f8c8f07a3477280a29706aa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ternalName="Due_x0020_Date">
      <xsd:simpleType>
        <xsd:restriction base="dms:DateTime"/>
      </xsd:simpleType>
    </xsd:element>
    <xsd:element name="Status" ma:index="9" nillable="true" ma:displayName="Status" ma:format="Dropdown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A3ACA1-D96F-4A96-85DE-54D87646E2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8863</TotalTime>
  <Words>788</Words>
  <Application>Microsoft Macintosh PowerPoint</Application>
  <PresentationFormat>Custom</PresentationFormat>
  <Paragraphs>250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Söhne</vt:lpstr>
      <vt:lpstr>Wingdings 2</vt:lpstr>
      <vt:lpstr>Breeze</vt:lpstr>
      <vt:lpstr>Math 769: Statistical Learning</vt:lpstr>
      <vt:lpstr>Models in  Statistical Learning</vt:lpstr>
      <vt:lpstr>Last Time</vt:lpstr>
      <vt:lpstr>Objectives for this Lesson</vt:lpstr>
      <vt:lpstr>Variable</vt:lpstr>
      <vt:lpstr>Example</vt:lpstr>
      <vt:lpstr>Example</vt:lpstr>
      <vt:lpstr>Example</vt:lpstr>
      <vt:lpstr>Example</vt:lpstr>
      <vt:lpstr>Remark: Feature</vt:lpstr>
      <vt:lpstr>Types of Statistical Learning Models</vt:lpstr>
      <vt:lpstr>What kind of model was the example?</vt:lpstr>
      <vt:lpstr>Example</vt:lpstr>
      <vt:lpstr>Regression</vt:lpstr>
      <vt:lpstr>Supervised vs. Unsupervised Learning</vt:lpstr>
      <vt:lpstr>What kind of learning problem was the example?</vt:lpstr>
      <vt:lpstr>Example</vt:lpstr>
      <vt:lpstr>Supervised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25</cp:revision>
  <dcterms:created xsi:type="dcterms:W3CDTF">2019-02-13T16:04:21Z</dcterms:created>
  <dcterms:modified xsi:type="dcterms:W3CDTF">2023-10-05T18:43:08Z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