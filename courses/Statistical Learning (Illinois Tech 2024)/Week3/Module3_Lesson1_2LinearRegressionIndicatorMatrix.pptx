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0"/>
  </p:notesMasterIdLst>
  <p:sldIdLst>
    <p:sldId id="259" r:id="rId5"/>
    <p:sldId id="262" r:id="rId6"/>
    <p:sldId id="263" r:id="rId7"/>
    <p:sldId id="269" r:id="rId8"/>
    <p:sldId id="331" r:id="rId9"/>
    <p:sldId id="30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240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linear algebra comes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Linear Regression with an </a:t>
            </a:r>
            <a:r>
              <a:rPr lang="en-US"/>
              <a:t>Indicator Matrix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Lecture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Last time, we discussed performing classification using linear regression. </a:t>
            </a:r>
          </a:p>
          <a:p>
            <a:r>
              <a:rPr lang="en-US" altLang="en-US" dirty="0"/>
              <a:t>This requires encoding the categories numerically (0, 1, 2, …) and rounding predictions.</a:t>
            </a:r>
          </a:p>
          <a:p>
            <a:r>
              <a:rPr lang="en-US" altLang="en-US" dirty="0"/>
              <a:t>We can measure how effective our model is with accuracy, precision, and recall.</a:t>
            </a:r>
          </a:p>
          <a:p>
            <a:r>
              <a:rPr lang="en-US" altLang="en-US" dirty="0"/>
              <a:t>We can find decision boundaries, which separate the domain into the classifications estimated by the model.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Explain why ordinal encoding may not be ideal.</a:t>
            </a:r>
          </a:p>
          <a:p>
            <a:r>
              <a:rPr lang="en-US" altLang="en-US" dirty="0"/>
              <a:t>Define an indicator matrix and encode data using one.</a:t>
            </a:r>
          </a:p>
          <a:p>
            <a:r>
              <a:rPr lang="en-US" altLang="en-US" dirty="0"/>
              <a:t>Explain the process of linear regression with this encoding.</a:t>
            </a:r>
          </a:p>
          <a:p>
            <a:r>
              <a:rPr lang="en-US" altLang="en-US" dirty="0"/>
              <a:t>Explain how decision boundaries are defined.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a political party&#10;&#10;Description automatically generated">
            <a:extLst>
              <a:ext uri="{FF2B5EF4-FFF2-40B4-BE49-F238E27FC236}">
                <a16:creationId xmlns:a16="http://schemas.microsoft.com/office/drawing/2014/main" id="{8459C87F-029A-4AA2-7168-7945A831AC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8550" y="2232459"/>
            <a:ext cx="7680960" cy="6221578"/>
          </a:xfrm>
          <a:noFill/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DC0205-5C25-5D76-86D2-961CFA3E4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/>
          <a:lstStyle/>
          <a:p>
            <a:r>
              <a:rPr lang="en-US" dirty="0"/>
              <a:t>Suppose this is our dataset, with the colors indicating the political party</a:t>
            </a:r>
          </a:p>
          <a:p>
            <a:r>
              <a:rPr lang="en-US" dirty="0"/>
              <a:t>Blue encodes 0</a:t>
            </a:r>
          </a:p>
          <a:p>
            <a:r>
              <a:rPr lang="en-US" dirty="0"/>
              <a:t>Green encodes 1</a:t>
            </a:r>
          </a:p>
          <a:p>
            <a:r>
              <a:rPr lang="en-US" dirty="0"/>
              <a:t>Red encodes 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877A32-56A4-7B27-955A-806BD2C87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Example from Last Time</a:t>
            </a:r>
          </a:p>
        </p:txBody>
      </p:sp>
    </p:spTree>
    <p:extLst>
      <p:ext uri="{BB962C8B-B14F-4D97-AF65-F5344CB8AC3E}">
        <p14:creationId xmlns:p14="http://schemas.microsoft.com/office/powerpoint/2010/main" val="407692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D1710-18A7-C83C-8E26-ED529C23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What is a problem with this encoding?</a:t>
            </a:r>
          </a:p>
        </p:txBody>
      </p:sp>
    </p:spTree>
    <p:extLst>
      <p:ext uri="{BB962C8B-B14F-4D97-AF65-F5344CB8AC3E}">
        <p14:creationId xmlns:p14="http://schemas.microsoft.com/office/powerpoint/2010/main" val="360709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1CED2-CBCB-8B92-2AB8-6B1666C4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vs. Nominal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7F9C4-8ABD-3115-9DB3-1AACE56FFB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a point is ambiguous between label 0 and label 2, should it be classified as 1?</a:t>
                </a:r>
              </a:p>
              <a:p>
                <a:r>
                  <a:rPr lang="en-US" dirty="0"/>
                  <a:t>Numbers are ordered. Nominal categories are not. </a:t>
                </a:r>
              </a:p>
              <a:p>
                <a:r>
                  <a:rPr lang="en-US" dirty="0"/>
                  <a:t>When categories are unordered, it is arguably better to use a </a:t>
                </a:r>
                <a:r>
                  <a:rPr lang="en-US" b="1" dirty="0">
                    <a:solidFill>
                      <a:schemeClr val="bg1"/>
                    </a:solidFill>
                  </a:rPr>
                  <a:t>one-hot </a:t>
                </a:r>
                <a:r>
                  <a:rPr lang="en-US" dirty="0"/>
                  <a:t>encoding:</a:t>
                </a:r>
              </a:p>
              <a:p>
                <a:pPr lvl="1"/>
                <a:r>
                  <a:rPr lang="en-US" dirty="0"/>
                  <a:t>Political Party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7F9C4-8ABD-3115-9DB3-1AACE56FFB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38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8339-5243-9A48-0EA4-7F1D1FBD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4BFBF9-FEED-44BC-E6D2-46099D81B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</a:t>
                </a:r>
                <a:r>
                  <a:rPr lang="en-US" b="1" dirty="0">
                    <a:solidFill>
                      <a:schemeClr val="bg1"/>
                    </a:solidFill>
                  </a:rPr>
                  <a:t>indicator matrix </a:t>
                </a:r>
                <a:r>
                  <a:rPr lang="en-US" dirty="0"/>
                  <a:t>is a binary matrix used to represent categorical data in numerical format.</a:t>
                </a:r>
              </a:p>
              <a:p>
                <a:r>
                  <a:rPr lang="en-US" dirty="0"/>
                  <a:t>Each column represents a category, and a '1' indicates the presence of that category for an observation.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4BFBF9-FEED-44BC-E6D2-46099D81B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90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27797-78B3-8414-1AC0-5513C33865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categories are encoded in an *unordered* way</a:t>
            </a:r>
          </a:p>
          <a:p>
            <a:r>
              <a:rPr lang="en-US" dirty="0"/>
              <a:t>We perform linear regression for each category.</a:t>
            </a:r>
          </a:p>
          <a:p>
            <a:pPr lvl="1"/>
            <a:r>
              <a:rPr lang="en-US" dirty="0"/>
              <a:t>k categories means k linear equations</a:t>
            </a:r>
          </a:p>
          <a:p>
            <a:r>
              <a:rPr lang="en-US" dirty="0"/>
              <a:t>We classify with the highest valued category.</a:t>
            </a:r>
          </a:p>
        </p:txBody>
      </p:sp>
      <p:pic>
        <p:nvPicPr>
          <p:cNvPr id="6" name="Content Placeholder 5" descr="A graph with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28CFE3CA-844C-DACE-979F-605D9E51E4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7976" y="2085698"/>
            <a:ext cx="8049237" cy="6515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E99917-56DB-CE2B-14C7-4C08F7DD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Different?</a:t>
            </a:r>
          </a:p>
        </p:txBody>
      </p:sp>
    </p:spTree>
    <p:extLst>
      <p:ext uri="{BB962C8B-B14F-4D97-AF65-F5344CB8AC3E}">
        <p14:creationId xmlns:p14="http://schemas.microsoft.com/office/powerpoint/2010/main" val="93105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54EE5F-C735-A041-4EA6-F3654CCC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5A6849C-DB35-9973-56A0-0D1CE97DC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The three equations we get for this dataset are </a:t>
                </a:r>
                <a:br>
                  <a:rPr lang="en-US" dirty="0">
                    <a:latin typeface="Cambria Math" panose="02040503050406030204" pitchFamily="18" charset="0"/>
                  </a:rPr>
                </a:b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=0.974−0.0877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+0.00385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=0.391+0.0036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−0.0156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=−0.365+0.0841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+0.0117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When categorizing a point, we get three values. The maximum determines the category. (6, 2) is categorized as Party A.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=0.45546301394255423</m:t>
                      </m:r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6,2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0.38134235732538074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6,2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0.16319462873206508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5A6849C-DB35-9973-56A0-0D1CE97DC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32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54EE5F-C735-A041-4EA6-F3654CCC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5A6849C-DB35-9973-56A0-0D1CE97DC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Decision boundaries are constructed from looking at the cases when two categories have the same value. 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We find these by setting them equal to each other pair-wise.</a:t>
                </a:r>
              </a:p>
              <a:p>
                <a:r>
                  <a:rPr lang="en-US" dirty="0">
                    <a:latin typeface="Cambria Math" panose="02040503050406030204" pitchFamily="18" charset="0"/>
                  </a:rPr>
                  <a:t>If we have k categories, we have k(k-1)/2 decision boundaries.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A – B Decision Boundary: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0.582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0.091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+0.0194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A – C Decision Boundary: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=1.338−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717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−0.00785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B – C Decision Boundary: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756−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05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−0.0273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5A6849C-DB35-9973-56A0-0D1CE97DC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86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5A687-6864-276B-AD71-048A853FE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categories of the regions between the lines can deduced from what we know.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58519-EB9C-81EB-B88F-7B4B0535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</a:t>
            </a:r>
          </a:p>
        </p:txBody>
      </p:sp>
      <p:pic>
        <p:nvPicPr>
          <p:cNvPr id="11" name="Content Placeholder 10" descr="A graph of decision boundaries&#10;&#10;Description automatically generated">
            <a:extLst>
              <a:ext uri="{FF2B5EF4-FFF2-40B4-BE49-F238E27FC236}">
                <a16:creationId xmlns:a16="http://schemas.microsoft.com/office/drawing/2014/main" id="{37424D5C-68ED-6286-B81A-4D520B9491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51921" y="2085698"/>
            <a:ext cx="8172887" cy="6515100"/>
          </a:xfrm>
        </p:spPr>
      </p:pic>
    </p:spTree>
    <p:extLst>
      <p:ext uri="{BB962C8B-B14F-4D97-AF65-F5344CB8AC3E}">
        <p14:creationId xmlns:p14="http://schemas.microsoft.com/office/powerpoint/2010/main" val="4172337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5A687-6864-276B-AD71-048A853FE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Deductions give rise to the following regions. </a:t>
            </a:r>
          </a:p>
          <a:p>
            <a:r>
              <a:rPr lang="en-US" dirty="0"/>
              <a:t>The points depicted at the testing set. </a:t>
            </a:r>
          </a:p>
          <a:p>
            <a:r>
              <a:rPr lang="en-US" dirty="0"/>
              <a:t>We can find accuracy, precision, and recall to determine how good our model is.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A58519-EB9C-81EB-B88F-7B4B0535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</a:t>
            </a:r>
          </a:p>
        </p:txBody>
      </p:sp>
      <p:pic>
        <p:nvPicPr>
          <p:cNvPr id="8" name="Content Placeholder 7" descr="A graph with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E60AB621-E6CF-D88B-2B65-3F9A74F431B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2086222"/>
            <a:ext cx="8048588" cy="6514575"/>
          </a:xfrm>
        </p:spPr>
      </p:pic>
    </p:spTree>
    <p:extLst>
      <p:ext uri="{BB962C8B-B14F-4D97-AF65-F5344CB8AC3E}">
        <p14:creationId xmlns:p14="http://schemas.microsoft.com/office/powerpoint/2010/main" val="4026718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1B2B9-E37B-4DA8-7C5A-301CE5A72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Accuracy: 0.7444</a:t>
            </a:r>
          </a:p>
          <a:p>
            <a:r>
              <a:rPr lang="en-US" dirty="0"/>
              <a:t>Precision: </a:t>
            </a:r>
          </a:p>
          <a:p>
            <a:pPr lvl="1"/>
            <a:r>
              <a:rPr lang="en-US" dirty="0"/>
              <a:t>A: 27 / 41 = 0.65</a:t>
            </a:r>
          </a:p>
          <a:p>
            <a:pPr lvl="1"/>
            <a:r>
              <a:rPr lang="en-US" dirty="0"/>
              <a:t>B: 6 / 6 = 1</a:t>
            </a:r>
          </a:p>
          <a:p>
            <a:pPr lvl="1"/>
            <a:r>
              <a:rPr lang="en-US" dirty="0"/>
              <a:t>C: 34 / 43 = 0.79</a:t>
            </a:r>
          </a:p>
          <a:p>
            <a:r>
              <a:rPr lang="en-US" dirty="0"/>
              <a:t>Recall:</a:t>
            </a:r>
          </a:p>
          <a:p>
            <a:pPr lvl="1"/>
            <a:r>
              <a:rPr lang="en-US" dirty="0"/>
              <a:t>A: 27 / 27 = 1</a:t>
            </a:r>
          </a:p>
          <a:p>
            <a:pPr lvl="1"/>
            <a:r>
              <a:rPr lang="en-US" dirty="0"/>
              <a:t>B: 6 / 29 = 0.21</a:t>
            </a:r>
          </a:p>
          <a:p>
            <a:pPr lvl="1"/>
            <a:r>
              <a:rPr lang="en-US" dirty="0"/>
              <a:t>C: 34 / 34 = 1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CCF94F9-8B49-7618-AB2F-41ED800EAAA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44407123"/>
              </p:ext>
            </p:extLst>
          </p:nvPr>
        </p:nvGraphicFramePr>
        <p:xfrm>
          <a:off x="9502778" y="3863340"/>
          <a:ext cx="768032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081">
                  <a:extLst>
                    <a:ext uri="{9D8B030D-6E8A-4147-A177-3AD203B41FA5}">
                      <a16:colId xmlns:a16="http://schemas.microsoft.com/office/drawing/2014/main" val="1563081642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961970526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738253366"/>
                    </a:ext>
                  </a:extLst>
                </a:gridCol>
                <a:gridCol w="1920081">
                  <a:extLst>
                    <a:ext uri="{9D8B030D-6E8A-4147-A177-3AD203B41FA5}">
                      <a16:colId xmlns:a16="http://schemas.microsoft.com/office/drawing/2014/main" val="2999030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Act\Pred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840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97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382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445755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4FED1C6-829D-FF59-3CD5-F7B5D6E5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the Model</a:t>
            </a:r>
          </a:p>
        </p:txBody>
      </p:sp>
    </p:spTree>
    <p:extLst>
      <p:ext uri="{BB962C8B-B14F-4D97-AF65-F5344CB8AC3E}">
        <p14:creationId xmlns:p14="http://schemas.microsoft.com/office/powerpoint/2010/main" val="157281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6739-0573-26EF-4D47-63CB028D1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FC233-C319-B893-E81F-7343689A2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One-hot encoding allows for a numerical encoding that is unordered. </a:t>
            </a:r>
          </a:p>
          <a:p>
            <a:r>
              <a:rPr lang="en-US" dirty="0"/>
              <a:t>We need to perform as many regressions as there are categories for the output. </a:t>
            </a:r>
          </a:p>
          <a:p>
            <a:r>
              <a:rPr lang="en-US" dirty="0"/>
              <a:t>If there are k categories, there are k(k-1)/2 decision boundaries to compute. </a:t>
            </a:r>
          </a:p>
          <a:p>
            <a:r>
              <a:rPr lang="en-US" dirty="0"/>
              <a:t>We can use standard classification metrics to evaluate the model.</a:t>
            </a:r>
          </a:p>
        </p:txBody>
      </p:sp>
    </p:spTree>
    <p:extLst>
      <p:ext uri="{BB962C8B-B14F-4D97-AF65-F5344CB8AC3E}">
        <p14:creationId xmlns:p14="http://schemas.microsoft.com/office/powerpoint/2010/main" val="4004636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7701BE2C-002E-4B9B-9A63-8BE2792D45F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7621</TotalTime>
  <Words>645</Words>
  <Application>Microsoft Macintosh PowerPoint</Application>
  <PresentationFormat>Custom</PresentationFormat>
  <Paragraphs>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 2</vt:lpstr>
      <vt:lpstr>Breeze</vt:lpstr>
      <vt:lpstr>Math 769: Statistical Learning</vt:lpstr>
      <vt:lpstr>Linear Regression with an Indicator Matrix</vt:lpstr>
      <vt:lpstr>Last Lecture</vt:lpstr>
      <vt:lpstr>Objectives</vt:lpstr>
      <vt:lpstr>Example from Last Time</vt:lpstr>
      <vt:lpstr>What is a problem with this encoding?</vt:lpstr>
      <vt:lpstr>Ordinal vs. Nominal Categories</vt:lpstr>
      <vt:lpstr>Indicator Matrix</vt:lpstr>
      <vt:lpstr>How Is this Different?</vt:lpstr>
      <vt:lpstr>Three Equations</vt:lpstr>
      <vt:lpstr>Decision boundaries</vt:lpstr>
      <vt:lpstr>Decision Boundaries</vt:lpstr>
      <vt:lpstr>Decision Boundaries</vt:lpstr>
      <vt:lpstr>Evaluation of the Model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26</cp:revision>
  <dcterms:created xsi:type="dcterms:W3CDTF">2019-02-13T16:04:21Z</dcterms:created>
  <dcterms:modified xsi:type="dcterms:W3CDTF">2023-12-04T04:16:07Z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2023-11-14T20:28:10Z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f74b4358-e904-4dcd-ad48-9474b3f9f69d</vt:lpwstr>
  </property>
  <property fmtid="{D5CDD505-2E9C-101B-9397-08002B2CF9AE}" pid="9" name="MSIP_Label_f2dee603-0001-4639-81f8-0608a53322f1_ContentBits">
    <vt:lpwstr>0</vt:lpwstr>
  </property>
</Properties>
</file>