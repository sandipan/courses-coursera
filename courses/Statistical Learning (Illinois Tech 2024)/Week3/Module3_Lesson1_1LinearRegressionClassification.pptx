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5"/>
  </p:notesMasterIdLst>
  <p:sldIdLst>
    <p:sldId id="259" r:id="rId5"/>
    <p:sldId id="262" r:id="rId6"/>
    <p:sldId id="263" r:id="rId7"/>
    <p:sldId id="269" r:id="rId8"/>
    <p:sldId id="285" r:id="rId9"/>
    <p:sldId id="286" r:id="rId10"/>
    <p:sldId id="331" r:id="rId11"/>
    <p:sldId id="304" r:id="rId12"/>
    <p:sldId id="311" r:id="rId13"/>
    <p:sldId id="307" r:id="rId14"/>
    <p:sldId id="324" r:id="rId15"/>
    <p:sldId id="308" r:id="rId16"/>
    <p:sldId id="325" r:id="rId17"/>
    <p:sldId id="309" r:id="rId18"/>
    <p:sldId id="326" r:id="rId19"/>
    <p:sldId id="327" r:id="rId20"/>
    <p:sldId id="322" r:id="rId21"/>
    <p:sldId id="323" r:id="rId22"/>
    <p:sldId id="330" r:id="rId23"/>
    <p:sldId id="318" r:id="rId2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Classification with </a:t>
            </a:r>
            <a:br>
              <a:rPr lang="en-US" dirty="0"/>
            </a:br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Module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different regression methods</a:t>
            </a:r>
          </a:p>
          <a:p>
            <a:pPr lvl="1"/>
            <a:r>
              <a:rPr lang="en-US" altLang="en-US" dirty="0"/>
              <a:t>(Ordinary Least Squares) Linear Regression</a:t>
            </a:r>
          </a:p>
          <a:p>
            <a:pPr lvl="1"/>
            <a:r>
              <a:rPr lang="en-US" altLang="en-US" dirty="0"/>
              <a:t>Subset Selection</a:t>
            </a:r>
          </a:p>
          <a:p>
            <a:pPr lvl="1"/>
            <a:r>
              <a:rPr lang="en-US" altLang="en-US" dirty="0"/>
              <a:t>Ridge Regression</a:t>
            </a:r>
          </a:p>
          <a:p>
            <a:pPr lvl="1"/>
            <a:r>
              <a:rPr lang="en-US" altLang="en-US" dirty="0"/>
              <a:t>LASSO</a:t>
            </a:r>
          </a:p>
          <a:p>
            <a:r>
              <a:rPr lang="en-US" altLang="en-US" dirty="0"/>
              <a:t>Recall that regression is about predicting an output value </a:t>
            </a:r>
            <a:r>
              <a:rPr lang="en-US" altLang="en-US" i="1" u="sng" dirty="0"/>
              <a:t>as a continuous quantity</a:t>
            </a:r>
            <a:r>
              <a:rPr lang="en-US" alt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classification and provide examples.</a:t>
            </a:r>
          </a:p>
          <a:p>
            <a:r>
              <a:rPr lang="en-US" altLang="en-US" dirty="0"/>
              <a:t>Define an ordinal encoding and construct one from categorical data.</a:t>
            </a:r>
          </a:p>
          <a:p>
            <a:r>
              <a:rPr lang="en-US" altLang="en-US" dirty="0"/>
              <a:t>Define three metrics for classification problems: accuracy, precision, and recall.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34C5-C174-17F4-76C9-F3D165A1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6323-0958-C77E-04B2-ADBDE9B4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is about predicting the output value as a continuous quantity. </a:t>
            </a:r>
          </a:p>
          <a:p>
            <a:r>
              <a:rPr lang="en-US" b="1" dirty="0">
                <a:solidFill>
                  <a:schemeClr val="bg1"/>
                </a:solidFill>
              </a:rPr>
              <a:t>Classification</a:t>
            </a:r>
            <a:r>
              <a:rPr lang="en-US" dirty="0"/>
              <a:t> aims to predict the output value as a discrete category.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Predicting whether a patient will develop dementia (Y/N) based on lifestyle and genetic inputs. </a:t>
            </a:r>
          </a:p>
          <a:p>
            <a:pPr lvl="1"/>
            <a:r>
              <a:rPr lang="en-US" dirty="0"/>
              <a:t>Predicting the eye color of a newborn (G/Bl/Br) based genetics.</a:t>
            </a:r>
          </a:p>
        </p:txBody>
      </p:sp>
    </p:spTree>
    <p:extLst>
      <p:ext uri="{BB962C8B-B14F-4D97-AF65-F5344CB8AC3E}">
        <p14:creationId xmlns:p14="http://schemas.microsoft.com/office/powerpoint/2010/main" val="182260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34C5-C174-17F4-76C9-F3D165A1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96323-0958-C77E-04B2-ADBDE9B42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our dataset looks at three political parties located in a square region of a city.</a:t>
                </a:r>
              </a:p>
              <a:p>
                <a:r>
                  <a:rPr lang="en-US" dirty="0"/>
                  <a:t>We could encode the three parties as: </a:t>
                </a:r>
                <a:r>
                  <a:rPr lang="en-US" b="0" i="0" u="none" strike="noStrike" dirty="0">
                    <a:effectLst/>
                  </a:rPr>
                  <a:t>0, 1, 2</a:t>
                </a:r>
              </a:p>
              <a:p>
                <a:r>
                  <a:rPr lang="en-US" dirty="0"/>
                  <a:t>The inputs are not categorical, but could be encoded with a cartesian coordinate system: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0" u="none" strike="noStrike" dirty="0">
                  <a:effectLst/>
                </a:endParaRPr>
              </a:p>
              <a:p>
                <a:r>
                  <a:rPr lang="en-US" dirty="0"/>
                  <a:t>A datapoint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(1.23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,3.45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𝑁𝑜𝑟𝑡h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𝑃𝑎𝑟𝑡𝑦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could be encoded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1.23, 3.45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96323-0958-C77E-04B2-ADBDE9B42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01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political party&#10;&#10;Description automatically generated">
            <a:extLst>
              <a:ext uri="{FF2B5EF4-FFF2-40B4-BE49-F238E27FC236}">
                <a16:creationId xmlns:a16="http://schemas.microsoft.com/office/drawing/2014/main" id="{8459C87F-029A-4AA2-7168-7945A831AC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232459"/>
            <a:ext cx="7680960" cy="6221578"/>
          </a:xfr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DC0205-5C25-5D76-86D2-961CFA3E4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/>
          <a:lstStyle/>
          <a:p>
            <a:r>
              <a:rPr lang="en-US" dirty="0"/>
              <a:t>Suppose this is our dataset, with the colors indicating the political party</a:t>
            </a:r>
          </a:p>
          <a:p>
            <a:r>
              <a:rPr lang="en-US" dirty="0"/>
              <a:t>Blue encodes 0</a:t>
            </a:r>
          </a:p>
          <a:p>
            <a:r>
              <a:rPr lang="en-US" dirty="0"/>
              <a:t>Green encodes 1</a:t>
            </a:r>
          </a:p>
          <a:p>
            <a:r>
              <a:rPr lang="en-US" dirty="0"/>
              <a:t>Red encodes 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877A32-56A4-7B27-955A-806BD2C8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Training Set</a:t>
            </a:r>
          </a:p>
        </p:txBody>
      </p:sp>
    </p:spTree>
    <p:extLst>
      <p:ext uri="{BB962C8B-B14F-4D97-AF65-F5344CB8AC3E}">
        <p14:creationId xmlns:p14="http://schemas.microsoft.com/office/powerpoint/2010/main" val="4076922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D50CE-A86B-B9CE-7772-5A5DF837D5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 can be performed in the same way on the training set. </a:t>
            </a:r>
          </a:p>
          <a:p>
            <a:r>
              <a:rPr lang="en-US" dirty="0"/>
              <a:t>The output needs to be rounded to conform to classes. </a:t>
            </a:r>
          </a:p>
          <a:p>
            <a:r>
              <a:rPr lang="en-US" dirty="0"/>
              <a:t>In this example, we get an </a:t>
            </a:r>
            <a:r>
              <a:rPr lang="en-US" b="1" dirty="0">
                <a:solidFill>
                  <a:schemeClr val="bg1"/>
                </a:solidFill>
              </a:rPr>
              <a:t>accuracy</a:t>
            </a:r>
            <a:r>
              <a:rPr lang="en-US" dirty="0"/>
              <a:t> of 0.96 of the test set (depicted)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C151B-6E93-6359-733E-D263B3A9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Performing Linear Regression </a:t>
            </a:r>
          </a:p>
        </p:txBody>
      </p:sp>
      <p:pic>
        <p:nvPicPr>
          <p:cNvPr id="6" name="Content Placeholder 5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66F3D07E-CFAF-F22B-A229-7E2A8896EF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44000" y="1944880"/>
            <a:ext cx="8223213" cy="6655918"/>
          </a:xfrm>
        </p:spPr>
      </p:pic>
    </p:spTree>
    <p:extLst>
      <p:ext uri="{BB962C8B-B14F-4D97-AF65-F5344CB8AC3E}">
        <p14:creationId xmlns:p14="http://schemas.microsoft.com/office/powerpoint/2010/main" val="139889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25B49F-3164-66DB-B530-6852DB3E068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51252913"/>
              </p:ext>
            </p:extLst>
          </p:nvPr>
        </p:nvGraphicFramePr>
        <p:xfrm>
          <a:off x="1098550" y="208597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105965628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33466725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31661390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432735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Act \ Pred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7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11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0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4086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1C151B-6E93-6359-733E-D263B3A9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good was the classification?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E8AC0A-6471-4A4E-89B4-5A71962C8FDB}"/>
              </a:ext>
            </a:extLst>
          </p:cNvPr>
          <p:cNvSpPr txBox="1">
            <a:spLocks/>
          </p:cNvSpPr>
          <p:nvPr/>
        </p:nvSpPr>
        <p:spPr bwMode="auto">
          <a:xfrm>
            <a:off x="1098550" y="5019470"/>
            <a:ext cx="7680960" cy="358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698500" indent="-698500" algn="l" rtl="0" fontAlgn="base">
              <a:spcBef>
                <a:spcPts val="32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6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 blues were incorrectly classified as green.</a:t>
            </a:r>
          </a:p>
          <a:p>
            <a:r>
              <a:rPr lang="en-US" dirty="0"/>
              <a:t>1 green was incorrectly classified as blue; 1 red incorrectly classified as green</a:t>
            </a:r>
          </a:p>
        </p:txBody>
      </p:sp>
      <p:pic>
        <p:nvPicPr>
          <p:cNvPr id="7" name="Content Placeholder 6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6D9361BC-8E90-9B44-361A-5A57B2A827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8318" y="2085975"/>
            <a:ext cx="8048893" cy="6514822"/>
          </a:xfrm>
        </p:spPr>
      </p:pic>
    </p:spTree>
    <p:extLst>
      <p:ext uri="{BB962C8B-B14F-4D97-AF65-F5344CB8AC3E}">
        <p14:creationId xmlns:p14="http://schemas.microsoft.com/office/powerpoint/2010/main" val="324564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D5B1-EA83-5D17-2601-D7E0E72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142F5-4446-7F0D-C729-3B850D93B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Accuracy</a:t>
            </a:r>
            <a:r>
              <a:rPr lang="en-US" dirty="0"/>
              <a:t> is the percent of points within the testing set that are correctly classified by the model. </a:t>
            </a:r>
          </a:p>
          <a:p>
            <a:r>
              <a:rPr lang="en-US" dirty="0"/>
              <a:t>We use accuracy for classification tasks all the time. </a:t>
            </a:r>
          </a:p>
          <a:p>
            <a:r>
              <a:rPr lang="en-US" dirty="0"/>
              <a:t>Note: The model is “blind” to the testing set. </a:t>
            </a:r>
          </a:p>
          <a:p>
            <a:pPr lvl="1"/>
            <a:r>
              <a:rPr lang="en-US" dirty="0"/>
              <a:t>Meaning, the testing set had no influence on the model. </a:t>
            </a:r>
          </a:p>
          <a:p>
            <a:pPr lvl="1"/>
            <a:r>
              <a:rPr lang="en-US" dirty="0"/>
              <a:t>So it gives an unbiased estimate of the model.</a:t>
            </a:r>
          </a:p>
        </p:txBody>
      </p:sp>
    </p:spTree>
    <p:extLst>
      <p:ext uri="{BB962C8B-B14F-4D97-AF65-F5344CB8AC3E}">
        <p14:creationId xmlns:p14="http://schemas.microsoft.com/office/powerpoint/2010/main" val="235629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25B49F-3164-66DB-B530-6852DB3E068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105965628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33466725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31661390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432735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Act \ Pred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7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11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0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4086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1C151B-6E93-6359-733E-D263B3A9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E8AC0A-6471-4A4E-89B4-5A71962C8FDB}"/>
              </a:ext>
            </a:extLst>
          </p:cNvPr>
          <p:cNvSpPr txBox="1">
            <a:spLocks/>
          </p:cNvSpPr>
          <p:nvPr/>
        </p:nvSpPr>
        <p:spPr bwMode="auto">
          <a:xfrm>
            <a:off x="1098550" y="5019470"/>
            <a:ext cx="7680960" cy="358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698500" indent="-698500" algn="l" rtl="0" fontAlgn="base">
              <a:spcBef>
                <a:spcPts val="32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6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(24+29+33) / (24+29+33+5) = </a:t>
            </a:r>
          </a:p>
          <a:p>
            <a:pPr marL="0" indent="0">
              <a:buNone/>
            </a:pPr>
            <a:r>
              <a:rPr lang="en-US" dirty="0"/>
              <a:t>85 / 90 = 96%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FAC1A5C5-6BDB-4B08-664A-B979CC26C4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8319" y="2085975"/>
            <a:ext cx="8048892" cy="6514821"/>
          </a:xfrm>
        </p:spPr>
      </p:pic>
    </p:spTree>
    <p:extLst>
      <p:ext uri="{BB962C8B-B14F-4D97-AF65-F5344CB8AC3E}">
        <p14:creationId xmlns:p14="http://schemas.microsoft.com/office/powerpoint/2010/main" val="1827904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B257-D96E-4DCC-90D2-DB755396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by Class: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0742D-E506-BA41-1757-C55D69D4D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True positives</a:t>
            </a:r>
            <a:r>
              <a:rPr lang="en-US" dirty="0"/>
              <a:t>: All the points correctly classified into the class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False positives</a:t>
            </a:r>
            <a:r>
              <a:rPr lang="en-US" dirty="0"/>
              <a:t>: All the points incorrectly classified into the class</a:t>
            </a:r>
          </a:p>
          <a:p>
            <a:r>
              <a:rPr lang="en-US" b="1" dirty="0">
                <a:solidFill>
                  <a:schemeClr val="bg1"/>
                </a:solidFill>
              </a:rPr>
              <a:t>Precision</a:t>
            </a:r>
            <a:r>
              <a:rPr lang="en-US" dirty="0"/>
              <a:t> measures the percent of true positives among the points classified into a class. </a:t>
            </a:r>
          </a:p>
          <a:p>
            <a:pPr lvl="1"/>
            <a:r>
              <a:rPr lang="en-US" dirty="0"/>
              <a:t>What percent of members classified into a class that should actually be there</a:t>
            </a:r>
          </a:p>
        </p:txBody>
      </p:sp>
    </p:spTree>
    <p:extLst>
      <p:ext uri="{BB962C8B-B14F-4D97-AF65-F5344CB8AC3E}">
        <p14:creationId xmlns:p14="http://schemas.microsoft.com/office/powerpoint/2010/main" val="3486390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25B49F-3164-66DB-B530-6852DB3E068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105965628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33466725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31661390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432735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Act \ Pred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7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11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0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4086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1C151B-6E93-6359-733E-D263B3A9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E8AC0A-6471-4A4E-89B4-5A71962C8FDB}"/>
              </a:ext>
            </a:extLst>
          </p:cNvPr>
          <p:cNvSpPr txBox="1">
            <a:spLocks/>
          </p:cNvSpPr>
          <p:nvPr/>
        </p:nvSpPr>
        <p:spPr bwMode="auto">
          <a:xfrm>
            <a:off x="1098550" y="5019470"/>
            <a:ext cx="7680960" cy="358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698500" indent="-698500" algn="l" rtl="0" fontAlgn="base">
              <a:spcBef>
                <a:spcPts val="32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6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Blue: 24/25 = 0.96 </a:t>
            </a:r>
          </a:p>
          <a:p>
            <a:pPr marL="0" indent="0">
              <a:buNone/>
            </a:pPr>
            <a:r>
              <a:rPr lang="en-US" dirty="0"/>
              <a:t>Green: 29/33 = 0.879</a:t>
            </a:r>
          </a:p>
          <a:p>
            <a:pPr marL="0" indent="0">
              <a:buNone/>
            </a:pPr>
            <a:r>
              <a:rPr lang="en-US" dirty="0"/>
              <a:t>Red: 33/33 = 1</a:t>
            </a:r>
          </a:p>
        </p:txBody>
      </p:sp>
      <p:pic>
        <p:nvPicPr>
          <p:cNvPr id="7" name="Content Placeholder 6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E6731C20-4C3F-8ED2-F87A-4294C1698D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8318" y="2085975"/>
            <a:ext cx="8048893" cy="6514822"/>
          </a:xfrm>
        </p:spPr>
      </p:pic>
    </p:spTree>
    <p:extLst>
      <p:ext uri="{BB962C8B-B14F-4D97-AF65-F5344CB8AC3E}">
        <p14:creationId xmlns:p14="http://schemas.microsoft.com/office/powerpoint/2010/main" val="3523080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B257-D96E-4DCC-90D2-DB755396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by Class: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0742D-E506-BA41-1757-C55D69D4D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True positives</a:t>
            </a:r>
            <a:r>
              <a:rPr lang="en-US" dirty="0"/>
              <a:t>: All the points correctly classified into the class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False negatives</a:t>
            </a:r>
            <a:r>
              <a:rPr lang="en-US" dirty="0"/>
              <a:t>: All the points incorrectly classified outside the class</a:t>
            </a:r>
          </a:p>
          <a:p>
            <a:r>
              <a:rPr lang="en-US" b="1" dirty="0">
                <a:solidFill>
                  <a:schemeClr val="bg1"/>
                </a:solidFill>
              </a:rPr>
              <a:t>Recall</a:t>
            </a:r>
            <a:r>
              <a:rPr lang="en-US" dirty="0"/>
              <a:t> measures the percent of members of a class that were correctly classified into it. </a:t>
            </a:r>
          </a:p>
        </p:txBody>
      </p:sp>
    </p:spTree>
    <p:extLst>
      <p:ext uri="{BB962C8B-B14F-4D97-AF65-F5344CB8AC3E}">
        <p14:creationId xmlns:p14="http://schemas.microsoft.com/office/powerpoint/2010/main" val="3772138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25B49F-3164-66DB-B530-6852DB3E068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61533811"/>
              </p:ext>
            </p:extLst>
          </p:nvPr>
        </p:nvGraphicFramePr>
        <p:xfrm>
          <a:off x="1098550" y="2085975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105965628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1334667254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316613905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3432735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2"/>
                          </a:solidFill>
                        </a:rPr>
                        <a:t>Act \ Pred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7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11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00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4086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1C151B-6E93-6359-733E-D263B3A9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E8AC0A-6471-4A4E-89B4-5A71962C8FDB}"/>
              </a:ext>
            </a:extLst>
          </p:cNvPr>
          <p:cNvSpPr txBox="1">
            <a:spLocks/>
          </p:cNvSpPr>
          <p:nvPr/>
        </p:nvSpPr>
        <p:spPr bwMode="auto">
          <a:xfrm>
            <a:off x="1098550" y="5019470"/>
            <a:ext cx="7680960" cy="3581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698500" indent="-698500" algn="l" rtl="0" fontAlgn="base">
              <a:spcBef>
                <a:spcPts val="32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6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3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Blue: 24/27 = 0.889</a:t>
            </a:r>
          </a:p>
          <a:p>
            <a:pPr marL="0" indent="0">
              <a:buNone/>
            </a:pPr>
            <a:r>
              <a:rPr lang="en-US" dirty="0"/>
              <a:t>Green: 29/30 = 0.967</a:t>
            </a:r>
          </a:p>
          <a:p>
            <a:pPr marL="0" indent="0">
              <a:buNone/>
            </a:pPr>
            <a:r>
              <a:rPr lang="en-US" dirty="0"/>
              <a:t>Red: 33/34 = 0.971</a:t>
            </a:r>
          </a:p>
        </p:txBody>
      </p:sp>
      <p:pic>
        <p:nvPicPr>
          <p:cNvPr id="7" name="Content Placeholder 6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E6731C20-4C3F-8ED2-F87A-4294C1698D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8318" y="2085975"/>
            <a:ext cx="8048893" cy="6514822"/>
          </a:xfrm>
        </p:spPr>
      </p:pic>
    </p:spTree>
    <p:extLst>
      <p:ext uri="{BB962C8B-B14F-4D97-AF65-F5344CB8AC3E}">
        <p14:creationId xmlns:p14="http://schemas.microsoft.com/office/powerpoint/2010/main" val="369898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262A-3CC0-DC63-B343-AA5331030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Precision looks at the colored regions. </a:t>
            </a:r>
          </a:p>
          <a:p>
            <a:pPr lvl="1"/>
            <a:r>
              <a:rPr lang="en-US" dirty="0"/>
              <a:t>E.g., How many in the green region are actually green? (79%)</a:t>
            </a:r>
          </a:p>
          <a:p>
            <a:r>
              <a:rPr lang="en-US" dirty="0"/>
              <a:t>Recall looks at the colored dots?</a:t>
            </a:r>
          </a:p>
          <a:p>
            <a:pPr lvl="1"/>
            <a:r>
              <a:rPr lang="en-US" dirty="0"/>
              <a:t>E.g., What proportion of the green dots fell into the green region? (100%)</a:t>
            </a:r>
          </a:p>
        </p:txBody>
      </p:sp>
      <p:pic>
        <p:nvPicPr>
          <p:cNvPr id="6" name="Content Placeholder 5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58D64A73-5845-3B32-5DA8-936EE18038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7976" y="2085698"/>
            <a:ext cx="8049237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FCC973-DCBA-7828-5709-88D87801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vs. Recall</a:t>
            </a:r>
          </a:p>
        </p:txBody>
      </p:sp>
    </p:spTree>
    <p:extLst>
      <p:ext uri="{BB962C8B-B14F-4D97-AF65-F5344CB8AC3E}">
        <p14:creationId xmlns:p14="http://schemas.microsoft.com/office/powerpoint/2010/main" val="890025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How might you find the lines that separate the categories?</a:t>
            </a:r>
          </a:p>
        </p:txBody>
      </p:sp>
    </p:spTree>
    <p:extLst>
      <p:ext uri="{BB962C8B-B14F-4D97-AF65-F5344CB8AC3E}">
        <p14:creationId xmlns:p14="http://schemas.microsoft.com/office/powerpoint/2010/main" val="2350621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419D-98E4-5285-A954-537A3BA1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2DF4-5A9B-B5DA-37AF-5666B11B1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boundaries are the lines that separate the domain into the different classifications. </a:t>
            </a:r>
          </a:p>
          <a:p>
            <a:r>
              <a:rPr lang="en-US" dirty="0"/>
              <a:t>Because our classification relies on rounding, we need to figure out the thresholds for the categories. </a:t>
            </a:r>
          </a:p>
          <a:p>
            <a:r>
              <a:rPr lang="en-US" dirty="0"/>
              <a:t>These thresholds are: 0.5 and 1.5.</a:t>
            </a:r>
          </a:p>
          <a:p>
            <a:pPr lvl="1"/>
            <a:r>
              <a:rPr lang="en-US" dirty="0"/>
              <a:t>Before 0.5, we have category 0. </a:t>
            </a:r>
          </a:p>
          <a:p>
            <a:pPr lvl="1"/>
            <a:r>
              <a:rPr lang="en-US" dirty="0"/>
              <a:t>Between 0.5 and 1.5, we have category 1</a:t>
            </a:r>
          </a:p>
          <a:p>
            <a:pPr lvl="1"/>
            <a:r>
              <a:rPr lang="en-US" dirty="0"/>
              <a:t>After 1.5, we have category 2.</a:t>
            </a:r>
          </a:p>
        </p:txBody>
      </p:sp>
    </p:spTree>
    <p:extLst>
      <p:ext uri="{BB962C8B-B14F-4D97-AF65-F5344CB8AC3E}">
        <p14:creationId xmlns:p14="http://schemas.microsoft.com/office/powerpoint/2010/main" val="318590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C8DE-DB53-8466-8CBC-52A15CD4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Decision Boundaries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5A620-E34D-275B-3723-6BD43DF2AB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Here is the model with the encoding: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=−0.3384+0.1717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+0.0078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The first decision boundary, found by setting y-hat to 0.5.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107.5 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–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22.01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second decision boundary, found by setting y-hat to 1.5.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235.7 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–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22.01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graphing, the left of the first line is category 0 and right is category 1. Similarly with the second line.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5A620-E34D-275B-3723-6BD43DF2A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984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DC834A-B6D6-316A-5A2B-85E628198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8F68A-2C88-2A57-E330-A0A0D6EF6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can be used for classification, if we encode the categories numerically.</a:t>
            </a:r>
          </a:p>
          <a:p>
            <a:r>
              <a:rPr lang="en-US" dirty="0"/>
              <a:t>Once we do this, we can perform linear regression as usual but we need to round our results.</a:t>
            </a:r>
          </a:p>
          <a:p>
            <a:r>
              <a:rPr lang="en-US" dirty="0"/>
              <a:t>A testing set is used to evaluate the classification with three metrics: Accuracy, Precision, and Recall. </a:t>
            </a:r>
          </a:p>
          <a:p>
            <a:r>
              <a:rPr lang="en-US" dirty="0"/>
              <a:t>We can find the decision boundaries by solving for the appropriate values.</a:t>
            </a:r>
          </a:p>
        </p:txBody>
      </p:sp>
    </p:spTree>
    <p:extLst>
      <p:ext uri="{BB962C8B-B14F-4D97-AF65-F5344CB8AC3E}">
        <p14:creationId xmlns:p14="http://schemas.microsoft.com/office/powerpoint/2010/main" val="807799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8884C8-DEA5-4F57-8DCC-AA781E61E1B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8886</TotalTime>
  <Words>880</Words>
  <Application>Microsoft Macintosh PowerPoint</Application>
  <PresentationFormat>Custom</PresentationFormat>
  <Paragraphs>156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 2</vt:lpstr>
      <vt:lpstr>Breeze</vt:lpstr>
      <vt:lpstr>Math 769: Statistical Learning</vt:lpstr>
      <vt:lpstr>Classification with  Linear Regression</vt:lpstr>
      <vt:lpstr>Last Module</vt:lpstr>
      <vt:lpstr>Objectives</vt:lpstr>
      <vt:lpstr>Classification</vt:lpstr>
      <vt:lpstr>Encoding</vt:lpstr>
      <vt:lpstr>Training Set</vt:lpstr>
      <vt:lpstr>Performing Linear Regression </vt:lpstr>
      <vt:lpstr>How good was the classification?</vt:lpstr>
      <vt:lpstr>Accuracy</vt:lpstr>
      <vt:lpstr>Accuracy</vt:lpstr>
      <vt:lpstr>Metrics by Class: Precision</vt:lpstr>
      <vt:lpstr>Precision</vt:lpstr>
      <vt:lpstr>Metrics by Class: Recall</vt:lpstr>
      <vt:lpstr>Recall</vt:lpstr>
      <vt:lpstr>Precision vs. Recall</vt:lpstr>
      <vt:lpstr>How might you find the lines that separate the categories?</vt:lpstr>
      <vt:lpstr>Decision Boundaries</vt:lpstr>
      <vt:lpstr>Calculating Decision Boundaries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26</cp:revision>
  <dcterms:created xsi:type="dcterms:W3CDTF">2019-02-13T16:04:21Z</dcterms:created>
  <dcterms:modified xsi:type="dcterms:W3CDTF">2023-12-04T00:28:33Z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2023-11-14T20:31:11Z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38f12211-1952-4ebd-bf6c-fe807a9d12b5</vt:lpwstr>
  </property>
  <property fmtid="{D5CDD505-2E9C-101B-9397-08002B2CF9AE}" pid="9" name="MSIP_Label_f2dee603-0001-4639-81f8-0608a53322f1_ContentBits">
    <vt:lpwstr>0</vt:lpwstr>
  </property>
</Properties>
</file>