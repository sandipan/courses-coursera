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3"/>
  </p:notesMasterIdLst>
  <p:sldIdLst>
    <p:sldId id="259" r:id="rId5"/>
    <p:sldId id="262" r:id="rId6"/>
    <p:sldId id="263" r:id="rId7"/>
    <p:sldId id="269" r:id="rId8"/>
    <p:sldId id="280" r:id="rId9"/>
    <p:sldId id="270" r:id="rId10"/>
    <p:sldId id="272" r:id="rId11"/>
    <p:sldId id="281" r:id="rId12"/>
    <p:sldId id="273" r:id="rId13"/>
    <p:sldId id="274" r:id="rId14"/>
    <p:sldId id="282" r:id="rId15"/>
    <p:sldId id="283" r:id="rId16"/>
    <p:sldId id="301" r:id="rId17"/>
    <p:sldId id="302" r:id="rId18"/>
    <p:sldId id="303" r:id="rId19"/>
    <p:sldId id="304" r:id="rId20"/>
    <p:sldId id="305" r:id="rId21"/>
    <p:sldId id="279" r:id="rId22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32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552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12/3/23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linear algebra comes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A3C0B-F0DF-7644-AE6F-69278FE840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3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Logistic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Lesson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Linear Discriminant Analysis (LDA)—a method of classification.</a:t>
                </a:r>
              </a:p>
              <a:p>
                <a:r>
                  <a:rPr lang="en-US" altLang="en-US" dirty="0"/>
                  <a:t>This method attempts to maximize an estimate of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=1, …,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altLang="en-US" dirty="0"/>
                  <a:t>It relies on Bayes’ Rule and assumes the classes are normally distributed.</a:t>
                </a:r>
              </a:p>
              <a:p>
                <a:r>
                  <a:rPr lang="en-US" altLang="en-US" dirty="0"/>
                  <a:t>It then constructs estimates for the mean of each class, the variance-covariance matrix, and the prior. </a:t>
                </a:r>
              </a:p>
            </p:txBody>
          </p:sp>
        </mc:Choice>
        <mc:Fallback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Describe how logistic regression relates to LDA.</a:t>
            </a:r>
          </a:p>
          <a:p>
            <a:r>
              <a:rPr lang="en-US" altLang="en-US" dirty="0"/>
              <a:t>Explain how logistic regression maximizes likelihood.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2E93-0C48-B90B-D91D-1C6EBB35A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Consequence of LDA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8ABF0C-46EB-506D-5EF2-140FCC220C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Let’s consider only two classes. </a:t>
                </a:r>
              </a:p>
              <a:p>
                <a:r>
                  <a:rPr lang="en-US" dirty="0"/>
                  <a:t>LDA uses a log() transformation to construct the discriminant function, which is linear in the input variables: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/>
                  <a:t>A consequence is that we can assume the log odds is also linear: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=2|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8ABF0C-46EB-506D-5EF2-140FCC220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53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682B7-438E-C306-8136-E6BB76E5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A8CF1-8317-0B55-01F0-A06EA12389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 logistic regression, this is where we start!</a:t>
                </a:r>
              </a:p>
              <a:p>
                <a:r>
                  <a:rPr lang="en-US" dirty="0"/>
                  <a:t>We assume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=2|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an intercept and coefficients that need to be estimated. </a:t>
                </a:r>
              </a:p>
              <a:p>
                <a:r>
                  <a:rPr lang="en-US" dirty="0"/>
                  <a:t>In other words, we assume the log odds of category 1 and category 2 is a </a:t>
                </a:r>
                <a:r>
                  <a:rPr lang="en-US" i="1" dirty="0"/>
                  <a:t>linear</a:t>
                </a:r>
                <a:r>
                  <a:rPr lang="en-US" dirty="0"/>
                  <a:t> function and we try to estimate it.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FA8CF1-8317-0B55-01F0-A06EA12389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r="-1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119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416D-24AB-E177-D3F6-9527D0C9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Categories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083858-B578-B873-5C00-8D110DB995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When logistic regression is specifically for two categories, we have the property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Using this fact, we can simplify the previous assumption of linearity to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function is known as a logistic function (sometimes logit) and follows a sigmoid curve.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083858-B578-B873-5C00-8D110DB995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1104" b="-1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868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1A44-1073-E023-B20B-0A20A8E7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Logistic/Sigmoid Curve</a:t>
            </a:r>
          </a:p>
        </p:txBody>
      </p:sp>
      <p:pic>
        <p:nvPicPr>
          <p:cNvPr id="5" name="Content Placeholder 4" descr="A graph with a blue line&#10;&#10;Description automatically generated">
            <a:extLst>
              <a:ext uri="{FF2B5EF4-FFF2-40B4-BE49-F238E27FC236}">
                <a16:creationId xmlns:a16="http://schemas.microsoft.com/office/drawing/2014/main" id="{EB9B2E7A-6A4C-6AB5-D08D-ADCC3E3B8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8254" y="2013960"/>
            <a:ext cx="10147609" cy="7075628"/>
          </a:xfrm>
        </p:spPr>
      </p:pic>
    </p:spTree>
    <p:extLst>
      <p:ext uri="{BB962C8B-B14F-4D97-AF65-F5344CB8AC3E}">
        <p14:creationId xmlns:p14="http://schemas.microsoft.com/office/powerpoint/2010/main" val="2610890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416D-24AB-E177-D3F6-9527D0C9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Categories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083858-B578-B873-5C00-8D110DB995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This expression can be extended to multiple categories, with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k=1, …, K-1, the number of categories. When k=K, our equation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m:rPr>
                                  <m:nor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Think about the above equations and see that they should sum to 1.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083858-B578-B873-5C00-8D110DB995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657" r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802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CD36-2D5B-8332-B5B2-72495C12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992AD-EBC0-2517-A32D-2C27A97CA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keeping with Statistical Decision Theory, our aim is to maximize our probability of correct classification: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n is the number of samples and y values are ordinals.</a:t>
                </a:r>
              </a:p>
              <a:p>
                <a:r>
                  <a:rPr lang="en-US" dirty="0"/>
                  <a:t>Maximizing the log achieves the same end.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992AD-EBC0-2517-A32D-2C27A97CA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1234" b="-43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56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CD36-2D5B-8332-B5B2-72495C12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Log-Likelihood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992AD-EBC0-2517-A32D-2C27A97CA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keeping with Statistical Decision Theory, our aim is to maximize our probability of correct classification: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Our goal is to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in order to maximize this log-likelihood.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992AD-EBC0-2517-A32D-2C27A97CA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1234" b="-11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715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ACD36-2D5B-8332-B5B2-72495C12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Log-Likelihood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992AD-EBC0-2517-A32D-2C27A97CA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keeping with Statistical Decision Theory, our aim is to maximize our probability of correct classification: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Our goal is to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in order to maximize this log-likelihood.</a:t>
                </a:r>
              </a:p>
              <a:p>
                <a:r>
                  <a:rPr lang="en-US" dirty="0"/>
                  <a:t>Unlike linear regression, there is no closed-form solution.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F992AD-EBC0-2517-A32D-2C27A97CA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1234" b="-11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152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19D1710-18A7-C83C-8E26-ED529C23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4" y="4641341"/>
            <a:ext cx="16084552" cy="1004317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How do you maximize in general?</a:t>
            </a:r>
          </a:p>
        </p:txBody>
      </p:sp>
    </p:spTree>
    <p:extLst>
      <p:ext uri="{BB962C8B-B14F-4D97-AF65-F5344CB8AC3E}">
        <p14:creationId xmlns:p14="http://schemas.microsoft.com/office/powerpoint/2010/main" val="3607097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41D7-147C-060E-3481-85E58E630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Models in General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B5DDD-3213-868F-2991-FBDF88EDA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way to maximize model parameters is with Calculus. 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Find the derivative(s) with respect to the parameter(s).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Set the derivative to 0 and solve for critical values of the parameter(s).]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Check that the second derivative is negative to ensure the critical point is a maximum. </a:t>
            </a:r>
          </a:p>
        </p:txBody>
      </p:sp>
    </p:spTree>
    <p:extLst>
      <p:ext uri="{BB962C8B-B14F-4D97-AF65-F5344CB8AC3E}">
        <p14:creationId xmlns:p14="http://schemas.microsoft.com/office/powerpoint/2010/main" val="3711103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41D7-147C-060E-3481-85E58E630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Solvers for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B5DDD-3213-868F-2991-FBDF88EDA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Solvers for Logistic Regression use derivatives and Newton’s method to find the coefficients. </a:t>
            </a:r>
          </a:p>
          <a:p>
            <a:r>
              <a:rPr lang="en-US" dirty="0"/>
              <a:t>The textbook discusses this in detail on page 120. </a:t>
            </a:r>
          </a:p>
        </p:txBody>
      </p:sp>
    </p:spTree>
    <p:extLst>
      <p:ext uri="{BB962C8B-B14F-4D97-AF65-F5344CB8AC3E}">
        <p14:creationId xmlns:p14="http://schemas.microsoft.com/office/powerpoint/2010/main" val="3113157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73F8FA-D5AB-BE78-DE16-5788388C10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Let’s revisit the political party example from Lesson 1. </a:t>
            </a:r>
          </a:p>
          <a:p>
            <a:r>
              <a:rPr lang="en-US" dirty="0"/>
              <a:t>Logistic Regression is very effective as a classifier. </a:t>
            </a:r>
          </a:p>
          <a:p>
            <a:r>
              <a:rPr lang="en-US" dirty="0"/>
              <a:t>Visually, this is better than linear regression</a:t>
            </a:r>
          </a:p>
        </p:txBody>
      </p:sp>
      <p:pic>
        <p:nvPicPr>
          <p:cNvPr id="6" name="Content Placeholder 5" descr="A diagram of different colored squares&#10;&#10;Description automatically generated">
            <a:extLst>
              <a:ext uri="{FF2B5EF4-FFF2-40B4-BE49-F238E27FC236}">
                <a16:creationId xmlns:a16="http://schemas.microsoft.com/office/drawing/2014/main" id="{47EDC09E-85C7-9949-C53E-C8C00C1832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22420" y="2089294"/>
            <a:ext cx="8235308" cy="6665708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53D7E0C-3EC6-FC1E-2159-53E1F87E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329003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73F8FA-D5AB-BE78-DE16-5788388C10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confusion matrix illustrates that all but 1 of the testing set were correctly classified.</a:t>
            </a:r>
          </a:p>
          <a:p>
            <a:r>
              <a:rPr lang="en-US" dirty="0"/>
              <a:t>Accuracy: 99%</a:t>
            </a:r>
          </a:p>
          <a:p>
            <a:r>
              <a:rPr lang="en-US" dirty="0"/>
              <a:t>Average Precision: 99%</a:t>
            </a:r>
          </a:p>
          <a:p>
            <a:r>
              <a:rPr lang="en-US" dirty="0"/>
              <a:t>Average Recall: 99%</a:t>
            </a:r>
          </a:p>
          <a:p>
            <a:r>
              <a:rPr lang="en-US" dirty="0"/>
              <a:t>So this is a very effective technique!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3D7E0C-3EC6-FC1E-2159-53E1F87E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Metrics</a:t>
            </a:r>
          </a:p>
        </p:txBody>
      </p:sp>
      <p:pic>
        <p:nvPicPr>
          <p:cNvPr id="7" name="Content Placeholder 6" descr="A graph of a number&#10;&#10;Description automatically generated with medium confidence">
            <a:extLst>
              <a:ext uri="{FF2B5EF4-FFF2-40B4-BE49-F238E27FC236}">
                <a16:creationId xmlns:a16="http://schemas.microsoft.com/office/drawing/2014/main" id="{37160A01-E0A8-2D5C-2584-1FA15A6A0C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508492" y="2213570"/>
            <a:ext cx="7824866" cy="6387227"/>
          </a:xfrm>
        </p:spPr>
      </p:pic>
    </p:spTree>
    <p:extLst>
      <p:ext uri="{BB962C8B-B14F-4D97-AF65-F5344CB8AC3E}">
        <p14:creationId xmlns:p14="http://schemas.microsoft.com/office/powerpoint/2010/main" val="1108002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Logistic regression relies on assuming the log-odds are linear.</a:t>
            </a:r>
          </a:p>
          <a:p>
            <a:r>
              <a:rPr lang="en-US" dirty="0"/>
              <a:t>This is used to maximize the conditional probabilities, which take the form of a logistic curve. </a:t>
            </a:r>
          </a:p>
          <a:p>
            <a:r>
              <a:rPr lang="en-US" dirty="0"/>
              <a:t>The result is a function that smoothly categorizes values to 0 or 1 or something </a:t>
            </a:r>
            <a:r>
              <a:rPr lang="en-US"/>
              <a:t>in between.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0667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CBB450CE-B247-4F77-A27C-BF3B2F134BA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33114</TotalTime>
  <Words>694</Words>
  <Application>Microsoft Macintosh PowerPoint</Application>
  <PresentationFormat>Custom</PresentationFormat>
  <Paragraphs>79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 Math</vt:lpstr>
      <vt:lpstr>Wingdings 2</vt:lpstr>
      <vt:lpstr>Breeze</vt:lpstr>
      <vt:lpstr>Math 769: Statistical Learning</vt:lpstr>
      <vt:lpstr>Logistic Regression</vt:lpstr>
      <vt:lpstr>Last Lesson</vt:lpstr>
      <vt:lpstr>Objectives</vt:lpstr>
      <vt:lpstr>Consequence of LDA</vt:lpstr>
      <vt:lpstr>Logistic Regression</vt:lpstr>
      <vt:lpstr>Two Categories</vt:lpstr>
      <vt:lpstr>Logistic/Sigmoid Curve</vt:lpstr>
      <vt:lpstr>Multiple Categories</vt:lpstr>
      <vt:lpstr>Maximizing Likelihood</vt:lpstr>
      <vt:lpstr>Maximizing Log-Likelihood</vt:lpstr>
      <vt:lpstr>Maximizing Log-Likelihood</vt:lpstr>
      <vt:lpstr>How do you maximize in general?</vt:lpstr>
      <vt:lpstr>Maximizing Models in General</vt:lpstr>
      <vt:lpstr>Solvers for Logistic Regression</vt:lpstr>
      <vt:lpstr>Example</vt:lpstr>
      <vt:lpstr>Example Metrics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35</cp:revision>
  <dcterms:created xsi:type="dcterms:W3CDTF">2019-02-13T16:04:21Z</dcterms:created>
  <dcterms:modified xsi:type="dcterms:W3CDTF">2023-12-04T05:39:17Z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