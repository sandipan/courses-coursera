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3"/>
  </p:notesMasterIdLst>
  <p:sldIdLst>
    <p:sldId id="259" r:id="rId5"/>
    <p:sldId id="262" r:id="rId6"/>
    <p:sldId id="263" r:id="rId7"/>
    <p:sldId id="289" r:id="rId8"/>
    <p:sldId id="264" r:id="rId9"/>
    <p:sldId id="265" r:id="rId10"/>
    <p:sldId id="275" r:id="rId11"/>
    <p:sldId id="291" r:id="rId12"/>
    <p:sldId id="281" r:id="rId13"/>
    <p:sldId id="292" r:id="rId14"/>
    <p:sldId id="296" r:id="rId15"/>
    <p:sldId id="303" r:id="rId16"/>
    <p:sldId id="297" r:id="rId17"/>
    <p:sldId id="293" r:id="rId18"/>
    <p:sldId id="295" r:id="rId19"/>
    <p:sldId id="301" r:id="rId20"/>
    <p:sldId id="302" r:id="rId21"/>
    <p:sldId id="294" r:id="rId22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87"/>
    <p:restoredTop sz="86985"/>
  </p:normalViewPr>
  <p:slideViewPr>
    <p:cSldViewPr snapToGrid="0" snapToObjects="1">
      <p:cViewPr varScale="1">
        <p:scale>
          <a:sx n="75" d="100"/>
          <a:sy n="75" d="100"/>
        </p:scale>
        <p:origin x="352" y="18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-72" y="-15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accent1"/>
                </a:solidFill>
              </a:rPr>
              <a:t>Optional Homework Assignments</a:t>
            </a:r>
            <a:r>
              <a:rPr lang="en-US" sz="2800" b="1" baseline="0" dirty="0">
                <a:solidFill>
                  <a:schemeClr val="accent1"/>
                </a:solidFill>
              </a:rPr>
              <a:t> and Midterm Grades</a:t>
            </a:r>
            <a:endParaRPr lang="en-US" sz="2800" b="1" dirty="0">
              <a:solidFill>
                <a:schemeClr val="accent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101600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layout>
                <c:manualLayout>
                  <c:x val="-0.44646131511361825"/>
                  <c:y val="0.2035623397952448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000" b="1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aseline="0" dirty="0"/>
                      <a:t>Y = 14.197X + 19.261</a:t>
                    </a:r>
                    <a:endParaRPr lang="en-US" dirty="0"/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trendline>
            <c:spPr>
              <a:ln w="47625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Sheet1!$A$2:$A$9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</c:v>
                </c:pt>
                <c:pt idx="3">
                  <c:v>5</c:v>
                </c:pt>
                <c:pt idx="4">
                  <c:v>0</c:v>
                </c:pt>
                <c:pt idx="5">
                  <c:v>6</c:v>
                </c:pt>
                <c:pt idx="6">
                  <c:v>3</c:v>
                </c:pt>
                <c:pt idx="7">
                  <c:v>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79</c:v>
                </c:pt>
                <c:pt idx="2">
                  <c:v>33</c:v>
                </c:pt>
                <c:pt idx="3">
                  <c:v>98</c:v>
                </c:pt>
                <c:pt idx="4">
                  <c:v>17</c:v>
                </c:pt>
                <c:pt idx="5">
                  <c:v>97</c:v>
                </c:pt>
                <c:pt idx="6">
                  <c:v>61</c:v>
                </c:pt>
                <c:pt idx="7">
                  <c:v>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C40-D94D-BE0A-63E61D41E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5658224"/>
        <c:axId val="1946932223"/>
      </c:scatterChart>
      <c:valAx>
        <c:axId val="1165658224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6932223"/>
        <c:crosses val="autoZero"/>
        <c:crossBetween val="midCat"/>
      </c:valAx>
      <c:valAx>
        <c:axId val="1946932223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5658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FA038-00B2-064D-A24A-0CE497F9A4BE}" type="datetimeFigureOut">
              <a:rPr lang="en-US" smtClean="0"/>
              <a:t>12/2/23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A6BCB-3EBE-274F-BFE1-025F5652C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A6BCB-3EBE-274F-BFE1-025F5652CC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35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our introduction, we saw an example of linear regression. Here, there is only one independent variable: the number of optional homework assignments completed (P=1). The midterm score is the dependent variable.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7E678-CF17-4E45-AC38-DD227A32DB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02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example. There are two independent variables, age and weight (so P = 2), and one dependent variable, blood pressure (abbreviated as BP).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A6BCB-3EBE-274F-BFE1-025F5652CC2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66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that several of the points don’t fall directly on the model. The vertical lines indicating distance demonstrate an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A6BCB-3EBE-274F-BFE1-025F5652CC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75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famous quote is attributed to George Box from 1976. </a:t>
            </a:r>
          </a:p>
          <a:p>
            <a:endParaRPr lang="en-US" dirty="0"/>
          </a:p>
          <a:p>
            <a:r>
              <a:rPr lang="en-US" dirty="0"/>
              <a:t>Whenever you see the hat notation, what’s being communicated is that this is an estimated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A6BCB-3EBE-274F-BFE1-025F5652CC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28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real world, this information is hidden! If we knew it, we </a:t>
            </a:r>
            <a:r>
              <a:rPr lang="en-US" dirty="0" err="1"/>
              <a:t>wounld’t</a:t>
            </a:r>
            <a:r>
              <a:rPr lang="en-US" dirty="0"/>
              <a:t> bother doing all this computation.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A6BCB-3EBE-274F-BFE1-025F5652CC2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2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03C889E-2F34-465D-1B4F-2B0C989FB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33"/>
    </mc:Choice>
    <mc:Fallback>
      <p:transition spd="slow" advTm="49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What is Linear Regression?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35"/>
    </mc:Choice>
    <mc:Fallback>
      <p:transition spd="slow" advTm="493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In module 1, we discussed the elements of the statistical learning problem: </a:t>
            </a:r>
          </a:p>
          <a:p>
            <a:pPr lvl="1"/>
            <a:r>
              <a:rPr lang="en-US" altLang="en-US" dirty="0"/>
              <a:t>The dataset</a:t>
            </a:r>
          </a:p>
          <a:p>
            <a:pPr lvl="1"/>
            <a:r>
              <a:rPr lang="en-US" altLang="en-US" dirty="0"/>
              <a:t>The model</a:t>
            </a:r>
          </a:p>
          <a:p>
            <a:pPr lvl="1"/>
            <a:r>
              <a:rPr lang="en-US" altLang="en-US" dirty="0"/>
              <a:t>The inference</a:t>
            </a:r>
          </a:p>
          <a:p>
            <a:r>
              <a:rPr lang="en-US" altLang="en-US" dirty="0"/>
              <a:t>We also discussed various considerations needed to define a model that will allow for good inference. </a:t>
            </a:r>
          </a:p>
          <a:p>
            <a:r>
              <a:rPr lang="en-US" altLang="en-US" dirty="0"/>
              <a:t>We concluded with a formal treatment of the problem and saw that we need to consider the average loss pointwise with the dataset.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735"/>
    </mc:Choice>
    <mc:Fallback>
      <p:transition spd="slow" advTm="717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FD150-011C-1B1A-8F8C-090BD6EA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for this Lesson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B8A36D-B56C-711B-0794-019912738C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Describe the main assumption of linear regression.</a:t>
                </a:r>
              </a:p>
              <a:p>
                <a:r>
                  <a:rPr lang="en-US" dirty="0"/>
                  <a:t>Write down the assumed equation for the dependent variable.</a:t>
                </a:r>
              </a:p>
              <a:p>
                <a:r>
                  <a:rPr lang="en-US" dirty="0"/>
                  <a:t>Define the family of functions from which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comes from.</a:t>
                </a:r>
              </a:p>
              <a:p>
                <a:r>
                  <a:rPr lang="en-US" dirty="0"/>
                  <a:t>List what shapes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be. </a:t>
                </a:r>
              </a:p>
              <a:p>
                <a:r>
                  <a:rPr lang="en-US" dirty="0"/>
                  <a:t>Understand why the estimated model is different from the actual model, which explains the “hat” notation.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B8A36D-B56C-711B-0794-019912738C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780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401"/>
    </mc:Choice>
    <mc:Fallback>
      <p:transition spd="slow" advTm="3940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9797-2509-6F4A-EDC6-26F2A0DC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Assumption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42DBD0-1372-C3A9-D5E1-CD3D94BB7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>
                    <a:solidFill>
                      <a:schemeClr val="bg1"/>
                    </a:solidFill>
                  </a:rPr>
                  <a:t>linear regression </a:t>
                </a:r>
                <a:r>
                  <a:rPr lang="en-US" dirty="0"/>
                  <a:t>model assumes a linear relationship between a dependent variable and its independent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More formally, we assume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some set of unknown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42DBD0-1372-C3A9-D5E1-CD3D94BB7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232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231"/>
    </mc:Choice>
    <mc:Fallback>
      <p:transition spd="slow" advTm="222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9797-2509-6F4A-EDC6-26F2A0DC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42DBD0-1372-C3A9-D5E1-CD3D94BB7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Because of this assumption, the family of functions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comes from is of the form</a:t>
                </a:r>
              </a:p>
              <a:p>
                <a:pPr marL="698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called the </a:t>
                </a:r>
                <a:r>
                  <a:rPr lang="en-US" b="1" dirty="0">
                    <a:solidFill>
                      <a:schemeClr val="bg1"/>
                    </a:solidFill>
                  </a:rPr>
                  <a:t>intercept</a:t>
                </a:r>
                <a:r>
                  <a:rPr lang="en-US" dirty="0"/>
                  <a:t> (math/stats) or </a:t>
                </a:r>
                <a:r>
                  <a:rPr lang="en-US" b="1" dirty="0">
                    <a:solidFill>
                      <a:schemeClr val="bg1"/>
                    </a:solidFill>
                  </a:rPr>
                  <a:t>bias</a:t>
                </a:r>
                <a:r>
                  <a:rPr lang="en-US" dirty="0"/>
                  <a:t> (machine learning)</a:t>
                </a:r>
              </a:p>
              <a:p>
                <a:r>
                  <a:rPr lang="en-US" dirty="0"/>
                  <a:t>The other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’s</a:t>
                </a:r>
                <a:r>
                  <a:rPr lang="en-US" b="1" dirty="0">
                    <a:solidFill>
                      <a:schemeClr val="bg1"/>
                    </a:solidFill>
                  </a:rPr>
                  <a:t> </a:t>
                </a:r>
                <a:r>
                  <a:rPr lang="en-US" dirty="0"/>
                  <a:t>are called the </a:t>
                </a:r>
                <a:r>
                  <a:rPr lang="en-US" b="1" dirty="0">
                    <a:solidFill>
                      <a:schemeClr val="bg1"/>
                    </a:solidFill>
                  </a:rPr>
                  <a:t>slopes</a:t>
                </a:r>
                <a:r>
                  <a:rPr lang="en-US" dirty="0"/>
                  <a:t> (math/stats) or </a:t>
                </a:r>
                <a:r>
                  <a:rPr lang="en-US" b="1" dirty="0">
                    <a:solidFill>
                      <a:schemeClr val="bg1"/>
                    </a:solidFill>
                  </a:rPr>
                  <a:t>weights</a:t>
                </a:r>
                <a:r>
                  <a:rPr lang="en-US" dirty="0"/>
                  <a:t> (machine learning) for each independent variable.</a:t>
                </a:r>
                <a:r>
                  <a:rPr lang="en-US" b="1" dirty="0">
                    <a:solidFill>
                      <a:schemeClr val="bg1"/>
                    </a:solidFill>
                  </a:rPr>
                  <a:t> 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42DBD0-1372-C3A9-D5E1-CD3D94BB7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596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838"/>
    </mc:Choice>
    <mc:Fallback>
      <p:transition spd="slow" advTm="5383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7DB7CD-29DC-62B2-D31F-192BDE5B447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5"/>
          <a:ext cx="7680324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4273917134"/>
                    </a:ext>
                  </a:extLst>
                </a:gridCol>
                <a:gridCol w="2977273">
                  <a:extLst>
                    <a:ext uri="{9D8B030D-6E8A-4147-A177-3AD203B41FA5}">
                      <a16:colId xmlns:a16="http://schemas.microsoft.com/office/drawing/2014/main" val="3353417482"/>
                    </a:ext>
                  </a:extLst>
                </a:gridCol>
                <a:gridCol w="2142943">
                  <a:extLst>
                    <a:ext uri="{9D8B030D-6E8A-4147-A177-3AD203B41FA5}">
                      <a16:colId xmlns:a16="http://schemas.microsoft.com/office/drawing/2014/main" val="1010915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Optional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Hw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Midterm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318335"/>
                  </a:ext>
                </a:extLst>
              </a:tr>
              <a:tr h="531676">
                <a:tc>
                  <a:txBody>
                    <a:bodyPr/>
                    <a:lstStyle/>
                    <a:p>
                      <a:r>
                        <a:rPr lang="en-US" dirty="0"/>
                        <a:t>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335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Javier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Mei 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957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55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7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52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Aiden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80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636546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CE8CA0C4-9FE6-E74C-7756-E38D87B0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Optional </a:t>
            </a:r>
            <a:r>
              <a:rPr lang="en-US" dirty="0" err="1"/>
              <a:t>Hw</a:t>
            </a:r>
            <a:r>
              <a:rPr lang="en-US" dirty="0"/>
              <a:t> and Midterm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375FEBB-57B5-B087-2625-7FF5F765200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502775" y="2085975"/>
          <a:ext cx="7680325" cy="651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13575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171"/>
    </mc:Choice>
    <mc:Fallback>
      <p:transition spd="slow" advTm="917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0E1DA1-757B-8045-87EB-217D9443F00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83891056"/>
              </p:ext>
            </p:extLst>
          </p:nvPr>
        </p:nvGraphicFramePr>
        <p:xfrm>
          <a:off x="1098550" y="2085974"/>
          <a:ext cx="7680324" cy="6514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3431382414"/>
                    </a:ext>
                  </a:extLst>
                </a:gridCol>
                <a:gridCol w="2560108">
                  <a:extLst>
                    <a:ext uri="{9D8B030D-6E8A-4147-A177-3AD203B41FA5}">
                      <a16:colId xmlns:a16="http://schemas.microsoft.com/office/drawing/2014/main" val="1688929762"/>
                    </a:ext>
                  </a:extLst>
                </a:gridCol>
                <a:gridCol w="2560108">
                  <a:extLst>
                    <a:ext uri="{9D8B030D-6E8A-4147-A177-3AD203B41FA5}">
                      <a16:colId xmlns:a16="http://schemas.microsoft.com/office/drawing/2014/main" val="4280345499"/>
                    </a:ext>
                  </a:extLst>
                </a:gridCol>
              </a:tblGrid>
              <a:tr h="7430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5408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3438463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5963544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28520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5250458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8459337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321115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5345362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711233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8943659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5626592"/>
                  </a:ext>
                </a:extLst>
              </a:tr>
            </a:tbl>
          </a:graphicData>
        </a:graphic>
      </p:graphicFrame>
      <p:pic>
        <p:nvPicPr>
          <p:cNvPr id="11" name="Content Placeholder 10" descr="A graph with blue points">
            <a:extLst>
              <a:ext uri="{FF2B5EF4-FFF2-40B4-BE49-F238E27FC236}">
                <a16:creationId xmlns:a16="http://schemas.microsoft.com/office/drawing/2014/main" id="{B547B730-2403-99C2-0227-75D70EE7B3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030122" y="2085974"/>
            <a:ext cx="8625261" cy="651482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142589E-493D-D347-A5F1-793E3736C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Estimating Blood Pressure</a:t>
            </a:r>
          </a:p>
        </p:txBody>
      </p:sp>
    </p:spTree>
    <p:extLst>
      <p:ext uri="{BB962C8B-B14F-4D97-AF65-F5344CB8AC3E}">
        <p14:creationId xmlns:p14="http://schemas.microsoft.com/office/powerpoint/2010/main" val="2586000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C14E-B10E-885B-6909-4F121784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What shape will the linear model take?</a:t>
            </a:r>
          </a:p>
        </p:txBody>
      </p:sp>
    </p:spTree>
    <p:extLst>
      <p:ext uri="{BB962C8B-B14F-4D97-AF65-F5344CB8AC3E}">
        <p14:creationId xmlns:p14="http://schemas.microsoft.com/office/powerpoint/2010/main" val="65145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0E1DA1-757B-8045-87EB-217D9443F00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4"/>
          <a:ext cx="7680324" cy="6514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3431382414"/>
                    </a:ext>
                  </a:extLst>
                </a:gridCol>
                <a:gridCol w="2560108">
                  <a:extLst>
                    <a:ext uri="{9D8B030D-6E8A-4147-A177-3AD203B41FA5}">
                      <a16:colId xmlns:a16="http://schemas.microsoft.com/office/drawing/2014/main" val="1688929762"/>
                    </a:ext>
                  </a:extLst>
                </a:gridCol>
                <a:gridCol w="2560108">
                  <a:extLst>
                    <a:ext uri="{9D8B030D-6E8A-4147-A177-3AD203B41FA5}">
                      <a16:colId xmlns:a16="http://schemas.microsoft.com/office/drawing/2014/main" val="4280345499"/>
                    </a:ext>
                  </a:extLst>
                </a:gridCol>
              </a:tblGrid>
              <a:tr h="7430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5408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3438463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5963544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28520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5250458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8459337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321115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5345362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711233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8943659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5626592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142589E-493D-D347-A5F1-793E3736C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Blood Pressure</a:t>
            </a:r>
          </a:p>
        </p:txBody>
      </p:sp>
      <p:pic>
        <p:nvPicPr>
          <p:cNvPr id="5" name="Content Placeholder 4" descr="A graph with a red plane and blue points">
            <a:extLst>
              <a:ext uri="{FF2B5EF4-FFF2-40B4-BE49-F238E27FC236}">
                <a16:creationId xmlns:a16="http://schemas.microsoft.com/office/drawing/2014/main" id="{5576C956-1DD1-618F-1714-E36DC18AEC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39298" y="2085974"/>
            <a:ext cx="8406919" cy="6514825"/>
          </a:xfrm>
        </p:spPr>
      </p:pic>
    </p:spTree>
    <p:extLst>
      <p:ext uri="{BB962C8B-B14F-4D97-AF65-F5344CB8AC3E}">
        <p14:creationId xmlns:p14="http://schemas.microsoft.com/office/powerpoint/2010/main" val="121149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AD4B-8867-04C7-A25B-43A8B1DC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Models Geometrically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275E83-8B48-25F1-878C-64D290E721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Linear models can be </a:t>
                </a:r>
              </a:p>
              <a:p>
                <a:pPr lvl="1"/>
                <a:r>
                  <a:rPr lang="en-US" dirty="0"/>
                  <a:t>lines (1 independent variable), </a:t>
                </a:r>
              </a:p>
              <a:p>
                <a:pPr lvl="1"/>
                <a:r>
                  <a:rPr lang="en-US" dirty="0"/>
                  <a:t>planes (2 independent variables), or </a:t>
                </a:r>
              </a:p>
              <a:p>
                <a:pPr lvl="1"/>
                <a:r>
                  <a:rPr lang="en-US" dirty="0"/>
                  <a:t>hyperplanes (3 or more independent variables)</a:t>
                </a:r>
              </a:p>
              <a:p>
                <a:pPr marL="0" indent="0">
                  <a:buNone/>
                </a:pPr>
                <a:r>
                  <a:rPr lang="en-US" dirty="0"/>
                  <a:t>in the space defined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275E83-8B48-25F1-878C-64D290E721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331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EECF-DC90-20DD-5B2F-13721115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 on Geometry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CF184-4AF8-020C-67BC-3173D7C492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Although linear regression is linear with respect to the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, it may </a:t>
                </a:r>
                <a:r>
                  <a:rPr lang="en-US" b="1" i="1" dirty="0"/>
                  <a:t>not </a:t>
                </a:r>
                <a:r>
                  <a:rPr lang="en-US" dirty="0"/>
                  <a:t>be linear with respect to the data. Why?</a:t>
                </a:r>
              </a:p>
              <a:p>
                <a:pPr lvl="1"/>
                <a:r>
                  <a:rPr lang="en-US" dirty="0"/>
                  <a:t>Variables could be transformations of data such as the log or square root.</a:t>
                </a:r>
              </a:p>
              <a:p>
                <a:pPr lvl="1"/>
                <a:r>
                  <a:rPr lang="en-US" dirty="0"/>
                  <a:t>Variables could be a basis expansion,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dirty="0"/>
                  <a:t>, …	</a:t>
                </a:r>
              </a:p>
              <a:p>
                <a:pPr lvl="1"/>
                <a:r>
                  <a:rPr lang="en-US" dirty="0"/>
                  <a:t>Variables could represent interactions between other variables, 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CF184-4AF8-020C-67BC-3173D7C492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727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0E1DA1-757B-8045-87EB-217D9443F00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98550" y="2085974"/>
          <a:ext cx="7680324" cy="6514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108">
                  <a:extLst>
                    <a:ext uri="{9D8B030D-6E8A-4147-A177-3AD203B41FA5}">
                      <a16:colId xmlns:a16="http://schemas.microsoft.com/office/drawing/2014/main" val="3431382414"/>
                    </a:ext>
                  </a:extLst>
                </a:gridCol>
                <a:gridCol w="2560108">
                  <a:extLst>
                    <a:ext uri="{9D8B030D-6E8A-4147-A177-3AD203B41FA5}">
                      <a16:colId xmlns:a16="http://schemas.microsoft.com/office/drawing/2014/main" val="1688929762"/>
                    </a:ext>
                  </a:extLst>
                </a:gridCol>
                <a:gridCol w="2560108">
                  <a:extLst>
                    <a:ext uri="{9D8B030D-6E8A-4147-A177-3AD203B41FA5}">
                      <a16:colId xmlns:a16="http://schemas.microsoft.com/office/drawing/2014/main" val="4280345499"/>
                    </a:ext>
                  </a:extLst>
                </a:gridCol>
              </a:tblGrid>
              <a:tr h="74303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35408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3438463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35963544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28520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5250458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8459337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3211150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15345362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8711233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8943659"/>
                  </a:ext>
                </a:extLst>
              </a:tr>
              <a:tr h="5771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3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05626592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142589E-493D-D347-A5F1-793E3736C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Blood Pressure</a:t>
            </a:r>
          </a:p>
        </p:txBody>
      </p:sp>
      <p:pic>
        <p:nvPicPr>
          <p:cNvPr id="5" name="Content Placeholder 4" descr="A graph with a red plane and blue points.">
            <a:extLst>
              <a:ext uri="{FF2B5EF4-FFF2-40B4-BE49-F238E27FC236}">
                <a16:creationId xmlns:a16="http://schemas.microsoft.com/office/drawing/2014/main" id="{5576C956-1DD1-618F-1714-E36DC18AEC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39298" y="2085974"/>
            <a:ext cx="8406919" cy="6514825"/>
          </a:xfrm>
        </p:spPr>
      </p:pic>
    </p:spTree>
    <p:extLst>
      <p:ext uri="{BB962C8B-B14F-4D97-AF65-F5344CB8AC3E}">
        <p14:creationId xmlns:p14="http://schemas.microsoft.com/office/powerpoint/2010/main" val="857013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014A-C857-F64B-C76C-F603DB33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True Versus the Estimated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FEF24-5221-8D2D-448C-CE593F07C5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dataset in the example is synthetic, generated from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=100+0.5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estimated linear model from the provided dataset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=93.371034+0.496403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+0.284678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Why are these not the same?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FEF24-5221-8D2D-448C-CE593F07C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380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014A-C857-F64B-C76C-F603DB33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True Versus the Estimated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FEF24-5221-8D2D-448C-CE593F07C5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 factor is the small dataset.</a:t>
                </a:r>
              </a:p>
              <a:p>
                <a:pPr lvl="1"/>
                <a:r>
                  <a:rPr lang="en-US" dirty="0"/>
                  <a:t>Small datasets have a higher probability of being skewed from the irreducible error,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“</a:t>
                </a:r>
                <a:r>
                  <a:rPr lang="en-US" i="1" dirty="0"/>
                  <a:t>All models are wrong, but some are useful.</a:t>
                </a:r>
                <a:r>
                  <a:rPr lang="en-US" dirty="0"/>
                  <a:t>”</a:t>
                </a:r>
              </a:p>
              <a:p>
                <a:r>
                  <a:rPr lang="en-US" dirty="0"/>
                  <a:t>To distinguish between the true coefficients and the estimated parameters, we use “hats”: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, …,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CFEF24-5221-8D2D-448C-CE593F07C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5109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0051A4B-A94E-93FB-84A4-4588602D10D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93.371034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0.496403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0.284678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0051A4B-A94E-93FB-84A4-4588602D1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10" t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63AEB-1326-8E33-ACC6-3C16AEC8A9D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63AEB-1326-8E33-ACC6-3C16AEC8A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310" t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AC645E70-D057-C9CD-DE22-1004A9C5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Versus Actual</a:t>
            </a:r>
          </a:p>
        </p:txBody>
      </p:sp>
    </p:spTree>
    <p:extLst>
      <p:ext uri="{BB962C8B-B14F-4D97-AF65-F5344CB8AC3E}">
        <p14:creationId xmlns:p14="http://schemas.microsoft.com/office/powerpoint/2010/main" val="58038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0051A4B-A94E-93FB-84A4-4588602D10D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93.371034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0.496403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0.284678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0051A4B-A94E-93FB-84A4-4588602D1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310" t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63AEB-1326-8E33-ACC6-3C16AEC8A9D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63AEB-1326-8E33-ACC6-3C16AEC8A9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4"/>
                <a:stretch>
                  <a:fillRect l="-2310" t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AC645E70-D057-C9CD-DE22-1004A9C5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Versus Actual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47B6F-3BDA-7774-2BBF-2951AFA4CF39}"/>
              </a:ext>
            </a:extLst>
          </p:cNvPr>
          <p:cNvSpPr txBox="1"/>
          <p:nvPr/>
        </p:nvSpPr>
        <p:spPr>
          <a:xfrm rot="19541058">
            <a:off x="9377459" y="2448143"/>
            <a:ext cx="502137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HIDDEN!</a:t>
            </a:r>
          </a:p>
        </p:txBody>
      </p:sp>
    </p:spTree>
    <p:extLst>
      <p:ext uri="{BB962C8B-B14F-4D97-AF65-F5344CB8AC3E}">
        <p14:creationId xmlns:p14="http://schemas.microsoft.com/office/powerpoint/2010/main" val="1820348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AD6B3-132B-1F8D-BD06-A8C55E0C2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169CA-08A0-92B0-B3C8-BAB6FA50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is an approach used when we fit a line, plane or hyperplane to a dataset. </a:t>
            </a:r>
          </a:p>
          <a:p>
            <a:r>
              <a:rPr lang="en-US" dirty="0"/>
              <a:t>We use this when we assume a linear relationship between the dependent variable and the independent variables. </a:t>
            </a:r>
          </a:p>
          <a:p>
            <a:r>
              <a:rPr lang="en-US" dirty="0"/>
              <a:t>Even if our assumption is right, our estimated model is likely incorrect. We use “hats” to differentiate the true values and the estimated ones.</a:t>
            </a:r>
          </a:p>
          <a:p>
            <a:r>
              <a:rPr lang="en-US" dirty="0"/>
              <a:t>In the next lesson, we go over how to perform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1735269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5e41b080-9453-459c-bb93-b19be7335f42"/>
    <ds:schemaRef ds:uri="http://purl.org/dc/dcmitype/"/>
    <ds:schemaRef ds:uri="4e58ebf2-e4df-4cd3-9186-1e42b3ede124"/>
    <ds:schemaRef ds:uri="http://schemas.microsoft.com/office/2006/metadata/propertie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5ED57A-31EA-484F-9F3F-EE1C6B20B82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4449</TotalTime>
  <Words>939</Words>
  <Application>Microsoft Macintosh PowerPoint</Application>
  <PresentationFormat>Custom</PresentationFormat>
  <Paragraphs>221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Wingdings 2</vt:lpstr>
      <vt:lpstr>Breeze</vt:lpstr>
      <vt:lpstr>Math 769: Statistical Learning</vt:lpstr>
      <vt:lpstr>What is Linear Regression?</vt:lpstr>
      <vt:lpstr>Last Time</vt:lpstr>
      <vt:lpstr>Objectives for this Lesson</vt:lpstr>
      <vt:lpstr>Linear Regression Assumption</vt:lpstr>
      <vt:lpstr>Linear Regression Model</vt:lpstr>
      <vt:lpstr>Example 1: Optional Hw and Midterm</vt:lpstr>
      <vt:lpstr>Example 2: Estimating Blood Pressure</vt:lpstr>
      <vt:lpstr>What shape will the linear model take?</vt:lpstr>
      <vt:lpstr>Estimating Blood Pressure</vt:lpstr>
      <vt:lpstr>Linear Models Geometrically</vt:lpstr>
      <vt:lpstr>Remark on Geometry</vt:lpstr>
      <vt:lpstr>Estimating Blood Pressure</vt:lpstr>
      <vt:lpstr>The True Versus the Estimated Model</vt:lpstr>
      <vt:lpstr>The True Versus the Estimated Model</vt:lpstr>
      <vt:lpstr>Estimated Versus Actual</vt:lpstr>
      <vt:lpstr>Estimated Versus Actual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23</cp:revision>
  <dcterms:created xsi:type="dcterms:W3CDTF">2019-02-13T16:04:21Z</dcterms:created>
  <dcterms:modified xsi:type="dcterms:W3CDTF">2023-12-02T23:09:51Z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2023-12-02T22:53:00Z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9937d367-6d22-4f19-8441-a3c0587acfcb</vt:lpwstr>
  </property>
  <property fmtid="{D5CDD505-2E9C-101B-9397-08002B2CF9AE}" pid="9" name="MSIP_Label_f2dee603-0001-4639-81f8-0608a53322f1_ContentBits">
    <vt:lpwstr>0</vt:lpwstr>
  </property>
</Properties>
</file>