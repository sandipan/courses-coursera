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5"/>
  </p:notesMasterIdLst>
  <p:sldIdLst>
    <p:sldId id="259" r:id="rId5"/>
    <p:sldId id="262" r:id="rId6"/>
    <p:sldId id="263" r:id="rId7"/>
    <p:sldId id="264" r:id="rId8"/>
    <p:sldId id="304" r:id="rId9"/>
    <p:sldId id="265" r:id="rId10"/>
    <p:sldId id="300" r:id="rId11"/>
    <p:sldId id="266" r:id="rId12"/>
    <p:sldId id="267" r:id="rId13"/>
    <p:sldId id="268" r:id="rId14"/>
    <p:sldId id="299" r:id="rId15"/>
    <p:sldId id="310" r:id="rId16"/>
    <p:sldId id="298" r:id="rId17"/>
    <p:sldId id="301" r:id="rId18"/>
    <p:sldId id="302" r:id="rId19"/>
    <p:sldId id="303" r:id="rId20"/>
    <p:sldId id="305" r:id="rId21"/>
    <p:sldId id="306" r:id="rId22"/>
    <p:sldId id="307" r:id="rId23"/>
    <p:sldId id="308" r:id="rId24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21"/>
    <p:restoredTop sz="93810"/>
  </p:normalViewPr>
  <p:slideViewPr>
    <p:cSldViewPr snapToGrid="0" snapToObjects="1">
      <p:cViewPr varScale="1">
        <p:scale>
          <a:sx n="80" d="100"/>
          <a:sy n="80" d="100"/>
        </p:scale>
        <p:origin x="496" y="19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0FB97-C249-7F4B-AC51-82C367E0AC99}" type="datetimeFigureOut">
              <a:rPr lang="en-US" smtClean="0"/>
              <a:t>12/3/23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A3C0B-F0DF-7644-AE6F-69278FE84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6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advanced undergraduate or first year graduate course in Functional Analysis will provide the background to better appreciate this.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3C0B-F0DF-7644-AE6F-69278FE840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9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advanced undergraduate or first year graduate course in Functional Analysis will provide the background to better appreciate this.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3C0B-F0DF-7644-AE6F-69278FE840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9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And, of course, it is a sum of squared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3C0B-F0DF-7644-AE6F-69278FE840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77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linear algebra comes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3C0B-F0DF-7644-AE6F-69278FE840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32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advanced undergraduate or first year graduate course in Functional Analysis will provide the background to better appreciate this.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3C0B-F0DF-7644-AE6F-69278FE840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88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linear algebra comes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3C0B-F0DF-7644-AE6F-69278FE8407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88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B7867F9-E74C-BC1E-99EC-FA134FD93A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Computing </a:t>
            </a:r>
            <a:br>
              <a:rPr lang="en-US" dirty="0"/>
            </a:br>
            <a:r>
              <a:rPr lang="en-US" dirty="0"/>
              <a:t>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We described linear regression as a technique where we fit to our dataset a function of the form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en-US" dirty="0"/>
              </a:p>
              <a:p>
                <a:r>
                  <a:rPr lang="en-US" altLang="en-US" dirty="0"/>
                  <a:t>Important terms, such as the slope(s), intercept, and coefficients.</a:t>
                </a:r>
              </a:p>
              <a:p>
                <a:r>
                  <a:rPr lang="en-US" altLang="en-US" dirty="0"/>
                  <a:t>These functions can be lines, planes, or hyperplanes.</a:t>
                </a:r>
              </a:p>
              <a:p>
                <a:r>
                  <a:rPr lang="en-US" altLang="en-US" dirty="0"/>
                  <a:t> Notation for estimate values </a:t>
                </a:r>
              </a:p>
              <a:p>
                <a:endParaRPr lang="en-US" altLang="en-US" dirty="0"/>
              </a:p>
            </p:txBody>
          </p:sp>
        </mc:Choice>
        <mc:Fallback xmlns="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D0BA-D101-3475-2FCA-93E43CA4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B7DE8-D624-CBC0-3A16-1AFCECF22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the loss function used to perform linear regression.</a:t>
            </a:r>
          </a:p>
          <a:p>
            <a:r>
              <a:rPr lang="en-US" dirty="0"/>
              <a:t>Describe the mathematical process of constructing a linear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33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D0BA-D101-3475-2FCA-93E43CA4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 on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CB7DE8-D624-CBC0-3A16-1AFCECF22A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Boldface will indicate a vector or a matrix. </a:t>
                </a:r>
              </a:p>
              <a:p>
                <a:r>
                  <a:rPr lang="en-US" dirty="0"/>
                  <a:t>Hats will indicate estimated values.</a:t>
                </a:r>
              </a:p>
              <a:p>
                <a:r>
                  <a:rPr lang="en-US" dirty="0"/>
                  <a:t>Number of datapoints is represented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and dimension is represented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All other capital letters indicate (random) variables.</a:t>
                </a:r>
              </a:p>
              <a:p>
                <a:r>
                  <a:rPr lang="en-US" dirty="0"/>
                  <a:t>All other lowercase indicates actual data values.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CB7DE8-D624-CBC0-3A16-1AFCECF22A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871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Assume a dataset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points; each point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inputs and a single output value</a:t>
                </a:r>
              </a:p>
              <a:p>
                <a:r>
                  <a:rPr lang="en-US" dirty="0"/>
                  <a:t>In the dataset to the right,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When we refer to the datapoints, we use lowercase letters with subscripts indicate the row.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(3.1,2.7,4.0)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=10.3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45" t="-1556" r="-2475" b="-1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F67120E-A7B4-623D-5786-B2C224AD7B81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169717969"/>
                  </p:ext>
                </p:extLst>
              </p:nvPr>
            </p:nvGraphicFramePr>
            <p:xfrm>
              <a:off x="9502775" y="2085975"/>
              <a:ext cx="7680324" cy="5120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0081">
                      <a:extLst>
                        <a:ext uri="{9D8B030D-6E8A-4147-A177-3AD203B41FA5}">
                          <a16:colId xmlns:a16="http://schemas.microsoft.com/office/drawing/2014/main" val="459094638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394654117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3185830780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20134451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362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58078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50473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05120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85132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0650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17.2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13739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7938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F67120E-A7B4-623D-5786-B2C224AD7B81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169717969"/>
                  </p:ext>
                </p:extLst>
              </p:nvPr>
            </p:nvGraphicFramePr>
            <p:xfrm>
              <a:off x="9502775" y="2085975"/>
              <a:ext cx="7680324" cy="5120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0081">
                      <a:extLst>
                        <a:ext uri="{9D8B030D-6E8A-4147-A177-3AD203B41FA5}">
                          <a16:colId xmlns:a16="http://schemas.microsoft.com/office/drawing/2014/main" val="459094638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394654117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3185830780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201344512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62" t="-1961" r="-302649" b="-727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961" r="-200658" b="-727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25" t="-1961" r="-101987" b="-727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325" t="-1961" r="-1987" b="-7274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362657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580788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504735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051209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851326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06509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17.2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137391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79382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1504DE0-CFE2-075A-9AB8-5212D988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872072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4DE0-CFE2-075A-9AB8-5212D988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the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aim to predict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by constructing the model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Specifically, we will find the values for the slopes and intercept.</a:t>
                </a:r>
              </a:p>
              <a:p>
                <a:r>
                  <a:rPr lang="en-US" dirty="0"/>
                  <a:t>This equation can be rewritten in two ways—the second being the most useful from a mathematical perspective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0497" r="-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9582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4DE0-CFE2-075A-9AB8-5212D988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Rewrite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vector of inputs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predict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via the model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setup is mathematically the same as the previous one, but characterizes it using linear algebra perspective. </a:t>
                </a:r>
              </a:p>
              <a:p>
                <a:r>
                  <a:rPr lang="en-US" i="1" dirty="0"/>
                  <a:t>Exercise</a:t>
                </a:r>
                <a:r>
                  <a:rPr lang="en-US" dirty="0"/>
                  <a:t>: Compute the product to see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b="-10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406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4DE0-CFE2-075A-9AB8-5212D988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Rewrite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vector of inputs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predict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via the model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Here, we simply add a dimension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with the first entry being 1, so we can include the intercept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, indicated in </a:t>
                </a:r>
                <a:r>
                  <a:rPr lang="en-US" dirty="0">
                    <a:solidFill>
                      <a:schemeClr val="bg1"/>
                    </a:solidFill>
                  </a:rPr>
                  <a:t>red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This notation is </a:t>
                </a:r>
                <a:r>
                  <a:rPr lang="en-US" i="1" dirty="0"/>
                  <a:t>preferred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045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4DE0-CFE2-075A-9AB8-5212D988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dealing with linear regression, we almost always pick a </a:t>
                </a:r>
                <a:r>
                  <a:rPr lang="en-US" b="1" dirty="0">
                    <a:solidFill>
                      <a:schemeClr val="bg1"/>
                    </a:solidFill>
                  </a:rPr>
                  <a:t>squared error loss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Why? It’s beyond the scope of this class, but it relates to Hilbert Spaces and their properties.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887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4DE0-CFE2-075A-9AB8-5212D988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Minimizing Expected Prediction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Finding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0" dirty="0"/>
                  <a:t>comes from minimizing the expected predicted error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𝐸𝑃𝐸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Recall from module 1 that we can compute this pointwise.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Within the context of regression, the squared error loss function is also called </a:t>
                </a:r>
                <a:r>
                  <a:rPr lang="en-US" b="1" dirty="0">
                    <a:solidFill>
                      <a:schemeClr val="bg1"/>
                    </a:solidFill>
                  </a:rPr>
                  <a:t>the residual sum of squares</a:t>
                </a:r>
                <a:r>
                  <a:rPr lang="en-US" dirty="0"/>
                  <a:t>,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921" b="-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700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094A63-E002-F53E-A94B-64C271B1AE5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Residuals</a:t>
                </a:r>
                <a:r>
                  <a:rPr lang="en-US" dirty="0"/>
                  <a:t> are the difference between the observed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and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The residuals here are represented by the length of the dashed lines.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094A63-E002-F53E-A94B-64C271B1AE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1751" r="-3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7463967-68A3-ACD2-2E32-4CF4DC14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Residuals</a:t>
            </a:r>
          </a:p>
        </p:txBody>
      </p:sp>
      <p:pic>
        <p:nvPicPr>
          <p:cNvPr id="5" name="Content Placeholder 4" descr="A graph with a red plane and blue points.">
            <a:extLst>
              <a:ext uri="{FF2B5EF4-FFF2-40B4-BE49-F238E27FC236}">
                <a16:creationId xmlns:a16="http://schemas.microsoft.com/office/drawing/2014/main" id="{F3BFD226-D9E5-4520-4A56-4845D2D090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138942" y="2085698"/>
            <a:ext cx="8407275" cy="6515100"/>
          </a:xfrm>
        </p:spPr>
      </p:pic>
    </p:spTree>
    <p:extLst>
      <p:ext uri="{BB962C8B-B14F-4D97-AF65-F5344CB8AC3E}">
        <p14:creationId xmlns:p14="http://schemas.microsoft.com/office/powerpoint/2010/main" val="3026260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07C14E-B10E-885B-6909-4F12178480F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01724" y="4094225"/>
                <a:ext cx="16084552" cy="1551434"/>
              </a:xfrm>
            </p:spPr>
            <p:txBody>
              <a:bodyPr wrap="square" anchor="b">
                <a:norm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07C14E-B10E-885B-6909-4F12178480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01724" y="4094225"/>
                <a:ext cx="16084552" cy="1551434"/>
              </a:xfrm>
              <a:blipFill>
                <a:blip r:embed="rId3"/>
                <a:stretch>
                  <a:fillRect t="-52846" b="-139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643E43AB-605E-B8CB-27C1-4F5A6C27F9A5}"/>
              </a:ext>
            </a:extLst>
          </p:cNvPr>
          <p:cNvSpPr/>
          <p:nvPr/>
        </p:nvSpPr>
        <p:spPr>
          <a:xfrm rot="16200000">
            <a:off x="9302312" y="2950497"/>
            <a:ext cx="222857" cy="3085461"/>
          </a:xfrm>
          <a:prstGeom prst="rightBrace">
            <a:avLst>
              <a:gd name="adj1" fmla="val 8333"/>
              <a:gd name="adj2" fmla="val 508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CA2A2-F59B-258A-70AE-F7186D585FAA}"/>
              </a:ext>
            </a:extLst>
          </p:cNvPr>
          <p:cNvSpPr txBox="1"/>
          <p:nvPr/>
        </p:nvSpPr>
        <p:spPr>
          <a:xfrm>
            <a:off x="7871011" y="3604919"/>
            <a:ext cx="2671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Residuals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D69DA83-40EC-0F63-1323-A0C362087C56}"/>
              </a:ext>
            </a:extLst>
          </p:cNvPr>
          <p:cNvSpPr/>
          <p:nvPr/>
        </p:nvSpPr>
        <p:spPr>
          <a:xfrm rot="16200000" flipH="1">
            <a:off x="10068986" y="5195655"/>
            <a:ext cx="332292" cy="1398494"/>
          </a:xfrm>
          <a:prstGeom prst="rightBrace">
            <a:avLst>
              <a:gd name="adj1" fmla="val 8333"/>
              <a:gd name="adj2" fmla="val 508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B74445-E2F2-A16E-4879-8BF8FBD6B63C}"/>
                  </a:ext>
                </a:extLst>
              </p:cNvPr>
              <p:cNvSpPr txBox="1"/>
              <p:nvPr/>
            </p:nvSpPr>
            <p:spPr>
              <a:xfrm>
                <a:off x="9804826" y="6144145"/>
                <a:ext cx="8606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4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B74445-E2F2-A16E-4879-8BF8FBD6B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826" y="6144145"/>
                <a:ext cx="860612" cy="707886"/>
              </a:xfrm>
              <a:prstGeom prst="rect">
                <a:avLst/>
              </a:prstGeom>
              <a:blipFill>
                <a:blip r:embed="rId4"/>
                <a:stretch>
                  <a:fillRect t="-5263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0DF54048-B0A7-3F23-E457-93F728A87915}"/>
              </a:ext>
            </a:extLst>
          </p:cNvPr>
          <p:cNvSpPr txBox="1">
            <a:spLocks/>
          </p:cNvSpPr>
          <p:nvPr/>
        </p:nvSpPr>
        <p:spPr bwMode="auto">
          <a:xfrm>
            <a:off x="1098550" y="161365"/>
            <a:ext cx="16084552" cy="155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/>
              <a:t>Residual Sum of Squares</a:t>
            </a:r>
          </a:p>
        </p:txBody>
      </p:sp>
    </p:spTree>
    <p:extLst>
      <p:ext uri="{BB962C8B-B14F-4D97-AF65-F5344CB8AC3E}">
        <p14:creationId xmlns:p14="http://schemas.microsoft.com/office/powerpoint/2010/main" val="1396844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9D1710-18A7-C83C-8E26-ED529C23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So, how do we minimize?</a:t>
            </a:r>
          </a:p>
        </p:txBody>
      </p:sp>
    </p:spTree>
    <p:extLst>
      <p:ext uri="{BB962C8B-B14F-4D97-AF65-F5344CB8AC3E}">
        <p14:creationId xmlns:p14="http://schemas.microsoft.com/office/powerpoint/2010/main" val="3607097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.2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3.1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7.1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8.1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matrix, where each row is vector of inputs.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(8.2, …, 19.0)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is the vector outputs.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46498-6220-6BDC-40AD-C82F693C7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1504DE0-CFE2-075A-9AB8-5212D988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A3F8C2C0-384F-E56A-3337-DAAA26D82931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614162845"/>
                  </p:ext>
                </p:extLst>
              </p:nvPr>
            </p:nvGraphicFramePr>
            <p:xfrm>
              <a:off x="9502775" y="2085975"/>
              <a:ext cx="7680324" cy="5120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0081">
                      <a:extLst>
                        <a:ext uri="{9D8B030D-6E8A-4147-A177-3AD203B41FA5}">
                          <a16:colId xmlns:a16="http://schemas.microsoft.com/office/drawing/2014/main" val="459094638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394654117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3185830780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20134451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362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58078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50473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05120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85132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0650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17.2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13739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7938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A3F8C2C0-384F-E56A-3337-DAAA26D82931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614162845"/>
                  </p:ext>
                </p:extLst>
              </p:nvPr>
            </p:nvGraphicFramePr>
            <p:xfrm>
              <a:off x="9502775" y="2085975"/>
              <a:ext cx="7680324" cy="5120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0081">
                      <a:extLst>
                        <a:ext uri="{9D8B030D-6E8A-4147-A177-3AD203B41FA5}">
                          <a16:colId xmlns:a16="http://schemas.microsoft.com/office/drawing/2014/main" val="459094638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394654117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3185830780"/>
                        </a:ext>
                      </a:extLst>
                    </a:gridCol>
                    <a:gridCol w="1920081">
                      <a:extLst>
                        <a:ext uri="{9D8B030D-6E8A-4147-A177-3AD203B41FA5}">
                          <a16:colId xmlns:a16="http://schemas.microsoft.com/office/drawing/2014/main" val="201344512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62" t="-1961" r="-302649" b="-727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961" r="-200658" b="-727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325" t="-1961" r="-101987" b="-727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325" t="-1961" r="-1987" b="-7274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362657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580788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504735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051209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851326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06509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17.2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137391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79382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2386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060EE-8E21-C82D-5DCE-5D5F52A36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54B4D0-ABF2-2897-6353-4567E1643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Our sum can be rewritten in the following way using matrix notation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want to minimize with respect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Recall from calculus, we can achieve this by differentiating with respect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 and set the derivative equal to zero.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54B4D0-ABF2-2897-6353-4567E1643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9337" r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599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060EE-8E21-C82D-5DCE-5D5F52A36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54B4D0-ABF2-2897-6353-4567E1643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After simplification, setting the derivative to 0 yields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acc>
                            <m:accPr>
                              <m:chr m:val="̂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 yields the equation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gives a unique solution so long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 is not singular.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54B4D0-ABF2-2897-6353-4567E1643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4954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03C8-F239-EC72-C944-6FED2834A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6EC8F-108A-858C-31CD-CE3364693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 is quite popular, partially because it has a closed form solution for the model. </a:t>
            </a:r>
          </a:p>
          <a:p>
            <a:r>
              <a:rPr lang="en-US" dirty="0"/>
              <a:t>We will see several other models in this class that do not have such a nice equation for coefficients. </a:t>
            </a:r>
          </a:p>
          <a:p>
            <a:r>
              <a:rPr lang="en-US" dirty="0"/>
              <a:t>This also has a nice geometric interpretation using matrix projection (see reading).</a:t>
            </a:r>
          </a:p>
        </p:txBody>
      </p:sp>
    </p:spTree>
    <p:extLst>
      <p:ext uri="{BB962C8B-B14F-4D97-AF65-F5344CB8AC3E}">
        <p14:creationId xmlns:p14="http://schemas.microsoft.com/office/powerpoint/2010/main" val="2418306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9D1710-18A7-C83C-8E26-ED529C23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But how do we evaluate this model?</a:t>
            </a:r>
          </a:p>
        </p:txBody>
      </p:sp>
    </p:spTree>
    <p:extLst>
      <p:ext uri="{BB962C8B-B14F-4D97-AF65-F5344CB8AC3E}">
        <p14:creationId xmlns:p14="http://schemas.microsoft.com/office/powerpoint/2010/main" val="1535376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1BB9D-C269-41C6-241B-596F7B7E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BC1B2-590E-57DD-3ACF-82BCBEA10A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Linear regression aims to fit a model of the form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 to a given dataset.</a:t>
                </a:r>
              </a:p>
              <a:p>
                <a:r>
                  <a:rPr lang="en-US" dirty="0"/>
                  <a:t>Because of linear algebra, we have a closed form solution for the coefficients of the form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 is the matrix of input data,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 is the vector of output data,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, …,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BC1B2-590E-57DD-3ACF-82BCBEA10A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3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2302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946E7CC4-BE9A-4F1A-A2C5-760A762D1167}"/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5882</TotalTime>
  <Words>980</Words>
  <Application>Microsoft Macintosh PowerPoint</Application>
  <PresentationFormat>Custom</PresentationFormat>
  <Paragraphs>158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Wingdings 2</vt:lpstr>
      <vt:lpstr>Breeze</vt:lpstr>
      <vt:lpstr>Math 769: Statistical Learning</vt:lpstr>
      <vt:lpstr>Computing  Linear Regression</vt:lpstr>
      <vt:lpstr>Last Time</vt:lpstr>
      <vt:lpstr>Objectives</vt:lpstr>
      <vt:lpstr>Remarks on Notation</vt:lpstr>
      <vt:lpstr>Data</vt:lpstr>
      <vt:lpstr>Formal Description</vt:lpstr>
      <vt:lpstr>First Rewrite</vt:lpstr>
      <vt:lpstr>Third Rewrite</vt:lpstr>
      <vt:lpstr>Loss Function</vt:lpstr>
      <vt:lpstr>Minimizing Expected Prediction Error</vt:lpstr>
      <vt:lpstr>Residuals</vt:lpstr>
      <vt:lpstr>∑_(i=1)^N▒〖(y_i-β ̂^T x_i)〗^2  </vt:lpstr>
      <vt:lpstr>So, how do we minimize?</vt:lpstr>
      <vt:lpstr>Notation</vt:lpstr>
      <vt:lpstr>Minimization</vt:lpstr>
      <vt:lpstr>Minimization</vt:lpstr>
      <vt:lpstr>Consequences</vt:lpstr>
      <vt:lpstr>But how do we evaluate this model?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25</cp:revision>
  <dcterms:created xsi:type="dcterms:W3CDTF">2019-02-13T16:04:21Z</dcterms:created>
  <dcterms:modified xsi:type="dcterms:W3CDTF">2023-12-03T21:29:46Z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2023-12-02T19:51:19Z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69065480-f77e-47a0-8b78-164a259acb03</vt:lpwstr>
  </property>
  <property fmtid="{D5CDD505-2E9C-101B-9397-08002B2CF9AE}" pid="9" name="MSIP_Label_f2dee603-0001-4639-81f8-0608a53322f1_ContentBits">
    <vt:lpwstr>0</vt:lpwstr>
  </property>
</Properties>
</file>