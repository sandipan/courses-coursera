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20"/>
  </p:notesMasterIdLst>
  <p:sldIdLst>
    <p:sldId id="259" r:id="rId5"/>
    <p:sldId id="262" r:id="rId6"/>
    <p:sldId id="263" r:id="rId7"/>
    <p:sldId id="269" r:id="rId8"/>
    <p:sldId id="264" r:id="rId9"/>
    <p:sldId id="265" r:id="rId10"/>
    <p:sldId id="277" r:id="rId11"/>
    <p:sldId id="278" r:id="rId12"/>
    <p:sldId id="280" r:id="rId13"/>
    <p:sldId id="281" r:id="rId14"/>
    <p:sldId id="282" r:id="rId15"/>
    <p:sldId id="266" r:id="rId16"/>
    <p:sldId id="279" r:id="rId17"/>
    <p:sldId id="276" r:id="rId18"/>
    <p:sldId id="270" r:id="rId19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70609A-D6D1-4398-8205-3727AD454177}" v="1" dt="2023-05-09T15:11:37.5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70000"/>
  </p:normalViewPr>
  <p:slideViewPr>
    <p:cSldViewPr snapToGrid="0" snapToObjects="1">
      <p:cViewPr varScale="1">
        <p:scale>
          <a:sx n="58" d="100"/>
          <a:sy n="58" d="100"/>
        </p:scale>
        <p:origin x="1872" y="216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B339E-DD24-AF4D-951A-8F87C48A3888}" type="datetimeFigureOut">
              <a:rPr lang="en-US" smtClean="0"/>
              <a:t>11/9/23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2D538-1C4E-BA48-98E5-173D2FE0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25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Cut to white board and explain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2D538-1C4E-BA48-98E5-173D2FE01AC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20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D2C4-084C-C545-00AC-430EC19B6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Math 769: Statistical Learning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803D9D7-D926-E270-BBAA-C017CB0F03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807F-AA75-8289-ABFC-30F1E44E6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Data Transformation and Linear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820C0-3BC8-687A-7D56-C3951CF5E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Shahrzad Jamshidi, PhD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Last Lesson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6" name="Content Placeholder 2">
                <a:extLst>
                  <a:ext uri="{FF2B5EF4-FFF2-40B4-BE49-F238E27FC236}">
                    <a16:creationId xmlns:a16="http://schemas.microsoft.com/office/drawing/2014/main" id="{8DFB1FDB-789D-3A4E-B0C7-3BAF194C66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8551" y="2051050"/>
                <a:ext cx="16084550" cy="6886576"/>
              </a:xfrm>
            </p:spPr>
            <p:txBody>
              <a:bodyPr/>
              <a:lstStyle/>
              <a:p>
                <a:r>
                  <a:rPr lang="en-US" altLang="en-US" dirty="0"/>
                  <a:t>We have seen (simple) linear regression.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altLang="en-US" dirty="0"/>
              </a:p>
              <a:p>
                <a:r>
                  <a:rPr lang="en-US" altLang="en-US" dirty="0"/>
                  <a:t>LASSO is a technique for keeping coefficients small and reducing the total number of coefficients.</a:t>
                </a:r>
              </a:p>
            </p:txBody>
          </p:sp>
        </mc:Choice>
        <mc:Fallback xmlns="">
          <p:sp>
            <p:nvSpPr>
              <p:cNvPr id="6146" name="Content Placeholder 2">
                <a:extLst>
                  <a:ext uri="{FF2B5EF4-FFF2-40B4-BE49-F238E27FC236}">
                    <a16:creationId xmlns:a16="http://schemas.microsoft.com/office/drawing/2014/main" id="{8DFB1FDB-789D-3A4E-B0C7-3BAF194C66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8551" y="2051050"/>
                <a:ext cx="16084550" cy="6886576"/>
              </a:xfrm>
              <a:blipFill>
                <a:blip r:embed="rId2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Objectives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Explain why data standardization can be important and how to do it. </a:t>
            </a:r>
          </a:p>
          <a:p>
            <a:r>
              <a:rPr lang="en-US" altLang="en-US" dirty="0"/>
              <a:t>List types of data transformations commonly done with linear regression and explain why they are necessary. </a:t>
            </a:r>
          </a:p>
          <a:p>
            <a:r>
              <a:rPr lang="en-US" altLang="en-US" dirty="0"/>
              <a:t>List examples where a data transformation is warranted.</a:t>
            </a:r>
          </a:p>
        </p:txBody>
      </p:sp>
    </p:spTree>
    <p:extLst>
      <p:ext uri="{BB962C8B-B14F-4D97-AF65-F5344CB8AC3E}">
        <p14:creationId xmlns:p14="http://schemas.microsoft.com/office/powerpoint/2010/main" val="2774394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65C32-C768-E49C-F6A1-19103E49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Transform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A5A34-31EA-3E31-ACEC-A697180DF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74151"/>
                </a:solidFill>
              </a:rPr>
              <a:t>Transformations are useful when… </a:t>
            </a:r>
          </a:p>
          <a:p>
            <a:pPr marL="1441450" lvl="1" indent="-742950">
              <a:buFont typeface="+mj-lt"/>
              <a:buAutoNum type="arabicPeriod"/>
            </a:pPr>
            <a:r>
              <a:rPr lang="en-US" dirty="0">
                <a:solidFill>
                  <a:srgbClr val="374151"/>
                </a:solidFill>
              </a:rPr>
              <a:t>The type of function that relates an independent variable to the dependent variable is known to us; or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374151"/>
                </a:solidFill>
                <a:effectLst/>
              </a:rPr>
              <a:t>Example</a:t>
            </a: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: populations generall</a:t>
            </a:r>
            <a:r>
              <a:rPr lang="en-US" dirty="0">
                <a:solidFill>
                  <a:srgbClr val="374151"/>
                </a:solidFill>
              </a:rPr>
              <a:t>y grow exponentially (without constraints) or logistically (with constraints)</a:t>
            </a:r>
          </a:p>
          <a:p>
            <a:pPr marL="1441450" lvl="1" indent="-742950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Polynomials are a good </a:t>
            </a:r>
            <a:r>
              <a:rPr lang="en-US" dirty="0">
                <a:solidFill>
                  <a:srgbClr val="374151"/>
                </a:solidFill>
              </a:rPr>
              <a:t>tool to explore nonlinear relationships between independent and dependent variables.</a:t>
            </a:r>
          </a:p>
          <a:p>
            <a:pPr marL="1441450" lvl="1" indent="-742950">
              <a:buFont typeface="+mj-lt"/>
              <a:buAutoNum type="arabicPeriod"/>
            </a:pPr>
            <a:endParaRPr lang="en-US" b="0" i="0" u="none" strike="noStrike" dirty="0">
              <a:solidFill>
                <a:srgbClr val="37415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83049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DA5A34-31EA-3E31-ACEC-A697180DF75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0" i="0" u="none" strike="noStrike" dirty="0">
                    <a:solidFill>
                      <a:srgbClr val="374151"/>
                    </a:solidFill>
                    <a:effectLst/>
                  </a:rPr>
                  <a:t>Replace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u="none" strike="noStrike" smtClean="0">
                            <a:solidFill>
                              <a:srgbClr val="37415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u="none" strike="noStrike" smtClean="0">
                            <a:solidFill>
                              <a:srgbClr val="37415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u="none" strike="noStrike" smtClean="0">
                            <a:solidFill>
                              <a:srgbClr val="37415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i="0" u="none" strike="noStrike" dirty="0">
                    <a:solidFill>
                      <a:srgbClr val="374151"/>
                    </a:solidFill>
                    <a:effectLst/>
                  </a:rPr>
                  <a:t>,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rgbClr val="37415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i="0" u="none" strike="noStrike" dirty="0">
                    <a:solidFill>
                      <a:srgbClr val="374151"/>
                    </a:solidFill>
                    <a:effectLst/>
                  </a:rPr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DA5A34-31EA-3E31-ACEC-A697180DF7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75" t="-17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 descr="A graph with a blue line&#10;&#10;Description automatically generated">
            <a:extLst>
              <a:ext uri="{FF2B5EF4-FFF2-40B4-BE49-F238E27FC236}">
                <a16:creationId xmlns:a16="http://schemas.microsoft.com/office/drawing/2014/main" id="{3CDBB517-D216-C4CE-08D0-CAE61FA2AF5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9116377" y="1948292"/>
            <a:ext cx="8110330" cy="65151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765C32-C768-E49C-F6A1-19103E49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2308680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2C824-289D-033A-ACC7-F9938380D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Log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983FD-FD19-74F4-5C7E-331057A26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u="none" strike="noStrike" dirty="0">
                <a:effectLst/>
              </a:rPr>
              <a:t>Stabilize Variance</a:t>
            </a:r>
            <a:endParaRPr lang="en-US" dirty="0"/>
          </a:p>
          <a:p>
            <a:pPr lvl="1"/>
            <a:r>
              <a:rPr lang="en-US" b="0" i="0" u="none" strike="noStrike" dirty="0">
                <a:effectLst/>
              </a:rPr>
              <a:t>When the variance of residuals is not constant across the range of </a:t>
            </a:r>
          </a:p>
          <a:p>
            <a:r>
              <a:rPr lang="en-US" b="1" i="0" u="none" strike="noStrike" dirty="0">
                <a:effectLst/>
              </a:rPr>
              <a:t>Normalize Distribution</a:t>
            </a:r>
            <a:r>
              <a:rPr lang="en-US" b="0" i="0" u="none" strike="noStrike" dirty="0">
                <a:effectLst/>
              </a:rPr>
              <a:t> </a:t>
            </a:r>
          </a:p>
          <a:p>
            <a:pPr lvl="1"/>
            <a:r>
              <a:rPr lang="en-US" b="0" i="0" u="none" strike="noStrike" dirty="0">
                <a:effectLst/>
              </a:rPr>
              <a:t>If the dependent variable is skewed instead of normally distributed</a:t>
            </a:r>
          </a:p>
          <a:p>
            <a:r>
              <a:rPr lang="en-US" b="1" i="0" u="none" strike="noStrike" dirty="0">
                <a:effectLst/>
              </a:rPr>
              <a:t>Linearize Relationships</a:t>
            </a:r>
            <a:r>
              <a:rPr lang="en-US" b="0" i="0" u="none" strike="noStrike" dirty="0">
                <a:effectLst/>
              </a:rPr>
              <a:t> </a:t>
            </a:r>
          </a:p>
          <a:p>
            <a:pPr lvl="1"/>
            <a:r>
              <a:rPr lang="en-US" dirty="0"/>
              <a:t>Relationships (esp. populations) can be exponential; </a:t>
            </a:r>
            <a:r>
              <a:rPr lang="en-US" b="0" i="0" u="none" strike="noStrike" dirty="0">
                <a:effectLst/>
              </a:rPr>
              <a:t>a log transformation can convert a non-linear relationship into a linear one</a:t>
            </a:r>
          </a:p>
        </p:txBody>
      </p:sp>
    </p:spTree>
    <p:extLst>
      <p:ext uri="{BB962C8B-B14F-4D97-AF65-F5344CB8AC3E}">
        <p14:creationId xmlns:p14="http://schemas.microsoft.com/office/powerpoint/2010/main" val="4029366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2C824-289D-033A-ACC7-F9938380D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Log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983FD-FD19-74F4-5C7E-331057A26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u="none" strike="noStrike" dirty="0">
                <a:effectLst/>
              </a:rPr>
              <a:t>Reduce Impact of Outliers</a:t>
            </a:r>
            <a:endParaRPr lang="en-US" dirty="0"/>
          </a:p>
          <a:p>
            <a:pPr lvl="1"/>
            <a:r>
              <a:rPr lang="en-US" b="0" i="0" u="none" strike="noStrike" dirty="0">
                <a:effectLst/>
              </a:rPr>
              <a:t>Log transformations can reduce the influence of outliers since it compresses the scale of the data.</a:t>
            </a:r>
          </a:p>
          <a:p>
            <a:r>
              <a:rPr lang="en-US" b="1" i="0" u="none" strike="noStrike" dirty="0">
                <a:effectLst/>
              </a:rPr>
              <a:t>Interpretation of Coefficients</a:t>
            </a:r>
            <a:endParaRPr lang="en-US" dirty="0"/>
          </a:p>
          <a:p>
            <a:pPr lvl="1"/>
            <a:r>
              <a:rPr lang="en-US" b="0" i="0" u="none" strike="noStrike" dirty="0">
                <a:effectLst/>
              </a:rPr>
              <a:t>In models with log-transformed dependent variables, the regression coefficients represent the percentage change in the dependent variable for a one-unit change in the independent variable, which can be more intuitive, especially in economic models.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737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5100D28-3BD7-E2F1-A84F-9EF082A62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Square Root Transformation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B2BB230-621A-CCBB-8836-ED0B8CB15B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Square root transformation is a data pre-processing technique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u="none" strike="noStrike" smtClean="0">
                            <a:solidFill>
                              <a:srgbClr val="37415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u="none" strike="noStrike" smtClean="0">
                            <a:solidFill>
                              <a:srgbClr val="37415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u="none" strike="noStrike" smtClean="0">
                            <a:solidFill>
                              <a:srgbClr val="37415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u="none" strike="noStrike" smtClean="0">
                        <a:solidFill>
                          <a:srgbClr val="374151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replaced with its square root,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Best when </a:t>
                </a:r>
              </a:p>
              <a:p>
                <a:pPr lvl="1"/>
                <a:r>
                  <a:rPr lang="en-US" dirty="0"/>
                  <a:t>data is heteroskedastic or</a:t>
                </a:r>
              </a:p>
              <a:p>
                <a:pPr lvl="2"/>
                <a:r>
                  <a:rPr lang="en-US" dirty="0"/>
                  <a:t>Recall: heteroskedastic means the variability of the dependent variable varies across the range of an independent variable </a:t>
                </a:r>
              </a:p>
              <a:p>
                <a:pPr lvl="1"/>
                <a:r>
                  <a:rPr lang="en-US" dirty="0"/>
                  <a:t>when data contains non-negative values, including zeros.</a:t>
                </a:r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B2BB230-621A-CCBB-8836-ED0B8CB15B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 r="-1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8915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038C1-1372-D3A0-2033-29FA08F26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a Square Root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9DC18-A42A-FCFE-E8D8-64954B130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Stabilize Variance</a:t>
            </a:r>
          </a:p>
          <a:p>
            <a:pPr lvl="1"/>
            <a:r>
              <a:rPr lang="en-US" dirty="0"/>
              <a:t>Useful when the variance increases with the mean.</a:t>
            </a:r>
          </a:p>
          <a:p>
            <a:r>
              <a:rPr lang="en-US" b="1" dirty="0"/>
              <a:t>Reduce Skewness</a:t>
            </a:r>
          </a:p>
          <a:p>
            <a:pPr lvl="1"/>
            <a:r>
              <a:rPr lang="en-US" dirty="0"/>
              <a:t>If the data are right-skewed, the transformation can reduce skewness.</a:t>
            </a:r>
          </a:p>
          <a:p>
            <a:r>
              <a:rPr lang="en-US" b="1" dirty="0"/>
              <a:t>Mitigate the Influence of Outliers</a:t>
            </a:r>
          </a:p>
          <a:p>
            <a:pPr lvl="1"/>
            <a:r>
              <a:rPr lang="en-US" dirty="0"/>
              <a:t>Since the square root of a number is always less than the number itself (for non-negative numbers), this transformation can reduce the effect of extreme values.</a:t>
            </a:r>
          </a:p>
        </p:txBody>
      </p:sp>
    </p:spTree>
    <p:extLst>
      <p:ext uri="{BB962C8B-B14F-4D97-AF65-F5344CB8AC3E}">
        <p14:creationId xmlns:p14="http://schemas.microsoft.com/office/powerpoint/2010/main" val="3083455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038C1-1372-D3A0-2033-29FA08F26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a Square Root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9DC18-A42A-FCFE-E8D8-64954B130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Linearize Relationships</a:t>
            </a:r>
          </a:p>
          <a:p>
            <a:pPr lvl="1"/>
            <a:r>
              <a:rPr lang="en-US" dirty="0"/>
              <a:t>A square root transformation can sometimes linearize relationships if the true relationship is quadratic. </a:t>
            </a:r>
          </a:p>
        </p:txBody>
      </p:sp>
    </p:spTree>
    <p:extLst>
      <p:ext uri="{BB962C8B-B14F-4D97-AF65-F5344CB8AC3E}">
        <p14:creationId xmlns:p14="http://schemas.microsoft.com/office/powerpoint/2010/main" val="1682917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DA5A34-31EA-3E31-ACEC-A697180DF75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0" i="0" u="none" strike="noStrike" dirty="0">
                    <a:solidFill>
                      <a:srgbClr val="374151"/>
                    </a:solidFill>
                    <a:effectLst/>
                  </a:rPr>
                  <a:t>Replace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u="none" strike="noStrike" smtClean="0">
                            <a:solidFill>
                              <a:srgbClr val="37415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u="none" strike="noStrike" smtClean="0">
                            <a:solidFill>
                              <a:srgbClr val="37415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u="none" strike="noStrike" smtClean="0">
                            <a:solidFill>
                              <a:srgbClr val="37415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i="0" u="none" strike="noStrike" dirty="0">
                    <a:solidFill>
                      <a:srgbClr val="374151"/>
                    </a:solidFill>
                    <a:effectLst/>
                  </a:rPr>
                  <a:t>, with </a:t>
                </a:r>
                <a:r>
                  <a:rPr lang="en-US" b="0" i="1" u="sng" strike="noStrike" dirty="0">
                    <a:solidFill>
                      <a:srgbClr val="374151"/>
                    </a:solidFill>
                    <a:effectLst/>
                  </a:rPr>
                  <a:t>the terms</a:t>
                </a:r>
                <a:r>
                  <a:rPr lang="en-US" b="0" i="0" strike="noStrike" dirty="0">
                    <a:solidFill>
                      <a:srgbClr val="374151"/>
                    </a:solidFill>
                    <a:effectLst/>
                  </a:rPr>
                  <a:t> </a:t>
                </a:r>
                <a:r>
                  <a:rPr lang="en-US" b="0" i="0" u="none" strike="noStrike" dirty="0">
                    <a:solidFill>
                      <a:srgbClr val="374151"/>
                    </a:solidFill>
                    <a:effectLst/>
                  </a:rPr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rgbClr val="37415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i="0" u="none" strike="noStrike" dirty="0">
                    <a:solidFill>
                      <a:srgbClr val="374151"/>
                    </a:solidFill>
                    <a:effectLst/>
                  </a:rPr>
                  <a:t>—some polynomial.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0" i="0" u="none" strike="noStrike" dirty="0">
                    <a:solidFill>
                      <a:srgbClr val="374151"/>
                    </a:solidFill>
                    <a:effectLst/>
                  </a:rPr>
                  <a:t>Converts linear features into polynomial features of a given degree.</a:t>
                </a:r>
                <a:endParaRPr lang="en-US" dirty="0">
                  <a:solidFill>
                    <a:srgbClr val="374151"/>
                  </a:solidFill>
                </a:endParaRP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b="1" i="0" u="none" strike="noStrike" dirty="0">
                    <a:solidFill>
                      <a:srgbClr val="374151"/>
                    </a:solidFill>
                    <a:effectLst/>
                  </a:rPr>
                  <a:t>Example</a:t>
                </a:r>
                <a:r>
                  <a:rPr lang="en-US" b="0" i="0" u="none" strike="noStrike" dirty="0">
                    <a:solidFill>
                      <a:srgbClr val="374151"/>
                    </a:solidFill>
                    <a:effectLst/>
                  </a:rPr>
                  <a:t>: The relationship between altitude and temperature tends to be quadratic.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endParaRPr lang="en-US" i="0" strike="noStrike" dirty="0">
                  <a:solidFill>
                    <a:srgbClr val="37415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DA5A34-31EA-3E31-ACEC-A697180DF7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475" t="-1751" r="-39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graph with a red line&#10;&#10;Description automatically generated">
            <a:extLst>
              <a:ext uri="{FF2B5EF4-FFF2-40B4-BE49-F238E27FC236}">
                <a16:creationId xmlns:a16="http://schemas.microsoft.com/office/drawing/2014/main" id="{52215BB5-6635-4183-BA47-7F3D88F4EB6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8999168" y="2085698"/>
            <a:ext cx="8686800" cy="65151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765C32-C768-E49C-F6A1-19103E49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effectLst/>
              </a:rPr>
              <a:t>Polynomial Transformation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159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64D0F-89ED-9ED8-3D95-2A3E1E06B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Polynomial Transformation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0735A6-7BC3-A469-0810-FE0C06DEC1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Capture Non-Linear Trends</a:t>
                </a:r>
              </a:p>
              <a:p>
                <a:pPr lvl="1"/>
                <a:r>
                  <a:rPr lang="en-US" dirty="0"/>
                  <a:t>Polynomial terms model more complex relationships.</a:t>
                </a:r>
              </a:p>
              <a:p>
                <a:r>
                  <a:rPr lang="en-US" b="1" dirty="0"/>
                  <a:t>Improve Model Fit</a:t>
                </a:r>
              </a:p>
              <a:p>
                <a:pPr lvl="1"/>
                <a:r>
                  <a:rPr lang="en-US" dirty="0"/>
                  <a:t>Adding polynomial terms can increase the coefficient of determination,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b="1" dirty="0"/>
                  <a:t>Flexibility in Modeling</a:t>
                </a:r>
              </a:p>
              <a:p>
                <a:pPr lvl="1"/>
                <a:r>
                  <a:rPr lang="en-US" dirty="0"/>
                  <a:t>Polynomial models can fit data with varying rates of change </a:t>
                </a:r>
              </a:p>
              <a:p>
                <a:r>
                  <a:rPr lang="en-US" b="1" dirty="0"/>
                  <a:t>Interaction Between Variables</a:t>
                </a:r>
              </a:p>
              <a:p>
                <a:pPr lvl="1"/>
                <a:r>
                  <a:rPr lang="en-US" dirty="0"/>
                  <a:t>Polynomial terms, like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, can model interaction effects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0735A6-7BC3-A469-0810-FE0C06DEC1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 b="-10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28678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A06DE-FDEF-B0CD-25A0-B87278C03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Basis Expansion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B4F34E-E433-0CBC-B714-F5B27E8A52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i="0" u="none" strike="noStrike" dirty="0">
                    <a:solidFill>
                      <a:srgbClr val="374151"/>
                    </a:solidFill>
                    <a:effectLst/>
                  </a:rPr>
                  <a:t>In addition to </a:t>
                </a:r>
                <a14:m>
                  <m:oMath xmlns:m="http://schemas.openxmlformats.org/officeDocument/2006/math">
                    <m:r>
                      <a:rPr lang="en-US" b="0" i="1" u="none" strike="noStrike" smtClean="0">
                        <a:solidFill>
                          <a:srgbClr val="374151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b="0" i="0" u="none" strike="noStrike" dirty="0">
                    <a:solidFill>
                      <a:srgbClr val="374151"/>
                    </a:solidFill>
                    <a:effectLst/>
                  </a:rPr>
                  <a:t>, add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u="none" strike="noStrike" smtClean="0">
                            <a:solidFill>
                              <a:srgbClr val="37415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trike="noStrike" smtClean="0">
                            <a:solidFill>
                              <a:srgbClr val="37415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u="none" strike="noStrike" smtClean="0">
                            <a:solidFill>
                              <a:srgbClr val="374151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u="none" strike="noStrike" smtClean="0">
                        <a:solidFill>
                          <a:srgbClr val="374151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solidFill>
                          <a:srgbClr val="374151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p>
                      <m:sSupPr>
                        <m:ctrlPr>
                          <a:rPr lang="en-US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 for some hyperparameter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Mixed terms like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are added when there is more than one independent variable. </a:t>
                </a:r>
              </a:p>
              <a:p>
                <a:r>
                  <a:rPr lang="en-US" dirty="0"/>
                  <a:t>Polynomials can approximate some types of nonlinear functions well </a:t>
                </a:r>
              </a:p>
              <a:p>
                <a:pPr lvl="1"/>
                <a:r>
                  <a:rPr lang="en-US" dirty="0"/>
                  <a:t>Think back to Taylor series approximations from Calculus!</a:t>
                </a:r>
              </a:p>
              <a:p>
                <a:r>
                  <a:rPr lang="en-US" dirty="0"/>
                  <a:t>Basis expansion with LASSO or subset selection can introduce non-linearity while controlling for overfitting.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B4F34E-E433-0CBC-B714-F5B27E8A52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4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2373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Conclusion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Data can have several issues, including: </a:t>
            </a:r>
          </a:p>
          <a:p>
            <a:pPr lvl="1"/>
            <a:r>
              <a:rPr lang="en-US" altLang="en-US" dirty="0"/>
              <a:t>Nonlinearity</a:t>
            </a:r>
          </a:p>
          <a:p>
            <a:pPr lvl="1"/>
            <a:r>
              <a:rPr lang="en-US" altLang="en-US" dirty="0"/>
              <a:t>Outliers</a:t>
            </a:r>
          </a:p>
          <a:p>
            <a:pPr lvl="1"/>
            <a:r>
              <a:rPr lang="en-US" altLang="en-US" dirty="0"/>
              <a:t>Non-uniform variance</a:t>
            </a:r>
          </a:p>
          <a:p>
            <a:pPr lvl="1"/>
            <a:r>
              <a:rPr lang="en-US" altLang="en-US" dirty="0"/>
              <a:t>Skewness</a:t>
            </a:r>
          </a:p>
          <a:p>
            <a:r>
              <a:rPr lang="en-US" altLang="en-US" dirty="0"/>
              <a:t>Data transformations allow one to overcome these issues</a:t>
            </a:r>
          </a:p>
          <a:p>
            <a:r>
              <a:rPr lang="en-US" altLang="en-US" dirty="0"/>
              <a:t>They can also help model </a:t>
            </a:r>
            <a:r>
              <a:rPr lang="en-US" altLang="en-US"/>
              <a:t>complex relationships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27388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6" ma:contentTypeDescription="Create a new document." ma:contentTypeScope="" ma:versionID="81a54cd395f61cfc29bb41b0389d7858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db123aac500611cfff64836afef3716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customXml/itemProps2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712FFB8-2C4A-4B06-9EB6-90D1BC955A6C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7306</TotalTime>
  <Words>622</Words>
  <Application>Microsoft Macintosh PowerPoint</Application>
  <PresentationFormat>Custom</PresentationFormat>
  <Paragraphs>75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 Math</vt:lpstr>
      <vt:lpstr>Wingdings 2</vt:lpstr>
      <vt:lpstr>Breeze</vt:lpstr>
      <vt:lpstr>Math 769: Statistical Learning</vt:lpstr>
      <vt:lpstr>Data Transformation and Linear Regression</vt:lpstr>
      <vt:lpstr>Last Lesson</vt:lpstr>
      <vt:lpstr>Objectives</vt:lpstr>
      <vt:lpstr>Why Transform Data?</vt:lpstr>
      <vt:lpstr>Log Transformation</vt:lpstr>
      <vt:lpstr>Advantages of Log Transformation</vt:lpstr>
      <vt:lpstr>Advantages of Log Transformation</vt:lpstr>
      <vt:lpstr>Square Root Transformation</vt:lpstr>
      <vt:lpstr>Advantages of a Square Root Transformation</vt:lpstr>
      <vt:lpstr>Advantages of a Square Root Transformation</vt:lpstr>
      <vt:lpstr>Polynomial Transformation</vt:lpstr>
      <vt:lpstr>Advantages of Polynomial Transformation</vt:lpstr>
      <vt:lpstr>Basis Expansion</vt:lpstr>
      <vt:lpstr>Conclusion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Jamshidi, Sara (She/Her/Hers)</cp:lastModifiedBy>
  <cp:revision>20</cp:revision>
  <dcterms:created xsi:type="dcterms:W3CDTF">2019-02-13T16:04:21Z</dcterms:created>
  <dcterms:modified xsi:type="dcterms:W3CDTF">2023-11-09T19:34:00Z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</Properties>
</file>