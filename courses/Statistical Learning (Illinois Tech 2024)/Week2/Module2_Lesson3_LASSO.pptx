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2"/>
  </p:notesMasterIdLst>
  <p:sldIdLst>
    <p:sldId id="259" r:id="rId5"/>
    <p:sldId id="262" r:id="rId6"/>
    <p:sldId id="263" r:id="rId7"/>
    <p:sldId id="269" r:id="rId8"/>
    <p:sldId id="264" r:id="rId9"/>
    <p:sldId id="265" r:id="rId10"/>
    <p:sldId id="266" r:id="rId11"/>
    <p:sldId id="268" r:id="rId12"/>
    <p:sldId id="276" r:id="rId13"/>
    <p:sldId id="271" r:id="rId14"/>
    <p:sldId id="301" r:id="rId15"/>
    <p:sldId id="302" r:id="rId16"/>
    <p:sldId id="272" r:id="rId17"/>
    <p:sldId id="273" r:id="rId18"/>
    <p:sldId id="278" r:id="rId19"/>
    <p:sldId id="270" r:id="rId20"/>
    <p:sldId id="275" r:id="rId21"/>
  </p:sldIdLst>
  <p:sldSz cx="18288000" cy="10287000"/>
  <p:notesSz cx="6858000" cy="9144000"/>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70609A-D6D1-4398-8205-3727AD454177}" v="1" dt="2023-05-09T15:11:37.5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000"/>
  </p:normalViewPr>
  <p:slideViewPr>
    <p:cSldViewPr snapToGrid="0" snapToObjects="1">
      <p:cViewPr varScale="1">
        <p:scale>
          <a:sx n="58" d="100"/>
          <a:sy n="58" d="100"/>
        </p:scale>
        <p:origin x="2104" y="216"/>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0B339E-DD24-AF4D-951A-8F87C48A3888}" type="datetimeFigureOut">
              <a:rPr lang="en-US" smtClean="0"/>
              <a:t>12/3/23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2D538-1C4E-BA48-98E5-173D2FE01ACA}" type="slidenum">
              <a:rPr lang="en-US" smtClean="0"/>
              <a:t>‹#›</a:t>
            </a:fld>
            <a:endParaRPr lang="en-US"/>
          </a:p>
        </p:txBody>
      </p:sp>
    </p:spTree>
    <p:extLst>
      <p:ext uri="{BB962C8B-B14F-4D97-AF65-F5344CB8AC3E}">
        <p14:creationId xmlns:p14="http://schemas.microsoft.com/office/powerpoint/2010/main" val="3442925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linear algebra comes in</a:t>
            </a:r>
          </a:p>
        </p:txBody>
      </p:sp>
      <p:sp>
        <p:nvSpPr>
          <p:cNvPr id="4" name="Slide Number Placeholder 3"/>
          <p:cNvSpPr>
            <a:spLocks noGrp="1"/>
          </p:cNvSpPr>
          <p:nvPr>
            <p:ph type="sldNum" sz="quarter" idx="5"/>
          </p:nvPr>
        </p:nvSpPr>
        <p:spPr/>
        <p:txBody>
          <a:bodyPr/>
          <a:lstStyle/>
          <a:p>
            <a:fld id="{4C7A3C0B-F0DF-7644-AE6F-69278FE84070}" type="slidenum">
              <a:rPr lang="en-US" smtClean="0"/>
              <a:t>11</a:t>
            </a:fld>
            <a:endParaRPr lang="en-US"/>
          </a:p>
        </p:txBody>
      </p:sp>
    </p:spTree>
    <p:extLst>
      <p:ext uri="{BB962C8B-B14F-4D97-AF65-F5344CB8AC3E}">
        <p14:creationId xmlns:p14="http://schemas.microsoft.com/office/powerpoint/2010/main" val="1082532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To visually demonstrate why the L1 norm leads to sparsity (coefficients tending to zero) more easily than the L2 norm, we can plot the contours of the L1 and L2 norms alongside the contours of a hypothetical least squares error surface. This provides a geometric interpretation.</a:t>
            </a:r>
          </a:p>
          <a:p>
            <a:endParaRPr lang="en-US" dirty="0"/>
          </a:p>
          <a:p>
            <a:pPr algn="l"/>
            <a:r>
              <a:rPr lang="en-US" b="0" i="0" u="none" strike="noStrike" dirty="0">
                <a:solidFill>
                  <a:srgbClr val="374151"/>
                </a:solidFill>
                <a:effectLst/>
                <a:latin typeface="Söhne"/>
              </a:rPr>
              <a:t>In these plots, the colors represent the magnitude of the respective norms (darker colors are closer to zero). The black ellipses represent the contours of a quadratic loss function.</a:t>
            </a:r>
          </a:p>
          <a:p>
            <a:pPr algn="l">
              <a:buFont typeface="Arial" panose="020B0604020202020204" pitchFamily="34" charset="0"/>
              <a:buChar char="•"/>
            </a:pPr>
            <a:r>
              <a:rPr lang="en-US" b="0" i="0" u="none" strike="noStrike" dirty="0">
                <a:solidFill>
                  <a:srgbClr val="374151"/>
                </a:solidFill>
                <a:effectLst/>
                <a:latin typeface="Söhne"/>
              </a:rPr>
              <a:t>In the L1 image, you can see that the "corners" of the diamond (representing the L1 constraint) are more likely to intersect the RSS contour first, which is why some coefficients tend to go to zero.</a:t>
            </a:r>
          </a:p>
          <a:p>
            <a:pPr algn="l">
              <a:buFont typeface="Arial" panose="020B0604020202020204" pitchFamily="34" charset="0"/>
              <a:buChar char="•"/>
            </a:pPr>
            <a:r>
              <a:rPr lang="en-US" b="0" i="0" u="none" strike="noStrike" dirty="0">
                <a:solidFill>
                  <a:srgbClr val="374151"/>
                </a:solidFill>
                <a:effectLst/>
                <a:latin typeface="Söhne"/>
              </a:rPr>
              <a:t>In the L2 image, the circle doesn't have the same corners, so coefficients shrink, but don't necessarily go to zero as clearly.</a:t>
            </a:r>
          </a:p>
          <a:p>
            <a:pPr algn="l"/>
            <a:r>
              <a:rPr lang="en-US" b="0" i="0" u="none" strike="noStrike" dirty="0">
                <a:solidFill>
                  <a:srgbClr val="374151"/>
                </a:solidFill>
                <a:effectLst/>
                <a:latin typeface="Söhne"/>
              </a:rPr>
              <a:t>These plots provide a geometric understanding of why L1 regularization encourages sparser solutions compared to L2 regularization.</a:t>
            </a:r>
          </a:p>
          <a:p>
            <a:endParaRPr lang="en-US" dirty="0"/>
          </a:p>
        </p:txBody>
      </p:sp>
      <p:sp>
        <p:nvSpPr>
          <p:cNvPr id="4" name="Slide Number Placeholder 3"/>
          <p:cNvSpPr>
            <a:spLocks noGrp="1"/>
          </p:cNvSpPr>
          <p:nvPr>
            <p:ph type="sldNum" sz="quarter" idx="5"/>
          </p:nvPr>
        </p:nvSpPr>
        <p:spPr/>
        <p:txBody>
          <a:bodyPr/>
          <a:lstStyle/>
          <a:p>
            <a:fld id="{AA12D538-1C4E-BA48-98E5-173D2FE01ACA}" type="slidenum">
              <a:rPr lang="en-US" smtClean="0"/>
              <a:t>12</a:t>
            </a:fld>
            <a:endParaRPr lang="en-US"/>
          </a:p>
        </p:txBody>
      </p:sp>
    </p:spTree>
    <p:extLst>
      <p:ext uri="{BB962C8B-B14F-4D97-AF65-F5344CB8AC3E}">
        <p14:creationId xmlns:p14="http://schemas.microsoft.com/office/powerpoint/2010/main" val="3186339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Math 769: Statistical Learning</a:t>
            </a:r>
          </a:p>
        </p:txBody>
      </p:sp>
      <p:sp>
        <p:nvSpPr>
          <p:cNvPr id="4" name="Subtitle 3">
            <a:extLst>
              <a:ext uri="{FF2B5EF4-FFF2-40B4-BE49-F238E27FC236}">
                <a16:creationId xmlns:a16="http://schemas.microsoft.com/office/drawing/2014/main" id="{E803D9D7-D926-E270-BBAA-C017CB0F0397}"/>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807F-AA75-8289-ABFC-30F1E44E67A4}"/>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LASSO</a:t>
            </a:r>
          </a:p>
        </p:txBody>
      </p:sp>
      <p:sp>
        <p:nvSpPr>
          <p:cNvPr id="3" name="Subtitle 2">
            <a:extLst>
              <a:ext uri="{FF2B5EF4-FFF2-40B4-BE49-F238E27FC236}">
                <a16:creationId xmlns:a16="http://schemas.microsoft.com/office/drawing/2014/main" id="{A1D820C0-3BC8-687A-7D56-C3951CF5E866}"/>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Shahrzad Jamshidi, PhD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Last Lesson</a:t>
            </a:r>
          </a:p>
        </p:txBody>
      </p:sp>
      <mc:AlternateContent xmlns:mc="http://schemas.openxmlformats.org/markup-compatibility/2006" xmlns:a14="http://schemas.microsoft.com/office/drawing/2010/main">
        <mc:Choice Requires="a14">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We have seen (simple) linear regression.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𝑝</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𝑝</m:t>
                          </m:r>
                        </m:sub>
                      </m:sSub>
                    </m:oMath>
                  </m:oMathPara>
                </a14:m>
                <a:endParaRPr lang="en-US" altLang="en-US" dirty="0"/>
              </a:p>
              <a:p>
                <a:r>
                  <a:rPr lang="en-US" altLang="en-US" dirty="0"/>
                  <a:t>Subset selection is a technique for reducing the number of variables. </a:t>
                </a:r>
              </a:p>
              <a:p>
                <a:r>
                  <a:rPr lang="en-US" altLang="en-US" dirty="0"/>
                  <a:t>Ridge Regression is a technique for keeping coefficients small.</a:t>
                </a:r>
              </a:p>
            </p:txBody>
          </p:sp>
        </mc:Choice>
        <mc:Fallback xmlns="">
          <p:sp>
            <p:nvSpPr>
              <p:cNvPr id="6146" name="Content Placeholder 2">
                <a:extLst>
                  <a:ext uri="{FF2B5EF4-FFF2-40B4-BE49-F238E27FC236}">
                    <a16:creationId xmlns:a16="http://schemas.microsoft.com/office/drawing/2014/main" id="{8DFB1FDB-789D-3A4E-B0C7-3BAF194C6643}"/>
                  </a:ext>
                </a:extLst>
              </p:cNvPr>
              <p:cNvSpPr>
                <a:spLocks noGrp="1" noRot="1" noChangeAspect="1" noMove="1" noResize="1" noEditPoints="1" noAdjustHandles="1" noChangeArrowheads="1" noChangeShapeType="1" noTextEdit="1"/>
              </p:cNvSpPr>
              <p:nvPr>
                <p:ph idx="1"/>
              </p:nvPr>
            </p:nvSpPr>
            <p:spPr>
              <a:xfrm>
                <a:off x="1098551" y="2051050"/>
                <a:ext cx="16084550" cy="6886576"/>
              </a:xfrm>
              <a:blipFill>
                <a:blip r:embed="rId2"/>
                <a:stretch>
                  <a:fillRect l="-1104" t="-1657"/>
                </a:stretch>
              </a:blipFill>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Objectives</a:t>
            </a:r>
          </a:p>
        </p:txBody>
      </p:sp>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Define LASSO regression. </a:t>
            </a:r>
          </a:p>
          <a:p>
            <a:r>
              <a:rPr lang="en-US" altLang="en-US" dirty="0"/>
              <a:t>Explain why LASSO is different from Ridge.</a:t>
            </a:r>
          </a:p>
          <a:p>
            <a:r>
              <a:rPr lang="en-US" altLang="en-US" dirty="0"/>
              <a:t>Describe the strengths and weaknesses of LASSO.</a:t>
            </a:r>
          </a:p>
        </p:txBody>
      </p:sp>
    </p:spTree>
    <p:extLst>
      <p:ext uri="{BB962C8B-B14F-4D97-AF65-F5344CB8AC3E}">
        <p14:creationId xmlns:p14="http://schemas.microsoft.com/office/powerpoint/2010/main" val="2774394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5C32-C768-E49C-F6A1-19103E49DC27}"/>
              </a:ext>
            </a:extLst>
          </p:cNvPr>
          <p:cNvSpPr>
            <a:spLocks noGrp="1"/>
          </p:cNvSpPr>
          <p:nvPr>
            <p:ph type="title"/>
          </p:nvPr>
        </p:nvSpPr>
        <p:spPr/>
        <p:txBody>
          <a:bodyPr/>
          <a:lstStyle/>
          <a:p>
            <a:r>
              <a:rPr lang="en-US" dirty="0"/>
              <a:t>Issues with Linear Regression</a:t>
            </a:r>
          </a:p>
        </p:txBody>
      </p:sp>
      <p:sp>
        <p:nvSpPr>
          <p:cNvPr id="3" name="Content Placeholder 2">
            <a:extLst>
              <a:ext uri="{FF2B5EF4-FFF2-40B4-BE49-F238E27FC236}">
                <a16:creationId xmlns:a16="http://schemas.microsoft.com/office/drawing/2014/main" id="{44DA5A34-31EA-3E31-ACEC-A697180DF75A}"/>
              </a:ext>
            </a:extLst>
          </p:cNvPr>
          <p:cNvSpPr>
            <a:spLocks noGrp="1"/>
          </p:cNvSpPr>
          <p:nvPr>
            <p:ph idx="1"/>
          </p:nvPr>
        </p:nvSpPr>
        <p:spPr/>
        <p:txBody>
          <a:bodyPr/>
          <a:lstStyle/>
          <a:p>
            <a:pPr algn="l">
              <a:buFont typeface="Arial" panose="020B0604020202020204" pitchFamily="34" charset="0"/>
              <a:buChar char="•"/>
            </a:pPr>
            <a:r>
              <a:rPr lang="en-US" i="0" u="none" strike="noStrike" dirty="0">
                <a:solidFill>
                  <a:srgbClr val="374151"/>
                </a:solidFill>
                <a:effectLst/>
              </a:rPr>
              <a:t>Overfitting</a:t>
            </a:r>
            <a:endParaRPr lang="en-US" dirty="0">
              <a:solidFill>
                <a:srgbClr val="374151"/>
              </a:solidFill>
            </a:endParaRPr>
          </a:p>
          <a:p>
            <a:pPr lvl="1">
              <a:buFont typeface="Arial" panose="020B0604020202020204" pitchFamily="34" charset="0"/>
              <a:buChar char="•"/>
            </a:pPr>
            <a:r>
              <a:rPr lang="en-US" b="0" i="0" u="none" strike="noStrike" dirty="0">
                <a:solidFill>
                  <a:srgbClr val="374151"/>
                </a:solidFill>
                <a:effectLst/>
              </a:rPr>
              <a:t>Model becomes too complex; captures noise.</a:t>
            </a:r>
          </a:p>
          <a:p>
            <a:pPr algn="l">
              <a:buFont typeface="Arial" panose="020B0604020202020204" pitchFamily="34" charset="0"/>
              <a:buChar char="•"/>
            </a:pPr>
            <a:r>
              <a:rPr lang="en-US" i="0" u="none" strike="noStrike" dirty="0">
                <a:solidFill>
                  <a:srgbClr val="374151"/>
                </a:solidFill>
                <a:effectLst/>
              </a:rPr>
              <a:t>Many features</a:t>
            </a:r>
          </a:p>
          <a:p>
            <a:pPr lvl="1">
              <a:buFont typeface="Arial" panose="020B0604020202020204" pitchFamily="34" charset="0"/>
              <a:buChar char="•"/>
            </a:pPr>
            <a:r>
              <a:rPr lang="en-US" b="0" i="0" u="none" strike="noStrike" dirty="0">
                <a:solidFill>
                  <a:srgbClr val="374151"/>
                </a:solidFill>
                <a:effectLst/>
              </a:rPr>
              <a:t>Not all might be relevant.</a:t>
            </a:r>
          </a:p>
          <a:p>
            <a:pPr algn="l">
              <a:buFont typeface="Arial" panose="020B0604020202020204" pitchFamily="34" charset="0"/>
              <a:buChar char="•"/>
            </a:pPr>
            <a:r>
              <a:rPr lang="en-US" i="0" u="none" strike="noStrike" dirty="0">
                <a:solidFill>
                  <a:srgbClr val="374151"/>
                </a:solidFill>
                <a:effectLst/>
              </a:rPr>
              <a:t>Large Coefficients</a:t>
            </a:r>
            <a:endParaRPr lang="en-US" dirty="0">
              <a:solidFill>
                <a:srgbClr val="374151"/>
              </a:solidFill>
            </a:endParaRPr>
          </a:p>
          <a:p>
            <a:pPr lvl="1">
              <a:buFont typeface="Arial" panose="020B0604020202020204" pitchFamily="34" charset="0"/>
              <a:buChar char="•"/>
            </a:pPr>
            <a:r>
              <a:rPr lang="en-US" b="0" i="0" u="none" strike="noStrike" dirty="0">
                <a:solidFill>
                  <a:srgbClr val="374151"/>
                </a:solidFill>
                <a:effectLst/>
              </a:rPr>
              <a:t>Could lead to unstable predictions.</a:t>
            </a:r>
          </a:p>
        </p:txBody>
      </p:sp>
    </p:spTree>
    <p:extLst>
      <p:ext uri="{BB962C8B-B14F-4D97-AF65-F5344CB8AC3E}">
        <p14:creationId xmlns:p14="http://schemas.microsoft.com/office/powerpoint/2010/main" val="3283049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5C32-C768-E49C-F6A1-19103E49DC27}"/>
              </a:ext>
            </a:extLst>
          </p:cNvPr>
          <p:cNvSpPr>
            <a:spLocks noGrp="1"/>
          </p:cNvSpPr>
          <p:nvPr>
            <p:ph type="title"/>
          </p:nvPr>
        </p:nvSpPr>
        <p:spPr/>
        <p:txBody>
          <a:bodyPr/>
          <a:lstStyle/>
          <a:p>
            <a:r>
              <a:rPr lang="en-US" dirty="0"/>
              <a:t>Regularization</a:t>
            </a:r>
          </a:p>
        </p:txBody>
      </p:sp>
      <p:sp>
        <p:nvSpPr>
          <p:cNvPr id="3" name="Content Placeholder 2">
            <a:extLst>
              <a:ext uri="{FF2B5EF4-FFF2-40B4-BE49-F238E27FC236}">
                <a16:creationId xmlns:a16="http://schemas.microsoft.com/office/drawing/2014/main" id="{44DA5A34-31EA-3E31-ACEC-A697180DF75A}"/>
              </a:ext>
            </a:extLst>
          </p:cNvPr>
          <p:cNvSpPr>
            <a:spLocks noGrp="1"/>
          </p:cNvSpPr>
          <p:nvPr>
            <p:ph idx="1"/>
          </p:nvPr>
        </p:nvSpPr>
        <p:spPr/>
        <p:txBody>
          <a:bodyPr/>
          <a:lstStyle/>
          <a:p>
            <a:pPr algn="l">
              <a:buFont typeface="Arial" panose="020B0604020202020204" pitchFamily="34" charset="0"/>
              <a:buChar char="•"/>
            </a:pPr>
            <a:r>
              <a:rPr lang="en-US" b="1" i="0" u="sng" strike="noStrike" dirty="0">
                <a:solidFill>
                  <a:srgbClr val="374151"/>
                </a:solidFill>
                <a:effectLst/>
              </a:rPr>
              <a:t>Idea</a:t>
            </a:r>
            <a:r>
              <a:rPr lang="en-US" b="0" i="0" u="none" strike="noStrike" dirty="0">
                <a:solidFill>
                  <a:srgbClr val="374151"/>
                </a:solidFill>
                <a:effectLst/>
              </a:rPr>
              <a:t>: Add a </a:t>
            </a:r>
            <a:r>
              <a:rPr lang="en-US" b="0" i="1" u="none" strike="noStrike" dirty="0">
                <a:solidFill>
                  <a:schemeClr val="bg1"/>
                </a:solidFill>
                <a:effectLst/>
              </a:rPr>
              <a:t>penalty</a:t>
            </a:r>
            <a:r>
              <a:rPr lang="en-US" b="0" i="0" u="none" strike="noStrike" dirty="0">
                <a:solidFill>
                  <a:srgbClr val="374151"/>
                </a:solidFill>
                <a:effectLst/>
              </a:rPr>
              <a:t> to the linear regression coefficients!</a:t>
            </a:r>
          </a:p>
          <a:p>
            <a:pPr algn="l">
              <a:buFont typeface="Arial" panose="020B0604020202020204" pitchFamily="34" charset="0"/>
              <a:buChar char="•"/>
            </a:pPr>
            <a:r>
              <a:rPr lang="en-US" b="0" i="0" u="none" strike="noStrike" dirty="0">
                <a:solidFill>
                  <a:srgbClr val="374151"/>
                </a:solidFill>
                <a:effectLst/>
              </a:rPr>
              <a:t>Helps in reducing model complexity.</a:t>
            </a:r>
          </a:p>
          <a:p>
            <a:pPr algn="l">
              <a:buFont typeface="Arial" panose="020B0604020202020204" pitchFamily="34" charset="0"/>
              <a:buChar char="•"/>
            </a:pPr>
            <a:r>
              <a:rPr lang="en-US" b="0" i="0" u="none" strike="noStrike" dirty="0">
                <a:solidFill>
                  <a:srgbClr val="374151"/>
                </a:solidFill>
                <a:effectLst/>
              </a:rPr>
              <a:t>Ridge regression is one such regularization technique</a:t>
            </a:r>
            <a:r>
              <a:rPr lang="en-US" dirty="0">
                <a:solidFill>
                  <a:srgbClr val="374151"/>
                </a:solidFill>
              </a:rPr>
              <a:t>; LASSO is another!</a:t>
            </a:r>
            <a:endParaRPr lang="en-US" b="0" i="0" u="none" strike="noStrike" dirty="0">
              <a:solidFill>
                <a:srgbClr val="374151"/>
              </a:solidFill>
              <a:effectLst/>
            </a:endParaRPr>
          </a:p>
        </p:txBody>
      </p:sp>
    </p:spTree>
    <p:extLst>
      <p:ext uri="{BB962C8B-B14F-4D97-AF65-F5344CB8AC3E}">
        <p14:creationId xmlns:p14="http://schemas.microsoft.com/office/powerpoint/2010/main" val="2308680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5C32-C768-E49C-F6A1-19103E49DC27}"/>
              </a:ext>
            </a:extLst>
          </p:cNvPr>
          <p:cNvSpPr>
            <a:spLocks noGrp="1"/>
          </p:cNvSpPr>
          <p:nvPr>
            <p:ph type="title"/>
          </p:nvPr>
        </p:nvSpPr>
        <p:spPr/>
        <p:txBody>
          <a:bodyPr/>
          <a:lstStyle/>
          <a:p>
            <a:r>
              <a:rPr lang="en-US" b="1" i="0" u="none" strike="noStrike" dirty="0">
                <a:effectLst/>
              </a:rPr>
              <a:t>LASSO - Intuition</a:t>
            </a:r>
            <a:endParaRPr lang="en-US" dirty="0"/>
          </a:p>
        </p:txBody>
      </p:sp>
      <p:sp>
        <p:nvSpPr>
          <p:cNvPr id="3" name="Content Placeholder 2">
            <a:extLst>
              <a:ext uri="{FF2B5EF4-FFF2-40B4-BE49-F238E27FC236}">
                <a16:creationId xmlns:a16="http://schemas.microsoft.com/office/drawing/2014/main" id="{44DA5A34-31EA-3E31-ACEC-A697180DF75A}"/>
              </a:ext>
            </a:extLst>
          </p:cNvPr>
          <p:cNvSpPr>
            <a:spLocks noGrp="1"/>
          </p:cNvSpPr>
          <p:nvPr>
            <p:ph idx="1"/>
          </p:nvPr>
        </p:nvSpPr>
        <p:spPr/>
        <p:txBody>
          <a:bodyPr/>
          <a:lstStyle/>
          <a:p>
            <a:pPr algn="l">
              <a:buFont typeface="Arial" panose="020B0604020202020204" pitchFamily="34" charset="0"/>
              <a:buChar char="•"/>
            </a:pPr>
            <a:r>
              <a:rPr lang="en-US" i="0" strike="noStrike" dirty="0">
                <a:solidFill>
                  <a:srgbClr val="374151"/>
                </a:solidFill>
                <a:effectLst/>
              </a:rPr>
              <a:t>Instead of just minimizing the sum of squared residuals, also minimize the magnitude of coefficients.</a:t>
            </a:r>
          </a:p>
          <a:p>
            <a:pPr lvl="1">
              <a:buFont typeface="Arial" panose="020B0604020202020204" pitchFamily="34" charset="0"/>
              <a:buChar char="•"/>
            </a:pPr>
            <a:r>
              <a:rPr lang="en-US" dirty="0">
                <a:solidFill>
                  <a:srgbClr val="374151"/>
                </a:solidFill>
              </a:rPr>
              <a:t>Difference from ridge: coefficients more easily go to zero.</a:t>
            </a:r>
            <a:endParaRPr lang="en-US" i="0" strike="noStrike" dirty="0">
              <a:solidFill>
                <a:srgbClr val="374151"/>
              </a:solidFill>
              <a:effectLst/>
            </a:endParaRPr>
          </a:p>
          <a:p>
            <a:pPr algn="l">
              <a:buFont typeface="Arial" panose="020B0604020202020204" pitchFamily="34" charset="0"/>
              <a:buChar char="•"/>
            </a:pPr>
            <a:r>
              <a:rPr lang="en-US" i="0" strike="noStrike" dirty="0">
                <a:solidFill>
                  <a:srgbClr val="374151"/>
                </a:solidFill>
                <a:effectLst/>
              </a:rPr>
              <a:t>We trade off between fitting our data well and keeping coefficients small.</a:t>
            </a:r>
          </a:p>
        </p:txBody>
      </p:sp>
    </p:spTree>
    <p:extLst>
      <p:ext uri="{BB962C8B-B14F-4D97-AF65-F5344CB8AC3E}">
        <p14:creationId xmlns:p14="http://schemas.microsoft.com/office/powerpoint/2010/main" val="2263159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5C32-C768-E49C-F6A1-19103E49DC27}"/>
              </a:ext>
            </a:extLst>
          </p:cNvPr>
          <p:cNvSpPr>
            <a:spLocks noGrp="1"/>
          </p:cNvSpPr>
          <p:nvPr>
            <p:ph type="title"/>
          </p:nvPr>
        </p:nvSpPr>
        <p:spPr/>
        <p:txBody>
          <a:bodyPr/>
          <a:lstStyle/>
          <a:p>
            <a:r>
              <a:rPr lang="en-US" b="1" i="0" u="none" strike="noStrike" dirty="0">
                <a:effectLst/>
              </a:rPr>
              <a:t>Basics of LASSO Regression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DA5A34-31EA-3E31-ACEC-A697180DF75A}"/>
                  </a:ext>
                </a:extLst>
              </p:cNvPr>
              <p:cNvSpPr>
                <a:spLocks noGrp="1"/>
              </p:cNvSpPr>
              <p:nvPr>
                <p:ph idx="1"/>
              </p:nvPr>
            </p:nvSpPr>
            <p:spPr/>
            <p:txBody>
              <a:bodyPr/>
              <a:lstStyle/>
              <a:p>
                <a:pPr>
                  <a:buFont typeface="Arial" panose="020B0604020202020204" pitchFamily="34" charset="0"/>
                  <a:buChar char="•"/>
                </a:pPr>
                <a:r>
                  <a:rPr lang="en-US" b="0" i="0" u="none" strike="noStrike" dirty="0">
                    <a:solidFill>
                      <a:srgbClr val="374151"/>
                    </a:solidFill>
                    <a:effectLst/>
                  </a:rPr>
                  <a:t>Stands for "Least Absolute Shrinkage and Selection Operator".</a:t>
                </a:r>
                <a:endParaRPr lang="en-US" i="0" u="none" strike="noStrike" dirty="0">
                  <a:effectLst/>
                </a:endParaRPr>
              </a:p>
              <a:p>
                <a:pPr>
                  <a:buFont typeface="Arial" panose="020B0604020202020204" pitchFamily="34" charset="0"/>
                  <a:buChar char="•"/>
                </a:pPr>
                <a:r>
                  <a:rPr lang="en-US" i="0" u="none" strike="noStrike" dirty="0">
                    <a:effectLst/>
                  </a:rPr>
                  <a:t>Formula:</a:t>
                </a:r>
                <a:r>
                  <a:rPr lang="en-US" b="0" i="0" u="none" strike="noStrike" dirty="0">
                    <a:solidFill>
                      <a:srgbClr val="374151"/>
                    </a:solidFill>
                    <a:effectLst/>
                  </a:rPr>
                  <a:t> </a:t>
                </a:r>
              </a:p>
              <a:p>
                <a:pPr marL="0" indent="0">
                  <a:buNone/>
                </a:pPr>
                <a14:m>
                  <m:oMathPara xmlns:m="http://schemas.openxmlformats.org/officeDocument/2006/math">
                    <m:oMathParaPr>
                      <m:jc m:val="centerGroup"/>
                    </m:oMathParaPr>
                    <m:oMath xmlns:m="http://schemas.openxmlformats.org/officeDocument/2006/math">
                      <m:sSub>
                        <m:sSubPr>
                          <m:ctrlPr>
                            <a:rPr lang="en-US" b="0" i="1" u="none" strike="noStrike" smtClean="0">
                              <a:solidFill>
                                <a:srgbClr val="374151"/>
                              </a:solidFill>
                              <a:effectLst/>
                              <a:latin typeface="Cambria Math" panose="02040503050406030204" pitchFamily="18" charset="0"/>
                            </a:rPr>
                          </m:ctrlPr>
                        </m:sSubPr>
                        <m:e>
                          <m:r>
                            <m:rPr>
                              <m:sty m:val="p"/>
                            </m:rPr>
                            <a:rPr lang="en-US">
                              <a:solidFill>
                                <a:srgbClr val="374151"/>
                              </a:solidFill>
                              <a:latin typeface="Cambria Math" panose="02040503050406030204" pitchFamily="18" charset="0"/>
                            </a:rPr>
                            <m:t>min</m:t>
                          </m:r>
                        </m:e>
                        <m:sub>
                          <m:acc>
                            <m:accPr>
                              <m:chr m:val="̂"/>
                              <m:ctrlPr>
                                <a:rPr lang="en-US" b="0" i="1" u="none" strike="noStrike" smtClean="0">
                                  <a:solidFill>
                                    <a:srgbClr val="374151"/>
                                  </a:solidFill>
                                  <a:effectLst/>
                                  <a:latin typeface="Cambria Math" panose="02040503050406030204" pitchFamily="18" charset="0"/>
                                  <a:ea typeface="Cambria Math" panose="02040503050406030204" pitchFamily="18" charset="0"/>
                                </a:rPr>
                              </m:ctrlPr>
                            </m:accPr>
                            <m:e>
                              <m:r>
                                <a:rPr lang="en-US" b="0" i="1" u="none" strike="noStrike" smtClean="0">
                                  <a:solidFill>
                                    <a:srgbClr val="374151"/>
                                  </a:solidFill>
                                  <a:effectLst/>
                                  <a:latin typeface="Cambria Math" panose="02040503050406030204" pitchFamily="18" charset="0"/>
                                  <a:ea typeface="Cambria Math" panose="02040503050406030204" pitchFamily="18" charset="0"/>
                                </a:rPr>
                                <m:t>𝛽</m:t>
                              </m:r>
                            </m:e>
                          </m:acc>
                        </m:sub>
                      </m:sSub>
                      <m:r>
                        <a:rPr lang="en-US" b="0" i="1" u="none" strike="noStrike" smtClean="0">
                          <a:solidFill>
                            <a:srgbClr val="374151"/>
                          </a:solidFill>
                          <a:effectLst/>
                          <a:latin typeface="Cambria Math" panose="02040503050406030204" pitchFamily="18" charset="0"/>
                        </a:rPr>
                        <m:t> </m:t>
                      </m:r>
                      <m:sSup>
                        <m:sSupPr>
                          <m:ctrlPr>
                            <a:rPr lang="en-US" b="0" i="1" u="none" strike="noStrike" smtClean="0">
                              <a:solidFill>
                                <a:srgbClr val="374151"/>
                              </a:solidFill>
                              <a:effectLst/>
                              <a:latin typeface="Cambria Math" panose="02040503050406030204" pitchFamily="18" charset="0"/>
                            </a:rPr>
                          </m:ctrlPr>
                        </m:sSupPr>
                        <m:e>
                          <m:d>
                            <m:dPr>
                              <m:ctrlPr>
                                <a:rPr lang="en-US" i="1">
                                  <a:solidFill>
                                    <a:srgbClr val="374151"/>
                                  </a:solidFill>
                                  <a:latin typeface="Cambria Math" panose="02040503050406030204" pitchFamily="18" charset="0"/>
                                </a:rPr>
                              </m:ctrlPr>
                            </m:dPr>
                            <m:e>
                              <m:r>
                                <a:rPr lang="en-US" b="0" i="1" smtClean="0">
                                  <a:solidFill>
                                    <a:srgbClr val="374151"/>
                                  </a:solidFill>
                                  <a:latin typeface="Cambria Math" panose="02040503050406030204" pitchFamily="18" charset="0"/>
                                </a:rPr>
                                <m:t>𝑦</m:t>
                              </m:r>
                              <m:r>
                                <a:rPr lang="en-US" i="1">
                                  <a:solidFill>
                                    <a:srgbClr val="374151"/>
                                  </a:solidFill>
                                  <a:latin typeface="Cambria Math" panose="02040503050406030204" pitchFamily="18" charset="0"/>
                                </a:rPr>
                                <m:t>−</m:t>
                              </m:r>
                              <m:r>
                                <a:rPr lang="en-US" b="1" i="1">
                                  <a:solidFill>
                                    <a:srgbClr val="374151"/>
                                  </a:solidFill>
                                  <a:latin typeface="Cambria Math" panose="02040503050406030204" pitchFamily="18" charset="0"/>
                                </a:rPr>
                                <m:t>𝑿</m:t>
                              </m:r>
                              <m:acc>
                                <m:accPr>
                                  <m:chr m:val="̂"/>
                                  <m:ctrlPr>
                                    <a:rPr lang="en-US" b="1" i="1">
                                      <a:solidFill>
                                        <a:srgbClr val="374151"/>
                                      </a:solidFill>
                                      <a:latin typeface="Cambria Math" panose="02040503050406030204" pitchFamily="18" charset="0"/>
                                      <a:ea typeface="Cambria Math" panose="02040503050406030204" pitchFamily="18" charset="0"/>
                                    </a:rPr>
                                  </m:ctrlPr>
                                </m:accPr>
                                <m:e>
                                  <m:r>
                                    <a:rPr lang="en-US" b="1" i="1">
                                      <a:solidFill>
                                        <a:srgbClr val="374151"/>
                                      </a:solidFill>
                                      <a:latin typeface="Cambria Math" panose="02040503050406030204" pitchFamily="18" charset="0"/>
                                      <a:ea typeface="Cambria Math" panose="02040503050406030204" pitchFamily="18" charset="0"/>
                                    </a:rPr>
                                    <m:t>𝜷</m:t>
                                  </m:r>
                                </m:e>
                              </m:acc>
                            </m:e>
                          </m:d>
                        </m:e>
                        <m:sup>
                          <m:r>
                            <a:rPr lang="en-US" b="0" i="1" u="none" strike="noStrike" smtClean="0">
                              <a:solidFill>
                                <a:srgbClr val="374151"/>
                              </a:solidFill>
                              <a:effectLst/>
                              <a:latin typeface="Cambria Math" panose="02040503050406030204" pitchFamily="18" charset="0"/>
                            </a:rPr>
                            <m:t>𝑇</m:t>
                          </m:r>
                        </m:sup>
                      </m:sSup>
                      <m:d>
                        <m:dPr>
                          <m:ctrlPr>
                            <a:rPr lang="en-US" b="0" i="1" u="none" strike="noStrike" smtClean="0">
                              <a:solidFill>
                                <a:srgbClr val="374151"/>
                              </a:solidFill>
                              <a:effectLst/>
                              <a:latin typeface="Cambria Math" panose="02040503050406030204" pitchFamily="18" charset="0"/>
                            </a:rPr>
                          </m:ctrlPr>
                        </m:dPr>
                        <m:e>
                          <m:r>
                            <a:rPr lang="en-US" b="0" i="1" u="none" strike="noStrike" smtClean="0">
                              <a:solidFill>
                                <a:srgbClr val="374151"/>
                              </a:solidFill>
                              <a:effectLst/>
                              <a:latin typeface="Cambria Math" panose="02040503050406030204" pitchFamily="18" charset="0"/>
                            </a:rPr>
                            <m:t>𝑦</m:t>
                          </m:r>
                          <m:r>
                            <a:rPr lang="en-US" i="1">
                              <a:solidFill>
                                <a:srgbClr val="374151"/>
                              </a:solidFill>
                              <a:latin typeface="Cambria Math" panose="02040503050406030204" pitchFamily="18" charset="0"/>
                            </a:rPr>
                            <m:t>−</m:t>
                          </m:r>
                          <m:r>
                            <a:rPr lang="en-US" b="1" i="1">
                              <a:solidFill>
                                <a:srgbClr val="374151"/>
                              </a:solidFill>
                              <a:latin typeface="Cambria Math" panose="02040503050406030204" pitchFamily="18" charset="0"/>
                            </a:rPr>
                            <m:t>𝑿</m:t>
                          </m:r>
                          <m:acc>
                            <m:accPr>
                              <m:chr m:val="̂"/>
                              <m:ctrlPr>
                                <a:rPr lang="en-US" b="1" i="1">
                                  <a:solidFill>
                                    <a:srgbClr val="374151"/>
                                  </a:solidFill>
                                  <a:latin typeface="Cambria Math" panose="02040503050406030204" pitchFamily="18" charset="0"/>
                                  <a:ea typeface="Cambria Math" panose="02040503050406030204" pitchFamily="18" charset="0"/>
                                </a:rPr>
                              </m:ctrlPr>
                            </m:accPr>
                            <m:e>
                              <m:r>
                                <a:rPr lang="en-US" b="1" i="1">
                                  <a:solidFill>
                                    <a:srgbClr val="374151"/>
                                  </a:solidFill>
                                  <a:latin typeface="Cambria Math" panose="02040503050406030204" pitchFamily="18" charset="0"/>
                                  <a:ea typeface="Cambria Math" panose="02040503050406030204" pitchFamily="18" charset="0"/>
                                </a:rPr>
                                <m:t>𝜷</m:t>
                              </m:r>
                            </m:e>
                          </m:acc>
                        </m:e>
                      </m:d>
                      <m:r>
                        <a:rPr lang="en-US" b="1" i="1" smtClean="0">
                          <a:solidFill>
                            <a:srgbClr val="374151"/>
                          </a:solidFill>
                          <a:latin typeface="Cambria Math" panose="02040503050406030204" pitchFamily="18" charset="0"/>
                          <a:ea typeface="Cambria Math" panose="02040503050406030204" pitchFamily="18" charset="0"/>
                        </a:rPr>
                        <m:t>+ </m:t>
                      </m:r>
                      <m:r>
                        <a:rPr lang="en-US" b="0" i="1" smtClean="0">
                          <a:solidFill>
                            <a:srgbClr val="374151"/>
                          </a:solidFill>
                          <a:latin typeface="Cambria Math" panose="02040503050406030204" pitchFamily="18" charset="0"/>
                          <a:ea typeface="Cambria Math" panose="02040503050406030204" pitchFamily="18" charset="0"/>
                        </a:rPr>
                        <m:t>𝜆</m:t>
                      </m:r>
                      <m:nary>
                        <m:naryPr>
                          <m:chr m:val="∑"/>
                          <m:ctrlPr>
                            <a:rPr lang="en-US" b="0" i="1" smtClean="0">
                              <a:solidFill>
                                <a:srgbClr val="374151"/>
                              </a:solidFill>
                              <a:latin typeface="Cambria Math" panose="02040503050406030204" pitchFamily="18" charset="0"/>
                              <a:ea typeface="Cambria Math" panose="02040503050406030204" pitchFamily="18" charset="0"/>
                            </a:rPr>
                          </m:ctrlPr>
                        </m:naryPr>
                        <m:sub>
                          <m:r>
                            <m:rPr>
                              <m:brk m:alnAt="23"/>
                            </m:rPr>
                            <a:rPr lang="en-US" b="0" i="1" smtClean="0">
                              <a:solidFill>
                                <a:srgbClr val="374151"/>
                              </a:solidFill>
                              <a:latin typeface="Cambria Math" panose="02040503050406030204" pitchFamily="18" charset="0"/>
                              <a:ea typeface="Cambria Math" panose="02040503050406030204" pitchFamily="18" charset="0"/>
                            </a:rPr>
                            <m:t>𝑖</m:t>
                          </m:r>
                          <m:r>
                            <a:rPr lang="en-US" b="0" i="1" smtClean="0">
                              <a:solidFill>
                                <a:srgbClr val="374151"/>
                              </a:solidFill>
                              <a:latin typeface="Cambria Math" panose="02040503050406030204" pitchFamily="18" charset="0"/>
                              <a:ea typeface="Cambria Math" panose="02040503050406030204" pitchFamily="18" charset="0"/>
                            </a:rPr>
                            <m:t>=1</m:t>
                          </m:r>
                        </m:sub>
                        <m:sup>
                          <m:r>
                            <a:rPr lang="en-US" b="0" i="1" smtClean="0">
                              <a:solidFill>
                                <a:srgbClr val="374151"/>
                              </a:solidFill>
                              <a:latin typeface="Cambria Math" panose="02040503050406030204" pitchFamily="18" charset="0"/>
                              <a:ea typeface="Cambria Math" panose="02040503050406030204" pitchFamily="18" charset="0"/>
                            </a:rPr>
                            <m:t>𝑝</m:t>
                          </m:r>
                        </m:sup>
                        <m:e>
                          <m:d>
                            <m:dPr>
                              <m:begChr m:val="|"/>
                              <m:endChr m:val="|"/>
                              <m:ctrlPr>
                                <a:rPr lang="en-US" b="0" i="1" smtClean="0">
                                  <a:solidFill>
                                    <a:srgbClr val="374151"/>
                                  </a:solidFill>
                                  <a:latin typeface="Cambria Math" panose="02040503050406030204" pitchFamily="18" charset="0"/>
                                  <a:ea typeface="Cambria Math" panose="02040503050406030204" pitchFamily="18" charset="0"/>
                                </a:rPr>
                              </m:ctrlPr>
                            </m:dPr>
                            <m:e>
                              <m:acc>
                                <m:accPr>
                                  <m:chr m:val="̂"/>
                                  <m:ctrlPr>
                                    <a:rPr lang="en-US" i="1">
                                      <a:solidFill>
                                        <a:srgbClr val="374151"/>
                                      </a:solidFill>
                                      <a:latin typeface="Cambria Math" panose="02040503050406030204" pitchFamily="18" charset="0"/>
                                      <a:ea typeface="Cambria Math" panose="02040503050406030204" pitchFamily="18" charset="0"/>
                                    </a:rPr>
                                  </m:ctrlPr>
                                </m:accPr>
                                <m:e>
                                  <m:sSub>
                                    <m:sSubPr>
                                      <m:ctrlPr>
                                        <a:rPr lang="en-US" i="1">
                                          <a:solidFill>
                                            <a:srgbClr val="374151"/>
                                          </a:solidFill>
                                          <a:latin typeface="Cambria Math" panose="02040503050406030204" pitchFamily="18" charset="0"/>
                                          <a:ea typeface="Cambria Math" panose="02040503050406030204" pitchFamily="18" charset="0"/>
                                        </a:rPr>
                                      </m:ctrlPr>
                                    </m:sSubPr>
                                    <m:e>
                                      <m:r>
                                        <a:rPr lang="en-US" i="1">
                                          <a:solidFill>
                                            <a:srgbClr val="374151"/>
                                          </a:solidFill>
                                          <a:latin typeface="Cambria Math" panose="02040503050406030204" pitchFamily="18" charset="0"/>
                                          <a:ea typeface="Cambria Math" panose="02040503050406030204" pitchFamily="18" charset="0"/>
                                        </a:rPr>
                                        <m:t>𝛽</m:t>
                                      </m:r>
                                    </m:e>
                                    <m:sub>
                                      <m:r>
                                        <a:rPr lang="en-US" i="1">
                                          <a:solidFill>
                                            <a:srgbClr val="374151"/>
                                          </a:solidFill>
                                          <a:latin typeface="Cambria Math" panose="02040503050406030204" pitchFamily="18" charset="0"/>
                                          <a:ea typeface="Cambria Math" panose="02040503050406030204" pitchFamily="18" charset="0"/>
                                        </a:rPr>
                                        <m:t>𝑖</m:t>
                                      </m:r>
                                    </m:sub>
                                  </m:sSub>
                                </m:e>
                              </m:acc>
                            </m:e>
                          </m:d>
                        </m:e>
                      </m:nary>
                    </m:oMath>
                  </m:oMathPara>
                </a14:m>
                <a:endParaRPr lang="en-US" u="none" strike="noStrike" dirty="0">
                  <a:solidFill>
                    <a:srgbClr val="374151"/>
                  </a:solidFill>
                  <a:effectLst/>
                </a:endParaRPr>
              </a:p>
              <a:p>
                <a:pPr>
                  <a:buFont typeface="Arial" panose="020B0604020202020204" pitchFamily="34" charset="0"/>
                  <a:buChar char="•"/>
                </a:pPr>
                <a14:m>
                  <m:oMath xmlns:m="http://schemas.openxmlformats.org/officeDocument/2006/math">
                    <m:r>
                      <a:rPr lang="en-US" b="0" i="1" smtClean="0">
                        <a:solidFill>
                          <a:srgbClr val="374151"/>
                        </a:solidFill>
                        <a:latin typeface="Cambria Math" panose="02040503050406030204" pitchFamily="18" charset="0"/>
                        <a:ea typeface="Cambria Math" panose="02040503050406030204" pitchFamily="18" charset="0"/>
                      </a:rPr>
                      <m:t>𝜆</m:t>
                    </m:r>
                  </m:oMath>
                </a14:m>
                <a:r>
                  <a:rPr lang="en-US" u="none" strike="noStrike" dirty="0">
                    <a:solidFill>
                      <a:srgbClr val="374151"/>
                    </a:solidFill>
                    <a:effectLst/>
                  </a:rPr>
                  <a:t> is the </a:t>
                </a:r>
                <a:r>
                  <a:rPr lang="en-US" b="1" u="none" strike="noStrike" dirty="0">
                    <a:solidFill>
                      <a:schemeClr val="bg1"/>
                    </a:solidFill>
                    <a:effectLst/>
                  </a:rPr>
                  <a:t>regularization strength</a:t>
                </a:r>
                <a:r>
                  <a:rPr lang="en-US" u="none" strike="noStrike" dirty="0">
                    <a:solidFill>
                      <a:srgbClr val="374151"/>
                    </a:solidFill>
                    <a:effectLst/>
                  </a:rPr>
                  <a:t>. </a:t>
                </a:r>
              </a:p>
              <a:p>
                <a:pPr lvl="1">
                  <a:buFont typeface="Arial" panose="020B0604020202020204" pitchFamily="34" charset="0"/>
                  <a:buChar char="•"/>
                </a:pPr>
                <a14:m>
                  <m:oMath xmlns:m="http://schemas.openxmlformats.org/officeDocument/2006/math">
                    <m:r>
                      <a:rPr lang="en-US" b="0" i="1" smtClean="0">
                        <a:solidFill>
                          <a:srgbClr val="374151"/>
                        </a:solidFill>
                        <a:latin typeface="Cambria Math" panose="02040503050406030204" pitchFamily="18" charset="0"/>
                        <a:ea typeface="Cambria Math" panose="02040503050406030204" pitchFamily="18" charset="0"/>
                      </a:rPr>
                      <m:t>𝜆</m:t>
                    </m:r>
                    <m:r>
                      <a:rPr lang="en-US" b="0" i="1" smtClean="0">
                        <a:solidFill>
                          <a:srgbClr val="374151"/>
                        </a:solidFill>
                        <a:latin typeface="Cambria Math" panose="02040503050406030204" pitchFamily="18" charset="0"/>
                        <a:ea typeface="Cambria Math" panose="02040503050406030204" pitchFamily="18" charset="0"/>
                      </a:rPr>
                      <m:t>=0</m:t>
                    </m:r>
                  </m:oMath>
                </a14:m>
                <a:r>
                  <a:rPr lang="en-US" b="0" i="0" u="none" strike="noStrike" dirty="0">
                    <a:solidFill>
                      <a:srgbClr val="374151"/>
                    </a:solidFill>
                    <a:effectLst/>
                  </a:rPr>
                  <a:t> is the same as simple linear regression.</a:t>
                </a:r>
                <a:endParaRPr lang="en-US" b="0" i="0" u="none" dirty="0">
                  <a:solidFill>
                    <a:srgbClr val="374151"/>
                  </a:solidFill>
                  <a:effectLst/>
                </a:endParaRPr>
              </a:p>
            </p:txBody>
          </p:sp>
        </mc:Choice>
        <mc:Fallback xmlns="">
          <p:sp>
            <p:nvSpPr>
              <p:cNvPr id="3" name="Content Placeholder 2">
                <a:extLst>
                  <a:ext uri="{FF2B5EF4-FFF2-40B4-BE49-F238E27FC236}">
                    <a16:creationId xmlns:a16="http://schemas.microsoft.com/office/drawing/2014/main" id="{44DA5A34-31EA-3E31-ACEC-A697180DF75A}"/>
                  </a:ext>
                </a:extLst>
              </p:cNvPr>
              <p:cNvSpPr>
                <a:spLocks noGrp="1" noRot="1" noChangeAspect="1" noMove="1" noResize="1" noEditPoints="1" noAdjustHandles="1" noChangeArrowheads="1" noChangeShapeType="1" noTextEdit="1"/>
              </p:cNvSpPr>
              <p:nvPr>
                <p:ph idx="1"/>
              </p:nvPr>
            </p:nvSpPr>
            <p:spPr>
              <a:blipFill>
                <a:blip r:embed="rId2"/>
                <a:stretch>
                  <a:fillRect l="-1183" t="-3867"/>
                </a:stretch>
              </a:blipFill>
            </p:spPr>
            <p:txBody>
              <a:bodyPr/>
              <a:lstStyle/>
              <a:p>
                <a:r>
                  <a:rPr lang="en-US">
                    <a:noFill/>
                  </a:rPr>
                  <a:t> </a:t>
                </a:r>
              </a:p>
            </p:txBody>
          </p:sp>
        </mc:Fallback>
      </mc:AlternateContent>
    </p:spTree>
    <p:extLst>
      <p:ext uri="{BB962C8B-B14F-4D97-AF65-F5344CB8AC3E}">
        <p14:creationId xmlns:p14="http://schemas.microsoft.com/office/powerpoint/2010/main" val="1687955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5C32-C768-E49C-F6A1-19103E49DC27}"/>
              </a:ext>
            </a:extLst>
          </p:cNvPr>
          <p:cNvSpPr>
            <a:spLocks noGrp="1"/>
          </p:cNvSpPr>
          <p:nvPr>
            <p:ph type="title"/>
          </p:nvPr>
        </p:nvSpPr>
        <p:spPr/>
        <p:txBody>
          <a:bodyPr/>
          <a:lstStyle/>
          <a:p>
            <a:r>
              <a:rPr lang="en-US" b="1" i="0" u="none" strike="noStrike" dirty="0">
                <a:effectLst/>
              </a:rPr>
              <a:t>What Distinguishes LASSO?</a:t>
            </a:r>
            <a:endParaRPr lang="en-US" dirty="0"/>
          </a:p>
        </p:txBody>
      </p:sp>
      <p:sp>
        <p:nvSpPr>
          <p:cNvPr id="3" name="Content Placeholder 2">
            <a:extLst>
              <a:ext uri="{FF2B5EF4-FFF2-40B4-BE49-F238E27FC236}">
                <a16:creationId xmlns:a16="http://schemas.microsoft.com/office/drawing/2014/main" id="{44DA5A34-31EA-3E31-ACEC-A697180DF75A}"/>
              </a:ext>
            </a:extLst>
          </p:cNvPr>
          <p:cNvSpPr>
            <a:spLocks noGrp="1"/>
          </p:cNvSpPr>
          <p:nvPr>
            <p:ph idx="1"/>
          </p:nvPr>
        </p:nvSpPr>
        <p:spPr/>
        <p:txBody>
          <a:bodyPr/>
          <a:lstStyle/>
          <a:p>
            <a:pPr algn="l">
              <a:buFont typeface="Arial" panose="020B0604020202020204" pitchFamily="34" charset="0"/>
              <a:buChar char="•"/>
            </a:pPr>
            <a:r>
              <a:rPr lang="en-US" dirty="0">
                <a:solidFill>
                  <a:srgbClr val="374151"/>
                </a:solidFill>
              </a:rPr>
              <a:t>R</a:t>
            </a:r>
            <a:r>
              <a:rPr lang="en-US" b="0" i="0" u="none" strike="noStrike" dirty="0">
                <a:solidFill>
                  <a:srgbClr val="374151"/>
                </a:solidFill>
                <a:effectLst/>
              </a:rPr>
              <a:t>egularization penalizes the absolute value of coefficients; not the squares.</a:t>
            </a:r>
          </a:p>
          <a:p>
            <a:pPr lvl="1">
              <a:buFont typeface="Arial" panose="020B0604020202020204" pitchFamily="34" charset="0"/>
              <a:buChar char="•"/>
            </a:pPr>
            <a:r>
              <a:rPr lang="en-US" i="0" u="none" strike="noStrike" dirty="0">
                <a:solidFill>
                  <a:srgbClr val="374151"/>
                </a:solidFill>
                <a:effectLst/>
              </a:rPr>
              <a:t>Side Effect</a:t>
            </a:r>
            <a:endParaRPr lang="en-US" b="0" i="0" u="none" strike="noStrike" dirty="0">
              <a:solidFill>
                <a:srgbClr val="374151"/>
              </a:solidFill>
              <a:effectLst/>
            </a:endParaRPr>
          </a:p>
          <a:p>
            <a:pPr lvl="2">
              <a:buFont typeface="Arial" panose="020B0604020202020204" pitchFamily="34" charset="0"/>
              <a:buChar char="•"/>
            </a:pPr>
            <a:r>
              <a:rPr lang="en-US" b="0" i="0" u="none" strike="noStrike" dirty="0">
                <a:solidFill>
                  <a:srgbClr val="374151"/>
                </a:solidFill>
                <a:effectLst/>
              </a:rPr>
              <a:t>Can reduce some coefficients to exactly zero and eliminate them altogether!</a:t>
            </a:r>
            <a:endParaRPr lang="en-US" dirty="0">
              <a:solidFill>
                <a:srgbClr val="374151"/>
              </a:solidFill>
            </a:endParaRPr>
          </a:p>
          <a:p>
            <a:pPr lvl="2">
              <a:buFont typeface="Arial" panose="020B0604020202020204" pitchFamily="34" charset="0"/>
              <a:buChar char="•"/>
            </a:pPr>
            <a:r>
              <a:rPr lang="en-US" b="0" i="0" u="none" strike="noStrike" dirty="0">
                <a:solidFill>
                  <a:srgbClr val="374151"/>
                </a:solidFill>
                <a:effectLst/>
              </a:rPr>
              <a:t>Naturally performs variable/feature selection.</a:t>
            </a:r>
          </a:p>
        </p:txBody>
      </p:sp>
    </p:spTree>
    <p:extLst>
      <p:ext uri="{BB962C8B-B14F-4D97-AF65-F5344CB8AC3E}">
        <p14:creationId xmlns:p14="http://schemas.microsoft.com/office/powerpoint/2010/main" val="330634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5C32-C768-E49C-F6A1-19103E49DC27}"/>
              </a:ext>
            </a:extLst>
          </p:cNvPr>
          <p:cNvSpPr>
            <a:spLocks noGrp="1"/>
          </p:cNvSpPr>
          <p:nvPr>
            <p:ph type="title"/>
          </p:nvPr>
        </p:nvSpPr>
        <p:spPr/>
        <p:txBody>
          <a:bodyPr/>
          <a:lstStyle/>
          <a:p>
            <a:r>
              <a:rPr lang="en-US" b="1" i="0" u="none" strike="noStrike" dirty="0">
                <a:effectLst/>
              </a:rPr>
              <a:t>LASSO versus Ridge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DA5A34-31EA-3E31-ACEC-A697180DF75A}"/>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374151"/>
                    </a:solidFill>
                    <a:effectLst/>
                  </a:rPr>
                  <a:t>Both are regularization methods.</a:t>
                </a:r>
              </a:p>
              <a:p>
                <a:pPr algn="l">
                  <a:buFont typeface="Arial" panose="020B0604020202020204" pitchFamily="34" charset="0"/>
                  <a:buChar char="•"/>
                </a:pPr>
                <a:r>
                  <a:rPr lang="en-US" b="0" i="0" u="none" strike="noStrike" dirty="0">
                    <a:solidFill>
                      <a:srgbClr val="374151"/>
                    </a:solidFill>
                    <a:effectLst/>
                  </a:rPr>
                  <a:t>Ridge: Can't reduce coefficients to zero (squared regularization).</a:t>
                </a:r>
              </a:p>
              <a:p>
                <a:pPr marL="0" indent="0" algn="l">
                  <a:buNone/>
                </a:pPr>
                <a14:m>
                  <m:oMathPara xmlns:m="http://schemas.openxmlformats.org/officeDocument/2006/math">
                    <m:oMathParaPr>
                      <m:jc m:val="centerGroup"/>
                    </m:oMathParaPr>
                    <m:oMath xmlns:m="http://schemas.openxmlformats.org/officeDocument/2006/math">
                      <m:sSub>
                        <m:sSubPr>
                          <m:ctrlPr>
                            <a:rPr lang="en-US" b="0" i="1" u="none" strike="noStrike" smtClean="0">
                              <a:solidFill>
                                <a:srgbClr val="374151"/>
                              </a:solidFill>
                              <a:effectLst/>
                              <a:latin typeface="Cambria Math" panose="02040503050406030204" pitchFamily="18" charset="0"/>
                            </a:rPr>
                          </m:ctrlPr>
                        </m:sSubPr>
                        <m:e>
                          <m:r>
                            <m:rPr>
                              <m:sty m:val="p"/>
                            </m:rPr>
                            <a:rPr lang="en-US">
                              <a:solidFill>
                                <a:srgbClr val="374151"/>
                              </a:solidFill>
                              <a:latin typeface="Cambria Math" panose="02040503050406030204" pitchFamily="18" charset="0"/>
                            </a:rPr>
                            <m:t>min</m:t>
                          </m:r>
                        </m:e>
                        <m:sub>
                          <m:acc>
                            <m:accPr>
                              <m:chr m:val="̂"/>
                              <m:ctrlPr>
                                <a:rPr lang="en-US" b="0" i="1" u="none" strike="noStrike" smtClean="0">
                                  <a:solidFill>
                                    <a:srgbClr val="374151"/>
                                  </a:solidFill>
                                  <a:effectLst/>
                                  <a:latin typeface="Cambria Math" panose="02040503050406030204" pitchFamily="18" charset="0"/>
                                  <a:ea typeface="Cambria Math" panose="02040503050406030204" pitchFamily="18" charset="0"/>
                                </a:rPr>
                              </m:ctrlPr>
                            </m:accPr>
                            <m:e>
                              <m:r>
                                <a:rPr lang="en-US" b="0" i="1" u="none" strike="noStrike" smtClean="0">
                                  <a:solidFill>
                                    <a:srgbClr val="374151"/>
                                  </a:solidFill>
                                  <a:effectLst/>
                                  <a:latin typeface="Cambria Math" panose="02040503050406030204" pitchFamily="18" charset="0"/>
                                  <a:ea typeface="Cambria Math" panose="02040503050406030204" pitchFamily="18" charset="0"/>
                                </a:rPr>
                                <m:t>𝛽</m:t>
                              </m:r>
                            </m:e>
                          </m:acc>
                        </m:sub>
                      </m:sSub>
                      <m:r>
                        <a:rPr lang="en-US" b="0" i="1" u="none" strike="noStrike" smtClean="0">
                          <a:solidFill>
                            <a:srgbClr val="374151"/>
                          </a:solidFill>
                          <a:effectLst/>
                          <a:latin typeface="Cambria Math" panose="02040503050406030204" pitchFamily="18" charset="0"/>
                        </a:rPr>
                        <m:t> </m:t>
                      </m:r>
                      <m:sSup>
                        <m:sSupPr>
                          <m:ctrlPr>
                            <a:rPr lang="en-US" b="0" i="1" u="none" strike="noStrike" smtClean="0">
                              <a:solidFill>
                                <a:srgbClr val="374151"/>
                              </a:solidFill>
                              <a:effectLst/>
                              <a:latin typeface="Cambria Math" panose="02040503050406030204" pitchFamily="18" charset="0"/>
                            </a:rPr>
                          </m:ctrlPr>
                        </m:sSupPr>
                        <m:e>
                          <m:d>
                            <m:dPr>
                              <m:ctrlPr>
                                <a:rPr lang="en-US" i="1">
                                  <a:solidFill>
                                    <a:srgbClr val="374151"/>
                                  </a:solidFill>
                                  <a:latin typeface="Cambria Math" panose="02040503050406030204" pitchFamily="18" charset="0"/>
                                </a:rPr>
                              </m:ctrlPr>
                            </m:dPr>
                            <m:e>
                              <m:r>
                                <a:rPr lang="en-US" b="0" i="1" smtClean="0">
                                  <a:solidFill>
                                    <a:srgbClr val="374151"/>
                                  </a:solidFill>
                                  <a:latin typeface="Cambria Math" panose="02040503050406030204" pitchFamily="18" charset="0"/>
                                </a:rPr>
                                <m:t>𝑦</m:t>
                              </m:r>
                              <m:r>
                                <a:rPr lang="en-US" i="1">
                                  <a:solidFill>
                                    <a:srgbClr val="374151"/>
                                  </a:solidFill>
                                  <a:latin typeface="Cambria Math" panose="02040503050406030204" pitchFamily="18" charset="0"/>
                                </a:rPr>
                                <m:t>−</m:t>
                              </m:r>
                              <m:r>
                                <a:rPr lang="en-US" b="1" i="1">
                                  <a:solidFill>
                                    <a:srgbClr val="374151"/>
                                  </a:solidFill>
                                  <a:latin typeface="Cambria Math" panose="02040503050406030204" pitchFamily="18" charset="0"/>
                                </a:rPr>
                                <m:t>𝑿</m:t>
                              </m:r>
                              <m:acc>
                                <m:accPr>
                                  <m:chr m:val="̂"/>
                                  <m:ctrlPr>
                                    <a:rPr lang="en-US" b="1" i="1">
                                      <a:solidFill>
                                        <a:srgbClr val="374151"/>
                                      </a:solidFill>
                                      <a:latin typeface="Cambria Math" panose="02040503050406030204" pitchFamily="18" charset="0"/>
                                      <a:ea typeface="Cambria Math" panose="02040503050406030204" pitchFamily="18" charset="0"/>
                                    </a:rPr>
                                  </m:ctrlPr>
                                </m:accPr>
                                <m:e>
                                  <m:r>
                                    <a:rPr lang="en-US" b="1" i="1">
                                      <a:solidFill>
                                        <a:srgbClr val="374151"/>
                                      </a:solidFill>
                                      <a:latin typeface="Cambria Math" panose="02040503050406030204" pitchFamily="18" charset="0"/>
                                      <a:ea typeface="Cambria Math" panose="02040503050406030204" pitchFamily="18" charset="0"/>
                                    </a:rPr>
                                    <m:t>𝜷</m:t>
                                  </m:r>
                                </m:e>
                              </m:acc>
                            </m:e>
                          </m:d>
                        </m:e>
                        <m:sup>
                          <m:r>
                            <a:rPr lang="en-US" b="0" i="1" u="none" strike="noStrike" smtClean="0">
                              <a:solidFill>
                                <a:srgbClr val="374151"/>
                              </a:solidFill>
                              <a:effectLst/>
                              <a:latin typeface="Cambria Math" panose="02040503050406030204" pitchFamily="18" charset="0"/>
                            </a:rPr>
                            <m:t>𝑇</m:t>
                          </m:r>
                        </m:sup>
                      </m:sSup>
                      <m:d>
                        <m:dPr>
                          <m:ctrlPr>
                            <a:rPr lang="en-US" b="0" i="1" u="none" strike="noStrike" smtClean="0">
                              <a:solidFill>
                                <a:srgbClr val="374151"/>
                              </a:solidFill>
                              <a:effectLst/>
                              <a:latin typeface="Cambria Math" panose="02040503050406030204" pitchFamily="18" charset="0"/>
                            </a:rPr>
                          </m:ctrlPr>
                        </m:dPr>
                        <m:e>
                          <m:r>
                            <a:rPr lang="en-US" b="0" i="1" smtClean="0">
                              <a:solidFill>
                                <a:srgbClr val="374151"/>
                              </a:solidFill>
                              <a:latin typeface="Cambria Math" panose="02040503050406030204" pitchFamily="18" charset="0"/>
                            </a:rPr>
                            <m:t>𝑦</m:t>
                          </m:r>
                          <m:r>
                            <a:rPr lang="en-US" i="1">
                              <a:solidFill>
                                <a:srgbClr val="374151"/>
                              </a:solidFill>
                              <a:latin typeface="Cambria Math" panose="02040503050406030204" pitchFamily="18" charset="0"/>
                            </a:rPr>
                            <m:t>−</m:t>
                          </m:r>
                          <m:r>
                            <a:rPr lang="en-US" b="1" i="1">
                              <a:solidFill>
                                <a:srgbClr val="374151"/>
                              </a:solidFill>
                              <a:latin typeface="Cambria Math" panose="02040503050406030204" pitchFamily="18" charset="0"/>
                            </a:rPr>
                            <m:t>𝑿</m:t>
                          </m:r>
                          <m:acc>
                            <m:accPr>
                              <m:chr m:val="̂"/>
                              <m:ctrlPr>
                                <a:rPr lang="en-US" b="1" i="1">
                                  <a:solidFill>
                                    <a:srgbClr val="374151"/>
                                  </a:solidFill>
                                  <a:latin typeface="Cambria Math" panose="02040503050406030204" pitchFamily="18" charset="0"/>
                                  <a:ea typeface="Cambria Math" panose="02040503050406030204" pitchFamily="18" charset="0"/>
                                </a:rPr>
                              </m:ctrlPr>
                            </m:accPr>
                            <m:e>
                              <m:r>
                                <a:rPr lang="en-US" b="1" i="1">
                                  <a:solidFill>
                                    <a:srgbClr val="374151"/>
                                  </a:solidFill>
                                  <a:latin typeface="Cambria Math" panose="02040503050406030204" pitchFamily="18" charset="0"/>
                                  <a:ea typeface="Cambria Math" panose="02040503050406030204" pitchFamily="18" charset="0"/>
                                </a:rPr>
                                <m:t>𝜷</m:t>
                              </m:r>
                            </m:e>
                          </m:acc>
                        </m:e>
                      </m:d>
                      <m:r>
                        <a:rPr lang="en-US" b="1" i="1" smtClean="0">
                          <a:solidFill>
                            <a:srgbClr val="374151"/>
                          </a:solidFill>
                          <a:latin typeface="Cambria Math" panose="02040503050406030204" pitchFamily="18" charset="0"/>
                          <a:ea typeface="Cambria Math" panose="02040503050406030204" pitchFamily="18" charset="0"/>
                        </a:rPr>
                        <m:t>+ </m:t>
                      </m:r>
                      <m:r>
                        <a:rPr lang="en-US" b="0" i="1" smtClean="0">
                          <a:solidFill>
                            <a:srgbClr val="374151"/>
                          </a:solidFill>
                          <a:latin typeface="Cambria Math" panose="02040503050406030204" pitchFamily="18" charset="0"/>
                          <a:ea typeface="Cambria Math" panose="02040503050406030204" pitchFamily="18" charset="0"/>
                        </a:rPr>
                        <m:t>𝜆</m:t>
                      </m:r>
                      <m:nary>
                        <m:naryPr>
                          <m:chr m:val="∑"/>
                          <m:ctrlPr>
                            <a:rPr lang="en-US" b="0" i="1" smtClean="0">
                              <a:solidFill>
                                <a:srgbClr val="374151"/>
                              </a:solidFill>
                              <a:latin typeface="Cambria Math" panose="02040503050406030204" pitchFamily="18" charset="0"/>
                              <a:ea typeface="Cambria Math" panose="02040503050406030204" pitchFamily="18" charset="0"/>
                            </a:rPr>
                          </m:ctrlPr>
                        </m:naryPr>
                        <m:sub>
                          <m:r>
                            <m:rPr>
                              <m:brk m:alnAt="23"/>
                            </m:rPr>
                            <a:rPr lang="en-US" b="0" i="1" smtClean="0">
                              <a:solidFill>
                                <a:srgbClr val="374151"/>
                              </a:solidFill>
                              <a:latin typeface="Cambria Math" panose="02040503050406030204" pitchFamily="18" charset="0"/>
                              <a:ea typeface="Cambria Math" panose="02040503050406030204" pitchFamily="18" charset="0"/>
                            </a:rPr>
                            <m:t>𝑖</m:t>
                          </m:r>
                          <m:r>
                            <a:rPr lang="en-US" b="0" i="1" smtClean="0">
                              <a:solidFill>
                                <a:srgbClr val="374151"/>
                              </a:solidFill>
                              <a:latin typeface="Cambria Math" panose="02040503050406030204" pitchFamily="18" charset="0"/>
                              <a:ea typeface="Cambria Math" panose="02040503050406030204" pitchFamily="18" charset="0"/>
                            </a:rPr>
                            <m:t>=1</m:t>
                          </m:r>
                        </m:sub>
                        <m:sup>
                          <m:r>
                            <a:rPr lang="en-US" b="0" i="1" smtClean="0">
                              <a:solidFill>
                                <a:srgbClr val="374151"/>
                              </a:solidFill>
                              <a:latin typeface="Cambria Math" panose="02040503050406030204" pitchFamily="18" charset="0"/>
                              <a:ea typeface="Cambria Math" panose="02040503050406030204" pitchFamily="18" charset="0"/>
                            </a:rPr>
                            <m:t>𝑝</m:t>
                          </m:r>
                        </m:sup>
                        <m:e>
                          <m:sSup>
                            <m:sSupPr>
                              <m:ctrlPr>
                                <a:rPr lang="en-US" b="0" i="1" smtClean="0">
                                  <a:solidFill>
                                    <a:srgbClr val="374151"/>
                                  </a:solidFill>
                                  <a:latin typeface="Cambria Math" panose="02040503050406030204" pitchFamily="18" charset="0"/>
                                  <a:ea typeface="Cambria Math" panose="02040503050406030204" pitchFamily="18" charset="0"/>
                                </a:rPr>
                              </m:ctrlPr>
                            </m:sSupPr>
                            <m:e>
                              <m:acc>
                                <m:accPr>
                                  <m:chr m:val="̂"/>
                                  <m:ctrlPr>
                                    <a:rPr lang="en-US" i="1">
                                      <a:solidFill>
                                        <a:srgbClr val="374151"/>
                                      </a:solidFill>
                                      <a:latin typeface="Cambria Math" panose="02040503050406030204" pitchFamily="18" charset="0"/>
                                      <a:ea typeface="Cambria Math" panose="02040503050406030204" pitchFamily="18" charset="0"/>
                                    </a:rPr>
                                  </m:ctrlPr>
                                </m:accPr>
                                <m:e>
                                  <m:sSub>
                                    <m:sSubPr>
                                      <m:ctrlPr>
                                        <a:rPr lang="en-US" i="1">
                                          <a:solidFill>
                                            <a:srgbClr val="374151"/>
                                          </a:solidFill>
                                          <a:latin typeface="Cambria Math" panose="02040503050406030204" pitchFamily="18" charset="0"/>
                                          <a:ea typeface="Cambria Math" panose="02040503050406030204" pitchFamily="18" charset="0"/>
                                        </a:rPr>
                                      </m:ctrlPr>
                                    </m:sSubPr>
                                    <m:e>
                                      <m:r>
                                        <a:rPr lang="en-US" i="1">
                                          <a:solidFill>
                                            <a:srgbClr val="374151"/>
                                          </a:solidFill>
                                          <a:latin typeface="Cambria Math" panose="02040503050406030204" pitchFamily="18" charset="0"/>
                                          <a:ea typeface="Cambria Math" panose="02040503050406030204" pitchFamily="18" charset="0"/>
                                        </a:rPr>
                                        <m:t>𝛽</m:t>
                                      </m:r>
                                    </m:e>
                                    <m:sub>
                                      <m:r>
                                        <a:rPr lang="en-US" i="1">
                                          <a:solidFill>
                                            <a:srgbClr val="374151"/>
                                          </a:solidFill>
                                          <a:latin typeface="Cambria Math" panose="02040503050406030204" pitchFamily="18" charset="0"/>
                                          <a:ea typeface="Cambria Math" panose="02040503050406030204" pitchFamily="18" charset="0"/>
                                        </a:rPr>
                                        <m:t>𝑖</m:t>
                                      </m:r>
                                    </m:sub>
                                  </m:sSub>
                                </m:e>
                              </m:acc>
                            </m:e>
                            <m:sup>
                              <m:r>
                                <a:rPr lang="en-US" b="0" i="1" smtClean="0">
                                  <a:solidFill>
                                    <a:srgbClr val="374151"/>
                                  </a:solidFill>
                                  <a:latin typeface="Cambria Math" panose="02040503050406030204" pitchFamily="18" charset="0"/>
                                  <a:ea typeface="Cambria Math" panose="02040503050406030204" pitchFamily="18" charset="0"/>
                                </a:rPr>
                                <m:t>2</m:t>
                              </m:r>
                            </m:sup>
                          </m:sSup>
                        </m:e>
                      </m:nary>
                    </m:oMath>
                  </m:oMathPara>
                </a14:m>
                <a:endParaRPr lang="en-US" b="0" i="0" u="none" strike="noStrike" dirty="0">
                  <a:solidFill>
                    <a:srgbClr val="374151"/>
                  </a:solidFill>
                  <a:effectLst/>
                </a:endParaRPr>
              </a:p>
              <a:p>
                <a:pPr algn="l">
                  <a:buFont typeface="Arial" panose="020B0604020202020204" pitchFamily="34" charset="0"/>
                  <a:buChar char="•"/>
                </a:pPr>
                <a:r>
                  <a:rPr lang="en-US" b="0" i="0" u="none" strike="noStrike" dirty="0">
                    <a:solidFill>
                      <a:srgbClr val="374151"/>
                    </a:solidFill>
                    <a:effectLst/>
                  </a:rPr>
                  <a:t>LASSO: Can reduce coefficients to zero (absolute value regularization).</a:t>
                </a:r>
              </a:p>
              <a:p>
                <a:pPr marL="0" indent="0" algn="l">
                  <a:buNone/>
                </a:pPr>
                <a14:m>
                  <m:oMathPara xmlns:m="http://schemas.openxmlformats.org/officeDocument/2006/math">
                    <m:oMathParaPr>
                      <m:jc m:val="centerGroup"/>
                    </m:oMathParaPr>
                    <m:oMath xmlns:m="http://schemas.openxmlformats.org/officeDocument/2006/math">
                      <m:sSub>
                        <m:sSubPr>
                          <m:ctrlPr>
                            <a:rPr lang="en-US" b="0" i="1" u="none" strike="noStrike" smtClean="0">
                              <a:solidFill>
                                <a:srgbClr val="374151"/>
                              </a:solidFill>
                              <a:effectLst/>
                              <a:latin typeface="Cambria Math" panose="02040503050406030204" pitchFamily="18" charset="0"/>
                            </a:rPr>
                          </m:ctrlPr>
                        </m:sSubPr>
                        <m:e>
                          <m:r>
                            <m:rPr>
                              <m:sty m:val="p"/>
                            </m:rPr>
                            <a:rPr lang="en-US">
                              <a:solidFill>
                                <a:srgbClr val="374151"/>
                              </a:solidFill>
                              <a:latin typeface="Cambria Math" panose="02040503050406030204" pitchFamily="18" charset="0"/>
                            </a:rPr>
                            <m:t>min</m:t>
                          </m:r>
                        </m:e>
                        <m:sub>
                          <m:acc>
                            <m:accPr>
                              <m:chr m:val="̂"/>
                              <m:ctrlPr>
                                <a:rPr lang="en-US" b="0" i="1" u="none" strike="noStrike" smtClean="0">
                                  <a:solidFill>
                                    <a:srgbClr val="374151"/>
                                  </a:solidFill>
                                  <a:effectLst/>
                                  <a:latin typeface="Cambria Math" panose="02040503050406030204" pitchFamily="18" charset="0"/>
                                  <a:ea typeface="Cambria Math" panose="02040503050406030204" pitchFamily="18" charset="0"/>
                                </a:rPr>
                              </m:ctrlPr>
                            </m:accPr>
                            <m:e>
                              <m:r>
                                <a:rPr lang="en-US" b="0" i="1" u="none" strike="noStrike" smtClean="0">
                                  <a:solidFill>
                                    <a:srgbClr val="374151"/>
                                  </a:solidFill>
                                  <a:effectLst/>
                                  <a:latin typeface="Cambria Math" panose="02040503050406030204" pitchFamily="18" charset="0"/>
                                  <a:ea typeface="Cambria Math" panose="02040503050406030204" pitchFamily="18" charset="0"/>
                                </a:rPr>
                                <m:t>𝛽</m:t>
                              </m:r>
                            </m:e>
                          </m:acc>
                        </m:sub>
                      </m:sSub>
                      <m:r>
                        <a:rPr lang="en-US" b="0" i="1" u="none" strike="noStrike" smtClean="0">
                          <a:solidFill>
                            <a:srgbClr val="374151"/>
                          </a:solidFill>
                          <a:effectLst/>
                          <a:latin typeface="Cambria Math" panose="02040503050406030204" pitchFamily="18" charset="0"/>
                        </a:rPr>
                        <m:t> </m:t>
                      </m:r>
                      <m:sSup>
                        <m:sSupPr>
                          <m:ctrlPr>
                            <a:rPr lang="en-US" b="0" i="1" u="none" strike="noStrike" smtClean="0">
                              <a:solidFill>
                                <a:srgbClr val="374151"/>
                              </a:solidFill>
                              <a:effectLst/>
                              <a:latin typeface="Cambria Math" panose="02040503050406030204" pitchFamily="18" charset="0"/>
                            </a:rPr>
                          </m:ctrlPr>
                        </m:sSupPr>
                        <m:e>
                          <m:d>
                            <m:dPr>
                              <m:ctrlPr>
                                <a:rPr lang="en-US" i="1">
                                  <a:solidFill>
                                    <a:srgbClr val="374151"/>
                                  </a:solidFill>
                                  <a:latin typeface="Cambria Math" panose="02040503050406030204" pitchFamily="18" charset="0"/>
                                </a:rPr>
                              </m:ctrlPr>
                            </m:dPr>
                            <m:e>
                              <m:r>
                                <a:rPr lang="en-US" b="0" i="1" smtClean="0">
                                  <a:solidFill>
                                    <a:srgbClr val="374151"/>
                                  </a:solidFill>
                                  <a:latin typeface="Cambria Math" panose="02040503050406030204" pitchFamily="18" charset="0"/>
                                </a:rPr>
                                <m:t>𝑦</m:t>
                              </m:r>
                              <m:r>
                                <a:rPr lang="en-US" i="1">
                                  <a:solidFill>
                                    <a:srgbClr val="374151"/>
                                  </a:solidFill>
                                  <a:latin typeface="Cambria Math" panose="02040503050406030204" pitchFamily="18" charset="0"/>
                                </a:rPr>
                                <m:t>−</m:t>
                              </m:r>
                              <m:r>
                                <a:rPr lang="en-US" b="1" i="1">
                                  <a:solidFill>
                                    <a:srgbClr val="374151"/>
                                  </a:solidFill>
                                  <a:latin typeface="Cambria Math" panose="02040503050406030204" pitchFamily="18" charset="0"/>
                                </a:rPr>
                                <m:t>𝑿</m:t>
                              </m:r>
                              <m:acc>
                                <m:accPr>
                                  <m:chr m:val="̂"/>
                                  <m:ctrlPr>
                                    <a:rPr lang="en-US" b="1" i="1">
                                      <a:solidFill>
                                        <a:srgbClr val="374151"/>
                                      </a:solidFill>
                                      <a:latin typeface="Cambria Math" panose="02040503050406030204" pitchFamily="18" charset="0"/>
                                      <a:ea typeface="Cambria Math" panose="02040503050406030204" pitchFamily="18" charset="0"/>
                                    </a:rPr>
                                  </m:ctrlPr>
                                </m:accPr>
                                <m:e>
                                  <m:r>
                                    <a:rPr lang="en-US" b="1" i="1">
                                      <a:solidFill>
                                        <a:srgbClr val="374151"/>
                                      </a:solidFill>
                                      <a:latin typeface="Cambria Math" panose="02040503050406030204" pitchFamily="18" charset="0"/>
                                      <a:ea typeface="Cambria Math" panose="02040503050406030204" pitchFamily="18" charset="0"/>
                                    </a:rPr>
                                    <m:t>𝜷</m:t>
                                  </m:r>
                                </m:e>
                              </m:acc>
                            </m:e>
                          </m:d>
                        </m:e>
                        <m:sup>
                          <m:r>
                            <a:rPr lang="en-US" b="0" i="1" u="none" strike="noStrike" smtClean="0">
                              <a:solidFill>
                                <a:srgbClr val="374151"/>
                              </a:solidFill>
                              <a:effectLst/>
                              <a:latin typeface="Cambria Math" panose="02040503050406030204" pitchFamily="18" charset="0"/>
                            </a:rPr>
                            <m:t>𝑇</m:t>
                          </m:r>
                        </m:sup>
                      </m:sSup>
                      <m:d>
                        <m:dPr>
                          <m:ctrlPr>
                            <a:rPr lang="en-US" b="0" i="1" u="none" strike="noStrike" smtClean="0">
                              <a:solidFill>
                                <a:srgbClr val="374151"/>
                              </a:solidFill>
                              <a:effectLst/>
                              <a:latin typeface="Cambria Math" panose="02040503050406030204" pitchFamily="18" charset="0"/>
                            </a:rPr>
                          </m:ctrlPr>
                        </m:dPr>
                        <m:e>
                          <m:r>
                            <a:rPr lang="en-US" b="0" i="1" smtClean="0">
                              <a:solidFill>
                                <a:srgbClr val="374151"/>
                              </a:solidFill>
                              <a:latin typeface="Cambria Math" panose="02040503050406030204" pitchFamily="18" charset="0"/>
                            </a:rPr>
                            <m:t>𝑦</m:t>
                          </m:r>
                          <m:r>
                            <a:rPr lang="en-US" i="1">
                              <a:solidFill>
                                <a:srgbClr val="374151"/>
                              </a:solidFill>
                              <a:latin typeface="Cambria Math" panose="02040503050406030204" pitchFamily="18" charset="0"/>
                            </a:rPr>
                            <m:t>−</m:t>
                          </m:r>
                          <m:r>
                            <a:rPr lang="en-US" b="1" i="1">
                              <a:solidFill>
                                <a:srgbClr val="374151"/>
                              </a:solidFill>
                              <a:latin typeface="Cambria Math" panose="02040503050406030204" pitchFamily="18" charset="0"/>
                            </a:rPr>
                            <m:t>𝑿</m:t>
                          </m:r>
                          <m:acc>
                            <m:accPr>
                              <m:chr m:val="̂"/>
                              <m:ctrlPr>
                                <a:rPr lang="en-US" b="1" i="1">
                                  <a:solidFill>
                                    <a:srgbClr val="374151"/>
                                  </a:solidFill>
                                  <a:latin typeface="Cambria Math" panose="02040503050406030204" pitchFamily="18" charset="0"/>
                                  <a:ea typeface="Cambria Math" panose="02040503050406030204" pitchFamily="18" charset="0"/>
                                </a:rPr>
                              </m:ctrlPr>
                            </m:accPr>
                            <m:e>
                              <m:r>
                                <a:rPr lang="en-US" b="1" i="1">
                                  <a:solidFill>
                                    <a:srgbClr val="374151"/>
                                  </a:solidFill>
                                  <a:latin typeface="Cambria Math" panose="02040503050406030204" pitchFamily="18" charset="0"/>
                                  <a:ea typeface="Cambria Math" panose="02040503050406030204" pitchFamily="18" charset="0"/>
                                </a:rPr>
                                <m:t>𝜷</m:t>
                              </m:r>
                            </m:e>
                          </m:acc>
                        </m:e>
                      </m:d>
                      <m:r>
                        <a:rPr lang="en-US" b="1" i="1" smtClean="0">
                          <a:solidFill>
                            <a:srgbClr val="374151"/>
                          </a:solidFill>
                          <a:latin typeface="Cambria Math" panose="02040503050406030204" pitchFamily="18" charset="0"/>
                          <a:ea typeface="Cambria Math" panose="02040503050406030204" pitchFamily="18" charset="0"/>
                        </a:rPr>
                        <m:t>+ </m:t>
                      </m:r>
                      <m:r>
                        <a:rPr lang="en-US" b="0" i="1" smtClean="0">
                          <a:solidFill>
                            <a:srgbClr val="374151"/>
                          </a:solidFill>
                          <a:latin typeface="Cambria Math" panose="02040503050406030204" pitchFamily="18" charset="0"/>
                          <a:ea typeface="Cambria Math" panose="02040503050406030204" pitchFamily="18" charset="0"/>
                        </a:rPr>
                        <m:t>𝜆</m:t>
                      </m:r>
                      <m:nary>
                        <m:naryPr>
                          <m:chr m:val="∑"/>
                          <m:ctrlPr>
                            <a:rPr lang="en-US" b="0" i="1" smtClean="0">
                              <a:solidFill>
                                <a:srgbClr val="374151"/>
                              </a:solidFill>
                              <a:latin typeface="Cambria Math" panose="02040503050406030204" pitchFamily="18" charset="0"/>
                              <a:ea typeface="Cambria Math" panose="02040503050406030204" pitchFamily="18" charset="0"/>
                            </a:rPr>
                          </m:ctrlPr>
                        </m:naryPr>
                        <m:sub>
                          <m:r>
                            <m:rPr>
                              <m:brk m:alnAt="23"/>
                            </m:rPr>
                            <a:rPr lang="en-US" b="0" i="1" smtClean="0">
                              <a:solidFill>
                                <a:srgbClr val="374151"/>
                              </a:solidFill>
                              <a:latin typeface="Cambria Math" panose="02040503050406030204" pitchFamily="18" charset="0"/>
                              <a:ea typeface="Cambria Math" panose="02040503050406030204" pitchFamily="18" charset="0"/>
                            </a:rPr>
                            <m:t>𝑖</m:t>
                          </m:r>
                          <m:r>
                            <a:rPr lang="en-US" b="0" i="1" smtClean="0">
                              <a:solidFill>
                                <a:srgbClr val="374151"/>
                              </a:solidFill>
                              <a:latin typeface="Cambria Math" panose="02040503050406030204" pitchFamily="18" charset="0"/>
                              <a:ea typeface="Cambria Math" panose="02040503050406030204" pitchFamily="18" charset="0"/>
                            </a:rPr>
                            <m:t>=1</m:t>
                          </m:r>
                        </m:sub>
                        <m:sup>
                          <m:r>
                            <a:rPr lang="en-US" b="0" i="1" smtClean="0">
                              <a:solidFill>
                                <a:srgbClr val="374151"/>
                              </a:solidFill>
                              <a:latin typeface="Cambria Math" panose="02040503050406030204" pitchFamily="18" charset="0"/>
                              <a:ea typeface="Cambria Math" panose="02040503050406030204" pitchFamily="18" charset="0"/>
                            </a:rPr>
                            <m:t>𝑝</m:t>
                          </m:r>
                        </m:sup>
                        <m:e>
                          <m:d>
                            <m:dPr>
                              <m:begChr m:val="|"/>
                              <m:endChr m:val="|"/>
                              <m:ctrlPr>
                                <a:rPr lang="en-US" b="0" i="1" smtClean="0">
                                  <a:solidFill>
                                    <a:srgbClr val="374151"/>
                                  </a:solidFill>
                                  <a:latin typeface="Cambria Math" panose="02040503050406030204" pitchFamily="18" charset="0"/>
                                  <a:ea typeface="Cambria Math" panose="02040503050406030204" pitchFamily="18" charset="0"/>
                                </a:rPr>
                              </m:ctrlPr>
                            </m:dPr>
                            <m:e>
                              <m:acc>
                                <m:accPr>
                                  <m:chr m:val="̂"/>
                                  <m:ctrlPr>
                                    <a:rPr lang="en-US" i="1">
                                      <a:solidFill>
                                        <a:srgbClr val="374151"/>
                                      </a:solidFill>
                                      <a:latin typeface="Cambria Math" panose="02040503050406030204" pitchFamily="18" charset="0"/>
                                      <a:ea typeface="Cambria Math" panose="02040503050406030204" pitchFamily="18" charset="0"/>
                                    </a:rPr>
                                  </m:ctrlPr>
                                </m:accPr>
                                <m:e>
                                  <m:sSub>
                                    <m:sSubPr>
                                      <m:ctrlPr>
                                        <a:rPr lang="en-US" i="1">
                                          <a:solidFill>
                                            <a:srgbClr val="374151"/>
                                          </a:solidFill>
                                          <a:latin typeface="Cambria Math" panose="02040503050406030204" pitchFamily="18" charset="0"/>
                                          <a:ea typeface="Cambria Math" panose="02040503050406030204" pitchFamily="18" charset="0"/>
                                        </a:rPr>
                                      </m:ctrlPr>
                                    </m:sSubPr>
                                    <m:e>
                                      <m:r>
                                        <a:rPr lang="en-US" i="1">
                                          <a:solidFill>
                                            <a:srgbClr val="374151"/>
                                          </a:solidFill>
                                          <a:latin typeface="Cambria Math" panose="02040503050406030204" pitchFamily="18" charset="0"/>
                                          <a:ea typeface="Cambria Math" panose="02040503050406030204" pitchFamily="18" charset="0"/>
                                        </a:rPr>
                                        <m:t>𝛽</m:t>
                                      </m:r>
                                    </m:e>
                                    <m:sub>
                                      <m:r>
                                        <a:rPr lang="en-US" i="1">
                                          <a:solidFill>
                                            <a:srgbClr val="374151"/>
                                          </a:solidFill>
                                          <a:latin typeface="Cambria Math" panose="02040503050406030204" pitchFamily="18" charset="0"/>
                                          <a:ea typeface="Cambria Math" panose="02040503050406030204" pitchFamily="18" charset="0"/>
                                        </a:rPr>
                                        <m:t>𝑖</m:t>
                                      </m:r>
                                    </m:sub>
                                  </m:sSub>
                                </m:e>
                              </m:acc>
                            </m:e>
                          </m:d>
                        </m:e>
                      </m:nary>
                    </m:oMath>
                  </m:oMathPara>
                </a14:m>
                <a:endParaRPr lang="en-US" b="0" i="0" u="none" strike="noStrike" dirty="0">
                  <a:solidFill>
                    <a:srgbClr val="374151"/>
                  </a:solidFill>
                  <a:effectLst/>
                </a:endParaRPr>
              </a:p>
            </p:txBody>
          </p:sp>
        </mc:Choice>
        <mc:Fallback xmlns="">
          <p:sp>
            <p:nvSpPr>
              <p:cNvPr id="3" name="Content Placeholder 2">
                <a:extLst>
                  <a:ext uri="{FF2B5EF4-FFF2-40B4-BE49-F238E27FC236}">
                    <a16:creationId xmlns:a16="http://schemas.microsoft.com/office/drawing/2014/main" id="{44DA5A34-31EA-3E31-ACEC-A697180DF75A}"/>
                  </a:ext>
                </a:extLst>
              </p:cNvPr>
              <p:cNvSpPr>
                <a:spLocks noGrp="1" noRot="1" noChangeAspect="1" noMove="1" noResize="1" noEditPoints="1" noAdjustHandles="1" noChangeArrowheads="1" noChangeShapeType="1" noTextEdit="1"/>
              </p:cNvSpPr>
              <p:nvPr>
                <p:ph idx="1"/>
              </p:nvPr>
            </p:nvSpPr>
            <p:spPr>
              <a:blipFill>
                <a:blip r:embed="rId2"/>
                <a:stretch>
                  <a:fillRect l="-1183" t="-3867" b="-43646"/>
                </a:stretch>
              </a:blipFill>
            </p:spPr>
            <p:txBody>
              <a:bodyPr/>
              <a:lstStyle/>
              <a:p>
                <a:r>
                  <a:rPr lang="en-US">
                    <a:noFill/>
                  </a:rPr>
                  <a:t> </a:t>
                </a:r>
              </a:p>
            </p:txBody>
          </p:sp>
        </mc:Fallback>
      </mc:AlternateContent>
    </p:spTree>
    <p:extLst>
      <p:ext uri="{BB962C8B-B14F-4D97-AF65-F5344CB8AC3E}">
        <p14:creationId xmlns:p14="http://schemas.microsoft.com/office/powerpoint/2010/main" val="3155270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19D1710-18A7-C83C-8E26-ED529C23BC56}"/>
              </a:ext>
            </a:extLst>
          </p:cNvPr>
          <p:cNvSpPr>
            <a:spLocks noGrp="1"/>
          </p:cNvSpPr>
          <p:nvPr>
            <p:ph type="title"/>
          </p:nvPr>
        </p:nvSpPr>
        <p:spPr>
          <a:xfrm>
            <a:off x="1101724" y="4641341"/>
            <a:ext cx="16084552" cy="1004317"/>
          </a:xfrm>
        </p:spPr>
        <p:txBody>
          <a:bodyPr wrap="square" anchor="b">
            <a:normAutofit/>
          </a:bodyPr>
          <a:lstStyle/>
          <a:p>
            <a:r>
              <a:rPr lang="en-US" dirty="0"/>
              <a:t>Why does this happen?</a:t>
            </a:r>
          </a:p>
        </p:txBody>
      </p:sp>
    </p:spTree>
    <p:extLst>
      <p:ext uri="{BB962C8B-B14F-4D97-AF65-F5344CB8AC3E}">
        <p14:creationId xmlns:p14="http://schemas.microsoft.com/office/powerpoint/2010/main" val="360709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Content Placeholder 19" descr="A diagram of a graph&#10;&#10;Description automatically generated">
            <a:extLst>
              <a:ext uri="{FF2B5EF4-FFF2-40B4-BE49-F238E27FC236}">
                <a16:creationId xmlns:a16="http://schemas.microsoft.com/office/drawing/2014/main" id="{7C99D624-5779-E0C1-8C3D-6E82355CD41B}"/>
              </a:ext>
            </a:extLst>
          </p:cNvPr>
          <p:cNvPicPr>
            <a:picLocks noGrp="1" noChangeAspect="1"/>
          </p:cNvPicPr>
          <p:nvPr>
            <p:ph sz="half" idx="1"/>
          </p:nvPr>
        </p:nvPicPr>
        <p:blipFill>
          <a:blip r:embed="rId3"/>
          <a:stretch>
            <a:fillRect/>
          </a:stretch>
        </p:blipFill>
        <p:spPr>
          <a:xfrm>
            <a:off x="1681162" y="2085975"/>
            <a:ext cx="6515100" cy="6515100"/>
          </a:xfrm>
        </p:spPr>
      </p:pic>
      <p:pic>
        <p:nvPicPr>
          <p:cNvPr id="18" name="Content Placeholder 17" descr="A diagram of a rainbow colored circle&#10;&#10;Description automatically generated">
            <a:extLst>
              <a:ext uri="{FF2B5EF4-FFF2-40B4-BE49-F238E27FC236}">
                <a16:creationId xmlns:a16="http://schemas.microsoft.com/office/drawing/2014/main" id="{05D78232-194B-70A3-C78B-DEB7579DAEB2}"/>
              </a:ext>
            </a:extLst>
          </p:cNvPr>
          <p:cNvPicPr>
            <a:picLocks noGrp="1" noChangeAspect="1"/>
          </p:cNvPicPr>
          <p:nvPr>
            <p:ph sz="half" idx="2"/>
          </p:nvPr>
        </p:nvPicPr>
        <p:blipFill>
          <a:blip r:embed="rId4"/>
          <a:stretch>
            <a:fillRect/>
          </a:stretch>
        </p:blipFill>
        <p:spPr>
          <a:xfrm>
            <a:off x="10085387" y="2085975"/>
            <a:ext cx="6515100" cy="6515100"/>
          </a:xfrm>
        </p:spPr>
      </p:pic>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E153F795-05AB-5F86-5057-4219D0CAC938}"/>
                  </a:ext>
                </a:extLst>
              </p:cNvPr>
              <p:cNvSpPr>
                <a:spLocks noGrp="1"/>
              </p:cNvSpPr>
              <p:nvPr>
                <p:ph type="title"/>
              </p:nvPr>
            </p:nvSpPr>
            <p:spPr/>
            <p:txBody>
              <a:bodyPr/>
              <a:lstStyle/>
              <a:p>
                <a:r>
                  <a:rPr lang="en-US" dirty="0"/>
                  <a:t>Geometry of </a:t>
                </a:r>
                <a14:m>
                  <m:oMath xmlns:m="http://schemas.openxmlformats.org/officeDocument/2006/math">
                    <m:d>
                      <m:dPr>
                        <m:begChr m:val="|"/>
                        <m:endChr m:val="|"/>
                        <m:ctrlPr>
                          <a:rPr lang="en-US" i="1" smtClean="0">
                            <a:latin typeface="Cambria Math" panose="02040503050406030204" pitchFamily="18" charset="0"/>
                          </a:rPr>
                        </m:ctrlPr>
                      </m:dPr>
                      <m:e>
                        <m:r>
                          <a:rPr lang="en-US" b="1" i="1" smtClean="0">
                            <a:latin typeface="Cambria Math" panose="02040503050406030204" pitchFamily="18" charset="0"/>
                          </a:rPr>
                          <m:t>∗</m:t>
                        </m:r>
                      </m:e>
                    </m:d>
                  </m:oMath>
                </a14:m>
                <a:r>
                  <a:rPr lang="en-US" dirty="0"/>
                  <a:t> versus </a:t>
                </a:r>
                <a14:m>
                  <m:oMath xmlns:m="http://schemas.openxmlformats.org/officeDocument/2006/math">
                    <m:sSup>
                      <m:sSupPr>
                        <m:ctrlPr>
                          <a:rPr lang="en-US" i="1" smtClean="0">
                            <a:latin typeface="Cambria Math" panose="02040503050406030204" pitchFamily="18" charset="0"/>
                          </a:rPr>
                        </m:ctrlPr>
                      </m:sSupPr>
                      <m:e>
                        <m:r>
                          <a:rPr lang="en-US" b="1" i="1" smtClean="0">
                            <a:latin typeface="Cambria Math" panose="02040503050406030204" pitchFamily="18" charset="0"/>
                          </a:rPr>
                          <m:t>∗</m:t>
                        </m:r>
                      </m:e>
                      <m:sup>
                        <m:r>
                          <a:rPr lang="en-US" b="1" i="1" smtClean="0">
                            <a:latin typeface="Cambria Math" panose="02040503050406030204" pitchFamily="18" charset="0"/>
                          </a:rPr>
                          <m:t>𝟐</m:t>
                        </m:r>
                      </m:sup>
                    </m:sSup>
                  </m:oMath>
                </a14:m>
                <a:endParaRPr lang="en-US" dirty="0"/>
              </a:p>
            </p:txBody>
          </p:sp>
        </mc:Choice>
        <mc:Fallback xmlns="">
          <p:sp>
            <p:nvSpPr>
              <p:cNvPr id="4" name="Title 3">
                <a:extLst>
                  <a:ext uri="{FF2B5EF4-FFF2-40B4-BE49-F238E27FC236}">
                    <a16:creationId xmlns:a16="http://schemas.microsoft.com/office/drawing/2014/main" id="{E153F795-05AB-5F86-5057-4219D0CAC938}"/>
                  </a:ext>
                </a:extLst>
              </p:cNvPr>
              <p:cNvSpPr>
                <a:spLocks noGrp="1" noRot="1" noChangeAspect="1" noMove="1" noResize="1" noEditPoints="1" noAdjustHandles="1" noChangeArrowheads="1" noChangeShapeType="1" noTextEdit="1"/>
              </p:cNvSpPr>
              <p:nvPr>
                <p:ph type="title"/>
              </p:nvPr>
            </p:nvSpPr>
            <p:spPr>
              <a:blipFill>
                <a:blip r:embed="rId5"/>
                <a:stretch>
                  <a:fillRect b="-25203"/>
                </a:stretch>
              </a:blipFill>
            </p:spPr>
            <p:txBody>
              <a:bodyPr/>
              <a:lstStyle/>
              <a:p>
                <a:r>
                  <a:rPr lang="en-US">
                    <a:noFill/>
                  </a:rPr>
                  <a:t> </a:t>
                </a:r>
              </a:p>
            </p:txBody>
          </p:sp>
        </mc:Fallback>
      </mc:AlternateContent>
    </p:spTree>
    <p:extLst>
      <p:ext uri="{BB962C8B-B14F-4D97-AF65-F5344CB8AC3E}">
        <p14:creationId xmlns:p14="http://schemas.microsoft.com/office/powerpoint/2010/main" val="2293300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5C32-C768-E49C-F6A1-19103E49DC27}"/>
              </a:ext>
            </a:extLst>
          </p:cNvPr>
          <p:cNvSpPr>
            <a:spLocks noGrp="1"/>
          </p:cNvSpPr>
          <p:nvPr>
            <p:ph type="title"/>
          </p:nvPr>
        </p:nvSpPr>
        <p:spPr/>
        <p:txBody>
          <a:bodyPr/>
          <a:lstStyle/>
          <a:p>
            <a:r>
              <a:rPr lang="en-US" b="1" i="0" u="none" strike="noStrike" dirty="0">
                <a:effectLst/>
              </a:rPr>
              <a:t>Benefits of LASSO</a:t>
            </a:r>
            <a:endParaRPr lang="en-US" dirty="0"/>
          </a:p>
        </p:txBody>
      </p:sp>
      <p:sp>
        <p:nvSpPr>
          <p:cNvPr id="3" name="Content Placeholder 2">
            <a:extLst>
              <a:ext uri="{FF2B5EF4-FFF2-40B4-BE49-F238E27FC236}">
                <a16:creationId xmlns:a16="http://schemas.microsoft.com/office/drawing/2014/main" id="{44DA5A34-31EA-3E31-ACEC-A697180DF75A}"/>
              </a:ext>
            </a:extLst>
          </p:cNvPr>
          <p:cNvSpPr>
            <a:spLocks noGrp="1"/>
          </p:cNvSpPr>
          <p:nvPr>
            <p:ph idx="1"/>
          </p:nvPr>
        </p:nvSpPr>
        <p:spPr/>
        <p:txBody>
          <a:bodyPr/>
          <a:lstStyle/>
          <a:p>
            <a:r>
              <a:rPr lang="en-US" dirty="0"/>
              <a:t>Feature Selection</a:t>
            </a:r>
          </a:p>
          <a:p>
            <a:pPr lvl="1"/>
            <a:r>
              <a:rPr lang="en-US" dirty="0"/>
              <a:t>Ignores irrelevant variables by setting their coefficients to zero.</a:t>
            </a:r>
          </a:p>
          <a:p>
            <a:r>
              <a:rPr lang="en-US" dirty="0"/>
              <a:t>Predictive Accuracy</a:t>
            </a:r>
          </a:p>
          <a:p>
            <a:pPr lvl="1"/>
            <a:r>
              <a:rPr lang="en-US" dirty="0"/>
              <a:t>Can reduce overfitting by simplifying the model.</a:t>
            </a:r>
          </a:p>
          <a:p>
            <a:r>
              <a:rPr lang="en-US" dirty="0"/>
              <a:t>Interpretability</a:t>
            </a:r>
          </a:p>
          <a:p>
            <a:pPr lvl="1"/>
            <a:r>
              <a:rPr lang="en-US" dirty="0"/>
              <a:t>With fewer features, the model can be easier to understand.</a:t>
            </a:r>
          </a:p>
        </p:txBody>
      </p:sp>
    </p:spTree>
    <p:extLst>
      <p:ext uri="{BB962C8B-B14F-4D97-AF65-F5344CB8AC3E}">
        <p14:creationId xmlns:p14="http://schemas.microsoft.com/office/powerpoint/2010/main" val="4253055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5C32-C768-E49C-F6A1-19103E49DC27}"/>
              </a:ext>
            </a:extLst>
          </p:cNvPr>
          <p:cNvSpPr>
            <a:spLocks noGrp="1"/>
          </p:cNvSpPr>
          <p:nvPr>
            <p:ph type="title"/>
          </p:nvPr>
        </p:nvSpPr>
        <p:spPr/>
        <p:txBody>
          <a:bodyPr/>
          <a:lstStyle/>
          <a:p>
            <a:r>
              <a:rPr lang="en-US" b="1" i="0" u="none" strike="noStrike" dirty="0">
                <a:effectLst/>
              </a:rPr>
              <a:t>Limitations of LASSO</a:t>
            </a:r>
            <a:endParaRPr lang="en-US" dirty="0"/>
          </a:p>
        </p:txBody>
      </p:sp>
      <p:sp>
        <p:nvSpPr>
          <p:cNvPr id="3" name="Content Placeholder 2">
            <a:extLst>
              <a:ext uri="{FF2B5EF4-FFF2-40B4-BE49-F238E27FC236}">
                <a16:creationId xmlns:a16="http://schemas.microsoft.com/office/drawing/2014/main" id="{44DA5A34-31EA-3E31-ACEC-A697180DF75A}"/>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374151"/>
                </a:solidFill>
                <a:effectLst/>
              </a:rPr>
              <a:t>Not always the best choice for highly correlated features.</a:t>
            </a:r>
          </a:p>
          <a:p>
            <a:pPr algn="l">
              <a:buFont typeface="Arial" panose="020B0604020202020204" pitchFamily="34" charset="0"/>
              <a:buChar char="•"/>
            </a:pPr>
            <a:r>
              <a:rPr lang="en-US" b="0" i="0" u="none" strike="noStrike" dirty="0">
                <a:solidFill>
                  <a:srgbClr val="374151"/>
                </a:solidFill>
                <a:effectLst/>
              </a:rPr>
              <a:t>In cases with more features than samples, LASSO selects at most n features (where n = number of samples).</a:t>
            </a:r>
          </a:p>
        </p:txBody>
      </p:sp>
    </p:spTree>
    <p:extLst>
      <p:ext uri="{BB962C8B-B14F-4D97-AF65-F5344CB8AC3E}">
        <p14:creationId xmlns:p14="http://schemas.microsoft.com/office/powerpoint/2010/main" val="603974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4765C32-C768-E49C-F6A1-19103E49DC27}"/>
                  </a:ext>
                </a:extLst>
              </p:cNvPr>
              <p:cNvSpPr>
                <a:spLocks noGrp="1"/>
              </p:cNvSpPr>
              <p:nvPr>
                <p:ph type="title"/>
              </p:nvPr>
            </p:nvSpPr>
            <p:spPr/>
            <p:txBody>
              <a:bodyPr/>
              <a:lstStyle/>
              <a:p>
                <a:r>
                  <a:rPr lang="en-US" b="1" i="0" u="none" strike="noStrike" dirty="0">
                    <a:effectLst/>
                  </a:rPr>
                  <a:t>How to Choose</a:t>
                </a:r>
                <a:r>
                  <a:rPr lang="en-US" b="1" i="0" u="none" strike="noStrike" dirty="0">
                    <a:solidFill>
                      <a:schemeClr val="bg1"/>
                    </a:solidFill>
                    <a:effectLst/>
                  </a:rPr>
                  <a:t> </a:t>
                </a:r>
                <a14:m>
                  <m:oMath xmlns:m="http://schemas.openxmlformats.org/officeDocument/2006/math">
                    <m:r>
                      <a:rPr lang="en-US" b="0" i="1" smtClean="0">
                        <a:solidFill>
                          <a:schemeClr val="bg1"/>
                        </a:solidFill>
                        <a:latin typeface="Cambria Math" panose="02040503050406030204" pitchFamily="18" charset="0"/>
                        <a:ea typeface="Cambria Math" panose="02040503050406030204" pitchFamily="18" charset="0"/>
                      </a:rPr>
                      <m:t>𝜆</m:t>
                    </m:r>
                  </m:oMath>
                </a14:m>
                <a:endParaRPr lang="en-US" dirty="0"/>
              </a:p>
            </p:txBody>
          </p:sp>
        </mc:Choice>
        <mc:Fallback xmlns="">
          <p:sp>
            <p:nvSpPr>
              <p:cNvPr id="2" name="Title 1">
                <a:extLst>
                  <a:ext uri="{FF2B5EF4-FFF2-40B4-BE49-F238E27FC236}">
                    <a16:creationId xmlns:a16="http://schemas.microsoft.com/office/drawing/2014/main" id="{A4765C32-C768-E49C-F6A1-19103E49DC27}"/>
                  </a:ext>
                </a:extLst>
              </p:cNvPr>
              <p:cNvSpPr>
                <a:spLocks noGrp="1" noRot="1" noChangeAspect="1" noMove="1" noResize="1" noEditPoints="1" noAdjustHandles="1" noChangeArrowheads="1" noChangeShapeType="1" noTextEdit="1"/>
              </p:cNvSpPr>
              <p:nvPr>
                <p:ph type="title"/>
              </p:nvPr>
            </p:nvSpPr>
            <p:spPr>
              <a:blipFill>
                <a:blip r:embed="rId2"/>
                <a:stretch>
                  <a:fillRect b="-24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DA5A34-31EA-3E31-ACEC-A697180DF75A}"/>
                  </a:ext>
                </a:extLst>
              </p:cNvPr>
              <p:cNvSpPr>
                <a:spLocks noGrp="1"/>
              </p:cNvSpPr>
              <p:nvPr>
                <p:ph idx="1"/>
              </p:nvPr>
            </p:nvSpPr>
            <p:spPr/>
            <p:txBody>
              <a:bodyPr/>
              <a:lstStyle/>
              <a:p>
                <a:pPr algn="l">
                  <a:buFont typeface="Arial" panose="020B0604020202020204" pitchFamily="34" charset="0"/>
                  <a:buChar char="•"/>
                </a:pPr>
                <a:r>
                  <a:rPr lang="en-US" b="1" i="0" u="none" strike="noStrike" dirty="0">
                    <a:solidFill>
                      <a:schemeClr val="bg1"/>
                    </a:solidFill>
                    <a:effectLst/>
                  </a:rPr>
                  <a:t>Visualization</a:t>
                </a:r>
                <a:r>
                  <a:rPr lang="en-US" b="0" i="0" u="none" strike="noStrike" dirty="0">
                    <a:solidFill>
                      <a:srgbClr val="374151"/>
                    </a:solidFill>
                    <a:effectLst/>
                  </a:rPr>
                  <a:t>: Plot error values for various </a:t>
                </a:r>
                <a14:m>
                  <m:oMath xmlns:m="http://schemas.openxmlformats.org/officeDocument/2006/math">
                    <m:r>
                      <a:rPr lang="en-US" b="0" i="1" smtClean="0">
                        <a:solidFill>
                          <a:srgbClr val="374151"/>
                        </a:solidFill>
                        <a:latin typeface="Cambria Math" panose="02040503050406030204" pitchFamily="18" charset="0"/>
                        <a:ea typeface="Cambria Math" panose="02040503050406030204" pitchFamily="18" charset="0"/>
                      </a:rPr>
                      <m:t>𝜆</m:t>
                    </m:r>
                  </m:oMath>
                </a14:m>
                <a:r>
                  <a:rPr lang="el-GR" b="0" i="0" u="none" strike="noStrike" dirty="0">
                    <a:solidFill>
                      <a:srgbClr val="374151"/>
                    </a:solidFill>
                    <a:effectLst/>
                  </a:rPr>
                  <a:t> </a:t>
                </a:r>
                <a:r>
                  <a:rPr lang="en-US" b="0" i="0" u="none" strike="noStrike" dirty="0">
                    <a:solidFill>
                      <a:srgbClr val="374151"/>
                    </a:solidFill>
                    <a:effectLst/>
                  </a:rPr>
                  <a:t>values.</a:t>
                </a:r>
              </a:p>
              <a:p>
                <a:pPr algn="l">
                  <a:buFont typeface="Arial" panose="020B0604020202020204" pitchFamily="34" charset="0"/>
                  <a:buChar char="•"/>
                </a:pPr>
                <a:r>
                  <a:rPr lang="en-US" b="1" dirty="0">
                    <a:solidFill>
                      <a:schemeClr val="bg1"/>
                    </a:solidFill>
                  </a:rPr>
                  <a:t>Grid Search</a:t>
                </a:r>
                <a:r>
                  <a:rPr lang="en-US" dirty="0">
                    <a:solidFill>
                      <a:srgbClr val="374151"/>
                    </a:solidFill>
                  </a:rPr>
                  <a:t>: Trying a range of values of </a:t>
                </a:r>
                <a14:m>
                  <m:oMath xmlns:m="http://schemas.openxmlformats.org/officeDocument/2006/math">
                    <m:r>
                      <a:rPr lang="en-US" b="0" i="1" smtClean="0">
                        <a:solidFill>
                          <a:srgbClr val="374151"/>
                        </a:solidFill>
                        <a:latin typeface="Cambria Math" panose="02040503050406030204" pitchFamily="18" charset="0"/>
                        <a:ea typeface="Cambria Math" panose="02040503050406030204" pitchFamily="18" charset="0"/>
                      </a:rPr>
                      <m:t>𝜆</m:t>
                    </m:r>
                    <m:r>
                      <a:rPr lang="en-US" b="0" i="1" smtClean="0">
                        <a:solidFill>
                          <a:srgbClr val="374151"/>
                        </a:solidFill>
                        <a:latin typeface="Cambria Math" panose="02040503050406030204" pitchFamily="18" charset="0"/>
                        <a:ea typeface="Cambria Math" panose="02040503050406030204" pitchFamily="18" charset="0"/>
                      </a:rPr>
                      <m:t> </m:t>
                    </m:r>
                  </m:oMath>
                </a14:m>
                <a:r>
                  <a:rPr lang="en-US" dirty="0">
                    <a:solidFill>
                      <a:srgbClr val="374151"/>
                    </a:solidFill>
                  </a:rPr>
                  <a:t>and performing model evaluation.</a:t>
                </a:r>
                <a:endParaRPr lang="en-US" b="0" i="0" u="none" strike="noStrike" dirty="0">
                  <a:solidFill>
                    <a:srgbClr val="374151"/>
                  </a:solidFill>
                  <a:effectLst/>
                </a:endParaRPr>
              </a:p>
              <a:p>
                <a:pPr algn="l">
                  <a:buFont typeface="Arial" panose="020B0604020202020204" pitchFamily="34" charset="0"/>
                  <a:buChar char="•"/>
                </a:pPr>
                <a:r>
                  <a:rPr lang="en-US" b="0" i="0" u="none" strike="noStrike" dirty="0">
                    <a:solidFill>
                      <a:srgbClr val="374151"/>
                    </a:solidFill>
                    <a:effectLst/>
                  </a:rPr>
                  <a:t>Libraries like Scikit-learn provide tools that automate selection.</a:t>
                </a:r>
              </a:p>
              <a:p>
                <a:pPr>
                  <a:buFont typeface="Arial" panose="020B0604020202020204" pitchFamily="34" charset="0"/>
                  <a:buChar char="•"/>
                </a:pPr>
                <a:r>
                  <a:rPr lang="en-US" i="0" u="none" strike="noStrike" dirty="0">
                    <a:effectLst/>
                  </a:rPr>
                  <a:t>Later in the course: </a:t>
                </a:r>
                <a:r>
                  <a:rPr lang="en-US" b="1" i="0" u="none" strike="noStrike" dirty="0">
                    <a:solidFill>
                      <a:schemeClr val="bg1"/>
                    </a:solidFill>
                    <a:effectLst/>
                  </a:rPr>
                  <a:t>Cross-validation</a:t>
                </a:r>
                <a:endParaRPr lang="en-US" dirty="0">
                  <a:solidFill>
                    <a:srgbClr val="374151"/>
                  </a:solidFill>
                </a:endParaRPr>
              </a:p>
              <a:p>
                <a:pPr lvl="1">
                  <a:buFont typeface="Arial" panose="020B0604020202020204" pitchFamily="34" charset="0"/>
                  <a:buChar char="•"/>
                </a:pPr>
                <a:r>
                  <a:rPr lang="en-US" b="0" i="0" u="none" strike="noStrike" dirty="0">
                    <a:solidFill>
                      <a:srgbClr val="374151"/>
                    </a:solidFill>
                    <a:effectLst/>
                  </a:rPr>
                  <a:t>A useful tool for evaluation of hyperparameters.</a:t>
                </a:r>
              </a:p>
            </p:txBody>
          </p:sp>
        </mc:Choice>
        <mc:Fallback xmlns="">
          <p:sp>
            <p:nvSpPr>
              <p:cNvPr id="3" name="Content Placeholder 2">
                <a:extLst>
                  <a:ext uri="{FF2B5EF4-FFF2-40B4-BE49-F238E27FC236}">
                    <a16:creationId xmlns:a16="http://schemas.microsoft.com/office/drawing/2014/main" id="{44DA5A34-31EA-3E31-ACEC-A697180DF75A}"/>
                  </a:ext>
                </a:extLst>
              </p:cNvPr>
              <p:cNvSpPr>
                <a:spLocks noGrp="1" noRot="1" noChangeAspect="1" noMove="1" noResize="1" noEditPoints="1" noAdjustHandles="1" noChangeArrowheads="1" noChangeShapeType="1" noTextEdit="1"/>
              </p:cNvSpPr>
              <p:nvPr>
                <p:ph idx="1"/>
              </p:nvPr>
            </p:nvSpPr>
            <p:spPr>
              <a:blipFill>
                <a:blip r:embed="rId3"/>
                <a:stretch>
                  <a:fillRect l="-1183" t="-1657"/>
                </a:stretch>
              </a:blipFill>
            </p:spPr>
            <p:txBody>
              <a:bodyPr/>
              <a:lstStyle/>
              <a:p>
                <a:r>
                  <a:rPr lang="en-US">
                    <a:noFill/>
                  </a:rPr>
                  <a:t> </a:t>
                </a:r>
              </a:p>
            </p:txBody>
          </p:sp>
        </mc:Fallback>
      </mc:AlternateContent>
    </p:spTree>
    <p:extLst>
      <p:ext uri="{BB962C8B-B14F-4D97-AF65-F5344CB8AC3E}">
        <p14:creationId xmlns:p14="http://schemas.microsoft.com/office/powerpoint/2010/main" val="2026414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Conclusion</a:t>
            </a:r>
          </a:p>
        </p:txBody>
      </p:sp>
      <mc:AlternateContent xmlns:mc="http://schemas.openxmlformats.org/markup-compatibility/2006" xmlns:a14="http://schemas.microsoft.com/office/drawing/2010/main">
        <mc:Choice Requires="a14">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Simple linear regression may have too many coefficients that are too large, adding to complexity. </a:t>
                </a:r>
              </a:p>
              <a:p>
                <a:r>
                  <a:rPr lang="en-US" altLang="en-US" dirty="0"/>
                  <a:t>LASSO is a technique that shrinks coefficients and removes terms. </a:t>
                </a:r>
              </a:p>
              <a:p>
                <a:r>
                  <a:rPr lang="en-US" altLang="en-US" dirty="0"/>
                  <a:t>The formula is </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374151"/>
                              </a:solidFill>
                              <a:latin typeface="Cambria Math" panose="02040503050406030204" pitchFamily="18" charset="0"/>
                            </a:rPr>
                          </m:ctrlPr>
                        </m:sSubPr>
                        <m:e>
                          <m:r>
                            <m:rPr>
                              <m:sty m:val="p"/>
                            </m:rPr>
                            <a:rPr lang="en-US">
                              <a:solidFill>
                                <a:srgbClr val="374151"/>
                              </a:solidFill>
                              <a:latin typeface="Cambria Math" panose="02040503050406030204" pitchFamily="18" charset="0"/>
                            </a:rPr>
                            <m:t>min</m:t>
                          </m:r>
                        </m:e>
                        <m:sub>
                          <m:acc>
                            <m:accPr>
                              <m:chr m:val="̂"/>
                              <m:ctrlPr>
                                <a:rPr lang="en-US" i="1">
                                  <a:solidFill>
                                    <a:srgbClr val="374151"/>
                                  </a:solidFill>
                                  <a:latin typeface="Cambria Math" panose="02040503050406030204" pitchFamily="18" charset="0"/>
                                  <a:ea typeface="Cambria Math" panose="02040503050406030204" pitchFamily="18" charset="0"/>
                                </a:rPr>
                              </m:ctrlPr>
                            </m:accPr>
                            <m:e>
                              <m:r>
                                <a:rPr lang="en-US" i="1">
                                  <a:solidFill>
                                    <a:srgbClr val="374151"/>
                                  </a:solidFill>
                                  <a:latin typeface="Cambria Math" panose="02040503050406030204" pitchFamily="18" charset="0"/>
                                  <a:ea typeface="Cambria Math" panose="02040503050406030204" pitchFamily="18" charset="0"/>
                                </a:rPr>
                                <m:t>𝛽</m:t>
                              </m:r>
                            </m:e>
                          </m:acc>
                        </m:sub>
                      </m:sSub>
                      <m:r>
                        <a:rPr lang="en-US" i="1">
                          <a:solidFill>
                            <a:srgbClr val="374151"/>
                          </a:solidFill>
                          <a:latin typeface="Cambria Math" panose="02040503050406030204" pitchFamily="18" charset="0"/>
                        </a:rPr>
                        <m:t> </m:t>
                      </m:r>
                      <m:sSup>
                        <m:sSupPr>
                          <m:ctrlPr>
                            <a:rPr lang="en-US" i="1">
                              <a:solidFill>
                                <a:srgbClr val="374151"/>
                              </a:solidFill>
                              <a:latin typeface="Cambria Math" panose="02040503050406030204" pitchFamily="18" charset="0"/>
                            </a:rPr>
                          </m:ctrlPr>
                        </m:sSupPr>
                        <m:e>
                          <m:d>
                            <m:dPr>
                              <m:ctrlPr>
                                <a:rPr lang="en-US" i="1">
                                  <a:solidFill>
                                    <a:srgbClr val="374151"/>
                                  </a:solidFill>
                                  <a:latin typeface="Cambria Math" panose="02040503050406030204" pitchFamily="18" charset="0"/>
                                </a:rPr>
                              </m:ctrlPr>
                            </m:dPr>
                            <m:e>
                              <m:r>
                                <a:rPr lang="en-US" b="0" i="1" smtClean="0">
                                  <a:solidFill>
                                    <a:srgbClr val="374151"/>
                                  </a:solidFill>
                                  <a:latin typeface="Cambria Math" panose="02040503050406030204" pitchFamily="18" charset="0"/>
                                </a:rPr>
                                <m:t>𝑦</m:t>
                              </m:r>
                              <m:r>
                                <a:rPr lang="en-US" i="1">
                                  <a:solidFill>
                                    <a:srgbClr val="374151"/>
                                  </a:solidFill>
                                  <a:latin typeface="Cambria Math" panose="02040503050406030204" pitchFamily="18" charset="0"/>
                                </a:rPr>
                                <m:t>−</m:t>
                              </m:r>
                              <m:r>
                                <a:rPr lang="en-US" b="1" i="1">
                                  <a:solidFill>
                                    <a:srgbClr val="374151"/>
                                  </a:solidFill>
                                  <a:latin typeface="Cambria Math" panose="02040503050406030204" pitchFamily="18" charset="0"/>
                                </a:rPr>
                                <m:t>𝑿</m:t>
                              </m:r>
                              <m:acc>
                                <m:accPr>
                                  <m:chr m:val="̂"/>
                                  <m:ctrlPr>
                                    <a:rPr lang="en-US" b="1" i="1">
                                      <a:solidFill>
                                        <a:srgbClr val="374151"/>
                                      </a:solidFill>
                                      <a:latin typeface="Cambria Math" panose="02040503050406030204" pitchFamily="18" charset="0"/>
                                      <a:ea typeface="Cambria Math" panose="02040503050406030204" pitchFamily="18" charset="0"/>
                                    </a:rPr>
                                  </m:ctrlPr>
                                </m:accPr>
                                <m:e>
                                  <m:r>
                                    <a:rPr lang="en-US" b="1" i="1">
                                      <a:solidFill>
                                        <a:srgbClr val="374151"/>
                                      </a:solidFill>
                                      <a:latin typeface="Cambria Math" panose="02040503050406030204" pitchFamily="18" charset="0"/>
                                      <a:ea typeface="Cambria Math" panose="02040503050406030204" pitchFamily="18" charset="0"/>
                                    </a:rPr>
                                    <m:t>𝜷</m:t>
                                  </m:r>
                                </m:e>
                              </m:acc>
                            </m:e>
                          </m:d>
                        </m:e>
                        <m:sup>
                          <m:r>
                            <a:rPr lang="en-US" i="1">
                              <a:solidFill>
                                <a:srgbClr val="374151"/>
                              </a:solidFill>
                              <a:latin typeface="Cambria Math" panose="02040503050406030204" pitchFamily="18" charset="0"/>
                            </a:rPr>
                            <m:t>𝑇</m:t>
                          </m:r>
                        </m:sup>
                      </m:sSup>
                      <m:d>
                        <m:dPr>
                          <m:ctrlPr>
                            <a:rPr lang="en-US" i="1">
                              <a:solidFill>
                                <a:srgbClr val="374151"/>
                              </a:solidFill>
                              <a:latin typeface="Cambria Math" panose="02040503050406030204" pitchFamily="18" charset="0"/>
                            </a:rPr>
                          </m:ctrlPr>
                        </m:dPr>
                        <m:e>
                          <m:r>
                            <a:rPr lang="en-US" b="0" i="1" smtClean="0">
                              <a:solidFill>
                                <a:srgbClr val="374151"/>
                              </a:solidFill>
                              <a:latin typeface="Cambria Math" panose="02040503050406030204" pitchFamily="18" charset="0"/>
                            </a:rPr>
                            <m:t>𝑦</m:t>
                          </m:r>
                          <m:r>
                            <a:rPr lang="en-US" i="1">
                              <a:solidFill>
                                <a:srgbClr val="374151"/>
                              </a:solidFill>
                              <a:latin typeface="Cambria Math" panose="02040503050406030204" pitchFamily="18" charset="0"/>
                            </a:rPr>
                            <m:t>−</m:t>
                          </m:r>
                          <m:r>
                            <a:rPr lang="en-US" b="1" i="1">
                              <a:solidFill>
                                <a:srgbClr val="374151"/>
                              </a:solidFill>
                              <a:latin typeface="Cambria Math" panose="02040503050406030204" pitchFamily="18" charset="0"/>
                            </a:rPr>
                            <m:t>𝑿</m:t>
                          </m:r>
                          <m:acc>
                            <m:accPr>
                              <m:chr m:val="̂"/>
                              <m:ctrlPr>
                                <a:rPr lang="en-US" b="1" i="1">
                                  <a:solidFill>
                                    <a:srgbClr val="374151"/>
                                  </a:solidFill>
                                  <a:latin typeface="Cambria Math" panose="02040503050406030204" pitchFamily="18" charset="0"/>
                                  <a:ea typeface="Cambria Math" panose="02040503050406030204" pitchFamily="18" charset="0"/>
                                </a:rPr>
                              </m:ctrlPr>
                            </m:accPr>
                            <m:e>
                              <m:r>
                                <a:rPr lang="en-US" b="1" i="1">
                                  <a:solidFill>
                                    <a:srgbClr val="374151"/>
                                  </a:solidFill>
                                  <a:latin typeface="Cambria Math" panose="02040503050406030204" pitchFamily="18" charset="0"/>
                                  <a:ea typeface="Cambria Math" panose="02040503050406030204" pitchFamily="18" charset="0"/>
                                </a:rPr>
                                <m:t>𝜷</m:t>
                              </m:r>
                            </m:e>
                          </m:acc>
                        </m:e>
                      </m:d>
                      <m:r>
                        <a:rPr lang="en-US" b="1" i="1">
                          <a:solidFill>
                            <a:srgbClr val="374151"/>
                          </a:solidFill>
                          <a:latin typeface="Cambria Math" panose="02040503050406030204" pitchFamily="18" charset="0"/>
                          <a:ea typeface="Cambria Math" panose="02040503050406030204" pitchFamily="18" charset="0"/>
                        </a:rPr>
                        <m:t>+ </m:t>
                      </m:r>
                      <m:r>
                        <a:rPr lang="en-US" i="1">
                          <a:solidFill>
                            <a:srgbClr val="374151"/>
                          </a:solidFill>
                          <a:latin typeface="Cambria Math" panose="02040503050406030204" pitchFamily="18" charset="0"/>
                          <a:ea typeface="Cambria Math" panose="02040503050406030204" pitchFamily="18" charset="0"/>
                        </a:rPr>
                        <m:t>𝜆</m:t>
                      </m:r>
                      <m:nary>
                        <m:naryPr>
                          <m:chr m:val="∑"/>
                          <m:ctrlPr>
                            <a:rPr lang="en-US" i="1">
                              <a:solidFill>
                                <a:srgbClr val="374151"/>
                              </a:solidFill>
                              <a:latin typeface="Cambria Math" panose="02040503050406030204" pitchFamily="18" charset="0"/>
                              <a:ea typeface="Cambria Math" panose="02040503050406030204" pitchFamily="18" charset="0"/>
                            </a:rPr>
                          </m:ctrlPr>
                        </m:naryPr>
                        <m:sub>
                          <m:r>
                            <m:rPr>
                              <m:brk m:alnAt="23"/>
                            </m:rPr>
                            <a:rPr lang="en-US" i="1">
                              <a:solidFill>
                                <a:srgbClr val="374151"/>
                              </a:solidFill>
                              <a:latin typeface="Cambria Math" panose="02040503050406030204" pitchFamily="18" charset="0"/>
                              <a:ea typeface="Cambria Math" panose="02040503050406030204" pitchFamily="18" charset="0"/>
                            </a:rPr>
                            <m:t>𝑖</m:t>
                          </m:r>
                          <m:r>
                            <a:rPr lang="en-US" i="1">
                              <a:solidFill>
                                <a:srgbClr val="374151"/>
                              </a:solidFill>
                              <a:latin typeface="Cambria Math" panose="02040503050406030204" pitchFamily="18" charset="0"/>
                              <a:ea typeface="Cambria Math" panose="02040503050406030204" pitchFamily="18" charset="0"/>
                            </a:rPr>
                            <m:t>=1</m:t>
                          </m:r>
                        </m:sub>
                        <m:sup>
                          <m:r>
                            <a:rPr lang="en-US" i="1">
                              <a:solidFill>
                                <a:srgbClr val="374151"/>
                              </a:solidFill>
                              <a:latin typeface="Cambria Math" panose="02040503050406030204" pitchFamily="18" charset="0"/>
                              <a:ea typeface="Cambria Math" panose="02040503050406030204" pitchFamily="18" charset="0"/>
                            </a:rPr>
                            <m:t>𝑝</m:t>
                          </m:r>
                        </m:sup>
                        <m:e>
                          <m:d>
                            <m:dPr>
                              <m:begChr m:val="|"/>
                              <m:endChr m:val="|"/>
                              <m:ctrlPr>
                                <a:rPr lang="en-US" i="1">
                                  <a:solidFill>
                                    <a:srgbClr val="374151"/>
                                  </a:solidFill>
                                  <a:latin typeface="Cambria Math" panose="02040503050406030204" pitchFamily="18" charset="0"/>
                                  <a:ea typeface="Cambria Math" panose="02040503050406030204" pitchFamily="18" charset="0"/>
                                </a:rPr>
                              </m:ctrlPr>
                            </m:dPr>
                            <m:e>
                              <m:acc>
                                <m:accPr>
                                  <m:chr m:val="̂"/>
                                  <m:ctrlPr>
                                    <a:rPr lang="en-US" i="1">
                                      <a:solidFill>
                                        <a:srgbClr val="374151"/>
                                      </a:solidFill>
                                      <a:latin typeface="Cambria Math" panose="02040503050406030204" pitchFamily="18" charset="0"/>
                                      <a:ea typeface="Cambria Math" panose="02040503050406030204" pitchFamily="18" charset="0"/>
                                    </a:rPr>
                                  </m:ctrlPr>
                                </m:accPr>
                                <m:e>
                                  <m:sSub>
                                    <m:sSubPr>
                                      <m:ctrlPr>
                                        <a:rPr lang="en-US" i="1">
                                          <a:solidFill>
                                            <a:srgbClr val="374151"/>
                                          </a:solidFill>
                                          <a:latin typeface="Cambria Math" panose="02040503050406030204" pitchFamily="18" charset="0"/>
                                          <a:ea typeface="Cambria Math" panose="02040503050406030204" pitchFamily="18" charset="0"/>
                                        </a:rPr>
                                      </m:ctrlPr>
                                    </m:sSubPr>
                                    <m:e>
                                      <m:r>
                                        <a:rPr lang="en-US" i="1">
                                          <a:solidFill>
                                            <a:srgbClr val="374151"/>
                                          </a:solidFill>
                                          <a:latin typeface="Cambria Math" panose="02040503050406030204" pitchFamily="18" charset="0"/>
                                          <a:ea typeface="Cambria Math" panose="02040503050406030204" pitchFamily="18" charset="0"/>
                                        </a:rPr>
                                        <m:t>𝛽</m:t>
                                      </m:r>
                                    </m:e>
                                    <m:sub>
                                      <m:r>
                                        <a:rPr lang="en-US" i="1">
                                          <a:solidFill>
                                            <a:srgbClr val="374151"/>
                                          </a:solidFill>
                                          <a:latin typeface="Cambria Math" panose="02040503050406030204" pitchFamily="18" charset="0"/>
                                          <a:ea typeface="Cambria Math" panose="02040503050406030204" pitchFamily="18" charset="0"/>
                                        </a:rPr>
                                        <m:t>𝑖</m:t>
                                      </m:r>
                                    </m:sub>
                                  </m:sSub>
                                </m:e>
                              </m:acc>
                            </m:e>
                          </m:d>
                        </m:e>
                      </m:nary>
                    </m:oMath>
                  </m:oMathPara>
                </a14:m>
                <a:endParaRPr lang="en-US" altLang="en-US" dirty="0"/>
              </a:p>
            </p:txBody>
          </p:sp>
        </mc:Choice>
        <mc:Fallback xmlns="">
          <p:sp>
            <p:nvSpPr>
              <p:cNvPr id="6146" name="Content Placeholder 2">
                <a:extLst>
                  <a:ext uri="{FF2B5EF4-FFF2-40B4-BE49-F238E27FC236}">
                    <a16:creationId xmlns:a16="http://schemas.microsoft.com/office/drawing/2014/main" id="{8DFB1FDB-789D-3A4E-B0C7-3BAF194C6643}"/>
                  </a:ext>
                </a:extLst>
              </p:cNvPr>
              <p:cNvSpPr>
                <a:spLocks noGrp="1" noRot="1" noChangeAspect="1" noMove="1" noResize="1" noEditPoints="1" noAdjustHandles="1" noChangeArrowheads="1" noChangeShapeType="1" noTextEdit="1"/>
              </p:cNvSpPr>
              <p:nvPr>
                <p:ph idx="1"/>
              </p:nvPr>
            </p:nvSpPr>
            <p:spPr>
              <a:xfrm>
                <a:off x="1098551" y="2051050"/>
                <a:ext cx="16084550" cy="6886576"/>
              </a:xfrm>
              <a:blipFill>
                <a:blip r:embed="rId2"/>
                <a:stretch>
                  <a:fillRect l="-1104" t="-1657" r="-1025" b="-19521"/>
                </a:stretch>
              </a:blipFill>
            </p:spPr>
            <p:txBody>
              <a:bodyPr/>
              <a:lstStyle/>
              <a:p>
                <a:r>
                  <a:rPr lang="en-US">
                    <a:noFill/>
                  </a:rPr>
                  <a:t> </a:t>
                </a:r>
              </a:p>
            </p:txBody>
          </p:sp>
        </mc:Fallback>
      </mc:AlternateContent>
    </p:spTree>
    <p:extLst>
      <p:ext uri="{BB962C8B-B14F-4D97-AF65-F5344CB8AC3E}">
        <p14:creationId xmlns:p14="http://schemas.microsoft.com/office/powerpoint/2010/main" val="292738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Conclusion</a:t>
            </a:r>
          </a:p>
        </p:txBody>
      </p:sp>
      <mc:AlternateContent xmlns:mc="http://schemas.openxmlformats.org/markup-compatibility/2006">
        <mc:Choice xmlns:a14="http://schemas.microsoft.com/office/drawing/2010/main" Requires="a14">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The technique is not ideal for small samples or when variables are highly correlated. </a:t>
                </a:r>
              </a:p>
              <a:p>
                <a:r>
                  <a:rPr lang="en-US" altLang="en-US" dirty="0"/>
                  <a:t>Techniques for picking </a:t>
                </a:r>
                <a14:m>
                  <m:oMath xmlns:m="http://schemas.openxmlformats.org/officeDocument/2006/math">
                    <m:r>
                      <a:rPr lang="en-US" b="0" i="1" smtClean="0">
                        <a:solidFill>
                          <a:srgbClr val="374151"/>
                        </a:solidFill>
                        <a:latin typeface="Cambria Math" panose="02040503050406030204" pitchFamily="18" charset="0"/>
                        <a:ea typeface="Cambria Math" panose="02040503050406030204" pitchFamily="18" charset="0"/>
                      </a:rPr>
                      <m:t>𝜆</m:t>
                    </m:r>
                  </m:oMath>
                </a14:m>
                <a:r>
                  <a:rPr lang="en-US" altLang="en-US" dirty="0"/>
                  <a:t> are the same as they were for </a:t>
                </a:r>
                <a:r>
                  <a:rPr lang="en-US" altLang="en-US"/>
                  <a:t>ridge regression</a:t>
                </a:r>
                <a:r>
                  <a:rPr lang="en-US" altLang="en-US" dirty="0"/>
                  <a:t>.</a:t>
                </a:r>
              </a:p>
            </p:txBody>
          </p:sp>
        </mc:Choice>
        <mc:Fallback>
          <p:sp>
            <p:nvSpPr>
              <p:cNvPr id="6146" name="Content Placeholder 2">
                <a:extLst>
                  <a:ext uri="{FF2B5EF4-FFF2-40B4-BE49-F238E27FC236}">
                    <a16:creationId xmlns:a16="http://schemas.microsoft.com/office/drawing/2014/main" id="{8DFB1FDB-789D-3A4E-B0C7-3BAF194C6643}"/>
                  </a:ext>
                </a:extLst>
              </p:cNvPr>
              <p:cNvSpPr>
                <a:spLocks noGrp="1" noRot="1" noChangeAspect="1" noMove="1" noResize="1" noEditPoints="1" noAdjustHandles="1" noChangeArrowheads="1" noChangeShapeType="1" noTextEdit="1"/>
              </p:cNvSpPr>
              <p:nvPr>
                <p:ph idx="1"/>
              </p:nvPr>
            </p:nvSpPr>
            <p:spPr>
              <a:xfrm>
                <a:off x="1098551" y="2051050"/>
                <a:ext cx="16084550" cy="6886576"/>
              </a:xfrm>
              <a:blipFill>
                <a:blip r:embed="rId2"/>
                <a:stretch>
                  <a:fillRect l="-1104" t="-1657" r="-158"/>
                </a:stretch>
              </a:blipFill>
            </p:spPr>
            <p:txBody>
              <a:bodyPr/>
              <a:lstStyle/>
              <a:p>
                <a:r>
                  <a:rPr lang="en-US">
                    <a:noFill/>
                  </a:rPr>
                  <a:t> </a:t>
                </a:r>
              </a:p>
            </p:txBody>
          </p:sp>
        </mc:Fallback>
      </mc:AlternateContent>
    </p:spTree>
    <p:extLst>
      <p:ext uri="{BB962C8B-B14F-4D97-AF65-F5344CB8AC3E}">
        <p14:creationId xmlns:p14="http://schemas.microsoft.com/office/powerpoint/2010/main" val="14439534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6" ma:contentTypeDescription="Create a new document." ma:contentTypeScope="" ma:versionID="81a54cd395f61cfc29bb41b0389d7858">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db123aac500611cfff64836afef3716"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FDE6F52F-6D7C-4FA9-A123-73C209577668}"/>
</file>

<file path=docProps/app.xml><?xml version="1.0" encoding="utf-8"?>
<Properties xmlns="http://schemas.openxmlformats.org/officeDocument/2006/extended-properties" xmlns:vt="http://schemas.openxmlformats.org/officeDocument/2006/docPropsVTypes">
  <Template/>
  <TotalTime>2174</TotalTime>
  <Words>684</Words>
  <Application>Microsoft Macintosh PowerPoint</Application>
  <PresentationFormat>Custom</PresentationFormat>
  <Paragraphs>79</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Cambria Math</vt:lpstr>
      <vt:lpstr>Söhne</vt:lpstr>
      <vt:lpstr>Wingdings 2</vt:lpstr>
      <vt:lpstr>Breeze</vt:lpstr>
      <vt:lpstr>Math 769: Statistical Learning</vt:lpstr>
      <vt:lpstr>LASSO</vt:lpstr>
      <vt:lpstr>Last Lesson</vt:lpstr>
      <vt:lpstr>Objectives</vt:lpstr>
      <vt:lpstr>Issues with Linear Regression</vt:lpstr>
      <vt:lpstr>Regularization</vt:lpstr>
      <vt:lpstr>LASSO - Intuition</vt:lpstr>
      <vt:lpstr>Basics of LASSO Regression</vt:lpstr>
      <vt:lpstr>What Distinguishes LASSO?</vt:lpstr>
      <vt:lpstr>LASSO versus Ridge</vt:lpstr>
      <vt:lpstr>Why does this happen?</vt:lpstr>
      <vt:lpstr>Geometry of |∗| versus ∗^2</vt:lpstr>
      <vt:lpstr>Benefits of LASSO</vt:lpstr>
      <vt:lpstr>Limitations of LASSO</vt:lpstr>
      <vt:lpstr>How to Choose λ</vt:lpstr>
      <vt:lpstr>Conclusion</vt:lpstr>
      <vt:lpstr>Conclusion</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Jamshidi, Sara (She/Her/Hers)</cp:lastModifiedBy>
  <cp:revision>18</cp:revision>
  <dcterms:created xsi:type="dcterms:W3CDTF">2019-02-13T16:04:21Z</dcterms:created>
  <dcterms:modified xsi:type="dcterms:W3CDTF">2023-12-03T20:17:21Z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SIP_Label_f2dee603-0001-4639-81f8-0608a53322f1_Enabled">
    <vt:lpwstr>true</vt:lpwstr>
  </property>
  <property fmtid="{D5CDD505-2E9C-101B-9397-08002B2CF9AE}" pid="4" name="MSIP_Label_f2dee603-0001-4639-81f8-0608a53322f1_SetDate">
    <vt:lpwstr>2023-12-03T20:17:20Z</vt:lpwstr>
  </property>
  <property fmtid="{D5CDD505-2E9C-101B-9397-08002B2CF9AE}" pid="5" name="MSIP_Label_f2dee603-0001-4639-81f8-0608a53322f1_Method">
    <vt:lpwstr>Standard</vt:lpwstr>
  </property>
  <property fmtid="{D5CDD505-2E9C-101B-9397-08002B2CF9AE}" pid="6" name="MSIP_Label_f2dee603-0001-4639-81f8-0608a53322f1_Name">
    <vt:lpwstr>defa4170-0d19-0005-0004-bc88714345d2</vt:lpwstr>
  </property>
  <property fmtid="{D5CDD505-2E9C-101B-9397-08002B2CF9AE}" pid="7" name="MSIP_Label_f2dee603-0001-4639-81f8-0608a53322f1_SiteId">
    <vt:lpwstr>b4478c05-3dd9-4e06-a7fb-5dcf72bd44ee</vt:lpwstr>
  </property>
  <property fmtid="{D5CDD505-2E9C-101B-9397-08002B2CF9AE}" pid="8" name="MSIP_Label_f2dee603-0001-4639-81f8-0608a53322f1_ActionId">
    <vt:lpwstr>cb5dd875-e57a-434f-a61e-02ebb571981e</vt:lpwstr>
  </property>
  <property fmtid="{D5CDD505-2E9C-101B-9397-08002B2CF9AE}" pid="9" name="MSIP_Label_f2dee603-0001-4639-81f8-0608a53322f1_ContentBits">
    <vt:lpwstr>0</vt:lpwstr>
  </property>
</Properties>
</file>