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30"/>
  </p:notesMasterIdLst>
  <p:sldIdLst>
    <p:sldId id="259" r:id="rId5"/>
    <p:sldId id="262" r:id="rId6"/>
    <p:sldId id="305" r:id="rId7"/>
    <p:sldId id="261" r:id="rId8"/>
    <p:sldId id="285" r:id="rId9"/>
    <p:sldId id="264" r:id="rId10"/>
    <p:sldId id="265" r:id="rId11"/>
    <p:sldId id="281" r:id="rId12"/>
    <p:sldId id="287" r:id="rId13"/>
    <p:sldId id="288" r:id="rId14"/>
    <p:sldId id="289" r:id="rId15"/>
    <p:sldId id="290" r:id="rId16"/>
    <p:sldId id="291" r:id="rId17"/>
    <p:sldId id="299" r:id="rId18"/>
    <p:sldId id="301" r:id="rId19"/>
    <p:sldId id="300" r:id="rId20"/>
    <p:sldId id="302" r:id="rId21"/>
    <p:sldId id="292" r:id="rId22"/>
    <p:sldId id="293" r:id="rId23"/>
    <p:sldId id="294" r:id="rId24"/>
    <p:sldId id="295" r:id="rId25"/>
    <p:sldId id="298" r:id="rId26"/>
    <p:sldId id="296" r:id="rId27"/>
    <p:sldId id="297" r:id="rId28"/>
    <p:sldId id="303" r:id="rId2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51"/>
    <p:restoredTop sz="93741"/>
  </p:normalViewPr>
  <p:slideViewPr>
    <p:cSldViewPr snapToGrid="0" snapToObjects="1">
      <p:cViewPr varScale="1">
        <p:scale>
          <a:sx n="80" d="100"/>
          <a:sy n="80" d="100"/>
        </p:scale>
        <p:origin x="256" y="19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179ED-2BCD-D64D-9D77-2D337A500081}" type="datetimeFigureOut">
              <a:rPr lang="en-US" smtClean="0"/>
              <a:t>12/3/23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ED7A7-9D9C-A147-9BEE-A922851CA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63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 add independence? E[XY] = E[X]E[Y]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ED7A7-9D9C-A147-9BEE-A922851CAB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23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is provided in the supplemental 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ED7A7-9D9C-A147-9BEE-A922851CAB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64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could be more conservative and focus on 100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ED7A7-9D9C-A147-9BEE-A922851CABA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35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9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Statistical Tools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Assumptions of linear regression:</a:t>
            </a:r>
          </a:p>
          <a:p>
            <a:pPr lvl="1"/>
            <a:r>
              <a:rPr lang="en-US" dirty="0"/>
              <a:t>Linearity</a:t>
            </a:r>
          </a:p>
          <a:p>
            <a:pPr lvl="1"/>
            <a:r>
              <a:rPr lang="en-US" dirty="0"/>
              <a:t>Independence</a:t>
            </a:r>
          </a:p>
          <a:p>
            <a:pPr lvl="1"/>
            <a:r>
              <a:rPr lang="en-US" dirty="0"/>
              <a:t>Little or No Multicollinearity</a:t>
            </a:r>
          </a:p>
          <a:p>
            <a:pPr lvl="1"/>
            <a:r>
              <a:rPr lang="en-US" dirty="0"/>
              <a:t>Homoscedasticity</a:t>
            </a:r>
          </a:p>
          <a:p>
            <a:pPr lvl="1"/>
            <a:r>
              <a:rPr lang="en-US" dirty="0"/>
              <a:t>Normality </a:t>
            </a:r>
          </a:p>
          <a:p>
            <a:pPr marL="0" indent="0">
              <a:buNone/>
            </a:pP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7858-44FF-D1D3-375B-D745E8AF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for this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6781A-4183-A9C1-A58B-5E2C2B1DA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State the 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State the estimate for the variance of the residuals, denoted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Calculate a t-score to test if a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State how to construct an F-statistic to test the significance of a group of coefficients.</a:t>
                </a:r>
              </a:p>
              <a:p>
                <a:r>
                  <a:rPr lang="en-US" dirty="0"/>
                  <a:t>State the Gauss-Markov Theorem for ordinary least squares regression.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6781A-4183-A9C1-A58B-5E2C2B1DA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E8D63-05AC-BEAE-133B-F82F8038B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bg1"/>
                    </a:solidFill>
                  </a:rPr>
                  <a:t>expectation operation</a:t>
                </a:r>
                <a:r>
                  <a:rPr lang="en-US" dirty="0"/>
                  <a:t>, often denoted as,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[∗]</m:t>
                    </m:r>
                  </m:oMath>
                </a14:m>
                <a:r>
                  <a:rPr lang="en-US" dirty="0"/>
                  <a:t>, refers to the average or mean value of a random variable. </a:t>
                </a:r>
              </a:p>
              <a:p>
                <a:pPr lvl="1"/>
                <a:r>
                  <a:rPr lang="en-US" dirty="0"/>
                  <a:t>Formally, it is the sum (discrete) or integral (continuous) of the product of the random variable with its probability: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b="1" dirty="0">
                    <a:solidFill>
                      <a:schemeClr val="bg1"/>
                    </a:solidFill>
                  </a:rPr>
                  <a:t>Linearity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when constants (i.e., not random variables!)</a:t>
                </a:r>
              </a:p>
              <a:p>
                <a:r>
                  <a:rPr lang="en-US" b="0" dirty="0"/>
                  <a:t>The </a:t>
                </a:r>
                <a:r>
                  <a:rPr lang="en-US" b="1" dirty="0">
                    <a:solidFill>
                      <a:schemeClr val="bg1"/>
                    </a:solidFill>
                  </a:rPr>
                  <a:t>variance-covariance matrix </a:t>
                </a:r>
                <a:r>
                  <a:rPr lang="en-US" b="0" dirty="0"/>
                  <a:t>for a random variable: </a:t>
                </a:r>
                <a:br>
                  <a:rPr lang="en-US" b="0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𝒁𝒁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E8D63-05AC-BEAE-133B-F82F8038B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9507374-1C1A-8C6F-9A61-80DC6BCB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Prerequisite</a:t>
            </a:r>
          </a:p>
        </p:txBody>
      </p:sp>
    </p:spTree>
    <p:extLst>
      <p:ext uri="{BB962C8B-B14F-4D97-AF65-F5344CB8AC3E}">
        <p14:creationId xmlns:p14="http://schemas.microsoft.com/office/powerpoint/2010/main" val="390158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4F6994-008F-A847-CE00-48823290EF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4F6994-008F-A847-CE00-48823290E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5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F68E3-E72E-1EB3-8875-BD0631F0D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0" y="2050699"/>
                <a:ext cx="16084552" cy="2136290"/>
              </a:xfrm>
            </p:spPr>
            <p:txBody>
              <a:bodyPr/>
              <a:lstStyle/>
              <a:p>
                <a:r>
                  <a:rPr lang="en-US" dirty="0"/>
                  <a:t>The assumption of </a:t>
                </a:r>
                <a:r>
                  <a:rPr lang="en-US" b="1" dirty="0">
                    <a:solidFill>
                      <a:schemeClr val="bg1"/>
                    </a:solidFill>
                  </a:rPr>
                  <a:t>linearity</a:t>
                </a:r>
                <a:r>
                  <a:rPr lang="en-US" dirty="0">
                    <a:latin typeface="Cambria Math" panose="02040503050406030204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4000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𝝐</m:t>
                    </m:r>
                  </m:oMath>
                </a14:m>
                <a:endParaRPr lang="en-US" b="1" dirty="0">
                  <a:latin typeface="Cambria Math" panose="02040503050406030204" pitchFamily="18" charset="0"/>
                </a:endParaRPr>
              </a:p>
              <a:p>
                <a:r>
                  <a:rPr lang="en-US" sz="4000" dirty="0">
                    <a:ea typeface="Cambria Math" panose="02040503050406030204" pitchFamily="18" charset="0"/>
                  </a:rPr>
                  <a:t>The assumption of </a:t>
                </a:r>
                <a:r>
                  <a:rPr lang="en-US" sz="4000" b="1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normality</a:t>
                </a:r>
                <a:r>
                  <a:rPr lang="en-US" sz="4000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𝐄</m:t>
                    </m:r>
                    <m:d>
                      <m:dPr>
                        <m:begChr m:val="["/>
                        <m:endChr m:val="]"/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4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̂"/>
                        <m:ctrlP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F68E3-E72E-1EB3-8875-BD0631F0D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0" y="2050699"/>
                <a:ext cx="16084552" cy="2136290"/>
              </a:xfrm>
              <a:blipFill>
                <a:blip r:embed="rId3"/>
                <a:stretch>
                  <a:fillRect l="-1104" t="-5917" b="-5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8F039A-BA2C-DE06-B7E2-4851C0EAC0DF}"/>
                  </a:ext>
                </a:extLst>
              </p:cNvPr>
              <p:cNvSpPr txBox="1"/>
              <p:nvPr/>
            </p:nvSpPr>
            <p:spPr>
              <a:xfrm>
                <a:off x="4443663" y="5126320"/>
                <a:ext cx="7587916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4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8F039A-BA2C-DE06-B7E2-4851C0EAC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663" y="5126320"/>
                <a:ext cx="7587916" cy="1446550"/>
              </a:xfrm>
              <a:prstGeom prst="rect">
                <a:avLst/>
              </a:prstGeom>
              <a:blipFill>
                <a:blip r:embed="rId4"/>
                <a:stretch>
                  <a:fillRect t="-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576EE2-2BAB-AC0B-07CB-2DA35A2BF192}"/>
                  </a:ext>
                </a:extLst>
              </p:cNvPr>
              <p:cNvSpPr txBox="1"/>
              <p:nvPr/>
            </p:nvSpPr>
            <p:spPr>
              <a:xfrm>
                <a:off x="5239335" y="5911150"/>
                <a:ext cx="847666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576EE2-2BAB-AC0B-07CB-2DA35A2BF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335" y="5911150"/>
                <a:ext cx="8476665" cy="1323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D20311-F8E0-0011-A885-7753B2DA7B12}"/>
                  </a:ext>
                </a:extLst>
              </p:cNvPr>
              <p:cNvSpPr txBox="1"/>
              <p:nvPr/>
            </p:nvSpPr>
            <p:spPr>
              <a:xfrm>
                <a:off x="6051115" y="6826400"/>
                <a:ext cx="658744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𝝐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4000" dirty="0"/>
              </a:p>
              <a:p>
                <a:endParaRPr lang="en-US" sz="4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D20311-F8E0-0011-A885-7753B2DA7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115" y="6826400"/>
                <a:ext cx="6587444" cy="1323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493354-2A47-26BE-5494-9A8803CF206A}"/>
                  </a:ext>
                </a:extLst>
              </p:cNvPr>
              <p:cNvSpPr txBox="1"/>
              <p:nvPr/>
            </p:nvSpPr>
            <p:spPr>
              <a:xfrm>
                <a:off x="6437950" y="7725989"/>
                <a:ext cx="639881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sz="4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𝝐</m:t>
                      </m:r>
                      <m:r>
                        <a:rPr lang="en-US" sz="4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sz="4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493354-2A47-26BE-5494-9A8803CF2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950" y="7725989"/>
                <a:ext cx="6398817" cy="707886"/>
              </a:xfrm>
              <a:prstGeom prst="rect">
                <a:avLst/>
              </a:prstGeom>
              <a:blipFill>
                <a:blip r:embed="rId7"/>
                <a:stretch>
                  <a:fillRect b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21D406-CCF0-3285-AF97-9A4411B9174E}"/>
                  </a:ext>
                </a:extLst>
              </p:cNvPr>
              <p:cNvSpPr txBox="1"/>
              <p:nvPr/>
            </p:nvSpPr>
            <p:spPr>
              <a:xfrm>
                <a:off x="6437950" y="8493880"/>
                <a:ext cx="639881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21D406-CCF0-3285-AF97-9A4411B91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950" y="8493880"/>
                <a:ext cx="6398817" cy="707886"/>
              </a:xfrm>
              <a:prstGeom prst="rect">
                <a:avLst/>
              </a:prstGeom>
              <a:blipFill>
                <a:blip r:embed="rId8"/>
                <a:stretch>
                  <a:fillRect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00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4F6994-008F-A847-CE00-48823290EF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4F6994-008F-A847-CE00-48823290E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5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F68E3-E72E-1EB3-8875-BD0631F0D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0" y="2050699"/>
                <a:ext cx="16084552" cy="2136290"/>
              </a:xfrm>
            </p:spPr>
            <p:txBody>
              <a:bodyPr/>
              <a:lstStyle/>
              <a:p>
                <a:r>
                  <a:rPr lang="en-US" dirty="0"/>
                  <a:t>What is the variance-covariance matrix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F68E3-E72E-1EB3-8875-BD0631F0D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0" y="2050699"/>
                <a:ext cx="16084552" cy="2136290"/>
              </a:xfrm>
              <a:blipFill>
                <a:blip r:embed="rId3"/>
                <a:stretch>
                  <a:fillRect l="-1104" t="-2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8F039A-BA2C-DE06-B7E2-4851C0EAC0DF}"/>
                  </a:ext>
                </a:extLst>
              </p:cNvPr>
              <p:cNvSpPr txBox="1"/>
              <p:nvPr/>
            </p:nvSpPr>
            <p:spPr>
              <a:xfrm>
                <a:off x="1098550" y="3118927"/>
                <a:ext cx="16084551" cy="1405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ar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sz="4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8F039A-BA2C-DE06-B7E2-4851C0EAC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550" y="3118927"/>
                <a:ext cx="16084551" cy="1405962"/>
              </a:xfrm>
              <a:prstGeom prst="rect">
                <a:avLst/>
              </a:prstGeom>
              <a:blipFill>
                <a:blip r:embed="rId4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9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07C14E-B10E-885B-6909-4F12178480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01724" y="4641341"/>
                <a:ext cx="16084552" cy="1004317"/>
              </a:xfrm>
            </p:spPr>
            <p:txBody>
              <a:bodyPr wrap="square" anchor="b">
                <a:normAutofit fontScale="9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6000" smtClean="0"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6000" b="0" i="0" smtClean="0">
                        <a:latin typeface="Cambria Math" panose="02040503050406030204" pitchFamily="18" charset="0"/>
                      </a:rPr>
                      <m:t>ar</m:t>
                    </m:r>
                    <m:r>
                      <a:rPr lang="en-US" sz="60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6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sz="6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written in terms of </a:t>
                </a:r>
                <a:br>
                  <a:rPr lang="en-US" dirty="0"/>
                </a:br>
                <a:r>
                  <a:rPr lang="en-US" dirty="0"/>
                  <a:t>the variance of the residuals,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07C14E-B10E-885B-6909-4F12178480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01724" y="4641341"/>
                <a:ext cx="16084552" cy="1004317"/>
              </a:xfrm>
              <a:blipFill>
                <a:blip r:embed="rId2"/>
                <a:stretch>
                  <a:fillRect t="-82500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45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4F6994-008F-A847-CE00-48823290EF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 Continued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E4F6994-008F-A847-CE00-48823290E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5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F68E3-E72E-1EB3-8875-BD0631F0D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3600" y="2050699"/>
                <a:ext cx="16713200" cy="4783238"/>
              </a:xfrm>
            </p:spPr>
            <p:txBody>
              <a:bodyPr/>
              <a:lstStyle/>
              <a:p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ar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sz="4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4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4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is data on the independent variable, it is its own expected value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F68E3-E72E-1EB3-8875-BD0631F0D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2050699"/>
                <a:ext cx="16713200" cy="4783238"/>
              </a:xfrm>
              <a:blipFill>
                <a:blip r:embed="rId3"/>
                <a:stretch>
                  <a:fillRect l="-1140" t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9E94C4-0494-BEBF-2E00-B28DA23099F3}"/>
                  </a:ext>
                </a:extLst>
              </p:cNvPr>
              <p:cNvSpPr txBox="1"/>
              <p:nvPr/>
            </p:nvSpPr>
            <p:spPr>
              <a:xfrm>
                <a:off x="4924927" y="6817894"/>
                <a:ext cx="8097217" cy="787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00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e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9E94C4-0494-BEBF-2E00-B28DA2309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7" y="6817894"/>
                <a:ext cx="8097217" cy="787139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49787A-5771-84BB-A7F4-BE72733A8EA5}"/>
                  </a:ext>
                </a:extLst>
              </p:cNvPr>
              <p:cNvSpPr txBox="1"/>
              <p:nvPr/>
            </p:nvSpPr>
            <p:spPr>
              <a:xfrm>
                <a:off x="4924927" y="7882358"/>
                <a:ext cx="33299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4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49787A-5771-84BB-A7F4-BE72733A8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7" y="7882358"/>
                <a:ext cx="3329951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11AF8C2-C672-981C-F06E-66FA61DF5213}"/>
              </a:ext>
            </a:extLst>
          </p:cNvPr>
          <p:cNvSpPr txBox="1"/>
          <p:nvPr/>
        </p:nvSpPr>
        <p:spPr>
          <a:xfrm>
            <a:off x="8550442" y="7882358"/>
            <a:ext cx="6304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(by </a:t>
            </a:r>
            <a:r>
              <a:rPr lang="en-US" sz="4000" b="1" i="1" dirty="0">
                <a:solidFill>
                  <a:schemeClr val="bg1"/>
                </a:solidFill>
              </a:rPr>
              <a:t>Homoscedasticity</a:t>
            </a:r>
            <a:r>
              <a:rPr lang="en-US" sz="40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367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EE0690-41B7-80A6-D54F-07462DD410B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Behavior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EE0690-41B7-80A6-D54F-07462DD41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5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3D7364-B989-C8D2-B8EA-CD8E1F37D8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unknown value here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This needs to be estimated </a:t>
                </a:r>
                <a:r>
                  <a:rPr lang="en-US" i="1" dirty="0"/>
                  <a:t>IF</a:t>
                </a:r>
                <a:r>
                  <a:rPr lang="en-US" dirty="0"/>
                  <a:t> we want to perform statistical tests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 !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3D7364-B989-C8D2-B8EA-CD8E1F37D8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562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EE0690-41B7-80A6-D54F-07462DD410B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EE0690-41B7-80A6-D54F-07462DD41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3D7364-B989-C8D2-B8EA-CD8E1F37D8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unbiased estimate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follows a chi-squared distribution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degrees of freedom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3D7364-B989-C8D2-B8EA-CD8E1F37D8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537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92C4C70-58E8-4494-B09C-2069BBA568C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t-score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92C4C70-58E8-4494-B09C-2069BBA568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25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B775D-4607-E949-6284-A9831BB61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now find t-scores for each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:r>
                  <a:rPr lang="en-US" dirty="0" err="1"/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diagonal element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Null hypothesis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In other words, does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explain variability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follows a t distribution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degrees of freedom.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B775D-4607-E949-6284-A9831BB61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33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B288-7D77-8476-4DB5-2AC728F0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2A9013-CEC0-9707-AAC2-F47D97C7AF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we wish to assess a group of coefficients we can use an F-statistic.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RSS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RSS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𝑤𝑖𝑡h𝑜𝑢𝑡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RSS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𝑤𝑖𝑡h𝑜𝑢𝑡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Here, “without” refers to the model without the specific set of coefficients and “with” refers to the model with them.</a:t>
                </a:r>
              </a:p>
              <a:p>
                <a:r>
                  <a:rPr lang="en-US" dirty="0"/>
                  <a:t>Remember that RSS is shorthand for residual sum of squares.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RSS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2A9013-CEC0-9707-AAC2-F47D97C7A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47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855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B774-7A81-D5F3-758F-7244332F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for Coefficients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60A85A-A3E9-7C1C-DD3E-24301EB0C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use this information to obtain a confidence interval of the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for the coefficients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acc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 is the t-score for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percentile for the t-distribution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degrees of freedom.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60A85A-A3E9-7C1C-DD3E-24301EB0C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266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B774-7A81-D5F3-758F-7244332F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for Coefficients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60A85A-A3E9-7C1C-DD3E-24301EB0C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if the degrees of freedom are more than 30, it is common to use a z-score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acc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(1−0.025)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en-US" dirty="0"/>
                  <a:t> -- this would produce a 95% confidence interval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(1−0.05)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=1.64</m:t>
                    </m:r>
                  </m:oMath>
                </a14:m>
                <a:r>
                  <a:rPr lang="en-US" dirty="0"/>
                  <a:t> -- this would produce a 90% confidence interval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60A85A-A3E9-7C1C-DD3E-24301EB0C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r="-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00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487B-C44C-3F48-E694-6B37B0DD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45AFE-0A74-D3BB-85AD-D06BA76A07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Similarly, we can construct a confidence interval for a set of parameters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percentile of the chi-squared distribution 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 degrees of freedom.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(1−0.05)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=11.1</m:t>
                    </m:r>
                  </m:oMath>
                </a14:m>
                <a:r>
                  <a:rPr lang="en-US" dirty="0"/>
                  <a:t> for constructing a 95% confidence interval with 4 independent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45AFE-0A74-D3BB-85AD-D06BA76A07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1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68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C14E-B10E-885B-6909-4F12178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Let’s do an example of a t-test </a:t>
            </a:r>
            <a:br>
              <a:rPr lang="en-US" dirty="0"/>
            </a:br>
            <a:r>
              <a:rPr lang="en-US" dirty="0"/>
              <a:t>on a specific coefficient.</a:t>
            </a:r>
          </a:p>
        </p:txBody>
      </p:sp>
    </p:spTree>
    <p:extLst>
      <p:ext uri="{BB962C8B-B14F-4D97-AF65-F5344CB8AC3E}">
        <p14:creationId xmlns:p14="http://schemas.microsoft.com/office/powerpoint/2010/main" val="790120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8601-AEE3-2077-AE07-4FBE1645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Statistical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5E8E1F-E771-8232-494B-CA82F1A3D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From the computed example in the example, we obtained the model (with rounding)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=1.94+0.288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376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+2.19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From the example,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calculate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RSS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=0.34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we suspected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may not have a significant effect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we might 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5E8E1F-E771-8232-494B-CA82F1A3D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1670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8601-AEE3-2077-AE07-4FBE1645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Statistical Test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5E8E1F-E771-8232-494B-CA82F1A3D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=1.94+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0.288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376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+2.19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5E8E1F-E771-8232-494B-CA82F1A3D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D52F2C9-3BEF-DC63-8C11-B5CAC206AB9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98550" y="3265584"/>
                <a:ext cx="16084552" cy="15310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698500" indent="-698500" algn="l" rtl="0" fontAlgn="base">
                  <a:spcBef>
                    <a:spcPts val="4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 typeface="Wingdings 2" pitchFamily="2" charset="2"/>
                  <a:buChar char=""/>
                  <a:defRPr sz="40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1pPr>
                <a:lvl2pPr marL="1371600" indent="-67310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buFont typeface="Wingdings 2" pitchFamily="2" charset="2"/>
                  <a:buChar char=""/>
                  <a:defRPr sz="36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2pPr>
                <a:lvl3pPr marL="1936750" indent="-5651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969696"/>
                  </a:buClr>
                  <a:buSzPct val="100000"/>
                  <a:buFont typeface="Wingdings 2" pitchFamily="2" charset="2"/>
                  <a:buChar char=""/>
                  <a:defRPr sz="32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3pPr>
                <a:lvl4pPr marL="2527300" indent="-5905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F8BC65"/>
                  </a:buClr>
                  <a:buSzPct val="100000"/>
                  <a:buFont typeface="Wingdings 2" pitchFamily="2" charset="2"/>
                  <a:buChar char=""/>
                  <a:defRPr sz="28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4pPr>
                <a:lvl5pPr marL="3092450" indent="-5651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FBD299"/>
                  </a:buClr>
                  <a:buSzPct val="100000"/>
                  <a:buFont typeface="Wingdings 2" pitchFamily="2" charset="2"/>
                  <a:buChar char=""/>
                  <a:defRPr sz="24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5pPr>
                <a:lvl6pPr marL="3657600" indent="-565150" algn="l" defTabSz="18288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4235450" indent="-565150" algn="l" defTabSz="1828800" rtl="0" eaLnBrk="1" latinLnBrk="0" hangingPunct="1">
                  <a:spcBef>
                    <a:spcPct val="20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4797426" indent="-565150" algn="l" defTabSz="18288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5378450" indent="-565150" algn="l" defTabSz="1828800" rtl="0" eaLnBrk="1" latinLnBrk="0" hangingPunct="1">
                  <a:spcBef>
                    <a:spcPct val="20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SzPct val="110000"/>
                  <a:buFont typeface="Wingdings 2" pitchFamily="18" charset="2"/>
                  <a:buChar char=""/>
                  <a:defRPr lang="en-US" sz="3600" kern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RSS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=0.34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0.349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=0.116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D52F2C9-3BEF-DC63-8C11-B5CAC206A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8550" y="3265584"/>
                <a:ext cx="16084552" cy="15310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9AB2B8-9F6E-A6AC-9ACE-290945D0AED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98550" y="6973640"/>
                <a:ext cx="16084552" cy="1721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698500" indent="-698500" algn="l" rtl="0" fontAlgn="base">
                  <a:spcBef>
                    <a:spcPts val="4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 typeface="Wingdings 2" pitchFamily="2" charset="2"/>
                  <a:buChar char=""/>
                  <a:defRPr sz="40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1pPr>
                <a:lvl2pPr marL="1371600" indent="-67310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buFont typeface="Wingdings 2" pitchFamily="2" charset="2"/>
                  <a:buChar char=""/>
                  <a:defRPr sz="36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2pPr>
                <a:lvl3pPr marL="1936750" indent="-5651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969696"/>
                  </a:buClr>
                  <a:buSzPct val="100000"/>
                  <a:buFont typeface="Wingdings 2" pitchFamily="2" charset="2"/>
                  <a:buChar char=""/>
                  <a:defRPr sz="32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3pPr>
                <a:lvl4pPr marL="2527300" indent="-5905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F8BC65"/>
                  </a:buClr>
                  <a:buSzPct val="100000"/>
                  <a:buFont typeface="Wingdings 2" pitchFamily="2" charset="2"/>
                  <a:buChar char=""/>
                  <a:defRPr sz="28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4pPr>
                <a:lvl5pPr marL="3092450" indent="-5651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FBD299"/>
                  </a:buClr>
                  <a:buSzPct val="100000"/>
                  <a:buFont typeface="Wingdings 2" pitchFamily="2" charset="2"/>
                  <a:buChar char=""/>
                  <a:defRPr sz="24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5pPr>
                <a:lvl6pPr marL="3657600" indent="-565150" algn="l" defTabSz="18288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4235450" indent="-565150" algn="l" defTabSz="1828800" rtl="0" eaLnBrk="1" latinLnBrk="0" hangingPunct="1">
                  <a:spcBef>
                    <a:spcPct val="20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4797426" indent="-565150" algn="l" defTabSz="18288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5378450" indent="-565150" algn="l" defTabSz="1828800" rtl="0" eaLnBrk="1" latinLnBrk="0" hangingPunct="1">
                  <a:spcBef>
                    <a:spcPct val="20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SzPct val="110000"/>
                  <a:buFont typeface="Wingdings 2" pitchFamily="18" charset="2"/>
                  <a:buChar char=""/>
                  <a:defRPr lang="en-US" sz="3600" kern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0.288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341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1.14</m:t>
                              </m:r>
                            </m:e>
                          </m:ra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=0.791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9AB2B8-9F6E-A6AC-9ACE-290945D0A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8550" y="6973640"/>
                <a:ext cx="16084552" cy="1721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number on a white background&#10;&#10;Description automatically generated">
            <a:extLst>
              <a:ext uri="{FF2B5EF4-FFF2-40B4-BE49-F238E27FC236}">
                <a16:creationId xmlns:a16="http://schemas.microsoft.com/office/drawing/2014/main" id="{7FC27AD7-DC6A-5983-FE5F-033A15517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285" y="4954699"/>
            <a:ext cx="9007081" cy="153100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A7C1C7F-5B0B-3D79-6C7C-3CF760AB40DC}"/>
              </a:ext>
            </a:extLst>
          </p:cNvPr>
          <p:cNvSpPr/>
          <p:nvPr/>
        </p:nvSpPr>
        <p:spPr>
          <a:xfrm>
            <a:off x="8150506" y="5284525"/>
            <a:ext cx="1571010" cy="50332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483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8601-AEE3-2077-AE07-4FBE1645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Statistical Test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5E8E1F-E771-8232-494B-CA82F1A3D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=1.94+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0.288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376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+2.19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5E8E1F-E771-8232-494B-CA82F1A3D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number of numbers on a white background&#10;&#10;Description automatically generated">
            <a:extLst>
              <a:ext uri="{FF2B5EF4-FFF2-40B4-BE49-F238E27FC236}">
                <a16:creationId xmlns:a16="http://schemas.microsoft.com/office/drawing/2014/main" id="{498EFFC5-55C5-5DD2-919F-499FF37AF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362" y="4510505"/>
            <a:ext cx="6685766" cy="2272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D52F2C9-3BEF-DC63-8C11-B5CAC206AB9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98550" y="3265584"/>
                <a:ext cx="16084552" cy="15310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698500" indent="-698500" algn="l" rtl="0" fontAlgn="base">
                  <a:spcBef>
                    <a:spcPts val="4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 typeface="Wingdings 2" pitchFamily="2" charset="2"/>
                  <a:buChar char=""/>
                  <a:defRPr sz="40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1pPr>
                <a:lvl2pPr marL="1371600" indent="-67310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buFont typeface="Wingdings 2" pitchFamily="2" charset="2"/>
                  <a:buChar char=""/>
                  <a:defRPr sz="36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2pPr>
                <a:lvl3pPr marL="1936750" indent="-5651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969696"/>
                  </a:buClr>
                  <a:buSzPct val="100000"/>
                  <a:buFont typeface="Wingdings 2" pitchFamily="2" charset="2"/>
                  <a:buChar char=""/>
                  <a:defRPr sz="32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3pPr>
                <a:lvl4pPr marL="2527300" indent="-5905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F8BC65"/>
                  </a:buClr>
                  <a:buSzPct val="100000"/>
                  <a:buFont typeface="Wingdings 2" pitchFamily="2" charset="2"/>
                  <a:buChar char=""/>
                  <a:defRPr sz="28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4pPr>
                <a:lvl5pPr marL="3092450" indent="-5651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FBD299"/>
                  </a:buClr>
                  <a:buSzPct val="100000"/>
                  <a:buFont typeface="Wingdings 2" pitchFamily="2" charset="2"/>
                  <a:buChar char=""/>
                  <a:defRPr sz="24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5pPr>
                <a:lvl6pPr marL="3657600" indent="-565150" algn="l" defTabSz="18288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4235450" indent="-565150" algn="l" defTabSz="1828800" rtl="0" eaLnBrk="1" latinLnBrk="0" hangingPunct="1">
                  <a:spcBef>
                    <a:spcPct val="20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4797426" indent="-565150" algn="l" defTabSz="18288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5378450" indent="-565150" algn="l" defTabSz="1828800" rtl="0" eaLnBrk="1" latinLnBrk="0" hangingPunct="1">
                  <a:spcBef>
                    <a:spcPct val="20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SzPct val="110000"/>
                  <a:buFont typeface="Wingdings 2" pitchFamily="18" charset="2"/>
                  <a:buChar char=""/>
                  <a:defRPr lang="en-US" sz="3600" kern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RSS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=0.34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0.349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=0.116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D52F2C9-3BEF-DC63-8C11-B5CAC206A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8550" y="3265584"/>
                <a:ext cx="16084552" cy="1531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9AB2B8-9F6E-A6AC-9ACE-290945D0AED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98550" y="6973640"/>
                <a:ext cx="16084552" cy="1721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698500" indent="-698500" algn="l" rtl="0" fontAlgn="base">
                  <a:spcBef>
                    <a:spcPts val="4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 typeface="Wingdings 2" pitchFamily="2" charset="2"/>
                  <a:buChar char=""/>
                  <a:defRPr sz="40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1pPr>
                <a:lvl2pPr marL="1371600" indent="-67310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buFont typeface="Wingdings 2" pitchFamily="2" charset="2"/>
                  <a:buChar char=""/>
                  <a:defRPr sz="36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2pPr>
                <a:lvl3pPr marL="1936750" indent="-5651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969696"/>
                  </a:buClr>
                  <a:buSzPct val="100000"/>
                  <a:buFont typeface="Wingdings 2" pitchFamily="2" charset="2"/>
                  <a:buChar char=""/>
                  <a:defRPr sz="32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3pPr>
                <a:lvl4pPr marL="2527300" indent="-5905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F8BC65"/>
                  </a:buClr>
                  <a:buSzPct val="100000"/>
                  <a:buFont typeface="Wingdings 2" pitchFamily="2" charset="2"/>
                  <a:buChar char=""/>
                  <a:defRPr sz="28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4pPr>
                <a:lvl5pPr marL="3092450" indent="-565150" algn="l" rtl="0" fontAlgn="base">
                  <a:spcBef>
                    <a:spcPts val="1200"/>
                  </a:spcBef>
                  <a:spcAft>
                    <a:spcPct val="0"/>
                  </a:spcAft>
                  <a:buClr>
                    <a:srgbClr val="FBD299"/>
                  </a:buClr>
                  <a:buSzPct val="100000"/>
                  <a:buFont typeface="Wingdings 2" pitchFamily="2" charset="2"/>
                  <a:buChar char=""/>
                  <a:defRPr sz="2400" kern="1200">
                    <a:solidFill>
                      <a:schemeClr val="tx1"/>
                    </a:solidFill>
                    <a:latin typeface="+mn-lt"/>
                    <a:ea typeface="ＭＳ Ｐゴシック" panose="020B0600070205080204" pitchFamily="34" charset="-128"/>
                    <a:cs typeface="+mn-cs"/>
                  </a:defRPr>
                </a:lvl5pPr>
                <a:lvl6pPr marL="3657600" indent="-565150" algn="l" defTabSz="18288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4235450" indent="-565150" algn="l" defTabSz="1828800" rtl="0" eaLnBrk="1" latinLnBrk="0" hangingPunct="1">
                  <a:spcBef>
                    <a:spcPct val="20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4797426" indent="-565150" algn="l" defTabSz="18288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110000"/>
                  <a:buFont typeface="Wingdings 2" pitchFamily="18" charset="2"/>
                  <a:buChar char=""/>
                  <a:defRPr lang="en-US" sz="36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5378450" indent="-565150" algn="l" defTabSz="1828800" rtl="0" eaLnBrk="1" latinLnBrk="0" hangingPunct="1">
                  <a:spcBef>
                    <a:spcPct val="20000"/>
                  </a:spcBef>
                  <a:buClr>
                    <a:schemeClr val="accent1">
                      <a:lumMod val="60000"/>
                      <a:lumOff val="40000"/>
                    </a:schemeClr>
                  </a:buClr>
                  <a:buSzPct val="110000"/>
                  <a:buFont typeface="Wingdings 2" pitchFamily="18" charset="2"/>
                  <a:buChar char=""/>
                  <a:defRPr lang="en-US" sz="3600" kern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0.288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0.116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144.5</m:t>
                              </m:r>
                            </m:e>
                          </m:ra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=0.20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9AB2B8-9F6E-A6AC-9ACE-290945D0A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8550" y="6973640"/>
                <a:ext cx="16084552" cy="1721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4A7C1C7F-5B0B-3D79-6C7C-3CF760AB40DC}"/>
              </a:ext>
            </a:extLst>
          </p:cNvPr>
          <p:cNvSpPr/>
          <p:nvPr/>
        </p:nvSpPr>
        <p:spPr>
          <a:xfrm>
            <a:off x="7924800" y="5238751"/>
            <a:ext cx="1363579" cy="50332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AA46A2-76F7-FF20-4AF3-CEC163706268}"/>
              </a:ext>
            </a:extLst>
          </p:cNvPr>
          <p:cNvSpPr/>
          <p:nvPr/>
        </p:nvSpPr>
        <p:spPr>
          <a:xfrm rot="19490700">
            <a:off x="1645252" y="5791356"/>
            <a:ext cx="52437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P-value = 0.487!</a:t>
            </a:r>
          </a:p>
        </p:txBody>
      </p:sp>
    </p:spTree>
    <p:extLst>
      <p:ext uri="{BB962C8B-B14F-4D97-AF65-F5344CB8AC3E}">
        <p14:creationId xmlns:p14="http://schemas.microsoft.com/office/powerpoint/2010/main" val="3220197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07C14E-B10E-885B-6909-4F12178480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01724" y="4641341"/>
                <a:ext cx="16084552" cy="1004317"/>
              </a:xfrm>
            </p:spPr>
            <p:txBody>
              <a:bodyPr wrap="square" anchor="b">
                <a:normAutofit fontScale="90000"/>
              </a:bodyPr>
              <a:lstStyle/>
              <a:p>
                <a:r>
                  <a:rPr lang="en-US" dirty="0"/>
                  <a:t>Here, we fail to reject the null!</a:t>
                </a:r>
                <a:br>
                  <a:rPr lang="en-US" dirty="0"/>
                </a:br>
                <a:r>
                  <a:rPr lang="en-US" dirty="0"/>
                  <a:t>We would conclude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07C14E-B10E-885B-6909-4F12178480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01724" y="4641341"/>
                <a:ext cx="16084552" cy="1004317"/>
              </a:xfrm>
              <a:blipFill>
                <a:blip r:embed="rId2"/>
                <a:stretch>
                  <a:fillRect t="-75000" b="-3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419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8586-8AB5-77CD-8C79-6F5D7832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Gauss-Markov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D2D487-70E7-973E-BEC6-2B38398FD7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Gauss-Markov Theorem states that given the 5 assumptions, the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>
                    <a:solidFill>
                      <a:schemeClr val="bg1"/>
                    </a:solidFill>
                  </a:rPr>
                  <a:t>best linear unbiased estimator </a:t>
                </a:r>
                <a:r>
                  <a:rPr lang="en-US" dirty="0"/>
                  <a:t>(BLUE).</a:t>
                </a:r>
              </a:p>
              <a:p>
                <a:pPr lvl="1"/>
                <a:r>
                  <a:rPr lang="en-US" b="1" dirty="0"/>
                  <a:t>Best</a:t>
                </a:r>
                <a:r>
                  <a:rPr lang="en-US" dirty="0"/>
                  <a:t>: It has the smallest variance among the class of linear estimators.</a:t>
                </a:r>
              </a:p>
              <a:p>
                <a:pPr lvl="1"/>
                <a:r>
                  <a:rPr lang="en-US" b="1" dirty="0"/>
                  <a:t>Linear</a:t>
                </a:r>
                <a:r>
                  <a:rPr lang="en-US" dirty="0"/>
                  <a:t>: It is a linear function of the dependent variable y.</a:t>
                </a:r>
              </a:p>
              <a:p>
                <a:pPr lvl="1"/>
                <a:r>
                  <a:rPr lang="en-US" b="1" dirty="0"/>
                  <a:t>Unbiased</a:t>
                </a:r>
                <a:r>
                  <a:rPr lang="en-US" dirty="0"/>
                  <a:t>: The expected value of the estimator equals the true parameter value.</a:t>
                </a:r>
              </a:p>
              <a:p>
                <a:r>
                  <a:rPr lang="en-US" dirty="0"/>
                  <a:t>This implies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 has the smallest mean squared error of all the unbiased estimates; however, we may be able to get a smaller error with a </a:t>
                </a:r>
                <a:r>
                  <a:rPr lang="en-US" b="1" i="1" dirty="0"/>
                  <a:t>biased</a:t>
                </a:r>
                <a:r>
                  <a:rPr lang="en-US" dirty="0"/>
                  <a:t> estimator.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D2D487-70E7-973E-BEC6-2B38398FD7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5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920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ECCA-8BA8-E326-14B4-57CD4ACE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F5656B-2918-599C-6D2C-9F7C34741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 is normally distributed with a mean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dirty="0"/>
                  <a:t> and a variance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the variance of the residuals, is unknown to us.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use this information to test if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should actually be zero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dirty="0"/>
                  <a:t> with degrees of freedom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F5656B-2918-599C-6D2C-9F7C34741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921" r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54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ECCA-8BA8-E326-14B4-57CD4ACE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F5656B-2918-599C-6D2C-9F7C34741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we wish to test a set of coefficients together, we can use the F-statistic: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𝑤𝑖𝑡h𝑜𝑢𝑡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𝑤𝑖𝑡h𝑜𝑢𝑡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“with” indicated with the set of coefficients being tested and “without” indicates the model without. </a:t>
                </a:r>
              </a:p>
              <a:p>
                <a:r>
                  <a:rPr lang="en-US" dirty="0"/>
                  <a:t>See supplemental materials for explicit calculations in Python. </a:t>
                </a:r>
              </a:p>
              <a:p>
                <a:r>
                  <a:rPr lang="en-US" dirty="0"/>
                  <a:t>In general, we will use standard libraries.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F5656B-2918-599C-6D2C-9F7C34741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581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ECCA-8BA8-E326-14B4-57CD4ACE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F5656B-2918-599C-6D2C-9F7C34741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Gauss-Markov Theorem states that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/>
                  <a:t> equation we derived is the Best Linear Unbiased Estimator (BLUE).</a:t>
                </a:r>
              </a:p>
              <a:p>
                <a:pPr lvl="1"/>
                <a:r>
                  <a:rPr lang="en-US" dirty="0"/>
                  <a:t>A biased estimator could produce a smaller mean squared error.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F5656B-2918-599C-6D2C-9F7C34741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921" r="-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3198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2BEDCF53-1FAA-49A6-97DA-23B01B22BD9B}"/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11917</TotalTime>
  <Words>1180</Words>
  <Application>Microsoft Macintosh PowerPoint</Application>
  <PresentationFormat>Custom</PresentationFormat>
  <Paragraphs>123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Wingdings 2</vt:lpstr>
      <vt:lpstr>Breeze</vt:lpstr>
      <vt:lpstr>Math 769: Statistical Learning</vt:lpstr>
      <vt:lpstr>Statistical Tools</vt:lpstr>
      <vt:lpstr>Last Time</vt:lpstr>
      <vt:lpstr>Objectives for this Lesson</vt:lpstr>
      <vt:lpstr>Recall from Prerequisite</vt:lpstr>
      <vt:lpstr>Expectation of β ̂</vt:lpstr>
      <vt:lpstr>Variance of β ̂</vt:lpstr>
      <vt:lpstr>Var(β ̂) can be written in terms of  the variance of the residuals, σ^2!</vt:lpstr>
      <vt:lpstr>Variance of β ̂ Continued</vt:lpstr>
      <vt:lpstr>Behavior of β ̂</vt:lpstr>
      <vt:lpstr>Estimating σ^2</vt:lpstr>
      <vt:lpstr>t-score for β ̂</vt:lpstr>
      <vt:lpstr>F-statistics</vt:lpstr>
      <vt:lpstr>Confidence Intervals for Coefficients </vt:lpstr>
      <vt:lpstr>Confidence Intervals for Coefficients </vt:lpstr>
      <vt:lpstr>Confidence Intervals</vt:lpstr>
      <vt:lpstr>Let’s do an example of a t-test  on a specific coefficient.</vt:lpstr>
      <vt:lpstr>Example of a Statistical Test</vt:lpstr>
      <vt:lpstr>Example of a Statistical Test Continued</vt:lpstr>
      <vt:lpstr>Example of a Statistical Test Continued</vt:lpstr>
      <vt:lpstr>Here, we fail to reject the null! We would conclude β_1=0. </vt:lpstr>
      <vt:lpstr>The Gauss-Markov Theorem</vt:lpstr>
      <vt:lpstr>Conclusion</vt:lpstr>
      <vt:lpstr>Conclusion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30</cp:revision>
  <dcterms:created xsi:type="dcterms:W3CDTF">2019-02-13T16:04:21Z</dcterms:created>
  <dcterms:modified xsi:type="dcterms:W3CDTF">2023-12-03T22:01:48Z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2023-12-03T17:39:28Z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5306ddd0-4c60-4958-9f13-cac109e318d2</vt:lpwstr>
  </property>
  <property fmtid="{D5CDD505-2E9C-101B-9397-08002B2CF9AE}" pid="9" name="MSIP_Label_f2dee603-0001-4639-81f8-0608a53322f1_ContentBits">
    <vt:lpwstr>0</vt:lpwstr>
  </property>
</Properties>
</file>