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259" r:id="rId5"/>
    <p:sldId id="262" r:id="rId6"/>
    <p:sldId id="263" r:id="rId7"/>
    <p:sldId id="269" r:id="rId8"/>
    <p:sldId id="264" r:id="rId9"/>
    <p:sldId id="265" r:id="rId10"/>
    <p:sldId id="266" r:id="rId11"/>
    <p:sldId id="268" r:id="rId12"/>
    <p:sldId id="274" r:id="rId13"/>
    <p:sldId id="276" r:id="rId14"/>
    <p:sldId id="272" r:id="rId15"/>
    <p:sldId id="271" r:id="rId16"/>
    <p:sldId id="273" r:id="rId17"/>
    <p:sldId id="270" r:id="rId18"/>
    <p:sldId id="275" r:id="rId1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3"/>
    <p:restoredTop sz="93731"/>
  </p:normalViewPr>
  <p:slideViewPr>
    <p:cSldViewPr snapToGrid="0" snapToObjects="1">
      <p:cViewPr varScale="1">
        <p:scale>
          <a:sx n="59" d="100"/>
          <a:sy n="59" d="100"/>
        </p:scale>
        <p:origin x="224" y="62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29990-1A7A-0741-AAD0-BD8A0F363C82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E24C9-BC2F-CF46-A34F-154F47F36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6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***Cut to board showing how x is transformed,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E24C9-BC2F-CF46-A34F-154F47F369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47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Ridge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We have seen (simple) linear regression.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en-US" dirty="0"/>
              </a:p>
              <a:p>
                <a:r>
                  <a:rPr lang="en-US" altLang="en-US" dirty="0"/>
                  <a:t>Subset selection is a class of techniques for reducing the total number of variables. </a:t>
                </a:r>
              </a:p>
              <a:p>
                <a:r>
                  <a:rPr lang="en-US" altLang="en-US" dirty="0"/>
                  <a:t>There are three kinds of subset selection: best subset selection, forward stepwise subset selection, and backwards stepwise selection.</a:t>
                </a:r>
              </a:p>
              <a:p>
                <a:r>
                  <a:rPr lang="en-US" altLang="en-US" dirty="0"/>
                  <a:t>Subset selection is computationally expensive and can lead to data snooping.</a:t>
                </a:r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 r="-1420" b="-7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regularization and define hyperparameter. </a:t>
            </a:r>
          </a:p>
          <a:p>
            <a:r>
              <a:rPr lang="en-US" altLang="en-US" dirty="0"/>
              <a:t>Give the formula for ridge regression and explain how it works.</a:t>
            </a:r>
          </a:p>
          <a:p>
            <a:r>
              <a:rPr lang="en-US" altLang="en-US" dirty="0"/>
              <a:t>Describe the benefits and drawbacks of ridge regression.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Overfitting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Model becomes too complex with too many variables; fits the noise.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Multicollinearity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Although we assume no collinearity, this can exist among independent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Large Coefficients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Might lead to unstable models.</a:t>
            </a:r>
          </a:p>
        </p:txBody>
      </p:sp>
    </p:spTree>
    <p:extLst>
      <p:ext uri="{BB962C8B-B14F-4D97-AF65-F5344CB8AC3E}">
        <p14:creationId xmlns:p14="http://schemas.microsoft.com/office/powerpoint/2010/main" val="328304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sng" strike="noStrike" dirty="0">
                <a:solidFill>
                  <a:srgbClr val="374151"/>
                </a:solidFill>
                <a:effectLst/>
              </a:rPr>
              <a:t>Idea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Add a </a:t>
            </a:r>
            <a:r>
              <a:rPr lang="en-US" b="0" i="1" u="none" strike="noStrike" dirty="0">
                <a:solidFill>
                  <a:schemeClr val="bg1"/>
                </a:solidFill>
                <a:effectLst/>
              </a:rPr>
              <a:t>penalty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 to the linear regression coefficients!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Helps in reducing model complexity.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Ridge regression is one such regularization technique.</a:t>
            </a:r>
          </a:p>
        </p:txBody>
      </p:sp>
    </p:spTree>
    <p:extLst>
      <p:ext uri="{BB962C8B-B14F-4D97-AF65-F5344CB8AC3E}">
        <p14:creationId xmlns:p14="http://schemas.microsoft.com/office/powerpoint/2010/main" val="230868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Ridge Regression - Intuition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strike="noStrike" dirty="0">
                <a:solidFill>
                  <a:srgbClr val="374151"/>
                </a:solidFill>
                <a:effectLst/>
              </a:rPr>
              <a:t>Instead of just minimizing the sum of squared residuals, also minimize the magnitude of coefficients.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strike="noStrike" dirty="0">
                <a:solidFill>
                  <a:srgbClr val="374151"/>
                </a:solidFill>
                <a:effectLst/>
              </a:rPr>
              <a:t>We trade off between fitting our data well and keeping coefficients small.</a:t>
            </a:r>
          </a:p>
        </p:txBody>
      </p:sp>
    </p:spTree>
    <p:extLst>
      <p:ext uri="{BB962C8B-B14F-4D97-AF65-F5344CB8AC3E}">
        <p14:creationId xmlns:p14="http://schemas.microsoft.com/office/powerpoint/2010/main" val="226315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765C32-C768-E49C-F6A1-19103E49DC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i="0" u="none" strike="noStrike" dirty="0">
                    <a:effectLst/>
                  </a:rPr>
                  <a:t>Ridge Regression Formula and Role of</a:t>
                </a:r>
                <a:r>
                  <a:rPr lang="en-US" b="1" i="0" u="none" strike="noStrike" dirty="0">
                    <a:solidFill>
                      <a:schemeClr val="bg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765C32-C768-E49C-F6A1-19103E49D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i="0" u="none" strike="noStrike" dirty="0">
                    <a:effectLst/>
                  </a:rPr>
                  <a:t>Formula: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b="0" i="1" u="none" strike="noStrike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u="none" strike="noStrike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b="0" i="1" u="none" strike="noStrike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u="none" strike="noStrike" dirty="0">
                  <a:solidFill>
                    <a:srgbClr val="374151"/>
                  </a:solidFill>
                  <a:effectLst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u="none" strike="noStrike" dirty="0">
                    <a:solidFill>
                      <a:srgbClr val="374151"/>
                    </a:solidFill>
                    <a:effectLst/>
                  </a:rPr>
                  <a:t> is the </a:t>
                </a:r>
                <a:r>
                  <a:rPr lang="en-US" b="1" u="none" strike="noStrike" dirty="0">
                    <a:solidFill>
                      <a:schemeClr val="bg1"/>
                    </a:solidFill>
                    <a:effectLst/>
                  </a:rPr>
                  <a:t>regularization strength</a:t>
                </a:r>
                <a:r>
                  <a:rPr lang="en-US" u="none" strike="noStrike" dirty="0">
                    <a:solidFill>
                      <a:srgbClr val="374151"/>
                    </a:solidFill>
                    <a:effectLst/>
                  </a:rPr>
                  <a:t>. 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 gets very large, coefficients tend to zero.</a:t>
                </a:r>
              </a:p>
              <a:p>
                <a:pPr marL="698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 is a </a:t>
                </a:r>
                <a:r>
                  <a:rPr lang="en-US" b="1" i="0" u="none" strike="noStrike" dirty="0">
                    <a:solidFill>
                      <a:schemeClr val="bg1"/>
                    </a:solidFill>
                    <a:effectLst/>
                  </a:rPr>
                  <a:t>hyperparameter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 that controls the complexity of the model.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3" t="-20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95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Notation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0" y="3286515"/>
                <a:ext cx="16084552" cy="5652190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i="0" u="none" strike="noStrike" dirty="0">
                    <a:effectLst/>
                  </a:rPr>
                  <a:t>Formula: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u="none" strike="noStrike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b="0" i="1" u="none" strike="noStrike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u="none" strike="noStrike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b="0" i="1" u="none" strike="noStrike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u="none" strike="noStrike" dirty="0">
                  <a:solidFill>
                    <a:srgbClr val="37415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0" y="3286515"/>
                <a:ext cx="16084552" cy="5652190"/>
              </a:xfrm>
              <a:blipFill>
                <a:blip r:embed="rId2"/>
                <a:stretch>
                  <a:fillRect l="-1183" t="-24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A233E933-D67D-5FC6-5C53-7E8DC73DC464}"/>
              </a:ext>
            </a:extLst>
          </p:cNvPr>
          <p:cNvSpPr/>
          <p:nvPr/>
        </p:nvSpPr>
        <p:spPr>
          <a:xfrm rot="5400000">
            <a:off x="8582529" y="1768565"/>
            <a:ext cx="401051" cy="418699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0CC94-4364-A0C2-3629-3F4277538A5E}"/>
              </a:ext>
            </a:extLst>
          </p:cNvPr>
          <p:cNvSpPr txBox="1"/>
          <p:nvPr/>
        </p:nvSpPr>
        <p:spPr>
          <a:xfrm>
            <a:off x="5751097" y="2879491"/>
            <a:ext cx="6063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solidFill>
                  <a:schemeClr val="bg1"/>
                </a:solidFill>
              </a:rPr>
              <a:t>Residual Sum of Squares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C2FD57-5C8D-08A0-C141-80D683ED98B9}"/>
              </a:ext>
            </a:extLst>
          </p:cNvPr>
          <p:cNvSpPr/>
          <p:nvPr/>
        </p:nvSpPr>
        <p:spPr>
          <a:xfrm rot="16200000">
            <a:off x="12336380" y="5039224"/>
            <a:ext cx="401051" cy="1764633"/>
          </a:xfrm>
          <a:prstGeom prst="leftBrace">
            <a:avLst>
              <a:gd name="adj1" fmla="val 56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E2E845-9394-9C9E-185B-013E08FFDFFB}"/>
                  </a:ext>
                </a:extLst>
              </p:cNvPr>
              <p:cNvSpPr txBox="1"/>
              <p:nvPr/>
            </p:nvSpPr>
            <p:spPr>
              <a:xfrm>
                <a:off x="9504948" y="6312930"/>
                <a:ext cx="6063914" cy="80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4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E2E845-9394-9C9E-185B-013E08FFD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4948" y="6312930"/>
                <a:ext cx="6063914" cy="803040"/>
              </a:xfrm>
              <a:prstGeom prst="rect">
                <a:avLst/>
              </a:prstGeom>
              <a:blipFill>
                <a:blip r:embed="rId3"/>
                <a:stretch>
                  <a:fillRect t="-93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4FB7ED-F677-5410-3EE3-99D8E1790DAA}"/>
                  </a:ext>
                </a:extLst>
              </p:cNvPr>
              <p:cNvSpPr txBox="1"/>
              <p:nvPr/>
            </p:nvSpPr>
            <p:spPr>
              <a:xfrm>
                <a:off x="1098550" y="7423066"/>
                <a:ext cx="16084551" cy="741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Choices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000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0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4000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000" dirty="0"/>
                  <a:t> are large will be less desirable for minimization.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4FB7ED-F677-5410-3EE3-99D8E1790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50" y="7423066"/>
                <a:ext cx="16084551" cy="741037"/>
              </a:xfrm>
              <a:prstGeom prst="rect">
                <a:avLst/>
              </a:prstGeom>
              <a:blipFill>
                <a:blip r:embed="rId4"/>
                <a:stretch>
                  <a:fillRect l="-1341" t="-10169" b="-35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88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D7D5-47C5-1F19-7EF5-C3D536E1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Form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65CE4F-03A4-4F6D-DFC7-51ECBB0686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</a:t>
                </a:r>
                <a:r>
                  <a:rPr lang="en-US" i="1" dirty="0">
                    <a:solidFill>
                      <a:schemeClr val="bg1"/>
                    </a:solidFill>
                  </a:rPr>
                  <a:t>transform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to not require an intercept</a:t>
                </a:r>
                <a:r>
                  <a:rPr lang="en-US" dirty="0"/>
                  <a:t>, we can write our formula to be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this form, we can find a closed-form solution for the coefficients, namely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The derivation is very similar to ordinary least squares linear regression; it’s a good exercise to try it on your own.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65CE4F-03A4-4F6D-DFC7-51ECBB068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602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765C32-C768-E49C-F6A1-19103E49DC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i="0" u="none" strike="noStrike" dirty="0">
                    <a:effectLst/>
                  </a:rPr>
                  <a:t>How to Choose</a:t>
                </a:r>
                <a:r>
                  <a:rPr lang="en-US" b="1" i="0" u="none" strike="noStrike" dirty="0">
                    <a:solidFill>
                      <a:schemeClr val="bg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765C32-C768-E49C-F6A1-19103E49D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1" i="0" u="none" strike="noStrike" dirty="0">
                    <a:solidFill>
                      <a:schemeClr val="bg1"/>
                    </a:solidFill>
                    <a:effectLst/>
                  </a:rPr>
                  <a:t>Visualization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: Plot error values for various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b="0" i="0" u="none" strike="noStrike" dirty="0">
                    <a:solidFill>
                      <a:srgbClr val="374151"/>
                    </a:solidFill>
                    <a:effectLst/>
                  </a:rPr>
                  <a:t> 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values.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1"/>
                    </a:solidFill>
                  </a:rPr>
                  <a:t>Grid Search</a:t>
                </a:r>
                <a:r>
                  <a:rPr lang="en-US" dirty="0">
                    <a:solidFill>
                      <a:srgbClr val="374151"/>
                    </a:solidFill>
                  </a:rPr>
                  <a:t>: Trying a range of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3741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374151"/>
                    </a:solidFill>
                  </a:rPr>
                  <a:t>and performing model evaluation.</a:t>
                </a:r>
                <a:endParaRPr lang="en-US" b="0" i="0" u="none" strike="noStrike" dirty="0">
                  <a:solidFill>
                    <a:srgbClr val="374151"/>
                  </a:solidFill>
                  <a:effectLst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Libraries like Scikit-learn provide tools that automate selection.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i="0" u="none" strike="noStrike" dirty="0">
                    <a:effectLst/>
                  </a:rPr>
                  <a:t>Later in the course: </a:t>
                </a:r>
                <a:r>
                  <a:rPr lang="en-US" b="1" i="0" u="none" strike="noStrike" dirty="0">
                    <a:solidFill>
                      <a:schemeClr val="bg1"/>
                    </a:solidFill>
                    <a:effectLst/>
                  </a:rPr>
                  <a:t>Cross-validation</a:t>
                </a:r>
                <a:endParaRPr lang="en-US" dirty="0">
                  <a:solidFill>
                    <a:srgbClr val="374151"/>
                  </a:solidFill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A useful tool for evaluation of hyperparameters.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3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305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Benefits of Ridge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Reduces overfitting.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Handles multicollinearity.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Avoids overly large coefficients.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More stable model in presence of correlated features.</a:t>
            </a:r>
          </a:p>
        </p:txBody>
      </p:sp>
    </p:spTree>
    <p:extLst>
      <p:ext uri="{BB962C8B-B14F-4D97-AF65-F5344CB8AC3E}">
        <p14:creationId xmlns:p14="http://schemas.microsoft.com/office/powerpoint/2010/main" val="315527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Limitations of Ridge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Does not perform variable selection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All features are included in the model.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Might not work well if only a few predictors are influential.</a:t>
            </a:r>
          </a:p>
        </p:txBody>
      </p:sp>
    </p:spTree>
    <p:extLst>
      <p:ext uri="{BB962C8B-B14F-4D97-AF65-F5344CB8AC3E}">
        <p14:creationId xmlns:p14="http://schemas.microsoft.com/office/powerpoint/2010/main" val="603974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Simple linear regression may have coefficients that are too large, adding to complexity. It may also have collinearity.</a:t>
                </a:r>
              </a:p>
              <a:p>
                <a:r>
                  <a:rPr lang="en-US" altLang="en-US" dirty="0"/>
                  <a:t>Regularization is a method of penalizing coefficients. </a:t>
                </a:r>
              </a:p>
              <a:p>
                <a:r>
                  <a:rPr lang="en-US" altLang="en-US" dirty="0"/>
                  <a:t>Ridge regression performs regularization by penalizing large coefficients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 b="-28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3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If we allow for the intercept to be included, we can find a closed form solution for the coefficients: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altLang="en-US" dirty="0"/>
              </a:p>
              <a:p>
                <a:r>
                  <a:rPr lang="en-US" altLang="en-US" dirty="0"/>
                  <a:t>Because Ridge Regression controls the growth of coefficients, it limits multicollinearity and reduces overfitting by reducing variability in the model. </a:t>
                </a:r>
              </a:p>
              <a:p>
                <a:r>
                  <a:rPr lang="en-US" altLang="en-US" dirty="0"/>
                  <a:t>Ridge Regression does </a:t>
                </a:r>
                <a:r>
                  <a:rPr lang="en-US" altLang="en-US" b="1" dirty="0"/>
                  <a:t>NOT</a:t>
                </a:r>
                <a:r>
                  <a:rPr lang="en-US" altLang="en-US" dirty="0"/>
                  <a:t> limit the number of variables and may not help if the model already has few variables.</a:t>
                </a:r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 r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9534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D0822DA6-D320-489A-951C-9E50FCCBF24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9356</TotalTime>
  <Words>580</Words>
  <Application>Microsoft Macintosh PowerPoint</Application>
  <PresentationFormat>Custom</PresentationFormat>
  <Paragraphs>69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 2</vt:lpstr>
      <vt:lpstr>Breeze</vt:lpstr>
      <vt:lpstr>Math 769: Statistical Learning</vt:lpstr>
      <vt:lpstr>Ridge Regression</vt:lpstr>
      <vt:lpstr>Last Lesson</vt:lpstr>
      <vt:lpstr>Objectives</vt:lpstr>
      <vt:lpstr>Issues with Linear Regression</vt:lpstr>
      <vt:lpstr>Regularization</vt:lpstr>
      <vt:lpstr>Ridge Regression - Intuition</vt:lpstr>
      <vt:lpstr>Ridge Regression Formula and Role of λ</vt:lpstr>
      <vt:lpstr>Notation</vt:lpstr>
      <vt:lpstr>Closed Form Solution</vt:lpstr>
      <vt:lpstr>How to Choose λ</vt:lpstr>
      <vt:lpstr>Benefits of Ridge Regression</vt:lpstr>
      <vt:lpstr>Limitations of Ridge Regression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19</cp:revision>
  <dcterms:created xsi:type="dcterms:W3CDTF">2019-02-13T16:04:21Z</dcterms:created>
  <dcterms:modified xsi:type="dcterms:W3CDTF">2023-12-03T22:19:15Z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2023-12-03T20:17:28Z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36a72dc3-b317-49cc-be7c-6d4946859d58</vt:lpwstr>
  </property>
  <property fmtid="{D5CDD505-2E9C-101B-9397-08002B2CF9AE}" pid="9" name="MSIP_Label_f2dee603-0001-4639-81f8-0608a53322f1_ContentBits">
    <vt:lpwstr>0</vt:lpwstr>
  </property>
</Properties>
</file>