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1"/>
  </p:notesMasterIdLst>
  <p:sldIdLst>
    <p:sldId id="259" r:id="rId5"/>
    <p:sldId id="262" r:id="rId6"/>
    <p:sldId id="263" r:id="rId7"/>
    <p:sldId id="261" r:id="rId8"/>
    <p:sldId id="267" r:id="rId9"/>
    <p:sldId id="281" r:id="rId10"/>
    <p:sldId id="297" r:id="rId11"/>
    <p:sldId id="301" r:id="rId12"/>
    <p:sldId id="298" r:id="rId13"/>
    <p:sldId id="299" r:id="rId14"/>
    <p:sldId id="268" r:id="rId15"/>
    <p:sldId id="300" r:id="rId16"/>
    <p:sldId id="266" r:id="rId17"/>
    <p:sldId id="302" r:id="rId18"/>
    <p:sldId id="303" r:id="rId19"/>
    <p:sldId id="304" r:id="rId20"/>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8"/>
    <p:restoredTop sz="93741"/>
  </p:normalViewPr>
  <p:slideViewPr>
    <p:cSldViewPr snapToGrid="0" snapToObjects="1">
      <p:cViewPr varScale="1">
        <p:scale>
          <a:sx n="80" d="100"/>
          <a:sy n="80" d="100"/>
        </p:scale>
        <p:origin x="600" y="19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C179ED-2BCD-D64D-9D77-2D337A500081}" type="datetimeFigureOut">
              <a:rPr lang="en-US" smtClean="0"/>
              <a:t>12/3/23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ED7A7-9D9C-A147-9BEE-A922851CABAD}" type="slidenum">
              <a:rPr lang="en-US" smtClean="0"/>
              <a:t>‹#›</a:t>
            </a:fld>
            <a:endParaRPr lang="en-US"/>
          </a:p>
        </p:txBody>
      </p:sp>
    </p:spTree>
    <p:extLst>
      <p:ext uri="{BB962C8B-B14F-4D97-AF65-F5344CB8AC3E}">
        <p14:creationId xmlns:p14="http://schemas.microsoft.com/office/powerpoint/2010/main" val="146676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When observations are said to be "independent" in the context of statistical analysis or data modeling, it means that the values or measurements taken on one observation do not have any influence or impact on the values or measurements taken on other observations. </a:t>
            </a:r>
          </a:p>
          <a:p>
            <a:endParaRPr lang="en-US" b="0" i="0" u="none" strike="noStrike" dirty="0">
              <a:solidFill>
                <a:srgbClr val="374151"/>
              </a:solidFill>
              <a:effectLst/>
              <a:latin typeface="Söhne"/>
            </a:endParaRPr>
          </a:p>
          <a:p>
            <a:r>
              <a:rPr lang="en-US" b="0" i="0" u="none" strike="noStrike" dirty="0">
                <a:solidFill>
                  <a:srgbClr val="374151"/>
                </a:solidFill>
                <a:effectLst/>
                <a:latin typeface="Söhne"/>
              </a:rPr>
              <a:t>In this hypothetical situation, that makes sense since each row represents a person. One person’s age, weight, and blood pressure should be independent of another person’s. </a:t>
            </a:r>
            <a:endParaRPr lang="en-US" dirty="0"/>
          </a:p>
          <a:p>
            <a:endParaRPr lang="en-US" dirty="0"/>
          </a:p>
        </p:txBody>
      </p:sp>
      <p:sp>
        <p:nvSpPr>
          <p:cNvPr id="4" name="Slide Number Placeholder 3"/>
          <p:cNvSpPr>
            <a:spLocks noGrp="1"/>
          </p:cNvSpPr>
          <p:nvPr>
            <p:ph type="sldNum" sz="quarter" idx="5"/>
          </p:nvPr>
        </p:nvSpPr>
        <p:spPr/>
        <p:txBody>
          <a:bodyPr/>
          <a:lstStyle/>
          <a:p>
            <a:fld id="{10BA6BCB-3EBE-274F-BFE1-025F5652CC2E}" type="slidenum">
              <a:rPr lang="en-US" smtClean="0"/>
              <a:t>7</a:t>
            </a:fld>
            <a:endParaRPr lang="en-US"/>
          </a:p>
        </p:txBody>
      </p:sp>
    </p:spTree>
    <p:extLst>
      <p:ext uri="{BB962C8B-B14F-4D97-AF65-F5344CB8AC3E}">
        <p14:creationId xmlns:p14="http://schemas.microsoft.com/office/powerpoint/2010/main" val="2387775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When a set of observations exhibits little to no multicollinearity, it means that the independent variables (features) used in a statistical or regression model are not strongly correlated with each other. In other words, there is minimal or no linear relationship between the independent variables.</a:t>
            </a:r>
          </a:p>
          <a:p>
            <a:endParaRPr lang="en-US" b="0" i="0" u="none" strike="noStrike" dirty="0">
              <a:solidFill>
                <a:srgbClr val="374151"/>
              </a:solidFill>
              <a:effectLst/>
              <a:latin typeface="Söhne"/>
            </a:endParaRPr>
          </a:p>
          <a:p>
            <a:r>
              <a:rPr lang="en-US" b="0" i="0" u="none" strike="noStrike" dirty="0">
                <a:solidFill>
                  <a:srgbClr val="374151"/>
                </a:solidFill>
                <a:effectLst/>
                <a:latin typeface="Söhne"/>
              </a:rPr>
              <a:t>In this hypothetical situation, we’d probably want to specify that these are adults to ensure that age does not heavily influence weight. Still, we should expect some collinearity within this example, which could influence the quality of our model. </a:t>
            </a:r>
            <a:endParaRPr lang="en-US" dirty="0"/>
          </a:p>
          <a:p>
            <a:endParaRPr lang="en-US" dirty="0"/>
          </a:p>
        </p:txBody>
      </p:sp>
      <p:sp>
        <p:nvSpPr>
          <p:cNvPr id="4" name="Slide Number Placeholder 3"/>
          <p:cNvSpPr>
            <a:spLocks noGrp="1"/>
          </p:cNvSpPr>
          <p:nvPr>
            <p:ph type="sldNum" sz="quarter" idx="5"/>
          </p:nvPr>
        </p:nvSpPr>
        <p:spPr/>
        <p:txBody>
          <a:bodyPr/>
          <a:lstStyle/>
          <a:p>
            <a:fld id="{10BA6BCB-3EBE-274F-BFE1-025F5652CC2E}" type="slidenum">
              <a:rPr lang="en-US" smtClean="0"/>
              <a:t>10</a:t>
            </a:fld>
            <a:endParaRPr lang="en-US"/>
          </a:p>
        </p:txBody>
      </p:sp>
    </p:spTree>
    <p:extLst>
      <p:ext uri="{BB962C8B-B14F-4D97-AF65-F5344CB8AC3E}">
        <p14:creationId xmlns:p14="http://schemas.microsoft.com/office/powerpoint/2010/main" val="3371244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374151"/>
                </a:solidFill>
                <a:effectLst/>
                <a:latin typeface="Söhne"/>
              </a:rPr>
              <a:t>Homoscedasticity is the assumption that the variance of the residuals is constant across all levels of the independent variable(s). We often inspect this visually by checking that the data points are evenly scattered around the regression line, plane, or hyperplane with consistent spread. In our example, there simply aren’t enough datapoints to get a clear picture of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dirty="0">
              <a:solidFill>
                <a:srgbClr val="374151"/>
              </a:solidFill>
              <a:effectLst/>
              <a:latin typeface="Söhn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374151"/>
                </a:solidFill>
                <a:effectLst/>
                <a:latin typeface="Söhne"/>
              </a:rPr>
              <a:t>Normality pertains to the distribution of the residuals, which is not the same as checking their variance. Instead, we’re looking to see </a:t>
            </a:r>
            <a:endParaRPr lang="en-US" dirty="0"/>
          </a:p>
        </p:txBody>
      </p:sp>
      <p:sp>
        <p:nvSpPr>
          <p:cNvPr id="4" name="Slide Number Placeholder 3"/>
          <p:cNvSpPr>
            <a:spLocks noGrp="1"/>
          </p:cNvSpPr>
          <p:nvPr>
            <p:ph type="sldNum" sz="quarter" idx="5"/>
          </p:nvPr>
        </p:nvSpPr>
        <p:spPr/>
        <p:txBody>
          <a:bodyPr/>
          <a:lstStyle/>
          <a:p>
            <a:fld id="{0B07CA2A-2BE7-9D4D-B908-4413DE64D380}" type="slidenum">
              <a:rPr lang="en-US" smtClean="0"/>
              <a:t>13</a:t>
            </a:fld>
            <a:endParaRPr lang="en-US"/>
          </a:p>
        </p:txBody>
      </p:sp>
    </p:spTree>
    <p:extLst>
      <p:ext uri="{BB962C8B-B14F-4D97-AF65-F5344CB8AC3E}">
        <p14:creationId xmlns:p14="http://schemas.microsoft.com/office/powerpoint/2010/main" val="3953403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Linear Regression Assumptions</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Last Time</a:t>
            </a:r>
          </a:p>
        </p:txBody>
      </p:sp>
      <mc:AlternateContent xmlns:mc="http://schemas.openxmlformats.org/markup-compatibility/2006" xmlns:a14="http://schemas.microsoft.com/office/drawing/2010/main">
        <mc:Choice Requires="a14">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We derived the formula for the parameters for linear regression, which was </a:t>
                </a:r>
              </a:p>
              <a:p>
                <a:pPr marL="0" indent="0" algn="ctr">
                  <a:buNone/>
                </a:pPr>
                <a14:m>
                  <m:oMath xmlns:m="http://schemas.openxmlformats.org/officeDocument/2006/math">
                    <m:acc>
                      <m:accPr>
                        <m:chr m:val="̂"/>
                        <m:ctrlPr>
                          <a:rPr lang="en-US" b="1" i="1" smtClean="0">
                            <a:latin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𝜷</m:t>
                        </m:r>
                      </m:e>
                    </m:acc>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rPr>
                                </m:ctrlPr>
                              </m:sSupPr>
                              <m:e>
                                <m:r>
                                  <a:rPr lang="en-US" b="1" i="1" smtClean="0">
                                    <a:latin typeface="Cambria Math" panose="02040503050406030204" pitchFamily="18" charset="0"/>
                                  </a:rPr>
                                  <m:t>𝑿</m:t>
                                </m:r>
                              </m:e>
                              <m:sup>
                                <m:r>
                                  <a:rPr lang="en-US" i="1">
                                    <a:latin typeface="Cambria Math" panose="02040503050406030204" pitchFamily="18" charset="0"/>
                                  </a:rPr>
                                  <m:t>𝑇</m:t>
                                </m:r>
                              </m:sup>
                            </m:sSup>
                            <m:r>
                              <a:rPr lang="en-US" b="1" i="1" smtClean="0">
                                <a:latin typeface="Cambria Math" panose="02040503050406030204" pitchFamily="18" charset="0"/>
                              </a:rPr>
                              <m:t>𝑿</m:t>
                            </m:r>
                          </m:e>
                        </m:d>
                      </m:e>
                      <m:sup>
                        <m:r>
                          <a:rPr lang="en-US" b="0" i="1" smtClean="0">
                            <a:latin typeface="Cambria Math" panose="02040503050406030204" pitchFamily="18" charset="0"/>
                            <a:ea typeface="Cambria Math" panose="02040503050406030204" pitchFamily="18" charset="0"/>
                          </a:rPr>
                          <m:t>−1</m:t>
                        </m:r>
                      </m:sup>
                    </m:sSup>
                    <m:sSup>
                      <m:sSupPr>
                        <m:ctrlPr>
                          <a:rPr lang="en-US" i="1">
                            <a:latin typeface="Cambria Math" panose="02040503050406030204" pitchFamily="18" charset="0"/>
                          </a:rPr>
                        </m:ctrlPr>
                      </m:sSupPr>
                      <m:e>
                        <m:r>
                          <a:rPr lang="en-US" b="1" i="1" smtClean="0">
                            <a:latin typeface="Cambria Math" panose="02040503050406030204" pitchFamily="18" charset="0"/>
                          </a:rPr>
                          <m:t>𝑿</m:t>
                        </m:r>
                      </m:e>
                      <m:sup>
                        <m:r>
                          <a:rPr lang="en-US" i="1">
                            <a:latin typeface="Cambria Math" panose="02040503050406030204" pitchFamily="18" charset="0"/>
                          </a:rPr>
                          <m:t>𝑇</m:t>
                        </m:r>
                      </m:sup>
                    </m:sSup>
                    <m:r>
                      <a:rPr lang="en-US" b="1" i="1">
                        <a:latin typeface="Cambria Math" panose="02040503050406030204" pitchFamily="18" charset="0"/>
                      </a:rPr>
                      <m:t>𝒚</m:t>
                    </m:r>
                  </m:oMath>
                </a14:m>
                <a:r>
                  <a:rPr lang="en-US" dirty="0"/>
                  <a:t> </a:t>
                </a:r>
              </a:p>
              <a:p>
                <a:pPr marL="0" indent="0">
                  <a:buNone/>
                </a:pPr>
                <a:r>
                  <a:rPr lang="en-US" dirty="0"/>
                  <a:t>where </a:t>
                </a:r>
                <a14:m>
                  <m:oMath xmlns:m="http://schemas.openxmlformats.org/officeDocument/2006/math">
                    <m:r>
                      <a:rPr lang="en-US" b="1" i="1" smtClean="0">
                        <a:latin typeface="Cambria Math" panose="02040503050406030204" pitchFamily="18" charset="0"/>
                      </a:rPr>
                      <m:t>𝑿</m:t>
                    </m:r>
                  </m:oMath>
                </a14:m>
                <a:r>
                  <a:rPr lang="en-US" dirty="0"/>
                  <a:t> is the matrix of input data, </a:t>
                </a:r>
                <a14:m>
                  <m:oMath xmlns:m="http://schemas.openxmlformats.org/officeDocument/2006/math">
                    <m:r>
                      <a:rPr lang="en-US" b="1" i="1">
                        <a:latin typeface="Cambria Math" panose="02040503050406030204" pitchFamily="18" charset="0"/>
                      </a:rPr>
                      <m:t>𝒚</m:t>
                    </m:r>
                  </m:oMath>
                </a14:m>
                <a:r>
                  <a:rPr lang="en-US" dirty="0"/>
                  <a:t> is the vector of output data, and </a:t>
                </a:r>
                <a14:m>
                  <m:oMath xmlns:m="http://schemas.openxmlformats.org/officeDocument/2006/math">
                    <m:sSup>
                      <m:sSupPr>
                        <m:ctrlPr>
                          <a:rPr lang="en-US" i="1">
                            <a:latin typeface="Cambria Math" panose="02040503050406030204" pitchFamily="18" charset="0"/>
                          </a:rPr>
                        </m:ctrlPr>
                      </m:sSupPr>
                      <m:e>
                        <m:acc>
                          <m:accPr>
                            <m:chr m:val="̂"/>
                            <m:ctrlPr>
                              <a:rPr lang="en-US" b="1" i="1">
                                <a:latin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𝜷</m:t>
                            </m:r>
                          </m:e>
                        </m:acc>
                      </m:e>
                      <m:sup>
                        <m:r>
                          <a:rPr lang="en-US" i="1">
                            <a:latin typeface="Cambria Math" panose="02040503050406030204" pitchFamily="18" charset="0"/>
                          </a:rPr>
                          <m:t>𝑇</m:t>
                        </m:r>
                      </m:sup>
                    </m:sSup>
                    <m:r>
                      <a:rPr lang="en-US" i="1">
                        <a:latin typeface="Cambria Math" panose="02040503050406030204" pitchFamily="18" charset="0"/>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0</m:t>
                            </m:r>
                          </m:sub>
                        </m:sSub>
                      </m:e>
                    </m:acc>
                    <m:r>
                      <a:rPr lang="en-US" i="1">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1</m:t>
                            </m:r>
                          </m:sub>
                        </m:sSub>
                      </m:e>
                    </m:acc>
                    <m:r>
                      <a:rPr lang="en-US" i="1">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𝑝</m:t>
                            </m:r>
                          </m:sub>
                        </m:sSub>
                      </m:e>
                    </m:acc>
                    <m:r>
                      <a:rPr lang="en-US" i="1">
                        <a:latin typeface="Cambria Math" panose="02040503050406030204" pitchFamily="18" charset="0"/>
                      </a:rPr>
                      <m:t>)</m:t>
                    </m:r>
                  </m:oMath>
                </a14:m>
                <a:r>
                  <a:rPr lang="en-US" dirty="0"/>
                  <a:t>.</a:t>
                </a:r>
              </a:p>
            </p:txBody>
          </p:sp>
        </mc:Choice>
        <mc:Fallback xmlns="">
          <p:sp>
            <p:nvSpPr>
              <p:cNvPr id="6146" name="Content Placeholder 2">
                <a:extLst>
                  <a:ext uri="{FF2B5EF4-FFF2-40B4-BE49-F238E27FC236}">
                    <a16:creationId xmlns:a16="http://schemas.microsoft.com/office/drawing/2014/main" id="{8DFB1FDB-789D-3A4E-B0C7-3BAF194C6643}"/>
                  </a:ext>
                </a:extLst>
              </p:cNvPr>
              <p:cNvSpPr>
                <a:spLocks noGrp="1" noRot="1" noChangeAspect="1" noMove="1" noResize="1" noEditPoints="1" noAdjustHandles="1" noChangeArrowheads="1" noChangeShapeType="1" noTextEdit="1"/>
              </p:cNvSpPr>
              <p:nvPr>
                <p:ph idx="1"/>
              </p:nvPr>
            </p:nvSpPr>
            <p:spPr>
              <a:xfrm>
                <a:off x="1098551" y="2051050"/>
                <a:ext cx="16084550" cy="6886576"/>
              </a:xfrm>
              <a:blipFill>
                <a:blip r:embed="rId2"/>
                <a:stretch>
                  <a:fillRect l="-1341" t="-1657"/>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37858-44FF-D1D3-375B-D745E8AF0A10}"/>
              </a:ext>
            </a:extLst>
          </p:cNvPr>
          <p:cNvSpPr>
            <a:spLocks noGrp="1"/>
          </p:cNvSpPr>
          <p:nvPr>
            <p:ph type="title"/>
          </p:nvPr>
        </p:nvSpPr>
        <p:spPr/>
        <p:txBody>
          <a:bodyPr/>
          <a:lstStyle/>
          <a:p>
            <a:r>
              <a:rPr lang="en-US" dirty="0"/>
              <a:t>Objectives for this Lesson</a:t>
            </a:r>
          </a:p>
        </p:txBody>
      </p:sp>
      <p:sp>
        <p:nvSpPr>
          <p:cNvPr id="3" name="Content Placeholder 2">
            <a:extLst>
              <a:ext uri="{FF2B5EF4-FFF2-40B4-BE49-F238E27FC236}">
                <a16:creationId xmlns:a16="http://schemas.microsoft.com/office/drawing/2014/main" id="{1346781A-4183-A9C1-A58B-5E2C2B1DA8C4}"/>
              </a:ext>
            </a:extLst>
          </p:cNvPr>
          <p:cNvSpPr>
            <a:spLocks noGrp="1"/>
          </p:cNvSpPr>
          <p:nvPr>
            <p:ph idx="1"/>
          </p:nvPr>
        </p:nvSpPr>
        <p:spPr/>
        <p:txBody>
          <a:bodyPr/>
          <a:lstStyle/>
          <a:p>
            <a:r>
              <a:rPr lang="en-US" dirty="0"/>
              <a:t>List all the assumptions required for linear regression.</a:t>
            </a:r>
          </a:p>
          <a:p>
            <a:r>
              <a:rPr lang="en-US" dirty="0"/>
              <a:t>Define the residual.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2F1F-4DE2-F072-0F71-AA0D77A18DC6}"/>
              </a:ext>
            </a:extLst>
          </p:cNvPr>
          <p:cNvSpPr>
            <a:spLocks noGrp="1"/>
          </p:cNvSpPr>
          <p:nvPr>
            <p:ph type="title"/>
          </p:nvPr>
        </p:nvSpPr>
        <p:spPr/>
        <p:txBody>
          <a:bodyPr/>
          <a:lstStyle/>
          <a:p>
            <a:r>
              <a:rPr lang="en-US" dirty="0"/>
              <a:t>3 Assumptions of 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18676A-6741-0EA7-394A-511A7652B38C}"/>
                  </a:ext>
                </a:extLst>
              </p:cNvPr>
              <p:cNvSpPr>
                <a:spLocks noGrp="1"/>
              </p:cNvSpPr>
              <p:nvPr>
                <p:ph idx="1"/>
              </p:nvPr>
            </p:nvSpPr>
            <p:spPr/>
            <p:txBody>
              <a:bodyPr/>
              <a:lstStyle/>
              <a:p>
                <a:r>
                  <a:rPr lang="en-US" b="1" dirty="0">
                    <a:solidFill>
                      <a:schemeClr val="bg1"/>
                    </a:solidFill>
                  </a:rPr>
                  <a:t>Linearity</a:t>
                </a:r>
                <a:r>
                  <a:rPr lang="en-US" dirty="0"/>
                  <a:t>: </a:t>
                </a:r>
                <a14:m>
                  <m:oMath xmlns:m="http://schemas.openxmlformats.org/officeDocument/2006/math">
                    <m:r>
                      <a:rPr lang="en-US" b="0" i="1" smtClean="0">
                        <a:latin typeface="Cambria Math" panose="02040503050406030204" pitchFamily="18" charset="0"/>
                      </a:rPr>
                      <m:t>𝑌</m:t>
                    </m:r>
                  </m:oMath>
                </a14:m>
                <a:r>
                  <a:rPr lang="en-US" dirty="0"/>
                  <a:t> has a linear relationship with the independent variables.</a:t>
                </a:r>
              </a:p>
              <a:p>
                <a:r>
                  <a:rPr lang="en-US" b="1" dirty="0">
                    <a:solidFill>
                      <a:schemeClr val="bg1"/>
                    </a:solidFill>
                  </a:rPr>
                  <a:t>Independence</a:t>
                </a:r>
                <a:r>
                  <a:rPr lang="en-US" dirty="0"/>
                  <a:t>: Observations are independent of each other.</a:t>
                </a:r>
              </a:p>
              <a:p>
                <a:r>
                  <a:rPr lang="en-US" b="1" dirty="0">
                    <a:solidFill>
                      <a:schemeClr val="bg1"/>
                    </a:solidFill>
                  </a:rPr>
                  <a:t>No or Little Multicollinearity</a:t>
                </a:r>
                <a:r>
                  <a:rPr lang="en-US" dirty="0"/>
                  <a:t>: Independent variables are not highly correlated.</a:t>
                </a:r>
              </a:p>
            </p:txBody>
          </p:sp>
        </mc:Choice>
        <mc:Fallback xmlns="">
          <p:sp>
            <p:nvSpPr>
              <p:cNvPr id="3" name="Content Placeholder 2">
                <a:extLst>
                  <a:ext uri="{FF2B5EF4-FFF2-40B4-BE49-F238E27FC236}">
                    <a16:creationId xmlns:a16="http://schemas.microsoft.com/office/drawing/2014/main" id="{DD18676A-6741-0EA7-394A-511A7652B38C}"/>
                  </a:ext>
                </a:extLst>
              </p:cNvPr>
              <p:cNvSpPr>
                <a:spLocks noGrp="1" noRot="1" noChangeAspect="1" noMove="1" noResize="1" noEditPoints="1" noAdjustHandles="1" noChangeArrowheads="1" noChangeShapeType="1" noTextEdit="1"/>
              </p:cNvSpPr>
              <p:nvPr>
                <p:ph idx="1"/>
              </p:nvPr>
            </p:nvSpPr>
            <p:spPr>
              <a:blipFill>
                <a:blip r:embed="rId2"/>
                <a:stretch>
                  <a:fillRect l="-1104" t="-1657" r="-1972"/>
                </a:stretch>
              </a:blipFill>
            </p:spPr>
            <p:txBody>
              <a:bodyPr/>
              <a:lstStyle/>
              <a:p>
                <a:r>
                  <a:rPr lang="en-US">
                    <a:noFill/>
                  </a:rPr>
                  <a:t> </a:t>
                </a:r>
              </a:p>
            </p:txBody>
          </p:sp>
        </mc:Fallback>
      </mc:AlternateContent>
    </p:spTree>
    <p:extLst>
      <p:ext uri="{BB962C8B-B14F-4D97-AF65-F5344CB8AC3E}">
        <p14:creationId xmlns:p14="http://schemas.microsoft.com/office/powerpoint/2010/main" val="1368268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a:bodyPr>
          <a:lstStyle/>
          <a:p>
            <a:r>
              <a:rPr lang="en-US" dirty="0"/>
              <a:t>What is independence?</a:t>
            </a:r>
          </a:p>
        </p:txBody>
      </p:sp>
    </p:spTree>
    <p:extLst>
      <p:ext uri="{BB962C8B-B14F-4D97-AF65-F5344CB8AC3E}">
        <p14:creationId xmlns:p14="http://schemas.microsoft.com/office/powerpoint/2010/main" val="65145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920E1DA1-757B-8045-87EB-217D9443F00C}"/>
              </a:ext>
            </a:extLst>
          </p:cNvPr>
          <p:cNvGraphicFramePr>
            <a:graphicFrameLocks noGrp="1"/>
          </p:cNvGraphicFramePr>
          <p:nvPr>
            <p:ph sz="half" idx="1"/>
          </p:nvPr>
        </p:nvGraphicFramePr>
        <p:xfrm>
          <a:off x="1098550" y="2085974"/>
          <a:ext cx="7680324" cy="6514825"/>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3431382414"/>
                    </a:ext>
                  </a:extLst>
                </a:gridCol>
                <a:gridCol w="2560108">
                  <a:extLst>
                    <a:ext uri="{9D8B030D-6E8A-4147-A177-3AD203B41FA5}">
                      <a16:colId xmlns:a16="http://schemas.microsoft.com/office/drawing/2014/main" val="1688929762"/>
                    </a:ext>
                  </a:extLst>
                </a:gridCol>
                <a:gridCol w="2560108">
                  <a:extLst>
                    <a:ext uri="{9D8B030D-6E8A-4147-A177-3AD203B41FA5}">
                      <a16:colId xmlns:a16="http://schemas.microsoft.com/office/drawing/2014/main" val="4280345499"/>
                    </a:ext>
                  </a:extLst>
                </a:gridCol>
              </a:tblGrid>
              <a:tr h="743035">
                <a:tc>
                  <a:txBody>
                    <a:bodyPr/>
                    <a:lstStyle/>
                    <a:p>
                      <a:r>
                        <a:rPr lang="en-US" dirty="0">
                          <a:solidFill>
                            <a:schemeClr val="bg2"/>
                          </a:solidFill>
                        </a:rPr>
                        <a:t>Age</a:t>
                      </a:r>
                    </a:p>
                  </a:txBody>
                  <a:tcPr/>
                </a:tc>
                <a:tc>
                  <a:txBody>
                    <a:bodyPr/>
                    <a:lstStyle/>
                    <a:p>
                      <a:r>
                        <a:rPr lang="en-US" dirty="0">
                          <a:solidFill>
                            <a:schemeClr val="bg2"/>
                          </a:solidFill>
                        </a:rPr>
                        <a:t>Weight</a:t>
                      </a:r>
                    </a:p>
                  </a:txBody>
                  <a:tcPr/>
                </a:tc>
                <a:tc>
                  <a:txBody>
                    <a:bodyPr/>
                    <a:lstStyle/>
                    <a:p>
                      <a:r>
                        <a:rPr lang="en-US" dirty="0">
                          <a:solidFill>
                            <a:schemeClr val="bg2"/>
                          </a:solidFill>
                        </a:rPr>
                        <a:t>BP</a:t>
                      </a:r>
                    </a:p>
                  </a:txBody>
                  <a:tcPr/>
                </a:tc>
                <a:extLst>
                  <a:ext uri="{0D108BD9-81ED-4DB2-BD59-A6C34878D82A}">
                    <a16:rowId xmlns:a16="http://schemas.microsoft.com/office/drawing/2014/main" val="1754354080"/>
                  </a:ext>
                </a:extLst>
              </a:tr>
              <a:tr h="577179">
                <a:tc>
                  <a:txBody>
                    <a:bodyPr/>
                    <a:lstStyle/>
                    <a:p>
                      <a:pPr algn="l" rtl="0" fontAlgn="ctr"/>
                      <a:r>
                        <a:rPr lang="en-US" sz="3200" b="0" i="0" u="none" strike="noStrike">
                          <a:solidFill>
                            <a:srgbClr val="000000"/>
                          </a:solidFill>
                          <a:effectLst/>
                          <a:latin typeface="Arial" panose="020B0604020202020204" pitchFamily="34" charset="0"/>
                        </a:rPr>
                        <a:t>64</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72</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149</a:t>
                      </a:r>
                    </a:p>
                  </a:txBody>
                  <a:tcPr marL="9525" marR="9525" marT="9525" marB="0" anchor="ctr"/>
                </a:tc>
                <a:extLst>
                  <a:ext uri="{0D108BD9-81ED-4DB2-BD59-A6C34878D82A}">
                    <a16:rowId xmlns:a16="http://schemas.microsoft.com/office/drawing/2014/main" val="2643438463"/>
                  </a:ext>
                </a:extLst>
              </a:tr>
              <a:tr h="577179">
                <a:tc>
                  <a:txBody>
                    <a:bodyPr/>
                    <a:lstStyle/>
                    <a:p>
                      <a:pPr algn="l" rtl="0" fontAlgn="ctr"/>
                      <a:r>
                        <a:rPr lang="en-US" sz="3200" b="0" i="0" u="none" strike="noStrike">
                          <a:solidFill>
                            <a:srgbClr val="000000"/>
                          </a:solidFill>
                          <a:effectLst/>
                          <a:latin typeface="Arial" panose="020B0604020202020204" pitchFamily="34" charset="0"/>
                        </a:rPr>
                        <a:t>67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96</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154</a:t>
                      </a:r>
                    </a:p>
                  </a:txBody>
                  <a:tcPr marL="9525" marR="9525" marT="9525" marB="0" anchor="ctr"/>
                </a:tc>
                <a:extLst>
                  <a:ext uri="{0D108BD9-81ED-4DB2-BD59-A6C34878D82A}">
                    <a16:rowId xmlns:a16="http://schemas.microsoft.com/office/drawing/2014/main" val="4235963544"/>
                  </a:ext>
                </a:extLst>
              </a:tr>
              <a:tr h="577179">
                <a:tc>
                  <a:txBody>
                    <a:bodyPr/>
                    <a:lstStyle/>
                    <a:p>
                      <a:pPr algn="l" rtl="0" fontAlgn="ctr"/>
                      <a:r>
                        <a:rPr lang="en-US" sz="3200" b="0" i="0" u="none" strike="noStrike">
                          <a:solidFill>
                            <a:srgbClr val="000000"/>
                          </a:solidFill>
                          <a:effectLst/>
                          <a:latin typeface="Arial" panose="020B0604020202020204" pitchFamily="34" charset="0"/>
                        </a:rPr>
                        <a:t>20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137</a:t>
                      </a:r>
                    </a:p>
                  </a:txBody>
                  <a:tcPr marL="9525" marR="9525" marT="9525" marB="0" anchor="ctr"/>
                </a:tc>
                <a:extLst>
                  <a:ext uri="{0D108BD9-81ED-4DB2-BD59-A6C34878D82A}">
                    <a16:rowId xmlns:a16="http://schemas.microsoft.com/office/drawing/2014/main" val="277285200"/>
                  </a:ext>
                </a:extLst>
              </a:tr>
              <a:tr h="577179">
                <a:tc>
                  <a:txBody>
                    <a:bodyPr/>
                    <a:lstStyle/>
                    <a:p>
                      <a:pPr algn="l" rtl="0" fontAlgn="ctr"/>
                      <a:r>
                        <a:rPr lang="en-US" sz="3200" b="0" i="0" u="none" strike="noStrike">
                          <a:solidFill>
                            <a:srgbClr val="000000"/>
                          </a:solidFill>
                          <a:effectLst/>
                          <a:latin typeface="Arial" panose="020B0604020202020204" pitchFamily="34" charset="0"/>
                        </a:rPr>
                        <a:t>23</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124</a:t>
                      </a:r>
                    </a:p>
                  </a:txBody>
                  <a:tcPr marL="9525" marR="9525" marT="9525" marB="0" anchor="ctr"/>
                </a:tc>
                <a:extLst>
                  <a:ext uri="{0D108BD9-81ED-4DB2-BD59-A6C34878D82A}">
                    <a16:rowId xmlns:a16="http://schemas.microsoft.com/office/drawing/2014/main" val="1475250458"/>
                  </a:ext>
                </a:extLst>
              </a:tr>
              <a:tr h="577179">
                <a:tc>
                  <a:txBody>
                    <a:bodyPr/>
                    <a:lstStyle/>
                    <a:p>
                      <a:pPr algn="l" rtl="0" fontAlgn="ctr"/>
                      <a:r>
                        <a:rPr lang="en-US" sz="3200" b="0" i="0" u="none" strike="noStrike">
                          <a:solidFill>
                            <a:srgbClr val="000000"/>
                          </a:solidFill>
                          <a:effectLst/>
                          <a:latin typeface="Arial" panose="020B0604020202020204" pitchFamily="34" charset="0"/>
                        </a:rPr>
                        <a:t>23</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131</a:t>
                      </a:r>
                    </a:p>
                  </a:txBody>
                  <a:tcPr marL="9525" marR="9525" marT="9525" marB="0" anchor="ctr"/>
                </a:tc>
                <a:extLst>
                  <a:ext uri="{0D108BD9-81ED-4DB2-BD59-A6C34878D82A}">
                    <a16:rowId xmlns:a16="http://schemas.microsoft.com/office/drawing/2014/main" val="548459337"/>
                  </a:ext>
                </a:extLst>
              </a:tr>
              <a:tr h="577179">
                <a:tc>
                  <a:txBody>
                    <a:bodyPr/>
                    <a:lstStyle/>
                    <a:p>
                      <a:pPr algn="l" rtl="0" fontAlgn="ctr"/>
                      <a:r>
                        <a:rPr lang="en-US" sz="3200" b="0" i="0" u="none" strike="noStrike">
                          <a:solidFill>
                            <a:srgbClr val="000000"/>
                          </a:solidFill>
                          <a:effectLst/>
                          <a:latin typeface="Arial" panose="020B0604020202020204" pitchFamily="34" charset="0"/>
                        </a:rPr>
                        <a:t>59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141</a:t>
                      </a:r>
                    </a:p>
                  </a:txBody>
                  <a:tcPr marL="9525" marR="9525" marT="9525" marB="0" anchor="ctr"/>
                </a:tc>
                <a:extLst>
                  <a:ext uri="{0D108BD9-81ED-4DB2-BD59-A6C34878D82A}">
                    <a16:rowId xmlns:a16="http://schemas.microsoft.com/office/drawing/2014/main" val="2773211150"/>
                  </a:ext>
                </a:extLst>
              </a:tr>
              <a:tr h="577179">
                <a:tc>
                  <a:txBody>
                    <a:bodyPr/>
                    <a:lstStyle/>
                    <a:p>
                      <a:pPr algn="l" rtl="0" fontAlgn="ctr"/>
                      <a:r>
                        <a:rPr lang="en-US" sz="3200" b="0" i="0" u="none" strike="noStrike">
                          <a:solidFill>
                            <a:srgbClr val="000000"/>
                          </a:solidFill>
                          <a:effectLst/>
                          <a:latin typeface="Arial" panose="020B0604020202020204" pitchFamily="34" charset="0"/>
                        </a:rPr>
                        <a:t>29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118</a:t>
                      </a:r>
                    </a:p>
                  </a:txBody>
                  <a:tcPr marL="9525" marR="9525" marT="9525" marB="0" anchor="ctr"/>
                </a:tc>
                <a:extLst>
                  <a:ext uri="{0D108BD9-81ED-4DB2-BD59-A6C34878D82A}">
                    <a16:rowId xmlns:a16="http://schemas.microsoft.com/office/drawing/2014/main" val="615345362"/>
                  </a:ext>
                </a:extLst>
              </a:tr>
              <a:tr h="577179">
                <a:tc>
                  <a:txBody>
                    <a:bodyPr/>
                    <a:lstStyle/>
                    <a:p>
                      <a:pPr algn="l" rtl="0" fontAlgn="ctr"/>
                      <a:r>
                        <a:rPr lang="en-US" sz="3200" b="0" i="0" u="none" strike="noStrike">
                          <a:solidFill>
                            <a:srgbClr val="000000"/>
                          </a:solidFill>
                          <a:effectLst/>
                          <a:latin typeface="Arial" panose="020B0604020202020204" pitchFamily="34" charset="0"/>
                        </a:rPr>
                        <a:t>39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142</a:t>
                      </a:r>
                    </a:p>
                  </a:txBody>
                  <a:tcPr marL="9525" marR="9525" marT="9525" marB="0" anchor="ctr"/>
                </a:tc>
                <a:extLst>
                  <a:ext uri="{0D108BD9-81ED-4DB2-BD59-A6C34878D82A}">
                    <a16:rowId xmlns:a16="http://schemas.microsoft.com/office/drawing/2014/main" val="78711233"/>
                  </a:ext>
                </a:extLst>
              </a:tr>
              <a:tr h="577179">
                <a:tc>
                  <a:txBody>
                    <a:bodyPr/>
                    <a:lstStyle/>
                    <a:p>
                      <a:pPr algn="l" rtl="0" fontAlgn="ctr"/>
                      <a:r>
                        <a:rPr lang="en-US" sz="3200" b="0" i="0" u="none" strike="noStrike">
                          <a:solidFill>
                            <a:srgbClr val="000000"/>
                          </a:solidFill>
                          <a:effectLst/>
                          <a:latin typeface="Arial" panose="020B0604020202020204" pitchFamily="34" charset="0"/>
                        </a:rPr>
                        <a:t>41</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54</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136</a:t>
                      </a:r>
                    </a:p>
                  </a:txBody>
                  <a:tcPr marL="9525" marR="9525" marT="9525" marB="0" anchor="ctr"/>
                </a:tc>
                <a:extLst>
                  <a:ext uri="{0D108BD9-81ED-4DB2-BD59-A6C34878D82A}">
                    <a16:rowId xmlns:a16="http://schemas.microsoft.com/office/drawing/2014/main" val="4278943659"/>
                  </a:ext>
                </a:extLst>
              </a:tr>
              <a:tr h="577179">
                <a:tc>
                  <a:txBody>
                    <a:bodyPr/>
                    <a:lstStyle/>
                    <a:p>
                      <a:pPr algn="l" rtl="0" fontAlgn="ctr"/>
                      <a:r>
                        <a:rPr lang="en-US" sz="3200" b="0" i="0" u="none" strike="noStrike">
                          <a:solidFill>
                            <a:srgbClr val="000000"/>
                          </a:solidFill>
                          <a:effectLst/>
                          <a:latin typeface="Arial" panose="020B0604020202020204" pitchFamily="34" charset="0"/>
                        </a:rPr>
                        <a:t>70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54</a:t>
                      </a:r>
                    </a:p>
                  </a:txBody>
                  <a:tcPr marL="9525" marR="9525" marT="9525" marB="0" anchor="ctr"/>
                </a:tc>
                <a:tc>
                  <a:txBody>
                    <a:bodyPr/>
                    <a:lstStyle/>
                    <a:p>
                      <a:pPr algn="l" rtl="0" fontAlgn="ctr"/>
                      <a:r>
                        <a:rPr lang="en-US" sz="3200" b="0" i="0" u="none" strike="noStrike" dirty="0">
                          <a:solidFill>
                            <a:srgbClr val="000000"/>
                          </a:solidFill>
                          <a:effectLst/>
                          <a:latin typeface="Arial" panose="020B0604020202020204" pitchFamily="34" charset="0"/>
                        </a:rPr>
                        <a:t>142</a:t>
                      </a:r>
                    </a:p>
                  </a:txBody>
                  <a:tcPr marL="9525" marR="9525" marT="9525" marB="0" anchor="ctr"/>
                </a:tc>
                <a:extLst>
                  <a:ext uri="{0D108BD9-81ED-4DB2-BD59-A6C34878D82A}">
                    <a16:rowId xmlns:a16="http://schemas.microsoft.com/office/drawing/2014/main" val="2205626592"/>
                  </a:ext>
                </a:extLst>
              </a:tr>
            </a:tbl>
          </a:graphicData>
        </a:graphic>
      </p:graphicFrame>
      <p:sp>
        <p:nvSpPr>
          <p:cNvPr id="4" name="Title 3">
            <a:extLst>
              <a:ext uri="{FF2B5EF4-FFF2-40B4-BE49-F238E27FC236}">
                <a16:creationId xmlns:a16="http://schemas.microsoft.com/office/drawing/2014/main" id="{8142589E-493D-D347-A5F1-793E3736C7B0}"/>
              </a:ext>
            </a:extLst>
          </p:cNvPr>
          <p:cNvSpPr>
            <a:spLocks noGrp="1"/>
          </p:cNvSpPr>
          <p:nvPr>
            <p:ph type="title"/>
          </p:nvPr>
        </p:nvSpPr>
        <p:spPr/>
        <p:txBody>
          <a:bodyPr/>
          <a:lstStyle/>
          <a:p>
            <a:r>
              <a:rPr lang="en-US" dirty="0"/>
              <a:t>Estimating Blood Pressure</a:t>
            </a:r>
          </a:p>
        </p:txBody>
      </p:sp>
      <p:pic>
        <p:nvPicPr>
          <p:cNvPr id="5" name="Content Placeholder 4" descr="A graph with a red plane and blue points.">
            <a:extLst>
              <a:ext uri="{FF2B5EF4-FFF2-40B4-BE49-F238E27FC236}">
                <a16:creationId xmlns:a16="http://schemas.microsoft.com/office/drawing/2014/main" id="{5576C956-1DD1-618F-1714-E36DC18AEC01}"/>
              </a:ext>
            </a:extLst>
          </p:cNvPr>
          <p:cNvPicPr>
            <a:picLocks noGrp="1" noChangeAspect="1"/>
          </p:cNvPicPr>
          <p:nvPr>
            <p:ph sz="half" idx="2"/>
          </p:nvPr>
        </p:nvPicPr>
        <p:blipFill>
          <a:blip r:embed="rId3"/>
          <a:stretch>
            <a:fillRect/>
          </a:stretch>
        </p:blipFill>
        <p:spPr>
          <a:xfrm>
            <a:off x="9139298" y="2085974"/>
            <a:ext cx="8406919" cy="6514825"/>
          </a:xfrm>
        </p:spPr>
      </p:pic>
      <p:cxnSp>
        <p:nvCxnSpPr>
          <p:cNvPr id="3" name="Straight Arrow Connector 2">
            <a:extLst>
              <a:ext uri="{FF2B5EF4-FFF2-40B4-BE49-F238E27FC236}">
                <a16:creationId xmlns:a16="http://schemas.microsoft.com/office/drawing/2014/main" id="{2C9B2702-34BD-C0BD-DF3F-59E892129B24}"/>
              </a:ext>
            </a:extLst>
          </p:cNvPr>
          <p:cNvCxnSpPr/>
          <p:nvPr/>
        </p:nvCxnSpPr>
        <p:spPr>
          <a:xfrm>
            <a:off x="417095" y="3657600"/>
            <a:ext cx="433137" cy="0"/>
          </a:xfrm>
          <a:prstGeom prst="straightConnector1">
            <a:avLst/>
          </a:prstGeom>
          <a:ln w="50800">
            <a:tailEnd type="triangle"/>
          </a:ln>
        </p:spPr>
        <p:style>
          <a:lnRef idx="1">
            <a:schemeClr val="accent5"/>
          </a:lnRef>
          <a:fillRef idx="0">
            <a:schemeClr val="accent5"/>
          </a:fillRef>
          <a:effectRef idx="0">
            <a:schemeClr val="accent5"/>
          </a:effectRef>
          <a:fontRef idx="minor">
            <a:schemeClr val="tx1"/>
          </a:fontRef>
        </p:style>
      </p:cxnSp>
      <p:cxnSp>
        <p:nvCxnSpPr>
          <p:cNvPr id="6" name="Straight Arrow Connector 5">
            <a:extLst>
              <a:ext uri="{FF2B5EF4-FFF2-40B4-BE49-F238E27FC236}">
                <a16:creationId xmlns:a16="http://schemas.microsoft.com/office/drawing/2014/main" id="{07621570-0948-8664-3D65-3DB670C48C55}"/>
              </a:ext>
            </a:extLst>
          </p:cNvPr>
          <p:cNvCxnSpPr/>
          <p:nvPr/>
        </p:nvCxnSpPr>
        <p:spPr>
          <a:xfrm>
            <a:off x="417095" y="6571861"/>
            <a:ext cx="433137" cy="0"/>
          </a:xfrm>
          <a:prstGeom prst="straightConnector1">
            <a:avLst/>
          </a:prstGeom>
          <a:ln w="508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857013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E8CA3-54FB-CDA8-487E-3942DBAFC020}"/>
              </a:ext>
            </a:extLst>
          </p:cNvPr>
          <p:cNvSpPr>
            <a:spLocks noGrp="1"/>
          </p:cNvSpPr>
          <p:nvPr>
            <p:ph type="title"/>
          </p:nvPr>
        </p:nvSpPr>
        <p:spPr/>
        <p:txBody>
          <a:bodyPr/>
          <a:lstStyle/>
          <a:p>
            <a:r>
              <a:rPr lang="en-US" dirty="0"/>
              <a:t>Without Independence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F401F51-1C96-9797-1BC7-B77DD6CBECA6}"/>
                  </a:ext>
                </a:extLst>
              </p:cNvPr>
              <p:cNvSpPr>
                <a:spLocks noGrp="1"/>
              </p:cNvSpPr>
              <p:nvPr>
                <p:ph idx="1"/>
              </p:nvPr>
            </p:nvSpPr>
            <p:spPr/>
            <p:txBody>
              <a:bodyPr/>
              <a:lstStyle/>
              <a:p>
                <a:r>
                  <a:rPr lang="en-US" dirty="0">
                    <a:ea typeface="Cambria Math" panose="02040503050406030204" pitchFamily="18" charset="0"/>
                  </a:rPr>
                  <a:t>The irreducible error, </a:t>
                </a:r>
                <a14:m>
                  <m:oMath xmlns:m="http://schemas.openxmlformats.org/officeDocument/2006/math">
                    <m:r>
                      <a:rPr lang="en-US" i="1" smtClean="0">
                        <a:latin typeface="Cambria Math" panose="02040503050406030204" pitchFamily="18" charset="0"/>
                        <a:ea typeface="Cambria Math" panose="02040503050406030204" pitchFamily="18" charset="0"/>
                      </a:rPr>
                      <m:t>𝜖</m:t>
                    </m:r>
                  </m:oMath>
                </a14:m>
                <a:r>
                  <a:rPr lang="en-US" dirty="0"/>
                  <a:t>, will not be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(0, </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a:t>
                </a:r>
              </a:p>
              <a:p>
                <a:r>
                  <a:rPr lang="en-US" dirty="0"/>
                  <a:t>Statistical validity of tests will be compromised.</a:t>
                </a:r>
              </a:p>
              <a:p>
                <a:r>
                  <a:rPr lang="en-US" dirty="0"/>
                  <a:t>Model interpretation and predictive accuracy will be undermined.</a:t>
                </a:r>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FF401F51-1C96-9797-1BC7-B77DD6CBECA6}"/>
                  </a:ext>
                </a:extLst>
              </p:cNvPr>
              <p:cNvSpPr>
                <a:spLocks noGrp="1" noRot="1" noChangeAspect="1" noMove="1" noResize="1" noEditPoints="1" noAdjustHandles="1" noChangeArrowheads="1" noChangeShapeType="1" noTextEdit="1"/>
              </p:cNvSpPr>
              <p:nvPr>
                <p:ph idx="1"/>
              </p:nvPr>
            </p:nvSpPr>
            <p:spPr>
              <a:blipFill>
                <a:blip r:embed="rId2"/>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4286604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a:bodyPr>
          <a:lstStyle/>
          <a:p>
            <a:r>
              <a:rPr lang="en-US" dirty="0"/>
              <a:t>What does multicollinearity mean?</a:t>
            </a:r>
          </a:p>
        </p:txBody>
      </p:sp>
    </p:spTree>
    <p:extLst>
      <p:ext uri="{BB962C8B-B14F-4D97-AF65-F5344CB8AC3E}">
        <p14:creationId xmlns:p14="http://schemas.microsoft.com/office/powerpoint/2010/main" val="139684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920E1DA1-757B-8045-87EB-217D9443F00C}"/>
              </a:ext>
            </a:extLst>
          </p:cNvPr>
          <p:cNvGraphicFramePr>
            <a:graphicFrameLocks noGrp="1"/>
          </p:cNvGraphicFramePr>
          <p:nvPr>
            <p:ph sz="half" idx="1"/>
          </p:nvPr>
        </p:nvGraphicFramePr>
        <p:xfrm>
          <a:off x="1098550" y="2085974"/>
          <a:ext cx="7680324" cy="6514825"/>
        </p:xfrm>
        <a:graphic>
          <a:graphicData uri="http://schemas.openxmlformats.org/drawingml/2006/table">
            <a:tbl>
              <a:tblPr firstRow="1" bandRow="1">
                <a:tableStyleId>{5C22544A-7EE6-4342-B048-85BDC9FD1C3A}</a:tableStyleId>
              </a:tblPr>
              <a:tblGrid>
                <a:gridCol w="2560108">
                  <a:extLst>
                    <a:ext uri="{9D8B030D-6E8A-4147-A177-3AD203B41FA5}">
                      <a16:colId xmlns:a16="http://schemas.microsoft.com/office/drawing/2014/main" val="3431382414"/>
                    </a:ext>
                  </a:extLst>
                </a:gridCol>
                <a:gridCol w="2560108">
                  <a:extLst>
                    <a:ext uri="{9D8B030D-6E8A-4147-A177-3AD203B41FA5}">
                      <a16:colId xmlns:a16="http://schemas.microsoft.com/office/drawing/2014/main" val="1688929762"/>
                    </a:ext>
                  </a:extLst>
                </a:gridCol>
                <a:gridCol w="2560108">
                  <a:extLst>
                    <a:ext uri="{9D8B030D-6E8A-4147-A177-3AD203B41FA5}">
                      <a16:colId xmlns:a16="http://schemas.microsoft.com/office/drawing/2014/main" val="4280345499"/>
                    </a:ext>
                  </a:extLst>
                </a:gridCol>
              </a:tblGrid>
              <a:tr h="743035">
                <a:tc>
                  <a:txBody>
                    <a:bodyPr/>
                    <a:lstStyle/>
                    <a:p>
                      <a:r>
                        <a:rPr lang="en-US" dirty="0">
                          <a:solidFill>
                            <a:schemeClr val="bg2"/>
                          </a:solidFill>
                        </a:rPr>
                        <a:t>Age</a:t>
                      </a:r>
                    </a:p>
                  </a:txBody>
                  <a:tcPr/>
                </a:tc>
                <a:tc>
                  <a:txBody>
                    <a:bodyPr/>
                    <a:lstStyle/>
                    <a:p>
                      <a:r>
                        <a:rPr lang="en-US" dirty="0">
                          <a:solidFill>
                            <a:schemeClr val="bg2"/>
                          </a:solidFill>
                        </a:rPr>
                        <a:t>Weight</a:t>
                      </a:r>
                    </a:p>
                  </a:txBody>
                  <a:tcPr/>
                </a:tc>
                <a:tc>
                  <a:txBody>
                    <a:bodyPr/>
                    <a:lstStyle/>
                    <a:p>
                      <a:r>
                        <a:rPr lang="en-US" dirty="0">
                          <a:solidFill>
                            <a:schemeClr val="bg2"/>
                          </a:solidFill>
                        </a:rPr>
                        <a:t>BP</a:t>
                      </a:r>
                    </a:p>
                  </a:txBody>
                  <a:tcPr/>
                </a:tc>
                <a:extLst>
                  <a:ext uri="{0D108BD9-81ED-4DB2-BD59-A6C34878D82A}">
                    <a16:rowId xmlns:a16="http://schemas.microsoft.com/office/drawing/2014/main" val="1754354080"/>
                  </a:ext>
                </a:extLst>
              </a:tr>
              <a:tr h="577179">
                <a:tc>
                  <a:txBody>
                    <a:bodyPr/>
                    <a:lstStyle/>
                    <a:p>
                      <a:pPr algn="l" rtl="0" fontAlgn="ctr"/>
                      <a:r>
                        <a:rPr lang="en-US" sz="3200" b="0" i="0" u="none" strike="noStrike">
                          <a:solidFill>
                            <a:srgbClr val="000000"/>
                          </a:solidFill>
                          <a:effectLst/>
                          <a:latin typeface="Arial" panose="020B0604020202020204" pitchFamily="34" charset="0"/>
                        </a:rPr>
                        <a:t>64</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72</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149</a:t>
                      </a:r>
                    </a:p>
                  </a:txBody>
                  <a:tcPr marL="9525" marR="9525" marT="9525" marB="0" anchor="ctr"/>
                </a:tc>
                <a:extLst>
                  <a:ext uri="{0D108BD9-81ED-4DB2-BD59-A6C34878D82A}">
                    <a16:rowId xmlns:a16="http://schemas.microsoft.com/office/drawing/2014/main" val="2643438463"/>
                  </a:ext>
                </a:extLst>
              </a:tr>
              <a:tr h="577179">
                <a:tc>
                  <a:txBody>
                    <a:bodyPr/>
                    <a:lstStyle/>
                    <a:p>
                      <a:pPr algn="l" rtl="0" fontAlgn="ctr"/>
                      <a:r>
                        <a:rPr lang="en-US" sz="3200" b="0" i="0" u="none" strike="noStrike">
                          <a:solidFill>
                            <a:srgbClr val="000000"/>
                          </a:solidFill>
                          <a:effectLst/>
                          <a:latin typeface="Arial" panose="020B0604020202020204" pitchFamily="34" charset="0"/>
                        </a:rPr>
                        <a:t>67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96</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154</a:t>
                      </a:r>
                    </a:p>
                  </a:txBody>
                  <a:tcPr marL="9525" marR="9525" marT="9525" marB="0" anchor="ctr"/>
                </a:tc>
                <a:extLst>
                  <a:ext uri="{0D108BD9-81ED-4DB2-BD59-A6C34878D82A}">
                    <a16:rowId xmlns:a16="http://schemas.microsoft.com/office/drawing/2014/main" val="4235963544"/>
                  </a:ext>
                </a:extLst>
              </a:tr>
              <a:tr h="577179">
                <a:tc>
                  <a:txBody>
                    <a:bodyPr/>
                    <a:lstStyle/>
                    <a:p>
                      <a:pPr algn="l" rtl="0" fontAlgn="ctr"/>
                      <a:r>
                        <a:rPr lang="en-US" sz="3200" b="0" i="0" u="none" strike="noStrike">
                          <a:solidFill>
                            <a:srgbClr val="000000"/>
                          </a:solidFill>
                          <a:effectLst/>
                          <a:latin typeface="Arial" panose="020B0604020202020204" pitchFamily="34" charset="0"/>
                        </a:rPr>
                        <a:t>20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137</a:t>
                      </a:r>
                    </a:p>
                  </a:txBody>
                  <a:tcPr marL="9525" marR="9525" marT="9525" marB="0" anchor="ctr"/>
                </a:tc>
                <a:extLst>
                  <a:ext uri="{0D108BD9-81ED-4DB2-BD59-A6C34878D82A}">
                    <a16:rowId xmlns:a16="http://schemas.microsoft.com/office/drawing/2014/main" val="277285200"/>
                  </a:ext>
                </a:extLst>
              </a:tr>
              <a:tr h="577179">
                <a:tc>
                  <a:txBody>
                    <a:bodyPr/>
                    <a:lstStyle/>
                    <a:p>
                      <a:pPr algn="l" rtl="0" fontAlgn="ctr"/>
                      <a:r>
                        <a:rPr lang="en-US" sz="3200" b="0" i="0" u="none" strike="noStrike">
                          <a:solidFill>
                            <a:srgbClr val="000000"/>
                          </a:solidFill>
                          <a:effectLst/>
                          <a:latin typeface="Arial" panose="020B0604020202020204" pitchFamily="34" charset="0"/>
                        </a:rPr>
                        <a:t>23</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124</a:t>
                      </a:r>
                    </a:p>
                  </a:txBody>
                  <a:tcPr marL="9525" marR="9525" marT="9525" marB="0" anchor="ctr"/>
                </a:tc>
                <a:extLst>
                  <a:ext uri="{0D108BD9-81ED-4DB2-BD59-A6C34878D82A}">
                    <a16:rowId xmlns:a16="http://schemas.microsoft.com/office/drawing/2014/main" val="1475250458"/>
                  </a:ext>
                </a:extLst>
              </a:tr>
              <a:tr h="577179">
                <a:tc>
                  <a:txBody>
                    <a:bodyPr/>
                    <a:lstStyle/>
                    <a:p>
                      <a:pPr algn="l" rtl="0" fontAlgn="ctr"/>
                      <a:r>
                        <a:rPr lang="en-US" sz="3200" b="0" i="0" u="none" strike="noStrike">
                          <a:solidFill>
                            <a:srgbClr val="000000"/>
                          </a:solidFill>
                          <a:effectLst/>
                          <a:latin typeface="Arial" panose="020B0604020202020204" pitchFamily="34" charset="0"/>
                        </a:rPr>
                        <a:t>23</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131</a:t>
                      </a:r>
                    </a:p>
                  </a:txBody>
                  <a:tcPr marL="9525" marR="9525" marT="9525" marB="0" anchor="ctr"/>
                </a:tc>
                <a:extLst>
                  <a:ext uri="{0D108BD9-81ED-4DB2-BD59-A6C34878D82A}">
                    <a16:rowId xmlns:a16="http://schemas.microsoft.com/office/drawing/2014/main" val="548459337"/>
                  </a:ext>
                </a:extLst>
              </a:tr>
              <a:tr h="577179">
                <a:tc>
                  <a:txBody>
                    <a:bodyPr/>
                    <a:lstStyle/>
                    <a:p>
                      <a:pPr algn="l" rtl="0" fontAlgn="ctr"/>
                      <a:r>
                        <a:rPr lang="en-US" sz="3200" b="0" i="0" u="none" strike="noStrike">
                          <a:solidFill>
                            <a:srgbClr val="000000"/>
                          </a:solidFill>
                          <a:effectLst/>
                          <a:latin typeface="Arial" panose="020B0604020202020204" pitchFamily="34" charset="0"/>
                        </a:rPr>
                        <a:t>59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141</a:t>
                      </a:r>
                    </a:p>
                  </a:txBody>
                  <a:tcPr marL="9525" marR="9525" marT="9525" marB="0" anchor="ctr"/>
                </a:tc>
                <a:extLst>
                  <a:ext uri="{0D108BD9-81ED-4DB2-BD59-A6C34878D82A}">
                    <a16:rowId xmlns:a16="http://schemas.microsoft.com/office/drawing/2014/main" val="2773211150"/>
                  </a:ext>
                </a:extLst>
              </a:tr>
              <a:tr h="577179">
                <a:tc>
                  <a:txBody>
                    <a:bodyPr/>
                    <a:lstStyle/>
                    <a:p>
                      <a:pPr algn="l" rtl="0" fontAlgn="ctr"/>
                      <a:r>
                        <a:rPr lang="en-US" sz="3200" b="0" i="0" u="none" strike="noStrike">
                          <a:solidFill>
                            <a:srgbClr val="000000"/>
                          </a:solidFill>
                          <a:effectLst/>
                          <a:latin typeface="Arial" panose="020B0604020202020204" pitchFamily="34" charset="0"/>
                        </a:rPr>
                        <a:t>29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79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118</a:t>
                      </a:r>
                    </a:p>
                  </a:txBody>
                  <a:tcPr marL="9525" marR="9525" marT="9525" marB="0" anchor="ctr"/>
                </a:tc>
                <a:extLst>
                  <a:ext uri="{0D108BD9-81ED-4DB2-BD59-A6C34878D82A}">
                    <a16:rowId xmlns:a16="http://schemas.microsoft.com/office/drawing/2014/main" val="615345362"/>
                  </a:ext>
                </a:extLst>
              </a:tr>
              <a:tr h="577179">
                <a:tc>
                  <a:txBody>
                    <a:bodyPr/>
                    <a:lstStyle/>
                    <a:p>
                      <a:pPr algn="l" rtl="0" fontAlgn="ctr"/>
                      <a:r>
                        <a:rPr lang="en-US" sz="3200" b="0" i="0" u="none" strike="noStrike">
                          <a:solidFill>
                            <a:srgbClr val="000000"/>
                          </a:solidFill>
                          <a:effectLst/>
                          <a:latin typeface="Arial" panose="020B0604020202020204" pitchFamily="34" charset="0"/>
                        </a:rPr>
                        <a:t>39</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97</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142</a:t>
                      </a:r>
                    </a:p>
                  </a:txBody>
                  <a:tcPr marL="9525" marR="9525" marT="9525" marB="0" anchor="ctr"/>
                </a:tc>
                <a:extLst>
                  <a:ext uri="{0D108BD9-81ED-4DB2-BD59-A6C34878D82A}">
                    <a16:rowId xmlns:a16="http://schemas.microsoft.com/office/drawing/2014/main" val="78711233"/>
                  </a:ext>
                </a:extLst>
              </a:tr>
              <a:tr h="577179">
                <a:tc>
                  <a:txBody>
                    <a:bodyPr/>
                    <a:lstStyle/>
                    <a:p>
                      <a:pPr algn="l" rtl="0" fontAlgn="ctr"/>
                      <a:r>
                        <a:rPr lang="en-US" sz="3200" b="0" i="0" u="none" strike="noStrike">
                          <a:solidFill>
                            <a:srgbClr val="000000"/>
                          </a:solidFill>
                          <a:effectLst/>
                          <a:latin typeface="Arial" panose="020B0604020202020204" pitchFamily="34" charset="0"/>
                        </a:rPr>
                        <a:t>41</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54</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136</a:t>
                      </a:r>
                    </a:p>
                  </a:txBody>
                  <a:tcPr marL="9525" marR="9525" marT="9525" marB="0" anchor="ctr"/>
                </a:tc>
                <a:extLst>
                  <a:ext uri="{0D108BD9-81ED-4DB2-BD59-A6C34878D82A}">
                    <a16:rowId xmlns:a16="http://schemas.microsoft.com/office/drawing/2014/main" val="4278943659"/>
                  </a:ext>
                </a:extLst>
              </a:tr>
              <a:tr h="577179">
                <a:tc>
                  <a:txBody>
                    <a:bodyPr/>
                    <a:lstStyle/>
                    <a:p>
                      <a:pPr algn="l" rtl="0" fontAlgn="ctr"/>
                      <a:r>
                        <a:rPr lang="en-US" sz="3200" b="0" i="0" u="none" strike="noStrike">
                          <a:solidFill>
                            <a:srgbClr val="000000"/>
                          </a:solidFill>
                          <a:effectLst/>
                          <a:latin typeface="Arial" panose="020B0604020202020204" pitchFamily="34" charset="0"/>
                        </a:rPr>
                        <a:t>70</a:t>
                      </a:r>
                    </a:p>
                  </a:txBody>
                  <a:tcPr marL="9525" marR="9525" marT="9525" marB="0" anchor="ctr"/>
                </a:tc>
                <a:tc>
                  <a:txBody>
                    <a:bodyPr/>
                    <a:lstStyle/>
                    <a:p>
                      <a:pPr algn="l" rtl="0" fontAlgn="ctr"/>
                      <a:r>
                        <a:rPr lang="en-US" sz="3200" b="0" i="0" u="none" strike="noStrike">
                          <a:solidFill>
                            <a:srgbClr val="000000"/>
                          </a:solidFill>
                          <a:effectLst/>
                          <a:latin typeface="Arial" panose="020B0604020202020204" pitchFamily="34" charset="0"/>
                        </a:rPr>
                        <a:t>54</a:t>
                      </a:r>
                    </a:p>
                  </a:txBody>
                  <a:tcPr marL="9525" marR="9525" marT="9525" marB="0" anchor="ctr"/>
                </a:tc>
                <a:tc>
                  <a:txBody>
                    <a:bodyPr/>
                    <a:lstStyle/>
                    <a:p>
                      <a:pPr algn="l" rtl="0" fontAlgn="ctr"/>
                      <a:r>
                        <a:rPr lang="en-US" sz="3200" b="0" i="0" u="none" strike="noStrike" dirty="0">
                          <a:solidFill>
                            <a:srgbClr val="000000"/>
                          </a:solidFill>
                          <a:effectLst/>
                          <a:latin typeface="Arial" panose="020B0604020202020204" pitchFamily="34" charset="0"/>
                        </a:rPr>
                        <a:t>142</a:t>
                      </a:r>
                    </a:p>
                  </a:txBody>
                  <a:tcPr marL="9525" marR="9525" marT="9525" marB="0" anchor="ctr"/>
                </a:tc>
                <a:extLst>
                  <a:ext uri="{0D108BD9-81ED-4DB2-BD59-A6C34878D82A}">
                    <a16:rowId xmlns:a16="http://schemas.microsoft.com/office/drawing/2014/main" val="2205626592"/>
                  </a:ext>
                </a:extLst>
              </a:tr>
            </a:tbl>
          </a:graphicData>
        </a:graphic>
      </p:graphicFrame>
      <p:sp>
        <p:nvSpPr>
          <p:cNvPr id="4" name="Title 3">
            <a:extLst>
              <a:ext uri="{FF2B5EF4-FFF2-40B4-BE49-F238E27FC236}">
                <a16:creationId xmlns:a16="http://schemas.microsoft.com/office/drawing/2014/main" id="{8142589E-493D-D347-A5F1-793E3736C7B0}"/>
              </a:ext>
            </a:extLst>
          </p:cNvPr>
          <p:cNvSpPr>
            <a:spLocks noGrp="1"/>
          </p:cNvSpPr>
          <p:nvPr>
            <p:ph type="title"/>
          </p:nvPr>
        </p:nvSpPr>
        <p:spPr/>
        <p:txBody>
          <a:bodyPr/>
          <a:lstStyle/>
          <a:p>
            <a:r>
              <a:rPr lang="en-US" dirty="0"/>
              <a:t>Estimating Blood Pressure</a:t>
            </a:r>
          </a:p>
        </p:txBody>
      </p:sp>
      <p:pic>
        <p:nvPicPr>
          <p:cNvPr id="5" name="Content Placeholder 4" descr="A graph with a red plane and blue points.">
            <a:extLst>
              <a:ext uri="{FF2B5EF4-FFF2-40B4-BE49-F238E27FC236}">
                <a16:creationId xmlns:a16="http://schemas.microsoft.com/office/drawing/2014/main" id="{5576C956-1DD1-618F-1714-E36DC18AEC01}"/>
              </a:ext>
            </a:extLst>
          </p:cNvPr>
          <p:cNvPicPr>
            <a:picLocks noGrp="1" noChangeAspect="1"/>
          </p:cNvPicPr>
          <p:nvPr>
            <p:ph sz="half" idx="2"/>
          </p:nvPr>
        </p:nvPicPr>
        <p:blipFill>
          <a:blip r:embed="rId3"/>
          <a:stretch>
            <a:fillRect/>
          </a:stretch>
        </p:blipFill>
        <p:spPr>
          <a:xfrm>
            <a:off x="9139298" y="2085974"/>
            <a:ext cx="8406919" cy="6514825"/>
          </a:xfrm>
        </p:spPr>
      </p:pic>
      <p:cxnSp>
        <p:nvCxnSpPr>
          <p:cNvPr id="3" name="Straight Arrow Connector 2">
            <a:extLst>
              <a:ext uri="{FF2B5EF4-FFF2-40B4-BE49-F238E27FC236}">
                <a16:creationId xmlns:a16="http://schemas.microsoft.com/office/drawing/2014/main" id="{2C9B2702-34BD-C0BD-DF3F-59E892129B24}"/>
              </a:ext>
            </a:extLst>
          </p:cNvPr>
          <p:cNvCxnSpPr>
            <a:cxnSpLocks/>
          </p:cNvCxnSpPr>
          <p:nvPr/>
        </p:nvCxnSpPr>
        <p:spPr>
          <a:xfrm>
            <a:off x="1586203" y="1101012"/>
            <a:ext cx="0" cy="783772"/>
          </a:xfrm>
          <a:prstGeom prst="straightConnector1">
            <a:avLst/>
          </a:prstGeom>
          <a:ln w="50800">
            <a:tailEnd type="triangle"/>
          </a:ln>
        </p:spPr>
        <p:style>
          <a:lnRef idx="1">
            <a:schemeClr val="accent5"/>
          </a:lnRef>
          <a:fillRef idx="0">
            <a:schemeClr val="accent5"/>
          </a:fillRef>
          <a:effectRef idx="0">
            <a:schemeClr val="accent5"/>
          </a:effectRef>
          <a:fontRef idx="minor">
            <a:schemeClr val="tx1"/>
          </a:fontRef>
        </p:style>
      </p:cxnSp>
      <p:cxnSp>
        <p:nvCxnSpPr>
          <p:cNvPr id="10" name="Straight Arrow Connector 9">
            <a:extLst>
              <a:ext uri="{FF2B5EF4-FFF2-40B4-BE49-F238E27FC236}">
                <a16:creationId xmlns:a16="http://schemas.microsoft.com/office/drawing/2014/main" id="{50E207DB-98DC-729A-07B9-00B06E63C646}"/>
              </a:ext>
            </a:extLst>
          </p:cNvPr>
          <p:cNvCxnSpPr>
            <a:cxnSpLocks/>
          </p:cNvCxnSpPr>
          <p:nvPr/>
        </p:nvCxnSpPr>
        <p:spPr>
          <a:xfrm>
            <a:off x="3959289" y="1101012"/>
            <a:ext cx="0" cy="783772"/>
          </a:xfrm>
          <a:prstGeom prst="straightConnector1">
            <a:avLst/>
          </a:prstGeom>
          <a:ln w="508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316211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D7A98-443D-FE62-F463-A74E155D4E8E}"/>
              </a:ext>
            </a:extLst>
          </p:cNvPr>
          <p:cNvSpPr>
            <a:spLocks noGrp="1"/>
          </p:cNvSpPr>
          <p:nvPr>
            <p:ph type="title"/>
          </p:nvPr>
        </p:nvSpPr>
        <p:spPr/>
        <p:txBody>
          <a:bodyPr/>
          <a:lstStyle/>
          <a:p>
            <a:r>
              <a:rPr lang="en-US" dirty="0" err="1"/>
              <a:t>Multicolinearity</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F3C079-BB84-9064-CC03-DD8ED2EF686E}"/>
                  </a:ext>
                </a:extLst>
              </p:cNvPr>
              <p:cNvSpPr>
                <a:spLocks noGrp="1"/>
              </p:cNvSpPr>
              <p:nvPr>
                <p:ph idx="1"/>
              </p:nvPr>
            </p:nvSpPr>
            <p:spPr/>
            <p:txBody>
              <a:bodyPr/>
              <a:lstStyle/>
              <a:p>
                <a14:m>
                  <m:oMath xmlns:m="http://schemas.openxmlformats.org/officeDocument/2006/math">
                    <m:sSup>
                      <m:sSupPr>
                        <m:ctrlPr>
                          <a:rPr lang="en-US" i="1" smtClean="0">
                            <a:latin typeface="Cambria Math" panose="02040503050406030204" pitchFamily="18" charset="0"/>
                          </a:rPr>
                        </m:ctrlPr>
                      </m:sSupPr>
                      <m:e>
                        <m:r>
                          <a:rPr lang="en-US" b="1" i="1" smtClean="0">
                            <a:latin typeface="Cambria Math" panose="02040503050406030204" pitchFamily="18" charset="0"/>
                          </a:rPr>
                          <m:t>𝑿</m:t>
                        </m:r>
                      </m:e>
                      <m:sup>
                        <m:r>
                          <a:rPr lang="en-US" i="1">
                            <a:latin typeface="Cambria Math" panose="02040503050406030204" pitchFamily="18" charset="0"/>
                          </a:rPr>
                          <m:t>𝑇</m:t>
                        </m:r>
                      </m:sup>
                    </m:sSup>
                    <m:r>
                      <a:rPr lang="en-US" b="1" i="1" smtClean="0">
                        <a:latin typeface="Cambria Math" panose="02040503050406030204" pitchFamily="18" charset="0"/>
                      </a:rPr>
                      <m:t>𝑿</m:t>
                    </m:r>
                  </m:oMath>
                </a14:m>
                <a:r>
                  <a:rPr lang="en-US" dirty="0"/>
                  <a:t> will be singular, meaning the solution for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𝜷</m:t>
                        </m:r>
                      </m:e>
                    </m:acc>
                  </m:oMath>
                </a14:m>
                <a:r>
                  <a:rPr lang="en-US" dirty="0"/>
                  <a:t> is not unique.</a:t>
                </a:r>
              </a:p>
              <a:p>
                <a:pPr lvl="1"/>
                <a:r>
                  <a:rPr lang="en-US" dirty="0"/>
                  <a:t>In other words, the model struggles to distinguish the correlated independent variables, making corresponding estimated coefficients, </a:t>
                </a:r>
                <a14:m>
                  <m:oMath xmlns:m="http://schemas.openxmlformats.org/officeDocument/2006/math">
                    <m:acc>
                      <m:accPr>
                        <m:chr m:val="̂"/>
                        <m:ctrlPr>
                          <a:rPr lang="en-US" i="1" smtClean="0">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𝑖</m:t>
                            </m:r>
                          </m:sub>
                        </m:sSub>
                      </m:e>
                    </m:acc>
                  </m:oMath>
                </a14:m>
                <a:r>
                  <a:rPr lang="en-US" dirty="0"/>
                  <a:t> and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𝑗</m:t>
                            </m:r>
                          </m:sub>
                        </m:sSub>
                      </m:e>
                    </m:acc>
                  </m:oMath>
                </a14:m>
                <a:r>
                  <a:rPr lang="en-US" dirty="0"/>
                  <a:t>, unstable. </a:t>
                </a:r>
              </a:p>
              <a:p>
                <a:r>
                  <a:rPr lang="en-US" dirty="0"/>
                  <a:t>Model interpretation and predictive accuracy will be undermined.</a:t>
                </a:r>
              </a:p>
            </p:txBody>
          </p:sp>
        </mc:Choice>
        <mc:Fallback xmlns="">
          <p:sp>
            <p:nvSpPr>
              <p:cNvPr id="3" name="Content Placeholder 2">
                <a:extLst>
                  <a:ext uri="{FF2B5EF4-FFF2-40B4-BE49-F238E27FC236}">
                    <a16:creationId xmlns:a16="http://schemas.microsoft.com/office/drawing/2014/main" id="{90F3C079-BB84-9064-CC03-DD8ED2EF686E}"/>
                  </a:ext>
                </a:extLst>
              </p:cNvPr>
              <p:cNvSpPr>
                <a:spLocks noGrp="1" noRot="1" noChangeAspect="1" noMove="1" noResize="1" noEditPoints="1" noAdjustHandles="1" noChangeArrowheads="1" noChangeShapeType="1" noTextEdit="1"/>
              </p:cNvSpPr>
              <p:nvPr>
                <p:ph idx="1"/>
              </p:nvPr>
            </p:nvSpPr>
            <p:spPr>
              <a:blipFill>
                <a:blip r:embed="rId2"/>
                <a:stretch>
                  <a:fillRect l="-1104" t="-921"/>
                </a:stretch>
              </a:blipFill>
            </p:spPr>
            <p:txBody>
              <a:bodyPr/>
              <a:lstStyle/>
              <a:p>
                <a:r>
                  <a:rPr lang="en-US">
                    <a:noFill/>
                  </a:rPr>
                  <a:t> </a:t>
                </a:r>
              </a:p>
            </p:txBody>
          </p:sp>
        </mc:Fallback>
      </mc:AlternateContent>
    </p:spTree>
    <p:extLst>
      <p:ext uri="{BB962C8B-B14F-4D97-AF65-F5344CB8AC3E}">
        <p14:creationId xmlns:p14="http://schemas.microsoft.com/office/powerpoint/2010/main" val="1567534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094A63-E002-F53E-A94B-64C271B1AE56}"/>
              </a:ext>
            </a:extLst>
          </p:cNvPr>
          <p:cNvSpPr>
            <a:spLocks noGrp="1"/>
          </p:cNvSpPr>
          <p:nvPr>
            <p:ph sz="half" idx="1"/>
          </p:nvPr>
        </p:nvSpPr>
        <p:spPr/>
        <p:txBody>
          <a:bodyPr/>
          <a:lstStyle/>
          <a:p>
            <a:r>
              <a:rPr lang="en-US" dirty="0"/>
              <a:t>There are two additional assumptions related to the </a:t>
            </a:r>
            <a:r>
              <a:rPr lang="en-US" b="1" dirty="0">
                <a:solidFill>
                  <a:schemeClr val="bg1"/>
                </a:solidFill>
              </a:rPr>
              <a:t>residuals</a:t>
            </a:r>
            <a:r>
              <a:rPr lang="en-US" dirty="0"/>
              <a:t>, the difference between the observed and estimated dependent variable values. </a:t>
            </a:r>
          </a:p>
          <a:p>
            <a:r>
              <a:rPr lang="en-US" dirty="0"/>
              <a:t>The residuals here are represented by the length of the dashed lines</a:t>
            </a:r>
          </a:p>
        </p:txBody>
      </p:sp>
      <p:sp>
        <p:nvSpPr>
          <p:cNvPr id="2" name="Title 1">
            <a:extLst>
              <a:ext uri="{FF2B5EF4-FFF2-40B4-BE49-F238E27FC236}">
                <a16:creationId xmlns:a16="http://schemas.microsoft.com/office/drawing/2014/main" id="{07463967-68A3-ACD2-2E32-4CF4DC140898}"/>
              </a:ext>
            </a:extLst>
          </p:cNvPr>
          <p:cNvSpPr>
            <a:spLocks noGrp="1"/>
          </p:cNvSpPr>
          <p:nvPr>
            <p:ph type="title"/>
          </p:nvPr>
        </p:nvSpPr>
        <p:spPr/>
        <p:txBody>
          <a:bodyPr/>
          <a:lstStyle/>
          <a:p>
            <a:r>
              <a:rPr lang="en-US" dirty="0"/>
              <a:t>Residuals</a:t>
            </a:r>
          </a:p>
        </p:txBody>
      </p:sp>
      <p:pic>
        <p:nvPicPr>
          <p:cNvPr id="5" name="Content Placeholder 4" descr="A graph with a red plane and blue points.">
            <a:extLst>
              <a:ext uri="{FF2B5EF4-FFF2-40B4-BE49-F238E27FC236}">
                <a16:creationId xmlns:a16="http://schemas.microsoft.com/office/drawing/2014/main" id="{F3BFD226-D9E5-4520-4A56-4845D2D09079}"/>
              </a:ext>
            </a:extLst>
          </p:cNvPr>
          <p:cNvPicPr>
            <a:picLocks noGrp="1" noChangeAspect="1"/>
          </p:cNvPicPr>
          <p:nvPr>
            <p:ph sz="half" idx="2"/>
          </p:nvPr>
        </p:nvPicPr>
        <p:blipFill>
          <a:blip r:embed="rId2"/>
          <a:stretch>
            <a:fillRect/>
          </a:stretch>
        </p:blipFill>
        <p:spPr>
          <a:xfrm>
            <a:off x="9138942" y="2085698"/>
            <a:ext cx="8407275" cy="6515100"/>
          </a:xfrm>
        </p:spPr>
      </p:pic>
    </p:spTree>
    <p:extLst>
      <p:ext uri="{BB962C8B-B14F-4D97-AF65-F5344CB8AC3E}">
        <p14:creationId xmlns:p14="http://schemas.microsoft.com/office/powerpoint/2010/main" val="3026260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09797-2509-6F4A-EDC6-26F2A0DCA1B1}"/>
              </a:ext>
            </a:extLst>
          </p:cNvPr>
          <p:cNvSpPr>
            <a:spLocks noGrp="1"/>
          </p:cNvSpPr>
          <p:nvPr>
            <p:ph type="title"/>
          </p:nvPr>
        </p:nvSpPr>
        <p:spPr/>
        <p:txBody>
          <a:bodyPr/>
          <a:lstStyle/>
          <a:p>
            <a:r>
              <a:rPr lang="en-US" dirty="0"/>
              <a:t>Two More Assumptions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42DBD0-1372-C3A9-D5E1-CD3D94BB77D6}"/>
                  </a:ext>
                </a:extLst>
              </p:cNvPr>
              <p:cNvSpPr>
                <a:spLocks noGrp="1"/>
              </p:cNvSpPr>
              <p:nvPr>
                <p:ph idx="1"/>
              </p:nvPr>
            </p:nvSpPr>
            <p:spPr/>
            <p:txBody>
              <a:bodyPr/>
              <a:lstStyle/>
              <a:p>
                <a:r>
                  <a:rPr lang="en-US" b="1" dirty="0">
                    <a:solidFill>
                      <a:schemeClr val="bg1"/>
                    </a:solidFill>
                  </a:rPr>
                  <a:t>Homoscedasticity</a:t>
                </a:r>
                <a:r>
                  <a:rPr lang="en-US" dirty="0"/>
                  <a:t>: The variance of the residuals is constant, </a:t>
                </a:r>
                <a14:m>
                  <m:oMath xmlns:m="http://schemas.openxmlformats.org/officeDocument/2006/math">
                    <m:r>
                      <a:rPr lang="en-US" b="0" i="1" smtClean="0">
                        <a:latin typeface="Cambria Math" panose="02040503050406030204" pitchFamily="18" charset="0"/>
                      </a:rPr>
                      <m:t> </m:t>
                    </m:r>
                    <m:sSup>
                      <m:sSupPr>
                        <m:ctrlPr>
                          <a:rPr lang="en-US"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oMath>
                </a14:m>
                <a:r>
                  <a:rPr lang="en-US" dirty="0"/>
                  <a:t>.</a:t>
                </a:r>
              </a:p>
              <a:p>
                <a:pPr lvl="1"/>
                <a:r>
                  <a:rPr lang="en-US" dirty="0"/>
                  <a:t>Note that this is the same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oMath>
                </a14:m>
                <a:r>
                  <a:rPr lang="en-US" dirty="0"/>
                  <a:t> from the variance of the irreducible error.</a:t>
                </a:r>
              </a:p>
              <a:p>
                <a:pPr lvl="1"/>
                <a:r>
                  <a:rPr lang="en-US" dirty="0"/>
                  <a:t>A consequence of this assumption is </a:t>
                </a:r>
                <a14:m>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r>
                          <a:rPr lang="en-US" b="1" i="1">
                            <a:latin typeface="Cambria Math" panose="02040503050406030204" pitchFamily="18" charset="0"/>
                          </a:rPr>
                          <m:t>𝒚</m:t>
                        </m:r>
                      </m:e>
                      <m:e>
                        <m:r>
                          <a:rPr lang="en-US" b="1" i="1" smtClean="0">
                            <a:latin typeface="Cambria Math" panose="02040503050406030204" pitchFamily="18" charset="0"/>
                          </a:rPr>
                          <m:t>𝑿</m:t>
                        </m:r>
                      </m:e>
                    </m:d>
                    <m:r>
                      <a:rPr lang="en-US" b="0" i="0"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rPr>
                          <m:t>2</m:t>
                        </m:r>
                      </m:sup>
                    </m:sSup>
                    <m:sSub>
                      <m:sSubPr>
                        <m:ctrlPr>
                          <a:rPr lang="en-US" i="1" smtClean="0">
                            <a:latin typeface="Cambria Math" panose="02040503050406030204" pitchFamily="18" charset="0"/>
                          </a:rPr>
                        </m:ctrlPr>
                      </m:sSubPr>
                      <m:e>
                        <m:r>
                          <a:rPr lang="en-US" b="1">
                            <a:latin typeface="Cambria Math" panose="02040503050406030204" pitchFamily="18" charset="0"/>
                          </a:rPr>
                          <m:t>𝐈</m:t>
                        </m:r>
                      </m:e>
                      <m:sub>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sub>
                    </m:sSub>
                  </m:oMath>
                </a14:m>
                <a:endParaRPr lang="en-US" b="1" dirty="0"/>
              </a:p>
              <a:p>
                <a:r>
                  <a:rPr lang="en-US" b="1" dirty="0">
                    <a:solidFill>
                      <a:schemeClr val="bg1"/>
                    </a:solidFill>
                  </a:rPr>
                  <a:t>Normality</a:t>
                </a:r>
                <a:r>
                  <a:rPr lang="en-US" dirty="0"/>
                  <a:t>: The residuals are normally distributed with mean 0.</a:t>
                </a:r>
              </a:p>
            </p:txBody>
          </p:sp>
        </mc:Choice>
        <mc:Fallback xmlns="">
          <p:sp>
            <p:nvSpPr>
              <p:cNvPr id="3" name="Content Placeholder 2">
                <a:extLst>
                  <a:ext uri="{FF2B5EF4-FFF2-40B4-BE49-F238E27FC236}">
                    <a16:creationId xmlns:a16="http://schemas.microsoft.com/office/drawing/2014/main" id="{8442DBD0-1372-C3A9-D5E1-CD3D94BB77D6}"/>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825571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411DB1-3D3C-382F-34E9-47B056677FE4}"/>
              </a:ext>
            </a:extLst>
          </p:cNvPr>
          <p:cNvSpPr>
            <a:spLocks noGrp="1"/>
          </p:cNvSpPr>
          <p:nvPr>
            <p:ph sz="half" idx="1"/>
          </p:nvPr>
        </p:nvSpPr>
        <p:spPr/>
        <p:txBody>
          <a:bodyPr/>
          <a:lstStyle/>
          <a:p>
            <a:r>
              <a:rPr lang="en-US" dirty="0"/>
              <a:t>Homoscedasticity means the points are spread “at approximately constant width” around the surface. </a:t>
            </a:r>
          </a:p>
          <a:p>
            <a:r>
              <a:rPr lang="en-US" dirty="0"/>
              <a:t>Normality means points are “evenly distributed” around the surface with no skew toward one side or another in regions.</a:t>
            </a:r>
          </a:p>
        </p:txBody>
      </p:sp>
      <p:sp>
        <p:nvSpPr>
          <p:cNvPr id="4" name="Title 3">
            <a:extLst>
              <a:ext uri="{FF2B5EF4-FFF2-40B4-BE49-F238E27FC236}">
                <a16:creationId xmlns:a16="http://schemas.microsoft.com/office/drawing/2014/main" id="{3D0B1A29-C460-3EDB-7020-8DC5AD481E0D}"/>
              </a:ext>
            </a:extLst>
          </p:cNvPr>
          <p:cNvSpPr>
            <a:spLocks noGrp="1"/>
          </p:cNvSpPr>
          <p:nvPr>
            <p:ph type="title"/>
          </p:nvPr>
        </p:nvSpPr>
        <p:spPr/>
        <p:txBody>
          <a:bodyPr/>
          <a:lstStyle/>
          <a:p>
            <a:r>
              <a:rPr lang="en-US" dirty="0"/>
              <a:t>Last Two Assumptions Visually</a:t>
            </a:r>
          </a:p>
        </p:txBody>
      </p:sp>
      <p:pic>
        <p:nvPicPr>
          <p:cNvPr id="9" name="Content Placeholder 8">
            <a:extLst>
              <a:ext uri="{FF2B5EF4-FFF2-40B4-BE49-F238E27FC236}">
                <a16:creationId xmlns:a16="http://schemas.microsoft.com/office/drawing/2014/main" id="{2BFB0463-B6D7-56EB-1701-D386670A9A40}"/>
              </a:ext>
            </a:extLst>
          </p:cNvPr>
          <p:cNvPicPr>
            <a:picLocks noGrp="1" noChangeAspect="1"/>
          </p:cNvPicPr>
          <p:nvPr>
            <p:ph sz="half" idx="2"/>
          </p:nvPr>
        </p:nvPicPr>
        <p:blipFill>
          <a:blip r:embed="rId2"/>
          <a:stretch>
            <a:fillRect/>
          </a:stretch>
        </p:blipFill>
        <p:spPr>
          <a:xfrm>
            <a:off x="9502775" y="2463403"/>
            <a:ext cx="7680325" cy="5760243"/>
          </a:xfrm>
        </p:spPr>
      </p:pic>
    </p:spTree>
    <p:extLst>
      <p:ext uri="{BB962C8B-B14F-4D97-AF65-F5344CB8AC3E}">
        <p14:creationId xmlns:p14="http://schemas.microsoft.com/office/powerpoint/2010/main" val="329895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BAC90-B80C-5844-3743-8C1FF3B2C964}"/>
              </a:ext>
            </a:extLst>
          </p:cNvPr>
          <p:cNvSpPr>
            <a:spLocks noGrp="1"/>
          </p:cNvSpPr>
          <p:nvPr>
            <p:ph type="title"/>
          </p:nvPr>
        </p:nvSpPr>
        <p:spPr/>
        <p:txBody>
          <a:bodyPr/>
          <a:lstStyle/>
          <a:p>
            <a:r>
              <a:rPr lang="en-US" dirty="0"/>
              <a:t>Why These Assumptions?</a:t>
            </a:r>
          </a:p>
        </p:txBody>
      </p:sp>
      <p:sp>
        <p:nvSpPr>
          <p:cNvPr id="3" name="Content Placeholder 2">
            <a:extLst>
              <a:ext uri="{FF2B5EF4-FFF2-40B4-BE49-F238E27FC236}">
                <a16:creationId xmlns:a16="http://schemas.microsoft.com/office/drawing/2014/main" id="{0B19EFF1-2A27-AC91-383B-73E9C47C73D9}"/>
              </a:ext>
            </a:extLst>
          </p:cNvPr>
          <p:cNvSpPr>
            <a:spLocks noGrp="1"/>
          </p:cNvSpPr>
          <p:nvPr>
            <p:ph idx="1"/>
          </p:nvPr>
        </p:nvSpPr>
        <p:spPr/>
        <p:txBody>
          <a:bodyPr/>
          <a:lstStyle/>
          <a:p>
            <a:r>
              <a:rPr lang="en-US" dirty="0"/>
              <a:t>In the next video, we will use these assumptions to derive important statistics for linear regression.</a:t>
            </a:r>
          </a:p>
        </p:txBody>
      </p:sp>
    </p:spTree>
    <p:extLst>
      <p:ext uri="{BB962C8B-B14F-4D97-AF65-F5344CB8AC3E}">
        <p14:creationId xmlns:p14="http://schemas.microsoft.com/office/powerpoint/2010/main" val="129992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97C96-94AC-23D5-FD8A-D41204ACED58}"/>
              </a:ext>
            </a:extLst>
          </p:cNvPr>
          <p:cNvSpPr>
            <a:spLocks noGrp="1"/>
          </p:cNvSpPr>
          <p:nvPr>
            <p:ph type="title"/>
          </p:nvPr>
        </p:nvSpPr>
        <p:spPr/>
        <p:txBody>
          <a:bodyPr/>
          <a:lstStyle/>
          <a:p>
            <a:r>
              <a:rPr lang="en-US"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BE13A2-D5D6-BF76-2491-539AF8B83E79}"/>
                  </a:ext>
                </a:extLst>
              </p:cNvPr>
              <p:cNvSpPr>
                <a:spLocks noGrp="1"/>
              </p:cNvSpPr>
              <p:nvPr>
                <p:ph idx="1"/>
              </p:nvPr>
            </p:nvSpPr>
            <p:spPr/>
            <p:txBody>
              <a:bodyPr/>
              <a:lstStyle/>
              <a:p>
                <a:r>
                  <a:rPr lang="en-US" dirty="0"/>
                  <a:t>There are 5 assumptions of linear regression: </a:t>
                </a:r>
              </a:p>
              <a:p>
                <a:pPr lvl="1"/>
                <a:r>
                  <a:rPr lang="en-US" b="1" dirty="0">
                    <a:solidFill>
                      <a:schemeClr val="bg1"/>
                    </a:solidFill>
                  </a:rPr>
                  <a:t>Linearity</a:t>
                </a:r>
                <a:r>
                  <a:rPr lang="en-US" dirty="0"/>
                  <a:t>: </a:t>
                </a:r>
                <a14:m>
                  <m:oMath xmlns:m="http://schemas.openxmlformats.org/officeDocument/2006/math">
                    <m:r>
                      <a:rPr lang="en-US" b="0" i="1" smtClean="0">
                        <a:latin typeface="Cambria Math" panose="02040503050406030204" pitchFamily="18" charset="0"/>
                      </a:rPr>
                      <m:t>𝑌</m:t>
                    </m:r>
                  </m:oMath>
                </a14:m>
                <a:r>
                  <a:rPr lang="en-US" dirty="0"/>
                  <a:t> has a linear relationship with the parameters.</a:t>
                </a:r>
              </a:p>
              <a:p>
                <a:pPr lvl="1"/>
                <a:r>
                  <a:rPr lang="en-US" b="1" dirty="0">
                    <a:solidFill>
                      <a:schemeClr val="bg1"/>
                    </a:solidFill>
                  </a:rPr>
                  <a:t>Independence</a:t>
                </a:r>
                <a:r>
                  <a:rPr lang="en-US" dirty="0"/>
                  <a:t>: Observations are independent of each other.</a:t>
                </a:r>
              </a:p>
              <a:p>
                <a:pPr lvl="1"/>
                <a:r>
                  <a:rPr lang="en-US" b="1" dirty="0">
                    <a:solidFill>
                      <a:schemeClr val="bg1"/>
                    </a:solidFill>
                  </a:rPr>
                  <a:t>No or Little Multicollinearity</a:t>
                </a:r>
                <a:r>
                  <a:rPr lang="en-US" dirty="0"/>
                  <a:t>: Independent variables are not highly correlated.</a:t>
                </a:r>
              </a:p>
              <a:p>
                <a:pPr lvl="1"/>
                <a:r>
                  <a:rPr lang="en-US" b="1" dirty="0">
                    <a:solidFill>
                      <a:schemeClr val="bg1"/>
                    </a:solidFill>
                  </a:rPr>
                  <a:t>Homoscedasticity</a:t>
                </a:r>
                <a:r>
                  <a:rPr lang="en-US" dirty="0"/>
                  <a:t>: The variance of the residuals is constant, </a:t>
                </a:r>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oMath>
                </a14:m>
                <a:r>
                  <a:rPr lang="en-US" dirty="0"/>
                  <a:t>.</a:t>
                </a:r>
              </a:p>
              <a:p>
                <a:pPr lvl="1"/>
                <a:r>
                  <a:rPr lang="en-US" b="1" dirty="0">
                    <a:solidFill>
                      <a:schemeClr val="bg1"/>
                    </a:solidFill>
                  </a:rPr>
                  <a:t>Normality</a:t>
                </a:r>
                <a:r>
                  <a:rPr lang="en-US" dirty="0"/>
                  <a:t>: The residuals are normally distributed with a mean of 0</a:t>
                </a:r>
              </a:p>
              <a:p>
                <a:r>
                  <a:rPr lang="en-US" dirty="0"/>
                  <a:t>These assumptions are required for the linear model to be sensible and for us to construct statistics.</a:t>
                </a:r>
              </a:p>
              <a:p>
                <a:pPr lvl="1"/>
                <a:endParaRPr lang="en-US" dirty="0"/>
              </a:p>
            </p:txBody>
          </p:sp>
        </mc:Choice>
        <mc:Fallback xmlns="">
          <p:sp>
            <p:nvSpPr>
              <p:cNvPr id="3" name="Content Placeholder 2">
                <a:extLst>
                  <a:ext uri="{FF2B5EF4-FFF2-40B4-BE49-F238E27FC236}">
                    <a16:creationId xmlns:a16="http://schemas.microsoft.com/office/drawing/2014/main" id="{79BE13A2-D5D6-BF76-2491-539AF8B83E79}"/>
                  </a:ext>
                </a:extLst>
              </p:cNvPr>
              <p:cNvSpPr>
                <a:spLocks noGrp="1" noRot="1" noChangeAspect="1" noMove="1" noResize="1" noEditPoints="1" noAdjustHandles="1" noChangeArrowheads="1" noChangeShapeType="1" noTextEdit="1"/>
              </p:cNvSpPr>
              <p:nvPr>
                <p:ph idx="1"/>
              </p:nvPr>
            </p:nvSpPr>
            <p:spPr>
              <a:blipFill>
                <a:blip r:embed="rId2"/>
                <a:stretch>
                  <a:fillRect l="-1104" t="-1657" r="-1262"/>
                </a:stretch>
              </a:blipFill>
            </p:spPr>
            <p:txBody>
              <a:bodyPr/>
              <a:lstStyle/>
              <a:p>
                <a:r>
                  <a:rPr lang="en-US">
                    <a:noFill/>
                  </a:rPr>
                  <a:t> </a:t>
                </a:r>
              </a:p>
            </p:txBody>
          </p:sp>
        </mc:Fallback>
      </mc:AlternateContent>
    </p:spTree>
    <p:extLst>
      <p:ext uri="{BB962C8B-B14F-4D97-AF65-F5344CB8AC3E}">
        <p14:creationId xmlns:p14="http://schemas.microsoft.com/office/powerpoint/2010/main" val="15254688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1a54cd395f61cfc29bb41b0389d7858">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db123aac500611cfff64836afef3716"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62BB6C27-3F99-4C4A-8D94-5FA59A2B4CC3}"/>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2904</TotalTime>
  <Words>779</Words>
  <Application>Microsoft Macintosh PowerPoint</Application>
  <PresentationFormat>Custom</PresentationFormat>
  <Paragraphs>126</Paragraphs>
  <Slides>16</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 Math</vt:lpstr>
      <vt:lpstr>Söhne</vt:lpstr>
      <vt:lpstr>Wingdings 2</vt:lpstr>
      <vt:lpstr>Breeze</vt:lpstr>
      <vt:lpstr>Math 769: Statistical Learning</vt:lpstr>
      <vt:lpstr>Linear Regression Assumptions</vt:lpstr>
      <vt:lpstr>Last Time</vt:lpstr>
      <vt:lpstr>Objectives for this Lesson</vt:lpstr>
      <vt:lpstr>3 Assumptions of Linear Regression</vt:lpstr>
      <vt:lpstr>What is independence?</vt:lpstr>
      <vt:lpstr>Estimating Blood Pressure</vt:lpstr>
      <vt:lpstr>Without Independence</vt:lpstr>
      <vt:lpstr>What does multicollinearity mean?</vt:lpstr>
      <vt:lpstr>Estimating Blood Pressure</vt:lpstr>
      <vt:lpstr>Multicolinearity</vt:lpstr>
      <vt:lpstr>Residuals</vt:lpstr>
      <vt:lpstr>Two More Assumptions</vt:lpstr>
      <vt:lpstr>Last Two Assumptions Visually</vt:lpstr>
      <vt:lpstr>Why These Assumptions?</vt:lpstr>
      <vt:lpstr>Conclusion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28</cp:revision>
  <dcterms:created xsi:type="dcterms:W3CDTF">2019-02-13T16:04:21Z</dcterms:created>
  <dcterms:modified xsi:type="dcterms:W3CDTF">2023-12-03T21:42:48Z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SIP_Label_f2dee603-0001-4639-81f8-0608a53322f1_Enabled">
    <vt:lpwstr>true</vt:lpwstr>
  </property>
  <property fmtid="{D5CDD505-2E9C-101B-9397-08002B2CF9AE}" pid="4" name="MSIP_Label_f2dee603-0001-4639-81f8-0608a53322f1_SetDate">
    <vt:lpwstr>2023-12-03T01:56:47Z</vt:lpwstr>
  </property>
  <property fmtid="{D5CDD505-2E9C-101B-9397-08002B2CF9AE}" pid="5" name="MSIP_Label_f2dee603-0001-4639-81f8-0608a53322f1_Method">
    <vt:lpwstr>Standard</vt:lpwstr>
  </property>
  <property fmtid="{D5CDD505-2E9C-101B-9397-08002B2CF9AE}" pid="6" name="MSIP_Label_f2dee603-0001-4639-81f8-0608a53322f1_Name">
    <vt:lpwstr>defa4170-0d19-0005-0004-bc88714345d2</vt:lpwstr>
  </property>
  <property fmtid="{D5CDD505-2E9C-101B-9397-08002B2CF9AE}" pid="7" name="MSIP_Label_f2dee603-0001-4639-81f8-0608a53322f1_SiteId">
    <vt:lpwstr>b4478c05-3dd9-4e06-a7fb-5dcf72bd44ee</vt:lpwstr>
  </property>
  <property fmtid="{D5CDD505-2E9C-101B-9397-08002B2CF9AE}" pid="8" name="MSIP_Label_f2dee603-0001-4639-81f8-0608a53322f1_ActionId">
    <vt:lpwstr>30832500-f140-4494-8e18-3734477aa712</vt:lpwstr>
  </property>
  <property fmtid="{D5CDD505-2E9C-101B-9397-08002B2CF9AE}" pid="9" name="MSIP_Label_f2dee603-0001-4639-81f8-0608a53322f1_ContentBits">
    <vt:lpwstr>0</vt:lpwstr>
  </property>
</Properties>
</file>