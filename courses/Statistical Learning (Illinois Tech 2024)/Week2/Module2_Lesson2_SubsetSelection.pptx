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sldIdLst>
    <p:sldId id="259" r:id="rId5"/>
    <p:sldId id="262" r:id="rId6"/>
    <p:sldId id="263" r:id="rId7"/>
    <p:sldId id="269" r:id="rId8"/>
    <p:sldId id="264" r:id="rId9"/>
    <p:sldId id="265" r:id="rId10"/>
    <p:sldId id="266" r:id="rId11"/>
    <p:sldId id="277" r:id="rId12"/>
    <p:sldId id="268" r:id="rId13"/>
    <p:sldId id="276" r:id="rId14"/>
    <p:sldId id="272" r:id="rId15"/>
    <p:sldId id="271" r:id="rId16"/>
    <p:sldId id="273" r:id="rId17"/>
    <p:sldId id="270" r:id="rId18"/>
    <p:sldId id="275" r:id="rId19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3741"/>
  </p:normalViewPr>
  <p:slideViewPr>
    <p:cSldViewPr snapToGrid="0" snapToObjects="1">
      <p:cViewPr varScale="1">
        <p:scale>
          <a:sx n="80" d="100"/>
          <a:sy n="80" d="100"/>
        </p:scale>
        <p:origin x="824" y="192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D2C4-084C-C545-00AC-430EC19B6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Math 769: Statistical Learning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803D9D7-D926-E270-BBAA-C017CB0F03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2807F-AA75-8289-ABFC-30F1E44E6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Subset Selection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820C0-3BC8-687A-7D56-C3951CF5E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Shahrzad Jamshidi, PhD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Last Time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6" name="Content Placeholder 2">
                <a:extLst>
                  <a:ext uri="{FF2B5EF4-FFF2-40B4-BE49-F238E27FC236}">
                    <a16:creationId xmlns:a16="http://schemas.microsoft.com/office/drawing/2014/main" id="{8DFB1FDB-789D-3A4E-B0C7-3BAF194C66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8551" y="2051050"/>
                <a:ext cx="16084550" cy="6886576"/>
              </a:xfrm>
            </p:spPr>
            <p:txBody>
              <a:bodyPr/>
              <a:lstStyle/>
              <a:p>
                <a:r>
                  <a:rPr lang="en-US" altLang="en-US" dirty="0"/>
                  <a:t>We discussed (simple) linear regression.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altLang="en-US" dirty="0"/>
              </a:p>
              <a:p>
                <a:r>
                  <a:rPr lang="en-US" altLang="en-US" dirty="0"/>
                  <a:t>The model assumes linearity, independence, little to no multicollinearity, homoskedasticity, and normality. </a:t>
                </a:r>
              </a:p>
              <a:p>
                <a:r>
                  <a:rPr lang="en-US" altLang="en-US" dirty="0"/>
                  <a:t>We can perform tests of significant on the coefficients comparing them to zero.</a:t>
                </a:r>
              </a:p>
              <a:p>
                <a:r>
                  <a:rPr lang="en-US" altLang="en-US" dirty="0"/>
                  <a:t>Our estimator for the parameters are BLUE.</a:t>
                </a:r>
              </a:p>
            </p:txBody>
          </p:sp>
        </mc:Choice>
        <mc:Fallback>
          <p:sp>
            <p:nvSpPr>
              <p:cNvPr id="6146" name="Content Placeholder 2">
                <a:extLst>
                  <a:ext uri="{FF2B5EF4-FFF2-40B4-BE49-F238E27FC236}">
                    <a16:creationId xmlns:a16="http://schemas.microsoft.com/office/drawing/2014/main" id="{8DFB1FDB-789D-3A4E-B0C7-3BAF194C66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8551" y="2051050"/>
                <a:ext cx="16084550" cy="6886576"/>
              </a:xfrm>
              <a:blipFill>
                <a:blip r:embed="rId2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Objectives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Describe subset selection and its three main techniques.</a:t>
            </a:r>
          </a:p>
          <a:p>
            <a:r>
              <a:rPr lang="en-US" altLang="en-US" dirty="0"/>
              <a:t>List strengths and weaknesses of the technique.</a:t>
            </a:r>
          </a:p>
          <a:p>
            <a:r>
              <a:rPr lang="en-US" altLang="en-US" dirty="0"/>
              <a:t>List methods for model evaluation with subset selection.</a:t>
            </a:r>
          </a:p>
          <a:p>
            <a:r>
              <a:rPr lang="en-US" altLang="en-US" dirty="0"/>
              <a:t>Define data snooping. </a:t>
            </a:r>
          </a:p>
          <a:p>
            <a:pPr marL="0" indent="0"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74394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65C32-C768-E49C-F6A1-19103E49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Simple 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A5A34-31EA-3E31-ACEC-A697180DF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Real-world data often has multiple predictors.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Not all predictors are equally useful.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374151"/>
                </a:solidFill>
                <a:effectLst/>
              </a:rPr>
              <a:t>Challenge</a:t>
            </a: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: How do we choose which predictors to include in our model?</a:t>
            </a:r>
          </a:p>
        </p:txBody>
      </p:sp>
    </p:spTree>
    <p:extLst>
      <p:ext uri="{BB962C8B-B14F-4D97-AF65-F5344CB8AC3E}">
        <p14:creationId xmlns:p14="http://schemas.microsoft.com/office/powerpoint/2010/main" val="3283049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65C32-C768-E49C-F6A1-19103E49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dirty="0">
                <a:effectLst/>
              </a:rPr>
              <a:t>Introducing Subset Selection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A5A34-31EA-3E31-ACEC-A697180DF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chemeClr val="bg1"/>
                </a:solidFill>
                <a:effectLst/>
              </a:rPr>
              <a:t>Subset Selection</a:t>
            </a: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 is a method for selecting a subset of independent variables to use in a regression model.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74151"/>
                </a:solidFill>
              </a:rPr>
              <a:t>A method to eliminate unnecessary or uninformative variables</a:t>
            </a:r>
            <a:endParaRPr lang="en-US" b="0" i="0" u="none" strike="noStrike" dirty="0">
              <a:solidFill>
                <a:srgbClr val="374151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374151"/>
                </a:solidFill>
                <a:effectLst/>
              </a:rPr>
              <a:t>Aim</a:t>
            </a: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: Find the best possible combination of predictors to enhance model accuracy while avoiding overfitting.</a:t>
            </a:r>
          </a:p>
          <a:p>
            <a:pPr marL="698500" lvl="1" indent="0">
              <a:buNone/>
            </a:pPr>
            <a:endParaRPr lang="en-US" b="0" i="0" u="none" strike="noStrike" dirty="0">
              <a:solidFill>
                <a:srgbClr val="37415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08680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65C32-C768-E49C-F6A1-19103E49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dirty="0">
                <a:effectLst/>
              </a:rPr>
              <a:t>Advantages of Subset Selection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A5A34-31EA-3E31-ACEC-A697180DF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Relevance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Some predictors may not have a strong relationship with the response variable.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Avoids Overfitting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Including unnecessary predictors can make the model overly complex.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Interpretability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Simpler models are often easier to interpret and explain.</a:t>
            </a:r>
          </a:p>
        </p:txBody>
      </p:sp>
    </p:spTree>
    <p:extLst>
      <p:ext uri="{BB962C8B-B14F-4D97-AF65-F5344CB8AC3E}">
        <p14:creationId xmlns:p14="http://schemas.microsoft.com/office/powerpoint/2010/main" val="2263159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9473D-1456-6D3A-D987-8D46C110D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Approach of Subset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88916-1088-EAAF-A7AD-952947D7E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Input</a:t>
            </a:r>
            <a:r>
              <a:rPr lang="en-US" dirty="0"/>
              <a:t>: a set of independent variables, dependent variables, and a method to evaluate the model. 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Identify a subset of independent variables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Build a linear regression model with those variables.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Evaluate the model and store information.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Repeat: Return to step 1.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After a sufficient number of cases, return the best model.</a:t>
            </a:r>
          </a:p>
        </p:txBody>
      </p:sp>
    </p:spTree>
    <p:extLst>
      <p:ext uri="{BB962C8B-B14F-4D97-AF65-F5344CB8AC3E}">
        <p14:creationId xmlns:p14="http://schemas.microsoft.com/office/powerpoint/2010/main" val="1609168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65C32-C768-E49C-F6A1-19103E49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Subset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A5A34-31EA-3E31-ACEC-A697180DF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chemeClr val="bg1"/>
                </a:solidFill>
                <a:effectLst/>
              </a:rPr>
              <a:t>Best Subset Selection</a:t>
            </a: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: Consider all possible models with all combinations of predictors.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chemeClr val="bg1"/>
                </a:solidFill>
                <a:effectLst/>
              </a:rPr>
              <a:t>Forward Stepwise Selection</a:t>
            </a: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: Start with no predictors and add one at a time.</a:t>
            </a:r>
          </a:p>
          <a:p>
            <a:pPr algn="l">
              <a:buFont typeface="+mj-lt"/>
              <a:buAutoNum type="arabicPeriod"/>
            </a:pPr>
            <a:r>
              <a:rPr lang="en-US" b="1" i="0" u="none" strike="noStrike" dirty="0">
                <a:solidFill>
                  <a:schemeClr val="bg1"/>
                </a:solidFill>
                <a:effectLst/>
              </a:rPr>
              <a:t>Backward Stepwise Selection</a:t>
            </a: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: Start with all predictors and remove one at a time.</a:t>
            </a:r>
          </a:p>
        </p:txBody>
      </p:sp>
    </p:spTree>
    <p:extLst>
      <p:ext uri="{BB962C8B-B14F-4D97-AF65-F5344CB8AC3E}">
        <p14:creationId xmlns:p14="http://schemas.microsoft.com/office/powerpoint/2010/main" val="1687955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65C32-C768-E49C-F6A1-19103E49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dirty="0">
                <a:effectLst/>
              </a:rPr>
              <a:t>Best Subset Selection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A5A34-31EA-3E31-ACEC-A697180DF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Evaluate all possible combinations of predictors.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For each combination, fit a model and assess its quality.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374151"/>
                </a:solidFill>
                <a:effectLst/>
              </a:rPr>
              <a:t>Pros</a:t>
            </a: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: Thorough and finds the best combination.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374151"/>
                </a:solidFill>
                <a:effectLst/>
              </a:rPr>
              <a:t>Cons</a:t>
            </a: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: Computationally *VERY* expensive for many predictors.</a:t>
            </a:r>
          </a:p>
        </p:txBody>
      </p:sp>
    </p:spTree>
    <p:extLst>
      <p:ext uri="{BB962C8B-B14F-4D97-AF65-F5344CB8AC3E}">
        <p14:creationId xmlns:p14="http://schemas.microsoft.com/office/powerpoint/2010/main" val="2120631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65C32-C768-E49C-F6A1-19103E49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Stepwise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A5A34-31EA-3E31-ACEC-A697180DF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Begin with an intercept, no predictors.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Add predictor that gives most significant improvement.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Repeat until a stopping criterion is met.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374151"/>
                </a:solidFill>
                <a:effectLst/>
              </a:rPr>
              <a:t>Pros</a:t>
            </a: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: More efficient than best subset selection.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374151"/>
                </a:solidFill>
                <a:effectLst/>
              </a:rPr>
              <a:t>Cons</a:t>
            </a: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: Might not find the global best set.</a:t>
            </a:r>
          </a:p>
        </p:txBody>
      </p:sp>
    </p:spTree>
    <p:extLst>
      <p:ext uri="{BB962C8B-B14F-4D97-AF65-F5344CB8AC3E}">
        <p14:creationId xmlns:p14="http://schemas.microsoft.com/office/powerpoint/2010/main" val="4253055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65C32-C768-E49C-F6A1-19103E49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dirty="0">
                <a:effectLst/>
              </a:rPr>
              <a:t>Backwards Stepwise Selection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A5A34-31EA-3E31-ACEC-A697180DF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Start with all predictors.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Remove the least impactful predictor.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Repeat until a stopping criterion is met.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374151"/>
                </a:solidFill>
                <a:effectLst/>
              </a:rPr>
              <a:t>Pros</a:t>
            </a: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: Useful when the number of predictors is large.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374151"/>
                </a:solidFill>
                <a:effectLst/>
              </a:rPr>
              <a:t>Cons</a:t>
            </a: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: Might not find the global best set. Can only be used when number of samples is greater than number of predictors.</a:t>
            </a:r>
          </a:p>
        </p:txBody>
      </p:sp>
    </p:spTree>
    <p:extLst>
      <p:ext uri="{BB962C8B-B14F-4D97-AF65-F5344CB8AC3E}">
        <p14:creationId xmlns:p14="http://schemas.microsoft.com/office/powerpoint/2010/main" val="3155270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65C32-C768-E49C-F6A1-19103E49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dirty="0">
                <a:effectLst/>
              </a:rPr>
              <a:t>Criteria for Model Selection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DA5A34-31EA-3E31-ACEC-A697180DF7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b="1" i="0" u="none" strike="noStrike" dirty="0">
                    <a:solidFill>
                      <a:srgbClr val="374151"/>
                    </a:solidFill>
                    <a:effectLst/>
                  </a:rPr>
                  <a:t>RSS (Residual Sum of Squares)</a:t>
                </a:r>
                <a:r>
                  <a:rPr lang="en-US" b="0" i="0" u="none" strike="noStrike" dirty="0">
                    <a:solidFill>
                      <a:srgbClr val="374151"/>
                    </a:solidFill>
                    <a:effectLst/>
                  </a:rPr>
                  <a:t>: Measure of model fit.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b="1" i="0" u="none" strike="noStrike" dirty="0">
                    <a:solidFill>
                      <a:srgbClr val="374151"/>
                    </a:solidFill>
                    <a:effectLst/>
                  </a:rPr>
                  <a:t>Adjusted-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u="none" strike="noStrike" smtClean="0">
                            <a:solidFill>
                              <a:srgbClr val="37415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u="none" strike="noStrike" smtClean="0">
                            <a:solidFill>
                              <a:srgbClr val="37415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u="none" strike="noStrike" smtClean="0">
                            <a:solidFill>
                              <a:srgbClr val="374151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0" i="0" u="none" strike="noStrike" dirty="0">
                    <a:solidFill>
                      <a:srgbClr val="374151"/>
                    </a:solidFill>
                    <a:effectLst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0" i="0" u="none" strike="noStrike" dirty="0">
                    <a:solidFill>
                      <a:srgbClr val="374151"/>
                    </a:solidFill>
                    <a:effectLst/>
                  </a:rPr>
                  <a:t> adjusted for the number of predictors.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i="0" u="none" strike="noStrike" dirty="0">
                    <a:solidFill>
                      <a:srgbClr val="374151"/>
                    </a:solidFill>
                    <a:effectLst/>
                  </a:rPr>
                  <a:t>Later in the course:</a:t>
                </a:r>
                <a:r>
                  <a:rPr lang="en-US" b="1" i="0" u="none" strike="noStrike" dirty="0">
                    <a:solidFill>
                      <a:srgbClr val="374151"/>
                    </a:solidFill>
                    <a:effectLst/>
                  </a:rPr>
                  <a:t> 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b="1" i="0" u="none" strike="noStrike" dirty="0">
                    <a:solidFill>
                      <a:srgbClr val="374151"/>
                    </a:solidFill>
                    <a:effectLst/>
                  </a:rPr>
                  <a:t>Cross-Validation</a:t>
                </a:r>
                <a:r>
                  <a:rPr lang="en-US" b="0" i="0" u="none" strike="noStrike" dirty="0">
                    <a:solidFill>
                      <a:srgbClr val="374151"/>
                    </a:solidFill>
                    <a:effectLst/>
                  </a:rPr>
                  <a:t>: Predictive accuracy on unseen data.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b="1" i="0" u="none" strike="noStrike" dirty="0">
                    <a:solidFill>
                      <a:srgbClr val="374151"/>
                    </a:solidFill>
                    <a:effectLst/>
                  </a:rPr>
                  <a:t>AIC, BIC</a:t>
                </a:r>
                <a:r>
                  <a:rPr lang="en-US" b="0" i="0" u="none" strike="noStrike" dirty="0">
                    <a:solidFill>
                      <a:srgbClr val="374151"/>
                    </a:solidFill>
                    <a:effectLst/>
                  </a:rPr>
                  <a:t>: Balances model fit and complexity.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endParaRPr lang="en-US" b="0" i="0" u="none" strike="noStrike" dirty="0">
                  <a:solidFill>
                    <a:srgbClr val="374151"/>
                  </a:solidFill>
                  <a:effectLst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DA5A34-31EA-3E31-ACEC-A697180DF7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83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3974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Challenges with Subset Selection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Requires careful choice of criteria.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374151"/>
                </a:solidFill>
                <a:effectLst/>
              </a:rPr>
              <a:t>Can be computationally intensive, especially with many predictors.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u="none" strike="noStrike" dirty="0">
                <a:solidFill>
                  <a:srgbClr val="374151"/>
                </a:solidFill>
                <a:effectLst/>
              </a:rPr>
              <a:t>Risk of </a:t>
            </a:r>
            <a:r>
              <a:rPr lang="en-US" b="1" i="0" u="none" strike="noStrike" dirty="0">
                <a:solidFill>
                  <a:schemeClr val="bg1"/>
                </a:solidFill>
                <a:effectLst/>
              </a:rPr>
              <a:t>data snooping</a:t>
            </a:r>
            <a:endParaRPr lang="en-US" dirty="0">
              <a:solidFill>
                <a:srgbClr val="37415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bg1"/>
                </a:solidFill>
              </a:rPr>
              <a:t>Data snooping </a:t>
            </a:r>
            <a:r>
              <a:rPr lang="en-US" altLang="en-US" dirty="0"/>
              <a:t>is a form of statistical bias manipulating data or analysis to artificially get statistically significant results.</a:t>
            </a:r>
          </a:p>
        </p:txBody>
      </p:sp>
    </p:spTree>
    <p:extLst>
      <p:ext uri="{BB962C8B-B14F-4D97-AF65-F5344CB8AC3E}">
        <p14:creationId xmlns:p14="http://schemas.microsoft.com/office/powerpoint/2010/main" val="292738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Conclusion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Subset selection is a technique for picking the most explanatory independent variables from a set of possible variables. </a:t>
            </a:r>
          </a:p>
          <a:p>
            <a:r>
              <a:rPr lang="en-US" altLang="en-US" dirty="0"/>
              <a:t>There are three main approaches:</a:t>
            </a:r>
          </a:p>
          <a:p>
            <a:pPr lvl="1"/>
            <a:r>
              <a:rPr lang="en-US" altLang="en-US" dirty="0"/>
              <a:t>Best Subset Selection</a:t>
            </a:r>
          </a:p>
          <a:p>
            <a:pPr lvl="1"/>
            <a:r>
              <a:rPr lang="en-US" altLang="en-US" dirty="0"/>
              <a:t>Forward Stepwise Selection</a:t>
            </a:r>
          </a:p>
          <a:p>
            <a:pPr lvl="1"/>
            <a:r>
              <a:rPr lang="en-US" altLang="en-US" dirty="0"/>
              <a:t>Backward Stepwise Selection</a:t>
            </a:r>
          </a:p>
          <a:p>
            <a:r>
              <a:rPr lang="en-US" altLang="en-US" dirty="0"/>
              <a:t>It prevents the model from being overly complex; however, it is computationally expensive to do and risks data snooping. </a:t>
            </a:r>
          </a:p>
        </p:txBody>
      </p:sp>
    </p:spTree>
    <p:extLst>
      <p:ext uri="{BB962C8B-B14F-4D97-AF65-F5344CB8AC3E}">
        <p14:creationId xmlns:p14="http://schemas.microsoft.com/office/powerpoint/2010/main" val="14439534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6" ma:contentTypeDescription="Create a new document." ma:contentTypeScope="" ma:versionID="81a54cd395f61cfc29bb41b0389d7858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db123aac500611cfff64836afef3716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1B07639-D52B-45A9-844F-9AC07E410DE3}"/>
</file>

<file path=customXml/itemProps3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3523</TotalTime>
  <Words>635</Words>
  <Application>Microsoft Macintosh PowerPoint</Application>
  <PresentationFormat>Custom</PresentationFormat>
  <Paragraphs>75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Cambria Math</vt:lpstr>
      <vt:lpstr>Wingdings 2</vt:lpstr>
      <vt:lpstr>Breeze</vt:lpstr>
      <vt:lpstr>Math 769: Statistical Learning</vt:lpstr>
      <vt:lpstr>Subset Selection</vt:lpstr>
      <vt:lpstr>Last Time</vt:lpstr>
      <vt:lpstr>Objectives</vt:lpstr>
      <vt:lpstr>Issues with Simple Linear Regression</vt:lpstr>
      <vt:lpstr>Introducing Subset Selection</vt:lpstr>
      <vt:lpstr>Advantages of Subset Selection</vt:lpstr>
      <vt:lpstr>General Approach of Subset Selection</vt:lpstr>
      <vt:lpstr>Types of Subset Selection</vt:lpstr>
      <vt:lpstr>Best Subset Selection</vt:lpstr>
      <vt:lpstr>Forward Stepwise Selection</vt:lpstr>
      <vt:lpstr>Backwards Stepwise Selection</vt:lpstr>
      <vt:lpstr>Criteria for Model Selection</vt:lpstr>
      <vt:lpstr>Challenges with Subset Selection</vt:lpstr>
      <vt:lpstr>Conclusion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Jamshidi, Sara (She/Her/Hers)</cp:lastModifiedBy>
  <cp:revision>16</cp:revision>
  <dcterms:created xsi:type="dcterms:W3CDTF">2019-02-13T16:04:21Z</dcterms:created>
  <dcterms:modified xsi:type="dcterms:W3CDTF">2023-12-03T19:50:57Z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SIP_Label_f2dee603-0001-4639-81f8-0608a53322f1_Enabled">
    <vt:lpwstr>true</vt:lpwstr>
  </property>
  <property fmtid="{D5CDD505-2E9C-101B-9397-08002B2CF9AE}" pid="4" name="MSIP_Label_f2dee603-0001-4639-81f8-0608a53322f1_SetDate">
    <vt:lpwstr>2023-12-03T19:50:56Z</vt:lpwstr>
  </property>
  <property fmtid="{D5CDD505-2E9C-101B-9397-08002B2CF9AE}" pid="5" name="MSIP_Label_f2dee603-0001-4639-81f8-0608a53322f1_Method">
    <vt:lpwstr>Standard</vt:lpwstr>
  </property>
  <property fmtid="{D5CDD505-2E9C-101B-9397-08002B2CF9AE}" pid="6" name="MSIP_Label_f2dee603-0001-4639-81f8-0608a53322f1_Name">
    <vt:lpwstr>defa4170-0d19-0005-0004-bc88714345d2</vt:lpwstr>
  </property>
  <property fmtid="{D5CDD505-2E9C-101B-9397-08002B2CF9AE}" pid="7" name="MSIP_Label_f2dee603-0001-4639-81f8-0608a53322f1_SiteId">
    <vt:lpwstr>b4478c05-3dd9-4e06-a7fb-5dcf72bd44ee</vt:lpwstr>
  </property>
  <property fmtid="{D5CDD505-2E9C-101B-9397-08002B2CF9AE}" pid="8" name="MSIP_Label_f2dee603-0001-4639-81f8-0608a53322f1_ActionId">
    <vt:lpwstr>8fd52c69-0d1f-464e-a3ba-a8023794626a</vt:lpwstr>
  </property>
  <property fmtid="{D5CDD505-2E9C-101B-9397-08002B2CF9AE}" pid="9" name="MSIP_Label_f2dee603-0001-4639-81f8-0608a53322f1_ContentBits">
    <vt:lpwstr>0</vt:lpwstr>
  </property>
</Properties>
</file>