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7" r:id="rId4"/>
  </p:sldMasterIdLst>
  <p:notesMasterIdLst>
    <p:notesMasterId r:id="rId53"/>
  </p:notesMasterIdLst>
  <p:sldIdLst>
    <p:sldId id="259" r:id="rId5"/>
    <p:sldId id="262" r:id="rId6"/>
    <p:sldId id="263" r:id="rId7"/>
    <p:sldId id="264" r:id="rId8"/>
    <p:sldId id="276" r:id="rId9"/>
    <p:sldId id="277" r:id="rId10"/>
    <p:sldId id="278" r:id="rId11"/>
    <p:sldId id="279" r:id="rId12"/>
    <p:sldId id="280" r:id="rId13"/>
    <p:sldId id="281" r:id="rId14"/>
    <p:sldId id="282" r:id="rId15"/>
    <p:sldId id="283" r:id="rId16"/>
    <p:sldId id="284" r:id="rId17"/>
    <p:sldId id="286" r:id="rId18"/>
    <p:sldId id="285" r:id="rId19"/>
    <p:sldId id="308" r:id="rId20"/>
    <p:sldId id="309" r:id="rId21"/>
    <p:sldId id="272" r:id="rId22"/>
    <p:sldId id="310" r:id="rId23"/>
    <p:sldId id="287" r:id="rId24"/>
    <p:sldId id="288" r:id="rId25"/>
    <p:sldId id="289" r:id="rId26"/>
    <p:sldId id="290" r:id="rId27"/>
    <p:sldId id="312" r:id="rId28"/>
    <p:sldId id="314" r:id="rId29"/>
    <p:sldId id="313" r:id="rId30"/>
    <p:sldId id="315" r:id="rId31"/>
    <p:sldId id="316" r:id="rId32"/>
    <p:sldId id="311" r:id="rId33"/>
    <p:sldId id="291" r:id="rId34"/>
    <p:sldId id="292" r:id="rId35"/>
    <p:sldId id="293" r:id="rId36"/>
    <p:sldId id="318" r:id="rId37"/>
    <p:sldId id="294" r:id="rId38"/>
    <p:sldId id="295" r:id="rId39"/>
    <p:sldId id="296" r:id="rId40"/>
    <p:sldId id="297" r:id="rId41"/>
    <p:sldId id="298" r:id="rId42"/>
    <p:sldId id="299" r:id="rId43"/>
    <p:sldId id="300" r:id="rId44"/>
    <p:sldId id="301" r:id="rId45"/>
    <p:sldId id="303" r:id="rId46"/>
    <p:sldId id="302" r:id="rId47"/>
    <p:sldId id="304" r:id="rId48"/>
    <p:sldId id="305" r:id="rId49"/>
    <p:sldId id="306" r:id="rId50"/>
    <p:sldId id="307" r:id="rId51"/>
    <p:sldId id="265" r:id="rId52"/>
  </p:sldIdLst>
  <p:sldSz cx="18288000" cy="10287000"/>
  <p:notesSz cx="6858000" cy="9144000"/>
  <p:defaultTextStyle>
    <a:defPPr>
      <a:defRPr lang="en-US"/>
    </a:defPPr>
    <a:lvl1pPr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9144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18288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27432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36576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45720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54864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64008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73152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3240" userDrawn="1">
          <p15:clr>
            <a:srgbClr val="A4A3A4"/>
          </p15:clr>
        </p15:guide>
        <p15:guide id="2" pos="57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70609A-D6D1-4398-8205-3727AD454177}" v="1" dt="2023-05-09T15:11:37.596"/>
    <p1510:client id="{6AD5E037-7EB6-5E87-6C38-A6EA964E9895}" v="3" dt="2023-09-10T20:07:15.1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568"/>
    <p:restoredTop sz="55170"/>
  </p:normalViewPr>
  <p:slideViewPr>
    <p:cSldViewPr snapToGrid="0" snapToObjects="1">
      <p:cViewPr varScale="1">
        <p:scale>
          <a:sx n="45" d="100"/>
          <a:sy n="45" d="100"/>
        </p:scale>
        <p:origin x="784" y="176"/>
      </p:cViewPr>
      <p:guideLst>
        <p:guide orient="horz" pos="3240"/>
        <p:guide pos="57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notesMaster" Target="notesMasters/notesMaster1.xml"/><Relationship Id="rId58" Type="http://schemas.microsoft.com/office/2016/11/relationships/changesInfo" Target="changesInfos/changesInfo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rosen@iit.edu" userId="S::urn:spo:guest#jrosen@iit.edu::" providerId="AD" clId="Web-{6AD5E037-7EB6-5E87-6C38-A6EA964E9895}"/>
    <pc:docChg chg="modSld">
      <pc:chgData name="jrosen@iit.edu" userId="S::urn:spo:guest#jrosen@iit.edu::" providerId="AD" clId="Web-{6AD5E037-7EB6-5E87-6C38-A6EA964E9895}" dt="2023-09-10T20:07:15.134" v="2" actId="20577"/>
      <pc:docMkLst>
        <pc:docMk/>
      </pc:docMkLst>
      <pc:sldChg chg="modSp">
        <pc:chgData name="jrosen@iit.edu" userId="S::urn:spo:guest#jrosen@iit.edu::" providerId="AD" clId="Web-{6AD5E037-7EB6-5E87-6C38-A6EA964E9895}" dt="2023-09-10T20:07:15.134" v="2" actId="20577"/>
        <pc:sldMkLst>
          <pc:docMk/>
          <pc:sldMk cId="0" sldId="260"/>
        </pc:sldMkLst>
        <pc:spChg chg="mod">
          <ac:chgData name="jrosen@iit.edu" userId="S::urn:spo:guest#jrosen@iit.edu::" providerId="AD" clId="Web-{6AD5E037-7EB6-5E87-6C38-A6EA964E9895}" dt="2023-09-10T20:07:15.134" v="2" actId="20577"/>
          <ac:spMkLst>
            <pc:docMk/>
            <pc:sldMk cId="0" sldId="260"/>
            <ac:spMk id="5121" creationId="{4201BE09-6437-8CAC-DA00-D42CB41E2B9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DEDB27-1998-C943-968A-A040123AFDCE}" type="datetimeFigureOut">
              <a:rPr lang="en-US" smtClean="0"/>
              <a:t>7/25/24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25DDDC-B10B-3347-AAB4-5CB93FC9C71C}" type="slidenum">
              <a:rPr lang="en-US" smtClean="0"/>
              <a:t>‹#›</a:t>
            </a:fld>
            <a:endParaRPr lang="en-US"/>
          </a:p>
        </p:txBody>
      </p:sp>
    </p:spTree>
    <p:extLst>
      <p:ext uri="{BB962C8B-B14F-4D97-AF65-F5344CB8AC3E}">
        <p14:creationId xmlns:p14="http://schemas.microsoft.com/office/powerpoint/2010/main" val="13191271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E0E0E"/>
                </a:solidFill>
                <a:effectLst/>
                <a:latin typeface=".SF NS"/>
              </a:rPr>
              <a:t>Welcome to Lesson 1 of Module 7 on Bayesian Inference</a:t>
            </a:r>
          </a:p>
          <a:p>
            <a:endParaRPr lang="en-US" dirty="0"/>
          </a:p>
        </p:txBody>
      </p:sp>
      <p:sp>
        <p:nvSpPr>
          <p:cNvPr id="4" name="Slide Number Placeholder 3"/>
          <p:cNvSpPr>
            <a:spLocks noGrp="1"/>
          </p:cNvSpPr>
          <p:nvPr>
            <p:ph type="sldNum" sz="quarter" idx="5"/>
          </p:nvPr>
        </p:nvSpPr>
        <p:spPr/>
        <p:txBody>
          <a:bodyPr/>
          <a:lstStyle/>
          <a:p>
            <a:fld id="{F625DDDC-B10B-3347-AAB4-5CB93FC9C71C}" type="slidenum">
              <a:rPr lang="en-US" smtClean="0"/>
              <a:t>1</a:t>
            </a:fld>
            <a:endParaRPr lang="en-US"/>
          </a:p>
        </p:txBody>
      </p:sp>
    </p:spTree>
    <p:extLst>
      <p:ext uri="{BB962C8B-B14F-4D97-AF65-F5344CB8AC3E}">
        <p14:creationId xmlns:p14="http://schemas.microsoft.com/office/powerpoint/2010/main" val="10590056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lesson, we will discuss the foundations of Bayesian Regression Analysis. </a:t>
            </a:r>
          </a:p>
        </p:txBody>
      </p:sp>
      <p:sp>
        <p:nvSpPr>
          <p:cNvPr id="4" name="Slide Number Placeholder 3"/>
          <p:cNvSpPr>
            <a:spLocks noGrp="1"/>
          </p:cNvSpPr>
          <p:nvPr>
            <p:ph type="sldNum" sz="quarter" idx="5"/>
          </p:nvPr>
        </p:nvSpPr>
        <p:spPr/>
        <p:txBody>
          <a:bodyPr/>
          <a:lstStyle/>
          <a:p>
            <a:fld id="{F625DDDC-B10B-3347-AAB4-5CB93FC9C71C}" type="slidenum">
              <a:rPr lang="en-US" smtClean="0"/>
              <a:t>2</a:t>
            </a:fld>
            <a:endParaRPr lang="en-US"/>
          </a:p>
        </p:txBody>
      </p:sp>
    </p:spTree>
    <p:extLst>
      <p:ext uri="{BB962C8B-B14F-4D97-AF65-F5344CB8AC3E}">
        <p14:creationId xmlns:p14="http://schemas.microsoft.com/office/powerpoint/2010/main" val="17555866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last module, we discussed some major topics in Bayesian computation. </a:t>
            </a:r>
          </a:p>
        </p:txBody>
      </p:sp>
      <p:sp>
        <p:nvSpPr>
          <p:cNvPr id="4" name="Slide Number Placeholder 3"/>
          <p:cNvSpPr>
            <a:spLocks noGrp="1"/>
          </p:cNvSpPr>
          <p:nvPr>
            <p:ph type="sldNum" sz="quarter" idx="5"/>
          </p:nvPr>
        </p:nvSpPr>
        <p:spPr/>
        <p:txBody>
          <a:bodyPr/>
          <a:lstStyle/>
          <a:p>
            <a:fld id="{F625DDDC-B10B-3347-AAB4-5CB93FC9C71C}" type="slidenum">
              <a:rPr lang="en-US" smtClean="0"/>
              <a:t>3</a:t>
            </a:fld>
            <a:endParaRPr lang="en-US"/>
          </a:p>
        </p:txBody>
      </p:sp>
    </p:spTree>
    <p:extLst>
      <p:ext uri="{BB962C8B-B14F-4D97-AF65-F5344CB8AC3E}">
        <p14:creationId xmlns:p14="http://schemas.microsoft.com/office/powerpoint/2010/main" val="24299389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will </a:t>
            </a:r>
          </a:p>
          <a:p>
            <a:endParaRPr lang="en-US" dirty="0"/>
          </a:p>
          <a:p>
            <a:r>
              <a:rPr lang="en-US" altLang="en-US" dirty="0"/>
              <a:t>Understand the basics of regression from a Bayesian framework.</a:t>
            </a:r>
          </a:p>
          <a:p>
            <a:endParaRPr lang="en-US" altLang="en-US" dirty="0"/>
          </a:p>
          <a:p>
            <a:r>
              <a:rPr lang="en-US" altLang="en-US" dirty="0"/>
              <a:t>Explore some practical aspects of regression analysis, including handling unequal or unknown variances.</a:t>
            </a:r>
          </a:p>
          <a:p>
            <a:endParaRPr lang="en-US" dirty="0"/>
          </a:p>
        </p:txBody>
      </p:sp>
      <p:sp>
        <p:nvSpPr>
          <p:cNvPr id="4" name="Slide Number Placeholder 3"/>
          <p:cNvSpPr>
            <a:spLocks noGrp="1"/>
          </p:cNvSpPr>
          <p:nvPr>
            <p:ph type="sldNum" sz="quarter" idx="5"/>
          </p:nvPr>
        </p:nvSpPr>
        <p:spPr/>
        <p:txBody>
          <a:bodyPr/>
          <a:lstStyle/>
          <a:p>
            <a:fld id="{F625DDDC-B10B-3347-AAB4-5CB93FC9C71C}" type="slidenum">
              <a:rPr lang="en-US" smtClean="0"/>
              <a:t>4</a:t>
            </a:fld>
            <a:endParaRPr lang="en-US"/>
          </a:p>
        </p:txBody>
      </p:sp>
    </p:spTree>
    <p:extLst>
      <p:ext uri="{BB962C8B-B14F-4D97-AF65-F5344CB8AC3E}">
        <p14:creationId xmlns:p14="http://schemas.microsoft.com/office/powerpoint/2010/main" val="30415749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Topics to review for this lesson include </a:t>
            </a:r>
          </a:p>
          <a:p>
            <a:endParaRPr lang="en-US" dirty="0"/>
          </a:p>
          <a:p>
            <a:r>
              <a:rPr lang="en-US" dirty="0"/>
              <a:t>Linear regression—likely a topic you have seen in several classes, </a:t>
            </a:r>
          </a:p>
          <a:p>
            <a:endParaRPr lang="en-US" dirty="0"/>
          </a:p>
          <a:p>
            <a:r>
              <a:rPr lang="en-US" dirty="0"/>
              <a:t>The rank of a matrix and how that impacts things like invertibility and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Matrix decomposition techniques such as QR. It helps for this entire module to be aware of the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computational challenges of computing matrix inverses,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because that is a topic in the background of every lesson. </a:t>
            </a:r>
          </a:p>
          <a:p>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F625DDDC-B10B-3347-AAB4-5CB93FC9C71C}" type="slidenum">
              <a:rPr lang="en-US" smtClean="0"/>
              <a:t>5</a:t>
            </a:fld>
            <a:endParaRPr lang="en-US"/>
          </a:p>
        </p:txBody>
      </p:sp>
    </p:spTree>
    <p:extLst>
      <p:ext uri="{BB962C8B-B14F-4D97-AF65-F5344CB8AC3E}">
        <p14:creationId xmlns:p14="http://schemas.microsoft.com/office/powerpoint/2010/main" val="28972481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Linear regression is a ubiquitous technique. Arguably, it is the best starting point for any kind of data analysis involving inference.  Within the context of Bayesian inference, it falls under the category of conditional modelling with covariates. So what is that?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E0E0E"/>
                </a:solidFill>
                <a:effectLst/>
                <a:latin typeface=".SF NS"/>
              </a:rPr>
              <a:t>Conditional modeling with covariates involves modeling the conditional distribution of a response variable, y, given one or more covariates., labeled x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srgbClr val="0E0E0E"/>
              </a:solidFill>
              <a:effectLst/>
              <a:latin typeface=".SF N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E0E0E"/>
                </a:solidFill>
                <a:effectLst/>
                <a:latin typeface=".SF NS"/>
              </a:rPr>
              <a:t>The core question here is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srgbClr val="0E0E0E"/>
              </a:solidFill>
              <a:effectLst/>
              <a:latin typeface=".SF N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E0E0E"/>
                </a:solidFill>
                <a:effectLst/>
                <a:latin typeface=".SF NS"/>
              </a:rPr>
              <a:t>“how does one quantity vary as a function of another quantity or set of quantities?”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srgbClr val="0E0E0E"/>
              </a:solidFill>
              <a:effectLst/>
              <a:latin typeface=".SF N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E0E0E"/>
                </a:solidFill>
                <a:effectLst/>
                <a:latin typeface=".SF NS"/>
              </a:rPr>
              <a:t>Within a Bayesian perspective, the answer to this question is characterized by the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E0E0E"/>
                </a:solidFill>
                <a:effectLst/>
                <a:latin typeface=".SF NS"/>
              </a:rPr>
              <a:t>conditional distribution of the response variable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E0E0E"/>
                </a:solidFill>
                <a:effectLst/>
                <a:latin typeface=".SF NS"/>
              </a:rPr>
              <a:t>given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E0E0E"/>
                </a:solidFill>
                <a:effectLst/>
                <a:latin typeface=".SF NS"/>
              </a:rPr>
              <a:t>the covariates under some model where observations are *exchangeable*.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E0E0E"/>
                </a:solidFill>
                <a:effectLst/>
                <a:latin typeface=".SF NS"/>
              </a:rPr>
              <a:t>And, just as a reminder, when you read “model” you should think function. </a:t>
            </a:r>
            <a:br>
              <a:rPr lang="en-US" dirty="0"/>
            </a:br>
            <a:endParaRPr lang="en-US" dirty="0"/>
          </a:p>
        </p:txBody>
      </p:sp>
      <p:sp>
        <p:nvSpPr>
          <p:cNvPr id="4" name="Slide Number Placeholder 3"/>
          <p:cNvSpPr>
            <a:spLocks noGrp="1"/>
          </p:cNvSpPr>
          <p:nvPr>
            <p:ph type="sldNum" sz="quarter" idx="5"/>
          </p:nvPr>
        </p:nvSpPr>
        <p:spPr/>
        <p:txBody>
          <a:bodyPr/>
          <a:lstStyle/>
          <a:p>
            <a:fld id="{F625DDDC-B10B-3347-AAB4-5CB93FC9C71C}" type="slidenum">
              <a:rPr lang="en-US" smtClean="0"/>
              <a:t>6</a:t>
            </a:fld>
            <a:endParaRPr lang="en-US"/>
          </a:p>
        </p:txBody>
      </p:sp>
    </p:spTree>
    <p:extLst>
      <p:ext uri="{BB962C8B-B14F-4D97-AF65-F5344CB8AC3E}">
        <p14:creationId xmlns:p14="http://schemas.microsoft.com/office/powerpoint/2010/main" val="1520610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let’s discuss the notation and terminology of regression within a Bayesian context. </a:t>
            </a:r>
            <a:br>
              <a:rPr lang="en-US" dirty="0"/>
            </a:br>
            <a:endParaRPr lang="en-US" dirty="0"/>
          </a:p>
          <a:p>
            <a:r>
              <a:rPr lang="en-US" dirty="0"/>
              <a:t>Y is called a response variable or an outcome. It’s also ok to call it an “output” or a “dependent variable,” as well. </a:t>
            </a:r>
          </a:p>
          <a:p>
            <a:endParaRPr lang="en-US" dirty="0"/>
          </a:p>
          <a:p>
            <a:r>
              <a:rPr lang="en-US" dirty="0"/>
              <a:t>The covariates are called explanatory variables because, presumably, they explain the changes we observe in the response variables. They can be continuous discrete.</a:t>
            </a:r>
          </a:p>
          <a:p>
            <a:endParaRPr lang="en-US" dirty="0"/>
          </a:p>
          <a:p>
            <a:r>
              <a:rPr lang="en-US" dirty="0"/>
              <a:t>The explanatory variables, in some instances, may be further broken down into a treatment variable—a covariate we are particularly interested in understanding. That leaves out all other variables as controls. </a:t>
            </a:r>
          </a:p>
          <a:p>
            <a:endParaRPr lang="en-US" dirty="0"/>
          </a:p>
          <a:p>
            <a:r>
              <a:rPr lang="en-US" dirty="0"/>
              <a:t>Consider the statement “</a:t>
            </a:r>
            <a:r>
              <a:rPr lang="en-US" i="1" dirty="0"/>
              <a:t>Controlling for income and gender, people with more friends live longer</a:t>
            </a:r>
            <a:r>
              <a:rPr lang="en-US" dirty="0"/>
              <a:t>.” I made this up, but one sees statements like this all the time when reading science articles. Go ahead and pause the video to identify the terms we just discussed within this statement. </a:t>
            </a:r>
          </a:p>
        </p:txBody>
      </p:sp>
      <p:sp>
        <p:nvSpPr>
          <p:cNvPr id="4" name="Slide Number Placeholder 3"/>
          <p:cNvSpPr>
            <a:spLocks noGrp="1"/>
          </p:cNvSpPr>
          <p:nvPr>
            <p:ph type="sldNum" sz="quarter" idx="5"/>
          </p:nvPr>
        </p:nvSpPr>
        <p:spPr/>
        <p:txBody>
          <a:bodyPr/>
          <a:lstStyle/>
          <a:p>
            <a:fld id="{F625DDDC-B10B-3347-AAB4-5CB93FC9C71C}" type="slidenum">
              <a:rPr lang="en-US" smtClean="0"/>
              <a:t>7</a:t>
            </a:fld>
            <a:endParaRPr lang="en-US"/>
          </a:p>
        </p:txBody>
      </p:sp>
    </p:spTree>
    <p:extLst>
      <p:ext uri="{BB962C8B-B14F-4D97-AF65-F5344CB8AC3E}">
        <p14:creationId xmlns:p14="http://schemas.microsoft.com/office/powerpoint/2010/main" val="35237779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statement, Income, gender and friend quantity are all explanatory variables, with income and gender acting as controls and friend quantity acting as the treatment. The response variable is longevity. </a:t>
            </a:r>
          </a:p>
        </p:txBody>
      </p:sp>
      <p:sp>
        <p:nvSpPr>
          <p:cNvPr id="4" name="Slide Number Placeholder 3"/>
          <p:cNvSpPr>
            <a:spLocks noGrp="1"/>
          </p:cNvSpPr>
          <p:nvPr>
            <p:ph type="sldNum" sz="quarter" idx="5"/>
          </p:nvPr>
        </p:nvSpPr>
        <p:spPr/>
        <p:txBody>
          <a:bodyPr/>
          <a:lstStyle/>
          <a:p>
            <a:fld id="{F625DDDC-B10B-3347-AAB4-5CB93FC9C71C}" type="slidenum">
              <a:rPr lang="en-US" smtClean="0"/>
              <a:t>8</a:t>
            </a:fld>
            <a:endParaRPr lang="en-US"/>
          </a:p>
        </p:txBody>
      </p:sp>
    </p:spTree>
    <p:extLst>
      <p:ext uri="{BB962C8B-B14F-4D97-AF65-F5344CB8AC3E}">
        <p14:creationId xmlns:p14="http://schemas.microsoft.com/office/powerpoint/2010/main" val="26290934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Samples are often referred to as </a:t>
                </a:r>
                <a:r>
                  <a:rPr lang="en-US" b="1" dirty="0">
                    <a:solidFill>
                      <a:schemeClr val="bg1"/>
                    </a:solidFill>
                  </a:rPr>
                  <a:t>units</a:t>
                </a:r>
                <a:r>
                  <a:rPr lang="en-US" dirty="0"/>
                  <a:t> or </a:t>
                </a:r>
                <a:r>
                  <a:rPr lang="en-US" b="1" dirty="0">
                    <a:solidFill>
                      <a:schemeClr val="bg1"/>
                    </a:solidFill>
                  </a:rPr>
                  <a:t>subjects</a:t>
                </a:r>
              </a:p>
              <a:p>
                <a:endParaRPr lang="en-US" b="1" dirty="0">
                  <a:solidFill>
                    <a:schemeClr val="bg1"/>
                  </a:solidFill>
                </a:endParaRPr>
              </a:p>
              <a:p>
                <a:r>
                  <a:rPr lang="en-US" dirty="0"/>
                  <a:t>Indexing for samples require two sets of subscripts for covariates—</a:t>
                </a:r>
              </a:p>
              <a:p>
                <a:r>
                  <a:rPr lang="en-US" dirty="0"/>
                  <a:t>one for dimension and one for the number of subjects: </a:t>
                </a:r>
              </a:p>
              <a:p>
                <a:endParaRPr lang="en-US" altLang="en-US" b="0" i="0" dirty="0">
                  <a:latin typeface="+mn-lt"/>
                </a:endParaRPr>
              </a:p>
              <a:p>
                <a:r>
                  <a:rPr lang="en-US" altLang="en-US" b="0" i="0" dirty="0">
                    <a:latin typeface="+mn-lt"/>
                  </a:rPr>
                  <a:t>So</a:t>
                </a:r>
                <a:r>
                  <a:rPr lang="en-US" altLang="en-US" b="0" i="0" baseline="0" dirty="0">
                    <a:latin typeface="+mn-lt"/>
                  </a:rPr>
                  <a:t> </a:t>
                </a:r>
                <a14:m>
                  <m:oMath xmlns:m="http://schemas.openxmlformats.org/officeDocument/2006/math">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𝑥</m:t>
                        </m:r>
                      </m:e>
                      <m:sub>
                        <m:r>
                          <a:rPr lang="en-US" altLang="en-US" b="0" i="1" smtClean="0">
                            <a:latin typeface="Cambria Math" panose="02040503050406030204" pitchFamily="18" charset="0"/>
                          </a:rPr>
                          <m:t>𝑖𝑗</m:t>
                        </m:r>
                      </m:sub>
                    </m:sSub>
                  </m:oMath>
                </a14:m>
                <a:r>
                  <a:rPr lang="en-US" dirty="0"/>
                  <a:t> corresponds to the </a:t>
                </a:r>
                <a14:m>
                  <m:oMath xmlns:m="http://schemas.openxmlformats.org/officeDocument/2006/math">
                    <m:r>
                      <a:rPr lang="en-US" b="0" i="1" smtClean="0">
                        <a:latin typeface="Cambria Math" panose="02040503050406030204" pitchFamily="18" charset="0"/>
                      </a:rPr>
                      <m:t>𝑗</m:t>
                    </m:r>
                  </m:oMath>
                </a14:m>
                <a:r>
                  <a:rPr lang="en-US" dirty="0" err="1"/>
                  <a:t>th</a:t>
                </a:r>
                <a:r>
                  <a:rPr lang="en-US" dirty="0"/>
                  <a:t> explanatory variable’s value for the </a:t>
                </a:r>
                <a14:m>
                  <m:oMath xmlns:m="http://schemas.openxmlformats.org/officeDocument/2006/math">
                    <m:r>
                      <a:rPr lang="en-US" b="0" i="1" smtClean="0">
                        <a:latin typeface="Cambria Math" panose="02040503050406030204" pitchFamily="18" charset="0"/>
                      </a:rPr>
                      <m:t>𝑖</m:t>
                    </m:r>
                  </m:oMath>
                </a14:m>
                <a:r>
                  <a:rPr lang="en-US" dirty="0" err="1"/>
                  <a:t>th</a:t>
                </a:r>
                <a:r>
                  <a:rPr lang="en-US" dirty="0"/>
                  <a:t> subject</a:t>
                </a:r>
              </a:p>
              <a:p>
                <a:endParaRPr lang="en-US" dirty="0"/>
              </a:p>
              <a:p>
                <a:r>
                  <a:rPr lang="en-US" dirty="0"/>
                  <a:t>Because it is two dimensional, we have a matrix.</a:t>
                </a:r>
              </a:p>
              <a:p>
                <a:endParaRPr lang="en-US" dirty="0"/>
              </a:p>
              <a:p>
                <a:r>
                  <a:rPr lang="en-US" dirty="0"/>
                  <a:t>Where each row corresponds to the data of a single subject. So there are n rows total since there are n subjects. Each column corresponds to one of the explanatory variables. So there are k columns. If we think back to our example statement, we would have as many rows as people in our study. We would also expect at least three columns—one for income, one for gender, and one for number of friends.. Now, did you notice that I didn’t say “3”, I said ”at least” 3 columns. Why?  That’s because we might want a constant (in which case, I need a 4</a:t>
                </a:r>
                <a:r>
                  <a:rPr lang="en-US" baseline="30000" dirty="0"/>
                  <a:t>th</a:t>
                </a:r>
                <a:r>
                  <a:rPr lang="en-US" dirty="0"/>
                  <a:t> column of 1s) or some transformations of the explanatory variable. </a:t>
                </a:r>
              </a:p>
            </p:txBody>
          </p:sp>
        </mc:Choice>
        <mc:Fallback xmlns="">
          <p:sp>
            <p:nvSpPr>
              <p:cNvPr id="3" name="Notes Placeholder 2"/>
              <p:cNvSpPr>
                <a:spLocks noGrp="1"/>
              </p:cNvSpPr>
              <p:nvPr>
                <p:ph type="body" idx="1"/>
              </p:nvPr>
            </p:nvSpPr>
            <p:spPr/>
            <p:txBody>
              <a:bodyPr/>
              <a:lstStyle/>
              <a:p>
                <a:r>
                  <a:rPr lang="en-US" dirty="0"/>
                  <a:t>Samples are often referred to as </a:t>
                </a:r>
                <a:r>
                  <a:rPr lang="en-US" b="1" dirty="0">
                    <a:solidFill>
                      <a:schemeClr val="bg1"/>
                    </a:solidFill>
                  </a:rPr>
                  <a:t>units</a:t>
                </a:r>
                <a:r>
                  <a:rPr lang="en-US" dirty="0"/>
                  <a:t> or </a:t>
                </a:r>
                <a:r>
                  <a:rPr lang="en-US" b="1" dirty="0">
                    <a:solidFill>
                      <a:schemeClr val="bg1"/>
                    </a:solidFill>
                  </a:rPr>
                  <a:t>subjects</a:t>
                </a:r>
              </a:p>
              <a:p>
                <a:r>
                  <a:rPr lang="en-US" dirty="0"/>
                  <a:t>Indexing for samples require two sets of subscripts for covariates—one for dimension and one for dimension: </a:t>
                </a:r>
                <a:r>
                  <a:rPr lang="en-US" altLang="en-US" b="0" i="0">
                    <a:latin typeface="Cambria Math" panose="02040503050406030204" pitchFamily="18" charset="0"/>
                  </a:rPr>
                  <a:t>𝑥_𝑖𝑗</a:t>
                </a:r>
                <a:endParaRPr lang="en-US" dirty="0"/>
              </a:p>
              <a:p>
                <a:pPr lvl="1"/>
                <a:r>
                  <a:rPr lang="en-US" b="0" i="0">
                    <a:latin typeface="Cambria Math" panose="02040503050406030204" pitchFamily="18" charset="0"/>
                  </a:rPr>
                  <a:t>𝑗</a:t>
                </a:r>
                <a:r>
                  <a:rPr lang="en-US" dirty="0" err="1"/>
                  <a:t>th</a:t>
                </a:r>
                <a:r>
                  <a:rPr lang="en-US" dirty="0"/>
                  <a:t> explanatory variable for the </a:t>
                </a:r>
                <a:r>
                  <a:rPr lang="en-US" b="0" i="0">
                    <a:latin typeface="Cambria Math" panose="02040503050406030204" pitchFamily="18" charset="0"/>
                  </a:rPr>
                  <a:t>𝑖</a:t>
                </a:r>
                <a:r>
                  <a:rPr lang="en-US" dirty="0" err="1"/>
                  <a:t>th</a:t>
                </a:r>
                <a:r>
                  <a:rPr lang="en-US" dirty="0"/>
                  <a:t> subject</a:t>
                </a:r>
              </a:p>
              <a:p>
                <a:r>
                  <a:rPr lang="en-US" dirty="0"/>
                  <a:t>Because it is two dimensional, we have a matrix.</a:t>
                </a:r>
              </a:p>
              <a:p>
                <a:endParaRPr lang="en-US" dirty="0"/>
              </a:p>
              <a:p>
                <a:r>
                  <a:rPr lang="en-US" dirty="0"/>
                  <a:t>Each row corresponds to the data of a single subject. So there are n rows total since there are n subjects. Each column corresponds to one of the explanatory variables. So there are k columns. If we think back to our example statement, we would expect at least three columns—one for income, one for gender, and one for number of friends. We would have as many rows as people in our study. Did you notice that I said ”at least” 3 columns? Why might we have more columns? We might want constants or transformations as well. </a:t>
                </a:r>
              </a:p>
            </p:txBody>
          </p:sp>
        </mc:Fallback>
      </mc:AlternateContent>
      <p:sp>
        <p:nvSpPr>
          <p:cNvPr id="4" name="Slide Number Placeholder 3"/>
          <p:cNvSpPr>
            <a:spLocks noGrp="1"/>
          </p:cNvSpPr>
          <p:nvPr>
            <p:ph type="sldNum" sz="quarter" idx="5"/>
          </p:nvPr>
        </p:nvSpPr>
        <p:spPr/>
        <p:txBody>
          <a:bodyPr/>
          <a:lstStyle/>
          <a:p>
            <a:fld id="{F625DDDC-B10B-3347-AAB4-5CB93FC9C71C}" type="slidenum">
              <a:rPr lang="en-US" smtClean="0"/>
              <a:t>9</a:t>
            </a:fld>
            <a:endParaRPr lang="en-US"/>
          </a:p>
        </p:txBody>
      </p:sp>
    </p:spTree>
    <p:extLst>
      <p:ext uri="{BB962C8B-B14F-4D97-AF65-F5344CB8AC3E}">
        <p14:creationId xmlns:p14="http://schemas.microsoft.com/office/powerpoint/2010/main" val="8328471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The normal linear model in the Bayesian framework is defined as </a:t>
                </a:r>
              </a:p>
              <a:p>
                <a:endParaRPr lang="en-US" dirty="0"/>
              </a:p>
              <a:p>
                <a:r>
                  <a:rPr lang="en-US" dirty="0"/>
                  <a:t>The expectation of the outcome given the </a:t>
                </a:r>
                <a:r>
                  <a:rPr lang="en-US" dirty="0" err="1"/>
                  <a:t>corvariate</a:t>
                </a:r>
                <a:r>
                  <a:rPr lang="en-US" dirty="0"/>
                  <a:t> values and parameters is equal to </a:t>
                </a:r>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rPr>
                          <m:t>1</m:t>
                        </m:r>
                      </m:sub>
                    </m:sSub>
                    <m:sSub>
                      <m:sSubPr>
                        <m:ctrlPr>
                          <a:rPr lang="en-US" i="1">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rPr>
                          <m:t>2</m:t>
                        </m:r>
                      </m:sub>
                    </m:sSub>
                    <m:sSub>
                      <m:sSubPr>
                        <m:ctrlPr>
                          <a:rPr lang="en-US" i="1">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r>
                          <a:rPr lang="en-US" i="1">
                            <a:latin typeface="Cambria Math" panose="02040503050406030204" pitchFamily="18" charset="0"/>
                          </a:rPr>
                          <m:t>2</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ea typeface="Cambria Math" panose="02040503050406030204" pitchFamily="18" charset="0"/>
                          </a:rPr>
                          <m:t>𝑘</m:t>
                        </m:r>
                      </m:sub>
                    </m:sSub>
                    <m:sSub>
                      <m:sSubPr>
                        <m:ctrlPr>
                          <a:rPr lang="en-US" i="1">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𝑖𝑘</m:t>
                        </m:r>
                      </m:sub>
                    </m:sSub>
                  </m:oMath>
                </a14:m>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Note that often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r>
                          <a:rPr lang="en-US" i="1">
                            <a:latin typeface="Cambria Math" panose="02040503050406030204" pitchFamily="18" charset="0"/>
                          </a:rPr>
                          <m:t>1</m:t>
                        </m:r>
                      </m:sub>
                    </m:sSub>
                    <m:r>
                      <a:rPr lang="en-US" b="0" i="1" smtClean="0">
                        <a:latin typeface="Cambria Math" panose="02040503050406030204" pitchFamily="18" charset="0"/>
                      </a:rPr>
                      <m:t>=1</m:t>
                    </m:r>
                  </m:oMath>
                </a14:m>
                <a:r>
                  <a:rPr lang="en-US" dirty="0"/>
                  <a:t> to account for a </a:t>
                </a:r>
                <a:r>
                  <a:rPr lang="en-US" b="1" dirty="0">
                    <a:solidFill>
                      <a:schemeClr val="bg1"/>
                    </a:solidFill>
                  </a:rPr>
                  <a:t>constant</a:t>
                </a:r>
                <a:r>
                  <a:rPr lang="en-US" dirty="0"/>
                  <a:t> or </a:t>
                </a:r>
                <a:r>
                  <a:rPr lang="en-US" b="1" dirty="0">
                    <a:solidFill>
                      <a:schemeClr val="bg1"/>
                    </a:solidFill>
                  </a:rPr>
                  <a:t>intercept</a:t>
                </a:r>
                <a:r>
                  <a:rPr lang="en-US" b="0" dirty="0">
                    <a:solidFill>
                      <a:schemeClr val="tx1"/>
                    </a:solidFill>
                  </a:rPr>
                  <a:t>,</a:t>
                </a:r>
                <a:r>
                  <a:rPr lang="en-US" b="0" baseline="0" dirty="0">
                    <a:solidFill>
                      <a:schemeClr val="tx1"/>
                    </a:solidFill>
                  </a:rPr>
                  <a:t> as we just said earlier. </a:t>
                </a:r>
                <a:endParaRPr lang="en-US" dirty="0"/>
              </a:p>
              <a:p>
                <a:endParaRPr lang="en-US" dirty="0"/>
              </a:p>
              <a:p>
                <a:r>
                  <a:rPr lang="en-US" dirty="0"/>
                  <a:t>In ordinary linear regression, we assume </a:t>
                </a:r>
              </a:p>
              <a:p>
                <a:pPr lvl="1"/>
                <a:endParaRPr lang="en-US" b="0" dirty="0">
                  <a:solidFill>
                    <a:schemeClr val="tx1"/>
                  </a:solidFill>
                </a:endParaRPr>
              </a:p>
              <a:p>
                <a:pPr lvl="1"/>
                <a:r>
                  <a:rPr lang="en-US" b="1" dirty="0">
                    <a:solidFill>
                      <a:schemeClr val="bg1"/>
                    </a:solidFill>
                  </a:rPr>
                  <a:t>Homoscedasticity</a:t>
                </a:r>
                <a:r>
                  <a:rPr lang="en-US" dirty="0"/>
                  <a:t> – The variance is equal across observations: </a:t>
                </a:r>
                <a14:m>
                  <m:oMath xmlns:m="http://schemas.openxmlformats.org/officeDocument/2006/math">
                    <m:r>
                      <m:rPr>
                        <m:sty m:val="p"/>
                      </m:rPr>
                      <a:rPr lang="en-US" b="0" i="0" smtClean="0">
                        <a:latin typeface="Cambria Math" panose="02040503050406030204" pitchFamily="18" charset="0"/>
                      </a:rPr>
                      <m:t>var</m:t>
                    </m:r>
                    <m:d>
                      <m:dPr>
                        <m:ctrlPr>
                          <a:rPr lang="en-US" i="1">
                            <a:latin typeface="Cambria Math" panose="02040503050406030204" pitchFamily="18" charset="0"/>
                          </a:rPr>
                        </m:ctrlPr>
                      </m:dPr>
                      <m:e>
                        <m:sSub>
                          <m:sSubPr>
                            <m:ctrlPr>
                              <a:rPr lang="en-US" altLang="en-US" i="1">
                                <a:latin typeface="Cambria Math" panose="02040503050406030204" pitchFamily="18" charset="0"/>
                              </a:rPr>
                            </m:ctrlPr>
                          </m:sSubPr>
                          <m:e>
                            <m:r>
                              <a:rPr lang="en-US" altLang="en-US" i="1">
                                <a:latin typeface="Cambria Math" panose="02040503050406030204" pitchFamily="18" charset="0"/>
                              </a:rPr>
                              <m:t>𝑦</m:t>
                            </m:r>
                          </m:e>
                          <m:sub>
                            <m:r>
                              <a:rPr lang="en-US" altLang="en-US" i="1">
                                <a:latin typeface="Cambria Math" panose="02040503050406030204" pitchFamily="18" charset="0"/>
                              </a:rPr>
                              <m:t>𝑖</m:t>
                            </m:r>
                          </m:sub>
                        </m:sSub>
                      </m:e>
                      <m:e>
                        <m:r>
                          <a:rPr lang="en-US" altLang="en-US" i="1">
                            <a:latin typeface="Cambria Math" panose="02040503050406030204" pitchFamily="18" charset="0"/>
                            <a:ea typeface="Cambria Math" panose="02040503050406030204" pitchFamily="18" charset="0"/>
                          </a:rPr>
                          <m:t>𝛽</m:t>
                        </m:r>
                        <m:r>
                          <a:rPr lang="en-US" altLang="en-US" i="1">
                            <a:latin typeface="Cambria Math" panose="02040503050406030204" pitchFamily="18" charset="0"/>
                            <a:ea typeface="Cambria Math" panose="02040503050406030204" pitchFamily="18" charset="0"/>
                          </a:rPr>
                          <m:t>,</m:t>
                        </m:r>
                        <m:r>
                          <a:rPr lang="en-US" altLang="en-US" i="1">
                            <a:latin typeface="Cambria Math" panose="02040503050406030204" pitchFamily="18" charset="0"/>
                            <a:ea typeface="Cambria Math" panose="02040503050406030204" pitchFamily="18" charset="0"/>
                          </a:rPr>
                          <m:t>𝑋</m:t>
                        </m:r>
                      </m:e>
                    </m:d>
                    <m:r>
                      <a:rPr lang="en-US" altLang="en-US" b="0" i="1" smtClean="0">
                        <a:latin typeface="Cambria Math" panose="02040503050406030204" pitchFamily="18" charset="0"/>
                        <a:ea typeface="Cambria Math" panose="02040503050406030204" pitchFamily="18" charset="0"/>
                      </a:rPr>
                      <m:t>= </m:t>
                    </m:r>
                    <m:sSup>
                      <m:sSupPr>
                        <m:ctrlPr>
                          <a:rPr lang="en-US" altLang="en-US" b="0" i="1" smtClean="0">
                            <a:latin typeface="Cambria Math" panose="02040503050406030204" pitchFamily="18" charset="0"/>
                            <a:ea typeface="Cambria Math" panose="02040503050406030204" pitchFamily="18" charset="0"/>
                          </a:rPr>
                        </m:ctrlPr>
                      </m:sSupPr>
                      <m:e>
                        <m:r>
                          <a:rPr lang="en-US" altLang="en-US" b="0" i="1" smtClean="0">
                            <a:latin typeface="Cambria Math" panose="02040503050406030204" pitchFamily="18" charset="0"/>
                            <a:ea typeface="Cambria Math" panose="02040503050406030204" pitchFamily="18" charset="0"/>
                          </a:rPr>
                          <m:t>𝜎</m:t>
                        </m:r>
                      </m:e>
                      <m:sup>
                        <m:r>
                          <a:rPr lang="en-US" altLang="en-US" b="0" i="1" smtClean="0">
                            <a:latin typeface="Cambria Math" panose="02040503050406030204" pitchFamily="18" charset="0"/>
                            <a:ea typeface="Cambria Math" panose="02040503050406030204" pitchFamily="18" charset="0"/>
                          </a:rPr>
                          <m:t>2</m:t>
                        </m:r>
                      </m:sup>
                    </m:sSup>
                  </m:oMath>
                </a14:m>
                <a:r>
                  <a:rPr lang="en-US" dirty="0"/>
                  <a:t> </a:t>
                </a:r>
              </a:p>
              <a:p>
                <a:pPr lvl="1"/>
                <a:endParaRPr lang="en-US" dirty="0"/>
              </a:p>
              <a:p>
                <a:pPr lvl="1"/>
                <a:r>
                  <a:rPr lang="en-US" b="1" dirty="0">
                    <a:solidFill>
                      <a:schemeClr val="bg1"/>
                    </a:solidFill>
                  </a:rPr>
                  <a:t>Independence</a:t>
                </a:r>
                <a:r>
                  <a:rPr lang="en-US" dirty="0"/>
                  <a:t> – errors are independent across observations</a:t>
                </a:r>
              </a:p>
              <a:p>
                <a:pPr lvl="1"/>
                <a:endParaRPr lang="en-US" dirty="0"/>
              </a:p>
              <a:p>
                <a:pPr lvl="1"/>
                <a:r>
                  <a:rPr lang="en-US" b="1" dirty="0">
                    <a:solidFill>
                      <a:schemeClr val="bg1"/>
                    </a:solidFill>
                  </a:rPr>
                  <a:t>Normality of errors</a:t>
                </a:r>
                <a:r>
                  <a:rPr lang="en-US" dirty="0">
                    <a:solidFill>
                      <a:schemeClr val="bg1"/>
                    </a:solidFill>
                  </a:rPr>
                  <a:t> </a:t>
                </a:r>
                <a:r>
                  <a:rPr lang="en-US" dirty="0"/>
                  <a:t>–</a:t>
                </a:r>
                <a:r>
                  <a:rPr lang="en-US" b="1" dirty="0"/>
                  <a:t> </a:t>
                </a:r>
                <a:r>
                  <a:rPr lang="en-US" dirty="0"/>
                  <a:t>errors are normally distributed with mean 0</a:t>
                </a:r>
              </a:p>
            </p:txBody>
          </p:sp>
        </mc:Choice>
        <mc:Fallback xmlns="">
          <p:sp>
            <p:nvSpPr>
              <p:cNvPr id="3" name="Notes Placeholder 2"/>
              <p:cNvSpPr>
                <a:spLocks noGrp="1"/>
              </p:cNvSpPr>
              <p:nvPr>
                <p:ph type="body" idx="1"/>
              </p:nvPr>
            </p:nvSpPr>
            <p:spPr/>
            <p:txBody>
              <a:bodyPr/>
              <a:lstStyle/>
              <a:p>
                <a:r>
                  <a:rPr lang="en-US" dirty="0"/>
                  <a:t>The normal linear model is defined as Y = X\beta + \epsilon, where Y is the response variable, X are the covariates, \beta are the coefficients, and \epsilon is the error term. In ordinary linear regression, we assume homoscedasticity, independence, and normality of errors.</a:t>
                </a:r>
              </a:p>
              <a:p>
                <a:endParaRPr lang="en-US" dirty="0"/>
              </a:p>
              <a:p>
                <a:endParaRPr lang="en-US" dirty="0"/>
              </a:p>
              <a:p>
                <a:r>
                  <a:rPr lang="en-US" dirty="0"/>
                  <a:t>The </a:t>
                </a:r>
                <a:r>
                  <a:rPr lang="en-US" b="1" dirty="0">
                    <a:solidFill>
                      <a:schemeClr val="bg1"/>
                    </a:solidFill>
                  </a:rPr>
                  <a:t>normal linear model </a:t>
                </a:r>
                <a:r>
                  <a:rPr lang="en-US" dirty="0"/>
                  <a:t>is  </a:t>
                </a:r>
              </a:p>
              <a:p>
                <a:pPr marL="0" indent="0">
                  <a:buNone/>
                </a:pPr>
                <a:r>
                  <a:rPr lang="en-US" b="0" i="0">
                    <a:latin typeface="Cambria Math" panose="02040503050406030204" pitchFamily="18" charset="0"/>
                  </a:rPr>
                  <a:t>𝐸(</a:t>
                </a:r>
                <a:r>
                  <a:rPr lang="en-US" altLang="en-US" b="0" i="0">
                    <a:latin typeface="Cambria Math" panose="02040503050406030204" pitchFamily="18" charset="0"/>
                  </a:rPr>
                  <a:t>𝑦_</a:t>
                </a:r>
                <a:r>
                  <a:rPr lang="en-US" altLang="en-US" i="0">
                    <a:latin typeface="Cambria Math" panose="02040503050406030204" pitchFamily="18" charset="0"/>
                  </a:rPr>
                  <a:t>𝑖│</a:t>
                </a:r>
                <a:r>
                  <a:rPr lang="en-US" altLang="en-US" i="0">
                    <a:latin typeface="Cambria Math" panose="02040503050406030204" pitchFamily="18" charset="0"/>
                    <a:ea typeface="Cambria Math" panose="02040503050406030204" pitchFamily="18" charset="0"/>
                  </a:rPr>
                  <a:t>𝛽</a:t>
                </a:r>
                <a:r>
                  <a:rPr lang="en-US" altLang="en-US" b="0" i="0">
                    <a:latin typeface="Cambria Math" panose="02040503050406030204" pitchFamily="18" charset="0"/>
                    <a:ea typeface="Cambria Math" panose="02040503050406030204" pitchFamily="18" charset="0"/>
                  </a:rPr>
                  <a:t>,𝑋)</a:t>
                </a:r>
                <a:r>
                  <a:rPr lang="en-US" altLang="en-US" b="0" i="0">
                    <a:latin typeface="Cambria Math" panose="02040503050406030204" pitchFamily="18" charset="0"/>
                  </a:rPr>
                  <a:t>=</a:t>
                </a:r>
                <a:r>
                  <a:rPr lang="en-US" i="0">
                    <a:latin typeface="Cambria Math" panose="02040503050406030204" pitchFamily="18" charset="0"/>
                    <a:ea typeface="Cambria Math" panose="02040503050406030204" pitchFamily="18" charset="0"/>
                  </a:rPr>
                  <a:t>𝛽_</a:t>
                </a:r>
                <a:r>
                  <a:rPr lang="en-US" i="0">
                    <a:latin typeface="Cambria Math" panose="02040503050406030204" pitchFamily="18" charset="0"/>
                  </a:rPr>
                  <a:t>1 </a:t>
                </a:r>
                <a:r>
                  <a:rPr lang="en-US" b="0" i="0">
                    <a:latin typeface="Cambria Math" panose="02040503050406030204" pitchFamily="18" charset="0"/>
                  </a:rPr>
                  <a:t>𝑥_𝑖</a:t>
                </a:r>
                <a:r>
                  <a:rPr lang="en-US" i="0">
                    <a:latin typeface="Cambria Math" panose="02040503050406030204" pitchFamily="18" charset="0"/>
                  </a:rPr>
                  <a:t>1+</a:t>
                </a:r>
                <a:r>
                  <a:rPr lang="en-US" i="0">
                    <a:latin typeface="Cambria Math" panose="02040503050406030204" pitchFamily="18" charset="0"/>
                    <a:ea typeface="Cambria Math" panose="02040503050406030204" pitchFamily="18" charset="0"/>
                  </a:rPr>
                  <a:t>𝛽_</a:t>
                </a:r>
                <a:r>
                  <a:rPr lang="en-US" i="0">
                    <a:latin typeface="Cambria Math" panose="02040503050406030204" pitchFamily="18" charset="0"/>
                  </a:rPr>
                  <a:t>2 </a:t>
                </a:r>
                <a:r>
                  <a:rPr lang="en-US" b="0" i="0">
                    <a:latin typeface="Cambria Math" panose="02040503050406030204" pitchFamily="18" charset="0"/>
                  </a:rPr>
                  <a:t>𝑥_𝑖</a:t>
                </a:r>
                <a:r>
                  <a:rPr lang="en-US" i="0">
                    <a:latin typeface="Cambria Math" panose="02040503050406030204" pitchFamily="18" charset="0"/>
                  </a:rPr>
                  <a:t>2+ …+</a:t>
                </a:r>
                <a:r>
                  <a:rPr lang="en-US" i="0">
                    <a:latin typeface="Cambria Math" panose="02040503050406030204" pitchFamily="18" charset="0"/>
                    <a:ea typeface="Cambria Math" panose="02040503050406030204" pitchFamily="18" charset="0"/>
                  </a:rPr>
                  <a:t>𝛽_</a:t>
                </a:r>
                <a:r>
                  <a:rPr lang="en-US" b="0" i="0">
                    <a:latin typeface="Cambria Math" panose="02040503050406030204" pitchFamily="18" charset="0"/>
                    <a:ea typeface="Cambria Math" panose="02040503050406030204" pitchFamily="18" charset="0"/>
                  </a:rPr>
                  <a:t>𝑘 </a:t>
                </a:r>
                <a:r>
                  <a:rPr lang="en-US" b="0" i="0">
                    <a:latin typeface="Cambria Math" panose="02040503050406030204" pitchFamily="18" charset="0"/>
                  </a:rPr>
                  <a:t>𝑥_𝑖𝑘</a:t>
                </a:r>
                <a:endParaRPr lang="en-US" dirty="0"/>
              </a:p>
              <a:p>
                <a:r>
                  <a:rPr lang="en-US" dirty="0"/>
                  <a:t>Note that often </a:t>
                </a:r>
                <a:r>
                  <a:rPr lang="en-US" b="0" i="0">
                    <a:latin typeface="Cambria Math" panose="02040503050406030204" pitchFamily="18" charset="0"/>
                  </a:rPr>
                  <a:t>𝑥_𝑖</a:t>
                </a:r>
                <a:r>
                  <a:rPr lang="en-US" i="0">
                    <a:latin typeface="Cambria Math" panose="02040503050406030204" pitchFamily="18" charset="0"/>
                  </a:rPr>
                  <a:t>1</a:t>
                </a:r>
                <a:r>
                  <a:rPr lang="en-US" b="0" i="0">
                    <a:latin typeface="Cambria Math" panose="02040503050406030204" pitchFamily="18" charset="0"/>
                  </a:rPr>
                  <a:t>=1</a:t>
                </a:r>
                <a:r>
                  <a:rPr lang="en-US" dirty="0"/>
                  <a:t> to account for a </a:t>
                </a:r>
                <a:r>
                  <a:rPr lang="en-US" b="1" dirty="0">
                    <a:solidFill>
                      <a:schemeClr val="bg1"/>
                    </a:solidFill>
                  </a:rPr>
                  <a:t>constant</a:t>
                </a:r>
                <a:r>
                  <a:rPr lang="en-US" dirty="0"/>
                  <a:t> or </a:t>
                </a:r>
                <a:r>
                  <a:rPr lang="en-US" b="1" dirty="0">
                    <a:solidFill>
                      <a:schemeClr val="bg1"/>
                    </a:solidFill>
                  </a:rPr>
                  <a:t>intercept</a:t>
                </a:r>
                <a:r>
                  <a:rPr lang="en-US" dirty="0"/>
                  <a:t>. </a:t>
                </a:r>
              </a:p>
              <a:p>
                <a:r>
                  <a:rPr lang="en-US" dirty="0"/>
                  <a:t>In </a:t>
                </a:r>
                <a:r>
                  <a:rPr lang="en-US" b="1" dirty="0">
                    <a:solidFill>
                      <a:schemeClr val="bg1"/>
                    </a:solidFill>
                  </a:rPr>
                  <a:t>ordinary linear regression </a:t>
                </a:r>
                <a:r>
                  <a:rPr lang="en-US" dirty="0"/>
                  <a:t>is the normal linear model with the following assumptions: </a:t>
                </a:r>
              </a:p>
              <a:p>
                <a:pPr lvl="1"/>
                <a:r>
                  <a:rPr lang="en-US" b="1" dirty="0">
                    <a:solidFill>
                      <a:schemeClr val="bg1"/>
                    </a:solidFill>
                  </a:rPr>
                  <a:t>Homoscedasticity</a:t>
                </a:r>
                <a:r>
                  <a:rPr lang="en-US" dirty="0"/>
                  <a:t> – The variance is equal across observations: </a:t>
                </a:r>
                <a:r>
                  <a:rPr lang="en-US" b="0" i="0">
                    <a:latin typeface="Cambria Math" panose="02040503050406030204" pitchFamily="18" charset="0"/>
                  </a:rPr>
                  <a:t>var</a:t>
                </a:r>
                <a:r>
                  <a:rPr lang="en-US" i="0">
                    <a:latin typeface="Cambria Math" panose="02040503050406030204" pitchFamily="18" charset="0"/>
                  </a:rPr>
                  <a:t>(</a:t>
                </a:r>
                <a:r>
                  <a:rPr lang="en-US" altLang="en-US" i="0">
                    <a:latin typeface="Cambria Math" panose="02040503050406030204" pitchFamily="18" charset="0"/>
                  </a:rPr>
                  <a:t>𝑦_𝑖│</a:t>
                </a:r>
                <a:r>
                  <a:rPr lang="en-US" altLang="en-US" i="0">
                    <a:latin typeface="Cambria Math" panose="02040503050406030204" pitchFamily="18" charset="0"/>
                    <a:ea typeface="Cambria Math" panose="02040503050406030204" pitchFamily="18" charset="0"/>
                  </a:rPr>
                  <a:t>𝛽,𝑋)</a:t>
                </a:r>
                <a:r>
                  <a:rPr lang="en-US" altLang="en-US" b="0" i="0">
                    <a:latin typeface="Cambria Math" panose="02040503050406030204" pitchFamily="18" charset="0"/>
                    <a:ea typeface="Cambria Math" panose="02040503050406030204" pitchFamily="18" charset="0"/>
                  </a:rPr>
                  <a:t>= 𝜎^2</a:t>
                </a:r>
                <a:r>
                  <a:rPr lang="en-US" dirty="0"/>
                  <a:t> </a:t>
                </a:r>
              </a:p>
              <a:p>
                <a:pPr lvl="1"/>
                <a:r>
                  <a:rPr lang="en-US" b="1" dirty="0">
                    <a:solidFill>
                      <a:schemeClr val="bg1"/>
                    </a:solidFill>
                  </a:rPr>
                  <a:t>Independence</a:t>
                </a:r>
                <a:r>
                  <a:rPr lang="en-US" dirty="0"/>
                  <a:t> – errors are independent across observations</a:t>
                </a:r>
              </a:p>
              <a:p>
                <a:pPr lvl="1"/>
                <a:r>
                  <a:rPr lang="en-US" b="1" dirty="0">
                    <a:solidFill>
                      <a:schemeClr val="bg1"/>
                    </a:solidFill>
                  </a:rPr>
                  <a:t>Normality of errors</a:t>
                </a:r>
                <a:r>
                  <a:rPr lang="en-US" dirty="0">
                    <a:solidFill>
                      <a:schemeClr val="bg1"/>
                    </a:solidFill>
                  </a:rPr>
                  <a:t> </a:t>
                </a:r>
                <a:r>
                  <a:rPr lang="en-US" dirty="0"/>
                  <a:t>–</a:t>
                </a:r>
                <a:r>
                  <a:rPr lang="en-US" b="1" dirty="0"/>
                  <a:t> </a:t>
                </a:r>
                <a:r>
                  <a:rPr lang="en-US" dirty="0"/>
                  <a:t>errors are normally distributed with mean 0</a:t>
                </a:r>
              </a:p>
            </p:txBody>
          </p:sp>
        </mc:Fallback>
      </mc:AlternateContent>
      <p:sp>
        <p:nvSpPr>
          <p:cNvPr id="4" name="Slide Number Placeholder 3"/>
          <p:cNvSpPr>
            <a:spLocks noGrp="1"/>
          </p:cNvSpPr>
          <p:nvPr>
            <p:ph type="sldNum" sz="quarter" idx="5"/>
          </p:nvPr>
        </p:nvSpPr>
        <p:spPr/>
        <p:txBody>
          <a:bodyPr/>
          <a:lstStyle/>
          <a:p>
            <a:fld id="{F625DDDC-B10B-3347-AAB4-5CB93FC9C71C}" type="slidenum">
              <a:rPr lang="en-US" smtClean="0"/>
              <a:t>10</a:t>
            </a:fld>
            <a:endParaRPr lang="en-US"/>
          </a:p>
        </p:txBody>
      </p:sp>
    </p:spTree>
    <p:extLst>
      <p:ext uri="{BB962C8B-B14F-4D97-AF65-F5344CB8AC3E}">
        <p14:creationId xmlns:p14="http://schemas.microsoft.com/office/powerpoint/2010/main" val="14308800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of the assumption of homoscedasticity, the assumed variance </a:t>
            </a:r>
            <a:r>
              <a:rPr lang="en-US" dirty="0">
                <a:solidFill>
                  <a:schemeClr val="bg1"/>
                </a:solidFill>
              </a:rPr>
              <a:t>needs to be included in the vector of parameters. </a:t>
            </a:r>
          </a:p>
          <a:p>
            <a:endParaRPr lang="en-US" dirty="0"/>
          </a:p>
          <a:p>
            <a:r>
              <a:rPr lang="en-US" dirty="0"/>
              <a:t>The likelihood is a normal distribution centered at </a:t>
            </a:r>
            <a:r>
              <a:rPr lang="en-US" dirty="0" err="1"/>
              <a:t>Xbeta</a:t>
            </a:r>
            <a:r>
              <a:rPr lang="en-US" dirty="0"/>
              <a:t>, which is a vector of estimates of the outcomes (in other classes, we would refer to this as y-hat) along with the variance parameter multiplied by the </a:t>
            </a:r>
            <a:r>
              <a:rPr lang="en-US" dirty="0" err="1"/>
              <a:t>nxn</a:t>
            </a:r>
            <a:r>
              <a:rPr lang="en-US" dirty="0"/>
              <a:t> identity matrix. </a:t>
            </a:r>
          </a:p>
          <a:p>
            <a:endParaRPr lang="en-US" dirty="0"/>
          </a:p>
          <a:p>
            <a:r>
              <a:rPr lang="en-US" dirty="0"/>
              <a:t>We use a noninformative prior for this distribution, which is 1 over sigma squared. And, if you are wondering where this comes from, </a:t>
            </a:r>
          </a:p>
          <a:p>
            <a:r>
              <a:rPr lang="en-US" dirty="0"/>
              <a:t>It is basically the same proof from module 3, lesson 1. </a:t>
            </a:r>
          </a:p>
        </p:txBody>
      </p:sp>
      <p:sp>
        <p:nvSpPr>
          <p:cNvPr id="4" name="Slide Number Placeholder 3"/>
          <p:cNvSpPr>
            <a:spLocks noGrp="1"/>
          </p:cNvSpPr>
          <p:nvPr>
            <p:ph type="sldNum" sz="quarter" idx="5"/>
          </p:nvPr>
        </p:nvSpPr>
        <p:spPr/>
        <p:txBody>
          <a:bodyPr/>
          <a:lstStyle/>
          <a:p>
            <a:fld id="{F625DDDC-B10B-3347-AAB4-5CB93FC9C71C}" type="slidenum">
              <a:rPr lang="en-US" smtClean="0"/>
              <a:t>11</a:t>
            </a:fld>
            <a:endParaRPr lang="en-US"/>
          </a:p>
        </p:txBody>
      </p:sp>
    </p:spTree>
    <p:extLst>
      <p:ext uri="{BB962C8B-B14F-4D97-AF65-F5344CB8AC3E}">
        <p14:creationId xmlns:p14="http://schemas.microsoft.com/office/powerpoint/2010/main" val="7375138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joint posterior distribution of \beta and \sigma^2 is </a:t>
            </a:r>
          </a:p>
          <a:p>
            <a:endParaRPr lang="en-US" dirty="0"/>
          </a:p>
          <a:p>
            <a:r>
              <a:rPr lang="en-US" dirty="0"/>
              <a:t>the product of our likelihood and prior. But we’re not really interested in the joint posterior so much as </a:t>
            </a:r>
          </a:p>
          <a:p>
            <a:endParaRPr lang="en-US" dirty="0"/>
          </a:p>
          <a:p>
            <a:r>
              <a:rPr lang="en-US" dirty="0"/>
              <a:t>its factored form with the conditional and marginal posteriors. </a:t>
            </a:r>
          </a:p>
          <a:p>
            <a:endParaRPr lang="en-US" dirty="0"/>
          </a:p>
          <a:p>
            <a:r>
              <a:rPr lang="en-US" dirty="0"/>
              <a:t>Ideally, we want to identify each one separately for simulation of values. So let’s start with the conditional posterior. </a:t>
            </a:r>
          </a:p>
          <a:p>
            <a:endParaRPr lang="en-US" dirty="0"/>
          </a:p>
        </p:txBody>
      </p:sp>
      <p:sp>
        <p:nvSpPr>
          <p:cNvPr id="4" name="Slide Number Placeholder 3"/>
          <p:cNvSpPr>
            <a:spLocks noGrp="1"/>
          </p:cNvSpPr>
          <p:nvPr>
            <p:ph type="sldNum" sz="quarter" idx="5"/>
          </p:nvPr>
        </p:nvSpPr>
        <p:spPr/>
        <p:txBody>
          <a:bodyPr/>
          <a:lstStyle/>
          <a:p>
            <a:fld id="{F625DDDC-B10B-3347-AAB4-5CB93FC9C71C}" type="slidenum">
              <a:rPr lang="en-US" smtClean="0"/>
              <a:t>12</a:t>
            </a:fld>
            <a:endParaRPr lang="en-US"/>
          </a:p>
        </p:txBody>
      </p:sp>
    </p:spTree>
    <p:extLst>
      <p:ext uri="{BB962C8B-B14F-4D97-AF65-F5344CB8AC3E}">
        <p14:creationId xmlns:p14="http://schemas.microsoft.com/office/powerpoint/2010/main" val="31757238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compute the conditional posterior distribution, begin by expanding the exponent. </a:t>
            </a:r>
          </a:p>
          <a:p>
            <a:endParaRPr lang="en-US" dirty="0"/>
          </a:p>
          <a:p>
            <a:r>
              <a:rPr lang="en-US" dirty="0"/>
              <a:t>Here is the expression from the last slide</a:t>
            </a:r>
          </a:p>
          <a:p>
            <a:endParaRPr lang="en-US" dirty="0"/>
          </a:p>
          <a:p>
            <a:r>
              <a:rPr lang="en-US" dirty="0"/>
              <a:t>And here is the exponent expanded.  Focus on the terms with beta, </a:t>
            </a:r>
          </a:p>
        </p:txBody>
      </p:sp>
      <p:sp>
        <p:nvSpPr>
          <p:cNvPr id="4" name="Slide Number Placeholder 3"/>
          <p:cNvSpPr>
            <a:spLocks noGrp="1"/>
          </p:cNvSpPr>
          <p:nvPr>
            <p:ph type="sldNum" sz="quarter" idx="5"/>
          </p:nvPr>
        </p:nvSpPr>
        <p:spPr/>
        <p:txBody>
          <a:bodyPr/>
          <a:lstStyle/>
          <a:p>
            <a:fld id="{F625DDDC-B10B-3347-AAB4-5CB93FC9C71C}" type="slidenum">
              <a:rPr lang="en-US" smtClean="0"/>
              <a:t>13</a:t>
            </a:fld>
            <a:endParaRPr lang="en-US"/>
          </a:p>
        </p:txBody>
      </p:sp>
    </p:spTree>
    <p:extLst>
      <p:ext uri="{BB962C8B-B14F-4D97-AF65-F5344CB8AC3E}">
        <p14:creationId xmlns:p14="http://schemas.microsoft.com/office/powerpoint/2010/main" val="7120692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aim is to separate out \beta to characterize this as a normal distribution </a:t>
            </a:r>
            <a:r>
              <a:rPr lang="en-US" dirty="0" err="1"/>
              <a:t>centerd</a:t>
            </a:r>
            <a:r>
              <a:rPr lang="en-US" dirty="0"/>
              <a:t> at beta.</a:t>
            </a:r>
          </a:p>
          <a:p>
            <a:endParaRPr lang="en-US" dirty="0"/>
          </a:p>
          <a:p>
            <a:r>
              <a:rPr lang="en-US" dirty="0"/>
              <a:t>So we factor our the X^TX term and complete the square. </a:t>
            </a:r>
          </a:p>
          <a:p>
            <a:endParaRPr lang="en-US" dirty="0"/>
          </a:p>
          <a:p>
            <a:r>
              <a:rPr lang="en-US" dirty="0"/>
              <a:t>Notice that the result is a multivariate normal distribution with respect to beta. What is the mean and what is the variance in this equation? </a:t>
            </a:r>
          </a:p>
        </p:txBody>
      </p:sp>
      <p:sp>
        <p:nvSpPr>
          <p:cNvPr id="4" name="Slide Number Placeholder 3"/>
          <p:cNvSpPr>
            <a:spLocks noGrp="1"/>
          </p:cNvSpPr>
          <p:nvPr>
            <p:ph type="sldNum" sz="quarter" idx="5"/>
          </p:nvPr>
        </p:nvSpPr>
        <p:spPr/>
        <p:txBody>
          <a:bodyPr/>
          <a:lstStyle/>
          <a:p>
            <a:fld id="{F625DDDC-B10B-3347-AAB4-5CB93FC9C71C}" type="slidenum">
              <a:rPr lang="en-US" smtClean="0"/>
              <a:t>14</a:t>
            </a:fld>
            <a:endParaRPr lang="en-US"/>
          </a:p>
        </p:txBody>
      </p:sp>
    </p:spTree>
    <p:extLst>
      <p:ext uri="{BB962C8B-B14F-4D97-AF65-F5344CB8AC3E}">
        <p14:creationId xmlns:p14="http://schemas.microsoft.com/office/powerpoint/2010/main" val="9649456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mean corresponds to the formula for beta-hat, the standard estimate of our coefficients (something you know from previous times you’ve studied linear regression) .</a:t>
            </a:r>
          </a:p>
          <a:p>
            <a:endParaRPr lang="en-US" dirty="0"/>
          </a:p>
          <a:p>
            <a:r>
              <a:rPr lang="en-US" dirty="0"/>
              <a:t>Then we get that the conditional posterior is normally distributed, which is centered at beta-hat and with the listed variance. Remember that I mentioned the challenge of inverting matrices? When coding this, we should want to computer that (X^TX)^{-1} term  as few times as possible. </a:t>
            </a:r>
          </a:p>
          <a:p>
            <a:endParaRPr lang="en-US" dirty="0"/>
          </a:p>
          <a:p>
            <a:r>
              <a:rPr lang="en-US" dirty="0"/>
              <a:t>Now let’s compute the marginal posterior. We can do this in several ways. The book discusses using the factorization trick and leaves it as an exercise for readers to computer. I recommend you do that. Here, I’ll compute it the more straightforward way to illustrate that this, too, is possible. To do this, we </a:t>
            </a:r>
          </a:p>
          <a:p>
            <a:endParaRPr lang="en-US" dirty="0"/>
          </a:p>
          <a:p>
            <a:r>
              <a:rPr lang="en-US" dirty="0"/>
              <a:t>Integrate the joint posterior distribution with respect to beta. When you do, you find </a:t>
            </a:r>
          </a:p>
          <a:p>
            <a:endParaRPr lang="en-US" dirty="0"/>
          </a:p>
          <a:p>
            <a:r>
              <a:rPr lang="en-US" dirty="0"/>
              <a:t>that the marginal posterior follows a scaled inverse chi-squared distribution with parameters n-k (recall that n is the number of samples and k the number of coefficients in our linear model) and </a:t>
            </a:r>
          </a:p>
          <a:p>
            <a:endParaRPr lang="en-US" dirty="0"/>
          </a:p>
          <a:p>
            <a:r>
              <a:rPr lang="en-US" dirty="0"/>
              <a:t>S^s is the unbiased estimator for the variance</a:t>
            </a:r>
          </a:p>
        </p:txBody>
      </p:sp>
      <p:sp>
        <p:nvSpPr>
          <p:cNvPr id="4" name="Slide Number Placeholder 3"/>
          <p:cNvSpPr>
            <a:spLocks noGrp="1"/>
          </p:cNvSpPr>
          <p:nvPr>
            <p:ph type="sldNum" sz="quarter" idx="5"/>
          </p:nvPr>
        </p:nvSpPr>
        <p:spPr/>
        <p:txBody>
          <a:bodyPr/>
          <a:lstStyle/>
          <a:p>
            <a:fld id="{F625DDDC-B10B-3347-AAB4-5CB93FC9C71C}" type="slidenum">
              <a:rPr lang="en-US" smtClean="0"/>
              <a:t>15</a:t>
            </a:fld>
            <a:endParaRPr lang="en-US"/>
          </a:p>
        </p:txBody>
      </p:sp>
    </p:spTree>
    <p:extLst>
      <p:ext uri="{BB962C8B-B14F-4D97-AF65-F5344CB8AC3E}">
        <p14:creationId xmlns:p14="http://schemas.microsoft.com/office/powerpoint/2010/main" val="10201799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constructed from the residual sum of squares </a:t>
            </a:r>
          </a:p>
        </p:txBody>
      </p:sp>
      <p:sp>
        <p:nvSpPr>
          <p:cNvPr id="4" name="Slide Number Placeholder 3"/>
          <p:cNvSpPr>
            <a:spLocks noGrp="1"/>
          </p:cNvSpPr>
          <p:nvPr>
            <p:ph type="sldNum" sz="quarter" idx="5"/>
          </p:nvPr>
        </p:nvSpPr>
        <p:spPr/>
        <p:txBody>
          <a:bodyPr/>
          <a:lstStyle/>
          <a:p>
            <a:fld id="{F625DDDC-B10B-3347-AAB4-5CB93FC9C71C}" type="slidenum">
              <a:rPr lang="en-US" smtClean="0"/>
              <a:t>16</a:t>
            </a:fld>
            <a:endParaRPr lang="en-US"/>
          </a:p>
        </p:txBody>
      </p:sp>
    </p:spTree>
    <p:extLst>
      <p:ext uri="{BB962C8B-B14F-4D97-AF65-F5344CB8AC3E}">
        <p14:creationId xmlns:p14="http://schemas.microsoft.com/office/powerpoint/2010/main" val="42146506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Divided by the residual sum of squares</a:t>
            </a:r>
          </a:p>
        </p:txBody>
      </p:sp>
      <p:sp>
        <p:nvSpPr>
          <p:cNvPr id="4" name="Slide Number Placeholder 3"/>
          <p:cNvSpPr>
            <a:spLocks noGrp="1"/>
          </p:cNvSpPr>
          <p:nvPr>
            <p:ph type="sldNum" sz="quarter" idx="5"/>
          </p:nvPr>
        </p:nvSpPr>
        <p:spPr/>
        <p:txBody>
          <a:bodyPr/>
          <a:lstStyle/>
          <a:p>
            <a:fld id="{F625DDDC-B10B-3347-AAB4-5CB93FC9C71C}" type="slidenum">
              <a:rPr lang="en-US" smtClean="0"/>
              <a:t>17</a:t>
            </a:fld>
            <a:endParaRPr lang="en-US"/>
          </a:p>
        </p:txBody>
      </p:sp>
    </p:spTree>
    <p:extLst>
      <p:ext uri="{BB962C8B-B14F-4D97-AF65-F5344CB8AC3E}">
        <p14:creationId xmlns:p14="http://schemas.microsoft.com/office/powerpoint/2010/main" val="23844623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M7L11Marginal</a:t>
            </a:r>
          </a:p>
        </p:txBody>
      </p:sp>
      <p:sp>
        <p:nvSpPr>
          <p:cNvPr id="4" name="Slide Number Placeholder 3"/>
          <p:cNvSpPr>
            <a:spLocks noGrp="1"/>
          </p:cNvSpPr>
          <p:nvPr>
            <p:ph type="sldNum" sz="quarter" idx="5"/>
          </p:nvPr>
        </p:nvSpPr>
        <p:spPr/>
        <p:txBody>
          <a:bodyPr/>
          <a:lstStyle/>
          <a:p>
            <a:fld id="{858C6366-923F-1E4D-A532-3CA59BF46669}" type="slidenum">
              <a:rPr lang="en-US" smtClean="0"/>
              <a:t>18</a:t>
            </a:fld>
            <a:endParaRPr lang="en-US"/>
          </a:p>
        </p:txBody>
      </p:sp>
    </p:spTree>
    <p:extLst>
      <p:ext uri="{BB962C8B-B14F-4D97-AF65-F5344CB8AC3E}">
        <p14:creationId xmlns:p14="http://schemas.microsoft.com/office/powerpoint/2010/main" val="16506722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we have used this prior before, let’s take a moment to explicitly show that it is improper. </a:t>
            </a:r>
          </a:p>
          <a:p>
            <a:endParaRPr lang="en-US" dirty="0"/>
          </a:p>
          <a:p>
            <a:r>
              <a:rPr lang="en-US" dirty="0"/>
              <a:t>Recall that a distribution is proper if </a:t>
            </a:r>
          </a:p>
          <a:p>
            <a:endParaRPr lang="en-US" dirty="0"/>
          </a:p>
          <a:p>
            <a:r>
              <a:rPr lang="en-US" dirty="0"/>
              <a:t>it integrates to 1</a:t>
            </a:r>
          </a:p>
          <a:p>
            <a:endParaRPr lang="en-US" dirty="0"/>
          </a:p>
          <a:p>
            <a:r>
              <a:rPr lang="en-US" dirty="0"/>
              <a:t>And all the probabilities are positive and finite. In other words, it’s a nice integral. </a:t>
            </a:r>
          </a:p>
          <a:p>
            <a:endParaRPr lang="en-US" dirty="0"/>
          </a:p>
          <a:p>
            <a:r>
              <a:rPr lang="en-US" dirty="0"/>
              <a:t>Notice that the integral of 1/x is improper, meaning that 1/x produces an improper distribution. </a:t>
            </a:r>
          </a:p>
          <a:p>
            <a:r>
              <a:rPr lang="en-US" dirty="0"/>
              <a:t>This is the same as our problem because you need only swap x for sigma^2. </a:t>
            </a:r>
          </a:p>
          <a:p>
            <a:endParaRPr lang="en-US" dirty="0"/>
          </a:p>
          <a:p>
            <a:r>
              <a:rPr lang="en-US" dirty="0"/>
              <a:t>That’s because the integral is not finite </a:t>
            </a:r>
          </a:p>
          <a:p>
            <a:endParaRPr lang="en-US" dirty="0"/>
          </a:p>
          <a:p>
            <a:r>
              <a:rPr lang="en-US" dirty="0"/>
              <a:t>And the function 1/x is not defined at 0. </a:t>
            </a:r>
          </a:p>
          <a:p>
            <a:endParaRPr lang="en-US" dirty="0"/>
          </a:p>
          <a:p>
            <a:r>
              <a:rPr lang="en-US" dirty="0"/>
              <a:t>This integral is equivalent to </a:t>
            </a:r>
          </a:p>
        </p:txBody>
      </p:sp>
      <p:sp>
        <p:nvSpPr>
          <p:cNvPr id="4" name="Slide Number Placeholder 3"/>
          <p:cNvSpPr>
            <a:spLocks noGrp="1"/>
          </p:cNvSpPr>
          <p:nvPr>
            <p:ph type="sldNum" sz="quarter" idx="5"/>
          </p:nvPr>
        </p:nvSpPr>
        <p:spPr/>
        <p:txBody>
          <a:bodyPr/>
          <a:lstStyle/>
          <a:p>
            <a:fld id="{F625DDDC-B10B-3347-AAB4-5CB93FC9C71C}" type="slidenum">
              <a:rPr lang="en-US" smtClean="0"/>
              <a:t>19</a:t>
            </a:fld>
            <a:endParaRPr lang="en-US"/>
          </a:p>
        </p:txBody>
      </p:sp>
    </p:spTree>
    <p:extLst>
      <p:ext uri="{BB962C8B-B14F-4D97-AF65-F5344CB8AC3E}">
        <p14:creationId xmlns:p14="http://schemas.microsoft.com/office/powerpoint/2010/main" val="30562325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Because we are using an improper prior, it behooves us to check, </a:t>
                </a:r>
              </a:p>
              <a:p>
                <a:r>
                  <a:rPr lang="en-US" dirty="0"/>
                  <a:t>under what conditions, </a:t>
                </a:r>
              </a:p>
              <a:p>
                <a:r>
                  <a:rPr lang="en-US" dirty="0"/>
                  <a:t>is the joint posterior proper—</a:t>
                </a:r>
              </a:p>
              <a:p>
                <a:r>
                  <a:rPr lang="en-US" dirty="0"/>
                  <a:t>which will impact both the conditional and marginal distributions. </a:t>
                </a:r>
              </a:p>
              <a:p>
                <a:r>
                  <a:rPr lang="en-US" dirty="0"/>
                  <a:t>We skip the calculation and just tell you two important conditions. </a:t>
                </a:r>
              </a:p>
              <a:p>
                <a:r>
                  <a:rPr lang="en-US" dirty="0"/>
                  <a:t>We need two things:</a:t>
                </a:r>
              </a:p>
              <a:p>
                <a:endParaRPr lang="en-US" dirty="0"/>
              </a:p>
              <a:p>
                <a:r>
                  <a:rPr lang="en-US" dirty="0"/>
                  <a:t>We need to have more samples than linear terms </a:t>
                </a:r>
              </a:p>
              <a:p>
                <a:endParaRPr lang="en-US" dirty="0"/>
              </a:p>
              <a:p>
                <a:r>
                  <a:rPr lang="en-US" dirty="0"/>
                  <a:t>We need to ensure that the explanatory variables are independent, otherwise, </a:t>
                </a:r>
                <a14:m>
                  <m:oMath xmlns:m="http://schemas.openxmlformats.org/officeDocument/2006/math">
                    <m:r>
                      <a:rPr lang="en-US" i="1" smtClean="0">
                        <a:latin typeface="Cambria Math" panose="02040503050406030204" pitchFamily="18" charset="0"/>
                      </a:rPr>
                      <m:t>𝑋</m:t>
                    </m:r>
                  </m:oMath>
                </a14:m>
                <a:r>
                  <a:rPr lang="en-US" dirty="0"/>
                  <a:t> won’t have full</a:t>
                </a:r>
                <a:r>
                  <a:rPr lang="en-US" baseline="0" dirty="0"/>
                  <a:t> rank and </a:t>
                </a:r>
                <a14:m>
                  <m:oMath xmlns:m="http://schemas.openxmlformats.org/officeDocument/2006/math">
                    <m:sSup>
                      <m:sSupPr>
                        <m:ctrlPr>
                          <a:rPr lang="en-US" i="1" smtClean="0">
                            <a:latin typeface="Cambria Math" panose="02040503050406030204" pitchFamily="18" charset="0"/>
                          </a:rPr>
                        </m:ctrlPr>
                      </m:sSupPr>
                      <m:e>
                        <m:r>
                          <a:rPr lang="en-US" i="1">
                            <a:latin typeface="Cambria Math" panose="02040503050406030204" pitchFamily="18" charset="0"/>
                          </a:rPr>
                          <m:t>𝑋</m:t>
                        </m:r>
                      </m:e>
                      <m:sup>
                        <m:r>
                          <a:rPr lang="en-US" b="0" i="1" smtClean="0">
                            <a:latin typeface="Cambria Math" panose="02040503050406030204" pitchFamily="18" charset="0"/>
                          </a:rPr>
                          <m:t>𝑇</m:t>
                        </m:r>
                      </m:sup>
                    </m:sSup>
                    <m:r>
                      <a:rPr lang="en-US" i="1">
                        <a:latin typeface="Cambria Math" panose="02040503050406030204" pitchFamily="18" charset="0"/>
                      </a:rPr>
                      <m:t>𝑋</m:t>
                    </m:r>
                  </m:oMath>
                </a14:m>
                <a:r>
                  <a:rPr lang="en-US" dirty="0"/>
                  <a:t> is not invertible. </a:t>
                </a:r>
              </a:p>
              <a:p>
                <a:endParaRPr lang="en-US" dirty="0"/>
              </a:p>
              <a:p>
                <a:endParaRPr lang="en-US" dirty="0"/>
              </a:p>
              <a:p>
                <a:endParaRPr lang="en-US" dirty="0"/>
              </a:p>
            </p:txBody>
          </p:sp>
        </mc:Choice>
        <mc:Fallback xmlns="">
          <p:sp>
            <p:nvSpPr>
              <p:cNvPr id="3" name="Notes Placeholder 2"/>
              <p:cNvSpPr>
                <a:spLocks noGrp="1"/>
              </p:cNvSpPr>
              <p:nvPr>
                <p:ph type="body" idx="1"/>
              </p:nvPr>
            </p:nvSpPr>
            <p:spPr/>
            <p:txBody>
              <a:bodyPr/>
              <a:lstStyle/>
              <a:p>
                <a:r>
                  <a:rPr lang="en-US" dirty="0"/>
                  <a:t>When is the joint posterior proper? This is something we should be concerned about as we’d simulate the posterior from the marginal and the conditional. So we want to make sure what we simulate is a proper distribution, meaning probabilities are nonnegative and sum to 1. We need two things:</a:t>
                </a:r>
              </a:p>
              <a:p>
                <a:endParaRPr lang="en-US" dirty="0"/>
              </a:p>
              <a:p>
                <a:r>
                  <a:rPr lang="en-US" dirty="0"/>
                  <a:t>We need to have more samples than linear terms </a:t>
                </a:r>
              </a:p>
              <a:p>
                <a:endParaRPr lang="en-US" dirty="0"/>
              </a:p>
              <a:p>
                <a:r>
                  <a:rPr lang="en-US" dirty="0"/>
                  <a:t>We need to ensure that the explanatory variables are independent, otherwise, </a:t>
                </a:r>
                <a:r>
                  <a:rPr lang="en-US" i="0">
                    <a:latin typeface="Cambria Math" panose="02040503050406030204" pitchFamily="18" charset="0"/>
                  </a:rPr>
                  <a:t>𝑋</a:t>
                </a:r>
                <a:r>
                  <a:rPr lang="en-US" dirty="0"/>
                  <a:t> won’t have full</a:t>
                </a:r>
                <a:r>
                  <a:rPr lang="en-US" baseline="0" dirty="0"/>
                  <a:t> rank and </a:t>
                </a:r>
                <a:r>
                  <a:rPr lang="en-US" i="0">
                    <a:latin typeface="Cambria Math" panose="02040503050406030204" pitchFamily="18" charset="0"/>
                  </a:rPr>
                  <a:t>𝑋^</a:t>
                </a:r>
                <a:r>
                  <a:rPr lang="en-US" b="0" i="0">
                    <a:latin typeface="Cambria Math" panose="02040503050406030204" pitchFamily="18" charset="0"/>
                  </a:rPr>
                  <a:t>𝑇 </a:t>
                </a:r>
                <a:r>
                  <a:rPr lang="en-US" i="0">
                    <a:latin typeface="Cambria Math" panose="02040503050406030204" pitchFamily="18" charset="0"/>
                  </a:rPr>
                  <a:t>𝑋</a:t>
                </a:r>
                <a:r>
                  <a:rPr lang="en-US" dirty="0"/>
                  <a:t> is not invertible. </a:t>
                </a:r>
              </a:p>
              <a:p>
                <a:endParaRPr lang="en-US" dirty="0"/>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F625DDDC-B10B-3347-AAB4-5CB93FC9C71C}" type="slidenum">
              <a:rPr lang="en-US" smtClean="0"/>
              <a:t>20</a:t>
            </a:fld>
            <a:endParaRPr lang="en-US"/>
          </a:p>
        </p:txBody>
      </p:sp>
    </p:spTree>
    <p:extLst>
      <p:ext uri="{BB962C8B-B14F-4D97-AF65-F5344CB8AC3E}">
        <p14:creationId xmlns:p14="http://schemas.microsoft.com/office/powerpoint/2010/main" val="28420901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Sampling from this joint posterior distribution works works like others we have seen. </a:t>
                </a:r>
              </a:p>
              <a:p>
                <a:endParaRPr lang="en-US" dirty="0"/>
              </a:p>
              <a:p>
                <a:r>
                  <a:rPr lang="en-US" dirty="0"/>
                  <a:t>First, we draw values of \sigma^2 from its marginal posterior. </a:t>
                </a:r>
              </a:p>
              <a:p>
                <a:endParaRPr lang="en-US" dirty="0"/>
              </a:p>
              <a:p>
                <a:r>
                  <a:rPr lang="en-US" dirty="0"/>
                  <a:t>Then, given \sigma^2, draw \beta from its conditional posterior.</a:t>
                </a:r>
              </a:p>
              <a:p>
                <a:endParaRPr lang="en-US" dirty="0"/>
              </a:p>
              <a:p>
                <a:r>
                  <a:rPr lang="en-US" dirty="0"/>
                  <a:t>Now, if we are working with a large dataset, </a:t>
                </a:r>
                <a14:m>
                  <m:oMath xmlns:m="http://schemas.openxmlformats.org/officeDocument/2006/math">
                    <m:r>
                      <a:rPr lang="en-US" b="0" i="1" smtClean="0">
                        <a:latin typeface="Cambria Math" panose="02040503050406030204" pitchFamily="18" charset="0"/>
                      </a:rPr>
                      <m:t>𝑋</m:t>
                    </m:r>
                  </m:oMath>
                </a14:m>
                <a:r>
                  <a:rPr lang="en-US" dirty="0"/>
                  <a:t> may</a:t>
                </a:r>
                <a:r>
                  <a:rPr lang="en-US" baseline="0" dirty="0"/>
                  <a:t> be massive, leading to issues of computational complexity. </a:t>
                </a:r>
              </a:p>
              <a:p>
                <a:endParaRPr lang="en-US" baseline="0" dirty="0"/>
              </a:p>
              <a:p>
                <a:r>
                  <a:rPr lang="en-US" dirty="0"/>
                  <a:t>In order to ensure efficient sampling, you will want to compute X^T X  and the parameters depending on this once before the draws.</a:t>
                </a:r>
              </a:p>
              <a:p>
                <a:r>
                  <a:rPr lang="en-US" dirty="0"/>
                  <a:t>Depending on the size of your matrix, you may need to optimize the matrix inversion, you may need to decompose X^T X. One example</a:t>
                </a:r>
              </a:p>
              <a:p>
                <a:r>
                  <a:rPr lang="en-US" dirty="0"/>
                  <a:t>Relying on QR decomposition is discussed in section 14.2 of the textbook. We will also explicitly refer to this method a little late in this lesson.  </a:t>
                </a:r>
              </a:p>
              <a:p>
                <a:endParaRPr lang="en-US" dirty="0"/>
              </a:p>
            </p:txBody>
          </p:sp>
        </mc:Choice>
        <mc:Fallback xmlns="">
          <p:sp>
            <p:nvSpPr>
              <p:cNvPr id="3" name="Notes Placeholder 2"/>
              <p:cNvSpPr>
                <a:spLocks noGrp="1"/>
              </p:cNvSpPr>
              <p:nvPr>
                <p:ph type="body" idx="1"/>
              </p:nvPr>
            </p:nvSpPr>
            <p:spPr/>
            <p:txBody>
              <a:bodyPr/>
              <a:lstStyle/>
              <a:p>
                <a:r>
                  <a:rPr lang="en-US" dirty="0"/>
                  <a:t>Sampling from this joint posterior distribution works analogously as sampling from any normal distribution. </a:t>
                </a:r>
              </a:p>
              <a:p>
                <a:endParaRPr lang="en-US" dirty="0"/>
              </a:p>
              <a:p>
                <a:r>
                  <a:rPr lang="en-US" dirty="0"/>
                  <a:t>First, we draw values of \sigma^2 from its marginal posterior. </a:t>
                </a:r>
              </a:p>
              <a:p>
                <a:endParaRPr lang="en-US" dirty="0"/>
              </a:p>
              <a:p>
                <a:r>
                  <a:rPr lang="en-US" dirty="0"/>
                  <a:t>Then, given \sigma^2, draw \beta from its conditional posterior.</a:t>
                </a:r>
              </a:p>
              <a:p>
                <a:endParaRPr lang="en-US" dirty="0"/>
              </a:p>
              <a:p>
                <a:r>
                  <a:rPr lang="en-US" dirty="0"/>
                  <a:t>Now, if we are working with a large dataset, </a:t>
                </a:r>
                <a:r>
                  <a:rPr lang="en-US" b="0" i="0">
                    <a:latin typeface="Cambria Math" panose="02040503050406030204" pitchFamily="18" charset="0"/>
                  </a:rPr>
                  <a:t>𝑋</a:t>
                </a:r>
                <a:r>
                  <a:rPr lang="en-US" dirty="0"/>
                  <a:t> may</a:t>
                </a:r>
                <a:r>
                  <a:rPr lang="en-US" baseline="0" dirty="0"/>
                  <a:t> be massive, leading to issues of computational complexity. </a:t>
                </a:r>
              </a:p>
              <a:p>
                <a:endParaRPr lang="en-US" baseline="0" dirty="0"/>
              </a:p>
              <a:p>
                <a:r>
                  <a:rPr lang="en-US" dirty="0"/>
                  <a:t>In order to ensure efficient sampling, you will want to compute X^T X  and the parameters depending on this once before the draws.</a:t>
                </a:r>
              </a:p>
              <a:p>
                <a:r>
                  <a:rPr lang="en-US" dirty="0"/>
                  <a:t>Depending on the size of your matrix, you may need to optimize the matrix inversion, you may need to decompose X^T X. One example</a:t>
                </a:r>
              </a:p>
              <a:p>
                <a:r>
                  <a:rPr lang="en-US" dirty="0"/>
                  <a:t>Relying on QR decomposition is discussed in section 14.2 of the textbook. We will also explicitly refer to this method a little late in this lesson.  </a:t>
                </a:r>
              </a:p>
              <a:p>
                <a:endParaRPr lang="en-US" dirty="0"/>
              </a:p>
            </p:txBody>
          </p:sp>
        </mc:Fallback>
      </mc:AlternateContent>
      <p:sp>
        <p:nvSpPr>
          <p:cNvPr id="4" name="Slide Number Placeholder 3"/>
          <p:cNvSpPr>
            <a:spLocks noGrp="1"/>
          </p:cNvSpPr>
          <p:nvPr>
            <p:ph type="sldNum" sz="quarter" idx="5"/>
          </p:nvPr>
        </p:nvSpPr>
        <p:spPr/>
        <p:txBody>
          <a:bodyPr/>
          <a:lstStyle/>
          <a:p>
            <a:fld id="{F625DDDC-B10B-3347-AAB4-5CB93FC9C71C}" type="slidenum">
              <a:rPr lang="en-US" smtClean="0"/>
              <a:t>21</a:t>
            </a:fld>
            <a:endParaRPr lang="en-US"/>
          </a:p>
        </p:txBody>
      </p:sp>
    </p:spTree>
    <p:extLst>
      <p:ext uri="{BB962C8B-B14F-4D97-AF65-F5344CB8AC3E}">
        <p14:creationId xmlns:p14="http://schemas.microsoft.com/office/powerpoint/2010/main" val="29666294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In regression, we often want to predict the outcome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oMath>
                </a14:m>
                <a:r>
                  <a:rPr lang="en-US" dirty="0"/>
                  <a:t> for a new set of covariate values </a:t>
                </a:r>
                <a14:m>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𝑋</m:t>
                        </m:r>
                      </m:e>
                    </m:acc>
                  </m:oMath>
                </a14:m>
                <a:r>
                  <a:rPr lang="en-US" dirty="0"/>
                  <a:t>. In our made-up study about longevity for example, </a:t>
                </a:r>
              </a:p>
              <a:p>
                <a:r>
                  <a:rPr lang="en-US" dirty="0"/>
                  <a:t>you would likely want to see your estimated lifespan based on your income, gender identity and number of friends. </a:t>
                </a:r>
              </a:p>
              <a:p>
                <a:r>
                  <a:rPr lang="en-US" dirty="0"/>
                  <a:t>To do this, we need to draw values from the joint posterior distribution and then, generate new values of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oMath>
                </a14:m>
                <a:r>
                  <a:rPr lang="en-US" dirty="0"/>
                  <a:t> by computing the likelihood with respect to </a:t>
                </a:r>
                <a14:m>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𝑋</m:t>
                        </m:r>
                      </m:e>
                    </m:acc>
                  </m:oMath>
                </a14:m>
                <a:r>
                  <a:rPr lang="en-US" dirty="0"/>
                  <a:t>.</a:t>
                </a:r>
              </a:p>
              <a:p>
                <a:endParaRPr lang="en-US" dirty="0"/>
              </a:p>
              <a:p>
                <a:r>
                  <a:rPr lang="en-US" dirty="0"/>
                  <a:t>This involves </a:t>
                </a:r>
              </a:p>
              <a:p>
                <a:endParaRPr lang="en-US" dirty="0"/>
              </a:p>
              <a:p>
                <a:r>
                  <a:rPr lang="en-US" dirty="0"/>
                  <a:t>drawing </a:t>
                </a:r>
                <a14:m>
                  <m:oMath xmlns:m="http://schemas.openxmlformats.org/officeDocument/2006/math">
                    <m:sSup>
                      <m:sSupPr>
                        <m:ctrlPr>
                          <a:rPr lang="en-US" i="1" dirty="0" smtClean="0">
                            <a:latin typeface="Cambria Math" panose="02040503050406030204" pitchFamily="18" charset="0"/>
                          </a:rPr>
                        </m:ctrlPr>
                      </m:sSupPr>
                      <m:e>
                        <m:r>
                          <a:rPr lang="en-US" b="0" i="1" dirty="0" smtClean="0">
                            <a:latin typeface="Cambria Math" panose="02040503050406030204" pitchFamily="18" charset="0"/>
                          </a:rPr>
                          <m:t>𝜎</m:t>
                        </m:r>
                        <m:r>
                          <a:rPr lang="en-US" b="0" i="1" dirty="0" smtClean="0">
                            <a:latin typeface="Cambria Math" panose="02040503050406030204" pitchFamily="18" charset="0"/>
                          </a:rPr>
                          <m:t> </m:t>
                        </m:r>
                      </m:e>
                      <m:sup>
                        <m:r>
                          <a:rPr lang="en-US" i="1" dirty="0" smtClean="0">
                            <a:latin typeface="Cambria Math" panose="02040503050406030204" pitchFamily="18" charset="0"/>
                          </a:rPr>
                          <m:t>2</m:t>
                        </m:r>
                      </m:sup>
                    </m:sSup>
                    <m:r>
                      <a:rPr lang="en-US" b="0" i="1" dirty="0" smtClean="0">
                        <a:latin typeface="Cambria Math" panose="02040503050406030204" pitchFamily="18" charset="0"/>
                      </a:rPr>
                      <m:t> </m:t>
                    </m:r>
                  </m:oMath>
                </a14:m>
                <a:r>
                  <a:rPr lang="en-US" dirty="0"/>
                  <a:t>from its marginal posterior</a:t>
                </a:r>
              </a:p>
              <a:p>
                <a:endParaRPr lang="en-US" dirty="0"/>
              </a:p>
              <a:p>
                <a:r>
                  <a:rPr lang="en-US" dirty="0"/>
                  <a:t>drawing values of </a:t>
                </a:r>
                <a14:m>
                  <m:oMath xmlns:m="http://schemas.openxmlformats.org/officeDocument/2006/math">
                    <m:r>
                      <a:rPr lang="en-US" b="0" i="1" smtClean="0">
                        <a:latin typeface="Cambria Math" panose="02040503050406030204" pitchFamily="18" charset="0"/>
                      </a:rPr>
                      <m:t>𝛽</m:t>
                    </m:r>
                  </m:oMath>
                </a14:m>
                <a:r>
                  <a:rPr lang="en-US" dirty="0"/>
                  <a:t> from its posterior distribution, </a:t>
                </a:r>
              </a:p>
              <a:p>
                <a:endParaRPr lang="en-US" dirty="0"/>
              </a:p>
              <a:p>
                <a:r>
                  <a:rPr lang="en-US" dirty="0"/>
                  <a:t>and then drawing </a:t>
                </a:r>
                <a14:m>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𝑌</m:t>
                        </m:r>
                      </m:e>
                    </m:acc>
                  </m:oMath>
                </a14:m>
                <a:r>
                  <a:rPr lang="en-US" dirty="0"/>
                  <a:t> from a likelihood function relying</a:t>
                </a:r>
                <a:r>
                  <a:rPr lang="en-US" baseline="0" dirty="0"/>
                  <a:t>, a normal distribution centered at </a:t>
                </a:r>
                <a14:m>
                  <m:oMath xmlns:m="http://schemas.openxmlformats.org/officeDocument/2006/math">
                    <m:acc>
                      <m:accPr>
                        <m:chr m:val="˜"/>
                        <m:ctrlPr>
                          <a:rPr lang="en-US" i="1" smtClean="0">
                            <a:latin typeface="Cambria Math" panose="02040503050406030204" pitchFamily="18" charset="0"/>
                          </a:rPr>
                        </m:ctrlPr>
                      </m:accPr>
                      <m:e>
                        <m:r>
                          <a:rPr lang="en-US" i="1">
                            <a:latin typeface="Cambria Math" panose="02040503050406030204" pitchFamily="18" charset="0"/>
                          </a:rPr>
                          <m:t>𝑋</m:t>
                        </m:r>
                      </m:e>
                    </m:acc>
                    <m:r>
                      <a:rPr lang="en-US" b="0" i="1" smtClean="0">
                        <a:latin typeface="Cambria Math" panose="02040503050406030204" pitchFamily="18" charset="0"/>
                      </a:rPr>
                      <m:t>𝛽</m:t>
                    </m:r>
                  </m:oMath>
                </a14:m>
                <a:r>
                  <a:rPr lang="en-US" dirty="0"/>
                  <a:t> with variance </a:t>
                </a:r>
                <a14:m>
                  <m:oMath xmlns:m="http://schemas.openxmlformats.org/officeDocument/2006/math">
                    <m:sSup>
                      <m:sSupPr>
                        <m:ctrlPr>
                          <a:rPr lang="en-US" i="1" smtClean="0">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i="1">
                        <a:latin typeface="Cambria Math" panose="02040503050406030204" pitchFamily="18" charset="0"/>
                      </a:rPr>
                      <m:t>𝐼</m:t>
                    </m:r>
                  </m:oMath>
                </a14:m>
                <a:r>
                  <a:rPr lang="en-US" dirty="0"/>
                  <a:t>.</a:t>
                </a:r>
              </a:p>
              <a:p>
                <a:r>
                  <a:rPr lang="en-US" dirty="0"/>
                  <a:t>Remember that both </a:t>
                </a:r>
                <a14:m>
                  <m:oMath xmlns:m="http://schemas.openxmlformats.org/officeDocument/2006/math">
                    <m:r>
                      <a:rPr lang="en-US" b="0" i="1" smtClean="0">
                        <a:latin typeface="Cambria Math" panose="02040503050406030204" pitchFamily="18" charset="0"/>
                      </a:rPr>
                      <m:t>𝛽</m:t>
                    </m:r>
                  </m:oMath>
                </a14:m>
                <a:r>
                  <a:rPr lang="en-US" dirty="0"/>
                  <a:t> and </a:t>
                </a:r>
                <a14:m>
                  <m:oMath xmlns:m="http://schemas.openxmlformats.org/officeDocument/2006/math">
                    <m:sSup>
                      <m:sSupPr>
                        <m:ctrlPr>
                          <a:rPr lang="en-US" i="1" smtClean="0">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oMath>
                </a14:m>
                <a:r>
                  <a:rPr lang="en-US" dirty="0"/>
                  <a:t> values come from the previously drawn distributions. </a:t>
                </a:r>
              </a:p>
              <a:p>
                <a:r>
                  <a:rPr lang="en-US" dirty="0"/>
                  <a:t>Rather that perform the simulations every time, let’s compute the mean and variance of the resulting distribution. </a:t>
                </a:r>
              </a:p>
            </p:txBody>
          </p:sp>
        </mc:Choice>
        <mc:Fallback xmlns="">
          <p:sp>
            <p:nvSpPr>
              <p:cNvPr id="3" name="Notes Placeholder 2"/>
              <p:cNvSpPr>
                <a:spLocks noGrp="1"/>
              </p:cNvSpPr>
              <p:nvPr>
                <p:ph type="body" idx="1"/>
              </p:nvPr>
            </p:nvSpPr>
            <p:spPr/>
            <p:txBody>
              <a:bodyPr/>
              <a:lstStyle/>
              <a:p>
                <a:r>
                  <a:rPr lang="en-US" dirty="0"/>
                  <a:t>In regression, we often want to predict the outcome </a:t>
                </a:r>
                <a:r>
                  <a:rPr lang="en-US" b="0" i="0">
                    <a:latin typeface="Cambria Math" panose="02040503050406030204" pitchFamily="18" charset="0"/>
                  </a:rPr>
                  <a:t>𝑦 ̃</a:t>
                </a:r>
                <a:r>
                  <a:rPr lang="en-US" dirty="0"/>
                  <a:t> for a new set of covariate values </a:t>
                </a:r>
                <a:r>
                  <a:rPr lang="en-US" b="0" i="0">
                    <a:latin typeface="Cambria Math" panose="02040503050406030204" pitchFamily="18" charset="0"/>
                  </a:rPr>
                  <a:t>𝑋 ̃</a:t>
                </a:r>
                <a:r>
                  <a:rPr lang="en-US" dirty="0"/>
                  <a:t>. In our made-up study about longevity for example, </a:t>
                </a:r>
              </a:p>
              <a:p>
                <a:r>
                  <a:rPr lang="en-US" dirty="0"/>
                  <a:t>you would likely want to see your estimated lifespan based on your income, gender identity and number of friends. </a:t>
                </a:r>
              </a:p>
              <a:p>
                <a:r>
                  <a:rPr lang="en-US" dirty="0"/>
                  <a:t>To do this, we need to draw values from the joint posterior distribution and then, generate new values of </a:t>
                </a:r>
                <a:r>
                  <a:rPr lang="en-US" b="0" i="0">
                    <a:latin typeface="Cambria Math" panose="02040503050406030204" pitchFamily="18" charset="0"/>
                  </a:rPr>
                  <a:t>𝑦 ̃</a:t>
                </a:r>
                <a:r>
                  <a:rPr lang="en-US" dirty="0"/>
                  <a:t> by computing the likelihood with respect to </a:t>
                </a:r>
                <a:r>
                  <a:rPr lang="en-US" b="0" i="0">
                    <a:latin typeface="Cambria Math" panose="02040503050406030204" pitchFamily="18" charset="0"/>
                  </a:rPr>
                  <a:t>𝑋 ̃</a:t>
                </a:r>
                <a:r>
                  <a:rPr lang="en-US" dirty="0"/>
                  <a:t>.</a:t>
                </a:r>
              </a:p>
              <a:p>
                <a:endParaRPr lang="en-US" dirty="0"/>
              </a:p>
              <a:p>
                <a:r>
                  <a:rPr lang="en-US" dirty="0"/>
                  <a:t>This involves </a:t>
                </a:r>
              </a:p>
              <a:p>
                <a:endParaRPr lang="en-US" dirty="0"/>
              </a:p>
              <a:p>
                <a:r>
                  <a:rPr lang="en-US" dirty="0"/>
                  <a:t>drawing </a:t>
                </a:r>
                <a:r>
                  <a:rPr lang="en-US" i="0" dirty="0">
                    <a:latin typeface="Cambria Math" panose="02040503050406030204" pitchFamily="18" charset="0"/>
                  </a:rPr>
                  <a:t>〖</a:t>
                </a:r>
                <a:r>
                  <a:rPr lang="en-US" b="0" i="0" dirty="0">
                    <a:latin typeface="Cambria Math" panose="02040503050406030204" pitchFamily="18" charset="0"/>
                  </a:rPr>
                  <a:t>𝜎 〗^</a:t>
                </a:r>
                <a:r>
                  <a:rPr lang="en-US" i="0" dirty="0">
                    <a:latin typeface="Cambria Math" panose="02040503050406030204" pitchFamily="18" charset="0"/>
                  </a:rPr>
                  <a:t>2</a:t>
                </a:r>
                <a:r>
                  <a:rPr lang="en-US" b="0" i="0" dirty="0">
                    <a:latin typeface="Cambria Math" panose="02040503050406030204" pitchFamily="18" charset="0"/>
                  </a:rPr>
                  <a:t>  </a:t>
                </a:r>
                <a:r>
                  <a:rPr lang="en-US" dirty="0"/>
                  <a:t>from its marginal posterior</a:t>
                </a:r>
              </a:p>
              <a:p>
                <a:endParaRPr lang="en-US" dirty="0"/>
              </a:p>
              <a:p>
                <a:r>
                  <a:rPr lang="en-US" dirty="0"/>
                  <a:t>drawing values of </a:t>
                </a:r>
                <a:r>
                  <a:rPr lang="en-US" b="0" i="0">
                    <a:latin typeface="Cambria Math" panose="02040503050406030204" pitchFamily="18" charset="0"/>
                  </a:rPr>
                  <a:t>𝛽</a:t>
                </a:r>
                <a:r>
                  <a:rPr lang="en-US" dirty="0"/>
                  <a:t> from its posterior distribution, </a:t>
                </a:r>
              </a:p>
              <a:p>
                <a:endParaRPr lang="en-US" dirty="0"/>
              </a:p>
              <a:p>
                <a:r>
                  <a:rPr lang="en-US" dirty="0"/>
                  <a:t>and then drawing </a:t>
                </a:r>
                <a:r>
                  <a:rPr lang="en-US" b="0" i="0">
                    <a:latin typeface="Cambria Math" panose="02040503050406030204" pitchFamily="18" charset="0"/>
                  </a:rPr>
                  <a:t>𝑌 ̃</a:t>
                </a:r>
                <a:r>
                  <a:rPr lang="en-US" dirty="0"/>
                  <a:t> from a likelihood function relying</a:t>
                </a:r>
                <a:r>
                  <a:rPr lang="en-US" baseline="0" dirty="0"/>
                  <a:t>, a normal distribution centered at </a:t>
                </a:r>
                <a:r>
                  <a:rPr lang="en-US" i="0">
                    <a:latin typeface="Cambria Math" panose="02040503050406030204" pitchFamily="18" charset="0"/>
                  </a:rPr>
                  <a:t>𝑋 ˜</a:t>
                </a:r>
                <a:r>
                  <a:rPr lang="en-US" b="0" i="0">
                    <a:latin typeface="Cambria Math" panose="02040503050406030204" pitchFamily="18" charset="0"/>
                  </a:rPr>
                  <a:t>𝛽</a:t>
                </a:r>
                <a:r>
                  <a:rPr lang="en-US" dirty="0"/>
                  <a:t> with variance </a:t>
                </a:r>
                <a:r>
                  <a:rPr lang="en-US" i="0">
                    <a:latin typeface="Cambria Math" panose="02040503050406030204" pitchFamily="18" charset="0"/>
                  </a:rPr>
                  <a:t>𝜎^2 𝐼</a:t>
                </a:r>
                <a:r>
                  <a:rPr lang="en-US" dirty="0"/>
                  <a:t>.</a:t>
                </a:r>
              </a:p>
              <a:p>
                <a:r>
                  <a:rPr lang="en-US" dirty="0"/>
                  <a:t>Remember that both </a:t>
                </a:r>
                <a:r>
                  <a:rPr lang="en-US" b="0" i="0">
                    <a:latin typeface="Cambria Math" panose="02040503050406030204" pitchFamily="18" charset="0"/>
                  </a:rPr>
                  <a:t>𝛽</a:t>
                </a:r>
                <a:r>
                  <a:rPr lang="en-US" dirty="0"/>
                  <a:t> and </a:t>
                </a:r>
                <a:r>
                  <a:rPr lang="en-US" i="0">
                    <a:latin typeface="Cambria Math" panose="02040503050406030204" pitchFamily="18" charset="0"/>
                  </a:rPr>
                  <a:t>𝜎^2</a:t>
                </a:r>
                <a:r>
                  <a:rPr lang="en-US" dirty="0"/>
                  <a:t> values come from the previously drawn distributions. </a:t>
                </a:r>
              </a:p>
              <a:p>
                <a:r>
                  <a:rPr lang="en-US" dirty="0"/>
                  <a:t>Rather that perform the simulations every time, let’s compute the mean and variance of the resulting distribution. </a:t>
                </a:r>
              </a:p>
            </p:txBody>
          </p:sp>
        </mc:Fallback>
      </mc:AlternateContent>
      <p:sp>
        <p:nvSpPr>
          <p:cNvPr id="4" name="Slide Number Placeholder 3"/>
          <p:cNvSpPr>
            <a:spLocks noGrp="1"/>
          </p:cNvSpPr>
          <p:nvPr>
            <p:ph type="sldNum" sz="quarter" idx="5"/>
          </p:nvPr>
        </p:nvSpPr>
        <p:spPr/>
        <p:txBody>
          <a:bodyPr/>
          <a:lstStyle/>
          <a:p>
            <a:fld id="{F625DDDC-B10B-3347-AAB4-5CB93FC9C71C}" type="slidenum">
              <a:rPr lang="en-US" smtClean="0"/>
              <a:t>22</a:t>
            </a:fld>
            <a:endParaRPr lang="en-US"/>
          </a:p>
        </p:txBody>
      </p:sp>
    </p:spTree>
    <p:extLst>
      <p:ext uri="{BB962C8B-B14F-4D97-AF65-F5344CB8AC3E}">
        <p14:creationId xmlns:p14="http://schemas.microsoft.com/office/powerpoint/2010/main" val="5818306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E0E0E"/>
                    </a:solidFill>
                    <a:effectLst/>
                    <a:latin typeface=".SF NS"/>
                  </a:rPr>
                  <a:t>To compute the mean and variance of the posterior predictive distribution, we use the conditioning trick, which involves averaging over the conditional distributions. We do this because the conditional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srgbClr val="0E0E0E"/>
                  </a:solidFill>
                  <a:effectLst/>
                  <a:latin typeface=".SF N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E0E0E"/>
                    </a:solidFill>
                    <a:effectLst/>
                    <a:latin typeface=".SF NS"/>
                  </a:rPr>
                  <a:t>For the expectation of the conditional distribution—that’s equal to the expectation of the expectation of the joint posterior with </a:t>
                </a:r>
                <a14:m>
                  <m:oMath xmlns:m="http://schemas.openxmlformats.org/officeDocument/2006/math">
                    <m:sSup>
                      <m:sSupPr>
                        <m:ctrlPr>
                          <a:rPr lang="en-US" i="1" smtClean="0">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oMath>
                </a14:m>
                <a:r>
                  <a:rPr lang="en-US" dirty="0"/>
                  <a:t> given. We know the expectation of the joint distribution is </a:t>
                </a:r>
                <a14:m>
                  <m:oMath xmlns:m="http://schemas.openxmlformats.org/officeDocument/2006/math">
                    <m:r>
                      <a:rPr lang="en-US" b="0" i="1" smtClean="0">
                        <a:latin typeface="Cambria Math" panose="02040503050406030204" pitchFamily="18" charset="0"/>
                      </a:rPr>
                      <m:t> </m:t>
                    </m:r>
                    <m:r>
                      <a:rPr lang="en-US" b="0" i="1" smtClean="0">
                        <a:latin typeface="Cambria Math" panose="02040503050406030204" pitchFamily="18" charset="0"/>
                      </a:rPr>
                      <m:t>𝑋</m:t>
                    </m:r>
                    <m:r>
                      <a:rPr lang="en-US" b="0" i="1" smtClean="0">
                        <a:latin typeface="Cambria Math" panose="02040503050406030204" pitchFamily="18" charset="0"/>
                      </a:rPr>
                      <m:t>𝛽</m:t>
                    </m:r>
                  </m:oMath>
                </a14:m>
                <a:r>
                  <a:rPr lang="en-US" b="0" dirty="0"/>
                  <a:t> but since the data</a:t>
                </a:r>
                <a:r>
                  <a:rPr lang="en-US" b="0" baseline="0" dirty="0"/>
                  <a:t> here is the proposed covariates </a:t>
                </a:r>
                <a14:m>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𝑋</m:t>
                        </m:r>
                      </m:e>
                    </m:acc>
                  </m:oMath>
                </a14:m>
                <a:r>
                  <a:rPr lang="en-US" b="0" dirty="0"/>
                  <a:t>, the result is </a:t>
                </a:r>
                <a14:m>
                  <m:oMath xmlns:m="http://schemas.openxmlformats.org/officeDocument/2006/math">
                    <m:acc>
                      <m:accPr>
                        <m:chr m:val="˜"/>
                        <m:ctrlPr>
                          <a:rPr lang="en-US" i="1" smtClean="0">
                            <a:latin typeface="Cambria Math" panose="02040503050406030204" pitchFamily="18" charset="0"/>
                          </a:rPr>
                        </m:ctrlPr>
                      </m:accPr>
                      <m:e>
                        <m:r>
                          <a:rPr lang="en-US" i="1">
                            <a:latin typeface="Cambria Math" panose="02040503050406030204" pitchFamily="18" charset="0"/>
                          </a:rPr>
                          <m:t>𝑋</m:t>
                        </m:r>
                      </m:e>
                    </m:acc>
                    <m:r>
                      <a:rPr lang="en-US" i="1">
                        <a:latin typeface="Cambria Math" panose="02040503050406030204" pitchFamily="18" charset="0"/>
                      </a:rPr>
                      <m:t>𝛽</m:t>
                    </m:r>
                  </m:oMath>
                </a14:m>
                <a:r>
                  <a:rPr lang="en-US" b="0" dirty="0"/>
                  <a:t>. Now,</a:t>
                </a:r>
                <a:r>
                  <a:rPr lang="en-US" b="0" baseline="0" dirty="0"/>
                  <a:t> t</a:t>
                </a:r>
                <a:r>
                  <a:rPr lang="en-US" b="0" dirty="0"/>
                  <a:t>he outer expectation assumes we do</a:t>
                </a:r>
                <a:r>
                  <a:rPr lang="en-US" b="0" baseline="0" dirty="0"/>
                  <a:t> not have </a:t>
                </a:r>
                <a14:m>
                  <m:oMath xmlns:m="http://schemas.openxmlformats.org/officeDocument/2006/math">
                    <m:r>
                      <a:rPr lang="en-US" b="0" i="1" baseline="0" smtClean="0">
                        <a:latin typeface="Cambria Math" panose="02040503050406030204" pitchFamily="18" charset="0"/>
                      </a:rPr>
                      <m:t>𝛽</m:t>
                    </m:r>
                  </m:oMath>
                </a14:m>
                <a:r>
                  <a:rPr lang="en-US" b="0" dirty="0"/>
                  <a:t>, so we must construct</a:t>
                </a:r>
                <a:r>
                  <a:rPr lang="en-US" b="0" baseline="0" dirty="0"/>
                  <a:t> the best approximation from our original dataset: </a:t>
                </a:r>
                <a14:m>
                  <m:oMath xmlns:m="http://schemas.openxmlformats.org/officeDocument/2006/math">
                    <m:acc>
                      <m:accPr>
                        <m:chr m:val="̂"/>
                        <m:ctrlPr>
                          <a:rPr lang="en-US" b="0" i="1" baseline="0" smtClean="0">
                            <a:solidFill>
                              <a:srgbClr val="0E0E0E"/>
                            </a:solidFill>
                            <a:effectLst/>
                            <a:latin typeface="Cambria Math" panose="02040503050406030204" pitchFamily="18" charset="0"/>
                          </a:rPr>
                        </m:ctrlPr>
                      </m:accPr>
                      <m:e>
                        <m:r>
                          <a:rPr lang="en-US" b="0" i="1" baseline="0" smtClean="0">
                            <a:latin typeface="Cambria Math" panose="02040503050406030204" pitchFamily="18" charset="0"/>
                          </a:rPr>
                          <m:t>𝛽</m:t>
                        </m:r>
                      </m:e>
                    </m:acc>
                  </m:oMath>
                </a14:m>
                <a:r>
                  <a:rPr lang="en-US" b="0"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And just as a reminder, here is the formula.</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The variance is similar. We take</a:t>
                </a:r>
                <a:endParaRPr lang="en-US"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E0E0E"/>
                    </a:solidFill>
                    <a:effectLst/>
                    <a:latin typeface=".SF NS"/>
                  </a:rPr>
                  <a:t>To compute the mean and variance of the posterior predictive distribution, we use the conditioning trick, which involves averaging over the conditional distributions. We do this because the conditional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srgbClr val="0E0E0E"/>
                  </a:solidFill>
                  <a:effectLst/>
                  <a:latin typeface=".SF N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E0E0E"/>
                    </a:solidFill>
                    <a:effectLst/>
                    <a:latin typeface=".SF NS"/>
                  </a:rPr>
                  <a:t>For the expectation of the conditional distribution—that’s equal to the expectation of the expectation of the joint posterior with </a:t>
                </a:r>
                <a:r>
                  <a:rPr lang="en-US" i="0">
                    <a:latin typeface="Cambria Math" panose="02040503050406030204" pitchFamily="18" charset="0"/>
                  </a:rPr>
                  <a:t>𝜎^2,𝑦</a:t>
                </a:r>
                <a:r>
                  <a:rPr lang="en-US" dirty="0"/>
                  <a:t> given. We know the expectation of the joint distribution is </a:t>
                </a:r>
                <a:r>
                  <a:rPr lang="en-US" b="0" i="0">
                    <a:latin typeface="Cambria Math" panose="02040503050406030204" pitchFamily="18" charset="0"/>
                  </a:rPr>
                  <a:t> 𝑋𝛽</a:t>
                </a:r>
                <a:r>
                  <a:rPr lang="en-US" b="0" dirty="0"/>
                  <a:t> but since the data</a:t>
                </a:r>
                <a:r>
                  <a:rPr lang="en-US" b="0" baseline="0" dirty="0"/>
                  <a:t> here is the proposed covariates </a:t>
                </a:r>
                <a:r>
                  <a:rPr lang="en-US" b="0" i="0">
                    <a:latin typeface="Cambria Math" panose="02040503050406030204" pitchFamily="18" charset="0"/>
                  </a:rPr>
                  <a:t>𝑋 ˜</a:t>
                </a:r>
                <a:r>
                  <a:rPr lang="en-US" b="0" dirty="0"/>
                  <a:t>, the result is </a:t>
                </a:r>
                <a:r>
                  <a:rPr lang="en-US" i="0">
                    <a:latin typeface="Cambria Math" panose="02040503050406030204" pitchFamily="18" charset="0"/>
                  </a:rPr>
                  <a:t>𝑋 ˜𝛽</a:t>
                </a:r>
                <a:r>
                  <a:rPr lang="en-US" b="0" dirty="0"/>
                  <a:t>. Now,</a:t>
                </a:r>
                <a:r>
                  <a:rPr lang="en-US" b="0" baseline="0" dirty="0"/>
                  <a:t> t</a:t>
                </a:r>
                <a:r>
                  <a:rPr lang="en-US" b="0" dirty="0"/>
                  <a:t>he outer expectation assumes we do</a:t>
                </a:r>
                <a:r>
                  <a:rPr lang="en-US" b="0" baseline="0" dirty="0"/>
                  <a:t> not have </a:t>
                </a:r>
                <a:r>
                  <a:rPr lang="en-US" b="0" i="0" baseline="0">
                    <a:latin typeface="Cambria Math" panose="02040503050406030204" pitchFamily="18" charset="0"/>
                  </a:rPr>
                  <a:t>𝛽</a:t>
                </a:r>
                <a:r>
                  <a:rPr lang="en-US" b="0" dirty="0"/>
                  <a:t>, so we must construct</a:t>
                </a:r>
                <a:r>
                  <a:rPr lang="en-US" b="0" baseline="0" dirty="0"/>
                  <a:t> the best approximation from our original dataset: </a:t>
                </a:r>
                <a:r>
                  <a:rPr lang="en-US" b="0" i="0" baseline="0">
                    <a:latin typeface="Cambria Math" panose="02040503050406030204" pitchFamily="18" charset="0"/>
                  </a:rPr>
                  <a:t>𝛽</a:t>
                </a:r>
                <a:r>
                  <a:rPr lang="en-US" b="0" i="0" baseline="0">
                    <a:solidFill>
                      <a:srgbClr val="0E0E0E"/>
                    </a:solidFill>
                    <a:effectLst/>
                    <a:latin typeface="Cambria Math" panose="02040503050406030204" pitchFamily="18" charset="0"/>
                  </a:rPr>
                  <a:t> ̂</a:t>
                </a:r>
                <a:r>
                  <a:rPr lang="en-US" b="0"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And just as a reminder, here is the formula.</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The variance is similar. We take</a:t>
                </a:r>
                <a:endParaRPr lang="en-US" dirty="0"/>
              </a:p>
            </p:txBody>
          </p:sp>
        </mc:Fallback>
      </mc:AlternateContent>
      <p:sp>
        <p:nvSpPr>
          <p:cNvPr id="4" name="Slide Number Placeholder 3"/>
          <p:cNvSpPr>
            <a:spLocks noGrp="1"/>
          </p:cNvSpPr>
          <p:nvPr>
            <p:ph type="sldNum" sz="quarter" idx="5"/>
          </p:nvPr>
        </p:nvSpPr>
        <p:spPr/>
        <p:txBody>
          <a:bodyPr/>
          <a:lstStyle/>
          <a:p>
            <a:fld id="{F625DDDC-B10B-3347-AAB4-5CB93FC9C71C}" type="slidenum">
              <a:rPr lang="en-US" smtClean="0"/>
              <a:t>23</a:t>
            </a:fld>
            <a:endParaRPr lang="en-US"/>
          </a:p>
        </p:txBody>
      </p:sp>
    </p:spTree>
    <p:extLst>
      <p:ext uri="{BB962C8B-B14F-4D97-AF65-F5344CB8AC3E}">
        <p14:creationId xmlns:p14="http://schemas.microsoft.com/office/powerpoint/2010/main" val="10492912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the expectation of the expectation of the variance of the joint posterior. The variance of the joint posterior is </a:t>
                </a:r>
                <a14:m>
                  <m:oMath xmlns:m="http://schemas.openxmlformats.org/officeDocument/2006/math">
                    <m:sSup>
                      <m:sSupPr>
                        <m:ctrlPr>
                          <a:rPr lang="en-US" i="1" smtClean="0">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i="1">
                        <a:latin typeface="Cambria Math" panose="02040503050406030204" pitchFamily="18" charset="0"/>
                      </a:rPr>
                      <m:t>𝐼</m:t>
                    </m:r>
                  </m:oMath>
                </a14:m>
                <a:r>
                  <a:rPr lang="en-US" b="0" dirty="0"/>
                  <a:t>. Since that’s assumed to be given in the conditioning trick, we know the answer to be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the expectation of the expectation of the variance of the joint posterior. The variance of the joint posterior is </a:t>
                </a:r>
                <a:r>
                  <a:rPr lang="en-US" i="0">
                    <a:latin typeface="Cambria Math" panose="02040503050406030204" pitchFamily="18" charset="0"/>
                  </a:rPr>
                  <a:t>𝜎^2 𝐼</a:t>
                </a:r>
                <a:r>
                  <a:rPr lang="en-US" b="0" dirty="0"/>
                  <a:t>. Since that’s assumed to be given in the conditioning trick, we know the answer to be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mc:Fallback>
      </mc:AlternateContent>
      <p:sp>
        <p:nvSpPr>
          <p:cNvPr id="4" name="Slide Number Placeholder 3"/>
          <p:cNvSpPr>
            <a:spLocks noGrp="1"/>
          </p:cNvSpPr>
          <p:nvPr>
            <p:ph type="sldNum" sz="quarter" idx="5"/>
          </p:nvPr>
        </p:nvSpPr>
        <p:spPr/>
        <p:txBody>
          <a:bodyPr/>
          <a:lstStyle/>
          <a:p>
            <a:fld id="{F625DDDC-B10B-3347-AAB4-5CB93FC9C71C}" type="slidenum">
              <a:rPr lang="en-US" smtClean="0"/>
              <a:t>24</a:t>
            </a:fld>
            <a:endParaRPr lang="en-US"/>
          </a:p>
        </p:txBody>
      </p:sp>
    </p:spTree>
    <p:extLst>
      <p:ext uri="{BB962C8B-B14F-4D97-AF65-F5344CB8AC3E}">
        <p14:creationId xmlns:p14="http://schemas.microsoft.com/office/powerpoint/2010/main" val="27997425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p>
                      <m:sSupPr>
                        <m:ctrlPr>
                          <a:rPr lang="en-US" i="1" smtClean="0">
                            <a:solidFill>
                              <a:schemeClr val="bg1"/>
                            </a:solidFill>
                            <a:latin typeface="Cambria Math" panose="02040503050406030204" pitchFamily="18" charset="0"/>
                          </a:rPr>
                        </m:ctrlPr>
                      </m:sSupPr>
                      <m:e>
                        <m:r>
                          <a:rPr lang="en-US" i="1">
                            <a:solidFill>
                              <a:schemeClr val="bg1"/>
                            </a:solidFill>
                            <a:latin typeface="Cambria Math" panose="02040503050406030204" pitchFamily="18" charset="0"/>
                          </a:rPr>
                          <m:t>𝜎</m:t>
                        </m:r>
                      </m:e>
                      <m:sup>
                        <m:r>
                          <a:rPr lang="en-US">
                            <a:solidFill>
                              <a:schemeClr val="bg1"/>
                            </a:solidFill>
                            <a:latin typeface="Cambria Math" panose="02040503050406030204" pitchFamily="18" charset="0"/>
                          </a:rPr>
                          <m:t>2</m:t>
                        </m:r>
                      </m:sup>
                    </m:sSup>
                    <m:r>
                      <a:rPr lang="en-US" b="0" i="1" smtClean="0">
                        <a:solidFill>
                          <a:schemeClr val="bg1"/>
                        </a:solidFill>
                        <a:latin typeface="Cambria Math" panose="02040503050406030204" pitchFamily="18" charset="0"/>
                      </a:rPr>
                      <m:t>𝐼</m:t>
                    </m:r>
                  </m:oMath>
                </a14:m>
                <a:r>
                  <a:rPr lang="en-US" dirty="0"/>
                  <a:t>. Now let’s look at the </a:t>
                </a: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i="0">
                    <a:solidFill>
                      <a:schemeClr val="bg1"/>
                    </a:solidFill>
                    <a:latin typeface="Cambria Math" panose="02040503050406030204" pitchFamily="18" charset="0"/>
                  </a:rPr>
                  <a:t>𝜎^2</a:t>
                </a:r>
                <a:r>
                  <a:rPr lang="en-US" b="0" i="0">
                    <a:solidFill>
                      <a:schemeClr val="bg1"/>
                    </a:solidFill>
                    <a:latin typeface="Cambria Math" panose="02040503050406030204" pitchFamily="18" charset="0"/>
                  </a:rPr>
                  <a:t> 𝐼</a:t>
                </a:r>
                <a:r>
                  <a:rPr lang="en-US" dirty="0"/>
                  <a:t>. Now let’s look at the </a:t>
                </a:r>
              </a:p>
            </p:txBody>
          </p:sp>
        </mc:Fallback>
      </mc:AlternateContent>
      <p:sp>
        <p:nvSpPr>
          <p:cNvPr id="4" name="Slide Number Placeholder 3"/>
          <p:cNvSpPr>
            <a:spLocks noGrp="1"/>
          </p:cNvSpPr>
          <p:nvPr>
            <p:ph type="sldNum" sz="quarter" idx="5"/>
          </p:nvPr>
        </p:nvSpPr>
        <p:spPr/>
        <p:txBody>
          <a:bodyPr/>
          <a:lstStyle/>
          <a:p>
            <a:fld id="{F625DDDC-B10B-3347-AAB4-5CB93FC9C71C}" type="slidenum">
              <a:rPr lang="en-US" smtClean="0"/>
              <a:t>25</a:t>
            </a:fld>
            <a:endParaRPr lang="en-US"/>
          </a:p>
        </p:txBody>
      </p:sp>
    </p:spTree>
    <p:extLst>
      <p:ext uri="{BB962C8B-B14F-4D97-AF65-F5344CB8AC3E}">
        <p14:creationId xmlns:p14="http://schemas.microsoft.com/office/powerpoint/2010/main" val="25035655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The variance of the expectation of the joint posterior distribution. The expectation of the joint posterior distribution is </a:t>
                </a:r>
                <a14:m>
                  <m:oMath xmlns:m="http://schemas.openxmlformats.org/officeDocument/2006/math">
                    <m:acc>
                      <m:accPr>
                        <m:chr m:val="̃"/>
                        <m:ctrlPr>
                          <a:rPr lang="en-US" b="0" i="1" baseline="0" smtClean="0">
                            <a:latin typeface="Cambria Math" panose="02040503050406030204" pitchFamily="18" charset="0"/>
                          </a:rPr>
                        </m:ctrlPr>
                      </m:accPr>
                      <m:e>
                        <m:r>
                          <a:rPr lang="en-US" b="0" i="1" baseline="0" smtClean="0">
                            <a:latin typeface="Cambria Math" panose="02040503050406030204" pitchFamily="18" charset="0"/>
                          </a:rPr>
                          <m:t>𝑋</m:t>
                        </m:r>
                      </m:e>
                    </m:acc>
                    <m:r>
                      <a:rPr lang="en-US" i="1" smtClean="0">
                        <a:latin typeface="Cambria Math" panose="02040503050406030204" pitchFamily="18" charset="0"/>
                      </a:rPr>
                      <m:t>𝛽</m:t>
                    </m:r>
                  </m:oMath>
                </a14:m>
                <a:r>
                  <a:rPr lang="en-US" b="0" dirty="0"/>
                  <a:t>, so let’s update that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The variance of the expectation of the joint posterior distribution. The expectation of the joint posterior distribution is </a:t>
                </a:r>
                <a:r>
                  <a:rPr lang="en-US" b="0" i="0" baseline="0">
                    <a:latin typeface="Cambria Math" panose="02040503050406030204" pitchFamily="18" charset="0"/>
                  </a:rPr>
                  <a:t>𝑋 ̃</a:t>
                </a:r>
                <a:r>
                  <a:rPr lang="en-US" i="0">
                    <a:latin typeface="Cambria Math" panose="02040503050406030204" pitchFamily="18" charset="0"/>
                  </a:rPr>
                  <a:t>𝛽</a:t>
                </a:r>
                <a:r>
                  <a:rPr lang="en-US" b="0" dirty="0"/>
                  <a:t>, so let’s update that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mc:Fallback>
      </mc:AlternateContent>
      <p:sp>
        <p:nvSpPr>
          <p:cNvPr id="4" name="Slide Number Placeholder 3"/>
          <p:cNvSpPr>
            <a:spLocks noGrp="1"/>
          </p:cNvSpPr>
          <p:nvPr>
            <p:ph type="sldNum" sz="quarter" idx="5"/>
          </p:nvPr>
        </p:nvSpPr>
        <p:spPr/>
        <p:txBody>
          <a:bodyPr/>
          <a:lstStyle/>
          <a:p>
            <a:fld id="{F625DDDC-B10B-3347-AAB4-5CB93FC9C71C}" type="slidenum">
              <a:rPr lang="en-US" smtClean="0"/>
              <a:t>26</a:t>
            </a:fld>
            <a:endParaRPr lang="en-US"/>
          </a:p>
        </p:txBody>
      </p:sp>
    </p:spTree>
    <p:extLst>
      <p:ext uri="{BB962C8B-B14F-4D97-AF65-F5344CB8AC3E}">
        <p14:creationId xmlns:p14="http://schemas.microsoft.com/office/powerpoint/2010/main" val="261293831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Notice now that the variance does not assume </a:t>
                </a:r>
                <a14:m>
                  <m:oMath xmlns:m="http://schemas.openxmlformats.org/officeDocument/2006/math">
                    <m:r>
                      <a:rPr lang="en-US" b="0" i="1" smtClean="0">
                        <a:latin typeface="Cambria Math" panose="02040503050406030204" pitchFamily="18" charset="0"/>
                      </a:rPr>
                      <m:t>𝛽</m:t>
                    </m:r>
                  </m:oMath>
                </a14:m>
                <a:r>
                  <a:rPr lang="en-US" b="0" dirty="0"/>
                  <a:t> is a given parameter. To compute this properly, we would need to</a:t>
                </a:r>
                <a:r>
                  <a:rPr lang="en-US" b="0" baseline="0" dirty="0"/>
                  <a:t> do the full summation, but in the interest of time, let me give you an idea of what is happening. The variance would be based on the construction </a:t>
                </a:r>
                <a:r>
                  <a:rPr lang="en-US" b="0" baseline="0" dirty="0" err="1"/>
                  <a:t>of</a:t>
                </a:r>
                <a:r>
                  <a:rPr lang="en-US" b="0" baseline="0" dirty="0"/>
                  <a:t> </a:t>
                </a:r>
                <a14:m>
                  <m:oMath xmlns:m="http://schemas.openxmlformats.org/officeDocument/2006/math">
                    <m:acc>
                      <m:accPr>
                        <m:chr m:val="̂"/>
                        <m:ctrlPr>
                          <a:rPr lang="en-US" b="0" i="1" baseline="0" smtClean="0">
                            <a:latin typeface="Cambria Math" panose="02040503050406030204" pitchFamily="18" charset="0"/>
                          </a:rPr>
                        </m:ctrlPr>
                      </m:accPr>
                      <m:e>
                        <m:r>
                          <a:rPr lang="en-US" b="0" i="1" baseline="0" smtClean="0">
                            <a:latin typeface="Cambria Math" panose="02040503050406030204" pitchFamily="18" charset="0"/>
                          </a:rPr>
                          <m:t>𝛽</m:t>
                        </m:r>
                      </m:e>
                    </m:acc>
                  </m:oMath>
                </a14:m>
                <a:r>
                  <a:rPr lang="en-US" b="0" dirty="0"/>
                  <a:t> and the</a:t>
                </a:r>
                <a:r>
                  <a:rPr lang="en-US" b="0" baseline="0" dirty="0"/>
                  <a:t> modified by the new covariate data.</a:t>
                </a:r>
                <a:r>
                  <a:rPr lang="en-US" b="0" dirty="0"/>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Notice now that the variance does not assume </a:t>
                </a:r>
                <a:r>
                  <a:rPr lang="en-US" b="0" i="0">
                    <a:latin typeface="Cambria Math" panose="02040503050406030204" pitchFamily="18" charset="0"/>
                  </a:rPr>
                  <a:t>𝛽</a:t>
                </a:r>
                <a:r>
                  <a:rPr lang="en-US" b="0" dirty="0"/>
                  <a:t> is a given parameter. To compute this properly, we would need to</a:t>
                </a:r>
                <a:r>
                  <a:rPr lang="en-US" b="0" baseline="0" dirty="0"/>
                  <a:t> do the full summation, but in the interest of time, let me give you an idea of what is happening. The variance would be based on the construction </a:t>
                </a:r>
                <a:r>
                  <a:rPr lang="en-US" b="0" baseline="0" dirty="0" err="1"/>
                  <a:t>of</a:t>
                </a:r>
                <a:r>
                  <a:rPr lang="en-US" b="0" baseline="0" dirty="0"/>
                  <a:t> </a:t>
                </a:r>
                <a:r>
                  <a:rPr lang="en-US" b="0" i="0" baseline="0">
                    <a:latin typeface="Cambria Math" panose="02040503050406030204" pitchFamily="18" charset="0"/>
                  </a:rPr>
                  <a:t>𝛽 ̂</a:t>
                </a:r>
                <a:r>
                  <a:rPr lang="en-US" b="0" dirty="0"/>
                  <a:t> and the</a:t>
                </a:r>
                <a:r>
                  <a:rPr lang="en-US" b="0" baseline="0" dirty="0"/>
                  <a:t> modified by the new covariate data.</a:t>
                </a:r>
                <a:r>
                  <a:rPr lang="en-US" b="0" dirty="0"/>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mc:Fallback>
      </mc:AlternateContent>
      <p:sp>
        <p:nvSpPr>
          <p:cNvPr id="4" name="Slide Number Placeholder 3"/>
          <p:cNvSpPr>
            <a:spLocks noGrp="1"/>
          </p:cNvSpPr>
          <p:nvPr>
            <p:ph type="sldNum" sz="quarter" idx="5"/>
          </p:nvPr>
        </p:nvSpPr>
        <p:spPr/>
        <p:txBody>
          <a:bodyPr/>
          <a:lstStyle/>
          <a:p>
            <a:fld id="{F625DDDC-B10B-3347-AAB4-5CB93FC9C71C}" type="slidenum">
              <a:rPr lang="en-US" smtClean="0"/>
              <a:t>27</a:t>
            </a:fld>
            <a:endParaRPr lang="en-US"/>
          </a:p>
        </p:txBody>
      </p:sp>
    </p:spTree>
    <p:extLst>
      <p:ext uri="{BB962C8B-B14F-4D97-AF65-F5344CB8AC3E}">
        <p14:creationId xmlns:p14="http://schemas.microsoft.com/office/powerpoint/2010/main" val="219041218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result is the following. If you’ve taken an advanced linear algebra class, you will recognize this as a congruence transformation of the variance of y. First through the initial data X, then through the proposed data </a:t>
                </a:r>
                <a14:m>
                  <m:oMath xmlns:m="http://schemas.openxmlformats.org/officeDocument/2006/math">
                    <m:acc>
                      <m:accPr>
                        <m:chr m:val="˜"/>
                        <m:ctrlPr>
                          <a:rPr lang="en-US" i="1" smtClean="0">
                            <a:latin typeface="Cambria Math" panose="02040503050406030204" pitchFamily="18" charset="0"/>
                          </a:rPr>
                        </m:ctrlPr>
                      </m:accPr>
                      <m:e>
                        <m:r>
                          <a:rPr lang="en-US" i="1">
                            <a:latin typeface="Cambria Math" panose="02040503050406030204" pitchFamily="18" charset="0"/>
                          </a:rPr>
                          <m:t>𝑋</m:t>
                        </m:r>
                      </m:e>
                    </m:acc>
                  </m:oMath>
                </a14:m>
                <a:r>
                  <a:rPr lang="en-US" dirty="0"/>
                  <a:t>. </a:t>
                </a: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result is the following. If you’ve taken an advanced linear algebra class, you will recognize this as a congruence transformation of the variance of y. First through the initial data X, then through the proposed data </a:t>
                </a:r>
                <a:r>
                  <a:rPr lang="en-US" i="0">
                    <a:latin typeface="Cambria Math" panose="02040503050406030204" pitchFamily="18" charset="0"/>
                  </a:rPr>
                  <a:t>𝑋 ˜</a:t>
                </a:r>
                <a:r>
                  <a:rPr lang="en-US" dirty="0"/>
                  <a:t>. </a:t>
                </a:r>
              </a:p>
            </p:txBody>
          </p:sp>
        </mc:Fallback>
      </mc:AlternateContent>
      <p:sp>
        <p:nvSpPr>
          <p:cNvPr id="4" name="Slide Number Placeholder 3"/>
          <p:cNvSpPr>
            <a:spLocks noGrp="1"/>
          </p:cNvSpPr>
          <p:nvPr>
            <p:ph type="sldNum" sz="quarter" idx="5"/>
          </p:nvPr>
        </p:nvSpPr>
        <p:spPr/>
        <p:txBody>
          <a:bodyPr/>
          <a:lstStyle/>
          <a:p>
            <a:fld id="{F625DDDC-B10B-3347-AAB4-5CB93FC9C71C}" type="slidenum">
              <a:rPr lang="en-US" smtClean="0"/>
              <a:t>28</a:t>
            </a:fld>
            <a:endParaRPr lang="en-US"/>
          </a:p>
        </p:txBody>
      </p:sp>
    </p:spTree>
    <p:extLst>
      <p:ext uri="{BB962C8B-B14F-4D97-AF65-F5344CB8AC3E}">
        <p14:creationId xmlns:p14="http://schemas.microsoft.com/office/powerpoint/2010/main" val="41666217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E0E0E"/>
                </a:solidFill>
                <a:effectLst/>
                <a:latin typeface=".SF NS"/>
              </a:rPr>
              <a:t>So the variance on the conditional distributions is this. </a:t>
            </a: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F625DDDC-B10B-3347-AAB4-5CB93FC9C71C}" type="slidenum">
              <a:rPr lang="en-US" smtClean="0"/>
              <a:t>29</a:t>
            </a:fld>
            <a:endParaRPr lang="en-US"/>
          </a:p>
        </p:txBody>
      </p:sp>
    </p:spTree>
    <p:extLst>
      <p:ext uri="{BB962C8B-B14F-4D97-AF65-F5344CB8AC3E}">
        <p14:creationId xmlns:p14="http://schemas.microsoft.com/office/powerpoint/2010/main" val="84839289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The variance of the conditional predictive distribution has two components: sampling variation and uncertainty about \beta, both of which rely on the hyperparameter </a:t>
                </a:r>
                <a14:m>
                  <m:oMath xmlns:m="http://schemas.openxmlformats.org/officeDocument/2006/math">
                    <m:sSup>
                      <m:sSupPr>
                        <m:ctrlPr>
                          <a:rPr lang="en-US" i="1" smtClean="0">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oMath>
                </a14:m>
                <a:r>
                  <a:rPr lang="en-US" dirty="0"/>
                  <a:t>, something we estimate from our data. </a:t>
                </a:r>
              </a:p>
              <a:p>
                <a:endParaRPr lang="en-US" dirty="0"/>
              </a:p>
              <a:p>
                <a:r>
                  <a:rPr lang="en-US" dirty="0"/>
                  <a:t>So to complete the specification of the posterior predictive distribution, we must integrate the conditional predictive distribution with respect to the values of </a:t>
                </a:r>
                <a14:m>
                  <m:oMath xmlns:m="http://schemas.openxmlformats.org/officeDocument/2006/math">
                    <m:sSup>
                      <m:sSupPr>
                        <m:ctrlPr>
                          <a:rPr lang="en-US" i="1" smtClean="0">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oMath>
                </a14:m>
                <a:r>
                  <a:rPr lang="en-US" dirty="0"/>
                  <a:t>. I will skip the computation and just show</a:t>
                </a:r>
                <a:r>
                  <a:rPr lang="en-US" baseline="0" dirty="0"/>
                  <a:t> you the result. If you want to derive the argument, review the computation from Lesson 1 of Module 3, which is a lower-dimensional version of the argument.</a:t>
                </a:r>
              </a:p>
              <a:p>
                <a:endParaRPr lang="en-US" baseline="0" dirty="0"/>
              </a:p>
              <a:p>
                <a:r>
                  <a:rPr lang="en-US" baseline="0" dirty="0"/>
                  <a:t>The result is a t distribution with n-k degrees of freedom with a variance with replacing </a:t>
                </a:r>
                <a14:m>
                  <m:oMath xmlns:m="http://schemas.openxmlformats.org/officeDocument/2006/math">
                    <m:sSup>
                      <m:sSupPr>
                        <m:ctrlPr>
                          <a:rPr lang="en-US" i="1" baseline="0" dirty="0" smtClean="0">
                            <a:latin typeface="Cambria Math" panose="02040503050406030204" pitchFamily="18" charset="0"/>
                          </a:rPr>
                        </m:ctrlPr>
                      </m:sSupPr>
                      <m:e>
                        <m:r>
                          <a:rPr lang="en-US" b="0" i="1" baseline="0" dirty="0" smtClean="0">
                            <a:latin typeface="Cambria Math" panose="02040503050406030204" pitchFamily="18" charset="0"/>
                          </a:rPr>
                          <m:t>𝜎</m:t>
                        </m:r>
                      </m:e>
                      <m:sup>
                        <m:r>
                          <a:rPr lang="en-US" i="1" baseline="0" dirty="0" smtClean="0">
                            <a:latin typeface="Cambria Math" panose="02040503050406030204" pitchFamily="18" charset="0"/>
                          </a:rPr>
                          <m:t>2</m:t>
                        </m:r>
                      </m:sup>
                    </m:sSup>
                    <m:r>
                      <a:rPr lang="en-US" b="0" i="1" baseline="0" dirty="0" smtClean="0">
                        <a:latin typeface="Cambria Math" panose="02040503050406030204" pitchFamily="18" charset="0"/>
                      </a:rPr>
                      <m:t> </m:t>
                    </m:r>
                  </m:oMath>
                </a14:m>
                <a:r>
                  <a:rPr lang="en-US" dirty="0"/>
                  <a:t> with its unbiased estimate. </a:t>
                </a:r>
              </a:p>
            </p:txBody>
          </p:sp>
        </mc:Choice>
        <mc:Fallback xmlns="">
          <p:sp>
            <p:nvSpPr>
              <p:cNvPr id="3" name="Notes Placeholder 2"/>
              <p:cNvSpPr>
                <a:spLocks noGrp="1"/>
              </p:cNvSpPr>
              <p:nvPr>
                <p:ph type="body" idx="1"/>
              </p:nvPr>
            </p:nvSpPr>
            <p:spPr/>
            <p:txBody>
              <a:bodyPr/>
              <a:lstStyle/>
              <a:p>
                <a:r>
                  <a:rPr lang="en-US" dirty="0"/>
                  <a:t>The variance of the conditional predictive distribution has two components: sampling variation and uncertainty about \beta, both of which rely on the hyperparameter </a:t>
                </a:r>
                <a:r>
                  <a:rPr lang="en-US" i="0">
                    <a:latin typeface="Cambria Math" panose="02040503050406030204" pitchFamily="18" charset="0"/>
                  </a:rPr>
                  <a:t>𝜎^2</a:t>
                </a:r>
                <a:r>
                  <a:rPr lang="en-US" dirty="0"/>
                  <a:t>, something we estimate from our data. </a:t>
                </a:r>
              </a:p>
              <a:p>
                <a:endParaRPr lang="en-US" dirty="0"/>
              </a:p>
              <a:p>
                <a:r>
                  <a:rPr lang="en-US" dirty="0"/>
                  <a:t>So to complete the specification of the posterior predictive distribution, we must integrate the conditional predictive distribution with respect to the values of </a:t>
                </a:r>
                <a:r>
                  <a:rPr lang="en-US" i="0">
                    <a:latin typeface="Cambria Math" panose="02040503050406030204" pitchFamily="18" charset="0"/>
                  </a:rPr>
                  <a:t>𝜎^2</a:t>
                </a:r>
                <a:r>
                  <a:rPr lang="en-US" dirty="0"/>
                  <a:t>. I will skip the computation and just show</a:t>
                </a:r>
                <a:r>
                  <a:rPr lang="en-US" baseline="0" dirty="0"/>
                  <a:t> you the result. If you want to derive the argument, review the computation from Lesson 1 of Module 3, which is a lower-dimensional version of the argument.</a:t>
                </a:r>
              </a:p>
              <a:p>
                <a:endParaRPr lang="en-US" baseline="0" dirty="0"/>
              </a:p>
              <a:p>
                <a:r>
                  <a:rPr lang="en-US" baseline="0" dirty="0"/>
                  <a:t>The result is a t distribution with n-k degrees of freedom with a variance with replacing </a:t>
                </a:r>
                <a:r>
                  <a:rPr lang="en-US" b="0" i="0" baseline="0" dirty="0">
                    <a:latin typeface="Cambria Math" panose="02040503050406030204" pitchFamily="18" charset="0"/>
                  </a:rPr>
                  <a:t>𝜎^</a:t>
                </a:r>
                <a:r>
                  <a:rPr lang="en-US" i="0" baseline="0" dirty="0">
                    <a:latin typeface="Cambria Math" panose="02040503050406030204" pitchFamily="18" charset="0"/>
                  </a:rPr>
                  <a:t>2</a:t>
                </a:r>
                <a:r>
                  <a:rPr lang="en-US" b="0" i="0" baseline="0" dirty="0">
                    <a:latin typeface="Cambria Math" panose="02040503050406030204" pitchFamily="18" charset="0"/>
                  </a:rPr>
                  <a:t>  </a:t>
                </a:r>
                <a:r>
                  <a:rPr lang="en-US" dirty="0"/>
                  <a:t> with its unbiased estimate. </a:t>
                </a:r>
              </a:p>
            </p:txBody>
          </p:sp>
        </mc:Fallback>
      </mc:AlternateContent>
      <p:sp>
        <p:nvSpPr>
          <p:cNvPr id="4" name="Slide Number Placeholder 3"/>
          <p:cNvSpPr>
            <a:spLocks noGrp="1"/>
          </p:cNvSpPr>
          <p:nvPr>
            <p:ph type="sldNum" sz="quarter" idx="5"/>
          </p:nvPr>
        </p:nvSpPr>
        <p:spPr/>
        <p:txBody>
          <a:bodyPr/>
          <a:lstStyle/>
          <a:p>
            <a:fld id="{F625DDDC-B10B-3347-AAB4-5CB93FC9C71C}" type="slidenum">
              <a:rPr lang="en-US" smtClean="0"/>
              <a:t>30</a:t>
            </a:fld>
            <a:endParaRPr lang="en-US"/>
          </a:p>
        </p:txBody>
      </p:sp>
    </p:spTree>
    <p:extLst>
      <p:ext uri="{BB962C8B-B14F-4D97-AF65-F5344CB8AC3E}">
        <p14:creationId xmlns:p14="http://schemas.microsoft.com/office/powerpoint/2010/main" val="22731547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E0E0E"/>
                </a:solidFill>
                <a:effectLst/>
                <a:latin typeface=".SF NS"/>
              </a:rPr>
              <a:t>Let’s now consider an example that departs from the reading.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srgbClr val="0E0E0E"/>
              </a:solidFill>
              <a:effectLst/>
              <a:latin typeface=".SF N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E0E0E"/>
                </a:solidFill>
                <a:effectLst/>
                <a:latin typeface=".SF NS"/>
              </a:rPr>
              <a:t>In this example, we look at radon measurements from three counties in Minnesota: blue earth, clay, and </a:t>
            </a:r>
            <a:r>
              <a:rPr lang="en-US" dirty="0" err="1">
                <a:solidFill>
                  <a:srgbClr val="0E0E0E"/>
                </a:solidFill>
                <a:effectLst/>
                <a:latin typeface=".SF NS"/>
              </a:rPr>
              <a:t>goodhue</a:t>
            </a:r>
            <a:r>
              <a:rPr lang="en-US" dirty="0">
                <a:solidFill>
                  <a:srgbClr val="0E0E0E"/>
                </a:solidFill>
                <a:effectLst/>
                <a:latin typeface=".SF N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srgbClr val="0E0E0E"/>
              </a:solidFill>
              <a:effectLst/>
              <a:latin typeface=".SF N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E0E0E"/>
                </a:solidFill>
                <a:effectLst/>
                <a:latin typeface=".SF NS"/>
              </a:rPr>
              <a:t>The dataset consists of 14 measurements in the first two counties and 13 in the third. It’s a small dataset, so we won’t run into the computational issues that necessitate something like QR decomposition.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srgbClr val="0E0E0E"/>
              </a:solidFill>
              <a:effectLst/>
              <a:latin typeface=".SF N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E0E0E"/>
                </a:solidFill>
                <a:effectLst/>
                <a:latin typeface=".SF NS"/>
              </a:rPr>
              <a:t>Some of the measurements were taken in a basement while others were taken on the first floor.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srgbClr val="0E0E0E"/>
              </a:solidFill>
              <a:effectLst/>
              <a:latin typeface=".SF N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E0E0E"/>
                </a:solidFill>
                <a:effectLst/>
                <a:latin typeface=".SF NS"/>
              </a:rPr>
              <a:t>We will fit an ordinary regression model without an intercept to the log transformation of the radon. This is fairly common to do since environmental data can often exhibit heteroskedasticity-–where the variance increases with the value.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srgbClr val="0E0E0E"/>
              </a:solidFill>
              <a:effectLst/>
              <a:latin typeface=".SF N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E0E0E"/>
                </a:solidFill>
                <a:effectLst/>
                <a:latin typeface=".SF NS"/>
              </a:rPr>
              <a:t>We will define our first covariate to be an indicator of whether the county is Blue Earth.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srgbClr val="0E0E0E"/>
              </a:solidFill>
              <a:effectLst/>
              <a:latin typeface=".SF N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E0E0E"/>
                </a:solidFill>
                <a:effectLst/>
                <a:latin typeface=".SF NS"/>
              </a:rPr>
              <a:t>The second and third covariates will be the same but for Clay and Goodhue. So, for those of you who took Math 569, this is a 1-hot encoding of the county.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srgbClr val="0E0E0E"/>
              </a:solidFill>
              <a:effectLst/>
              <a:latin typeface=".SF N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E0E0E"/>
                </a:solidFill>
                <a:effectLst/>
                <a:latin typeface=".SF NS"/>
              </a:rPr>
              <a:t>The fourth variable will indicate whether the measurement comes from the first floor or the basement. </a:t>
            </a:r>
          </a:p>
          <a:p>
            <a:endParaRPr lang="en-US" dirty="0"/>
          </a:p>
        </p:txBody>
      </p:sp>
      <p:sp>
        <p:nvSpPr>
          <p:cNvPr id="4" name="Slide Number Placeholder 3"/>
          <p:cNvSpPr>
            <a:spLocks noGrp="1"/>
          </p:cNvSpPr>
          <p:nvPr>
            <p:ph type="sldNum" sz="quarter" idx="5"/>
          </p:nvPr>
        </p:nvSpPr>
        <p:spPr/>
        <p:txBody>
          <a:bodyPr/>
          <a:lstStyle/>
          <a:p>
            <a:fld id="{F625DDDC-B10B-3347-AAB4-5CB93FC9C71C}" type="slidenum">
              <a:rPr lang="en-US" smtClean="0"/>
              <a:t>31</a:t>
            </a:fld>
            <a:endParaRPr lang="en-US"/>
          </a:p>
        </p:txBody>
      </p:sp>
    </p:spTree>
    <p:extLst>
      <p:ext uri="{BB962C8B-B14F-4D97-AF65-F5344CB8AC3E}">
        <p14:creationId xmlns:p14="http://schemas.microsoft.com/office/powerpoint/2010/main" val="380110505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generate the distributions for the coefficients, depicted on the left. The means correspond to the values we would compute from beta hat. </a:t>
            </a:r>
          </a:p>
          <a:p>
            <a:endParaRPr lang="en-US" dirty="0"/>
          </a:p>
          <a:p>
            <a:r>
              <a:rPr lang="en-US" dirty="0"/>
              <a:t>The right is a simulated  predictive posterior distribution corresponding to a case of measuring radon on the first floor of a structure in Blue Earth. With this data, we get a mean of 1.64 with a standard error of 0.01. </a:t>
            </a:r>
          </a:p>
          <a:p>
            <a:endParaRPr lang="en-US" dirty="0"/>
          </a:p>
          <a:p>
            <a:r>
              <a:rPr lang="en-US" dirty="0"/>
              <a:t>Insert commentary. </a:t>
            </a:r>
          </a:p>
        </p:txBody>
      </p:sp>
      <p:sp>
        <p:nvSpPr>
          <p:cNvPr id="4" name="Slide Number Placeholder 3"/>
          <p:cNvSpPr>
            <a:spLocks noGrp="1"/>
          </p:cNvSpPr>
          <p:nvPr>
            <p:ph type="sldNum" sz="quarter" idx="5"/>
          </p:nvPr>
        </p:nvSpPr>
        <p:spPr/>
        <p:txBody>
          <a:bodyPr/>
          <a:lstStyle/>
          <a:p>
            <a:fld id="{F625DDDC-B10B-3347-AAB4-5CB93FC9C71C}" type="slidenum">
              <a:rPr lang="en-US" smtClean="0"/>
              <a:t>32</a:t>
            </a:fld>
            <a:endParaRPr lang="en-US"/>
          </a:p>
        </p:txBody>
      </p:sp>
    </p:spTree>
    <p:extLst>
      <p:ext uri="{BB962C8B-B14F-4D97-AF65-F5344CB8AC3E}">
        <p14:creationId xmlns:p14="http://schemas.microsoft.com/office/powerpoint/2010/main" val="201385341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M7L1Slide23Commentary</a:t>
            </a:r>
          </a:p>
        </p:txBody>
      </p:sp>
      <p:sp>
        <p:nvSpPr>
          <p:cNvPr id="4" name="Slide Number Placeholder 3"/>
          <p:cNvSpPr>
            <a:spLocks noGrp="1"/>
          </p:cNvSpPr>
          <p:nvPr>
            <p:ph type="sldNum" sz="quarter" idx="5"/>
          </p:nvPr>
        </p:nvSpPr>
        <p:spPr/>
        <p:txBody>
          <a:bodyPr/>
          <a:lstStyle/>
          <a:p>
            <a:fld id="{858C6366-923F-1E4D-A532-3CA59BF46669}" type="slidenum">
              <a:rPr lang="en-US" smtClean="0"/>
              <a:t>33</a:t>
            </a:fld>
            <a:endParaRPr lang="en-US"/>
          </a:p>
        </p:txBody>
      </p:sp>
    </p:spTree>
    <p:extLst>
      <p:ext uri="{BB962C8B-B14F-4D97-AF65-F5344CB8AC3E}">
        <p14:creationId xmlns:p14="http://schemas.microsoft.com/office/powerpoint/2010/main" val="337909135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E0E0E"/>
                </a:solidFill>
                <a:effectLst/>
                <a:latin typeface=".SF NS"/>
              </a:rPr>
              <a:t>Posterior predictive checks involve studying the residuals.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srgbClr val="0E0E0E"/>
              </a:solidFill>
              <a:effectLst/>
              <a:latin typeface=".SF N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E0E0E"/>
                </a:solidFill>
                <a:effectLst/>
                <a:latin typeface=".SF NS"/>
              </a:rPr>
              <a:t>We study these residuals using test statistics to evaluate performance. Two kinds we might use include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srgbClr val="0E0E0E"/>
              </a:solidFill>
              <a:effectLst/>
              <a:latin typeface=".SF N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E0E0E"/>
                </a:solidFill>
                <a:effectLst/>
                <a:latin typeface=".SF NS"/>
              </a:rPr>
              <a:t>the proportion of outliers, which involves looking at the number of cases estimated to be more than 3 standard deviations away from the mean. Outliers can indicate potential issues with the model, such as incorrect assumptions, missing variables, or poor model specification.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E0E0E"/>
                </a:solidFill>
                <a:effectLst/>
                <a:latin typeface=".SF N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E0E0E"/>
                </a:solidFill>
                <a:effectLst/>
                <a:latin typeface=".SF NS"/>
              </a:rPr>
              <a:t>Another test we can do is the compute the correlation between squared residuals and fitted values. A correlation would suggest that the model may exhibit heteroscedasticity, which shows that our currently model isn’t adequate.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It is worth noting that in the next lesson, we will use the root mean squared error with both real and replicated data. If the real data has a much higher RMSE than the replicated data, then we know how model is poorly specified.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F625DDDC-B10B-3347-AAB4-5CB93FC9C71C}" type="slidenum">
              <a:rPr lang="en-US" smtClean="0"/>
              <a:t>34</a:t>
            </a:fld>
            <a:endParaRPr lang="en-US"/>
          </a:p>
        </p:txBody>
      </p:sp>
    </p:spTree>
    <p:extLst>
      <p:ext uri="{BB962C8B-B14F-4D97-AF65-F5344CB8AC3E}">
        <p14:creationId xmlns:p14="http://schemas.microsoft.com/office/powerpoint/2010/main" val="97490787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E0E0E"/>
                    </a:solidFill>
                    <a:effectLst/>
                    <a:latin typeface=".SF NS"/>
                  </a:rPr>
                  <a:t>Let’s walk through the process of </a:t>
                </a:r>
              </a:p>
              <a:p>
                <a:pPr marL="228600" marR="0" lvl="0" indent="-228600" algn="l" defTabSz="914400" rtl="0" eaLnBrk="1" fontAlgn="auto" latinLnBrk="0" hangingPunct="1">
                  <a:lnSpc>
                    <a:spcPct val="100000"/>
                  </a:lnSpc>
                  <a:spcBef>
                    <a:spcPts val="0"/>
                  </a:spcBef>
                  <a:spcAft>
                    <a:spcPts val="0"/>
                  </a:spcAft>
                  <a:buClrTx/>
                  <a:buSzTx/>
                  <a:buFontTx/>
                  <a:buAutoNum type="arabicParenBoth"/>
                  <a:tabLst/>
                  <a:defRPr/>
                </a:pPr>
                <a:r>
                  <a:rPr lang="en-US" dirty="0">
                    <a:solidFill>
                      <a:srgbClr val="0E0E0E"/>
                    </a:solidFill>
                    <a:effectLst/>
                    <a:latin typeface=".SF NS"/>
                  </a:rPr>
                  <a:t>checking the proportion of outliers and </a:t>
                </a:r>
              </a:p>
              <a:p>
                <a:pPr marL="228600" marR="0" lvl="0" indent="-228600" algn="l" defTabSz="914400" rtl="0" eaLnBrk="1" fontAlgn="auto" latinLnBrk="0" hangingPunct="1">
                  <a:lnSpc>
                    <a:spcPct val="100000"/>
                  </a:lnSpc>
                  <a:spcBef>
                    <a:spcPts val="0"/>
                  </a:spcBef>
                  <a:spcAft>
                    <a:spcPts val="0"/>
                  </a:spcAft>
                  <a:buClrTx/>
                  <a:buSzTx/>
                  <a:buFontTx/>
                  <a:buAutoNum type="arabicParenBoth"/>
                  <a:tabLst/>
                  <a:defRPr/>
                </a:pPr>
                <a:r>
                  <a:rPr lang="en-US" dirty="0">
                    <a:solidFill>
                      <a:srgbClr val="0E0E0E"/>
                    </a:solidFill>
                    <a:effectLst/>
                    <a:latin typeface=".SF NS"/>
                  </a:rPr>
                  <a:t>looking at the correlation between squared residuals and fitted values—numbers 1 and 2 on the previous slide.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srgbClr val="0E0E0E"/>
                  </a:solidFill>
                  <a:effectLst/>
                  <a:latin typeface=".SF N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E0E0E"/>
                    </a:solidFill>
                    <a:effectLst/>
                    <a:latin typeface=".SF NS"/>
                  </a:rPr>
                  <a:t>If the normal model is correct, we would expect normalized residuals of more than 3 being an outlier, since their probability should be 0.3%</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srgbClr val="0E0E0E"/>
                  </a:solidFill>
                  <a:effectLst/>
                  <a:latin typeface=".SF N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E0E0E"/>
                    </a:solidFill>
                    <a:effectLst/>
                    <a:latin typeface=".SF NS"/>
                  </a:rPr>
                  <a:t>Here is the process to assess our model by studying the outliers.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srgbClr val="0E0E0E"/>
                  </a:solidFill>
                  <a:effectLst/>
                  <a:latin typeface=".SF N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E0E0E"/>
                    </a:solidFill>
                    <a:effectLst/>
                    <a:latin typeface=".SF NS"/>
                  </a:rPr>
                  <a:t>First, we draw the parameters from the joint posterior distribution. This can be done with conditional and marginal posterior distributions.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srgbClr val="0E0E0E"/>
                  </a:solidFill>
                  <a:effectLst/>
                  <a:latin typeface=".SF N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E0E0E"/>
                    </a:solidFill>
                    <a:effectLst/>
                    <a:latin typeface=".SF NS"/>
                  </a:rPr>
                  <a:t>Next, we draw a hypothetical replication, </a:t>
                </a:r>
                <a14:m>
                  <m:oMath xmlns:m="http://schemas.openxmlformats.org/officeDocument/2006/math">
                    <m:sSup>
                      <m:sSupPr>
                        <m:ctrlPr>
                          <a:rPr lang="en-US" i="1" dirty="0" smtClean="0">
                            <a:solidFill>
                              <a:srgbClr val="0E0E0E"/>
                            </a:solidFill>
                            <a:effectLst/>
                            <a:latin typeface="Cambria Math" panose="02040503050406030204" pitchFamily="18" charset="0"/>
                          </a:rPr>
                        </m:ctrlPr>
                      </m:sSupPr>
                      <m:e>
                        <m:r>
                          <a:rPr lang="en-US" i="1" dirty="0" smtClean="0">
                            <a:solidFill>
                              <a:srgbClr val="0E0E0E"/>
                            </a:solidFill>
                            <a:effectLst/>
                            <a:latin typeface="Cambria Math" panose="02040503050406030204" pitchFamily="18" charset="0"/>
                          </a:rPr>
                          <m:t>𝑦</m:t>
                        </m:r>
                      </m:e>
                      <m:sup>
                        <m:r>
                          <a:rPr lang="en-US" i="1" dirty="0" smtClean="0">
                            <a:solidFill>
                              <a:srgbClr val="0E0E0E"/>
                            </a:solidFill>
                            <a:effectLst/>
                            <a:latin typeface="Cambria Math" panose="02040503050406030204" pitchFamily="18" charset="0"/>
                          </a:rPr>
                          <m:t>𝑟𝑒𝑝</m:t>
                        </m:r>
                      </m:sup>
                    </m:sSup>
                  </m:oMath>
                </a14:m>
                <a:r>
                  <a:rPr lang="en-US" dirty="0">
                    <a:solidFill>
                      <a:srgbClr val="0E0E0E"/>
                    </a:solidFill>
                    <a:effectLst/>
                    <a:latin typeface=".SF NS"/>
                  </a:rPr>
                  <a:t>, from the normal distribution defined</a:t>
                </a:r>
                <a:r>
                  <a:rPr lang="en-US" baseline="0" dirty="0">
                    <a:solidFill>
                      <a:srgbClr val="0E0E0E"/>
                    </a:solidFill>
                    <a:effectLst/>
                    <a:latin typeface=".SF NS"/>
                  </a:rPr>
                  <a:t> by the drawn parameters with an existing set of covariates, X, from our dataset.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solidFill>
                    <a:srgbClr val="0E0E0E"/>
                  </a:solidFill>
                  <a:effectLst/>
                  <a:latin typeface=".SF N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solidFill>
                      <a:srgbClr val="0E0E0E"/>
                    </a:solidFill>
                    <a:effectLst/>
                    <a:latin typeface=".SF NS"/>
                  </a:rPr>
                  <a:t>Then, compute the residuals using (X, </a:t>
                </a:r>
                <a14:m>
                  <m:oMath xmlns:m="http://schemas.openxmlformats.org/officeDocument/2006/math">
                    <m:sSup>
                      <m:sSupPr>
                        <m:ctrlPr>
                          <a:rPr lang="en-US" i="1" dirty="0" smtClean="0">
                            <a:solidFill>
                              <a:srgbClr val="0E0E0E"/>
                            </a:solidFill>
                            <a:effectLst/>
                            <a:latin typeface="Cambria Math" panose="02040503050406030204" pitchFamily="18" charset="0"/>
                          </a:rPr>
                        </m:ctrlPr>
                      </m:sSupPr>
                      <m:e>
                        <m:r>
                          <a:rPr lang="en-US" i="1" dirty="0" smtClean="0">
                            <a:solidFill>
                              <a:srgbClr val="0E0E0E"/>
                            </a:solidFill>
                            <a:effectLst/>
                            <a:latin typeface="Cambria Math" panose="02040503050406030204" pitchFamily="18" charset="0"/>
                          </a:rPr>
                          <m:t>𝑦</m:t>
                        </m:r>
                      </m:e>
                      <m:sup>
                        <m:r>
                          <a:rPr lang="en-US" i="1" dirty="0" smtClean="0">
                            <a:solidFill>
                              <a:srgbClr val="0E0E0E"/>
                            </a:solidFill>
                            <a:effectLst/>
                            <a:latin typeface="Cambria Math" panose="02040503050406030204" pitchFamily="18" charset="0"/>
                          </a:rPr>
                          <m:t>𝑟𝑒𝑝</m:t>
                        </m:r>
                      </m:sup>
                    </m:sSup>
                  </m:oMath>
                </a14:m>
                <a:r>
                  <a:rPr lang="en-US" baseline="0" dirty="0">
                    <a:solidFill>
                      <a:srgbClr val="0E0E0E"/>
                    </a:solidFill>
                    <a:effectLst/>
                    <a:latin typeface=".SF NS"/>
                  </a:rPr>
                  <a:t>) with the model.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solidFill>
                    <a:srgbClr val="0E0E0E"/>
                  </a:solidFill>
                  <a:effectLst/>
                  <a:latin typeface=".SF N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solidFill>
                      <a:srgbClr val="0E0E0E"/>
                    </a:solidFill>
                    <a:effectLst/>
                    <a:latin typeface=".SF NS"/>
                  </a:rPr>
                  <a:t>With this data, we compute the correlation between the squared residuals and the predicted y values.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solidFill>
                    <a:srgbClr val="0E0E0E"/>
                  </a:solidFill>
                  <a:effectLst/>
                  <a:latin typeface=".SF N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solidFill>
                      <a:srgbClr val="0E0E0E"/>
                    </a:solidFill>
                    <a:effectLst/>
                    <a:latin typeface=".SF NS"/>
                  </a:rPr>
                  <a:t>Also compute the proportion of residuals that are more than three standard deviations away. (which should only happen about 0.3% of the time).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solidFill>
                    <a:srgbClr val="0E0E0E"/>
                  </a:solidFill>
                  <a:effectLst/>
                  <a:latin typeface=".SF N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solidFill>
                      <a:srgbClr val="0E0E0E"/>
                    </a:solidFill>
                    <a:effectLst/>
                    <a:latin typeface=".SF NS"/>
                  </a:rPr>
                  <a:t>Then repeat about 1000 times to get a clear picture of the distribution. If we find after this simulation that the proportion of outliers is high and/or</a:t>
                </a:r>
                <a:endParaRPr lang="en-US" dirty="0">
                  <a:solidFill>
                    <a:srgbClr val="0E0E0E"/>
                  </a:solidFill>
                  <a:effectLst/>
                  <a:latin typeface=".SF NS"/>
                </a:endParaRPr>
              </a:p>
              <a:p>
                <a:endParaRPr lang="en-US"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E0E0E"/>
                    </a:solidFill>
                    <a:effectLst/>
                    <a:latin typeface=".SF NS"/>
                  </a:rPr>
                  <a:t>Let’s walk through the process of </a:t>
                </a:r>
              </a:p>
              <a:p>
                <a:pPr marL="228600" marR="0" lvl="0" indent="-228600" algn="l" defTabSz="914400" rtl="0" eaLnBrk="1" fontAlgn="auto" latinLnBrk="0" hangingPunct="1">
                  <a:lnSpc>
                    <a:spcPct val="100000"/>
                  </a:lnSpc>
                  <a:spcBef>
                    <a:spcPts val="0"/>
                  </a:spcBef>
                  <a:spcAft>
                    <a:spcPts val="0"/>
                  </a:spcAft>
                  <a:buClrTx/>
                  <a:buSzTx/>
                  <a:buFontTx/>
                  <a:buAutoNum type="arabicParenBoth"/>
                  <a:tabLst/>
                  <a:defRPr/>
                </a:pPr>
                <a:r>
                  <a:rPr lang="en-US" dirty="0">
                    <a:solidFill>
                      <a:srgbClr val="0E0E0E"/>
                    </a:solidFill>
                    <a:effectLst/>
                    <a:latin typeface=".SF NS"/>
                  </a:rPr>
                  <a:t>checking the proportion of outliers and </a:t>
                </a:r>
              </a:p>
              <a:p>
                <a:pPr marL="228600" marR="0" lvl="0" indent="-228600" algn="l" defTabSz="914400" rtl="0" eaLnBrk="1" fontAlgn="auto" latinLnBrk="0" hangingPunct="1">
                  <a:lnSpc>
                    <a:spcPct val="100000"/>
                  </a:lnSpc>
                  <a:spcBef>
                    <a:spcPts val="0"/>
                  </a:spcBef>
                  <a:spcAft>
                    <a:spcPts val="0"/>
                  </a:spcAft>
                  <a:buClrTx/>
                  <a:buSzTx/>
                  <a:buFontTx/>
                  <a:buAutoNum type="arabicParenBoth"/>
                  <a:tabLst/>
                  <a:defRPr/>
                </a:pPr>
                <a:r>
                  <a:rPr lang="en-US" dirty="0">
                    <a:solidFill>
                      <a:srgbClr val="0E0E0E"/>
                    </a:solidFill>
                    <a:effectLst/>
                    <a:latin typeface=".SF NS"/>
                  </a:rPr>
                  <a:t>looking at the correlation between squared residuals and fitted values—numbers 1 and 2 on the previous slide.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srgbClr val="0E0E0E"/>
                  </a:solidFill>
                  <a:effectLst/>
                  <a:latin typeface=".SF N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E0E0E"/>
                    </a:solidFill>
                    <a:effectLst/>
                    <a:latin typeface=".SF NS"/>
                  </a:rPr>
                  <a:t>If the normal model is correct, we would expect normalized residuals of more than 3 being an outlier, since their probability should be 0.3%</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srgbClr val="0E0E0E"/>
                  </a:solidFill>
                  <a:effectLst/>
                  <a:latin typeface=".SF N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E0E0E"/>
                    </a:solidFill>
                    <a:effectLst/>
                    <a:latin typeface=".SF NS"/>
                  </a:rPr>
                  <a:t>Here is the process to assess our model by studying the outliers.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srgbClr val="0E0E0E"/>
                  </a:solidFill>
                  <a:effectLst/>
                  <a:latin typeface=".SF N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E0E0E"/>
                    </a:solidFill>
                    <a:effectLst/>
                    <a:latin typeface=".SF NS"/>
                  </a:rPr>
                  <a:t>First, we draw the parameters from the joint posterior distribution. This can be done with conditional and marginal posterior distributions.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srgbClr val="0E0E0E"/>
                  </a:solidFill>
                  <a:effectLst/>
                  <a:latin typeface=".SF N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E0E0E"/>
                    </a:solidFill>
                    <a:effectLst/>
                    <a:latin typeface=".SF NS"/>
                  </a:rPr>
                  <a:t>Next, we draw a hypothetical replication, </a:t>
                </a:r>
                <a:r>
                  <a:rPr lang="en-US" i="0" dirty="0">
                    <a:solidFill>
                      <a:srgbClr val="0E0E0E"/>
                    </a:solidFill>
                    <a:effectLst/>
                    <a:latin typeface="Cambria Math" panose="02040503050406030204" pitchFamily="18" charset="0"/>
                  </a:rPr>
                  <a:t>𝑦^𝑟𝑒𝑝</a:t>
                </a:r>
                <a:r>
                  <a:rPr lang="en-US" dirty="0">
                    <a:solidFill>
                      <a:srgbClr val="0E0E0E"/>
                    </a:solidFill>
                    <a:effectLst/>
                    <a:latin typeface=".SF NS"/>
                  </a:rPr>
                  <a:t>, from the normal distribution defined</a:t>
                </a:r>
                <a:r>
                  <a:rPr lang="en-US" baseline="0" dirty="0">
                    <a:solidFill>
                      <a:srgbClr val="0E0E0E"/>
                    </a:solidFill>
                    <a:effectLst/>
                    <a:latin typeface=".SF NS"/>
                  </a:rPr>
                  <a:t> by the drawn parameters with an existing set of covariates, X, from our dataset.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solidFill>
                    <a:srgbClr val="0E0E0E"/>
                  </a:solidFill>
                  <a:effectLst/>
                  <a:latin typeface=".SF N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solidFill>
                      <a:srgbClr val="0E0E0E"/>
                    </a:solidFill>
                    <a:effectLst/>
                    <a:latin typeface=".SF NS"/>
                  </a:rPr>
                  <a:t>Then, compute the residuals using (X, </a:t>
                </a:r>
                <a:r>
                  <a:rPr lang="en-US" i="0" dirty="0">
                    <a:solidFill>
                      <a:srgbClr val="0E0E0E"/>
                    </a:solidFill>
                    <a:effectLst/>
                    <a:latin typeface="Cambria Math" panose="02040503050406030204" pitchFamily="18" charset="0"/>
                  </a:rPr>
                  <a:t>𝑦^𝑟𝑒𝑝</a:t>
                </a:r>
                <a:r>
                  <a:rPr lang="en-US" baseline="0" dirty="0">
                    <a:solidFill>
                      <a:srgbClr val="0E0E0E"/>
                    </a:solidFill>
                    <a:effectLst/>
                    <a:latin typeface=".SF NS"/>
                  </a:rPr>
                  <a:t>) with the model.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solidFill>
                    <a:srgbClr val="0E0E0E"/>
                  </a:solidFill>
                  <a:effectLst/>
                  <a:latin typeface=".SF N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solidFill>
                      <a:srgbClr val="0E0E0E"/>
                    </a:solidFill>
                    <a:effectLst/>
                    <a:latin typeface=".SF NS"/>
                  </a:rPr>
                  <a:t>With this data, we compute the correlation between the squared residuals and the predicted y values.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solidFill>
                    <a:srgbClr val="0E0E0E"/>
                  </a:solidFill>
                  <a:effectLst/>
                  <a:latin typeface=".SF N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solidFill>
                      <a:srgbClr val="0E0E0E"/>
                    </a:solidFill>
                    <a:effectLst/>
                    <a:latin typeface=".SF NS"/>
                  </a:rPr>
                  <a:t>Also compute the proportion of residuals that are more than three standard deviations away. (which should only happen about 0.3% of the time).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solidFill>
                    <a:srgbClr val="0E0E0E"/>
                  </a:solidFill>
                  <a:effectLst/>
                  <a:latin typeface=".SF N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solidFill>
                      <a:srgbClr val="0E0E0E"/>
                    </a:solidFill>
                    <a:effectLst/>
                    <a:latin typeface=".SF NS"/>
                  </a:rPr>
                  <a:t>Then repeat about 1000 times to get a clear picture of the distribution. If we find after this simulation that the proportion of outliers is high and/or</a:t>
                </a:r>
                <a:endParaRPr lang="en-US" dirty="0">
                  <a:solidFill>
                    <a:srgbClr val="0E0E0E"/>
                  </a:solidFill>
                  <a:effectLst/>
                  <a:latin typeface=".SF NS"/>
                </a:endParaRPr>
              </a:p>
              <a:p>
                <a:endParaRPr lang="en-US" dirty="0"/>
              </a:p>
            </p:txBody>
          </p:sp>
        </mc:Fallback>
      </mc:AlternateContent>
      <p:sp>
        <p:nvSpPr>
          <p:cNvPr id="4" name="Slide Number Placeholder 3"/>
          <p:cNvSpPr>
            <a:spLocks noGrp="1"/>
          </p:cNvSpPr>
          <p:nvPr>
            <p:ph type="sldNum" sz="quarter" idx="5"/>
          </p:nvPr>
        </p:nvSpPr>
        <p:spPr/>
        <p:txBody>
          <a:bodyPr/>
          <a:lstStyle/>
          <a:p>
            <a:fld id="{F625DDDC-B10B-3347-AAB4-5CB93FC9C71C}" type="slidenum">
              <a:rPr lang="en-US" smtClean="0"/>
              <a:t>35</a:t>
            </a:fld>
            <a:endParaRPr lang="en-US"/>
          </a:p>
        </p:txBody>
      </p:sp>
    </p:spTree>
    <p:extLst>
      <p:ext uri="{BB962C8B-B14F-4D97-AF65-F5344CB8AC3E}">
        <p14:creationId xmlns:p14="http://schemas.microsoft.com/office/powerpoint/2010/main" val="372514811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This check is frequentist in nature in that we run several simulations and assess the summary of those simulations. We would literally run a classic hypothesis test. </a:t>
                </a:r>
              </a:p>
              <a:p>
                <a:endParaRPr lang="en-US" dirty="0"/>
              </a:p>
              <a:p>
                <a:r>
                  <a:rPr lang="en-US" dirty="0"/>
                  <a:t>The</a:t>
                </a:r>
                <a:r>
                  <a:rPr lang="en-US" baseline="0" dirty="0"/>
                  <a:t> values, </a:t>
                </a:r>
                <a14:m>
                  <m:oMath xmlns:m="http://schemas.openxmlformats.org/officeDocument/2006/math">
                    <m:r>
                      <a:rPr lang="en-US" i="1" smtClean="0">
                        <a:latin typeface="Cambria Math" panose="02040503050406030204" pitchFamily="18" charset="0"/>
                      </a:rPr>
                      <m:t>𝜌</m:t>
                    </m:r>
                  </m:oMath>
                </a14:m>
                <a:r>
                  <a:rPr lang="en-US" dirty="0"/>
                  <a:t> and </a:t>
                </a:r>
                <a14:m>
                  <m:oMath xmlns:m="http://schemas.openxmlformats.org/officeDocument/2006/math">
                    <m:r>
                      <a:rPr lang="en-US" i="1" dirty="0" smtClean="0">
                        <a:latin typeface="Cambria Math" panose="02040503050406030204" pitchFamily="18" charset="0"/>
                      </a:rPr>
                      <m:t>𝑞</m:t>
                    </m:r>
                  </m:oMath>
                </a14:m>
                <a:r>
                  <a:rPr lang="en-US" dirty="0"/>
                  <a:t>, </a:t>
                </a:r>
                <a:r>
                  <a:rPr lang="en-US" dirty="0" err="1"/>
                  <a:t>provids</a:t>
                </a:r>
                <a:r>
                  <a:rPr lang="en-US" dirty="0"/>
                  <a:t> information about model adequacy.</a:t>
                </a:r>
              </a:p>
              <a:p>
                <a:endParaRPr lang="en-US" dirty="0"/>
              </a:p>
            </p:txBody>
          </p:sp>
        </mc:Choice>
        <mc:Fallback xmlns="">
          <p:sp>
            <p:nvSpPr>
              <p:cNvPr id="3" name="Notes Placeholder 2"/>
              <p:cNvSpPr>
                <a:spLocks noGrp="1"/>
              </p:cNvSpPr>
              <p:nvPr>
                <p:ph type="body" idx="1"/>
              </p:nvPr>
            </p:nvSpPr>
            <p:spPr/>
            <p:txBody>
              <a:bodyPr/>
              <a:lstStyle/>
              <a:p>
                <a:r>
                  <a:rPr lang="en-US" dirty="0"/>
                  <a:t>Approach is frequentist in nature: we act as if we could repeat the experiment many times.</a:t>
                </a:r>
              </a:p>
              <a:p>
                <a:r>
                  <a:rPr lang="en-US" dirty="0"/>
                  <a:t>Inspection of posterior predictive distribution of </a:t>
                </a:r>
                <a:r>
                  <a:rPr lang="en-US" i="0">
                    <a:latin typeface="Cambria Math" panose="02040503050406030204" pitchFamily="18" charset="0"/>
                  </a:rPr>
                  <a:t>𝜌</a:t>
                </a:r>
                <a:r>
                  <a:rPr lang="en-US" dirty="0"/>
                  <a:t> and of </a:t>
                </a:r>
                <a:r>
                  <a:rPr lang="en-US" i="0" dirty="0">
                    <a:latin typeface="Cambria Math" panose="02040503050406030204" pitchFamily="18" charset="0"/>
                  </a:rPr>
                  <a:t>𝑞</a:t>
                </a:r>
                <a:r>
                  <a:rPr lang="en-US" dirty="0"/>
                  <a:t> provides information about model adequacy.</a:t>
                </a:r>
              </a:p>
              <a:p>
                <a:endParaRPr lang="en-US" dirty="0"/>
              </a:p>
            </p:txBody>
          </p:sp>
        </mc:Fallback>
      </mc:AlternateContent>
      <p:sp>
        <p:nvSpPr>
          <p:cNvPr id="4" name="Slide Number Placeholder 3"/>
          <p:cNvSpPr>
            <a:spLocks noGrp="1"/>
          </p:cNvSpPr>
          <p:nvPr>
            <p:ph type="sldNum" sz="quarter" idx="5"/>
          </p:nvPr>
        </p:nvSpPr>
        <p:spPr/>
        <p:txBody>
          <a:bodyPr/>
          <a:lstStyle/>
          <a:p>
            <a:fld id="{F625DDDC-B10B-3347-AAB4-5CB93FC9C71C}" type="slidenum">
              <a:rPr lang="en-US" smtClean="0"/>
              <a:t>36</a:t>
            </a:fld>
            <a:endParaRPr lang="en-US"/>
          </a:p>
        </p:txBody>
      </p:sp>
    </p:spTree>
    <p:extLst>
      <p:ext uri="{BB962C8B-B14F-4D97-AF65-F5344CB8AC3E}">
        <p14:creationId xmlns:p14="http://schemas.microsoft.com/office/powerpoint/2010/main" val="292215294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 encourage you to compute these checks within the code directly. When you do for our example, these should be the results you see roughly speaking.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posterior predictive checks will suggest that there are no outliers and that the correlation between the squared residuals and the fitted values is negligible.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a:t>
                </a:r>
                <a14:m>
                  <m:oMath xmlns:m="http://schemas.openxmlformats.org/officeDocument/2006/math">
                    <m:r>
                      <a:rPr lang="en-US" i="1" dirty="0" smtClean="0">
                        <a:latin typeface="Cambria Math" panose="02040503050406030204" pitchFamily="18" charset="0"/>
                      </a:rPr>
                      <m:t>95%</m:t>
                    </m:r>
                  </m:oMath>
                </a14:m>
                <a:r>
                  <a:rPr lang="en-US" dirty="0"/>
                  <a:t> credible set for the proportion of absolute residuals (in the 41 observations) with absolute value of 3 or higher </a:t>
                </a:r>
                <a14:m>
                  <m:oMath xmlns:m="http://schemas.openxmlformats.org/officeDocument/2006/math">
                    <m:d>
                      <m:dPr>
                        <m:ctrlPr>
                          <a:rPr lang="en-US" i="1" dirty="0" smtClean="0">
                            <a:latin typeface="Cambria Math" panose="02040503050406030204" pitchFamily="18" charset="0"/>
                          </a:rPr>
                        </m:ctrlPr>
                      </m:dPr>
                      <m:e>
                        <m:r>
                          <a:rPr lang="en-US" i="1" dirty="0" smtClean="0">
                            <a:latin typeface="Cambria Math" panose="02040503050406030204" pitchFamily="18" charset="0"/>
                          </a:rPr>
                          <m:t>0, 4.88</m:t>
                        </m:r>
                      </m:e>
                    </m:d>
                  </m:oMath>
                </a14:m>
                <a:r>
                  <a:rPr lang="en-US" baseline="0" dirty="0"/>
                  <a:t> </a:t>
                </a:r>
                <a:r>
                  <a:rPr lang="en-US" dirty="0"/>
                  <a:t>with a mean of </a:t>
                </a:r>
                <a14:m>
                  <m:oMath xmlns:m="http://schemas.openxmlformats.org/officeDocument/2006/math">
                    <m:r>
                      <a:rPr lang="en-US" i="1" dirty="0" smtClean="0">
                        <a:latin typeface="Cambria Math" panose="02040503050406030204" pitchFamily="18" charset="0"/>
                      </a:rPr>
                      <m:t>0.59% </m:t>
                    </m:r>
                  </m:oMath>
                </a14:m>
                <a:r>
                  <a:rPr lang="en-US" dirty="0"/>
                  <a:t>and a median of 0.</a:t>
                </a:r>
                <a:r>
                  <a:rPr lang="en-US" baseline="0" dirty="0"/>
                  <a:t> </a:t>
                </a:r>
                <a:r>
                  <a:rPr lang="en-US" dirty="0"/>
                  <a:t>Notice that the posterior distribution of the proportion of outliers is skewed. This sometimes happens when the quantity of interest is bounded and most of the mass of its distribution is close to the boundary.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a:t>
                </a:r>
                <a14:m>
                  <m:oMath xmlns:m="http://schemas.openxmlformats.org/officeDocument/2006/math">
                    <m:r>
                      <a:rPr lang="en-US" i="1" dirty="0" smtClean="0">
                        <a:latin typeface="Cambria Math" panose="02040503050406030204" pitchFamily="18" charset="0"/>
                      </a:rPr>
                      <m:t>95% </m:t>
                    </m:r>
                  </m:oMath>
                </a14:m>
                <a:r>
                  <a:rPr lang="en-US" dirty="0"/>
                  <a:t>credible set for </a:t>
                </a:r>
                <a14:m>
                  <m:oMath xmlns:m="http://schemas.openxmlformats.org/officeDocument/2006/math">
                    <m:r>
                      <a:rPr lang="en-US" i="1">
                        <a:latin typeface="Cambria Math" panose="02040503050406030204" pitchFamily="18" charset="0"/>
                      </a:rPr>
                      <m:t>𝜌</m:t>
                    </m:r>
                  </m:oMath>
                </a14:m>
                <a:r>
                  <a:rPr lang="en-US" dirty="0"/>
                  <a:t> was </a:t>
                </a:r>
                <a14:m>
                  <m:oMath xmlns:m="http://schemas.openxmlformats.org/officeDocument/2006/math">
                    <m:r>
                      <a:rPr lang="en-US" i="1" dirty="0" smtClean="0">
                        <a:latin typeface="Cambria Math" panose="02040503050406030204" pitchFamily="18" charset="0"/>
                      </a:rPr>
                      <m:t>(−0.31,0.32)</m:t>
                    </m:r>
                  </m:oMath>
                </a14:m>
                <a:r>
                  <a:rPr lang="en-US" dirty="0"/>
                  <a:t> with a mean of </a:t>
                </a:r>
                <a14:m>
                  <m:oMath xmlns:m="http://schemas.openxmlformats.org/officeDocument/2006/math">
                    <m:r>
                      <a:rPr lang="en-US" i="1" dirty="0" smtClean="0">
                        <a:latin typeface="Cambria Math" panose="02040503050406030204" pitchFamily="18" charset="0"/>
                      </a:rPr>
                      <m:t>0.011</m:t>
                    </m:r>
                  </m:oMath>
                </a14:m>
                <a:r>
                  <a:rPr lang="en-US" dirty="0"/>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 encourage you to compute these checks within the code directly. When you do…</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Posterior predictive checks will suggest that there are no outliers and that the correlation between the squared residuals and the fitted values is negligible.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a:t>
                </a:r>
                <a:r>
                  <a:rPr lang="en-US" i="0" dirty="0">
                    <a:latin typeface="Cambria Math" panose="02040503050406030204" pitchFamily="18" charset="0"/>
                  </a:rPr>
                  <a:t>95%</a:t>
                </a:r>
                <a:r>
                  <a:rPr lang="en-US" dirty="0"/>
                  <a:t> credible set for the proportion of absolute residuals (in the 41 observations) will be above </a:t>
                </a:r>
                <a:r>
                  <a:rPr lang="en-US" i="0" dirty="0">
                    <a:latin typeface="Cambria Math" panose="02040503050406030204" pitchFamily="18" charset="0"/>
                  </a:rPr>
                  <a:t>3</a:t>
                </a:r>
                <a:r>
                  <a:rPr lang="en-US" dirty="0"/>
                  <a:t> was </a:t>
                </a:r>
                <a:r>
                  <a:rPr lang="en-US" i="0" dirty="0">
                    <a:latin typeface="Cambria Math" panose="02040503050406030204" pitchFamily="18" charset="0"/>
                  </a:rPr>
                  <a:t>(0, 4.88) </a:t>
                </a:r>
                <a:r>
                  <a:rPr lang="en-US" dirty="0"/>
                  <a:t>with a mean of </a:t>
                </a:r>
                <a:r>
                  <a:rPr lang="en-US" i="0" dirty="0">
                    <a:latin typeface="Cambria Math" panose="02040503050406030204" pitchFamily="18" charset="0"/>
                  </a:rPr>
                  <a:t>0.59% </a:t>
                </a:r>
                <a:r>
                  <a:rPr lang="en-US" dirty="0"/>
                  <a:t>and a median of 0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a:t>
                </a:r>
                <a:r>
                  <a:rPr lang="en-US" i="0" dirty="0">
                    <a:latin typeface="Cambria Math" panose="02040503050406030204" pitchFamily="18" charset="0"/>
                  </a:rPr>
                  <a:t>95% </a:t>
                </a:r>
                <a:r>
                  <a:rPr lang="en-US" dirty="0"/>
                  <a:t>credible set for </a:t>
                </a:r>
                <a:r>
                  <a:rPr lang="en-US" i="0">
                    <a:latin typeface="Cambria Math" panose="02040503050406030204" pitchFamily="18" charset="0"/>
                  </a:rPr>
                  <a:t>𝜌</a:t>
                </a:r>
                <a:r>
                  <a:rPr lang="en-US" dirty="0"/>
                  <a:t> was </a:t>
                </a:r>
                <a:r>
                  <a:rPr lang="en-US" i="0" dirty="0">
                    <a:latin typeface="Cambria Math" panose="02040503050406030204" pitchFamily="18" charset="0"/>
                  </a:rPr>
                  <a:t>(−0.31,0.32)</a:t>
                </a:r>
                <a:r>
                  <a:rPr lang="en-US" dirty="0"/>
                  <a:t> with a mean of </a:t>
                </a:r>
                <a:r>
                  <a:rPr lang="en-US" i="0" dirty="0">
                    <a:latin typeface="Cambria Math" panose="02040503050406030204" pitchFamily="18" charset="0"/>
                  </a:rPr>
                  <a:t>0.011</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You will notice that the posterior distribution of the proportion of outliers is skewed. This sometimes happens when the quantity of interest is bounded and most of the mass of its distribution is close to the boundary.</a:t>
                </a:r>
              </a:p>
              <a:p>
                <a:endParaRPr lang="en-US" dirty="0"/>
              </a:p>
            </p:txBody>
          </p:sp>
        </mc:Fallback>
      </mc:AlternateContent>
      <p:sp>
        <p:nvSpPr>
          <p:cNvPr id="4" name="Slide Number Placeholder 3"/>
          <p:cNvSpPr>
            <a:spLocks noGrp="1"/>
          </p:cNvSpPr>
          <p:nvPr>
            <p:ph type="sldNum" sz="quarter" idx="5"/>
          </p:nvPr>
        </p:nvSpPr>
        <p:spPr/>
        <p:txBody>
          <a:bodyPr/>
          <a:lstStyle/>
          <a:p>
            <a:fld id="{F625DDDC-B10B-3347-AAB4-5CB93FC9C71C}" type="slidenum">
              <a:rPr lang="en-US" smtClean="0"/>
              <a:t>37</a:t>
            </a:fld>
            <a:endParaRPr lang="en-US"/>
          </a:p>
        </p:txBody>
      </p:sp>
    </p:spTree>
    <p:extLst>
      <p:ext uri="{BB962C8B-B14F-4D97-AF65-F5344CB8AC3E}">
        <p14:creationId xmlns:p14="http://schemas.microsoft.com/office/powerpoint/2010/main" val="305710152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MTI10"/>
                  </a:rPr>
                  <a:t>In linear regression, we assume homoscedasticity. Still, unequal variances </a:t>
                </a:r>
                <a:r>
                  <a:rPr lang="en-US" sz="1800" dirty="0">
                    <a:effectLst/>
                    <a:latin typeface="CMR10"/>
                  </a:rPr>
                  <a:t>of the regression errors can be observed all the time. Usually, we can do a log transformation of the outcome and/or add more explanatory variables and this can take care of it, but not always. Suppose this is one such case where such tactics are not enough or are simply not possible.</a:t>
                </a:r>
                <a:endParaRPr lang="en-US" dirty="0"/>
              </a:p>
              <a:p>
                <a:endParaRPr lang="en-US" dirty="0"/>
              </a:p>
              <a:p>
                <a:r>
                  <a:rPr lang="en-US" dirty="0"/>
                  <a:t>So</a:t>
                </a:r>
                <a:r>
                  <a:rPr lang="en-US" baseline="0" dirty="0"/>
                  <a:t> we assume </a:t>
                </a:r>
                <a14:m>
                  <m:oMath xmlns:m="http://schemas.openxmlformats.org/officeDocument/2006/math">
                    <m:r>
                      <a:rPr lang="en-US" i="1">
                        <a:latin typeface="Cambria Math" panose="02040503050406030204" pitchFamily="18" charset="0"/>
                      </a:rPr>
                      <m:t>𝑦</m:t>
                    </m:r>
                    <m:r>
                      <a:rPr lang="en-US">
                        <a:latin typeface="Cambria Math" panose="02040503050406030204" pitchFamily="18" charset="0"/>
                      </a:rPr>
                      <m:t>∼</m:t>
                    </m:r>
                    <m:r>
                      <a:rPr lang="en-US" i="1">
                        <a:latin typeface="Cambria Math" panose="02040503050406030204" pitchFamily="18" charset="0"/>
                      </a:rPr>
                      <m:t>𝑁</m:t>
                    </m:r>
                    <m:d>
                      <m:dPr>
                        <m:ctrlPr>
                          <a:rPr lang="en-US" i="1">
                            <a:latin typeface="Cambria Math" panose="02040503050406030204" pitchFamily="18" charset="0"/>
                          </a:rPr>
                        </m:ctrlPr>
                      </m:dPr>
                      <m:e>
                        <m:r>
                          <a:rPr lang="en-US" i="1">
                            <a:latin typeface="Cambria Math" panose="02040503050406030204" pitchFamily="18" charset="0"/>
                          </a:rPr>
                          <m:t>𝑋</m:t>
                        </m:r>
                        <m:r>
                          <a:rPr lang="en-US" i="1">
                            <a:latin typeface="Cambria Math" panose="02040503050406030204" pitchFamily="18" charset="0"/>
                          </a:rPr>
                          <m:t>𝛽</m:t>
                        </m:r>
                        <m:r>
                          <a:rPr lang="en-US">
                            <a:latin typeface="Cambria Math" panose="02040503050406030204" pitchFamily="18" charset="0"/>
                          </a:rPr>
                          <m:t>,</m:t>
                        </m:r>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𝑦</m:t>
                            </m:r>
                          </m:sub>
                        </m:sSub>
                      </m:e>
                    </m:d>
                  </m:oMath>
                </a14:m>
                <a:r>
                  <a:rPr lang="en-US" dirty="0"/>
                  <a:t>, with </a:t>
                </a:r>
                <a14:m>
                  <m:oMath xmlns:m="http://schemas.openxmlformats.org/officeDocument/2006/math">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𝑦</m:t>
                        </m:r>
                      </m:sub>
                    </m:sSub>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i="1">
                        <a:latin typeface="Cambria Math" panose="02040503050406030204" pitchFamily="18" charset="0"/>
                      </a:rPr>
                      <m:t>𝐼</m:t>
                    </m:r>
                  </m:oMath>
                </a14:m>
                <a:r>
                  <a:rPr lang="en-US" dirty="0"/>
                  <a:t>.</a:t>
                </a:r>
              </a:p>
              <a:p>
                <a:endParaRPr lang="en-US" dirty="0"/>
              </a:p>
              <a:p>
                <a:r>
                  <a:rPr lang="en-US" dirty="0"/>
                  <a:t>Covariance matrix </a:t>
                </a:r>
                <a14:m>
                  <m:oMath xmlns:m="http://schemas.openxmlformats.org/officeDocument/2006/math">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𝑦</m:t>
                        </m:r>
                      </m:sub>
                    </m:sSub>
                  </m:oMath>
                </a14:m>
                <a:r>
                  <a:rPr lang="en-US" dirty="0"/>
                  <a:t> is a symmetric,</a:t>
                </a:r>
                <a:r>
                  <a:rPr lang="en-US" baseline="0" dirty="0"/>
                  <a:t> positive, definite, </a:t>
                </a:r>
                <a14:m>
                  <m:oMath xmlns:m="http://schemas.openxmlformats.org/officeDocument/2006/math">
                    <m:r>
                      <a:rPr lang="en-US" i="1" dirty="0" smtClean="0">
                        <a:latin typeface="Cambria Math" panose="02040503050406030204" pitchFamily="18" charset="0"/>
                      </a:rPr>
                      <m:t>𝑛</m:t>
                    </m:r>
                    <m:r>
                      <a:rPr lang="en-US" i="1" dirty="0" smtClean="0">
                        <a:latin typeface="Cambria Math" panose="02040503050406030204" pitchFamily="18" charset="0"/>
                        <a:ea typeface="Cambria Math" panose="02040503050406030204" pitchFamily="18" charset="0"/>
                      </a:rPr>
                      <m:t>×</m:t>
                    </m:r>
                    <m:r>
                      <a:rPr lang="en-US" i="1" dirty="0" smtClean="0">
                        <a:latin typeface="Cambria Math" panose="02040503050406030204" pitchFamily="18" charset="0"/>
                      </a:rPr>
                      <m:t>𝑛</m:t>
                    </m:r>
                  </m:oMath>
                </a14:m>
                <a:r>
                  <a:rPr lang="en-US" dirty="0"/>
                  <a:t> matrix. </a:t>
                </a:r>
              </a:p>
              <a:p>
                <a:endParaRPr lang="en-US" dirty="0"/>
              </a:p>
              <a:p>
                <a:r>
                  <a:rPr lang="en-US" dirty="0"/>
                  <a:t>It, therefore, has </a:t>
                </a:r>
                <a14:m>
                  <m:oMath xmlns:m="http://schemas.openxmlformats.org/officeDocument/2006/math">
                    <m:r>
                      <a:rPr lang="en-US" i="1" dirty="0" smtClean="0">
                        <a:latin typeface="Cambria Math" panose="02040503050406030204" pitchFamily="18" charset="0"/>
                      </a:rPr>
                      <m:t>𝑛</m:t>
                    </m:r>
                    <m:r>
                      <a:rPr lang="en-US" i="1" dirty="0" smtClean="0">
                        <a:latin typeface="Cambria Math" panose="02040503050406030204" pitchFamily="18" charset="0"/>
                      </a:rPr>
                      <m:t>(</m:t>
                    </m:r>
                    <m:r>
                      <a:rPr lang="en-US" i="1" dirty="0" smtClean="0">
                        <a:latin typeface="Cambria Math" panose="02040503050406030204" pitchFamily="18" charset="0"/>
                      </a:rPr>
                      <m:t>𝑛</m:t>
                    </m:r>
                    <m:r>
                      <a:rPr lang="en-US" i="1" dirty="0" smtClean="0">
                        <a:latin typeface="Cambria Math" panose="02040503050406030204" pitchFamily="18" charset="0"/>
                      </a:rPr>
                      <m:t>+1)/2</m:t>
                    </m:r>
                  </m:oMath>
                </a14:m>
                <a:r>
                  <a:rPr lang="en-US" dirty="0"/>
                  <a:t> distinct parameters, which cannot be estimated from n observations. So this is quite the dilemma as the setup is</a:t>
                </a:r>
                <a:r>
                  <a:rPr lang="en-US" baseline="0" dirty="0"/>
                  <a:t> currently impossible. To overcome this hurdle, we need to change the setup by either </a:t>
                </a:r>
                <a:r>
                  <a:rPr lang="en-US" dirty="0"/>
                  <a:t>placing more restrictions on </a:t>
                </a:r>
                <a14:m>
                  <m:oMath xmlns:m="http://schemas.openxmlformats.org/officeDocument/2006/math">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𝑦</m:t>
                        </m:r>
                      </m:sub>
                    </m:sSub>
                  </m:oMath>
                </a14:m>
                <a:r>
                  <a:rPr lang="en-US" dirty="0"/>
                  <a:t> or</a:t>
                </a:r>
                <a:r>
                  <a:rPr lang="en-US" baseline="0" dirty="0"/>
                  <a:t> assigning a highly informative prior. </a:t>
                </a:r>
                <a:endParaRPr lang="en-US" dirty="0"/>
              </a:p>
              <a:p>
                <a:endParaRPr lang="en-US" dirty="0"/>
              </a:p>
              <a:p>
                <a:r>
                  <a:rPr lang="en-US" dirty="0"/>
                  <a:t>Typically, folks</a:t>
                </a:r>
                <a:r>
                  <a:rPr lang="en-US" baseline="0" dirty="0"/>
                  <a:t> </a:t>
                </a:r>
                <a:r>
                  <a:rPr lang="en-US" dirty="0"/>
                  <a:t>impose</a:t>
                </a:r>
                <a:r>
                  <a:rPr lang="en-US" baseline="0" dirty="0"/>
                  <a:t> structure</a:t>
                </a:r>
                <a:r>
                  <a:rPr lang="en-US" dirty="0"/>
                  <a:t> on </a:t>
                </a:r>
                <a14:m>
                  <m:oMath xmlns:m="http://schemas.openxmlformats.org/officeDocument/2006/math">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𝑦</m:t>
                        </m:r>
                      </m:sub>
                    </m:sSub>
                  </m:oMath>
                </a14:m>
                <a:r>
                  <a:rPr lang="en-US" dirty="0"/>
                  <a:t> to reduce the number of free parameters to less than </a:t>
                </a:r>
                <a14:m>
                  <m:oMath xmlns:m="http://schemas.openxmlformats.org/officeDocument/2006/math">
                    <m:r>
                      <a:rPr lang="en-US" i="1" dirty="0" smtClean="0">
                        <a:latin typeface="Cambria Math" panose="02040503050406030204" pitchFamily="18" charset="0"/>
                      </a:rPr>
                      <m:t>𝑛</m:t>
                    </m:r>
                  </m:oMath>
                </a14:m>
                <a:r>
                  <a:rPr lang="en-US" dirty="0"/>
                  <a:t>.</a:t>
                </a:r>
              </a:p>
              <a:p>
                <a:endParaRPr lang="en-US"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MTI10"/>
                  </a:rPr>
                  <a:t>In linear regression, we assume homoscedasticity. Still, unequal variances </a:t>
                </a:r>
                <a:r>
                  <a:rPr lang="en-US" sz="1800" dirty="0">
                    <a:effectLst/>
                    <a:latin typeface="CMR10"/>
                  </a:rPr>
                  <a:t>of the regression errors can be observed all the time. Usually, we can do a log transformation of the outcome and/or add more explanatory variables and this can take care of it, but not always. Suppose this is one such case where such tactics are not enough or are simply not possible.</a:t>
                </a:r>
                <a:endParaRPr lang="en-US" dirty="0"/>
              </a:p>
              <a:p>
                <a:endParaRPr lang="en-US" dirty="0"/>
              </a:p>
              <a:p>
                <a:r>
                  <a:rPr lang="en-US" dirty="0"/>
                  <a:t>So</a:t>
                </a:r>
                <a:r>
                  <a:rPr lang="en-US" baseline="0" dirty="0"/>
                  <a:t> we assume </a:t>
                </a:r>
                <a:r>
                  <a:rPr lang="en-US" i="0">
                    <a:latin typeface="Cambria Math" panose="02040503050406030204" pitchFamily="18" charset="0"/>
                  </a:rPr>
                  <a:t>𝑦∼𝑁(𝑋𝛽,Σ_𝑦 )</a:t>
                </a:r>
                <a:r>
                  <a:rPr lang="en-US" dirty="0"/>
                  <a:t>, with </a:t>
                </a:r>
                <a:r>
                  <a:rPr lang="en-US" i="0">
                    <a:latin typeface="Cambria Math" panose="02040503050406030204" pitchFamily="18" charset="0"/>
                  </a:rPr>
                  <a:t>Σ_𝑦≠𝜎^2 𝐼</a:t>
                </a:r>
                <a:r>
                  <a:rPr lang="en-US" dirty="0"/>
                  <a:t>.</a:t>
                </a:r>
              </a:p>
              <a:p>
                <a:endParaRPr lang="en-US" dirty="0"/>
              </a:p>
              <a:p>
                <a:r>
                  <a:rPr lang="en-US" dirty="0"/>
                  <a:t>Covariance matrix </a:t>
                </a:r>
                <a:r>
                  <a:rPr lang="en-US" i="0">
                    <a:latin typeface="Cambria Math" panose="02040503050406030204" pitchFamily="18" charset="0"/>
                  </a:rPr>
                  <a:t>Σ_𝑦</a:t>
                </a:r>
                <a:r>
                  <a:rPr lang="en-US" dirty="0"/>
                  <a:t> is a symmetric,</a:t>
                </a:r>
                <a:r>
                  <a:rPr lang="en-US" baseline="0" dirty="0"/>
                  <a:t> positive, definite, </a:t>
                </a:r>
                <a:r>
                  <a:rPr lang="en-US" i="0" dirty="0">
                    <a:latin typeface="Cambria Math" panose="02040503050406030204" pitchFamily="18" charset="0"/>
                  </a:rPr>
                  <a:t>𝑛</a:t>
                </a:r>
                <a:r>
                  <a:rPr lang="en-US" i="0" dirty="0">
                    <a:latin typeface="Cambria Math" panose="02040503050406030204" pitchFamily="18" charset="0"/>
                    <a:ea typeface="Cambria Math" panose="02040503050406030204" pitchFamily="18" charset="0"/>
                  </a:rPr>
                  <a:t>×</a:t>
                </a:r>
                <a:r>
                  <a:rPr lang="en-US" i="0" dirty="0">
                    <a:latin typeface="Cambria Math" panose="02040503050406030204" pitchFamily="18" charset="0"/>
                  </a:rPr>
                  <a:t>𝑛</a:t>
                </a:r>
                <a:r>
                  <a:rPr lang="en-US" dirty="0"/>
                  <a:t> matrix. </a:t>
                </a:r>
              </a:p>
              <a:p>
                <a:endParaRPr lang="en-US" dirty="0"/>
              </a:p>
              <a:p>
                <a:r>
                  <a:rPr lang="en-US" dirty="0"/>
                  <a:t>It, therefore, has </a:t>
                </a:r>
                <a:r>
                  <a:rPr lang="en-US" i="0" dirty="0">
                    <a:latin typeface="Cambria Math" panose="02040503050406030204" pitchFamily="18" charset="0"/>
                  </a:rPr>
                  <a:t>𝑛(𝑛+1)/2</a:t>
                </a:r>
                <a:r>
                  <a:rPr lang="en-US" dirty="0"/>
                  <a:t> distinct parameters, which cannot be estimated from n observations. So this is quite the dilemma as the setup is</a:t>
                </a:r>
                <a:r>
                  <a:rPr lang="en-US" baseline="0" dirty="0"/>
                  <a:t> currently impossible. To overcome this hurdle, we need to change the setup by either </a:t>
                </a:r>
                <a:r>
                  <a:rPr lang="en-US" dirty="0"/>
                  <a:t>placing more restrictions on </a:t>
                </a:r>
                <a:r>
                  <a:rPr lang="en-US" i="0">
                    <a:latin typeface="Cambria Math" panose="02040503050406030204" pitchFamily="18" charset="0"/>
                  </a:rPr>
                  <a:t>Σ_𝑦</a:t>
                </a:r>
                <a:r>
                  <a:rPr lang="en-US" dirty="0"/>
                  <a:t> or</a:t>
                </a:r>
                <a:r>
                  <a:rPr lang="en-US" baseline="0" dirty="0"/>
                  <a:t> assigning a highly informative prior. </a:t>
                </a:r>
                <a:endParaRPr lang="en-US" dirty="0"/>
              </a:p>
              <a:p>
                <a:endParaRPr lang="en-US" dirty="0"/>
              </a:p>
              <a:p>
                <a:r>
                  <a:rPr lang="en-US" dirty="0"/>
                  <a:t>Typically, folks</a:t>
                </a:r>
                <a:r>
                  <a:rPr lang="en-US" baseline="0" dirty="0"/>
                  <a:t> </a:t>
                </a:r>
                <a:r>
                  <a:rPr lang="en-US" dirty="0"/>
                  <a:t>impose</a:t>
                </a:r>
                <a:r>
                  <a:rPr lang="en-US" baseline="0" dirty="0"/>
                  <a:t> structure</a:t>
                </a:r>
                <a:r>
                  <a:rPr lang="en-US" dirty="0"/>
                  <a:t> on </a:t>
                </a:r>
                <a:r>
                  <a:rPr lang="en-US" i="0">
                    <a:latin typeface="Cambria Math" panose="02040503050406030204" pitchFamily="18" charset="0"/>
                  </a:rPr>
                  <a:t>Σ_𝑦</a:t>
                </a:r>
                <a:r>
                  <a:rPr lang="en-US" dirty="0"/>
                  <a:t> to reduce the number of free parameters to less than </a:t>
                </a:r>
                <a:r>
                  <a:rPr lang="en-US" i="0" dirty="0">
                    <a:latin typeface="Cambria Math" panose="02040503050406030204" pitchFamily="18" charset="0"/>
                  </a:rPr>
                  <a:t>𝑛</a:t>
                </a:r>
                <a:r>
                  <a:rPr lang="en-US" dirty="0"/>
                  <a:t>.</a:t>
                </a:r>
              </a:p>
              <a:p>
                <a:endParaRPr lang="en-US" dirty="0"/>
              </a:p>
            </p:txBody>
          </p:sp>
        </mc:Fallback>
      </mc:AlternateContent>
      <p:sp>
        <p:nvSpPr>
          <p:cNvPr id="4" name="Slide Number Placeholder 3"/>
          <p:cNvSpPr>
            <a:spLocks noGrp="1"/>
          </p:cNvSpPr>
          <p:nvPr>
            <p:ph type="sldNum" sz="quarter" idx="5"/>
          </p:nvPr>
        </p:nvSpPr>
        <p:spPr/>
        <p:txBody>
          <a:bodyPr/>
          <a:lstStyle/>
          <a:p>
            <a:fld id="{F625DDDC-B10B-3347-AAB4-5CB93FC9C71C}" type="slidenum">
              <a:rPr lang="en-US" smtClean="0"/>
              <a:t>38</a:t>
            </a:fld>
            <a:endParaRPr lang="en-US"/>
          </a:p>
        </p:txBody>
      </p:sp>
    </p:spTree>
    <p:extLst>
      <p:ext uri="{BB962C8B-B14F-4D97-AF65-F5344CB8AC3E}">
        <p14:creationId xmlns:p14="http://schemas.microsoft.com/office/powerpoint/2010/main" val="45432620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We use a noninformative prior on the </a:t>
                </a:r>
                <a:r>
                  <a:rPr lang="en-US" dirty="0" err="1"/>
                  <a:t>coefficients</a:t>
                </a:r>
                <a:r>
                  <a:rPr lang="en-US" dirty="0"/>
                  <a:t>:</a:t>
                </a:r>
                <a:r>
                  <a:rPr lang="en-US" baseline="0" dirty="0"/>
                  <a:t> </a:t>
                </a:r>
                <a14:m>
                  <m:oMath xmlns:m="http://schemas.openxmlformats.org/officeDocument/2006/math">
                    <m:r>
                      <a:rPr lang="en-US" i="1">
                        <a:latin typeface="Cambria Math" panose="02040503050406030204" pitchFamily="18" charset="0"/>
                      </a:rPr>
                      <m:t>𝑝</m:t>
                    </m:r>
                    <m:r>
                      <a:rPr lang="en-US">
                        <a:latin typeface="Cambria Math" panose="02040503050406030204" pitchFamily="18" charset="0"/>
                      </a:rPr>
                      <m:t>(</m:t>
                    </m:r>
                    <m:r>
                      <a:rPr lang="en-US" i="1">
                        <a:latin typeface="Cambria Math" panose="02040503050406030204" pitchFamily="18" charset="0"/>
                      </a:rPr>
                      <m:t>𝛽</m:t>
                    </m:r>
                    <m:r>
                      <a:rPr lang="en-US">
                        <a:latin typeface="Cambria Math" panose="02040503050406030204" pitchFamily="18" charset="0"/>
                      </a:rPr>
                      <m:t>)∝1</m:t>
                    </m:r>
                  </m:oMath>
                </a14:m>
                <a:r>
                  <a:rPr lang="en-US" dirty="0">
                    <a:effectLst/>
                  </a:rPr>
                  <a:t> </a:t>
                </a:r>
              </a:p>
              <a:p>
                <a:endParaRPr lang="en-US" dirty="0">
                  <a:effectLst/>
                </a:endParaRPr>
              </a:p>
              <a:p>
                <a:r>
                  <a:rPr lang="en-US" dirty="0"/>
                  <a:t>Since </a:t>
                </a:r>
                <a14:m>
                  <m:oMath xmlns:m="http://schemas.openxmlformats.org/officeDocument/2006/math">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𝑦</m:t>
                        </m:r>
                      </m:sub>
                    </m:sSub>
                  </m:oMath>
                </a14:m>
                <a:r>
                  <a:rPr lang="en-US" dirty="0"/>
                  <a:t> is positive definite and symmetric, it has an upper-triangular square root matrix,</a:t>
                </a:r>
                <a:r>
                  <a:rPr lang="en-US" baseline="0" dirty="0"/>
                  <a:t> which is called a </a:t>
                </a:r>
                <a:r>
                  <a:rPr lang="en-US" dirty="0"/>
                  <a:t>Cholesky factor.</a:t>
                </a:r>
                <a:r>
                  <a:rPr lang="en-US" baseline="0" dirty="0"/>
                  <a:t> </a:t>
                </a:r>
                <a:r>
                  <a:rPr lang="en-US" dirty="0"/>
                  <a:t>So that if our model is of</a:t>
                </a:r>
                <a:r>
                  <a:rPr lang="en-US" baseline="0" dirty="0"/>
                  <a:t> the form</a:t>
                </a:r>
                <a:r>
                  <a:rPr lang="en-US" dirty="0"/>
                  <a:t>:</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𝑦</m:t>
                      </m:r>
                      <m:r>
                        <a:rPr lang="en-US">
                          <a:latin typeface="Cambria Math" panose="02040503050406030204" pitchFamily="18" charset="0"/>
                        </a:rPr>
                        <m:t>=</m:t>
                      </m:r>
                      <m:r>
                        <a:rPr lang="en-US" i="1">
                          <a:latin typeface="Cambria Math" panose="02040503050406030204" pitchFamily="18" charset="0"/>
                        </a:rPr>
                        <m:t>𝑋</m:t>
                      </m:r>
                      <m:r>
                        <a:rPr lang="en-US" i="1">
                          <a:latin typeface="Cambria Math" panose="02040503050406030204" pitchFamily="18" charset="0"/>
                        </a:rPr>
                        <m:t>𝛽</m:t>
                      </m:r>
                      <m:r>
                        <a:rPr lang="en-US">
                          <a:latin typeface="Cambria Math" panose="02040503050406030204" pitchFamily="18" charset="0"/>
                        </a:rPr>
                        <m:t>+</m:t>
                      </m:r>
                      <m:r>
                        <a:rPr lang="en-US" i="1">
                          <a:latin typeface="Cambria Math" panose="02040503050406030204" pitchFamily="18" charset="0"/>
                        </a:rPr>
                        <m:t>𝑒</m:t>
                      </m:r>
                      <m:r>
                        <a:rPr lang="en-US">
                          <a:latin typeface="Cambria Math" panose="02040503050406030204" pitchFamily="18" charset="0"/>
                        </a:rPr>
                        <m:t>,</m:t>
                      </m:r>
                      <m:box>
                        <m:boxPr>
                          <m:ctrlPr>
                            <a:rPr lang="en-US" i="1">
                              <a:latin typeface="Cambria Math" panose="02040503050406030204" pitchFamily="18" charset="0"/>
                            </a:rPr>
                          </m:ctrlPr>
                        </m:boxPr>
                        <m:e>
                          <m:r>
                            <a:rPr lang="en-US">
                              <a:latin typeface="Cambria Math" panose="02040503050406030204" pitchFamily="18" charset="0"/>
                            </a:rPr>
                            <m:t> </m:t>
                          </m:r>
                        </m:e>
                      </m:box>
                      <m:r>
                        <a:rPr lang="en-US" i="1">
                          <a:latin typeface="Cambria Math" panose="02040503050406030204" pitchFamily="18" charset="0"/>
                        </a:rPr>
                        <m:t>𝑒</m:t>
                      </m:r>
                      <m:r>
                        <a:rPr lang="en-US">
                          <a:latin typeface="Cambria Math" panose="02040503050406030204" pitchFamily="18" charset="0"/>
                        </a:rPr>
                        <m:t>∼</m:t>
                      </m:r>
                      <m:r>
                        <a:rPr lang="en-US" i="1">
                          <a:latin typeface="Cambria Math" panose="02040503050406030204" pitchFamily="18" charset="0"/>
                        </a:rPr>
                        <m:t>𝑁</m:t>
                      </m:r>
                      <m:d>
                        <m:dPr>
                          <m:ctrlPr>
                            <a:rPr lang="en-US" i="1">
                              <a:latin typeface="Cambria Math" panose="02040503050406030204" pitchFamily="18" charset="0"/>
                            </a:rPr>
                          </m:ctrlPr>
                        </m:dPr>
                        <m:e>
                          <m:r>
                            <a:rPr lang="en-US">
                              <a:latin typeface="Cambria Math" panose="02040503050406030204" pitchFamily="18" charset="0"/>
                            </a:rPr>
                            <m:t>0,</m:t>
                          </m:r>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𝑦</m:t>
                              </m:r>
                            </m:sub>
                          </m:sSub>
                        </m:e>
                      </m:d>
                    </m:oMath>
                  </m:oMathPara>
                </a14:m>
                <a:endParaRPr lang="en-US" dirty="0"/>
              </a:p>
              <a:p>
                <a:pPr marL="0" indent="0">
                  <a:buNone/>
                </a:pPr>
                <a:r>
                  <a:rPr lang="en-US" dirty="0"/>
                  <a:t>Then we can transform it by applying the Cholesky factor  to every term</a:t>
                </a:r>
              </a:p>
              <a:p>
                <a:pPr marL="0" indent="0">
                  <a:buNone/>
                </a:pPr>
                <a14:m>
                  <m:oMathPara xmlns:m="http://schemas.openxmlformats.org/officeDocument/2006/math">
                    <m:oMathParaPr>
                      <m:jc m:val="centerGroup"/>
                    </m:oMathParaPr>
                    <m:oMath xmlns:m="http://schemas.openxmlformats.org/officeDocument/2006/math">
                      <m:sSubSup>
                        <m:sSubSupPr>
                          <m:ctrlPr>
                            <a:rPr lang="en-US" i="1">
                              <a:latin typeface="Cambria Math" panose="02040503050406030204" pitchFamily="18" charset="0"/>
                            </a:rPr>
                          </m:ctrlPr>
                        </m:sSubSupPr>
                        <m:e>
                          <m:r>
                            <m:rPr>
                              <m:sty m:val="p"/>
                            </m:rPr>
                            <a:rPr lang="en-US">
                              <a:latin typeface="Cambria Math" panose="02040503050406030204" pitchFamily="18" charset="0"/>
                            </a:rPr>
                            <m:t>Σ</m:t>
                          </m:r>
                        </m:e>
                        <m:sub>
                          <m:r>
                            <a:rPr lang="en-US" i="1">
                              <a:latin typeface="Cambria Math" panose="02040503050406030204" pitchFamily="18" charset="0"/>
                            </a:rPr>
                            <m:t>𝑦</m:t>
                          </m:r>
                        </m:sub>
                        <m:sup>
                          <m:r>
                            <a:rPr lang="en-US" i="1">
                              <a:latin typeface="Cambria Math" panose="02040503050406030204" pitchFamily="18" charset="0"/>
                            </a:rPr>
                            <m:t>−</m:t>
                          </m:r>
                          <m:r>
                            <a:rPr lang="en-US">
                              <a:latin typeface="Cambria Math" panose="02040503050406030204" pitchFamily="18" charset="0"/>
                            </a:rPr>
                            <m:t>1/2</m:t>
                          </m:r>
                        </m:sup>
                      </m:sSubSup>
                      <m:r>
                        <a:rPr lang="en-US" i="1">
                          <a:latin typeface="Cambria Math" panose="02040503050406030204" pitchFamily="18" charset="0"/>
                        </a:rPr>
                        <m:t>𝑦</m:t>
                      </m:r>
                      <m:r>
                        <a:rPr lang="en-US">
                          <a:latin typeface="Cambria Math" panose="02040503050406030204" pitchFamily="18" charset="0"/>
                        </a:rPr>
                        <m:t>=</m:t>
                      </m:r>
                      <m:sSubSup>
                        <m:sSubSupPr>
                          <m:ctrlPr>
                            <a:rPr lang="en-US" i="1">
                              <a:latin typeface="Cambria Math" panose="02040503050406030204" pitchFamily="18" charset="0"/>
                            </a:rPr>
                          </m:ctrlPr>
                        </m:sSubSupPr>
                        <m:e>
                          <m:r>
                            <m:rPr>
                              <m:sty m:val="p"/>
                            </m:rPr>
                            <a:rPr lang="en-US">
                              <a:latin typeface="Cambria Math" panose="02040503050406030204" pitchFamily="18" charset="0"/>
                            </a:rPr>
                            <m:t>Σ</m:t>
                          </m:r>
                        </m:e>
                        <m:sub>
                          <m:r>
                            <a:rPr lang="en-US" i="1">
                              <a:latin typeface="Cambria Math" panose="02040503050406030204" pitchFamily="18" charset="0"/>
                            </a:rPr>
                            <m:t>𝑦</m:t>
                          </m:r>
                        </m:sub>
                        <m:sup>
                          <m:r>
                            <a:rPr lang="en-US" i="1">
                              <a:latin typeface="Cambria Math" panose="02040503050406030204" pitchFamily="18" charset="0"/>
                            </a:rPr>
                            <m:t>−</m:t>
                          </m:r>
                          <m:r>
                            <a:rPr lang="en-US">
                              <a:latin typeface="Cambria Math" panose="02040503050406030204" pitchFamily="18" charset="0"/>
                            </a:rPr>
                            <m:t>1/2</m:t>
                          </m:r>
                        </m:sup>
                      </m:sSubSup>
                      <m:r>
                        <a:rPr lang="en-US" i="1">
                          <a:latin typeface="Cambria Math" panose="02040503050406030204" pitchFamily="18" charset="0"/>
                        </a:rPr>
                        <m:t>𝑋</m:t>
                      </m:r>
                      <m:r>
                        <a:rPr lang="en-US" i="1">
                          <a:latin typeface="Cambria Math" panose="02040503050406030204" pitchFamily="18" charset="0"/>
                        </a:rPr>
                        <m:t>𝛽</m:t>
                      </m:r>
                      <m:r>
                        <a:rPr lang="en-US">
                          <a:latin typeface="Cambria Math" panose="02040503050406030204" pitchFamily="18" charset="0"/>
                        </a:rPr>
                        <m:t>+</m:t>
                      </m:r>
                      <m:sSubSup>
                        <m:sSubSupPr>
                          <m:ctrlPr>
                            <a:rPr lang="en-US" i="1">
                              <a:latin typeface="Cambria Math" panose="02040503050406030204" pitchFamily="18" charset="0"/>
                            </a:rPr>
                          </m:ctrlPr>
                        </m:sSubSupPr>
                        <m:e>
                          <m:r>
                            <m:rPr>
                              <m:sty m:val="p"/>
                            </m:rPr>
                            <a:rPr lang="en-US">
                              <a:latin typeface="Cambria Math" panose="02040503050406030204" pitchFamily="18" charset="0"/>
                            </a:rPr>
                            <m:t>Σ</m:t>
                          </m:r>
                        </m:e>
                        <m:sub>
                          <m:r>
                            <a:rPr lang="en-US" i="1">
                              <a:latin typeface="Cambria Math" panose="02040503050406030204" pitchFamily="18" charset="0"/>
                            </a:rPr>
                            <m:t>𝑦</m:t>
                          </m:r>
                        </m:sub>
                        <m:sup>
                          <m:r>
                            <a:rPr lang="en-US" i="1">
                              <a:latin typeface="Cambria Math" panose="02040503050406030204" pitchFamily="18" charset="0"/>
                            </a:rPr>
                            <m:t>−</m:t>
                          </m:r>
                          <m:r>
                            <a:rPr lang="en-US">
                              <a:latin typeface="Cambria Math" panose="02040503050406030204" pitchFamily="18" charset="0"/>
                            </a:rPr>
                            <m:t>1/2</m:t>
                          </m:r>
                        </m:sup>
                      </m:sSubSup>
                      <m:r>
                        <a:rPr lang="en-US" i="1">
                          <a:latin typeface="Cambria Math" panose="02040503050406030204" pitchFamily="18" charset="0"/>
                        </a:rPr>
                        <m:t>𝑒</m:t>
                      </m:r>
                      <m:r>
                        <a:rPr lang="en-US">
                          <a:latin typeface="Cambria Math" panose="02040503050406030204" pitchFamily="18" charset="0"/>
                        </a:rPr>
                        <m:t>,</m:t>
                      </m:r>
                      <m:box>
                        <m:boxPr>
                          <m:ctrlPr>
                            <a:rPr lang="en-US" i="1">
                              <a:latin typeface="Cambria Math" panose="02040503050406030204" pitchFamily="18" charset="0"/>
                            </a:rPr>
                          </m:ctrlPr>
                        </m:boxPr>
                        <m:e>
                          <m:r>
                            <a:rPr lang="en-US">
                              <a:latin typeface="Cambria Math" panose="02040503050406030204" pitchFamily="18" charset="0"/>
                            </a:rPr>
                            <m:t> </m:t>
                          </m:r>
                        </m:e>
                      </m:box>
                      <m:sSubSup>
                        <m:sSubSupPr>
                          <m:ctrlPr>
                            <a:rPr lang="en-US" i="1">
                              <a:latin typeface="Cambria Math" panose="02040503050406030204" pitchFamily="18" charset="0"/>
                            </a:rPr>
                          </m:ctrlPr>
                        </m:sSubSupPr>
                        <m:e>
                          <m:r>
                            <m:rPr>
                              <m:sty m:val="p"/>
                            </m:rPr>
                            <a:rPr lang="en-US">
                              <a:latin typeface="Cambria Math" panose="02040503050406030204" pitchFamily="18" charset="0"/>
                            </a:rPr>
                            <m:t>Σ</m:t>
                          </m:r>
                        </m:e>
                        <m:sub>
                          <m:r>
                            <a:rPr lang="en-US" i="1">
                              <a:latin typeface="Cambria Math" panose="02040503050406030204" pitchFamily="18" charset="0"/>
                            </a:rPr>
                            <m:t>𝑦</m:t>
                          </m:r>
                        </m:sub>
                        <m:sup>
                          <m:r>
                            <a:rPr lang="en-US" i="1">
                              <a:latin typeface="Cambria Math" panose="02040503050406030204" pitchFamily="18" charset="0"/>
                            </a:rPr>
                            <m:t>−</m:t>
                          </m:r>
                          <m:r>
                            <a:rPr lang="en-US">
                              <a:latin typeface="Cambria Math" panose="02040503050406030204" pitchFamily="18" charset="0"/>
                            </a:rPr>
                            <m:t>1/2</m:t>
                          </m:r>
                        </m:sup>
                      </m:sSubSup>
                      <m:r>
                        <a:rPr lang="en-US" i="1">
                          <a:latin typeface="Cambria Math" panose="02040503050406030204" pitchFamily="18" charset="0"/>
                        </a:rPr>
                        <m:t>𝑒</m:t>
                      </m:r>
                      <m:r>
                        <a:rPr lang="en-US">
                          <a:latin typeface="Cambria Math" panose="02040503050406030204" pitchFamily="18" charset="0"/>
                        </a:rPr>
                        <m:t>∼</m:t>
                      </m:r>
                      <m:r>
                        <a:rPr lang="en-US" i="1">
                          <a:latin typeface="Cambria Math" panose="02040503050406030204" pitchFamily="18" charset="0"/>
                        </a:rPr>
                        <m:t>𝑁</m:t>
                      </m:r>
                      <m:r>
                        <a:rPr lang="en-US">
                          <a:latin typeface="Cambria Math" panose="02040503050406030204" pitchFamily="18" charset="0"/>
                        </a:rPr>
                        <m:t>(0,</m:t>
                      </m:r>
                      <m:r>
                        <a:rPr lang="en-US" i="1">
                          <a:latin typeface="Cambria Math" panose="02040503050406030204" pitchFamily="18" charset="0"/>
                        </a:rPr>
                        <m:t>𝐼</m:t>
                      </m:r>
                      <m:r>
                        <a:rPr lang="en-US">
                          <a:latin typeface="Cambria Math" panose="02040503050406030204" pitchFamily="18" charset="0"/>
                        </a:rPr>
                        <m:t>)</m:t>
                      </m:r>
                    </m:oMath>
                  </m:oMathPara>
                </a14:m>
                <a:endParaRPr lang="en-US" dirty="0"/>
              </a:p>
              <a:p>
                <a:endParaRPr lang="en-US" dirty="0"/>
              </a:p>
            </p:txBody>
          </p:sp>
        </mc:Choice>
        <mc:Fallback xmlns="">
          <p:sp>
            <p:nvSpPr>
              <p:cNvPr id="3" name="Notes Placeholder 2"/>
              <p:cNvSpPr>
                <a:spLocks noGrp="1"/>
              </p:cNvSpPr>
              <p:nvPr>
                <p:ph type="body" idx="1"/>
              </p:nvPr>
            </p:nvSpPr>
            <p:spPr/>
            <p:txBody>
              <a:bodyPr/>
              <a:lstStyle/>
              <a:p>
                <a:r>
                  <a:rPr lang="en-US" dirty="0"/>
                  <a:t>We use a noninformative prior on the </a:t>
                </a:r>
                <a:r>
                  <a:rPr lang="en-US" dirty="0" err="1"/>
                  <a:t>coefficients</a:t>
                </a:r>
                <a:r>
                  <a:rPr lang="en-US" dirty="0"/>
                  <a:t>:</a:t>
                </a:r>
                <a:r>
                  <a:rPr lang="en-US" baseline="0" dirty="0"/>
                  <a:t> </a:t>
                </a:r>
                <a:r>
                  <a:rPr lang="en-US" i="0">
                    <a:latin typeface="Cambria Math" panose="02040503050406030204" pitchFamily="18" charset="0"/>
                  </a:rPr>
                  <a:t>𝑝(𝛽)∝1</a:t>
                </a:r>
                <a:r>
                  <a:rPr lang="en-US" dirty="0">
                    <a:effectLst/>
                  </a:rPr>
                  <a:t> </a:t>
                </a:r>
              </a:p>
              <a:p>
                <a:endParaRPr lang="en-US" dirty="0">
                  <a:effectLst/>
                </a:endParaRPr>
              </a:p>
              <a:p>
                <a:r>
                  <a:rPr lang="en-US" dirty="0"/>
                  <a:t>Since </a:t>
                </a:r>
                <a:r>
                  <a:rPr lang="en-US" i="0">
                    <a:latin typeface="Cambria Math" panose="02040503050406030204" pitchFamily="18" charset="0"/>
                  </a:rPr>
                  <a:t>Σ_𝑦</a:t>
                </a:r>
                <a:r>
                  <a:rPr lang="en-US" dirty="0"/>
                  <a:t> is positive definite and symmetric, it has an upper-triangular square root matrix,</a:t>
                </a:r>
                <a:r>
                  <a:rPr lang="en-US" baseline="0" dirty="0"/>
                  <a:t> which is called a </a:t>
                </a:r>
                <a:r>
                  <a:rPr lang="en-US" dirty="0"/>
                  <a:t>Cholesky factor.</a:t>
                </a:r>
                <a:r>
                  <a:rPr lang="en-US" baseline="0" dirty="0"/>
                  <a:t> </a:t>
                </a:r>
                <a:r>
                  <a:rPr lang="en-US" dirty="0"/>
                  <a:t>So that if our model is of</a:t>
                </a:r>
                <a:r>
                  <a:rPr lang="en-US" baseline="0" dirty="0"/>
                  <a:t> the form</a:t>
                </a:r>
                <a:r>
                  <a:rPr lang="en-US" dirty="0"/>
                  <a:t>:</a:t>
                </a:r>
              </a:p>
              <a:p>
                <a:pPr marL="0" indent="0">
                  <a:buNone/>
                </a:pPr>
                <a:r>
                  <a:rPr lang="en-US" i="0">
                    <a:latin typeface="Cambria Math" panose="02040503050406030204" pitchFamily="18" charset="0"/>
                  </a:rPr>
                  <a:t>𝑦=𝑋𝛽+𝑒,□( ) 𝑒∼𝑁(0,Σ_𝑦 )</a:t>
                </a:r>
                <a:endParaRPr lang="en-US" dirty="0"/>
              </a:p>
              <a:p>
                <a:pPr marL="0" indent="0">
                  <a:buNone/>
                </a:pPr>
                <a:r>
                  <a:rPr lang="en-US" dirty="0"/>
                  <a:t>Then we can transform it by applying the Cholesky factor  to every term</a:t>
                </a:r>
              </a:p>
              <a:p>
                <a:pPr marL="0" indent="0">
                  <a:buNone/>
                </a:pPr>
                <a:r>
                  <a:rPr lang="en-US" i="0">
                    <a:latin typeface="Cambria Math" panose="02040503050406030204" pitchFamily="18" charset="0"/>
                  </a:rPr>
                  <a:t>Σ_𝑦^(−1/2) 𝑦=Σ_𝑦^(−1/2) 𝑋𝛽+Σ_𝑦^(−1/2) 𝑒,□( ) Σ_𝑦^(−1/2) 𝑒∼𝑁(0,𝐼)</a:t>
                </a:r>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F625DDDC-B10B-3347-AAB4-5CB93FC9C71C}" type="slidenum">
              <a:rPr lang="en-US" smtClean="0"/>
              <a:t>39</a:t>
            </a:fld>
            <a:endParaRPr lang="en-US"/>
          </a:p>
        </p:txBody>
      </p:sp>
    </p:spTree>
    <p:extLst>
      <p:ext uri="{BB962C8B-B14F-4D97-AF65-F5344CB8AC3E}">
        <p14:creationId xmlns:p14="http://schemas.microsoft.com/office/powerpoint/2010/main" val="393852607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Because </a:t>
                </a:r>
                <a14:m>
                  <m:oMath xmlns:m="http://schemas.openxmlformats.org/officeDocument/2006/math">
                    <m:sSub>
                      <m:sSubPr>
                        <m:ctrlPr>
                          <a:rPr lang="en-US" i="1" smtClean="0">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𝑦</m:t>
                        </m:r>
                      </m:sub>
                    </m:sSub>
                  </m:oMath>
                </a14:m>
                <a:r>
                  <a:rPr lang="en-US" dirty="0"/>
                  <a:t> is known, we can use the transformed model and translate</a:t>
                </a:r>
                <a:r>
                  <a:rPr lang="en-US" baseline="0" dirty="0"/>
                  <a:t> the computations to this context.</a:t>
                </a:r>
              </a:p>
              <a:p>
                <a:endParaRPr lang="en-US" baseline="0" dirty="0"/>
              </a:p>
              <a:p>
                <a:r>
                  <a:rPr lang="en-US" baseline="0" dirty="0"/>
                  <a:t>So we replace X with the Cholesky factor times X as well as the same transformation on y, yields the following equation for beta hat. </a:t>
                </a:r>
              </a:p>
              <a:p>
                <a:endParaRPr lang="en-US" baseline="0" dirty="0"/>
              </a:p>
              <a:p>
                <a:r>
                  <a:rPr lang="en-US" baseline="0" dirty="0"/>
                  <a:t>A similar process produces the same thing for V_\beta—The math is very straightforward, so I cannot recommend enough that you do this yourself. </a:t>
                </a:r>
              </a:p>
              <a:p>
                <a:endParaRPr lang="en-US" baseline="0" dirty="0"/>
              </a:p>
              <a:p>
                <a:r>
                  <a:rPr lang="en-US" baseline="0" dirty="0"/>
                  <a:t>Note that we should use the Cholesky to compute the inverses efficiently. </a:t>
                </a:r>
                <a:endParaRPr lang="en-US" dirty="0"/>
              </a:p>
            </p:txBody>
          </p:sp>
        </mc:Choice>
        <mc:Fallback xmlns="">
          <p:sp>
            <p:nvSpPr>
              <p:cNvPr id="3" name="Notes Placeholder 2"/>
              <p:cNvSpPr>
                <a:spLocks noGrp="1"/>
              </p:cNvSpPr>
              <p:nvPr>
                <p:ph type="body" idx="1"/>
              </p:nvPr>
            </p:nvSpPr>
            <p:spPr/>
            <p:txBody>
              <a:bodyPr/>
              <a:lstStyle/>
              <a:p>
                <a:r>
                  <a:rPr lang="en-US" dirty="0"/>
                  <a:t>Because </a:t>
                </a:r>
                <a:r>
                  <a:rPr lang="en-US" i="0">
                    <a:latin typeface="Cambria Math" panose="02040503050406030204" pitchFamily="18" charset="0"/>
                  </a:rPr>
                  <a:t>Σ_𝑦</a:t>
                </a:r>
                <a:r>
                  <a:rPr lang="en-US" dirty="0"/>
                  <a:t> is known, we can use the transformed model and translate</a:t>
                </a:r>
                <a:r>
                  <a:rPr lang="en-US" baseline="0" dirty="0"/>
                  <a:t> the computations to this context.</a:t>
                </a:r>
              </a:p>
              <a:p>
                <a:endParaRPr lang="en-US" baseline="0" dirty="0"/>
              </a:p>
              <a:p>
                <a:r>
                  <a:rPr lang="en-US" baseline="0" dirty="0"/>
                  <a:t>So we replace X with the Cholesky factor times X as well as the same transformation on y, yields the following equation for beta hat. </a:t>
                </a:r>
              </a:p>
              <a:p>
                <a:endParaRPr lang="en-US" baseline="0" dirty="0"/>
              </a:p>
              <a:p>
                <a:r>
                  <a:rPr lang="en-US" baseline="0" dirty="0"/>
                  <a:t>A similar process produces the same thing for V_\beta—The math is very straightforward, so I cannot recommend enough that you do this yourself. </a:t>
                </a:r>
              </a:p>
              <a:p>
                <a:endParaRPr lang="en-US" baseline="0" dirty="0"/>
              </a:p>
              <a:p>
                <a:r>
                  <a:rPr lang="en-US" baseline="0" dirty="0"/>
                  <a:t>Note that we should use the Cholesky to compute the inverses efficiently. </a:t>
                </a:r>
                <a:endParaRPr lang="en-US" dirty="0"/>
              </a:p>
            </p:txBody>
          </p:sp>
        </mc:Fallback>
      </mc:AlternateContent>
      <p:sp>
        <p:nvSpPr>
          <p:cNvPr id="4" name="Slide Number Placeholder 3"/>
          <p:cNvSpPr>
            <a:spLocks noGrp="1"/>
          </p:cNvSpPr>
          <p:nvPr>
            <p:ph type="sldNum" sz="quarter" idx="5"/>
          </p:nvPr>
        </p:nvSpPr>
        <p:spPr/>
        <p:txBody>
          <a:bodyPr/>
          <a:lstStyle/>
          <a:p>
            <a:fld id="{F625DDDC-B10B-3347-AAB4-5CB93FC9C71C}" type="slidenum">
              <a:rPr lang="en-US" smtClean="0"/>
              <a:t>40</a:t>
            </a:fld>
            <a:endParaRPr lang="en-US"/>
          </a:p>
        </p:txBody>
      </p:sp>
    </p:spTree>
    <p:extLst>
      <p:ext uri="{BB962C8B-B14F-4D97-AF65-F5344CB8AC3E}">
        <p14:creationId xmlns:p14="http://schemas.microsoft.com/office/powerpoint/2010/main" val="412285630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Even if we know </a:t>
                </a:r>
                <a14:m>
                  <m:oMath xmlns:m="http://schemas.openxmlformats.org/officeDocument/2006/math">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𝑦</m:t>
                        </m:r>
                      </m:sub>
                    </m:sSub>
                  </m:oMath>
                </a14:m>
                <a:r>
                  <a:rPr lang="en-US" dirty="0"/>
                  <a:t>, prediction of new observations is more complicated: must know covariance matrix of old and new data.</a:t>
                </a:r>
              </a:p>
              <a:p>
                <a:endParaRPr lang="en-US" dirty="0"/>
              </a:p>
              <a:p>
                <a:r>
                  <a:rPr lang="en-US" u="sng" dirty="0"/>
                  <a:t>Example</a:t>
                </a:r>
                <a:r>
                  <a:rPr lang="en-US" dirty="0"/>
                  <a:t>: Suppose we wish to model the heights of children. If we wish to predict height of a new child when a sibling is in the old data set, we must include that correlation in the prediction.</a:t>
                </a:r>
              </a:p>
              <a:p>
                <a:endParaRPr lang="en-US" dirty="0"/>
              </a:p>
              <a:p>
                <a:r>
                  <a:rPr lang="en-US" dirty="0"/>
                  <a:t>Let </a:t>
                </a:r>
                <a14:m>
                  <m:oMath xmlns:m="http://schemas.openxmlformats.org/officeDocument/2006/math">
                    <m:acc>
                      <m:accPr>
                        <m:chr m:val="̃"/>
                        <m:ctrlPr>
                          <a:rPr lang="en-US" i="1" dirty="0" smtClean="0">
                            <a:latin typeface="Cambria Math" panose="02040503050406030204" pitchFamily="18" charset="0"/>
                          </a:rPr>
                        </m:ctrlPr>
                      </m:accPr>
                      <m:e>
                        <m:r>
                          <a:rPr lang="en-US" i="1" dirty="0">
                            <a:latin typeface="Cambria Math" panose="02040503050406030204" pitchFamily="18" charset="0"/>
                          </a:rPr>
                          <m:t>𝑦</m:t>
                        </m:r>
                      </m:e>
                    </m:acc>
                  </m:oMath>
                </a14:m>
                <a:r>
                  <a:rPr lang="en-US" dirty="0"/>
                  <a:t> are </a:t>
                </a:r>
                <a14:m>
                  <m:oMath xmlns:m="http://schemas.openxmlformats.org/officeDocument/2006/math">
                    <m:acc>
                      <m:accPr>
                        <m:chr m:val="̃"/>
                        <m:ctrlPr>
                          <a:rPr lang="en-US" i="1" dirty="0" smtClean="0">
                            <a:latin typeface="Cambria Math" panose="02040503050406030204" pitchFamily="18" charset="0"/>
                          </a:rPr>
                        </m:ctrlPr>
                      </m:accPr>
                      <m:e>
                        <m:r>
                          <a:rPr lang="en-US" i="1" dirty="0">
                            <a:latin typeface="Cambria Math" panose="02040503050406030204" pitchFamily="18" charset="0"/>
                          </a:rPr>
                          <m:t>𝑛</m:t>
                        </m:r>
                      </m:e>
                    </m:acc>
                  </m:oMath>
                </a14:m>
                <a:r>
                  <a:rPr lang="en-US" dirty="0"/>
                  <a:t> new observations given a </a:t>
                </a:r>
                <a14:m>
                  <m:oMath xmlns:m="http://schemas.openxmlformats.org/officeDocument/2006/math">
                    <m:acc>
                      <m:accPr>
                        <m:chr m:val="̃"/>
                        <m:ctrlPr>
                          <a:rPr lang="en-US" i="1" dirty="0">
                            <a:latin typeface="Cambria Math" panose="02040503050406030204" pitchFamily="18" charset="0"/>
                          </a:rPr>
                        </m:ctrlPr>
                      </m:accPr>
                      <m:e>
                        <m:r>
                          <a:rPr lang="en-US" i="1" dirty="0">
                            <a:latin typeface="Cambria Math" panose="02040503050406030204" pitchFamily="18" charset="0"/>
                          </a:rPr>
                          <m:t>𝑛</m:t>
                        </m:r>
                      </m:e>
                    </m:acc>
                    <m:r>
                      <a:rPr lang="en-US" i="1" dirty="0" smtClean="0">
                        <a:latin typeface="Cambria Math" panose="02040503050406030204" pitchFamily="18" charset="0"/>
                      </a:rPr>
                      <m:t>×</m:t>
                    </m:r>
                    <m:r>
                      <a:rPr lang="en-US" i="1" dirty="0" smtClean="0">
                        <a:latin typeface="Cambria Math" panose="02040503050406030204" pitchFamily="18" charset="0"/>
                      </a:rPr>
                      <m:t>𝑘</m:t>
                    </m:r>
                  </m:oMath>
                </a14:m>
                <a:r>
                  <a:rPr lang="en-US" dirty="0"/>
                  <a:t> matrix of regressors </a:t>
                </a:r>
                <a14:m>
                  <m:oMath xmlns:m="http://schemas.openxmlformats.org/officeDocument/2006/math">
                    <m:r>
                      <a:rPr lang="en-US" i="1" dirty="0" smtClean="0">
                        <a:latin typeface="Cambria Math" panose="02040503050406030204" pitchFamily="18" charset="0"/>
                      </a:rPr>
                      <m:t>𝑋</m:t>
                    </m:r>
                  </m:oMath>
                </a14:m>
                <a:r>
                  <a:rPr lang="en-US" dirty="0"/>
                  <a:t>.</a:t>
                </a:r>
              </a:p>
              <a:p>
                <a:endParaRPr lang="en-US" dirty="0"/>
              </a:p>
            </p:txBody>
          </p:sp>
        </mc:Choice>
        <mc:Fallback xmlns="">
          <p:sp>
            <p:nvSpPr>
              <p:cNvPr id="3" name="Notes Placeholder 2"/>
              <p:cNvSpPr>
                <a:spLocks noGrp="1"/>
              </p:cNvSpPr>
              <p:nvPr>
                <p:ph type="body" idx="1"/>
              </p:nvPr>
            </p:nvSpPr>
            <p:spPr/>
            <p:txBody>
              <a:bodyPr/>
              <a:lstStyle/>
              <a:p>
                <a:r>
                  <a:rPr lang="en-US" dirty="0"/>
                  <a:t>Even if we know </a:t>
                </a:r>
                <a:r>
                  <a:rPr lang="en-US" i="0">
                    <a:latin typeface="Cambria Math" panose="02040503050406030204" pitchFamily="18" charset="0"/>
                  </a:rPr>
                  <a:t>Σ_𝑦</a:t>
                </a:r>
                <a:r>
                  <a:rPr lang="en-US" dirty="0"/>
                  <a:t>, prediction of new observations is more complicated: must know covariance matrix of old and new data.</a:t>
                </a:r>
              </a:p>
              <a:p>
                <a:endParaRPr lang="en-US" dirty="0"/>
              </a:p>
              <a:p>
                <a:r>
                  <a:rPr lang="en-US" u="sng" dirty="0"/>
                  <a:t>Example</a:t>
                </a:r>
                <a:r>
                  <a:rPr lang="en-US" dirty="0"/>
                  <a:t>: Suppose we wish to model the heights of children. If we wish to predict height of a new child when a sibling is in the old data set, we must include that correlation in the prediction.</a:t>
                </a:r>
              </a:p>
              <a:p>
                <a:endParaRPr lang="en-US" dirty="0"/>
              </a:p>
              <a:p>
                <a:r>
                  <a:rPr lang="en-US" dirty="0"/>
                  <a:t>Let </a:t>
                </a:r>
                <a:r>
                  <a:rPr lang="en-US" i="0" dirty="0">
                    <a:latin typeface="Cambria Math" panose="02040503050406030204" pitchFamily="18" charset="0"/>
                  </a:rPr>
                  <a:t>𝑦 ̃</a:t>
                </a:r>
                <a:r>
                  <a:rPr lang="en-US" dirty="0"/>
                  <a:t> are </a:t>
                </a:r>
                <a:r>
                  <a:rPr lang="en-US" i="0" dirty="0">
                    <a:latin typeface="Cambria Math" panose="02040503050406030204" pitchFamily="18" charset="0"/>
                  </a:rPr>
                  <a:t>𝑛 ̃</a:t>
                </a:r>
                <a:r>
                  <a:rPr lang="en-US" dirty="0"/>
                  <a:t> new observations given a </a:t>
                </a:r>
                <a:r>
                  <a:rPr lang="en-US" i="0" dirty="0">
                    <a:latin typeface="Cambria Math" panose="02040503050406030204" pitchFamily="18" charset="0"/>
                  </a:rPr>
                  <a:t>𝑛 ̃×𝑘</a:t>
                </a:r>
                <a:r>
                  <a:rPr lang="en-US" dirty="0"/>
                  <a:t> matrix of regressors </a:t>
                </a:r>
                <a:r>
                  <a:rPr lang="en-US" i="0" dirty="0">
                    <a:latin typeface="Cambria Math" panose="02040503050406030204" pitchFamily="18" charset="0"/>
                  </a:rPr>
                  <a:t>𝑋</a:t>
                </a:r>
                <a:r>
                  <a:rPr lang="en-US" dirty="0"/>
                  <a:t>.</a:t>
                </a:r>
              </a:p>
              <a:p>
                <a:endParaRPr lang="en-US" dirty="0"/>
              </a:p>
            </p:txBody>
          </p:sp>
        </mc:Fallback>
      </mc:AlternateContent>
      <p:sp>
        <p:nvSpPr>
          <p:cNvPr id="4" name="Slide Number Placeholder 3"/>
          <p:cNvSpPr>
            <a:spLocks noGrp="1"/>
          </p:cNvSpPr>
          <p:nvPr>
            <p:ph type="sldNum" sz="quarter" idx="5"/>
          </p:nvPr>
        </p:nvSpPr>
        <p:spPr/>
        <p:txBody>
          <a:bodyPr/>
          <a:lstStyle/>
          <a:p>
            <a:fld id="{F625DDDC-B10B-3347-AAB4-5CB93FC9C71C}" type="slidenum">
              <a:rPr lang="en-US" smtClean="0"/>
              <a:t>41</a:t>
            </a:fld>
            <a:endParaRPr lang="en-US"/>
          </a:p>
        </p:txBody>
      </p:sp>
    </p:spTree>
    <p:extLst>
      <p:ext uri="{BB962C8B-B14F-4D97-AF65-F5344CB8AC3E}">
        <p14:creationId xmlns:p14="http://schemas.microsoft.com/office/powerpoint/2010/main" val="85121977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first, we define the joint distribution with the old and new data, which may share some correlation—hence the need to do this. </a:t>
            </a:r>
          </a:p>
          <a:p>
            <a:r>
              <a:rPr lang="en-US" dirty="0"/>
              <a:t>Then, we compute the conditional distribution using the same methods discussed in the readings from module 3.</a:t>
            </a:r>
          </a:p>
          <a:p>
            <a:endParaRPr lang="en-US" dirty="0"/>
          </a:p>
          <a:p>
            <a:r>
              <a:rPr lang="en-US" dirty="0"/>
              <a:t>Where the mean and variance is computed with these formulas. </a:t>
            </a:r>
          </a:p>
        </p:txBody>
      </p:sp>
      <p:sp>
        <p:nvSpPr>
          <p:cNvPr id="4" name="Slide Number Placeholder 3"/>
          <p:cNvSpPr>
            <a:spLocks noGrp="1"/>
          </p:cNvSpPr>
          <p:nvPr>
            <p:ph type="sldNum" sz="quarter" idx="5"/>
          </p:nvPr>
        </p:nvSpPr>
        <p:spPr/>
        <p:txBody>
          <a:bodyPr/>
          <a:lstStyle/>
          <a:p>
            <a:fld id="{F625DDDC-B10B-3347-AAB4-5CB93FC9C71C}" type="slidenum">
              <a:rPr lang="en-US" smtClean="0"/>
              <a:t>42</a:t>
            </a:fld>
            <a:endParaRPr lang="en-US"/>
          </a:p>
        </p:txBody>
      </p:sp>
    </p:spTree>
    <p:extLst>
      <p:ext uri="{BB962C8B-B14F-4D97-AF65-F5344CB8AC3E}">
        <p14:creationId xmlns:p14="http://schemas.microsoft.com/office/powerpoint/2010/main" val="96662252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now, let’s complicate the model even more By assuming we don’t actually </a:t>
            </a:r>
            <a:r>
              <a:rPr lang="en-US" dirty="0" err="1"/>
              <a:t>kow</a:t>
            </a:r>
            <a:r>
              <a:rPr lang="en-US" dirty="0"/>
              <a:t> the variance. </a:t>
            </a:r>
          </a:p>
          <a:p>
            <a:endParaRPr lang="en-US" dirty="0"/>
          </a:p>
          <a:p>
            <a:r>
              <a:rPr lang="en-US" dirty="0"/>
              <a:t>To draw inferences about \beta with unknown variances, </a:t>
            </a:r>
          </a:p>
          <a:p>
            <a:endParaRPr lang="en-US" dirty="0"/>
          </a:p>
          <a:p>
            <a:r>
              <a:rPr lang="en-US" dirty="0"/>
              <a:t>We need to derive the conditional posterior and marginal distribution. </a:t>
            </a:r>
          </a:p>
          <a:p>
            <a:endParaRPr lang="en-US" dirty="0"/>
          </a:p>
          <a:p>
            <a:r>
              <a:rPr lang="en-US" dirty="0"/>
              <a:t>To do this we use a non-informative prior</a:t>
            </a:r>
          </a:p>
          <a:p>
            <a:endParaRPr lang="en-US" dirty="0"/>
          </a:p>
          <a:p>
            <a:r>
              <a:rPr lang="en-US" dirty="0"/>
              <a:t>And, using the joint posterior and conditional posterior derived in the previous slide, we compute the marginal posterior distribution using the algebraic expression. </a:t>
            </a:r>
          </a:p>
        </p:txBody>
      </p:sp>
      <p:sp>
        <p:nvSpPr>
          <p:cNvPr id="4" name="Slide Number Placeholder 3"/>
          <p:cNvSpPr>
            <a:spLocks noGrp="1"/>
          </p:cNvSpPr>
          <p:nvPr>
            <p:ph type="sldNum" sz="quarter" idx="5"/>
          </p:nvPr>
        </p:nvSpPr>
        <p:spPr/>
        <p:txBody>
          <a:bodyPr/>
          <a:lstStyle/>
          <a:p>
            <a:fld id="{F625DDDC-B10B-3347-AAB4-5CB93FC9C71C}" type="slidenum">
              <a:rPr lang="en-US" smtClean="0"/>
              <a:t>43</a:t>
            </a:fld>
            <a:endParaRPr lang="en-US"/>
          </a:p>
        </p:txBody>
      </p:sp>
    </p:spTree>
    <p:extLst>
      <p:ext uri="{BB962C8B-B14F-4D97-AF65-F5344CB8AC3E}">
        <p14:creationId xmlns:p14="http://schemas.microsoft.com/office/powerpoint/2010/main" val="412299828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Expression for </a:t>
                </a:r>
                <a14:m>
                  <m:oMath xmlns:m="http://schemas.openxmlformats.org/officeDocument/2006/math">
                    <m:r>
                      <a:rPr lang="en-US" i="1">
                        <a:latin typeface="Cambria Math" panose="02040503050406030204" pitchFamily="18" charset="0"/>
                      </a:rPr>
                      <m:t>𝑝</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𝑦</m:t>
                            </m:r>
                          </m:sub>
                        </m:sSub>
                        <m:r>
                          <a:rPr lang="en-US">
                            <a:latin typeface="Cambria Math" panose="02040503050406030204" pitchFamily="18" charset="0"/>
                          </a:rPr>
                          <m:t>∣</m:t>
                        </m:r>
                        <m:r>
                          <a:rPr lang="en-US" i="1">
                            <a:latin typeface="Cambria Math" panose="02040503050406030204" pitchFamily="18" charset="0"/>
                          </a:rPr>
                          <m:t>𝑦</m:t>
                        </m:r>
                      </m:e>
                    </m:d>
                  </m:oMath>
                </a14:m>
                <a:r>
                  <a:rPr lang="en-US" dirty="0"/>
                  <a:t> must hold for any </a:t>
                </a:r>
                <a14:m>
                  <m:oMath xmlns:m="http://schemas.openxmlformats.org/officeDocument/2006/math">
                    <m:r>
                      <a:rPr lang="en-US" i="1">
                        <a:latin typeface="Cambria Math" panose="02040503050406030204" pitchFamily="18" charset="0"/>
                      </a:rPr>
                      <m:t>𝛽</m:t>
                    </m:r>
                  </m:oMath>
                </a14:m>
                <a:r>
                  <a:rPr lang="en-US" dirty="0"/>
                  <a:t> since</a:t>
                </a:r>
                <a:r>
                  <a:rPr lang="en-US" baseline="0" dirty="0"/>
                  <a:t> it doesn’t rely on beta</a:t>
                </a:r>
                <a:r>
                  <a:rPr lang="en-US" dirty="0"/>
                  <a:t>, so we set </a:t>
                </a:r>
                <a14:m>
                  <m:oMath xmlns:m="http://schemas.openxmlformats.org/officeDocument/2006/math">
                    <m:r>
                      <a:rPr lang="en-US" i="1">
                        <a:latin typeface="Cambria Math" panose="02040503050406030204" pitchFamily="18" charset="0"/>
                      </a:rPr>
                      <m:t>𝛽</m:t>
                    </m:r>
                    <m:r>
                      <a:rPr lang="en-US">
                        <a:latin typeface="Cambria Math" panose="02040503050406030204" pitchFamily="18" charset="0"/>
                      </a:rPr>
                      <m:t>=</m:t>
                    </m:r>
                    <m:acc>
                      <m:accPr>
                        <m:chr m:val="ˆ"/>
                        <m:ctrlPr>
                          <a:rPr lang="en-US" i="1">
                            <a:latin typeface="Cambria Math" panose="02040503050406030204" pitchFamily="18" charset="0"/>
                          </a:rPr>
                        </m:ctrlPr>
                      </m:accPr>
                      <m:e>
                        <m:r>
                          <a:rPr lang="en-US" i="1">
                            <a:latin typeface="Cambria Math" panose="02040503050406030204" pitchFamily="18" charset="0"/>
                          </a:rPr>
                          <m:t>𝛽</m:t>
                        </m:r>
                      </m:e>
                    </m:acc>
                  </m:oMath>
                </a14:m>
                <a:r>
                  <a:rPr lang="el-GR" dirty="0"/>
                  <a:t>.</a:t>
                </a:r>
              </a:p>
              <a:p>
                <a:endParaRPr lang="en-US" dirty="0"/>
              </a:p>
              <a:p>
                <a:endParaRPr lang="en-US" dirty="0"/>
              </a:p>
              <a:p>
                <a:r>
                  <a:rPr lang="en-US" dirty="0"/>
                  <a:t>Note that</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𝑝</m:t>
                      </m:r>
                      <m:d>
                        <m:dPr>
                          <m:ctrlPr>
                            <a:rPr lang="en-US" i="1">
                              <a:latin typeface="Cambria Math" panose="02040503050406030204" pitchFamily="18" charset="0"/>
                            </a:rPr>
                          </m:ctrlPr>
                        </m:dPr>
                        <m:e>
                          <m:r>
                            <a:rPr lang="en-US" i="1">
                              <a:latin typeface="Cambria Math" panose="02040503050406030204" pitchFamily="18" charset="0"/>
                            </a:rPr>
                            <m:t>𝛽</m:t>
                          </m:r>
                          <m:r>
                            <a:rPr lang="en-US">
                              <a:latin typeface="Cambria Math" panose="02040503050406030204" pitchFamily="18" charset="0"/>
                            </a:rPr>
                            <m:t>∣</m:t>
                          </m:r>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𝑦</m:t>
                              </m:r>
                            </m:sub>
                          </m:sSub>
                          <m:r>
                            <a:rPr lang="en-US">
                              <a:latin typeface="Cambria Math" panose="02040503050406030204" pitchFamily="18" charset="0"/>
                            </a:rPr>
                            <m:t>,</m:t>
                          </m:r>
                          <m:r>
                            <a:rPr lang="en-US" i="1">
                              <a:latin typeface="Cambria Math" panose="02040503050406030204" pitchFamily="18" charset="0"/>
                            </a:rPr>
                            <m:t>𝑦</m:t>
                          </m:r>
                        </m:e>
                      </m:d>
                      <m:r>
                        <a:rPr lang="en-US">
                          <a:latin typeface="Cambria Math" panose="02040503050406030204" pitchFamily="18" charset="0"/>
                        </a:rPr>
                        <m:t>=</m:t>
                      </m:r>
                      <m:r>
                        <a:rPr lang="en-US" i="1">
                          <a:latin typeface="Cambria Math" panose="02040503050406030204" pitchFamily="18" charset="0"/>
                        </a:rPr>
                        <m:t>𝑁</m:t>
                      </m:r>
                      <m:d>
                        <m:dPr>
                          <m:ctrlPr>
                            <a:rPr lang="en-US" i="1">
                              <a:latin typeface="Cambria Math" panose="02040503050406030204" pitchFamily="18" charset="0"/>
                            </a:rPr>
                          </m:ctrlPr>
                        </m:dPr>
                        <m:e>
                          <m:acc>
                            <m:accPr>
                              <m:chr m:val="ˆ"/>
                              <m:ctrlPr>
                                <a:rPr lang="en-US" i="1">
                                  <a:latin typeface="Cambria Math" panose="02040503050406030204" pitchFamily="18" charset="0"/>
                                </a:rPr>
                              </m:ctrlPr>
                            </m:accPr>
                            <m:e>
                              <m:r>
                                <a:rPr lang="en-US" i="1">
                                  <a:latin typeface="Cambria Math" panose="02040503050406030204" pitchFamily="18" charset="0"/>
                                </a:rPr>
                                <m:t>𝛽</m:t>
                              </m:r>
                            </m:e>
                          </m:acc>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𝛽</m:t>
                              </m:r>
                            </m:sub>
                          </m:sSub>
                        </m:e>
                      </m:d>
                      <m:r>
                        <a:rPr lang="en-US">
                          <a:latin typeface="Cambria Math" panose="02040503050406030204" pitchFamily="18" charset="0"/>
                        </a:rPr>
                        <m:t>∝</m:t>
                      </m:r>
                      <m:sSup>
                        <m:sSupPr>
                          <m:ctrlPr>
                            <a:rPr lang="en-US" i="1">
                              <a:latin typeface="Cambria Math" panose="02040503050406030204" pitchFamily="18" charset="0"/>
                            </a:rPr>
                          </m:ctrlPr>
                        </m:sSupPr>
                        <m:e>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𝛽</m:t>
                                  </m:r>
                                </m:sub>
                              </m:sSub>
                            </m:e>
                          </m:d>
                        </m:e>
                        <m:sup>
                          <m:r>
                            <a:rPr lang="en-US" i="1">
                              <a:latin typeface="Cambria Math" panose="02040503050406030204" pitchFamily="18" charset="0"/>
                            </a:rPr>
                            <m:t>−</m:t>
                          </m:r>
                          <m:r>
                            <a:rPr lang="en-US">
                              <a:latin typeface="Cambria Math" panose="02040503050406030204" pitchFamily="18" charset="0"/>
                            </a:rPr>
                            <m:t>1/2</m:t>
                          </m:r>
                        </m:sup>
                      </m:sSup>
                    </m:oMath>
                  </m:oMathPara>
                </a14:m>
                <a:endParaRPr lang="el-GR" dirty="0"/>
              </a:p>
              <a:p>
                <a:pPr marL="0" indent="0">
                  <a:buNone/>
                </a:pPr>
                <a:r>
                  <a:rPr lang="en-US" dirty="0"/>
                  <a:t>for </a:t>
                </a:r>
                <a14:m>
                  <m:oMath xmlns:m="http://schemas.openxmlformats.org/officeDocument/2006/math">
                    <m:r>
                      <a:rPr lang="en-US" i="1">
                        <a:latin typeface="Cambria Math" panose="02040503050406030204" pitchFamily="18" charset="0"/>
                      </a:rPr>
                      <m:t>𝛽</m:t>
                    </m:r>
                    <m:r>
                      <a:rPr lang="en-US">
                        <a:latin typeface="Cambria Math" panose="02040503050406030204" pitchFamily="18" charset="0"/>
                      </a:rPr>
                      <m:t>=</m:t>
                    </m:r>
                    <m:acc>
                      <m:accPr>
                        <m:chr m:val="ˆ"/>
                        <m:ctrlPr>
                          <a:rPr lang="en-US" i="1">
                            <a:latin typeface="Cambria Math" panose="02040503050406030204" pitchFamily="18" charset="0"/>
                          </a:rPr>
                        </m:ctrlPr>
                      </m:accPr>
                      <m:e>
                        <m:r>
                          <a:rPr lang="en-US" i="1">
                            <a:latin typeface="Cambria Math" panose="02040503050406030204" pitchFamily="18" charset="0"/>
                          </a:rPr>
                          <m:t>𝛽</m:t>
                        </m:r>
                      </m:e>
                    </m:acc>
                  </m:oMath>
                </a14:m>
                <a:r>
                  <a:rPr lang="el-GR" dirty="0"/>
                  <a:t>. </a:t>
                </a:r>
                <a:r>
                  <a:rPr lang="en-US" dirty="0"/>
                  <a:t>Then</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𝑝</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𝑦</m:t>
                              </m:r>
                            </m:sub>
                          </m:sSub>
                          <m:r>
                            <a:rPr lang="en-US">
                              <a:latin typeface="Cambria Math" panose="02040503050406030204" pitchFamily="18" charset="0"/>
                            </a:rPr>
                            <m:t>∣</m:t>
                          </m:r>
                          <m:r>
                            <a:rPr lang="en-US" i="1">
                              <a:latin typeface="Cambria Math" panose="02040503050406030204" pitchFamily="18" charset="0"/>
                            </a:rPr>
                            <m:t>𝑦</m:t>
                          </m:r>
                        </m:e>
                      </m:d>
                      <m:r>
                        <a:rPr lang="en-US">
                          <a:latin typeface="Cambria Math" panose="02040503050406030204" pitchFamily="18" charset="0"/>
                        </a:rPr>
                        <m:t>∝</m:t>
                      </m:r>
                      <m:r>
                        <a:rPr lang="en-US" i="1">
                          <a:latin typeface="Cambria Math" panose="02040503050406030204" pitchFamily="18" charset="0"/>
                        </a:rPr>
                        <m:t>𝑝</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𝑦</m:t>
                              </m:r>
                            </m:sub>
                          </m:sSub>
                        </m:e>
                      </m:d>
                      <m:sSup>
                        <m:sSupPr>
                          <m:ctrlPr>
                            <a:rPr lang="en-US" i="1">
                              <a:latin typeface="Cambria Math" panose="02040503050406030204" pitchFamily="18" charset="0"/>
                            </a:rPr>
                          </m:ctrlPr>
                        </m:sSupPr>
                        <m:e>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𝛽</m:t>
                                  </m:r>
                                </m:sub>
                              </m:sSub>
                            </m:e>
                          </m:d>
                        </m:e>
                        <m:sup>
                          <m:r>
                            <a:rPr lang="en-US">
                              <a:latin typeface="Cambria Math" panose="02040503050406030204" pitchFamily="18" charset="0"/>
                            </a:rPr>
                            <m:t>1/2</m:t>
                          </m:r>
                        </m:sup>
                      </m:sSup>
                      <m:sSup>
                        <m:sSupPr>
                          <m:ctrlPr>
                            <a:rPr lang="en-US" i="1">
                              <a:latin typeface="Cambria Math" panose="02040503050406030204" pitchFamily="18" charset="0"/>
                            </a:rPr>
                          </m:ctrlPr>
                        </m:sSupPr>
                        <m:e>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𝑦</m:t>
                                  </m:r>
                                </m:sub>
                              </m:sSub>
                            </m:e>
                          </m:d>
                        </m:e>
                        <m:sup>
                          <m:r>
                            <a:rPr lang="en-US" i="1">
                              <a:latin typeface="Cambria Math" panose="02040503050406030204" pitchFamily="18" charset="0"/>
                            </a:rPr>
                            <m:t>−</m:t>
                          </m:r>
                          <m:r>
                            <a:rPr lang="en-US">
                              <a:latin typeface="Cambria Math" panose="02040503050406030204" pitchFamily="18" charset="0"/>
                            </a:rPr>
                            <m:t>1/2</m:t>
                          </m:r>
                        </m:sup>
                      </m:sSup>
                      <m:r>
                        <m:rPr>
                          <m:sty m:val="p"/>
                        </m:rPr>
                        <a:rPr lang="en-US">
                          <a:latin typeface="Cambria Math" panose="02040503050406030204" pitchFamily="18" charset="0"/>
                        </a:rPr>
                        <m:t>exp</m:t>
                      </m:r>
                      <m:d>
                        <m:dPr>
                          <m:begChr m:val="["/>
                          <m:endChr m:val="]"/>
                          <m:ctrlPr>
                            <a:rPr lang="en-US" i="1">
                              <a:latin typeface="Cambria Math" panose="02040503050406030204" pitchFamily="18" charset="0"/>
                            </a:rPr>
                          </m:ctrlPr>
                        </m:dPr>
                        <m:e>
                          <m:r>
                            <a:rPr lang="en-US" i="1">
                              <a:latin typeface="Cambria Math" panose="02040503050406030204" pitchFamily="18" charset="0"/>
                            </a:rPr>
                            <m:t>−</m:t>
                          </m:r>
                          <m:f>
                            <m:fPr>
                              <m:ctrlPr>
                                <a:rPr lang="en-US" i="1">
                                  <a:latin typeface="Cambria Math" panose="02040503050406030204" pitchFamily="18" charset="0"/>
                                </a:rPr>
                              </m:ctrlPr>
                            </m:fPr>
                            <m:num>
                              <m:r>
                                <a:rPr lang="en-US">
                                  <a:latin typeface="Cambria Math" panose="02040503050406030204" pitchFamily="18" charset="0"/>
                                </a:rPr>
                                <m:t>1</m:t>
                              </m:r>
                            </m:num>
                            <m:den>
                              <m:r>
                                <a:rPr lang="en-US">
                                  <a:latin typeface="Cambria Math" panose="02040503050406030204" pitchFamily="18" charset="0"/>
                                </a:rPr>
                                <m:t>2</m:t>
                              </m:r>
                            </m:den>
                          </m:f>
                          <m:r>
                            <a:rPr lang="en-US">
                              <a:latin typeface="Cambria Math" panose="02040503050406030204" pitchFamily="18" charset="0"/>
                            </a:rPr>
                            <m:t>(</m:t>
                          </m:r>
                          <m:r>
                            <a:rPr lang="en-US" i="1">
                              <a:latin typeface="Cambria Math" panose="02040503050406030204" pitchFamily="18" charset="0"/>
                            </a:rPr>
                            <m:t>𝑦</m:t>
                          </m:r>
                          <m:r>
                            <a:rPr lang="en-US" i="1">
                              <a:latin typeface="Cambria Math" panose="02040503050406030204" pitchFamily="18" charset="0"/>
                            </a:rPr>
                            <m:t>−</m:t>
                          </m:r>
                          <m:r>
                            <a:rPr lang="en-US" i="1">
                              <a:latin typeface="Cambria Math" panose="02040503050406030204" pitchFamily="18" charset="0"/>
                            </a:rPr>
                            <m:t>𝑋</m:t>
                          </m:r>
                          <m:acc>
                            <m:accPr>
                              <m:chr m:val="ˆ"/>
                              <m:ctrlPr>
                                <a:rPr lang="en-US" i="1">
                                  <a:latin typeface="Cambria Math" panose="02040503050406030204" pitchFamily="18" charset="0"/>
                                </a:rPr>
                              </m:ctrlPr>
                            </m:accPr>
                            <m:e>
                              <m:r>
                                <a:rPr lang="en-US" i="1">
                                  <a:latin typeface="Cambria Math" panose="02040503050406030204" pitchFamily="18" charset="0"/>
                                </a:rPr>
                                <m:t>𝛽</m:t>
                              </m:r>
                            </m:e>
                          </m:acc>
                          <m:sSup>
                            <m:sSupPr>
                              <m:ctrlPr>
                                <a:rPr lang="en-US" i="1">
                                  <a:latin typeface="Cambria Math" panose="02040503050406030204" pitchFamily="18" charset="0"/>
                                </a:rPr>
                              </m:ctrlPr>
                            </m:sSupPr>
                            <m:e>
                              <m:r>
                                <a:rPr lang="en-US">
                                  <a:latin typeface="Cambria Math" panose="02040503050406030204" pitchFamily="18" charset="0"/>
                                </a:rPr>
                                <m:t>)</m:t>
                              </m:r>
                            </m:e>
                            <m:sup>
                              <m:r>
                                <a:rPr lang="en-US" b="0" i="1" smtClean="0">
                                  <a:latin typeface="Cambria Math" panose="02040503050406030204" pitchFamily="18" charset="0"/>
                                </a:rPr>
                                <m:t>𝑇</m:t>
                              </m:r>
                            </m:sup>
                          </m:sSup>
                          <m:sSubSup>
                            <m:sSubSupPr>
                              <m:ctrlPr>
                                <a:rPr lang="en-US" i="1">
                                  <a:latin typeface="Cambria Math" panose="02040503050406030204" pitchFamily="18" charset="0"/>
                                </a:rPr>
                              </m:ctrlPr>
                            </m:sSubSupPr>
                            <m:e>
                              <m:r>
                                <m:rPr>
                                  <m:sty m:val="p"/>
                                </m:rPr>
                                <a:rPr lang="en-US">
                                  <a:latin typeface="Cambria Math" panose="02040503050406030204" pitchFamily="18" charset="0"/>
                                </a:rPr>
                                <m:t>Σ</m:t>
                              </m:r>
                            </m:e>
                            <m:sub>
                              <m:r>
                                <a:rPr lang="en-US" i="1">
                                  <a:latin typeface="Cambria Math" panose="02040503050406030204" pitchFamily="18" charset="0"/>
                                </a:rPr>
                                <m:t>𝑦</m:t>
                              </m:r>
                            </m:sub>
                            <m:sup>
                              <m:r>
                                <a:rPr lang="en-US" i="1">
                                  <a:latin typeface="Cambria Math" panose="02040503050406030204" pitchFamily="18" charset="0"/>
                                </a:rPr>
                                <m:t>−</m:t>
                              </m:r>
                              <m:r>
                                <a:rPr lang="en-US">
                                  <a:latin typeface="Cambria Math" panose="02040503050406030204" pitchFamily="18" charset="0"/>
                                </a:rPr>
                                <m:t>1</m:t>
                              </m:r>
                            </m:sup>
                          </m:sSubSup>
                          <m:r>
                            <a:rPr lang="en-US">
                              <a:latin typeface="Cambria Math" panose="02040503050406030204" pitchFamily="18" charset="0"/>
                            </a:rPr>
                            <m:t>(</m:t>
                          </m:r>
                          <m:r>
                            <a:rPr lang="en-US" i="1">
                              <a:latin typeface="Cambria Math" panose="02040503050406030204" pitchFamily="18" charset="0"/>
                            </a:rPr>
                            <m:t>𝑦</m:t>
                          </m:r>
                          <m:r>
                            <a:rPr lang="en-US" i="1">
                              <a:latin typeface="Cambria Math" panose="02040503050406030204" pitchFamily="18" charset="0"/>
                            </a:rPr>
                            <m:t>−</m:t>
                          </m:r>
                          <m:r>
                            <a:rPr lang="en-US" i="1">
                              <a:latin typeface="Cambria Math" panose="02040503050406030204" pitchFamily="18" charset="0"/>
                            </a:rPr>
                            <m:t>𝑋</m:t>
                          </m:r>
                          <m:acc>
                            <m:accPr>
                              <m:chr m:val="ˆ"/>
                              <m:ctrlPr>
                                <a:rPr lang="en-US" i="1">
                                  <a:latin typeface="Cambria Math" panose="02040503050406030204" pitchFamily="18" charset="0"/>
                                </a:rPr>
                              </m:ctrlPr>
                            </m:accPr>
                            <m:e>
                              <m:r>
                                <a:rPr lang="en-US" i="1">
                                  <a:latin typeface="Cambria Math" panose="02040503050406030204" pitchFamily="18" charset="0"/>
                                </a:rPr>
                                <m:t>𝛽</m:t>
                              </m:r>
                            </m:e>
                          </m:acc>
                          <m:r>
                            <a:rPr lang="en-US">
                              <a:latin typeface="Cambria Math" panose="02040503050406030204" pitchFamily="18" charset="0"/>
                            </a:rPr>
                            <m:t>)</m:t>
                          </m:r>
                        </m:e>
                      </m:d>
                    </m:oMath>
                  </m:oMathPara>
                </a14:m>
                <a:endParaRPr lang="el-GR" dirty="0"/>
              </a:p>
              <a:p>
                <a:endParaRPr lang="en-US" dirty="0"/>
              </a:p>
            </p:txBody>
          </p:sp>
        </mc:Choice>
        <mc:Fallback xmlns="">
          <p:sp>
            <p:nvSpPr>
              <p:cNvPr id="3" name="Notes Placeholder 2"/>
              <p:cNvSpPr>
                <a:spLocks noGrp="1"/>
              </p:cNvSpPr>
              <p:nvPr>
                <p:ph type="body" idx="1"/>
              </p:nvPr>
            </p:nvSpPr>
            <p:spPr/>
            <p:txBody>
              <a:bodyPr/>
              <a:lstStyle/>
              <a:p>
                <a:r>
                  <a:rPr lang="en-US" dirty="0"/>
                  <a:t>Expression for </a:t>
                </a:r>
                <a:r>
                  <a:rPr lang="en-US" i="0">
                    <a:latin typeface="Cambria Math" panose="02040503050406030204" pitchFamily="18" charset="0"/>
                  </a:rPr>
                  <a:t>𝑝(Σ_𝑦∣𝑦)</a:t>
                </a:r>
                <a:r>
                  <a:rPr lang="en-US" dirty="0"/>
                  <a:t> must hold for any </a:t>
                </a:r>
                <a:r>
                  <a:rPr lang="en-US" i="0">
                    <a:latin typeface="Cambria Math" panose="02040503050406030204" pitchFamily="18" charset="0"/>
                  </a:rPr>
                  <a:t>𝛽</a:t>
                </a:r>
                <a:r>
                  <a:rPr lang="en-US" dirty="0"/>
                  <a:t>, so we set </a:t>
                </a:r>
                <a:r>
                  <a:rPr lang="en-US" i="0">
                    <a:latin typeface="Cambria Math" panose="02040503050406030204" pitchFamily="18" charset="0"/>
                  </a:rPr>
                  <a:t>𝛽=𝛽 ˆ</a:t>
                </a:r>
                <a:r>
                  <a:rPr lang="el-GR" dirty="0"/>
                  <a:t>.</a:t>
                </a:r>
              </a:p>
              <a:p>
                <a:r>
                  <a:rPr lang="en-US" dirty="0"/>
                  <a:t>Note that</a:t>
                </a:r>
              </a:p>
              <a:p>
                <a:pPr marL="0" indent="0">
                  <a:buNone/>
                </a:pPr>
                <a:r>
                  <a:rPr lang="en-US" i="0">
                    <a:latin typeface="Cambria Math" panose="02040503050406030204" pitchFamily="18" charset="0"/>
                  </a:rPr>
                  <a:t>𝑝(𝛽∣Σ_𝑦,𝑦)=𝑁(𝛽 ˆ,𝑉_𝛽 )∝|𝑉_𝛽 |^(−1/2)</a:t>
                </a:r>
                <a:endParaRPr lang="el-GR" dirty="0"/>
              </a:p>
              <a:p>
                <a:pPr marL="0" indent="0">
                  <a:buNone/>
                </a:pPr>
                <a:r>
                  <a:rPr lang="en-US" dirty="0"/>
                  <a:t>for </a:t>
                </a:r>
                <a:r>
                  <a:rPr lang="en-US" i="0">
                    <a:latin typeface="Cambria Math" panose="02040503050406030204" pitchFamily="18" charset="0"/>
                  </a:rPr>
                  <a:t>𝛽=𝛽 ˆ</a:t>
                </a:r>
                <a:r>
                  <a:rPr lang="el-GR" dirty="0"/>
                  <a:t>. </a:t>
                </a:r>
                <a:r>
                  <a:rPr lang="en-US" dirty="0"/>
                  <a:t>Then</a:t>
                </a:r>
              </a:p>
              <a:p>
                <a:pPr marL="0" indent="0">
                  <a:buNone/>
                </a:pPr>
                <a:r>
                  <a:rPr lang="en-US" i="0">
                    <a:latin typeface="Cambria Math" panose="02040503050406030204" pitchFamily="18" charset="0"/>
                  </a:rPr>
                  <a:t>𝑝(Σ_𝑦∣𝑦)∝𝑝(Σ_𝑦 ) |𝑉_𝛽 |^(1/2) |Σ_𝑦 |^(−1/2) exp[−1/2(𝑦−𝑋𝛽 ˆ)^</a:t>
                </a:r>
                <a:r>
                  <a:rPr lang="en-US" b="0" i="0">
                    <a:latin typeface="Cambria Math" panose="02040503050406030204" pitchFamily="18" charset="0"/>
                  </a:rPr>
                  <a:t>𝑇 </a:t>
                </a:r>
                <a:r>
                  <a:rPr lang="en-US" i="0">
                    <a:latin typeface="Cambria Math" panose="02040503050406030204" pitchFamily="18" charset="0"/>
                  </a:rPr>
                  <a:t>Σ_𝑦^(−1) (𝑦−𝑋𝛽 ˆ)]</a:t>
                </a:r>
                <a:endParaRPr lang="el-GR" dirty="0"/>
              </a:p>
              <a:p>
                <a:endParaRPr lang="en-US" dirty="0"/>
              </a:p>
            </p:txBody>
          </p:sp>
        </mc:Fallback>
      </mc:AlternateContent>
      <p:sp>
        <p:nvSpPr>
          <p:cNvPr id="4" name="Slide Number Placeholder 3"/>
          <p:cNvSpPr>
            <a:spLocks noGrp="1"/>
          </p:cNvSpPr>
          <p:nvPr>
            <p:ph type="sldNum" sz="quarter" idx="5"/>
          </p:nvPr>
        </p:nvSpPr>
        <p:spPr/>
        <p:txBody>
          <a:bodyPr/>
          <a:lstStyle/>
          <a:p>
            <a:fld id="{F625DDDC-B10B-3347-AAB4-5CB93FC9C71C}" type="slidenum">
              <a:rPr lang="en-US" smtClean="0"/>
              <a:t>44</a:t>
            </a:fld>
            <a:endParaRPr lang="en-US"/>
          </a:p>
        </p:txBody>
      </p:sp>
    </p:spTree>
    <p:extLst>
      <p:ext uri="{BB962C8B-B14F-4D97-AF65-F5344CB8AC3E}">
        <p14:creationId xmlns:p14="http://schemas.microsoft.com/office/powerpoint/2010/main" val="303203540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In theory, </a:t>
                </a:r>
                <a14:m>
                  <m:oMath xmlns:m="http://schemas.openxmlformats.org/officeDocument/2006/math">
                    <m:r>
                      <a:rPr lang="en-US" i="1">
                        <a:latin typeface="Cambria Math" panose="02040503050406030204" pitchFamily="18" charset="0"/>
                      </a:rPr>
                      <m:t>𝑝</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𝑦</m:t>
                            </m:r>
                          </m:sub>
                        </m:sSub>
                        <m:r>
                          <a:rPr lang="en-US">
                            <a:latin typeface="Cambria Math" panose="02040503050406030204" pitchFamily="18" charset="0"/>
                          </a:rPr>
                          <m:t>∣</m:t>
                        </m:r>
                        <m:r>
                          <a:rPr lang="en-US" i="1">
                            <a:latin typeface="Cambria Math" panose="02040503050406030204" pitchFamily="18" charset="0"/>
                          </a:rPr>
                          <m:t>𝑦</m:t>
                        </m:r>
                      </m:e>
                    </m:d>
                  </m:oMath>
                </a14:m>
                <a:r>
                  <a:rPr lang="en-US" dirty="0"/>
                  <a:t> could be evaluated for a range of values of </a:t>
                </a:r>
                <a14:m>
                  <m:oMath xmlns:m="http://schemas.openxmlformats.org/officeDocument/2006/math">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𝑦</m:t>
                        </m:r>
                      </m:sub>
                    </m:sSub>
                  </m:oMath>
                </a14:m>
                <a:r>
                  <a:rPr lang="en-US" dirty="0"/>
                  <a:t>. But there are challenges that</a:t>
                </a:r>
                <a:r>
                  <a:rPr lang="en-US" baseline="0" dirty="0"/>
                  <a:t> make this unrealistic</a:t>
                </a:r>
                <a:r>
                  <a:rPr lang="en-US" dirty="0"/>
                  <a:t>:</a:t>
                </a:r>
              </a:p>
              <a:p>
                <a:endParaRPr lang="en-US" dirty="0"/>
              </a:p>
              <a:p>
                <a:pPr marL="1441450" lvl="1" indent="-742950">
                  <a:buFont typeface="+mj-lt"/>
                  <a:buAutoNum type="arabicPeriod"/>
                </a:pPr>
                <a:r>
                  <a:rPr lang="en-US" dirty="0"/>
                  <a:t>It is difficult to determine a prior for an </a:t>
                </a:r>
                <a14:m>
                  <m:oMath xmlns:m="http://schemas.openxmlformats.org/officeDocument/2006/math">
                    <m:r>
                      <a:rPr lang="en-US" i="1">
                        <a:latin typeface="Cambria Math" panose="02040503050406030204" pitchFamily="18" charset="0"/>
                      </a:rPr>
                      <m:t>𝑛</m:t>
                    </m:r>
                    <m:r>
                      <a:rPr lang="en-US">
                        <a:latin typeface="Cambria Math" panose="02040503050406030204" pitchFamily="18" charset="0"/>
                      </a:rPr>
                      <m:t>×</m:t>
                    </m:r>
                    <m:r>
                      <a:rPr lang="en-US" i="1">
                        <a:latin typeface="Cambria Math" panose="02040503050406030204" pitchFamily="18" charset="0"/>
                      </a:rPr>
                      <m:t>𝑛</m:t>
                    </m:r>
                  </m:oMath>
                </a14:m>
                <a:r>
                  <a:rPr lang="en-US" dirty="0"/>
                  <a:t> unstructured matrix.</a:t>
                </a:r>
              </a:p>
              <a:p>
                <a:pPr marL="1441450" lvl="1" indent="-742950">
                  <a:buFont typeface="+mj-lt"/>
                  <a:buAutoNum type="arabicPeriod"/>
                </a:pPr>
                <a:endParaRPr lang="en-US" dirty="0"/>
              </a:p>
              <a:p>
                <a:pPr marL="1441450" lvl="1" indent="-742950">
                  <a:buFont typeface="+mj-lt"/>
                  <a:buAutoNum type="arabicPeriod"/>
                </a:pPr>
                <a14:m>
                  <m:oMath xmlns:m="http://schemas.openxmlformats.org/officeDocument/2006/math">
                    <m:acc>
                      <m:accPr>
                        <m:chr m:val="ˆ"/>
                        <m:ctrlPr>
                          <a:rPr lang="en-US" i="1">
                            <a:latin typeface="Cambria Math" panose="02040503050406030204" pitchFamily="18" charset="0"/>
                          </a:rPr>
                        </m:ctrlPr>
                      </m:accPr>
                      <m:e>
                        <m:r>
                          <a:rPr lang="en-US" i="1">
                            <a:latin typeface="Cambria Math" panose="02040503050406030204" pitchFamily="18" charset="0"/>
                          </a:rPr>
                          <m:t>𝛽</m:t>
                        </m:r>
                      </m:e>
                    </m:acc>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𝛽</m:t>
                        </m:r>
                      </m:sub>
                    </m:sSub>
                  </m:oMath>
                </a14:m>
                <a:r>
                  <a:rPr lang="en-US" dirty="0"/>
                  <a:t> depend on </a:t>
                </a:r>
                <a14:m>
                  <m:oMath xmlns:m="http://schemas.openxmlformats.org/officeDocument/2006/math">
                    <m:sSub>
                      <m:sSubPr>
                        <m:ctrlPr>
                          <a:rPr lang="en-US" i="1" smtClean="0">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𝑦</m:t>
                        </m:r>
                      </m:sub>
                    </m:sSub>
                  </m:oMath>
                </a14:m>
                <a:r>
                  <a:rPr lang="en-US" dirty="0"/>
                  <a:t> and it is very difficult to draw values of </a:t>
                </a:r>
                <a14:m>
                  <m:oMath xmlns:m="http://schemas.openxmlformats.org/officeDocument/2006/math">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𝑦</m:t>
                        </m:r>
                      </m:sub>
                    </m:sSub>
                  </m:oMath>
                </a14:m>
                <a:r>
                  <a:rPr lang="en-US" dirty="0"/>
                  <a:t> from </a:t>
                </a:r>
                <a14:m>
                  <m:oMath xmlns:m="http://schemas.openxmlformats.org/officeDocument/2006/math">
                    <m:r>
                      <a:rPr lang="en-US" i="1">
                        <a:latin typeface="Cambria Math" panose="02040503050406030204" pitchFamily="18" charset="0"/>
                      </a:rPr>
                      <m:t>𝑝</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𝑦</m:t>
                            </m:r>
                          </m:sub>
                        </m:sSub>
                        <m:r>
                          <a:rPr lang="en-US">
                            <a:latin typeface="Cambria Math" panose="02040503050406030204" pitchFamily="18" charset="0"/>
                          </a:rPr>
                          <m:t>∣</m:t>
                        </m:r>
                        <m:r>
                          <a:rPr lang="en-US" i="1">
                            <a:latin typeface="Cambria Math" panose="02040503050406030204" pitchFamily="18" charset="0"/>
                          </a:rPr>
                          <m:t>𝑦</m:t>
                        </m:r>
                      </m:e>
                    </m:d>
                  </m:oMath>
                </a14:m>
                <a:r>
                  <a:rPr lang="en-US" dirty="0"/>
                  <a:t>.</a:t>
                </a:r>
              </a:p>
              <a:p>
                <a:pPr marL="1441450" lvl="1" indent="-742950">
                  <a:buFont typeface="+mj-lt"/>
                  <a:buAutoNum type="arabicPeriod"/>
                </a:pPr>
                <a:endParaRPr lang="en-US" dirty="0"/>
              </a:p>
              <a:p>
                <a:r>
                  <a:rPr lang="en-US" dirty="0"/>
                  <a:t>	The way to overcome these hurdles is to put some structure on </a:t>
                </a:r>
                <a14:m>
                  <m:oMath xmlns:m="http://schemas.openxmlformats.org/officeDocument/2006/math">
                    <m:sSub>
                      <m:sSubPr>
                        <m:ctrlPr>
                          <a:rPr lang="en-US" i="1" smtClean="0">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𝑦</m:t>
                        </m:r>
                      </m:sub>
                    </m:sSub>
                  </m:oMath>
                </a14:m>
                <a:r>
                  <a:rPr lang="en-US" dirty="0"/>
                  <a:t>.</a:t>
                </a:r>
              </a:p>
              <a:p>
                <a:endParaRPr lang="en-US" dirty="0"/>
              </a:p>
              <a:p>
                <a:endParaRPr lang="en-US" dirty="0"/>
              </a:p>
            </p:txBody>
          </p:sp>
        </mc:Choice>
        <mc:Fallback xmlns="">
          <p:sp>
            <p:nvSpPr>
              <p:cNvPr id="3" name="Notes Placeholder 2"/>
              <p:cNvSpPr>
                <a:spLocks noGrp="1"/>
              </p:cNvSpPr>
              <p:nvPr>
                <p:ph type="body" idx="1"/>
              </p:nvPr>
            </p:nvSpPr>
            <p:spPr/>
            <p:txBody>
              <a:bodyPr/>
              <a:lstStyle/>
              <a:p>
                <a:r>
                  <a:rPr lang="en-US" dirty="0"/>
                  <a:t>In theory, </a:t>
                </a:r>
                <a:r>
                  <a:rPr lang="en-US" i="0">
                    <a:latin typeface="Cambria Math" panose="02040503050406030204" pitchFamily="18" charset="0"/>
                  </a:rPr>
                  <a:t>𝑝(Σ_𝑦∣𝑦)</a:t>
                </a:r>
                <a:r>
                  <a:rPr lang="en-US" dirty="0"/>
                  <a:t> could be evaluated for a range of values of </a:t>
                </a:r>
                <a:r>
                  <a:rPr lang="en-US" i="0">
                    <a:latin typeface="Cambria Math" panose="02040503050406030204" pitchFamily="18" charset="0"/>
                  </a:rPr>
                  <a:t>Σ_𝑦</a:t>
                </a:r>
                <a:r>
                  <a:rPr lang="en-US" dirty="0"/>
                  <a:t>. However:</a:t>
                </a:r>
              </a:p>
              <a:p>
                <a:pPr marL="1441450" lvl="1" indent="-742950">
                  <a:buFont typeface="+mj-lt"/>
                  <a:buAutoNum type="arabicPeriod"/>
                </a:pPr>
                <a:r>
                  <a:rPr lang="en-US" dirty="0"/>
                  <a:t>It is difficult to determine a prior for an </a:t>
                </a:r>
                <a:r>
                  <a:rPr lang="en-US" i="0">
                    <a:latin typeface="Cambria Math" panose="02040503050406030204" pitchFamily="18" charset="0"/>
                  </a:rPr>
                  <a:t>𝑛×𝑛</a:t>
                </a:r>
                <a:r>
                  <a:rPr lang="en-US" dirty="0"/>
                  <a:t> unstructured matrix.</a:t>
                </a:r>
              </a:p>
              <a:p>
                <a:pPr marL="1441450" lvl="1" indent="-742950">
                  <a:buFont typeface="+mj-lt"/>
                  <a:buAutoNum type="arabicPeriod"/>
                </a:pPr>
                <a:r>
                  <a:rPr lang="en-US" i="0">
                    <a:latin typeface="Cambria Math" panose="02040503050406030204" pitchFamily="18" charset="0"/>
                  </a:rPr>
                  <a:t>𝛽 ˆ,𝑉_𝛽</a:t>
                </a:r>
                <a:r>
                  <a:rPr lang="en-US" dirty="0"/>
                  <a:t> depend on </a:t>
                </a:r>
                <a:r>
                  <a:rPr lang="en-US" i="0">
                    <a:latin typeface="Cambria Math" panose="02040503050406030204" pitchFamily="18" charset="0"/>
                  </a:rPr>
                  <a:t>Σ_𝑦</a:t>
                </a:r>
                <a:r>
                  <a:rPr lang="en-US" dirty="0"/>
                  <a:t> and it is very difficult to draw values of </a:t>
                </a:r>
                <a:r>
                  <a:rPr lang="en-US" i="0">
                    <a:latin typeface="Cambria Math" panose="02040503050406030204" pitchFamily="18" charset="0"/>
                  </a:rPr>
                  <a:t>Σ_𝑦</a:t>
                </a:r>
                <a:r>
                  <a:rPr lang="en-US" dirty="0"/>
                  <a:t> from </a:t>
                </a:r>
                <a:r>
                  <a:rPr lang="en-US" i="0">
                    <a:latin typeface="Cambria Math" panose="02040503050406030204" pitchFamily="18" charset="0"/>
                  </a:rPr>
                  <a:t>𝑝(Σ_𝑦∣𝑦)</a:t>
                </a:r>
                <a:r>
                  <a:rPr lang="en-US" dirty="0"/>
                  <a:t>.</a:t>
                </a:r>
              </a:p>
              <a:p>
                <a:r>
                  <a:rPr lang="en-US" dirty="0"/>
                  <a:t>	Need to put some structure on </a:t>
                </a:r>
                <a:r>
                  <a:rPr lang="en-US" i="0">
                    <a:latin typeface="Cambria Math" panose="02040503050406030204" pitchFamily="18" charset="0"/>
                  </a:rPr>
                  <a:t>Σ_𝑦</a:t>
                </a:r>
                <a:r>
                  <a:rPr lang="en-US" dirty="0"/>
                  <a:t>.</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F625DDDC-B10B-3347-AAB4-5CB93FC9C71C}" type="slidenum">
              <a:rPr lang="en-US" smtClean="0"/>
              <a:t>45</a:t>
            </a:fld>
            <a:endParaRPr lang="en-US"/>
          </a:p>
        </p:txBody>
      </p:sp>
    </p:spTree>
    <p:extLst>
      <p:ext uri="{BB962C8B-B14F-4D97-AF65-F5344CB8AC3E}">
        <p14:creationId xmlns:p14="http://schemas.microsoft.com/office/powerpoint/2010/main" val="241813022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So let’s add some structures. </a:t>
                </a:r>
              </a:p>
              <a:p>
                <a:endParaRPr lang="en-US" dirty="0"/>
              </a:p>
              <a:p>
                <a:r>
                  <a:rPr lang="en-US" dirty="0"/>
                  <a:t>Suppose that we know </a:t>
                </a:r>
                <a14:m>
                  <m:oMath xmlns:m="http://schemas.openxmlformats.org/officeDocument/2006/math">
                    <m:sSub>
                      <m:sSubPr>
                        <m:ctrlPr>
                          <a:rPr lang="en-US" i="1" smtClean="0">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𝑦</m:t>
                        </m:r>
                      </m:sub>
                    </m:sSub>
                  </m:oMath>
                </a14:m>
                <a:r>
                  <a:rPr lang="en-US" dirty="0"/>
                  <a:t> up to an unknown scalar factor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oMath>
                </a14:m>
                <a:r>
                  <a:rPr lang="en-US" dirty="0"/>
                  <a:t>. So Q </a:t>
                </a:r>
                <a:r>
                  <a:rPr lang="en-US" dirty="0" err="1"/>
                  <a:t>ia</a:t>
                </a:r>
                <a:r>
                  <a:rPr lang="en-US" dirty="0"/>
                  <a:t> known here. </a:t>
                </a:r>
              </a:p>
              <a:p>
                <a:endParaRPr lang="en-US" dirty="0"/>
              </a:p>
              <a:p>
                <a:r>
                  <a:rPr lang="en-US" dirty="0"/>
                  <a:t>Using the Non-informative prior on </a:t>
                </a:r>
                <a14:m>
                  <m:oMath xmlns:m="http://schemas.openxmlformats.org/officeDocument/2006/math">
                    <m:r>
                      <a:rPr lang="en-US" i="1">
                        <a:latin typeface="Cambria Math" panose="02040503050406030204" pitchFamily="18" charset="0"/>
                      </a:rPr>
                      <m:t>𝛽</m:t>
                    </m:r>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oMath>
                </a14:m>
                <a:endParaRPr lang="en-US" dirty="0"/>
              </a:p>
              <a:p>
                <a:endParaRPr lang="en-US" dirty="0"/>
              </a:p>
              <a:p>
                <a:r>
                  <a:rPr lang="en-US" dirty="0"/>
                  <a:t>Going back to the results from ordinary linear regression, by using the</a:t>
                </a:r>
                <a:r>
                  <a:rPr lang="en-US" baseline="0" dirty="0"/>
                  <a:t> Cholesky </a:t>
                </a:r>
                <a:r>
                  <a:rPr lang="en-US" dirty="0"/>
                  <a:t> factor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𝑄</m:t>
                        </m:r>
                      </m:e>
                      <m:sub>
                        <m:r>
                          <a:rPr lang="en-US" i="1">
                            <a:latin typeface="Cambria Math" panose="02040503050406030204" pitchFamily="18" charset="0"/>
                          </a:rPr>
                          <m:t>𝑦</m:t>
                        </m:r>
                      </m:sub>
                      <m:sup>
                        <m:r>
                          <a:rPr lang="en-US" i="1">
                            <a:latin typeface="Cambria Math" panose="02040503050406030204" pitchFamily="18" charset="0"/>
                          </a:rPr>
                          <m:t>−</m:t>
                        </m:r>
                        <m:r>
                          <a:rPr lang="en-US">
                            <a:latin typeface="Cambria Math" panose="02040503050406030204" pitchFamily="18" charset="0"/>
                          </a:rPr>
                          <m:t>1/2</m:t>
                        </m:r>
                      </m:sup>
                    </m:sSubSup>
                  </m:oMath>
                </a14:m>
                <a:r>
                  <a:rPr lang="en-US" dirty="0"/>
                  <a:t> and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𝑄</m:t>
                        </m:r>
                      </m:e>
                      <m:sub>
                        <m:r>
                          <a:rPr lang="en-US" i="1">
                            <a:latin typeface="Cambria Math" panose="02040503050406030204" pitchFamily="18" charset="0"/>
                          </a:rPr>
                          <m:t>𝑦</m:t>
                        </m:r>
                      </m:sub>
                      <m:sup>
                        <m:r>
                          <a:rPr lang="en-US" i="1">
                            <a:latin typeface="Cambria Math" panose="02040503050406030204" pitchFamily="18" charset="0"/>
                          </a:rPr>
                          <m:t>−</m:t>
                        </m:r>
                        <m:r>
                          <a:rPr lang="en-US">
                            <a:latin typeface="Cambria Math" panose="02040503050406030204" pitchFamily="18" charset="0"/>
                          </a:rPr>
                          <m:t>1/2</m:t>
                        </m:r>
                      </m:sup>
                    </m:sSubSup>
                    <m:r>
                      <a:rPr lang="en-US" i="1">
                        <a:latin typeface="Cambria Math" panose="02040503050406030204" pitchFamily="18" charset="0"/>
                      </a:rPr>
                      <m:t>𝑋</m:t>
                    </m:r>
                  </m:oMath>
                </a14:m>
                <a:r>
                  <a:rPr lang="en-US" dirty="0"/>
                  <a:t>, we</a:t>
                </a:r>
                <a:r>
                  <a:rPr lang="en-US" baseline="0" dirty="0"/>
                  <a:t> can compute the following equations. </a:t>
                </a:r>
              </a:p>
              <a:p>
                <a:pPr/>
                <a14:m>
                  <m:oMathPara xmlns:m="http://schemas.openxmlformats.org/officeDocument/2006/math">
                    <m:oMathParaPr>
                      <m:jc m:val="centerGroup"/>
                    </m:oMathParaPr>
                    <m:oMath xmlns:m="http://schemas.openxmlformats.org/officeDocument/2006/math">
                      <m:acc>
                        <m:accPr>
                          <m:chr m:val="ˆ"/>
                          <m:ctrlPr>
                            <a:rPr lang="en-US" i="1">
                              <a:latin typeface="Cambria Math" panose="02040503050406030204" pitchFamily="18" charset="0"/>
                            </a:rPr>
                          </m:ctrlPr>
                        </m:accPr>
                        <m:e>
                          <m:r>
                            <a:rPr lang="en-US" i="1">
                              <a:latin typeface="Cambria Math" panose="02040503050406030204" pitchFamily="18" charset="0"/>
                            </a:rPr>
                            <m:t>𝛽</m:t>
                          </m:r>
                        </m:e>
                      </m:acc>
                      <m:r>
                        <a:rPr lang="en-US">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𝑋</m:t>
                                  </m:r>
                                </m:e>
                                <m:sup>
                                  <m:r>
                                    <a:rPr lang="en-US" b="0" i="1" smtClean="0">
                                      <a:latin typeface="Cambria Math" panose="02040503050406030204" pitchFamily="18" charset="0"/>
                                    </a:rPr>
                                    <m:t>𝑇</m:t>
                                  </m:r>
                                </m:sup>
                              </m:sSup>
                              <m:sSubSup>
                                <m:sSubSupPr>
                                  <m:ctrlPr>
                                    <a:rPr lang="en-US" i="1">
                                      <a:latin typeface="Cambria Math" panose="02040503050406030204" pitchFamily="18" charset="0"/>
                                    </a:rPr>
                                  </m:ctrlPr>
                                </m:sSubSupPr>
                                <m:e>
                                  <m:r>
                                    <a:rPr lang="en-US" i="1">
                                      <a:latin typeface="Cambria Math" panose="02040503050406030204" pitchFamily="18" charset="0"/>
                                    </a:rPr>
                                    <m:t>𝑄</m:t>
                                  </m:r>
                                </m:e>
                                <m:sub>
                                  <m:r>
                                    <a:rPr lang="en-US" i="1">
                                      <a:latin typeface="Cambria Math" panose="02040503050406030204" pitchFamily="18" charset="0"/>
                                    </a:rPr>
                                    <m:t>𝑦</m:t>
                                  </m:r>
                                </m:sub>
                                <m:sup>
                                  <m:r>
                                    <a:rPr lang="en-US" i="1">
                                      <a:latin typeface="Cambria Math" panose="02040503050406030204" pitchFamily="18" charset="0"/>
                                    </a:rPr>
                                    <m:t>−</m:t>
                                  </m:r>
                                  <m:r>
                                    <a:rPr lang="en-US">
                                      <a:latin typeface="Cambria Math" panose="02040503050406030204" pitchFamily="18" charset="0"/>
                                    </a:rPr>
                                    <m:t>1</m:t>
                                  </m:r>
                                </m:sup>
                              </m:sSubSup>
                              <m:r>
                                <a:rPr lang="en-US" i="1">
                                  <a:latin typeface="Cambria Math" panose="02040503050406030204" pitchFamily="18" charset="0"/>
                                </a:rPr>
                                <m:t>𝑋</m:t>
                              </m:r>
                            </m:e>
                          </m:d>
                        </m:e>
                        <m:sup>
                          <m:r>
                            <a:rPr lang="en-US" i="1">
                              <a:latin typeface="Cambria Math" panose="02040503050406030204" pitchFamily="18" charset="0"/>
                            </a:rPr>
                            <m:t>−</m:t>
                          </m:r>
                          <m:r>
                            <a:rPr lang="en-US">
                              <a:latin typeface="Cambria Math" panose="02040503050406030204" pitchFamily="18" charset="0"/>
                            </a:rPr>
                            <m:t>1</m:t>
                          </m:r>
                        </m:sup>
                      </m:sSup>
                      <m:sSup>
                        <m:sSupPr>
                          <m:ctrlPr>
                            <a:rPr lang="en-US" i="1">
                              <a:latin typeface="Cambria Math" panose="02040503050406030204" pitchFamily="18" charset="0"/>
                            </a:rPr>
                          </m:ctrlPr>
                        </m:sSupPr>
                        <m:e>
                          <m:r>
                            <a:rPr lang="en-US" i="1">
                              <a:latin typeface="Cambria Math" panose="02040503050406030204" pitchFamily="18" charset="0"/>
                            </a:rPr>
                            <m:t>𝑋</m:t>
                          </m:r>
                        </m:e>
                        <m:sup>
                          <m:r>
                            <a:rPr lang="en-US" b="0" i="1" smtClean="0">
                              <a:latin typeface="Cambria Math" panose="02040503050406030204" pitchFamily="18" charset="0"/>
                            </a:rPr>
                            <m:t>𝑇</m:t>
                          </m:r>
                        </m:sup>
                      </m:sSup>
                      <m:sSubSup>
                        <m:sSubSupPr>
                          <m:ctrlPr>
                            <a:rPr lang="en-US" i="1">
                              <a:latin typeface="Cambria Math" panose="02040503050406030204" pitchFamily="18" charset="0"/>
                            </a:rPr>
                          </m:ctrlPr>
                        </m:sSubSupPr>
                        <m:e>
                          <m:r>
                            <a:rPr lang="en-US" i="1">
                              <a:latin typeface="Cambria Math" panose="02040503050406030204" pitchFamily="18" charset="0"/>
                            </a:rPr>
                            <m:t>𝑄</m:t>
                          </m:r>
                        </m:e>
                        <m:sub>
                          <m:r>
                            <a:rPr lang="en-US" i="1">
                              <a:latin typeface="Cambria Math" panose="02040503050406030204" pitchFamily="18" charset="0"/>
                            </a:rPr>
                            <m:t>𝑦</m:t>
                          </m:r>
                        </m:sub>
                        <m:sup>
                          <m:r>
                            <a:rPr lang="en-US" i="1">
                              <a:latin typeface="Cambria Math" panose="02040503050406030204" pitchFamily="18" charset="0"/>
                            </a:rPr>
                            <m:t>−</m:t>
                          </m:r>
                          <m:r>
                            <a:rPr lang="en-US">
                              <a:latin typeface="Cambria Math" panose="02040503050406030204" pitchFamily="18" charset="0"/>
                            </a:rPr>
                            <m:t>1</m:t>
                          </m:r>
                        </m:sup>
                      </m:sSubSup>
                      <m:r>
                        <a:rPr lang="en-US" i="1">
                          <a:latin typeface="Cambria Math" panose="02040503050406030204" pitchFamily="18" charset="0"/>
                        </a:rPr>
                        <m:t>𝑦</m:t>
                      </m:r>
                    </m:oMath>
                  </m:oMathPara>
                </a14:m>
                <a:endParaRPr lang="en-US" dirty="0"/>
              </a:p>
              <a:p>
                <a:pPr marL="0" indent="0">
                  <a:buNone/>
                </a:pPr>
                <a14:m>
                  <m:oMathPara xmlns:m="http://schemas.openxmlformats.org/officeDocument/2006/math">
                    <m:oMathParaPr>
                      <m:jc m:val="centerGroup"/>
                    </m:oMathParaPr>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𝛽</m:t>
                          </m:r>
                        </m:sub>
                      </m:sSub>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sSup>
                        <m:sSupPr>
                          <m:ctrlPr>
                            <a:rPr lang="en-US" i="1">
                              <a:latin typeface="Cambria Math" panose="02040503050406030204" pitchFamily="18" charset="0"/>
                            </a:rPr>
                          </m:ctrlPr>
                        </m:sSupPr>
                        <m:e>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𝑋</m:t>
                                  </m:r>
                                </m:e>
                                <m:sup>
                                  <m:r>
                                    <a:rPr lang="en-US" b="0" i="1" smtClean="0">
                                      <a:latin typeface="Cambria Math" panose="02040503050406030204" pitchFamily="18" charset="0"/>
                                    </a:rPr>
                                    <m:t>𝑇</m:t>
                                  </m:r>
                                </m:sup>
                              </m:sSup>
                              <m:sSubSup>
                                <m:sSubSupPr>
                                  <m:ctrlPr>
                                    <a:rPr lang="en-US" i="1">
                                      <a:latin typeface="Cambria Math" panose="02040503050406030204" pitchFamily="18" charset="0"/>
                                    </a:rPr>
                                  </m:ctrlPr>
                                </m:sSubSupPr>
                                <m:e>
                                  <m:r>
                                    <a:rPr lang="en-US" i="1">
                                      <a:latin typeface="Cambria Math" panose="02040503050406030204" pitchFamily="18" charset="0"/>
                                    </a:rPr>
                                    <m:t>𝑄</m:t>
                                  </m:r>
                                </m:e>
                                <m:sub>
                                  <m:r>
                                    <a:rPr lang="en-US" i="1">
                                      <a:latin typeface="Cambria Math" panose="02040503050406030204" pitchFamily="18" charset="0"/>
                                    </a:rPr>
                                    <m:t>𝑦</m:t>
                                  </m:r>
                                </m:sub>
                                <m:sup>
                                  <m:r>
                                    <a:rPr lang="en-US" i="1">
                                      <a:latin typeface="Cambria Math" panose="02040503050406030204" pitchFamily="18" charset="0"/>
                                    </a:rPr>
                                    <m:t>−</m:t>
                                  </m:r>
                                  <m:r>
                                    <a:rPr lang="en-US">
                                      <a:latin typeface="Cambria Math" panose="02040503050406030204" pitchFamily="18" charset="0"/>
                                    </a:rPr>
                                    <m:t>1</m:t>
                                  </m:r>
                                </m:sup>
                              </m:sSubSup>
                              <m:r>
                                <a:rPr lang="en-US" i="1">
                                  <a:latin typeface="Cambria Math" panose="02040503050406030204" pitchFamily="18" charset="0"/>
                                </a:rPr>
                                <m:t>𝑋</m:t>
                              </m:r>
                            </m:e>
                          </m:d>
                        </m:e>
                        <m:sup>
                          <m:r>
                            <a:rPr lang="en-US" i="1">
                              <a:latin typeface="Cambria Math" panose="02040503050406030204" pitchFamily="18" charset="0"/>
                            </a:rPr>
                            <m:t>−</m:t>
                          </m:r>
                          <m:r>
                            <a:rPr lang="en-US">
                              <a:latin typeface="Cambria Math" panose="02040503050406030204" pitchFamily="18" charset="0"/>
                            </a:rPr>
                            <m:t>1</m:t>
                          </m:r>
                        </m:sup>
                      </m:sSup>
                    </m:oMath>
                  </m:oMathPara>
                </a14:m>
                <a:endParaRPr lang="en-US" dirty="0"/>
              </a:p>
              <a:p>
                <a:pPr marL="0" indent="0">
                  <a:buNone/>
                </a:pPr>
                <a14:m>
                  <m:oMathPara xmlns:m="http://schemas.openxmlformats.org/officeDocument/2006/math">
                    <m:oMathParaPr>
                      <m:jc m:val="centerGroup"/>
                    </m:oMathParaPr>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𝑠</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𝑛</m:t>
                      </m:r>
                      <m:r>
                        <a:rPr lang="en-US" i="1">
                          <a:latin typeface="Cambria Math" panose="02040503050406030204" pitchFamily="18" charset="0"/>
                        </a:rPr>
                        <m:t>−</m:t>
                      </m:r>
                      <m:r>
                        <a:rPr lang="en-US" i="1">
                          <a:latin typeface="Cambria Math" panose="02040503050406030204" pitchFamily="18" charset="0"/>
                        </a:rPr>
                        <m:t>𝑘</m:t>
                      </m:r>
                      <m:sSup>
                        <m:sSupPr>
                          <m:ctrlPr>
                            <a:rPr lang="en-US" i="1">
                              <a:latin typeface="Cambria Math" panose="02040503050406030204" pitchFamily="18" charset="0"/>
                            </a:rPr>
                          </m:ctrlPr>
                        </m:sSupPr>
                        <m:e>
                          <m:r>
                            <a:rPr lang="en-US">
                              <a:latin typeface="Cambria Math" panose="02040503050406030204" pitchFamily="18" charset="0"/>
                            </a:rPr>
                            <m:t>)</m:t>
                          </m:r>
                        </m:e>
                        <m:sup>
                          <m:r>
                            <a:rPr lang="en-US" i="1">
                              <a:latin typeface="Cambria Math" panose="02040503050406030204" pitchFamily="18" charset="0"/>
                            </a:rPr>
                            <m:t>−</m:t>
                          </m:r>
                          <m:r>
                            <a:rPr lang="en-US">
                              <a:latin typeface="Cambria Math" panose="02040503050406030204" pitchFamily="18" charset="0"/>
                            </a:rPr>
                            <m:t>1</m:t>
                          </m:r>
                        </m:sup>
                      </m:sSup>
                      <m:r>
                        <a:rPr lang="en-US">
                          <a:latin typeface="Cambria Math" panose="02040503050406030204" pitchFamily="18" charset="0"/>
                        </a:rPr>
                        <m:t>(</m:t>
                      </m:r>
                      <m:r>
                        <a:rPr lang="en-US" i="1">
                          <a:latin typeface="Cambria Math" panose="02040503050406030204" pitchFamily="18" charset="0"/>
                        </a:rPr>
                        <m:t>𝑦</m:t>
                      </m:r>
                      <m:r>
                        <a:rPr lang="en-US" i="1">
                          <a:latin typeface="Cambria Math" panose="02040503050406030204" pitchFamily="18" charset="0"/>
                        </a:rPr>
                        <m:t>−</m:t>
                      </m:r>
                      <m:r>
                        <a:rPr lang="en-US" i="1">
                          <a:latin typeface="Cambria Math" panose="02040503050406030204" pitchFamily="18" charset="0"/>
                        </a:rPr>
                        <m:t>𝑋</m:t>
                      </m:r>
                      <m:acc>
                        <m:accPr>
                          <m:chr m:val="ˆ"/>
                          <m:ctrlPr>
                            <a:rPr lang="en-US" i="1">
                              <a:latin typeface="Cambria Math" panose="02040503050406030204" pitchFamily="18" charset="0"/>
                            </a:rPr>
                          </m:ctrlPr>
                        </m:accPr>
                        <m:e>
                          <m:r>
                            <a:rPr lang="en-US" i="1">
                              <a:latin typeface="Cambria Math" panose="02040503050406030204" pitchFamily="18" charset="0"/>
                            </a:rPr>
                            <m:t>𝛽</m:t>
                          </m:r>
                        </m:e>
                      </m:acc>
                      <m:sSup>
                        <m:sSupPr>
                          <m:ctrlPr>
                            <a:rPr lang="en-US" i="1">
                              <a:latin typeface="Cambria Math" panose="02040503050406030204" pitchFamily="18" charset="0"/>
                            </a:rPr>
                          </m:ctrlPr>
                        </m:sSupPr>
                        <m:e>
                          <m:r>
                            <a:rPr lang="en-US">
                              <a:latin typeface="Cambria Math" panose="02040503050406030204" pitchFamily="18" charset="0"/>
                            </a:rPr>
                            <m:t>)</m:t>
                          </m:r>
                        </m:e>
                        <m:sup>
                          <m:r>
                            <a:rPr lang="en-US" i="1">
                              <a:latin typeface="Cambria Math" panose="02040503050406030204" pitchFamily="18" charset="0"/>
                            </a:rPr>
                            <m:t>′</m:t>
                          </m:r>
                        </m:sup>
                      </m:sSup>
                      <m:sSubSup>
                        <m:sSubSupPr>
                          <m:ctrlPr>
                            <a:rPr lang="en-US" i="1">
                              <a:latin typeface="Cambria Math" panose="02040503050406030204" pitchFamily="18" charset="0"/>
                            </a:rPr>
                          </m:ctrlPr>
                        </m:sSubSupPr>
                        <m:e>
                          <m:r>
                            <a:rPr lang="en-US" i="1">
                              <a:latin typeface="Cambria Math" panose="02040503050406030204" pitchFamily="18" charset="0"/>
                            </a:rPr>
                            <m:t>𝑄</m:t>
                          </m:r>
                        </m:e>
                        <m:sub>
                          <m:r>
                            <a:rPr lang="en-US" i="1">
                              <a:latin typeface="Cambria Math" panose="02040503050406030204" pitchFamily="18" charset="0"/>
                            </a:rPr>
                            <m:t>𝑦</m:t>
                          </m:r>
                        </m:sub>
                        <m:sup>
                          <m:r>
                            <a:rPr lang="en-US" i="1">
                              <a:latin typeface="Cambria Math" panose="02040503050406030204" pitchFamily="18" charset="0"/>
                            </a:rPr>
                            <m:t>−</m:t>
                          </m:r>
                          <m:r>
                            <a:rPr lang="en-US">
                              <a:latin typeface="Cambria Math" panose="02040503050406030204" pitchFamily="18" charset="0"/>
                            </a:rPr>
                            <m:t>1</m:t>
                          </m:r>
                        </m:sup>
                      </m:sSubSup>
                      <m:r>
                        <a:rPr lang="en-US">
                          <a:latin typeface="Cambria Math" panose="02040503050406030204" pitchFamily="18" charset="0"/>
                        </a:rPr>
                        <m:t>(</m:t>
                      </m:r>
                      <m:r>
                        <a:rPr lang="en-US" i="1">
                          <a:latin typeface="Cambria Math" panose="02040503050406030204" pitchFamily="18" charset="0"/>
                        </a:rPr>
                        <m:t>𝑦</m:t>
                      </m:r>
                      <m:r>
                        <a:rPr lang="en-US" i="1">
                          <a:latin typeface="Cambria Math" panose="02040503050406030204" pitchFamily="18" charset="0"/>
                        </a:rPr>
                        <m:t>−</m:t>
                      </m:r>
                      <m:r>
                        <a:rPr lang="en-US" i="1">
                          <a:latin typeface="Cambria Math" panose="02040503050406030204" pitchFamily="18" charset="0"/>
                        </a:rPr>
                        <m:t>𝑋</m:t>
                      </m:r>
                      <m:acc>
                        <m:accPr>
                          <m:chr m:val="ˆ"/>
                          <m:ctrlPr>
                            <a:rPr lang="en-US" i="1">
                              <a:latin typeface="Cambria Math" panose="02040503050406030204" pitchFamily="18" charset="0"/>
                            </a:rPr>
                          </m:ctrlPr>
                        </m:accPr>
                        <m:e>
                          <m:r>
                            <a:rPr lang="en-US" i="1">
                              <a:latin typeface="Cambria Math" panose="02040503050406030204" pitchFamily="18" charset="0"/>
                            </a:rPr>
                            <m:t>𝛽</m:t>
                          </m:r>
                        </m:e>
                      </m:acc>
                      <m:r>
                        <a:rPr lang="en-US">
                          <a:latin typeface="Cambria Math" panose="02040503050406030204" pitchFamily="18" charset="0"/>
                        </a:rPr>
                        <m:t>)</m:t>
                      </m:r>
                    </m:oMath>
                  </m:oMathPara>
                </a14:m>
                <a:endParaRPr lang="en-US" dirty="0"/>
              </a:p>
              <a:p>
                <a:endParaRPr lang="en-US" dirty="0"/>
              </a:p>
            </p:txBody>
          </p:sp>
        </mc:Choice>
        <mc:Fallback xmlns="">
          <p:sp>
            <p:nvSpPr>
              <p:cNvPr id="3" name="Notes Placeholder 2"/>
              <p:cNvSpPr>
                <a:spLocks noGrp="1"/>
              </p:cNvSpPr>
              <p:nvPr>
                <p:ph type="body" idx="1"/>
              </p:nvPr>
            </p:nvSpPr>
            <p:spPr/>
            <p:txBody>
              <a:bodyPr/>
              <a:lstStyle/>
              <a:p>
                <a:r>
                  <a:rPr lang="en-US" dirty="0"/>
                  <a:t>Suppose that we know </a:t>
                </a:r>
                <a:r>
                  <a:rPr lang="en-US" i="0">
                    <a:latin typeface="Cambria Math" panose="02040503050406030204" pitchFamily="18" charset="0"/>
                  </a:rPr>
                  <a:t>Σ_𝑦</a:t>
                </a:r>
                <a:r>
                  <a:rPr lang="en-US" dirty="0"/>
                  <a:t> up to a scalar factor </a:t>
                </a:r>
                <a:r>
                  <a:rPr lang="en-US" i="0">
                    <a:latin typeface="Cambria Math" panose="02040503050406030204" pitchFamily="18" charset="0"/>
                  </a:rPr>
                  <a:t>𝜎^2</a:t>
                </a:r>
                <a:r>
                  <a:rPr lang="en-US" dirty="0"/>
                  <a:t>.</a:t>
                </a:r>
              </a:p>
              <a:p>
                <a:r>
                  <a:rPr lang="en-US" dirty="0"/>
                  <a:t>Non-informative prior on </a:t>
                </a:r>
                <a:r>
                  <a:rPr lang="en-US" i="0">
                    <a:latin typeface="Cambria Math" panose="02040503050406030204" pitchFamily="18" charset="0"/>
                  </a:rPr>
                  <a:t>𝛽,𝜎^2</a:t>
                </a:r>
                <a:r>
                  <a:rPr lang="en-US" dirty="0"/>
                  <a:t> is </a:t>
                </a:r>
                <a:r>
                  <a:rPr lang="en-US" i="0">
                    <a:latin typeface="Cambria Math" panose="02040503050406030204" pitchFamily="18" charset="0"/>
                  </a:rPr>
                  <a:t>𝑝(𝛽,𝜎^2 )∝𝜎^(−2)</a:t>
                </a:r>
                <a:endParaRPr lang="en-US" dirty="0"/>
              </a:p>
              <a:p>
                <a:r>
                  <a:rPr lang="en-US" dirty="0"/>
                  <a:t>Results follow directly from ordinary linear regression, by using transformation </a:t>
                </a:r>
                <a:r>
                  <a:rPr lang="en-US" i="0">
                    <a:latin typeface="Cambria Math" panose="02040503050406030204" pitchFamily="18" charset="0"/>
                  </a:rPr>
                  <a:t>𝑄_𝑦^(−1/2)</a:t>
                </a:r>
                <a:r>
                  <a:rPr lang="en-US" dirty="0"/>
                  <a:t> and </a:t>
                </a:r>
                <a:r>
                  <a:rPr lang="en-US" i="0">
                    <a:latin typeface="Cambria Math" panose="02040503050406030204" pitchFamily="18" charset="0"/>
                  </a:rPr>
                  <a:t>𝑄_𝑦^(−1/2) 𝑋</a:t>
                </a:r>
                <a:r>
                  <a:rPr lang="en-US" dirty="0"/>
                  <a:t>, which is equivalent to computing</a:t>
                </a:r>
              </a:p>
              <a:p>
                <a:pPr marL="0" indent="0">
                  <a:buNone/>
                </a:pPr>
                <a:r>
                  <a:rPr lang="en-US" i="0">
                    <a:latin typeface="Cambria Math" panose="02040503050406030204" pitchFamily="18" charset="0"/>
                  </a:rPr>
                  <a:t>𝛽 ˆ=(𝑋^</a:t>
                </a:r>
                <a:r>
                  <a:rPr lang="en-US" b="0" i="0">
                    <a:latin typeface="Cambria Math" panose="02040503050406030204" pitchFamily="18" charset="0"/>
                  </a:rPr>
                  <a:t>𝑇 </a:t>
                </a:r>
                <a:r>
                  <a:rPr lang="en-US" i="0">
                    <a:latin typeface="Cambria Math" panose="02040503050406030204" pitchFamily="18" charset="0"/>
                  </a:rPr>
                  <a:t>𝑄_𝑦^(−1) 𝑋)^(−1) 𝑋^</a:t>
                </a:r>
                <a:r>
                  <a:rPr lang="en-US" b="0" i="0">
                    <a:latin typeface="Cambria Math" panose="02040503050406030204" pitchFamily="18" charset="0"/>
                  </a:rPr>
                  <a:t>𝑇 </a:t>
                </a:r>
                <a:r>
                  <a:rPr lang="en-US" i="0">
                    <a:latin typeface="Cambria Math" panose="02040503050406030204" pitchFamily="18" charset="0"/>
                  </a:rPr>
                  <a:t>𝑄_𝑦^(−1) 𝑦</a:t>
                </a:r>
                <a:endParaRPr lang="en-US" dirty="0"/>
              </a:p>
              <a:p>
                <a:pPr marL="0" indent="0">
                  <a:buNone/>
                </a:pPr>
                <a:r>
                  <a:rPr lang="en-US" i="0">
                    <a:latin typeface="Cambria Math" panose="02040503050406030204" pitchFamily="18" charset="0"/>
                  </a:rPr>
                  <a:t>𝜎^2 𝑉_𝛽=𝜎^2 (𝑋^</a:t>
                </a:r>
                <a:r>
                  <a:rPr lang="en-US" b="0" i="0">
                    <a:latin typeface="Cambria Math" panose="02040503050406030204" pitchFamily="18" charset="0"/>
                  </a:rPr>
                  <a:t>𝑇 </a:t>
                </a:r>
                <a:r>
                  <a:rPr lang="en-US" i="0">
                    <a:latin typeface="Cambria Math" panose="02040503050406030204" pitchFamily="18" charset="0"/>
                  </a:rPr>
                  <a:t>𝑄_𝑦^(−1) 𝑋)^(−1)</a:t>
                </a:r>
                <a:endParaRPr lang="en-US" dirty="0"/>
              </a:p>
              <a:p>
                <a:pPr marL="0" indent="0">
                  <a:buNone/>
                </a:pPr>
                <a:r>
                  <a:rPr lang="en-US" i="0">
                    <a:latin typeface="Cambria Math" panose="02040503050406030204" pitchFamily="18" charset="0"/>
                  </a:rPr>
                  <a:t>𝑠^2=(𝑛−𝑘)^(−1) (𝑦−𝑋𝛽 ˆ)^′ 𝑄_𝑦^(−1) (𝑦−𝑋𝛽 ˆ)</a:t>
                </a:r>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F625DDDC-B10B-3347-AAB4-5CB93FC9C71C}" type="slidenum">
              <a:rPr lang="en-US" smtClean="0"/>
              <a:t>46</a:t>
            </a:fld>
            <a:endParaRPr lang="en-US"/>
          </a:p>
        </p:txBody>
      </p:sp>
    </p:spTree>
    <p:extLst>
      <p:ext uri="{BB962C8B-B14F-4D97-AF65-F5344CB8AC3E}">
        <p14:creationId xmlns:p14="http://schemas.microsoft.com/office/powerpoint/2010/main" val="116177676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To estimate the joint posterior distribution </a:t>
                </a:r>
                <a14:m>
                  <m:oMath xmlns:m="http://schemas.openxmlformats.org/officeDocument/2006/math">
                    <m:r>
                      <a:rPr lang="en-US" i="1">
                        <a:latin typeface="Cambria Math" panose="02040503050406030204" pitchFamily="18" charset="0"/>
                      </a:rPr>
                      <m:t>𝑝</m:t>
                    </m:r>
                    <m:d>
                      <m:dPr>
                        <m:ctrlPr>
                          <a:rPr lang="en-US" i="1">
                            <a:latin typeface="Cambria Math" panose="02040503050406030204" pitchFamily="18" charset="0"/>
                          </a:rPr>
                        </m:ctrlPr>
                      </m:dPr>
                      <m:e>
                        <m:r>
                          <a:rPr lang="en-US" i="1">
                            <a:latin typeface="Cambria Math" panose="02040503050406030204" pitchFamily="18" charset="0"/>
                          </a:rPr>
                          <m:t>𝛽</m:t>
                        </m:r>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e>
                    </m:d>
                  </m:oMath>
                </a14:m>
                <a:r>
                  <a:rPr lang="en-US" dirty="0"/>
                  <a:t> do</a:t>
                </a:r>
              </a:p>
              <a:p>
                <a:pPr marL="1441450" lvl="1" indent="-742950">
                  <a:buFont typeface="+mj-lt"/>
                  <a:buAutoNum type="arabicPeriod"/>
                </a:pPr>
                <a:r>
                  <a:rPr lang="en-US" dirty="0"/>
                  <a:t>Draw </a:t>
                </a:r>
                <a14:m>
                  <m:oMath xmlns:m="http://schemas.openxmlformats.org/officeDocument/2006/math">
                    <m:sSup>
                      <m:sSupPr>
                        <m:ctrlPr>
                          <a:rPr lang="en-US" i="1" smtClean="0">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oMath>
                </a14:m>
                <a:r>
                  <a:rPr lang="en-US" dirty="0"/>
                  <a:t> from </a:t>
                </a:r>
                <a14:m>
                  <m:oMath xmlns:m="http://schemas.openxmlformats.org/officeDocument/2006/math">
                    <m:r>
                      <m:rPr>
                        <m:sty m:val="p"/>
                      </m:rPr>
                      <a:rPr lang="en-US">
                        <a:latin typeface="Cambria Math" panose="02040503050406030204" pitchFamily="18" charset="0"/>
                      </a:rPr>
                      <m:t>Inv</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𝜒</m:t>
                        </m:r>
                      </m:e>
                      <m:sup>
                        <m:r>
                          <a:rPr lang="en-US">
                            <a:latin typeface="Cambria Math" panose="02040503050406030204" pitchFamily="18" charset="0"/>
                          </a:rPr>
                          <m:t>2</m:t>
                        </m:r>
                      </m:sup>
                    </m:sSup>
                    <m:d>
                      <m:dPr>
                        <m:ctrlPr>
                          <a:rPr lang="en-US" i="1">
                            <a:latin typeface="Cambria Math" panose="02040503050406030204" pitchFamily="18" charset="0"/>
                          </a:rPr>
                        </m:ctrlPr>
                      </m:dPr>
                      <m:e>
                        <m:r>
                          <a:rPr lang="en-US" i="1">
                            <a:latin typeface="Cambria Math" panose="02040503050406030204" pitchFamily="18" charset="0"/>
                          </a:rPr>
                          <m:t>𝑛</m:t>
                        </m:r>
                        <m:r>
                          <a:rPr lang="en-US" i="1">
                            <a:latin typeface="Cambria Math" panose="02040503050406030204" pitchFamily="18" charset="0"/>
                          </a:rPr>
                          <m:t>−</m:t>
                        </m:r>
                        <m:r>
                          <a:rPr lang="en-US" i="1">
                            <a:latin typeface="Cambria Math" panose="02040503050406030204" pitchFamily="18" charset="0"/>
                          </a:rPr>
                          <m:t>𝑘</m:t>
                        </m:r>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𝑠</m:t>
                            </m:r>
                          </m:e>
                          <m:sup>
                            <m:r>
                              <a:rPr lang="en-US">
                                <a:latin typeface="Cambria Math" panose="02040503050406030204" pitchFamily="18" charset="0"/>
                              </a:rPr>
                              <m:t>2</m:t>
                            </m:r>
                          </m:sup>
                        </m:sSup>
                      </m:e>
                    </m:d>
                  </m:oMath>
                </a14:m>
                <a:r>
                  <a:rPr lang="en-US" dirty="0"/>
                  <a:t>.</a:t>
                </a:r>
              </a:p>
              <a:p>
                <a:pPr marL="1441450" lvl="1" indent="-742950">
                  <a:buFont typeface="+mj-lt"/>
                  <a:buAutoNum type="arabicPeriod"/>
                </a:pPr>
                <a:r>
                  <a:rPr lang="en-US" dirty="0"/>
                  <a:t>Draw </a:t>
                </a:r>
                <a14:m>
                  <m:oMath xmlns:m="http://schemas.openxmlformats.org/officeDocument/2006/math">
                    <m:r>
                      <a:rPr lang="en-US" i="1">
                        <a:latin typeface="Cambria Math" panose="02040503050406030204" pitchFamily="18" charset="0"/>
                      </a:rPr>
                      <m:t>𝛽</m:t>
                    </m:r>
                  </m:oMath>
                </a14:m>
                <a:r>
                  <a:rPr lang="en-US" dirty="0"/>
                  <a:t> from </a:t>
                </a:r>
                <a14:m>
                  <m:oMath xmlns:m="http://schemas.openxmlformats.org/officeDocument/2006/math">
                    <m:r>
                      <a:rPr lang="en-US" i="1">
                        <a:latin typeface="Cambria Math" panose="02040503050406030204" pitchFamily="18" charset="0"/>
                      </a:rPr>
                      <m:t>𝑁</m:t>
                    </m:r>
                    <m:d>
                      <m:dPr>
                        <m:ctrlPr>
                          <a:rPr lang="en-US" i="1">
                            <a:latin typeface="Cambria Math" panose="02040503050406030204" pitchFamily="18" charset="0"/>
                          </a:rPr>
                        </m:ctrlPr>
                      </m:dPr>
                      <m:e>
                        <m:acc>
                          <m:accPr>
                            <m:chr m:val="ˆ"/>
                            <m:ctrlPr>
                              <a:rPr lang="en-US" i="1">
                                <a:latin typeface="Cambria Math" panose="02040503050406030204" pitchFamily="18" charset="0"/>
                              </a:rPr>
                            </m:ctrlPr>
                          </m:accPr>
                          <m:e>
                            <m:r>
                              <a:rPr lang="en-US" i="1">
                                <a:latin typeface="Cambria Math" panose="02040503050406030204" pitchFamily="18" charset="0"/>
                              </a:rPr>
                              <m:t>𝛽</m:t>
                            </m:r>
                          </m:e>
                        </m:acc>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𝛽</m:t>
                            </m:r>
                          </m:sub>
                        </m:sSub>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e>
                    </m:d>
                  </m:oMath>
                </a14:m>
                <a:r>
                  <a:rPr lang="el-GR" dirty="0"/>
                  <a:t>.</a:t>
                </a:r>
              </a:p>
              <a:p>
                <a:endParaRPr lang="en-US" dirty="0"/>
              </a:p>
              <a:p>
                <a:r>
                  <a:rPr lang="en-US" dirty="0"/>
                  <a:t>In large datasets, use Cholesky factor transformation and unweighted regression to avoid computation of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𝑄</m:t>
                        </m:r>
                      </m:e>
                      <m:sub>
                        <m:r>
                          <a:rPr lang="en-US" i="1">
                            <a:latin typeface="Cambria Math" panose="02040503050406030204" pitchFamily="18" charset="0"/>
                          </a:rPr>
                          <m:t>𝑦</m:t>
                        </m:r>
                      </m:sub>
                      <m:sup>
                        <m:r>
                          <a:rPr lang="en-US" i="1">
                            <a:latin typeface="Cambria Math" panose="02040503050406030204" pitchFamily="18" charset="0"/>
                          </a:rPr>
                          <m:t>−</m:t>
                        </m:r>
                        <m:r>
                          <a:rPr lang="en-US">
                            <a:latin typeface="Cambria Math" panose="02040503050406030204" pitchFamily="18" charset="0"/>
                          </a:rPr>
                          <m:t>1</m:t>
                        </m:r>
                      </m:sup>
                    </m:sSubSup>
                  </m:oMath>
                </a14:m>
                <a:r>
                  <a:rPr lang="en-US" dirty="0"/>
                  <a:t>.</a:t>
                </a:r>
              </a:p>
            </p:txBody>
          </p:sp>
        </mc:Choice>
        <mc:Fallback xmlns="">
          <p:sp>
            <p:nvSpPr>
              <p:cNvPr id="3" name="Notes Placeholder 2"/>
              <p:cNvSpPr>
                <a:spLocks noGrp="1"/>
              </p:cNvSpPr>
              <p:nvPr>
                <p:ph type="body" idx="1"/>
              </p:nvPr>
            </p:nvSpPr>
            <p:spPr/>
            <p:txBody>
              <a:bodyPr/>
              <a:lstStyle/>
              <a:p>
                <a:r>
                  <a:rPr lang="en-US" dirty="0"/>
                  <a:t>To estimate the joint posterior distribution </a:t>
                </a:r>
                <a:r>
                  <a:rPr lang="en-US" i="0">
                    <a:latin typeface="Cambria Math" panose="02040503050406030204" pitchFamily="18" charset="0"/>
                  </a:rPr>
                  <a:t>𝑝(𝛽,𝜎^2∣𝑦)</a:t>
                </a:r>
                <a:r>
                  <a:rPr lang="en-US" dirty="0"/>
                  <a:t> do</a:t>
                </a:r>
              </a:p>
              <a:p>
                <a:pPr marL="1441450" lvl="1" indent="-742950">
                  <a:buFont typeface="+mj-lt"/>
                  <a:buAutoNum type="arabicPeriod"/>
                </a:pPr>
                <a:r>
                  <a:rPr lang="en-US" dirty="0"/>
                  <a:t>Draw </a:t>
                </a:r>
                <a:r>
                  <a:rPr lang="en-US" i="0">
                    <a:latin typeface="Cambria Math" panose="02040503050406030204" pitchFamily="18" charset="0"/>
                  </a:rPr>
                  <a:t>𝜎^2</a:t>
                </a:r>
                <a:r>
                  <a:rPr lang="en-US" dirty="0"/>
                  <a:t> from </a:t>
                </a:r>
                <a:r>
                  <a:rPr lang="en-US" i="0">
                    <a:latin typeface="Cambria Math" panose="02040503050406030204" pitchFamily="18" charset="0"/>
                  </a:rPr>
                  <a:t>Inv−𝜒^2 (𝑛−𝑘,𝑠^2 )</a:t>
                </a:r>
                <a:r>
                  <a:rPr lang="en-US" dirty="0"/>
                  <a:t>.</a:t>
                </a:r>
              </a:p>
              <a:p>
                <a:pPr marL="1441450" lvl="1" indent="-742950">
                  <a:buFont typeface="+mj-lt"/>
                  <a:buAutoNum type="arabicPeriod"/>
                </a:pPr>
                <a:r>
                  <a:rPr lang="en-US" dirty="0"/>
                  <a:t>Draw </a:t>
                </a:r>
                <a:r>
                  <a:rPr lang="en-US" i="0">
                    <a:latin typeface="Cambria Math" panose="02040503050406030204" pitchFamily="18" charset="0"/>
                  </a:rPr>
                  <a:t>𝛽</a:t>
                </a:r>
                <a:r>
                  <a:rPr lang="en-US" dirty="0"/>
                  <a:t> from </a:t>
                </a:r>
                <a:r>
                  <a:rPr lang="en-US" i="0">
                    <a:latin typeface="Cambria Math" panose="02040503050406030204" pitchFamily="18" charset="0"/>
                  </a:rPr>
                  <a:t>𝑁(𝛽 ˆ,𝑉_𝛽 𝜎^2 )</a:t>
                </a:r>
                <a:r>
                  <a:rPr lang="el-GR" dirty="0"/>
                  <a:t>.</a:t>
                </a:r>
              </a:p>
              <a:p>
                <a:r>
                  <a:rPr lang="en-US" dirty="0"/>
                  <a:t>In large datasets, use Cholesky factor transformation and unweighted regression to avoid computation of </a:t>
                </a:r>
                <a:r>
                  <a:rPr lang="en-US" i="0">
                    <a:latin typeface="Cambria Math" panose="02040503050406030204" pitchFamily="18" charset="0"/>
                  </a:rPr>
                  <a:t>𝑄_𝑦^(−1)</a:t>
                </a:r>
                <a:r>
                  <a:rPr lang="en-US" dirty="0"/>
                  <a:t>.</a:t>
                </a:r>
              </a:p>
            </p:txBody>
          </p:sp>
        </mc:Fallback>
      </mc:AlternateContent>
      <p:sp>
        <p:nvSpPr>
          <p:cNvPr id="4" name="Slide Number Placeholder 3"/>
          <p:cNvSpPr>
            <a:spLocks noGrp="1"/>
          </p:cNvSpPr>
          <p:nvPr>
            <p:ph type="sldNum" sz="quarter" idx="5"/>
          </p:nvPr>
        </p:nvSpPr>
        <p:spPr/>
        <p:txBody>
          <a:bodyPr/>
          <a:lstStyle/>
          <a:p>
            <a:fld id="{F625DDDC-B10B-3347-AAB4-5CB93FC9C71C}" type="slidenum">
              <a:rPr lang="en-US" smtClean="0"/>
              <a:t>47</a:t>
            </a:fld>
            <a:endParaRPr lang="en-US"/>
          </a:p>
        </p:txBody>
      </p:sp>
    </p:spTree>
    <p:extLst>
      <p:ext uri="{BB962C8B-B14F-4D97-AF65-F5344CB8AC3E}">
        <p14:creationId xmlns:p14="http://schemas.microsoft.com/office/powerpoint/2010/main" val="420268774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E0E0E"/>
                </a:solidFill>
                <a:effectLst/>
                <a:latin typeface=".SF NS"/>
              </a:rPr>
              <a:t>Next time, we will discuss hierarchical linear models</a:t>
            </a:r>
          </a:p>
          <a:p>
            <a:endParaRPr lang="en-US" dirty="0"/>
          </a:p>
        </p:txBody>
      </p:sp>
      <p:sp>
        <p:nvSpPr>
          <p:cNvPr id="4" name="Slide Number Placeholder 3"/>
          <p:cNvSpPr>
            <a:spLocks noGrp="1"/>
          </p:cNvSpPr>
          <p:nvPr>
            <p:ph type="sldNum" sz="quarter" idx="5"/>
          </p:nvPr>
        </p:nvSpPr>
        <p:spPr/>
        <p:txBody>
          <a:bodyPr/>
          <a:lstStyle/>
          <a:p>
            <a:fld id="{F625DDDC-B10B-3347-AAB4-5CB93FC9C71C}" type="slidenum">
              <a:rPr lang="en-US" smtClean="0"/>
              <a:t>48</a:t>
            </a:fld>
            <a:endParaRPr lang="en-US"/>
          </a:p>
        </p:txBody>
      </p:sp>
    </p:spTree>
    <p:extLst>
      <p:ext uri="{BB962C8B-B14F-4D97-AF65-F5344CB8AC3E}">
        <p14:creationId xmlns:p14="http://schemas.microsoft.com/office/powerpoint/2010/main" val="11528518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A486D6-E442-077A-EEB3-88D208F2FC4C}"/>
              </a:ext>
            </a:extLst>
          </p:cNvPr>
          <p:cNvSpPr/>
          <p:nvPr/>
        </p:nvSpPr>
        <p:spPr>
          <a:xfrm>
            <a:off x="2657477" y="1943101"/>
            <a:ext cx="12973050" cy="4730750"/>
          </a:xfrm>
          <a:prstGeom prst="rect">
            <a:avLst/>
          </a:prstGeom>
          <a:noFill/>
          <a:ln w="12700" cap="flat" cmpd="sng">
            <a:solidFill>
              <a:schemeClr val="bg1"/>
            </a:solidFill>
            <a:prstDash val="solid"/>
          </a:ln>
          <a:effectLst>
            <a:outerShdw blurRad="63500" sx="100500" sy="100500" algn="ctr" rotWithShape="0">
              <a:prstClr val="black">
                <a:alpha val="50000"/>
              </a:prstClr>
            </a:outerShdw>
          </a:effectLst>
        </p:spPr>
        <p:txBody>
          <a:bodyPr>
            <a:normAutofit/>
          </a:bodyPr>
          <a:lstStyle/>
          <a:p>
            <a:pPr defTabSz="1828800" fontAlgn="auto">
              <a:spcBef>
                <a:spcPts val="4000"/>
              </a:spcBef>
              <a:spcAft>
                <a:spcPts val="0"/>
              </a:spcAft>
              <a:buClr>
                <a:schemeClr val="accent1">
                  <a:lumMod val="60000"/>
                  <a:lumOff val="40000"/>
                </a:schemeClr>
              </a:buClr>
              <a:buSzPct val="110000"/>
              <a:buFont typeface="Wingdings 2" pitchFamily="18" charset="2"/>
              <a:buNone/>
              <a:defRPr/>
            </a:pPr>
            <a:endParaRPr sz="6400">
              <a:solidFill>
                <a:schemeClr val="tx1">
                  <a:lumMod val="65000"/>
                  <a:lumOff val="35000"/>
                </a:schemeClr>
              </a:solidFill>
              <a:latin typeface="+mn-lt"/>
              <a:ea typeface="+mn-ea"/>
            </a:endParaRPr>
          </a:p>
        </p:txBody>
      </p:sp>
      <p:sp>
        <p:nvSpPr>
          <p:cNvPr id="2" name="Title 1"/>
          <p:cNvSpPr>
            <a:spLocks noGrp="1"/>
          </p:cNvSpPr>
          <p:nvPr>
            <p:ph type="ctrTitle"/>
          </p:nvPr>
        </p:nvSpPr>
        <p:spPr>
          <a:xfrm>
            <a:off x="2645842" y="2286000"/>
            <a:ext cx="12996316" cy="2587300"/>
          </a:xfrm>
        </p:spPr>
        <p:txBody>
          <a:bodyPr lIns="182880" rIns="182880" rtlCol="0">
            <a:noAutofit/>
          </a:bodyPr>
          <a:lstStyle>
            <a:lvl1pPr marL="0" indent="0" algn="ctr" defTabSz="1828800" rtl="0" eaLnBrk="1" latinLnBrk="0" hangingPunct="1">
              <a:spcBef>
                <a:spcPct val="0"/>
              </a:spcBef>
              <a:buClr>
                <a:schemeClr val="accent1">
                  <a:lumMod val="60000"/>
                  <a:lumOff val="40000"/>
                </a:schemeClr>
              </a:buClr>
              <a:buSzPct val="110000"/>
              <a:buFont typeface="Wingdings 2" pitchFamily="18" charset="2"/>
              <a:buNone/>
              <a:defRPr sz="7200" b="1" kern="1200">
                <a:solidFill>
                  <a:schemeClr val="accent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2645845" y="4948519"/>
            <a:ext cx="12996318" cy="1374962"/>
          </a:xfrm>
        </p:spPr>
        <p:txBody>
          <a:bodyPr rtlCol="0">
            <a:normAutofit/>
          </a:bodyPr>
          <a:lstStyle>
            <a:lvl1pPr marL="0" indent="0" algn="ctr" defTabSz="1828800" rtl="0" eaLnBrk="1" latinLnBrk="0" hangingPunct="1">
              <a:spcBef>
                <a:spcPts val="600"/>
              </a:spcBef>
              <a:buClr>
                <a:schemeClr val="accent1">
                  <a:lumMod val="60000"/>
                  <a:lumOff val="40000"/>
                </a:schemeClr>
              </a:buClr>
              <a:buSzPct val="110000"/>
              <a:buFont typeface="Wingdings 2" pitchFamily="18" charset="2"/>
              <a:buNone/>
              <a:defRPr sz="3600" kern="1200">
                <a:solidFill>
                  <a:schemeClr val="tx1"/>
                </a:solidFill>
                <a:latin typeface="+mn-lt"/>
                <a:ea typeface="+mn-ea"/>
                <a:cs typeface="+mn-cs"/>
              </a:defRPr>
            </a:lvl1pPr>
            <a:lvl2pPr marL="914400" indent="0" algn="ctr">
              <a:buNone/>
              <a:defRPr>
                <a:solidFill>
                  <a:schemeClr val="tx1">
                    <a:tint val="75000"/>
                  </a:schemeClr>
                </a:solidFill>
              </a:defRPr>
            </a:lvl2pPr>
            <a:lvl3pPr marL="1828800" indent="0" algn="ctr">
              <a:buNone/>
              <a:defRPr>
                <a:solidFill>
                  <a:schemeClr val="tx1">
                    <a:tint val="75000"/>
                  </a:schemeClr>
                </a:solidFill>
              </a:defRPr>
            </a:lvl3pPr>
            <a:lvl4pPr marL="2743200" indent="0" algn="ctr">
              <a:buNone/>
              <a:defRPr>
                <a:solidFill>
                  <a:schemeClr val="tx1">
                    <a:tint val="75000"/>
                  </a:schemeClr>
                </a:solidFill>
              </a:defRPr>
            </a:lvl4pPr>
            <a:lvl5pPr marL="3657600" indent="0" algn="ctr">
              <a:buNone/>
              <a:defRPr>
                <a:solidFill>
                  <a:schemeClr val="tx1">
                    <a:tint val="75000"/>
                  </a:schemeClr>
                </a:solidFill>
              </a:defRPr>
            </a:lvl5pPr>
            <a:lvl6pPr marL="4572000" indent="0" algn="ctr">
              <a:buNone/>
              <a:defRPr>
                <a:solidFill>
                  <a:schemeClr val="tx1">
                    <a:tint val="75000"/>
                  </a:schemeClr>
                </a:solidFill>
              </a:defRPr>
            </a:lvl6pPr>
            <a:lvl7pPr marL="5486400" indent="0" algn="ctr">
              <a:buNone/>
              <a:defRPr>
                <a:solidFill>
                  <a:schemeClr val="tx1">
                    <a:tint val="75000"/>
                  </a:schemeClr>
                </a:solidFill>
              </a:defRPr>
            </a:lvl7pPr>
            <a:lvl8pPr marL="6400800" indent="0" algn="ctr">
              <a:buNone/>
              <a:defRPr>
                <a:solidFill>
                  <a:schemeClr val="tx1">
                    <a:tint val="75000"/>
                  </a:schemeClr>
                </a:solidFill>
              </a:defRPr>
            </a:lvl8pPr>
            <a:lvl9pPr marL="7315200" indent="0" algn="ctr">
              <a:buNone/>
              <a:defRPr>
                <a:solidFill>
                  <a:schemeClr val="tx1">
                    <a:tint val="75000"/>
                  </a:schemeClr>
                </a:solidFill>
              </a:defRPr>
            </a:lvl9pPr>
          </a:lstStyle>
          <a:p>
            <a:r>
              <a:rPr lang="en-US" dirty="0"/>
              <a:t>Click to edit Master subtitle style</a:t>
            </a:r>
            <a:endParaRPr dirty="0"/>
          </a:p>
        </p:txBody>
      </p:sp>
    </p:spTree>
    <p:extLst>
      <p:ext uri="{BB962C8B-B14F-4D97-AF65-F5344CB8AC3E}">
        <p14:creationId xmlns:p14="http://schemas.microsoft.com/office/powerpoint/2010/main" val="166748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
        <p:nvSpPr>
          <p:cNvPr id="3" name="Content Placeholder 2"/>
          <p:cNvSpPr>
            <a:spLocks noGrp="1"/>
          </p:cNvSpPr>
          <p:nvPr>
            <p:ph idx="1"/>
          </p:nvPr>
        </p:nvSpPr>
        <p:spPr>
          <a:xfrm>
            <a:off x="1098550" y="2050699"/>
            <a:ext cx="16084552" cy="6888006"/>
          </a:xfrm>
        </p:spPr>
        <p:txBody>
          <a:bodyPr/>
          <a:lstStyle>
            <a:lvl1pPr>
              <a:defRPr sz="4000"/>
            </a:lvl1pPr>
            <a:lvl2pPr>
              <a:defRPr sz="3600"/>
            </a:lvl2pPr>
            <a:lvl3pPr>
              <a:defRPr sz="3200"/>
            </a:lvl3pPr>
            <a:lvl4pPr>
              <a:defRPr sz="28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Tree>
    <p:extLst>
      <p:ext uri="{BB962C8B-B14F-4D97-AF65-F5344CB8AC3E}">
        <p14:creationId xmlns:p14="http://schemas.microsoft.com/office/powerpoint/2010/main" val="2602593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98550"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Content Placeholder 3"/>
          <p:cNvSpPr>
            <a:spLocks noGrp="1"/>
          </p:cNvSpPr>
          <p:nvPr>
            <p:ph sz="half" idx="2"/>
          </p:nvPr>
        </p:nvSpPr>
        <p:spPr>
          <a:xfrm>
            <a:off x="9502142"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Tree>
    <p:extLst>
      <p:ext uri="{BB962C8B-B14F-4D97-AF65-F5344CB8AC3E}">
        <p14:creationId xmlns:p14="http://schemas.microsoft.com/office/powerpoint/2010/main" val="55611414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5"/>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482098A7-74DB-47EC-8637-CFD1F5FF8EA6}"/>
              </a:ext>
            </a:extLst>
          </p:cNvPr>
          <p:cNvSpPr>
            <a:spLocks noGrp="1"/>
          </p:cNvSpPr>
          <p:nvPr>
            <p:ph type="title"/>
          </p:nvPr>
        </p:nvSpPr>
        <p:spPr bwMode="auto">
          <a:xfrm>
            <a:off x="1098551" y="161926"/>
            <a:ext cx="16084550" cy="2003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A30E7C49-5D51-22BD-9218-005012D508B4}"/>
              </a:ext>
            </a:extLst>
          </p:cNvPr>
          <p:cNvSpPr>
            <a:spLocks noGrp="1"/>
          </p:cNvSpPr>
          <p:nvPr>
            <p:ph type="body" idx="1"/>
          </p:nvPr>
        </p:nvSpPr>
        <p:spPr bwMode="auto">
          <a:xfrm>
            <a:off x="1098551" y="2400300"/>
            <a:ext cx="16084550" cy="651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1028" name="Picture 5" descr="ILTECH_wht_horiz.png">
            <a:extLst>
              <a:ext uri="{FF2B5EF4-FFF2-40B4-BE49-F238E27FC236}">
                <a16:creationId xmlns:a16="http://schemas.microsoft.com/office/drawing/2014/main" id="{42D74730-BBC2-6B47-9AEF-9E8FDE440A0D}"/>
              </a:ext>
            </a:extLst>
          </p:cNvPr>
          <p:cNvPicPr>
            <a:picLocks noChangeAspect="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4189076" y="9185276"/>
            <a:ext cx="35560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76" r:id="rId1"/>
    <p:sldLayoutId id="2147483674" r:id="rId2"/>
    <p:sldLayoutId id="2147483675" r:id="rId3"/>
  </p:sldLayoutIdLst>
  <p:txStyles>
    <p:titleStyle>
      <a:lvl1pPr algn="ctr" rtl="0" fontAlgn="base">
        <a:spcBef>
          <a:spcPct val="0"/>
        </a:spcBef>
        <a:spcAft>
          <a:spcPct val="0"/>
        </a:spcAft>
        <a:defRPr sz="5600" b="1" kern="1200">
          <a:solidFill>
            <a:schemeClr val="accent1"/>
          </a:solidFill>
          <a:latin typeface="+mj-lt"/>
          <a:ea typeface="ＭＳ Ｐゴシック" panose="020B0600070205080204" pitchFamily="34" charset="-128"/>
          <a:cs typeface="+mj-cs"/>
        </a:defRPr>
      </a:lvl1pPr>
      <a:lvl2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2pPr>
      <a:lvl3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3pPr>
      <a:lvl4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4pPr>
      <a:lvl5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5pPr>
      <a:lvl6pPr marL="9144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6pPr>
      <a:lvl7pPr marL="18288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7pPr>
      <a:lvl8pPr marL="27432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8pPr>
      <a:lvl9pPr marL="36576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9pPr>
    </p:titleStyle>
    <p:bodyStyle>
      <a:lvl1pPr marL="698500" indent="-698500" algn="l" rtl="0" fontAlgn="base">
        <a:spcBef>
          <a:spcPts val="4000"/>
        </a:spcBef>
        <a:spcAft>
          <a:spcPct val="0"/>
        </a:spcAft>
        <a:buClr>
          <a:schemeClr val="accent2"/>
        </a:buClr>
        <a:buSzPct val="100000"/>
        <a:buFont typeface="Wingdings 2" pitchFamily="2" charset="2"/>
        <a:buChar char=""/>
        <a:defRPr sz="4800" kern="1200">
          <a:solidFill>
            <a:schemeClr val="tx1"/>
          </a:solidFill>
          <a:latin typeface="+mn-lt"/>
          <a:ea typeface="ＭＳ Ｐゴシック" panose="020B0600070205080204" pitchFamily="34" charset="-128"/>
          <a:cs typeface="+mn-cs"/>
        </a:defRPr>
      </a:lvl1pPr>
      <a:lvl2pPr marL="1371600" indent="-673100" algn="l" rtl="0" fontAlgn="base">
        <a:spcBef>
          <a:spcPts val="1200"/>
        </a:spcBef>
        <a:spcAft>
          <a:spcPct val="0"/>
        </a:spcAft>
        <a:buClr>
          <a:srgbClr val="808080"/>
        </a:buClr>
        <a:buSzPct val="100000"/>
        <a:buFont typeface="Wingdings 2" pitchFamily="2" charset="2"/>
        <a:buChar char=""/>
        <a:defRPr sz="4400" kern="1200">
          <a:solidFill>
            <a:schemeClr val="tx1"/>
          </a:solidFill>
          <a:latin typeface="+mn-lt"/>
          <a:ea typeface="ＭＳ Ｐゴシック" panose="020B0600070205080204" pitchFamily="34" charset="-128"/>
          <a:cs typeface="+mn-cs"/>
        </a:defRPr>
      </a:lvl2pPr>
      <a:lvl3pPr marL="1936750" indent="-565150" algn="l" rtl="0" fontAlgn="base">
        <a:spcBef>
          <a:spcPts val="1200"/>
        </a:spcBef>
        <a:spcAft>
          <a:spcPct val="0"/>
        </a:spcAft>
        <a:buClr>
          <a:srgbClr val="969696"/>
        </a:buClr>
        <a:buSzPct val="100000"/>
        <a:buFont typeface="Wingdings 2" pitchFamily="2" charset="2"/>
        <a:buChar char=""/>
        <a:defRPr sz="4000" kern="1200">
          <a:solidFill>
            <a:schemeClr val="tx1"/>
          </a:solidFill>
          <a:latin typeface="+mn-lt"/>
          <a:ea typeface="ＭＳ Ｐゴシック" panose="020B0600070205080204" pitchFamily="34" charset="-128"/>
          <a:cs typeface="+mn-cs"/>
        </a:defRPr>
      </a:lvl3pPr>
      <a:lvl4pPr marL="2527300" indent="-590550" algn="l" rtl="0" fontAlgn="base">
        <a:spcBef>
          <a:spcPts val="1200"/>
        </a:spcBef>
        <a:spcAft>
          <a:spcPct val="0"/>
        </a:spcAft>
        <a:buClr>
          <a:srgbClr val="F8BC65"/>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4pPr>
      <a:lvl5pPr marL="3092450" indent="-565150" algn="l" rtl="0" fontAlgn="base">
        <a:spcBef>
          <a:spcPts val="1200"/>
        </a:spcBef>
        <a:spcAft>
          <a:spcPct val="0"/>
        </a:spcAft>
        <a:buClr>
          <a:srgbClr val="FBD299"/>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7pPr>
      <a:lvl8pPr marL="4797426"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a:solidFill>
            <a:schemeClr val="tx1">
              <a:lumMod val="65000"/>
              <a:lumOff val="35000"/>
            </a:schemeClr>
          </a:solidFill>
          <a:latin typeface="+mn-lt"/>
          <a:ea typeface="+mn-ea"/>
          <a:cs typeface="+mn-cs"/>
        </a:defRPr>
      </a:lvl9pPr>
    </p:bodyStyle>
    <p:otherStyle>
      <a:defPPr>
        <a:defRPr/>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2.xml"/><Relationship Id="rId1" Type="http://schemas.openxmlformats.org/officeDocument/2006/relationships/slideLayout" Target="../slideLayouts/slideLayout3.xml"/><Relationship Id="rId4" Type="http://schemas.openxmlformats.org/officeDocument/2006/relationships/image" Target="../media/image30.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notesSlide" Target="../notesSlides/notesSlide35.xml"/><Relationship Id="rId1" Type="http://schemas.openxmlformats.org/officeDocument/2006/relationships/slideLayout" Target="../slideLayouts/slideLayout3.xml"/><Relationship Id="rId4" Type="http://schemas.openxmlformats.org/officeDocument/2006/relationships/image" Target="../media/image32.png"/></Relationships>
</file>

<file path=ppt/slides/_rels/slide3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20.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30.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50.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60.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47.xml.rels><?xml version="1.0" encoding="UTF-8" standalone="yes"?>
<Relationships xmlns="http://schemas.openxmlformats.org/package/2006/relationships"><Relationship Id="rId3" Type="http://schemas.openxmlformats.org/officeDocument/2006/relationships/image" Target="../media/image380.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3D2C4-084C-C545-00AC-430EC19B6C87}"/>
              </a:ext>
            </a:extLst>
          </p:cNvPr>
          <p:cNvSpPr>
            <a:spLocks noGrp="1"/>
          </p:cNvSpPr>
          <p:nvPr>
            <p:ph type="ctrTitle"/>
          </p:nvPr>
        </p:nvSpPr>
        <p:spPr>
          <a:xfrm>
            <a:off x="2644777" y="2286001"/>
            <a:ext cx="12998450" cy="2587626"/>
          </a:xfrm>
        </p:spPr>
        <p:txBody>
          <a:bodyPr/>
          <a:lstStyle/>
          <a:p>
            <a:pPr fontAlgn="auto">
              <a:spcAft>
                <a:spcPts val="0"/>
              </a:spcAft>
              <a:defRPr/>
            </a:pPr>
            <a:r>
              <a:rPr lang="en-US" dirty="0"/>
              <a:t>Bayesian Inference</a:t>
            </a:r>
          </a:p>
        </p:txBody>
      </p:sp>
      <p:sp>
        <p:nvSpPr>
          <p:cNvPr id="3" name="Subtitle 2">
            <a:extLst>
              <a:ext uri="{FF2B5EF4-FFF2-40B4-BE49-F238E27FC236}">
                <a16:creationId xmlns:a16="http://schemas.microsoft.com/office/drawing/2014/main" id="{1773A97B-06C2-BD5D-13DD-A14A00967D4E}"/>
              </a:ext>
            </a:extLst>
          </p:cNvPr>
          <p:cNvSpPr>
            <a:spLocks noGrp="1"/>
          </p:cNvSpPr>
          <p:nvPr>
            <p:ph type="subTitle" idx="1"/>
          </p:nvPr>
        </p:nvSpPr>
        <p:spPr>
          <a:xfrm>
            <a:off x="2644777" y="4949827"/>
            <a:ext cx="12998450" cy="1374774"/>
          </a:xfrm>
        </p:spPr>
        <p:txBody>
          <a:bodyPr/>
          <a:lstStyle/>
          <a:p>
            <a:pPr fontAlgn="auto">
              <a:spcAft>
                <a:spcPts val="0"/>
              </a:spcAft>
              <a:defRPr/>
            </a:pPr>
            <a:r>
              <a:rPr lang="en-US" dirty="0"/>
              <a:t>Module 7, Lesson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2807F-AA75-8289-ABFC-30F1E44E67A4}"/>
              </a:ext>
            </a:extLst>
          </p:cNvPr>
          <p:cNvSpPr>
            <a:spLocks noGrp="1"/>
          </p:cNvSpPr>
          <p:nvPr>
            <p:ph type="ctrTitle"/>
          </p:nvPr>
        </p:nvSpPr>
        <p:spPr>
          <a:xfrm>
            <a:off x="2644777" y="2286001"/>
            <a:ext cx="12998450" cy="2587626"/>
          </a:xfrm>
        </p:spPr>
        <p:txBody>
          <a:bodyPr/>
          <a:lstStyle/>
          <a:p>
            <a:pPr fontAlgn="auto">
              <a:spcAft>
                <a:spcPts val="0"/>
              </a:spcAft>
              <a:defRPr/>
            </a:pPr>
            <a:r>
              <a:rPr lang="en-US"/>
              <a:t>Foundations of Bayesian Regression Analysis</a:t>
            </a:r>
            <a:endParaRPr lang="en-US" dirty="0"/>
          </a:p>
        </p:txBody>
      </p:sp>
      <p:sp>
        <p:nvSpPr>
          <p:cNvPr id="3" name="Subtitle 2">
            <a:extLst>
              <a:ext uri="{FF2B5EF4-FFF2-40B4-BE49-F238E27FC236}">
                <a16:creationId xmlns:a16="http://schemas.microsoft.com/office/drawing/2014/main" id="{A1D820C0-3BC8-687A-7D56-C3951CF5E866}"/>
              </a:ext>
            </a:extLst>
          </p:cNvPr>
          <p:cNvSpPr>
            <a:spLocks noGrp="1"/>
          </p:cNvSpPr>
          <p:nvPr>
            <p:ph type="subTitle" idx="1"/>
          </p:nvPr>
        </p:nvSpPr>
        <p:spPr>
          <a:xfrm>
            <a:off x="2644777" y="4949827"/>
            <a:ext cx="12998450" cy="1374774"/>
          </a:xfrm>
        </p:spPr>
        <p:txBody>
          <a:bodyPr/>
          <a:lstStyle/>
          <a:p>
            <a:pPr fontAlgn="auto">
              <a:spcAft>
                <a:spcPts val="0"/>
              </a:spcAft>
              <a:defRPr/>
            </a:pPr>
            <a:r>
              <a:rPr lang="en-US" dirty="0"/>
              <a:t>Shahrzad Jamshidi, PhD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itle 1">
            <a:extLst>
              <a:ext uri="{FF2B5EF4-FFF2-40B4-BE49-F238E27FC236}">
                <a16:creationId xmlns:a16="http://schemas.microsoft.com/office/drawing/2014/main" id="{7437B09B-40A5-6CD5-DCB3-08809A79E57D}"/>
              </a:ext>
            </a:extLst>
          </p:cNvPr>
          <p:cNvSpPr>
            <a:spLocks noGrp="1"/>
          </p:cNvSpPr>
          <p:nvPr>
            <p:ph type="title"/>
          </p:nvPr>
        </p:nvSpPr>
        <p:spPr>
          <a:xfrm>
            <a:off x="1098551" y="161926"/>
            <a:ext cx="16084550" cy="1549400"/>
          </a:xfrm>
        </p:spPr>
        <p:txBody>
          <a:bodyPr/>
          <a:lstStyle/>
          <a:p>
            <a:r>
              <a:rPr lang="en-US" altLang="en-US" dirty="0"/>
              <a:t>Last Time</a:t>
            </a:r>
          </a:p>
        </p:txBody>
      </p:sp>
      <p:sp>
        <p:nvSpPr>
          <p:cNvPr id="6146" name="Content Placeholder 2">
            <a:extLst>
              <a:ext uri="{FF2B5EF4-FFF2-40B4-BE49-F238E27FC236}">
                <a16:creationId xmlns:a16="http://schemas.microsoft.com/office/drawing/2014/main" id="{8DFB1FDB-789D-3A4E-B0C7-3BAF194C6643}"/>
              </a:ext>
            </a:extLst>
          </p:cNvPr>
          <p:cNvSpPr>
            <a:spLocks noGrp="1"/>
          </p:cNvSpPr>
          <p:nvPr>
            <p:ph idx="1"/>
          </p:nvPr>
        </p:nvSpPr>
        <p:spPr>
          <a:xfrm>
            <a:off x="1098551" y="2051050"/>
            <a:ext cx="16084550" cy="6886576"/>
          </a:xfrm>
        </p:spPr>
        <p:txBody>
          <a:bodyPr/>
          <a:lstStyle/>
          <a:p>
            <a:r>
              <a:rPr lang="en-US" altLang="en-US" dirty="0"/>
              <a:t>Bayesian computation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itle 1">
            <a:extLst>
              <a:ext uri="{FF2B5EF4-FFF2-40B4-BE49-F238E27FC236}">
                <a16:creationId xmlns:a16="http://schemas.microsoft.com/office/drawing/2014/main" id="{7437B09B-40A5-6CD5-DCB3-08809A79E57D}"/>
              </a:ext>
            </a:extLst>
          </p:cNvPr>
          <p:cNvSpPr>
            <a:spLocks noGrp="1"/>
          </p:cNvSpPr>
          <p:nvPr>
            <p:ph type="title"/>
          </p:nvPr>
        </p:nvSpPr>
        <p:spPr/>
        <p:txBody>
          <a:bodyPr wrap="square" anchor="b">
            <a:normAutofit/>
          </a:bodyPr>
          <a:lstStyle/>
          <a:p>
            <a:r>
              <a:rPr lang="en-US" altLang="en-US" dirty="0"/>
              <a:t>Objectives</a:t>
            </a:r>
          </a:p>
        </p:txBody>
      </p:sp>
      <p:sp>
        <p:nvSpPr>
          <p:cNvPr id="6146" name="Content Placeholder 2">
            <a:extLst>
              <a:ext uri="{FF2B5EF4-FFF2-40B4-BE49-F238E27FC236}">
                <a16:creationId xmlns:a16="http://schemas.microsoft.com/office/drawing/2014/main" id="{8DFB1FDB-789D-3A4E-B0C7-3BAF194C6643}"/>
              </a:ext>
            </a:extLst>
          </p:cNvPr>
          <p:cNvSpPr>
            <a:spLocks noGrp="1"/>
          </p:cNvSpPr>
          <p:nvPr>
            <p:ph idx="1"/>
          </p:nvPr>
        </p:nvSpPr>
        <p:spPr/>
        <p:txBody>
          <a:bodyPr wrap="square" anchor="t">
            <a:normAutofit/>
          </a:bodyPr>
          <a:lstStyle/>
          <a:p>
            <a:r>
              <a:rPr lang="en-US" altLang="en-US" dirty="0"/>
              <a:t>Understand the basics of regression from a Bayesian framework.</a:t>
            </a:r>
          </a:p>
          <a:p>
            <a:r>
              <a:rPr lang="en-US" altLang="en-US" dirty="0"/>
              <a:t>Explore some practical aspects of regression analysis, including handling unequal or unknown variances.</a:t>
            </a:r>
          </a:p>
        </p:txBody>
      </p:sp>
    </p:spTree>
    <p:extLst>
      <p:ext uri="{BB962C8B-B14F-4D97-AF65-F5344CB8AC3E}">
        <p14:creationId xmlns:p14="http://schemas.microsoft.com/office/powerpoint/2010/main" val="648465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4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4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0F057-A486-B673-24C1-BADDEF767F56}"/>
              </a:ext>
            </a:extLst>
          </p:cNvPr>
          <p:cNvSpPr>
            <a:spLocks noGrp="1"/>
          </p:cNvSpPr>
          <p:nvPr>
            <p:ph type="title"/>
          </p:nvPr>
        </p:nvSpPr>
        <p:spPr/>
        <p:txBody>
          <a:bodyPr/>
          <a:lstStyle/>
          <a:p>
            <a:r>
              <a:rPr lang="en-US" dirty="0"/>
              <a:t>Topics to Review for This Lesson</a:t>
            </a:r>
          </a:p>
        </p:txBody>
      </p:sp>
      <p:sp>
        <p:nvSpPr>
          <p:cNvPr id="3" name="Content Placeholder 2">
            <a:extLst>
              <a:ext uri="{FF2B5EF4-FFF2-40B4-BE49-F238E27FC236}">
                <a16:creationId xmlns:a16="http://schemas.microsoft.com/office/drawing/2014/main" id="{F5CB2688-AFF4-FE5E-1F71-3BB19F44EECD}"/>
              </a:ext>
            </a:extLst>
          </p:cNvPr>
          <p:cNvSpPr>
            <a:spLocks noGrp="1"/>
          </p:cNvSpPr>
          <p:nvPr>
            <p:ph idx="1"/>
          </p:nvPr>
        </p:nvSpPr>
        <p:spPr/>
        <p:txBody>
          <a:bodyPr/>
          <a:lstStyle/>
          <a:p>
            <a:pPr marL="742950" indent="-742950">
              <a:buFont typeface="+mj-lt"/>
              <a:buAutoNum type="arabicPeriod"/>
            </a:pPr>
            <a:r>
              <a:rPr lang="en-US" dirty="0"/>
              <a:t>Linear regression</a:t>
            </a:r>
          </a:p>
          <a:p>
            <a:pPr marL="742950" indent="-742950">
              <a:buFont typeface="+mj-lt"/>
              <a:buAutoNum type="arabicPeriod"/>
            </a:pPr>
            <a:r>
              <a:rPr lang="en-US" dirty="0"/>
              <a:t>Matrix rank </a:t>
            </a:r>
          </a:p>
          <a:p>
            <a:pPr marL="742950" indent="-742950">
              <a:buFont typeface="+mj-lt"/>
              <a:buAutoNum type="arabicPeriod"/>
            </a:pPr>
            <a:r>
              <a:rPr lang="en-US" dirty="0"/>
              <a:t>Matrix decomposition techniques</a:t>
            </a:r>
          </a:p>
        </p:txBody>
      </p:sp>
    </p:spTree>
    <p:extLst>
      <p:ext uri="{BB962C8B-B14F-4D97-AF65-F5344CB8AC3E}">
        <p14:creationId xmlns:p14="http://schemas.microsoft.com/office/powerpoint/2010/main" val="3460825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BD46C-2CFA-A23D-9404-5080A3F3A736}"/>
              </a:ext>
            </a:extLst>
          </p:cNvPr>
          <p:cNvSpPr>
            <a:spLocks noGrp="1"/>
          </p:cNvSpPr>
          <p:nvPr>
            <p:ph type="title"/>
          </p:nvPr>
        </p:nvSpPr>
        <p:spPr/>
        <p:txBody>
          <a:bodyPr/>
          <a:lstStyle/>
          <a:p>
            <a:r>
              <a:rPr lang="en-US" dirty="0"/>
              <a:t>Conditional Modeling with Covariates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B547172-D6F3-8C8D-83D4-121D833761E4}"/>
                  </a:ext>
                </a:extLst>
              </p:cNvPr>
              <p:cNvSpPr>
                <a:spLocks noGrp="1"/>
              </p:cNvSpPr>
              <p:nvPr>
                <p:ph idx="1"/>
              </p:nvPr>
            </p:nvSpPr>
            <p:spPr/>
            <p:txBody>
              <a:bodyPr/>
              <a:lstStyle/>
              <a:p>
                <a:r>
                  <a:rPr lang="en-US" altLang="en-US" b="1" dirty="0">
                    <a:solidFill>
                      <a:schemeClr val="bg1"/>
                    </a:solidFill>
                  </a:rPr>
                  <a:t>Conditional modeling with covariates </a:t>
                </a:r>
                <a:r>
                  <a:rPr lang="en-US" altLang="en-US" dirty="0"/>
                  <a:t>involves modeling the conditional distribution of a response variable, </a:t>
                </a:r>
                <a14:m>
                  <m:oMath xmlns:m="http://schemas.openxmlformats.org/officeDocument/2006/math">
                    <m:r>
                      <a:rPr lang="en-US" altLang="en-US" b="0" i="1" smtClean="0">
                        <a:latin typeface="Cambria Math" panose="02040503050406030204" pitchFamily="18" charset="0"/>
                      </a:rPr>
                      <m:t>𝑦</m:t>
                    </m:r>
                  </m:oMath>
                </a14:m>
                <a:r>
                  <a:rPr lang="en-US" altLang="en-US" dirty="0"/>
                  <a:t>, given one or more covariates, </a:t>
                </a:r>
                <a14:m>
                  <m:oMath xmlns:m="http://schemas.openxmlformats.org/officeDocument/2006/math">
                    <m:r>
                      <a:rPr lang="en-US" altLang="en-US" i="1">
                        <a:latin typeface="Cambria Math" panose="02040503050406030204" pitchFamily="18" charset="0"/>
                      </a:rPr>
                      <m:t>𝑥</m:t>
                    </m:r>
                  </m:oMath>
                </a14:m>
                <a:r>
                  <a:rPr lang="en-US" altLang="en-US" dirty="0"/>
                  <a:t>. </a:t>
                </a:r>
              </a:p>
              <a:p>
                <a:r>
                  <a:rPr lang="en-US" altLang="en-US" dirty="0"/>
                  <a:t>The core question in conditional modeling with covariates is this:</a:t>
                </a:r>
              </a:p>
              <a:p>
                <a:endParaRPr lang="en-US" altLang="en-US" dirty="0"/>
              </a:p>
              <a:p>
                <a:r>
                  <a:rPr lang="en-US" altLang="en-US" dirty="0"/>
                  <a:t>The answer is characterized as a conditional distribution of </a:t>
                </a:r>
                <a14:m>
                  <m:oMath xmlns:m="http://schemas.openxmlformats.org/officeDocument/2006/math">
                    <m:r>
                      <a:rPr lang="en-US" altLang="en-US" b="0" i="1" smtClean="0">
                        <a:latin typeface="Cambria Math" panose="02040503050406030204" pitchFamily="18" charset="0"/>
                      </a:rPr>
                      <m:t>𝑦</m:t>
                    </m:r>
                  </m:oMath>
                </a14:m>
                <a:r>
                  <a:rPr lang="en-US" altLang="en-US" dirty="0"/>
                  <a:t> given </a:t>
                </a:r>
                <a14:m>
                  <m:oMath xmlns:m="http://schemas.openxmlformats.org/officeDocument/2006/math">
                    <m:r>
                      <a:rPr lang="en-US" altLang="en-US" i="1">
                        <a:latin typeface="Cambria Math" panose="02040503050406030204" pitchFamily="18" charset="0"/>
                      </a:rPr>
                      <m:t>𝑥</m:t>
                    </m:r>
                  </m:oMath>
                </a14:m>
                <a:r>
                  <a:rPr lang="en-US" altLang="en-US" dirty="0"/>
                  <a:t>, denoted </a:t>
                </a:r>
                <a14:m>
                  <m:oMath xmlns:m="http://schemas.openxmlformats.org/officeDocument/2006/math">
                    <m:r>
                      <a:rPr lang="en-US" altLang="en-US" b="0" i="1" smtClean="0">
                        <a:latin typeface="Cambria Math" panose="02040503050406030204" pitchFamily="18" charset="0"/>
                      </a:rPr>
                      <m:t>𝑝</m:t>
                    </m:r>
                    <m:r>
                      <a:rPr lang="en-US" altLang="en-US" b="0" i="1" smtClean="0">
                        <a:latin typeface="Cambria Math" panose="02040503050406030204" pitchFamily="18" charset="0"/>
                      </a:rPr>
                      <m:t>(</m:t>
                    </m:r>
                    <m:r>
                      <a:rPr lang="en-US" altLang="en-US" b="0" i="1" smtClean="0">
                        <a:latin typeface="Cambria Math" panose="02040503050406030204" pitchFamily="18" charset="0"/>
                      </a:rPr>
                      <m:t>𝑦</m:t>
                    </m:r>
                    <m:r>
                      <a:rPr lang="en-US" altLang="en-US" b="0" i="1" smtClean="0">
                        <a:latin typeface="Cambria Math" panose="02040503050406030204" pitchFamily="18" charset="0"/>
                      </a:rPr>
                      <m:t>|</m:t>
                    </m:r>
                    <m:r>
                      <a:rPr lang="en-US" altLang="en-US" b="0" i="1" smtClean="0">
                        <a:latin typeface="Cambria Math" panose="02040503050406030204" pitchFamily="18" charset="0"/>
                        <a:ea typeface="Cambria Math" panose="02040503050406030204" pitchFamily="18" charset="0"/>
                      </a:rPr>
                      <m:t>𝜃</m:t>
                    </m:r>
                    <m:r>
                      <a:rPr lang="en-US" altLang="en-US" b="0" i="1" smtClean="0">
                        <a:latin typeface="Cambria Math" panose="02040503050406030204" pitchFamily="18" charset="0"/>
                        <a:ea typeface="Cambria Math" panose="02040503050406030204" pitchFamily="18" charset="0"/>
                      </a:rPr>
                      <m:t>,</m:t>
                    </m:r>
                    <m:r>
                      <a:rPr lang="en-US" altLang="en-US" b="0" i="1" smtClean="0">
                        <a:latin typeface="Cambria Math" panose="02040503050406030204" pitchFamily="18" charset="0"/>
                        <a:ea typeface="Cambria Math" panose="02040503050406030204" pitchFamily="18" charset="0"/>
                      </a:rPr>
                      <m:t>𝑥</m:t>
                    </m:r>
                    <m:r>
                      <a:rPr lang="en-US" altLang="en-US" b="0" i="1" smtClean="0">
                        <a:latin typeface="Cambria Math" panose="02040503050406030204" pitchFamily="18" charset="0"/>
                        <a:ea typeface="Cambria Math" panose="02040503050406030204" pitchFamily="18" charset="0"/>
                      </a:rPr>
                      <m:t>)</m:t>
                    </m:r>
                  </m:oMath>
                </a14:m>
                <a:r>
                  <a:rPr lang="en-US" altLang="en-US" dirty="0"/>
                  <a:t>, under </a:t>
                </a:r>
                <a:r>
                  <a:rPr lang="en-US" altLang="en-US" b="1" i="1" dirty="0">
                    <a:solidFill>
                      <a:schemeClr val="bg1"/>
                    </a:solidFill>
                  </a:rPr>
                  <a:t>some model</a:t>
                </a:r>
                <a:r>
                  <a:rPr lang="en-US" altLang="en-US" dirty="0"/>
                  <a:t> in which the </a:t>
                </a:r>
                <a14:m>
                  <m:oMath xmlns:m="http://schemas.openxmlformats.org/officeDocument/2006/math">
                    <m:r>
                      <a:rPr lang="en-US" altLang="en-US" b="0" i="1" smtClean="0">
                        <a:latin typeface="Cambria Math" panose="02040503050406030204" pitchFamily="18" charset="0"/>
                      </a:rPr>
                      <m:t>𝑛</m:t>
                    </m:r>
                  </m:oMath>
                </a14:m>
                <a:r>
                  <a:rPr lang="en-US" altLang="en-US" dirty="0"/>
                  <a:t> observations </a:t>
                </a:r>
                <a14:m>
                  <m:oMath xmlns:m="http://schemas.openxmlformats.org/officeDocument/2006/math">
                    <m:sSub>
                      <m:sSubPr>
                        <m:ctrlPr>
                          <a:rPr lang="en-US" altLang="en-US" i="1" smtClean="0">
                            <a:latin typeface="Cambria Math" panose="02040503050406030204" pitchFamily="18" charset="0"/>
                          </a:rPr>
                        </m:ctrlPr>
                      </m:sSubPr>
                      <m:e>
                        <m:d>
                          <m:dPr>
                            <m:ctrlPr>
                              <a:rPr lang="en-US" altLang="en-US" i="1">
                                <a:latin typeface="Cambria Math" panose="02040503050406030204" pitchFamily="18" charset="0"/>
                              </a:rPr>
                            </m:ctrlPr>
                          </m:dPr>
                          <m:e>
                            <m:r>
                              <a:rPr lang="en-US" altLang="en-US" i="1">
                                <a:latin typeface="Cambria Math" panose="02040503050406030204" pitchFamily="18" charset="0"/>
                              </a:rPr>
                              <m:t>𝑥</m:t>
                            </m:r>
                            <m:r>
                              <a:rPr lang="en-US" altLang="en-US" i="1">
                                <a:latin typeface="Cambria Math" panose="02040503050406030204" pitchFamily="18" charset="0"/>
                              </a:rPr>
                              <m:t>,</m:t>
                            </m:r>
                            <m:r>
                              <a:rPr lang="en-US" altLang="en-US" i="1">
                                <a:latin typeface="Cambria Math" panose="02040503050406030204" pitchFamily="18" charset="0"/>
                              </a:rPr>
                              <m:t>𝑦</m:t>
                            </m:r>
                          </m:e>
                        </m:d>
                      </m:e>
                      <m:sub>
                        <m:r>
                          <a:rPr lang="en-US" altLang="en-US" b="0" i="1" smtClean="0">
                            <a:latin typeface="Cambria Math" panose="02040503050406030204" pitchFamily="18" charset="0"/>
                          </a:rPr>
                          <m:t>𝑖</m:t>
                        </m:r>
                      </m:sub>
                    </m:sSub>
                  </m:oMath>
                </a14:m>
                <a:r>
                  <a:rPr lang="en-US" altLang="en-US" dirty="0"/>
                  <a:t> are exchangeable.</a:t>
                </a:r>
              </a:p>
            </p:txBody>
          </p:sp>
        </mc:Choice>
        <mc:Fallback xmlns="">
          <p:sp>
            <p:nvSpPr>
              <p:cNvPr id="3" name="Content Placeholder 2">
                <a:extLst>
                  <a:ext uri="{FF2B5EF4-FFF2-40B4-BE49-F238E27FC236}">
                    <a16:creationId xmlns:a16="http://schemas.microsoft.com/office/drawing/2014/main" id="{6B547172-D6F3-8C8D-83D4-121D833761E4}"/>
                  </a:ext>
                </a:extLst>
              </p:cNvPr>
              <p:cNvSpPr>
                <a:spLocks noGrp="1" noRot="1" noChangeAspect="1" noMove="1" noResize="1" noEditPoints="1" noAdjustHandles="1" noChangeArrowheads="1" noChangeShapeType="1" noTextEdit="1"/>
              </p:cNvSpPr>
              <p:nvPr>
                <p:ph idx="1"/>
              </p:nvPr>
            </p:nvSpPr>
            <p:spPr>
              <a:blipFill>
                <a:blip r:embed="rId3"/>
                <a:stretch>
                  <a:fillRect l="-1104" t="-1657" r="-17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ounded Rectangle 3">
                <a:extLst>
                  <a:ext uri="{FF2B5EF4-FFF2-40B4-BE49-F238E27FC236}">
                    <a16:creationId xmlns:a16="http://schemas.microsoft.com/office/drawing/2014/main" id="{9608FC02-B0E4-CC02-A198-D72491867157}"/>
                  </a:ext>
                </a:extLst>
              </p:cNvPr>
              <p:cNvSpPr/>
              <p:nvPr/>
            </p:nvSpPr>
            <p:spPr>
              <a:xfrm>
                <a:off x="3046413" y="5143500"/>
                <a:ext cx="12188826" cy="1308847"/>
              </a:xfrm>
              <a:prstGeom prst="roundRect">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t"/>
              <a:lstStyle/>
              <a:p>
                <a:pPr algn="ctr"/>
                <a:r>
                  <a:rPr lang="en-US" altLang="en-US" sz="3200" b="1" i="1" dirty="0">
                    <a:solidFill>
                      <a:schemeClr val="tx1"/>
                    </a:solidFill>
                  </a:rPr>
                  <a:t>How does one quantity, </a:t>
                </a:r>
                <a14:m>
                  <m:oMath xmlns:m="http://schemas.openxmlformats.org/officeDocument/2006/math">
                    <m:r>
                      <a:rPr lang="en-US" altLang="en-US" sz="3200" b="1" i="1" smtClean="0">
                        <a:solidFill>
                          <a:schemeClr val="tx1"/>
                        </a:solidFill>
                        <a:latin typeface="Cambria Math" panose="02040503050406030204" pitchFamily="18" charset="0"/>
                      </a:rPr>
                      <m:t>𝒚</m:t>
                    </m:r>
                  </m:oMath>
                </a14:m>
                <a:r>
                  <a:rPr lang="en-US" altLang="en-US" sz="3200" b="1" i="1" dirty="0">
                    <a:solidFill>
                      <a:schemeClr val="tx1"/>
                    </a:solidFill>
                  </a:rPr>
                  <a:t>, vary as a function of </a:t>
                </a:r>
              </a:p>
              <a:p>
                <a:pPr algn="ctr"/>
                <a:r>
                  <a:rPr lang="en-US" altLang="en-US" sz="3200" b="1" i="1" dirty="0">
                    <a:solidFill>
                      <a:schemeClr val="tx1"/>
                    </a:solidFill>
                  </a:rPr>
                  <a:t>another quantity or vector of quantities, </a:t>
                </a:r>
                <a14:m>
                  <m:oMath xmlns:m="http://schemas.openxmlformats.org/officeDocument/2006/math">
                    <m:r>
                      <a:rPr lang="en-US" altLang="en-US" sz="3200" b="1" i="1" smtClean="0">
                        <a:solidFill>
                          <a:schemeClr val="tx1"/>
                        </a:solidFill>
                        <a:latin typeface="Cambria Math" panose="02040503050406030204" pitchFamily="18" charset="0"/>
                      </a:rPr>
                      <m:t>𝒙</m:t>
                    </m:r>
                  </m:oMath>
                </a14:m>
                <a:r>
                  <a:rPr lang="en-US" altLang="en-US" sz="3200" b="1" i="1" dirty="0">
                    <a:solidFill>
                      <a:schemeClr val="tx1"/>
                    </a:solidFill>
                  </a:rPr>
                  <a:t>?</a:t>
                </a:r>
              </a:p>
              <a:p>
                <a:pPr algn="ctr"/>
                <a:endParaRPr lang="en-US" dirty="0"/>
              </a:p>
            </p:txBody>
          </p:sp>
        </mc:Choice>
        <mc:Fallback xmlns="">
          <p:sp>
            <p:nvSpPr>
              <p:cNvPr id="4" name="Rounded Rectangle 3">
                <a:extLst>
                  <a:ext uri="{FF2B5EF4-FFF2-40B4-BE49-F238E27FC236}">
                    <a16:creationId xmlns:a16="http://schemas.microsoft.com/office/drawing/2014/main" id="{9608FC02-B0E4-CC02-A198-D72491867157}"/>
                  </a:ext>
                </a:extLst>
              </p:cNvPr>
              <p:cNvSpPr>
                <a:spLocks noRot="1" noChangeAspect="1" noMove="1" noResize="1" noEditPoints="1" noAdjustHandles="1" noChangeArrowheads="1" noChangeShapeType="1" noTextEdit="1"/>
              </p:cNvSpPr>
              <p:nvPr/>
            </p:nvSpPr>
            <p:spPr>
              <a:xfrm>
                <a:off x="3046413" y="5143500"/>
                <a:ext cx="12188826" cy="1308847"/>
              </a:xfrm>
              <a:prstGeom prst="round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302004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2" presetClass="entr" presetSubtype="4"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p:tgtEl>
                                          <p:spTgt spid="4"/>
                                        </p:tgtEl>
                                        <p:attrNameLst>
                                          <p:attrName>ppt_y</p:attrName>
                                        </p:attrNameLst>
                                      </p:cBhvr>
                                      <p:tavLst>
                                        <p:tav tm="0">
                                          <p:val>
                                            <p:strVal val="#ppt_y+#ppt_h*1.125000"/>
                                          </p:val>
                                        </p:tav>
                                        <p:tav tm="100000">
                                          <p:val>
                                            <p:strVal val="#ppt_y"/>
                                          </p:val>
                                        </p:tav>
                                      </p:tavLst>
                                    </p:anim>
                                    <p:animEffect transition="in" filter="wipe(up)">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53B13-4AB2-33CA-D88C-F4D83439A92B}"/>
              </a:ext>
            </a:extLst>
          </p:cNvPr>
          <p:cNvSpPr>
            <a:spLocks noGrp="1"/>
          </p:cNvSpPr>
          <p:nvPr>
            <p:ph type="title"/>
          </p:nvPr>
        </p:nvSpPr>
        <p:spPr/>
        <p:txBody>
          <a:bodyPr/>
          <a:lstStyle/>
          <a:p>
            <a:r>
              <a:rPr lang="en-US" dirty="0"/>
              <a:t>Notation &amp; Terminology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3DF5E8D-859D-0142-A625-41A64B8C6A93}"/>
                  </a:ext>
                </a:extLst>
              </p:cNvPr>
              <p:cNvSpPr>
                <a:spLocks noGrp="1"/>
              </p:cNvSpPr>
              <p:nvPr>
                <p:ph idx="1"/>
              </p:nvPr>
            </p:nvSpPr>
            <p:spPr/>
            <p:txBody>
              <a:bodyPr/>
              <a:lstStyle/>
              <a:p>
                <a14:m>
                  <m:oMath xmlns:m="http://schemas.openxmlformats.org/officeDocument/2006/math">
                    <m:r>
                      <a:rPr lang="en-US" altLang="en-US" b="0" i="1" smtClean="0">
                        <a:latin typeface="Cambria Math" panose="02040503050406030204" pitchFamily="18" charset="0"/>
                      </a:rPr>
                      <m:t>𝑦</m:t>
                    </m:r>
                  </m:oMath>
                </a14:m>
                <a:r>
                  <a:rPr lang="en-US" dirty="0"/>
                  <a:t> is the </a:t>
                </a:r>
                <a:r>
                  <a:rPr lang="en-US" b="1" dirty="0">
                    <a:solidFill>
                      <a:schemeClr val="bg1"/>
                    </a:solidFill>
                  </a:rPr>
                  <a:t>response variable</a:t>
                </a:r>
                <a:r>
                  <a:rPr lang="en-US" dirty="0"/>
                  <a:t>, or </a:t>
                </a:r>
                <a:r>
                  <a:rPr lang="en-US" b="1" dirty="0">
                    <a:solidFill>
                      <a:schemeClr val="bg1"/>
                    </a:solidFill>
                  </a:rPr>
                  <a:t>outcome</a:t>
                </a:r>
              </a:p>
              <a:p>
                <a14:m>
                  <m:oMath xmlns:m="http://schemas.openxmlformats.org/officeDocument/2006/math">
                    <m:r>
                      <a:rPr lang="en-US" altLang="en-US" i="1" smtClean="0">
                        <a:latin typeface="Cambria Math" panose="02040503050406030204" pitchFamily="18" charset="0"/>
                      </a:rPr>
                      <m:t>𝑥</m:t>
                    </m:r>
                    <m:r>
                      <a:rPr lang="en-US" altLang="en-US" b="0" i="1" smtClean="0">
                        <a:latin typeface="Cambria Math" panose="02040503050406030204" pitchFamily="18" charset="0"/>
                      </a:rPr>
                      <m:t>=</m:t>
                    </m:r>
                    <m:d>
                      <m:dPr>
                        <m:ctrlPr>
                          <a:rPr lang="en-US" altLang="en-US" b="0" i="1" smtClean="0">
                            <a:latin typeface="Cambria Math" panose="02040503050406030204" pitchFamily="18" charset="0"/>
                          </a:rPr>
                        </m:ctrlPr>
                      </m:dPr>
                      <m:e>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𝑥</m:t>
                            </m:r>
                          </m:e>
                          <m:sub>
                            <m:r>
                              <a:rPr lang="en-US" altLang="en-US" b="0" i="1" smtClean="0">
                                <a:latin typeface="Cambria Math" panose="02040503050406030204" pitchFamily="18" charset="0"/>
                              </a:rPr>
                              <m:t>1</m:t>
                            </m:r>
                          </m:sub>
                        </m:sSub>
                        <m:r>
                          <a:rPr lang="en-US" altLang="en-US" b="0" i="1" smtClean="0">
                            <a:latin typeface="Cambria Math" panose="02040503050406030204" pitchFamily="18" charset="0"/>
                          </a:rPr>
                          <m:t>,…,</m:t>
                        </m:r>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𝑥</m:t>
                            </m:r>
                          </m:e>
                          <m:sub>
                            <m:r>
                              <a:rPr lang="en-US" altLang="en-US" b="0" i="1" smtClean="0">
                                <a:latin typeface="Cambria Math" panose="02040503050406030204" pitchFamily="18" charset="0"/>
                              </a:rPr>
                              <m:t>𝑘</m:t>
                            </m:r>
                          </m:sub>
                        </m:sSub>
                      </m:e>
                    </m:d>
                  </m:oMath>
                </a14:m>
                <a:r>
                  <a:rPr lang="en-US" dirty="0"/>
                  <a:t> are the</a:t>
                </a:r>
                <a:r>
                  <a:rPr lang="en-US" b="1" dirty="0">
                    <a:solidFill>
                      <a:schemeClr val="bg1"/>
                    </a:solidFill>
                  </a:rPr>
                  <a:t> </a:t>
                </a:r>
                <a:r>
                  <a:rPr lang="en-US" b="1" dirty="0">
                    <a:solidFill>
                      <a:srgbClr val="00B050"/>
                    </a:solidFill>
                  </a:rPr>
                  <a:t>explanatory variables</a:t>
                </a:r>
                <a:r>
                  <a:rPr lang="en-US" dirty="0"/>
                  <a:t>.</a:t>
                </a:r>
              </a:p>
              <a:p>
                <a:pPr lvl="1"/>
                <a:r>
                  <a:rPr lang="en-US" dirty="0"/>
                  <a:t>These may be continuous or discrete.</a:t>
                </a:r>
              </a:p>
              <a:p>
                <a:r>
                  <a:rPr lang="en-US" dirty="0"/>
                  <a:t>We may single out a covariate, </a:t>
                </a:r>
                <a14:m>
                  <m:oMath xmlns:m="http://schemas.openxmlformats.org/officeDocument/2006/math">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𝑥</m:t>
                        </m:r>
                      </m:e>
                      <m:sub>
                        <m:r>
                          <a:rPr lang="en-US" altLang="en-US" b="0" i="1" smtClean="0">
                            <a:latin typeface="Cambria Math" panose="02040503050406030204" pitchFamily="18" charset="0"/>
                          </a:rPr>
                          <m:t>𝑗</m:t>
                        </m:r>
                      </m:sub>
                    </m:sSub>
                  </m:oMath>
                </a14:m>
                <a:r>
                  <a:rPr lang="en-US" dirty="0"/>
                  <a:t>, as a</a:t>
                </a:r>
                <a:r>
                  <a:rPr lang="en-US" b="1" dirty="0">
                    <a:solidFill>
                      <a:schemeClr val="bg1"/>
                    </a:solidFill>
                  </a:rPr>
                  <a:t> </a:t>
                </a:r>
                <a:r>
                  <a:rPr lang="en-US" b="1" dirty="0">
                    <a:solidFill>
                      <a:srgbClr val="0070C0"/>
                    </a:solidFill>
                  </a:rPr>
                  <a:t>treatment variable</a:t>
                </a:r>
                <a:r>
                  <a:rPr lang="en-US" dirty="0"/>
                  <a:t>, </a:t>
                </a:r>
              </a:p>
              <a:p>
                <a:pPr lvl="1"/>
                <a:r>
                  <a:rPr lang="en-US" dirty="0"/>
                  <a:t>Leaving all other variables to be considered </a:t>
                </a:r>
                <a:r>
                  <a:rPr lang="en-US" b="1" dirty="0">
                    <a:solidFill>
                      <a:srgbClr val="7030A0"/>
                    </a:solidFill>
                  </a:rPr>
                  <a:t>control variables</a:t>
                </a:r>
              </a:p>
              <a:p>
                <a:r>
                  <a:rPr lang="en-US" dirty="0"/>
                  <a:t>Ex: “</a:t>
                </a:r>
                <a:r>
                  <a:rPr lang="en-US" i="1" dirty="0"/>
                  <a:t>Controlling for income and gender, people with more friends live longer</a:t>
                </a:r>
                <a:r>
                  <a:rPr lang="en-US" dirty="0"/>
                  <a:t>.”</a:t>
                </a:r>
              </a:p>
              <a:p>
                <a:pPr marL="698500" lvl="1" indent="0">
                  <a:buNone/>
                </a:pPr>
                <a:endParaRPr lang="en-US" dirty="0"/>
              </a:p>
              <a:p>
                <a:endParaRPr lang="en-US" b="1" dirty="0">
                  <a:solidFill>
                    <a:schemeClr val="bg1"/>
                  </a:solidFill>
                </a:endParaRPr>
              </a:p>
            </p:txBody>
          </p:sp>
        </mc:Choice>
        <mc:Fallback xmlns="">
          <p:sp>
            <p:nvSpPr>
              <p:cNvPr id="3" name="Content Placeholder 2">
                <a:extLst>
                  <a:ext uri="{FF2B5EF4-FFF2-40B4-BE49-F238E27FC236}">
                    <a16:creationId xmlns:a16="http://schemas.microsoft.com/office/drawing/2014/main" id="{B3DF5E8D-859D-0142-A625-41A64B8C6A93}"/>
                  </a:ext>
                </a:extLst>
              </p:cNvPr>
              <p:cNvSpPr>
                <a:spLocks noGrp="1" noRot="1" noChangeAspect="1" noMove="1" noResize="1" noEditPoints="1" noAdjustHandles="1" noChangeArrowheads="1" noChangeShapeType="1" noTextEdit="1"/>
              </p:cNvSpPr>
              <p:nvPr>
                <p:ph idx="1"/>
              </p:nvPr>
            </p:nvSpPr>
            <p:spPr>
              <a:blipFill>
                <a:blip r:embed="rId3"/>
                <a:stretch>
                  <a:fillRect l="-1104" t="-1657"/>
                </a:stretch>
              </a:blipFill>
            </p:spPr>
            <p:txBody>
              <a:bodyPr/>
              <a:lstStyle/>
              <a:p>
                <a:r>
                  <a:rPr lang="en-US">
                    <a:noFill/>
                  </a:rPr>
                  <a:t> </a:t>
                </a:r>
              </a:p>
            </p:txBody>
          </p:sp>
        </mc:Fallback>
      </mc:AlternateContent>
    </p:spTree>
    <p:extLst>
      <p:ext uri="{BB962C8B-B14F-4D97-AF65-F5344CB8AC3E}">
        <p14:creationId xmlns:p14="http://schemas.microsoft.com/office/powerpoint/2010/main" val="3219784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53B13-4AB2-33CA-D88C-F4D83439A92B}"/>
              </a:ext>
            </a:extLst>
          </p:cNvPr>
          <p:cNvSpPr>
            <a:spLocks noGrp="1"/>
          </p:cNvSpPr>
          <p:nvPr>
            <p:ph type="title"/>
          </p:nvPr>
        </p:nvSpPr>
        <p:spPr/>
        <p:txBody>
          <a:bodyPr/>
          <a:lstStyle/>
          <a:p>
            <a:r>
              <a:rPr lang="en-US" dirty="0"/>
              <a:t>Notation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3DF5E8D-859D-0142-A625-41A64B8C6A93}"/>
                  </a:ext>
                </a:extLst>
              </p:cNvPr>
              <p:cNvSpPr>
                <a:spLocks noGrp="1"/>
              </p:cNvSpPr>
              <p:nvPr>
                <p:ph idx="1"/>
              </p:nvPr>
            </p:nvSpPr>
            <p:spPr/>
            <p:txBody>
              <a:bodyPr/>
              <a:lstStyle/>
              <a:p>
                <a14:m>
                  <m:oMath xmlns:m="http://schemas.openxmlformats.org/officeDocument/2006/math">
                    <m:r>
                      <a:rPr lang="en-US" altLang="en-US" b="0" i="1" smtClean="0">
                        <a:latin typeface="Cambria Math" panose="02040503050406030204" pitchFamily="18" charset="0"/>
                      </a:rPr>
                      <m:t>𝑦</m:t>
                    </m:r>
                  </m:oMath>
                </a14:m>
                <a:r>
                  <a:rPr lang="en-US" dirty="0"/>
                  <a:t> is the </a:t>
                </a:r>
                <a:r>
                  <a:rPr lang="en-US" b="1" dirty="0">
                    <a:solidFill>
                      <a:schemeClr val="bg1"/>
                    </a:solidFill>
                  </a:rPr>
                  <a:t>response variable</a:t>
                </a:r>
                <a:r>
                  <a:rPr lang="en-US" dirty="0"/>
                  <a:t>, or </a:t>
                </a:r>
                <a:r>
                  <a:rPr lang="en-US" b="1" dirty="0">
                    <a:solidFill>
                      <a:schemeClr val="bg1"/>
                    </a:solidFill>
                  </a:rPr>
                  <a:t>outcome</a:t>
                </a:r>
              </a:p>
              <a:p>
                <a14:m>
                  <m:oMath xmlns:m="http://schemas.openxmlformats.org/officeDocument/2006/math">
                    <m:r>
                      <a:rPr lang="en-US" altLang="en-US" i="1" smtClean="0">
                        <a:latin typeface="Cambria Math" panose="02040503050406030204" pitchFamily="18" charset="0"/>
                      </a:rPr>
                      <m:t>𝑥</m:t>
                    </m:r>
                    <m:r>
                      <a:rPr lang="en-US" altLang="en-US" b="0" i="1" smtClean="0">
                        <a:latin typeface="Cambria Math" panose="02040503050406030204" pitchFamily="18" charset="0"/>
                      </a:rPr>
                      <m:t>=</m:t>
                    </m:r>
                    <m:d>
                      <m:dPr>
                        <m:ctrlPr>
                          <a:rPr lang="en-US" altLang="en-US" b="0" i="1" smtClean="0">
                            <a:latin typeface="Cambria Math" panose="02040503050406030204" pitchFamily="18" charset="0"/>
                          </a:rPr>
                        </m:ctrlPr>
                      </m:dPr>
                      <m:e>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𝑥</m:t>
                            </m:r>
                          </m:e>
                          <m:sub>
                            <m:r>
                              <a:rPr lang="en-US" altLang="en-US" b="0" i="1" smtClean="0">
                                <a:latin typeface="Cambria Math" panose="02040503050406030204" pitchFamily="18" charset="0"/>
                              </a:rPr>
                              <m:t>1</m:t>
                            </m:r>
                          </m:sub>
                        </m:sSub>
                        <m:r>
                          <a:rPr lang="en-US" altLang="en-US" b="0" i="1" smtClean="0">
                            <a:latin typeface="Cambria Math" panose="02040503050406030204" pitchFamily="18" charset="0"/>
                          </a:rPr>
                          <m:t>,…,</m:t>
                        </m:r>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𝑥</m:t>
                            </m:r>
                          </m:e>
                          <m:sub>
                            <m:r>
                              <a:rPr lang="en-US" altLang="en-US" b="0" i="1" smtClean="0">
                                <a:latin typeface="Cambria Math" panose="02040503050406030204" pitchFamily="18" charset="0"/>
                              </a:rPr>
                              <m:t>𝑘</m:t>
                            </m:r>
                          </m:sub>
                        </m:sSub>
                      </m:e>
                    </m:d>
                  </m:oMath>
                </a14:m>
                <a:r>
                  <a:rPr lang="en-US" dirty="0"/>
                  <a:t> are the</a:t>
                </a:r>
                <a:r>
                  <a:rPr lang="en-US" b="1" dirty="0">
                    <a:solidFill>
                      <a:schemeClr val="bg1"/>
                    </a:solidFill>
                  </a:rPr>
                  <a:t> </a:t>
                </a:r>
                <a:r>
                  <a:rPr lang="en-US" b="1" dirty="0">
                    <a:solidFill>
                      <a:srgbClr val="00B050"/>
                    </a:solidFill>
                  </a:rPr>
                  <a:t>explanatory variables</a:t>
                </a:r>
                <a:r>
                  <a:rPr lang="en-US" dirty="0"/>
                  <a:t>, </a:t>
                </a:r>
              </a:p>
              <a:p>
                <a:pPr lvl="1"/>
                <a:r>
                  <a:rPr lang="en-US" dirty="0"/>
                  <a:t>which may be continuous or discrete</a:t>
                </a:r>
              </a:p>
              <a:p>
                <a:r>
                  <a:rPr lang="en-US" dirty="0"/>
                  <a:t>We may single out a covariate, </a:t>
                </a:r>
                <a14:m>
                  <m:oMath xmlns:m="http://schemas.openxmlformats.org/officeDocument/2006/math">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𝑥</m:t>
                        </m:r>
                      </m:e>
                      <m:sub>
                        <m:r>
                          <a:rPr lang="en-US" altLang="en-US" b="0" i="1" smtClean="0">
                            <a:latin typeface="Cambria Math" panose="02040503050406030204" pitchFamily="18" charset="0"/>
                          </a:rPr>
                          <m:t>𝑗</m:t>
                        </m:r>
                      </m:sub>
                    </m:sSub>
                  </m:oMath>
                </a14:m>
                <a:r>
                  <a:rPr lang="en-US" dirty="0"/>
                  <a:t>, as a</a:t>
                </a:r>
                <a:r>
                  <a:rPr lang="en-US" b="1" dirty="0">
                    <a:solidFill>
                      <a:schemeClr val="bg1"/>
                    </a:solidFill>
                  </a:rPr>
                  <a:t> </a:t>
                </a:r>
                <a:r>
                  <a:rPr lang="en-US" b="1" dirty="0">
                    <a:solidFill>
                      <a:srgbClr val="0070C0"/>
                    </a:solidFill>
                  </a:rPr>
                  <a:t>treatment variable</a:t>
                </a:r>
                <a:r>
                  <a:rPr lang="en-US" dirty="0"/>
                  <a:t>, </a:t>
                </a:r>
              </a:p>
              <a:p>
                <a:pPr lvl="1"/>
                <a:r>
                  <a:rPr lang="en-US" dirty="0"/>
                  <a:t>Leaving all other variables to be considered </a:t>
                </a:r>
                <a:r>
                  <a:rPr lang="en-US" b="1" dirty="0">
                    <a:solidFill>
                      <a:srgbClr val="7030A0"/>
                    </a:solidFill>
                  </a:rPr>
                  <a:t>control variables</a:t>
                </a:r>
              </a:p>
              <a:p>
                <a:r>
                  <a:rPr lang="en-US" dirty="0"/>
                  <a:t>Ex: “</a:t>
                </a:r>
                <a:r>
                  <a:rPr lang="en-US" i="1" dirty="0"/>
                  <a:t>Controlling for </a:t>
                </a:r>
                <a:r>
                  <a:rPr lang="en-US" b="1" i="1" dirty="0">
                    <a:solidFill>
                      <a:srgbClr val="7030A0"/>
                    </a:solidFill>
                  </a:rPr>
                  <a:t>income</a:t>
                </a:r>
                <a:r>
                  <a:rPr lang="en-US" i="1" dirty="0"/>
                  <a:t> and </a:t>
                </a:r>
                <a:r>
                  <a:rPr lang="en-US" b="1" i="1" dirty="0">
                    <a:solidFill>
                      <a:srgbClr val="7030A0"/>
                    </a:solidFill>
                  </a:rPr>
                  <a:t>gender</a:t>
                </a:r>
                <a:r>
                  <a:rPr lang="en-US" i="1" dirty="0"/>
                  <a:t>, people with </a:t>
                </a:r>
                <a:r>
                  <a:rPr lang="en-US" b="1" i="1" dirty="0">
                    <a:solidFill>
                      <a:srgbClr val="0070C0"/>
                    </a:solidFill>
                  </a:rPr>
                  <a:t>more friends </a:t>
                </a:r>
                <a:r>
                  <a:rPr lang="en-US" b="1" i="1" dirty="0">
                    <a:solidFill>
                      <a:schemeClr val="bg1"/>
                    </a:solidFill>
                  </a:rPr>
                  <a:t>live longer</a:t>
                </a:r>
                <a:r>
                  <a:rPr lang="en-US" dirty="0"/>
                  <a:t>.”</a:t>
                </a:r>
              </a:p>
              <a:p>
                <a:pPr marL="698500" lvl="1" indent="0">
                  <a:buNone/>
                </a:pPr>
                <a:endParaRPr lang="en-US" dirty="0"/>
              </a:p>
              <a:p>
                <a:endParaRPr lang="en-US" b="1" dirty="0">
                  <a:solidFill>
                    <a:schemeClr val="bg1"/>
                  </a:solidFill>
                </a:endParaRPr>
              </a:p>
            </p:txBody>
          </p:sp>
        </mc:Choice>
        <mc:Fallback xmlns="">
          <p:sp>
            <p:nvSpPr>
              <p:cNvPr id="3" name="Content Placeholder 2">
                <a:extLst>
                  <a:ext uri="{FF2B5EF4-FFF2-40B4-BE49-F238E27FC236}">
                    <a16:creationId xmlns:a16="http://schemas.microsoft.com/office/drawing/2014/main" id="{B3DF5E8D-859D-0142-A625-41A64B8C6A93}"/>
                  </a:ext>
                </a:extLst>
              </p:cNvPr>
              <p:cNvSpPr>
                <a:spLocks noGrp="1" noRot="1" noChangeAspect="1" noMove="1" noResize="1" noEditPoints="1" noAdjustHandles="1" noChangeArrowheads="1" noChangeShapeType="1" noTextEdit="1"/>
              </p:cNvSpPr>
              <p:nvPr>
                <p:ph idx="1"/>
              </p:nvPr>
            </p:nvSpPr>
            <p:spPr>
              <a:blipFill>
                <a:blip r:embed="rId3"/>
                <a:stretch>
                  <a:fillRect l="-1104" t="-1657" r="-1104"/>
                </a:stretch>
              </a:blipFill>
            </p:spPr>
            <p:txBody>
              <a:bodyPr/>
              <a:lstStyle/>
              <a:p>
                <a:r>
                  <a:rPr lang="en-US">
                    <a:noFill/>
                  </a:rPr>
                  <a:t> </a:t>
                </a:r>
              </a:p>
            </p:txBody>
          </p:sp>
        </mc:Fallback>
      </mc:AlternateContent>
    </p:spTree>
    <p:extLst>
      <p:ext uri="{BB962C8B-B14F-4D97-AF65-F5344CB8AC3E}">
        <p14:creationId xmlns:p14="http://schemas.microsoft.com/office/powerpoint/2010/main" val="28301489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07332-0613-BF32-59FE-7315AA8E3138}"/>
              </a:ext>
            </a:extLst>
          </p:cNvPr>
          <p:cNvSpPr>
            <a:spLocks noGrp="1"/>
          </p:cNvSpPr>
          <p:nvPr>
            <p:ph type="title"/>
          </p:nvPr>
        </p:nvSpPr>
        <p:spPr/>
        <p:txBody>
          <a:bodyPr/>
          <a:lstStyle/>
          <a:p>
            <a:r>
              <a:rPr lang="en-US" dirty="0"/>
              <a:t>Subject Data</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6BE0472-0292-5F89-547F-94F52811C2E5}"/>
                  </a:ext>
                </a:extLst>
              </p:cNvPr>
              <p:cNvSpPr>
                <a:spLocks noGrp="1"/>
              </p:cNvSpPr>
              <p:nvPr>
                <p:ph idx="1"/>
              </p:nvPr>
            </p:nvSpPr>
            <p:spPr/>
            <p:txBody>
              <a:bodyPr/>
              <a:lstStyle/>
              <a:p>
                <a:r>
                  <a:rPr lang="en-US" dirty="0"/>
                  <a:t>Samples are often referred to as </a:t>
                </a:r>
                <a:r>
                  <a:rPr lang="en-US" b="1" dirty="0">
                    <a:solidFill>
                      <a:schemeClr val="bg1"/>
                    </a:solidFill>
                  </a:rPr>
                  <a:t>units</a:t>
                </a:r>
                <a:r>
                  <a:rPr lang="en-US" dirty="0"/>
                  <a:t> or </a:t>
                </a:r>
                <a:r>
                  <a:rPr lang="en-US" b="1" dirty="0">
                    <a:solidFill>
                      <a:schemeClr val="bg1"/>
                    </a:solidFill>
                  </a:rPr>
                  <a:t>subjects</a:t>
                </a:r>
              </a:p>
              <a:p>
                <a:r>
                  <a:rPr lang="en-US" dirty="0"/>
                  <a:t>Indexing for samples require two sets of subscripts for covariates—one for dimension and one for number of subjects: </a:t>
                </a:r>
                <a14:m>
                  <m:oMath xmlns:m="http://schemas.openxmlformats.org/officeDocument/2006/math">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𝑥</m:t>
                        </m:r>
                      </m:e>
                      <m:sub>
                        <m:r>
                          <a:rPr lang="en-US" altLang="en-US" b="0" i="1" smtClean="0">
                            <a:latin typeface="Cambria Math" panose="02040503050406030204" pitchFamily="18" charset="0"/>
                          </a:rPr>
                          <m:t>𝑖𝑗</m:t>
                        </m:r>
                      </m:sub>
                    </m:sSub>
                  </m:oMath>
                </a14:m>
                <a:endParaRPr lang="en-US" dirty="0"/>
              </a:p>
              <a:p>
                <a:pPr lvl="1"/>
                <a14:m>
                  <m:oMath xmlns:m="http://schemas.openxmlformats.org/officeDocument/2006/math">
                    <m:r>
                      <a:rPr lang="en-US" b="0" i="1" smtClean="0">
                        <a:latin typeface="Cambria Math" panose="02040503050406030204" pitchFamily="18" charset="0"/>
                      </a:rPr>
                      <m:t>𝑗</m:t>
                    </m:r>
                  </m:oMath>
                </a14:m>
                <a:r>
                  <a:rPr lang="en-US" dirty="0" err="1"/>
                  <a:t>th</a:t>
                </a:r>
                <a:r>
                  <a:rPr lang="en-US" dirty="0"/>
                  <a:t> explanatory variable for the </a:t>
                </a:r>
                <a14:m>
                  <m:oMath xmlns:m="http://schemas.openxmlformats.org/officeDocument/2006/math">
                    <m:r>
                      <a:rPr lang="en-US" b="0" i="1" smtClean="0">
                        <a:latin typeface="Cambria Math" panose="02040503050406030204" pitchFamily="18" charset="0"/>
                      </a:rPr>
                      <m:t>𝑖</m:t>
                    </m:r>
                  </m:oMath>
                </a14:m>
                <a:r>
                  <a:rPr lang="en-US" dirty="0" err="1"/>
                  <a:t>th</a:t>
                </a:r>
                <a:r>
                  <a:rPr lang="en-US" dirty="0"/>
                  <a:t> subject</a:t>
                </a:r>
              </a:p>
              <a:p>
                <a:r>
                  <a:rPr lang="en-US" dirty="0"/>
                  <a:t>Because it is two dimensional, we have a matrix.</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𝑋</m:t>
                      </m:r>
                      <m:r>
                        <a:rPr lang="en-US" b="0" i="1" smtClean="0">
                          <a:latin typeface="Cambria Math" panose="02040503050406030204" pitchFamily="18" charset="0"/>
                        </a:rPr>
                        <m:t>= </m:t>
                      </m:r>
                      <m:d>
                        <m:dPr>
                          <m:ctrlPr>
                            <a:rPr lang="en-US" b="0" i="1" smtClean="0">
                              <a:latin typeface="Cambria Math" panose="02040503050406030204" pitchFamily="18" charset="0"/>
                            </a:rPr>
                          </m:ctrlPr>
                        </m:dPr>
                        <m:e>
                          <m:m>
                            <m:mPr>
                              <m:mcs>
                                <m:mc>
                                  <m:mcPr>
                                    <m:count m:val="3"/>
                                    <m:mcJc m:val="center"/>
                                  </m:mcPr>
                                </m:mc>
                              </m:mcs>
                              <m:ctrlPr>
                                <a:rPr lang="en-US" b="0" i="1" smtClean="0">
                                  <a:latin typeface="Cambria Math" panose="02040503050406030204" pitchFamily="18" charset="0"/>
                                </a:rPr>
                              </m:ctrlPr>
                            </m:mPr>
                            <m:mr>
                              <m:e>
                                <m:sSub>
                                  <m:sSubPr>
                                    <m:ctrlPr>
                                      <a:rPr lang="en-US" altLang="en-US" i="1">
                                        <a:latin typeface="Cambria Math" panose="02040503050406030204" pitchFamily="18" charset="0"/>
                                      </a:rPr>
                                    </m:ctrlPr>
                                  </m:sSubPr>
                                  <m:e>
                                    <m:r>
                                      <a:rPr lang="en-US" altLang="en-US" i="1">
                                        <a:latin typeface="Cambria Math" panose="02040503050406030204" pitchFamily="18" charset="0"/>
                                      </a:rPr>
                                      <m:t>𝑥</m:t>
                                    </m:r>
                                  </m:e>
                                  <m:sub>
                                    <m:r>
                                      <a:rPr lang="en-US" altLang="en-US" b="0" i="1" smtClean="0">
                                        <a:latin typeface="Cambria Math" panose="02040503050406030204" pitchFamily="18" charset="0"/>
                                      </a:rPr>
                                      <m:t>11</m:t>
                                    </m:r>
                                  </m:sub>
                                </m:sSub>
                              </m:e>
                              <m:e>
                                <m:r>
                                  <a:rPr lang="en-US" b="0" i="1" smtClean="0">
                                    <a:latin typeface="Cambria Math" panose="02040503050406030204" pitchFamily="18" charset="0"/>
                                  </a:rPr>
                                  <m:t>…</m:t>
                                </m:r>
                              </m:e>
                              <m:e>
                                <m:sSub>
                                  <m:sSubPr>
                                    <m:ctrlPr>
                                      <a:rPr lang="en-US" altLang="en-US" i="1">
                                        <a:latin typeface="Cambria Math" panose="02040503050406030204" pitchFamily="18" charset="0"/>
                                      </a:rPr>
                                    </m:ctrlPr>
                                  </m:sSubPr>
                                  <m:e>
                                    <m:r>
                                      <a:rPr lang="en-US" altLang="en-US" i="1">
                                        <a:latin typeface="Cambria Math" panose="02040503050406030204" pitchFamily="18" charset="0"/>
                                      </a:rPr>
                                      <m:t>𝑥</m:t>
                                    </m:r>
                                  </m:e>
                                  <m:sub>
                                    <m:r>
                                      <a:rPr lang="en-US" altLang="en-US" b="0" i="1" smtClean="0">
                                        <a:latin typeface="Cambria Math" panose="02040503050406030204" pitchFamily="18" charset="0"/>
                                      </a:rPr>
                                      <m:t>1</m:t>
                                    </m:r>
                                    <m:r>
                                      <a:rPr lang="en-US" altLang="en-US" b="0" i="1" smtClean="0">
                                        <a:latin typeface="Cambria Math" panose="02040503050406030204" pitchFamily="18" charset="0"/>
                                      </a:rPr>
                                      <m:t>𝑘</m:t>
                                    </m:r>
                                  </m:sub>
                                </m:sSub>
                              </m:e>
                            </m:mr>
                            <m:mr>
                              <m:e>
                                <m:r>
                                  <a:rPr lang="en-US" b="0" i="1" smtClean="0">
                                    <a:latin typeface="Cambria Math" panose="02040503050406030204" pitchFamily="18" charset="0"/>
                                  </a:rPr>
                                  <m:t>⋮</m:t>
                                </m:r>
                              </m:e>
                              <m:e>
                                <m:r>
                                  <a:rPr lang="en-US" b="0" i="1" smtClean="0">
                                    <a:latin typeface="Cambria Math" panose="02040503050406030204" pitchFamily="18" charset="0"/>
                                  </a:rPr>
                                  <m:t>⋱</m:t>
                                </m:r>
                              </m:e>
                              <m:e>
                                <m:r>
                                  <a:rPr lang="en-US" b="0" i="1" smtClean="0">
                                    <a:latin typeface="Cambria Math" panose="02040503050406030204" pitchFamily="18" charset="0"/>
                                  </a:rPr>
                                  <m:t>⋮</m:t>
                                </m:r>
                              </m:e>
                            </m:mr>
                            <m:mr>
                              <m:e>
                                <m:sSub>
                                  <m:sSubPr>
                                    <m:ctrlPr>
                                      <a:rPr lang="en-US" altLang="en-US" i="1">
                                        <a:latin typeface="Cambria Math" panose="02040503050406030204" pitchFamily="18" charset="0"/>
                                      </a:rPr>
                                    </m:ctrlPr>
                                  </m:sSubPr>
                                  <m:e>
                                    <m:r>
                                      <a:rPr lang="en-US" altLang="en-US" i="1">
                                        <a:latin typeface="Cambria Math" panose="02040503050406030204" pitchFamily="18" charset="0"/>
                                      </a:rPr>
                                      <m:t>𝑥</m:t>
                                    </m:r>
                                  </m:e>
                                  <m:sub>
                                    <m:r>
                                      <a:rPr lang="en-US" altLang="en-US" b="0" i="1" smtClean="0">
                                        <a:latin typeface="Cambria Math" panose="02040503050406030204" pitchFamily="18" charset="0"/>
                                      </a:rPr>
                                      <m:t>𝑛</m:t>
                                    </m:r>
                                    <m:r>
                                      <a:rPr lang="en-US" altLang="en-US" b="0" i="1" smtClean="0">
                                        <a:latin typeface="Cambria Math" panose="02040503050406030204" pitchFamily="18" charset="0"/>
                                      </a:rPr>
                                      <m:t>1</m:t>
                                    </m:r>
                                  </m:sub>
                                </m:sSub>
                              </m:e>
                              <m:e>
                                <m:r>
                                  <a:rPr lang="en-US" b="0" i="1" smtClean="0">
                                    <a:latin typeface="Cambria Math" panose="02040503050406030204" pitchFamily="18" charset="0"/>
                                  </a:rPr>
                                  <m:t>…</m:t>
                                </m:r>
                              </m:e>
                              <m:e>
                                <m:sSub>
                                  <m:sSubPr>
                                    <m:ctrlPr>
                                      <a:rPr lang="en-US" altLang="en-US" i="1">
                                        <a:latin typeface="Cambria Math" panose="02040503050406030204" pitchFamily="18" charset="0"/>
                                      </a:rPr>
                                    </m:ctrlPr>
                                  </m:sSubPr>
                                  <m:e>
                                    <m:r>
                                      <a:rPr lang="en-US" altLang="en-US" i="1">
                                        <a:latin typeface="Cambria Math" panose="02040503050406030204" pitchFamily="18" charset="0"/>
                                      </a:rPr>
                                      <m:t>𝑥</m:t>
                                    </m:r>
                                  </m:e>
                                  <m:sub>
                                    <m:r>
                                      <a:rPr lang="en-US" altLang="en-US" b="0" i="1" smtClean="0">
                                        <a:latin typeface="Cambria Math" panose="02040503050406030204" pitchFamily="18" charset="0"/>
                                      </a:rPr>
                                      <m:t>𝑛𝑘</m:t>
                                    </m:r>
                                  </m:sub>
                                </m:sSub>
                              </m:e>
                            </m:mr>
                          </m:m>
                        </m:e>
                      </m:d>
                    </m:oMath>
                  </m:oMathPara>
                </a14:m>
                <a:endParaRPr lang="en-US" dirty="0"/>
              </a:p>
            </p:txBody>
          </p:sp>
        </mc:Choice>
        <mc:Fallback xmlns="">
          <p:sp>
            <p:nvSpPr>
              <p:cNvPr id="3" name="Content Placeholder 2">
                <a:extLst>
                  <a:ext uri="{FF2B5EF4-FFF2-40B4-BE49-F238E27FC236}">
                    <a16:creationId xmlns:a16="http://schemas.microsoft.com/office/drawing/2014/main" id="{06BE0472-0292-5F89-547F-94F52811C2E5}"/>
                  </a:ext>
                </a:extLst>
              </p:cNvPr>
              <p:cNvSpPr>
                <a:spLocks noGrp="1" noRot="1" noChangeAspect="1" noMove="1" noResize="1" noEditPoints="1" noAdjustHandles="1" noChangeArrowheads="1" noChangeShapeType="1" noTextEdit="1"/>
              </p:cNvSpPr>
              <p:nvPr>
                <p:ph idx="1"/>
              </p:nvPr>
            </p:nvSpPr>
            <p:spPr>
              <a:blipFill>
                <a:blip r:embed="rId3"/>
                <a:stretch>
                  <a:fillRect l="-1104" t="-1657" r="-710"/>
                </a:stretch>
              </a:blipFill>
            </p:spPr>
            <p:txBody>
              <a:bodyPr/>
              <a:lstStyle/>
              <a:p>
                <a:r>
                  <a:rPr lang="en-US">
                    <a:noFill/>
                  </a:rPr>
                  <a:t> </a:t>
                </a:r>
              </a:p>
            </p:txBody>
          </p:sp>
        </mc:Fallback>
      </mc:AlternateContent>
    </p:spTree>
    <p:extLst>
      <p:ext uri="{BB962C8B-B14F-4D97-AF65-F5344CB8AC3E}">
        <p14:creationId xmlns:p14="http://schemas.microsoft.com/office/powerpoint/2010/main" val="3401645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E3F78-EEF1-4BFC-A730-0D8C1DB4261E}"/>
              </a:ext>
            </a:extLst>
          </p:cNvPr>
          <p:cNvSpPr>
            <a:spLocks noGrp="1"/>
          </p:cNvSpPr>
          <p:nvPr>
            <p:ph type="title"/>
          </p:nvPr>
        </p:nvSpPr>
        <p:spPr/>
        <p:txBody>
          <a:bodyPr/>
          <a:lstStyle/>
          <a:p>
            <a:r>
              <a:rPr lang="en-US" dirty="0"/>
              <a:t>Normal Linear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4072AE9-9C7C-226F-B64C-B3374D9896BC}"/>
                  </a:ext>
                </a:extLst>
              </p:cNvPr>
              <p:cNvSpPr>
                <a:spLocks noGrp="1"/>
              </p:cNvSpPr>
              <p:nvPr>
                <p:ph idx="1"/>
              </p:nvPr>
            </p:nvSpPr>
            <p:spPr/>
            <p:txBody>
              <a:bodyPr/>
              <a:lstStyle/>
              <a:p>
                <a:r>
                  <a:rPr lang="en-US" dirty="0"/>
                  <a:t>The </a:t>
                </a:r>
                <a:r>
                  <a:rPr lang="en-US" b="1" dirty="0">
                    <a:solidFill>
                      <a:schemeClr val="bg1"/>
                    </a:solidFill>
                  </a:rPr>
                  <a:t>normal linear model </a:t>
                </a:r>
                <a:r>
                  <a:rPr lang="en-US" dirty="0"/>
                  <a:t>is  </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𝐸</m:t>
                      </m:r>
                      <m:d>
                        <m:dPr>
                          <m:ctrlPr>
                            <a:rPr lang="en-US" b="0" i="1" smtClean="0">
                              <a:latin typeface="Cambria Math" panose="02040503050406030204" pitchFamily="18" charset="0"/>
                            </a:rPr>
                          </m:ctrlPr>
                        </m:dPr>
                        <m:e>
                          <m:sSub>
                            <m:sSubPr>
                              <m:ctrlPr>
                                <a:rPr lang="en-US" altLang="en-US" i="1">
                                  <a:latin typeface="Cambria Math" panose="02040503050406030204" pitchFamily="18" charset="0"/>
                                </a:rPr>
                              </m:ctrlPr>
                            </m:sSubPr>
                            <m:e>
                              <m:r>
                                <a:rPr lang="en-US" altLang="en-US" b="0" i="1" smtClean="0">
                                  <a:latin typeface="Cambria Math" panose="02040503050406030204" pitchFamily="18" charset="0"/>
                                </a:rPr>
                                <m:t>𝑦</m:t>
                              </m:r>
                            </m:e>
                            <m:sub>
                              <m:r>
                                <a:rPr lang="en-US" altLang="en-US" i="1">
                                  <a:latin typeface="Cambria Math" panose="02040503050406030204" pitchFamily="18" charset="0"/>
                                </a:rPr>
                                <m:t>𝑖</m:t>
                              </m:r>
                            </m:sub>
                          </m:sSub>
                        </m:e>
                        <m:e>
                          <m:r>
                            <a:rPr lang="en-US" altLang="en-US" i="1" smtClean="0">
                              <a:latin typeface="Cambria Math" panose="02040503050406030204" pitchFamily="18" charset="0"/>
                              <a:ea typeface="Cambria Math" panose="02040503050406030204" pitchFamily="18" charset="0"/>
                            </a:rPr>
                            <m:t>𝛽</m:t>
                          </m:r>
                          <m:r>
                            <a:rPr lang="en-US" altLang="en-US" b="0" i="1" smtClean="0">
                              <a:latin typeface="Cambria Math" panose="02040503050406030204" pitchFamily="18" charset="0"/>
                              <a:ea typeface="Cambria Math" panose="02040503050406030204" pitchFamily="18" charset="0"/>
                            </a:rPr>
                            <m:t>,</m:t>
                          </m:r>
                          <m:r>
                            <a:rPr lang="en-US" altLang="en-US" b="0" i="1" smtClean="0">
                              <a:latin typeface="Cambria Math" panose="02040503050406030204" pitchFamily="18" charset="0"/>
                              <a:ea typeface="Cambria Math" panose="02040503050406030204" pitchFamily="18" charset="0"/>
                            </a:rPr>
                            <m:t>𝑋</m:t>
                          </m:r>
                        </m:e>
                      </m:d>
                      <m:r>
                        <a:rPr lang="en-US" alt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rPr>
                            <m:t>1</m:t>
                          </m:r>
                        </m:sub>
                      </m:sSub>
                      <m:sSub>
                        <m:sSubPr>
                          <m:ctrlPr>
                            <a:rPr lang="en-US" i="1">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rPr>
                            <m:t>2</m:t>
                          </m:r>
                        </m:sub>
                      </m:sSub>
                      <m:sSub>
                        <m:sSubPr>
                          <m:ctrlPr>
                            <a:rPr lang="en-US" i="1">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r>
                            <a:rPr lang="en-US" i="1">
                              <a:latin typeface="Cambria Math" panose="02040503050406030204" pitchFamily="18" charset="0"/>
                            </a:rPr>
                            <m:t>2</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ea typeface="Cambria Math" panose="02040503050406030204" pitchFamily="18" charset="0"/>
                            </a:rPr>
                            <m:t>𝑘</m:t>
                          </m:r>
                        </m:sub>
                      </m:sSub>
                      <m:sSub>
                        <m:sSubPr>
                          <m:ctrlPr>
                            <a:rPr lang="en-US" i="1">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𝑖𝑘</m:t>
                          </m:r>
                        </m:sub>
                      </m:sSub>
                    </m:oMath>
                  </m:oMathPara>
                </a14:m>
                <a:endParaRPr lang="en-US" dirty="0"/>
              </a:p>
              <a:p>
                <a:r>
                  <a:rPr lang="en-US" dirty="0"/>
                  <a:t>Note that often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r>
                          <a:rPr lang="en-US" i="1">
                            <a:latin typeface="Cambria Math" panose="02040503050406030204" pitchFamily="18" charset="0"/>
                          </a:rPr>
                          <m:t>1</m:t>
                        </m:r>
                      </m:sub>
                    </m:sSub>
                    <m:r>
                      <a:rPr lang="en-US" b="0" i="1" smtClean="0">
                        <a:latin typeface="Cambria Math" panose="02040503050406030204" pitchFamily="18" charset="0"/>
                      </a:rPr>
                      <m:t>=1</m:t>
                    </m:r>
                  </m:oMath>
                </a14:m>
                <a:r>
                  <a:rPr lang="en-US" dirty="0"/>
                  <a:t> to account for a </a:t>
                </a:r>
                <a:r>
                  <a:rPr lang="en-US" b="1" dirty="0">
                    <a:solidFill>
                      <a:schemeClr val="bg1"/>
                    </a:solidFill>
                  </a:rPr>
                  <a:t>constant</a:t>
                </a:r>
                <a:r>
                  <a:rPr lang="en-US" dirty="0"/>
                  <a:t> or </a:t>
                </a:r>
                <a:r>
                  <a:rPr lang="en-US" b="1" dirty="0">
                    <a:solidFill>
                      <a:schemeClr val="bg1"/>
                    </a:solidFill>
                  </a:rPr>
                  <a:t>intercept</a:t>
                </a:r>
                <a:r>
                  <a:rPr lang="en-US" dirty="0"/>
                  <a:t>. </a:t>
                </a:r>
              </a:p>
              <a:p>
                <a:r>
                  <a:rPr lang="en-US" dirty="0"/>
                  <a:t>In </a:t>
                </a:r>
                <a:r>
                  <a:rPr lang="en-US" b="1" dirty="0">
                    <a:solidFill>
                      <a:schemeClr val="bg1"/>
                    </a:solidFill>
                  </a:rPr>
                  <a:t>ordinary linear regression </a:t>
                </a:r>
                <a:r>
                  <a:rPr lang="en-US" dirty="0"/>
                  <a:t>is the normal linear model with the following assumptions: </a:t>
                </a:r>
              </a:p>
              <a:p>
                <a:pPr lvl="1"/>
                <a:r>
                  <a:rPr lang="en-US" b="1" dirty="0">
                    <a:solidFill>
                      <a:schemeClr val="bg1"/>
                    </a:solidFill>
                  </a:rPr>
                  <a:t>Homoscedasticity</a:t>
                </a:r>
                <a:r>
                  <a:rPr lang="en-US" dirty="0"/>
                  <a:t> – The variance is equal across observations: </a:t>
                </a:r>
                <a14:m>
                  <m:oMath xmlns:m="http://schemas.openxmlformats.org/officeDocument/2006/math">
                    <m:r>
                      <m:rPr>
                        <m:sty m:val="p"/>
                      </m:rPr>
                      <a:rPr lang="en-US" b="0" i="0" smtClean="0">
                        <a:latin typeface="Cambria Math" panose="02040503050406030204" pitchFamily="18" charset="0"/>
                      </a:rPr>
                      <m:t>var</m:t>
                    </m:r>
                    <m:d>
                      <m:dPr>
                        <m:ctrlPr>
                          <a:rPr lang="en-US" i="1">
                            <a:latin typeface="Cambria Math" panose="02040503050406030204" pitchFamily="18" charset="0"/>
                          </a:rPr>
                        </m:ctrlPr>
                      </m:dPr>
                      <m:e>
                        <m:sSub>
                          <m:sSubPr>
                            <m:ctrlPr>
                              <a:rPr lang="en-US" altLang="en-US" i="1">
                                <a:latin typeface="Cambria Math" panose="02040503050406030204" pitchFamily="18" charset="0"/>
                              </a:rPr>
                            </m:ctrlPr>
                          </m:sSubPr>
                          <m:e>
                            <m:r>
                              <a:rPr lang="en-US" altLang="en-US" i="1">
                                <a:latin typeface="Cambria Math" panose="02040503050406030204" pitchFamily="18" charset="0"/>
                              </a:rPr>
                              <m:t>𝑦</m:t>
                            </m:r>
                          </m:e>
                          <m:sub>
                            <m:r>
                              <a:rPr lang="en-US" altLang="en-US" i="1">
                                <a:latin typeface="Cambria Math" panose="02040503050406030204" pitchFamily="18" charset="0"/>
                              </a:rPr>
                              <m:t>𝑖</m:t>
                            </m:r>
                          </m:sub>
                        </m:sSub>
                      </m:e>
                      <m:e>
                        <m:r>
                          <a:rPr lang="en-US" altLang="en-US" i="1">
                            <a:latin typeface="Cambria Math" panose="02040503050406030204" pitchFamily="18" charset="0"/>
                            <a:ea typeface="Cambria Math" panose="02040503050406030204" pitchFamily="18" charset="0"/>
                          </a:rPr>
                          <m:t>𝛽</m:t>
                        </m:r>
                        <m:r>
                          <a:rPr lang="en-US" altLang="en-US" i="1">
                            <a:latin typeface="Cambria Math" panose="02040503050406030204" pitchFamily="18" charset="0"/>
                            <a:ea typeface="Cambria Math" panose="02040503050406030204" pitchFamily="18" charset="0"/>
                          </a:rPr>
                          <m:t>,</m:t>
                        </m:r>
                        <m:r>
                          <a:rPr lang="en-US" altLang="en-US" i="1">
                            <a:latin typeface="Cambria Math" panose="02040503050406030204" pitchFamily="18" charset="0"/>
                            <a:ea typeface="Cambria Math" panose="02040503050406030204" pitchFamily="18" charset="0"/>
                          </a:rPr>
                          <m:t>𝑋</m:t>
                        </m:r>
                      </m:e>
                    </m:d>
                    <m:r>
                      <a:rPr lang="en-US" altLang="en-US" b="0" i="1" smtClean="0">
                        <a:latin typeface="Cambria Math" panose="02040503050406030204" pitchFamily="18" charset="0"/>
                        <a:ea typeface="Cambria Math" panose="02040503050406030204" pitchFamily="18" charset="0"/>
                      </a:rPr>
                      <m:t>= </m:t>
                    </m:r>
                    <m:sSup>
                      <m:sSupPr>
                        <m:ctrlPr>
                          <a:rPr lang="en-US" altLang="en-US" b="0" i="1" smtClean="0">
                            <a:latin typeface="Cambria Math" panose="02040503050406030204" pitchFamily="18" charset="0"/>
                            <a:ea typeface="Cambria Math" panose="02040503050406030204" pitchFamily="18" charset="0"/>
                          </a:rPr>
                        </m:ctrlPr>
                      </m:sSupPr>
                      <m:e>
                        <m:r>
                          <a:rPr lang="en-US" altLang="en-US" b="0" i="1" smtClean="0">
                            <a:latin typeface="Cambria Math" panose="02040503050406030204" pitchFamily="18" charset="0"/>
                            <a:ea typeface="Cambria Math" panose="02040503050406030204" pitchFamily="18" charset="0"/>
                          </a:rPr>
                          <m:t>𝜎</m:t>
                        </m:r>
                      </m:e>
                      <m:sup>
                        <m:r>
                          <a:rPr lang="en-US" altLang="en-US" b="0" i="1" smtClean="0">
                            <a:latin typeface="Cambria Math" panose="02040503050406030204" pitchFamily="18" charset="0"/>
                            <a:ea typeface="Cambria Math" panose="02040503050406030204" pitchFamily="18" charset="0"/>
                          </a:rPr>
                          <m:t>2</m:t>
                        </m:r>
                      </m:sup>
                    </m:sSup>
                  </m:oMath>
                </a14:m>
                <a:r>
                  <a:rPr lang="en-US" dirty="0"/>
                  <a:t> </a:t>
                </a:r>
              </a:p>
              <a:p>
                <a:pPr lvl="1"/>
                <a:r>
                  <a:rPr lang="en-US" b="1" dirty="0">
                    <a:solidFill>
                      <a:schemeClr val="bg1"/>
                    </a:solidFill>
                  </a:rPr>
                  <a:t>Independence</a:t>
                </a:r>
                <a:r>
                  <a:rPr lang="en-US" dirty="0"/>
                  <a:t> – errors are independent across observations</a:t>
                </a:r>
              </a:p>
              <a:p>
                <a:pPr lvl="1"/>
                <a:r>
                  <a:rPr lang="en-US" b="1" dirty="0">
                    <a:solidFill>
                      <a:schemeClr val="bg1"/>
                    </a:solidFill>
                  </a:rPr>
                  <a:t>Normality of errors</a:t>
                </a:r>
                <a:r>
                  <a:rPr lang="en-US" dirty="0">
                    <a:solidFill>
                      <a:schemeClr val="bg1"/>
                    </a:solidFill>
                  </a:rPr>
                  <a:t> </a:t>
                </a:r>
                <a:r>
                  <a:rPr lang="en-US" dirty="0"/>
                  <a:t>–</a:t>
                </a:r>
                <a:r>
                  <a:rPr lang="en-US" b="1" dirty="0"/>
                  <a:t> </a:t>
                </a:r>
                <a:r>
                  <a:rPr lang="en-US" dirty="0"/>
                  <a:t>errors are normally distributed with mean 0</a:t>
                </a:r>
              </a:p>
            </p:txBody>
          </p:sp>
        </mc:Choice>
        <mc:Fallback xmlns="">
          <p:sp>
            <p:nvSpPr>
              <p:cNvPr id="3" name="Content Placeholder 2">
                <a:extLst>
                  <a:ext uri="{FF2B5EF4-FFF2-40B4-BE49-F238E27FC236}">
                    <a16:creationId xmlns:a16="http://schemas.microsoft.com/office/drawing/2014/main" id="{F4072AE9-9C7C-226F-B64C-B3374D9896BC}"/>
                  </a:ext>
                </a:extLst>
              </p:cNvPr>
              <p:cNvSpPr>
                <a:spLocks noGrp="1" noRot="1" noChangeAspect="1" noMove="1" noResize="1" noEditPoints="1" noAdjustHandles="1" noChangeArrowheads="1" noChangeShapeType="1" noTextEdit="1"/>
              </p:cNvSpPr>
              <p:nvPr>
                <p:ph idx="1"/>
              </p:nvPr>
            </p:nvSpPr>
            <p:spPr>
              <a:blipFill>
                <a:blip r:embed="rId3"/>
                <a:stretch>
                  <a:fillRect l="-1104" t="-1657" b="-2210"/>
                </a:stretch>
              </a:blipFill>
            </p:spPr>
            <p:txBody>
              <a:bodyPr/>
              <a:lstStyle/>
              <a:p>
                <a:r>
                  <a:rPr lang="en-US">
                    <a:noFill/>
                  </a:rPr>
                  <a:t> </a:t>
                </a:r>
              </a:p>
            </p:txBody>
          </p:sp>
        </mc:Fallback>
      </mc:AlternateContent>
    </p:spTree>
    <p:extLst>
      <p:ext uri="{BB962C8B-B14F-4D97-AF65-F5344CB8AC3E}">
        <p14:creationId xmlns:p14="http://schemas.microsoft.com/office/powerpoint/2010/main" val="2323439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609B0-9508-D122-F730-211E00FF813B}"/>
              </a:ext>
            </a:extLst>
          </p:cNvPr>
          <p:cNvSpPr>
            <a:spLocks noGrp="1"/>
          </p:cNvSpPr>
          <p:nvPr>
            <p:ph type="title"/>
          </p:nvPr>
        </p:nvSpPr>
        <p:spPr/>
        <p:txBody>
          <a:bodyPr/>
          <a:lstStyle/>
          <a:p>
            <a:r>
              <a:rPr lang="en-US" dirty="0"/>
              <a:t>Ordinary Linear Regression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9A75935-90DF-D630-22EF-AB6C1478DE71}"/>
                  </a:ext>
                </a:extLst>
              </p:cNvPr>
              <p:cNvSpPr>
                <a:spLocks noGrp="1"/>
              </p:cNvSpPr>
              <p:nvPr>
                <p:ph idx="1"/>
              </p:nvPr>
            </p:nvSpPr>
            <p:spPr/>
            <p:txBody>
              <a:bodyPr/>
              <a:lstStyle/>
              <a:p>
                <a:r>
                  <a:rPr lang="en-US" dirty="0"/>
                  <a:t>Because of the assumption of homoscedasticity, the </a:t>
                </a:r>
                <a:r>
                  <a:rPr lang="en-US" dirty="0">
                    <a:solidFill>
                      <a:schemeClr val="bg1"/>
                    </a:solidFill>
                  </a:rPr>
                  <a:t>parameters</a:t>
                </a:r>
                <a:r>
                  <a:rPr lang="en-US" dirty="0"/>
                  <a:t> are</a:t>
                </a:r>
                <a:br>
                  <a:rPr lang="en-US" i="1" dirty="0"/>
                </a:br>
                <a14:m>
                  <m:oMath xmlns:m="http://schemas.openxmlformats.org/officeDocument/2006/math">
                    <m:r>
                      <a:rPr lang="en-US" i="1">
                        <a:latin typeface="Cambria Math" panose="02040503050406030204" pitchFamily="18" charset="0"/>
                      </a:rPr>
                      <m:t>𝜃</m:t>
                    </m:r>
                    <m:r>
                      <a:rPr lang="en-US">
                        <a:latin typeface="Cambria Math" panose="02040503050406030204" pitchFamily="18" charset="0"/>
                      </a:rPr>
                      <m:t>=</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a:latin typeface="Cambria Math" panose="02040503050406030204" pitchFamily="18" charset="0"/>
                              </a:rPr>
                              <m:t>1</m:t>
                            </m:r>
                          </m:sub>
                        </m:sSub>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a:latin typeface="Cambria Math" panose="02040503050406030204" pitchFamily="18" charset="0"/>
                              </a:rPr>
                              <m:t>2</m:t>
                            </m:r>
                          </m:sub>
                        </m:sSub>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𝑘</m:t>
                            </m:r>
                          </m:sub>
                        </m:sSub>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e>
                    </m:d>
                  </m:oMath>
                </a14:m>
                <a:endParaRPr lang="en-US" dirty="0"/>
              </a:p>
              <a:p>
                <a:r>
                  <a:rPr lang="en-US" dirty="0">
                    <a:solidFill>
                      <a:schemeClr val="bg1"/>
                    </a:solidFill>
                  </a:rPr>
                  <a:t>Likelihood</a:t>
                </a:r>
                <a:r>
                  <a:rPr lang="en-US" dirty="0"/>
                  <a:t> </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𝑝</m:t>
                      </m:r>
                      <m:d>
                        <m:dPr>
                          <m:ctrlPr>
                            <a:rPr lang="en-US" i="1">
                              <a:latin typeface="Cambria Math" panose="02040503050406030204" pitchFamily="18" charset="0"/>
                            </a:rPr>
                          </m:ctrlPr>
                        </m:dPr>
                        <m:e>
                          <m:r>
                            <a:rPr lang="en-US" i="1">
                              <a:latin typeface="Cambria Math" panose="02040503050406030204" pitchFamily="18" charset="0"/>
                            </a:rPr>
                            <m:t>𝑦</m:t>
                          </m:r>
                          <m:r>
                            <a:rPr lang="en-US">
                              <a:latin typeface="Cambria Math" panose="02040503050406030204" pitchFamily="18" charset="0"/>
                            </a:rPr>
                            <m:t>∣</m:t>
                          </m:r>
                          <m:r>
                            <a:rPr lang="en-US" i="1">
                              <a:latin typeface="Cambria Math" panose="02040503050406030204" pitchFamily="18" charset="0"/>
                            </a:rPr>
                            <m:t>𝑋</m:t>
                          </m:r>
                          <m:r>
                            <a:rPr lang="en-US">
                              <a:latin typeface="Cambria Math" panose="02040503050406030204" pitchFamily="18" charset="0"/>
                            </a:rPr>
                            <m:t>,</m:t>
                          </m:r>
                          <m:r>
                            <a:rPr lang="en-US" i="1">
                              <a:latin typeface="Cambria Math" panose="02040503050406030204" pitchFamily="18" charset="0"/>
                            </a:rPr>
                            <m:t>𝛽</m:t>
                          </m:r>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e>
                      </m:d>
                      <m:r>
                        <a:rPr lang="en-US">
                          <a:latin typeface="Cambria Math" panose="02040503050406030204" pitchFamily="18" charset="0"/>
                        </a:rPr>
                        <m:t>=</m:t>
                      </m:r>
                      <m:r>
                        <a:rPr lang="en-US" i="1">
                          <a:latin typeface="Cambria Math" panose="02040503050406030204" pitchFamily="18" charset="0"/>
                        </a:rPr>
                        <m:t>𝑁</m:t>
                      </m:r>
                      <m:d>
                        <m:dPr>
                          <m:ctrlPr>
                            <a:rPr lang="en-US" i="1">
                              <a:latin typeface="Cambria Math" panose="02040503050406030204" pitchFamily="18" charset="0"/>
                            </a:rPr>
                          </m:ctrlPr>
                        </m:dPr>
                        <m:e>
                          <m:r>
                            <a:rPr lang="en-US" i="1">
                              <a:latin typeface="Cambria Math" panose="02040503050406030204" pitchFamily="18" charset="0"/>
                            </a:rPr>
                            <m:t>𝑋</m:t>
                          </m:r>
                          <m:r>
                            <a:rPr lang="en-US" i="1">
                              <a:latin typeface="Cambria Math" panose="02040503050406030204" pitchFamily="18" charset="0"/>
                            </a:rPr>
                            <m:t>𝛽</m:t>
                          </m:r>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i="1">
                              <a:latin typeface="Cambria Math" panose="02040503050406030204" pitchFamily="18" charset="0"/>
                            </a:rPr>
                            <m:t>𝐼</m:t>
                          </m:r>
                        </m:e>
                      </m:d>
                    </m:oMath>
                  </m:oMathPara>
                </a14:m>
                <a:endParaRPr lang="en-US" dirty="0"/>
              </a:p>
              <a:p>
                <a:pPr marL="0" indent="0">
                  <a:buNone/>
                </a:pPr>
                <a:r>
                  <a:rPr lang="en-US" dirty="0"/>
                  <a:t>where </a:t>
                </a:r>
                <a14:m>
                  <m:oMath xmlns:m="http://schemas.openxmlformats.org/officeDocument/2006/math">
                    <m:r>
                      <a:rPr lang="en-US" i="1" smtClean="0">
                        <a:latin typeface="Cambria Math" panose="02040503050406030204" pitchFamily="18" charset="0"/>
                      </a:rPr>
                      <m:t>𝐼</m:t>
                    </m:r>
                  </m:oMath>
                </a14:m>
                <a:r>
                  <a:rPr lang="en-US" dirty="0"/>
                  <a:t> is an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𝑛</m:t>
                    </m:r>
                  </m:oMath>
                </a14:m>
                <a:r>
                  <a:rPr lang="en-US" dirty="0"/>
                  <a:t> identity matrix</a:t>
                </a:r>
              </a:p>
              <a:p>
                <a:r>
                  <a:rPr lang="en-US" dirty="0"/>
                  <a:t>A </a:t>
                </a:r>
                <a:r>
                  <a:rPr lang="en-US" dirty="0">
                    <a:solidFill>
                      <a:schemeClr val="bg1"/>
                    </a:solidFill>
                  </a:rPr>
                  <a:t>noninformative prior </a:t>
                </a:r>
                <a:r>
                  <a:rPr lang="en-US" dirty="0"/>
                  <a:t>distribution for </a:t>
                </a:r>
                <a14:m>
                  <m:oMath xmlns:m="http://schemas.openxmlformats.org/officeDocument/2006/math">
                    <m:r>
                      <a:rPr lang="en-US" b="0" i="1" smtClean="0">
                        <a:latin typeface="Cambria Math" panose="02040503050406030204" pitchFamily="18" charset="0"/>
                        <a:ea typeface="Cambria Math" panose="02040503050406030204" pitchFamily="18" charset="0"/>
                      </a:rPr>
                      <m:t>𝑝</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e>
                    </m:d>
                    <m:r>
                      <a:rPr lang="en-US" b="0" i="1" smtClean="0">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b="0" i="0" smtClean="0">
                            <a:latin typeface="Cambria Math" panose="02040503050406030204" pitchFamily="18" charset="0"/>
                          </a:rPr>
                          <m:t>−</m:t>
                        </m:r>
                        <m:r>
                          <a:rPr lang="en-US">
                            <a:latin typeface="Cambria Math" panose="02040503050406030204" pitchFamily="18" charset="0"/>
                          </a:rPr>
                          <m:t>2</m:t>
                        </m:r>
                      </m:sup>
                    </m:sSup>
                  </m:oMath>
                </a14:m>
                <a:endParaRPr lang="en-US" dirty="0"/>
              </a:p>
              <a:p>
                <a:pPr lvl="1"/>
                <a:r>
                  <a:rPr lang="en-US" dirty="0"/>
                  <a:t>Proof is similar to one seen in module 3, lesson 1. </a:t>
                </a:r>
              </a:p>
            </p:txBody>
          </p:sp>
        </mc:Choice>
        <mc:Fallback xmlns="">
          <p:sp>
            <p:nvSpPr>
              <p:cNvPr id="3" name="Content Placeholder 2">
                <a:extLst>
                  <a:ext uri="{FF2B5EF4-FFF2-40B4-BE49-F238E27FC236}">
                    <a16:creationId xmlns:a16="http://schemas.microsoft.com/office/drawing/2014/main" id="{E9A75935-90DF-D630-22EF-AB6C1478DE71}"/>
                  </a:ext>
                </a:extLst>
              </p:cNvPr>
              <p:cNvSpPr>
                <a:spLocks noGrp="1" noRot="1" noChangeAspect="1" noMove="1" noResize="1" noEditPoints="1" noAdjustHandles="1" noChangeArrowheads="1" noChangeShapeType="1" noTextEdit="1"/>
              </p:cNvSpPr>
              <p:nvPr>
                <p:ph idx="1"/>
              </p:nvPr>
            </p:nvSpPr>
            <p:spPr>
              <a:blipFill>
                <a:blip r:embed="rId3"/>
                <a:stretch>
                  <a:fillRect l="-1341" t="-1657"/>
                </a:stretch>
              </a:blipFill>
            </p:spPr>
            <p:txBody>
              <a:bodyPr/>
              <a:lstStyle/>
              <a:p>
                <a:r>
                  <a:rPr lang="en-US">
                    <a:noFill/>
                  </a:rPr>
                  <a:t> </a:t>
                </a:r>
              </a:p>
            </p:txBody>
          </p:sp>
        </mc:Fallback>
      </mc:AlternateContent>
    </p:spTree>
    <p:extLst>
      <p:ext uri="{BB962C8B-B14F-4D97-AF65-F5344CB8AC3E}">
        <p14:creationId xmlns:p14="http://schemas.microsoft.com/office/powerpoint/2010/main" val="2378727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AB0D1-AF80-31EA-F792-501311981519}"/>
              </a:ext>
            </a:extLst>
          </p:cNvPr>
          <p:cNvSpPr>
            <a:spLocks noGrp="1"/>
          </p:cNvSpPr>
          <p:nvPr>
            <p:ph type="title"/>
          </p:nvPr>
        </p:nvSpPr>
        <p:spPr/>
        <p:txBody>
          <a:bodyPr/>
          <a:lstStyle/>
          <a:p>
            <a:r>
              <a:rPr lang="en-US" dirty="0"/>
              <a:t>Ordinary Linear Regression Posterior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9ACFF1D-491F-1F7B-8E33-A944F6A714F5}"/>
                  </a:ext>
                </a:extLst>
              </p:cNvPr>
              <p:cNvSpPr>
                <a:spLocks noGrp="1"/>
              </p:cNvSpPr>
              <p:nvPr>
                <p:ph idx="1"/>
              </p:nvPr>
            </p:nvSpPr>
            <p:spPr/>
            <p:txBody>
              <a:bodyPr/>
              <a:lstStyle/>
              <a:p>
                <a:r>
                  <a:rPr lang="en-US" dirty="0"/>
                  <a:t>The joint posterior is</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𝑝</m:t>
                      </m:r>
                      <m:d>
                        <m:dPr>
                          <m:ctrlPr>
                            <a:rPr lang="en-US" i="1">
                              <a:latin typeface="Cambria Math" panose="02040503050406030204" pitchFamily="18" charset="0"/>
                            </a:rPr>
                          </m:ctrlPr>
                        </m:dPr>
                        <m:e>
                          <m:r>
                            <a:rPr lang="en-US" i="1">
                              <a:latin typeface="Cambria Math" panose="02040503050406030204" pitchFamily="18" charset="0"/>
                            </a:rPr>
                            <m:t>𝛽</m:t>
                          </m:r>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e>
                      </m:d>
                      <m:r>
                        <a:rPr lang="en-US">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e>
                          </m:d>
                        </m:e>
                        <m:sup>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𝑛</m:t>
                              </m:r>
                            </m:num>
                            <m:den>
                              <m:r>
                                <a:rPr lang="en-US">
                                  <a:latin typeface="Cambria Math" panose="02040503050406030204" pitchFamily="18" charset="0"/>
                                </a:rPr>
                                <m:t>2</m:t>
                              </m:r>
                            </m:den>
                          </m:f>
                          <m:r>
                            <a:rPr lang="en-US" i="1">
                              <a:latin typeface="Cambria Math" panose="02040503050406030204" pitchFamily="18" charset="0"/>
                            </a:rPr>
                            <m:t>−</m:t>
                          </m:r>
                          <m:r>
                            <a:rPr lang="en-US">
                              <a:latin typeface="Cambria Math" panose="02040503050406030204" pitchFamily="18" charset="0"/>
                            </a:rPr>
                            <m:t>1</m:t>
                          </m:r>
                        </m:sup>
                      </m:sSup>
                      <m:r>
                        <m:rPr>
                          <m:sty m:val="p"/>
                        </m:rPr>
                        <a:rPr lang="en-US">
                          <a:latin typeface="Cambria Math" panose="02040503050406030204" pitchFamily="18" charset="0"/>
                        </a:rPr>
                        <m:t>exp</m:t>
                      </m:r>
                      <m:d>
                        <m:dPr>
                          <m:begChr m:val="["/>
                          <m:endChr m:val="]"/>
                          <m:ctrlPr>
                            <a:rPr lang="en-US" i="1">
                              <a:latin typeface="Cambria Math" panose="02040503050406030204" pitchFamily="18" charset="0"/>
                            </a:rPr>
                          </m:ctrlPr>
                        </m:dPr>
                        <m:e>
                          <m:r>
                            <a:rPr lang="en-US" i="1">
                              <a:latin typeface="Cambria Math" panose="02040503050406030204" pitchFamily="18" charset="0"/>
                            </a:rPr>
                            <m:t>−</m:t>
                          </m:r>
                          <m:f>
                            <m:fPr>
                              <m:ctrlPr>
                                <a:rPr lang="en-US" i="1">
                                  <a:latin typeface="Cambria Math" panose="02040503050406030204" pitchFamily="18" charset="0"/>
                                </a:rPr>
                              </m:ctrlPr>
                            </m:fPr>
                            <m:num>
                              <m:r>
                                <a:rPr lang="en-US">
                                  <a:latin typeface="Cambria Math" panose="02040503050406030204" pitchFamily="18" charset="0"/>
                                </a:rPr>
                                <m:t>1</m:t>
                              </m:r>
                            </m:num>
                            <m:den>
                              <m:r>
                                <a:rPr lang="en-US">
                                  <a:latin typeface="Cambria Math" panose="02040503050406030204" pitchFamily="18" charset="0"/>
                                </a:rPr>
                                <m:t>2</m:t>
                              </m:r>
                            </m:den>
                          </m:f>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i="1">
                                  <a:latin typeface="Cambria Math" panose="02040503050406030204" pitchFamily="18" charset="0"/>
                                </a:rPr>
                                <m:t>−</m:t>
                              </m:r>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r>
                            <a:rPr lang="en-US" i="1">
                              <a:latin typeface="Cambria Math" panose="02040503050406030204" pitchFamily="18" charset="0"/>
                            </a:rPr>
                            <m:t>−</m:t>
                          </m:r>
                          <m:r>
                            <a:rPr lang="en-US" i="1">
                              <a:latin typeface="Cambria Math" panose="02040503050406030204" pitchFamily="18" charset="0"/>
                            </a:rPr>
                            <m:t>𝑋</m:t>
                          </m:r>
                          <m:r>
                            <a:rPr lang="en-US" i="1">
                              <a:latin typeface="Cambria Math" panose="02040503050406030204" pitchFamily="18" charset="0"/>
                            </a:rPr>
                            <m:t>𝛽</m:t>
                          </m:r>
                          <m:sSup>
                            <m:sSupPr>
                              <m:ctrlPr>
                                <a:rPr lang="en-US" i="1">
                                  <a:latin typeface="Cambria Math" panose="02040503050406030204" pitchFamily="18" charset="0"/>
                                </a:rPr>
                              </m:ctrlPr>
                            </m:sSupPr>
                            <m:e>
                              <m:r>
                                <a:rPr lang="en-US">
                                  <a:latin typeface="Cambria Math" panose="02040503050406030204" pitchFamily="18" charset="0"/>
                                </a:rPr>
                                <m:t>)</m:t>
                              </m:r>
                            </m:e>
                            <m:sup>
                              <m:r>
                                <a:rPr lang="en-US" b="0" i="1" smtClean="0">
                                  <a:latin typeface="Cambria Math" panose="02040503050406030204" pitchFamily="18" charset="0"/>
                                </a:rPr>
                                <m:t>𝑇</m:t>
                              </m:r>
                            </m:sup>
                          </m:sSup>
                          <m:r>
                            <a:rPr lang="en-US">
                              <a:latin typeface="Cambria Math" panose="02040503050406030204" pitchFamily="18" charset="0"/>
                            </a:rPr>
                            <m:t>(</m:t>
                          </m:r>
                          <m:r>
                            <a:rPr lang="en-US" i="1">
                              <a:latin typeface="Cambria Math" panose="02040503050406030204" pitchFamily="18" charset="0"/>
                            </a:rPr>
                            <m:t>𝑦</m:t>
                          </m:r>
                          <m:r>
                            <a:rPr lang="en-US" i="1">
                              <a:latin typeface="Cambria Math" panose="02040503050406030204" pitchFamily="18" charset="0"/>
                            </a:rPr>
                            <m:t>−</m:t>
                          </m:r>
                          <m:r>
                            <a:rPr lang="en-US" i="1">
                              <a:latin typeface="Cambria Math" panose="02040503050406030204" pitchFamily="18" charset="0"/>
                            </a:rPr>
                            <m:t>𝑋</m:t>
                          </m:r>
                          <m:r>
                            <a:rPr lang="en-US" i="1">
                              <a:latin typeface="Cambria Math" panose="02040503050406030204" pitchFamily="18" charset="0"/>
                            </a:rPr>
                            <m:t>𝛽</m:t>
                          </m:r>
                          <m:r>
                            <a:rPr lang="en-US">
                              <a:latin typeface="Cambria Math" panose="02040503050406030204" pitchFamily="18" charset="0"/>
                            </a:rPr>
                            <m:t>)</m:t>
                          </m:r>
                        </m:e>
                      </m:d>
                    </m:oMath>
                  </m:oMathPara>
                </a14:m>
                <a:endParaRPr lang="en-US" dirty="0"/>
              </a:p>
              <a:p>
                <a:r>
                  <a:rPr lang="en-US" dirty="0"/>
                  <a:t>Consider the factored joint posterior</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𝑝</m:t>
                      </m:r>
                      <m:d>
                        <m:dPr>
                          <m:ctrlPr>
                            <a:rPr lang="en-US" i="1">
                              <a:latin typeface="Cambria Math" panose="02040503050406030204" pitchFamily="18" charset="0"/>
                            </a:rPr>
                          </m:ctrlPr>
                        </m:dPr>
                        <m:e>
                          <m:r>
                            <a:rPr lang="en-US" i="1">
                              <a:latin typeface="Cambria Math" panose="02040503050406030204" pitchFamily="18" charset="0"/>
                            </a:rPr>
                            <m:t>𝛽</m:t>
                          </m:r>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e>
                      </m:d>
                      <m:r>
                        <a:rPr lang="en-US">
                          <a:latin typeface="Cambria Math" panose="02040503050406030204" pitchFamily="18" charset="0"/>
                        </a:rPr>
                        <m:t>=</m:t>
                      </m:r>
                      <m:r>
                        <a:rPr lang="en-US" i="1">
                          <a:latin typeface="Cambria Math" panose="02040503050406030204" pitchFamily="18" charset="0"/>
                        </a:rPr>
                        <m:t>𝑝</m:t>
                      </m:r>
                      <m:d>
                        <m:dPr>
                          <m:ctrlPr>
                            <a:rPr lang="en-US" i="1">
                              <a:latin typeface="Cambria Math" panose="02040503050406030204" pitchFamily="18" charset="0"/>
                            </a:rPr>
                          </m:ctrlPr>
                        </m:dPr>
                        <m:e>
                          <m:r>
                            <a:rPr lang="en-US" i="1">
                              <a:latin typeface="Cambria Math" panose="02040503050406030204" pitchFamily="18" charset="0"/>
                            </a:rPr>
                            <m:t>𝛽</m:t>
                          </m:r>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e>
                      </m:d>
                      <m:r>
                        <a:rPr lang="en-US" i="1">
                          <a:latin typeface="Cambria Math" panose="02040503050406030204" pitchFamily="18" charset="0"/>
                        </a:rPr>
                        <m:t>𝑝</m:t>
                      </m:r>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e>
                      </m:d>
                    </m:oMath>
                  </m:oMathPara>
                </a14:m>
                <a:endParaRPr lang="en-US" dirty="0"/>
              </a:p>
              <a:p>
                <a:r>
                  <a:rPr lang="en-US" dirty="0"/>
                  <a:t>To build our model, we want to characterize the conditional posterior distribution for </a:t>
                </a:r>
                <a14:m>
                  <m:oMath xmlns:m="http://schemas.openxmlformats.org/officeDocument/2006/math">
                    <m:r>
                      <a:rPr lang="en-US" i="1" smtClean="0">
                        <a:latin typeface="Cambria Math" panose="02040503050406030204" pitchFamily="18" charset="0"/>
                      </a:rPr>
                      <m:t>𝛽</m:t>
                    </m:r>
                  </m:oMath>
                </a14:m>
                <a:r>
                  <a:rPr lang="en-US" dirty="0"/>
                  <a:t>, </a:t>
                </a:r>
                <a14:m>
                  <m:oMath xmlns:m="http://schemas.openxmlformats.org/officeDocument/2006/math">
                    <m:r>
                      <a:rPr lang="en-US" i="1">
                        <a:latin typeface="Cambria Math" panose="02040503050406030204" pitchFamily="18" charset="0"/>
                      </a:rPr>
                      <m:t>𝑝</m:t>
                    </m:r>
                    <m:d>
                      <m:dPr>
                        <m:ctrlPr>
                          <a:rPr lang="en-US" i="1">
                            <a:latin typeface="Cambria Math" panose="02040503050406030204" pitchFamily="18" charset="0"/>
                          </a:rPr>
                        </m:ctrlPr>
                      </m:dPr>
                      <m:e>
                        <m:r>
                          <a:rPr lang="en-US" i="1">
                            <a:latin typeface="Cambria Math" panose="02040503050406030204" pitchFamily="18" charset="0"/>
                          </a:rPr>
                          <m:t>𝛽</m:t>
                        </m:r>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e>
                    </m:d>
                  </m:oMath>
                </a14:m>
                <a:endParaRPr lang="en-US" dirty="0"/>
              </a:p>
            </p:txBody>
          </p:sp>
        </mc:Choice>
        <mc:Fallback xmlns="">
          <p:sp>
            <p:nvSpPr>
              <p:cNvPr id="3" name="Content Placeholder 2">
                <a:extLst>
                  <a:ext uri="{FF2B5EF4-FFF2-40B4-BE49-F238E27FC236}">
                    <a16:creationId xmlns:a16="http://schemas.microsoft.com/office/drawing/2014/main" id="{69ACFF1D-491F-1F7B-8E33-A944F6A714F5}"/>
                  </a:ext>
                </a:extLst>
              </p:cNvPr>
              <p:cNvSpPr>
                <a:spLocks noGrp="1" noRot="1" noChangeAspect="1" noMove="1" noResize="1" noEditPoints="1" noAdjustHandles="1" noChangeArrowheads="1" noChangeShapeType="1" noTextEdit="1"/>
              </p:cNvSpPr>
              <p:nvPr>
                <p:ph idx="1"/>
              </p:nvPr>
            </p:nvSpPr>
            <p:spPr>
              <a:blipFill>
                <a:blip r:embed="rId3"/>
                <a:stretch>
                  <a:fillRect l="-1104" t="-1657"/>
                </a:stretch>
              </a:blipFill>
            </p:spPr>
            <p:txBody>
              <a:bodyPr/>
              <a:lstStyle/>
              <a:p>
                <a:r>
                  <a:rPr lang="en-US">
                    <a:noFill/>
                  </a:rPr>
                  <a:t> </a:t>
                </a:r>
              </a:p>
            </p:txBody>
          </p:sp>
        </mc:Fallback>
      </mc:AlternateContent>
    </p:spTree>
    <p:extLst>
      <p:ext uri="{BB962C8B-B14F-4D97-AF65-F5344CB8AC3E}">
        <p14:creationId xmlns:p14="http://schemas.microsoft.com/office/powerpoint/2010/main" val="138662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19C04-8507-B923-B12B-CCE09923FBFA}"/>
              </a:ext>
            </a:extLst>
          </p:cNvPr>
          <p:cNvSpPr>
            <a:spLocks noGrp="1"/>
          </p:cNvSpPr>
          <p:nvPr>
            <p:ph type="title"/>
          </p:nvPr>
        </p:nvSpPr>
        <p:spPr/>
        <p:txBody>
          <a:bodyPr/>
          <a:lstStyle/>
          <a:p>
            <a:r>
              <a:rPr lang="en-US" dirty="0"/>
              <a:t>Conditional Posterior Calculation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C07E90B-DE1A-569E-6905-BE79E57B635D}"/>
                  </a:ext>
                </a:extLst>
              </p:cNvPr>
              <p:cNvSpPr>
                <a:spLocks noGrp="1"/>
              </p:cNvSpPr>
              <p:nvPr>
                <p:ph idx="1"/>
              </p:nvPr>
            </p:nvSpPr>
            <p:spPr/>
            <p:txBody>
              <a:bodyPr/>
              <a:lstStyle/>
              <a:p>
                <a:r>
                  <a:rPr lang="en-US" dirty="0"/>
                  <a:t>Multiply out the joint probability distribution focusing on </a:t>
                </a:r>
                <a14:m>
                  <m:oMath xmlns:m="http://schemas.openxmlformats.org/officeDocument/2006/math">
                    <m:r>
                      <a:rPr lang="en-US" i="1" smtClean="0">
                        <a:latin typeface="Cambria Math" panose="02040503050406030204" pitchFamily="18" charset="0"/>
                      </a:rPr>
                      <m:t>𝛽</m:t>
                    </m:r>
                  </m:oMath>
                </a14:m>
                <a:endParaRPr lang="en-US" dirty="0"/>
              </a:p>
              <a:p>
                <a:pPr marL="0" inden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𝑝</m:t>
                      </m:r>
                      <m:d>
                        <m:dPr>
                          <m:ctrlPr>
                            <a:rPr lang="en-US" i="1">
                              <a:latin typeface="Cambria Math" panose="02040503050406030204" pitchFamily="18" charset="0"/>
                            </a:rPr>
                          </m:ctrlPr>
                        </m:dPr>
                        <m:e>
                          <m:r>
                            <a:rPr lang="en-US" i="1">
                              <a:latin typeface="Cambria Math" panose="02040503050406030204" pitchFamily="18" charset="0"/>
                            </a:rPr>
                            <m:t>𝛽</m:t>
                          </m:r>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e>
                      </m:d>
                      <m:r>
                        <a:rPr lang="en-US">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e>
                          </m:d>
                        </m:e>
                        <m:sup>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𝑛</m:t>
                              </m:r>
                            </m:num>
                            <m:den>
                              <m:r>
                                <a:rPr lang="en-US">
                                  <a:latin typeface="Cambria Math" panose="02040503050406030204" pitchFamily="18" charset="0"/>
                                </a:rPr>
                                <m:t>2</m:t>
                              </m:r>
                            </m:den>
                          </m:f>
                          <m:r>
                            <a:rPr lang="en-US" i="1">
                              <a:latin typeface="Cambria Math" panose="02040503050406030204" pitchFamily="18" charset="0"/>
                            </a:rPr>
                            <m:t>−</m:t>
                          </m:r>
                          <m:r>
                            <a:rPr lang="en-US">
                              <a:latin typeface="Cambria Math" panose="02040503050406030204" pitchFamily="18" charset="0"/>
                            </a:rPr>
                            <m:t>1</m:t>
                          </m:r>
                        </m:sup>
                      </m:sSup>
                      <m:r>
                        <m:rPr>
                          <m:sty m:val="p"/>
                        </m:rPr>
                        <a:rPr lang="en-US">
                          <a:latin typeface="Cambria Math" panose="02040503050406030204" pitchFamily="18" charset="0"/>
                        </a:rPr>
                        <m:t>exp</m:t>
                      </m:r>
                      <m:d>
                        <m:dPr>
                          <m:begChr m:val="["/>
                          <m:endChr m:val="]"/>
                          <m:ctrlPr>
                            <a:rPr lang="en-US" i="1">
                              <a:latin typeface="Cambria Math" panose="02040503050406030204" pitchFamily="18" charset="0"/>
                            </a:rPr>
                          </m:ctrlPr>
                        </m:dPr>
                        <m:e>
                          <m:r>
                            <a:rPr lang="en-US" i="1">
                              <a:latin typeface="Cambria Math" panose="02040503050406030204" pitchFamily="18" charset="0"/>
                            </a:rPr>
                            <m:t>−</m:t>
                          </m:r>
                          <m:f>
                            <m:fPr>
                              <m:ctrlPr>
                                <a:rPr lang="en-US" i="1">
                                  <a:latin typeface="Cambria Math" panose="02040503050406030204" pitchFamily="18" charset="0"/>
                                </a:rPr>
                              </m:ctrlPr>
                            </m:fPr>
                            <m:num>
                              <m:r>
                                <a:rPr lang="en-US">
                                  <a:latin typeface="Cambria Math" panose="02040503050406030204" pitchFamily="18" charset="0"/>
                                </a:rPr>
                                <m:t>1</m:t>
                              </m:r>
                            </m:num>
                            <m:den>
                              <m:r>
                                <a:rPr lang="en-US">
                                  <a:latin typeface="Cambria Math" panose="02040503050406030204" pitchFamily="18" charset="0"/>
                                </a:rPr>
                                <m:t>2</m:t>
                              </m:r>
                            </m:den>
                          </m:f>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i="1">
                                  <a:latin typeface="Cambria Math" panose="02040503050406030204" pitchFamily="18" charset="0"/>
                                </a:rPr>
                                <m:t>−</m:t>
                              </m:r>
                              <m:r>
                                <a:rPr lang="en-US">
                                  <a:latin typeface="Cambria Math" panose="02040503050406030204" pitchFamily="18" charset="0"/>
                                </a:rPr>
                                <m:t>2</m:t>
                              </m:r>
                            </m:sup>
                          </m:sSup>
                          <m:d>
                            <m:dPr>
                              <m:ctrlPr>
                                <a:rPr lang="en-US" b="0" i="1" smtClean="0">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𝑦</m:t>
                                  </m:r>
                                </m:e>
                                <m:sup>
                                  <m:r>
                                    <a:rPr lang="en-US" i="1">
                                      <a:latin typeface="Cambria Math" panose="02040503050406030204" pitchFamily="18" charset="0"/>
                                    </a:rPr>
                                    <m:t>𝑇</m:t>
                                  </m:r>
                                </m:sup>
                              </m:sSup>
                              <m:r>
                                <a:rPr lang="en-US" i="1">
                                  <a:latin typeface="Cambria Math" panose="02040503050406030204" pitchFamily="18" charset="0"/>
                                </a:rPr>
                                <m:t>−</m:t>
                              </m:r>
                              <m:sSup>
                                <m:sSupPr>
                                  <m:ctrlPr>
                                    <a:rPr lang="en-US" i="1" smtClean="0">
                                      <a:latin typeface="Cambria Math" panose="02040503050406030204" pitchFamily="18" charset="0"/>
                                    </a:rPr>
                                  </m:ctrlPr>
                                </m:sSupPr>
                                <m:e>
                                  <m:r>
                                    <a:rPr lang="en-US" i="1">
                                      <a:latin typeface="Cambria Math" panose="02040503050406030204" pitchFamily="18" charset="0"/>
                                    </a:rPr>
                                    <m:t>𝛽</m:t>
                                  </m:r>
                                </m:e>
                                <m:sup>
                                  <m:r>
                                    <a:rPr lang="en-US" i="1">
                                      <a:latin typeface="Cambria Math" panose="02040503050406030204" pitchFamily="18" charset="0"/>
                                    </a:rPr>
                                    <m:t>𝑇</m:t>
                                  </m:r>
                                </m:sup>
                              </m:sSup>
                              <m:sSup>
                                <m:sSupPr>
                                  <m:ctrlPr>
                                    <a:rPr lang="en-US" i="1">
                                      <a:latin typeface="Cambria Math" panose="02040503050406030204" pitchFamily="18" charset="0"/>
                                    </a:rPr>
                                  </m:ctrlPr>
                                </m:sSupPr>
                                <m:e>
                                  <m:r>
                                    <a:rPr lang="en-US" i="1">
                                      <a:latin typeface="Cambria Math" panose="02040503050406030204" pitchFamily="18" charset="0"/>
                                    </a:rPr>
                                    <m:t>𝑋</m:t>
                                  </m:r>
                                </m:e>
                                <m:sup>
                                  <m:r>
                                    <a:rPr lang="en-US" i="1">
                                      <a:latin typeface="Cambria Math" panose="02040503050406030204" pitchFamily="18" charset="0"/>
                                    </a:rPr>
                                    <m:t>𝑇</m:t>
                                  </m:r>
                                </m:sup>
                              </m:sSup>
                            </m:e>
                          </m:d>
                          <m:d>
                            <m:dPr>
                              <m:ctrlPr>
                                <a:rPr lang="en-US" b="0" i="1">
                                  <a:latin typeface="Cambria Math" panose="02040503050406030204" pitchFamily="18" charset="0"/>
                                </a:rPr>
                              </m:ctrlPr>
                            </m:dPr>
                            <m:e>
                              <m:r>
                                <a:rPr lang="en-US" i="1">
                                  <a:latin typeface="Cambria Math" panose="02040503050406030204" pitchFamily="18" charset="0"/>
                                </a:rPr>
                                <m:t>𝑦</m:t>
                              </m:r>
                              <m:r>
                                <a:rPr lang="en-US" i="1">
                                  <a:latin typeface="Cambria Math" panose="02040503050406030204" pitchFamily="18" charset="0"/>
                                </a:rPr>
                                <m:t>−</m:t>
                              </m:r>
                              <m:r>
                                <a:rPr lang="en-US" i="1">
                                  <a:latin typeface="Cambria Math" panose="02040503050406030204" pitchFamily="18" charset="0"/>
                                </a:rPr>
                                <m:t>𝑋</m:t>
                              </m:r>
                              <m:r>
                                <a:rPr lang="en-US" i="1">
                                  <a:latin typeface="Cambria Math" panose="02040503050406030204" pitchFamily="18" charset="0"/>
                                </a:rPr>
                                <m:t>𝛽</m:t>
                              </m:r>
                            </m:e>
                          </m:d>
                        </m:e>
                      </m:d>
                    </m:oMath>
                  </m:oMathPara>
                </a14:m>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sSup>
                        <m:sSupPr>
                          <m:ctrlPr>
                            <a:rPr lang="en-US" i="1" smtClean="0">
                              <a:latin typeface="Cambria Math" panose="02040503050406030204" pitchFamily="18" charset="0"/>
                            </a:rPr>
                          </m:ctrlPr>
                        </m:sSupPr>
                        <m:e>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e>
                          </m:d>
                        </m:e>
                        <m:sup>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𝑛</m:t>
                              </m:r>
                            </m:num>
                            <m:den>
                              <m:r>
                                <a:rPr lang="en-US">
                                  <a:latin typeface="Cambria Math" panose="02040503050406030204" pitchFamily="18" charset="0"/>
                                </a:rPr>
                                <m:t>2</m:t>
                              </m:r>
                            </m:den>
                          </m:f>
                          <m:r>
                            <a:rPr lang="en-US" i="1">
                              <a:latin typeface="Cambria Math" panose="02040503050406030204" pitchFamily="18" charset="0"/>
                            </a:rPr>
                            <m:t>−</m:t>
                          </m:r>
                          <m:r>
                            <a:rPr lang="en-US">
                              <a:latin typeface="Cambria Math" panose="02040503050406030204" pitchFamily="18" charset="0"/>
                            </a:rPr>
                            <m:t>1</m:t>
                          </m:r>
                        </m:sup>
                      </m:sSup>
                      <m:r>
                        <m:rPr>
                          <m:sty m:val="p"/>
                        </m:rPr>
                        <a:rPr lang="en-US">
                          <a:latin typeface="Cambria Math" panose="02040503050406030204" pitchFamily="18" charset="0"/>
                        </a:rPr>
                        <m:t>exp</m:t>
                      </m:r>
                      <m:d>
                        <m:dPr>
                          <m:begChr m:val="["/>
                          <m:endChr m:val="]"/>
                          <m:ctrlPr>
                            <a:rPr lang="en-US" i="1">
                              <a:latin typeface="Cambria Math" panose="02040503050406030204" pitchFamily="18" charset="0"/>
                            </a:rPr>
                          </m:ctrlPr>
                        </m:dPr>
                        <m:e>
                          <m:r>
                            <a:rPr lang="en-US" i="1">
                              <a:latin typeface="Cambria Math" panose="02040503050406030204" pitchFamily="18" charset="0"/>
                            </a:rPr>
                            <m:t>−</m:t>
                          </m:r>
                          <m:f>
                            <m:fPr>
                              <m:ctrlPr>
                                <a:rPr lang="en-US" i="1">
                                  <a:latin typeface="Cambria Math" panose="02040503050406030204" pitchFamily="18" charset="0"/>
                                </a:rPr>
                              </m:ctrlPr>
                            </m:fPr>
                            <m:num>
                              <m:r>
                                <a:rPr lang="en-US">
                                  <a:latin typeface="Cambria Math" panose="02040503050406030204" pitchFamily="18" charset="0"/>
                                </a:rPr>
                                <m:t>1</m:t>
                              </m:r>
                            </m:num>
                            <m:den>
                              <m:r>
                                <a:rPr lang="en-US">
                                  <a:latin typeface="Cambria Math" panose="02040503050406030204" pitchFamily="18" charset="0"/>
                                </a:rPr>
                                <m:t>2</m:t>
                              </m:r>
                            </m:den>
                          </m:f>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i="1">
                                  <a:latin typeface="Cambria Math" panose="02040503050406030204" pitchFamily="18" charset="0"/>
                                </a:rPr>
                                <m:t>−</m:t>
                              </m:r>
                              <m:r>
                                <a:rPr lang="en-US">
                                  <a:latin typeface="Cambria Math" panose="02040503050406030204" pitchFamily="18" charset="0"/>
                                </a:rPr>
                                <m:t>2</m:t>
                              </m:r>
                            </m:sup>
                          </m:sSup>
                          <m:d>
                            <m:dPr>
                              <m:ctrlPr>
                                <a:rPr lang="en-US" b="0" i="1" smtClean="0">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𝑦</m:t>
                                  </m:r>
                                </m:e>
                                <m:sup>
                                  <m:r>
                                    <a:rPr lang="en-US" i="1">
                                      <a:latin typeface="Cambria Math" panose="02040503050406030204" pitchFamily="18" charset="0"/>
                                    </a:rPr>
                                    <m:t>𝑇</m:t>
                                  </m:r>
                                </m:sup>
                              </m:sSup>
                              <m:r>
                                <a:rPr lang="en-US" b="0" i="1" smtClean="0">
                                  <a:latin typeface="Cambria Math" panose="02040503050406030204" pitchFamily="18" charset="0"/>
                                </a:rPr>
                                <m:t>𝑦</m:t>
                              </m:r>
                              <m:r>
                                <a:rPr lang="en-US" i="1">
                                  <a:latin typeface="Cambria Math" panose="02040503050406030204" pitchFamily="18" charset="0"/>
                                </a:rPr>
                                <m:t>−</m:t>
                              </m:r>
                              <m:sSup>
                                <m:sSupPr>
                                  <m:ctrlPr>
                                    <a:rPr lang="en-US" i="1" smtClean="0">
                                      <a:solidFill>
                                        <a:schemeClr val="tx1"/>
                                      </a:solidFill>
                                      <a:latin typeface="Cambria Math" panose="02040503050406030204" pitchFamily="18" charset="0"/>
                                    </a:rPr>
                                  </m:ctrlPr>
                                </m:sSupPr>
                                <m:e>
                                  <m:r>
                                    <a:rPr lang="en-US" i="1">
                                      <a:solidFill>
                                        <a:schemeClr val="tx1"/>
                                      </a:solidFill>
                                      <a:latin typeface="Cambria Math" panose="02040503050406030204" pitchFamily="18" charset="0"/>
                                    </a:rPr>
                                    <m:t>𝑦</m:t>
                                  </m:r>
                                </m:e>
                                <m:sup>
                                  <m:r>
                                    <a:rPr lang="en-US" i="1">
                                      <a:solidFill>
                                        <a:schemeClr val="tx1"/>
                                      </a:solidFill>
                                      <a:latin typeface="Cambria Math" panose="02040503050406030204" pitchFamily="18" charset="0"/>
                                    </a:rPr>
                                    <m:t>𝑇</m:t>
                                  </m:r>
                                </m:sup>
                              </m:sSup>
                              <m:r>
                                <a:rPr lang="en-US" i="1">
                                  <a:solidFill>
                                    <a:schemeClr val="tx1"/>
                                  </a:solidFill>
                                  <a:latin typeface="Cambria Math" panose="02040503050406030204" pitchFamily="18" charset="0"/>
                                </a:rPr>
                                <m:t>𝑋</m:t>
                              </m:r>
                              <m:r>
                                <a:rPr lang="en-US" i="1">
                                  <a:solidFill>
                                    <a:schemeClr val="tx1"/>
                                  </a:solidFill>
                                  <a:latin typeface="Cambria Math" panose="02040503050406030204" pitchFamily="18" charset="0"/>
                                </a:rPr>
                                <m:t>𝛽</m:t>
                              </m:r>
                              <m:r>
                                <a:rPr lang="en-US" b="0" i="1" smtClean="0">
                                  <a:solidFill>
                                    <a:schemeClr val="tx1"/>
                                  </a:solidFill>
                                  <a:latin typeface="Cambria Math" panose="02040503050406030204" pitchFamily="18" charset="0"/>
                                </a:rPr>
                                <m:t>−</m:t>
                              </m:r>
                              <m:sSup>
                                <m:sSupPr>
                                  <m:ctrlPr>
                                    <a:rPr lang="en-US" i="1" smtClean="0">
                                      <a:solidFill>
                                        <a:schemeClr val="tx1"/>
                                      </a:solidFill>
                                      <a:latin typeface="Cambria Math" panose="02040503050406030204" pitchFamily="18" charset="0"/>
                                    </a:rPr>
                                  </m:ctrlPr>
                                </m:sSupPr>
                                <m:e>
                                  <m:r>
                                    <a:rPr lang="en-US" i="1">
                                      <a:solidFill>
                                        <a:schemeClr val="tx1"/>
                                      </a:solidFill>
                                      <a:latin typeface="Cambria Math" panose="02040503050406030204" pitchFamily="18" charset="0"/>
                                    </a:rPr>
                                    <m:t>𝛽</m:t>
                                  </m:r>
                                </m:e>
                                <m:sup>
                                  <m:r>
                                    <a:rPr lang="en-US" i="1">
                                      <a:solidFill>
                                        <a:schemeClr val="tx1"/>
                                      </a:solidFill>
                                      <a:latin typeface="Cambria Math" panose="02040503050406030204" pitchFamily="18" charset="0"/>
                                    </a:rPr>
                                    <m:t>𝑇</m:t>
                                  </m:r>
                                </m:sup>
                              </m:sSup>
                              <m:sSup>
                                <m:sSupPr>
                                  <m:ctrlPr>
                                    <a:rPr lang="en-US" i="1">
                                      <a:solidFill>
                                        <a:schemeClr val="tx1"/>
                                      </a:solidFill>
                                      <a:latin typeface="Cambria Math" panose="02040503050406030204" pitchFamily="18" charset="0"/>
                                    </a:rPr>
                                  </m:ctrlPr>
                                </m:sSupPr>
                                <m:e>
                                  <m:r>
                                    <a:rPr lang="en-US" i="1">
                                      <a:solidFill>
                                        <a:schemeClr val="tx1"/>
                                      </a:solidFill>
                                      <a:latin typeface="Cambria Math" panose="02040503050406030204" pitchFamily="18" charset="0"/>
                                    </a:rPr>
                                    <m:t>𝑋</m:t>
                                  </m:r>
                                </m:e>
                                <m:sup>
                                  <m:r>
                                    <a:rPr lang="en-US" i="1">
                                      <a:solidFill>
                                        <a:schemeClr val="tx1"/>
                                      </a:solidFill>
                                      <a:latin typeface="Cambria Math" panose="02040503050406030204" pitchFamily="18" charset="0"/>
                                    </a:rPr>
                                    <m:t>𝑇</m:t>
                                  </m:r>
                                </m:sup>
                              </m:sSup>
                              <m:r>
                                <a:rPr lang="en-US" b="0" i="1" smtClean="0">
                                  <a:solidFill>
                                    <a:schemeClr val="tx1"/>
                                  </a:solidFill>
                                  <a:latin typeface="Cambria Math" panose="02040503050406030204" pitchFamily="18" charset="0"/>
                                </a:rPr>
                                <m:t>𝑦</m:t>
                              </m:r>
                              <m:r>
                                <a:rPr lang="en-US" b="0" i="1" smtClean="0">
                                  <a:solidFill>
                                    <a:schemeClr val="tx1"/>
                                  </a:solidFill>
                                  <a:latin typeface="Cambria Math" panose="02040503050406030204" pitchFamily="18" charset="0"/>
                                </a:rPr>
                                <m:t>+</m:t>
                              </m:r>
                              <m:sSup>
                                <m:sSupPr>
                                  <m:ctrlPr>
                                    <a:rPr lang="en-US" i="1" smtClean="0">
                                      <a:solidFill>
                                        <a:schemeClr val="tx1"/>
                                      </a:solidFill>
                                      <a:latin typeface="Cambria Math" panose="02040503050406030204" pitchFamily="18" charset="0"/>
                                    </a:rPr>
                                  </m:ctrlPr>
                                </m:sSupPr>
                                <m:e>
                                  <m:r>
                                    <a:rPr lang="en-US" i="1">
                                      <a:solidFill>
                                        <a:schemeClr val="tx1"/>
                                      </a:solidFill>
                                      <a:latin typeface="Cambria Math" panose="02040503050406030204" pitchFamily="18" charset="0"/>
                                    </a:rPr>
                                    <m:t>𝛽</m:t>
                                  </m:r>
                                </m:e>
                                <m:sup>
                                  <m:r>
                                    <a:rPr lang="en-US" i="1">
                                      <a:solidFill>
                                        <a:schemeClr val="tx1"/>
                                      </a:solidFill>
                                      <a:latin typeface="Cambria Math" panose="02040503050406030204" pitchFamily="18" charset="0"/>
                                    </a:rPr>
                                    <m:t>𝑇</m:t>
                                  </m:r>
                                </m:sup>
                              </m:sSup>
                              <m:sSup>
                                <m:sSupPr>
                                  <m:ctrlPr>
                                    <a:rPr lang="en-US" i="1">
                                      <a:solidFill>
                                        <a:schemeClr val="tx1"/>
                                      </a:solidFill>
                                      <a:latin typeface="Cambria Math" panose="02040503050406030204" pitchFamily="18" charset="0"/>
                                    </a:rPr>
                                  </m:ctrlPr>
                                </m:sSupPr>
                                <m:e>
                                  <m:r>
                                    <a:rPr lang="en-US" i="1">
                                      <a:solidFill>
                                        <a:schemeClr val="tx1"/>
                                      </a:solidFill>
                                      <a:latin typeface="Cambria Math" panose="02040503050406030204" pitchFamily="18" charset="0"/>
                                    </a:rPr>
                                    <m:t>𝑋</m:t>
                                  </m:r>
                                </m:e>
                                <m:sup>
                                  <m:r>
                                    <a:rPr lang="en-US" i="1">
                                      <a:solidFill>
                                        <a:schemeClr val="tx1"/>
                                      </a:solidFill>
                                      <a:latin typeface="Cambria Math" panose="02040503050406030204" pitchFamily="18" charset="0"/>
                                    </a:rPr>
                                    <m:t>𝑇</m:t>
                                  </m:r>
                                </m:sup>
                              </m:sSup>
                              <m:r>
                                <a:rPr lang="en-US" i="1">
                                  <a:solidFill>
                                    <a:schemeClr val="tx1"/>
                                  </a:solidFill>
                                  <a:latin typeface="Cambria Math" panose="02040503050406030204" pitchFamily="18" charset="0"/>
                                </a:rPr>
                                <m:t>𝑋</m:t>
                              </m:r>
                              <m:r>
                                <a:rPr lang="en-US" i="1">
                                  <a:solidFill>
                                    <a:schemeClr val="tx1"/>
                                  </a:solidFill>
                                  <a:latin typeface="Cambria Math" panose="02040503050406030204" pitchFamily="18" charset="0"/>
                                </a:rPr>
                                <m:t>𝛽</m:t>
                              </m:r>
                            </m:e>
                          </m:d>
                        </m:e>
                      </m:d>
                    </m:oMath>
                  </m:oMathPara>
                </a14:m>
                <a:endParaRPr lang="en-US" dirty="0"/>
              </a:p>
              <a:p>
                <a:pPr marL="0" indent="0">
                  <a:buNone/>
                </a:pPr>
                <a:endParaRPr lang="en-US" dirty="0"/>
              </a:p>
            </p:txBody>
          </p:sp>
        </mc:Choice>
        <mc:Fallback>
          <p:sp>
            <p:nvSpPr>
              <p:cNvPr id="3" name="Content Placeholder 2">
                <a:extLst>
                  <a:ext uri="{FF2B5EF4-FFF2-40B4-BE49-F238E27FC236}">
                    <a16:creationId xmlns:a16="http://schemas.microsoft.com/office/drawing/2014/main" id="{0C07E90B-DE1A-569E-6905-BE79E57B635D}"/>
                  </a:ext>
                </a:extLst>
              </p:cNvPr>
              <p:cNvSpPr>
                <a:spLocks noGrp="1" noRot="1" noChangeAspect="1" noMove="1" noResize="1" noEditPoints="1" noAdjustHandles="1" noChangeArrowheads="1" noChangeShapeType="1" noTextEdit="1"/>
              </p:cNvSpPr>
              <p:nvPr>
                <p:ph idx="1"/>
              </p:nvPr>
            </p:nvSpPr>
            <p:spPr>
              <a:blipFill>
                <a:blip r:embed="rId3"/>
                <a:stretch>
                  <a:fillRect l="-1104" t="-1657"/>
                </a:stretch>
              </a:blipFill>
            </p:spPr>
            <p:txBody>
              <a:bodyPr/>
              <a:lstStyle/>
              <a:p>
                <a:r>
                  <a:rPr lang="en-US">
                    <a:noFill/>
                  </a:rPr>
                  <a:t> </a:t>
                </a:r>
              </a:p>
            </p:txBody>
          </p:sp>
        </mc:Fallback>
      </mc:AlternateContent>
    </p:spTree>
    <p:extLst>
      <p:ext uri="{BB962C8B-B14F-4D97-AF65-F5344CB8AC3E}">
        <p14:creationId xmlns:p14="http://schemas.microsoft.com/office/powerpoint/2010/main" val="1498187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19C04-8507-B923-B12B-CCE09923FBFA}"/>
              </a:ext>
            </a:extLst>
          </p:cNvPr>
          <p:cNvSpPr>
            <a:spLocks noGrp="1"/>
          </p:cNvSpPr>
          <p:nvPr>
            <p:ph type="title"/>
          </p:nvPr>
        </p:nvSpPr>
        <p:spPr/>
        <p:txBody>
          <a:bodyPr/>
          <a:lstStyle/>
          <a:p>
            <a:r>
              <a:rPr lang="en-US" dirty="0"/>
              <a:t>Conditional Posterior Calculation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C07E90B-DE1A-569E-6905-BE79E57B635D}"/>
                  </a:ext>
                </a:extLst>
              </p:cNvPr>
              <p:cNvSpPr>
                <a:spLocks noGrp="1"/>
              </p:cNvSpPr>
              <p:nvPr>
                <p:ph idx="1"/>
              </p:nvPr>
            </p:nvSpPr>
            <p:spPr/>
            <p:txBody>
              <a:bodyPr/>
              <a:lstStyle/>
              <a:p>
                <a:r>
                  <a:rPr lang="en-US" dirty="0"/>
                  <a:t>Multiply out the joint probability distribution focusing on </a:t>
                </a:r>
                <a14:m>
                  <m:oMath xmlns:m="http://schemas.openxmlformats.org/officeDocument/2006/math">
                    <m:r>
                      <a:rPr lang="en-US" i="1" smtClean="0">
                        <a:solidFill>
                          <a:srgbClr val="00B0F0"/>
                        </a:solidFill>
                        <a:latin typeface="Cambria Math" panose="02040503050406030204" pitchFamily="18" charset="0"/>
                      </a:rPr>
                      <m:t>𝛽</m:t>
                    </m:r>
                  </m:oMath>
                </a14:m>
                <a:endParaRPr lang="en-US" dirty="0"/>
              </a:p>
              <a:p>
                <a:pPr marL="0" inden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𝑝</m:t>
                      </m:r>
                      <m:d>
                        <m:dPr>
                          <m:ctrlPr>
                            <a:rPr lang="en-US" i="1">
                              <a:latin typeface="Cambria Math" panose="02040503050406030204" pitchFamily="18" charset="0"/>
                            </a:rPr>
                          </m:ctrlPr>
                        </m:dPr>
                        <m:e>
                          <m:r>
                            <a:rPr lang="en-US" i="1">
                              <a:latin typeface="Cambria Math" panose="02040503050406030204" pitchFamily="18" charset="0"/>
                            </a:rPr>
                            <m:t>𝛽</m:t>
                          </m:r>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e>
                      </m:d>
                      <m:r>
                        <a:rPr lang="en-US">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e>
                          </m:d>
                        </m:e>
                        <m:sup>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𝑛</m:t>
                              </m:r>
                            </m:num>
                            <m:den>
                              <m:r>
                                <a:rPr lang="en-US">
                                  <a:latin typeface="Cambria Math" panose="02040503050406030204" pitchFamily="18" charset="0"/>
                                </a:rPr>
                                <m:t>2</m:t>
                              </m:r>
                            </m:den>
                          </m:f>
                          <m:r>
                            <a:rPr lang="en-US" i="1">
                              <a:latin typeface="Cambria Math" panose="02040503050406030204" pitchFamily="18" charset="0"/>
                            </a:rPr>
                            <m:t>−</m:t>
                          </m:r>
                          <m:r>
                            <a:rPr lang="en-US">
                              <a:latin typeface="Cambria Math" panose="02040503050406030204" pitchFamily="18" charset="0"/>
                            </a:rPr>
                            <m:t>1</m:t>
                          </m:r>
                        </m:sup>
                      </m:sSup>
                      <m:r>
                        <m:rPr>
                          <m:sty m:val="p"/>
                        </m:rPr>
                        <a:rPr lang="en-US">
                          <a:latin typeface="Cambria Math" panose="02040503050406030204" pitchFamily="18" charset="0"/>
                        </a:rPr>
                        <m:t>exp</m:t>
                      </m:r>
                      <m:d>
                        <m:dPr>
                          <m:begChr m:val="["/>
                          <m:endChr m:val="]"/>
                          <m:ctrlPr>
                            <a:rPr lang="en-US" i="1">
                              <a:latin typeface="Cambria Math" panose="02040503050406030204" pitchFamily="18" charset="0"/>
                            </a:rPr>
                          </m:ctrlPr>
                        </m:dPr>
                        <m:e>
                          <m:r>
                            <a:rPr lang="en-US" i="1">
                              <a:latin typeface="Cambria Math" panose="02040503050406030204" pitchFamily="18" charset="0"/>
                            </a:rPr>
                            <m:t>−</m:t>
                          </m:r>
                          <m:f>
                            <m:fPr>
                              <m:ctrlPr>
                                <a:rPr lang="en-US" i="1">
                                  <a:latin typeface="Cambria Math" panose="02040503050406030204" pitchFamily="18" charset="0"/>
                                </a:rPr>
                              </m:ctrlPr>
                            </m:fPr>
                            <m:num>
                              <m:r>
                                <a:rPr lang="en-US">
                                  <a:latin typeface="Cambria Math" panose="02040503050406030204" pitchFamily="18" charset="0"/>
                                </a:rPr>
                                <m:t>1</m:t>
                              </m:r>
                            </m:num>
                            <m:den>
                              <m:r>
                                <a:rPr lang="en-US">
                                  <a:latin typeface="Cambria Math" panose="02040503050406030204" pitchFamily="18" charset="0"/>
                                </a:rPr>
                                <m:t>2</m:t>
                              </m:r>
                            </m:den>
                          </m:f>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i="1">
                                  <a:latin typeface="Cambria Math" panose="02040503050406030204" pitchFamily="18" charset="0"/>
                                </a:rPr>
                                <m:t>−</m:t>
                              </m:r>
                              <m:r>
                                <a:rPr lang="en-US">
                                  <a:latin typeface="Cambria Math" panose="02040503050406030204" pitchFamily="18" charset="0"/>
                                </a:rPr>
                                <m:t>2</m:t>
                              </m:r>
                            </m:sup>
                          </m:sSup>
                          <m:d>
                            <m:dPr>
                              <m:ctrlPr>
                                <a:rPr lang="en-US" b="0" i="1" smtClean="0">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𝑦</m:t>
                                  </m:r>
                                </m:e>
                                <m:sup>
                                  <m:r>
                                    <a:rPr lang="en-US" i="1">
                                      <a:latin typeface="Cambria Math" panose="02040503050406030204" pitchFamily="18" charset="0"/>
                                    </a:rPr>
                                    <m:t>𝑇</m:t>
                                  </m:r>
                                </m:sup>
                              </m:sSup>
                              <m:r>
                                <a:rPr lang="en-US" i="1">
                                  <a:latin typeface="Cambria Math" panose="02040503050406030204" pitchFamily="18" charset="0"/>
                                </a:rPr>
                                <m:t>−</m:t>
                              </m:r>
                              <m:sSup>
                                <m:sSupPr>
                                  <m:ctrlPr>
                                    <a:rPr lang="en-US" i="1" smtClean="0">
                                      <a:latin typeface="Cambria Math" panose="02040503050406030204" pitchFamily="18" charset="0"/>
                                    </a:rPr>
                                  </m:ctrlPr>
                                </m:sSupPr>
                                <m:e>
                                  <m:r>
                                    <a:rPr lang="en-US" i="1">
                                      <a:latin typeface="Cambria Math" panose="02040503050406030204" pitchFamily="18" charset="0"/>
                                    </a:rPr>
                                    <m:t>𝛽</m:t>
                                  </m:r>
                                </m:e>
                                <m:sup>
                                  <m:r>
                                    <a:rPr lang="en-US" i="1">
                                      <a:latin typeface="Cambria Math" panose="02040503050406030204" pitchFamily="18" charset="0"/>
                                    </a:rPr>
                                    <m:t>𝑇</m:t>
                                  </m:r>
                                </m:sup>
                              </m:sSup>
                              <m:sSup>
                                <m:sSupPr>
                                  <m:ctrlPr>
                                    <a:rPr lang="en-US" i="1">
                                      <a:latin typeface="Cambria Math" panose="02040503050406030204" pitchFamily="18" charset="0"/>
                                    </a:rPr>
                                  </m:ctrlPr>
                                </m:sSupPr>
                                <m:e>
                                  <m:r>
                                    <a:rPr lang="en-US" i="1">
                                      <a:latin typeface="Cambria Math" panose="02040503050406030204" pitchFamily="18" charset="0"/>
                                    </a:rPr>
                                    <m:t>𝑋</m:t>
                                  </m:r>
                                </m:e>
                                <m:sup>
                                  <m:r>
                                    <a:rPr lang="en-US" i="1">
                                      <a:latin typeface="Cambria Math" panose="02040503050406030204" pitchFamily="18" charset="0"/>
                                    </a:rPr>
                                    <m:t>𝑇</m:t>
                                  </m:r>
                                </m:sup>
                              </m:sSup>
                            </m:e>
                          </m:d>
                          <m:d>
                            <m:dPr>
                              <m:ctrlPr>
                                <a:rPr lang="en-US" b="0" i="1">
                                  <a:latin typeface="Cambria Math" panose="02040503050406030204" pitchFamily="18" charset="0"/>
                                </a:rPr>
                              </m:ctrlPr>
                            </m:dPr>
                            <m:e>
                              <m:r>
                                <a:rPr lang="en-US" i="1">
                                  <a:latin typeface="Cambria Math" panose="02040503050406030204" pitchFamily="18" charset="0"/>
                                </a:rPr>
                                <m:t>𝑦</m:t>
                              </m:r>
                              <m:r>
                                <a:rPr lang="en-US" i="1">
                                  <a:latin typeface="Cambria Math" panose="02040503050406030204" pitchFamily="18" charset="0"/>
                                </a:rPr>
                                <m:t>−</m:t>
                              </m:r>
                              <m:r>
                                <a:rPr lang="en-US" i="1">
                                  <a:latin typeface="Cambria Math" panose="02040503050406030204" pitchFamily="18" charset="0"/>
                                </a:rPr>
                                <m:t>𝑋</m:t>
                              </m:r>
                              <m:r>
                                <a:rPr lang="en-US" i="1">
                                  <a:latin typeface="Cambria Math" panose="02040503050406030204" pitchFamily="18" charset="0"/>
                                </a:rPr>
                                <m:t>𝛽</m:t>
                              </m:r>
                            </m:e>
                          </m:d>
                        </m:e>
                      </m:d>
                    </m:oMath>
                  </m:oMathPara>
                </a14:m>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sSup>
                        <m:sSupPr>
                          <m:ctrlPr>
                            <a:rPr lang="en-US" i="1" smtClean="0">
                              <a:latin typeface="Cambria Math" panose="02040503050406030204" pitchFamily="18" charset="0"/>
                            </a:rPr>
                          </m:ctrlPr>
                        </m:sSupPr>
                        <m:e>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e>
                          </m:d>
                        </m:e>
                        <m:sup>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𝑛</m:t>
                              </m:r>
                            </m:num>
                            <m:den>
                              <m:r>
                                <a:rPr lang="en-US">
                                  <a:latin typeface="Cambria Math" panose="02040503050406030204" pitchFamily="18" charset="0"/>
                                </a:rPr>
                                <m:t>2</m:t>
                              </m:r>
                            </m:den>
                          </m:f>
                          <m:r>
                            <a:rPr lang="en-US" i="1">
                              <a:latin typeface="Cambria Math" panose="02040503050406030204" pitchFamily="18" charset="0"/>
                            </a:rPr>
                            <m:t>−</m:t>
                          </m:r>
                          <m:r>
                            <a:rPr lang="en-US">
                              <a:latin typeface="Cambria Math" panose="02040503050406030204" pitchFamily="18" charset="0"/>
                            </a:rPr>
                            <m:t>1</m:t>
                          </m:r>
                        </m:sup>
                      </m:sSup>
                      <m:r>
                        <m:rPr>
                          <m:sty m:val="p"/>
                        </m:rPr>
                        <a:rPr lang="en-US">
                          <a:latin typeface="Cambria Math" panose="02040503050406030204" pitchFamily="18" charset="0"/>
                        </a:rPr>
                        <m:t>exp</m:t>
                      </m:r>
                      <m:d>
                        <m:dPr>
                          <m:begChr m:val="["/>
                          <m:endChr m:val="]"/>
                          <m:ctrlPr>
                            <a:rPr lang="en-US" i="1">
                              <a:latin typeface="Cambria Math" panose="02040503050406030204" pitchFamily="18" charset="0"/>
                            </a:rPr>
                          </m:ctrlPr>
                        </m:dPr>
                        <m:e>
                          <m:r>
                            <a:rPr lang="en-US" i="1">
                              <a:latin typeface="Cambria Math" panose="02040503050406030204" pitchFamily="18" charset="0"/>
                            </a:rPr>
                            <m:t>−</m:t>
                          </m:r>
                          <m:f>
                            <m:fPr>
                              <m:ctrlPr>
                                <a:rPr lang="en-US" i="1">
                                  <a:latin typeface="Cambria Math" panose="02040503050406030204" pitchFamily="18" charset="0"/>
                                </a:rPr>
                              </m:ctrlPr>
                            </m:fPr>
                            <m:num>
                              <m:r>
                                <a:rPr lang="en-US">
                                  <a:latin typeface="Cambria Math" panose="02040503050406030204" pitchFamily="18" charset="0"/>
                                </a:rPr>
                                <m:t>1</m:t>
                              </m:r>
                            </m:num>
                            <m:den>
                              <m:r>
                                <a:rPr lang="en-US">
                                  <a:latin typeface="Cambria Math" panose="02040503050406030204" pitchFamily="18" charset="0"/>
                                </a:rPr>
                                <m:t>2</m:t>
                              </m:r>
                            </m:den>
                          </m:f>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i="1">
                                  <a:latin typeface="Cambria Math" panose="02040503050406030204" pitchFamily="18" charset="0"/>
                                </a:rPr>
                                <m:t>−</m:t>
                              </m:r>
                              <m:r>
                                <a:rPr lang="en-US">
                                  <a:latin typeface="Cambria Math" panose="02040503050406030204" pitchFamily="18" charset="0"/>
                                </a:rPr>
                                <m:t>2</m:t>
                              </m:r>
                            </m:sup>
                          </m:sSup>
                          <m:d>
                            <m:dPr>
                              <m:ctrlPr>
                                <a:rPr lang="en-US" b="0" i="1" smtClean="0">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𝑦</m:t>
                                  </m:r>
                                </m:e>
                                <m:sup>
                                  <m:r>
                                    <a:rPr lang="en-US" i="1">
                                      <a:latin typeface="Cambria Math" panose="02040503050406030204" pitchFamily="18" charset="0"/>
                                    </a:rPr>
                                    <m:t>𝑇</m:t>
                                  </m:r>
                                </m:sup>
                              </m:sSup>
                              <m:r>
                                <a:rPr lang="en-US" b="0" i="1" smtClean="0">
                                  <a:latin typeface="Cambria Math" panose="02040503050406030204" pitchFamily="18" charset="0"/>
                                </a:rPr>
                                <m:t>𝑦</m:t>
                              </m:r>
                              <m:r>
                                <a:rPr lang="en-US" i="1">
                                  <a:latin typeface="Cambria Math" panose="02040503050406030204" pitchFamily="18" charset="0"/>
                                </a:rPr>
                                <m:t>−</m:t>
                              </m:r>
                              <m:sSup>
                                <m:sSupPr>
                                  <m:ctrlPr>
                                    <a:rPr lang="en-US" i="1" smtClean="0">
                                      <a:solidFill>
                                        <a:srgbClr val="00B0F0"/>
                                      </a:solidFill>
                                      <a:latin typeface="Cambria Math" panose="02040503050406030204" pitchFamily="18" charset="0"/>
                                    </a:rPr>
                                  </m:ctrlPr>
                                </m:sSupPr>
                                <m:e>
                                  <m:r>
                                    <a:rPr lang="en-US" i="1">
                                      <a:solidFill>
                                        <a:srgbClr val="00B0F0"/>
                                      </a:solidFill>
                                      <a:latin typeface="Cambria Math" panose="02040503050406030204" pitchFamily="18" charset="0"/>
                                    </a:rPr>
                                    <m:t>𝑦</m:t>
                                  </m:r>
                                </m:e>
                                <m:sup>
                                  <m:r>
                                    <a:rPr lang="en-US" i="1">
                                      <a:solidFill>
                                        <a:srgbClr val="00B0F0"/>
                                      </a:solidFill>
                                      <a:latin typeface="Cambria Math" panose="02040503050406030204" pitchFamily="18" charset="0"/>
                                    </a:rPr>
                                    <m:t>𝑇</m:t>
                                  </m:r>
                                </m:sup>
                              </m:sSup>
                              <m:r>
                                <a:rPr lang="en-US" i="1">
                                  <a:solidFill>
                                    <a:srgbClr val="00B0F0"/>
                                  </a:solidFill>
                                  <a:latin typeface="Cambria Math" panose="02040503050406030204" pitchFamily="18" charset="0"/>
                                </a:rPr>
                                <m:t>𝑋</m:t>
                              </m:r>
                              <m:r>
                                <a:rPr lang="en-US" i="1">
                                  <a:solidFill>
                                    <a:srgbClr val="00B0F0"/>
                                  </a:solidFill>
                                  <a:latin typeface="Cambria Math" panose="02040503050406030204" pitchFamily="18" charset="0"/>
                                </a:rPr>
                                <m:t>𝛽</m:t>
                              </m:r>
                              <m:r>
                                <a:rPr lang="en-US" b="0" i="1" smtClean="0">
                                  <a:latin typeface="Cambria Math" panose="02040503050406030204" pitchFamily="18" charset="0"/>
                                </a:rPr>
                                <m:t>−</m:t>
                              </m:r>
                              <m:sSup>
                                <m:sSupPr>
                                  <m:ctrlPr>
                                    <a:rPr lang="en-US" i="1" smtClean="0">
                                      <a:solidFill>
                                        <a:srgbClr val="00B0F0"/>
                                      </a:solidFill>
                                      <a:latin typeface="Cambria Math" panose="02040503050406030204" pitchFamily="18" charset="0"/>
                                    </a:rPr>
                                  </m:ctrlPr>
                                </m:sSupPr>
                                <m:e>
                                  <m:r>
                                    <a:rPr lang="en-US" i="1">
                                      <a:solidFill>
                                        <a:srgbClr val="00B0F0"/>
                                      </a:solidFill>
                                      <a:latin typeface="Cambria Math" panose="02040503050406030204" pitchFamily="18" charset="0"/>
                                    </a:rPr>
                                    <m:t>𝛽</m:t>
                                  </m:r>
                                </m:e>
                                <m:sup>
                                  <m:r>
                                    <a:rPr lang="en-US" i="1">
                                      <a:solidFill>
                                        <a:srgbClr val="00B0F0"/>
                                      </a:solidFill>
                                      <a:latin typeface="Cambria Math" panose="02040503050406030204" pitchFamily="18" charset="0"/>
                                    </a:rPr>
                                    <m:t>𝑇</m:t>
                                  </m:r>
                                </m:sup>
                              </m:sSup>
                              <m:sSup>
                                <m:sSupPr>
                                  <m:ctrlPr>
                                    <a:rPr lang="en-US" i="1">
                                      <a:solidFill>
                                        <a:srgbClr val="00B0F0"/>
                                      </a:solidFill>
                                      <a:latin typeface="Cambria Math" panose="02040503050406030204" pitchFamily="18" charset="0"/>
                                    </a:rPr>
                                  </m:ctrlPr>
                                </m:sSupPr>
                                <m:e>
                                  <m:r>
                                    <a:rPr lang="en-US" i="1">
                                      <a:solidFill>
                                        <a:srgbClr val="00B0F0"/>
                                      </a:solidFill>
                                      <a:latin typeface="Cambria Math" panose="02040503050406030204" pitchFamily="18" charset="0"/>
                                    </a:rPr>
                                    <m:t>𝑋</m:t>
                                  </m:r>
                                </m:e>
                                <m:sup>
                                  <m:r>
                                    <a:rPr lang="en-US" i="1">
                                      <a:solidFill>
                                        <a:srgbClr val="00B0F0"/>
                                      </a:solidFill>
                                      <a:latin typeface="Cambria Math" panose="02040503050406030204" pitchFamily="18" charset="0"/>
                                    </a:rPr>
                                    <m:t>𝑇</m:t>
                                  </m:r>
                                </m:sup>
                              </m:sSup>
                              <m:r>
                                <a:rPr lang="en-US" b="0" i="1" smtClean="0">
                                  <a:solidFill>
                                    <a:srgbClr val="00B0F0"/>
                                  </a:solidFill>
                                  <a:latin typeface="Cambria Math" panose="02040503050406030204" pitchFamily="18" charset="0"/>
                                </a:rPr>
                                <m:t>𝑦</m:t>
                              </m:r>
                              <m:r>
                                <a:rPr lang="en-US" b="0" i="1" smtClean="0">
                                  <a:latin typeface="Cambria Math" panose="02040503050406030204" pitchFamily="18" charset="0"/>
                                </a:rPr>
                                <m:t>+</m:t>
                              </m:r>
                              <m:sSup>
                                <m:sSupPr>
                                  <m:ctrlPr>
                                    <a:rPr lang="en-US" i="1" smtClean="0">
                                      <a:solidFill>
                                        <a:srgbClr val="00B0F0"/>
                                      </a:solidFill>
                                      <a:latin typeface="Cambria Math" panose="02040503050406030204" pitchFamily="18" charset="0"/>
                                    </a:rPr>
                                  </m:ctrlPr>
                                </m:sSupPr>
                                <m:e>
                                  <m:r>
                                    <a:rPr lang="en-US" i="1">
                                      <a:solidFill>
                                        <a:srgbClr val="00B0F0"/>
                                      </a:solidFill>
                                      <a:latin typeface="Cambria Math" panose="02040503050406030204" pitchFamily="18" charset="0"/>
                                    </a:rPr>
                                    <m:t>𝛽</m:t>
                                  </m:r>
                                </m:e>
                                <m:sup>
                                  <m:r>
                                    <a:rPr lang="en-US" i="1">
                                      <a:solidFill>
                                        <a:srgbClr val="00B0F0"/>
                                      </a:solidFill>
                                      <a:latin typeface="Cambria Math" panose="02040503050406030204" pitchFamily="18" charset="0"/>
                                    </a:rPr>
                                    <m:t>𝑇</m:t>
                                  </m:r>
                                </m:sup>
                              </m:sSup>
                              <m:sSup>
                                <m:sSupPr>
                                  <m:ctrlPr>
                                    <a:rPr lang="en-US" i="1">
                                      <a:solidFill>
                                        <a:srgbClr val="00B0F0"/>
                                      </a:solidFill>
                                      <a:latin typeface="Cambria Math" panose="02040503050406030204" pitchFamily="18" charset="0"/>
                                    </a:rPr>
                                  </m:ctrlPr>
                                </m:sSupPr>
                                <m:e>
                                  <m:r>
                                    <a:rPr lang="en-US" i="1">
                                      <a:solidFill>
                                        <a:srgbClr val="00B0F0"/>
                                      </a:solidFill>
                                      <a:latin typeface="Cambria Math" panose="02040503050406030204" pitchFamily="18" charset="0"/>
                                    </a:rPr>
                                    <m:t>𝑋</m:t>
                                  </m:r>
                                </m:e>
                                <m:sup>
                                  <m:r>
                                    <a:rPr lang="en-US" i="1">
                                      <a:solidFill>
                                        <a:srgbClr val="00B0F0"/>
                                      </a:solidFill>
                                      <a:latin typeface="Cambria Math" panose="02040503050406030204" pitchFamily="18" charset="0"/>
                                    </a:rPr>
                                    <m:t>𝑇</m:t>
                                  </m:r>
                                </m:sup>
                              </m:sSup>
                              <m:r>
                                <a:rPr lang="en-US" i="1">
                                  <a:solidFill>
                                    <a:srgbClr val="00B0F0"/>
                                  </a:solidFill>
                                  <a:latin typeface="Cambria Math" panose="02040503050406030204" pitchFamily="18" charset="0"/>
                                </a:rPr>
                                <m:t>𝑋</m:t>
                              </m:r>
                              <m:r>
                                <a:rPr lang="en-US" i="1">
                                  <a:solidFill>
                                    <a:srgbClr val="00B0F0"/>
                                  </a:solidFill>
                                  <a:latin typeface="Cambria Math" panose="02040503050406030204" pitchFamily="18" charset="0"/>
                                </a:rPr>
                                <m:t>𝛽</m:t>
                              </m:r>
                            </m:e>
                          </m:d>
                        </m:e>
                      </m:d>
                    </m:oMath>
                  </m:oMathPara>
                </a14:m>
                <a:endParaRPr lang="en-US" dirty="0"/>
              </a:p>
              <a:p>
                <a:r>
                  <a:rPr lang="en-US" dirty="0"/>
                  <a:t>Factor out </a:t>
                </a:r>
                <a14:m>
                  <m:oMath xmlns:m="http://schemas.openxmlformats.org/officeDocument/2006/math">
                    <m:sSup>
                      <m:sSupPr>
                        <m:ctrlPr>
                          <a:rPr lang="en-US" i="1" smtClean="0">
                            <a:solidFill>
                              <a:schemeClr val="accent2"/>
                            </a:solidFill>
                            <a:latin typeface="Cambria Math" panose="02040503050406030204" pitchFamily="18" charset="0"/>
                          </a:rPr>
                        </m:ctrlPr>
                      </m:sSupPr>
                      <m:e>
                        <m:r>
                          <a:rPr lang="en-US" i="1">
                            <a:solidFill>
                              <a:schemeClr val="accent2"/>
                            </a:solidFill>
                            <a:latin typeface="Cambria Math" panose="02040503050406030204" pitchFamily="18" charset="0"/>
                          </a:rPr>
                          <m:t>𝑋</m:t>
                        </m:r>
                      </m:e>
                      <m:sup>
                        <m:r>
                          <a:rPr lang="en-US" i="1">
                            <a:solidFill>
                              <a:schemeClr val="accent2"/>
                            </a:solidFill>
                            <a:latin typeface="Cambria Math" panose="02040503050406030204" pitchFamily="18" charset="0"/>
                          </a:rPr>
                          <m:t>𝑇</m:t>
                        </m:r>
                      </m:sup>
                    </m:sSup>
                    <m:r>
                      <a:rPr lang="en-US" i="1">
                        <a:solidFill>
                          <a:schemeClr val="accent2"/>
                        </a:solidFill>
                        <a:latin typeface="Cambria Math" panose="02040503050406030204" pitchFamily="18" charset="0"/>
                      </a:rPr>
                      <m:t>𝑋</m:t>
                    </m:r>
                  </m:oMath>
                </a14:m>
                <a:r>
                  <a:rPr lang="en-US" dirty="0"/>
                  <a:t> and complete the square</a:t>
                </a:r>
              </a:p>
              <a:p>
                <a:pPr marL="0" inden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𝑝</m:t>
                      </m:r>
                      <m:d>
                        <m:dPr>
                          <m:ctrlPr>
                            <a:rPr lang="en-US" i="1">
                              <a:latin typeface="Cambria Math" panose="02040503050406030204" pitchFamily="18" charset="0"/>
                            </a:rPr>
                          </m:ctrlPr>
                        </m:dPr>
                        <m:e>
                          <m:r>
                            <a:rPr lang="en-US" i="1">
                              <a:latin typeface="Cambria Math" panose="02040503050406030204" pitchFamily="18" charset="0"/>
                            </a:rPr>
                            <m:t>𝛽</m:t>
                          </m:r>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e>
                      </m:d>
                      <m:r>
                        <a:rPr lang="en-US">
                          <a:latin typeface="Cambria Math" panose="02040503050406030204" pitchFamily="18" charset="0"/>
                        </a:rPr>
                        <m:t>∝</m:t>
                      </m:r>
                      <m:r>
                        <m:rPr>
                          <m:sty m:val="p"/>
                        </m:rPr>
                        <a:rPr lang="en-US">
                          <a:latin typeface="Cambria Math" panose="02040503050406030204" pitchFamily="18" charset="0"/>
                        </a:rPr>
                        <m:t>exp</m:t>
                      </m:r>
                      <m:d>
                        <m:dPr>
                          <m:begChr m:val="["/>
                          <m:endChr m:val="]"/>
                          <m:ctrlPr>
                            <a:rPr lang="en-US" i="1">
                              <a:latin typeface="Cambria Math" panose="02040503050406030204" pitchFamily="18" charset="0"/>
                            </a:rPr>
                          </m:ctrlPr>
                        </m:dPr>
                        <m:e>
                          <m:r>
                            <a:rPr lang="en-US" i="1">
                              <a:latin typeface="Cambria Math" panose="02040503050406030204" pitchFamily="18" charset="0"/>
                            </a:rPr>
                            <m:t>−</m:t>
                          </m:r>
                          <m:f>
                            <m:fPr>
                              <m:ctrlPr>
                                <a:rPr lang="en-US" i="1">
                                  <a:latin typeface="Cambria Math" panose="02040503050406030204" pitchFamily="18" charset="0"/>
                                </a:rPr>
                              </m:ctrlPr>
                            </m:fPr>
                            <m:num>
                              <m:r>
                                <a:rPr lang="en-US">
                                  <a:latin typeface="Cambria Math" panose="02040503050406030204" pitchFamily="18" charset="0"/>
                                </a:rPr>
                                <m:t>1</m:t>
                              </m:r>
                            </m:num>
                            <m:den>
                              <m:r>
                                <a:rPr lang="en-US">
                                  <a:latin typeface="Cambria Math" panose="02040503050406030204" pitchFamily="18" charset="0"/>
                                </a:rPr>
                                <m:t>2</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den>
                          </m:f>
                          <m:d>
                            <m:dPr>
                              <m:ctrlPr>
                                <a:rPr lang="en-US" i="1">
                                  <a:latin typeface="Cambria Math" panose="02040503050406030204" pitchFamily="18" charset="0"/>
                                </a:rPr>
                              </m:ctrlPr>
                            </m:dPr>
                            <m:e>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𝑦</m:t>
                                  </m:r>
                                </m:e>
                                <m:sup>
                                  <m:r>
                                    <a:rPr lang="en-US" i="1">
                                      <a:latin typeface="Cambria Math" panose="02040503050406030204" pitchFamily="18" charset="0"/>
                                    </a:rPr>
                                    <m:t>𝑇</m:t>
                                  </m:r>
                                </m:sup>
                              </m:sSup>
                              <m:r>
                                <a:rPr lang="en-US" i="1">
                                  <a:latin typeface="Cambria Math" panose="02040503050406030204" pitchFamily="18" charset="0"/>
                                </a:rPr>
                                <m:t>𝑋</m:t>
                              </m:r>
                              <m:r>
                                <a:rPr lang="en-US" i="1">
                                  <a:latin typeface="Cambria Math" panose="02040503050406030204" pitchFamily="18" charset="0"/>
                                </a:rPr>
                                <m:t>𝛽</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𝛽</m:t>
                                  </m:r>
                                </m:e>
                                <m:sup>
                                  <m:r>
                                    <a:rPr lang="en-US" i="1">
                                      <a:latin typeface="Cambria Math" panose="02040503050406030204" pitchFamily="18" charset="0"/>
                                    </a:rPr>
                                    <m:t>𝑇</m:t>
                                  </m:r>
                                </m:sup>
                              </m:sSup>
                              <m:sSup>
                                <m:sSupPr>
                                  <m:ctrlPr>
                                    <a:rPr lang="en-US" i="1">
                                      <a:latin typeface="Cambria Math" panose="02040503050406030204" pitchFamily="18" charset="0"/>
                                    </a:rPr>
                                  </m:ctrlPr>
                                </m:sSupPr>
                                <m:e>
                                  <m:r>
                                    <a:rPr lang="en-US" i="1">
                                      <a:latin typeface="Cambria Math" panose="02040503050406030204" pitchFamily="18" charset="0"/>
                                    </a:rPr>
                                    <m:t>𝑋</m:t>
                                  </m:r>
                                </m:e>
                                <m:sup>
                                  <m:r>
                                    <a:rPr lang="en-US" i="1">
                                      <a:latin typeface="Cambria Math" panose="02040503050406030204" pitchFamily="18" charset="0"/>
                                    </a:rPr>
                                    <m:t>𝑇</m:t>
                                  </m:r>
                                </m:sup>
                              </m:sSup>
                              <m:r>
                                <a:rPr lang="en-US" i="1">
                                  <a:latin typeface="Cambria Math" panose="02040503050406030204" pitchFamily="18" charset="0"/>
                                </a:rPr>
                                <m:t>𝑦</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𝛽</m:t>
                                  </m:r>
                                </m:e>
                                <m:sup>
                                  <m:r>
                                    <a:rPr lang="en-US" i="1">
                                      <a:latin typeface="Cambria Math" panose="02040503050406030204" pitchFamily="18" charset="0"/>
                                    </a:rPr>
                                    <m:t>𝑇</m:t>
                                  </m:r>
                                </m:sup>
                              </m:sSup>
                              <m:sSup>
                                <m:sSupPr>
                                  <m:ctrlPr>
                                    <a:rPr lang="en-US" i="1" smtClean="0">
                                      <a:solidFill>
                                        <a:schemeClr val="accent2"/>
                                      </a:solidFill>
                                      <a:latin typeface="Cambria Math" panose="02040503050406030204" pitchFamily="18" charset="0"/>
                                    </a:rPr>
                                  </m:ctrlPr>
                                </m:sSupPr>
                                <m:e>
                                  <m:r>
                                    <a:rPr lang="en-US" i="1">
                                      <a:solidFill>
                                        <a:schemeClr val="accent2"/>
                                      </a:solidFill>
                                      <a:latin typeface="Cambria Math" panose="02040503050406030204" pitchFamily="18" charset="0"/>
                                    </a:rPr>
                                    <m:t>𝑋</m:t>
                                  </m:r>
                                </m:e>
                                <m:sup>
                                  <m:r>
                                    <a:rPr lang="en-US" i="1">
                                      <a:solidFill>
                                        <a:schemeClr val="accent2"/>
                                      </a:solidFill>
                                      <a:latin typeface="Cambria Math" panose="02040503050406030204" pitchFamily="18" charset="0"/>
                                    </a:rPr>
                                    <m:t>𝑇</m:t>
                                  </m:r>
                                </m:sup>
                              </m:sSup>
                              <m:r>
                                <a:rPr lang="en-US" i="1">
                                  <a:solidFill>
                                    <a:schemeClr val="accent2"/>
                                  </a:solidFill>
                                  <a:latin typeface="Cambria Math" panose="02040503050406030204" pitchFamily="18" charset="0"/>
                                </a:rPr>
                                <m:t>𝑋</m:t>
                              </m:r>
                              <m:r>
                                <a:rPr lang="en-US" i="1">
                                  <a:latin typeface="Cambria Math" panose="02040503050406030204" pitchFamily="18" charset="0"/>
                                </a:rPr>
                                <m:t>𝛽</m:t>
                              </m:r>
                            </m:e>
                          </m:d>
                        </m:e>
                      </m:d>
                    </m:oMath>
                  </m:oMathPara>
                </a14:m>
                <a:endParaRPr lang="en-US" dirty="0"/>
              </a:p>
              <a:p>
                <a:pPr marL="0" indent="0">
                  <a:buNone/>
                </a:pPr>
                <a14:m>
                  <m:oMathPara xmlns:m="http://schemas.openxmlformats.org/officeDocument/2006/math">
                    <m:oMathParaPr>
                      <m:jc m:val="centerGroup"/>
                    </m:oMathParaPr>
                    <m:oMath xmlns:m="http://schemas.openxmlformats.org/officeDocument/2006/math">
                      <m:r>
                        <a:rPr lang="en-US" smtClean="0">
                          <a:latin typeface="Cambria Math" panose="02040503050406030204" pitchFamily="18" charset="0"/>
                        </a:rPr>
                        <m:t>∝</m:t>
                      </m:r>
                      <m:r>
                        <m:rPr>
                          <m:sty m:val="p"/>
                        </m:rPr>
                        <a:rPr lang="en-US" smtClean="0">
                          <a:solidFill>
                            <a:schemeClr val="bg1"/>
                          </a:solidFill>
                          <a:latin typeface="Cambria Math" panose="02040503050406030204" pitchFamily="18" charset="0"/>
                        </a:rPr>
                        <m:t>exp</m:t>
                      </m:r>
                      <m:d>
                        <m:dPr>
                          <m:begChr m:val="{"/>
                          <m:endChr m:val="}"/>
                          <m:ctrlPr>
                            <a:rPr lang="en-US" i="1">
                              <a:solidFill>
                                <a:schemeClr val="bg1"/>
                              </a:solidFill>
                              <a:latin typeface="Cambria Math" panose="02040503050406030204" pitchFamily="18" charset="0"/>
                            </a:rPr>
                          </m:ctrlPr>
                        </m:dPr>
                        <m:e>
                          <m:r>
                            <a:rPr lang="en-US" i="1">
                              <a:solidFill>
                                <a:schemeClr val="bg1"/>
                              </a:solidFill>
                              <a:latin typeface="Cambria Math" panose="02040503050406030204" pitchFamily="18" charset="0"/>
                            </a:rPr>
                            <m:t>−</m:t>
                          </m:r>
                          <m:f>
                            <m:fPr>
                              <m:ctrlPr>
                                <a:rPr lang="en-US" i="1">
                                  <a:solidFill>
                                    <a:schemeClr val="bg1"/>
                                  </a:solidFill>
                                  <a:latin typeface="Cambria Math" panose="02040503050406030204" pitchFamily="18" charset="0"/>
                                </a:rPr>
                              </m:ctrlPr>
                            </m:fPr>
                            <m:num>
                              <m:sSup>
                                <m:sSupPr>
                                  <m:ctrlPr>
                                    <a:rPr lang="en-US" i="1" smtClean="0">
                                      <a:solidFill>
                                        <a:schemeClr val="accent2"/>
                                      </a:solidFill>
                                      <a:latin typeface="Cambria Math" panose="02040503050406030204" pitchFamily="18" charset="0"/>
                                    </a:rPr>
                                  </m:ctrlPr>
                                </m:sSupPr>
                                <m:e>
                                  <m:r>
                                    <a:rPr lang="en-US" i="1">
                                      <a:solidFill>
                                        <a:schemeClr val="accent2"/>
                                      </a:solidFill>
                                      <a:latin typeface="Cambria Math" panose="02040503050406030204" pitchFamily="18" charset="0"/>
                                    </a:rPr>
                                    <m:t>𝑋</m:t>
                                  </m:r>
                                </m:e>
                                <m:sup>
                                  <m:r>
                                    <a:rPr lang="en-US" i="1">
                                      <a:solidFill>
                                        <a:schemeClr val="accent2"/>
                                      </a:solidFill>
                                      <a:latin typeface="Cambria Math" panose="02040503050406030204" pitchFamily="18" charset="0"/>
                                    </a:rPr>
                                    <m:t>𝑇</m:t>
                                  </m:r>
                                </m:sup>
                              </m:sSup>
                              <m:r>
                                <a:rPr lang="en-US" i="1">
                                  <a:solidFill>
                                    <a:schemeClr val="accent2"/>
                                  </a:solidFill>
                                  <a:latin typeface="Cambria Math" panose="02040503050406030204" pitchFamily="18" charset="0"/>
                                </a:rPr>
                                <m:t>𝑋</m:t>
                              </m:r>
                            </m:num>
                            <m:den>
                              <m:r>
                                <a:rPr lang="en-US">
                                  <a:solidFill>
                                    <a:schemeClr val="bg1"/>
                                  </a:solidFill>
                                  <a:latin typeface="Cambria Math" panose="02040503050406030204" pitchFamily="18" charset="0"/>
                                </a:rPr>
                                <m:t>2</m:t>
                              </m:r>
                              <m:sSup>
                                <m:sSupPr>
                                  <m:ctrlPr>
                                    <a:rPr lang="en-US" i="1">
                                      <a:solidFill>
                                        <a:schemeClr val="bg1"/>
                                      </a:solidFill>
                                      <a:latin typeface="Cambria Math" panose="02040503050406030204" pitchFamily="18" charset="0"/>
                                    </a:rPr>
                                  </m:ctrlPr>
                                </m:sSupPr>
                                <m:e>
                                  <m:r>
                                    <a:rPr lang="en-US" i="1">
                                      <a:solidFill>
                                        <a:schemeClr val="bg1"/>
                                      </a:solidFill>
                                      <a:latin typeface="Cambria Math" panose="02040503050406030204" pitchFamily="18" charset="0"/>
                                    </a:rPr>
                                    <m:t>𝜎</m:t>
                                  </m:r>
                                </m:e>
                                <m:sup>
                                  <m:r>
                                    <a:rPr lang="en-US">
                                      <a:solidFill>
                                        <a:schemeClr val="bg1"/>
                                      </a:solidFill>
                                      <a:latin typeface="Cambria Math" panose="02040503050406030204" pitchFamily="18" charset="0"/>
                                    </a:rPr>
                                    <m:t>2</m:t>
                                  </m:r>
                                </m:sup>
                              </m:sSup>
                            </m:den>
                          </m:f>
                          <m:r>
                            <a:rPr lang="en-US">
                              <a:solidFill>
                                <a:schemeClr val="bg1"/>
                              </a:solidFill>
                              <a:latin typeface="Cambria Math" panose="02040503050406030204" pitchFamily="18" charset="0"/>
                            </a:rPr>
                            <m:t>(</m:t>
                          </m:r>
                          <m:r>
                            <a:rPr lang="en-US" i="1">
                              <a:solidFill>
                                <a:schemeClr val="bg1"/>
                              </a:solidFill>
                              <a:latin typeface="Cambria Math" panose="02040503050406030204" pitchFamily="18" charset="0"/>
                            </a:rPr>
                            <m:t>𝛽</m:t>
                          </m:r>
                          <m:r>
                            <a:rPr lang="en-US" i="1">
                              <a:solidFill>
                                <a:schemeClr val="bg1"/>
                              </a:solidFill>
                              <a:latin typeface="Cambria Math" panose="02040503050406030204" pitchFamily="18" charset="0"/>
                            </a:rPr>
                            <m:t>−</m:t>
                          </m:r>
                          <m:sSup>
                            <m:sSupPr>
                              <m:ctrlPr>
                                <a:rPr lang="en-US" i="1" smtClean="0">
                                  <a:solidFill>
                                    <a:schemeClr val="accent2"/>
                                  </a:solidFill>
                                  <a:latin typeface="Cambria Math" panose="02040503050406030204" pitchFamily="18" charset="0"/>
                                </a:rPr>
                              </m:ctrlPr>
                            </m:sSupPr>
                            <m:e>
                              <m:d>
                                <m:dPr>
                                  <m:ctrlPr>
                                    <a:rPr lang="en-US" i="1">
                                      <a:solidFill>
                                        <a:schemeClr val="accent2"/>
                                      </a:solidFill>
                                      <a:latin typeface="Cambria Math" panose="02040503050406030204" pitchFamily="18" charset="0"/>
                                    </a:rPr>
                                  </m:ctrlPr>
                                </m:dPr>
                                <m:e>
                                  <m:sSup>
                                    <m:sSupPr>
                                      <m:ctrlPr>
                                        <a:rPr lang="en-US" i="1">
                                          <a:solidFill>
                                            <a:schemeClr val="accent2"/>
                                          </a:solidFill>
                                          <a:latin typeface="Cambria Math" panose="02040503050406030204" pitchFamily="18" charset="0"/>
                                        </a:rPr>
                                      </m:ctrlPr>
                                    </m:sSupPr>
                                    <m:e>
                                      <m:r>
                                        <a:rPr lang="en-US" i="1">
                                          <a:solidFill>
                                            <a:schemeClr val="accent2"/>
                                          </a:solidFill>
                                          <a:latin typeface="Cambria Math" panose="02040503050406030204" pitchFamily="18" charset="0"/>
                                        </a:rPr>
                                        <m:t>𝑋</m:t>
                                      </m:r>
                                    </m:e>
                                    <m:sup>
                                      <m:r>
                                        <a:rPr lang="en-US" b="0" i="1" smtClean="0">
                                          <a:solidFill>
                                            <a:schemeClr val="accent2"/>
                                          </a:solidFill>
                                          <a:latin typeface="Cambria Math" panose="02040503050406030204" pitchFamily="18" charset="0"/>
                                        </a:rPr>
                                        <m:t>𝑇</m:t>
                                      </m:r>
                                    </m:sup>
                                  </m:sSup>
                                  <m:r>
                                    <a:rPr lang="en-US" i="1">
                                      <a:solidFill>
                                        <a:schemeClr val="accent2"/>
                                      </a:solidFill>
                                      <a:latin typeface="Cambria Math" panose="02040503050406030204" pitchFamily="18" charset="0"/>
                                    </a:rPr>
                                    <m:t>𝑋</m:t>
                                  </m:r>
                                </m:e>
                              </m:d>
                            </m:e>
                            <m:sup>
                              <m:r>
                                <a:rPr lang="en-US" i="1">
                                  <a:solidFill>
                                    <a:schemeClr val="accent2"/>
                                  </a:solidFill>
                                  <a:latin typeface="Cambria Math" panose="02040503050406030204" pitchFamily="18" charset="0"/>
                                </a:rPr>
                                <m:t>−</m:t>
                              </m:r>
                              <m:r>
                                <a:rPr lang="en-US">
                                  <a:solidFill>
                                    <a:schemeClr val="accent2"/>
                                  </a:solidFill>
                                  <a:latin typeface="Cambria Math" panose="02040503050406030204" pitchFamily="18" charset="0"/>
                                </a:rPr>
                                <m:t>1</m:t>
                              </m:r>
                            </m:sup>
                          </m:sSup>
                          <m:sSup>
                            <m:sSupPr>
                              <m:ctrlPr>
                                <a:rPr lang="en-US" i="1">
                                  <a:solidFill>
                                    <a:schemeClr val="tx1"/>
                                  </a:solidFill>
                                  <a:latin typeface="Cambria Math" panose="02040503050406030204" pitchFamily="18" charset="0"/>
                                </a:rPr>
                              </m:ctrlPr>
                            </m:sSupPr>
                            <m:e>
                              <m:r>
                                <a:rPr lang="en-US" i="1">
                                  <a:solidFill>
                                    <a:schemeClr val="tx1"/>
                                  </a:solidFill>
                                  <a:latin typeface="Cambria Math" panose="02040503050406030204" pitchFamily="18" charset="0"/>
                                </a:rPr>
                                <m:t>𝑋</m:t>
                              </m:r>
                            </m:e>
                            <m:sup>
                              <m:r>
                                <a:rPr lang="en-US" b="0" i="1" smtClean="0">
                                  <a:solidFill>
                                    <a:schemeClr val="tx1"/>
                                  </a:solidFill>
                                  <a:latin typeface="Cambria Math" panose="02040503050406030204" pitchFamily="18" charset="0"/>
                                </a:rPr>
                                <m:t>𝑇</m:t>
                              </m:r>
                            </m:sup>
                          </m:sSup>
                          <m:r>
                            <a:rPr lang="en-US" i="1">
                              <a:solidFill>
                                <a:schemeClr val="tx1"/>
                              </a:solidFill>
                              <a:latin typeface="Cambria Math" panose="02040503050406030204" pitchFamily="18" charset="0"/>
                            </a:rPr>
                            <m:t>𝑦</m:t>
                          </m:r>
                          <m:sSup>
                            <m:sSupPr>
                              <m:ctrlPr>
                                <a:rPr lang="en-US" i="1">
                                  <a:solidFill>
                                    <a:schemeClr val="bg1"/>
                                  </a:solidFill>
                                  <a:latin typeface="Cambria Math" panose="02040503050406030204" pitchFamily="18" charset="0"/>
                                </a:rPr>
                              </m:ctrlPr>
                            </m:sSupPr>
                            <m:e>
                              <m:r>
                                <a:rPr lang="en-US">
                                  <a:solidFill>
                                    <a:schemeClr val="bg1"/>
                                  </a:solidFill>
                                  <a:latin typeface="Cambria Math" panose="02040503050406030204" pitchFamily="18" charset="0"/>
                                </a:rPr>
                                <m:t>)</m:t>
                              </m:r>
                            </m:e>
                            <m:sup>
                              <m:r>
                                <a:rPr lang="en-US" b="0" i="1" smtClean="0">
                                  <a:solidFill>
                                    <a:schemeClr val="bg1"/>
                                  </a:solidFill>
                                  <a:latin typeface="Cambria Math" panose="02040503050406030204" pitchFamily="18" charset="0"/>
                                </a:rPr>
                                <m:t>𝑇</m:t>
                              </m:r>
                            </m:sup>
                          </m:sSup>
                          <m:r>
                            <a:rPr lang="en-US" i="1" smtClean="0">
                              <a:solidFill>
                                <a:schemeClr val="bg1"/>
                              </a:solidFill>
                              <a:latin typeface="Cambria Math" panose="02040503050406030204" pitchFamily="18" charset="0"/>
                            </a:rPr>
                            <m:t> </m:t>
                          </m:r>
                          <m:r>
                            <a:rPr lang="en-US">
                              <a:solidFill>
                                <a:schemeClr val="bg1"/>
                              </a:solidFill>
                              <a:latin typeface="Cambria Math" panose="02040503050406030204" pitchFamily="18" charset="0"/>
                            </a:rPr>
                            <m:t>(</m:t>
                          </m:r>
                          <m:r>
                            <a:rPr lang="en-US" i="1">
                              <a:solidFill>
                                <a:schemeClr val="bg1"/>
                              </a:solidFill>
                              <a:latin typeface="Cambria Math" panose="02040503050406030204" pitchFamily="18" charset="0"/>
                            </a:rPr>
                            <m:t>𝛽</m:t>
                          </m:r>
                          <m:r>
                            <a:rPr lang="en-US" i="1">
                              <a:solidFill>
                                <a:schemeClr val="bg1"/>
                              </a:solidFill>
                              <a:latin typeface="Cambria Math" panose="02040503050406030204" pitchFamily="18" charset="0"/>
                            </a:rPr>
                            <m:t>−</m:t>
                          </m:r>
                          <m:sSup>
                            <m:sSupPr>
                              <m:ctrlPr>
                                <a:rPr lang="en-US" i="1" smtClean="0">
                                  <a:solidFill>
                                    <a:schemeClr val="accent2"/>
                                  </a:solidFill>
                                  <a:latin typeface="Cambria Math" panose="02040503050406030204" pitchFamily="18" charset="0"/>
                                </a:rPr>
                              </m:ctrlPr>
                            </m:sSupPr>
                            <m:e>
                              <m:d>
                                <m:dPr>
                                  <m:ctrlPr>
                                    <a:rPr lang="en-US" i="1">
                                      <a:solidFill>
                                        <a:schemeClr val="accent2"/>
                                      </a:solidFill>
                                      <a:latin typeface="Cambria Math" panose="02040503050406030204" pitchFamily="18" charset="0"/>
                                    </a:rPr>
                                  </m:ctrlPr>
                                </m:dPr>
                                <m:e>
                                  <m:sSup>
                                    <m:sSupPr>
                                      <m:ctrlPr>
                                        <a:rPr lang="en-US" i="1">
                                          <a:solidFill>
                                            <a:schemeClr val="accent2"/>
                                          </a:solidFill>
                                          <a:latin typeface="Cambria Math" panose="02040503050406030204" pitchFamily="18" charset="0"/>
                                        </a:rPr>
                                      </m:ctrlPr>
                                    </m:sSupPr>
                                    <m:e>
                                      <m:r>
                                        <a:rPr lang="en-US" i="1">
                                          <a:solidFill>
                                            <a:schemeClr val="accent2"/>
                                          </a:solidFill>
                                          <a:latin typeface="Cambria Math" panose="02040503050406030204" pitchFamily="18" charset="0"/>
                                        </a:rPr>
                                        <m:t>𝑋</m:t>
                                      </m:r>
                                    </m:e>
                                    <m:sup>
                                      <m:r>
                                        <a:rPr lang="en-US" b="0" i="1" smtClean="0">
                                          <a:solidFill>
                                            <a:schemeClr val="accent2"/>
                                          </a:solidFill>
                                          <a:latin typeface="Cambria Math" panose="02040503050406030204" pitchFamily="18" charset="0"/>
                                        </a:rPr>
                                        <m:t>𝑇</m:t>
                                      </m:r>
                                    </m:sup>
                                  </m:sSup>
                                  <m:r>
                                    <a:rPr lang="en-US" i="1">
                                      <a:solidFill>
                                        <a:schemeClr val="accent2"/>
                                      </a:solidFill>
                                      <a:latin typeface="Cambria Math" panose="02040503050406030204" pitchFamily="18" charset="0"/>
                                    </a:rPr>
                                    <m:t>𝑋</m:t>
                                  </m:r>
                                </m:e>
                              </m:d>
                            </m:e>
                            <m:sup>
                              <m:r>
                                <a:rPr lang="en-US" i="1">
                                  <a:solidFill>
                                    <a:schemeClr val="accent2"/>
                                  </a:solidFill>
                                  <a:latin typeface="Cambria Math" panose="02040503050406030204" pitchFamily="18" charset="0"/>
                                </a:rPr>
                                <m:t>−</m:t>
                              </m:r>
                              <m:r>
                                <a:rPr lang="en-US">
                                  <a:solidFill>
                                    <a:schemeClr val="accent2"/>
                                  </a:solidFill>
                                  <a:latin typeface="Cambria Math" panose="02040503050406030204" pitchFamily="18" charset="0"/>
                                </a:rPr>
                                <m:t>1</m:t>
                              </m:r>
                            </m:sup>
                          </m:sSup>
                          <m:sSup>
                            <m:sSupPr>
                              <m:ctrlPr>
                                <a:rPr lang="en-US" i="1">
                                  <a:latin typeface="Cambria Math" panose="02040503050406030204" pitchFamily="18" charset="0"/>
                                </a:rPr>
                              </m:ctrlPr>
                            </m:sSupPr>
                            <m:e>
                              <m:r>
                                <a:rPr lang="en-US" i="1">
                                  <a:latin typeface="Cambria Math" panose="02040503050406030204" pitchFamily="18" charset="0"/>
                                </a:rPr>
                                <m:t>𝑋</m:t>
                              </m:r>
                            </m:e>
                            <m:sup>
                              <m:r>
                                <a:rPr lang="en-US" b="0" i="1" smtClean="0">
                                  <a:latin typeface="Cambria Math" panose="02040503050406030204" pitchFamily="18" charset="0"/>
                                </a:rPr>
                                <m:t>𝑇</m:t>
                              </m:r>
                            </m:sup>
                          </m:sSup>
                          <m:r>
                            <a:rPr lang="en-US" i="1">
                              <a:latin typeface="Cambria Math" panose="02040503050406030204" pitchFamily="18" charset="0"/>
                            </a:rPr>
                            <m:t>𝑦</m:t>
                          </m:r>
                          <m:r>
                            <a:rPr lang="en-US">
                              <a:solidFill>
                                <a:schemeClr val="bg1"/>
                              </a:solidFill>
                              <a:latin typeface="Cambria Math" panose="02040503050406030204" pitchFamily="18" charset="0"/>
                            </a:rPr>
                            <m:t>)</m:t>
                          </m:r>
                        </m:e>
                      </m:d>
                    </m:oMath>
                  </m:oMathPara>
                </a14:m>
                <a:endParaRPr lang="en-US" dirty="0"/>
              </a:p>
              <a:p>
                <a:pPr marL="0" indent="0">
                  <a:buNone/>
                </a:pP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0C07E90B-DE1A-569E-6905-BE79E57B635D}"/>
                  </a:ext>
                </a:extLst>
              </p:cNvPr>
              <p:cNvSpPr>
                <a:spLocks noGrp="1" noRot="1" noChangeAspect="1" noMove="1" noResize="1" noEditPoints="1" noAdjustHandles="1" noChangeArrowheads="1" noChangeShapeType="1" noTextEdit="1"/>
              </p:cNvSpPr>
              <p:nvPr>
                <p:ph idx="1"/>
              </p:nvPr>
            </p:nvSpPr>
            <p:spPr>
              <a:blipFill>
                <a:blip r:embed="rId3"/>
                <a:stretch>
                  <a:fillRect l="-1104" t="-1657"/>
                </a:stretch>
              </a:blipFill>
            </p:spPr>
            <p:txBody>
              <a:bodyPr/>
              <a:lstStyle/>
              <a:p>
                <a:r>
                  <a:rPr lang="en-US">
                    <a:noFill/>
                  </a:rPr>
                  <a:t> </a:t>
                </a:r>
              </a:p>
            </p:txBody>
          </p:sp>
        </mc:Fallback>
      </mc:AlternateContent>
    </p:spTree>
    <p:extLst>
      <p:ext uri="{BB962C8B-B14F-4D97-AF65-F5344CB8AC3E}">
        <p14:creationId xmlns:p14="http://schemas.microsoft.com/office/powerpoint/2010/main" val="162301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A8130-4F60-3F4C-67E0-DC0221E907CB}"/>
              </a:ext>
            </a:extLst>
          </p:cNvPr>
          <p:cNvSpPr>
            <a:spLocks noGrp="1"/>
          </p:cNvSpPr>
          <p:nvPr>
            <p:ph type="title"/>
          </p:nvPr>
        </p:nvSpPr>
        <p:spPr/>
        <p:txBody>
          <a:bodyPr/>
          <a:lstStyle/>
          <a:p>
            <a:r>
              <a:rPr lang="en-US" dirty="0"/>
              <a:t>Conditional Posterior Distribution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AE4CFE4-5854-EF20-A855-28CC80A01652}"/>
                  </a:ext>
                </a:extLst>
              </p:cNvPr>
              <p:cNvSpPr>
                <a:spLocks noGrp="1"/>
              </p:cNvSpPr>
              <p:nvPr>
                <p:ph idx="1"/>
              </p:nvPr>
            </p:nvSpPr>
            <p:spPr/>
            <p:txBody>
              <a:bodyPr/>
              <a:lstStyle/>
              <a:p>
                <a:r>
                  <a:rPr lang="en-US" dirty="0"/>
                  <a:t>Define </a:t>
                </a:r>
                <a14:m>
                  <m:oMath xmlns:m="http://schemas.openxmlformats.org/officeDocument/2006/math">
                    <m:acc>
                      <m:accPr>
                        <m:chr m:val="ˆ"/>
                        <m:ctrlPr>
                          <a:rPr lang="en-US" i="1">
                            <a:latin typeface="Cambria Math" panose="02040503050406030204" pitchFamily="18" charset="0"/>
                          </a:rPr>
                        </m:ctrlPr>
                      </m:accPr>
                      <m:e>
                        <m:r>
                          <a:rPr lang="en-US" i="1">
                            <a:latin typeface="Cambria Math" panose="02040503050406030204" pitchFamily="18" charset="0"/>
                          </a:rPr>
                          <m:t>𝛽</m:t>
                        </m:r>
                      </m:e>
                    </m:acc>
                    <m:r>
                      <a:rPr lang="en-US">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𝑋</m:t>
                                </m:r>
                              </m:e>
                              <m:sup>
                                <m:r>
                                  <a:rPr lang="en-US" b="0" i="1" smtClean="0">
                                    <a:latin typeface="Cambria Math" panose="02040503050406030204" pitchFamily="18" charset="0"/>
                                  </a:rPr>
                                  <m:t>𝑇</m:t>
                                </m:r>
                              </m:sup>
                            </m:sSup>
                            <m:r>
                              <a:rPr lang="en-US" i="1">
                                <a:latin typeface="Cambria Math" panose="02040503050406030204" pitchFamily="18" charset="0"/>
                              </a:rPr>
                              <m:t>𝑋</m:t>
                            </m:r>
                          </m:e>
                        </m:d>
                      </m:e>
                      <m:sup>
                        <m:r>
                          <a:rPr lang="en-US" i="1">
                            <a:latin typeface="Cambria Math" panose="02040503050406030204" pitchFamily="18" charset="0"/>
                          </a:rPr>
                          <m:t>−</m:t>
                        </m:r>
                        <m:r>
                          <a:rPr lang="en-US">
                            <a:latin typeface="Cambria Math" panose="02040503050406030204" pitchFamily="18" charset="0"/>
                          </a:rPr>
                          <m:t>1</m:t>
                        </m:r>
                      </m:sup>
                    </m:sSup>
                    <m:sSup>
                      <m:sSupPr>
                        <m:ctrlPr>
                          <a:rPr lang="en-US" i="1">
                            <a:latin typeface="Cambria Math" panose="02040503050406030204" pitchFamily="18" charset="0"/>
                          </a:rPr>
                        </m:ctrlPr>
                      </m:sSupPr>
                      <m:e>
                        <m:r>
                          <a:rPr lang="en-US" i="1">
                            <a:latin typeface="Cambria Math" panose="02040503050406030204" pitchFamily="18" charset="0"/>
                          </a:rPr>
                          <m:t>𝑋</m:t>
                        </m:r>
                      </m:e>
                      <m:sup>
                        <m:r>
                          <a:rPr lang="en-US" b="0" i="1" smtClean="0">
                            <a:latin typeface="Cambria Math" panose="02040503050406030204" pitchFamily="18" charset="0"/>
                          </a:rPr>
                          <m:t>𝑇</m:t>
                        </m:r>
                      </m:sup>
                    </m:sSup>
                    <m:r>
                      <a:rPr lang="en-US" i="1">
                        <a:latin typeface="Cambria Math" panose="02040503050406030204" pitchFamily="18" charset="0"/>
                      </a:rPr>
                      <m:t>𝑦</m:t>
                    </m:r>
                  </m:oMath>
                </a14:m>
                <a:r>
                  <a:rPr lang="en-US" dirty="0"/>
                  <a:t>. Then </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𝛽</m:t>
                      </m:r>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r>
                        <a:rPr lang="en-US">
                          <a:latin typeface="Cambria Math" panose="02040503050406030204" pitchFamily="18" charset="0"/>
                        </a:rPr>
                        <m:t>∼</m:t>
                      </m:r>
                      <m:r>
                        <a:rPr lang="en-US" i="1">
                          <a:latin typeface="Cambria Math" panose="02040503050406030204" pitchFamily="18" charset="0"/>
                        </a:rPr>
                        <m:t>𝑁</m:t>
                      </m:r>
                      <m:d>
                        <m:dPr>
                          <m:ctrlPr>
                            <a:rPr lang="en-US" i="1">
                              <a:latin typeface="Cambria Math" panose="02040503050406030204" pitchFamily="18" charset="0"/>
                            </a:rPr>
                          </m:ctrlPr>
                        </m:dPr>
                        <m:e>
                          <m:acc>
                            <m:accPr>
                              <m:chr m:val="ˆ"/>
                              <m:ctrlPr>
                                <a:rPr lang="en-US" i="1">
                                  <a:latin typeface="Cambria Math" panose="02040503050406030204" pitchFamily="18" charset="0"/>
                                </a:rPr>
                              </m:ctrlPr>
                            </m:accPr>
                            <m:e>
                              <m:r>
                                <a:rPr lang="en-US" i="1">
                                  <a:latin typeface="Cambria Math" panose="02040503050406030204" pitchFamily="18" charset="0"/>
                                </a:rPr>
                                <m:t>𝛽</m:t>
                              </m:r>
                            </m:e>
                          </m:acc>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sSup>
                            <m:sSupPr>
                              <m:ctrlPr>
                                <a:rPr lang="en-US" i="1">
                                  <a:latin typeface="Cambria Math" panose="02040503050406030204" pitchFamily="18" charset="0"/>
                                </a:rPr>
                              </m:ctrlPr>
                            </m:sSupPr>
                            <m:e>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𝑋</m:t>
                                      </m:r>
                                    </m:e>
                                    <m:sup>
                                      <m:r>
                                        <a:rPr lang="en-US" b="0" i="1" smtClean="0">
                                          <a:latin typeface="Cambria Math" panose="02040503050406030204" pitchFamily="18" charset="0"/>
                                        </a:rPr>
                                        <m:t>𝑇</m:t>
                                      </m:r>
                                    </m:sup>
                                  </m:sSup>
                                  <m:r>
                                    <a:rPr lang="en-US" i="1">
                                      <a:latin typeface="Cambria Math" panose="02040503050406030204" pitchFamily="18" charset="0"/>
                                    </a:rPr>
                                    <m:t>𝑋</m:t>
                                  </m:r>
                                </m:e>
                              </m:d>
                            </m:e>
                            <m:sup>
                              <m:r>
                                <a:rPr lang="en-US" i="1">
                                  <a:latin typeface="Cambria Math" panose="02040503050406030204" pitchFamily="18" charset="0"/>
                                </a:rPr>
                                <m:t>−</m:t>
                              </m:r>
                              <m:r>
                                <a:rPr lang="en-US">
                                  <a:latin typeface="Cambria Math" panose="02040503050406030204" pitchFamily="18" charset="0"/>
                                </a:rPr>
                                <m:t>1</m:t>
                              </m:r>
                            </m:sup>
                          </m:sSup>
                        </m:e>
                      </m:d>
                    </m:oMath>
                  </m:oMathPara>
                </a14:m>
                <a:endParaRPr lang="en-US" dirty="0"/>
              </a:p>
              <a:p>
                <a:r>
                  <a:rPr lang="en-US" dirty="0"/>
                  <a:t>The marginal posterior distribution, </a:t>
                </a:r>
                <a14:m>
                  <m:oMath xmlns:m="http://schemas.openxmlformats.org/officeDocument/2006/math">
                    <m:r>
                      <a:rPr lang="en-US" i="1">
                        <a:latin typeface="Cambria Math" panose="02040503050406030204" pitchFamily="18" charset="0"/>
                      </a:rPr>
                      <m:t>𝑝</m:t>
                    </m:r>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e>
                    </m:d>
                  </m:oMath>
                </a14:m>
                <a:r>
                  <a:rPr lang="en-US" dirty="0"/>
                  <a:t>, is computed by integrating the joint posterior distribution with respect to </a:t>
                </a:r>
                <a14:m>
                  <m:oMath xmlns:m="http://schemas.openxmlformats.org/officeDocument/2006/math">
                    <m:r>
                      <a:rPr lang="en-US" i="1">
                        <a:latin typeface="Cambria Math" panose="02040503050406030204" pitchFamily="18" charset="0"/>
                      </a:rPr>
                      <m:t>𝛽</m:t>
                    </m:r>
                  </m:oMath>
                </a14:m>
                <a:endParaRPr lang="en-US"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𝑝</m:t>
                      </m:r>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e>
                      </m:d>
                      <m:r>
                        <a:rPr lang="en-US">
                          <a:latin typeface="Cambria Math" panose="02040503050406030204" pitchFamily="18" charset="0"/>
                        </a:rPr>
                        <m:t>=</m:t>
                      </m:r>
                      <m:nary>
                        <m:naryPr>
                          <m:limLoc m:val="undOvr"/>
                          <m:subHide m:val="on"/>
                          <m:supHide m:val="on"/>
                          <m:ctrlPr>
                            <a:rPr lang="en-US" i="1">
                              <a:latin typeface="Cambria Math" panose="02040503050406030204" pitchFamily="18" charset="0"/>
                            </a:rPr>
                          </m:ctrlPr>
                        </m:naryPr>
                        <m:sub/>
                        <m:sup/>
                        <m:e>
                          <m:r>
                            <a:rPr lang="en-US" i="1">
                              <a:latin typeface="Cambria Math" panose="02040503050406030204" pitchFamily="18" charset="0"/>
                            </a:rPr>
                            <m:t> </m:t>
                          </m:r>
                        </m:e>
                      </m:nary>
                      <m:r>
                        <a:rPr lang="en-US" i="1">
                          <a:latin typeface="Cambria Math" panose="02040503050406030204" pitchFamily="18" charset="0"/>
                        </a:rPr>
                        <m:t>𝑝</m:t>
                      </m:r>
                      <m:d>
                        <m:dPr>
                          <m:ctrlPr>
                            <a:rPr lang="en-US" i="1">
                              <a:latin typeface="Cambria Math" panose="02040503050406030204" pitchFamily="18" charset="0"/>
                            </a:rPr>
                          </m:ctrlPr>
                        </m:dPr>
                        <m:e>
                          <m:r>
                            <a:rPr lang="en-US" i="1">
                              <a:latin typeface="Cambria Math" panose="02040503050406030204" pitchFamily="18" charset="0"/>
                            </a:rPr>
                            <m:t>𝛽</m:t>
                          </m:r>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e>
                      </m:d>
                      <m:r>
                        <a:rPr lang="en-US" i="1">
                          <a:latin typeface="Cambria Math" panose="02040503050406030204" pitchFamily="18" charset="0"/>
                        </a:rPr>
                        <m:t>𝑑</m:t>
                      </m:r>
                      <m:r>
                        <a:rPr lang="en-US" i="1">
                          <a:latin typeface="Cambria Math" panose="02040503050406030204" pitchFamily="18" charset="0"/>
                        </a:rPr>
                        <m:t>𝛽</m:t>
                      </m:r>
                    </m:oMath>
                  </m:oMathPara>
                </a14:m>
                <a:endParaRPr lang="en-US" dirty="0"/>
              </a:p>
              <a:p>
                <a:pPr marL="0" indent="0">
                  <a:buNone/>
                </a:pPr>
                <a14:m>
                  <m:oMathPara xmlns:m="http://schemas.openxmlformats.org/officeDocument/2006/math">
                    <m:oMathParaPr>
                      <m:jc m:val="centerGroup"/>
                    </m:oMathParaPr>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r>
                        <a:rPr lang="en-US" i="1" smtClean="0">
                          <a:latin typeface="Cambria Math" panose="02040503050406030204" pitchFamily="18" charset="0"/>
                          <a:ea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Inv</m:t>
                      </m:r>
                      <m:r>
                        <a:rPr lang="en-US" b="0" i="1" smtClean="0">
                          <a:latin typeface="Cambria Math" panose="02040503050406030204" pitchFamily="18" charset="0"/>
                          <a:ea typeface="Cambria Math" panose="02040503050406030204" pitchFamily="18" charset="0"/>
                        </a:rPr>
                        <m:t>_</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𝜒</m:t>
                          </m:r>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𝑘</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𝑠</m:t>
                          </m:r>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m:t>
                      </m:r>
                    </m:oMath>
                  </m:oMathPara>
                </a14:m>
                <a:endParaRPr lang="en-US" dirty="0"/>
              </a:p>
              <a:p>
                <a:pPr marL="0" indent="0">
                  <a:buNone/>
                </a:pPr>
                <a:r>
                  <a:rPr lang="en-US" dirty="0"/>
                  <a:t>where </a:t>
                </a:r>
                <a14:m>
                  <m:oMath xmlns:m="http://schemas.openxmlformats.org/officeDocument/2006/math">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𝑠</m:t>
                        </m:r>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𝑘</m:t>
                        </m:r>
                      </m:den>
                    </m:f>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𝑦</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𝑋</m:t>
                            </m:r>
                            <m:acc>
                              <m:accPr>
                                <m:chr m:val="ˆ"/>
                                <m:ctrlPr>
                                  <a:rPr lang="en-US" i="1">
                                    <a:latin typeface="Cambria Math" panose="02040503050406030204" pitchFamily="18" charset="0"/>
                                  </a:rPr>
                                </m:ctrlPr>
                              </m:accPr>
                              <m:e>
                                <m:r>
                                  <a:rPr lang="en-US" i="1">
                                    <a:latin typeface="Cambria Math" panose="02040503050406030204" pitchFamily="18" charset="0"/>
                                  </a:rPr>
                                  <m:t>𝛽</m:t>
                                </m:r>
                              </m:e>
                            </m:acc>
                          </m:e>
                        </m:d>
                      </m:e>
                      <m:sup>
                        <m:r>
                          <a:rPr lang="en-US" b="0" i="1" smtClean="0">
                            <a:latin typeface="Cambria Math" panose="02040503050406030204" pitchFamily="18" charset="0"/>
                            <a:ea typeface="Cambria Math" panose="02040503050406030204" pitchFamily="18" charset="0"/>
                          </a:rPr>
                          <m:t>𝑇</m:t>
                        </m:r>
                      </m:sup>
                    </m:sSup>
                    <m:d>
                      <m:dPr>
                        <m:ctrlPr>
                          <a:rPr lang="en-US" b="0" i="1" smtClean="0">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𝑦</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𝑋</m:t>
                        </m:r>
                        <m:acc>
                          <m:accPr>
                            <m:chr m:val="ˆ"/>
                            <m:ctrlPr>
                              <a:rPr lang="en-US" i="1">
                                <a:latin typeface="Cambria Math" panose="02040503050406030204" pitchFamily="18" charset="0"/>
                              </a:rPr>
                            </m:ctrlPr>
                          </m:accPr>
                          <m:e>
                            <m:r>
                              <a:rPr lang="en-US" i="1">
                                <a:latin typeface="Cambria Math" panose="02040503050406030204" pitchFamily="18" charset="0"/>
                              </a:rPr>
                              <m:t>𝛽</m:t>
                            </m:r>
                          </m:e>
                        </m:acc>
                      </m:e>
                    </m:d>
                  </m:oMath>
                </a14:m>
                <a:endParaRPr lang="en-US" dirty="0"/>
              </a:p>
            </p:txBody>
          </p:sp>
        </mc:Choice>
        <mc:Fallback>
          <p:sp>
            <p:nvSpPr>
              <p:cNvPr id="3" name="Content Placeholder 2">
                <a:extLst>
                  <a:ext uri="{FF2B5EF4-FFF2-40B4-BE49-F238E27FC236}">
                    <a16:creationId xmlns:a16="http://schemas.microsoft.com/office/drawing/2014/main" id="{7AE4CFE4-5854-EF20-A855-28CC80A01652}"/>
                  </a:ext>
                </a:extLst>
              </p:cNvPr>
              <p:cNvSpPr>
                <a:spLocks noGrp="1" noRot="1" noChangeAspect="1" noMove="1" noResize="1" noEditPoints="1" noAdjustHandles="1" noChangeArrowheads="1" noChangeShapeType="1" noTextEdit="1"/>
              </p:cNvSpPr>
              <p:nvPr>
                <p:ph idx="1"/>
              </p:nvPr>
            </p:nvSpPr>
            <p:spPr>
              <a:blipFill>
                <a:blip r:embed="rId3"/>
                <a:stretch>
                  <a:fillRect l="-1341" t="-1289" b="-20074"/>
                </a:stretch>
              </a:blipFill>
            </p:spPr>
            <p:txBody>
              <a:bodyPr/>
              <a:lstStyle/>
              <a:p>
                <a:r>
                  <a:rPr lang="en-US">
                    <a:noFill/>
                  </a:rPr>
                  <a:t> </a:t>
                </a:r>
              </a:p>
            </p:txBody>
          </p:sp>
        </mc:Fallback>
      </mc:AlternateContent>
    </p:spTree>
    <p:extLst>
      <p:ext uri="{BB962C8B-B14F-4D97-AF65-F5344CB8AC3E}">
        <p14:creationId xmlns:p14="http://schemas.microsoft.com/office/powerpoint/2010/main" val="2926455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A8130-4F60-3F4C-67E0-DC0221E907CB}"/>
              </a:ext>
            </a:extLst>
          </p:cNvPr>
          <p:cNvSpPr>
            <a:spLocks noGrp="1"/>
          </p:cNvSpPr>
          <p:nvPr>
            <p:ph type="title"/>
          </p:nvPr>
        </p:nvSpPr>
        <p:spPr/>
        <p:txBody>
          <a:bodyPr/>
          <a:lstStyle/>
          <a:p>
            <a:r>
              <a:rPr lang="en-US" dirty="0"/>
              <a:t>Conditional Posterior Distribution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AE4CFE4-5854-EF20-A855-28CC80A01652}"/>
                  </a:ext>
                </a:extLst>
              </p:cNvPr>
              <p:cNvSpPr>
                <a:spLocks noGrp="1"/>
              </p:cNvSpPr>
              <p:nvPr>
                <p:ph idx="1"/>
              </p:nvPr>
            </p:nvSpPr>
            <p:spPr/>
            <p:txBody>
              <a:bodyPr/>
              <a:lstStyle/>
              <a:p>
                <a:r>
                  <a:rPr lang="en-US" dirty="0"/>
                  <a:t>Define </a:t>
                </a:r>
                <a14:m>
                  <m:oMath xmlns:m="http://schemas.openxmlformats.org/officeDocument/2006/math">
                    <m:acc>
                      <m:accPr>
                        <m:chr m:val="ˆ"/>
                        <m:ctrlPr>
                          <a:rPr lang="en-US" i="1">
                            <a:latin typeface="Cambria Math" panose="02040503050406030204" pitchFamily="18" charset="0"/>
                          </a:rPr>
                        </m:ctrlPr>
                      </m:accPr>
                      <m:e>
                        <m:r>
                          <a:rPr lang="en-US" i="1">
                            <a:latin typeface="Cambria Math" panose="02040503050406030204" pitchFamily="18" charset="0"/>
                          </a:rPr>
                          <m:t>𝛽</m:t>
                        </m:r>
                      </m:e>
                    </m:acc>
                    <m:r>
                      <a:rPr lang="en-US">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𝑋</m:t>
                                </m:r>
                              </m:e>
                              <m:sup>
                                <m:r>
                                  <a:rPr lang="en-US" b="0" i="1" smtClean="0">
                                    <a:latin typeface="Cambria Math" panose="02040503050406030204" pitchFamily="18" charset="0"/>
                                  </a:rPr>
                                  <m:t>𝑇</m:t>
                                </m:r>
                              </m:sup>
                            </m:sSup>
                            <m:r>
                              <a:rPr lang="en-US" i="1">
                                <a:latin typeface="Cambria Math" panose="02040503050406030204" pitchFamily="18" charset="0"/>
                              </a:rPr>
                              <m:t>𝑋</m:t>
                            </m:r>
                          </m:e>
                        </m:d>
                      </m:e>
                      <m:sup>
                        <m:r>
                          <a:rPr lang="en-US" i="1">
                            <a:latin typeface="Cambria Math" panose="02040503050406030204" pitchFamily="18" charset="0"/>
                          </a:rPr>
                          <m:t>−</m:t>
                        </m:r>
                        <m:r>
                          <a:rPr lang="en-US">
                            <a:latin typeface="Cambria Math" panose="02040503050406030204" pitchFamily="18" charset="0"/>
                          </a:rPr>
                          <m:t>1</m:t>
                        </m:r>
                      </m:sup>
                    </m:sSup>
                    <m:sSup>
                      <m:sSupPr>
                        <m:ctrlPr>
                          <a:rPr lang="en-US" i="1">
                            <a:latin typeface="Cambria Math" panose="02040503050406030204" pitchFamily="18" charset="0"/>
                          </a:rPr>
                        </m:ctrlPr>
                      </m:sSupPr>
                      <m:e>
                        <m:r>
                          <a:rPr lang="en-US" i="1">
                            <a:latin typeface="Cambria Math" panose="02040503050406030204" pitchFamily="18" charset="0"/>
                          </a:rPr>
                          <m:t>𝑋</m:t>
                        </m:r>
                      </m:e>
                      <m:sup>
                        <m:r>
                          <a:rPr lang="en-US" b="0" i="1" smtClean="0">
                            <a:latin typeface="Cambria Math" panose="02040503050406030204" pitchFamily="18" charset="0"/>
                          </a:rPr>
                          <m:t>𝑇</m:t>
                        </m:r>
                      </m:sup>
                    </m:sSup>
                    <m:r>
                      <a:rPr lang="en-US" i="1">
                        <a:latin typeface="Cambria Math" panose="02040503050406030204" pitchFamily="18" charset="0"/>
                      </a:rPr>
                      <m:t>𝑦</m:t>
                    </m:r>
                  </m:oMath>
                </a14:m>
                <a:r>
                  <a:rPr lang="en-US" dirty="0"/>
                  <a:t>. Then </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𝛽</m:t>
                      </m:r>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r>
                        <a:rPr lang="en-US">
                          <a:latin typeface="Cambria Math" panose="02040503050406030204" pitchFamily="18" charset="0"/>
                        </a:rPr>
                        <m:t>∼</m:t>
                      </m:r>
                      <m:r>
                        <a:rPr lang="en-US" i="1">
                          <a:latin typeface="Cambria Math" panose="02040503050406030204" pitchFamily="18" charset="0"/>
                        </a:rPr>
                        <m:t>𝑁</m:t>
                      </m:r>
                      <m:d>
                        <m:dPr>
                          <m:ctrlPr>
                            <a:rPr lang="en-US" i="1">
                              <a:latin typeface="Cambria Math" panose="02040503050406030204" pitchFamily="18" charset="0"/>
                            </a:rPr>
                          </m:ctrlPr>
                        </m:dPr>
                        <m:e>
                          <m:acc>
                            <m:accPr>
                              <m:chr m:val="ˆ"/>
                              <m:ctrlPr>
                                <a:rPr lang="en-US" i="1">
                                  <a:latin typeface="Cambria Math" panose="02040503050406030204" pitchFamily="18" charset="0"/>
                                </a:rPr>
                              </m:ctrlPr>
                            </m:accPr>
                            <m:e>
                              <m:r>
                                <a:rPr lang="en-US" i="1">
                                  <a:latin typeface="Cambria Math" panose="02040503050406030204" pitchFamily="18" charset="0"/>
                                </a:rPr>
                                <m:t>𝛽</m:t>
                              </m:r>
                            </m:e>
                          </m:acc>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sSup>
                            <m:sSupPr>
                              <m:ctrlPr>
                                <a:rPr lang="en-US" i="1">
                                  <a:latin typeface="Cambria Math" panose="02040503050406030204" pitchFamily="18" charset="0"/>
                                </a:rPr>
                              </m:ctrlPr>
                            </m:sSupPr>
                            <m:e>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𝑋</m:t>
                                      </m:r>
                                    </m:e>
                                    <m:sup>
                                      <m:r>
                                        <a:rPr lang="en-US" b="0" i="1" smtClean="0">
                                          <a:latin typeface="Cambria Math" panose="02040503050406030204" pitchFamily="18" charset="0"/>
                                        </a:rPr>
                                        <m:t>𝑇</m:t>
                                      </m:r>
                                    </m:sup>
                                  </m:sSup>
                                  <m:r>
                                    <a:rPr lang="en-US" i="1">
                                      <a:latin typeface="Cambria Math" panose="02040503050406030204" pitchFamily="18" charset="0"/>
                                    </a:rPr>
                                    <m:t>𝑋</m:t>
                                  </m:r>
                                </m:e>
                              </m:d>
                            </m:e>
                            <m:sup>
                              <m:r>
                                <a:rPr lang="en-US" i="1">
                                  <a:latin typeface="Cambria Math" panose="02040503050406030204" pitchFamily="18" charset="0"/>
                                </a:rPr>
                                <m:t>−</m:t>
                              </m:r>
                              <m:r>
                                <a:rPr lang="en-US">
                                  <a:latin typeface="Cambria Math" panose="02040503050406030204" pitchFamily="18" charset="0"/>
                                </a:rPr>
                                <m:t>1</m:t>
                              </m:r>
                            </m:sup>
                          </m:sSup>
                        </m:e>
                      </m:d>
                    </m:oMath>
                  </m:oMathPara>
                </a14:m>
                <a:endParaRPr lang="en-US" dirty="0"/>
              </a:p>
              <a:p>
                <a:r>
                  <a:rPr lang="en-US" dirty="0"/>
                  <a:t>The marginal posterior distribution, </a:t>
                </a:r>
                <a14:m>
                  <m:oMath xmlns:m="http://schemas.openxmlformats.org/officeDocument/2006/math">
                    <m:r>
                      <a:rPr lang="en-US" i="1">
                        <a:latin typeface="Cambria Math" panose="02040503050406030204" pitchFamily="18" charset="0"/>
                      </a:rPr>
                      <m:t>𝑝</m:t>
                    </m:r>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e>
                    </m:d>
                  </m:oMath>
                </a14:m>
                <a:r>
                  <a:rPr lang="en-US" dirty="0"/>
                  <a:t>, is computed by integrating the joint posterior distribution with respect to </a:t>
                </a:r>
                <a14:m>
                  <m:oMath xmlns:m="http://schemas.openxmlformats.org/officeDocument/2006/math">
                    <m:r>
                      <a:rPr lang="en-US" i="1">
                        <a:latin typeface="Cambria Math" panose="02040503050406030204" pitchFamily="18" charset="0"/>
                      </a:rPr>
                      <m:t>𝛽</m:t>
                    </m:r>
                  </m:oMath>
                </a14:m>
                <a:endParaRPr lang="en-US"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𝑝</m:t>
                      </m:r>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e>
                      </m:d>
                      <m:r>
                        <a:rPr lang="en-US">
                          <a:latin typeface="Cambria Math" panose="02040503050406030204" pitchFamily="18" charset="0"/>
                        </a:rPr>
                        <m:t>=</m:t>
                      </m:r>
                      <m:nary>
                        <m:naryPr>
                          <m:limLoc m:val="undOvr"/>
                          <m:subHide m:val="on"/>
                          <m:supHide m:val="on"/>
                          <m:ctrlPr>
                            <a:rPr lang="en-US" i="1">
                              <a:latin typeface="Cambria Math" panose="02040503050406030204" pitchFamily="18" charset="0"/>
                            </a:rPr>
                          </m:ctrlPr>
                        </m:naryPr>
                        <m:sub/>
                        <m:sup/>
                        <m:e>
                          <m:r>
                            <a:rPr lang="en-US" i="1">
                              <a:latin typeface="Cambria Math" panose="02040503050406030204" pitchFamily="18" charset="0"/>
                            </a:rPr>
                            <m:t> </m:t>
                          </m:r>
                        </m:e>
                      </m:nary>
                      <m:r>
                        <a:rPr lang="en-US" i="1">
                          <a:latin typeface="Cambria Math" panose="02040503050406030204" pitchFamily="18" charset="0"/>
                        </a:rPr>
                        <m:t>𝑝</m:t>
                      </m:r>
                      <m:d>
                        <m:dPr>
                          <m:ctrlPr>
                            <a:rPr lang="en-US" i="1">
                              <a:latin typeface="Cambria Math" panose="02040503050406030204" pitchFamily="18" charset="0"/>
                            </a:rPr>
                          </m:ctrlPr>
                        </m:dPr>
                        <m:e>
                          <m:r>
                            <a:rPr lang="en-US" i="1">
                              <a:latin typeface="Cambria Math" panose="02040503050406030204" pitchFamily="18" charset="0"/>
                            </a:rPr>
                            <m:t>𝛽</m:t>
                          </m:r>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e>
                      </m:d>
                      <m:r>
                        <a:rPr lang="en-US" i="1">
                          <a:latin typeface="Cambria Math" panose="02040503050406030204" pitchFamily="18" charset="0"/>
                        </a:rPr>
                        <m:t>𝑑</m:t>
                      </m:r>
                      <m:r>
                        <a:rPr lang="en-US" i="1">
                          <a:latin typeface="Cambria Math" panose="02040503050406030204" pitchFamily="18" charset="0"/>
                        </a:rPr>
                        <m:t>𝛽</m:t>
                      </m:r>
                    </m:oMath>
                  </m:oMathPara>
                </a14:m>
                <a:endParaRPr lang="en-US" dirty="0"/>
              </a:p>
              <a:p>
                <a:pPr marL="0" indent="0">
                  <a:buNone/>
                </a:pPr>
                <a14:m>
                  <m:oMathPara xmlns:m="http://schemas.openxmlformats.org/officeDocument/2006/math">
                    <m:oMathParaPr>
                      <m:jc m:val="centerGroup"/>
                    </m:oMathParaPr>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r>
                        <a:rPr lang="en-US" i="1" smtClean="0">
                          <a:latin typeface="Cambria Math" panose="02040503050406030204" pitchFamily="18" charset="0"/>
                          <a:ea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Inv</m:t>
                      </m:r>
                      <m:r>
                        <a:rPr lang="en-US" b="0" i="1" smtClean="0">
                          <a:latin typeface="Cambria Math" panose="02040503050406030204" pitchFamily="18" charset="0"/>
                          <a:ea typeface="Cambria Math" panose="02040503050406030204" pitchFamily="18" charset="0"/>
                        </a:rPr>
                        <m:t>_</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𝜒</m:t>
                          </m:r>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𝑘</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𝑠</m:t>
                          </m:r>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m:t>
                      </m:r>
                    </m:oMath>
                  </m:oMathPara>
                </a14:m>
                <a:endParaRPr lang="en-US" dirty="0"/>
              </a:p>
              <a:p>
                <a:pPr marL="0" indent="0">
                  <a:buNone/>
                </a:pPr>
                <a:r>
                  <a:rPr lang="en-US" dirty="0"/>
                  <a:t>where </a:t>
                </a:r>
                <a14:m>
                  <m:oMath xmlns:m="http://schemas.openxmlformats.org/officeDocument/2006/math">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𝑠</m:t>
                        </m:r>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𝑘</m:t>
                        </m:r>
                      </m:den>
                    </m:f>
                    <m:sSup>
                      <m:sSupPr>
                        <m:ctrlPr>
                          <a:rPr lang="en-US" b="0" i="1" smtClean="0">
                            <a:solidFill>
                              <a:schemeClr val="bg1"/>
                            </a:solidFill>
                            <a:latin typeface="Cambria Math" panose="02040503050406030204" pitchFamily="18" charset="0"/>
                            <a:ea typeface="Cambria Math" panose="02040503050406030204" pitchFamily="18" charset="0"/>
                          </a:rPr>
                        </m:ctrlPr>
                      </m:sSupPr>
                      <m:e>
                        <m:d>
                          <m:dPr>
                            <m:ctrlPr>
                              <a:rPr lang="en-US" b="0" i="1" smtClean="0">
                                <a:solidFill>
                                  <a:schemeClr val="bg1"/>
                                </a:solidFill>
                                <a:latin typeface="Cambria Math" panose="02040503050406030204" pitchFamily="18" charset="0"/>
                                <a:ea typeface="Cambria Math" panose="02040503050406030204" pitchFamily="18" charset="0"/>
                              </a:rPr>
                            </m:ctrlPr>
                          </m:dPr>
                          <m:e>
                            <m:r>
                              <a:rPr lang="en-US" b="0" i="1" smtClean="0">
                                <a:solidFill>
                                  <a:schemeClr val="bg1"/>
                                </a:solidFill>
                                <a:latin typeface="Cambria Math" panose="02040503050406030204" pitchFamily="18" charset="0"/>
                                <a:ea typeface="Cambria Math" panose="02040503050406030204" pitchFamily="18" charset="0"/>
                              </a:rPr>
                              <m:t>𝑦</m:t>
                            </m:r>
                            <m:r>
                              <a:rPr lang="en-US" b="0" i="1" smtClean="0">
                                <a:solidFill>
                                  <a:schemeClr val="bg1"/>
                                </a:solidFill>
                                <a:latin typeface="Cambria Math" panose="02040503050406030204" pitchFamily="18" charset="0"/>
                                <a:ea typeface="Cambria Math" panose="02040503050406030204" pitchFamily="18" charset="0"/>
                              </a:rPr>
                              <m:t>−</m:t>
                            </m:r>
                            <m:r>
                              <a:rPr lang="en-US" b="0" i="1" smtClean="0">
                                <a:solidFill>
                                  <a:schemeClr val="bg1"/>
                                </a:solidFill>
                                <a:latin typeface="Cambria Math" panose="02040503050406030204" pitchFamily="18" charset="0"/>
                                <a:ea typeface="Cambria Math" panose="02040503050406030204" pitchFamily="18" charset="0"/>
                              </a:rPr>
                              <m:t>𝑋</m:t>
                            </m:r>
                            <m:acc>
                              <m:accPr>
                                <m:chr m:val="ˆ"/>
                                <m:ctrlPr>
                                  <a:rPr lang="en-US" i="1">
                                    <a:solidFill>
                                      <a:schemeClr val="bg1"/>
                                    </a:solidFill>
                                    <a:latin typeface="Cambria Math" panose="02040503050406030204" pitchFamily="18" charset="0"/>
                                  </a:rPr>
                                </m:ctrlPr>
                              </m:accPr>
                              <m:e>
                                <m:r>
                                  <a:rPr lang="en-US" i="1">
                                    <a:solidFill>
                                      <a:schemeClr val="bg1"/>
                                    </a:solidFill>
                                    <a:latin typeface="Cambria Math" panose="02040503050406030204" pitchFamily="18" charset="0"/>
                                  </a:rPr>
                                  <m:t>𝛽</m:t>
                                </m:r>
                              </m:e>
                            </m:acc>
                          </m:e>
                        </m:d>
                      </m:e>
                      <m:sup>
                        <m:r>
                          <a:rPr lang="en-US" b="0" i="1" smtClean="0">
                            <a:solidFill>
                              <a:schemeClr val="bg1"/>
                            </a:solidFill>
                            <a:latin typeface="Cambria Math" panose="02040503050406030204" pitchFamily="18" charset="0"/>
                            <a:ea typeface="Cambria Math" panose="02040503050406030204" pitchFamily="18" charset="0"/>
                          </a:rPr>
                          <m:t>𝑇</m:t>
                        </m:r>
                      </m:sup>
                    </m:sSup>
                    <m:d>
                      <m:dPr>
                        <m:ctrlPr>
                          <a:rPr lang="en-US" b="0" i="1" smtClean="0">
                            <a:solidFill>
                              <a:schemeClr val="bg1"/>
                            </a:solidFill>
                            <a:latin typeface="Cambria Math" panose="02040503050406030204" pitchFamily="18" charset="0"/>
                            <a:ea typeface="Cambria Math" panose="02040503050406030204" pitchFamily="18" charset="0"/>
                          </a:rPr>
                        </m:ctrlPr>
                      </m:dPr>
                      <m:e>
                        <m:r>
                          <a:rPr lang="en-US" i="1">
                            <a:solidFill>
                              <a:schemeClr val="bg1"/>
                            </a:solidFill>
                            <a:latin typeface="Cambria Math" panose="02040503050406030204" pitchFamily="18" charset="0"/>
                            <a:ea typeface="Cambria Math" panose="02040503050406030204" pitchFamily="18" charset="0"/>
                          </a:rPr>
                          <m:t>𝑦</m:t>
                        </m:r>
                        <m:r>
                          <a:rPr lang="en-US" i="1">
                            <a:solidFill>
                              <a:schemeClr val="bg1"/>
                            </a:solidFill>
                            <a:latin typeface="Cambria Math" panose="02040503050406030204" pitchFamily="18" charset="0"/>
                            <a:ea typeface="Cambria Math" panose="02040503050406030204" pitchFamily="18" charset="0"/>
                          </a:rPr>
                          <m:t>−</m:t>
                        </m:r>
                        <m:r>
                          <a:rPr lang="en-US" i="1">
                            <a:solidFill>
                              <a:schemeClr val="bg1"/>
                            </a:solidFill>
                            <a:latin typeface="Cambria Math" panose="02040503050406030204" pitchFamily="18" charset="0"/>
                            <a:ea typeface="Cambria Math" panose="02040503050406030204" pitchFamily="18" charset="0"/>
                          </a:rPr>
                          <m:t>𝑋</m:t>
                        </m:r>
                        <m:acc>
                          <m:accPr>
                            <m:chr m:val="ˆ"/>
                            <m:ctrlPr>
                              <a:rPr lang="en-US" i="1">
                                <a:solidFill>
                                  <a:schemeClr val="bg1"/>
                                </a:solidFill>
                                <a:latin typeface="Cambria Math" panose="02040503050406030204" pitchFamily="18" charset="0"/>
                              </a:rPr>
                            </m:ctrlPr>
                          </m:accPr>
                          <m:e>
                            <m:r>
                              <a:rPr lang="en-US" i="1">
                                <a:solidFill>
                                  <a:schemeClr val="bg1"/>
                                </a:solidFill>
                                <a:latin typeface="Cambria Math" panose="02040503050406030204" pitchFamily="18" charset="0"/>
                              </a:rPr>
                              <m:t>𝛽</m:t>
                            </m:r>
                          </m:e>
                        </m:acc>
                      </m:e>
                    </m:d>
                  </m:oMath>
                </a14:m>
                <a:endParaRPr lang="en-US" dirty="0"/>
              </a:p>
            </p:txBody>
          </p:sp>
        </mc:Choice>
        <mc:Fallback xmlns="">
          <p:sp>
            <p:nvSpPr>
              <p:cNvPr id="3" name="Content Placeholder 2">
                <a:extLst>
                  <a:ext uri="{FF2B5EF4-FFF2-40B4-BE49-F238E27FC236}">
                    <a16:creationId xmlns:a16="http://schemas.microsoft.com/office/drawing/2014/main" id="{7AE4CFE4-5854-EF20-A855-28CC80A01652}"/>
                  </a:ext>
                </a:extLst>
              </p:cNvPr>
              <p:cNvSpPr>
                <a:spLocks noGrp="1" noRot="1" noChangeAspect="1" noMove="1" noResize="1" noEditPoints="1" noAdjustHandles="1" noChangeArrowheads="1" noChangeShapeType="1" noTextEdit="1"/>
              </p:cNvSpPr>
              <p:nvPr>
                <p:ph idx="1"/>
              </p:nvPr>
            </p:nvSpPr>
            <p:spPr>
              <a:blipFill>
                <a:blip r:embed="rId3"/>
                <a:stretch>
                  <a:fillRect l="-1341" t="-1289" b="-20074"/>
                </a:stretch>
              </a:blipFill>
            </p:spPr>
            <p:txBody>
              <a:bodyPr/>
              <a:lstStyle/>
              <a:p>
                <a:r>
                  <a:rPr lang="en-US">
                    <a:noFill/>
                  </a:rPr>
                  <a:t> </a:t>
                </a:r>
              </a:p>
            </p:txBody>
          </p:sp>
        </mc:Fallback>
      </mc:AlternateContent>
    </p:spTree>
    <p:extLst>
      <p:ext uri="{BB962C8B-B14F-4D97-AF65-F5344CB8AC3E}">
        <p14:creationId xmlns:p14="http://schemas.microsoft.com/office/powerpoint/2010/main" val="23883133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A8130-4F60-3F4C-67E0-DC0221E907CB}"/>
              </a:ext>
            </a:extLst>
          </p:cNvPr>
          <p:cNvSpPr>
            <a:spLocks noGrp="1"/>
          </p:cNvSpPr>
          <p:nvPr>
            <p:ph type="title"/>
          </p:nvPr>
        </p:nvSpPr>
        <p:spPr/>
        <p:txBody>
          <a:bodyPr/>
          <a:lstStyle/>
          <a:p>
            <a:r>
              <a:rPr lang="en-US" dirty="0"/>
              <a:t>Conditional Posterior Distribution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AE4CFE4-5854-EF20-A855-28CC80A01652}"/>
                  </a:ext>
                </a:extLst>
              </p:cNvPr>
              <p:cNvSpPr>
                <a:spLocks noGrp="1"/>
              </p:cNvSpPr>
              <p:nvPr>
                <p:ph idx="1"/>
              </p:nvPr>
            </p:nvSpPr>
            <p:spPr/>
            <p:txBody>
              <a:bodyPr/>
              <a:lstStyle/>
              <a:p>
                <a:r>
                  <a:rPr lang="en-US" dirty="0"/>
                  <a:t>Define </a:t>
                </a:r>
                <a14:m>
                  <m:oMath xmlns:m="http://schemas.openxmlformats.org/officeDocument/2006/math">
                    <m:acc>
                      <m:accPr>
                        <m:chr m:val="ˆ"/>
                        <m:ctrlPr>
                          <a:rPr lang="en-US" i="1">
                            <a:latin typeface="Cambria Math" panose="02040503050406030204" pitchFamily="18" charset="0"/>
                          </a:rPr>
                        </m:ctrlPr>
                      </m:accPr>
                      <m:e>
                        <m:r>
                          <a:rPr lang="en-US" i="1">
                            <a:latin typeface="Cambria Math" panose="02040503050406030204" pitchFamily="18" charset="0"/>
                          </a:rPr>
                          <m:t>𝛽</m:t>
                        </m:r>
                      </m:e>
                    </m:acc>
                    <m:r>
                      <a:rPr lang="en-US">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𝑋</m:t>
                                </m:r>
                              </m:e>
                              <m:sup>
                                <m:r>
                                  <a:rPr lang="en-US" b="0" i="1" smtClean="0">
                                    <a:latin typeface="Cambria Math" panose="02040503050406030204" pitchFamily="18" charset="0"/>
                                  </a:rPr>
                                  <m:t>𝑇</m:t>
                                </m:r>
                              </m:sup>
                            </m:sSup>
                            <m:r>
                              <a:rPr lang="en-US" i="1">
                                <a:latin typeface="Cambria Math" panose="02040503050406030204" pitchFamily="18" charset="0"/>
                              </a:rPr>
                              <m:t>𝑋</m:t>
                            </m:r>
                          </m:e>
                        </m:d>
                      </m:e>
                      <m:sup>
                        <m:r>
                          <a:rPr lang="en-US" i="1">
                            <a:latin typeface="Cambria Math" panose="02040503050406030204" pitchFamily="18" charset="0"/>
                          </a:rPr>
                          <m:t>−</m:t>
                        </m:r>
                        <m:r>
                          <a:rPr lang="en-US">
                            <a:latin typeface="Cambria Math" panose="02040503050406030204" pitchFamily="18" charset="0"/>
                          </a:rPr>
                          <m:t>1</m:t>
                        </m:r>
                      </m:sup>
                    </m:sSup>
                    <m:sSup>
                      <m:sSupPr>
                        <m:ctrlPr>
                          <a:rPr lang="en-US" i="1">
                            <a:latin typeface="Cambria Math" panose="02040503050406030204" pitchFamily="18" charset="0"/>
                          </a:rPr>
                        </m:ctrlPr>
                      </m:sSupPr>
                      <m:e>
                        <m:r>
                          <a:rPr lang="en-US" i="1">
                            <a:latin typeface="Cambria Math" panose="02040503050406030204" pitchFamily="18" charset="0"/>
                          </a:rPr>
                          <m:t>𝑋</m:t>
                        </m:r>
                      </m:e>
                      <m:sup>
                        <m:r>
                          <a:rPr lang="en-US" b="0" i="1" smtClean="0">
                            <a:latin typeface="Cambria Math" panose="02040503050406030204" pitchFamily="18" charset="0"/>
                          </a:rPr>
                          <m:t>𝑇</m:t>
                        </m:r>
                      </m:sup>
                    </m:sSup>
                    <m:r>
                      <a:rPr lang="en-US" i="1">
                        <a:latin typeface="Cambria Math" panose="02040503050406030204" pitchFamily="18" charset="0"/>
                      </a:rPr>
                      <m:t>𝑦</m:t>
                    </m:r>
                  </m:oMath>
                </a14:m>
                <a:r>
                  <a:rPr lang="en-US" dirty="0"/>
                  <a:t> and </a:t>
                </a:r>
                <a14:m>
                  <m:oMath xmlns:m="http://schemas.openxmlformats.org/officeDocument/2006/math">
                    <m:sSup>
                      <m:sSupPr>
                        <m:ctrlPr>
                          <a:rPr lang="en-US" i="1">
                            <a:latin typeface="Cambria Math" panose="02040503050406030204" pitchFamily="18" charset="0"/>
                          </a:rPr>
                        </m:ctrlPr>
                      </m:sSupPr>
                      <m:e>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𝛽</m:t>
                            </m:r>
                          </m:sub>
                        </m:sSub>
                        <m:r>
                          <a:rPr lang="en-US" i="1">
                            <a:latin typeface="Cambria Math" panose="02040503050406030204" pitchFamily="18" charset="0"/>
                          </a:rPr>
                          <m:t>:=</m:t>
                        </m:r>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𝑋</m:t>
                                </m:r>
                              </m:e>
                              <m:sup>
                                <m:r>
                                  <a:rPr lang="en-US" i="1">
                                    <a:latin typeface="Cambria Math" panose="02040503050406030204" pitchFamily="18" charset="0"/>
                                  </a:rPr>
                                  <m:t>𝑇</m:t>
                                </m:r>
                              </m:sup>
                            </m:sSup>
                            <m:r>
                              <a:rPr lang="en-US" i="1">
                                <a:latin typeface="Cambria Math" panose="02040503050406030204" pitchFamily="18" charset="0"/>
                              </a:rPr>
                              <m:t>𝑋</m:t>
                            </m:r>
                          </m:e>
                        </m:d>
                      </m:e>
                      <m:sup>
                        <m:r>
                          <a:rPr lang="en-US" i="1">
                            <a:latin typeface="Cambria Math" panose="02040503050406030204" pitchFamily="18" charset="0"/>
                          </a:rPr>
                          <m:t>−</m:t>
                        </m:r>
                        <m:r>
                          <a:rPr lang="en-US">
                            <a:latin typeface="Cambria Math" panose="02040503050406030204" pitchFamily="18" charset="0"/>
                          </a:rPr>
                          <m:t>1</m:t>
                        </m:r>
                      </m:sup>
                    </m:sSup>
                  </m:oMath>
                </a14:m>
                <a:r>
                  <a:rPr lang="en-US" dirty="0"/>
                  <a:t>. Then </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𝛽</m:t>
                      </m:r>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r>
                        <a:rPr lang="en-US">
                          <a:latin typeface="Cambria Math" panose="02040503050406030204" pitchFamily="18" charset="0"/>
                        </a:rPr>
                        <m:t>∼</m:t>
                      </m:r>
                      <m:r>
                        <a:rPr lang="en-US" i="1">
                          <a:latin typeface="Cambria Math" panose="02040503050406030204" pitchFamily="18" charset="0"/>
                        </a:rPr>
                        <m:t>𝑁</m:t>
                      </m:r>
                      <m:d>
                        <m:dPr>
                          <m:ctrlPr>
                            <a:rPr lang="en-US" i="1">
                              <a:latin typeface="Cambria Math" panose="02040503050406030204" pitchFamily="18" charset="0"/>
                            </a:rPr>
                          </m:ctrlPr>
                        </m:dPr>
                        <m:e>
                          <m:acc>
                            <m:accPr>
                              <m:chr m:val="ˆ"/>
                              <m:ctrlPr>
                                <a:rPr lang="en-US" i="1">
                                  <a:latin typeface="Cambria Math" panose="02040503050406030204" pitchFamily="18" charset="0"/>
                                </a:rPr>
                              </m:ctrlPr>
                            </m:accPr>
                            <m:e>
                              <m:r>
                                <a:rPr lang="en-US" i="1">
                                  <a:latin typeface="Cambria Math" panose="02040503050406030204" pitchFamily="18" charset="0"/>
                                </a:rPr>
                                <m:t>𝛽</m:t>
                              </m:r>
                            </m:e>
                          </m:acc>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𝛽</m:t>
                              </m:r>
                            </m:sub>
                          </m:sSub>
                        </m:e>
                      </m:d>
                    </m:oMath>
                  </m:oMathPara>
                </a14:m>
                <a:endParaRPr lang="en-US" dirty="0"/>
              </a:p>
              <a:p>
                <a:r>
                  <a:rPr lang="en-US" dirty="0"/>
                  <a:t>The marginal posterior distribution, </a:t>
                </a:r>
                <a14:m>
                  <m:oMath xmlns:m="http://schemas.openxmlformats.org/officeDocument/2006/math">
                    <m:r>
                      <a:rPr lang="en-US" i="1">
                        <a:latin typeface="Cambria Math" panose="02040503050406030204" pitchFamily="18" charset="0"/>
                      </a:rPr>
                      <m:t>𝑝</m:t>
                    </m:r>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e>
                    </m:d>
                  </m:oMath>
                </a14:m>
                <a:r>
                  <a:rPr lang="en-US" dirty="0"/>
                  <a:t>, is computed by integrating the joint posterior distribution with respect to </a:t>
                </a:r>
                <a14:m>
                  <m:oMath xmlns:m="http://schemas.openxmlformats.org/officeDocument/2006/math">
                    <m:r>
                      <a:rPr lang="en-US" i="1">
                        <a:latin typeface="Cambria Math" panose="02040503050406030204" pitchFamily="18" charset="0"/>
                      </a:rPr>
                      <m:t>𝛽</m:t>
                    </m:r>
                  </m:oMath>
                </a14:m>
                <a:endParaRPr lang="en-US"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𝑝</m:t>
                      </m:r>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e>
                      </m:d>
                      <m:r>
                        <a:rPr lang="en-US">
                          <a:latin typeface="Cambria Math" panose="02040503050406030204" pitchFamily="18" charset="0"/>
                        </a:rPr>
                        <m:t>=</m:t>
                      </m:r>
                      <m:nary>
                        <m:naryPr>
                          <m:limLoc m:val="undOvr"/>
                          <m:subHide m:val="on"/>
                          <m:supHide m:val="on"/>
                          <m:ctrlPr>
                            <a:rPr lang="en-US" i="1">
                              <a:latin typeface="Cambria Math" panose="02040503050406030204" pitchFamily="18" charset="0"/>
                            </a:rPr>
                          </m:ctrlPr>
                        </m:naryPr>
                        <m:sub/>
                        <m:sup/>
                        <m:e>
                          <m:r>
                            <a:rPr lang="en-US" i="1">
                              <a:latin typeface="Cambria Math" panose="02040503050406030204" pitchFamily="18" charset="0"/>
                            </a:rPr>
                            <m:t> </m:t>
                          </m:r>
                        </m:e>
                      </m:nary>
                      <m:r>
                        <a:rPr lang="en-US" i="1">
                          <a:latin typeface="Cambria Math" panose="02040503050406030204" pitchFamily="18" charset="0"/>
                        </a:rPr>
                        <m:t>𝑝</m:t>
                      </m:r>
                      <m:d>
                        <m:dPr>
                          <m:ctrlPr>
                            <a:rPr lang="en-US" i="1">
                              <a:latin typeface="Cambria Math" panose="02040503050406030204" pitchFamily="18" charset="0"/>
                            </a:rPr>
                          </m:ctrlPr>
                        </m:dPr>
                        <m:e>
                          <m:r>
                            <a:rPr lang="en-US" i="1">
                              <a:latin typeface="Cambria Math" panose="02040503050406030204" pitchFamily="18" charset="0"/>
                            </a:rPr>
                            <m:t>𝛽</m:t>
                          </m:r>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e>
                      </m:d>
                      <m:r>
                        <a:rPr lang="en-US" i="1">
                          <a:latin typeface="Cambria Math" panose="02040503050406030204" pitchFamily="18" charset="0"/>
                        </a:rPr>
                        <m:t>𝑑</m:t>
                      </m:r>
                      <m:r>
                        <a:rPr lang="en-US" i="1">
                          <a:latin typeface="Cambria Math" panose="02040503050406030204" pitchFamily="18" charset="0"/>
                        </a:rPr>
                        <m:t>𝛽</m:t>
                      </m:r>
                    </m:oMath>
                  </m:oMathPara>
                </a14:m>
                <a:endParaRPr lang="en-US" dirty="0"/>
              </a:p>
              <a:p>
                <a:pPr marL="0" indent="0">
                  <a:buNone/>
                </a:pPr>
                <a14:m>
                  <m:oMathPara xmlns:m="http://schemas.openxmlformats.org/officeDocument/2006/math">
                    <m:oMathParaPr>
                      <m:jc m:val="centerGroup"/>
                    </m:oMathParaPr>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r>
                        <a:rPr lang="en-US" i="1" smtClean="0">
                          <a:latin typeface="Cambria Math" panose="02040503050406030204" pitchFamily="18" charset="0"/>
                          <a:ea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Inv</m:t>
                      </m:r>
                      <m:r>
                        <a:rPr lang="en-US" b="0" i="1" smtClean="0">
                          <a:latin typeface="Cambria Math" panose="02040503050406030204" pitchFamily="18" charset="0"/>
                          <a:ea typeface="Cambria Math" panose="02040503050406030204" pitchFamily="18" charset="0"/>
                        </a:rPr>
                        <m:t>_</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𝜒</m:t>
                          </m:r>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𝑘</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𝑠</m:t>
                          </m:r>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m:t>
                      </m:r>
                    </m:oMath>
                  </m:oMathPara>
                </a14:m>
                <a:endParaRPr lang="en-US" dirty="0"/>
              </a:p>
              <a:p>
                <a:pPr marL="0" indent="0">
                  <a:buNone/>
                </a:pPr>
                <a:r>
                  <a:rPr lang="en-US" dirty="0"/>
                  <a:t>where </a:t>
                </a:r>
                <a14:m>
                  <m:oMath xmlns:m="http://schemas.openxmlformats.org/officeDocument/2006/math">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𝑠</m:t>
                        </m:r>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solidFill>
                              <a:schemeClr val="accent2"/>
                            </a:solidFill>
                            <a:latin typeface="Cambria Math" panose="02040503050406030204" pitchFamily="18" charset="0"/>
                            <a:ea typeface="Cambria Math" panose="02040503050406030204" pitchFamily="18" charset="0"/>
                          </a:rPr>
                          <m:t>𝑛</m:t>
                        </m:r>
                        <m:r>
                          <a:rPr lang="en-US" b="0" i="1" smtClean="0">
                            <a:solidFill>
                              <a:schemeClr val="accent2"/>
                            </a:solidFill>
                            <a:latin typeface="Cambria Math" panose="02040503050406030204" pitchFamily="18" charset="0"/>
                            <a:ea typeface="Cambria Math" panose="02040503050406030204" pitchFamily="18" charset="0"/>
                          </a:rPr>
                          <m:t>−</m:t>
                        </m:r>
                        <m:r>
                          <a:rPr lang="en-US" b="0" i="1" smtClean="0">
                            <a:solidFill>
                              <a:schemeClr val="accent2"/>
                            </a:solidFill>
                            <a:latin typeface="Cambria Math" panose="02040503050406030204" pitchFamily="18" charset="0"/>
                            <a:ea typeface="Cambria Math" panose="02040503050406030204" pitchFamily="18" charset="0"/>
                          </a:rPr>
                          <m:t>𝑘</m:t>
                        </m:r>
                      </m:den>
                    </m:f>
                    <m:sSup>
                      <m:sSupPr>
                        <m:ctrlPr>
                          <a:rPr lang="en-US" b="0" i="1" smtClean="0">
                            <a:solidFill>
                              <a:schemeClr val="tx1"/>
                            </a:solidFill>
                            <a:latin typeface="Cambria Math" panose="02040503050406030204" pitchFamily="18" charset="0"/>
                            <a:ea typeface="Cambria Math" panose="02040503050406030204" pitchFamily="18" charset="0"/>
                          </a:rPr>
                        </m:ctrlPr>
                      </m:sSupPr>
                      <m:e>
                        <m:d>
                          <m:dPr>
                            <m:ctrlPr>
                              <a:rPr lang="en-US" b="0" i="1" smtClean="0">
                                <a:solidFill>
                                  <a:schemeClr val="tx1"/>
                                </a:solidFill>
                                <a:latin typeface="Cambria Math" panose="02040503050406030204" pitchFamily="18" charset="0"/>
                                <a:ea typeface="Cambria Math" panose="02040503050406030204" pitchFamily="18" charset="0"/>
                              </a:rPr>
                            </m:ctrlPr>
                          </m:dPr>
                          <m:e>
                            <m:r>
                              <a:rPr lang="en-US" b="0" i="1" smtClean="0">
                                <a:solidFill>
                                  <a:schemeClr val="tx1"/>
                                </a:solidFill>
                                <a:latin typeface="Cambria Math" panose="02040503050406030204" pitchFamily="18" charset="0"/>
                                <a:ea typeface="Cambria Math" panose="02040503050406030204" pitchFamily="18" charset="0"/>
                              </a:rPr>
                              <m:t>𝑦</m:t>
                            </m:r>
                            <m:r>
                              <a:rPr lang="en-US" b="0" i="1" smtClean="0">
                                <a:solidFill>
                                  <a:schemeClr val="tx1"/>
                                </a:solidFill>
                                <a:latin typeface="Cambria Math" panose="02040503050406030204" pitchFamily="18" charset="0"/>
                                <a:ea typeface="Cambria Math" panose="02040503050406030204" pitchFamily="18" charset="0"/>
                              </a:rPr>
                              <m:t>−</m:t>
                            </m:r>
                            <m:r>
                              <a:rPr lang="en-US" b="0" i="1" smtClean="0">
                                <a:solidFill>
                                  <a:schemeClr val="tx1"/>
                                </a:solidFill>
                                <a:latin typeface="Cambria Math" panose="02040503050406030204" pitchFamily="18" charset="0"/>
                                <a:ea typeface="Cambria Math" panose="02040503050406030204" pitchFamily="18" charset="0"/>
                              </a:rPr>
                              <m:t>𝑋</m:t>
                            </m:r>
                            <m:acc>
                              <m:accPr>
                                <m:chr m:val="ˆ"/>
                                <m:ctrlPr>
                                  <a:rPr lang="en-US" i="1">
                                    <a:solidFill>
                                      <a:schemeClr val="tx1"/>
                                    </a:solidFill>
                                    <a:latin typeface="Cambria Math" panose="02040503050406030204" pitchFamily="18" charset="0"/>
                                  </a:rPr>
                                </m:ctrlPr>
                              </m:accPr>
                              <m:e>
                                <m:r>
                                  <a:rPr lang="en-US" i="1">
                                    <a:solidFill>
                                      <a:schemeClr val="tx1"/>
                                    </a:solidFill>
                                    <a:latin typeface="Cambria Math" panose="02040503050406030204" pitchFamily="18" charset="0"/>
                                  </a:rPr>
                                  <m:t>𝛽</m:t>
                                </m:r>
                              </m:e>
                            </m:acc>
                          </m:e>
                        </m:d>
                      </m:e>
                      <m:sup>
                        <m:r>
                          <a:rPr lang="en-US" b="0" i="1" smtClean="0">
                            <a:solidFill>
                              <a:schemeClr val="tx1"/>
                            </a:solidFill>
                            <a:latin typeface="Cambria Math" panose="02040503050406030204" pitchFamily="18" charset="0"/>
                            <a:ea typeface="Cambria Math" panose="02040503050406030204" pitchFamily="18" charset="0"/>
                          </a:rPr>
                          <m:t>𝑇</m:t>
                        </m:r>
                      </m:sup>
                    </m:sSup>
                    <m:d>
                      <m:dPr>
                        <m:ctrlPr>
                          <a:rPr lang="en-US" b="0" i="1" smtClean="0">
                            <a:solidFill>
                              <a:schemeClr val="tx1"/>
                            </a:solidFill>
                            <a:latin typeface="Cambria Math" panose="02040503050406030204" pitchFamily="18" charset="0"/>
                            <a:ea typeface="Cambria Math" panose="02040503050406030204" pitchFamily="18" charset="0"/>
                          </a:rPr>
                        </m:ctrlPr>
                      </m:dPr>
                      <m:e>
                        <m:r>
                          <a:rPr lang="en-US" i="1">
                            <a:solidFill>
                              <a:schemeClr val="tx1"/>
                            </a:solidFill>
                            <a:latin typeface="Cambria Math" panose="02040503050406030204" pitchFamily="18" charset="0"/>
                            <a:ea typeface="Cambria Math" panose="02040503050406030204" pitchFamily="18" charset="0"/>
                          </a:rPr>
                          <m:t>𝑦</m:t>
                        </m:r>
                        <m:r>
                          <a:rPr lang="en-US" i="1">
                            <a:solidFill>
                              <a:schemeClr val="tx1"/>
                            </a:solidFill>
                            <a:latin typeface="Cambria Math" panose="02040503050406030204" pitchFamily="18" charset="0"/>
                            <a:ea typeface="Cambria Math" panose="02040503050406030204" pitchFamily="18" charset="0"/>
                          </a:rPr>
                          <m:t>−</m:t>
                        </m:r>
                        <m:r>
                          <a:rPr lang="en-US" i="1">
                            <a:solidFill>
                              <a:schemeClr val="tx1"/>
                            </a:solidFill>
                            <a:latin typeface="Cambria Math" panose="02040503050406030204" pitchFamily="18" charset="0"/>
                            <a:ea typeface="Cambria Math" panose="02040503050406030204" pitchFamily="18" charset="0"/>
                          </a:rPr>
                          <m:t>𝑋</m:t>
                        </m:r>
                        <m:acc>
                          <m:accPr>
                            <m:chr m:val="ˆ"/>
                            <m:ctrlPr>
                              <a:rPr lang="en-US" i="1">
                                <a:solidFill>
                                  <a:schemeClr val="tx1"/>
                                </a:solidFill>
                                <a:latin typeface="Cambria Math" panose="02040503050406030204" pitchFamily="18" charset="0"/>
                              </a:rPr>
                            </m:ctrlPr>
                          </m:accPr>
                          <m:e>
                            <m:r>
                              <a:rPr lang="en-US" i="1">
                                <a:solidFill>
                                  <a:schemeClr val="tx1"/>
                                </a:solidFill>
                                <a:latin typeface="Cambria Math" panose="02040503050406030204" pitchFamily="18" charset="0"/>
                              </a:rPr>
                              <m:t>𝛽</m:t>
                            </m:r>
                          </m:e>
                        </m:acc>
                      </m:e>
                    </m:d>
                  </m:oMath>
                </a14:m>
                <a:endParaRPr lang="en-US" dirty="0"/>
              </a:p>
            </p:txBody>
          </p:sp>
        </mc:Choice>
        <mc:Fallback xmlns="">
          <p:sp>
            <p:nvSpPr>
              <p:cNvPr id="3" name="Content Placeholder 2">
                <a:extLst>
                  <a:ext uri="{FF2B5EF4-FFF2-40B4-BE49-F238E27FC236}">
                    <a16:creationId xmlns:a16="http://schemas.microsoft.com/office/drawing/2014/main" id="{7AE4CFE4-5854-EF20-A855-28CC80A01652}"/>
                  </a:ext>
                </a:extLst>
              </p:cNvPr>
              <p:cNvSpPr>
                <a:spLocks noGrp="1" noRot="1" noChangeAspect="1" noMove="1" noResize="1" noEditPoints="1" noAdjustHandles="1" noChangeArrowheads="1" noChangeShapeType="1" noTextEdit="1"/>
              </p:cNvSpPr>
              <p:nvPr>
                <p:ph idx="1"/>
              </p:nvPr>
            </p:nvSpPr>
            <p:spPr>
              <a:blipFill>
                <a:blip r:embed="rId3"/>
                <a:stretch>
                  <a:fillRect l="-1341" t="-2026" b="-20626"/>
                </a:stretch>
              </a:blipFill>
            </p:spPr>
            <p:txBody>
              <a:bodyPr/>
              <a:lstStyle/>
              <a:p>
                <a:r>
                  <a:rPr lang="en-US">
                    <a:noFill/>
                  </a:rPr>
                  <a:t> </a:t>
                </a:r>
              </a:p>
            </p:txBody>
          </p:sp>
        </mc:Fallback>
      </mc:AlternateContent>
    </p:spTree>
    <p:extLst>
      <p:ext uri="{BB962C8B-B14F-4D97-AF65-F5344CB8AC3E}">
        <p14:creationId xmlns:p14="http://schemas.microsoft.com/office/powerpoint/2010/main" val="911077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BDA0A51-B445-017C-B19B-D95D977CD4AE}"/>
              </a:ext>
            </a:extLst>
          </p:cNvPr>
          <p:cNvSpPr txBox="1">
            <a:spLocks/>
          </p:cNvSpPr>
          <p:nvPr/>
        </p:nvSpPr>
        <p:spPr bwMode="auto">
          <a:xfrm>
            <a:off x="1101724" y="4367783"/>
            <a:ext cx="16084552" cy="1551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ctr" rtl="0" fontAlgn="base">
              <a:spcBef>
                <a:spcPct val="0"/>
              </a:spcBef>
              <a:spcAft>
                <a:spcPct val="0"/>
              </a:spcAft>
              <a:defRPr sz="5600" b="1" kern="1200">
                <a:solidFill>
                  <a:schemeClr val="accent1"/>
                </a:solidFill>
                <a:latin typeface="+mj-lt"/>
                <a:ea typeface="ＭＳ Ｐゴシック" panose="020B0600070205080204" pitchFamily="34" charset="-128"/>
                <a:cs typeface="+mj-cs"/>
              </a:defRPr>
            </a:lvl1pPr>
            <a:lvl2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2pPr>
            <a:lvl3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3pPr>
            <a:lvl4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4pPr>
            <a:lvl5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5pPr>
            <a:lvl6pPr marL="9144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6pPr>
            <a:lvl7pPr marL="18288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7pPr>
            <a:lvl8pPr marL="27432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8pPr>
            <a:lvl9pPr marL="36576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9pPr>
          </a:lstStyle>
          <a:p>
            <a:r>
              <a:rPr lang="en-US" i="1"/>
              <a:t>(board example inserted here)</a:t>
            </a:r>
            <a:endParaRPr lang="en-US" i="1" dirty="0"/>
          </a:p>
        </p:txBody>
      </p:sp>
    </p:spTree>
    <p:extLst>
      <p:ext uri="{BB962C8B-B14F-4D97-AF65-F5344CB8AC3E}">
        <p14:creationId xmlns:p14="http://schemas.microsoft.com/office/powerpoint/2010/main" val="38225780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F3A1A-2319-7F00-6500-0C1203F57319}"/>
              </a:ext>
            </a:extLst>
          </p:cNvPr>
          <p:cNvSpPr>
            <a:spLocks noGrp="1"/>
          </p:cNvSpPr>
          <p:nvPr>
            <p:ph type="title"/>
          </p:nvPr>
        </p:nvSpPr>
        <p:spPr/>
        <p:txBody>
          <a:bodyPr/>
          <a:lstStyle/>
          <a:p>
            <a:r>
              <a:rPr lang="en-US" dirty="0"/>
              <a:t>Improper Prior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11137CC-D68D-52C0-54D3-A2CC553C38FB}"/>
                  </a:ext>
                </a:extLst>
              </p:cNvPr>
              <p:cNvSpPr>
                <a:spLocks noGrp="1"/>
              </p:cNvSpPr>
              <p:nvPr>
                <p:ph idx="1"/>
              </p:nvPr>
            </p:nvSpPr>
            <p:spPr/>
            <p:txBody>
              <a:bodyPr/>
              <a:lstStyle/>
              <a:p>
                <a14:m>
                  <m:oMath xmlns:m="http://schemas.openxmlformats.org/officeDocument/2006/math">
                    <m:r>
                      <a:rPr lang="en-US" b="0" i="1" smtClean="0">
                        <a:latin typeface="Cambria Math" panose="02040503050406030204" pitchFamily="18" charset="0"/>
                        <a:ea typeface="Cambria Math" panose="02040503050406030204" pitchFamily="18" charset="0"/>
                      </a:rPr>
                      <m:t>𝑝</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e>
                    </m:d>
                    <m:r>
                      <a:rPr lang="en-US" b="0" i="1" smtClean="0">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b="0" i="0" smtClean="0">
                            <a:latin typeface="Cambria Math" panose="02040503050406030204" pitchFamily="18" charset="0"/>
                          </a:rPr>
                          <m:t>−</m:t>
                        </m:r>
                        <m:r>
                          <a:rPr lang="en-US">
                            <a:latin typeface="Cambria Math" panose="02040503050406030204" pitchFamily="18" charset="0"/>
                          </a:rPr>
                          <m:t>2</m:t>
                        </m:r>
                      </m:sup>
                    </m:sSup>
                  </m:oMath>
                </a14:m>
                <a:endParaRPr lang="en-US" dirty="0"/>
              </a:p>
              <a:p>
                <a:r>
                  <a:rPr lang="en-US" dirty="0"/>
                  <a:t>A distribution is proper if </a:t>
                </a:r>
              </a:p>
              <a:p>
                <a:pPr lvl="1"/>
                <a:r>
                  <a:rPr lang="en-US" dirty="0"/>
                  <a:t>It integrates to 1 </a:t>
                </a:r>
              </a:p>
              <a:p>
                <a:pPr lvl="1"/>
                <a:r>
                  <a:rPr lang="en-US" dirty="0"/>
                  <a:t>All the probabilities are positive and finite. </a:t>
                </a:r>
              </a:p>
              <a:p>
                <a:r>
                  <a:rPr lang="en-US" dirty="0"/>
                  <a:t>Notice </a:t>
                </a:r>
                <a14:m>
                  <m:oMath xmlns:m="http://schemas.openxmlformats.org/officeDocument/2006/math">
                    <m:nary>
                      <m:naryPr>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0</m:t>
                        </m:r>
                      </m:sub>
                      <m:sup>
                        <m:r>
                          <a:rPr lang="en-US" b="0" i="1" smtClean="0">
                            <a:latin typeface="Cambria Math" panose="02040503050406030204" pitchFamily="18" charset="0"/>
                            <a:ea typeface="Cambria Math" panose="02040503050406030204" pitchFamily="18" charset="0"/>
                          </a:rPr>
                          <m:t>∞</m:t>
                        </m:r>
                      </m:sup>
                      <m:e>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𝑥</m:t>
                            </m:r>
                          </m:den>
                        </m:f>
                        <m:r>
                          <a:rPr lang="en-US" i="1">
                            <a:latin typeface="Cambria Math" panose="02040503050406030204" pitchFamily="18" charset="0"/>
                          </a:rPr>
                          <m:t>𝑑𝑥</m:t>
                        </m:r>
                      </m:e>
                    </m:nary>
                  </m:oMath>
                </a14:m>
                <a:r>
                  <a:rPr lang="en-US" dirty="0"/>
                  <a:t> is an improper integral (exercise)</a:t>
                </a:r>
              </a:p>
              <a:p>
                <a:pPr lvl="1"/>
                <a:r>
                  <a:rPr lang="en-US" dirty="0"/>
                  <a:t>It is not a finite integral </a:t>
                </a:r>
              </a:p>
              <a:p>
                <a:pPr lvl="1"/>
                <a:r>
                  <a:rPr lang="en-US" dirty="0"/>
                  <a:t>It is not defined at 0</a:t>
                </a:r>
              </a:p>
              <a:p>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711137CC-D68D-52C0-54D3-A2CC553C38FB}"/>
                  </a:ext>
                </a:extLst>
              </p:cNvPr>
              <p:cNvSpPr>
                <a:spLocks noGrp="1" noRot="1" noChangeAspect="1" noMove="1" noResize="1" noEditPoints="1" noAdjustHandles="1" noChangeArrowheads="1" noChangeShapeType="1" noTextEdit="1"/>
              </p:cNvSpPr>
              <p:nvPr>
                <p:ph idx="1"/>
              </p:nvPr>
            </p:nvSpPr>
            <p:spPr>
              <a:blipFill>
                <a:blip r:embed="rId3"/>
                <a:stretch>
                  <a:fillRect l="-1104" t="-368"/>
                </a:stretch>
              </a:blipFill>
            </p:spPr>
            <p:txBody>
              <a:bodyPr/>
              <a:lstStyle/>
              <a:p>
                <a:r>
                  <a:rPr lang="en-US">
                    <a:noFill/>
                  </a:rPr>
                  <a:t> </a:t>
                </a:r>
              </a:p>
            </p:txBody>
          </p:sp>
        </mc:Fallback>
      </mc:AlternateContent>
    </p:spTree>
    <p:extLst>
      <p:ext uri="{BB962C8B-B14F-4D97-AF65-F5344CB8AC3E}">
        <p14:creationId xmlns:p14="http://schemas.microsoft.com/office/powerpoint/2010/main" val="1459553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D6012-8ED7-033D-0481-087F16121CDA}"/>
              </a:ext>
            </a:extLst>
          </p:cNvPr>
          <p:cNvSpPr>
            <a:spLocks noGrp="1"/>
          </p:cNvSpPr>
          <p:nvPr>
            <p:ph type="title"/>
          </p:nvPr>
        </p:nvSpPr>
        <p:spPr/>
        <p:txBody>
          <a:bodyPr/>
          <a:lstStyle/>
          <a:p>
            <a:r>
              <a:rPr lang="en-US" dirty="0"/>
              <a:t>Proper Posterior Distribution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F8BDAD3-EA87-AF07-FEA5-213547E14CBA}"/>
                  </a:ext>
                </a:extLst>
              </p:cNvPr>
              <p:cNvSpPr>
                <a:spLocks noGrp="1"/>
              </p:cNvSpPr>
              <p:nvPr>
                <p:ph idx="1"/>
              </p:nvPr>
            </p:nvSpPr>
            <p:spPr/>
            <p:txBody>
              <a:bodyPr/>
              <a:lstStyle/>
              <a:p>
                <a:r>
                  <a:rPr lang="en-US" dirty="0"/>
                  <a:t>When is the joint posterior distribution </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𝑝</m:t>
                      </m:r>
                      <m:d>
                        <m:dPr>
                          <m:ctrlPr>
                            <a:rPr lang="en-US" i="1">
                              <a:latin typeface="Cambria Math" panose="02040503050406030204" pitchFamily="18" charset="0"/>
                            </a:rPr>
                          </m:ctrlPr>
                        </m:dPr>
                        <m:e>
                          <m:r>
                            <a:rPr lang="en-US" i="1">
                              <a:latin typeface="Cambria Math" panose="02040503050406030204" pitchFamily="18" charset="0"/>
                            </a:rPr>
                            <m:t>𝛽</m:t>
                          </m:r>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e>
                      </m:d>
                      <m:r>
                        <a:rPr lang="en-US">
                          <a:latin typeface="Cambria Math" panose="02040503050406030204" pitchFamily="18" charset="0"/>
                        </a:rPr>
                        <m:t>∝</m:t>
                      </m:r>
                      <m:r>
                        <m:rPr>
                          <m:sty m:val="p"/>
                        </m:rPr>
                        <a:rPr lang="en-US">
                          <a:latin typeface="Cambria Math" panose="02040503050406030204" pitchFamily="18" charset="0"/>
                        </a:rPr>
                        <m:t>exp</m:t>
                      </m:r>
                      <m:d>
                        <m:dPr>
                          <m:begChr m:val="{"/>
                          <m:endChr m:val="}"/>
                          <m:ctrlPr>
                            <a:rPr lang="en-US" i="1">
                              <a:latin typeface="Cambria Math" panose="02040503050406030204" pitchFamily="18" charset="0"/>
                            </a:rPr>
                          </m:ctrlPr>
                        </m:dPr>
                        <m:e>
                          <m:r>
                            <a:rPr lang="en-US" i="1">
                              <a:latin typeface="Cambria Math" panose="02040503050406030204" pitchFamily="18" charset="0"/>
                            </a:rPr>
                            <m:t>−</m:t>
                          </m:r>
                          <m:f>
                            <m:fPr>
                              <m:ctrlPr>
                                <a:rPr lang="en-US" i="1">
                                  <a:latin typeface="Cambria Math" panose="02040503050406030204" pitchFamily="18" charset="0"/>
                                </a:rPr>
                              </m:ctrlPr>
                            </m:fPr>
                            <m:num>
                              <m:r>
                                <a:rPr lang="en-US">
                                  <a:latin typeface="Cambria Math" panose="02040503050406030204" pitchFamily="18" charset="0"/>
                                </a:rPr>
                                <m:t>1</m:t>
                              </m:r>
                            </m:num>
                            <m:den>
                              <m:r>
                                <a:rPr lang="en-US">
                                  <a:latin typeface="Cambria Math" panose="02040503050406030204" pitchFamily="18" charset="0"/>
                                </a:rPr>
                                <m:t>2</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den>
                          </m:f>
                          <m:r>
                            <a:rPr lang="en-US">
                              <a:latin typeface="Cambria Math" panose="02040503050406030204" pitchFamily="18" charset="0"/>
                            </a:rPr>
                            <m:t>(</m:t>
                          </m:r>
                          <m:r>
                            <a:rPr lang="en-US" i="1">
                              <a:latin typeface="Cambria Math" panose="02040503050406030204" pitchFamily="18" charset="0"/>
                            </a:rPr>
                            <m:t>𝛽</m:t>
                          </m:r>
                          <m:r>
                            <a:rPr lang="en-US" i="1">
                              <a:latin typeface="Cambria Math" panose="02040503050406030204" pitchFamily="18" charset="0"/>
                            </a:rPr>
                            <m:t>−</m:t>
                          </m:r>
                          <m:acc>
                            <m:accPr>
                              <m:chr m:val="ˆ"/>
                              <m:ctrlPr>
                                <a:rPr lang="en-US" i="1">
                                  <a:latin typeface="Cambria Math" panose="02040503050406030204" pitchFamily="18" charset="0"/>
                                </a:rPr>
                              </m:ctrlPr>
                            </m:accPr>
                            <m:e>
                              <m:r>
                                <a:rPr lang="en-US" i="1">
                                  <a:latin typeface="Cambria Math" panose="02040503050406030204" pitchFamily="18" charset="0"/>
                                </a:rPr>
                                <m:t>𝛽</m:t>
                              </m:r>
                            </m:e>
                          </m:acc>
                          <m:sSup>
                            <m:sSupPr>
                              <m:ctrlPr>
                                <a:rPr lang="en-US" i="1">
                                  <a:latin typeface="Cambria Math" panose="02040503050406030204" pitchFamily="18" charset="0"/>
                                </a:rPr>
                              </m:ctrlPr>
                            </m:sSupPr>
                            <m:e>
                              <m:r>
                                <a:rPr lang="en-US">
                                  <a:latin typeface="Cambria Math" panose="02040503050406030204" pitchFamily="18" charset="0"/>
                                </a:rPr>
                                <m:t>)</m:t>
                              </m:r>
                            </m:e>
                            <m:sup>
                              <m:r>
                                <a:rPr lang="en-US" b="0" i="1" smtClean="0">
                                  <a:latin typeface="Cambria Math" panose="02040503050406030204" pitchFamily="18" charset="0"/>
                                </a:rPr>
                                <m:t>𝑇</m:t>
                              </m:r>
                            </m:sup>
                          </m:sSup>
                          <m:sSup>
                            <m:sSupPr>
                              <m:ctrlPr>
                                <a:rPr lang="en-US" i="1">
                                  <a:latin typeface="Cambria Math" panose="02040503050406030204" pitchFamily="18" charset="0"/>
                                </a:rPr>
                              </m:ctrlPr>
                            </m:sSupPr>
                            <m:e>
                              <m:r>
                                <a:rPr lang="en-US" i="1">
                                  <a:latin typeface="Cambria Math" panose="02040503050406030204" pitchFamily="18" charset="0"/>
                                </a:rPr>
                                <m:t>𝑋</m:t>
                              </m:r>
                            </m:e>
                            <m:sup>
                              <m:r>
                                <a:rPr lang="en-US" b="0" i="1" smtClean="0">
                                  <a:latin typeface="Cambria Math" panose="02040503050406030204" pitchFamily="18" charset="0"/>
                                </a:rPr>
                                <m:t>𝑇</m:t>
                              </m:r>
                            </m:sup>
                          </m:sSup>
                          <m:r>
                            <a:rPr lang="en-US" i="1">
                              <a:latin typeface="Cambria Math" panose="02040503050406030204" pitchFamily="18" charset="0"/>
                            </a:rPr>
                            <m:t>𝑋</m:t>
                          </m:r>
                          <m:r>
                            <a:rPr lang="en-US">
                              <a:latin typeface="Cambria Math" panose="02040503050406030204" pitchFamily="18" charset="0"/>
                            </a:rPr>
                            <m:t>(</m:t>
                          </m:r>
                          <m:r>
                            <a:rPr lang="en-US" i="1">
                              <a:latin typeface="Cambria Math" panose="02040503050406030204" pitchFamily="18" charset="0"/>
                            </a:rPr>
                            <m:t>𝛽</m:t>
                          </m:r>
                          <m:r>
                            <a:rPr lang="en-US" i="1">
                              <a:latin typeface="Cambria Math" panose="02040503050406030204" pitchFamily="18" charset="0"/>
                            </a:rPr>
                            <m:t>−</m:t>
                          </m:r>
                          <m:acc>
                            <m:accPr>
                              <m:chr m:val="ˆ"/>
                              <m:ctrlPr>
                                <a:rPr lang="en-US" i="1">
                                  <a:latin typeface="Cambria Math" panose="02040503050406030204" pitchFamily="18" charset="0"/>
                                </a:rPr>
                              </m:ctrlPr>
                            </m:accPr>
                            <m:e>
                              <m:r>
                                <a:rPr lang="en-US" i="1">
                                  <a:latin typeface="Cambria Math" panose="02040503050406030204" pitchFamily="18" charset="0"/>
                                </a:rPr>
                                <m:t>𝛽</m:t>
                              </m:r>
                            </m:e>
                          </m:acc>
                          <m:r>
                            <a:rPr lang="en-US">
                              <a:latin typeface="Cambria Math" panose="02040503050406030204" pitchFamily="18" charset="0"/>
                            </a:rPr>
                            <m:t>)</m:t>
                          </m:r>
                        </m:e>
                      </m:d>
                    </m:oMath>
                  </m:oMathPara>
                </a14:m>
                <a:endParaRPr lang="en-US" dirty="0"/>
              </a:p>
              <a:p>
                <a:pPr marL="0" indent="0">
                  <a:buNone/>
                </a:pPr>
                <a:r>
                  <a:rPr lang="en-US" dirty="0"/>
                  <a:t>proper? We need two things:</a:t>
                </a:r>
              </a:p>
              <a:p>
                <a:pPr marL="742950" indent="-742950">
                  <a:buFont typeface="+mj-lt"/>
                  <a:buAutoNum type="arabicPeriod"/>
                </a:pPr>
                <a14:m>
                  <m:oMath xmlns:m="http://schemas.openxmlformats.org/officeDocument/2006/math">
                    <m:r>
                      <a:rPr lang="en-US" i="1">
                        <a:latin typeface="Cambria Math" panose="02040503050406030204" pitchFamily="18" charset="0"/>
                      </a:rPr>
                      <m:t>𝑛</m:t>
                    </m:r>
                    <m:r>
                      <a:rPr lang="en-US">
                        <a:latin typeface="Cambria Math" panose="02040503050406030204" pitchFamily="18" charset="0"/>
                      </a:rPr>
                      <m:t>&gt;</m:t>
                    </m:r>
                    <m:r>
                      <a:rPr lang="en-US" i="1">
                        <a:latin typeface="Cambria Math" panose="02040503050406030204" pitchFamily="18" charset="0"/>
                      </a:rPr>
                      <m:t>𝑘</m:t>
                    </m:r>
                  </m:oMath>
                </a14:m>
                <a:endParaRPr lang="en-US" dirty="0"/>
              </a:p>
              <a:p>
                <a:pPr marL="742950" indent="-742950">
                  <a:buFont typeface="+mj-lt"/>
                  <a:buAutoNum type="arabicPeriod"/>
                </a:pPr>
                <a14:m>
                  <m:oMath xmlns:m="http://schemas.openxmlformats.org/officeDocument/2006/math">
                    <m:r>
                      <m:rPr>
                        <m:sty m:val="p"/>
                      </m:rPr>
                      <a:rPr lang="en-US">
                        <a:latin typeface="Cambria Math" panose="02040503050406030204" pitchFamily="18" charset="0"/>
                      </a:rPr>
                      <m:t>rank</m:t>
                    </m:r>
                    <m:r>
                      <a:rPr lang="en-US">
                        <a:latin typeface="Cambria Math" panose="02040503050406030204" pitchFamily="18" charset="0"/>
                      </a:rPr>
                      <m:t>(</m:t>
                    </m:r>
                    <m:r>
                      <a:rPr lang="en-US" i="1">
                        <a:latin typeface="Cambria Math" panose="02040503050406030204" pitchFamily="18" charset="0"/>
                      </a:rPr>
                      <m:t>𝑋</m:t>
                    </m:r>
                    <m:r>
                      <a:rPr lang="en-US">
                        <a:latin typeface="Cambria Math" panose="02040503050406030204" pitchFamily="18" charset="0"/>
                      </a:rPr>
                      <m:t>)=</m:t>
                    </m:r>
                    <m:r>
                      <a:rPr lang="en-US" i="1">
                        <a:latin typeface="Cambria Math" panose="02040503050406030204" pitchFamily="18" charset="0"/>
                      </a:rPr>
                      <m:t>𝑘</m:t>
                    </m:r>
                  </m:oMath>
                </a14:m>
                <a:endParaRPr lang="en-US" dirty="0"/>
              </a:p>
            </p:txBody>
          </p:sp>
        </mc:Choice>
        <mc:Fallback xmlns="">
          <p:sp>
            <p:nvSpPr>
              <p:cNvPr id="3" name="Content Placeholder 2">
                <a:extLst>
                  <a:ext uri="{FF2B5EF4-FFF2-40B4-BE49-F238E27FC236}">
                    <a16:creationId xmlns:a16="http://schemas.microsoft.com/office/drawing/2014/main" id="{AF8BDAD3-EA87-AF07-FEA5-213547E14CBA}"/>
                  </a:ext>
                </a:extLst>
              </p:cNvPr>
              <p:cNvSpPr>
                <a:spLocks noGrp="1" noRot="1" noChangeAspect="1" noMove="1" noResize="1" noEditPoints="1" noAdjustHandles="1" noChangeArrowheads="1" noChangeShapeType="1" noTextEdit="1"/>
              </p:cNvSpPr>
              <p:nvPr>
                <p:ph idx="1"/>
              </p:nvPr>
            </p:nvSpPr>
            <p:spPr>
              <a:blipFill>
                <a:blip r:embed="rId3"/>
                <a:stretch>
                  <a:fillRect l="-1341" t="-1657"/>
                </a:stretch>
              </a:blipFill>
            </p:spPr>
            <p:txBody>
              <a:bodyPr/>
              <a:lstStyle/>
              <a:p>
                <a:r>
                  <a:rPr lang="en-US">
                    <a:noFill/>
                  </a:rPr>
                  <a:t> </a:t>
                </a:r>
              </a:p>
            </p:txBody>
          </p:sp>
        </mc:Fallback>
      </mc:AlternateContent>
    </p:spTree>
    <p:extLst>
      <p:ext uri="{BB962C8B-B14F-4D97-AF65-F5344CB8AC3E}">
        <p14:creationId xmlns:p14="http://schemas.microsoft.com/office/powerpoint/2010/main" val="3786640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1C93B-A508-BA1C-662C-0494C6BB37B3}"/>
              </a:ext>
            </a:extLst>
          </p:cNvPr>
          <p:cNvSpPr>
            <a:spLocks noGrp="1"/>
          </p:cNvSpPr>
          <p:nvPr>
            <p:ph type="title"/>
          </p:nvPr>
        </p:nvSpPr>
        <p:spPr/>
        <p:txBody>
          <a:bodyPr/>
          <a:lstStyle/>
          <a:p>
            <a:r>
              <a:rPr lang="en-US" dirty="0"/>
              <a:t>Sampling the Joint Posterior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051C0C8-4560-2185-824C-E461C24715D1}"/>
                  </a:ext>
                </a:extLst>
              </p:cNvPr>
              <p:cNvSpPr>
                <a:spLocks noGrp="1"/>
              </p:cNvSpPr>
              <p:nvPr>
                <p:ph idx="1"/>
              </p:nvPr>
            </p:nvSpPr>
            <p:spPr/>
            <p:txBody>
              <a:bodyPr/>
              <a:lstStyle/>
              <a:p>
                <a:pPr marL="742950" indent="-742950">
                  <a:buFont typeface="+mj-lt"/>
                  <a:buAutoNum type="arabicPeriod"/>
                </a:pPr>
                <a:r>
                  <a:rPr lang="en-US" dirty="0"/>
                  <a:t>Draw values of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oMath>
                </a14:m>
                <a:r>
                  <a:rPr lang="en-US" dirty="0"/>
                  <a:t> from </a:t>
                </a:r>
                <a14:m>
                  <m:oMath xmlns:m="http://schemas.openxmlformats.org/officeDocument/2006/math">
                    <m:r>
                      <m:rPr>
                        <m:sty m:val="p"/>
                      </m:rPr>
                      <a:rPr lang="en-US">
                        <a:latin typeface="Cambria Math" panose="02040503050406030204" pitchFamily="18" charset="0"/>
                        <a:ea typeface="Cambria Math" panose="02040503050406030204" pitchFamily="18" charset="0"/>
                      </a:rPr>
                      <m:t>Inv</m:t>
                    </m:r>
                    <m:r>
                      <a:rPr lang="en-US" i="1">
                        <a:latin typeface="Cambria Math" panose="02040503050406030204" pitchFamily="18" charset="0"/>
                        <a:ea typeface="Cambria Math" panose="02040503050406030204" pitchFamily="18" charset="0"/>
                      </a:rPr>
                      <m:t>_</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𝜒</m:t>
                        </m:r>
                      </m:e>
                      <m:sup>
                        <m:r>
                          <a:rPr lang="en-US" i="1">
                            <a:latin typeface="Cambria Math" panose="02040503050406030204" pitchFamily="18" charset="0"/>
                            <a:ea typeface="Cambria Math" panose="02040503050406030204" pitchFamily="18" charset="0"/>
                          </a:rPr>
                          <m:t>2</m:t>
                        </m:r>
                      </m:sup>
                    </m:sSup>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𝑛</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𝑘</m:t>
                    </m:r>
                    <m:r>
                      <a:rPr lang="en-US" i="1">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𝑠</m:t>
                        </m:r>
                      </m:e>
                      <m:sup>
                        <m:r>
                          <a:rPr lang="en-US" i="1">
                            <a:latin typeface="Cambria Math" panose="02040503050406030204" pitchFamily="18" charset="0"/>
                            <a:ea typeface="Cambria Math" panose="02040503050406030204" pitchFamily="18" charset="0"/>
                          </a:rPr>
                          <m:t>2</m:t>
                        </m:r>
                      </m:sup>
                    </m:sSup>
                    <m:r>
                      <a:rPr lang="en-US" i="1">
                        <a:latin typeface="Cambria Math" panose="02040503050406030204" pitchFamily="18" charset="0"/>
                        <a:ea typeface="Cambria Math" panose="02040503050406030204" pitchFamily="18" charset="0"/>
                      </a:rPr>
                      <m:t>)</m:t>
                    </m:r>
                  </m:oMath>
                </a14:m>
                <a:r>
                  <a:rPr lang="en-US" dirty="0"/>
                  <a:t>.</a:t>
                </a:r>
              </a:p>
              <a:p>
                <a:pPr marL="742950" indent="-742950">
                  <a:buFont typeface="+mj-lt"/>
                  <a:buAutoNum type="arabicPeriod"/>
                </a:pPr>
                <a:r>
                  <a:rPr lang="en-US" dirty="0"/>
                  <a:t>Given </a:t>
                </a:r>
                <a14:m>
                  <m:oMath xmlns:m="http://schemas.openxmlformats.org/officeDocument/2006/math">
                    <m:sSup>
                      <m:sSupPr>
                        <m:ctrlPr>
                          <a:rPr lang="en-US" i="1" smtClean="0">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oMath>
                </a14:m>
                <a:r>
                  <a:rPr lang="en-US" dirty="0"/>
                  <a:t>, draw </a:t>
                </a:r>
                <a14:m>
                  <m:oMath xmlns:m="http://schemas.openxmlformats.org/officeDocument/2006/math">
                    <m:r>
                      <a:rPr lang="en-US" i="1">
                        <a:latin typeface="Cambria Math" panose="02040503050406030204" pitchFamily="18" charset="0"/>
                      </a:rPr>
                      <m:t>𝛽</m:t>
                    </m:r>
                  </m:oMath>
                </a14:m>
                <a:r>
                  <a:rPr lang="en-US" dirty="0">
                    <a:effectLst/>
                  </a:rPr>
                  <a:t> from </a:t>
                </a:r>
                <a14:m>
                  <m:oMath xmlns:m="http://schemas.openxmlformats.org/officeDocument/2006/math">
                    <m:r>
                      <a:rPr lang="en-US" i="1">
                        <a:latin typeface="Cambria Math" panose="02040503050406030204" pitchFamily="18" charset="0"/>
                      </a:rPr>
                      <m:t>𝑁</m:t>
                    </m:r>
                    <m:d>
                      <m:dPr>
                        <m:ctrlPr>
                          <a:rPr lang="en-US" i="1">
                            <a:latin typeface="Cambria Math" panose="02040503050406030204" pitchFamily="18" charset="0"/>
                          </a:rPr>
                        </m:ctrlPr>
                      </m:dPr>
                      <m:e>
                        <m:acc>
                          <m:accPr>
                            <m:chr m:val="ˆ"/>
                            <m:ctrlPr>
                              <a:rPr lang="en-US" i="1">
                                <a:latin typeface="Cambria Math" panose="02040503050406030204" pitchFamily="18" charset="0"/>
                              </a:rPr>
                            </m:ctrlPr>
                          </m:accPr>
                          <m:e>
                            <m:r>
                              <a:rPr lang="en-US" i="1">
                                <a:latin typeface="Cambria Math" panose="02040503050406030204" pitchFamily="18" charset="0"/>
                              </a:rPr>
                              <m:t>𝛽</m:t>
                            </m:r>
                          </m:e>
                        </m:acc>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𝛽</m:t>
                            </m:r>
                          </m:sub>
                        </m:sSub>
                      </m:e>
                    </m:d>
                  </m:oMath>
                </a14:m>
                <a:r>
                  <a:rPr lang="en-US" dirty="0"/>
                  <a:t>.</a:t>
                </a:r>
              </a:p>
              <a:p>
                <a:r>
                  <a:rPr lang="en-US" dirty="0"/>
                  <a:t>Note: </a:t>
                </a:r>
                <a14:m>
                  <m:oMath xmlns:m="http://schemas.openxmlformats.org/officeDocument/2006/math">
                    <m:r>
                      <a:rPr lang="en-US" i="1" dirty="0" smtClean="0">
                        <a:latin typeface="Cambria Math" panose="02040503050406030204" pitchFamily="18" charset="0"/>
                      </a:rPr>
                      <m:t>𝑋</m:t>
                    </m:r>
                  </m:oMath>
                </a14:m>
                <a:r>
                  <a:rPr lang="en-US" dirty="0"/>
                  <a:t> could be massive!</a:t>
                </a:r>
              </a:p>
              <a:p>
                <a:r>
                  <a:rPr lang="en-US" dirty="0"/>
                  <a:t>For efficiency, compute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𝛽</m:t>
                        </m:r>
                      </m:sub>
                    </m:sSub>
                    <m:r>
                      <a:rPr lang="en-US" b="0" i="1" smtClean="0">
                        <a:latin typeface="Cambria Math" panose="02040503050406030204" pitchFamily="18" charset="0"/>
                      </a:rPr>
                      <m:t>,</m:t>
                    </m:r>
                    <m:acc>
                      <m:accPr>
                        <m:chr m:val="ˆ"/>
                        <m:ctrlPr>
                          <a:rPr lang="en-US" i="1">
                            <a:latin typeface="Cambria Math" panose="02040503050406030204" pitchFamily="18" charset="0"/>
                          </a:rPr>
                        </m:ctrlPr>
                      </m:accPr>
                      <m:e>
                        <m:r>
                          <a:rPr lang="en-US" i="1">
                            <a:latin typeface="Cambria Math" panose="02040503050406030204" pitchFamily="18" charset="0"/>
                          </a:rPr>
                          <m:t>𝛽</m:t>
                        </m:r>
                      </m:e>
                    </m:acc>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𝑆</m:t>
                        </m:r>
                      </m:e>
                      <m:sup>
                        <m:r>
                          <a:rPr lang="en-US">
                            <a:latin typeface="Cambria Math" panose="02040503050406030204" pitchFamily="18" charset="0"/>
                          </a:rPr>
                          <m:t>2</m:t>
                        </m:r>
                      </m:sup>
                    </m:sSup>
                  </m:oMath>
                </a14:m>
                <a:r>
                  <a:rPr lang="en-US" dirty="0"/>
                  <a:t> once, before starting repeated drawing. You may need to use methods like decomposition. </a:t>
                </a:r>
              </a:p>
            </p:txBody>
          </p:sp>
        </mc:Choice>
        <mc:Fallback xmlns="">
          <p:sp>
            <p:nvSpPr>
              <p:cNvPr id="3" name="Content Placeholder 2">
                <a:extLst>
                  <a:ext uri="{FF2B5EF4-FFF2-40B4-BE49-F238E27FC236}">
                    <a16:creationId xmlns:a16="http://schemas.microsoft.com/office/drawing/2014/main" id="{2051C0C8-4560-2185-824C-E461C24715D1}"/>
                  </a:ext>
                </a:extLst>
              </p:cNvPr>
              <p:cNvSpPr>
                <a:spLocks noGrp="1" noRot="1" noChangeAspect="1" noMove="1" noResize="1" noEditPoints="1" noAdjustHandles="1" noChangeArrowheads="1" noChangeShapeType="1" noTextEdit="1"/>
              </p:cNvSpPr>
              <p:nvPr>
                <p:ph idx="1"/>
              </p:nvPr>
            </p:nvSpPr>
            <p:spPr>
              <a:blipFill>
                <a:blip r:embed="rId3"/>
                <a:stretch>
                  <a:fillRect l="-1183" t="-1657"/>
                </a:stretch>
              </a:blipFill>
            </p:spPr>
            <p:txBody>
              <a:bodyPr/>
              <a:lstStyle/>
              <a:p>
                <a:r>
                  <a:rPr lang="en-US">
                    <a:noFill/>
                  </a:rPr>
                  <a:t> </a:t>
                </a:r>
              </a:p>
            </p:txBody>
          </p:sp>
        </mc:Fallback>
      </mc:AlternateContent>
    </p:spTree>
    <p:extLst>
      <p:ext uri="{BB962C8B-B14F-4D97-AF65-F5344CB8AC3E}">
        <p14:creationId xmlns:p14="http://schemas.microsoft.com/office/powerpoint/2010/main" val="2384496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0F7D0-CC64-E3DE-6352-60FF6108D0A9}"/>
              </a:ext>
            </a:extLst>
          </p:cNvPr>
          <p:cNvSpPr>
            <a:spLocks noGrp="1"/>
          </p:cNvSpPr>
          <p:nvPr>
            <p:ph type="title"/>
          </p:nvPr>
        </p:nvSpPr>
        <p:spPr/>
        <p:txBody>
          <a:bodyPr/>
          <a:lstStyle/>
          <a:p>
            <a:r>
              <a:rPr lang="en-US" dirty="0"/>
              <a:t>Posterior Predictive Distribution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1133018-1D6E-0124-DFF0-513D837C5B7E}"/>
                  </a:ext>
                </a:extLst>
              </p:cNvPr>
              <p:cNvSpPr>
                <a:spLocks noGrp="1"/>
              </p:cNvSpPr>
              <p:nvPr>
                <p:ph idx="1"/>
              </p:nvPr>
            </p:nvSpPr>
            <p:spPr/>
            <p:txBody>
              <a:bodyPr/>
              <a:lstStyle/>
              <a:p>
                <a:r>
                  <a:rPr lang="en-US" dirty="0"/>
                  <a:t>When performing regression, we often want to predict the outcome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𝑦</m:t>
                        </m:r>
                      </m:e>
                    </m:acc>
                  </m:oMath>
                </a14:m>
                <a:r>
                  <a:rPr lang="en-US" dirty="0"/>
                  <a:t> for a new set of proposed covariate values, </a:t>
                </a:r>
                <a14:m>
                  <m:oMath xmlns:m="http://schemas.openxmlformats.org/officeDocument/2006/math">
                    <m:acc>
                      <m:accPr>
                        <m:chr m:val="˜"/>
                        <m:ctrlPr>
                          <a:rPr lang="en-US" i="1">
                            <a:latin typeface="Cambria Math" panose="02040503050406030204" pitchFamily="18" charset="0"/>
                          </a:rPr>
                        </m:ctrlPr>
                      </m:accPr>
                      <m:e>
                        <m:r>
                          <a:rPr lang="en-US" b="0" i="1" smtClean="0">
                            <a:latin typeface="Cambria Math" panose="02040503050406030204" pitchFamily="18" charset="0"/>
                          </a:rPr>
                          <m:t>𝑋</m:t>
                        </m:r>
                      </m:e>
                    </m:acc>
                  </m:oMath>
                </a14:m>
                <a:r>
                  <a:rPr lang="en-US" dirty="0"/>
                  <a:t>. Thus, we wish to draw values from </a:t>
                </a:r>
                <a14:m>
                  <m:oMath xmlns:m="http://schemas.openxmlformats.org/officeDocument/2006/math">
                    <m:r>
                      <a:rPr lang="en-US" i="1">
                        <a:latin typeface="Cambria Math" panose="02040503050406030204" pitchFamily="18" charset="0"/>
                      </a:rPr>
                      <m:t>𝑝</m:t>
                    </m:r>
                    <m:r>
                      <a:rPr lang="en-US">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𝑦</m:t>
                        </m:r>
                      </m:e>
                    </m:acc>
                    <m:r>
                      <a:rPr lang="en-US">
                        <a:latin typeface="Cambria Math" panose="02040503050406030204" pitchFamily="18" charset="0"/>
                      </a:rPr>
                      <m:t>∣</m:t>
                    </m:r>
                    <m:r>
                      <a:rPr lang="en-US" i="1">
                        <a:latin typeface="Cambria Math" panose="02040503050406030204" pitchFamily="18" charset="0"/>
                      </a:rPr>
                      <m:t>𝑦</m:t>
                    </m:r>
                    <m:r>
                      <a:rPr lang="en-US">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𝑋</m:t>
                        </m:r>
                      </m:e>
                    </m:acc>
                    <m:r>
                      <a:rPr lang="en-US">
                        <a:latin typeface="Cambria Math" panose="02040503050406030204" pitchFamily="18" charset="0"/>
                      </a:rPr>
                      <m:t>)</m:t>
                    </m:r>
                  </m:oMath>
                </a14:m>
                <a:r>
                  <a:rPr lang="en-US" dirty="0"/>
                  <a:t>.</a:t>
                </a:r>
              </a:p>
              <a:p>
                <a:pPr marL="742950" indent="-742950">
                  <a:buFont typeface="+mj-lt"/>
                  <a:buAutoNum type="arabicPeriod"/>
                </a:pPr>
                <a:r>
                  <a:rPr lang="en-US" dirty="0"/>
                  <a:t>Draw values of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oMath>
                </a14:m>
                <a:r>
                  <a:rPr lang="en-US" dirty="0"/>
                  <a:t> from </a:t>
                </a:r>
                <a14:m>
                  <m:oMath xmlns:m="http://schemas.openxmlformats.org/officeDocument/2006/math">
                    <m:r>
                      <m:rPr>
                        <m:sty m:val="p"/>
                      </m:rPr>
                      <a:rPr lang="en-US">
                        <a:latin typeface="Cambria Math" panose="02040503050406030204" pitchFamily="18" charset="0"/>
                        <a:ea typeface="Cambria Math" panose="02040503050406030204" pitchFamily="18" charset="0"/>
                      </a:rPr>
                      <m:t>Inv</m:t>
                    </m:r>
                    <m:r>
                      <a:rPr lang="en-US" i="1">
                        <a:latin typeface="Cambria Math" panose="02040503050406030204" pitchFamily="18" charset="0"/>
                        <a:ea typeface="Cambria Math" panose="02040503050406030204" pitchFamily="18" charset="0"/>
                      </a:rPr>
                      <m:t>_</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𝜒</m:t>
                        </m:r>
                      </m:e>
                      <m:sup>
                        <m:r>
                          <a:rPr lang="en-US" i="1">
                            <a:latin typeface="Cambria Math" panose="02040503050406030204" pitchFamily="18" charset="0"/>
                            <a:ea typeface="Cambria Math" panose="02040503050406030204" pitchFamily="18" charset="0"/>
                          </a:rPr>
                          <m:t>2</m:t>
                        </m:r>
                      </m:sup>
                    </m:sSup>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𝑛</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𝑘</m:t>
                    </m:r>
                    <m:r>
                      <a:rPr lang="en-US" i="1">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𝑠</m:t>
                        </m:r>
                      </m:e>
                      <m:sup>
                        <m:r>
                          <a:rPr lang="en-US" i="1">
                            <a:latin typeface="Cambria Math" panose="02040503050406030204" pitchFamily="18" charset="0"/>
                            <a:ea typeface="Cambria Math" panose="02040503050406030204" pitchFamily="18" charset="0"/>
                          </a:rPr>
                          <m:t>2</m:t>
                        </m:r>
                      </m:sup>
                    </m:sSup>
                    <m:r>
                      <a:rPr lang="en-US" i="1">
                        <a:latin typeface="Cambria Math" panose="02040503050406030204" pitchFamily="18" charset="0"/>
                        <a:ea typeface="Cambria Math" panose="02040503050406030204" pitchFamily="18" charset="0"/>
                      </a:rPr>
                      <m:t>)</m:t>
                    </m:r>
                  </m:oMath>
                </a14:m>
                <a:r>
                  <a:rPr lang="en-US" dirty="0"/>
                  <a:t>.</a:t>
                </a:r>
              </a:p>
              <a:p>
                <a:pPr marL="742950" indent="-742950">
                  <a:buFont typeface="+mj-lt"/>
                  <a:buAutoNum type="arabicPeriod"/>
                </a:pPr>
                <a:r>
                  <a:rPr lang="en-US" dirty="0"/>
                  <a:t>Given </a:t>
                </a:r>
                <a14:m>
                  <m:oMath xmlns:m="http://schemas.openxmlformats.org/officeDocument/2006/math">
                    <m:sSup>
                      <m:sSupPr>
                        <m:ctrlPr>
                          <a:rPr lang="en-US" i="1" smtClean="0">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oMath>
                </a14:m>
                <a:r>
                  <a:rPr lang="en-US" dirty="0"/>
                  <a:t>, draw </a:t>
                </a:r>
                <a14:m>
                  <m:oMath xmlns:m="http://schemas.openxmlformats.org/officeDocument/2006/math">
                    <m:r>
                      <a:rPr lang="en-US" i="1">
                        <a:latin typeface="Cambria Math" panose="02040503050406030204" pitchFamily="18" charset="0"/>
                      </a:rPr>
                      <m:t>𝛽</m:t>
                    </m:r>
                  </m:oMath>
                </a14:m>
                <a:r>
                  <a:rPr lang="en-US" dirty="0">
                    <a:effectLst/>
                  </a:rPr>
                  <a:t> from </a:t>
                </a:r>
                <a14:m>
                  <m:oMath xmlns:m="http://schemas.openxmlformats.org/officeDocument/2006/math">
                    <m:r>
                      <a:rPr lang="en-US" i="1">
                        <a:latin typeface="Cambria Math" panose="02040503050406030204" pitchFamily="18" charset="0"/>
                      </a:rPr>
                      <m:t>𝑁</m:t>
                    </m:r>
                    <m:d>
                      <m:dPr>
                        <m:ctrlPr>
                          <a:rPr lang="en-US" i="1">
                            <a:latin typeface="Cambria Math" panose="02040503050406030204" pitchFamily="18" charset="0"/>
                          </a:rPr>
                        </m:ctrlPr>
                      </m:dPr>
                      <m:e>
                        <m:acc>
                          <m:accPr>
                            <m:chr m:val="ˆ"/>
                            <m:ctrlPr>
                              <a:rPr lang="en-US" i="1">
                                <a:latin typeface="Cambria Math" panose="02040503050406030204" pitchFamily="18" charset="0"/>
                              </a:rPr>
                            </m:ctrlPr>
                          </m:accPr>
                          <m:e>
                            <m:r>
                              <a:rPr lang="en-US" i="1">
                                <a:latin typeface="Cambria Math" panose="02040503050406030204" pitchFamily="18" charset="0"/>
                              </a:rPr>
                              <m:t>𝛽</m:t>
                            </m:r>
                          </m:e>
                        </m:acc>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sSup>
                          <m:sSupPr>
                            <m:ctrlPr>
                              <a:rPr lang="en-US" i="1">
                                <a:latin typeface="Cambria Math" panose="02040503050406030204" pitchFamily="18" charset="0"/>
                              </a:rPr>
                            </m:ctrlPr>
                          </m:sSupPr>
                          <m:e>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𝑋</m:t>
                                    </m:r>
                                  </m:e>
                                  <m:sup>
                                    <m:r>
                                      <a:rPr lang="en-US" b="0" i="1" smtClean="0">
                                        <a:latin typeface="Cambria Math" panose="02040503050406030204" pitchFamily="18" charset="0"/>
                                      </a:rPr>
                                      <m:t>𝑇</m:t>
                                    </m:r>
                                  </m:sup>
                                </m:sSup>
                                <m:r>
                                  <a:rPr lang="en-US" i="1">
                                    <a:latin typeface="Cambria Math" panose="02040503050406030204" pitchFamily="18" charset="0"/>
                                  </a:rPr>
                                  <m:t>𝑋</m:t>
                                </m:r>
                              </m:e>
                            </m:d>
                          </m:e>
                          <m:sup>
                            <m:r>
                              <a:rPr lang="en-US" i="1">
                                <a:latin typeface="Cambria Math" panose="02040503050406030204" pitchFamily="18" charset="0"/>
                              </a:rPr>
                              <m:t>−</m:t>
                            </m:r>
                            <m:r>
                              <a:rPr lang="en-US">
                                <a:latin typeface="Cambria Math" panose="02040503050406030204" pitchFamily="18" charset="0"/>
                              </a:rPr>
                              <m:t>1</m:t>
                            </m:r>
                          </m:sup>
                        </m:sSup>
                      </m:e>
                    </m:d>
                  </m:oMath>
                </a14:m>
                <a:r>
                  <a:rPr lang="en-US" dirty="0"/>
                  <a:t>.</a:t>
                </a:r>
              </a:p>
              <a:p>
                <a:pPr marL="742950" indent="-742950">
                  <a:buFont typeface="+mj-lt"/>
                  <a:buAutoNum type="arabicPeriod"/>
                </a:pPr>
                <a:r>
                  <a:rPr lang="en-US" dirty="0"/>
                  <a:t>Draw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i="1">
                            <a:latin typeface="Cambria Math" panose="02040503050406030204" pitchFamily="18" charset="0"/>
                          </a:rPr>
                          <m:t>𝑖</m:t>
                        </m:r>
                      </m:sub>
                    </m:sSub>
                  </m:oMath>
                </a14:m>
                <a:r>
                  <a:rPr lang="en-US" dirty="0"/>
                  <a:t> for </a:t>
                </a:r>
                <a14:m>
                  <m:oMath xmlns:m="http://schemas.openxmlformats.org/officeDocument/2006/math">
                    <m:r>
                      <a:rPr lang="en-US" i="1">
                        <a:latin typeface="Cambria Math" panose="02040503050406030204" pitchFamily="18" charset="0"/>
                      </a:rPr>
                      <m:t>𝑖</m:t>
                    </m:r>
                    <m:r>
                      <a:rPr lang="en-US">
                        <a:latin typeface="Cambria Math" panose="02040503050406030204" pitchFamily="18" charset="0"/>
                      </a:rPr>
                      <m:t>=1,…,</m:t>
                    </m:r>
                    <m:r>
                      <a:rPr lang="en-US" i="1">
                        <a:latin typeface="Cambria Math" panose="02040503050406030204" pitchFamily="18" charset="0"/>
                      </a:rPr>
                      <m:t>𝑚</m:t>
                    </m:r>
                  </m:oMath>
                </a14:m>
                <a:r>
                  <a:rPr lang="en-US" dirty="0"/>
                  <a:t> from</a:t>
                </a:r>
                <a14:m>
                  <m:oMath xmlns:m="http://schemas.openxmlformats.org/officeDocument/2006/math">
                    <m:r>
                      <a:rPr lang="en-US" dirty="0">
                        <a:latin typeface="Cambria Math" panose="02040503050406030204" pitchFamily="18" charset="0"/>
                      </a:rPr>
                      <m:t> </m:t>
                    </m:r>
                    <m:r>
                      <a:rPr lang="en-US" i="1">
                        <a:latin typeface="Cambria Math" panose="02040503050406030204" pitchFamily="18" charset="0"/>
                      </a:rPr>
                      <m:t>𝑁</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𝑋</m:t>
                            </m:r>
                          </m:e>
                        </m:acc>
                        <m:r>
                          <a:rPr lang="en-US" i="1">
                            <a:latin typeface="Cambria Math" panose="02040503050406030204" pitchFamily="18" charset="0"/>
                          </a:rPr>
                          <m:t>𝛽</m:t>
                        </m:r>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i="1">
                            <a:latin typeface="Cambria Math" panose="02040503050406030204" pitchFamily="18" charset="0"/>
                          </a:rPr>
                          <m:t>𝐼</m:t>
                        </m:r>
                      </m:e>
                    </m:d>
                  </m:oMath>
                </a14:m>
                <a:r>
                  <a:rPr lang="en-US" dirty="0"/>
                  <a:t>.</a:t>
                </a:r>
              </a:p>
            </p:txBody>
          </p:sp>
        </mc:Choice>
        <mc:Fallback xmlns="">
          <p:sp>
            <p:nvSpPr>
              <p:cNvPr id="3" name="Content Placeholder 2">
                <a:extLst>
                  <a:ext uri="{FF2B5EF4-FFF2-40B4-BE49-F238E27FC236}">
                    <a16:creationId xmlns:a16="http://schemas.microsoft.com/office/drawing/2014/main" id="{31133018-1D6E-0124-DFF0-513D837C5B7E}"/>
                  </a:ext>
                </a:extLst>
              </p:cNvPr>
              <p:cNvSpPr>
                <a:spLocks noGrp="1" noRot="1" noChangeAspect="1" noMove="1" noResize="1" noEditPoints="1" noAdjustHandles="1" noChangeArrowheads="1" noChangeShapeType="1" noTextEdit="1"/>
              </p:cNvSpPr>
              <p:nvPr>
                <p:ph idx="1"/>
              </p:nvPr>
            </p:nvSpPr>
            <p:spPr>
              <a:blipFill>
                <a:blip r:embed="rId3"/>
                <a:stretch>
                  <a:fillRect l="-1183" t="-1657" r="-946"/>
                </a:stretch>
              </a:blipFill>
            </p:spPr>
            <p:txBody>
              <a:bodyPr/>
              <a:lstStyle/>
              <a:p>
                <a:r>
                  <a:rPr lang="en-US">
                    <a:noFill/>
                  </a:rPr>
                  <a:t> </a:t>
                </a:r>
              </a:p>
            </p:txBody>
          </p:sp>
        </mc:Fallback>
      </mc:AlternateContent>
    </p:spTree>
    <p:extLst>
      <p:ext uri="{BB962C8B-B14F-4D97-AF65-F5344CB8AC3E}">
        <p14:creationId xmlns:p14="http://schemas.microsoft.com/office/powerpoint/2010/main" val="3710689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572D3-73C3-8EB7-8BBF-2086A62BCAF7}"/>
              </a:ext>
            </a:extLst>
          </p:cNvPr>
          <p:cNvSpPr>
            <a:spLocks noGrp="1"/>
          </p:cNvSpPr>
          <p:nvPr>
            <p:ph type="title"/>
          </p:nvPr>
        </p:nvSpPr>
        <p:spPr/>
        <p:txBody>
          <a:bodyPr/>
          <a:lstStyle/>
          <a:p>
            <a:r>
              <a:rPr lang="en-US" dirty="0"/>
              <a:t>Mean &amp; Variance of the Posterior Predictive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DD8D345-0A9F-88CB-44C7-F5FA6B31B13B}"/>
                  </a:ext>
                </a:extLst>
              </p:cNvPr>
              <p:cNvSpPr>
                <a:spLocks noGrp="1"/>
              </p:cNvSpPr>
              <p:nvPr>
                <p:ph idx="1"/>
              </p:nvPr>
            </p:nvSpPr>
            <p:spPr/>
            <p:txBody>
              <a:bodyPr/>
              <a:lstStyle/>
              <a:p>
                <a:r>
                  <a:rPr lang="en-US" dirty="0"/>
                  <a:t>To get mean and variance use conditioning trick</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𝐸</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𝑦</m:t>
                              </m:r>
                            </m:e>
                          </m:acc>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e>
                      </m:d>
                      <m:r>
                        <a:rPr lang="en-US" b="0" i="1" smtClean="0">
                          <a:latin typeface="Cambria Math" panose="02040503050406030204" pitchFamily="18" charset="0"/>
                        </a:rPr>
                        <m:t>=</m:t>
                      </m:r>
                      <m:r>
                        <a:rPr lang="en-US" i="1">
                          <a:latin typeface="Cambria Math" panose="02040503050406030204" pitchFamily="18" charset="0"/>
                        </a:rPr>
                        <m:t>𝐸</m:t>
                      </m:r>
                      <m:d>
                        <m:dPr>
                          <m:begChr m:val="["/>
                          <m:endChr m:val="]"/>
                          <m:ctrlPr>
                            <a:rPr lang="en-US" i="1">
                              <a:latin typeface="Cambria Math" panose="02040503050406030204" pitchFamily="18" charset="0"/>
                            </a:rPr>
                          </m:ctrlPr>
                        </m:dPr>
                        <m:e>
                          <m:r>
                            <a:rPr lang="en-US" i="1">
                              <a:latin typeface="Cambria Math" panose="02040503050406030204" pitchFamily="18" charset="0"/>
                            </a:rPr>
                            <m:t>𝐸</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𝑦</m:t>
                                  </m:r>
                                </m:e>
                              </m:acc>
                              <m:r>
                                <a:rPr lang="en-US">
                                  <a:latin typeface="Cambria Math" panose="02040503050406030204" pitchFamily="18" charset="0"/>
                                </a:rPr>
                                <m:t>∣</m:t>
                              </m:r>
                              <m:r>
                                <a:rPr lang="en-US" i="1">
                                  <a:latin typeface="Cambria Math" panose="02040503050406030204" pitchFamily="18" charset="0"/>
                                </a:rPr>
                                <m:t>𝛽</m:t>
                              </m:r>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e>
                          </m:d>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e>
                      </m:d>
                      <m:r>
                        <a:rPr lang="en-US">
                          <a:latin typeface="Cambria Math" panose="02040503050406030204" pitchFamily="18" charset="0"/>
                        </a:rPr>
                        <m:t>=</m:t>
                      </m:r>
                      <m:r>
                        <a:rPr lang="en-US" i="1">
                          <a:latin typeface="Cambria Math" panose="02040503050406030204" pitchFamily="18" charset="0"/>
                        </a:rPr>
                        <m:t>𝐸</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𝑋</m:t>
                              </m:r>
                            </m:e>
                          </m:acc>
                          <m:r>
                            <a:rPr lang="en-US" i="1">
                              <a:latin typeface="Cambria Math" panose="02040503050406030204" pitchFamily="18" charset="0"/>
                            </a:rPr>
                            <m:t>𝛽</m:t>
                          </m:r>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e>
                      </m:d>
                      <m:r>
                        <a:rPr lang="en-US" b="0" i="1" smtClean="0">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𝑋</m:t>
                          </m:r>
                        </m:e>
                      </m:acc>
                      <m:acc>
                        <m:accPr>
                          <m:chr m:val="ˆ"/>
                          <m:ctrlPr>
                            <a:rPr lang="en-US" i="1">
                              <a:latin typeface="Cambria Math" panose="02040503050406030204" pitchFamily="18" charset="0"/>
                            </a:rPr>
                          </m:ctrlPr>
                        </m:accPr>
                        <m:e>
                          <m:r>
                            <a:rPr lang="en-US" i="1">
                              <a:latin typeface="Cambria Math" panose="02040503050406030204" pitchFamily="18" charset="0"/>
                            </a:rPr>
                            <m:t>𝛽</m:t>
                          </m:r>
                        </m:e>
                      </m:acc>
                    </m:oMath>
                  </m:oMathPara>
                </a14:m>
                <a:endParaRPr lang="en-US" dirty="0"/>
              </a:p>
              <a:p>
                <a:pPr marL="0" indent="0">
                  <a:buNone/>
                </a:pPr>
                <a:r>
                  <a:rPr lang="en-US" dirty="0"/>
                  <a:t>where </a:t>
                </a:r>
                <a14:m>
                  <m:oMath xmlns:m="http://schemas.openxmlformats.org/officeDocument/2006/math">
                    <m:acc>
                      <m:accPr>
                        <m:chr m:val="ˆ"/>
                        <m:ctrlPr>
                          <a:rPr lang="en-US" i="1">
                            <a:latin typeface="Cambria Math" panose="02040503050406030204" pitchFamily="18" charset="0"/>
                          </a:rPr>
                        </m:ctrlPr>
                      </m:accPr>
                      <m:e>
                        <m:r>
                          <a:rPr lang="en-US" i="1">
                            <a:latin typeface="Cambria Math" panose="02040503050406030204" pitchFamily="18" charset="0"/>
                          </a:rPr>
                          <m:t>𝛽</m:t>
                        </m:r>
                      </m:e>
                    </m:acc>
                    <m:r>
                      <a:rPr lang="en-US">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𝛽</m:t>
                        </m:r>
                      </m:sub>
                    </m:sSub>
                    <m:sSup>
                      <m:sSupPr>
                        <m:ctrlPr>
                          <a:rPr lang="en-US" i="1">
                            <a:latin typeface="Cambria Math" panose="02040503050406030204" pitchFamily="18" charset="0"/>
                          </a:rPr>
                        </m:ctrlPr>
                      </m:sSupPr>
                      <m:e>
                        <m:r>
                          <a:rPr lang="en-US" i="1">
                            <a:latin typeface="Cambria Math" panose="02040503050406030204" pitchFamily="18" charset="0"/>
                          </a:rPr>
                          <m:t>𝑋</m:t>
                        </m:r>
                      </m:e>
                      <m:sup>
                        <m:r>
                          <a:rPr lang="en-US" i="1">
                            <a:latin typeface="Cambria Math" panose="02040503050406030204" pitchFamily="18" charset="0"/>
                          </a:rPr>
                          <m:t>𝑇</m:t>
                        </m:r>
                      </m:sup>
                    </m:sSup>
                    <m:r>
                      <a:rPr lang="en-US" i="1">
                        <a:latin typeface="Cambria Math" panose="02040503050406030204" pitchFamily="18" charset="0"/>
                      </a:rPr>
                      <m:t>𝑦</m:t>
                    </m:r>
                  </m:oMath>
                </a14:m>
                <a:r>
                  <a:rPr lang="en-US" dirty="0"/>
                  <a:t>.</a:t>
                </a:r>
                <a:br>
                  <a:rPr lang="en-US" dirty="0"/>
                </a:br>
                <a:endParaRPr lang="en-US" dirty="0"/>
              </a:p>
              <a:p>
                <a:pPr marL="0" indent="0">
                  <a:buNone/>
                </a:pPr>
                <a14:m>
                  <m:oMathPara xmlns:m="http://schemas.openxmlformats.org/officeDocument/2006/math">
                    <m:oMathParaPr>
                      <m:jc m:val="centerGroup"/>
                    </m:oMathParaPr>
                    <m:oMath xmlns:m="http://schemas.openxmlformats.org/officeDocument/2006/math">
                      <m:r>
                        <m:rPr>
                          <m:sty m:val="p"/>
                        </m:rPr>
                        <a:rPr lang="en-US">
                          <a:latin typeface="Cambria Math" panose="02040503050406030204" pitchFamily="18" charset="0"/>
                        </a:rPr>
                        <m:t>var</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𝑦</m:t>
                              </m:r>
                            </m:e>
                          </m:acc>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e>
                      </m:d>
                      <m:r>
                        <a:rPr lang="en-US" b="0" i="1" smtClean="0">
                          <a:latin typeface="Cambria Math" panose="02040503050406030204" pitchFamily="18" charset="0"/>
                        </a:rPr>
                        <m:t>=</m:t>
                      </m:r>
                      <m:r>
                        <a:rPr lang="en-US" i="1">
                          <a:latin typeface="Cambria Math" panose="02040503050406030204" pitchFamily="18" charset="0"/>
                        </a:rPr>
                        <m:t>𝐸</m:t>
                      </m:r>
                      <m:d>
                        <m:dPr>
                          <m:begChr m:val="["/>
                          <m:endChr m:val="]"/>
                          <m:ctrlPr>
                            <a:rPr lang="en-US" i="1">
                              <a:latin typeface="Cambria Math" panose="02040503050406030204" pitchFamily="18" charset="0"/>
                            </a:rPr>
                          </m:ctrlPr>
                        </m:dPr>
                        <m:e>
                          <m:r>
                            <m:rPr>
                              <m:sty m:val="p"/>
                            </m:rPr>
                            <a:rPr lang="en-US">
                              <a:latin typeface="Cambria Math" panose="02040503050406030204" pitchFamily="18" charset="0"/>
                            </a:rPr>
                            <m:t>var</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𝑦</m:t>
                                  </m:r>
                                </m:e>
                              </m:acc>
                              <m:r>
                                <a:rPr lang="en-US">
                                  <a:latin typeface="Cambria Math" panose="02040503050406030204" pitchFamily="18" charset="0"/>
                                </a:rPr>
                                <m:t>∣</m:t>
                              </m:r>
                              <m:r>
                                <a:rPr lang="en-US" i="1">
                                  <a:latin typeface="Cambria Math" panose="02040503050406030204" pitchFamily="18" charset="0"/>
                                </a:rPr>
                                <m:t>𝛽</m:t>
                              </m:r>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e>
                          </m:d>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e>
                      </m:d>
                      <m:r>
                        <a:rPr lang="en-US">
                          <a:latin typeface="Cambria Math" panose="02040503050406030204" pitchFamily="18" charset="0"/>
                        </a:rPr>
                        <m:t>+</m:t>
                      </m:r>
                      <m:r>
                        <m:rPr>
                          <m:sty m:val="p"/>
                        </m:rPr>
                        <a:rPr lang="en-US">
                          <a:latin typeface="Cambria Math" panose="02040503050406030204" pitchFamily="18" charset="0"/>
                        </a:rPr>
                        <m:t>var</m:t>
                      </m:r>
                      <m:d>
                        <m:dPr>
                          <m:begChr m:val="["/>
                          <m:endChr m:val="]"/>
                          <m:ctrlPr>
                            <a:rPr lang="en-US" i="1">
                              <a:latin typeface="Cambria Math" panose="02040503050406030204" pitchFamily="18" charset="0"/>
                            </a:rPr>
                          </m:ctrlPr>
                        </m:dPr>
                        <m:e>
                          <m:r>
                            <a:rPr lang="en-US" i="1">
                              <a:latin typeface="Cambria Math" panose="02040503050406030204" pitchFamily="18" charset="0"/>
                            </a:rPr>
                            <m:t>𝐸</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𝑦</m:t>
                                  </m:r>
                                </m:e>
                              </m:acc>
                              <m:r>
                                <a:rPr lang="en-US">
                                  <a:latin typeface="Cambria Math" panose="02040503050406030204" pitchFamily="18" charset="0"/>
                                </a:rPr>
                                <m:t>∣</m:t>
                              </m:r>
                              <m:r>
                                <a:rPr lang="en-US" i="1">
                                  <a:latin typeface="Cambria Math" panose="02040503050406030204" pitchFamily="18" charset="0"/>
                                </a:rPr>
                                <m:t>𝛽</m:t>
                              </m:r>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e>
                          </m:d>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e>
                      </m:d>
                    </m:oMath>
                  </m:oMathPara>
                </a14:m>
                <a:endParaRPr lang="en-US" dirty="0"/>
              </a:p>
            </p:txBody>
          </p:sp>
        </mc:Choice>
        <mc:Fallback xmlns="">
          <p:sp>
            <p:nvSpPr>
              <p:cNvPr id="3" name="Content Placeholder 2">
                <a:extLst>
                  <a:ext uri="{FF2B5EF4-FFF2-40B4-BE49-F238E27FC236}">
                    <a16:creationId xmlns:a16="http://schemas.microsoft.com/office/drawing/2014/main" id="{CDD8D345-0A9F-88CB-44C7-F5FA6B31B13B}"/>
                  </a:ext>
                </a:extLst>
              </p:cNvPr>
              <p:cNvSpPr>
                <a:spLocks noGrp="1" noRot="1" noChangeAspect="1" noMove="1" noResize="1" noEditPoints="1" noAdjustHandles="1" noChangeArrowheads="1" noChangeShapeType="1" noTextEdit="1"/>
              </p:cNvSpPr>
              <p:nvPr>
                <p:ph idx="1"/>
              </p:nvPr>
            </p:nvSpPr>
            <p:spPr>
              <a:blipFill>
                <a:blip r:embed="rId3"/>
                <a:stretch>
                  <a:fillRect l="-1341" t="-1657"/>
                </a:stretch>
              </a:blipFill>
            </p:spPr>
            <p:txBody>
              <a:bodyPr/>
              <a:lstStyle/>
              <a:p>
                <a:r>
                  <a:rPr lang="en-US">
                    <a:noFill/>
                  </a:rPr>
                  <a:t> </a:t>
                </a:r>
              </a:p>
            </p:txBody>
          </p:sp>
        </mc:Fallback>
      </mc:AlternateContent>
    </p:spTree>
    <p:extLst>
      <p:ext uri="{BB962C8B-B14F-4D97-AF65-F5344CB8AC3E}">
        <p14:creationId xmlns:p14="http://schemas.microsoft.com/office/powerpoint/2010/main" val="348151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572D3-73C3-8EB7-8BBF-2086A62BCAF7}"/>
              </a:ext>
            </a:extLst>
          </p:cNvPr>
          <p:cNvSpPr>
            <a:spLocks noGrp="1"/>
          </p:cNvSpPr>
          <p:nvPr>
            <p:ph type="title"/>
          </p:nvPr>
        </p:nvSpPr>
        <p:spPr/>
        <p:txBody>
          <a:bodyPr/>
          <a:lstStyle/>
          <a:p>
            <a:r>
              <a:rPr lang="en-US" dirty="0"/>
              <a:t>Mean &amp; Variance of the Posterior Predictive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DD8D345-0A9F-88CB-44C7-F5FA6B31B13B}"/>
                  </a:ext>
                </a:extLst>
              </p:cNvPr>
              <p:cNvSpPr>
                <a:spLocks noGrp="1"/>
              </p:cNvSpPr>
              <p:nvPr>
                <p:ph idx="1"/>
              </p:nvPr>
            </p:nvSpPr>
            <p:spPr/>
            <p:txBody>
              <a:bodyPr/>
              <a:lstStyle/>
              <a:p>
                <a:r>
                  <a:rPr lang="en-US" dirty="0"/>
                  <a:t>To get mean and variance use conditioning trick</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𝐸</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𝑦</m:t>
                              </m:r>
                            </m:e>
                          </m:acc>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e>
                      </m:d>
                      <m:r>
                        <a:rPr lang="en-US" i="1">
                          <a:latin typeface="Cambria Math" panose="02040503050406030204" pitchFamily="18" charset="0"/>
                        </a:rPr>
                        <m:t>=</m:t>
                      </m:r>
                      <m:r>
                        <a:rPr lang="en-US" i="1">
                          <a:latin typeface="Cambria Math" panose="02040503050406030204" pitchFamily="18" charset="0"/>
                        </a:rPr>
                        <m:t>𝐸</m:t>
                      </m:r>
                      <m:d>
                        <m:dPr>
                          <m:begChr m:val="["/>
                          <m:endChr m:val="]"/>
                          <m:ctrlPr>
                            <a:rPr lang="en-US" i="1">
                              <a:latin typeface="Cambria Math" panose="02040503050406030204" pitchFamily="18" charset="0"/>
                            </a:rPr>
                          </m:ctrlPr>
                        </m:dPr>
                        <m:e>
                          <m:r>
                            <a:rPr lang="en-US" i="1">
                              <a:latin typeface="Cambria Math" panose="02040503050406030204" pitchFamily="18" charset="0"/>
                            </a:rPr>
                            <m:t>𝐸</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𝑦</m:t>
                                  </m:r>
                                </m:e>
                              </m:acc>
                              <m:r>
                                <a:rPr lang="en-US">
                                  <a:latin typeface="Cambria Math" panose="02040503050406030204" pitchFamily="18" charset="0"/>
                                </a:rPr>
                                <m:t>∣</m:t>
                              </m:r>
                              <m:r>
                                <a:rPr lang="en-US" i="1">
                                  <a:latin typeface="Cambria Math" panose="02040503050406030204" pitchFamily="18" charset="0"/>
                                </a:rPr>
                                <m:t>𝛽</m:t>
                              </m:r>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e>
                          </m:d>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e>
                      </m:d>
                      <m:r>
                        <a:rPr lang="en-US">
                          <a:latin typeface="Cambria Math" panose="02040503050406030204" pitchFamily="18" charset="0"/>
                        </a:rPr>
                        <m:t>=</m:t>
                      </m:r>
                      <m:r>
                        <a:rPr lang="en-US" i="1">
                          <a:latin typeface="Cambria Math" panose="02040503050406030204" pitchFamily="18" charset="0"/>
                        </a:rPr>
                        <m:t>𝐸</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𝑋</m:t>
                              </m:r>
                            </m:e>
                          </m:acc>
                          <m:r>
                            <a:rPr lang="en-US" i="1">
                              <a:latin typeface="Cambria Math" panose="02040503050406030204" pitchFamily="18" charset="0"/>
                            </a:rPr>
                            <m:t>𝛽</m:t>
                          </m:r>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e>
                      </m:d>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𝑋</m:t>
                          </m:r>
                        </m:e>
                      </m:acc>
                      <m:acc>
                        <m:accPr>
                          <m:chr m:val="ˆ"/>
                          <m:ctrlPr>
                            <a:rPr lang="en-US" i="1">
                              <a:latin typeface="Cambria Math" panose="02040503050406030204" pitchFamily="18" charset="0"/>
                            </a:rPr>
                          </m:ctrlPr>
                        </m:accPr>
                        <m:e>
                          <m:r>
                            <a:rPr lang="en-US" i="1">
                              <a:latin typeface="Cambria Math" panose="02040503050406030204" pitchFamily="18" charset="0"/>
                            </a:rPr>
                            <m:t>𝛽</m:t>
                          </m:r>
                        </m:e>
                      </m:acc>
                    </m:oMath>
                  </m:oMathPara>
                </a14:m>
                <a:endParaRPr lang="en-US" dirty="0"/>
              </a:p>
              <a:p>
                <a:pPr marL="0" indent="0">
                  <a:buNone/>
                </a:pPr>
                <a:r>
                  <a:rPr lang="en-US" dirty="0"/>
                  <a:t>where </a:t>
                </a:r>
                <a14:m>
                  <m:oMath xmlns:m="http://schemas.openxmlformats.org/officeDocument/2006/math">
                    <m:acc>
                      <m:accPr>
                        <m:chr m:val="ˆ"/>
                        <m:ctrlPr>
                          <a:rPr lang="en-US" i="1">
                            <a:latin typeface="Cambria Math" panose="02040503050406030204" pitchFamily="18" charset="0"/>
                          </a:rPr>
                        </m:ctrlPr>
                      </m:accPr>
                      <m:e>
                        <m:r>
                          <a:rPr lang="en-US" i="1">
                            <a:latin typeface="Cambria Math" panose="02040503050406030204" pitchFamily="18" charset="0"/>
                          </a:rPr>
                          <m:t>𝛽</m:t>
                        </m:r>
                      </m:e>
                    </m:acc>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𝛽</m:t>
                        </m:r>
                      </m:sub>
                    </m:sSub>
                    <m:sSup>
                      <m:sSupPr>
                        <m:ctrlPr>
                          <a:rPr lang="en-US" i="1">
                            <a:latin typeface="Cambria Math" panose="02040503050406030204" pitchFamily="18" charset="0"/>
                          </a:rPr>
                        </m:ctrlPr>
                      </m:sSupPr>
                      <m:e>
                        <m:r>
                          <a:rPr lang="en-US" i="1">
                            <a:latin typeface="Cambria Math" panose="02040503050406030204" pitchFamily="18" charset="0"/>
                          </a:rPr>
                          <m:t>𝑋</m:t>
                        </m:r>
                      </m:e>
                      <m:sup>
                        <m:r>
                          <a:rPr lang="en-US" i="1">
                            <a:latin typeface="Cambria Math" panose="02040503050406030204" pitchFamily="18" charset="0"/>
                          </a:rPr>
                          <m:t>𝑇</m:t>
                        </m:r>
                      </m:sup>
                    </m:sSup>
                    <m:r>
                      <a:rPr lang="en-US" i="1">
                        <a:latin typeface="Cambria Math" panose="02040503050406030204" pitchFamily="18" charset="0"/>
                      </a:rPr>
                      <m:t>𝑦</m:t>
                    </m:r>
                  </m:oMath>
                </a14:m>
                <a:r>
                  <a:rPr lang="en-US" dirty="0"/>
                  <a:t>.</a:t>
                </a:r>
                <a:br>
                  <a:rPr lang="en-US" dirty="0"/>
                </a:br>
                <a:endParaRPr lang="en-US" dirty="0"/>
              </a:p>
              <a:p>
                <a:pPr marL="0" indent="0">
                  <a:buNone/>
                </a:pPr>
                <a14:m>
                  <m:oMathPara xmlns:m="http://schemas.openxmlformats.org/officeDocument/2006/math">
                    <m:oMathParaPr>
                      <m:jc m:val="centerGroup"/>
                    </m:oMathParaPr>
                    <m:oMath xmlns:m="http://schemas.openxmlformats.org/officeDocument/2006/math">
                      <m:r>
                        <m:rPr>
                          <m:sty m:val="p"/>
                        </m:rPr>
                        <a:rPr lang="en-US">
                          <a:latin typeface="Cambria Math" panose="02040503050406030204" pitchFamily="18" charset="0"/>
                        </a:rPr>
                        <m:t>var</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𝑦</m:t>
                              </m:r>
                            </m:e>
                          </m:acc>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e>
                      </m:d>
                      <m:r>
                        <a:rPr lang="en-US" i="1">
                          <a:latin typeface="Cambria Math" panose="02040503050406030204" pitchFamily="18" charset="0"/>
                        </a:rPr>
                        <m:t>=</m:t>
                      </m:r>
                      <m:r>
                        <a:rPr lang="en-US" i="1" smtClean="0">
                          <a:solidFill>
                            <a:schemeClr val="bg1"/>
                          </a:solidFill>
                          <a:latin typeface="Cambria Math" panose="02040503050406030204" pitchFamily="18" charset="0"/>
                        </a:rPr>
                        <m:t>𝐸</m:t>
                      </m:r>
                      <m:d>
                        <m:dPr>
                          <m:begChr m:val="["/>
                          <m:endChr m:val="]"/>
                          <m:ctrlPr>
                            <a:rPr lang="en-US" i="1">
                              <a:solidFill>
                                <a:schemeClr val="bg1"/>
                              </a:solidFill>
                              <a:latin typeface="Cambria Math" panose="02040503050406030204" pitchFamily="18" charset="0"/>
                            </a:rPr>
                          </m:ctrlPr>
                        </m:dPr>
                        <m:e>
                          <m:r>
                            <m:rPr>
                              <m:sty m:val="p"/>
                            </m:rPr>
                            <a:rPr lang="en-US">
                              <a:solidFill>
                                <a:schemeClr val="bg1"/>
                              </a:solidFill>
                              <a:latin typeface="Cambria Math" panose="02040503050406030204" pitchFamily="18" charset="0"/>
                            </a:rPr>
                            <m:t>var</m:t>
                          </m:r>
                          <m:d>
                            <m:dPr>
                              <m:ctrlPr>
                                <a:rPr lang="en-US" i="1">
                                  <a:solidFill>
                                    <a:schemeClr val="bg1"/>
                                  </a:solidFill>
                                  <a:latin typeface="Cambria Math" panose="02040503050406030204" pitchFamily="18" charset="0"/>
                                </a:rPr>
                              </m:ctrlPr>
                            </m:dPr>
                            <m:e>
                              <m:acc>
                                <m:accPr>
                                  <m:chr m:val="˜"/>
                                  <m:ctrlPr>
                                    <a:rPr lang="en-US" i="1">
                                      <a:solidFill>
                                        <a:schemeClr val="bg1"/>
                                      </a:solidFill>
                                      <a:latin typeface="Cambria Math" panose="02040503050406030204" pitchFamily="18" charset="0"/>
                                    </a:rPr>
                                  </m:ctrlPr>
                                </m:accPr>
                                <m:e>
                                  <m:r>
                                    <a:rPr lang="en-US" i="1">
                                      <a:solidFill>
                                        <a:schemeClr val="bg1"/>
                                      </a:solidFill>
                                      <a:latin typeface="Cambria Math" panose="02040503050406030204" pitchFamily="18" charset="0"/>
                                    </a:rPr>
                                    <m:t>𝑦</m:t>
                                  </m:r>
                                </m:e>
                              </m:acc>
                              <m:r>
                                <a:rPr lang="en-US">
                                  <a:solidFill>
                                    <a:schemeClr val="bg1"/>
                                  </a:solidFill>
                                  <a:latin typeface="Cambria Math" panose="02040503050406030204" pitchFamily="18" charset="0"/>
                                </a:rPr>
                                <m:t>∣</m:t>
                              </m:r>
                              <m:r>
                                <a:rPr lang="en-US" i="1">
                                  <a:solidFill>
                                    <a:schemeClr val="bg1"/>
                                  </a:solidFill>
                                  <a:latin typeface="Cambria Math" panose="02040503050406030204" pitchFamily="18" charset="0"/>
                                </a:rPr>
                                <m:t>𝛽</m:t>
                              </m:r>
                              <m:r>
                                <a:rPr lang="en-US">
                                  <a:solidFill>
                                    <a:schemeClr val="bg1"/>
                                  </a:solidFill>
                                  <a:latin typeface="Cambria Math" panose="02040503050406030204" pitchFamily="18" charset="0"/>
                                </a:rPr>
                                <m:t>,</m:t>
                              </m:r>
                              <m:sSup>
                                <m:sSupPr>
                                  <m:ctrlPr>
                                    <a:rPr lang="en-US" i="1">
                                      <a:solidFill>
                                        <a:schemeClr val="bg1"/>
                                      </a:solidFill>
                                      <a:latin typeface="Cambria Math" panose="02040503050406030204" pitchFamily="18" charset="0"/>
                                    </a:rPr>
                                  </m:ctrlPr>
                                </m:sSupPr>
                                <m:e>
                                  <m:r>
                                    <a:rPr lang="en-US" i="1">
                                      <a:solidFill>
                                        <a:schemeClr val="bg1"/>
                                      </a:solidFill>
                                      <a:latin typeface="Cambria Math" panose="02040503050406030204" pitchFamily="18" charset="0"/>
                                    </a:rPr>
                                    <m:t>𝜎</m:t>
                                  </m:r>
                                </m:e>
                                <m:sup>
                                  <m:r>
                                    <a:rPr lang="en-US">
                                      <a:solidFill>
                                        <a:schemeClr val="bg1"/>
                                      </a:solidFill>
                                      <a:latin typeface="Cambria Math" panose="02040503050406030204" pitchFamily="18" charset="0"/>
                                    </a:rPr>
                                    <m:t>2</m:t>
                                  </m:r>
                                </m:sup>
                              </m:sSup>
                              <m:r>
                                <a:rPr lang="en-US">
                                  <a:solidFill>
                                    <a:schemeClr val="bg1"/>
                                  </a:solidFill>
                                  <a:latin typeface="Cambria Math" panose="02040503050406030204" pitchFamily="18" charset="0"/>
                                </a:rPr>
                                <m:t>,</m:t>
                              </m:r>
                              <m:r>
                                <a:rPr lang="en-US" i="1">
                                  <a:solidFill>
                                    <a:schemeClr val="bg1"/>
                                  </a:solidFill>
                                  <a:latin typeface="Cambria Math" panose="02040503050406030204" pitchFamily="18" charset="0"/>
                                </a:rPr>
                                <m:t>𝑦</m:t>
                              </m:r>
                            </m:e>
                          </m:d>
                          <m:r>
                            <a:rPr lang="en-US">
                              <a:solidFill>
                                <a:schemeClr val="bg1"/>
                              </a:solidFill>
                              <a:latin typeface="Cambria Math" panose="02040503050406030204" pitchFamily="18" charset="0"/>
                            </a:rPr>
                            <m:t>∣</m:t>
                          </m:r>
                          <m:sSup>
                            <m:sSupPr>
                              <m:ctrlPr>
                                <a:rPr lang="en-US" i="1">
                                  <a:solidFill>
                                    <a:schemeClr val="bg1"/>
                                  </a:solidFill>
                                  <a:latin typeface="Cambria Math" panose="02040503050406030204" pitchFamily="18" charset="0"/>
                                </a:rPr>
                              </m:ctrlPr>
                            </m:sSupPr>
                            <m:e>
                              <m:r>
                                <a:rPr lang="en-US" i="1">
                                  <a:solidFill>
                                    <a:schemeClr val="bg1"/>
                                  </a:solidFill>
                                  <a:latin typeface="Cambria Math" panose="02040503050406030204" pitchFamily="18" charset="0"/>
                                </a:rPr>
                                <m:t>𝜎</m:t>
                              </m:r>
                            </m:e>
                            <m:sup>
                              <m:r>
                                <a:rPr lang="en-US">
                                  <a:solidFill>
                                    <a:schemeClr val="bg1"/>
                                  </a:solidFill>
                                  <a:latin typeface="Cambria Math" panose="02040503050406030204" pitchFamily="18" charset="0"/>
                                </a:rPr>
                                <m:t>2</m:t>
                              </m:r>
                            </m:sup>
                          </m:sSup>
                          <m:r>
                            <a:rPr lang="en-US">
                              <a:solidFill>
                                <a:schemeClr val="bg1"/>
                              </a:solidFill>
                              <a:latin typeface="Cambria Math" panose="02040503050406030204" pitchFamily="18" charset="0"/>
                            </a:rPr>
                            <m:t>,</m:t>
                          </m:r>
                          <m:r>
                            <a:rPr lang="en-US" i="1">
                              <a:solidFill>
                                <a:schemeClr val="bg1"/>
                              </a:solidFill>
                              <a:latin typeface="Cambria Math" panose="02040503050406030204" pitchFamily="18" charset="0"/>
                            </a:rPr>
                            <m:t>𝑦</m:t>
                          </m:r>
                        </m:e>
                      </m:d>
                      <m:r>
                        <a:rPr lang="en-US">
                          <a:latin typeface="Cambria Math" panose="02040503050406030204" pitchFamily="18" charset="0"/>
                        </a:rPr>
                        <m:t>+</m:t>
                      </m:r>
                      <m:r>
                        <m:rPr>
                          <m:sty m:val="p"/>
                        </m:rPr>
                        <a:rPr lang="en-US">
                          <a:latin typeface="Cambria Math" panose="02040503050406030204" pitchFamily="18" charset="0"/>
                        </a:rPr>
                        <m:t>var</m:t>
                      </m:r>
                      <m:d>
                        <m:dPr>
                          <m:begChr m:val="["/>
                          <m:endChr m:val="]"/>
                          <m:ctrlPr>
                            <a:rPr lang="en-US" i="1">
                              <a:latin typeface="Cambria Math" panose="02040503050406030204" pitchFamily="18" charset="0"/>
                            </a:rPr>
                          </m:ctrlPr>
                        </m:dPr>
                        <m:e>
                          <m:r>
                            <a:rPr lang="en-US" i="1">
                              <a:latin typeface="Cambria Math" panose="02040503050406030204" pitchFamily="18" charset="0"/>
                            </a:rPr>
                            <m:t>𝐸</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𝑦</m:t>
                                  </m:r>
                                </m:e>
                              </m:acc>
                              <m:r>
                                <a:rPr lang="en-US">
                                  <a:latin typeface="Cambria Math" panose="02040503050406030204" pitchFamily="18" charset="0"/>
                                </a:rPr>
                                <m:t>∣</m:t>
                              </m:r>
                              <m:r>
                                <a:rPr lang="en-US" i="1">
                                  <a:latin typeface="Cambria Math" panose="02040503050406030204" pitchFamily="18" charset="0"/>
                                </a:rPr>
                                <m:t>𝛽</m:t>
                              </m:r>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e>
                          </m:d>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e>
                      </m:d>
                    </m:oMath>
                  </m:oMathPara>
                </a14:m>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CDD8D345-0A9F-88CB-44C7-F5FA6B31B13B}"/>
                  </a:ext>
                </a:extLst>
              </p:cNvPr>
              <p:cNvSpPr>
                <a:spLocks noGrp="1" noRot="1" noChangeAspect="1" noMove="1" noResize="1" noEditPoints="1" noAdjustHandles="1" noChangeArrowheads="1" noChangeShapeType="1" noTextEdit="1"/>
              </p:cNvSpPr>
              <p:nvPr>
                <p:ph idx="1"/>
              </p:nvPr>
            </p:nvSpPr>
            <p:spPr>
              <a:blipFill>
                <a:blip r:embed="rId3"/>
                <a:stretch>
                  <a:fillRect l="-1341" t="-1657"/>
                </a:stretch>
              </a:blipFill>
            </p:spPr>
            <p:txBody>
              <a:bodyPr/>
              <a:lstStyle/>
              <a:p>
                <a:r>
                  <a:rPr lang="en-US">
                    <a:noFill/>
                  </a:rPr>
                  <a:t> </a:t>
                </a:r>
              </a:p>
            </p:txBody>
          </p:sp>
        </mc:Fallback>
      </mc:AlternateContent>
    </p:spTree>
    <p:extLst>
      <p:ext uri="{BB962C8B-B14F-4D97-AF65-F5344CB8AC3E}">
        <p14:creationId xmlns:p14="http://schemas.microsoft.com/office/powerpoint/2010/main" val="6676166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572D3-73C3-8EB7-8BBF-2086A62BCAF7}"/>
              </a:ext>
            </a:extLst>
          </p:cNvPr>
          <p:cNvSpPr>
            <a:spLocks noGrp="1"/>
          </p:cNvSpPr>
          <p:nvPr>
            <p:ph type="title"/>
          </p:nvPr>
        </p:nvSpPr>
        <p:spPr/>
        <p:txBody>
          <a:bodyPr/>
          <a:lstStyle/>
          <a:p>
            <a:r>
              <a:rPr lang="en-US" dirty="0"/>
              <a:t>Mean &amp; Variance of the Posterior Predictive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DD8D345-0A9F-88CB-44C7-F5FA6B31B13B}"/>
                  </a:ext>
                </a:extLst>
              </p:cNvPr>
              <p:cNvSpPr>
                <a:spLocks noGrp="1"/>
              </p:cNvSpPr>
              <p:nvPr>
                <p:ph idx="1"/>
              </p:nvPr>
            </p:nvSpPr>
            <p:spPr/>
            <p:txBody>
              <a:bodyPr/>
              <a:lstStyle/>
              <a:p>
                <a:r>
                  <a:rPr lang="en-US" dirty="0"/>
                  <a:t>To get mean and variance use conditioning trick</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𝐸</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𝑦</m:t>
                              </m:r>
                            </m:e>
                          </m:acc>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e>
                      </m:d>
                      <m:r>
                        <a:rPr lang="en-US" i="1">
                          <a:latin typeface="Cambria Math" panose="02040503050406030204" pitchFamily="18" charset="0"/>
                        </a:rPr>
                        <m:t>=</m:t>
                      </m:r>
                      <m:r>
                        <a:rPr lang="en-US" i="1">
                          <a:latin typeface="Cambria Math" panose="02040503050406030204" pitchFamily="18" charset="0"/>
                        </a:rPr>
                        <m:t>𝐸</m:t>
                      </m:r>
                      <m:d>
                        <m:dPr>
                          <m:begChr m:val="["/>
                          <m:endChr m:val="]"/>
                          <m:ctrlPr>
                            <a:rPr lang="en-US" i="1">
                              <a:latin typeface="Cambria Math" panose="02040503050406030204" pitchFamily="18" charset="0"/>
                            </a:rPr>
                          </m:ctrlPr>
                        </m:dPr>
                        <m:e>
                          <m:r>
                            <a:rPr lang="en-US" i="1">
                              <a:latin typeface="Cambria Math" panose="02040503050406030204" pitchFamily="18" charset="0"/>
                            </a:rPr>
                            <m:t>𝐸</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𝑦</m:t>
                                  </m:r>
                                </m:e>
                              </m:acc>
                              <m:r>
                                <a:rPr lang="en-US">
                                  <a:latin typeface="Cambria Math" panose="02040503050406030204" pitchFamily="18" charset="0"/>
                                </a:rPr>
                                <m:t>∣</m:t>
                              </m:r>
                              <m:r>
                                <a:rPr lang="en-US" i="1">
                                  <a:latin typeface="Cambria Math" panose="02040503050406030204" pitchFamily="18" charset="0"/>
                                </a:rPr>
                                <m:t>𝛽</m:t>
                              </m:r>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e>
                          </m:d>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e>
                      </m:d>
                      <m:r>
                        <a:rPr lang="en-US">
                          <a:latin typeface="Cambria Math" panose="02040503050406030204" pitchFamily="18" charset="0"/>
                        </a:rPr>
                        <m:t>=</m:t>
                      </m:r>
                      <m:r>
                        <a:rPr lang="en-US" i="1">
                          <a:latin typeface="Cambria Math" panose="02040503050406030204" pitchFamily="18" charset="0"/>
                        </a:rPr>
                        <m:t>𝐸</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𝑋</m:t>
                              </m:r>
                            </m:e>
                          </m:acc>
                          <m:r>
                            <a:rPr lang="en-US" i="1">
                              <a:latin typeface="Cambria Math" panose="02040503050406030204" pitchFamily="18" charset="0"/>
                            </a:rPr>
                            <m:t>𝛽</m:t>
                          </m:r>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e>
                      </m:d>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𝑋</m:t>
                          </m:r>
                        </m:e>
                      </m:acc>
                      <m:acc>
                        <m:accPr>
                          <m:chr m:val="ˆ"/>
                          <m:ctrlPr>
                            <a:rPr lang="en-US" i="1">
                              <a:latin typeface="Cambria Math" panose="02040503050406030204" pitchFamily="18" charset="0"/>
                            </a:rPr>
                          </m:ctrlPr>
                        </m:accPr>
                        <m:e>
                          <m:r>
                            <a:rPr lang="en-US" i="1">
                              <a:latin typeface="Cambria Math" panose="02040503050406030204" pitchFamily="18" charset="0"/>
                            </a:rPr>
                            <m:t>𝛽</m:t>
                          </m:r>
                        </m:e>
                      </m:acc>
                    </m:oMath>
                  </m:oMathPara>
                </a14:m>
                <a:endParaRPr lang="en-US" dirty="0"/>
              </a:p>
              <a:p>
                <a:pPr marL="0" indent="0">
                  <a:buNone/>
                </a:pPr>
                <a:r>
                  <a:rPr lang="en-US" dirty="0"/>
                  <a:t>where </a:t>
                </a:r>
                <a14:m>
                  <m:oMath xmlns:m="http://schemas.openxmlformats.org/officeDocument/2006/math">
                    <m:acc>
                      <m:accPr>
                        <m:chr m:val="ˆ"/>
                        <m:ctrlPr>
                          <a:rPr lang="en-US" i="1">
                            <a:latin typeface="Cambria Math" panose="02040503050406030204" pitchFamily="18" charset="0"/>
                          </a:rPr>
                        </m:ctrlPr>
                      </m:accPr>
                      <m:e>
                        <m:r>
                          <a:rPr lang="en-US" i="1">
                            <a:latin typeface="Cambria Math" panose="02040503050406030204" pitchFamily="18" charset="0"/>
                          </a:rPr>
                          <m:t>𝛽</m:t>
                        </m:r>
                      </m:e>
                    </m:acc>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𝛽</m:t>
                        </m:r>
                      </m:sub>
                    </m:sSub>
                    <m:sSup>
                      <m:sSupPr>
                        <m:ctrlPr>
                          <a:rPr lang="en-US" i="1">
                            <a:latin typeface="Cambria Math" panose="02040503050406030204" pitchFamily="18" charset="0"/>
                          </a:rPr>
                        </m:ctrlPr>
                      </m:sSupPr>
                      <m:e>
                        <m:r>
                          <a:rPr lang="en-US" i="1">
                            <a:latin typeface="Cambria Math" panose="02040503050406030204" pitchFamily="18" charset="0"/>
                          </a:rPr>
                          <m:t>𝑋</m:t>
                        </m:r>
                      </m:e>
                      <m:sup>
                        <m:r>
                          <a:rPr lang="en-US" i="1">
                            <a:latin typeface="Cambria Math" panose="02040503050406030204" pitchFamily="18" charset="0"/>
                          </a:rPr>
                          <m:t>𝑇</m:t>
                        </m:r>
                      </m:sup>
                    </m:sSup>
                    <m:r>
                      <a:rPr lang="en-US" i="1">
                        <a:latin typeface="Cambria Math" panose="02040503050406030204" pitchFamily="18" charset="0"/>
                      </a:rPr>
                      <m:t>𝑦</m:t>
                    </m:r>
                  </m:oMath>
                </a14:m>
                <a:r>
                  <a:rPr lang="en-US" dirty="0"/>
                  <a:t>.</a:t>
                </a:r>
                <a:br>
                  <a:rPr lang="en-US" dirty="0"/>
                </a:br>
                <a:endParaRPr lang="en-US" dirty="0"/>
              </a:p>
              <a:p>
                <a:pPr marL="0" indent="0">
                  <a:buNone/>
                </a:pPr>
                <a14:m>
                  <m:oMathPara xmlns:m="http://schemas.openxmlformats.org/officeDocument/2006/math">
                    <m:oMathParaPr>
                      <m:jc m:val="centerGroup"/>
                    </m:oMathParaPr>
                    <m:oMath xmlns:m="http://schemas.openxmlformats.org/officeDocument/2006/math">
                      <m:r>
                        <m:rPr>
                          <m:sty m:val="p"/>
                        </m:rPr>
                        <a:rPr lang="en-US">
                          <a:latin typeface="Cambria Math" panose="02040503050406030204" pitchFamily="18" charset="0"/>
                        </a:rPr>
                        <m:t>var</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𝑦</m:t>
                              </m:r>
                            </m:e>
                          </m:acc>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e>
                      </m:d>
                      <m:r>
                        <a:rPr lang="en-US" i="1">
                          <a:latin typeface="Cambria Math" panose="02040503050406030204" pitchFamily="18" charset="0"/>
                        </a:rPr>
                        <m:t>=</m:t>
                      </m:r>
                      <m:sSup>
                        <m:sSupPr>
                          <m:ctrlPr>
                            <a:rPr lang="en-US" i="1">
                              <a:solidFill>
                                <a:schemeClr val="bg1"/>
                              </a:solidFill>
                              <a:latin typeface="Cambria Math" panose="02040503050406030204" pitchFamily="18" charset="0"/>
                            </a:rPr>
                          </m:ctrlPr>
                        </m:sSupPr>
                        <m:e>
                          <m:r>
                            <a:rPr lang="en-US" i="1">
                              <a:solidFill>
                                <a:schemeClr val="bg1"/>
                              </a:solidFill>
                              <a:latin typeface="Cambria Math" panose="02040503050406030204" pitchFamily="18" charset="0"/>
                            </a:rPr>
                            <m:t>𝜎</m:t>
                          </m:r>
                        </m:e>
                        <m:sup>
                          <m:r>
                            <a:rPr lang="en-US">
                              <a:solidFill>
                                <a:schemeClr val="bg1"/>
                              </a:solidFill>
                              <a:latin typeface="Cambria Math" panose="02040503050406030204" pitchFamily="18" charset="0"/>
                            </a:rPr>
                            <m:t>2</m:t>
                          </m:r>
                        </m:sup>
                      </m:sSup>
                      <m:r>
                        <a:rPr lang="en-US" i="1">
                          <a:solidFill>
                            <a:schemeClr val="bg1"/>
                          </a:solidFill>
                          <a:latin typeface="Cambria Math" panose="02040503050406030204" pitchFamily="18" charset="0"/>
                        </a:rPr>
                        <m:t>𝐼</m:t>
                      </m:r>
                      <m:r>
                        <a:rPr lang="en-US">
                          <a:latin typeface="Cambria Math" panose="02040503050406030204" pitchFamily="18" charset="0"/>
                        </a:rPr>
                        <m:t>+</m:t>
                      </m:r>
                      <m:r>
                        <m:rPr>
                          <m:sty m:val="p"/>
                        </m:rPr>
                        <a:rPr lang="en-US">
                          <a:latin typeface="Cambria Math" panose="02040503050406030204" pitchFamily="18" charset="0"/>
                        </a:rPr>
                        <m:t>var</m:t>
                      </m:r>
                      <m:d>
                        <m:dPr>
                          <m:begChr m:val="["/>
                          <m:endChr m:val="]"/>
                          <m:ctrlPr>
                            <a:rPr lang="en-US" i="1">
                              <a:latin typeface="Cambria Math" panose="02040503050406030204" pitchFamily="18" charset="0"/>
                            </a:rPr>
                          </m:ctrlPr>
                        </m:dPr>
                        <m:e>
                          <m:r>
                            <a:rPr lang="en-US" i="1">
                              <a:latin typeface="Cambria Math" panose="02040503050406030204" pitchFamily="18" charset="0"/>
                            </a:rPr>
                            <m:t>𝐸</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𝑦</m:t>
                                  </m:r>
                                </m:e>
                              </m:acc>
                              <m:r>
                                <a:rPr lang="en-US">
                                  <a:latin typeface="Cambria Math" panose="02040503050406030204" pitchFamily="18" charset="0"/>
                                </a:rPr>
                                <m:t>∣</m:t>
                              </m:r>
                              <m:r>
                                <a:rPr lang="en-US" i="1">
                                  <a:latin typeface="Cambria Math" panose="02040503050406030204" pitchFamily="18" charset="0"/>
                                </a:rPr>
                                <m:t>𝛽</m:t>
                              </m:r>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e>
                          </m:d>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e>
                      </m:d>
                    </m:oMath>
                  </m:oMathPara>
                </a14:m>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CDD8D345-0A9F-88CB-44C7-F5FA6B31B13B}"/>
                  </a:ext>
                </a:extLst>
              </p:cNvPr>
              <p:cNvSpPr>
                <a:spLocks noGrp="1" noRot="1" noChangeAspect="1" noMove="1" noResize="1" noEditPoints="1" noAdjustHandles="1" noChangeArrowheads="1" noChangeShapeType="1" noTextEdit="1"/>
              </p:cNvSpPr>
              <p:nvPr>
                <p:ph idx="1"/>
              </p:nvPr>
            </p:nvSpPr>
            <p:spPr>
              <a:blipFill>
                <a:blip r:embed="rId3"/>
                <a:stretch>
                  <a:fillRect l="-1341" t="-1657"/>
                </a:stretch>
              </a:blipFill>
            </p:spPr>
            <p:txBody>
              <a:bodyPr/>
              <a:lstStyle/>
              <a:p>
                <a:r>
                  <a:rPr lang="en-US">
                    <a:noFill/>
                  </a:rPr>
                  <a:t> </a:t>
                </a:r>
              </a:p>
            </p:txBody>
          </p:sp>
        </mc:Fallback>
      </mc:AlternateContent>
    </p:spTree>
    <p:extLst>
      <p:ext uri="{BB962C8B-B14F-4D97-AF65-F5344CB8AC3E}">
        <p14:creationId xmlns:p14="http://schemas.microsoft.com/office/powerpoint/2010/main" val="29519254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572D3-73C3-8EB7-8BBF-2086A62BCAF7}"/>
              </a:ext>
            </a:extLst>
          </p:cNvPr>
          <p:cNvSpPr>
            <a:spLocks noGrp="1"/>
          </p:cNvSpPr>
          <p:nvPr>
            <p:ph type="title"/>
          </p:nvPr>
        </p:nvSpPr>
        <p:spPr/>
        <p:txBody>
          <a:bodyPr/>
          <a:lstStyle/>
          <a:p>
            <a:r>
              <a:rPr lang="en-US" dirty="0"/>
              <a:t>Mean &amp; Variance of the Posterior Predictive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DD8D345-0A9F-88CB-44C7-F5FA6B31B13B}"/>
                  </a:ext>
                </a:extLst>
              </p:cNvPr>
              <p:cNvSpPr>
                <a:spLocks noGrp="1"/>
              </p:cNvSpPr>
              <p:nvPr>
                <p:ph idx="1"/>
              </p:nvPr>
            </p:nvSpPr>
            <p:spPr/>
            <p:txBody>
              <a:bodyPr/>
              <a:lstStyle/>
              <a:p>
                <a:r>
                  <a:rPr lang="en-US" dirty="0"/>
                  <a:t>To get mean and variance use conditioning trick</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𝐸</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𝑦</m:t>
                              </m:r>
                            </m:e>
                          </m:acc>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e>
                      </m:d>
                      <m:r>
                        <a:rPr lang="en-US" i="1">
                          <a:latin typeface="Cambria Math" panose="02040503050406030204" pitchFamily="18" charset="0"/>
                        </a:rPr>
                        <m:t>=</m:t>
                      </m:r>
                      <m:r>
                        <a:rPr lang="en-US" i="1">
                          <a:latin typeface="Cambria Math" panose="02040503050406030204" pitchFamily="18" charset="0"/>
                        </a:rPr>
                        <m:t>𝐸</m:t>
                      </m:r>
                      <m:d>
                        <m:dPr>
                          <m:begChr m:val="["/>
                          <m:endChr m:val="]"/>
                          <m:ctrlPr>
                            <a:rPr lang="en-US" i="1">
                              <a:latin typeface="Cambria Math" panose="02040503050406030204" pitchFamily="18" charset="0"/>
                            </a:rPr>
                          </m:ctrlPr>
                        </m:dPr>
                        <m:e>
                          <m:r>
                            <a:rPr lang="en-US" i="1">
                              <a:latin typeface="Cambria Math" panose="02040503050406030204" pitchFamily="18" charset="0"/>
                            </a:rPr>
                            <m:t>𝐸</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𝑦</m:t>
                                  </m:r>
                                </m:e>
                              </m:acc>
                              <m:r>
                                <a:rPr lang="en-US">
                                  <a:latin typeface="Cambria Math" panose="02040503050406030204" pitchFamily="18" charset="0"/>
                                </a:rPr>
                                <m:t>∣</m:t>
                              </m:r>
                              <m:r>
                                <a:rPr lang="en-US" i="1">
                                  <a:latin typeface="Cambria Math" panose="02040503050406030204" pitchFamily="18" charset="0"/>
                                </a:rPr>
                                <m:t>𝛽</m:t>
                              </m:r>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e>
                          </m:d>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e>
                      </m:d>
                      <m:r>
                        <a:rPr lang="en-US">
                          <a:latin typeface="Cambria Math" panose="02040503050406030204" pitchFamily="18" charset="0"/>
                        </a:rPr>
                        <m:t>=</m:t>
                      </m:r>
                      <m:r>
                        <a:rPr lang="en-US" i="1">
                          <a:latin typeface="Cambria Math" panose="02040503050406030204" pitchFamily="18" charset="0"/>
                        </a:rPr>
                        <m:t>𝐸</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𝑋</m:t>
                              </m:r>
                            </m:e>
                          </m:acc>
                          <m:r>
                            <a:rPr lang="en-US" i="1">
                              <a:latin typeface="Cambria Math" panose="02040503050406030204" pitchFamily="18" charset="0"/>
                            </a:rPr>
                            <m:t>𝛽</m:t>
                          </m:r>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e>
                      </m:d>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𝑋</m:t>
                          </m:r>
                        </m:e>
                      </m:acc>
                      <m:acc>
                        <m:accPr>
                          <m:chr m:val="ˆ"/>
                          <m:ctrlPr>
                            <a:rPr lang="en-US" i="1">
                              <a:latin typeface="Cambria Math" panose="02040503050406030204" pitchFamily="18" charset="0"/>
                            </a:rPr>
                          </m:ctrlPr>
                        </m:accPr>
                        <m:e>
                          <m:r>
                            <a:rPr lang="en-US" i="1">
                              <a:latin typeface="Cambria Math" panose="02040503050406030204" pitchFamily="18" charset="0"/>
                            </a:rPr>
                            <m:t>𝛽</m:t>
                          </m:r>
                        </m:e>
                      </m:acc>
                    </m:oMath>
                  </m:oMathPara>
                </a14:m>
                <a:endParaRPr lang="en-US" dirty="0"/>
              </a:p>
              <a:p>
                <a:pPr marL="0" indent="0">
                  <a:buNone/>
                </a:pPr>
                <a:r>
                  <a:rPr lang="en-US" dirty="0"/>
                  <a:t>where </a:t>
                </a:r>
                <a14:m>
                  <m:oMath xmlns:m="http://schemas.openxmlformats.org/officeDocument/2006/math">
                    <m:acc>
                      <m:accPr>
                        <m:chr m:val="ˆ"/>
                        <m:ctrlPr>
                          <a:rPr lang="en-US" i="1">
                            <a:latin typeface="Cambria Math" panose="02040503050406030204" pitchFamily="18" charset="0"/>
                          </a:rPr>
                        </m:ctrlPr>
                      </m:accPr>
                      <m:e>
                        <m:r>
                          <a:rPr lang="en-US" i="1">
                            <a:latin typeface="Cambria Math" panose="02040503050406030204" pitchFamily="18" charset="0"/>
                          </a:rPr>
                          <m:t>𝛽</m:t>
                        </m:r>
                      </m:e>
                    </m:acc>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𝛽</m:t>
                        </m:r>
                      </m:sub>
                    </m:sSub>
                    <m:sSup>
                      <m:sSupPr>
                        <m:ctrlPr>
                          <a:rPr lang="en-US" i="1">
                            <a:latin typeface="Cambria Math" panose="02040503050406030204" pitchFamily="18" charset="0"/>
                          </a:rPr>
                        </m:ctrlPr>
                      </m:sSupPr>
                      <m:e>
                        <m:r>
                          <a:rPr lang="en-US" i="1">
                            <a:latin typeface="Cambria Math" panose="02040503050406030204" pitchFamily="18" charset="0"/>
                          </a:rPr>
                          <m:t>𝑋</m:t>
                        </m:r>
                      </m:e>
                      <m:sup>
                        <m:r>
                          <a:rPr lang="en-US" i="1">
                            <a:latin typeface="Cambria Math" panose="02040503050406030204" pitchFamily="18" charset="0"/>
                          </a:rPr>
                          <m:t>𝑇</m:t>
                        </m:r>
                      </m:sup>
                    </m:sSup>
                    <m:r>
                      <a:rPr lang="en-US" i="1">
                        <a:latin typeface="Cambria Math" panose="02040503050406030204" pitchFamily="18" charset="0"/>
                      </a:rPr>
                      <m:t>𝑦</m:t>
                    </m:r>
                  </m:oMath>
                </a14:m>
                <a:r>
                  <a:rPr lang="en-US" dirty="0"/>
                  <a:t>.</a:t>
                </a:r>
                <a:br>
                  <a:rPr lang="en-US" dirty="0"/>
                </a:br>
                <a:endParaRPr lang="en-US" dirty="0"/>
              </a:p>
              <a:p>
                <a:pPr marL="0" indent="0">
                  <a:buNone/>
                </a:pPr>
                <a14:m>
                  <m:oMathPara xmlns:m="http://schemas.openxmlformats.org/officeDocument/2006/math">
                    <m:oMathParaPr>
                      <m:jc m:val="centerGroup"/>
                    </m:oMathParaPr>
                    <m:oMath xmlns:m="http://schemas.openxmlformats.org/officeDocument/2006/math">
                      <m:r>
                        <m:rPr>
                          <m:sty m:val="p"/>
                        </m:rPr>
                        <a:rPr lang="en-US">
                          <a:latin typeface="Cambria Math" panose="02040503050406030204" pitchFamily="18" charset="0"/>
                        </a:rPr>
                        <m:t>var</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𝑦</m:t>
                              </m:r>
                            </m:e>
                          </m:acc>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e>
                      </m:d>
                      <m:r>
                        <a:rPr lang="en-US" i="1">
                          <a:latin typeface="Cambria Math" panose="02040503050406030204" pitchFamily="18" charset="0"/>
                        </a:rPr>
                        <m:t>=</m:t>
                      </m:r>
                      <m:sSup>
                        <m:sSupPr>
                          <m:ctrlPr>
                            <a:rPr lang="en-US" i="1" smtClean="0">
                              <a:solidFill>
                                <a:schemeClr val="tx1"/>
                              </a:solidFill>
                              <a:latin typeface="Cambria Math" panose="02040503050406030204" pitchFamily="18" charset="0"/>
                            </a:rPr>
                          </m:ctrlPr>
                        </m:sSupPr>
                        <m:e>
                          <m:r>
                            <a:rPr lang="en-US" i="1">
                              <a:solidFill>
                                <a:schemeClr val="tx1"/>
                              </a:solidFill>
                              <a:latin typeface="Cambria Math" panose="02040503050406030204" pitchFamily="18" charset="0"/>
                            </a:rPr>
                            <m:t>𝜎</m:t>
                          </m:r>
                        </m:e>
                        <m:sup>
                          <m:r>
                            <a:rPr lang="en-US">
                              <a:solidFill>
                                <a:schemeClr val="tx1"/>
                              </a:solidFill>
                              <a:latin typeface="Cambria Math" panose="02040503050406030204" pitchFamily="18" charset="0"/>
                            </a:rPr>
                            <m:t>2</m:t>
                          </m:r>
                        </m:sup>
                      </m:sSup>
                      <m:r>
                        <a:rPr lang="en-US" i="1">
                          <a:solidFill>
                            <a:schemeClr val="tx1"/>
                          </a:solidFill>
                          <a:latin typeface="Cambria Math" panose="02040503050406030204" pitchFamily="18" charset="0"/>
                        </a:rPr>
                        <m:t>𝐼</m:t>
                      </m:r>
                      <m:r>
                        <a:rPr lang="en-US">
                          <a:latin typeface="Cambria Math" panose="02040503050406030204" pitchFamily="18" charset="0"/>
                        </a:rPr>
                        <m:t>+</m:t>
                      </m:r>
                      <m:r>
                        <m:rPr>
                          <m:sty m:val="p"/>
                        </m:rPr>
                        <a:rPr lang="en-US" smtClean="0">
                          <a:solidFill>
                            <a:schemeClr val="bg1"/>
                          </a:solidFill>
                          <a:latin typeface="Cambria Math" panose="02040503050406030204" pitchFamily="18" charset="0"/>
                        </a:rPr>
                        <m:t>var</m:t>
                      </m:r>
                      <m:d>
                        <m:dPr>
                          <m:begChr m:val="["/>
                          <m:endChr m:val="]"/>
                          <m:ctrlPr>
                            <a:rPr lang="en-US" i="1">
                              <a:solidFill>
                                <a:schemeClr val="bg1"/>
                              </a:solidFill>
                              <a:latin typeface="Cambria Math" panose="02040503050406030204" pitchFamily="18" charset="0"/>
                            </a:rPr>
                          </m:ctrlPr>
                        </m:dPr>
                        <m:e>
                          <m:r>
                            <a:rPr lang="en-US" i="1">
                              <a:solidFill>
                                <a:schemeClr val="bg1"/>
                              </a:solidFill>
                              <a:latin typeface="Cambria Math" panose="02040503050406030204" pitchFamily="18" charset="0"/>
                            </a:rPr>
                            <m:t>𝐸</m:t>
                          </m:r>
                          <m:d>
                            <m:dPr>
                              <m:ctrlPr>
                                <a:rPr lang="en-US" i="1">
                                  <a:solidFill>
                                    <a:schemeClr val="bg1"/>
                                  </a:solidFill>
                                  <a:latin typeface="Cambria Math" panose="02040503050406030204" pitchFamily="18" charset="0"/>
                                </a:rPr>
                              </m:ctrlPr>
                            </m:dPr>
                            <m:e>
                              <m:acc>
                                <m:accPr>
                                  <m:chr m:val="˜"/>
                                  <m:ctrlPr>
                                    <a:rPr lang="en-US" i="1">
                                      <a:solidFill>
                                        <a:schemeClr val="bg1"/>
                                      </a:solidFill>
                                      <a:latin typeface="Cambria Math" panose="02040503050406030204" pitchFamily="18" charset="0"/>
                                    </a:rPr>
                                  </m:ctrlPr>
                                </m:accPr>
                                <m:e>
                                  <m:r>
                                    <a:rPr lang="en-US" i="1">
                                      <a:solidFill>
                                        <a:schemeClr val="bg1"/>
                                      </a:solidFill>
                                      <a:latin typeface="Cambria Math" panose="02040503050406030204" pitchFamily="18" charset="0"/>
                                    </a:rPr>
                                    <m:t>𝑦</m:t>
                                  </m:r>
                                </m:e>
                              </m:acc>
                              <m:r>
                                <a:rPr lang="en-US">
                                  <a:solidFill>
                                    <a:schemeClr val="bg1"/>
                                  </a:solidFill>
                                  <a:latin typeface="Cambria Math" panose="02040503050406030204" pitchFamily="18" charset="0"/>
                                </a:rPr>
                                <m:t>∣</m:t>
                              </m:r>
                              <m:r>
                                <a:rPr lang="en-US" i="1">
                                  <a:solidFill>
                                    <a:schemeClr val="bg1"/>
                                  </a:solidFill>
                                  <a:latin typeface="Cambria Math" panose="02040503050406030204" pitchFamily="18" charset="0"/>
                                </a:rPr>
                                <m:t>𝛽</m:t>
                              </m:r>
                              <m:r>
                                <a:rPr lang="en-US">
                                  <a:solidFill>
                                    <a:schemeClr val="bg1"/>
                                  </a:solidFill>
                                  <a:latin typeface="Cambria Math" panose="02040503050406030204" pitchFamily="18" charset="0"/>
                                </a:rPr>
                                <m:t>,</m:t>
                              </m:r>
                              <m:sSup>
                                <m:sSupPr>
                                  <m:ctrlPr>
                                    <a:rPr lang="en-US" i="1">
                                      <a:solidFill>
                                        <a:schemeClr val="bg1"/>
                                      </a:solidFill>
                                      <a:latin typeface="Cambria Math" panose="02040503050406030204" pitchFamily="18" charset="0"/>
                                    </a:rPr>
                                  </m:ctrlPr>
                                </m:sSupPr>
                                <m:e>
                                  <m:r>
                                    <a:rPr lang="en-US" i="1">
                                      <a:solidFill>
                                        <a:schemeClr val="bg1"/>
                                      </a:solidFill>
                                      <a:latin typeface="Cambria Math" panose="02040503050406030204" pitchFamily="18" charset="0"/>
                                    </a:rPr>
                                    <m:t>𝜎</m:t>
                                  </m:r>
                                </m:e>
                                <m:sup>
                                  <m:r>
                                    <a:rPr lang="en-US">
                                      <a:solidFill>
                                        <a:schemeClr val="bg1"/>
                                      </a:solidFill>
                                      <a:latin typeface="Cambria Math" panose="02040503050406030204" pitchFamily="18" charset="0"/>
                                    </a:rPr>
                                    <m:t>2</m:t>
                                  </m:r>
                                </m:sup>
                              </m:sSup>
                              <m:r>
                                <a:rPr lang="en-US">
                                  <a:solidFill>
                                    <a:schemeClr val="bg1"/>
                                  </a:solidFill>
                                  <a:latin typeface="Cambria Math" panose="02040503050406030204" pitchFamily="18" charset="0"/>
                                </a:rPr>
                                <m:t>,</m:t>
                              </m:r>
                              <m:r>
                                <a:rPr lang="en-US" i="1">
                                  <a:solidFill>
                                    <a:schemeClr val="bg1"/>
                                  </a:solidFill>
                                  <a:latin typeface="Cambria Math" panose="02040503050406030204" pitchFamily="18" charset="0"/>
                                </a:rPr>
                                <m:t>𝑦</m:t>
                              </m:r>
                            </m:e>
                          </m:d>
                          <m:r>
                            <a:rPr lang="en-US">
                              <a:solidFill>
                                <a:schemeClr val="bg1"/>
                              </a:solidFill>
                              <a:latin typeface="Cambria Math" panose="02040503050406030204" pitchFamily="18" charset="0"/>
                            </a:rPr>
                            <m:t>∣</m:t>
                          </m:r>
                          <m:sSup>
                            <m:sSupPr>
                              <m:ctrlPr>
                                <a:rPr lang="en-US" i="1">
                                  <a:solidFill>
                                    <a:schemeClr val="bg1"/>
                                  </a:solidFill>
                                  <a:latin typeface="Cambria Math" panose="02040503050406030204" pitchFamily="18" charset="0"/>
                                </a:rPr>
                              </m:ctrlPr>
                            </m:sSupPr>
                            <m:e>
                              <m:r>
                                <a:rPr lang="en-US" i="1">
                                  <a:solidFill>
                                    <a:schemeClr val="bg1"/>
                                  </a:solidFill>
                                  <a:latin typeface="Cambria Math" panose="02040503050406030204" pitchFamily="18" charset="0"/>
                                </a:rPr>
                                <m:t>𝜎</m:t>
                              </m:r>
                            </m:e>
                            <m:sup>
                              <m:r>
                                <a:rPr lang="en-US">
                                  <a:solidFill>
                                    <a:schemeClr val="bg1"/>
                                  </a:solidFill>
                                  <a:latin typeface="Cambria Math" panose="02040503050406030204" pitchFamily="18" charset="0"/>
                                </a:rPr>
                                <m:t>2</m:t>
                              </m:r>
                            </m:sup>
                          </m:sSup>
                          <m:r>
                            <a:rPr lang="en-US">
                              <a:solidFill>
                                <a:schemeClr val="bg1"/>
                              </a:solidFill>
                              <a:latin typeface="Cambria Math" panose="02040503050406030204" pitchFamily="18" charset="0"/>
                            </a:rPr>
                            <m:t>,</m:t>
                          </m:r>
                          <m:r>
                            <a:rPr lang="en-US" i="1">
                              <a:solidFill>
                                <a:schemeClr val="bg1"/>
                              </a:solidFill>
                              <a:latin typeface="Cambria Math" panose="02040503050406030204" pitchFamily="18" charset="0"/>
                            </a:rPr>
                            <m:t>𝑦</m:t>
                          </m:r>
                        </m:e>
                      </m:d>
                    </m:oMath>
                  </m:oMathPara>
                </a14:m>
                <a:endParaRPr lang="en-US" dirty="0"/>
              </a:p>
            </p:txBody>
          </p:sp>
        </mc:Choice>
        <mc:Fallback xmlns="">
          <p:sp>
            <p:nvSpPr>
              <p:cNvPr id="3" name="Content Placeholder 2">
                <a:extLst>
                  <a:ext uri="{FF2B5EF4-FFF2-40B4-BE49-F238E27FC236}">
                    <a16:creationId xmlns:a16="http://schemas.microsoft.com/office/drawing/2014/main" id="{CDD8D345-0A9F-88CB-44C7-F5FA6B31B13B}"/>
                  </a:ext>
                </a:extLst>
              </p:cNvPr>
              <p:cNvSpPr>
                <a:spLocks noGrp="1" noRot="1" noChangeAspect="1" noMove="1" noResize="1" noEditPoints="1" noAdjustHandles="1" noChangeArrowheads="1" noChangeShapeType="1" noTextEdit="1"/>
              </p:cNvSpPr>
              <p:nvPr>
                <p:ph idx="1"/>
              </p:nvPr>
            </p:nvSpPr>
            <p:spPr>
              <a:blipFill>
                <a:blip r:embed="rId3"/>
                <a:stretch>
                  <a:fillRect l="-1341" t="-1657"/>
                </a:stretch>
              </a:blipFill>
            </p:spPr>
            <p:txBody>
              <a:bodyPr/>
              <a:lstStyle/>
              <a:p>
                <a:r>
                  <a:rPr lang="en-US">
                    <a:noFill/>
                  </a:rPr>
                  <a:t> </a:t>
                </a:r>
              </a:p>
            </p:txBody>
          </p:sp>
        </mc:Fallback>
      </mc:AlternateContent>
    </p:spTree>
    <p:extLst>
      <p:ext uri="{BB962C8B-B14F-4D97-AF65-F5344CB8AC3E}">
        <p14:creationId xmlns:p14="http://schemas.microsoft.com/office/powerpoint/2010/main" val="23420349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572D3-73C3-8EB7-8BBF-2086A62BCAF7}"/>
              </a:ext>
            </a:extLst>
          </p:cNvPr>
          <p:cNvSpPr>
            <a:spLocks noGrp="1"/>
          </p:cNvSpPr>
          <p:nvPr>
            <p:ph type="title"/>
          </p:nvPr>
        </p:nvSpPr>
        <p:spPr/>
        <p:txBody>
          <a:bodyPr/>
          <a:lstStyle/>
          <a:p>
            <a:r>
              <a:rPr lang="en-US" dirty="0"/>
              <a:t>Mean &amp; Variance of the Posterior Predictive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DD8D345-0A9F-88CB-44C7-F5FA6B31B13B}"/>
                  </a:ext>
                </a:extLst>
              </p:cNvPr>
              <p:cNvSpPr>
                <a:spLocks noGrp="1"/>
              </p:cNvSpPr>
              <p:nvPr>
                <p:ph idx="1"/>
              </p:nvPr>
            </p:nvSpPr>
            <p:spPr/>
            <p:txBody>
              <a:bodyPr/>
              <a:lstStyle/>
              <a:p>
                <a:r>
                  <a:rPr lang="en-US" dirty="0"/>
                  <a:t>To get mean and variance use conditioning trick</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𝐸</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𝑦</m:t>
                              </m:r>
                            </m:e>
                          </m:acc>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e>
                      </m:d>
                      <m:r>
                        <a:rPr lang="en-US" i="1">
                          <a:latin typeface="Cambria Math" panose="02040503050406030204" pitchFamily="18" charset="0"/>
                        </a:rPr>
                        <m:t>=</m:t>
                      </m:r>
                      <m:r>
                        <a:rPr lang="en-US" i="1">
                          <a:latin typeface="Cambria Math" panose="02040503050406030204" pitchFamily="18" charset="0"/>
                        </a:rPr>
                        <m:t>𝐸</m:t>
                      </m:r>
                      <m:d>
                        <m:dPr>
                          <m:begChr m:val="["/>
                          <m:endChr m:val="]"/>
                          <m:ctrlPr>
                            <a:rPr lang="en-US" i="1">
                              <a:latin typeface="Cambria Math" panose="02040503050406030204" pitchFamily="18" charset="0"/>
                            </a:rPr>
                          </m:ctrlPr>
                        </m:dPr>
                        <m:e>
                          <m:r>
                            <a:rPr lang="en-US" i="1">
                              <a:latin typeface="Cambria Math" panose="02040503050406030204" pitchFamily="18" charset="0"/>
                            </a:rPr>
                            <m:t>𝐸</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𝑦</m:t>
                                  </m:r>
                                </m:e>
                              </m:acc>
                              <m:r>
                                <a:rPr lang="en-US">
                                  <a:latin typeface="Cambria Math" panose="02040503050406030204" pitchFamily="18" charset="0"/>
                                </a:rPr>
                                <m:t>∣</m:t>
                              </m:r>
                              <m:r>
                                <a:rPr lang="en-US" i="1">
                                  <a:latin typeface="Cambria Math" panose="02040503050406030204" pitchFamily="18" charset="0"/>
                                </a:rPr>
                                <m:t>𝛽</m:t>
                              </m:r>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e>
                          </m:d>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e>
                      </m:d>
                      <m:r>
                        <a:rPr lang="en-US">
                          <a:latin typeface="Cambria Math" panose="02040503050406030204" pitchFamily="18" charset="0"/>
                        </a:rPr>
                        <m:t>=</m:t>
                      </m:r>
                      <m:r>
                        <a:rPr lang="en-US" i="1">
                          <a:latin typeface="Cambria Math" panose="02040503050406030204" pitchFamily="18" charset="0"/>
                        </a:rPr>
                        <m:t>𝐸</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𝑋</m:t>
                              </m:r>
                            </m:e>
                          </m:acc>
                          <m:r>
                            <a:rPr lang="en-US" i="1">
                              <a:latin typeface="Cambria Math" panose="02040503050406030204" pitchFamily="18" charset="0"/>
                            </a:rPr>
                            <m:t>𝛽</m:t>
                          </m:r>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e>
                      </m:d>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𝑋</m:t>
                          </m:r>
                        </m:e>
                      </m:acc>
                      <m:acc>
                        <m:accPr>
                          <m:chr m:val="ˆ"/>
                          <m:ctrlPr>
                            <a:rPr lang="en-US" i="1">
                              <a:latin typeface="Cambria Math" panose="02040503050406030204" pitchFamily="18" charset="0"/>
                            </a:rPr>
                          </m:ctrlPr>
                        </m:accPr>
                        <m:e>
                          <m:r>
                            <a:rPr lang="en-US" i="1">
                              <a:latin typeface="Cambria Math" panose="02040503050406030204" pitchFamily="18" charset="0"/>
                            </a:rPr>
                            <m:t>𝛽</m:t>
                          </m:r>
                        </m:e>
                      </m:acc>
                    </m:oMath>
                  </m:oMathPara>
                </a14:m>
                <a:endParaRPr lang="en-US" dirty="0"/>
              </a:p>
              <a:p>
                <a:pPr marL="0" indent="0">
                  <a:buNone/>
                </a:pPr>
                <a:r>
                  <a:rPr lang="en-US" dirty="0"/>
                  <a:t>where </a:t>
                </a:r>
                <a14:m>
                  <m:oMath xmlns:m="http://schemas.openxmlformats.org/officeDocument/2006/math">
                    <m:acc>
                      <m:accPr>
                        <m:chr m:val="ˆ"/>
                        <m:ctrlPr>
                          <a:rPr lang="en-US" i="1">
                            <a:latin typeface="Cambria Math" panose="02040503050406030204" pitchFamily="18" charset="0"/>
                          </a:rPr>
                        </m:ctrlPr>
                      </m:accPr>
                      <m:e>
                        <m:r>
                          <a:rPr lang="en-US" i="1">
                            <a:latin typeface="Cambria Math" panose="02040503050406030204" pitchFamily="18" charset="0"/>
                          </a:rPr>
                          <m:t>𝛽</m:t>
                        </m:r>
                      </m:e>
                    </m:acc>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𝛽</m:t>
                        </m:r>
                      </m:sub>
                    </m:sSub>
                    <m:sSup>
                      <m:sSupPr>
                        <m:ctrlPr>
                          <a:rPr lang="en-US" i="1">
                            <a:latin typeface="Cambria Math" panose="02040503050406030204" pitchFamily="18" charset="0"/>
                          </a:rPr>
                        </m:ctrlPr>
                      </m:sSupPr>
                      <m:e>
                        <m:r>
                          <a:rPr lang="en-US" i="1">
                            <a:latin typeface="Cambria Math" panose="02040503050406030204" pitchFamily="18" charset="0"/>
                          </a:rPr>
                          <m:t>𝑋</m:t>
                        </m:r>
                      </m:e>
                      <m:sup>
                        <m:r>
                          <a:rPr lang="en-US" i="1">
                            <a:latin typeface="Cambria Math" panose="02040503050406030204" pitchFamily="18" charset="0"/>
                          </a:rPr>
                          <m:t>𝑇</m:t>
                        </m:r>
                      </m:sup>
                    </m:sSup>
                    <m:r>
                      <a:rPr lang="en-US" i="1">
                        <a:latin typeface="Cambria Math" panose="02040503050406030204" pitchFamily="18" charset="0"/>
                      </a:rPr>
                      <m:t>𝑦</m:t>
                    </m:r>
                  </m:oMath>
                </a14:m>
                <a:r>
                  <a:rPr lang="en-US" dirty="0"/>
                  <a:t>.</a:t>
                </a:r>
                <a:br>
                  <a:rPr lang="en-US" dirty="0"/>
                </a:br>
                <a:endParaRPr lang="en-US" dirty="0"/>
              </a:p>
              <a:p>
                <a:pPr marL="0" indent="0">
                  <a:buNone/>
                </a:pPr>
                <a14:m>
                  <m:oMathPara xmlns:m="http://schemas.openxmlformats.org/officeDocument/2006/math">
                    <m:oMathParaPr>
                      <m:jc m:val="centerGroup"/>
                    </m:oMathParaPr>
                    <m:oMath xmlns:m="http://schemas.openxmlformats.org/officeDocument/2006/math">
                      <m:r>
                        <m:rPr>
                          <m:sty m:val="p"/>
                        </m:rPr>
                        <a:rPr lang="en-US">
                          <a:latin typeface="Cambria Math" panose="02040503050406030204" pitchFamily="18" charset="0"/>
                        </a:rPr>
                        <m:t>var</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𝑦</m:t>
                              </m:r>
                            </m:e>
                          </m:acc>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e>
                      </m:d>
                      <m:r>
                        <a:rPr lang="en-US" i="1">
                          <a:latin typeface="Cambria Math" panose="02040503050406030204" pitchFamily="18" charset="0"/>
                        </a:rPr>
                        <m:t>=</m:t>
                      </m:r>
                      <m:sSup>
                        <m:sSupPr>
                          <m:ctrlPr>
                            <a:rPr lang="en-US" i="1" smtClean="0">
                              <a:solidFill>
                                <a:schemeClr val="tx1"/>
                              </a:solidFill>
                              <a:latin typeface="Cambria Math" panose="02040503050406030204" pitchFamily="18" charset="0"/>
                            </a:rPr>
                          </m:ctrlPr>
                        </m:sSupPr>
                        <m:e>
                          <m:r>
                            <a:rPr lang="en-US" i="1">
                              <a:solidFill>
                                <a:schemeClr val="tx1"/>
                              </a:solidFill>
                              <a:latin typeface="Cambria Math" panose="02040503050406030204" pitchFamily="18" charset="0"/>
                            </a:rPr>
                            <m:t>𝜎</m:t>
                          </m:r>
                        </m:e>
                        <m:sup>
                          <m:r>
                            <a:rPr lang="en-US">
                              <a:solidFill>
                                <a:schemeClr val="tx1"/>
                              </a:solidFill>
                              <a:latin typeface="Cambria Math" panose="02040503050406030204" pitchFamily="18" charset="0"/>
                            </a:rPr>
                            <m:t>2</m:t>
                          </m:r>
                        </m:sup>
                      </m:sSup>
                      <m:r>
                        <a:rPr lang="en-US" i="1">
                          <a:solidFill>
                            <a:schemeClr val="tx1"/>
                          </a:solidFill>
                          <a:latin typeface="Cambria Math" panose="02040503050406030204" pitchFamily="18" charset="0"/>
                        </a:rPr>
                        <m:t>𝐼</m:t>
                      </m:r>
                      <m:r>
                        <a:rPr lang="en-US">
                          <a:latin typeface="Cambria Math" panose="02040503050406030204" pitchFamily="18" charset="0"/>
                        </a:rPr>
                        <m:t>+</m:t>
                      </m:r>
                      <m:r>
                        <m:rPr>
                          <m:sty m:val="p"/>
                        </m:rPr>
                        <a:rPr lang="en-US" smtClean="0">
                          <a:solidFill>
                            <a:schemeClr val="bg1"/>
                          </a:solidFill>
                          <a:latin typeface="Cambria Math" panose="02040503050406030204" pitchFamily="18" charset="0"/>
                        </a:rPr>
                        <m:t>var</m:t>
                      </m:r>
                      <m:d>
                        <m:dPr>
                          <m:begChr m:val="["/>
                          <m:endChr m:val="]"/>
                          <m:ctrlPr>
                            <a:rPr lang="en-US" i="1">
                              <a:solidFill>
                                <a:schemeClr val="bg1"/>
                              </a:solidFill>
                              <a:latin typeface="Cambria Math" panose="02040503050406030204" pitchFamily="18" charset="0"/>
                            </a:rPr>
                          </m:ctrlPr>
                        </m:dPr>
                        <m:e>
                          <m:acc>
                            <m:accPr>
                              <m:chr m:val="̃"/>
                              <m:ctrlPr>
                                <a:rPr lang="en-US" i="1" smtClean="0">
                                  <a:solidFill>
                                    <a:schemeClr val="accent2"/>
                                  </a:solidFill>
                                  <a:latin typeface="Cambria Math" panose="02040503050406030204" pitchFamily="18" charset="0"/>
                                </a:rPr>
                              </m:ctrlPr>
                            </m:accPr>
                            <m:e>
                              <m:r>
                                <a:rPr lang="en-US" i="1">
                                  <a:solidFill>
                                    <a:schemeClr val="accent2"/>
                                  </a:solidFill>
                                  <a:latin typeface="Cambria Math" panose="02040503050406030204" pitchFamily="18" charset="0"/>
                                </a:rPr>
                                <m:t>𝑋</m:t>
                              </m:r>
                            </m:e>
                          </m:acc>
                          <m:r>
                            <a:rPr lang="en-US" i="1">
                              <a:solidFill>
                                <a:schemeClr val="accent2"/>
                              </a:solidFill>
                              <a:latin typeface="Cambria Math" panose="02040503050406030204" pitchFamily="18" charset="0"/>
                            </a:rPr>
                            <m:t>𝛽</m:t>
                          </m:r>
                          <m:r>
                            <a:rPr lang="en-US">
                              <a:solidFill>
                                <a:schemeClr val="bg1"/>
                              </a:solidFill>
                              <a:latin typeface="Cambria Math" panose="02040503050406030204" pitchFamily="18" charset="0"/>
                            </a:rPr>
                            <m:t>∣</m:t>
                          </m:r>
                          <m:sSup>
                            <m:sSupPr>
                              <m:ctrlPr>
                                <a:rPr lang="en-US" i="1">
                                  <a:solidFill>
                                    <a:schemeClr val="bg1"/>
                                  </a:solidFill>
                                  <a:latin typeface="Cambria Math" panose="02040503050406030204" pitchFamily="18" charset="0"/>
                                </a:rPr>
                              </m:ctrlPr>
                            </m:sSupPr>
                            <m:e>
                              <m:r>
                                <a:rPr lang="en-US" i="1">
                                  <a:solidFill>
                                    <a:schemeClr val="bg1"/>
                                  </a:solidFill>
                                  <a:latin typeface="Cambria Math" panose="02040503050406030204" pitchFamily="18" charset="0"/>
                                </a:rPr>
                                <m:t>𝜎</m:t>
                              </m:r>
                            </m:e>
                            <m:sup>
                              <m:r>
                                <a:rPr lang="en-US">
                                  <a:solidFill>
                                    <a:schemeClr val="bg1"/>
                                  </a:solidFill>
                                  <a:latin typeface="Cambria Math" panose="02040503050406030204" pitchFamily="18" charset="0"/>
                                </a:rPr>
                                <m:t>2</m:t>
                              </m:r>
                            </m:sup>
                          </m:sSup>
                          <m:r>
                            <a:rPr lang="en-US">
                              <a:solidFill>
                                <a:schemeClr val="bg1"/>
                              </a:solidFill>
                              <a:latin typeface="Cambria Math" panose="02040503050406030204" pitchFamily="18" charset="0"/>
                            </a:rPr>
                            <m:t>,</m:t>
                          </m:r>
                          <m:r>
                            <a:rPr lang="en-US" i="1">
                              <a:solidFill>
                                <a:schemeClr val="bg1"/>
                              </a:solidFill>
                              <a:latin typeface="Cambria Math" panose="02040503050406030204" pitchFamily="18" charset="0"/>
                            </a:rPr>
                            <m:t>𝑦</m:t>
                          </m:r>
                        </m:e>
                      </m:d>
                    </m:oMath>
                  </m:oMathPara>
                </a14:m>
                <a:endParaRPr lang="en-US" dirty="0"/>
              </a:p>
            </p:txBody>
          </p:sp>
        </mc:Choice>
        <mc:Fallback xmlns="">
          <p:sp>
            <p:nvSpPr>
              <p:cNvPr id="3" name="Content Placeholder 2">
                <a:extLst>
                  <a:ext uri="{FF2B5EF4-FFF2-40B4-BE49-F238E27FC236}">
                    <a16:creationId xmlns:a16="http://schemas.microsoft.com/office/drawing/2014/main" id="{CDD8D345-0A9F-88CB-44C7-F5FA6B31B13B}"/>
                  </a:ext>
                </a:extLst>
              </p:cNvPr>
              <p:cNvSpPr>
                <a:spLocks noGrp="1" noRot="1" noChangeAspect="1" noMove="1" noResize="1" noEditPoints="1" noAdjustHandles="1" noChangeArrowheads="1" noChangeShapeType="1" noTextEdit="1"/>
              </p:cNvSpPr>
              <p:nvPr>
                <p:ph idx="1"/>
              </p:nvPr>
            </p:nvSpPr>
            <p:spPr>
              <a:blipFill>
                <a:blip r:embed="rId3"/>
                <a:stretch>
                  <a:fillRect l="-1341" t="-1657"/>
                </a:stretch>
              </a:blipFill>
            </p:spPr>
            <p:txBody>
              <a:bodyPr/>
              <a:lstStyle/>
              <a:p>
                <a:r>
                  <a:rPr lang="en-US">
                    <a:noFill/>
                  </a:rPr>
                  <a:t> </a:t>
                </a:r>
              </a:p>
            </p:txBody>
          </p:sp>
        </mc:Fallback>
      </mc:AlternateContent>
    </p:spTree>
    <p:extLst>
      <p:ext uri="{BB962C8B-B14F-4D97-AF65-F5344CB8AC3E}">
        <p14:creationId xmlns:p14="http://schemas.microsoft.com/office/powerpoint/2010/main" val="4049387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572D3-73C3-8EB7-8BBF-2086A62BCAF7}"/>
              </a:ext>
            </a:extLst>
          </p:cNvPr>
          <p:cNvSpPr>
            <a:spLocks noGrp="1"/>
          </p:cNvSpPr>
          <p:nvPr>
            <p:ph type="title"/>
          </p:nvPr>
        </p:nvSpPr>
        <p:spPr/>
        <p:txBody>
          <a:bodyPr/>
          <a:lstStyle/>
          <a:p>
            <a:r>
              <a:rPr lang="en-US" dirty="0"/>
              <a:t>Mean &amp; Variance of the Posterior Predictive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DD8D345-0A9F-88CB-44C7-F5FA6B31B13B}"/>
                  </a:ext>
                </a:extLst>
              </p:cNvPr>
              <p:cNvSpPr>
                <a:spLocks noGrp="1"/>
              </p:cNvSpPr>
              <p:nvPr>
                <p:ph idx="1"/>
              </p:nvPr>
            </p:nvSpPr>
            <p:spPr/>
            <p:txBody>
              <a:bodyPr/>
              <a:lstStyle/>
              <a:p>
                <a:r>
                  <a:rPr lang="en-US" dirty="0"/>
                  <a:t>To get mean and variance use conditioning trick</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𝐸</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𝑦</m:t>
                              </m:r>
                            </m:e>
                          </m:acc>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e>
                      </m:d>
                      <m:r>
                        <a:rPr lang="en-US" i="1">
                          <a:latin typeface="Cambria Math" panose="02040503050406030204" pitchFamily="18" charset="0"/>
                        </a:rPr>
                        <m:t>=</m:t>
                      </m:r>
                      <m:r>
                        <a:rPr lang="en-US" i="1">
                          <a:latin typeface="Cambria Math" panose="02040503050406030204" pitchFamily="18" charset="0"/>
                        </a:rPr>
                        <m:t>𝐸</m:t>
                      </m:r>
                      <m:d>
                        <m:dPr>
                          <m:begChr m:val="["/>
                          <m:endChr m:val="]"/>
                          <m:ctrlPr>
                            <a:rPr lang="en-US" i="1">
                              <a:latin typeface="Cambria Math" panose="02040503050406030204" pitchFamily="18" charset="0"/>
                            </a:rPr>
                          </m:ctrlPr>
                        </m:dPr>
                        <m:e>
                          <m:r>
                            <a:rPr lang="en-US" i="1">
                              <a:latin typeface="Cambria Math" panose="02040503050406030204" pitchFamily="18" charset="0"/>
                            </a:rPr>
                            <m:t>𝐸</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𝑦</m:t>
                                  </m:r>
                                </m:e>
                              </m:acc>
                              <m:r>
                                <a:rPr lang="en-US">
                                  <a:latin typeface="Cambria Math" panose="02040503050406030204" pitchFamily="18" charset="0"/>
                                </a:rPr>
                                <m:t>∣</m:t>
                              </m:r>
                              <m:r>
                                <a:rPr lang="en-US" i="1">
                                  <a:latin typeface="Cambria Math" panose="02040503050406030204" pitchFamily="18" charset="0"/>
                                </a:rPr>
                                <m:t>𝛽</m:t>
                              </m:r>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e>
                          </m:d>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e>
                      </m:d>
                      <m:r>
                        <a:rPr lang="en-US">
                          <a:latin typeface="Cambria Math" panose="02040503050406030204" pitchFamily="18" charset="0"/>
                        </a:rPr>
                        <m:t>=</m:t>
                      </m:r>
                      <m:r>
                        <a:rPr lang="en-US" i="1">
                          <a:latin typeface="Cambria Math" panose="02040503050406030204" pitchFamily="18" charset="0"/>
                        </a:rPr>
                        <m:t>𝐸</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𝑋</m:t>
                              </m:r>
                            </m:e>
                          </m:acc>
                          <m:r>
                            <a:rPr lang="en-US" i="1">
                              <a:latin typeface="Cambria Math" panose="02040503050406030204" pitchFamily="18" charset="0"/>
                            </a:rPr>
                            <m:t>𝛽</m:t>
                          </m:r>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e>
                      </m:d>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𝑋</m:t>
                          </m:r>
                        </m:e>
                      </m:acc>
                      <m:acc>
                        <m:accPr>
                          <m:chr m:val="ˆ"/>
                          <m:ctrlPr>
                            <a:rPr lang="en-US" i="1">
                              <a:latin typeface="Cambria Math" panose="02040503050406030204" pitchFamily="18" charset="0"/>
                            </a:rPr>
                          </m:ctrlPr>
                        </m:accPr>
                        <m:e>
                          <m:r>
                            <a:rPr lang="en-US" i="1">
                              <a:latin typeface="Cambria Math" panose="02040503050406030204" pitchFamily="18" charset="0"/>
                            </a:rPr>
                            <m:t>𝛽</m:t>
                          </m:r>
                        </m:e>
                      </m:acc>
                    </m:oMath>
                  </m:oMathPara>
                </a14:m>
                <a:endParaRPr lang="en-US" dirty="0"/>
              </a:p>
              <a:p>
                <a:pPr marL="0" indent="0">
                  <a:buNone/>
                </a:pPr>
                <a:r>
                  <a:rPr lang="en-US" dirty="0"/>
                  <a:t>where </a:t>
                </a:r>
                <a14:m>
                  <m:oMath xmlns:m="http://schemas.openxmlformats.org/officeDocument/2006/math">
                    <m:acc>
                      <m:accPr>
                        <m:chr m:val="ˆ"/>
                        <m:ctrlPr>
                          <a:rPr lang="en-US" i="1">
                            <a:latin typeface="Cambria Math" panose="02040503050406030204" pitchFamily="18" charset="0"/>
                          </a:rPr>
                        </m:ctrlPr>
                      </m:accPr>
                      <m:e>
                        <m:r>
                          <a:rPr lang="en-US" i="1">
                            <a:latin typeface="Cambria Math" panose="02040503050406030204" pitchFamily="18" charset="0"/>
                          </a:rPr>
                          <m:t>𝛽</m:t>
                        </m:r>
                      </m:e>
                    </m:acc>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𝛽</m:t>
                        </m:r>
                      </m:sub>
                    </m:sSub>
                    <m:sSup>
                      <m:sSupPr>
                        <m:ctrlPr>
                          <a:rPr lang="en-US" i="1">
                            <a:latin typeface="Cambria Math" panose="02040503050406030204" pitchFamily="18" charset="0"/>
                          </a:rPr>
                        </m:ctrlPr>
                      </m:sSupPr>
                      <m:e>
                        <m:r>
                          <a:rPr lang="en-US" i="1">
                            <a:latin typeface="Cambria Math" panose="02040503050406030204" pitchFamily="18" charset="0"/>
                          </a:rPr>
                          <m:t>𝑋</m:t>
                        </m:r>
                      </m:e>
                      <m:sup>
                        <m:r>
                          <a:rPr lang="en-US" i="1">
                            <a:latin typeface="Cambria Math" panose="02040503050406030204" pitchFamily="18" charset="0"/>
                          </a:rPr>
                          <m:t>𝑇</m:t>
                        </m:r>
                      </m:sup>
                    </m:sSup>
                    <m:r>
                      <a:rPr lang="en-US" i="1">
                        <a:latin typeface="Cambria Math" panose="02040503050406030204" pitchFamily="18" charset="0"/>
                      </a:rPr>
                      <m:t>𝑦</m:t>
                    </m:r>
                  </m:oMath>
                </a14:m>
                <a:r>
                  <a:rPr lang="en-US" dirty="0"/>
                  <a:t>.</a:t>
                </a:r>
                <a:br>
                  <a:rPr lang="en-US" dirty="0"/>
                </a:br>
                <a:endParaRPr lang="en-US" dirty="0"/>
              </a:p>
              <a:p>
                <a:pPr marL="0" indent="0">
                  <a:buNone/>
                </a:pPr>
                <a14:m>
                  <m:oMathPara xmlns:m="http://schemas.openxmlformats.org/officeDocument/2006/math">
                    <m:oMathParaPr>
                      <m:jc m:val="centerGroup"/>
                    </m:oMathParaPr>
                    <m:oMath xmlns:m="http://schemas.openxmlformats.org/officeDocument/2006/math">
                      <m:r>
                        <m:rPr>
                          <m:sty m:val="p"/>
                        </m:rPr>
                        <a:rPr lang="en-US">
                          <a:latin typeface="Cambria Math" panose="02040503050406030204" pitchFamily="18" charset="0"/>
                        </a:rPr>
                        <m:t>var</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𝑦</m:t>
                              </m:r>
                            </m:e>
                          </m:acc>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e>
                      </m:d>
                      <m:r>
                        <a:rPr lang="en-US" i="1">
                          <a:latin typeface="Cambria Math" panose="02040503050406030204" pitchFamily="18" charset="0"/>
                        </a:rPr>
                        <m:t>=</m:t>
                      </m:r>
                      <m:sSup>
                        <m:sSupPr>
                          <m:ctrlPr>
                            <a:rPr lang="en-US" i="1" smtClean="0">
                              <a:solidFill>
                                <a:schemeClr val="tx1"/>
                              </a:solidFill>
                              <a:latin typeface="Cambria Math" panose="02040503050406030204" pitchFamily="18" charset="0"/>
                            </a:rPr>
                          </m:ctrlPr>
                        </m:sSupPr>
                        <m:e>
                          <m:r>
                            <a:rPr lang="en-US" i="1">
                              <a:solidFill>
                                <a:schemeClr val="tx1"/>
                              </a:solidFill>
                              <a:latin typeface="Cambria Math" panose="02040503050406030204" pitchFamily="18" charset="0"/>
                            </a:rPr>
                            <m:t>𝜎</m:t>
                          </m:r>
                        </m:e>
                        <m:sup>
                          <m:r>
                            <a:rPr lang="en-US">
                              <a:solidFill>
                                <a:schemeClr val="tx1"/>
                              </a:solidFill>
                              <a:latin typeface="Cambria Math" panose="02040503050406030204" pitchFamily="18" charset="0"/>
                            </a:rPr>
                            <m:t>2</m:t>
                          </m:r>
                        </m:sup>
                      </m:sSup>
                      <m:r>
                        <a:rPr lang="en-US" i="1">
                          <a:solidFill>
                            <a:schemeClr val="tx1"/>
                          </a:solidFill>
                          <a:latin typeface="Cambria Math" panose="02040503050406030204" pitchFamily="18" charset="0"/>
                        </a:rPr>
                        <m:t>𝐼</m:t>
                      </m:r>
                      <m:r>
                        <a:rPr lang="en-US">
                          <a:latin typeface="Cambria Math" panose="02040503050406030204" pitchFamily="18" charset="0"/>
                        </a:rPr>
                        <m:t>+</m:t>
                      </m:r>
                      <m:sSup>
                        <m:sSupPr>
                          <m:ctrlPr>
                            <a:rPr lang="en-US" i="1">
                              <a:solidFill>
                                <a:schemeClr val="bg1"/>
                              </a:solidFill>
                              <a:latin typeface="Cambria Math" panose="02040503050406030204" pitchFamily="18" charset="0"/>
                            </a:rPr>
                          </m:ctrlPr>
                        </m:sSupPr>
                        <m:e>
                          <m:r>
                            <a:rPr lang="en-US" i="1">
                              <a:solidFill>
                                <a:schemeClr val="bg1"/>
                              </a:solidFill>
                              <a:latin typeface="Cambria Math" panose="02040503050406030204" pitchFamily="18" charset="0"/>
                            </a:rPr>
                            <m:t>𝜎</m:t>
                          </m:r>
                        </m:e>
                        <m:sup>
                          <m:r>
                            <a:rPr lang="en-US">
                              <a:solidFill>
                                <a:schemeClr val="bg1"/>
                              </a:solidFill>
                              <a:latin typeface="Cambria Math" panose="02040503050406030204" pitchFamily="18" charset="0"/>
                            </a:rPr>
                            <m:t>2</m:t>
                          </m:r>
                        </m:sup>
                      </m:sSup>
                      <m:acc>
                        <m:accPr>
                          <m:chr m:val="˜"/>
                          <m:ctrlPr>
                            <a:rPr lang="en-US" i="1" smtClean="0">
                              <a:solidFill>
                                <a:schemeClr val="accent2"/>
                              </a:solidFill>
                              <a:latin typeface="Cambria Math" panose="02040503050406030204" pitchFamily="18" charset="0"/>
                            </a:rPr>
                          </m:ctrlPr>
                        </m:accPr>
                        <m:e>
                          <m:r>
                            <a:rPr lang="en-US" i="1">
                              <a:solidFill>
                                <a:schemeClr val="accent2"/>
                              </a:solidFill>
                              <a:latin typeface="Cambria Math" panose="02040503050406030204" pitchFamily="18" charset="0"/>
                            </a:rPr>
                            <m:t>𝑋</m:t>
                          </m:r>
                        </m:e>
                      </m:acc>
                      <m:sSub>
                        <m:sSubPr>
                          <m:ctrlPr>
                            <a:rPr lang="en-US" i="1">
                              <a:solidFill>
                                <a:schemeClr val="accent2"/>
                              </a:solidFill>
                              <a:latin typeface="Cambria Math" panose="02040503050406030204" pitchFamily="18" charset="0"/>
                            </a:rPr>
                          </m:ctrlPr>
                        </m:sSubPr>
                        <m:e>
                          <m:r>
                            <a:rPr lang="en-US" i="1">
                              <a:solidFill>
                                <a:schemeClr val="accent2"/>
                              </a:solidFill>
                              <a:latin typeface="Cambria Math" panose="02040503050406030204" pitchFamily="18" charset="0"/>
                            </a:rPr>
                            <m:t>𝑉</m:t>
                          </m:r>
                        </m:e>
                        <m:sub>
                          <m:r>
                            <a:rPr lang="en-US" i="1">
                              <a:solidFill>
                                <a:schemeClr val="accent2"/>
                              </a:solidFill>
                              <a:latin typeface="Cambria Math" panose="02040503050406030204" pitchFamily="18" charset="0"/>
                            </a:rPr>
                            <m:t>𝛽</m:t>
                          </m:r>
                        </m:sub>
                      </m:sSub>
                      <m:sSup>
                        <m:sSupPr>
                          <m:ctrlPr>
                            <a:rPr lang="en-US" i="1">
                              <a:solidFill>
                                <a:schemeClr val="accent2"/>
                              </a:solidFill>
                              <a:latin typeface="Cambria Math" panose="02040503050406030204" pitchFamily="18" charset="0"/>
                            </a:rPr>
                          </m:ctrlPr>
                        </m:sSupPr>
                        <m:e>
                          <m:acc>
                            <m:accPr>
                              <m:chr m:val="˜"/>
                              <m:ctrlPr>
                                <a:rPr lang="en-US" i="1">
                                  <a:solidFill>
                                    <a:schemeClr val="accent2"/>
                                  </a:solidFill>
                                  <a:latin typeface="Cambria Math" panose="02040503050406030204" pitchFamily="18" charset="0"/>
                                </a:rPr>
                              </m:ctrlPr>
                            </m:accPr>
                            <m:e>
                              <m:r>
                                <a:rPr lang="en-US" i="1">
                                  <a:solidFill>
                                    <a:schemeClr val="accent2"/>
                                  </a:solidFill>
                                  <a:latin typeface="Cambria Math" panose="02040503050406030204" pitchFamily="18" charset="0"/>
                                </a:rPr>
                                <m:t>𝑋</m:t>
                              </m:r>
                            </m:e>
                          </m:acc>
                        </m:e>
                        <m:sup>
                          <m:r>
                            <a:rPr lang="en-US" i="1">
                              <a:solidFill>
                                <a:schemeClr val="accent2"/>
                              </a:solidFill>
                              <a:latin typeface="Cambria Math" panose="02040503050406030204" pitchFamily="18" charset="0"/>
                            </a:rPr>
                            <m:t>𝑇</m:t>
                          </m:r>
                        </m:sup>
                      </m:sSup>
                    </m:oMath>
                  </m:oMathPara>
                </a14:m>
                <a:endParaRPr lang="en-US" dirty="0"/>
              </a:p>
            </p:txBody>
          </p:sp>
        </mc:Choice>
        <mc:Fallback xmlns="">
          <p:sp>
            <p:nvSpPr>
              <p:cNvPr id="3" name="Content Placeholder 2">
                <a:extLst>
                  <a:ext uri="{FF2B5EF4-FFF2-40B4-BE49-F238E27FC236}">
                    <a16:creationId xmlns:a16="http://schemas.microsoft.com/office/drawing/2014/main" id="{CDD8D345-0A9F-88CB-44C7-F5FA6B31B13B}"/>
                  </a:ext>
                </a:extLst>
              </p:cNvPr>
              <p:cNvSpPr>
                <a:spLocks noGrp="1" noRot="1" noChangeAspect="1" noMove="1" noResize="1" noEditPoints="1" noAdjustHandles="1" noChangeArrowheads="1" noChangeShapeType="1" noTextEdit="1"/>
              </p:cNvSpPr>
              <p:nvPr>
                <p:ph idx="1"/>
              </p:nvPr>
            </p:nvSpPr>
            <p:spPr>
              <a:blipFill>
                <a:blip r:embed="rId3"/>
                <a:stretch>
                  <a:fillRect l="-1341" t="-1657"/>
                </a:stretch>
              </a:blipFill>
            </p:spPr>
            <p:txBody>
              <a:bodyPr/>
              <a:lstStyle/>
              <a:p>
                <a:r>
                  <a:rPr lang="en-US">
                    <a:noFill/>
                  </a:rPr>
                  <a:t> </a:t>
                </a:r>
              </a:p>
            </p:txBody>
          </p:sp>
        </mc:Fallback>
      </mc:AlternateContent>
    </p:spTree>
    <p:extLst>
      <p:ext uri="{BB962C8B-B14F-4D97-AF65-F5344CB8AC3E}">
        <p14:creationId xmlns:p14="http://schemas.microsoft.com/office/powerpoint/2010/main" val="29087397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572D3-73C3-8EB7-8BBF-2086A62BCAF7}"/>
              </a:ext>
            </a:extLst>
          </p:cNvPr>
          <p:cNvSpPr>
            <a:spLocks noGrp="1"/>
          </p:cNvSpPr>
          <p:nvPr>
            <p:ph type="title"/>
          </p:nvPr>
        </p:nvSpPr>
        <p:spPr/>
        <p:txBody>
          <a:bodyPr/>
          <a:lstStyle/>
          <a:p>
            <a:r>
              <a:rPr lang="en-US" dirty="0"/>
              <a:t>Mean &amp; Variance of the Posterior Predictive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DD8D345-0A9F-88CB-44C7-F5FA6B31B13B}"/>
                  </a:ext>
                </a:extLst>
              </p:cNvPr>
              <p:cNvSpPr>
                <a:spLocks noGrp="1"/>
              </p:cNvSpPr>
              <p:nvPr>
                <p:ph idx="1"/>
              </p:nvPr>
            </p:nvSpPr>
            <p:spPr/>
            <p:txBody>
              <a:bodyPr/>
              <a:lstStyle/>
              <a:p>
                <a:r>
                  <a:rPr lang="en-US" dirty="0"/>
                  <a:t>To get mean and variance use conditioning trick</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𝐸</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𝑦</m:t>
                              </m:r>
                            </m:e>
                          </m:acc>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e>
                      </m:d>
                      <m:r>
                        <a:rPr lang="en-US" i="1">
                          <a:latin typeface="Cambria Math" panose="02040503050406030204" pitchFamily="18" charset="0"/>
                        </a:rPr>
                        <m:t>=</m:t>
                      </m:r>
                      <m:r>
                        <a:rPr lang="en-US" i="1">
                          <a:latin typeface="Cambria Math" panose="02040503050406030204" pitchFamily="18" charset="0"/>
                        </a:rPr>
                        <m:t>𝐸</m:t>
                      </m:r>
                      <m:d>
                        <m:dPr>
                          <m:begChr m:val="["/>
                          <m:endChr m:val="]"/>
                          <m:ctrlPr>
                            <a:rPr lang="en-US" i="1">
                              <a:latin typeface="Cambria Math" panose="02040503050406030204" pitchFamily="18" charset="0"/>
                            </a:rPr>
                          </m:ctrlPr>
                        </m:dPr>
                        <m:e>
                          <m:r>
                            <a:rPr lang="en-US" i="1">
                              <a:latin typeface="Cambria Math" panose="02040503050406030204" pitchFamily="18" charset="0"/>
                            </a:rPr>
                            <m:t>𝐸</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𝑦</m:t>
                                  </m:r>
                                </m:e>
                              </m:acc>
                              <m:r>
                                <a:rPr lang="en-US">
                                  <a:latin typeface="Cambria Math" panose="02040503050406030204" pitchFamily="18" charset="0"/>
                                </a:rPr>
                                <m:t>∣</m:t>
                              </m:r>
                              <m:r>
                                <a:rPr lang="en-US" i="1">
                                  <a:latin typeface="Cambria Math" panose="02040503050406030204" pitchFamily="18" charset="0"/>
                                </a:rPr>
                                <m:t>𝛽</m:t>
                              </m:r>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e>
                          </m:d>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e>
                      </m:d>
                      <m:r>
                        <a:rPr lang="en-US">
                          <a:latin typeface="Cambria Math" panose="02040503050406030204" pitchFamily="18" charset="0"/>
                        </a:rPr>
                        <m:t>=</m:t>
                      </m:r>
                      <m:r>
                        <a:rPr lang="en-US" i="1">
                          <a:latin typeface="Cambria Math" panose="02040503050406030204" pitchFamily="18" charset="0"/>
                        </a:rPr>
                        <m:t>𝐸</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𝑋</m:t>
                              </m:r>
                            </m:e>
                          </m:acc>
                          <m:r>
                            <a:rPr lang="en-US" i="1">
                              <a:latin typeface="Cambria Math" panose="02040503050406030204" pitchFamily="18" charset="0"/>
                            </a:rPr>
                            <m:t>𝛽</m:t>
                          </m:r>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e>
                      </m:d>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𝑋</m:t>
                          </m:r>
                        </m:e>
                      </m:acc>
                      <m:acc>
                        <m:accPr>
                          <m:chr m:val="ˆ"/>
                          <m:ctrlPr>
                            <a:rPr lang="en-US" i="1">
                              <a:latin typeface="Cambria Math" panose="02040503050406030204" pitchFamily="18" charset="0"/>
                            </a:rPr>
                          </m:ctrlPr>
                        </m:accPr>
                        <m:e>
                          <m:r>
                            <a:rPr lang="en-US" i="1">
                              <a:latin typeface="Cambria Math" panose="02040503050406030204" pitchFamily="18" charset="0"/>
                            </a:rPr>
                            <m:t>𝛽</m:t>
                          </m:r>
                        </m:e>
                      </m:acc>
                    </m:oMath>
                  </m:oMathPara>
                </a14:m>
                <a:endParaRPr lang="en-US" dirty="0"/>
              </a:p>
              <a:p>
                <a:pPr marL="0" indent="0">
                  <a:buNone/>
                </a:pPr>
                <a:r>
                  <a:rPr lang="en-US" dirty="0"/>
                  <a:t>where </a:t>
                </a:r>
                <a14:m>
                  <m:oMath xmlns:m="http://schemas.openxmlformats.org/officeDocument/2006/math">
                    <m:acc>
                      <m:accPr>
                        <m:chr m:val="ˆ"/>
                        <m:ctrlPr>
                          <a:rPr lang="en-US" i="1">
                            <a:latin typeface="Cambria Math" panose="02040503050406030204" pitchFamily="18" charset="0"/>
                          </a:rPr>
                        </m:ctrlPr>
                      </m:accPr>
                      <m:e>
                        <m:r>
                          <a:rPr lang="en-US" i="1">
                            <a:latin typeface="Cambria Math" panose="02040503050406030204" pitchFamily="18" charset="0"/>
                          </a:rPr>
                          <m:t>𝛽</m:t>
                        </m:r>
                      </m:e>
                    </m:acc>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𝛽</m:t>
                        </m:r>
                      </m:sub>
                    </m:sSub>
                    <m:sSup>
                      <m:sSupPr>
                        <m:ctrlPr>
                          <a:rPr lang="en-US" i="1">
                            <a:latin typeface="Cambria Math" panose="02040503050406030204" pitchFamily="18" charset="0"/>
                          </a:rPr>
                        </m:ctrlPr>
                      </m:sSupPr>
                      <m:e>
                        <m:r>
                          <a:rPr lang="en-US" i="1">
                            <a:latin typeface="Cambria Math" panose="02040503050406030204" pitchFamily="18" charset="0"/>
                          </a:rPr>
                          <m:t>𝑋</m:t>
                        </m:r>
                      </m:e>
                      <m:sup>
                        <m:r>
                          <a:rPr lang="en-US" i="1">
                            <a:latin typeface="Cambria Math" panose="02040503050406030204" pitchFamily="18" charset="0"/>
                          </a:rPr>
                          <m:t>𝑇</m:t>
                        </m:r>
                      </m:sup>
                    </m:sSup>
                    <m:r>
                      <a:rPr lang="en-US" i="1">
                        <a:latin typeface="Cambria Math" panose="02040503050406030204" pitchFamily="18" charset="0"/>
                      </a:rPr>
                      <m:t>𝑦</m:t>
                    </m:r>
                  </m:oMath>
                </a14:m>
                <a:r>
                  <a:rPr lang="en-US" dirty="0"/>
                  <a:t>.</a:t>
                </a:r>
                <a:br>
                  <a:rPr lang="en-US" dirty="0"/>
                </a:br>
                <a:endParaRPr lang="en-US" dirty="0"/>
              </a:p>
              <a:p>
                <a:pPr marL="0" indent="0">
                  <a:buNone/>
                </a:pPr>
                <a14:m>
                  <m:oMathPara xmlns:m="http://schemas.openxmlformats.org/officeDocument/2006/math">
                    <m:oMathParaPr>
                      <m:jc m:val="centerGroup"/>
                    </m:oMathParaPr>
                    <m:oMath xmlns:m="http://schemas.openxmlformats.org/officeDocument/2006/math">
                      <m:r>
                        <m:rPr>
                          <m:sty m:val="p"/>
                        </m:rPr>
                        <a:rPr lang="en-US">
                          <a:latin typeface="Cambria Math" panose="02040503050406030204" pitchFamily="18" charset="0"/>
                        </a:rPr>
                        <m:t>var</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𝑦</m:t>
                              </m:r>
                            </m:e>
                          </m:acc>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e>
                      </m:d>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d>
                        <m:dPr>
                          <m:ctrlPr>
                            <a:rPr lang="en-US" i="1">
                              <a:latin typeface="Cambria Math" panose="02040503050406030204" pitchFamily="18" charset="0"/>
                            </a:rPr>
                          </m:ctrlPr>
                        </m:dPr>
                        <m:e>
                          <m:r>
                            <a:rPr lang="en-US" i="1">
                              <a:latin typeface="Cambria Math" panose="02040503050406030204" pitchFamily="18" charset="0"/>
                            </a:rPr>
                            <m:t>𝐼</m:t>
                          </m:r>
                          <m:r>
                            <a:rPr lang="en-US">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𝑋</m:t>
                              </m:r>
                            </m:e>
                          </m:acc>
                          <m:sSub>
                            <m:sSubPr>
                              <m:ctrlPr>
                                <a:rPr lang="en-US" b="0" i="1" smtClean="0">
                                  <a:latin typeface="Cambria Math" panose="02040503050406030204" pitchFamily="18" charset="0"/>
                                </a:rPr>
                              </m:ctrlPr>
                            </m:sSubPr>
                            <m:e>
                              <m:r>
                                <a:rPr lang="en-US" i="1" smtClean="0">
                                  <a:latin typeface="Cambria Math" panose="02040503050406030204" pitchFamily="18" charset="0"/>
                                </a:rPr>
                                <m:t>𝑉</m:t>
                              </m:r>
                            </m:e>
                            <m:sub>
                              <m:r>
                                <a:rPr lang="en-US" b="0" i="1" smtClean="0">
                                  <a:latin typeface="Cambria Math" panose="02040503050406030204" pitchFamily="18" charset="0"/>
                                </a:rPr>
                                <m:t>𝛽</m:t>
                              </m:r>
                            </m:sub>
                          </m:sSub>
                          <m:sSup>
                            <m:sSupPr>
                              <m:ctrlPr>
                                <a:rPr lang="en-US" i="1">
                                  <a:latin typeface="Cambria Math" panose="02040503050406030204" pitchFamily="18" charset="0"/>
                                </a:rPr>
                              </m:ctrlPr>
                            </m:sSupPr>
                            <m:e>
                              <m:acc>
                                <m:accPr>
                                  <m:chr m:val="˜"/>
                                  <m:ctrlPr>
                                    <a:rPr lang="en-US" i="1">
                                      <a:latin typeface="Cambria Math" panose="02040503050406030204" pitchFamily="18" charset="0"/>
                                    </a:rPr>
                                  </m:ctrlPr>
                                </m:accPr>
                                <m:e>
                                  <m:r>
                                    <a:rPr lang="en-US" i="1">
                                      <a:latin typeface="Cambria Math" panose="02040503050406030204" pitchFamily="18" charset="0"/>
                                    </a:rPr>
                                    <m:t>𝑋</m:t>
                                  </m:r>
                                </m:e>
                              </m:acc>
                            </m:e>
                            <m:sup>
                              <m:r>
                                <a:rPr lang="en-US" b="0" i="1" smtClean="0">
                                  <a:latin typeface="Cambria Math" panose="02040503050406030204" pitchFamily="18" charset="0"/>
                                </a:rPr>
                                <m:t>𝑇</m:t>
                              </m:r>
                            </m:sup>
                          </m:sSup>
                        </m:e>
                      </m:d>
                    </m:oMath>
                  </m:oMathPara>
                </a14:m>
                <a:endParaRPr lang="en-US" dirty="0"/>
              </a:p>
            </p:txBody>
          </p:sp>
        </mc:Choice>
        <mc:Fallback>
          <p:sp>
            <p:nvSpPr>
              <p:cNvPr id="3" name="Content Placeholder 2">
                <a:extLst>
                  <a:ext uri="{FF2B5EF4-FFF2-40B4-BE49-F238E27FC236}">
                    <a16:creationId xmlns:a16="http://schemas.microsoft.com/office/drawing/2014/main" id="{CDD8D345-0A9F-88CB-44C7-F5FA6B31B13B}"/>
                  </a:ext>
                </a:extLst>
              </p:cNvPr>
              <p:cNvSpPr>
                <a:spLocks noGrp="1" noRot="1" noChangeAspect="1" noMove="1" noResize="1" noEditPoints="1" noAdjustHandles="1" noChangeArrowheads="1" noChangeShapeType="1" noTextEdit="1"/>
              </p:cNvSpPr>
              <p:nvPr>
                <p:ph idx="1"/>
              </p:nvPr>
            </p:nvSpPr>
            <p:spPr>
              <a:blipFill>
                <a:blip r:embed="rId3"/>
                <a:stretch>
                  <a:fillRect l="-1341" t="-1657"/>
                </a:stretch>
              </a:blipFill>
            </p:spPr>
            <p:txBody>
              <a:bodyPr/>
              <a:lstStyle/>
              <a:p>
                <a:r>
                  <a:rPr lang="en-US">
                    <a:noFill/>
                  </a:rPr>
                  <a:t> </a:t>
                </a:r>
              </a:p>
            </p:txBody>
          </p:sp>
        </mc:Fallback>
      </mc:AlternateContent>
    </p:spTree>
    <p:extLst>
      <p:ext uri="{BB962C8B-B14F-4D97-AF65-F5344CB8AC3E}">
        <p14:creationId xmlns:p14="http://schemas.microsoft.com/office/powerpoint/2010/main" val="613950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0A2B0-6015-AD9D-D0D0-9A344A49EA72}"/>
              </a:ext>
            </a:extLst>
          </p:cNvPr>
          <p:cNvSpPr>
            <a:spLocks noGrp="1"/>
          </p:cNvSpPr>
          <p:nvPr>
            <p:ph type="title"/>
          </p:nvPr>
        </p:nvSpPr>
        <p:spPr/>
        <p:txBody>
          <a:bodyPr/>
          <a:lstStyle/>
          <a:p>
            <a:r>
              <a:rPr lang="en-US" dirty="0"/>
              <a:t>Variance of the Conditional Predictive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1B98AF0-54C5-EB56-29A5-E70F2C507E1A}"/>
                  </a:ext>
                </a:extLst>
              </p:cNvPr>
              <p:cNvSpPr>
                <a:spLocks noGrp="1"/>
              </p:cNvSpPr>
              <p:nvPr>
                <p:ph idx="1"/>
              </p:nvPr>
            </p:nvSpPr>
            <p:spPr/>
            <p:txBody>
              <a:bodyPr/>
              <a:lstStyle/>
              <a:p>
                <a:r>
                  <a:rPr lang="en-US" dirty="0"/>
                  <a:t>The variance has two terms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i="1">
                        <a:latin typeface="Cambria Math" panose="02040503050406030204" pitchFamily="18" charset="0"/>
                      </a:rPr>
                      <m:t>𝐼</m:t>
                    </m:r>
                  </m:oMath>
                </a14:m>
                <a:r>
                  <a:rPr lang="en-US" dirty="0"/>
                  <a:t> is sampling variation, and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acc>
                      <m:accPr>
                        <m:chr m:val="˜"/>
                        <m:ctrlPr>
                          <a:rPr lang="en-US" i="1">
                            <a:latin typeface="Cambria Math" panose="02040503050406030204" pitchFamily="18" charset="0"/>
                          </a:rPr>
                        </m:ctrlPr>
                      </m:accPr>
                      <m:e>
                        <m:r>
                          <a:rPr lang="en-US" i="1">
                            <a:latin typeface="Cambria Math" panose="02040503050406030204" pitchFamily="18" charset="0"/>
                          </a:rPr>
                          <m:t>𝑋</m:t>
                        </m:r>
                      </m:e>
                    </m:acc>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𝛽</m:t>
                        </m:r>
                      </m:sub>
                    </m:sSub>
                    <m:sSup>
                      <m:sSupPr>
                        <m:ctrlPr>
                          <a:rPr lang="en-US" i="1">
                            <a:latin typeface="Cambria Math" panose="02040503050406030204" pitchFamily="18" charset="0"/>
                          </a:rPr>
                        </m:ctrlPr>
                      </m:sSupPr>
                      <m:e>
                        <m:acc>
                          <m:accPr>
                            <m:chr m:val="˜"/>
                            <m:ctrlPr>
                              <a:rPr lang="en-US" i="1">
                                <a:latin typeface="Cambria Math" panose="02040503050406030204" pitchFamily="18" charset="0"/>
                              </a:rPr>
                            </m:ctrlPr>
                          </m:accPr>
                          <m:e>
                            <m:r>
                              <a:rPr lang="en-US" i="1">
                                <a:latin typeface="Cambria Math" panose="02040503050406030204" pitchFamily="18" charset="0"/>
                              </a:rPr>
                              <m:t>𝑋</m:t>
                            </m:r>
                          </m:e>
                        </m:acc>
                      </m:e>
                      <m:sup>
                        <m:r>
                          <a:rPr lang="en-US" b="0" i="1" smtClean="0">
                            <a:latin typeface="Cambria Math" panose="02040503050406030204" pitchFamily="18" charset="0"/>
                          </a:rPr>
                          <m:t>𝑇</m:t>
                        </m:r>
                      </m:sup>
                    </m:sSup>
                    <m:r>
                      <a:rPr lang="en-US" b="0" i="0" smtClean="0">
                        <a:latin typeface="Cambria Math" panose="02040503050406030204" pitchFamily="18" charset="0"/>
                      </a:rPr>
                      <m:t>,</m:t>
                    </m:r>
                  </m:oMath>
                </a14:m>
                <a:r>
                  <a:rPr lang="en-US" dirty="0"/>
                  <a:t> the uncertainty about </a:t>
                </a:r>
                <a14:m>
                  <m:oMath xmlns:m="http://schemas.openxmlformats.org/officeDocument/2006/math">
                    <m:r>
                      <a:rPr lang="en-US" i="1">
                        <a:latin typeface="Cambria Math" panose="02040503050406030204" pitchFamily="18" charset="0"/>
                      </a:rPr>
                      <m:t>𝛽</m:t>
                    </m:r>
                  </m:oMath>
                </a14:m>
                <a:r>
                  <a:rPr lang="en-US" dirty="0"/>
                  <a:t>.</a:t>
                </a:r>
              </a:p>
              <a:p>
                <a:r>
                  <a:rPr lang="en-US" dirty="0"/>
                  <a:t>To complete specification of </a:t>
                </a:r>
                <a14:m>
                  <m:oMath xmlns:m="http://schemas.openxmlformats.org/officeDocument/2006/math">
                    <m:r>
                      <a:rPr lang="en-US" i="1">
                        <a:latin typeface="Cambria Math" panose="02040503050406030204" pitchFamily="18" charset="0"/>
                      </a:rPr>
                      <m:t>𝑝</m:t>
                    </m:r>
                    <m:r>
                      <a:rPr lang="en-US">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𝑦</m:t>
                        </m:r>
                      </m:e>
                    </m:acc>
                    <m:r>
                      <a:rPr lang="en-US">
                        <a:latin typeface="Cambria Math" panose="02040503050406030204" pitchFamily="18" charset="0"/>
                      </a:rPr>
                      <m:t>∣</m:t>
                    </m:r>
                    <m:r>
                      <a:rPr lang="en-US" i="1">
                        <a:latin typeface="Cambria Math" panose="02040503050406030204" pitchFamily="18" charset="0"/>
                      </a:rPr>
                      <m:t>𝑦</m:t>
                    </m:r>
                    <m:r>
                      <a:rPr lang="en-US">
                        <a:latin typeface="Cambria Math" panose="02040503050406030204" pitchFamily="18" charset="0"/>
                      </a:rPr>
                      <m:t>)</m:t>
                    </m:r>
                  </m:oMath>
                </a14:m>
                <a:r>
                  <a:rPr lang="en-US" dirty="0"/>
                  <a:t> must integrate </a:t>
                </a:r>
                <a14:m>
                  <m:oMath xmlns:m="http://schemas.openxmlformats.org/officeDocument/2006/math">
                    <m:r>
                      <a:rPr lang="en-US" i="1">
                        <a:latin typeface="Cambria Math" panose="02040503050406030204" pitchFamily="18" charset="0"/>
                      </a:rPr>
                      <m:t>𝑝</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𝑦</m:t>
                            </m:r>
                          </m:e>
                        </m:acc>
                        <m:r>
                          <a:rPr lang="en-US">
                            <a:latin typeface="Cambria Math" panose="02040503050406030204" pitchFamily="18" charset="0"/>
                          </a:rPr>
                          <m:t>∣</m:t>
                        </m:r>
                        <m:r>
                          <a:rPr lang="en-US" i="1">
                            <a:latin typeface="Cambria Math" panose="02040503050406030204" pitchFamily="18" charset="0"/>
                          </a:rPr>
                          <m:t>𝑦</m:t>
                        </m:r>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e>
                    </m:d>
                  </m:oMath>
                </a14:m>
                <a:r>
                  <a:rPr lang="en-US" dirty="0"/>
                  <a:t> with respect to marginal posterior distribution of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oMath>
                </a14:m>
                <a:r>
                  <a:rPr lang="en-US" dirty="0"/>
                  <a:t>.</a:t>
                </a:r>
              </a:p>
              <a:p>
                <a:r>
                  <a:rPr lang="en-US" dirty="0"/>
                  <a:t>	Result is</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𝑝</m:t>
                      </m:r>
                      <m:r>
                        <a:rPr lang="en-US">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𝑦</m:t>
                          </m:r>
                        </m:e>
                      </m:acc>
                      <m:r>
                        <a:rPr lang="en-US">
                          <a:latin typeface="Cambria Math" panose="02040503050406030204" pitchFamily="18" charset="0"/>
                        </a:rPr>
                        <m:t>∣</m:t>
                      </m:r>
                      <m:r>
                        <a:rPr lang="en-US" i="1">
                          <a:latin typeface="Cambria Math" panose="02040503050406030204" pitchFamily="18" charset="0"/>
                        </a:rPr>
                        <m:t>𝑦</m:t>
                      </m:r>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𝑛</m:t>
                          </m:r>
                          <m:r>
                            <a:rPr lang="en-US" i="1">
                              <a:latin typeface="Cambria Math" panose="02040503050406030204" pitchFamily="18" charset="0"/>
                            </a:rPr>
                            <m:t>−</m:t>
                          </m:r>
                          <m:r>
                            <a:rPr lang="en-US" i="1">
                              <a:latin typeface="Cambria Math" panose="02040503050406030204" pitchFamily="18" charset="0"/>
                            </a:rPr>
                            <m:t>𝑘</m:t>
                          </m:r>
                        </m:sub>
                      </m:sSub>
                      <m:d>
                        <m:dPr>
                          <m:endChr m:val="]"/>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𝑋</m:t>
                              </m:r>
                            </m:e>
                          </m:acc>
                          <m:acc>
                            <m:accPr>
                              <m:chr m:val="ˆ"/>
                              <m:ctrlPr>
                                <a:rPr lang="en-US" i="1">
                                  <a:latin typeface="Cambria Math" panose="02040503050406030204" pitchFamily="18" charset="0"/>
                                </a:rPr>
                              </m:ctrlPr>
                            </m:accPr>
                            <m:e>
                              <m:r>
                                <a:rPr lang="en-US" i="1">
                                  <a:latin typeface="Cambria Math" panose="02040503050406030204" pitchFamily="18" charset="0"/>
                                </a:rPr>
                                <m:t>𝛽</m:t>
                              </m:r>
                            </m:e>
                          </m:acc>
                          <m:r>
                            <a:rPr lang="en-US">
                              <a:latin typeface="Cambria Math" panose="02040503050406030204" pitchFamily="18" charset="0"/>
                            </a:rPr>
                            <m:t>,</m:t>
                          </m:r>
                          <m:sSup>
                            <m:sSupPr>
                              <m:ctrlPr>
                                <a:rPr lang="en-US" i="1">
                                  <a:latin typeface="Cambria Math" panose="02040503050406030204" pitchFamily="18" charset="0"/>
                                </a:rPr>
                              </m:ctrlPr>
                            </m:sSupPr>
                            <m:e>
                              <m:r>
                                <a:rPr lang="en-US" b="0" i="1" smtClean="0">
                                  <a:latin typeface="Cambria Math" panose="02040503050406030204" pitchFamily="18" charset="0"/>
                                </a:rPr>
                                <m:t>𝑠</m:t>
                              </m:r>
                            </m:e>
                            <m:sup>
                              <m:r>
                                <a:rPr lang="en-US">
                                  <a:latin typeface="Cambria Math" panose="02040503050406030204" pitchFamily="18" charset="0"/>
                                </a:rPr>
                                <m:t>2</m:t>
                              </m:r>
                            </m:sup>
                          </m:sSup>
                          <m:d>
                            <m:dPr>
                              <m:begChr m:val="["/>
                              <m:ctrlPr>
                                <a:rPr lang="en-US" i="1">
                                  <a:latin typeface="Cambria Math" panose="02040503050406030204" pitchFamily="18" charset="0"/>
                                </a:rPr>
                              </m:ctrlPr>
                            </m:dPr>
                            <m:e>
                              <m:r>
                                <a:rPr lang="en-US" i="1">
                                  <a:latin typeface="Cambria Math" panose="02040503050406030204" pitchFamily="18" charset="0"/>
                                </a:rPr>
                                <m:t>𝐼</m:t>
                              </m:r>
                              <m:r>
                                <a:rPr lang="en-US">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𝑋</m:t>
                                  </m:r>
                                </m:e>
                              </m:acc>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𝛽</m:t>
                                  </m:r>
                                </m:sub>
                              </m:sSub>
                              <m:sSup>
                                <m:sSupPr>
                                  <m:ctrlPr>
                                    <a:rPr lang="en-US" i="1">
                                      <a:latin typeface="Cambria Math" panose="02040503050406030204" pitchFamily="18" charset="0"/>
                                    </a:rPr>
                                  </m:ctrlPr>
                                </m:sSupPr>
                                <m:e>
                                  <m:acc>
                                    <m:accPr>
                                      <m:chr m:val="˜"/>
                                      <m:ctrlPr>
                                        <a:rPr lang="en-US" i="1">
                                          <a:latin typeface="Cambria Math" panose="02040503050406030204" pitchFamily="18" charset="0"/>
                                        </a:rPr>
                                      </m:ctrlPr>
                                    </m:accPr>
                                    <m:e>
                                      <m:r>
                                        <a:rPr lang="en-US" i="1">
                                          <a:latin typeface="Cambria Math" panose="02040503050406030204" pitchFamily="18" charset="0"/>
                                        </a:rPr>
                                        <m:t>𝑋</m:t>
                                      </m:r>
                                    </m:e>
                                  </m:acc>
                                </m:e>
                                <m:sup>
                                  <m:r>
                                    <a:rPr lang="en-US" i="1">
                                      <a:latin typeface="Cambria Math" panose="02040503050406030204" pitchFamily="18" charset="0"/>
                                    </a:rPr>
                                    <m:t>𝑇</m:t>
                                  </m:r>
                                </m:sup>
                              </m:sSup>
                            </m:e>
                          </m:d>
                        </m:e>
                      </m:d>
                    </m:oMath>
                  </m:oMathPara>
                </a14:m>
                <a:endParaRPr lang="en-US" dirty="0"/>
              </a:p>
            </p:txBody>
          </p:sp>
        </mc:Choice>
        <mc:Fallback>
          <p:sp>
            <p:nvSpPr>
              <p:cNvPr id="3" name="Content Placeholder 2">
                <a:extLst>
                  <a:ext uri="{FF2B5EF4-FFF2-40B4-BE49-F238E27FC236}">
                    <a16:creationId xmlns:a16="http://schemas.microsoft.com/office/drawing/2014/main" id="{11B98AF0-54C5-EB56-29A5-E70F2C507E1A}"/>
                  </a:ext>
                </a:extLst>
              </p:cNvPr>
              <p:cNvSpPr>
                <a:spLocks noGrp="1" noRot="1" noChangeAspect="1" noMove="1" noResize="1" noEditPoints="1" noAdjustHandles="1" noChangeArrowheads="1" noChangeShapeType="1" noTextEdit="1"/>
              </p:cNvSpPr>
              <p:nvPr>
                <p:ph idx="1"/>
              </p:nvPr>
            </p:nvSpPr>
            <p:spPr>
              <a:blipFill>
                <a:blip r:embed="rId3"/>
                <a:stretch>
                  <a:fillRect l="-1104" t="-1657" r="-1814"/>
                </a:stretch>
              </a:blipFill>
            </p:spPr>
            <p:txBody>
              <a:bodyPr/>
              <a:lstStyle/>
              <a:p>
                <a:r>
                  <a:rPr lang="en-US">
                    <a:noFill/>
                  </a:rPr>
                  <a:t> </a:t>
                </a:r>
              </a:p>
            </p:txBody>
          </p:sp>
        </mc:Fallback>
      </mc:AlternateContent>
    </p:spTree>
    <p:extLst>
      <p:ext uri="{BB962C8B-B14F-4D97-AF65-F5344CB8AC3E}">
        <p14:creationId xmlns:p14="http://schemas.microsoft.com/office/powerpoint/2010/main" val="2327449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8CA2F-A253-13C0-2FA6-5E62DD3A3CDC}"/>
              </a:ext>
            </a:extLst>
          </p:cNvPr>
          <p:cNvSpPr>
            <a:spLocks noGrp="1"/>
          </p:cNvSpPr>
          <p:nvPr>
            <p:ph type="title"/>
          </p:nvPr>
        </p:nvSpPr>
        <p:spPr/>
        <p:txBody>
          <a:bodyPr/>
          <a:lstStyle/>
          <a:p>
            <a:r>
              <a:rPr lang="en-US" dirty="0"/>
              <a:t>Regression Example: Radon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F6A0C5A-0547-B6D9-BE9E-B2CBB9BD7236}"/>
                  </a:ext>
                </a:extLst>
              </p:cNvPr>
              <p:cNvSpPr>
                <a:spLocks noGrp="1"/>
              </p:cNvSpPr>
              <p:nvPr>
                <p:ph idx="1"/>
              </p:nvPr>
            </p:nvSpPr>
            <p:spPr/>
            <p:txBody>
              <a:bodyPr/>
              <a:lstStyle/>
              <a:p>
                <a:r>
                  <a:rPr lang="en-US" dirty="0"/>
                  <a:t>Radon measurements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m:t>
                        </m:r>
                      </m:sub>
                    </m:sSub>
                  </m:oMath>
                </a14:m>
                <a:r>
                  <a:rPr lang="en-US" dirty="0"/>
                  <a:t> were taken in three counties in Minnesota: Blue Earth, Clay and Goodhue.</a:t>
                </a:r>
              </a:p>
              <a:p>
                <a:pPr lvl="1"/>
                <a:r>
                  <a:rPr lang="en-US" dirty="0"/>
                  <a:t>14 houses in each of Blue Earth and Clay county and 13 houses in Goodhue were sampled.</a:t>
                </a:r>
              </a:p>
              <a:p>
                <a:pPr lvl="1"/>
                <a:r>
                  <a:rPr lang="en-US" dirty="0"/>
                  <a:t>Measurements were taken in the basement and in the first floor.</a:t>
                </a:r>
              </a:p>
              <a:p>
                <a:r>
                  <a:rPr lang="en-US" dirty="0"/>
                  <a:t>We fit an ordinary regression model to the log radon measurements, without an intercept.</a:t>
                </a:r>
              </a:p>
              <a:p>
                <a:pPr lvl="1"/>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1</m:t>
                        </m:r>
                      </m:sub>
                    </m:sSub>
                    <m:r>
                      <a:rPr lang="en-US" b="0" i="1" smtClean="0">
                        <a:latin typeface="Cambria Math" panose="02040503050406030204" pitchFamily="18" charset="0"/>
                      </a:rPr>
                      <m:t>=1</m:t>
                    </m:r>
                  </m:oMath>
                </a14:m>
                <a:r>
                  <a:rPr lang="en-US" dirty="0"/>
                  <a:t> if county is Blue Earth and is 0 otherwise. </a:t>
                </a:r>
              </a:p>
              <a:p>
                <a:pPr lvl="1"/>
                <a:r>
                  <a:rPr lang="en-US" dirty="0"/>
                  <a:t>Similarly, </a:t>
                </a:r>
                <a14:m>
                  <m:oMath xmlns:m="http://schemas.openxmlformats.org/officeDocument/2006/math">
                    <m:r>
                      <a:rPr lang="en-US" b="0" i="0" smtClean="0">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b="0" i="1" smtClean="0">
                            <a:latin typeface="Cambria Math" panose="02040503050406030204" pitchFamily="18" charset="0"/>
                          </a:rPr>
                          <m:t>2</m:t>
                        </m:r>
                      </m:sub>
                    </m:sSub>
                  </m:oMath>
                </a14:m>
                <a:r>
                  <a:rPr lang="en-US" dirty="0"/>
                  <a:t>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b="0" i="1" smtClean="0">
                            <a:latin typeface="Cambria Math" panose="02040503050406030204" pitchFamily="18" charset="0"/>
                          </a:rPr>
                          <m:t>3</m:t>
                        </m:r>
                      </m:sub>
                    </m:sSub>
                  </m:oMath>
                </a14:m>
                <a:r>
                  <a:rPr lang="en-US" dirty="0"/>
                  <a:t> for Clay and Goodhue counties, respectively.</a:t>
                </a:r>
              </a:p>
              <a:p>
                <a:pPr lvl="1"/>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4</m:t>
                        </m:r>
                      </m:sub>
                    </m:sSub>
                    <m:r>
                      <a:rPr lang="en-US" b="0" i="1" smtClean="0">
                        <a:latin typeface="Cambria Math" panose="02040503050406030204" pitchFamily="18" charset="0"/>
                      </a:rPr>
                      <m:t>=1</m:t>
                    </m:r>
                  </m:oMath>
                </a14:m>
                <a:r>
                  <a:rPr lang="en-US" dirty="0"/>
                  <a:t> if it was taken on the 1</a:t>
                </a:r>
                <a:r>
                  <a:rPr lang="en-US" baseline="30000" dirty="0"/>
                  <a:t>st</a:t>
                </a:r>
                <a:r>
                  <a:rPr lang="en-US" dirty="0"/>
                  <a:t> Floor</a:t>
                </a:r>
              </a:p>
            </p:txBody>
          </p:sp>
        </mc:Choice>
        <mc:Fallback xmlns="">
          <p:sp>
            <p:nvSpPr>
              <p:cNvPr id="3" name="Content Placeholder 2">
                <a:extLst>
                  <a:ext uri="{FF2B5EF4-FFF2-40B4-BE49-F238E27FC236}">
                    <a16:creationId xmlns:a16="http://schemas.microsoft.com/office/drawing/2014/main" id="{5F6A0C5A-0547-B6D9-BE9E-B2CBB9BD7236}"/>
                  </a:ext>
                </a:extLst>
              </p:cNvPr>
              <p:cNvSpPr>
                <a:spLocks noGrp="1" noRot="1" noChangeAspect="1" noMove="1" noResize="1" noEditPoints="1" noAdjustHandles="1" noChangeArrowheads="1" noChangeShapeType="1" noTextEdit="1"/>
              </p:cNvSpPr>
              <p:nvPr>
                <p:ph idx="1"/>
              </p:nvPr>
            </p:nvSpPr>
            <p:spPr>
              <a:blipFill>
                <a:blip r:embed="rId3"/>
                <a:stretch>
                  <a:fillRect l="-1104" t="-1657" b="-6262"/>
                </a:stretch>
              </a:blipFill>
            </p:spPr>
            <p:txBody>
              <a:bodyPr/>
              <a:lstStyle/>
              <a:p>
                <a:r>
                  <a:rPr lang="en-US">
                    <a:noFill/>
                  </a:rPr>
                  <a:t> </a:t>
                </a:r>
              </a:p>
            </p:txBody>
          </p:sp>
        </mc:Fallback>
      </mc:AlternateContent>
    </p:spTree>
    <p:extLst>
      <p:ext uri="{BB962C8B-B14F-4D97-AF65-F5344CB8AC3E}">
        <p14:creationId xmlns:p14="http://schemas.microsoft.com/office/powerpoint/2010/main" val="1434611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A group of graphs showing different sizes of data&#10;&#10;Description automatically generated with medium confidence">
            <a:extLst>
              <a:ext uri="{FF2B5EF4-FFF2-40B4-BE49-F238E27FC236}">
                <a16:creationId xmlns:a16="http://schemas.microsoft.com/office/drawing/2014/main" id="{1577843B-05DD-1471-0723-E8F5089915D2}"/>
              </a:ext>
            </a:extLst>
          </p:cNvPr>
          <p:cNvPicPr>
            <a:picLocks noGrp="1" noChangeAspect="1"/>
          </p:cNvPicPr>
          <p:nvPr>
            <p:ph sz="half" idx="1"/>
          </p:nvPr>
        </p:nvPicPr>
        <p:blipFill>
          <a:blip r:embed="rId3"/>
          <a:stretch>
            <a:fillRect/>
          </a:stretch>
        </p:blipFill>
        <p:spPr>
          <a:xfrm>
            <a:off x="1098550" y="2225618"/>
            <a:ext cx="7680325" cy="6235813"/>
          </a:xfrm>
        </p:spPr>
      </p:pic>
      <p:pic>
        <p:nvPicPr>
          <p:cNvPr id="10" name="Content Placeholder 9" descr="A diagram of a graph&#10;&#10;Description automatically generated">
            <a:extLst>
              <a:ext uri="{FF2B5EF4-FFF2-40B4-BE49-F238E27FC236}">
                <a16:creationId xmlns:a16="http://schemas.microsoft.com/office/drawing/2014/main" id="{39F1E9D9-3D7A-4DBF-FB74-3E2E63845B30}"/>
              </a:ext>
            </a:extLst>
          </p:cNvPr>
          <p:cNvPicPr>
            <a:picLocks noGrp="1" noChangeAspect="1"/>
          </p:cNvPicPr>
          <p:nvPr>
            <p:ph sz="half" idx="2"/>
          </p:nvPr>
        </p:nvPicPr>
        <p:blipFill>
          <a:blip r:embed="rId4"/>
          <a:stretch>
            <a:fillRect/>
          </a:stretch>
        </p:blipFill>
        <p:spPr>
          <a:xfrm>
            <a:off x="9502775" y="2225618"/>
            <a:ext cx="7680325" cy="6235813"/>
          </a:xfrm>
        </p:spPr>
      </p:pic>
      <p:sp>
        <p:nvSpPr>
          <p:cNvPr id="4" name="Title 3">
            <a:extLst>
              <a:ext uri="{FF2B5EF4-FFF2-40B4-BE49-F238E27FC236}">
                <a16:creationId xmlns:a16="http://schemas.microsoft.com/office/drawing/2014/main" id="{97BAEFFC-E918-3553-DFF1-D5C610AA20A6}"/>
              </a:ext>
            </a:extLst>
          </p:cNvPr>
          <p:cNvSpPr>
            <a:spLocks noGrp="1"/>
          </p:cNvSpPr>
          <p:nvPr>
            <p:ph type="title"/>
          </p:nvPr>
        </p:nvSpPr>
        <p:spPr/>
        <p:txBody>
          <a:bodyPr/>
          <a:lstStyle/>
          <a:p>
            <a:r>
              <a:rPr lang="en-US" dirty="0"/>
              <a:t>Regression Example: Radon</a:t>
            </a:r>
          </a:p>
        </p:txBody>
      </p:sp>
    </p:spTree>
    <p:extLst>
      <p:ext uri="{BB962C8B-B14F-4D97-AF65-F5344CB8AC3E}">
        <p14:creationId xmlns:p14="http://schemas.microsoft.com/office/powerpoint/2010/main" val="15292066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BDA0A51-B445-017C-B19B-D95D977CD4AE}"/>
              </a:ext>
            </a:extLst>
          </p:cNvPr>
          <p:cNvSpPr txBox="1">
            <a:spLocks/>
          </p:cNvSpPr>
          <p:nvPr/>
        </p:nvSpPr>
        <p:spPr bwMode="auto">
          <a:xfrm>
            <a:off x="1101724" y="4367783"/>
            <a:ext cx="16084552" cy="1551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ctr" rtl="0" fontAlgn="base">
              <a:spcBef>
                <a:spcPct val="0"/>
              </a:spcBef>
              <a:spcAft>
                <a:spcPct val="0"/>
              </a:spcAft>
              <a:defRPr sz="5600" b="1" kern="1200">
                <a:solidFill>
                  <a:schemeClr val="accent1"/>
                </a:solidFill>
                <a:latin typeface="+mj-lt"/>
                <a:ea typeface="ＭＳ Ｐゴシック" panose="020B0600070205080204" pitchFamily="34" charset="-128"/>
                <a:cs typeface="+mj-cs"/>
              </a:defRPr>
            </a:lvl1pPr>
            <a:lvl2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2pPr>
            <a:lvl3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3pPr>
            <a:lvl4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4pPr>
            <a:lvl5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5pPr>
            <a:lvl6pPr marL="9144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6pPr>
            <a:lvl7pPr marL="18288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7pPr>
            <a:lvl8pPr marL="27432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8pPr>
            <a:lvl9pPr marL="36576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9pPr>
          </a:lstStyle>
          <a:p>
            <a:r>
              <a:rPr lang="en-US" i="1" dirty="0"/>
              <a:t>(commentary inserted here)</a:t>
            </a:r>
          </a:p>
        </p:txBody>
      </p:sp>
    </p:spTree>
    <p:extLst>
      <p:ext uri="{BB962C8B-B14F-4D97-AF65-F5344CB8AC3E}">
        <p14:creationId xmlns:p14="http://schemas.microsoft.com/office/powerpoint/2010/main" val="41053921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A6EA91E-13C5-4AE8-3FDD-3F26138990A8}"/>
              </a:ext>
            </a:extLst>
          </p:cNvPr>
          <p:cNvSpPr>
            <a:spLocks noGrp="1"/>
          </p:cNvSpPr>
          <p:nvPr>
            <p:ph type="title"/>
          </p:nvPr>
        </p:nvSpPr>
        <p:spPr/>
        <p:txBody>
          <a:bodyPr/>
          <a:lstStyle/>
          <a:p>
            <a:r>
              <a:rPr lang="en-US" dirty="0"/>
              <a:t>Posterior Predictive Checks</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4C1E7BDD-F53F-05EB-C7CF-C691719BC16B}"/>
                  </a:ext>
                </a:extLst>
              </p:cNvPr>
              <p:cNvSpPr>
                <a:spLocks noGrp="1"/>
              </p:cNvSpPr>
              <p:nvPr>
                <p:ph idx="1"/>
              </p:nvPr>
            </p:nvSpPr>
            <p:spPr/>
            <p:txBody>
              <a:bodyPr/>
              <a:lstStyle/>
              <a:p>
                <a:r>
                  <a:rPr lang="en-US" dirty="0"/>
                  <a:t>For regression models, there are well-known methods for checking model and assumptions using estimated, standardized residuals:</a:t>
                </a: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𝜖</m:t>
                          </m:r>
                        </m:e>
                        <m:sub>
                          <m:r>
                            <a:rPr lang="en-US" i="1">
                              <a:latin typeface="Cambria Math" panose="02040503050406030204" pitchFamily="18" charset="0"/>
                            </a:rPr>
                            <m:t>𝑖</m:t>
                          </m:r>
                        </m:sub>
                      </m:sSub>
                      <m:r>
                        <a:rPr lang="en-US">
                          <a:latin typeface="Cambria Math" panose="02040503050406030204" pitchFamily="18" charset="0"/>
                        </a:rPr>
                        <m:t>=</m:t>
                      </m:r>
                      <m:r>
                        <a:rPr lang="en-US" b="0" i="0"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m:t>
                          </m:r>
                        </m:sub>
                      </m:sSub>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𝑥</m:t>
                          </m:r>
                        </m:e>
                        <m:sub>
                          <m:r>
                            <a:rPr lang="en-US" i="1">
                              <a:latin typeface="Cambria Math" panose="02040503050406030204" pitchFamily="18" charset="0"/>
                            </a:rPr>
                            <m:t>𝑖</m:t>
                          </m:r>
                        </m:sub>
                        <m:sup>
                          <m:r>
                            <a:rPr lang="en-US" b="0" i="1" smtClean="0">
                              <a:latin typeface="Cambria Math" panose="02040503050406030204" pitchFamily="18" charset="0"/>
                            </a:rPr>
                            <m:t>𝑇</m:t>
                          </m:r>
                        </m:sup>
                      </m:sSubSup>
                      <m:r>
                        <a:rPr lang="en-US" i="1">
                          <a:latin typeface="Cambria Math" panose="02040503050406030204" pitchFamily="18" charset="0"/>
                        </a:rPr>
                        <m:t>𝛽</m:t>
                      </m:r>
                      <m:r>
                        <a:rPr lang="en-US" b="0" i="1" smtClean="0">
                          <a:latin typeface="Cambria Math" panose="02040503050406030204" pitchFamily="18" charset="0"/>
                        </a:rPr>
                        <m:t>)/</m:t>
                      </m:r>
                      <m:r>
                        <a:rPr lang="en-US" i="1">
                          <a:latin typeface="Cambria Math" panose="02040503050406030204" pitchFamily="18" charset="0"/>
                        </a:rPr>
                        <m:t>𝜎</m:t>
                      </m:r>
                    </m:oMath>
                  </m:oMathPara>
                </a14:m>
                <a:endParaRPr lang="en-US" dirty="0"/>
              </a:p>
              <a:p>
                <a:r>
                  <a:rPr lang="en-US" dirty="0"/>
                  <a:t>Two useful test statistics are:</a:t>
                </a:r>
              </a:p>
              <a:p>
                <a:pPr marL="1441450" lvl="1" indent="-742950">
                  <a:buFont typeface="+mj-lt"/>
                  <a:buAutoNum type="arabicPeriod"/>
                </a:pPr>
                <a:r>
                  <a:rPr lang="en-US" dirty="0"/>
                  <a:t>Proportion of outliers among residuals. </a:t>
                </a:r>
              </a:p>
              <a:p>
                <a:pPr marL="1441450" lvl="1" indent="-742950">
                  <a:buFont typeface="+mj-lt"/>
                  <a:buAutoNum type="arabicPeriod"/>
                </a:pPr>
                <a:r>
                  <a:rPr lang="en-US" dirty="0"/>
                  <a:t>Correlation between squared residuals and fitted values y.</a:t>
                </a:r>
              </a:p>
              <a:p>
                <a:r>
                  <a:rPr lang="en-US" dirty="0"/>
                  <a:t>In lesson 2, we will use the root mean squared error, RMSE.</a:t>
                </a:r>
              </a:p>
              <a:p>
                <a:pPr marL="0" indent="0">
                  <a:buNone/>
                </a:pPr>
                <a:r>
                  <a:rPr lang="en-US" dirty="0"/>
                  <a:t>  </a:t>
                </a:r>
              </a:p>
            </p:txBody>
          </p:sp>
        </mc:Choice>
        <mc:Fallback xmlns="">
          <p:sp>
            <p:nvSpPr>
              <p:cNvPr id="6" name="Content Placeholder 5">
                <a:extLst>
                  <a:ext uri="{FF2B5EF4-FFF2-40B4-BE49-F238E27FC236}">
                    <a16:creationId xmlns:a16="http://schemas.microsoft.com/office/drawing/2014/main" id="{4C1E7BDD-F53F-05EB-C7CF-C691719BC16B}"/>
                  </a:ext>
                </a:extLst>
              </p:cNvPr>
              <p:cNvSpPr>
                <a:spLocks noGrp="1" noRot="1" noChangeAspect="1" noMove="1" noResize="1" noEditPoints="1" noAdjustHandles="1" noChangeArrowheads="1" noChangeShapeType="1" noTextEdit="1"/>
              </p:cNvSpPr>
              <p:nvPr>
                <p:ph idx="1"/>
              </p:nvPr>
            </p:nvSpPr>
            <p:spPr>
              <a:blipFill>
                <a:blip r:embed="rId3"/>
                <a:stretch>
                  <a:fillRect l="-1104" t="-1657" r="-946"/>
                </a:stretch>
              </a:blipFill>
            </p:spPr>
            <p:txBody>
              <a:bodyPr/>
              <a:lstStyle/>
              <a:p>
                <a:r>
                  <a:rPr lang="en-US">
                    <a:noFill/>
                  </a:rPr>
                  <a:t> </a:t>
                </a:r>
              </a:p>
            </p:txBody>
          </p:sp>
        </mc:Fallback>
      </mc:AlternateContent>
      <p:sp>
        <p:nvSpPr>
          <p:cNvPr id="2" name="Rounded Rectangle 1">
            <a:extLst>
              <a:ext uri="{FF2B5EF4-FFF2-40B4-BE49-F238E27FC236}">
                <a16:creationId xmlns:a16="http://schemas.microsoft.com/office/drawing/2014/main" id="{D2C20B7C-C325-398C-A6CB-6ABA119D9909}"/>
              </a:ext>
            </a:extLst>
          </p:cNvPr>
          <p:cNvSpPr/>
          <p:nvPr/>
        </p:nvSpPr>
        <p:spPr>
          <a:xfrm>
            <a:off x="10589342" y="4977581"/>
            <a:ext cx="3097161" cy="814848"/>
          </a:xfrm>
          <a:prstGeom prst="round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ln w="0"/>
                <a:solidFill>
                  <a:schemeClr val="tx1"/>
                </a:solidFill>
                <a:effectLst>
                  <a:outerShdw blurRad="38100" dist="19050" dir="2700000" algn="tl" rotWithShape="0">
                    <a:schemeClr val="dk1">
                      <a:alpha val="40000"/>
                    </a:schemeClr>
                  </a:outerShdw>
                </a:effectLst>
              </a:rPr>
              <a:t>More = Bad</a:t>
            </a:r>
          </a:p>
        </p:txBody>
      </p:sp>
      <p:sp>
        <p:nvSpPr>
          <p:cNvPr id="4" name="Rounded Rectangle 3">
            <a:extLst>
              <a:ext uri="{FF2B5EF4-FFF2-40B4-BE49-F238E27FC236}">
                <a16:creationId xmlns:a16="http://schemas.microsoft.com/office/drawing/2014/main" id="{935E392C-2A49-FE9C-3F24-51B56720D852}"/>
              </a:ext>
            </a:extLst>
          </p:cNvPr>
          <p:cNvSpPr/>
          <p:nvPr/>
        </p:nvSpPr>
        <p:spPr>
          <a:xfrm>
            <a:off x="14335432" y="5792429"/>
            <a:ext cx="3097161" cy="814848"/>
          </a:xfrm>
          <a:prstGeom prst="round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ln w="0"/>
                <a:solidFill>
                  <a:schemeClr val="tx1"/>
                </a:solidFill>
                <a:effectLst>
                  <a:outerShdw blurRad="38100" dist="19050" dir="2700000" algn="tl" rotWithShape="0">
                    <a:schemeClr val="dk1">
                      <a:alpha val="40000"/>
                    </a:schemeClr>
                  </a:outerShdw>
                </a:effectLst>
              </a:rPr>
              <a:t>Corr. = Bad</a:t>
            </a:r>
          </a:p>
        </p:txBody>
      </p:sp>
    </p:spTree>
    <p:extLst>
      <p:ext uri="{BB962C8B-B14F-4D97-AF65-F5344CB8AC3E}">
        <p14:creationId xmlns:p14="http://schemas.microsoft.com/office/powerpoint/2010/main" val="2548410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E2A7358-6D44-639C-34DC-FA377B5C3B35}"/>
                  </a:ext>
                </a:extLst>
              </p:cNvPr>
              <p:cNvSpPr>
                <a:spLocks noGrp="1"/>
              </p:cNvSpPr>
              <p:nvPr>
                <p:ph sz="half" idx="1"/>
              </p:nvPr>
            </p:nvSpPr>
            <p:spPr/>
            <p:txBody>
              <a:bodyPr>
                <a:normAutofit fontScale="92500" lnSpcReduction="10000"/>
              </a:bodyPr>
              <a:lstStyle/>
              <a:p>
                <a:r>
                  <a:rPr lang="en-US" dirty="0"/>
                  <a:t>If normal model is correct, standardized residuals should be about </a:t>
                </a:r>
                <a14:m>
                  <m:oMath xmlns:m="http://schemas.openxmlformats.org/officeDocument/2006/math">
                    <m:r>
                      <a:rPr lang="en-US" i="1" dirty="0" smtClean="0">
                        <a:latin typeface="Cambria Math" panose="02040503050406030204" pitchFamily="18" charset="0"/>
                      </a:rPr>
                      <m:t>𝑁</m:t>
                    </m:r>
                    <m:r>
                      <a:rPr lang="en-US" i="1" dirty="0" smtClean="0">
                        <a:latin typeface="Cambria Math" panose="02040503050406030204" pitchFamily="18" charset="0"/>
                      </a:rPr>
                      <m:t>(0,1)</m:t>
                    </m:r>
                  </m:oMath>
                </a14:m>
                <a:r>
                  <a:rPr lang="en-US" dirty="0"/>
                  <a:t> and therefore,</a:t>
                </a:r>
                <a14:m>
                  <m:oMath xmlns:m="http://schemas.openxmlformats.org/officeDocument/2006/math">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𝑒</m:t>
                            </m:r>
                          </m:e>
                          <m:sub>
                            <m:r>
                              <a:rPr lang="en-US" i="1">
                                <a:latin typeface="Cambria Math" panose="02040503050406030204" pitchFamily="18" charset="0"/>
                              </a:rPr>
                              <m:t>𝑖</m:t>
                            </m:r>
                          </m:sub>
                        </m:sSub>
                      </m:e>
                    </m:d>
                    <m:r>
                      <a:rPr lang="en-US">
                        <a:latin typeface="Cambria Math" panose="02040503050406030204" pitchFamily="18" charset="0"/>
                      </a:rPr>
                      <m:t>&gt;3</m:t>
                    </m:r>
                  </m:oMath>
                </a14:m>
                <a:r>
                  <a:rPr lang="en-US" dirty="0"/>
                  <a:t> suggests that </a:t>
                </a:r>
                <a14:m>
                  <m:oMath xmlns:m="http://schemas.openxmlformats.org/officeDocument/2006/math">
                    <m:r>
                      <a:rPr lang="en-US" b="0" i="1" smtClean="0">
                        <a:latin typeface="Cambria Math" panose="02040503050406030204" pitchFamily="18" charset="0"/>
                      </a:rPr>
                      <m:t>𝑖</m:t>
                    </m:r>
                  </m:oMath>
                </a14:m>
                <a:r>
                  <a:rPr lang="en-US" dirty="0" err="1"/>
                  <a:t>th</a:t>
                </a:r>
                <a:r>
                  <a:rPr lang="en-US" dirty="0"/>
                  <a:t> observation may be an outlier.</a:t>
                </a:r>
              </a:p>
              <a:p>
                <a:r>
                  <a:rPr lang="en-US" dirty="0"/>
                  <a:t>To derive the posterior predictive distribution for the proportion of outliers </a:t>
                </a:r>
                <a14:m>
                  <m:oMath xmlns:m="http://schemas.openxmlformats.org/officeDocument/2006/math">
                    <m:r>
                      <a:rPr lang="en-US" b="0" i="1" smtClean="0">
                        <a:latin typeface="Cambria Math" panose="02040503050406030204" pitchFamily="18" charset="0"/>
                      </a:rPr>
                      <m:t>𝑞</m:t>
                    </m:r>
                  </m:oMath>
                </a14:m>
                <a:r>
                  <a:rPr lang="en-US" dirty="0"/>
                  <a:t> and for </a:t>
                </a:r>
                <a14:m>
                  <m:oMath xmlns:m="http://schemas.openxmlformats.org/officeDocument/2006/math">
                    <m:r>
                      <a:rPr lang="en-US" i="1" smtClean="0">
                        <a:latin typeface="Cambria Math" panose="02040503050406030204" pitchFamily="18" charset="0"/>
                        <a:ea typeface="Cambria Math" panose="02040503050406030204" pitchFamily="18" charset="0"/>
                      </a:rPr>
                      <m:t>𝜌</m:t>
                    </m:r>
                  </m:oMath>
                </a14:m>
                <a:r>
                  <a:rPr lang="en-US" dirty="0"/>
                  <a:t>, the correlation between </a:t>
                </a:r>
                <a14:m>
                  <m:oMath xmlns:m="http://schemas.openxmlformats.org/officeDocument/2006/math">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a:latin typeface="Cambria Math" panose="02040503050406030204" pitchFamily="18" charset="0"/>
                              </a:rPr>
                              <m:t>2</m:t>
                            </m:r>
                          </m:sup>
                        </m:sSup>
                        <m:r>
                          <a:rPr lang="en-US">
                            <a:latin typeface="Cambria Math" panose="02040503050406030204" pitchFamily="18" charset="0"/>
                          </a:rPr>
                          <m:t>,</m:t>
                        </m:r>
                        <m:acc>
                          <m:accPr>
                            <m:chr m:val="ˆ"/>
                            <m:ctrlPr>
                              <a:rPr lang="en-US" i="1">
                                <a:latin typeface="Cambria Math" panose="02040503050406030204" pitchFamily="18" charset="0"/>
                              </a:rPr>
                            </m:ctrlPr>
                          </m:accPr>
                          <m:e>
                            <m:r>
                              <a:rPr lang="en-US" i="1">
                                <a:latin typeface="Cambria Math" panose="02040503050406030204" pitchFamily="18" charset="0"/>
                              </a:rPr>
                              <m:t>𝑦</m:t>
                            </m:r>
                          </m:e>
                        </m:acc>
                      </m:e>
                    </m:d>
                  </m:oMath>
                </a14:m>
                <a:r>
                  <a:rPr lang="en-US" dirty="0"/>
                  <a:t> do:</a:t>
                </a:r>
              </a:p>
              <a:p>
                <a:pPr marL="1416050" lvl="1" indent="-742950">
                  <a:buFont typeface="+mj-lt"/>
                  <a:buAutoNum type="arabicPeriod"/>
                </a:pPr>
                <a:endParaRPr lang="en-US" dirty="0"/>
              </a:p>
              <a:p>
                <a:pPr marL="1416050" lvl="1" indent="-742950">
                  <a:buFont typeface="+mj-lt"/>
                  <a:buAutoNum type="arabicPeriod"/>
                </a:pPr>
                <a:endParaRPr lang="en-US" dirty="0"/>
              </a:p>
            </p:txBody>
          </p:sp>
        </mc:Choice>
        <mc:Fallback xmlns="">
          <p:sp>
            <p:nvSpPr>
              <p:cNvPr id="3" name="Content Placeholder 2">
                <a:extLst>
                  <a:ext uri="{FF2B5EF4-FFF2-40B4-BE49-F238E27FC236}">
                    <a16:creationId xmlns:a16="http://schemas.microsoft.com/office/drawing/2014/main" id="{1E2A7358-6D44-639C-34DC-FA377B5C3B35}"/>
                  </a:ext>
                </a:extLst>
              </p:cNvPr>
              <p:cNvSpPr>
                <a:spLocks noGrp="1" noRot="1" noChangeAspect="1" noMove="1" noResize="1" noEditPoints="1" noAdjustHandles="1" noChangeArrowheads="1" noChangeShapeType="1" noTextEdit="1"/>
              </p:cNvSpPr>
              <p:nvPr>
                <p:ph sz="half" idx="1"/>
              </p:nvPr>
            </p:nvSpPr>
            <p:spPr>
              <a:blipFill>
                <a:blip r:embed="rId3"/>
                <a:stretch>
                  <a:fillRect l="-2145" t="-23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46F83206-E05D-E060-2099-A38586B48C62}"/>
                  </a:ext>
                </a:extLst>
              </p:cNvPr>
              <p:cNvSpPr>
                <a:spLocks noGrp="1"/>
              </p:cNvSpPr>
              <p:nvPr>
                <p:ph sz="half" idx="2"/>
              </p:nvPr>
            </p:nvSpPr>
            <p:spPr/>
            <p:txBody>
              <a:bodyPr>
                <a:normAutofit fontScale="77500" lnSpcReduction="20000"/>
              </a:bodyPr>
              <a:lstStyle/>
              <a:p>
                <a:pPr marL="742950" indent="-742950">
                  <a:buFont typeface="+mj-lt"/>
                  <a:buAutoNum type="arabicPeriod"/>
                </a:pPr>
                <a:r>
                  <a:rPr lang="en-US" dirty="0"/>
                  <a:t>Draw </a:t>
                </a:r>
                <a14:m>
                  <m:oMath xmlns:m="http://schemas.openxmlformats.org/officeDocument/2006/math">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𝛽</m:t>
                        </m:r>
                      </m:e>
                    </m:d>
                  </m:oMath>
                </a14:m>
                <a:r>
                  <a:rPr lang="en-US" dirty="0"/>
                  <a:t> from the joint posterior distribution.</a:t>
                </a:r>
              </a:p>
              <a:p>
                <a:pPr marL="742950" indent="-742950">
                  <a:buFont typeface="+mj-lt"/>
                  <a:buAutoNum type="arabicPeriod"/>
                </a:pPr>
                <a:r>
                  <a:rPr lang="en-US" dirty="0"/>
                  <a:t>Draw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𝑦</m:t>
                        </m:r>
                      </m:e>
                      <m:sup>
                        <m:r>
                          <m:rPr>
                            <m:nor/>
                          </m:rPr>
                          <a:rPr lang="en-US" i="1" smtClean="0"/>
                          <m:t>rep</m:t>
                        </m:r>
                      </m:sup>
                    </m:sSup>
                  </m:oMath>
                </a14:m>
                <a:r>
                  <a:rPr lang="en-US" dirty="0"/>
                  <a:t> from </a:t>
                </a:r>
                <a14:m>
                  <m:oMath xmlns:m="http://schemas.openxmlformats.org/officeDocument/2006/math">
                    <m:r>
                      <a:rPr lang="en-US" i="1">
                        <a:latin typeface="Cambria Math" panose="02040503050406030204" pitchFamily="18" charset="0"/>
                      </a:rPr>
                      <m:t>𝑁</m:t>
                    </m:r>
                    <m:d>
                      <m:dPr>
                        <m:ctrlPr>
                          <a:rPr lang="en-US" i="1">
                            <a:latin typeface="Cambria Math" panose="02040503050406030204" pitchFamily="18" charset="0"/>
                          </a:rPr>
                        </m:ctrlPr>
                      </m:dPr>
                      <m:e>
                        <m:r>
                          <a:rPr lang="en-US" i="1">
                            <a:latin typeface="Cambria Math" panose="02040503050406030204" pitchFamily="18" charset="0"/>
                          </a:rPr>
                          <m:t>𝑋</m:t>
                        </m:r>
                        <m:r>
                          <a:rPr lang="en-US" i="1">
                            <a:latin typeface="Cambria Math" panose="02040503050406030204" pitchFamily="18" charset="0"/>
                          </a:rPr>
                          <m:t>𝛽</m:t>
                        </m:r>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i="1">
                            <a:latin typeface="Cambria Math" panose="02040503050406030204" pitchFamily="18" charset="0"/>
                          </a:rPr>
                          <m:t>𝐼</m:t>
                        </m:r>
                      </m:e>
                    </m:d>
                  </m:oMath>
                </a14:m>
                <a:r>
                  <a:rPr lang="en-US" dirty="0"/>
                  <a:t> given the existing </a:t>
                </a:r>
                <a14:m>
                  <m:oMath xmlns:m="http://schemas.openxmlformats.org/officeDocument/2006/math">
                    <m:r>
                      <a:rPr lang="en-US" i="1" dirty="0" smtClean="0">
                        <a:latin typeface="Cambria Math" panose="02040503050406030204" pitchFamily="18" charset="0"/>
                      </a:rPr>
                      <m:t>𝑋</m:t>
                    </m:r>
                  </m:oMath>
                </a14:m>
                <a:r>
                  <a:rPr lang="en-US" dirty="0"/>
                  <a:t>.</a:t>
                </a:r>
              </a:p>
              <a:p>
                <a:pPr marL="742950" indent="-742950">
                  <a:buFont typeface="+mj-lt"/>
                  <a:buAutoNum type="arabicPeriod"/>
                </a:pPr>
                <a:r>
                  <a:rPr lang="en-US" dirty="0"/>
                  <a:t>Run the regression of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𝑦</m:t>
                        </m:r>
                      </m:e>
                      <m:sup>
                        <m:r>
                          <m:rPr>
                            <m:nor/>
                          </m:rPr>
                          <a:rPr lang="en-US" i="1"/>
                          <m:t>rep</m:t>
                        </m:r>
                      </m:sup>
                    </m:sSup>
                  </m:oMath>
                </a14:m>
                <a:r>
                  <a:rPr lang="en-US" dirty="0"/>
                  <a:t> on </a:t>
                </a:r>
                <a14:m>
                  <m:oMath xmlns:m="http://schemas.openxmlformats.org/officeDocument/2006/math">
                    <m:r>
                      <a:rPr lang="en-US" i="1" dirty="0" smtClean="0">
                        <a:latin typeface="Cambria Math" panose="02040503050406030204" pitchFamily="18" charset="0"/>
                      </a:rPr>
                      <m:t>𝑋</m:t>
                    </m:r>
                  </m:oMath>
                </a14:m>
                <a:r>
                  <a:rPr lang="en-US" dirty="0"/>
                  <a:t>, and save residuals.</a:t>
                </a:r>
              </a:p>
              <a:p>
                <a:pPr marL="742950" indent="-742950">
                  <a:buFont typeface="+mj-lt"/>
                  <a:buAutoNum type="arabicPeriod"/>
                </a:pPr>
                <a:r>
                  <a:rPr lang="en-US" dirty="0"/>
                  <a:t>Compute </a:t>
                </a:r>
                <a14:m>
                  <m:oMath xmlns:m="http://schemas.openxmlformats.org/officeDocument/2006/math">
                    <m:r>
                      <a:rPr lang="en-US" i="1">
                        <a:latin typeface="Cambria Math" panose="02040503050406030204" pitchFamily="18" charset="0"/>
                      </a:rPr>
                      <m:t>𝜌</m:t>
                    </m:r>
                  </m:oMath>
                </a14:m>
                <a:r>
                  <a:rPr lang="en-US" dirty="0"/>
                  <a:t>.</a:t>
                </a:r>
              </a:p>
              <a:p>
                <a:pPr marL="742950" indent="-742950">
                  <a:buFont typeface="+mj-lt"/>
                  <a:buAutoNum type="arabicPeriod"/>
                </a:pPr>
                <a:r>
                  <a:rPr lang="en-US" dirty="0"/>
                  <a:t>Compute proportion of "large" standardized residuals </a:t>
                </a:r>
                <a14:m>
                  <m:oMath xmlns:m="http://schemas.openxmlformats.org/officeDocument/2006/math">
                    <m:r>
                      <a:rPr lang="en-US" i="1" dirty="0" smtClean="0">
                        <a:latin typeface="Cambria Math" panose="02040503050406030204" pitchFamily="18" charset="0"/>
                      </a:rPr>
                      <m:t>𝑞</m:t>
                    </m:r>
                  </m:oMath>
                </a14:m>
                <a:r>
                  <a:rPr lang="en-US" dirty="0"/>
                  <a:t>.</a:t>
                </a:r>
              </a:p>
              <a:p>
                <a:pPr marL="742950" indent="-742950">
                  <a:buFont typeface="+mj-lt"/>
                  <a:buAutoNum type="arabicPeriod"/>
                </a:pPr>
                <a:r>
                  <a:rPr lang="en-US" dirty="0"/>
                  <a:t>Repeat for another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𝑦</m:t>
                        </m:r>
                      </m:e>
                      <m:sup>
                        <m:r>
                          <m:rPr>
                            <m:nor/>
                          </m:rPr>
                          <a:rPr lang="en-US" i="1"/>
                          <m:t>rep</m:t>
                        </m:r>
                      </m:sup>
                    </m:sSup>
                  </m:oMath>
                </a14:m>
                <a:r>
                  <a:rPr lang="en-US" dirty="0"/>
                  <a:t>… about 1000 times</a:t>
                </a:r>
              </a:p>
            </p:txBody>
          </p:sp>
        </mc:Choice>
        <mc:Fallback xmlns="">
          <p:sp>
            <p:nvSpPr>
              <p:cNvPr id="4" name="Content Placeholder 3">
                <a:extLst>
                  <a:ext uri="{FF2B5EF4-FFF2-40B4-BE49-F238E27FC236}">
                    <a16:creationId xmlns:a16="http://schemas.microsoft.com/office/drawing/2014/main" id="{46F83206-E05D-E060-2099-A38586B48C62}"/>
                  </a:ext>
                </a:extLst>
              </p:cNvPr>
              <p:cNvSpPr>
                <a:spLocks noGrp="1" noRot="1" noChangeAspect="1" noMove="1" noResize="1" noEditPoints="1" noAdjustHandles="1" noChangeArrowheads="1" noChangeShapeType="1" noTextEdit="1"/>
              </p:cNvSpPr>
              <p:nvPr>
                <p:ph sz="half" idx="2"/>
              </p:nvPr>
            </p:nvSpPr>
            <p:spPr>
              <a:blipFill>
                <a:blip r:embed="rId4"/>
                <a:stretch>
                  <a:fillRect l="-1815" t="-2529" r="-2475" b="-195"/>
                </a:stretch>
              </a:blipFill>
            </p:spPr>
            <p:txBody>
              <a:bodyPr/>
              <a:lstStyle/>
              <a:p>
                <a:r>
                  <a:rPr lang="en-US">
                    <a:noFill/>
                  </a:rPr>
                  <a:t> </a:t>
                </a:r>
              </a:p>
            </p:txBody>
          </p:sp>
        </mc:Fallback>
      </mc:AlternateContent>
      <p:sp>
        <p:nvSpPr>
          <p:cNvPr id="2" name="Title 1">
            <a:extLst>
              <a:ext uri="{FF2B5EF4-FFF2-40B4-BE49-F238E27FC236}">
                <a16:creationId xmlns:a16="http://schemas.microsoft.com/office/drawing/2014/main" id="{D6F285C3-C54A-EFC7-25AC-039D452A6010}"/>
              </a:ext>
            </a:extLst>
          </p:cNvPr>
          <p:cNvSpPr>
            <a:spLocks noGrp="1"/>
          </p:cNvSpPr>
          <p:nvPr>
            <p:ph type="title"/>
          </p:nvPr>
        </p:nvSpPr>
        <p:spPr/>
        <p:txBody>
          <a:bodyPr/>
          <a:lstStyle/>
          <a:p>
            <a:r>
              <a:rPr lang="en-US" dirty="0"/>
              <a:t>Posterior Predictive Checks</a:t>
            </a:r>
          </a:p>
        </p:txBody>
      </p:sp>
    </p:spTree>
    <p:extLst>
      <p:ext uri="{BB962C8B-B14F-4D97-AF65-F5344CB8AC3E}">
        <p14:creationId xmlns:p14="http://schemas.microsoft.com/office/powerpoint/2010/main" val="367766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A3B849C-831E-B1F3-BEF2-19605FE28665}"/>
              </a:ext>
            </a:extLst>
          </p:cNvPr>
          <p:cNvSpPr>
            <a:spLocks noGrp="1"/>
          </p:cNvSpPr>
          <p:nvPr>
            <p:ph type="title"/>
          </p:nvPr>
        </p:nvSpPr>
        <p:spPr/>
        <p:txBody>
          <a:bodyPr/>
          <a:lstStyle/>
          <a:p>
            <a:r>
              <a:rPr lang="en-US" dirty="0"/>
              <a:t>Posterior Predictive Checks</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216370B6-E398-77DE-5229-E4681EE023A2}"/>
                  </a:ext>
                </a:extLst>
              </p:cNvPr>
              <p:cNvSpPr>
                <a:spLocks noGrp="1"/>
              </p:cNvSpPr>
              <p:nvPr>
                <p:ph idx="1"/>
              </p:nvPr>
            </p:nvSpPr>
            <p:spPr/>
            <p:txBody>
              <a:bodyPr/>
              <a:lstStyle/>
              <a:p>
                <a:r>
                  <a:rPr lang="en-US" dirty="0"/>
                  <a:t>The approach is frequentist in nature: we act as if we could repeat the experiment many times.</a:t>
                </a:r>
              </a:p>
              <a:p>
                <a:r>
                  <a:rPr lang="en-US" dirty="0"/>
                  <a:t>Inspection of posterior predictive distribution of </a:t>
                </a:r>
                <a14:m>
                  <m:oMath xmlns:m="http://schemas.openxmlformats.org/officeDocument/2006/math">
                    <m:r>
                      <a:rPr lang="en-US" i="1" smtClean="0">
                        <a:latin typeface="Cambria Math" panose="02040503050406030204" pitchFamily="18" charset="0"/>
                      </a:rPr>
                      <m:t>𝜌</m:t>
                    </m:r>
                  </m:oMath>
                </a14:m>
                <a:r>
                  <a:rPr lang="en-US" dirty="0"/>
                  <a:t> and of </a:t>
                </a:r>
                <a14:m>
                  <m:oMath xmlns:m="http://schemas.openxmlformats.org/officeDocument/2006/math">
                    <m:r>
                      <a:rPr lang="en-US" i="1" dirty="0" smtClean="0">
                        <a:latin typeface="Cambria Math" panose="02040503050406030204" pitchFamily="18" charset="0"/>
                      </a:rPr>
                      <m:t>𝑞</m:t>
                    </m:r>
                  </m:oMath>
                </a14:m>
                <a:r>
                  <a:rPr lang="en-US" dirty="0"/>
                  <a:t> provides information about model adequacy.</a:t>
                </a:r>
              </a:p>
            </p:txBody>
          </p:sp>
        </mc:Choice>
        <mc:Fallback xmlns="">
          <p:sp>
            <p:nvSpPr>
              <p:cNvPr id="5" name="Content Placeholder 4">
                <a:extLst>
                  <a:ext uri="{FF2B5EF4-FFF2-40B4-BE49-F238E27FC236}">
                    <a16:creationId xmlns:a16="http://schemas.microsoft.com/office/drawing/2014/main" id="{216370B6-E398-77DE-5229-E4681EE023A2}"/>
                  </a:ext>
                </a:extLst>
              </p:cNvPr>
              <p:cNvSpPr>
                <a:spLocks noGrp="1" noRot="1" noChangeAspect="1" noMove="1" noResize="1" noEditPoints="1" noAdjustHandles="1" noChangeArrowheads="1" noChangeShapeType="1" noTextEdit="1"/>
              </p:cNvSpPr>
              <p:nvPr>
                <p:ph idx="1"/>
              </p:nvPr>
            </p:nvSpPr>
            <p:spPr>
              <a:blipFill>
                <a:blip r:embed="rId3"/>
                <a:stretch>
                  <a:fillRect l="-1104" t="-1657" r="-710"/>
                </a:stretch>
              </a:blipFill>
            </p:spPr>
            <p:txBody>
              <a:bodyPr/>
              <a:lstStyle/>
              <a:p>
                <a:r>
                  <a:rPr lang="en-US">
                    <a:noFill/>
                  </a:rPr>
                  <a:t> </a:t>
                </a:r>
              </a:p>
            </p:txBody>
          </p:sp>
        </mc:Fallback>
      </mc:AlternateContent>
    </p:spTree>
    <p:extLst>
      <p:ext uri="{BB962C8B-B14F-4D97-AF65-F5344CB8AC3E}">
        <p14:creationId xmlns:p14="http://schemas.microsoft.com/office/powerpoint/2010/main" val="273109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C7C8B-C53E-442C-2E32-F96BF1C02706}"/>
              </a:ext>
            </a:extLst>
          </p:cNvPr>
          <p:cNvSpPr>
            <a:spLocks noGrp="1"/>
          </p:cNvSpPr>
          <p:nvPr>
            <p:ph type="title"/>
          </p:nvPr>
        </p:nvSpPr>
        <p:spPr/>
        <p:txBody>
          <a:bodyPr/>
          <a:lstStyle/>
          <a:p>
            <a:r>
              <a:rPr lang="en-US" dirty="0"/>
              <a:t>Regression Example: Radon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6B0FF11-C2BA-4F5D-FAC0-47BAD0F7FA34}"/>
                  </a:ext>
                </a:extLst>
              </p:cNvPr>
              <p:cNvSpPr>
                <a:spLocks noGrp="1"/>
              </p:cNvSpPr>
              <p:nvPr>
                <p:ph idx="1"/>
              </p:nvPr>
            </p:nvSpPr>
            <p:spPr/>
            <p:txBody>
              <a:bodyPr/>
              <a:lstStyle/>
              <a:p>
                <a:r>
                  <a:rPr lang="en-US" dirty="0"/>
                  <a:t>The posterior predictive checks will suggest that there are no outliers and that the correlation between the squared residuals and the fitted values is negligible.</a:t>
                </a:r>
              </a:p>
              <a:p>
                <a:r>
                  <a:rPr lang="en-US" dirty="0"/>
                  <a:t>The </a:t>
                </a:r>
                <a14:m>
                  <m:oMath xmlns:m="http://schemas.openxmlformats.org/officeDocument/2006/math">
                    <m:r>
                      <a:rPr lang="en-US" i="1" dirty="0" smtClean="0">
                        <a:latin typeface="Cambria Math" panose="02040503050406030204" pitchFamily="18" charset="0"/>
                      </a:rPr>
                      <m:t>95%</m:t>
                    </m:r>
                  </m:oMath>
                </a14:m>
                <a:r>
                  <a:rPr lang="en-US" dirty="0"/>
                  <a:t> credible set for the proportion of residuals with absolute values greater than 3 (in the 41 observations) was </a:t>
                </a:r>
                <a14:m>
                  <m:oMath xmlns:m="http://schemas.openxmlformats.org/officeDocument/2006/math">
                    <m:r>
                      <a:rPr lang="en-US" i="1" dirty="0" smtClean="0">
                        <a:latin typeface="Cambria Math" panose="02040503050406030204" pitchFamily="18" charset="0"/>
                      </a:rPr>
                      <m:t>(0, 4.88) </m:t>
                    </m:r>
                  </m:oMath>
                </a14:m>
                <a:r>
                  <a:rPr lang="en-US" dirty="0"/>
                  <a:t>with a mean of </a:t>
                </a:r>
                <a14:m>
                  <m:oMath xmlns:m="http://schemas.openxmlformats.org/officeDocument/2006/math">
                    <m:r>
                      <a:rPr lang="en-US" i="1" dirty="0" smtClean="0">
                        <a:latin typeface="Cambria Math" panose="02040503050406030204" pitchFamily="18" charset="0"/>
                      </a:rPr>
                      <m:t>0.59% </m:t>
                    </m:r>
                  </m:oMath>
                </a14:m>
                <a:r>
                  <a:rPr lang="en-US" dirty="0"/>
                  <a:t>and a median of 0.</a:t>
                </a:r>
              </a:p>
              <a:p>
                <a:r>
                  <a:rPr lang="en-US" dirty="0"/>
                  <a:t>The </a:t>
                </a:r>
                <a14:m>
                  <m:oMath xmlns:m="http://schemas.openxmlformats.org/officeDocument/2006/math">
                    <m:r>
                      <a:rPr lang="en-US" i="1" dirty="0" smtClean="0">
                        <a:latin typeface="Cambria Math" panose="02040503050406030204" pitchFamily="18" charset="0"/>
                      </a:rPr>
                      <m:t>95% </m:t>
                    </m:r>
                  </m:oMath>
                </a14:m>
                <a:r>
                  <a:rPr lang="en-US" dirty="0"/>
                  <a:t>credible set for </a:t>
                </a:r>
                <a14:m>
                  <m:oMath xmlns:m="http://schemas.openxmlformats.org/officeDocument/2006/math">
                    <m:r>
                      <a:rPr lang="en-US" i="1">
                        <a:latin typeface="Cambria Math" panose="02040503050406030204" pitchFamily="18" charset="0"/>
                      </a:rPr>
                      <m:t>𝜌</m:t>
                    </m:r>
                  </m:oMath>
                </a14:m>
                <a:r>
                  <a:rPr lang="en-US" dirty="0"/>
                  <a:t> was </a:t>
                </a:r>
                <a14:m>
                  <m:oMath xmlns:m="http://schemas.openxmlformats.org/officeDocument/2006/math">
                    <m:r>
                      <a:rPr lang="en-US" i="1" dirty="0" smtClean="0">
                        <a:latin typeface="Cambria Math" panose="02040503050406030204" pitchFamily="18" charset="0"/>
                      </a:rPr>
                      <m:t>(−0.31,0.32)</m:t>
                    </m:r>
                  </m:oMath>
                </a14:m>
                <a:r>
                  <a:rPr lang="en-US" dirty="0"/>
                  <a:t> with a mean of </a:t>
                </a:r>
                <a14:m>
                  <m:oMath xmlns:m="http://schemas.openxmlformats.org/officeDocument/2006/math">
                    <m:r>
                      <a:rPr lang="en-US" i="1" dirty="0" smtClean="0">
                        <a:latin typeface="Cambria Math" panose="02040503050406030204" pitchFamily="18" charset="0"/>
                      </a:rPr>
                      <m:t>0.011</m:t>
                    </m:r>
                  </m:oMath>
                </a14:m>
                <a:r>
                  <a:rPr lang="en-US" dirty="0"/>
                  <a:t>.</a:t>
                </a:r>
              </a:p>
              <a:p>
                <a:endParaRPr lang="en-US" dirty="0"/>
              </a:p>
            </p:txBody>
          </p:sp>
        </mc:Choice>
        <mc:Fallback xmlns="">
          <p:sp>
            <p:nvSpPr>
              <p:cNvPr id="3" name="Content Placeholder 2">
                <a:extLst>
                  <a:ext uri="{FF2B5EF4-FFF2-40B4-BE49-F238E27FC236}">
                    <a16:creationId xmlns:a16="http://schemas.microsoft.com/office/drawing/2014/main" id="{26B0FF11-C2BA-4F5D-FAC0-47BAD0F7FA34}"/>
                  </a:ext>
                </a:extLst>
              </p:cNvPr>
              <p:cNvSpPr>
                <a:spLocks noGrp="1" noRot="1" noChangeAspect="1" noMove="1" noResize="1" noEditPoints="1" noAdjustHandles="1" noChangeArrowheads="1" noChangeShapeType="1" noTextEdit="1"/>
              </p:cNvSpPr>
              <p:nvPr>
                <p:ph idx="1"/>
              </p:nvPr>
            </p:nvSpPr>
            <p:spPr>
              <a:blipFill>
                <a:blip r:embed="rId3"/>
                <a:stretch>
                  <a:fillRect l="-1104" t="-1657" r="-1104"/>
                </a:stretch>
              </a:blipFill>
            </p:spPr>
            <p:txBody>
              <a:bodyPr/>
              <a:lstStyle/>
              <a:p>
                <a:r>
                  <a:rPr lang="en-US">
                    <a:noFill/>
                  </a:rPr>
                  <a:t> </a:t>
                </a:r>
              </a:p>
            </p:txBody>
          </p:sp>
        </mc:Fallback>
      </mc:AlternateContent>
    </p:spTree>
    <p:extLst>
      <p:ext uri="{BB962C8B-B14F-4D97-AF65-F5344CB8AC3E}">
        <p14:creationId xmlns:p14="http://schemas.microsoft.com/office/powerpoint/2010/main" val="1163770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2F492-EB37-1D94-BEFA-74C4B786485F}"/>
              </a:ext>
            </a:extLst>
          </p:cNvPr>
          <p:cNvSpPr>
            <a:spLocks noGrp="1"/>
          </p:cNvSpPr>
          <p:nvPr>
            <p:ph type="title"/>
          </p:nvPr>
        </p:nvSpPr>
        <p:spPr/>
        <p:txBody>
          <a:bodyPr/>
          <a:lstStyle/>
          <a:p>
            <a:r>
              <a:rPr lang="en-US" dirty="0"/>
              <a:t>Regression with Unequal Variances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1EB79DC-7D60-EAAD-4B30-5C069024BCDD}"/>
                  </a:ext>
                </a:extLst>
              </p:cNvPr>
              <p:cNvSpPr>
                <a:spLocks noGrp="1"/>
              </p:cNvSpPr>
              <p:nvPr>
                <p:ph idx="1"/>
              </p:nvPr>
            </p:nvSpPr>
            <p:spPr/>
            <p:txBody>
              <a:bodyPr/>
              <a:lstStyle/>
              <a:p>
                <a:r>
                  <a:rPr lang="en-US" dirty="0"/>
                  <a:t>Consider now the case where </a:t>
                </a:r>
                <a14:m>
                  <m:oMath xmlns:m="http://schemas.openxmlformats.org/officeDocument/2006/math">
                    <m:r>
                      <a:rPr lang="en-US" i="1">
                        <a:latin typeface="Cambria Math" panose="02040503050406030204" pitchFamily="18" charset="0"/>
                      </a:rPr>
                      <m:t>𝑦</m:t>
                    </m:r>
                    <m:r>
                      <a:rPr lang="en-US">
                        <a:latin typeface="Cambria Math" panose="02040503050406030204" pitchFamily="18" charset="0"/>
                      </a:rPr>
                      <m:t>∼</m:t>
                    </m:r>
                    <m:r>
                      <a:rPr lang="en-US" i="1">
                        <a:latin typeface="Cambria Math" panose="02040503050406030204" pitchFamily="18" charset="0"/>
                      </a:rPr>
                      <m:t>𝑁</m:t>
                    </m:r>
                    <m:d>
                      <m:dPr>
                        <m:ctrlPr>
                          <a:rPr lang="en-US" i="1">
                            <a:latin typeface="Cambria Math" panose="02040503050406030204" pitchFamily="18" charset="0"/>
                          </a:rPr>
                        </m:ctrlPr>
                      </m:dPr>
                      <m:e>
                        <m:r>
                          <a:rPr lang="en-US" i="1">
                            <a:latin typeface="Cambria Math" panose="02040503050406030204" pitchFamily="18" charset="0"/>
                          </a:rPr>
                          <m:t>𝑋</m:t>
                        </m:r>
                        <m:r>
                          <a:rPr lang="en-US" i="1">
                            <a:latin typeface="Cambria Math" panose="02040503050406030204" pitchFamily="18" charset="0"/>
                          </a:rPr>
                          <m:t>𝛽</m:t>
                        </m:r>
                        <m:r>
                          <a:rPr lang="en-US">
                            <a:latin typeface="Cambria Math" panose="02040503050406030204" pitchFamily="18" charset="0"/>
                          </a:rPr>
                          <m:t>,</m:t>
                        </m:r>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𝑦</m:t>
                            </m:r>
                          </m:sub>
                        </m:sSub>
                      </m:e>
                    </m:d>
                  </m:oMath>
                </a14:m>
                <a:r>
                  <a:rPr lang="en-US" dirty="0"/>
                  <a:t>, with </a:t>
                </a:r>
                <a14:m>
                  <m:oMath xmlns:m="http://schemas.openxmlformats.org/officeDocument/2006/math">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𝑦</m:t>
                        </m:r>
                      </m:sub>
                    </m:sSub>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i="1">
                        <a:latin typeface="Cambria Math" panose="02040503050406030204" pitchFamily="18" charset="0"/>
                      </a:rPr>
                      <m:t>𝐼</m:t>
                    </m:r>
                  </m:oMath>
                </a14:m>
                <a:r>
                  <a:rPr lang="en-US" dirty="0"/>
                  <a:t>.</a:t>
                </a:r>
              </a:p>
              <a:p>
                <a14:m>
                  <m:oMath xmlns:m="http://schemas.openxmlformats.org/officeDocument/2006/math">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𝑦</m:t>
                        </m:r>
                      </m:sub>
                    </m:sSub>
                  </m:oMath>
                </a14:m>
                <a:r>
                  <a:rPr lang="en-US" dirty="0"/>
                  <a:t> is a symmetric, positive, definite, </a:t>
                </a:r>
                <a14:m>
                  <m:oMath xmlns:m="http://schemas.openxmlformats.org/officeDocument/2006/math">
                    <m:r>
                      <a:rPr lang="en-US" i="1" dirty="0">
                        <a:latin typeface="Cambria Math" panose="02040503050406030204" pitchFamily="18" charset="0"/>
                      </a:rPr>
                      <m:t>𝑛</m:t>
                    </m:r>
                    <m:r>
                      <a:rPr lang="en-US" i="1" dirty="0">
                        <a:latin typeface="Cambria Math" panose="02040503050406030204" pitchFamily="18" charset="0"/>
                        <a:ea typeface="Cambria Math" panose="02040503050406030204" pitchFamily="18" charset="0"/>
                      </a:rPr>
                      <m:t>×</m:t>
                    </m:r>
                    <m:r>
                      <a:rPr lang="en-US" i="1" dirty="0">
                        <a:latin typeface="Cambria Math" panose="02040503050406030204" pitchFamily="18" charset="0"/>
                      </a:rPr>
                      <m:t>𝑛</m:t>
                    </m:r>
                  </m:oMath>
                </a14:m>
                <a:r>
                  <a:rPr lang="en-US" dirty="0"/>
                  <a:t> matrix.</a:t>
                </a:r>
              </a:p>
              <a:p>
                <a14:m>
                  <m:oMath xmlns:m="http://schemas.openxmlformats.org/officeDocument/2006/math">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𝑦</m:t>
                        </m:r>
                      </m:sub>
                    </m:sSub>
                  </m:oMath>
                </a14:m>
                <a:r>
                  <a:rPr lang="en-US" dirty="0"/>
                  <a:t> has </a:t>
                </a:r>
                <a14:m>
                  <m:oMath xmlns:m="http://schemas.openxmlformats.org/officeDocument/2006/math">
                    <m:r>
                      <a:rPr lang="en-US" i="1" dirty="0" smtClean="0">
                        <a:latin typeface="Cambria Math" panose="02040503050406030204" pitchFamily="18" charset="0"/>
                      </a:rPr>
                      <m:t>𝑛</m:t>
                    </m:r>
                    <m:r>
                      <a:rPr lang="en-US" i="1" dirty="0" smtClean="0">
                        <a:latin typeface="Cambria Math" panose="02040503050406030204" pitchFamily="18" charset="0"/>
                      </a:rPr>
                      <m:t>(</m:t>
                    </m:r>
                    <m:r>
                      <a:rPr lang="en-US" i="1" dirty="0" smtClean="0">
                        <a:latin typeface="Cambria Math" panose="02040503050406030204" pitchFamily="18" charset="0"/>
                      </a:rPr>
                      <m:t>𝑛</m:t>
                    </m:r>
                    <m:r>
                      <a:rPr lang="en-US" i="1" dirty="0" smtClean="0">
                        <a:latin typeface="Cambria Math" panose="02040503050406030204" pitchFamily="18" charset="0"/>
                      </a:rPr>
                      <m:t>+1)/2</m:t>
                    </m:r>
                  </m:oMath>
                </a14:m>
                <a:r>
                  <a:rPr lang="en-US" dirty="0"/>
                  <a:t> distinct parameters, which cannot be estimated from </a:t>
                </a:r>
                <a14:m>
                  <m:oMath xmlns:m="http://schemas.openxmlformats.org/officeDocument/2006/math">
                    <m:r>
                      <a:rPr lang="en-US" i="1" dirty="0" smtClean="0">
                        <a:latin typeface="Cambria Math" panose="02040503050406030204" pitchFamily="18" charset="0"/>
                      </a:rPr>
                      <m:t>𝑛</m:t>
                    </m:r>
                  </m:oMath>
                </a14:m>
                <a:r>
                  <a:rPr lang="en-US" dirty="0"/>
                  <a:t> observations. Must either specify </a:t>
                </a:r>
                <a14:m>
                  <m:oMath xmlns:m="http://schemas.openxmlformats.org/officeDocument/2006/math">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𝑦</m:t>
                        </m:r>
                      </m:sub>
                    </m:sSub>
                  </m:oMath>
                </a14:m>
                <a:r>
                  <a:rPr lang="en-US" dirty="0"/>
                  <a:t> or it must be assigned an informative prior distribution.</a:t>
                </a:r>
              </a:p>
              <a:p>
                <a:r>
                  <a:rPr lang="en-US" dirty="0"/>
                  <a:t>Typically, some structure is imposed on </a:t>
                </a:r>
                <a14:m>
                  <m:oMath xmlns:m="http://schemas.openxmlformats.org/officeDocument/2006/math">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𝑦</m:t>
                        </m:r>
                      </m:sub>
                    </m:sSub>
                  </m:oMath>
                </a14:m>
                <a:r>
                  <a:rPr lang="en-US" dirty="0"/>
                  <a:t> to reduce the number of free parameters.</a:t>
                </a:r>
              </a:p>
              <a:p>
                <a:endParaRPr lang="en-US" dirty="0"/>
              </a:p>
            </p:txBody>
          </p:sp>
        </mc:Choice>
        <mc:Fallback xmlns="">
          <p:sp>
            <p:nvSpPr>
              <p:cNvPr id="3" name="Content Placeholder 2">
                <a:extLst>
                  <a:ext uri="{FF2B5EF4-FFF2-40B4-BE49-F238E27FC236}">
                    <a16:creationId xmlns:a16="http://schemas.microsoft.com/office/drawing/2014/main" id="{51EB79DC-7D60-EAAD-4B30-5C069024BCDD}"/>
                  </a:ext>
                </a:extLst>
              </p:cNvPr>
              <p:cNvSpPr>
                <a:spLocks noGrp="1" noRot="1" noChangeAspect="1" noMove="1" noResize="1" noEditPoints="1" noAdjustHandles="1" noChangeArrowheads="1" noChangeShapeType="1" noTextEdit="1"/>
              </p:cNvSpPr>
              <p:nvPr>
                <p:ph idx="1"/>
              </p:nvPr>
            </p:nvSpPr>
            <p:spPr>
              <a:blipFill>
                <a:blip r:embed="rId3"/>
                <a:stretch>
                  <a:fillRect l="-1104" t="-1105" r="-1262"/>
                </a:stretch>
              </a:blipFill>
            </p:spPr>
            <p:txBody>
              <a:bodyPr/>
              <a:lstStyle/>
              <a:p>
                <a:r>
                  <a:rPr lang="en-US">
                    <a:noFill/>
                  </a:rPr>
                  <a:t> </a:t>
                </a:r>
              </a:p>
            </p:txBody>
          </p:sp>
        </mc:Fallback>
      </mc:AlternateContent>
    </p:spTree>
    <p:extLst>
      <p:ext uri="{BB962C8B-B14F-4D97-AF65-F5344CB8AC3E}">
        <p14:creationId xmlns:p14="http://schemas.microsoft.com/office/powerpoint/2010/main" val="442969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98362-E835-0B8D-C33C-9000AED7C421}"/>
              </a:ext>
            </a:extLst>
          </p:cNvPr>
          <p:cNvSpPr>
            <a:spLocks noGrp="1"/>
          </p:cNvSpPr>
          <p:nvPr>
            <p:ph type="title"/>
          </p:nvPr>
        </p:nvSpPr>
        <p:spPr/>
        <p:txBody>
          <a:bodyPr/>
          <a:lstStyle/>
          <a:p>
            <a:r>
              <a:rPr lang="en-US" dirty="0"/>
              <a:t>Regression with Unequal Known Variances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3E7CE42-F32D-6555-1BFE-576A0A9A8E2D}"/>
                  </a:ext>
                </a:extLst>
              </p:cNvPr>
              <p:cNvSpPr>
                <a:spLocks noGrp="1"/>
              </p:cNvSpPr>
              <p:nvPr>
                <p:ph idx="1"/>
              </p:nvPr>
            </p:nvSpPr>
            <p:spPr/>
            <p:txBody>
              <a:bodyPr/>
              <a:lstStyle/>
              <a:p>
                <a:r>
                  <a:rPr lang="en-US" dirty="0"/>
                  <a:t>As before, let </a:t>
                </a:r>
                <a14:m>
                  <m:oMath xmlns:m="http://schemas.openxmlformats.org/officeDocument/2006/math">
                    <m:r>
                      <a:rPr lang="en-US" i="1">
                        <a:latin typeface="Cambria Math" panose="02040503050406030204" pitchFamily="18" charset="0"/>
                      </a:rPr>
                      <m:t>𝑝</m:t>
                    </m:r>
                    <m:r>
                      <a:rPr lang="en-US">
                        <a:latin typeface="Cambria Math" panose="02040503050406030204" pitchFamily="18" charset="0"/>
                      </a:rPr>
                      <m:t>(</m:t>
                    </m:r>
                    <m:r>
                      <a:rPr lang="en-US" i="1">
                        <a:latin typeface="Cambria Math" panose="02040503050406030204" pitchFamily="18" charset="0"/>
                      </a:rPr>
                      <m:t>𝛽</m:t>
                    </m:r>
                    <m:r>
                      <a:rPr lang="en-US">
                        <a:latin typeface="Cambria Math" panose="02040503050406030204" pitchFamily="18" charset="0"/>
                      </a:rPr>
                      <m:t>)∝1</m:t>
                    </m:r>
                  </m:oMath>
                </a14:m>
                <a:r>
                  <a:rPr lang="en-US" dirty="0">
                    <a:effectLst/>
                  </a:rPr>
                  <a:t> </a:t>
                </a:r>
                <a:r>
                  <a:rPr lang="en-US" dirty="0"/>
                  <a:t>be the non-informative prior.</a:t>
                </a:r>
              </a:p>
              <a:p>
                <a:r>
                  <a:rPr lang="en-US" dirty="0"/>
                  <a:t>Since </a:t>
                </a:r>
                <a14:m>
                  <m:oMath xmlns:m="http://schemas.openxmlformats.org/officeDocument/2006/math">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𝑦</m:t>
                        </m:r>
                      </m:sub>
                    </m:sSub>
                  </m:oMath>
                </a14:m>
                <a:r>
                  <a:rPr lang="en-US" dirty="0"/>
                  <a:t> is positive definite and symmetric, it has an upper-triangular square root matrix (Cholesky factor) </a:t>
                </a:r>
                <a14:m>
                  <m:oMath xmlns:m="http://schemas.openxmlformats.org/officeDocument/2006/math">
                    <m:sSubSup>
                      <m:sSubSupPr>
                        <m:ctrlPr>
                          <a:rPr lang="en-US" i="1">
                            <a:latin typeface="Cambria Math" panose="02040503050406030204" pitchFamily="18" charset="0"/>
                          </a:rPr>
                        </m:ctrlPr>
                      </m:sSubSupPr>
                      <m:e>
                        <m:r>
                          <m:rPr>
                            <m:sty m:val="p"/>
                          </m:rPr>
                          <a:rPr lang="en-US">
                            <a:latin typeface="Cambria Math" panose="02040503050406030204" pitchFamily="18" charset="0"/>
                          </a:rPr>
                          <m:t>Σ</m:t>
                        </m:r>
                      </m:e>
                      <m:sub>
                        <m:r>
                          <a:rPr lang="en-US" i="1">
                            <a:latin typeface="Cambria Math" panose="02040503050406030204" pitchFamily="18" charset="0"/>
                          </a:rPr>
                          <m:t>𝑦</m:t>
                        </m:r>
                      </m:sub>
                      <m:sup>
                        <m:r>
                          <a:rPr lang="en-US">
                            <a:latin typeface="Cambria Math" panose="02040503050406030204" pitchFamily="18" charset="0"/>
                          </a:rPr>
                          <m:t>1/2</m:t>
                        </m:r>
                      </m:sup>
                    </m:sSubSup>
                  </m:oMath>
                </a14:m>
                <a:r>
                  <a:rPr lang="en-US" dirty="0"/>
                  <a:t> such that </a:t>
                </a:r>
                <a14:m>
                  <m:oMath xmlns:m="http://schemas.openxmlformats.org/officeDocument/2006/math">
                    <m:sSubSup>
                      <m:sSubSupPr>
                        <m:ctrlPr>
                          <a:rPr lang="en-US" i="1">
                            <a:latin typeface="Cambria Math" panose="02040503050406030204" pitchFamily="18" charset="0"/>
                          </a:rPr>
                        </m:ctrlPr>
                      </m:sSubSupPr>
                      <m:e>
                        <m:r>
                          <m:rPr>
                            <m:sty m:val="p"/>
                          </m:rPr>
                          <a:rPr lang="en-US">
                            <a:latin typeface="Cambria Math" panose="02040503050406030204" pitchFamily="18" charset="0"/>
                          </a:rPr>
                          <m:t>Σ</m:t>
                        </m:r>
                      </m:e>
                      <m:sub>
                        <m:r>
                          <a:rPr lang="en-US" i="1">
                            <a:latin typeface="Cambria Math" panose="02040503050406030204" pitchFamily="18" charset="0"/>
                          </a:rPr>
                          <m:t>𝑦</m:t>
                        </m:r>
                      </m:sub>
                      <m:sup>
                        <m:r>
                          <a:rPr lang="en-US">
                            <a:latin typeface="Cambria Math" panose="02040503050406030204" pitchFamily="18" charset="0"/>
                          </a:rPr>
                          <m:t>1/2</m:t>
                        </m:r>
                      </m:sup>
                    </m:sSubSup>
                    <m:sSup>
                      <m:sSupPr>
                        <m:ctrlPr>
                          <a:rPr lang="en-US" i="1">
                            <a:latin typeface="Cambria Math" panose="02040503050406030204" pitchFamily="18" charset="0"/>
                          </a:rPr>
                        </m:ctrlPr>
                      </m:sSupPr>
                      <m:e>
                        <m:d>
                          <m:dPr>
                            <m:ctrlPr>
                              <a:rPr lang="en-US" i="1">
                                <a:latin typeface="Cambria Math" panose="02040503050406030204" pitchFamily="18" charset="0"/>
                              </a:rPr>
                            </m:ctrlPr>
                          </m:dPr>
                          <m:e>
                            <m:sSubSup>
                              <m:sSubSupPr>
                                <m:ctrlPr>
                                  <a:rPr lang="en-US" i="1">
                                    <a:latin typeface="Cambria Math" panose="02040503050406030204" pitchFamily="18" charset="0"/>
                                  </a:rPr>
                                </m:ctrlPr>
                              </m:sSubSupPr>
                              <m:e>
                                <m:r>
                                  <m:rPr>
                                    <m:sty m:val="p"/>
                                  </m:rPr>
                                  <a:rPr lang="en-US">
                                    <a:latin typeface="Cambria Math" panose="02040503050406030204" pitchFamily="18" charset="0"/>
                                  </a:rPr>
                                  <m:t>Σ</m:t>
                                </m:r>
                              </m:e>
                              <m:sub>
                                <m:r>
                                  <a:rPr lang="en-US" i="1">
                                    <a:latin typeface="Cambria Math" panose="02040503050406030204" pitchFamily="18" charset="0"/>
                                  </a:rPr>
                                  <m:t>𝑦</m:t>
                                </m:r>
                              </m:sub>
                              <m:sup>
                                <m:r>
                                  <a:rPr lang="en-US">
                                    <a:latin typeface="Cambria Math" panose="02040503050406030204" pitchFamily="18" charset="0"/>
                                  </a:rPr>
                                  <m:t>1/2</m:t>
                                </m:r>
                              </m:sup>
                            </m:sSubSup>
                          </m:e>
                        </m:d>
                      </m:e>
                      <m:sup>
                        <m:r>
                          <a:rPr lang="en-US" b="0" i="1" smtClean="0">
                            <a:latin typeface="Cambria Math" panose="02040503050406030204" pitchFamily="18" charset="0"/>
                          </a:rPr>
                          <m:t>𝑇</m:t>
                        </m:r>
                      </m:sup>
                    </m:sSup>
                    <m:r>
                      <a:rPr lang="en-US">
                        <a:latin typeface="Cambria Math" panose="02040503050406030204" pitchFamily="18" charset="0"/>
                      </a:rPr>
                      <m:t>=</m:t>
                    </m:r>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𝑦</m:t>
                        </m:r>
                      </m:sub>
                    </m:sSub>
                  </m:oMath>
                </a14:m>
                <a:r>
                  <a:rPr lang="en-US" dirty="0"/>
                  <a:t> so that if:</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𝑦</m:t>
                      </m:r>
                      <m:r>
                        <a:rPr lang="en-US">
                          <a:latin typeface="Cambria Math" panose="02040503050406030204" pitchFamily="18" charset="0"/>
                        </a:rPr>
                        <m:t>=</m:t>
                      </m:r>
                      <m:r>
                        <a:rPr lang="en-US" i="1">
                          <a:latin typeface="Cambria Math" panose="02040503050406030204" pitchFamily="18" charset="0"/>
                        </a:rPr>
                        <m:t>𝑋</m:t>
                      </m:r>
                      <m:r>
                        <a:rPr lang="en-US" i="1">
                          <a:latin typeface="Cambria Math" panose="02040503050406030204" pitchFamily="18" charset="0"/>
                        </a:rPr>
                        <m:t>𝛽</m:t>
                      </m:r>
                      <m:r>
                        <a:rPr lang="en-US">
                          <a:latin typeface="Cambria Math" panose="02040503050406030204" pitchFamily="18" charset="0"/>
                        </a:rPr>
                        <m:t>+</m:t>
                      </m:r>
                      <m:r>
                        <a:rPr lang="en-US" i="1">
                          <a:latin typeface="Cambria Math" panose="02040503050406030204" pitchFamily="18" charset="0"/>
                        </a:rPr>
                        <m:t>𝑒</m:t>
                      </m:r>
                      <m:r>
                        <a:rPr lang="en-US">
                          <a:latin typeface="Cambria Math" panose="02040503050406030204" pitchFamily="18" charset="0"/>
                        </a:rPr>
                        <m:t>,</m:t>
                      </m:r>
                      <m:box>
                        <m:boxPr>
                          <m:ctrlPr>
                            <a:rPr lang="en-US" i="1">
                              <a:latin typeface="Cambria Math" panose="02040503050406030204" pitchFamily="18" charset="0"/>
                            </a:rPr>
                          </m:ctrlPr>
                        </m:boxPr>
                        <m:e>
                          <m:r>
                            <a:rPr lang="en-US">
                              <a:latin typeface="Cambria Math" panose="02040503050406030204" pitchFamily="18" charset="0"/>
                            </a:rPr>
                            <m:t> </m:t>
                          </m:r>
                        </m:e>
                      </m:box>
                      <m:r>
                        <a:rPr lang="en-US" i="1">
                          <a:latin typeface="Cambria Math" panose="02040503050406030204" pitchFamily="18" charset="0"/>
                        </a:rPr>
                        <m:t>𝑒</m:t>
                      </m:r>
                      <m:r>
                        <a:rPr lang="en-US">
                          <a:latin typeface="Cambria Math" panose="02040503050406030204" pitchFamily="18" charset="0"/>
                        </a:rPr>
                        <m:t>∼</m:t>
                      </m:r>
                      <m:r>
                        <a:rPr lang="en-US" i="1">
                          <a:latin typeface="Cambria Math" panose="02040503050406030204" pitchFamily="18" charset="0"/>
                        </a:rPr>
                        <m:t>𝑁</m:t>
                      </m:r>
                      <m:d>
                        <m:dPr>
                          <m:ctrlPr>
                            <a:rPr lang="en-US" i="1">
                              <a:latin typeface="Cambria Math" panose="02040503050406030204" pitchFamily="18" charset="0"/>
                            </a:rPr>
                          </m:ctrlPr>
                        </m:dPr>
                        <m:e>
                          <m:r>
                            <a:rPr lang="en-US">
                              <a:latin typeface="Cambria Math" panose="02040503050406030204" pitchFamily="18" charset="0"/>
                            </a:rPr>
                            <m:t>0,</m:t>
                          </m:r>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𝑦</m:t>
                              </m:r>
                            </m:sub>
                          </m:sSub>
                        </m:e>
                      </m:d>
                    </m:oMath>
                  </m:oMathPara>
                </a14:m>
                <a:endParaRPr lang="en-US" dirty="0"/>
              </a:p>
              <a:p>
                <a:pPr marL="0" indent="0">
                  <a:buNone/>
                </a:pPr>
                <a:r>
                  <a:rPr lang="en-US" dirty="0"/>
                  <a:t>then</a:t>
                </a:r>
              </a:p>
              <a:p>
                <a:pPr marL="0" indent="0">
                  <a:buNone/>
                </a:pPr>
                <a14:m>
                  <m:oMathPara xmlns:m="http://schemas.openxmlformats.org/officeDocument/2006/math">
                    <m:oMathParaPr>
                      <m:jc m:val="centerGroup"/>
                    </m:oMathParaPr>
                    <m:oMath xmlns:m="http://schemas.openxmlformats.org/officeDocument/2006/math">
                      <m:sSubSup>
                        <m:sSubSupPr>
                          <m:ctrlPr>
                            <a:rPr lang="en-US" i="1">
                              <a:latin typeface="Cambria Math" panose="02040503050406030204" pitchFamily="18" charset="0"/>
                            </a:rPr>
                          </m:ctrlPr>
                        </m:sSubSupPr>
                        <m:e>
                          <m:r>
                            <m:rPr>
                              <m:sty m:val="p"/>
                            </m:rPr>
                            <a:rPr lang="en-US">
                              <a:latin typeface="Cambria Math" panose="02040503050406030204" pitchFamily="18" charset="0"/>
                            </a:rPr>
                            <m:t>Σ</m:t>
                          </m:r>
                        </m:e>
                        <m:sub>
                          <m:r>
                            <a:rPr lang="en-US" i="1">
                              <a:latin typeface="Cambria Math" panose="02040503050406030204" pitchFamily="18" charset="0"/>
                            </a:rPr>
                            <m:t>𝑦</m:t>
                          </m:r>
                        </m:sub>
                        <m:sup>
                          <m:r>
                            <a:rPr lang="en-US" i="1">
                              <a:latin typeface="Cambria Math" panose="02040503050406030204" pitchFamily="18" charset="0"/>
                            </a:rPr>
                            <m:t>−</m:t>
                          </m:r>
                          <m:r>
                            <a:rPr lang="en-US">
                              <a:latin typeface="Cambria Math" panose="02040503050406030204" pitchFamily="18" charset="0"/>
                            </a:rPr>
                            <m:t>1/2</m:t>
                          </m:r>
                        </m:sup>
                      </m:sSubSup>
                      <m:r>
                        <a:rPr lang="en-US" i="1">
                          <a:latin typeface="Cambria Math" panose="02040503050406030204" pitchFamily="18" charset="0"/>
                        </a:rPr>
                        <m:t>𝑦</m:t>
                      </m:r>
                      <m:r>
                        <a:rPr lang="en-US">
                          <a:latin typeface="Cambria Math" panose="02040503050406030204" pitchFamily="18" charset="0"/>
                        </a:rPr>
                        <m:t>=</m:t>
                      </m:r>
                      <m:sSubSup>
                        <m:sSubSupPr>
                          <m:ctrlPr>
                            <a:rPr lang="en-US" i="1">
                              <a:latin typeface="Cambria Math" panose="02040503050406030204" pitchFamily="18" charset="0"/>
                            </a:rPr>
                          </m:ctrlPr>
                        </m:sSubSupPr>
                        <m:e>
                          <m:r>
                            <m:rPr>
                              <m:sty m:val="p"/>
                            </m:rPr>
                            <a:rPr lang="en-US">
                              <a:latin typeface="Cambria Math" panose="02040503050406030204" pitchFamily="18" charset="0"/>
                            </a:rPr>
                            <m:t>Σ</m:t>
                          </m:r>
                        </m:e>
                        <m:sub>
                          <m:r>
                            <a:rPr lang="en-US" i="1">
                              <a:latin typeface="Cambria Math" panose="02040503050406030204" pitchFamily="18" charset="0"/>
                            </a:rPr>
                            <m:t>𝑦</m:t>
                          </m:r>
                        </m:sub>
                        <m:sup>
                          <m:r>
                            <a:rPr lang="en-US" i="1">
                              <a:latin typeface="Cambria Math" panose="02040503050406030204" pitchFamily="18" charset="0"/>
                            </a:rPr>
                            <m:t>−</m:t>
                          </m:r>
                          <m:r>
                            <a:rPr lang="en-US">
                              <a:latin typeface="Cambria Math" panose="02040503050406030204" pitchFamily="18" charset="0"/>
                            </a:rPr>
                            <m:t>1/2</m:t>
                          </m:r>
                        </m:sup>
                      </m:sSubSup>
                      <m:r>
                        <a:rPr lang="en-US" i="1">
                          <a:latin typeface="Cambria Math" panose="02040503050406030204" pitchFamily="18" charset="0"/>
                        </a:rPr>
                        <m:t>𝑋</m:t>
                      </m:r>
                      <m:r>
                        <a:rPr lang="en-US" i="1">
                          <a:latin typeface="Cambria Math" panose="02040503050406030204" pitchFamily="18" charset="0"/>
                        </a:rPr>
                        <m:t>𝛽</m:t>
                      </m:r>
                      <m:r>
                        <a:rPr lang="en-US">
                          <a:latin typeface="Cambria Math" panose="02040503050406030204" pitchFamily="18" charset="0"/>
                        </a:rPr>
                        <m:t>+</m:t>
                      </m:r>
                      <m:sSubSup>
                        <m:sSubSupPr>
                          <m:ctrlPr>
                            <a:rPr lang="en-US" i="1">
                              <a:latin typeface="Cambria Math" panose="02040503050406030204" pitchFamily="18" charset="0"/>
                            </a:rPr>
                          </m:ctrlPr>
                        </m:sSubSupPr>
                        <m:e>
                          <m:r>
                            <m:rPr>
                              <m:sty m:val="p"/>
                            </m:rPr>
                            <a:rPr lang="en-US">
                              <a:latin typeface="Cambria Math" panose="02040503050406030204" pitchFamily="18" charset="0"/>
                            </a:rPr>
                            <m:t>Σ</m:t>
                          </m:r>
                        </m:e>
                        <m:sub>
                          <m:r>
                            <a:rPr lang="en-US" i="1">
                              <a:latin typeface="Cambria Math" panose="02040503050406030204" pitchFamily="18" charset="0"/>
                            </a:rPr>
                            <m:t>𝑦</m:t>
                          </m:r>
                        </m:sub>
                        <m:sup>
                          <m:r>
                            <a:rPr lang="en-US" i="1">
                              <a:latin typeface="Cambria Math" panose="02040503050406030204" pitchFamily="18" charset="0"/>
                            </a:rPr>
                            <m:t>−</m:t>
                          </m:r>
                          <m:r>
                            <a:rPr lang="en-US">
                              <a:latin typeface="Cambria Math" panose="02040503050406030204" pitchFamily="18" charset="0"/>
                            </a:rPr>
                            <m:t>1/2</m:t>
                          </m:r>
                        </m:sup>
                      </m:sSubSup>
                      <m:r>
                        <a:rPr lang="en-US" i="1">
                          <a:latin typeface="Cambria Math" panose="02040503050406030204" pitchFamily="18" charset="0"/>
                        </a:rPr>
                        <m:t>𝑒</m:t>
                      </m:r>
                      <m:r>
                        <a:rPr lang="en-US">
                          <a:latin typeface="Cambria Math" panose="02040503050406030204" pitchFamily="18" charset="0"/>
                        </a:rPr>
                        <m:t>,</m:t>
                      </m:r>
                      <m:box>
                        <m:boxPr>
                          <m:ctrlPr>
                            <a:rPr lang="en-US" i="1">
                              <a:latin typeface="Cambria Math" panose="02040503050406030204" pitchFamily="18" charset="0"/>
                            </a:rPr>
                          </m:ctrlPr>
                        </m:boxPr>
                        <m:e>
                          <m:r>
                            <a:rPr lang="en-US">
                              <a:latin typeface="Cambria Math" panose="02040503050406030204" pitchFamily="18" charset="0"/>
                            </a:rPr>
                            <m:t> </m:t>
                          </m:r>
                        </m:e>
                      </m:box>
                      <m:sSubSup>
                        <m:sSubSupPr>
                          <m:ctrlPr>
                            <a:rPr lang="en-US" i="1">
                              <a:latin typeface="Cambria Math" panose="02040503050406030204" pitchFamily="18" charset="0"/>
                            </a:rPr>
                          </m:ctrlPr>
                        </m:sSubSupPr>
                        <m:e>
                          <m:r>
                            <m:rPr>
                              <m:sty m:val="p"/>
                            </m:rPr>
                            <a:rPr lang="en-US">
                              <a:latin typeface="Cambria Math" panose="02040503050406030204" pitchFamily="18" charset="0"/>
                            </a:rPr>
                            <m:t>Σ</m:t>
                          </m:r>
                        </m:e>
                        <m:sub>
                          <m:r>
                            <a:rPr lang="en-US" i="1">
                              <a:latin typeface="Cambria Math" panose="02040503050406030204" pitchFamily="18" charset="0"/>
                            </a:rPr>
                            <m:t>𝑦</m:t>
                          </m:r>
                        </m:sub>
                        <m:sup>
                          <m:r>
                            <a:rPr lang="en-US" i="1">
                              <a:latin typeface="Cambria Math" panose="02040503050406030204" pitchFamily="18" charset="0"/>
                            </a:rPr>
                            <m:t>−</m:t>
                          </m:r>
                          <m:r>
                            <a:rPr lang="en-US">
                              <a:latin typeface="Cambria Math" panose="02040503050406030204" pitchFamily="18" charset="0"/>
                            </a:rPr>
                            <m:t>1/2</m:t>
                          </m:r>
                        </m:sup>
                      </m:sSubSup>
                      <m:r>
                        <a:rPr lang="en-US" i="1">
                          <a:latin typeface="Cambria Math" panose="02040503050406030204" pitchFamily="18" charset="0"/>
                        </a:rPr>
                        <m:t>𝑒</m:t>
                      </m:r>
                      <m:r>
                        <a:rPr lang="en-US">
                          <a:latin typeface="Cambria Math" panose="02040503050406030204" pitchFamily="18" charset="0"/>
                        </a:rPr>
                        <m:t>∼</m:t>
                      </m:r>
                      <m:r>
                        <a:rPr lang="en-US" i="1">
                          <a:latin typeface="Cambria Math" panose="02040503050406030204" pitchFamily="18" charset="0"/>
                        </a:rPr>
                        <m:t>𝑁</m:t>
                      </m:r>
                      <m:r>
                        <a:rPr lang="en-US">
                          <a:latin typeface="Cambria Math" panose="02040503050406030204" pitchFamily="18" charset="0"/>
                        </a:rPr>
                        <m:t>(0,</m:t>
                      </m:r>
                      <m:r>
                        <a:rPr lang="en-US" i="1">
                          <a:latin typeface="Cambria Math" panose="02040503050406030204" pitchFamily="18" charset="0"/>
                        </a:rPr>
                        <m:t>𝐼</m:t>
                      </m:r>
                      <m:r>
                        <a:rPr lang="en-US">
                          <a:latin typeface="Cambria Math" panose="02040503050406030204" pitchFamily="18" charset="0"/>
                        </a:rPr>
                        <m:t>)</m:t>
                      </m:r>
                    </m:oMath>
                  </m:oMathPara>
                </a14:m>
                <a:endParaRPr lang="en-US" dirty="0"/>
              </a:p>
              <a:p>
                <a:endParaRPr lang="en-US" dirty="0"/>
              </a:p>
            </p:txBody>
          </p:sp>
        </mc:Choice>
        <mc:Fallback xmlns="">
          <p:sp>
            <p:nvSpPr>
              <p:cNvPr id="3" name="Content Placeholder 2">
                <a:extLst>
                  <a:ext uri="{FF2B5EF4-FFF2-40B4-BE49-F238E27FC236}">
                    <a16:creationId xmlns:a16="http://schemas.microsoft.com/office/drawing/2014/main" id="{B3E7CE42-F32D-6555-1BFE-576A0A9A8E2D}"/>
                  </a:ext>
                </a:extLst>
              </p:cNvPr>
              <p:cNvSpPr>
                <a:spLocks noGrp="1" noRot="1" noChangeAspect="1" noMove="1" noResize="1" noEditPoints="1" noAdjustHandles="1" noChangeArrowheads="1" noChangeShapeType="1" noTextEdit="1"/>
              </p:cNvSpPr>
              <p:nvPr>
                <p:ph idx="1"/>
              </p:nvPr>
            </p:nvSpPr>
            <p:spPr>
              <a:blipFill>
                <a:blip r:embed="rId3"/>
                <a:stretch>
                  <a:fillRect l="-1341" t="-1657"/>
                </a:stretch>
              </a:blipFill>
            </p:spPr>
            <p:txBody>
              <a:bodyPr/>
              <a:lstStyle/>
              <a:p>
                <a:r>
                  <a:rPr lang="en-US">
                    <a:noFill/>
                  </a:rPr>
                  <a:t> </a:t>
                </a:r>
              </a:p>
            </p:txBody>
          </p:sp>
        </mc:Fallback>
      </mc:AlternateContent>
    </p:spTree>
    <p:extLst>
      <p:ext uri="{BB962C8B-B14F-4D97-AF65-F5344CB8AC3E}">
        <p14:creationId xmlns:p14="http://schemas.microsoft.com/office/powerpoint/2010/main" val="682565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323A3-98A0-B0AA-FC9B-2EB71882CE9F}"/>
              </a:ext>
            </a:extLst>
          </p:cNvPr>
          <p:cNvSpPr>
            <a:spLocks noGrp="1"/>
          </p:cNvSpPr>
          <p:nvPr>
            <p:ph type="title"/>
          </p:nvPr>
        </p:nvSpPr>
        <p:spPr/>
        <p:txBody>
          <a:bodyPr/>
          <a:lstStyle/>
          <a:p>
            <a:r>
              <a:rPr lang="en-US" dirty="0"/>
              <a:t>Regression with Unequal Known Variances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77A7165-E20D-9762-F6A3-ADD558E76994}"/>
                  </a:ext>
                </a:extLst>
              </p:cNvPr>
              <p:cNvSpPr>
                <a:spLocks noGrp="1"/>
              </p:cNvSpPr>
              <p:nvPr>
                <p:ph idx="1"/>
              </p:nvPr>
            </p:nvSpPr>
            <p:spPr/>
            <p:txBody>
              <a:bodyPr/>
              <a:lstStyle/>
              <a:p>
                <a:r>
                  <a:rPr lang="en-US" dirty="0"/>
                  <a:t>With </a:t>
                </a:r>
                <a14:m>
                  <m:oMath xmlns:m="http://schemas.openxmlformats.org/officeDocument/2006/math">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𝑦</m:t>
                        </m:r>
                      </m:sub>
                    </m:sSub>
                  </m:oMath>
                </a14:m>
                <a:r>
                  <a:rPr lang="en-US" dirty="0"/>
                  <a:t> known, just proceed as in ordinary linear regression, but use the transformed </a:t>
                </a:r>
                <a14:m>
                  <m:oMath xmlns:m="http://schemas.openxmlformats.org/officeDocument/2006/math">
                    <m:r>
                      <a:rPr lang="en-US" i="1" dirty="0" smtClean="0">
                        <a:latin typeface="Cambria Math" panose="02040503050406030204" pitchFamily="18" charset="0"/>
                      </a:rPr>
                      <m:t>𝑦</m:t>
                    </m:r>
                  </m:oMath>
                </a14:m>
                <a:r>
                  <a:rPr lang="en-US" dirty="0"/>
                  <a:t> and </a:t>
                </a:r>
                <a14:m>
                  <m:oMath xmlns:m="http://schemas.openxmlformats.org/officeDocument/2006/math">
                    <m:r>
                      <a:rPr lang="en-US" i="1" dirty="0" smtClean="0">
                        <a:latin typeface="Cambria Math" panose="02040503050406030204" pitchFamily="18" charset="0"/>
                      </a:rPr>
                      <m:t>𝑋</m:t>
                    </m:r>
                  </m:oMath>
                </a14:m>
                <a:r>
                  <a:rPr lang="en-US" dirty="0"/>
                  <a:t> as above and fix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=1</m:t>
                    </m:r>
                  </m:oMath>
                </a14:m>
                <a:r>
                  <a:rPr lang="en-US" dirty="0"/>
                  <a:t>. Algebraically, this is equivalent to computing</a:t>
                </a:r>
              </a:p>
              <a:p>
                <a:pPr marL="0" indent="0">
                  <a:buNone/>
                </a:pPr>
                <a14:m>
                  <m:oMathPara xmlns:m="http://schemas.openxmlformats.org/officeDocument/2006/math">
                    <m:oMathParaPr>
                      <m:jc m:val="centerGroup"/>
                    </m:oMathParaPr>
                    <m:oMath xmlns:m="http://schemas.openxmlformats.org/officeDocument/2006/math">
                      <m:acc>
                        <m:accPr>
                          <m:chr m:val="ˆ"/>
                          <m:ctrlPr>
                            <a:rPr lang="en-US" i="1">
                              <a:latin typeface="Cambria Math" panose="02040503050406030204" pitchFamily="18" charset="0"/>
                            </a:rPr>
                          </m:ctrlPr>
                        </m:accPr>
                        <m:e>
                          <m:r>
                            <a:rPr lang="en-US" i="1">
                              <a:latin typeface="Cambria Math" panose="02040503050406030204" pitchFamily="18" charset="0"/>
                            </a:rPr>
                            <m:t>𝛽</m:t>
                          </m:r>
                        </m:e>
                      </m:acc>
                      <m:r>
                        <a:rPr lang="en-US">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𝑋</m:t>
                                  </m:r>
                                </m:e>
                                <m:sup>
                                  <m:r>
                                    <a:rPr lang="en-US" b="0" i="1" smtClean="0">
                                      <a:latin typeface="Cambria Math" panose="02040503050406030204" pitchFamily="18" charset="0"/>
                                    </a:rPr>
                                    <m:t>𝑇</m:t>
                                  </m:r>
                                </m:sup>
                              </m:sSup>
                              <m:sSubSup>
                                <m:sSubSupPr>
                                  <m:ctrlPr>
                                    <a:rPr lang="en-US" i="1">
                                      <a:latin typeface="Cambria Math" panose="02040503050406030204" pitchFamily="18" charset="0"/>
                                    </a:rPr>
                                  </m:ctrlPr>
                                </m:sSubSupPr>
                                <m:e>
                                  <m:r>
                                    <m:rPr>
                                      <m:sty m:val="p"/>
                                    </m:rPr>
                                    <a:rPr lang="en-US">
                                      <a:latin typeface="Cambria Math" panose="02040503050406030204" pitchFamily="18" charset="0"/>
                                    </a:rPr>
                                    <m:t>Σ</m:t>
                                  </m:r>
                                </m:e>
                                <m:sub>
                                  <m:r>
                                    <a:rPr lang="en-US" i="1">
                                      <a:latin typeface="Cambria Math" panose="02040503050406030204" pitchFamily="18" charset="0"/>
                                    </a:rPr>
                                    <m:t>𝑦</m:t>
                                  </m:r>
                                </m:sub>
                                <m:sup>
                                  <m:r>
                                    <a:rPr lang="en-US" i="1">
                                      <a:latin typeface="Cambria Math" panose="02040503050406030204" pitchFamily="18" charset="0"/>
                                    </a:rPr>
                                    <m:t>−</m:t>
                                  </m:r>
                                  <m:r>
                                    <a:rPr lang="en-US">
                                      <a:latin typeface="Cambria Math" panose="02040503050406030204" pitchFamily="18" charset="0"/>
                                    </a:rPr>
                                    <m:t>1</m:t>
                                  </m:r>
                                </m:sup>
                              </m:sSubSup>
                              <m:r>
                                <a:rPr lang="en-US" i="1">
                                  <a:latin typeface="Cambria Math" panose="02040503050406030204" pitchFamily="18" charset="0"/>
                                </a:rPr>
                                <m:t>𝑋</m:t>
                              </m:r>
                            </m:e>
                          </m:d>
                        </m:e>
                        <m:sup>
                          <m:r>
                            <a:rPr lang="en-US" i="1">
                              <a:latin typeface="Cambria Math" panose="02040503050406030204" pitchFamily="18" charset="0"/>
                            </a:rPr>
                            <m:t>−</m:t>
                          </m:r>
                          <m:r>
                            <a:rPr lang="en-US">
                              <a:latin typeface="Cambria Math" panose="02040503050406030204" pitchFamily="18" charset="0"/>
                            </a:rPr>
                            <m:t>1</m:t>
                          </m:r>
                        </m:sup>
                      </m:sSup>
                      <m:r>
                        <a:rPr lang="en-US" i="1">
                          <a:latin typeface="Cambria Math" panose="02040503050406030204" pitchFamily="18" charset="0"/>
                        </a:rPr>
                        <m:t>𝑋</m:t>
                      </m:r>
                      <m:sSubSup>
                        <m:sSubSupPr>
                          <m:ctrlPr>
                            <a:rPr lang="en-US" i="1">
                              <a:latin typeface="Cambria Math" panose="02040503050406030204" pitchFamily="18" charset="0"/>
                            </a:rPr>
                          </m:ctrlPr>
                        </m:sSubSupPr>
                        <m:e>
                          <m:r>
                            <m:rPr>
                              <m:sty m:val="p"/>
                            </m:rPr>
                            <a:rPr lang="en-US">
                              <a:latin typeface="Cambria Math" panose="02040503050406030204" pitchFamily="18" charset="0"/>
                            </a:rPr>
                            <m:t>Σ</m:t>
                          </m:r>
                        </m:e>
                        <m:sub>
                          <m:r>
                            <a:rPr lang="en-US" i="1">
                              <a:latin typeface="Cambria Math" panose="02040503050406030204" pitchFamily="18" charset="0"/>
                            </a:rPr>
                            <m:t>𝑦</m:t>
                          </m:r>
                        </m:sub>
                        <m:sup>
                          <m:r>
                            <a:rPr lang="en-US" i="1">
                              <a:latin typeface="Cambria Math" panose="02040503050406030204" pitchFamily="18" charset="0"/>
                            </a:rPr>
                            <m:t>−</m:t>
                          </m:r>
                          <m:r>
                            <a:rPr lang="en-US">
                              <a:latin typeface="Cambria Math" panose="02040503050406030204" pitchFamily="18" charset="0"/>
                            </a:rPr>
                            <m:t>1</m:t>
                          </m:r>
                        </m:sup>
                      </m:sSubSup>
                      <m:r>
                        <a:rPr lang="en-US" i="1">
                          <a:latin typeface="Cambria Math" panose="02040503050406030204" pitchFamily="18" charset="0"/>
                        </a:rPr>
                        <m:t>𝑦</m:t>
                      </m:r>
                    </m:oMath>
                  </m:oMathPara>
                </a14:m>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𝛽</m:t>
                          </m:r>
                        </m:sub>
                      </m:sSub>
                      <m:r>
                        <a:rPr lang="en-US">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𝑋</m:t>
                                  </m:r>
                                </m:e>
                                <m:sup>
                                  <m:r>
                                    <a:rPr lang="en-US" i="1">
                                      <a:latin typeface="Cambria Math" panose="02040503050406030204" pitchFamily="18" charset="0"/>
                                    </a:rPr>
                                    <m:t>′</m:t>
                                  </m:r>
                                </m:sup>
                              </m:sSup>
                              <m:sSubSup>
                                <m:sSubSupPr>
                                  <m:ctrlPr>
                                    <a:rPr lang="en-US" i="1">
                                      <a:latin typeface="Cambria Math" panose="02040503050406030204" pitchFamily="18" charset="0"/>
                                    </a:rPr>
                                  </m:ctrlPr>
                                </m:sSubSupPr>
                                <m:e>
                                  <m:r>
                                    <m:rPr>
                                      <m:sty m:val="p"/>
                                    </m:rPr>
                                    <a:rPr lang="en-US">
                                      <a:latin typeface="Cambria Math" panose="02040503050406030204" pitchFamily="18" charset="0"/>
                                    </a:rPr>
                                    <m:t>Σ</m:t>
                                  </m:r>
                                </m:e>
                                <m:sub>
                                  <m:r>
                                    <a:rPr lang="en-US" i="1">
                                      <a:latin typeface="Cambria Math" panose="02040503050406030204" pitchFamily="18" charset="0"/>
                                    </a:rPr>
                                    <m:t>𝑦</m:t>
                                  </m:r>
                                </m:sub>
                                <m:sup>
                                  <m:r>
                                    <a:rPr lang="en-US" i="1">
                                      <a:latin typeface="Cambria Math" panose="02040503050406030204" pitchFamily="18" charset="0"/>
                                    </a:rPr>
                                    <m:t>−</m:t>
                                  </m:r>
                                  <m:r>
                                    <a:rPr lang="en-US">
                                      <a:latin typeface="Cambria Math" panose="02040503050406030204" pitchFamily="18" charset="0"/>
                                    </a:rPr>
                                    <m:t>1</m:t>
                                  </m:r>
                                </m:sup>
                              </m:sSubSup>
                              <m:r>
                                <a:rPr lang="en-US" i="1">
                                  <a:latin typeface="Cambria Math" panose="02040503050406030204" pitchFamily="18" charset="0"/>
                                </a:rPr>
                                <m:t>𝑋</m:t>
                              </m:r>
                            </m:e>
                          </m:d>
                        </m:e>
                        <m:sup>
                          <m:r>
                            <a:rPr lang="en-US" i="1">
                              <a:latin typeface="Cambria Math" panose="02040503050406030204" pitchFamily="18" charset="0"/>
                            </a:rPr>
                            <m:t>−</m:t>
                          </m:r>
                          <m:r>
                            <a:rPr lang="en-US">
                              <a:latin typeface="Cambria Math" panose="02040503050406030204" pitchFamily="18" charset="0"/>
                            </a:rPr>
                            <m:t>1</m:t>
                          </m:r>
                        </m:sup>
                      </m:sSup>
                    </m:oMath>
                  </m:oMathPara>
                </a14:m>
                <a:endParaRPr lang="en-US" dirty="0"/>
              </a:p>
              <a:p>
                <a:r>
                  <a:rPr lang="en-US" dirty="0"/>
                  <a:t>Note: By using the Cholesky factor you avoid computing the </a:t>
                </a:r>
                <a14:m>
                  <m:oMath xmlns:m="http://schemas.openxmlformats.org/officeDocument/2006/math">
                    <m:r>
                      <a:rPr lang="en-US" i="1">
                        <a:latin typeface="Cambria Math" panose="02040503050406030204" pitchFamily="18" charset="0"/>
                      </a:rPr>
                      <m:t>𝑛</m:t>
                    </m:r>
                    <m:r>
                      <a:rPr lang="en-US">
                        <a:latin typeface="Cambria Math" panose="02040503050406030204" pitchFamily="18" charset="0"/>
                      </a:rPr>
                      <m:t>×</m:t>
                    </m:r>
                    <m:r>
                      <a:rPr lang="en-US" i="1">
                        <a:latin typeface="Cambria Math" panose="02040503050406030204" pitchFamily="18" charset="0"/>
                      </a:rPr>
                      <m:t>𝑛</m:t>
                    </m:r>
                  </m:oMath>
                </a14:m>
                <a:r>
                  <a:rPr lang="en-US" dirty="0"/>
                  <a:t> inverse </a:t>
                </a:r>
                <a14:m>
                  <m:oMath xmlns:m="http://schemas.openxmlformats.org/officeDocument/2006/math">
                    <m:sSubSup>
                      <m:sSubSupPr>
                        <m:ctrlPr>
                          <a:rPr lang="en-US" i="1">
                            <a:latin typeface="Cambria Math" panose="02040503050406030204" pitchFamily="18" charset="0"/>
                          </a:rPr>
                        </m:ctrlPr>
                      </m:sSubSupPr>
                      <m:e>
                        <m:r>
                          <m:rPr>
                            <m:sty m:val="p"/>
                          </m:rPr>
                          <a:rPr lang="en-US">
                            <a:latin typeface="Cambria Math" panose="02040503050406030204" pitchFamily="18" charset="0"/>
                          </a:rPr>
                          <m:t>Σ</m:t>
                        </m:r>
                      </m:e>
                      <m:sub>
                        <m:r>
                          <a:rPr lang="en-US" i="1">
                            <a:latin typeface="Cambria Math" panose="02040503050406030204" pitchFamily="18" charset="0"/>
                          </a:rPr>
                          <m:t>𝑦</m:t>
                        </m:r>
                      </m:sub>
                      <m:sup>
                        <m:r>
                          <a:rPr lang="en-US" i="1">
                            <a:latin typeface="Cambria Math" panose="02040503050406030204" pitchFamily="18" charset="0"/>
                          </a:rPr>
                          <m:t>−</m:t>
                        </m:r>
                        <m:r>
                          <a:rPr lang="en-US">
                            <a:latin typeface="Cambria Math" panose="02040503050406030204" pitchFamily="18" charset="0"/>
                          </a:rPr>
                          <m:t>1</m:t>
                        </m:r>
                      </m:sup>
                    </m:sSubSup>
                  </m:oMath>
                </a14:m>
                <a:r>
                  <a:rPr lang="en-US" dirty="0"/>
                  <a:t> in the classic way.</a:t>
                </a:r>
              </a:p>
            </p:txBody>
          </p:sp>
        </mc:Choice>
        <mc:Fallback xmlns="">
          <p:sp>
            <p:nvSpPr>
              <p:cNvPr id="3" name="Content Placeholder 2">
                <a:extLst>
                  <a:ext uri="{FF2B5EF4-FFF2-40B4-BE49-F238E27FC236}">
                    <a16:creationId xmlns:a16="http://schemas.microsoft.com/office/drawing/2014/main" id="{E77A7165-E20D-9762-F6A3-ADD558E76994}"/>
                  </a:ext>
                </a:extLst>
              </p:cNvPr>
              <p:cNvSpPr>
                <a:spLocks noGrp="1" noRot="1" noChangeAspect="1" noMove="1" noResize="1" noEditPoints="1" noAdjustHandles="1" noChangeArrowheads="1" noChangeShapeType="1" noTextEdit="1"/>
              </p:cNvSpPr>
              <p:nvPr>
                <p:ph idx="1"/>
              </p:nvPr>
            </p:nvSpPr>
            <p:spPr>
              <a:blipFill>
                <a:blip r:embed="rId3"/>
                <a:stretch>
                  <a:fillRect l="-1104" t="-1842" r="-1893"/>
                </a:stretch>
              </a:blipFill>
            </p:spPr>
            <p:txBody>
              <a:bodyPr/>
              <a:lstStyle/>
              <a:p>
                <a:r>
                  <a:rPr lang="en-US">
                    <a:noFill/>
                  </a:rPr>
                  <a:t> </a:t>
                </a:r>
              </a:p>
            </p:txBody>
          </p:sp>
        </mc:Fallback>
      </mc:AlternateContent>
    </p:spTree>
    <p:extLst>
      <p:ext uri="{BB962C8B-B14F-4D97-AF65-F5344CB8AC3E}">
        <p14:creationId xmlns:p14="http://schemas.microsoft.com/office/powerpoint/2010/main" val="3259822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82DB4-26FE-414F-067F-76107BBF5A52}"/>
              </a:ext>
            </a:extLst>
          </p:cNvPr>
          <p:cNvSpPr>
            <a:spLocks noGrp="1"/>
          </p:cNvSpPr>
          <p:nvPr>
            <p:ph type="title"/>
          </p:nvPr>
        </p:nvSpPr>
        <p:spPr/>
        <p:txBody>
          <a:bodyPr/>
          <a:lstStyle/>
          <a:p>
            <a:r>
              <a:rPr lang="en-US" dirty="0"/>
              <a:t>Prediction with Unequal Known Variances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8689CCB-07DE-C589-0901-D9FAA5418AD2}"/>
                  </a:ext>
                </a:extLst>
              </p:cNvPr>
              <p:cNvSpPr>
                <a:spLocks noGrp="1"/>
              </p:cNvSpPr>
              <p:nvPr>
                <p:ph idx="1"/>
              </p:nvPr>
            </p:nvSpPr>
            <p:spPr/>
            <p:txBody>
              <a:bodyPr/>
              <a:lstStyle/>
              <a:p>
                <a:r>
                  <a:rPr lang="en-US" dirty="0"/>
                  <a:t>Even if we know </a:t>
                </a:r>
                <a14:m>
                  <m:oMath xmlns:m="http://schemas.openxmlformats.org/officeDocument/2006/math">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𝑦</m:t>
                        </m:r>
                      </m:sub>
                    </m:sSub>
                  </m:oMath>
                </a14:m>
                <a:r>
                  <a:rPr lang="en-US" dirty="0"/>
                  <a:t>, prediction of new observations is more complicated because we must specify the joint variance matrix for the old and new data.</a:t>
                </a:r>
              </a:p>
              <a:p>
                <a:pPr marL="0" indent="0">
                  <a:buNone/>
                </a:pPr>
                <a14:m>
                  <m:oMathPara xmlns:m="http://schemas.openxmlformats.org/officeDocument/2006/math">
                    <m:oMathParaPr>
                      <m:jc m:val="centerGroup"/>
                    </m:oMathParaPr>
                    <m:oMath xmlns:m="http://schemas.openxmlformats.org/officeDocument/2006/math">
                      <m:d>
                        <m:dPr>
                          <m:begChr m:val="["/>
                          <m:endChr m:val="]"/>
                          <m:ctrlPr>
                            <a:rPr lang="en-US" i="1">
                              <a:latin typeface="Cambria Math" panose="02040503050406030204" pitchFamily="18" charset="0"/>
                            </a:rPr>
                          </m:ctrlPr>
                        </m:dPr>
                        <m:e>
                          <m:m>
                            <m:mPr>
                              <m:plcHide m:val="on"/>
                              <m:mcs>
                                <m:mc>
                                  <m:mcPr>
                                    <m:count m:val="2"/>
                                    <m:mcJc m:val="center"/>
                                  </m:mcPr>
                                </m:mc>
                              </m:mcs>
                              <m:ctrlPr>
                                <a:rPr lang="en-US" i="1">
                                  <a:latin typeface="Cambria Math" panose="02040503050406030204" pitchFamily="18" charset="0"/>
                                </a:rPr>
                              </m:ctrlPr>
                            </m:mPr>
                            <m:mr>
                              <m:e>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𝑦</m:t>
                                    </m:r>
                                  </m:sub>
                                </m:sSub>
                              </m:e>
                              <m:e>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𝑦</m:t>
                                    </m:r>
                                    <m:acc>
                                      <m:accPr>
                                        <m:chr m:val="˜"/>
                                        <m:ctrlPr>
                                          <a:rPr lang="en-US" i="1">
                                            <a:latin typeface="Cambria Math" panose="02040503050406030204" pitchFamily="18" charset="0"/>
                                          </a:rPr>
                                        </m:ctrlPr>
                                      </m:accPr>
                                      <m:e>
                                        <m:r>
                                          <a:rPr lang="en-US" b="0" i="1" smtClean="0">
                                            <a:latin typeface="Cambria Math" panose="02040503050406030204" pitchFamily="18" charset="0"/>
                                          </a:rPr>
                                          <m:t>,</m:t>
                                        </m:r>
                                        <m:r>
                                          <a:rPr lang="en-US" i="1">
                                            <a:latin typeface="Cambria Math" panose="02040503050406030204" pitchFamily="18" charset="0"/>
                                          </a:rPr>
                                          <m:t>𝑦</m:t>
                                        </m:r>
                                      </m:e>
                                    </m:acc>
                                  </m:sub>
                                </m:sSub>
                              </m:e>
                            </m:mr>
                            <m:mr>
                              <m:e>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acc>
                                      <m:accPr>
                                        <m:chr m:val="˜"/>
                                        <m:ctrlPr>
                                          <a:rPr lang="en-US" i="1">
                                            <a:latin typeface="Cambria Math" panose="02040503050406030204" pitchFamily="18" charset="0"/>
                                          </a:rPr>
                                        </m:ctrlPr>
                                      </m:accPr>
                                      <m:e>
                                        <m:r>
                                          <a:rPr lang="en-US" i="1">
                                            <a:latin typeface="Cambria Math" panose="02040503050406030204" pitchFamily="18" charset="0"/>
                                          </a:rPr>
                                          <m:t>𝑦</m:t>
                                        </m:r>
                                        <m:r>
                                          <a:rPr lang="en-US" b="0" i="1" smtClean="0">
                                            <a:latin typeface="Cambria Math" panose="02040503050406030204" pitchFamily="18" charset="0"/>
                                          </a:rPr>
                                          <m:t>,</m:t>
                                        </m:r>
                                      </m:e>
                                    </m:acc>
                                    <m:r>
                                      <a:rPr lang="en-US" i="1">
                                        <a:latin typeface="Cambria Math" panose="02040503050406030204" pitchFamily="18" charset="0"/>
                                      </a:rPr>
                                      <m:t>𝑦</m:t>
                                    </m:r>
                                  </m:sub>
                                </m:sSub>
                              </m:e>
                              <m:e>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acc>
                                      <m:accPr>
                                        <m:chr m:val="˜"/>
                                        <m:ctrlPr>
                                          <a:rPr lang="en-US" i="1">
                                            <a:latin typeface="Cambria Math" panose="02040503050406030204" pitchFamily="18" charset="0"/>
                                          </a:rPr>
                                        </m:ctrlPr>
                                      </m:accPr>
                                      <m:e>
                                        <m:r>
                                          <a:rPr lang="en-US" i="1">
                                            <a:latin typeface="Cambria Math" panose="02040503050406030204" pitchFamily="18" charset="0"/>
                                          </a:rPr>
                                          <m:t>𝑦</m:t>
                                        </m:r>
                                      </m:e>
                                    </m:acc>
                                  </m:sub>
                                </m:sSub>
                              </m:e>
                            </m:mr>
                          </m:m>
                        </m:e>
                      </m:d>
                    </m:oMath>
                  </m:oMathPara>
                </a14:m>
                <a:endParaRPr lang="en-US" dirty="0"/>
              </a:p>
              <a:p>
                <a:r>
                  <a:rPr lang="en-US" u="sng" dirty="0"/>
                  <a:t>Example</a:t>
                </a:r>
                <a:r>
                  <a:rPr lang="en-US" dirty="0"/>
                  <a:t>: Suppose we wish to model the heights of children. If we wish to predict height of a new child when a sibling is in the old data set, we must include that correlation in the prediction.</a:t>
                </a:r>
              </a:p>
              <a:p>
                <a:r>
                  <a:rPr lang="en-US" dirty="0"/>
                  <a:t>Let </a:t>
                </a:r>
                <a14:m>
                  <m:oMath xmlns:m="http://schemas.openxmlformats.org/officeDocument/2006/math">
                    <m:acc>
                      <m:accPr>
                        <m:chr m:val="̃"/>
                        <m:ctrlPr>
                          <a:rPr lang="en-US" i="1" dirty="0" smtClean="0">
                            <a:latin typeface="Cambria Math" panose="02040503050406030204" pitchFamily="18" charset="0"/>
                          </a:rPr>
                        </m:ctrlPr>
                      </m:accPr>
                      <m:e>
                        <m:r>
                          <a:rPr lang="en-US" i="1" dirty="0">
                            <a:latin typeface="Cambria Math" panose="02040503050406030204" pitchFamily="18" charset="0"/>
                          </a:rPr>
                          <m:t>𝑦</m:t>
                        </m:r>
                      </m:e>
                    </m:acc>
                  </m:oMath>
                </a14:m>
                <a:r>
                  <a:rPr lang="en-US" dirty="0"/>
                  <a:t> are </a:t>
                </a:r>
                <a14:m>
                  <m:oMath xmlns:m="http://schemas.openxmlformats.org/officeDocument/2006/math">
                    <m:acc>
                      <m:accPr>
                        <m:chr m:val="̃"/>
                        <m:ctrlPr>
                          <a:rPr lang="en-US" i="1" dirty="0" smtClean="0">
                            <a:latin typeface="Cambria Math" panose="02040503050406030204" pitchFamily="18" charset="0"/>
                          </a:rPr>
                        </m:ctrlPr>
                      </m:accPr>
                      <m:e>
                        <m:r>
                          <a:rPr lang="en-US" i="1" dirty="0">
                            <a:latin typeface="Cambria Math" panose="02040503050406030204" pitchFamily="18" charset="0"/>
                          </a:rPr>
                          <m:t>𝑛</m:t>
                        </m:r>
                      </m:e>
                    </m:acc>
                  </m:oMath>
                </a14:m>
                <a:r>
                  <a:rPr lang="en-US" dirty="0"/>
                  <a:t> new observations given a </a:t>
                </a:r>
                <a14:m>
                  <m:oMath xmlns:m="http://schemas.openxmlformats.org/officeDocument/2006/math">
                    <m:acc>
                      <m:accPr>
                        <m:chr m:val="̃"/>
                        <m:ctrlPr>
                          <a:rPr lang="en-US" i="1" dirty="0">
                            <a:latin typeface="Cambria Math" panose="02040503050406030204" pitchFamily="18" charset="0"/>
                          </a:rPr>
                        </m:ctrlPr>
                      </m:accPr>
                      <m:e>
                        <m:r>
                          <a:rPr lang="en-US" i="1" dirty="0">
                            <a:latin typeface="Cambria Math" panose="02040503050406030204" pitchFamily="18" charset="0"/>
                          </a:rPr>
                          <m:t>𝑛</m:t>
                        </m:r>
                      </m:e>
                    </m:acc>
                    <m:r>
                      <a:rPr lang="en-US" i="1" dirty="0" smtClean="0">
                        <a:latin typeface="Cambria Math" panose="02040503050406030204" pitchFamily="18" charset="0"/>
                      </a:rPr>
                      <m:t>×</m:t>
                    </m:r>
                    <m:r>
                      <a:rPr lang="en-US" i="1" dirty="0" smtClean="0">
                        <a:latin typeface="Cambria Math" panose="02040503050406030204" pitchFamily="18" charset="0"/>
                      </a:rPr>
                      <m:t>𝑘</m:t>
                    </m:r>
                  </m:oMath>
                </a14:m>
                <a:r>
                  <a:rPr lang="en-US" dirty="0"/>
                  <a:t> matrix of regressors </a:t>
                </a:r>
                <a14:m>
                  <m:oMath xmlns:m="http://schemas.openxmlformats.org/officeDocument/2006/math">
                    <m:r>
                      <a:rPr lang="en-US" i="1" dirty="0" smtClean="0">
                        <a:latin typeface="Cambria Math" panose="02040503050406030204" pitchFamily="18" charset="0"/>
                      </a:rPr>
                      <m:t>𝑋</m:t>
                    </m:r>
                  </m:oMath>
                </a14:m>
                <a:r>
                  <a:rPr lang="en-US" dirty="0"/>
                  <a:t>.</a:t>
                </a:r>
              </a:p>
              <a:p>
                <a:endParaRPr lang="en-US" dirty="0"/>
              </a:p>
              <a:p>
                <a:endParaRPr lang="en-US" dirty="0"/>
              </a:p>
            </p:txBody>
          </p:sp>
        </mc:Choice>
        <mc:Fallback xmlns="">
          <p:sp>
            <p:nvSpPr>
              <p:cNvPr id="3" name="Content Placeholder 2">
                <a:extLst>
                  <a:ext uri="{FF2B5EF4-FFF2-40B4-BE49-F238E27FC236}">
                    <a16:creationId xmlns:a16="http://schemas.microsoft.com/office/drawing/2014/main" id="{78689CCB-07DE-C589-0901-D9FAA5418AD2}"/>
                  </a:ext>
                </a:extLst>
              </p:cNvPr>
              <p:cNvSpPr>
                <a:spLocks noGrp="1" noRot="1" noChangeAspect="1" noMove="1" noResize="1" noEditPoints="1" noAdjustHandles="1" noChangeArrowheads="1" noChangeShapeType="1" noTextEdit="1"/>
              </p:cNvSpPr>
              <p:nvPr>
                <p:ph idx="1"/>
              </p:nvPr>
            </p:nvSpPr>
            <p:spPr>
              <a:blipFill>
                <a:blip r:embed="rId3"/>
                <a:stretch>
                  <a:fillRect l="-1104" t="-1842" b="-921"/>
                </a:stretch>
              </a:blipFill>
            </p:spPr>
            <p:txBody>
              <a:bodyPr/>
              <a:lstStyle/>
              <a:p>
                <a:r>
                  <a:rPr lang="en-US">
                    <a:noFill/>
                  </a:rPr>
                  <a:t> </a:t>
                </a:r>
              </a:p>
            </p:txBody>
          </p:sp>
        </mc:Fallback>
      </mc:AlternateContent>
    </p:spTree>
    <p:extLst>
      <p:ext uri="{BB962C8B-B14F-4D97-AF65-F5344CB8AC3E}">
        <p14:creationId xmlns:p14="http://schemas.microsoft.com/office/powerpoint/2010/main" val="2521788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82DB4-26FE-414F-067F-76107BBF5A52}"/>
              </a:ext>
            </a:extLst>
          </p:cNvPr>
          <p:cNvSpPr>
            <a:spLocks noGrp="1"/>
          </p:cNvSpPr>
          <p:nvPr>
            <p:ph type="title"/>
          </p:nvPr>
        </p:nvSpPr>
        <p:spPr/>
        <p:txBody>
          <a:bodyPr/>
          <a:lstStyle/>
          <a:p>
            <a:r>
              <a:rPr lang="en-US" dirty="0"/>
              <a:t>Prediction with Unequal Known Variances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8689CCB-07DE-C589-0901-D9FAA5418AD2}"/>
                  </a:ext>
                </a:extLst>
              </p:cNvPr>
              <p:cNvSpPr>
                <a:spLocks noGrp="1"/>
              </p:cNvSpPr>
              <p:nvPr>
                <p:ph idx="1"/>
              </p:nvPr>
            </p:nvSpPr>
            <p:spPr/>
            <p:txBody>
              <a:bodyPr/>
              <a:lstStyle/>
              <a:p>
                <a:pPr marL="0" indent="0">
                  <a:buNone/>
                </a:pPr>
                <a:r>
                  <a:rPr lang="en-US" dirty="0"/>
                  <a:t>Joint distribution of </a:t>
                </a:r>
                <a14:m>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𝑦</m:t>
                        </m:r>
                      </m:e>
                    </m:acc>
                  </m:oMath>
                </a14:m>
                <a:r>
                  <a:rPr lang="en-US" dirty="0"/>
                  <a:t>,</a:t>
                </a:r>
                <a14:m>
                  <m:oMath xmlns:m="http://schemas.openxmlformats.org/officeDocument/2006/math">
                    <m:r>
                      <a:rPr lang="en-US" i="1" dirty="0" smtClean="0">
                        <a:latin typeface="Cambria Math" panose="02040503050406030204" pitchFamily="18" charset="0"/>
                      </a:rPr>
                      <m:t>𝑦</m:t>
                    </m:r>
                  </m:oMath>
                </a14:m>
                <a:r>
                  <a:rPr lang="en-US" dirty="0"/>
                  <a:t> is:</a:t>
                </a:r>
              </a:p>
              <a:p>
                <a:pPr marL="0" indent="0">
                  <a:buNone/>
                </a:pPr>
                <a14:m>
                  <m:oMathPara xmlns:m="http://schemas.openxmlformats.org/officeDocument/2006/math">
                    <m:oMathParaPr>
                      <m:jc m:val="centerGroup"/>
                    </m:oMathParaPr>
                    <m:oMath xmlns:m="http://schemas.openxmlformats.org/officeDocument/2006/math">
                      <m:d>
                        <m:dPr>
                          <m:begChr m:val=""/>
                          <m:endChr m:val="|"/>
                          <m:ctrlPr>
                            <a:rPr lang="en-US" i="1">
                              <a:latin typeface="Cambria Math" panose="02040503050406030204" pitchFamily="18" charset="0"/>
                            </a:rPr>
                          </m:ctrlPr>
                        </m:dPr>
                        <m:e>
                          <m:d>
                            <m:dPr>
                              <m:ctrlPr>
                                <a:rPr lang="en-US" i="1">
                                  <a:latin typeface="Cambria Math" panose="02040503050406030204" pitchFamily="18" charset="0"/>
                                </a:rPr>
                              </m:ctrlPr>
                            </m:dPr>
                            <m:e>
                              <m:f>
                                <m:fPr>
                                  <m:type m:val="noBar"/>
                                  <m:ctrlPr>
                                    <a:rPr lang="en-US" i="1">
                                      <a:latin typeface="Cambria Math" panose="02040503050406030204" pitchFamily="18" charset="0"/>
                                    </a:rPr>
                                  </m:ctrlPr>
                                </m:fPr>
                                <m:num>
                                  <m:r>
                                    <a:rPr lang="en-US" i="1">
                                      <a:latin typeface="Cambria Math" panose="02040503050406030204" pitchFamily="18" charset="0"/>
                                    </a:rPr>
                                    <m:t>𝑦</m:t>
                                  </m:r>
                                </m:num>
                                <m:den>
                                  <m:acc>
                                    <m:accPr>
                                      <m:chr m:val="˜"/>
                                      <m:ctrlPr>
                                        <a:rPr lang="en-US" i="1">
                                          <a:latin typeface="Cambria Math" panose="02040503050406030204" pitchFamily="18" charset="0"/>
                                        </a:rPr>
                                      </m:ctrlPr>
                                    </m:accPr>
                                    <m:e>
                                      <m:r>
                                        <a:rPr lang="en-US" i="1">
                                          <a:latin typeface="Cambria Math" panose="02040503050406030204" pitchFamily="18" charset="0"/>
                                        </a:rPr>
                                        <m:t>𝑦</m:t>
                                      </m:r>
                                    </m:e>
                                  </m:acc>
                                </m:den>
                              </m:f>
                            </m:e>
                          </m:d>
                        </m:e>
                      </m:d>
                      <m:box>
                        <m:boxPr>
                          <m:ctrlPr>
                            <a:rPr lang="en-US" i="1">
                              <a:latin typeface="Cambria Math" panose="02040503050406030204" pitchFamily="18" charset="0"/>
                            </a:rPr>
                          </m:ctrlPr>
                        </m:boxPr>
                        <m:e>
                          <m:r>
                            <a:rPr lang="en-US">
                              <a:latin typeface="Cambria Math" panose="02040503050406030204" pitchFamily="18" charset="0"/>
                            </a:rPr>
                            <m:t> </m:t>
                          </m:r>
                        </m:e>
                      </m:box>
                      <m:r>
                        <a:rPr lang="en-US" i="1">
                          <a:latin typeface="Cambria Math" panose="02040503050406030204" pitchFamily="18" charset="0"/>
                        </a:rPr>
                        <m:t>𝑋</m:t>
                      </m:r>
                      <m:r>
                        <a:rPr lang="en-US">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𝑋</m:t>
                          </m:r>
                        </m:e>
                      </m:acc>
                      <m:r>
                        <a:rPr lang="en-US">
                          <a:latin typeface="Cambria Math" panose="02040503050406030204" pitchFamily="18" charset="0"/>
                        </a:rPr>
                        <m:t>,</m:t>
                      </m:r>
                      <m:r>
                        <a:rPr lang="en-US" i="1">
                          <a:latin typeface="Cambria Math" panose="02040503050406030204" pitchFamily="18" charset="0"/>
                        </a:rPr>
                        <m:t>𝛽</m:t>
                      </m:r>
                      <m:r>
                        <a:rPr lang="en-US">
                          <a:latin typeface="Cambria Math" panose="02040503050406030204" pitchFamily="18" charset="0"/>
                        </a:rPr>
                        <m:t>,</m:t>
                      </m:r>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𝑦</m:t>
                          </m:r>
                        </m:sub>
                      </m:sSub>
                      <m:r>
                        <a:rPr lang="en-US">
                          <a:latin typeface="Cambria Math" panose="02040503050406030204" pitchFamily="18" charset="0"/>
                        </a:rPr>
                        <m:t>∼</m:t>
                      </m:r>
                      <m:r>
                        <a:rPr lang="en-US" i="1">
                          <a:latin typeface="Cambria Math" panose="02040503050406030204" pitchFamily="18" charset="0"/>
                        </a:rPr>
                        <m:t>𝑁</m:t>
                      </m:r>
                      <m:d>
                        <m:dPr>
                          <m:ctrlPr>
                            <a:rPr lang="en-US" i="1">
                              <a:latin typeface="Cambria Math" panose="02040503050406030204" pitchFamily="18" charset="0"/>
                            </a:rPr>
                          </m:ctrlPr>
                        </m:dPr>
                        <m:e>
                          <m:d>
                            <m:dPr>
                              <m:begChr m:val="["/>
                              <m:endChr m:val="]"/>
                              <m:ctrlPr>
                                <a:rPr lang="en-US" i="1">
                                  <a:latin typeface="Cambria Math" panose="02040503050406030204" pitchFamily="18" charset="0"/>
                                </a:rPr>
                              </m:ctrlPr>
                            </m:dPr>
                            <m:e>
                              <m:m>
                                <m:mPr>
                                  <m:plcHide m:val="on"/>
                                  <m:mcs>
                                    <m:mc>
                                      <m:mcPr>
                                        <m:count m:val="1"/>
                                        <m:mcJc m:val="center"/>
                                      </m:mcPr>
                                    </m:mc>
                                  </m:mcs>
                                  <m:ctrlPr>
                                    <a:rPr lang="en-US" i="1">
                                      <a:latin typeface="Cambria Math" panose="02040503050406030204" pitchFamily="18" charset="0"/>
                                    </a:rPr>
                                  </m:ctrlPr>
                                </m:mPr>
                                <m:mr>
                                  <m:e>
                                    <m:r>
                                      <a:rPr lang="en-US" i="1">
                                        <a:latin typeface="Cambria Math" panose="02040503050406030204" pitchFamily="18" charset="0"/>
                                      </a:rPr>
                                      <m:t>𝑋</m:t>
                                    </m:r>
                                    <m:r>
                                      <a:rPr lang="en-US" i="1">
                                        <a:latin typeface="Cambria Math" panose="02040503050406030204" pitchFamily="18" charset="0"/>
                                      </a:rPr>
                                      <m:t>𝛽</m:t>
                                    </m:r>
                                  </m:e>
                                </m:mr>
                                <m:mr>
                                  <m:e>
                                    <m:acc>
                                      <m:accPr>
                                        <m:chr m:val="˜"/>
                                        <m:ctrlPr>
                                          <a:rPr lang="en-US" i="1">
                                            <a:latin typeface="Cambria Math" panose="02040503050406030204" pitchFamily="18" charset="0"/>
                                          </a:rPr>
                                        </m:ctrlPr>
                                      </m:accPr>
                                      <m:e>
                                        <m:r>
                                          <a:rPr lang="en-US" i="1">
                                            <a:latin typeface="Cambria Math" panose="02040503050406030204" pitchFamily="18" charset="0"/>
                                          </a:rPr>
                                          <m:t>𝑋</m:t>
                                        </m:r>
                                      </m:e>
                                    </m:acc>
                                    <m:r>
                                      <a:rPr lang="en-US" i="1">
                                        <a:latin typeface="Cambria Math" panose="02040503050406030204" pitchFamily="18" charset="0"/>
                                      </a:rPr>
                                      <m:t>𝛽</m:t>
                                    </m:r>
                                  </m:e>
                                </m:mr>
                              </m:m>
                            </m:e>
                          </m:d>
                          <m:r>
                            <a:rPr lang="en-US">
                              <a:latin typeface="Cambria Math" panose="02040503050406030204" pitchFamily="18" charset="0"/>
                            </a:rPr>
                            <m:t>,</m:t>
                          </m:r>
                          <m:d>
                            <m:dPr>
                              <m:begChr m:val="["/>
                              <m:endChr m:val="]"/>
                              <m:ctrlPr>
                                <a:rPr lang="en-US" i="1">
                                  <a:latin typeface="Cambria Math" panose="02040503050406030204" pitchFamily="18" charset="0"/>
                                </a:rPr>
                              </m:ctrlPr>
                            </m:dPr>
                            <m:e>
                              <m:m>
                                <m:mPr>
                                  <m:plcHide m:val="on"/>
                                  <m:mcs>
                                    <m:mc>
                                      <m:mcPr>
                                        <m:count m:val="2"/>
                                        <m:mcJc m:val="center"/>
                                      </m:mcPr>
                                    </m:mc>
                                  </m:mcs>
                                  <m:ctrlPr>
                                    <a:rPr lang="en-US" i="1">
                                      <a:latin typeface="Cambria Math" panose="02040503050406030204" pitchFamily="18" charset="0"/>
                                    </a:rPr>
                                  </m:ctrlPr>
                                </m:mPr>
                                <m:mr>
                                  <m:e>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𝑦</m:t>
                                        </m:r>
                                      </m:sub>
                                    </m:sSub>
                                  </m:e>
                                  <m:e>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𝑦</m:t>
                                        </m:r>
                                        <m:acc>
                                          <m:accPr>
                                            <m:chr m:val="˜"/>
                                            <m:ctrlPr>
                                              <a:rPr lang="en-US" i="1">
                                                <a:latin typeface="Cambria Math" panose="02040503050406030204" pitchFamily="18" charset="0"/>
                                              </a:rPr>
                                            </m:ctrlPr>
                                          </m:accPr>
                                          <m:e>
                                            <m:r>
                                              <a:rPr lang="en-US" i="1">
                                                <a:latin typeface="Cambria Math" panose="02040503050406030204" pitchFamily="18" charset="0"/>
                                              </a:rPr>
                                              <m:t>𝑦</m:t>
                                            </m:r>
                                          </m:e>
                                        </m:acc>
                                      </m:sub>
                                    </m:sSub>
                                  </m:e>
                                </m:mr>
                                <m:mr>
                                  <m:e>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acc>
                                          <m:accPr>
                                            <m:chr m:val="˜"/>
                                            <m:ctrlPr>
                                              <a:rPr lang="en-US" i="1">
                                                <a:latin typeface="Cambria Math" panose="02040503050406030204" pitchFamily="18" charset="0"/>
                                              </a:rPr>
                                            </m:ctrlPr>
                                          </m:accPr>
                                          <m:e>
                                            <m:r>
                                              <a:rPr lang="en-US" i="1">
                                                <a:latin typeface="Cambria Math" panose="02040503050406030204" pitchFamily="18" charset="0"/>
                                              </a:rPr>
                                              <m:t>𝑦</m:t>
                                            </m:r>
                                          </m:e>
                                        </m:acc>
                                        <m:r>
                                          <a:rPr lang="en-US" i="1">
                                            <a:latin typeface="Cambria Math" panose="02040503050406030204" pitchFamily="18" charset="0"/>
                                          </a:rPr>
                                          <m:t>𝑦</m:t>
                                        </m:r>
                                      </m:sub>
                                    </m:sSub>
                                  </m:e>
                                  <m:e>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acc>
                                          <m:accPr>
                                            <m:chr m:val="˜"/>
                                            <m:ctrlPr>
                                              <a:rPr lang="en-US" i="1">
                                                <a:latin typeface="Cambria Math" panose="02040503050406030204" pitchFamily="18" charset="0"/>
                                              </a:rPr>
                                            </m:ctrlPr>
                                          </m:accPr>
                                          <m:e>
                                            <m:r>
                                              <a:rPr lang="en-US" i="1">
                                                <a:latin typeface="Cambria Math" panose="02040503050406030204" pitchFamily="18" charset="0"/>
                                              </a:rPr>
                                              <m:t>𝑦</m:t>
                                            </m:r>
                                          </m:e>
                                        </m:acc>
                                        <m:acc>
                                          <m:accPr>
                                            <m:chr m:val="˜"/>
                                            <m:ctrlPr>
                                              <a:rPr lang="en-US" i="1">
                                                <a:latin typeface="Cambria Math" panose="02040503050406030204" pitchFamily="18" charset="0"/>
                                              </a:rPr>
                                            </m:ctrlPr>
                                          </m:accPr>
                                          <m:e>
                                            <m:r>
                                              <a:rPr lang="en-US" i="1">
                                                <a:latin typeface="Cambria Math" panose="02040503050406030204" pitchFamily="18" charset="0"/>
                                              </a:rPr>
                                              <m:t>𝑦</m:t>
                                            </m:r>
                                          </m:e>
                                        </m:acc>
                                      </m:sub>
                                    </m:sSub>
                                  </m:e>
                                </m:mr>
                              </m:m>
                            </m:e>
                          </m:d>
                        </m:e>
                      </m:d>
                    </m:oMath>
                  </m:oMathPara>
                </a14:m>
                <a:br>
                  <a:rPr lang="en-US" dirty="0"/>
                </a:br>
                <a:endParaRPr lang="en-US" dirty="0"/>
              </a:p>
              <a:p>
                <a:pPr marL="0" indent="0">
                  <a:buNone/>
                </a:pPr>
                <a14:m>
                  <m:oMathPara xmlns:m="http://schemas.openxmlformats.org/officeDocument/2006/math">
                    <m:oMathParaPr>
                      <m:jc m:val="centerGroup"/>
                    </m:oMathParaPr>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𝑦</m:t>
                          </m:r>
                        </m:e>
                      </m:acc>
                      <m:r>
                        <a:rPr lang="en-US">
                          <a:latin typeface="Cambria Math" panose="02040503050406030204" pitchFamily="18" charset="0"/>
                        </a:rPr>
                        <m:t>∣</m:t>
                      </m:r>
                      <m:r>
                        <a:rPr lang="en-US" i="1">
                          <a:latin typeface="Cambria Math" panose="02040503050406030204" pitchFamily="18" charset="0"/>
                        </a:rPr>
                        <m:t>𝑦</m:t>
                      </m:r>
                      <m:r>
                        <a:rPr lang="en-US">
                          <a:latin typeface="Cambria Math" panose="02040503050406030204" pitchFamily="18" charset="0"/>
                        </a:rPr>
                        <m:t>,</m:t>
                      </m:r>
                      <m:r>
                        <a:rPr lang="en-US" i="1">
                          <a:latin typeface="Cambria Math" panose="02040503050406030204" pitchFamily="18" charset="0"/>
                        </a:rPr>
                        <m:t>𝛽</m:t>
                      </m:r>
                      <m:r>
                        <a:rPr lang="en-US">
                          <a:latin typeface="Cambria Math" panose="02040503050406030204" pitchFamily="18" charset="0"/>
                        </a:rPr>
                        <m:t>,</m:t>
                      </m:r>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𝑦</m:t>
                          </m:r>
                        </m:sub>
                      </m:sSub>
                      <m:r>
                        <a:rPr lang="en-US">
                          <a:latin typeface="Cambria Math" panose="02040503050406030204" pitchFamily="18" charset="0"/>
                        </a:rPr>
                        <m:t>∼</m:t>
                      </m:r>
                      <m:r>
                        <a:rPr lang="en-US" i="1">
                          <a:latin typeface="Cambria Math" panose="02040503050406030204" pitchFamily="18" charset="0"/>
                        </a:rPr>
                        <m:t>𝑁</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𝜇</m:t>
                              </m:r>
                            </m:e>
                            <m:sub>
                              <m:acc>
                                <m:accPr>
                                  <m:chr m:val="˜"/>
                                  <m:ctrlPr>
                                    <a:rPr lang="en-US" i="1">
                                      <a:latin typeface="Cambria Math" panose="02040503050406030204" pitchFamily="18" charset="0"/>
                                    </a:rPr>
                                  </m:ctrlPr>
                                </m:accPr>
                                <m:e>
                                  <m:r>
                                    <a:rPr lang="en-US" i="1">
                                      <a:latin typeface="Cambria Math" panose="02040503050406030204" pitchFamily="18" charset="0"/>
                                    </a:rPr>
                                    <m:t>𝑦</m:t>
                                  </m:r>
                                </m:e>
                              </m:acc>
                            </m:sub>
                          </m:sSub>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𝑉</m:t>
                              </m:r>
                            </m:e>
                            <m:sub>
                              <m:acc>
                                <m:accPr>
                                  <m:chr m:val="˜"/>
                                  <m:ctrlPr>
                                    <a:rPr lang="en-US" i="1">
                                      <a:latin typeface="Cambria Math" panose="02040503050406030204" pitchFamily="18" charset="0"/>
                                    </a:rPr>
                                  </m:ctrlPr>
                                </m:accPr>
                                <m:e>
                                  <m:r>
                                    <a:rPr lang="en-US" i="1">
                                      <a:latin typeface="Cambria Math" panose="02040503050406030204" pitchFamily="18" charset="0"/>
                                    </a:rPr>
                                    <m:t>𝑦</m:t>
                                  </m:r>
                                </m:e>
                              </m:acc>
                            </m:sub>
                          </m:sSub>
                        </m:e>
                      </m:d>
                    </m:oMath>
                  </m:oMathPara>
                </a14:m>
                <a:endParaRPr lang="en-US" dirty="0"/>
              </a:p>
              <a:p>
                <a:pPr marL="0" indent="0">
                  <a:buNone/>
                </a:pPr>
                <a:r>
                  <a:rPr lang="en-US" dirty="0"/>
                  <a:t>where </a:t>
                </a: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𝜇</m:t>
                          </m:r>
                        </m:e>
                        <m:sub>
                          <m:acc>
                            <m:accPr>
                              <m:chr m:val="˜"/>
                              <m:ctrlPr>
                                <a:rPr lang="en-US" i="1">
                                  <a:latin typeface="Cambria Math" panose="02040503050406030204" pitchFamily="18" charset="0"/>
                                </a:rPr>
                              </m:ctrlPr>
                            </m:accPr>
                            <m:e>
                              <m:r>
                                <a:rPr lang="en-US" i="1">
                                  <a:latin typeface="Cambria Math" panose="02040503050406030204" pitchFamily="18" charset="0"/>
                                </a:rPr>
                                <m:t>𝑦</m:t>
                              </m:r>
                            </m:e>
                          </m:acc>
                        </m:sub>
                      </m:sSub>
                      <m:r>
                        <a:rPr lang="en-US">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𝑋</m:t>
                          </m:r>
                        </m:e>
                      </m:acc>
                      <m:r>
                        <a:rPr lang="en-US" i="1">
                          <a:latin typeface="Cambria Math" panose="02040503050406030204" pitchFamily="18" charset="0"/>
                        </a:rPr>
                        <m:t>𝛽</m:t>
                      </m:r>
                      <m:r>
                        <a:rPr lang="en-US">
                          <a:latin typeface="Cambria Math" panose="02040503050406030204" pitchFamily="18" charset="0"/>
                        </a:rPr>
                        <m:t>+</m:t>
                      </m:r>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𝑦</m:t>
                          </m:r>
                          <m:acc>
                            <m:accPr>
                              <m:chr m:val="˜"/>
                              <m:ctrlPr>
                                <a:rPr lang="en-US" i="1">
                                  <a:latin typeface="Cambria Math" panose="02040503050406030204" pitchFamily="18" charset="0"/>
                                </a:rPr>
                              </m:ctrlPr>
                            </m:accPr>
                            <m:e>
                              <m:r>
                                <a:rPr lang="en-US" i="1">
                                  <a:latin typeface="Cambria Math" panose="02040503050406030204" pitchFamily="18" charset="0"/>
                                </a:rPr>
                                <m:t>𝑦</m:t>
                              </m:r>
                            </m:e>
                          </m:acc>
                        </m:sub>
                      </m:sSub>
                      <m:sSubSup>
                        <m:sSubSupPr>
                          <m:ctrlPr>
                            <a:rPr lang="en-US" i="1">
                              <a:latin typeface="Cambria Math" panose="02040503050406030204" pitchFamily="18" charset="0"/>
                            </a:rPr>
                          </m:ctrlPr>
                        </m:sSubSupPr>
                        <m:e>
                          <m:r>
                            <m:rPr>
                              <m:sty m:val="p"/>
                            </m:rPr>
                            <a:rPr lang="en-US">
                              <a:latin typeface="Cambria Math" panose="02040503050406030204" pitchFamily="18" charset="0"/>
                            </a:rPr>
                            <m:t>Σ</m:t>
                          </m:r>
                        </m:e>
                        <m:sub>
                          <m:r>
                            <a:rPr lang="en-US" i="1">
                              <a:latin typeface="Cambria Math" panose="02040503050406030204" pitchFamily="18" charset="0"/>
                            </a:rPr>
                            <m:t>𝑦𝑦</m:t>
                          </m:r>
                        </m:sub>
                        <m:sup>
                          <m:r>
                            <a:rPr lang="en-US" i="1">
                              <a:latin typeface="Cambria Math" panose="02040503050406030204" pitchFamily="18" charset="0"/>
                            </a:rPr>
                            <m:t>−</m:t>
                          </m:r>
                          <m:r>
                            <a:rPr lang="en-US">
                              <a:latin typeface="Cambria Math" panose="02040503050406030204" pitchFamily="18" charset="0"/>
                            </a:rPr>
                            <m:t>1</m:t>
                          </m:r>
                        </m:sup>
                      </m:sSubSup>
                      <m:r>
                        <a:rPr lang="en-US">
                          <a:latin typeface="Cambria Math" panose="02040503050406030204" pitchFamily="18" charset="0"/>
                        </a:rPr>
                        <m:t>(</m:t>
                      </m:r>
                      <m:r>
                        <a:rPr lang="en-US" i="1">
                          <a:latin typeface="Cambria Math" panose="02040503050406030204" pitchFamily="18" charset="0"/>
                        </a:rPr>
                        <m:t>𝑦</m:t>
                      </m:r>
                      <m:r>
                        <a:rPr lang="en-US" i="1">
                          <a:latin typeface="Cambria Math" panose="02040503050406030204" pitchFamily="18" charset="0"/>
                        </a:rPr>
                        <m:t>−</m:t>
                      </m:r>
                      <m:r>
                        <a:rPr lang="en-US" i="1">
                          <a:latin typeface="Cambria Math" panose="02040503050406030204" pitchFamily="18" charset="0"/>
                        </a:rPr>
                        <m:t>𝑋</m:t>
                      </m:r>
                      <m:r>
                        <a:rPr lang="en-US" i="1">
                          <a:latin typeface="Cambria Math" panose="02040503050406030204" pitchFamily="18" charset="0"/>
                        </a:rPr>
                        <m:t>𝛽</m:t>
                      </m:r>
                      <m:r>
                        <a:rPr lang="en-US" b="0" i="1" smtClean="0">
                          <a:latin typeface="Cambria Math" panose="02040503050406030204" pitchFamily="18" charset="0"/>
                        </a:rPr>
                        <m:t>)</m:t>
                      </m:r>
                    </m:oMath>
                  </m:oMathPara>
                </a14:m>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𝑉</m:t>
                          </m:r>
                        </m:e>
                        <m:sub>
                          <m:acc>
                            <m:accPr>
                              <m:chr m:val="˜"/>
                              <m:ctrlPr>
                                <a:rPr lang="en-US" i="1">
                                  <a:latin typeface="Cambria Math" panose="02040503050406030204" pitchFamily="18" charset="0"/>
                                </a:rPr>
                              </m:ctrlPr>
                            </m:accPr>
                            <m:e>
                              <m:r>
                                <a:rPr lang="en-US" i="1">
                                  <a:latin typeface="Cambria Math" panose="02040503050406030204" pitchFamily="18" charset="0"/>
                                </a:rPr>
                                <m:t>𝑦</m:t>
                              </m:r>
                            </m:e>
                          </m:acc>
                        </m:sub>
                      </m:sSub>
                      <m:r>
                        <a:rPr lang="en-US">
                          <a:latin typeface="Cambria Math" panose="02040503050406030204" pitchFamily="18" charset="0"/>
                        </a:rPr>
                        <m:t>=</m:t>
                      </m:r>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acc>
                            <m:accPr>
                              <m:chr m:val="˜"/>
                              <m:ctrlPr>
                                <a:rPr lang="en-US" i="1">
                                  <a:latin typeface="Cambria Math" panose="02040503050406030204" pitchFamily="18" charset="0"/>
                                </a:rPr>
                              </m:ctrlPr>
                            </m:accPr>
                            <m:e>
                              <m:r>
                                <a:rPr lang="en-US" i="1">
                                  <a:latin typeface="Cambria Math" panose="02040503050406030204" pitchFamily="18" charset="0"/>
                                </a:rPr>
                                <m:t>𝑦</m:t>
                              </m:r>
                            </m:e>
                          </m:acc>
                          <m:acc>
                            <m:accPr>
                              <m:chr m:val="˜"/>
                              <m:ctrlPr>
                                <a:rPr lang="en-US" i="1">
                                  <a:latin typeface="Cambria Math" panose="02040503050406030204" pitchFamily="18" charset="0"/>
                                </a:rPr>
                              </m:ctrlPr>
                            </m:accPr>
                            <m:e>
                              <m:r>
                                <a:rPr lang="en-US" i="1">
                                  <a:latin typeface="Cambria Math" panose="02040503050406030204" pitchFamily="18" charset="0"/>
                                </a:rPr>
                                <m:t>𝑦</m:t>
                              </m:r>
                            </m:e>
                          </m:acc>
                        </m:sub>
                      </m:sSub>
                      <m:r>
                        <a:rPr lang="en-US" i="1">
                          <a:latin typeface="Cambria Math" panose="02040503050406030204" pitchFamily="18" charset="0"/>
                        </a:rPr>
                        <m:t>−</m:t>
                      </m:r>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𝑦</m:t>
                          </m:r>
                          <m:acc>
                            <m:accPr>
                              <m:chr m:val="˜"/>
                              <m:ctrlPr>
                                <a:rPr lang="en-US" i="1">
                                  <a:latin typeface="Cambria Math" panose="02040503050406030204" pitchFamily="18" charset="0"/>
                                </a:rPr>
                              </m:ctrlPr>
                            </m:accPr>
                            <m:e>
                              <m:r>
                                <a:rPr lang="en-US" i="1">
                                  <a:latin typeface="Cambria Math" panose="02040503050406030204" pitchFamily="18" charset="0"/>
                                </a:rPr>
                                <m:t>𝑦</m:t>
                              </m:r>
                            </m:e>
                          </m:acc>
                        </m:sub>
                      </m:sSub>
                      <m:sSubSup>
                        <m:sSubSupPr>
                          <m:ctrlPr>
                            <a:rPr lang="en-US" i="1">
                              <a:latin typeface="Cambria Math" panose="02040503050406030204" pitchFamily="18" charset="0"/>
                            </a:rPr>
                          </m:ctrlPr>
                        </m:sSubSupPr>
                        <m:e>
                          <m:r>
                            <m:rPr>
                              <m:sty m:val="p"/>
                            </m:rPr>
                            <a:rPr lang="en-US">
                              <a:latin typeface="Cambria Math" panose="02040503050406030204" pitchFamily="18" charset="0"/>
                            </a:rPr>
                            <m:t>Σ</m:t>
                          </m:r>
                        </m:e>
                        <m:sub>
                          <m:r>
                            <a:rPr lang="en-US" i="1">
                              <a:latin typeface="Cambria Math" panose="02040503050406030204" pitchFamily="18" charset="0"/>
                            </a:rPr>
                            <m:t>𝑦𝑦</m:t>
                          </m:r>
                        </m:sub>
                        <m:sup>
                          <m:r>
                            <a:rPr lang="en-US" i="1">
                              <a:latin typeface="Cambria Math" panose="02040503050406030204" pitchFamily="18" charset="0"/>
                            </a:rPr>
                            <m:t>−</m:t>
                          </m:r>
                          <m:r>
                            <a:rPr lang="en-US">
                              <a:latin typeface="Cambria Math" panose="02040503050406030204" pitchFamily="18" charset="0"/>
                            </a:rPr>
                            <m:t>1</m:t>
                          </m:r>
                        </m:sup>
                      </m:sSubSup>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acc>
                            <m:accPr>
                              <m:chr m:val="˜"/>
                              <m:ctrlPr>
                                <a:rPr lang="en-US" i="1">
                                  <a:latin typeface="Cambria Math" panose="02040503050406030204" pitchFamily="18" charset="0"/>
                                </a:rPr>
                              </m:ctrlPr>
                            </m:accPr>
                            <m:e>
                              <m:r>
                                <a:rPr lang="en-US" i="1">
                                  <a:latin typeface="Cambria Math" panose="02040503050406030204" pitchFamily="18" charset="0"/>
                                </a:rPr>
                                <m:t>𝑦</m:t>
                              </m:r>
                            </m:e>
                          </m:acc>
                          <m:r>
                            <a:rPr lang="en-US" i="1">
                              <a:latin typeface="Cambria Math" panose="02040503050406030204" pitchFamily="18" charset="0"/>
                            </a:rPr>
                            <m:t>𝑦</m:t>
                          </m:r>
                        </m:sub>
                      </m:sSub>
                    </m:oMath>
                  </m:oMathPara>
                </a14:m>
                <a:endParaRPr lang="en-US" dirty="0"/>
              </a:p>
            </p:txBody>
          </p:sp>
        </mc:Choice>
        <mc:Fallback xmlns="">
          <p:sp>
            <p:nvSpPr>
              <p:cNvPr id="3" name="Content Placeholder 2">
                <a:extLst>
                  <a:ext uri="{FF2B5EF4-FFF2-40B4-BE49-F238E27FC236}">
                    <a16:creationId xmlns:a16="http://schemas.microsoft.com/office/drawing/2014/main" id="{78689CCB-07DE-C589-0901-D9FAA5418AD2}"/>
                  </a:ext>
                </a:extLst>
              </p:cNvPr>
              <p:cNvSpPr>
                <a:spLocks noGrp="1" noRot="1" noChangeAspect="1" noMove="1" noResize="1" noEditPoints="1" noAdjustHandles="1" noChangeArrowheads="1" noChangeShapeType="1" noTextEdit="1"/>
              </p:cNvSpPr>
              <p:nvPr>
                <p:ph idx="1"/>
              </p:nvPr>
            </p:nvSpPr>
            <p:spPr>
              <a:blipFill>
                <a:blip r:embed="rId3"/>
                <a:stretch>
                  <a:fillRect l="-1341" t="-24862"/>
                </a:stretch>
              </a:blipFill>
            </p:spPr>
            <p:txBody>
              <a:bodyPr/>
              <a:lstStyle/>
              <a:p>
                <a:r>
                  <a:rPr lang="en-US">
                    <a:noFill/>
                  </a:rPr>
                  <a:t> </a:t>
                </a:r>
              </a:p>
            </p:txBody>
          </p:sp>
        </mc:Fallback>
      </mc:AlternateContent>
    </p:spTree>
    <p:extLst>
      <p:ext uri="{BB962C8B-B14F-4D97-AF65-F5344CB8AC3E}">
        <p14:creationId xmlns:p14="http://schemas.microsoft.com/office/powerpoint/2010/main" val="553469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1E8DB-725F-4360-BF1D-1BF4CE30C382}"/>
              </a:ext>
            </a:extLst>
          </p:cNvPr>
          <p:cNvSpPr>
            <a:spLocks noGrp="1"/>
          </p:cNvSpPr>
          <p:nvPr>
            <p:ph type="title"/>
          </p:nvPr>
        </p:nvSpPr>
        <p:spPr/>
        <p:txBody>
          <a:bodyPr/>
          <a:lstStyle/>
          <a:p>
            <a:r>
              <a:rPr lang="en-US" dirty="0"/>
              <a:t>Regression with Unequal Unknown Variances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3685516-1EA6-2F41-53FB-7930363276F4}"/>
                  </a:ext>
                </a:extLst>
              </p:cNvPr>
              <p:cNvSpPr>
                <a:spLocks noGrp="1"/>
              </p:cNvSpPr>
              <p:nvPr>
                <p:ph idx="1"/>
              </p:nvPr>
            </p:nvSpPr>
            <p:spPr/>
            <p:txBody>
              <a:bodyPr/>
              <a:lstStyle/>
              <a:p>
                <a:r>
                  <a:rPr lang="en-US" dirty="0"/>
                  <a:t>To draw inferences about </a:t>
                </a:r>
                <a14:m>
                  <m:oMath xmlns:m="http://schemas.openxmlformats.org/officeDocument/2006/math">
                    <m:d>
                      <m:dPr>
                        <m:ctrlPr>
                          <a:rPr lang="en-US" i="1">
                            <a:latin typeface="Cambria Math" panose="02040503050406030204" pitchFamily="18" charset="0"/>
                          </a:rPr>
                        </m:ctrlPr>
                      </m:dPr>
                      <m:e>
                        <m:r>
                          <a:rPr lang="en-US" i="1">
                            <a:latin typeface="Cambria Math" panose="02040503050406030204" pitchFamily="18" charset="0"/>
                          </a:rPr>
                          <m:t>𝛽</m:t>
                        </m:r>
                        <m:r>
                          <a:rPr lang="en-US">
                            <a:latin typeface="Cambria Math" panose="02040503050406030204" pitchFamily="18" charset="0"/>
                          </a:rPr>
                          <m:t>,</m:t>
                        </m:r>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𝑦</m:t>
                            </m:r>
                          </m:sub>
                        </m:sSub>
                      </m:e>
                    </m:d>
                  </m:oMath>
                </a14:m>
                <a:r>
                  <a:rPr lang="en-US" dirty="0"/>
                  <a:t>, we proceed in steps: </a:t>
                </a:r>
              </a:p>
              <a:p>
                <a:pPr lvl="1"/>
                <a:r>
                  <a:rPr lang="en-US" dirty="0"/>
                  <a:t>Derive </a:t>
                </a:r>
                <a14:m>
                  <m:oMath xmlns:m="http://schemas.openxmlformats.org/officeDocument/2006/math">
                    <m:r>
                      <a:rPr lang="en-US" i="1">
                        <a:latin typeface="Cambria Math" panose="02040503050406030204" pitchFamily="18" charset="0"/>
                      </a:rPr>
                      <m:t>𝑝</m:t>
                    </m:r>
                    <m:d>
                      <m:dPr>
                        <m:ctrlPr>
                          <a:rPr lang="en-US" i="1">
                            <a:latin typeface="Cambria Math" panose="02040503050406030204" pitchFamily="18" charset="0"/>
                          </a:rPr>
                        </m:ctrlPr>
                      </m:dPr>
                      <m:e>
                        <m:r>
                          <a:rPr lang="en-US" i="1">
                            <a:latin typeface="Cambria Math" panose="02040503050406030204" pitchFamily="18" charset="0"/>
                          </a:rPr>
                          <m:t>𝛽</m:t>
                        </m:r>
                        <m:r>
                          <a:rPr lang="en-US">
                            <a:latin typeface="Cambria Math" panose="02040503050406030204" pitchFamily="18" charset="0"/>
                          </a:rPr>
                          <m:t>∣</m:t>
                        </m:r>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𝑦</m:t>
                            </m:r>
                          </m:sub>
                        </m:sSub>
                        <m:r>
                          <a:rPr lang="en-US">
                            <a:latin typeface="Cambria Math" panose="02040503050406030204" pitchFamily="18" charset="0"/>
                          </a:rPr>
                          <m:t>,</m:t>
                        </m:r>
                        <m:r>
                          <a:rPr lang="en-US" i="1">
                            <a:latin typeface="Cambria Math" panose="02040503050406030204" pitchFamily="18" charset="0"/>
                          </a:rPr>
                          <m:t>𝑦</m:t>
                        </m:r>
                      </m:e>
                    </m:d>
                  </m:oMath>
                </a14:m>
                <a:r>
                  <a:rPr lang="en-US" dirty="0"/>
                  <a:t> and then </a:t>
                </a:r>
                <a14:m>
                  <m:oMath xmlns:m="http://schemas.openxmlformats.org/officeDocument/2006/math">
                    <m:r>
                      <a:rPr lang="en-US" i="1">
                        <a:latin typeface="Cambria Math" panose="02040503050406030204" pitchFamily="18" charset="0"/>
                      </a:rPr>
                      <m:t>𝑝</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𝑦</m:t>
                            </m:r>
                          </m:sub>
                        </m:sSub>
                        <m:r>
                          <a:rPr lang="en-US">
                            <a:latin typeface="Cambria Math" panose="02040503050406030204" pitchFamily="18" charset="0"/>
                          </a:rPr>
                          <m:t>∣</m:t>
                        </m:r>
                        <m:r>
                          <a:rPr lang="en-US" i="1">
                            <a:latin typeface="Cambria Math" panose="02040503050406030204" pitchFamily="18" charset="0"/>
                          </a:rPr>
                          <m:t>𝑦</m:t>
                        </m:r>
                      </m:e>
                    </m:d>
                  </m:oMath>
                </a14:m>
                <a:r>
                  <a:rPr lang="en-US" dirty="0"/>
                  <a:t>.</a:t>
                </a:r>
              </a:p>
              <a:p>
                <a:r>
                  <a:rPr lang="en-US" dirty="0"/>
                  <a:t>Let </a:t>
                </a:r>
                <a14:m>
                  <m:oMath xmlns:m="http://schemas.openxmlformats.org/officeDocument/2006/math">
                    <m:r>
                      <a:rPr lang="en-US" i="1">
                        <a:latin typeface="Cambria Math" panose="02040503050406030204" pitchFamily="18" charset="0"/>
                      </a:rPr>
                      <m:t>𝑝</m:t>
                    </m:r>
                    <m:r>
                      <a:rPr lang="en-US">
                        <a:latin typeface="Cambria Math" panose="02040503050406030204" pitchFamily="18" charset="0"/>
                      </a:rPr>
                      <m:t>(</m:t>
                    </m:r>
                    <m:r>
                      <a:rPr lang="en-US" i="1">
                        <a:latin typeface="Cambria Math" panose="02040503050406030204" pitchFamily="18" charset="0"/>
                      </a:rPr>
                      <m:t>𝛽</m:t>
                    </m:r>
                    <m:r>
                      <a:rPr lang="en-US">
                        <a:latin typeface="Cambria Math" panose="02040503050406030204" pitchFamily="18" charset="0"/>
                      </a:rPr>
                      <m:t>)∝1</m:t>
                    </m:r>
                  </m:oMath>
                </a14:m>
                <a:r>
                  <a:rPr lang="en-US" dirty="0"/>
                  <a:t> as before.</a:t>
                </a:r>
              </a:p>
              <a:p>
                <a:r>
                  <a:rPr lang="en-US" dirty="0"/>
                  <a:t>We know that</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𝑝</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𝑦</m:t>
                              </m:r>
                            </m:sub>
                          </m:sSub>
                          <m:r>
                            <a:rPr lang="en-US">
                              <a:latin typeface="Cambria Math" panose="02040503050406030204" pitchFamily="18" charset="0"/>
                            </a:rPr>
                            <m:t>∣</m:t>
                          </m:r>
                          <m:r>
                            <a:rPr lang="en-US" i="1">
                              <a:latin typeface="Cambria Math" panose="02040503050406030204" pitchFamily="18" charset="0"/>
                            </a:rPr>
                            <m:t>𝑦</m:t>
                          </m:r>
                        </m:e>
                      </m:d>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𝑝</m:t>
                          </m:r>
                          <m:d>
                            <m:dPr>
                              <m:ctrlPr>
                                <a:rPr lang="en-US" i="1">
                                  <a:latin typeface="Cambria Math" panose="02040503050406030204" pitchFamily="18" charset="0"/>
                                </a:rPr>
                              </m:ctrlPr>
                            </m:dPr>
                            <m:e>
                              <m:r>
                                <a:rPr lang="en-US" i="1">
                                  <a:latin typeface="Cambria Math" panose="02040503050406030204" pitchFamily="18" charset="0"/>
                                </a:rPr>
                                <m:t>𝛽</m:t>
                              </m:r>
                              <m:r>
                                <a:rPr lang="en-US">
                                  <a:latin typeface="Cambria Math" panose="02040503050406030204" pitchFamily="18" charset="0"/>
                                </a:rPr>
                                <m:t>,</m:t>
                              </m:r>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𝑦</m:t>
                                  </m:r>
                                </m:sub>
                              </m:sSub>
                              <m:r>
                                <a:rPr lang="en-US">
                                  <a:latin typeface="Cambria Math" panose="02040503050406030204" pitchFamily="18" charset="0"/>
                                </a:rPr>
                                <m:t>∣</m:t>
                              </m:r>
                              <m:r>
                                <a:rPr lang="en-US" i="1">
                                  <a:latin typeface="Cambria Math" panose="02040503050406030204" pitchFamily="18" charset="0"/>
                                </a:rPr>
                                <m:t>𝑦</m:t>
                              </m:r>
                            </m:e>
                          </m:d>
                        </m:num>
                        <m:den>
                          <m:r>
                            <a:rPr lang="en-US" i="1">
                              <a:latin typeface="Cambria Math" panose="02040503050406030204" pitchFamily="18" charset="0"/>
                            </a:rPr>
                            <m:t>𝑝</m:t>
                          </m:r>
                          <m:d>
                            <m:dPr>
                              <m:ctrlPr>
                                <a:rPr lang="en-US" i="1">
                                  <a:latin typeface="Cambria Math" panose="02040503050406030204" pitchFamily="18" charset="0"/>
                                </a:rPr>
                              </m:ctrlPr>
                            </m:dPr>
                            <m:e>
                              <m:r>
                                <a:rPr lang="en-US" i="1">
                                  <a:latin typeface="Cambria Math" panose="02040503050406030204" pitchFamily="18" charset="0"/>
                                </a:rPr>
                                <m:t>𝛽</m:t>
                              </m:r>
                              <m:r>
                                <a:rPr lang="en-US">
                                  <a:latin typeface="Cambria Math" panose="02040503050406030204" pitchFamily="18" charset="0"/>
                                </a:rPr>
                                <m:t>∣</m:t>
                              </m:r>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𝑦</m:t>
                                  </m:r>
                                </m:sub>
                              </m:sSub>
                              <m:r>
                                <a:rPr lang="en-US">
                                  <a:latin typeface="Cambria Math" panose="02040503050406030204" pitchFamily="18" charset="0"/>
                                </a:rPr>
                                <m:t>,</m:t>
                              </m:r>
                              <m:r>
                                <a:rPr lang="en-US" i="1">
                                  <a:latin typeface="Cambria Math" panose="02040503050406030204" pitchFamily="18" charset="0"/>
                                </a:rPr>
                                <m:t>𝑦</m:t>
                              </m:r>
                            </m:e>
                          </m:d>
                        </m:den>
                      </m:f>
                      <m:r>
                        <a:rPr lang="en-US">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𝑝</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𝑦</m:t>
                                  </m:r>
                                </m:sub>
                              </m:sSub>
                            </m:e>
                          </m:d>
                          <m:r>
                            <a:rPr lang="en-US" i="1">
                              <a:latin typeface="Cambria Math" panose="02040503050406030204" pitchFamily="18" charset="0"/>
                            </a:rPr>
                            <m:t>𝑝</m:t>
                          </m:r>
                          <m:d>
                            <m:dPr>
                              <m:ctrlPr>
                                <a:rPr lang="en-US" i="1">
                                  <a:latin typeface="Cambria Math" panose="02040503050406030204" pitchFamily="18" charset="0"/>
                                </a:rPr>
                              </m:ctrlPr>
                            </m:dPr>
                            <m:e>
                              <m:r>
                                <a:rPr lang="en-US" i="1">
                                  <a:latin typeface="Cambria Math" panose="02040503050406030204" pitchFamily="18" charset="0"/>
                                </a:rPr>
                                <m:t>𝑦</m:t>
                              </m:r>
                              <m:r>
                                <a:rPr lang="en-US">
                                  <a:latin typeface="Cambria Math" panose="02040503050406030204" pitchFamily="18" charset="0"/>
                                </a:rPr>
                                <m:t>∣</m:t>
                              </m:r>
                              <m:r>
                                <a:rPr lang="en-US" i="1">
                                  <a:latin typeface="Cambria Math" panose="02040503050406030204" pitchFamily="18" charset="0"/>
                                </a:rPr>
                                <m:t>𝛽</m:t>
                              </m:r>
                              <m:r>
                                <a:rPr lang="en-US">
                                  <a:latin typeface="Cambria Math" panose="02040503050406030204" pitchFamily="18" charset="0"/>
                                </a:rPr>
                                <m:t>,</m:t>
                              </m:r>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𝑦</m:t>
                                  </m:r>
                                </m:sub>
                              </m:sSub>
                            </m:e>
                          </m:d>
                        </m:num>
                        <m:den>
                          <m:r>
                            <a:rPr lang="en-US" i="1">
                              <a:latin typeface="Cambria Math" panose="02040503050406030204" pitchFamily="18" charset="0"/>
                            </a:rPr>
                            <m:t>𝑝</m:t>
                          </m:r>
                          <m:d>
                            <m:dPr>
                              <m:ctrlPr>
                                <a:rPr lang="en-US" i="1">
                                  <a:latin typeface="Cambria Math" panose="02040503050406030204" pitchFamily="18" charset="0"/>
                                </a:rPr>
                              </m:ctrlPr>
                            </m:dPr>
                            <m:e>
                              <m:r>
                                <a:rPr lang="en-US" i="1">
                                  <a:latin typeface="Cambria Math" panose="02040503050406030204" pitchFamily="18" charset="0"/>
                                </a:rPr>
                                <m:t>𝛽</m:t>
                              </m:r>
                              <m:r>
                                <a:rPr lang="en-US">
                                  <a:latin typeface="Cambria Math" panose="02040503050406030204" pitchFamily="18" charset="0"/>
                                </a:rPr>
                                <m:t>∣</m:t>
                              </m:r>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𝑦</m:t>
                                  </m:r>
                                </m:sub>
                              </m:sSub>
                              <m:r>
                                <a:rPr lang="en-US">
                                  <a:latin typeface="Cambria Math" panose="02040503050406030204" pitchFamily="18" charset="0"/>
                                </a:rPr>
                                <m:t>,</m:t>
                              </m:r>
                              <m:r>
                                <a:rPr lang="en-US" i="1">
                                  <a:latin typeface="Cambria Math" panose="02040503050406030204" pitchFamily="18" charset="0"/>
                                </a:rPr>
                                <m:t>𝑦</m:t>
                              </m:r>
                            </m:e>
                          </m:d>
                        </m:den>
                      </m:f>
                      <m:r>
                        <a:rPr lang="en-US">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𝑝</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𝑦</m:t>
                                  </m:r>
                                </m:sub>
                              </m:sSub>
                            </m:e>
                          </m:d>
                          <m:r>
                            <a:rPr lang="en-US" i="1">
                              <a:latin typeface="Cambria Math" panose="02040503050406030204" pitchFamily="18" charset="0"/>
                            </a:rPr>
                            <m:t>𝑁</m:t>
                          </m:r>
                          <m:d>
                            <m:dPr>
                              <m:ctrlPr>
                                <a:rPr lang="en-US" i="1">
                                  <a:latin typeface="Cambria Math" panose="02040503050406030204" pitchFamily="18" charset="0"/>
                                </a:rPr>
                              </m:ctrlPr>
                            </m:dPr>
                            <m:e>
                              <m:r>
                                <a:rPr lang="en-US" i="1">
                                  <a:latin typeface="Cambria Math" panose="02040503050406030204" pitchFamily="18" charset="0"/>
                                </a:rPr>
                                <m:t>𝑦</m:t>
                              </m:r>
                              <m:r>
                                <a:rPr lang="en-US">
                                  <a:latin typeface="Cambria Math" panose="02040503050406030204" pitchFamily="18" charset="0"/>
                                </a:rPr>
                                <m:t>∣</m:t>
                              </m:r>
                              <m:r>
                                <a:rPr lang="en-US" i="1">
                                  <a:latin typeface="Cambria Math" panose="02040503050406030204" pitchFamily="18" charset="0"/>
                                </a:rPr>
                                <m:t>𝛽</m:t>
                              </m:r>
                              <m:r>
                                <a:rPr lang="en-US">
                                  <a:latin typeface="Cambria Math" panose="02040503050406030204" pitchFamily="18" charset="0"/>
                                </a:rPr>
                                <m:t>,</m:t>
                              </m:r>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𝑦</m:t>
                                  </m:r>
                                </m:sub>
                              </m:sSub>
                            </m:e>
                          </m:d>
                        </m:num>
                        <m:den>
                          <m:r>
                            <a:rPr lang="en-US" i="1">
                              <a:latin typeface="Cambria Math" panose="02040503050406030204" pitchFamily="18" charset="0"/>
                            </a:rPr>
                            <m:t>𝑁</m:t>
                          </m:r>
                          <m:d>
                            <m:dPr>
                              <m:ctrlPr>
                                <a:rPr lang="en-US" i="1">
                                  <a:latin typeface="Cambria Math" panose="02040503050406030204" pitchFamily="18" charset="0"/>
                                </a:rPr>
                              </m:ctrlPr>
                            </m:dPr>
                            <m:e>
                              <m:r>
                                <a:rPr lang="en-US" i="1">
                                  <a:latin typeface="Cambria Math" panose="02040503050406030204" pitchFamily="18" charset="0"/>
                                </a:rPr>
                                <m:t>𝛽</m:t>
                              </m:r>
                              <m:r>
                                <a:rPr lang="en-US">
                                  <a:latin typeface="Cambria Math" panose="02040503050406030204" pitchFamily="18" charset="0"/>
                                </a:rPr>
                                <m:t>∣</m:t>
                              </m:r>
                              <m:acc>
                                <m:accPr>
                                  <m:chr m:val="ˆ"/>
                                  <m:ctrlPr>
                                    <a:rPr lang="en-US" i="1">
                                      <a:latin typeface="Cambria Math" panose="02040503050406030204" pitchFamily="18" charset="0"/>
                                    </a:rPr>
                                  </m:ctrlPr>
                                </m:accPr>
                                <m:e>
                                  <m:r>
                                    <a:rPr lang="en-US" i="1">
                                      <a:latin typeface="Cambria Math" panose="02040503050406030204" pitchFamily="18" charset="0"/>
                                    </a:rPr>
                                    <m:t>𝛽</m:t>
                                  </m:r>
                                </m:e>
                              </m:acc>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𝛽</m:t>
                                  </m:r>
                                </m:sub>
                              </m:sSub>
                            </m:e>
                          </m:d>
                        </m:den>
                      </m:f>
                    </m:oMath>
                  </m:oMathPara>
                </a14:m>
                <a:endParaRPr lang="en-US" dirty="0"/>
              </a:p>
              <a:p>
                <a:pPr marL="0" indent="0">
                  <a:buNone/>
                </a:pPr>
                <a:r>
                  <a:rPr lang="en-US" dirty="0"/>
                  <a:t>where </a:t>
                </a:r>
                <a14:m>
                  <m:oMath xmlns:m="http://schemas.openxmlformats.org/officeDocument/2006/math">
                    <m:d>
                      <m:dPr>
                        <m:ctrlPr>
                          <a:rPr lang="en-US" i="1">
                            <a:latin typeface="Cambria Math" panose="02040503050406030204" pitchFamily="18" charset="0"/>
                          </a:rPr>
                        </m:ctrlPr>
                      </m:dPr>
                      <m:e>
                        <m:acc>
                          <m:accPr>
                            <m:chr m:val="ˆ"/>
                            <m:ctrlPr>
                              <a:rPr lang="en-US" i="1">
                                <a:latin typeface="Cambria Math" panose="02040503050406030204" pitchFamily="18" charset="0"/>
                              </a:rPr>
                            </m:ctrlPr>
                          </m:accPr>
                          <m:e>
                            <m:r>
                              <a:rPr lang="en-US" i="1">
                                <a:latin typeface="Cambria Math" panose="02040503050406030204" pitchFamily="18" charset="0"/>
                              </a:rPr>
                              <m:t>𝛽</m:t>
                            </m:r>
                          </m:e>
                        </m:acc>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𝛽</m:t>
                            </m:r>
                          </m:sub>
                        </m:sSub>
                      </m:e>
                    </m:d>
                  </m:oMath>
                </a14:m>
                <a:r>
                  <a:rPr lang="en-US" dirty="0"/>
                  <a:t> depend on </a:t>
                </a:r>
                <a14:m>
                  <m:oMath xmlns:m="http://schemas.openxmlformats.org/officeDocument/2006/math">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𝑦</m:t>
                        </m:r>
                      </m:sub>
                    </m:sSub>
                  </m:oMath>
                </a14:m>
                <a:r>
                  <a:rPr lang="en-US" dirty="0"/>
                  <a:t>.</a:t>
                </a:r>
              </a:p>
              <a:p>
                <a:endParaRPr lang="en-US" dirty="0"/>
              </a:p>
              <a:p>
                <a:endParaRPr lang="en-US" dirty="0"/>
              </a:p>
            </p:txBody>
          </p:sp>
        </mc:Choice>
        <mc:Fallback xmlns="">
          <p:sp>
            <p:nvSpPr>
              <p:cNvPr id="3" name="Content Placeholder 2">
                <a:extLst>
                  <a:ext uri="{FF2B5EF4-FFF2-40B4-BE49-F238E27FC236}">
                    <a16:creationId xmlns:a16="http://schemas.microsoft.com/office/drawing/2014/main" id="{63685516-1EA6-2F41-53FB-7930363276F4}"/>
                  </a:ext>
                </a:extLst>
              </p:cNvPr>
              <p:cNvSpPr>
                <a:spLocks noGrp="1" noRot="1" noChangeAspect="1" noMove="1" noResize="1" noEditPoints="1" noAdjustHandles="1" noChangeArrowheads="1" noChangeShapeType="1" noTextEdit="1"/>
              </p:cNvSpPr>
              <p:nvPr>
                <p:ph idx="1"/>
              </p:nvPr>
            </p:nvSpPr>
            <p:spPr>
              <a:blipFill>
                <a:blip r:embed="rId3"/>
                <a:stretch>
                  <a:fillRect l="-1341" t="-1105"/>
                </a:stretch>
              </a:blipFill>
            </p:spPr>
            <p:txBody>
              <a:bodyPr/>
              <a:lstStyle/>
              <a:p>
                <a:r>
                  <a:rPr lang="en-US">
                    <a:noFill/>
                  </a:rPr>
                  <a:t> </a:t>
                </a:r>
              </a:p>
            </p:txBody>
          </p:sp>
        </mc:Fallback>
      </mc:AlternateContent>
    </p:spTree>
    <p:extLst>
      <p:ext uri="{BB962C8B-B14F-4D97-AF65-F5344CB8AC3E}">
        <p14:creationId xmlns:p14="http://schemas.microsoft.com/office/powerpoint/2010/main" val="32902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1E8DB-725F-4360-BF1D-1BF4CE30C382}"/>
              </a:ext>
            </a:extLst>
          </p:cNvPr>
          <p:cNvSpPr>
            <a:spLocks noGrp="1"/>
          </p:cNvSpPr>
          <p:nvPr>
            <p:ph type="title"/>
          </p:nvPr>
        </p:nvSpPr>
        <p:spPr/>
        <p:txBody>
          <a:bodyPr/>
          <a:lstStyle/>
          <a:p>
            <a:r>
              <a:rPr lang="en-US" dirty="0"/>
              <a:t>Regression with Unequal Unknown Variances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3685516-1EA6-2F41-53FB-7930363276F4}"/>
                  </a:ext>
                </a:extLst>
              </p:cNvPr>
              <p:cNvSpPr>
                <a:spLocks noGrp="1"/>
              </p:cNvSpPr>
              <p:nvPr>
                <p:ph idx="1"/>
              </p:nvPr>
            </p:nvSpPr>
            <p:spPr/>
            <p:txBody>
              <a:bodyPr/>
              <a:lstStyle/>
              <a:p>
                <a:r>
                  <a:rPr lang="en-US" dirty="0"/>
                  <a:t>Expression for </a:t>
                </a:r>
                <a14:m>
                  <m:oMath xmlns:m="http://schemas.openxmlformats.org/officeDocument/2006/math">
                    <m:r>
                      <a:rPr lang="en-US" i="1">
                        <a:latin typeface="Cambria Math" panose="02040503050406030204" pitchFamily="18" charset="0"/>
                      </a:rPr>
                      <m:t>𝑝</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𝑦</m:t>
                            </m:r>
                          </m:sub>
                        </m:sSub>
                        <m:r>
                          <a:rPr lang="en-US">
                            <a:latin typeface="Cambria Math" panose="02040503050406030204" pitchFamily="18" charset="0"/>
                          </a:rPr>
                          <m:t>∣</m:t>
                        </m:r>
                        <m:r>
                          <a:rPr lang="en-US" i="1">
                            <a:latin typeface="Cambria Math" panose="02040503050406030204" pitchFamily="18" charset="0"/>
                          </a:rPr>
                          <m:t>𝑦</m:t>
                        </m:r>
                      </m:e>
                    </m:d>
                  </m:oMath>
                </a14:m>
                <a:r>
                  <a:rPr lang="en-US" dirty="0"/>
                  <a:t> must hold for any </a:t>
                </a:r>
                <a14:m>
                  <m:oMath xmlns:m="http://schemas.openxmlformats.org/officeDocument/2006/math">
                    <m:r>
                      <a:rPr lang="en-US" i="1">
                        <a:latin typeface="Cambria Math" panose="02040503050406030204" pitchFamily="18" charset="0"/>
                      </a:rPr>
                      <m:t>𝛽</m:t>
                    </m:r>
                  </m:oMath>
                </a14:m>
                <a:r>
                  <a:rPr lang="en-US" dirty="0"/>
                  <a:t>, so we set </a:t>
                </a:r>
                <a14:m>
                  <m:oMath xmlns:m="http://schemas.openxmlformats.org/officeDocument/2006/math">
                    <m:r>
                      <a:rPr lang="en-US" i="1">
                        <a:latin typeface="Cambria Math" panose="02040503050406030204" pitchFamily="18" charset="0"/>
                      </a:rPr>
                      <m:t>𝛽</m:t>
                    </m:r>
                    <m:r>
                      <a:rPr lang="en-US">
                        <a:latin typeface="Cambria Math" panose="02040503050406030204" pitchFamily="18" charset="0"/>
                      </a:rPr>
                      <m:t>=</m:t>
                    </m:r>
                    <m:acc>
                      <m:accPr>
                        <m:chr m:val="ˆ"/>
                        <m:ctrlPr>
                          <a:rPr lang="en-US" i="1">
                            <a:latin typeface="Cambria Math" panose="02040503050406030204" pitchFamily="18" charset="0"/>
                          </a:rPr>
                        </m:ctrlPr>
                      </m:accPr>
                      <m:e>
                        <m:r>
                          <a:rPr lang="en-US" i="1">
                            <a:latin typeface="Cambria Math" panose="02040503050406030204" pitchFamily="18" charset="0"/>
                          </a:rPr>
                          <m:t>𝛽</m:t>
                        </m:r>
                      </m:e>
                    </m:acc>
                  </m:oMath>
                </a14:m>
                <a:r>
                  <a:rPr lang="el-GR" dirty="0"/>
                  <a:t>.</a:t>
                </a:r>
              </a:p>
              <a:p>
                <a:r>
                  <a:rPr lang="en-US" dirty="0"/>
                  <a:t>Note that</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𝑝</m:t>
                      </m:r>
                      <m:d>
                        <m:dPr>
                          <m:ctrlPr>
                            <a:rPr lang="en-US" i="1">
                              <a:latin typeface="Cambria Math" panose="02040503050406030204" pitchFamily="18" charset="0"/>
                            </a:rPr>
                          </m:ctrlPr>
                        </m:dPr>
                        <m:e>
                          <m:r>
                            <a:rPr lang="en-US" i="1">
                              <a:latin typeface="Cambria Math" panose="02040503050406030204" pitchFamily="18" charset="0"/>
                            </a:rPr>
                            <m:t>𝛽</m:t>
                          </m:r>
                          <m:r>
                            <a:rPr lang="en-US">
                              <a:latin typeface="Cambria Math" panose="02040503050406030204" pitchFamily="18" charset="0"/>
                            </a:rPr>
                            <m:t>∣</m:t>
                          </m:r>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𝑦</m:t>
                              </m:r>
                            </m:sub>
                          </m:sSub>
                          <m:r>
                            <a:rPr lang="en-US">
                              <a:latin typeface="Cambria Math" panose="02040503050406030204" pitchFamily="18" charset="0"/>
                            </a:rPr>
                            <m:t>,</m:t>
                          </m:r>
                          <m:r>
                            <a:rPr lang="en-US" i="1">
                              <a:latin typeface="Cambria Math" panose="02040503050406030204" pitchFamily="18" charset="0"/>
                            </a:rPr>
                            <m:t>𝑦</m:t>
                          </m:r>
                        </m:e>
                      </m:d>
                      <m:r>
                        <a:rPr lang="en-US">
                          <a:latin typeface="Cambria Math" panose="02040503050406030204" pitchFamily="18" charset="0"/>
                        </a:rPr>
                        <m:t>=</m:t>
                      </m:r>
                      <m:r>
                        <a:rPr lang="en-US" i="1">
                          <a:latin typeface="Cambria Math" panose="02040503050406030204" pitchFamily="18" charset="0"/>
                        </a:rPr>
                        <m:t>𝑁</m:t>
                      </m:r>
                      <m:d>
                        <m:dPr>
                          <m:ctrlPr>
                            <a:rPr lang="en-US" i="1">
                              <a:latin typeface="Cambria Math" panose="02040503050406030204" pitchFamily="18" charset="0"/>
                            </a:rPr>
                          </m:ctrlPr>
                        </m:dPr>
                        <m:e>
                          <m:acc>
                            <m:accPr>
                              <m:chr m:val="ˆ"/>
                              <m:ctrlPr>
                                <a:rPr lang="en-US" i="1">
                                  <a:latin typeface="Cambria Math" panose="02040503050406030204" pitchFamily="18" charset="0"/>
                                </a:rPr>
                              </m:ctrlPr>
                            </m:accPr>
                            <m:e>
                              <m:r>
                                <a:rPr lang="en-US" i="1">
                                  <a:latin typeface="Cambria Math" panose="02040503050406030204" pitchFamily="18" charset="0"/>
                                </a:rPr>
                                <m:t>𝛽</m:t>
                              </m:r>
                            </m:e>
                          </m:acc>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𝛽</m:t>
                              </m:r>
                            </m:sub>
                          </m:sSub>
                        </m:e>
                      </m:d>
                      <m:r>
                        <a:rPr lang="en-US">
                          <a:latin typeface="Cambria Math" panose="02040503050406030204" pitchFamily="18" charset="0"/>
                        </a:rPr>
                        <m:t>∝</m:t>
                      </m:r>
                      <m:sSup>
                        <m:sSupPr>
                          <m:ctrlPr>
                            <a:rPr lang="en-US" i="1">
                              <a:latin typeface="Cambria Math" panose="02040503050406030204" pitchFamily="18" charset="0"/>
                            </a:rPr>
                          </m:ctrlPr>
                        </m:sSupPr>
                        <m:e>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𝛽</m:t>
                                  </m:r>
                                </m:sub>
                              </m:sSub>
                            </m:e>
                          </m:d>
                        </m:e>
                        <m:sup>
                          <m:r>
                            <a:rPr lang="en-US" i="1">
                              <a:latin typeface="Cambria Math" panose="02040503050406030204" pitchFamily="18" charset="0"/>
                            </a:rPr>
                            <m:t>−</m:t>
                          </m:r>
                          <m:r>
                            <a:rPr lang="en-US">
                              <a:latin typeface="Cambria Math" panose="02040503050406030204" pitchFamily="18" charset="0"/>
                            </a:rPr>
                            <m:t>1/2</m:t>
                          </m:r>
                        </m:sup>
                      </m:sSup>
                    </m:oMath>
                  </m:oMathPara>
                </a14:m>
                <a:endParaRPr lang="el-GR" dirty="0"/>
              </a:p>
              <a:p>
                <a:pPr marL="0" indent="0">
                  <a:buNone/>
                </a:pPr>
                <a:r>
                  <a:rPr lang="en-US" dirty="0"/>
                  <a:t>for </a:t>
                </a:r>
                <a14:m>
                  <m:oMath xmlns:m="http://schemas.openxmlformats.org/officeDocument/2006/math">
                    <m:r>
                      <a:rPr lang="en-US" i="1">
                        <a:latin typeface="Cambria Math" panose="02040503050406030204" pitchFamily="18" charset="0"/>
                      </a:rPr>
                      <m:t>𝛽</m:t>
                    </m:r>
                    <m:r>
                      <a:rPr lang="en-US">
                        <a:latin typeface="Cambria Math" panose="02040503050406030204" pitchFamily="18" charset="0"/>
                      </a:rPr>
                      <m:t>=</m:t>
                    </m:r>
                    <m:acc>
                      <m:accPr>
                        <m:chr m:val="ˆ"/>
                        <m:ctrlPr>
                          <a:rPr lang="en-US" i="1">
                            <a:latin typeface="Cambria Math" panose="02040503050406030204" pitchFamily="18" charset="0"/>
                          </a:rPr>
                        </m:ctrlPr>
                      </m:accPr>
                      <m:e>
                        <m:r>
                          <a:rPr lang="en-US" i="1">
                            <a:latin typeface="Cambria Math" panose="02040503050406030204" pitchFamily="18" charset="0"/>
                          </a:rPr>
                          <m:t>𝛽</m:t>
                        </m:r>
                      </m:e>
                    </m:acc>
                  </m:oMath>
                </a14:m>
                <a:r>
                  <a:rPr lang="el-GR" dirty="0"/>
                  <a:t>. </a:t>
                </a:r>
                <a:r>
                  <a:rPr lang="en-US" dirty="0"/>
                  <a:t>So as a result,</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𝑝</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𝑦</m:t>
                              </m:r>
                            </m:sub>
                          </m:sSub>
                          <m:r>
                            <a:rPr lang="en-US">
                              <a:latin typeface="Cambria Math" panose="02040503050406030204" pitchFamily="18" charset="0"/>
                            </a:rPr>
                            <m:t>∣</m:t>
                          </m:r>
                          <m:r>
                            <a:rPr lang="en-US" i="1">
                              <a:latin typeface="Cambria Math" panose="02040503050406030204" pitchFamily="18" charset="0"/>
                            </a:rPr>
                            <m:t>𝑦</m:t>
                          </m:r>
                        </m:e>
                      </m:d>
                      <m:r>
                        <a:rPr lang="en-US">
                          <a:latin typeface="Cambria Math" panose="02040503050406030204" pitchFamily="18" charset="0"/>
                        </a:rPr>
                        <m:t>∝</m:t>
                      </m:r>
                      <m:r>
                        <a:rPr lang="en-US" i="1">
                          <a:latin typeface="Cambria Math" panose="02040503050406030204" pitchFamily="18" charset="0"/>
                        </a:rPr>
                        <m:t>𝑝</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𝑦</m:t>
                              </m:r>
                            </m:sub>
                          </m:sSub>
                        </m:e>
                      </m:d>
                      <m:sSup>
                        <m:sSupPr>
                          <m:ctrlPr>
                            <a:rPr lang="en-US" i="1">
                              <a:latin typeface="Cambria Math" panose="02040503050406030204" pitchFamily="18" charset="0"/>
                            </a:rPr>
                          </m:ctrlPr>
                        </m:sSupPr>
                        <m:e>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𝛽</m:t>
                                  </m:r>
                                </m:sub>
                              </m:sSub>
                            </m:e>
                          </m:d>
                        </m:e>
                        <m:sup>
                          <m:r>
                            <a:rPr lang="en-US">
                              <a:latin typeface="Cambria Math" panose="02040503050406030204" pitchFamily="18" charset="0"/>
                            </a:rPr>
                            <m:t>1/2</m:t>
                          </m:r>
                        </m:sup>
                      </m:sSup>
                      <m:sSup>
                        <m:sSupPr>
                          <m:ctrlPr>
                            <a:rPr lang="en-US" i="1">
                              <a:latin typeface="Cambria Math" panose="02040503050406030204" pitchFamily="18" charset="0"/>
                            </a:rPr>
                          </m:ctrlPr>
                        </m:sSupPr>
                        <m:e>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𝑦</m:t>
                                  </m:r>
                                </m:sub>
                              </m:sSub>
                            </m:e>
                          </m:d>
                        </m:e>
                        <m:sup>
                          <m:r>
                            <a:rPr lang="en-US" i="1">
                              <a:latin typeface="Cambria Math" panose="02040503050406030204" pitchFamily="18" charset="0"/>
                            </a:rPr>
                            <m:t>−</m:t>
                          </m:r>
                          <m:r>
                            <a:rPr lang="en-US">
                              <a:latin typeface="Cambria Math" panose="02040503050406030204" pitchFamily="18" charset="0"/>
                            </a:rPr>
                            <m:t>1/2</m:t>
                          </m:r>
                        </m:sup>
                      </m:sSup>
                      <m:r>
                        <m:rPr>
                          <m:sty m:val="p"/>
                        </m:rPr>
                        <a:rPr lang="en-US">
                          <a:latin typeface="Cambria Math" panose="02040503050406030204" pitchFamily="18" charset="0"/>
                        </a:rPr>
                        <m:t>exp</m:t>
                      </m:r>
                      <m:d>
                        <m:dPr>
                          <m:begChr m:val="["/>
                          <m:endChr m:val="]"/>
                          <m:ctrlPr>
                            <a:rPr lang="en-US" i="1">
                              <a:latin typeface="Cambria Math" panose="02040503050406030204" pitchFamily="18" charset="0"/>
                            </a:rPr>
                          </m:ctrlPr>
                        </m:dPr>
                        <m:e>
                          <m:r>
                            <a:rPr lang="en-US" i="1">
                              <a:latin typeface="Cambria Math" panose="02040503050406030204" pitchFamily="18" charset="0"/>
                            </a:rPr>
                            <m:t>−</m:t>
                          </m:r>
                          <m:f>
                            <m:fPr>
                              <m:ctrlPr>
                                <a:rPr lang="en-US" i="1">
                                  <a:latin typeface="Cambria Math" panose="02040503050406030204" pitchFamily="18" charset="0"/>
                                </a:rPr>
                              </m:ctrlPr>
                            </m:fPr>
                            <m:num>
                              <m:r>
                                <a:rPr lang="en-US">
                                  <a:latin typeface="Cambria Math" panose="02040503050406030204" pitchFamily="18" charset="0"/>
                                </a:rPr>
                                <m:t>1</m:t>
                              </m:r>
                            </m:num>
                            <m:den>
                              <m:r>
                                <a:rPr lang="en-US">
                                  <a:latin typeface="Cambria Math" panose="02040503050406030204" pitchFamily="18" charset="0"/>
                                </a:rPr>
                                <m:t>2</m:t>
                              </m:r>
                            </m:den>
                          </m:f>
                          <m:r>
                            <a:rPr lang="en-US">
                              <a:latin typeface="Cambria Math" panose="02040503050406030204" pitchFamily="18" charset="0"/>
                            </a:rPr>
                            <m:t>(</m:t>
                          </m:r>
                          <m:r>
                            <a:rPr lang="en-US" i="1">
                              <a:latin typeface="Cambria Math" panose="02040503050406030204" pitchFamily="18" charset="0"/>
                            </a:rPr>
                            <m:t>𝑦</m:t>
                          </m:r>
                          <m:r>
                            <a:rPr lang="en-US" i="1">
                              <a:latin typeface="Cambria Math" panose="02040503050406030204" pitchFamily="18" charset="0"/>
                            </a:rPr>
                            <m:t>−</m:t>
                          </m:r>
                          <m:r>
                            <a:rPr lang="en-US" i="1">
                              <a:latin typeface="Cambria Math" panose="02040503050406030204" pitchFamily="18" charset="0"/>
                            </a:rPr>
                            <m:t>𝑋</m:t>
                          </m:r>
                          <m:acc>
                            <m:accPr>
                              <m:chr m:val="ˆ"/>
                              <m:ctrlPr>
                                <a:rPr lang="en-US" i="1">
                                  <a:latin typeface="Cambria Math" panose="02040503050406030204" pitchFamily="18" charset="0"/>
                                </a:rPr>
                              </m:ctrlPr>
                            </m:accPr>
                            <m:e>
                              <m:r>
                                <a:rPr lang="en-US" i="1">
                                  <a:latin typeface="Cambria Math" panose="02040503050406030204" pitchFamily="18" charset="0"/>
                                </a:rPr>
                                <m:t>𝛽</m:t>
                              </m:r>
                            </m:e>
                          </m:acc>
                          <m:sSup>
                            <m:sSupPr>
                              <m:ctrlPr>
                                <a:rPr lang="en-US" i="1">
                                  <a:latin typeface="Cambria Math" panose="02040503050406030204" pitchFamily="18" charset="0"/>
                                </a:rPr>
                              </m:ctrlPr>
                            </m:sSupPr>
                            <m:e>
                              <m:r>
                                <a:rPr lang="en-US">
                                  <a:latin typeface="Cambria Math" panose="02040503050406030204" pitchFamily="18" charset="0"/>
                                </a:rPr>
                                <m:t>)</m:t>
                              </m:r>
                            </m:e>
                            <m:sup>
                              <m:r>
                                <a:rPr lang="en-US" b="0" i="1" smtClean="0">
                                  <a:latin typeface="Cambria Math" panose="02040503050406030204" pitchFamily="18" charset="0"/>
                                </a:rPr>
                                <m:t>𝑇</m:t>
                              </m:r>
                            </m:sup>
                          </m:sSup>
                          <m:sSubSup>
                            <m:sSubSupPr>
                              <m:ctrlPr>
                                <a:rPr lang="en-US" i="1">
                                  <a:latin typeface="Cambria Math" panose="02040503050406030204" pitchFamily="18" charset="0"/>
                                </a:rPr>
                              </m:ctrlPr>
                            </m:sSubSupPr>
                            <m:e>
                              <m:r>
                                <m:rPr>
                                  <m:sty m:val="p"/>
                                </m:rPr>
                                <a:rPr lang="en-US">
                                  <a:latin typeface="Cambria Math" panose="02040503050406030204" pitchFamily="18" charset="0"/>
                                </a:rPr>
                                <m:t>Σ</m:t>
                              </m:r>
                            </m:e>
                            <m:sub>
                              <m:r>
                                <a:rPr lang="en-US" i="1">
                                  <a:latin typeface="Cambria Math" panose="02040503050406030204" pitchFamily="18" charset="0"/>
                                </a:rPr>
                                <m:t>𝑦</m:t>
                              </m:r>
                            </m:sub>
                            <m:sup>
                              <m:r>
                                <a:rPr lang="en-US" i="1">
                                  <a:latin typeface="Cambria Math" panose="02040503050406030204" pitchFamily="18" charset="0"/>
                                </a:rPr>
                                <m:t>−</m:t>
                              </m:r>
                              <m:r>
                                <a:rPr lang="en-US">
                                  <a:latin typeface="Cambria Math" panose="02040503050406030204" pitchFamily="18" charset="0"/>
                                </a:rPr>
                                <m:t>1</m:t>
                              </m:r>
                            </m:sup>
                          </m:sSubSup>
                          <m:r>
                            <a:rPr lang="en-US">
                              <a:latin typeface="Cambria Math" panose="02040503050406030204" pitchFamily="18" charset="0"/>
                            </a:rPr>
                            <m:t>(</m:t>
                          </m:r>
                          <m:r>
                            <a:rPr lang="en-US" i="1">
                              <a:latin typeface="Cambria Math" panose="02040503050406030204" pitchFamily="18" charset="0"/>
                            </a:rPr>
                            <m:t>𝑦</m:t>
                          </m:r>
                          <m:r>
                            <a:rPr lang="en-US" i="1">
                              <a:latin typeface="Cambria Math" panose="02040503050406030204" pitchFamily="18" charset="0"/>
                            </a:rPr>
                            <m:t>−</m:t>
                          </m:r>
                          <m:r>
                            <a:rPr lang="en-US" i="1">
                              <a:latin typeface="Cambria Math" panose="02040503050406030204" pitchFamily="18" charset="0"/>
                            </a:rPr>
                            <m:t>𝑋</m:t>
                          </m:r>
                          <m:acc>
                            <m:accPr>
                              <m:chr m:val="ˆ"/>
                              <m:ctrlPr>
                                <a:rPr lang="en-US" i="1">
                                  <a:latin typeface="Cambria Math" panose="02040503050406030204" pitchFamily="18" charset="0"/>
                                </a:rPr>
                              </m:ctrlPr>
                            </m:accPr>
                            <m:e>
                              <m:r>
                                <a:rPr lang="en-US" i="1">
                                  <a:latin typeface="Cambria Math" panose="02040503050406030204" pitchFamily="18" charset="0"/>
                                </a:rPr>
                                <m:t>𝛽</m:t>
                              </m:r>
                            </m:e>
                          </m:acc>
                          <m:r>
                            <a:rPr lang="en-US">
                              <a:latin typeface="Cambria Math" panose="02040503050406030204" pitchFamily="18" charset="0"/>
                            </a:rPr>
                            <m:t>)</m:t>
                          </m:r>
                        </m:e>
                      </m:d>
                    </m:oMath>
                  </m:oMathPara>
                </a14:m>
                <a:endParaRPr lang="el-GR"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63685516-1EA6-2F41-53FB-7930363276F4}"/>
                  </a:ext>
                </a:extLst>
              </p:cNvPr>
              <p:cNvSpPr>
                <a:spLocks noGrp="1" noRot="1" noChangeAspect="1" noMove="1" noResize="1" noEditPoints="1" noAdjustHandles="1" noChangeArrowheads="1" noChangeShapeType="1" noTextEdit="1"/>
              </p:cNvSpPr>
              <p:nvPr>
                <p:ph idx="1"/>
              </p:nvPr>
            </p:nvSpPr>
            <p:spPr>
              <a:blipFill>
                <a:blip r:embed="rId3"/>
                <a:stretch>
                  <a:fillRect l="-1341" t="-1473"/>
                </a:stretch>
              </a:blipFill>
            </p:spPr>
            <p:txBody>
              <a:bodyPr/>
              <a:lstStyle/>
              <a:p>
                <a:r>
                  <a:rPr lang="en-US">
                    <a:noFill/>
                  </a:rPr>
                  <a:t> </a:t>
                </a:r>
              </a:p>
            </p:txBody>
          </p:sp>
        </mc:Fallback>
      </mc:AlternateContent>
    </p:spTree>
    <p:extLst>
      <p:ext uri="{BB962C8B-B14F-4D97-AF65-F5344CB8AC3E}">
        <p14:creationId xmlns:p14="http://schemas.microsoft.com/office/powerpoint/2010/main" val="1517887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532AA-3CF5-9968-0D63-B90E3B3E95C2}"/>
              </a:ext>
            </a:extLst>
          </p:cNvPr>
          <p:cNvSpPr>
            <a:spLocks noGrp="1"/>
          </p:cNvSpPr>
          <p:nvPr>
            <p:ph type="title"/>
          </p:nvPr>
        </p:nvSpPr>
        <p:spPr/>
        <p:txBody>
          <a:bodyPr/>
          <a:lstStyle/>
          <a:p>
            <a:r>
              <a:rPr lang="en-US" dirty="0"/>
              <a:t>Regression with Unequal Unknown Variances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5E31BA4-8AF6-527F-6A80-D5222D587F47}"/>
                  </a:ext>
                </a:extLst>
              </p:cNvPr>
              <p:cNvSpPr>
                <a:spLocks noGrp="1"/>
              </p:cNvSpPr>
              <p:nvPr>
                <p:ph idx="1"/>
              </p:nvPr>
            </p:nvSpPr>
            <p:spPr/>
            <p:txBody>
              <a:bodyPr/>
              <a:lstStyle/>
              <a:p>
                <a:r>
                  <a:rPr lang="en-US" dirty="0"/>
                  <a:t>In theory, </a:t>
                </a:r>
                <a14:m>
                  <m:oMath xmlns:m="http://schemas.openxmlformats.org/officeDocument/2006/math">
                    <m:r>
                      <a:rPr lang="en-US" i="1">
                        <a:latin typeface="Cambria Math" panose="02040503050406030204" pitchFamily="18" charset="0"/>
                      </a:rPr>
                      <m:t>𝑝</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𝑦</m:t>
                            </m:r>
                          </m:sub>
                        </m:sSub>
                        <m:r>
                          <a:rPr lang="en-US">
                            <a:latin typeface="Cambria Math" panose="02040503050406030204" pitchFamily="18" charset="0"/>
                          </a:rPr>
                          <m:t>∣</m:t>
                        </m:r>
                        <m:r>
                          <a:rPr lang="en-US" i="1">
                            <a:latin typeface="Cambria Math" panose="02040503050406030204" pitchFamily="18" charset="0"/>
                          </a:rPr>
                          <m:t>𝑦</m:t>
                        </m:r>
                      </m:e>
                    </m:d>
                  </m:oMath>
                </a14:m>
                <a:r>
                  <a:rPr lang="en-US" dirty="0"/>
                  <a:t> could be evaluated for a range of values of </a:t>
                </a:r>
                <a14:m>
                  <m:oMath xmlns:m="http://schemas.openxmlformats.org/officeDocument/2006/math">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𝑦</m:t>
                        </m:r>
                      </m:sub>
                    </m:sSub>
                  </m:oMath>
                </a14:m>
                <a:r>
                  <a:rPr lang="en-US" dirty="0"/>
                  <a:t>. However:</a:t>
                </a:r>
              </a:p>
              <a:p>
                <a:pPr marL="1441450" lvl="1" indent="-742950">
                  <a:buFont typeface="+mj-lt"/>
                  <a:buAutoNum type="arabicPeriod"/>
                </a:pPr>
                <a:r>
                  <a:rPr lang="en-US" dirty="0"/>
                  <a:t>It is difficult to determine a prior for an </a:t>
                </a:r>
                <a14:m>
                  <m:oMath xmlns:m="http://schemas.openxmlformats.org/officeDocument/2006/math">
                    <m:r>
                      <a:rPr lang="en-US" i="1">
                        <a:latin typeface="Cambria Math" panose="02040503050406030204" pitchFamily="18" charset="0"/>
                      </a:rPr>
                      <m:t>𝑛</m:t>
                    </m:r>
                    <m:r>
                      <a:rPr lang="en-US">
                        <a:latin typeface="Cambria Math" panose="02040503050406030204" pitchFamily="18" charset="0"/>
                      </a:rPr>
                      <m:t>×</m:t>
                    </m:r>
                    <m:r>
                      <a:rPr lang="en-US" i="1">
                        <a:latin typeface="Cambria Math" panose="02040503050406030204" pitchFamily="18" charset="0"/>
                      </a:rPr>
                      <m:t>𝑛</m:t>
                    </m:r>
                  </m:oMath>
                </a14:m>
                <a:r>
                  <a:rPr lang="en-US" dirty="0"/>
                  <a:t> unstructured matrix.</a:t>
                </a:r>
              </a:p>
              <a:p>
                <a:pPr marL="1441450" lvl="1" indent="-742950">
                  <a:buFont typeface="+mj-lt"/>
                  <a:buAutoNum type="arabicPeriod"/>
                </a:pPr>
                <a14:m>
                  <m:oMath xmlns:m="http://schemas.openxmlformats.org/officeDocument/2006/math">
                    <m:acc>
                      <m:accPr>
                        <m:chr m:val="ˆ"/>
                        <m:ctrlPr>
                          <a:rPr lang="en-US" i="1">
                            <a:latin typeface="Cambria Math" panose="02040503050406030204" pitchFamily="18" charset="0"/>
                          </a:rPr>
                        </m:ctrlPr>
                      </m:accPr>
                      <m:e>
                        <m:r>
                          <a:rPr lang="en-US" i="1">
                            <a:latin typeface="Cambria Math" panose="02040503050406030204" pitchFamily="18" charset="0"/>
                          </a:rPr>
                          <m:t>𝛽</m:t>
                        </m:r>
                      </m:e>
                    </m:acc>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𝛽</m:t>
                        </m:r>
                      </m:sub>
                    </m:sSub>
                  </m:oMath>
                </a14:m>
                <a:r>
                  <a:rPr lang="en-US" dirty="0"/>
                  <a:t> depend on </a:t>
                </a:r>
                <a14:m>
                  <m:oMath xmlns:m="http://schemas.openxmlformats.org/officeDocument/2006/math">
                    <m:sSub>
                      <m:sSubPr>
                        <m:ctrlPr>
                          <a:rPr lang="en-US" i="1" smtClean="0">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𝑦</m:t>
                        </m:r>
                      </m:sub>
                    </m:sSub>
                  </m:oMath>
                </a14:m>
                <a:r>
                  <a:rPr lang="en-US" dirty="0"/>
                  <a:t> and it is very difficult to draw values of </a:t>
                </a:r>
                <a14:m>
                  <m:oMath xmlns:m="http://schemas.openxmlformats.org/officeDocument/2006/math">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𝑦</m:t>
                        </m:r>
                      </m:sub>
                    </m:sSub>
                  </m:oMath>
                </a14:m>
                <a:r>
                  <a:rPr lang="en-US" dirty="0"/>
                  <a:t> from </a:t>
                </a:r>
                <a14:m>
                  <m:oMath xmlns:m="http://schemas.openxmlformats.org/officeDocument/2006/math">
                    <m:r>
                      <a:rPr lang="en-US" i="1">
                        <a:latin typeface="Cambria Math" panose="02040503050406030204" pitchFamily="18" charset="0"/>
                      </a:rPr>
                      <m:t>𝑝</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𝑦</m:t>
                            </m:r>
                          </m:sub>
                        </m:sSub>
                        <m:r>
                          <a:rPr lang="en-US">
                            <a:latin typeface="Cambria Math" panose="02040503050406030204" pitchFamily="18" charset="0"/>
                          </a:rPr>
                          <m:t>∣</m:t>
                        </m:r>
                        <m:r>
                          <a:rPr lang="en-US" i="1">
                            <a:latin typeface="Cambria Math" panose="02040503050406030204" pitchFamily="18" charset="0"/>
                          </a:rPr>
                          <m:t>𝑦</m:t>
                        </m:r>
                      </m:e>
                    </m:d>
                  </m:oMath>
                </a14:m>
                <a:r>
                  <a:rPr lang="en-US" dirty="0"/>
                  <a:t>.</a:t>
                </a:r>
              </a:p>
              <a:p>
                <a:r>
                  <a:rPr lang="en-US" dirty="0"/>
                  <a:t>	Need to put some structure on </a:t>
                </a:r>
                <a14:m>
                  <m:oMath xmlns:m="http://schemas.openxmlformats.org/officeDocument/2006/math">
                    <m:sSub>
                      <m:sSubPr>
                        <m:ctrlPr>
                          <a:rPr lang="en-US" i="1" smtClean="0">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𝑦</m:t>
                        </m:r>
                      </m:sub>
                    </m:sSub>
                  </m:oMath>
                </a14:m>
                <a:r>
                  <a:rPr lang="en-US" dirty="0"/>
                  <a:t>.</a:t>
                </a:r>
              </a:p>
              <a:p>
                <a:endParaRPr lang="en-US" dirty="0"/>
              </a:p>
              <a:p>
                <a:endParaRPr lang="en-US" dirty="0"/>
              </a:p>
            </p:txBody>
          </p:sp>
        </mc:Choice>
        <mc:Fallback xmlns="">
          <p:sp>
            <p:nvSpPr>
              <p:cNvPr id="3" name="Content Placeholder 2">
                <a:extLst>
                  <a:ext uri="{FF2B5EF4-FFF2-40B4-BE49-F238E27FC236}">
                    <a16:creationId xmlns:a16="http://schemas.microsoft.com/office/drawing/2014/main" id="{95E31BA4-8AF6-527F-6A80-D5222D587F47}"/>
                  </a:ext>
                </a:extLst>
              </p:cNvPr>
              <p:cNvSpPr>
                <a:spLocks noGrp="1" noRot="1" noChangeAspect="1" noMove="1" noResize="1" noEditPoints="1" noAdjustHandles="1" noChangeArrowheads="1" noChangeShapeType="1" noTextEdit="1"/>
              </p:cNvSpPr>
              <p:nvPr>
                <p:ph idx="1"/>
              </p:nvPr>
            </p:nvSpPr>
            <p:spPr>
              <a:blipFill>
                <a:blip r:embed="rId3"/>
                <a:stretch>
                  <a:fillRect l="-1104" t="-1105"/>
                </a:stretch>
              </a:blipFill>
            </p:spPr>
            <p:txBody>
              <a:bodyPr/>
              <a:lstStyle/>
              <a:p>
                <a:r>
                  <a:rPr lang="en-US">
                    <a:noFill/>
                  </a:rPr>
                  <a:t> </a:t>
                </a:r>
              </a:p>
            </p:txBody>
          </p:sp>
        </mc:Fallback>
      </mc:AlternateContent>
    </p:spTree>
    <p:extLst>
      <p:ext uri="{BB962C8B-B14F-4D97-AF65-F5344CB8AC3E}">
        <p14:creationId xmlns:p14="http://schemas.microsoft.com/office/powerpoint/2010/main" val="746423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568E5E2F-52BA-081B-CBD6-7D1BBE6154B1}"/>
                  </a:ext>
                </a:extLst>
              </p:cNvPr>
              <p:cNvSpPr>
                <a:spLocks noGrp="1"/>
              </p:cNvSpPr>
              <p:nvPr>
                <p:ph type="title"/>
              </p:nvPr>
            </p:nvSpPr>
            <p:spPr/>
            <p:txBody>
              <a:bodyPr/>
              <a:lstStyle/>
              <a:p>
                <a:r>
                  <a:rPr lang="en-US" dirty="0"/>
                  <a:t>Regression with </a:t>
                </a:r>
                <a14:m>
                  <m:oMath xmlns:m="http://schemas.openxmlformats.org/officeDocument/2006/math">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𝑦</m:t>
                        </m:r>
                      </m:sub>
                    </m:sSub>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i="1">
                        <a:latin typeface="Cambria Math" panose="02040503050406030204" pitchFamily="18" charset="0"/>
                      </a:rPr>
                      <m:t>𝑄</m:t>
                    </m:r>
                  </m:oMath>
                </a14:m>
                <a:endParaRPr lang="en-US" dirty="0"/>
              </a:p>
            </p:txBody>
          </p:sp>
        </mc:Choice>
        <mc:Fallback xmlns="">
          <p:sp>
            <p:nvSpPr>
              <p:cNvPr id="2" name="Title 1">
                <a:extLst>
                  <a:ext uri="{FF2B5EF4-FFF2-40B4-BE49-F238E27FC236}">
                    <a16:creationId xmlns:a16="http://schemas.microsoft.com/office/drawing/2014/main" id="{568E5E2F-52BA-081B-CBD6-7D1BBE6154B1}"/>
                  </a:ext>
                </a:extLst>
              </p:cNvPr>
              <p:cNvSpPr>
                <a:spLocks noGrp="1" noRot="1" noChangeAspect="1" noMove="1" noResize="1" noEditPoints="1" noAdjustHandles="1" noChangeArrowheads="1" noChangeShapeType="1" noTextEdit="1"/>
              </p:cNvSpPr>
              <p:nvPr>
                <p:ph type="title"/>
              </p:nvPr>
            </p:nvSpPr>
            <p:spPr>
              <a:blipFill>
                <a:blip r:embed="rId3"/>
                <a:stretch>
                  <a:fillRect b="-1869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57F1C5D-7B6C-B2E6-CB25-0FFD0ED75692}"/>
                  </a:ext>
                </a:extLst>
              </p:cNvPr>
              <p:cNvSpPr>
                <a:spLocks noGrp="1"/>
              </p:cNvSpPr>
              <p:nvPr>
                <p:ph idx="1"/>
              </p:nvPr>
            </p:nvSpPr>
            <p:spPr/>
            <p:txBody>
              <a:bodyPr/>
              <a:lstStyle/>
              <a:p>
                <a:r>
                  <a:rPr lang="en-US" dirty="0"/>
                  <a:t>Suppose that we know </a:t>
                </a:r>
                <a14:m>
                  <m:oMath xmlns:m="http://schemas.openxmlformats.org/officeDocument/2006/math">
                    <m:sSub>
                      <m:sSubPr>
                        <m:ctrlPr>
                          <a:rPr lang="en-US" i="1" smtClean="0">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𝑦</m:t>
                        </m:r>
                      </m:sub>
                    </m:sSub>
                  </m:oMath>
                </a14:m>
                <a:r>
                  <a:rPr lang="en-US" dirty="0"/>
                  <a:t> up to some unknown scalar factor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oMath>
                </a14:m>
                <a:r>
                  <a:rPr lang="en-US" dirty="0"/>
                  <a:t>.</a:t>
                </a:r>
              </a:p>
              <a:p>
                <a:r>
                  <a:rPr lang="en-US" dirty="0"/>
                  <a:t>Non-informative prior on </a:t>
                </a:r>
                <a14:m>
                  <m:oMath xmlns:m="http://schemas.openxmlformats.org/officeDocument/2006/math">
                    <m:r>
                      <a:rPr lang="en-US" i="1">
                        <a:latin typeface="Cambria Math" panose="02040503050406030204" pitchFamily="18" charset="0"/>
                      </a:rPr>
                      <m:t>𝛽</m:t>
                    </m:r>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oMath>
                </a14:m>
                <a:r>
                  <a:rPr lang="en-US" dirty="0"/>
                  <a:t> is </a:t>
                </a:r>
                <a14:m>
                  <m:oMath xmlns:m="http://schemas.openxmlformats.org/officeDocument/2006/math">
                    <m:r>
                      <a:rPr lang="en-US" i="1">
                        <a:latin typeface="Cambria Math" panose="02040503050406030204" pitchFamily="18" charset="0"/>
                      </a:rPr>
                      <m:t>𝑝</m:t>
                    </m:r>
                    <m:d>
                      <m:dPr>
                        <m:ctrlPr>
                          <a:rPr lang="en-US" i="1">
                            <a:latin typeface="Cambria Math" panose="02040503050406030204" pitchFamily="18" charset="0"/>
                          </a:rPr>
                        </m:ctrlPr>
                      </m:dPr>
                      <m:e>
                        <m:r>
                          <a:rPr lang="en-US" i="1">
                            <a:latin typeface="Cambria Math" panose="02040503050406030204" pitchFamily="18" charset="0"/>
                          </a:rPr>
                          <m:t>𝛽</m:t>
                        </m:r>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e>
                    </m:d>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i="1">
                            <a:latin typeface="Cambria Math" panose="02040503050406030204" pitchFamily="18" charset="0"/>
                          </a:rPr>
                          <m:t>−</m:t>
                        </m:r>
                        <m:r>
                          <a:rPr lang="en-US">
                            <a:latin typeface="Cambria Math" panose="02040503050406030204" pitchFamily="18" charset="0"/>
                          </a:rPr>
                          <m:t>2</m:t>
                        </m:r>
                      </m:sup>
                    </m:sSup>
                  </m:oMath>
                </a14:m>
                <a:endParaRPr lang="en-US" dirty="0"/>
              </a:p>
              <a:p>
                <a:r>
                  <a:rPr lang="en-US" dirty="0"/>
                  <a:t>Results follow directly from ordinary linear regression, by using transformation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𝑄</m:t>
                        </m:r>
                      </m:e>
                      <m:sub>
                        <m:r>
                          <a:rPr lang="en-US" i="1">
                            <a:latin typeface="Cambria Math" panose="02040503050406030204" pitchFamily="18" charset="0"/>
                          </a:rPr>
                          <m:t>𝑦</m:t>
                        </m:r>
                      </m:sub>
                      <m:sup>
                        <m:r>
                          <a:rPr lang="en-US" i="1">
                            <a:latin typeface="Cambria Math" panose="02040503050406030204" pitchFamily="18" charset="0"/>
                          </a:rPr>
                          <m:t>−</m:t>
                        </m:r>
                        <m:r>
                          <a:rPr lang="en-US">
                            <a:latin typeface="Cambria Math" panose="02040503050406030204" pitchFamily="18" charset="0"/>
                          </a:rPr>
                          <m:t>1/2</m:t>
                        </m:r>
                      </m:sup>
                    </m:sSubSup>
                  </m:oMath>
                </a14:m>
                <a:r>
                  <a:rPr lang="en-US" dirty="0"/>
                  <a:t> and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𝑄</m:t>
                        </m:r>
                      </m:e>
                      <m:sub>
                        <m:r>
                          <a:rPr lang="en-US" i="1">
                            <a:latin typeface="Cambria Math" panose="02040503050406030204" pitchFamily="18" charset="0"/>
                          </a:rPr>
                          <m:t>𝑦</m:t>
                        </m:r>
                      </m:sub>
                      <m:sup>
                        <m:r>
                          <a:rPr lang="en-US" i="1">
                            <a:latin typeface="Cambria Math" panose="02040503050406030204" pitchFamily="18" charset="0"/>
                          </a:rPr>
                          <m:t>−</m:t>
                        </m:r>
                        <m:r>
                          <a:rPr lang="en-US">
                            <a:latin typeface="Cambria Math" panose="02040503050406030204" pitchFamily="18" charset="0"/>
                          </a:rPr>
                          <m:t>1/2</m:t>
                        </m:r>
                      </m:sup>
                    </m:sSubSup>
                    <m:r>
                      <a:rPr lang="en-US" i="1">
                        <a:latin typeface="Cambria Math" panose="02040503050406030204" pitchFamily="18" charset="0"/>
                      </a:rPr>
                      <m:t>𝑋</m:t>
                    </m:r>
                  </m:oMath>
                </a14:m>
                <a:r>
                  <a:rPr lang="en-US" dirty="0"/>
                  <a:t>, which is equivalent to computing</a:t>
                </a:r>
              </a:p>
              <a:p>
                <a:pPr marL="0" indent="0">
                  <a:buNone/>
                </a:pPr>
                <a14:m>
                  <m:oMathPara xmlns:m="http://schemas.openxmlformats.org/officeDocument/2006/math">
                    <m:oMathParaPr>
                      <m:jc m:val="centerGroup"/>
                    </m:oMathParaPr>
                    <m:oMath xmlns:m="http://schemas.openxmlformats.org/officeDocument/2006/math">
                      <m:acc>
                        <m:accPr>
                          <m:chr m:val="ˆ"/>
                          <m:ctrlPr>
                            <a:rPr lang="en-US" i="1">
                              <a:latin typeface="Cambria Math" panose="02040503050406030204" pitchFamily="18" charset="0"/>
                            </a:rPr>
                          </m:ctrlPr>
                        </m:accPr>
                        <m:e>
                          <m:r>
                            <a:rPr lang="en-US" i="1">
                              <a:latin typeface="Cambria Math" panose="02040503050406030204" pitchFamily="18" charset="0"/>
                            </a:rPr>
                            <m:t>𝛽</m:t>
                          </m:r>
                        </m:e>
                      </m:acc>
                      <m:r>
                        <a:rPr lang="en-US">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𝑋</m:t>
                                  </m:r>
                                </m:e>
                                <m:sup>
                                  <m:r>
                                    <a:rPr lang="en-US" b="0" i="1" smtClean="0">
                                      <a:latin typeface="Cambria Math" panose="02040503050406030204" pitchFamily="18" charset="0"/>
                                    </a:rPr>
                                    <m:t>𝑇</m:t>
                                  </m:r>
                                </m:sup>
                              </m:sSup>
                              <m:sSubSup>
                                <m:sSubSupPr>
                                  <m:ctrlPr>
                                    <a:rPr lang="en-US" i="1">
                                      <a:latin typeface="Cambria Math" panose="02040503050406030204" pitchFamily="18" charset="0"/>
                                    </a:rPr>
                                  </m:ctrlPr>
                                </m:sSubSupPr>
                                <m:e>
                                  <m:r>
                                    <a:rPr lang="en-US" i="1">
                                      <a:latin typeface="Cambria Math" panose="02040503050406030204" pitchFamily="18" charset="0"/>
                                    </a:rPr>
                                    <m:t>𝑄</m:t>
                                  </m:r>
                                </m:e>
                                <m:sub>
                                  <m:r>
                                    <a:rPr lang="en-US" i="1">
                                      <a:latin typeface="Cambria Math" panose="02040503050406030204" pitchFamily="18" charset="0"/>
                                    </a:rPr>
                                    <m:t>𝑦</m:t>
                                  </m:r>
                                </m:sub>
                                <m:sup>
                                  <m:r>
                                    <a:rPr lang="en-US" i="1">
                                      <a:latin typeface="Cambria Math" panose="02040503050406030204" pitchFamily="18" charset="0"/>
                                    </a:rPr>
                                    <m:t>−</m:t>
                                  </m:r>
                                  <m:r>
                                    <a:rPr lang="en-US">
                                      <a:latin typeface="Cambria Math" panose="02040503050406030204" pitchFamily="18" charset="0"/>
                                    </a:rPr>
                                    <m:t>1</m:t>
                                  </m:r>
                                </m:sup>
                              </m:sSubSup>
                              <m:r>
                                <a:rPr lang="en-US" i="1">
                                  <a:latin typeface="Cambria Math" panose="02040503050406030204" pitchFamily="18" charset="0"/>
                                </a:rPr>
                                <m:t>𝑋</m:t>
                              </m:r>
                            </m:e>
                          </m:d>
                        </m:e>
                        <m:sup>
                          <m:r>
                            <a:rPr lang="en-US" i="1">
                              <a:latin typeface="Cambria Math" panose="02040503050406030204" pitchFamily="18" charset="0"/>
                            </a:rPr>
                            <m:t>−</m:t>
                          </m:r>
                          <m:r>
                            <a:rPr lang="en-US">
                              <a:latin typeface="Cambria Math" panose="02040503050406030204" pitchFamily="18" charset="0"/>
                            </a:rPr>
                            <m:t>1</m:t>
                          </m:r>
                        </m:sup>
                      </m:sSup>
                      <m:sSup>
                        <m:sSupPr>
                          <m:ctrlPr>
                            <a:rPr lang="en-US" i="1">
                              <a:latin typeface="Cambria Math" panose="02040503050406030204" pitchFamily="18" charset="0"/>
                            </a:rPr>
                          </m:ctrlPr>
                        </m:sSupPr>
                        <m:e>
                          <m:r>
                            <a:rPr lang="en-US" i="1">
                              <a:latin typeface="Cambria Math" panose="02040503050406030204" pitchFamily="18" charset="0"/>
                            </a:rPr>
                            <m:t>𝑋</m:t>
                          </m:r>
                        </m:e>
                        <m:sup>
                          <m:r>
                            <a:rPr lang="en-US" b="0" i="1" smtClean="0">
                              <a:latin typeface="Cambria Math" panose="02040503050406030204" pitchFamily="18" charset="0"/>
                            </a:rPr>
                            <m:t>𝑇</m:t>
                          </m:r>
                        </m:sup>
                      </m:sSup>
                      <m:sSubSup>
                        <m:sSubSupPr>
                          <m:ctrlPr>
                            <a:rPr lang="en-US" i="1">
                              <a:latin typeface="Cambria Math" panose="02040503050406030204" pitchFamily="18" charset="0"/>
                            </a:rPr>
                          </m:ctrlPr>
                        </m:sSubSupPr>
                        <m:e>
                          <m:r>
                            <a:rPr lang="en-US" i="1">
                              <a:latin typeface="Cambria Math" panose="02040503050406030204" pitchFamily="18" charset="0"/>
                            </a:rPr>
                            <m:t>𝑄</m:t>
                          </m:r>
                        </m:e>
                        <m:sub>
                          <m:r>
                            <a:rPr lang="en-US" i="1">
                              <a:latin typeface="Cambria Math" panose="02040503050406030204" pitchFamily="18" charset="0"/>
                            </a:rPr>
                            <m:t>𝑦</m:t>
                          </m:r>
                        </m:sub>
                        <m:sup>
                          <m:r>
                            <a:rPr lang="en-US" i="1">
                              <a:latin typeface="Cambria Math" panose="02040503050406030204" pitchFamily="18" charset="0"/>
                            </a:rPr>
                            <m:t>−</m:t>
                          </m:r>
                          <m:r>
                            <a:rPr lang="en-US">
                              <a:latin typeface="Cambria Math" panose="02040503050406030204" pitchFamily="18" charset="0"/>
                            </a:rPr>
                            <m:t>1</m:t>
                          </m:r>
                        </m:sup>
                      </m:sSubSup>
                      <m:r>
                        <a:rPr lang="en-US" i="1">
                          <a:latin typeface="Cambria Math" panose="02040503050406030204" pitchFamily="18" charset="0"/>
                        </a:rPr>
                        <m:t>𝑦</m:t>
                      </m:r>
                    </m:oMath>
                  </m:oMathPara>
                </a14:m>
                <a:endParaRPr lang="en-US" dirty="0"/>
              </a:p>
              <a:p>
                <a:pPr marL="0" indent="0">
                  <a:buNone/>
                </a:pPr>
                <a14:m>
                  <m:oMathPara xmlns:m="http://schemas.openxmlformats.org/officeDocument/2006/math">
                    <m:oMathParaPr>
                      <m:jc m:val="centerGroup"/>
                    </m:oMathParaPr>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𝛽</m:t>
                          </m:r>
                        </m:sub>
                      </m:sSub>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sSup>
                        <m:sSupPr>
                          <m:ctrlPr>
                            <a:rPr lang="en-US" i="1">
                              <a:latin typeface="Cambria Math" panose="02040503050406030204" pitchFamily="18" charset="0"/>
                            </a:rPr>
                          </m:ctrlPr>
                        </m:sSupPr>
                        <m:e>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𝑋</m:t>
                                  </m:r>
                                </m:e>
                                <m:sup>
                                  <m:r>
                                    <a:rPr lang="en-US" b="0" i="1" smtClean="0">
                                      <a:latin typeface="Cambria Math" panose="02040503050406030204" pitchFamily="18" charset="0"/>
                                    </a:rPr>
                                    <m:t>𝑇</m:t>
                                  </m:r>
                                </m:sup>
                              </m:sSup>
                              <m:sSubSup>
                                <m:sSubSupPr>
                                  <m:ctrlPr>
                                    <a:rPr lang="en-US" i="1">
                                      <a:latin typeface="Cambria Math" panose="02040503050406030204" pitchFamily="18" charset="0"/>
                                    </a:rPr>
                                  </m:ctrlPr>
                                </m:sSubSupPr>
                                <m:e>
                                  <m:r>
                                    <a:rPr lang="en-US" i="1">
                                      <a:latin typeface="Cambria Math" panose="02040503050406030204" pitchFamily="18" charset="0"/>
                                    </a:rPr>
                                    <m:t>𝑄</m:t>
                                  </m:r>
                                </m:e>
                                <m:sub>
                                  <m:r>
                                    <a:rPr lang="en-US" i="1">
                                      <a:latin typeface="Cambria Math" panose="02040503050406030204" pitchFamily="18" charset="0"/>
                                    </a:rPr>
                                    <m:t>𝑦</m:t>
                                  </m:r>
                                </m:sub>
                                <m:sup>
                                  <m:r>
                                    <a:rPr lang="en-US" i="1">
                                      <a:latin typeface="Cambria Math" panose="02040503050406030204" pitchFamily="18" charset="0"/>
                                    </a:rPr>
                                    <m:t>−</m:t>
                                  </m:r>
                                  <m:r>
                                    <a:rPr lang="en-US">
                                      <a:latin typeface="Cambria Math" panose="02040503050406030204" pitchFamily="18" charset="0"/>
                                    </a:rPr>
                                    <m:t>1</m:t>
                                  </m:r>
                                </m:sup>
                              </m:sSubSup>
                              <m:r>
                                <a:rPr lang="en-US" i="1">
                                  <a:latin typeface="Cambria Math" panose="02040503050406030204" pitchFamily="18" charset="0"/>
                                </a:rPr>
                                <m:t>𝑋</m:t>
                              </m:r>
                            </m:e>
                          </m:d>
                        </m:e>
                        <m:sup>
                          <m:r>
                            <a:rPr lang="en-US" i="1">
                              <a:latin typeface="Cambria Math" panose="02040503050406030204" pitchFamily="18" charset="0"/>
                            </a:rPr>
                            <m:t>−</m:t>
                          </m:r>
                          <m:r>
                            <a:rPr lang="en-US">
                              <a:latin typeface="Cambria Math" panose="02040503050406030204" pitchFamily="18" charset="0"/>
                            </a:rPr>
                            <m:t>1</m:t>
                          </m:r>
                        </m:sup>
                      </m:sSup>
                    </m:oMath>
                  </m:oMathPara>
                </a14:m>
                <a:endParaRPr lang="en-US" dirty="0"/>
              </a:p>
              <a:p>
                <a:pPr marL="0" indent="0">
                  <a:buNone/>
                </a:pPr>
                <a14:m>
                  <m:oMathPara xmlns:m="http://schemas.openxmlformats.org/officeDocument/2006/math">
                    <m:oMathParaPr>
                      <m:jc m:val="centerGroup"/>
                    </m:oMathParaPr>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𝑠</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𝑛</m:t>
                      </m:r>
                      <m:r>
                        <a:rPr lang="en-US" i="1">
                          <a:latin typeface="Cambria Math" panose="02040503050406030204" pitchFamily="18" charset="0"/>
                        </a:rPr>
                        <m:t>−</m:t>
                      </m:r>
                      <m:r>
                        <a:rPr lang="en-US" i="1">
                          <a:latin typeface="Cambria Math" panose="02040503050406030204" pitchFamily="18" charset="0"/>
                        </a:rPr>
                        <m:t>𝑘</m:t>
                      </m:r>
                      <m:sSup>
                        <m:sSupPr>
                          <m:ctrlPr>
                            <a:rPr lang="en-US" i="1">
                              <a:latin typeface="Cambria Math" panose="02040503050406030204" pitchFamily="18" charset="0"/>
                            </a:rPr>
                          </m:ctrlPr>
                        </m:sSupPr>
                        <m:e>
                          <m:r>
                            <a:rPr lang="en-US">
                              <a:latin typeface="Cambria Math" panose="02040503050406030204" pitchFamily="18" charset="0"/>
                            </a:rPr>
                            <m:t>)</m:t>
                          </m:r>
                        </m:e>
                        <m:sup>
                          <m:r>
                            <a:rPr lang="en-US" i="1">
                              <a:latin typeface="Cambria Math" panose="02040503050406030204" pitchFamily="18" charset="0"/>
                            </a:rPr>
                            <m:t>−</m:t>
                          </m:r>
                          <m:r>
                            <a:rPr lang="en-US">
                              <a:latin typeface="Cambria Math" panose="02040503050406030204" pitchFamily="18" charset="0"/>
                            </a:rPr>
                            <m:t>1</m:t>
                          </m:r>
                        </m:sup>
                      </m:sSup>
                      <m:r>
                        <a:rPr lang="en-US">
                          <a:latin typeface="Cambria Math" panose="02040503050406030204" pitchFamily="18" charset="0"/>
                        </a:rPr>
                        <m:t>(</m:t>
                      </m:r>
                      <m:r>
                        <a:rPr lang="en-US" i="1">
                          <a:latin typeface="Cambria Math" panose="02040503050406030204" pitchFamily="18" charset="0"/>
                        </a:rPr>
                        <m:t>𝑦</m:t>
                      </m:r>
                      <m:r>
                        <a:rPr lang="en-US" i="1">
                          <a:latin typeface="Cambria Math" panose="02040503050406030204" pitchFamily="18" charset="0"/>
                        </a:rPr>
                        <m:t>−</m:t>
                      </m:r>
                      <m:r>
                        <a:rPr lang="en-US" i="1">
                          <a:latin typeface="Cambria Math" panose="02040503050406030204" pitchFamily="18" charset="0"/>
                        </a:rPr>
                        <m:t>𝑋</m:t>
                      </m:r>
                      <m:acc>
                        <m:accPr>
                          <m:chr m:val="ˆ"/>
                          <m:ctrlPr>
                            <a:rPr lang="en-US" i="1">
                              <a:latin typeface="Cambria Math" panose="02040503050406030204" pitchFamily="18" charset="0"/>
                            </a:rPr>
                          </m:ctrlPr>
                        </m:accPr>
                        <m:e>
                          <m:r>
                            <a:rPr lang="en-US" i="1">
                              <a:latin typeface="Cambria Math" panose="02040503050406030204" pitchFamily="18" charset="0"/>
                            </a:rPr>
                            <m:t>𝛽</m:t>
                          </m:r>
                        </m:e>
                      </m:acc>
                      <m:sSup>
                        <m:sSupPr>
                          <m:ctrlPr>
                            <a:rPr lang="en-US" i="1">
                              <a:latin typeface="Cambria Math" panose="02040503050406030204" pitchFamily="18" charset="0"/>
                            </a:rPr>
                          </m:ctrlPr>
                        </m:sSupPr>
                        <m:e>
                          <m:r>
                            <a:rPr lang="en-US">
                              <a:latin typeface="Cambria Math" panose="02040503050406030204" pitchFamily="18" charset="0"/>
                            </a:rPr>
                            <m:t>)</m:t>
                          </m:r>
                        </m:e>
                        <m:sup>
                          <m:r>
                            <a:rPr lang="en-US" i="1">
                              <a:latin typeface="Cambria Math" panose="02040503050406030204" pitchFamily="18" charset="0"/>
                            </a:rPr>
                            <m:t>′</m:t>
                          </m:r>
                        </m:sup>
                      </m:sSup>
                      <m:sSubSup>
                        <m:sSubSupPr>
                          <m:ctrlPr>
                            <a:rPr lang="en-US" i="1">
                              <a:latin typeface="Cambria Math" panose="02040503050406030204" pitchFamily="18" charset="0"/>
                            </a:rPr>
                          </m:ctrlPr>
                        </m:sSubSupPr>
                        <m:e>
                          <m:r>
                            <a:rPr lang="en-US" i="1">
                              <a:latin typeface="Cambria Math" panose="02040503050406030204" pitchFamily="18" charset="0"/>
                            </a:rPr>
                            <m:t>𝑄</m:t>
                          </m:r>
                        </m:e>
                        <m:sub>
                          <m:r>
                            <a:rPr lang="en-US" i="1">
                              <a:latin typeface="Cambria Math" panose="02040503050406030204" pitchFamily="18" charset="0"/>
                            </a:rPr>
                            <m:t>𝑦</m:t>
                          </m:r>
                        </m:sub>
                        <m:sup>
                          <m:r>
                            <a:rPr lang="en-US" i="1">
                              <a:latin typeface="Cambria Math" panose="02040503050406030204" pitchFamily="18" charset="0"/>
                            </a:rPr>
                            <m:t>−</m:t>
                          </m:r>
                          <m:r>
                            <a:rPr lang="en-US">
                              <a:latin typeface="Cambria Math" panose="02040503050406030204" pitchFamily="18" charset="0"/>
                            </a:rPr>
                            <m:t>1</m:t>
                          </m:r>
                        </m:sup>
                      </m:sSubSup>
                      <m:r>
                        <a:rPr lang="en-US">
                          <a:latin typeface="Cambria Math" panose="02040503050406030204" pitchFamily="18" charset="0"/>
                        </a:rPr>
                        <m:t>(</m:t>
                      </m:r>
                      <m:r>
                        <a:rPr lang="en-US" i="1">
                          <a:latin typeface="Cambria Math" panose="02040503050406030204" pitchFamily="18" charset="0"/>
                        </a:rPr>
                        <m:t>𝑦</m:t>
                      </m:r>
                      <m:r>
                        <a:rPr lang="en-US" i="1">
                          <a:latin typeface="Cambria Math" panose="02040503050406030204" pitchFamily="18" charset="0"/>
                        </a:rPr>
                        <m:t>−</m:t>
                      </m:r>
                      <m:r>
                        <a:rPr lang="en-US" i="1">
                          <a:latin typeface="Cambria Math" panose="02040503050406030204" pitchFamily="18" charset="0"/>
                        </a:rPr>
                        <m:t>𝑋</m:t>
                      </m:r>
                      <m:acc>
                        <m:accPr>
                          <m:chr m:val="ˆ"/>
                          <m:ctrlPr>
                            <a:rPr lang="en-US" i="1">
                              <a:latin typeface="Cambria Math" panose="02040503050406030204" pitchFamily="18" charset="0"/>
                            </a:rPr>
                          </m:ctrlPr>
                        </m:accPr>
                        <m:e>
                          <m:r>
                            <a:rPr lang="en-US" i="1">
                              <a:latin typeface="Cambria Math" panose="02040503050406030204" pitchFamily="18" charset="0"/>
                            </a:rPr>
                            <m:t>𝛽</m:t>
                          </m:r>
                        </m:e>
                      </m:acc>
                      <m:r>
                        <a:rPr lang="en-US">
                          <a:latin typeface="Cambria Math" panose="02040503050406030204" pitchFamily="18" charset="0"/>
                        </a:rPr>
                        <m:t>)</m:t>
                      </m:r>
                    </m:oMath>
                  </m:oMathPara>
                </a14:m>
                <a:endParaRPr lang="en-US"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557F1C5D-7B6C-B2E6-CB25-0FFD0ED75692}"/>
                  </a:ext>
                </a:extLst>
              </p:cNvPr>
              <p:cNvSpPr>
                <a:spLocks noGrp="1" noRot="1" noChangeAspect="1" noMove="1" noResize="1" noEditPoints="1" noAdjustHandles="1" noChangeArrowheads="1" noChangeShapeType="1" noTextEdit="1"/>
              </p:cNvSpPr>
              <p:nvPr>
                <p:ph idx="1"/>
              </p:nvPr>
            </p:nvSpPr>
            <p:spPr>
              <a:blipFill>
                <a:blip r:embed="rId4"/>
                <a:stretch>
                  <a:fillRect l="-1104" t="-1842"/>
                </a:stretch>
              </a:blipFill>
            </p:spPr>
            <p:txBody>
              <a:bodyPr/>
              <a:lstStyle/>
              <a:p>
                <a:r>
                  <a:rPr lang="en-US">
                    <a:noFill/>
                  </a:rPr>
                  <a:t> </a:t>
                </a:r>
              </a:p>
            </p:txBody>
          </p:sp>
        </mc:Fallback>
      </mc:AlternateContent>
    </p:spTree>
    <p:extLst>
      <p:ext uri="{BB962C8B-B14F-4D97-AF65-F5344CB8AC3E}">
        <p14:creationId xmlns:p14="http://schemas.microsoft.com/office/powerpoint/2010/main" val="2822145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568E5E2F-52BA-081B-CBD6-7D1BBE6154B1}"/>
                  </a:ext>
                </a:extLst>
              </p:cNvPr>
              <p:cNvSpPr>
                <a:spLocks noGrp="1"/>
              </p:cNvSpPr>
              <p:nvPr>
                <p:ph type="title"/>
              </p:nvPr>
            </p:nvSpPr>
            <p:spPr/>
            <p:txBody>
              <a:bodyPr/>
              <a:lstStyle/>
              <a:p>
                <a:r>
                  <a:rPr lang="en-US" dirty="0"/>
                  <a:t>Joint Posterior Simulation with </a:t>
                </a:r>
                <a14:m>
                  <m:oMath xmlns:m="http://schemas.openxmlformats.org/officeDocument/2006/math">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𝑦</m:t>
                        </m:r>
                      </m:sub>
                    </m:sSub>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i="1">
                        <a:latin typeface="Cambria Math" panose="02040503050406030204" pitchFamily="18" charset="0"/>
                      </a:rPr>
                      <m:t>𝑄</m:t>
                    </m:r>
                  </m:oMath>
                </a14:m>
                <a:endParaRPr lang="en-US" dirty="0"/>
              </a:p>
            </p:txBody>
          </p:sp>
        </mc:Choice>
        <mc:Fallback xmlns="">
          <p:sp>
            <p:nvSpPr>
              <p:cNvPr id="2" name="Title 1">
                <a:extLst>
                  <a:ext uri="{FF2B5EF4-FFF2-40B4-BE49-F238E27FC236}">
                    <a16:creationId xmlns:a16="http://schemas.microsoft.com/office/drawing/2014/main" id="{568E5E2F-52BA-081B-CBD6-7D1BBE6154B1}"/>
                  </a:ext>
                </a:extLst>
              </p:cNvPr>
              <p:cNvSpPr>
                <a:spLocks noGrp="1" noRot="1" noChangeAspect="1" noMove="1" noResize="1" noEditPoints="1" noAdjustHandles="1" noChangeArrowheads="1" noChangeShapeType="1" noTextEdit="1"/>
              </p:cNvSpPr>
              <p:nvPr>
                <p:ph type="title"/>
              </p:nvPr>
            </p:nvSpPr>
            <p:spPr>
              <a:blipFill>
                <a:blip r:embed="rId3"/>
                <a:stretch>
                  <a:fillRect b="-1869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57F1C5D-7B6C-B2E6-CB25-0FFD0ED75692}"/>
                  </a:ext>
                </a:extLst>
              </p:cNvPr>
              <p:cNvSpPr>
                <a:spLocks noGrp="1"/>
              </p:cNvSpPr>
              <p:nvPr>
                <p:ph idx="1"/>
              </p:nvPr>
            </p:nvSpPr>
            <p:spPr/>
            <p:txBody>
              <a:bodyPr/>
              <a:lstStyle/>
              <a:p>
                <a:r>
                  <a:rPr lang="en-US" dirty="0"/>
                  <a:t>To estimate the joint posterior distribution </a:t>
                </a:r>
                <a14:m>
                  <m:oMath xmlns:m="http://schemas.openxmlformats.org/officeDocument/2006/math">
                    <m:r>
                      <a:rPr lang="en-US" i="1">
                        <a:latin typeface="Cambria Math" panose="02040503050406030204" pitchFamily="18" charset="0"/>
                      </a:rPr>
                      <m:t>𝑝</m:t>
                    </m:r>
                    <m:d>
                      <m:dPr>
                        <m:ctrlPr>
                          <a:rPr lang="en-US" i="1">
                            <a:latin typeface="Cambria Math" panose="02040503050406030204" pitchFamily="18" charset="0"/>
                          </a:rPr>
                        </m:ctrlPr>
                      </m:dPr>
                      <m:e>
                        <m:r>
                          <a:rPr lang="en-US" i="1">
                            <a:latin typeface="Cambria Math" panose="02040503050406030204" pitchFamily="18" charset="0"/>
                          </a:rPr>
                          <m:t>𝛽</m:t>
                        </m:r>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r>
                          <a:rPr lang="en-US">
                            <a:latin typeface="Cambria Math" panose="02040503050406030204" pitchFamily="18" charset="0"/>
                          </a:rPr>
                          <m:t>∣</m:t>
                        </m:r>
                        <m:r>
                          <a:rPr lang="en-US" i="1">
                            <a:latin typeface="Cambria Math" panose="02040503050406030204" pitchFamily="18" charset="0"/>
                          </a:rPr>
                          <m:t>𝑦</m:t>
                        </m:r>
                      </m:e>
                    </m:d>
                  </m:oMath>
                </a14:m>
                <a:r>
                  <a:rPr lang="en-US" dirty="0"/>
                  <a:t> do</a:t>
                </a:r>
              </a:p>
              <a:p>
                <a:pPr marL="1441450" lvl="1" indent="-742950">
                  <a:buFont typeface="+mj-lt"/>
                  <a:buAutoNum type="arabicPeriod"/>
                </a:pPr>
                <a:r>
                  <a:rPr lang="en-US" dirty="0"/>
                  <a:t>Draw </a:t>
                </a:r>
                <a14:m>
                  <m:oMath xmlns:m="http://schemas.openxmlformats.org/officeDocument/2006/math">
                    <m:sSup>
                      <m:sSupPr>
                        <m:ctrlPr>
                          <a:rPr lang="en-US" i="1" smtClean="0">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oMath>
                </a14:m>
                <a:r>
                  <a:rPr lang="en-US" dirty="0"/>
                  <a:t> from </a:t>
                </a:r>
                <a14:m>
                  <m:oMath xmlns:m="http://schemas.openxmlformats.org/officeDocument/2006/math">
                    <m:r>
                      <m:rPr>
                        <m:sty m:val="p"/>
                      </m:rPr>
                      <a:rPr lang="en-US">
                        <a:latin typeface="Cambria Math" panose="02040503050406030204" pitchFamily="18" charset="0"/>
                      </a:rPr>
                      <m:t>Inv</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𝜒</m:t>
                        </m:r>
                      </m:e>
                      <m:sup>
                        <m:r>
                          <a:rPr lang="en-US">
                            <a:latin typeface="Cambria Math" panose="02040503050406030204" pitchFamily="18" charset="0"/>
                          </a:rPr>
                          <m:t>2</m:t>
                        </m:r>
                      </m:sup>
                    </m:sSup>
                    <m:d>
                      <m:dPr>
                        <m:ctrlPr>
                          <a:rPr lang="en-US" i="1">
                            <a:latin typeface="Cambria Math" panose="02040503050406030204" pitchFamily="18" charset="0"/>
                          </a:rPr>
                        </m:ctrlPr>
                      </m:dPr>
                      <m:e>
                        <m:r>
                          <a:rPr lang="en-US" i="1">
                            <a:latin typeface="Cambria Math" panose="02040503050406030204" pitchFamily="18" charset="0"/>
                          </a:rPr>
                          <m:t>𝑛</m:t>
                        </m:r>
                        <m:r>
                          <a:rPr lang="en-US" i="1">
                            <a:latin typeface="Cambria Math" panose="02040503050406030204" pitchFamily="18" charset="0"/>
                          </a:rPr>
                          <m:t>−</m:t>
                        </m:r>
                        <m:r>
                          <a:rPr lang="en-US" i="1">
                            <a:latin typeface="Cambria Math" panose="02040503050406030204" pitchFamily="18" charset="0"/>
                          </a:rPr>
                          <m:t>𝑘</m:t>
                        </m:r>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𝑠</m:t>
                            </m:r>
                          </m:e>
                          <m:sup>
                            <m:r>
                              <a:rPr lang="en-US">
                                <a:latin typeface="Cambria Math" panose="02040503050406030204" pitchFamily="18" charset="0"/>
                              </a:rPr>
                              <m:t>2</m:t>
                            </m:r>
                          </m:sup>
                        </m:sSup>
                      </m:e>
                    </m:d>
                  </m:oMath>
                </a14:m>
                <a:r>
                  <a:rPr lang="en-US" dirty="0"/>
                  <a:t>.</a:t>
                </a:r>
              </a:p>
              <a:p>
                <a:pPr marL="1441450" lvl="1" indent="-742950">
                  <a:buFont typeface="+mj-lt"/>
                  <a:buAutoNum type="arabicPeriod"/>
                </a:pPr>
                <a:r>
                  <a:rPr lang="en-US" dirty="0"/>
                  <a:t>Draw </a:t>
                </a:r>
                <a14:m>
                  <m:oMath xmlns:m="http://schemas.openxmlformats.org/officeDocument/2006/math">
                    <m:r>
                      <a:rPr lang="en-US" i="1">
                        <a:latin typeface="Cambria Math" panose="02040503050406030204" pitchFamily="18" charset="0"/>
                      </a:rPr>
                      <m:t>𝛽</m:t>
                    </m:r>
                  </m:oMath>
                </a14:m>
                <a:r>
                  <a:rPr lang="en-US" dirty="0"/>
                  <a:t> from </a:t>
                </a:r>
                <a14:m>
                  <m:oMath xmlns:m="http://schemas.openxmlformats.org/officeDocument/2006/math">
                    <m:r>
                      <a:rPr lang="en-US" i="1">
                        <a:latin typeface="Cambria Math" panose="02040503050406030204" pitchFamily="18" charset="0"/>
                      </a:rPr>
                      <m:t>𝑁</m:t>
                    </m:r>
                    <m:d>
                      <m:dPr>
                        <m:ctrlPr>
                          <a:rPr lang="en-US" i="1">
                            <a:latin typeface="Cambria Math" panose="02040503050406030204" pitchFamily="18" charset="0"/>
                          </a:rPr>
                        </m:ctrlPr>
                      </m:dPr>
                      <m:e>
                        <m:acc>
                          <m:accPr>
                            <m:chr m:val="ˆ"/>
                            <m:ctrlPr>
                              <a:rPr lang="en-US" i="1">
                                <a:latin typeface="Cambria Math" panose="02040503050406030204" pitchFamily="18" charset="0"/>
                              </a:rPr>
                            </m:ctrlPr>
                          </m:accPr>
                          <m:e>
                            <m:r>
                              <a:rPr lang="en-US" i="1">
                                <a:latin typeface="Cambria Math" panose="02040503050406030204" pitchFamily="18" charset="0"/>
                              </a:rPr>
                              <m:t>𝛽</m:t>
                            </m:r>
                          </m:e>
                        </m:acc>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𝛽</m:t>
                            </m:r>
                          </m:sub>
                        </m:sSub>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a:latin typeface="Cambria Math" panose="02040503050406030204" pitchFamily="18" charset="0"/>
                              </a:rPr>
                              <m:t>2</m:t>
                            </m:r>
                          </m:sup>
                        </m:sSup>
                      </m:e>
                    </m:d>
                  </m:oMath>
                </a14:m>
                <a:r>
                  <a:rPr lang="el-GR" dirty="0"/>
                  <a:t>.</a:t>
                </a:r>
              </a:p>
              <a:p>
                <a:r>
                  <a:rPr lang="en-US" dirty="0"/>
                  <a:t>In large datasets, use Cholesky factor transformation and unweighted regression to avoid computation of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𝑄</m:t>
                        </m:r>
                      </m:e>
                      <m:sub>
                        <m:r>
                          <a:rPr lang="en-US" i="1">
                            <a:latin typeface="Cambria Math" panose="02040503050406030204" pitchFamily="18" charset="0"/>
                          </a:rPr>
                          <m:t>𝑦</m:t>
                        </m:r>
                      </m:sub>
                      <m:sup>
                        <m:r>
                          <a:rPr lang="en-US" i="1">
                            <a:latin typeface="Cambria Math" panose="02040503050406030204" pitchFamily="18" charset="0"/>
                          </a:rPr>
                          <m:t>−</m:t>
                        </m:r>
                        <m:r>
                          <a:rPr lang="en-US">
                            <a:latin typeface="Cambria Math" panose="02040503050406030204" pitchFamily="18" charset="0"/>
                          </a:rPr>
                          <m:t>1</m:t>
                        </m:r>
                      </m:sup>
                    </m:sSubSup>
                  </m:oMath>
                </a14:m>
                <a:r>
                  <a:rPr lang="en-US" dirty="0"/>
                  <a:t>.</a:t>
                </a:r>
              </a:p>
              <a:p>
                <a:r>
                  <a:rPr lang="en-US" dirty="0"/>
                  <a:t>Computing the posterior predictive distribution works the same as </a:t>
                </a:r>
                <a:r>
                  <a:rPr lang="en-US"/>
                  <a:t>the previous example. </a:t>
                </a:r>
                <a:endParaRPr lang="en-US" dirty="0"/>
              </a:p>
              <a:p>
                <a:endParaRPr lang="en-US" dirty="0"/>
              </a:p>
              <a:p>
                <a:endParaRPr lang="en-US"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557F1C5D-7B6C-B2E6-CB25-0FFD0ED75692}"/>
                  </a:ext>
                </a:extLst>
              </p:cNvPr>
              <p:cNvSpPr>
                <a:spLocks noGrp="1" noRot="1" noChangeAspect="1" noMove="1" noResize="1" noEditPoints="1" noAdjustHandles="1" noChangeArrowheads="1" noChangeShapeType="1" noTextEdit="1"/>
              </p:cNvSpPr>
              <p:nvPr>
                <p:ph idx="1"/>
              </p:nvPr>
            </p:nvSpPr>
            <p:spPr>
              <a:blipFill>
                <a:blip r:embed="rId4"/>
                <a:stretch>
                  <a:fillRect l="-1104" t="-1657"/>
                </a:stretch>
              </a:blipFill>
            </p:spPr>
            <p:txBody>
              <a:bodyPr/>
              <a:lstStyle/>
              <a:p>
                <a:r>
                  <a:rPr lang="en-US">
                    <a:noFill/>
                  </a:rPr>
                  <a:t> </a:t>
                </a:r>
              </a:p>
            </p:txBody>
          </p:sp>
        </mc:Fallback>
      </mc:AlternateContent>
    </p:spTree>
    <p:extLst>
      <p:ext uri="{BB962C8B-B14F-4D97-AF65-F5344CB8AC3E}">
        <p14:creationId xmlns:p14="http://schemas.microsoft.com/office/powerpoint/2010/main" val="3857763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itle 1">
            <a:extLst>
              <a:ext uri="{FF2B5EF4-FFF2-40B4-BE49-F238E27FC236}">
                <a16:creationId xmlns:a16="http://schemas.microsoft.com/office/drawing/2014/main" id="{7437B09B-40A5-6CD5-DCB3-08809A79E57D}"/>
              </a:ext>
            </a:extLst>
          </p:cNvPr>
          <p:cNvSpPr>
            <a:spLocks noGrp="1"/>
          </p:cNvSpPr>
          <p:nvPr>
            <p:ph type="title"/>
          </p:nvPr>
        </p:nvSpPr>
        <p:spPr>
          <a:xfrm>
            <a:off x="1098551" y="161926"/>
            <a:ext cx="16084550" cy="1549400"/>
          </a:xfrm>
        </p:spPr>
        <p:txBody>
          <a:bodyPr/>
          <a:lstStyle/>
          <a:p>
            <a:r>
              <a:rPr lang="en-US" altLang="en-US" dirty="0"/>
              <a:t>Next Time</a:t>
            </a:r>
          </a:p>
        </p:txBody>
      </p:sp>
      <p:sp>
        <p:nvSpPr>
          <p:cNvPr id="6146" name="Content Placeholder 2">
            <a:extLst>
              <a:ext uri="{FF2B5EF4-FFF2-40B4-BE49-F238E27FC236}">
                <a16:creationId xmlns:a16="http://schemas.microsoft.com/office/drawing/2014/main" id="{8DFB1FDB-789D-3A4E-B0C7-3BAF194C6643}"/>
              </a:ext>
            </a:extLst>
          </p:cNvPr>
          <p:cNvSpPr>
            <a:spLocks noGrp="1"/>
          </p:cNvSpPr>
          <p:nvPr>
            <p:ph idx="1"/>
          </p:nvPr>
        </p:nvSpPr>
        <p:spPr>
          <a:xfrm>
            <a:off x="1098551" y="2051050"/>
            <a:ext cx="16084550" cy="6886576"/>
          </a:xfrm>
        </p:spPr>
        <p:txBody>
          <a:bodyPr/>
          <a:lstStyle/>
          <a:p>
            <a:r>
              <a:rPr lang="en-US" altLang="en-US"/>
              <a:t>Hierarchical </a:t>
            </a:r>
            <a:r>
              <a:rPr lang="en-US" altLang="en-US" dirty="0"/>
              <a:t>Linear Models</a:t>
            </a:r>
          </a:p>
        </p:txBody>
      </p:sp>
    </p:spTree>
    <p:extLst>
      <p:ext uri="{BB962C8B-B14F-4D97-AF65-F5344CB8AC3E}">
        <p14:creationId xmlns:p14="http://schemas.microsoft.com/office/powerpoint/2010/main" val="395194735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reeze">
  <a:themeElements>
    <a:clrScheme name="Custom 3">
      <a:dk1>
        <a:sysClr val="windowText" lastClr="000000"/>
      </a:dk1>
      <a:lt1>
        <a:srgbClr val="C40724"/>
      </a:lt1>
      <a:dk2>
        <a:srgbClr val="000000"/>
      </a:dk2>
      <a:lt2>
        <a:srgbClr val="F8F8F8"/>
      </a:lt2>
      <a:accent1>
        <a:srgbClr val="BD061C"/>
      </a:accent1>
      <a:accent2>
        <a:srgbClr val="E98D0A"/>
      </a:accent2>
      <a:accent3>
        <a:srgbClr val="969696"/>
      </a:accent3>
      <a:accent4>
        <a:srgbClr val="808080"/>
      </a:accent4>
      <a:accent5>
        <a:srgbClr val="C40724"/>
      </a:accent5>
      <a:accent6>
        <a:srgbClr val="3F4F6C"/>
      </a:accent6>
      <a:hlink>
        <a:srgbClr val="5F5F5F"/>
      </a:hlink>
      <a:folHlink>
        <a:srgbClr val="919191"/>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reeze">
      <a:fillStyleLst>
        <a:solidFill>
          <a:schemeClr val="phClr"/>
        </a:solidFill>
        <a:gradFill rotWithShape="1">
          <a:gsLst>
            <a:gs pos="31000">
              <a:schemeClr val="phClr">
                <a:tint val="100000"/>
                <a:shade val="100000"/>
                <a:satMod val="120000"/>
              </a:schemeClr>
            </a:gs>
            <a:gs pos="100000">
              <a:schemeClr val="phClr">
                <a:tint val="50000"/>
                <a:satMod val="150000"/>
              </a:schemeClr>
            </a:gs>
          </a:gsLst>
          <a:lin ang="5400000" scaled="1"/>
        </a:gradFill>
        <a:gradFill rotWithShape="1">
          <a:gsLst>
            <a:gs pos="0">
              <a:schemeClr val="phClr">
                <a:shade val="100000"/>
                <a:satMod val="120000"/>
              </a:schemeClr>
            </a:gs>
            <a:gs pos="69000">
              <a:schemeClr val="phClr">
                <a:tint val="80000"/>
                <a:shade val="100000"/>
                <a:satMod val="150000"/>
              </a:schemeClr>
            </a:gs>
            <a:gs pos="100000">
              <a:schemeClr val="phClr">
                <a:tint val="50000"/>
                <a:shade val="100000"/>
                <a:satMod val="150000"/>
              </a:schemeClr>
            </a:gs>
          </a:gsLst>
          <a:path path="circle">
            <a:fillToRect l="100000" t="100000" r="100000" b="100000"/>
          </a:path>
        </a:gradFill>
      </a:fillStyleLst>
      <a:lnStyleLst>
        <a:ln w="12700" cap="flat" cmpd="sng" algn="ctr">
          <a:solidFill>
            <a:schemeClr val="phClr">
              <a:shade val="95000"/>
              <a:satMod val="105000"/>
            </a:schemeClr>
          </a:solidFill>
          <a:prstDash val="solid"/>
        </a:ln>
        <a:ln w="25400" cap="flat" cmpd="dbl" algn="ctr">
          <a:solidFill>
            <a:schemeClr val="phClr"/>
          </a:solidFill>
          <a:prstDash val="solid"/>
        </a:ln>
        <a:ln w="31750" cap="flat" cmpd="dbl" algn="ctr">
          <a:solidFill>
            <a:schemeClr val="phClr"/>
          </a:solidFill>
          <a:prstDash val="solid"/>
        </a:ln>
      </a:lnStyleLst>
      <a:effectStyleLst>
        <a:effectStyle>
          <a:effectLst/>
        </a:effectStyle>
        <a:effectStyle>
          <a:effectLst>
            <a:outerShdw blurRad="63500" dist="25400" dir="5400000" sx="101000" sy="101000" rotWithShape="0">
              <a:srgbClr val="000000">
                <a:alpha val="40000"/>
              </a:srgbClr>
            </a:outerShdw>
          </a:effectLst>
        </a:effectStyle>
        <a:effectStyle>
          <a:effectLst>
            <a:innerShdw blurRad="127000" dist="25400" dir="13500000">
              <a:srgbClr val="C0C0C0">
                <a:alpha val="75000"/>
              </a:srgbClr>
            </a:innerShdw>
            <a:outerShdw blurRad="88900" dist="25400" dir="5400000" sx="102000" sy="102000" algn="ctr" rotWithShape="0">
              <a:srgbClr val="C0C0C0">
                <a:alpha val="40000"/>
              </a:srgbClr>
            </a:outerShdw>
          </a:effectLst>
          <a:scene3d>
            <a:camera prst="perspectiveLeft" fov="300000"/>
            <a:lightRig rig="soft" dir="l">
              <a:rot lat="0" lon="0" rev="4200000"/>
            </a:lightRig>
          </a:scene3d>
          <a:sp3d extrusionH="38100" prstMaterial="powder">
            <a:bevelT w="50800" h="88900" prst="convex"/>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1">
            <a:duotone>
              <a:schemeClr val="phClr">
                <a:shade val="40000"/>
                <a:satMod val="400000"/>
              </a:schemeClr>
              <a:schemeClr val="phClr">
                <a:tint val="10000"/>
                <a:satMod val="20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LTECH_Template_2019 (1)  -  Compatibility Mode" id="{96DF2388-B785-2045-9157-84F6A1D402CB}" vid="{FA40E05E-1420-CD4F-AB4E-3CD2BC76CD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3EF55019BAB0549B2C20BFAAB8A2896" ma:contentTypeVersion="17" ma:contentTypeDescription="Create a new document." ma:contentTypeScope="" ma:versionID="76077723e4e34c3b5aeef4b04efa78bf">
  <xsd:schema xmlns:xsd="http://www.w3.org/2001/XMLSchema" xmlns:xs="http://www.w3.org/2001/XMLSchema" xmlns:p="http://schemas.microsoft.com/office/2006/metadata/properties" xmlns:ns2="5e41b080-9453-459c-bb93-b19be7335f42" xmlns:ns3="4e58ebf2-e4df-4cd3-9186-1e42b3ede124" targetNamespace="http://schemas.microsoft.com/office/2006/metadata/properties" ma:root="true" ma:fieldsID="19e363e40d36e188a1c3db48bbcaf99f" ns2:_="" ns3:_="">
    <xsd:import namespace="5e41b080-9453-459c-bb93-b19be7335f42"/>
    <xsd:import namespace="4e58ebf2-e4df-4cd3-9186-1e42b3ede124"/>
    <xsd:element name="properties">
      <xsd:complexType>
        <xsd:sequence>
          <xsd:element name="documentManagement">
            <xsd:complexType>
              <xsd:all>
                <xsd:element ref="ns2:Due_x0020_Date" minOccurs="0"/>
                <xsd:element ref="ns2:Status" minOccurs="0"/>
                <xsd:element ref="ns2:Comments" minOccurs="0"/>
                <xsd:element ref="ns2:MediaServiceMetadata" minOccurs="0"/>
                <xsd:element ref="ns2:MediaServiceFastMetadata"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41b080-9453-459c-bb93-b19be7335f42" elementFormDefault="qualified">
    <xsd:import namespace="http://schemas.microsoft.com/office/2006/documentManagement/types"/>
    <xsd:import namespace="http://schemas.microsoft.com/office/infopath/2007/PartnerControls"/>
    <xsd:element name="Due_x0020_Date" ma:index="8" nillable="true" ma:displayName="Due Date" ma:format="DateOnly" ma:indexed="true" ma:internalName="Due_x0020_Date">
      <xsd:simpleType>
        <xsd:restriction base="dms:DateTime"/>
      </xsd:simpleType>
    </xsd:element>
    <xsd:element name="Status" ma:index="9" nillable="true" ma:displayName="Status" ma:format="Dropdown" ma:indexed="true" ma:internalName="Status">
      <xsd:simpleType>
        <xsd:restriction base="dms:Choice">
          <xsd:enumeration value="For Partner Review"/>
          <xsd:enumeration value="For Collegis Review"/>
          <xsd:enumeration value="Approved by Partner"/>
        </xsd:restriction>
      </xsd:simpleType>
    </xsd:element>
    <xsd:element name="Comments" ma:index="10" nillable="true" ma:displayName="Comments" ma:internalName="Comments">
      <xsd:simpleType>
        <xsd:restriction base="dms:Note">
          <xsd:maxLength value="255"/>
        </xsd:restriction>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1040b95-0fdc-46ce-be91-73dc895452db"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e58ebf2-e4df-4cd3-9186-1e42b3ede124"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ef5f3a8b-878a-4d06-a8de-79a1d9f1fffd}" ma:internalName="TaxCatchAll" ma:showField="CatchAllData" ma:web="4e58ebf2-e4df-4cd3-9186-1e42b3ede12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5e41b080-9453-459c-bb93-b19be7335f42" xsi:nil="true"/>
    <Comments xmlns="5e41b080-9453-459c-bb93-b19be7335f42" xsi:nil="true"/>
    <Due_x0020_Date xmlns="5e41b080-9453-459c-bb93-b19be7335f42" xsi:nil="true"/>
    <lcf76f155ced4ddcb4097134ff3c332f xmlns="5e41b080-9453-459c-bb93-b19be7335f42">
      <Terms xmlns="http://schemas.microsoft.com/office/infopath/2007/PartnerControls"/>
    </lcf76f155ced4ddcb4097134ff3c332f>
    <TaxCatchAll xmlns="4e58ebf2-e4df-4cd3-9186-1e42b3ede124"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5E57940-9712-4E29-864B-4229DC6334DF}"/>
</file>

<file path=customXml/itemProps2.xml><?xml version="1.0" encoding="utf-8"?>
<ds:datastoreItem xmlns:ds="http://schemas.openxmlformats.org/officeDocument/2006/customXml" ds:itemID="{3C6A4EEA-2556-441D-B20B-0657893061DE}">
  <ds:schemaRefs>
    <ds:schemaRef ds:uri="http://schemas.microsoft.com/office/2006/metadata/properties"/>
    <ds:schemaRef ds:uri="http://schemas.microsoft.com/office/infopath/2007/PartnerControls"/>
    <ds:schemaRef ds:uri="5e41b080-9453-459c-bb93-b19be7335f42"/>
    <ds:schemaRef ds:uri="4e58ebf2-e4df-4cd3-9186-1e42b3ede124"/>
  </ds:schemaRefs>
</ds:datastoreItem>
</file>

<file path=customXml/itemProps3.xml><?xml version="1.0" encoding="utf-8"?>
<ds:datastoreItem xmlns:ds="http://schemas.openxmlformats.org/officeDocument/2006/customXml" ds:itemID="{BFA838ED-C12F-4A42-8E88-98BAC73D214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7069</TotalTime>
  <Words>6382</Words>
  <Application>Microsoft Macintosh PowerPoint</Application>
  <PresentationFormat>Custom</PresentationFormat>
  <Paragraphs>605</Paragraphs>
  <Slides>48</Slides>
  <Notes>48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48</vt:i4>
      </vt:variant>
    </vt:vector>
  </HeadingPairs>
  <TitlesOfParts>
    <vt:vector size="56" baseType="lpstr">
      <vt:lpstr>.SF NS</vt:lpstr>
      <vt:lpstr>Aptos</vt:lpstr>
      <vt:lpstr>Arial</vt:lpstr>
      <vt:lpstr>Cambria Math</vt:lpstr>
      <vt:lpstr>CMR10</vt:lpstr>
      <vt:lpstr>CMTI10</vt:lpstr>
      <vt:lpstr>Wingdings 2</vt:lpstr>
      <vt:lpstr>Breeze</vt:lpstr>
      <vt:lpstr>Bayesian Inference</vt:lpstr>
      <vt:lpstr>Foundations of Bayesian Regression Analysis</vt:lpstr>
      <vt:lpstr>Last Time</vt:lpstr>
      <vt:lpstr>Objectives</vt:lpstr>
      <vt:lpstr>Topics to Review for This Lesson</vt:lpstr>
      <vt:lpstr>Conditional Modeling with Covariates</vt:lpstr>
      <vt:lpstr>Notation &amp; Terminology</vt:lpstr>
      <vt:lpstr>Notation</vt:lpstr>
      <vt:lpstr>Subject Data</vt:lpstr>
      <vt:lpstr>Normal Linear Model</vt:lpstr>
      <vt:lpstr>Ordinary Linear Regression Model</vt:lpstr>
      <vt:lpstr>Ordinary Linear Regression Posterior</vt:lpstr>
      <vt:lpstr>Conditional Posterior Calculation</vt:lpstr>
      <vt:lpstr>Conditional Posterior Calculation</vt:lpstr>
      <vt:lpstr>Conditional Posterior Distribution</vt:lpstr>
      <vt:lpstr>Conditional Posterior Distribution</vt:lpstr>
      <vt:lpstr>Conditional Posterior Distribution</vt:lpstr>
      <vt:lpstr>PowerPoint Presentation</vt:lpstr>
      <vt:lpstr>Improper Prior </vt:lpstr>
      <vt:lpstr>Proper Posterior Distribution</vt:lpstr>
      <vt:lpstr>Sampling the Joint Posterior</vt:lpstr>
      <vt:lpstr>Posterior Predictive Distribution</vt:lpstr>
      <vt:lpstr>Mean &amp; Variance of the Posterior Predictive</vt:lpstr>
      <vt:lpstr>Mean &amp; Variance of the Posterior Predictive</vt:lpstr>
      <vt:lpstr>Mean &amp; Variance of the Posterior Predictive</vt:lpstr>
      <vt:lpstr>Mean &amp; Variance of the Posterior Predictive</vt:lpstr>
      <vt:lpstr>Mean &amp; Variance of the Posterior Predictive</vt:lpstr>
      <vt:lpstr>Mean &amp; Variance of the Posterior Predictive</vt:lpstr>
      <vt:lpstr>Mean &amp; Variance of the Posterior Predictive</vt:lpstr>
      <vt:lpstr>Variance of the Conditional Predictive</vt:lpstr>
      <vt:lpstr>Regression Example: Radon</vt:lpstr>
      <vt:lpstr>Regression Example: Radon</vt:lpstr>
      <vt:lpstr>PowerPoint Presentation</vt:lpstr>
      <vt:lpstr>Posterior Predictive Checks</vt:lpstr>
      <vt:lpstr>Posterior Predictive Checks</vt:lpstr>
      <vt:lpstr>Posterior Predictive Checks</vt:lpstr>
      <vt:lpstr>Regression Example: Radon </vt:lpstr>
      <vt:lpstr>Regression with Unequal Variances</vt:lpstr>
      <vt:lpstr>Regression with Unequal Known Variances</vt:lpstr>
      <vt:lpstr>Regression with Unequal Known Variances</vt:lpstr>
      <vt:lpstr>Prediction with Unequal Known Variances</vt:lpstr>
      <vt:lpstr>Prediction with Unequal Known Variances</vt:lpstr>
      <vt:lpstr>Regression with Unequal Unknown Variances</vt:lpstr>
      <vt:lpstr>Regression with Unequal Unknown Variances</vt:lpstr>
      <vt:lpstr>Regression with Unequal Unknown Variances</vt:lpstr>
      <vt:lpstr>Regression with Σ_y=σ^2 Q</vt:lpstr>
      <vt:lpstr>Joint Posterior Simulation with Σ_y=σ^2 Q</vt:lpstr>
      <vt:lpstr>Next Time</vt:lpstr>
    </vt:vector>
  </TitlesOfParts>
  <Manager/>
  <Company>Illinois Institute of Technology</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Illinois Tech President's PowerPoint Presentation</dc:title>
  <dc:subject/>
  <dc:creator>Sandra Laporte</dc:creator>
  <cp:keywords/>
  <dc:description/>
  <cp:lastModifiedBy>Jamshidi, Sara (She/Her/Hers)</cp:lastModifiedBy>
  <cp:revision>34</cp:revision>
  <dcterms:created xsi:type="dcterms:W3CDTF">2019-02-13T16:04:21Z</dcterms:created>
  <dcterms:modified xsi:type="dcterms:W3CDTF">2024-07-27T04:52:44Z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0x010100F3EF55019BAB0549B2C20BFAAB8A2896</vt:lpwstr>
  </property>
  <property fmtid="{D5CDD505-2E9C-101B-9397-08002B2CF9AE}" pid="3" name="MediaServiceImageTags">
    <vt:lpwstr/>
  </property>
  <property fmtid="{D5CDD505-2E9C-101B-9397-08002B2CF9AE}" pid="4" name="MSIP_Label_f2dee603-0001-4639-81f8-0608a53322f1_Enabled">
    <vt:lpwstr>true</vt:lpwstr>
  </property>
  <property fmtid="{D5CDD505-2E9C-101B-9397-08002B2CF9AE}" pid="5" name="MSIP_Label_f2dee603-0001-4639-81f8-0608a53322f1_SetDate">
    <vt:lpwstr>2024-06-24T03:34:40Z</vt:lpwstr>
  </property>
  <property fmtid="{D5CDD505-2E9C-101B-9397-08002B2CF9AE}" pid="6" name="MSIP_Label_f2dee603-0001-4639-81f8-0608a53322f1_Method">
    <vt:lpwstr>Standard</vt:lpwstr>
  </property>
  <property fmtid="{D5CDD505-2E9C-101B-9397-08002B2CF9AE}" pid="7" name="MSIP_Label_f2dee603-0001-4639-81f8-0608a53322f1_Name">
    <vt:lpwstr>defa4170-0d19-0005-0004-bc88714345d2</vt:lpwstr>
  </property>
  <property fmtid="{D5CDD505-2E9C-101B-9397-08002B2CF9AE}" pid="8" name="MSIP_Label_f2dee603-0001-4639-81f8-0608a53322f1_SiteId">
    <vt:lpwstr>b4478c05-3dd9-4e06-a7fb-5dcf72bd44ee</vt:lpwstr>
  </property>
  <property fmtid="{D5CDD505-2E9C-101B-9397-08002B2CF9AE}" pid="9" name="MSIP_Label_f2dee603-0001-4639-81f8-0608a53322f1_ActionId">
    <vt:lpwstr>a5a42784-79e3-4cb6-a6c1-d59028c560ef</vt:lpwstr>
  </property>
  <property fmtid="{D5CDD505-2E9C-101B-9397-08002B2CF9AE}" pid="10" name="MSIP_Label_f2dee603-0001-4639-81f8-0608a53322f1_ContentBits">
    <vt:lpwstr>0</vt:lpwstr>
  </property>
</Properties>
</file>