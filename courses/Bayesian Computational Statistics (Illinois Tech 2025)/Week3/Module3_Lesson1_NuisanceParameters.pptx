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1"/>
  </p:notesMasterIdLst>
  <p:sldIdLst>
    <p:sldId id="259" r:id="rId5"/>
    <p:sldId id="262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2" r:id="rId14"/>
    <p:sldId id="271" r:id="rId15"/>
    <p:sldId id="273" r:id="rId16"/>
    <p:sldId id="274" r:id="rId17"/>
    <p:sldId id="275" r:id="rId18"/>
    <p:sldId id="276" r:id="rId19"/>
    <p:sldId id="265" r:id="rId20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  <p1510:client id="{6AD5E037-7EB6-5E87-6C38-A6EA964E9895}" v="3" dt="2023-09-10T20:07:15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02"/>
    <p:restoredTop sz="93741"/>
  </p:normalViewPr>
  <p:slideViewPr>
    <p:cSldViewPr snapToGrid="0" snapToObjects="1">
      <p:cViewPr varScale="1">
        <p:scale>
          <a:sx n="76" d="100"/>
          <a:sy n="76" d="100"/>
        </p:scale>
        <p:origin x="216" y="320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rosen@iit.edu" userId="S::urn:spo:guest#jrosen@iit.edu::" providerId="AD" clId="Web-{6AD5E037-7EB6-5E87-6C38-A6EA964E9895}"/>
    <pc:docChg chg="modSld">
      <pc:chgData name="jrosen@iit.edu" userId="S::urn:spo:guest#jrosen@iit.edu::" providerId="AD" clId="Web-{6AD5E037-7EB6-5E87-6C38-A6EA964E9895}" dt="2023-09-10T20:07:15.134" v="2" actId="20577"/>
      <pc:docMkLst>
        <pc:docMk/>
      </pc:docMkLst>
      <pc:sldChg chg="modSp">
        <pc:chgData name="jrosen@iit.edu" userId="S::urn:spo:guest#jrosen@iit.edu::" providerId="AD" clId="Web-{6AD5E037-7EB6-5E87-6C38-A6EA964E9895}" dt="2023-09-10T20:07:15.134" v="2" actId="20577"/>
        <pc:sldMkLst>
          <pc:docMk/>
          <pc:sldMk cId="0" sldId="260"/>
        </pc:sldMkLst>
        <pc:spChg chg="mod">
          <ac:chgData name="jrosen@iit.edu" userId="S::urn:spo:guest#jrosen@iit.edu::" providerId="AD" clId="Web-{6AD5E037-7EB6-5E87-6C38-A6EA964E9895}" dt="2023-09-10T20:07:15.134" v="2" actId="20577"/>
          <ac:spMkLst>
            <pc:docMk/>
            <pc:sldMk cId="0" sldId="260"/>
            <ac:spMk id="5121" creationId="{4201BE09-6437-8CAC-DA00-D42CB41E2B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EDB27-1998-C943-968A-A040123AFDCE}" type="datetimeFigureOut">
              <a:rPr lang="en-US" smtClean="0"/>
              <a:t>6/24/24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5DDDC-B10B-3347-AAB4-5CB93FC9C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27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Solving for the distribution on page 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C6366-923F-1E4D-A532-3CA59BF466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72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Solving for the distribution on page 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C6366-923F-1E4D-A532-3CA59BF466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Bayesian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3A97B-06C2-BD5D-13DD-A14A00967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Module 3, Lesson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Nuisance Parameters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Constructing posterior distributions</a:t>
            </a:r>
          </a:p>
          <a:p>
            <a:r>
              <a:rPr lang="en-US" altLang="en-US" dirty="0"/>
              <a:t>Noninformative and informative priors</a:t>
            </a:r>
          </a:p>
          <a:p>
            <a:r>
              <a:rPr lang="en-US" altLang="en-US" dirty="0"/>
              <a:t>Conjugacy with several distributions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6147" descr="Close-up of dartboard">
            <a:extLst>
              <a:ext uri="{FF2B5EF4-FFF2-40B4-BE49-F238E27FC236}">
                <a16:creationId xmlns:a16="http://schemas.microsoft.com/office/drawing/2014/main" id="{29FA5159-EBC3-37F9-2F29-52A339B516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02" r="10702"/>
          <a:stretch/>
        </p:blipFill>
        <p:spPr>
          <a:xfrm>
            <a:off x="1098550" y="2085698"/>
            <a:ext cx="7680960" cy="6515100"/>
          </a:xfrm>
          <a:prstGeom prst="rect">
            <a:avLst/>
          </a:prstGeom>
          <a:noFill/>
        </p:spPr>
      </p:pic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 wrap="square" anchor="t">
            <a:normAutofit/>
          </a:bodyPr>
          <a:lstStyle/>
          <a:p>
            <a:r>
              <a:rPr lang="en-US" altLang="en-US" dirty="0"/>
              <a:t>Understand the concept of averaging over nuisance parameters in Bayesian analysis.</a:t>
            </a:r>
          </a:p>
          <a:p>
            <a:r>
              <a:rPr lang="en-US" altLang="en-US" dirty="0"/>
              <a:t>Analyze normal data using noninformative prior distributions.</a:t>
            </a:r>
          </a:p>
        </p:txBody>
      </p:sp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8FFFC6-2DA1-84CA-040C-4AFDE7B29E69}"/>
              </a:ext>
            </a:extLst>
          </p:cNvPr>
          <p:cNvSpPr txBox="1"/>
          <p:nvPr/>
        </p:nvSpPr>
        <p:spPr>
          <a:xfrm>
            <a:off x="1098550" y="8604365"/>
            <a:ext cx="2575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Microsoft Stock Images</a:t>
            </a:r>
          </a:p>
        </p:txBody>
      </p:sp>
    </p:spTree>
    <p:extLst>
      <p:ext uri="{BB962C8B-B14F-4D97-AF65-F5344CB8AC3E}">
        <p14:creationId xmlns:p14="http://schemas.microsoft.com/office/powerpoint/2010/main" val="64846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D481F-DCF5-621F-E280-576DDF5A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Nuisance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6C9A09-CB12-76C5-0079-95E9647277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Many distributions have more than one unknown parameter. </a:t>
                </a:r>
              </a:p>
              <a:p>
                <a:pPr lvl="1"/>
                <a:r>
                  <a:rPr lang="en-US" dirty="0"/>
                  <a:t>Example: Normal distribution,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involves two parameters.</a:t>
                </a:r>
              </a:p>
              <a:p>
                <a:r>
                  <a:rPr lang="en-US" dirty="0"/>
                  <a:t>Often, we are only interested in one or some of the total number of parameters.</a:t>
                </a:r>
              </a:p>
              <a:p>
                <a:pPr lvl="1"/>
                <a:r>
                  <a:rPr lang="en-US" dirty="0"/>
                  <a:t>Our goal then is to study a </a:t>
                </a:r>
                <a:r>
                  <a:rPr lang="en-US" b="1" dirty="0">
                    <a:solidFill>
                      <a:schemeClr val="bg1"/>
                    </a:solidFill>
                  </a:rPr>
                  <a:t>marginal distribution, </a:t>
                </a:r>
                <a:r>
                  <a:rPr lang="en-US" dirty="0"/>
                  <a:t>the distribution related only to those parameters. </a:t>
                </a:r>
              </a:p>
              <a:p>
                <a:r>
                  <a:rPr lang="en-US" dirty="0"/>
                  <a:t>The remaining parameters—those we are uninterested in—are called </a:t>
                </a:r>
                <a:r>
                  <a:rPr lang="en-US" b="1" dirty="0">
                    <a:solidFill>
                      <a:schemeClr val="bg1"/>
                    </a:solidFill>
                  </a:rPr>
                  <a:t>nuisance parameters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6C9A09-CB12-76C5-0079-95E9647277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714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56E7-6F16-083D-7786-F2F0C815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240A1C-BE33-006F-7B4E-36CE54784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Joint posterior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240A1C-BE33-006F-7B4E-36CE54784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97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46E1-503A-8E83-C908-08623EE0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Factoring Joint Posterior Density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ECC6C1-61AF-A944-EEE1-0A6E76F706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we are only interested in, 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then we average over all possible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is a </a:t>
                </a:r>
                <a:r>
                  <a:rPr lang="en-US" b="1" dirty="0">
                    <a:solidFill>
                      <a:schemeClr val="bg1"/>
                    </a:solidFill>
                  </a:rPr>
                  <a:t>mixture</a:t>
                </a:r>
                <a:r>
                  <a:rPr lang="en-US" dirty="0"/>
                  <a:t> the conditional posterior distributions.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the nuisance parameter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weighting function for the different possible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the marginal posterior distribution.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is the conditional posterior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ECC6C1-61AF-A944-EEE1-0A6E76F70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8416" r="-1814" b="-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607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9B5CC6-5FA6-BB17-1859-4155CE33BC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305" b="-1"/>
          <a:stretch/>
        </p:blipFill>
        <p:spPr>
          <a:xfrm>
            <a:off x="1098550" y="2085698"/>
            <a:ext cx="7680960" cy="65151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DC0A4-D729-6443-730A-481C706BC96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502142" y="2085698"/>
                <a:ext cx="7680960" cy="6515100"/>
              </a:xfrm>
            </p:spPr>
            <p:txBody>
              <a:bodyPr wrap="square" anchor="t">
                <a:normAutofit/>
              </a:bodyPr>
              <a:lstStyle/>
              <a:p>
                <a:r>
                  <a:rPr lang="en-US" dirty="0"/>
                  <a:t>In practice, we do not compute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These posterior distributions can be computed by marginal and conditional simulation.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DC0A4-D729-6443-730A-481C706BC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502142" y="2085698"/>
                <a:ext cx="7680960" cy="6515100"/>
              </a:xfrm>
              <a:blipFill>
                <a:blip r:embed="rId3"/>
                <a:stretch>
                  <a:fillRect l="-2310" t="-1751" r="-2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A7234DC-3CC0-3DD5-47B7-94AC967C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Computability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6C8E2-6FCC-EDB8-DD05-EE262A011FBD}"/>
              </a:ext>
            </a:extLst>
          </p:cNvPr>
          <p:cNvSpPr txBox="1"/>
          <p:nvPr/>
        </p:nvSpPr>
        <p:spPr>
          <a:xfrm>
            <a:off x="1098550" y="8604365"/>
            <a:ext cx="384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Microsoft Stock Images</a:t>
            </a:r>
          </a:p>
        </p:txBody>
      </p:sp>
    </p:spTree>
    <p:extLst>
      <p:ext uri="{BB962C8B-B14F-4D97-AF65-F5344CB8AC3E}">
        <p14:creationId xmlns:p14="http://schemas.microsoft.com/office/powerpoint/2010/main" val="758577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A48BBC-E24B-F58B-A8DC-B00995C4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Data, Noninformative Prior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A836695-23A9-A0CC-2BDA-0AE42663E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unknown.</a:t>
                </a:r>
              </a:p>
              <a:p>
                <a:r>
                  <a:rPr lang="en-US" dirty="0"/>
                  <a:t>A noninformative prior: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The joint posterior distribution,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 solved using methods similar to module 2.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A836695-23A9-A0CC-2BDA-0AE42663E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127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BDA0A51-B445-017C-B19B-D95D977CD4AE}"/>
              </a:ext>
            </a:extLst>
          </p:cNvPr>
          <p:cNvSpPr txBox="1">
            <a:spLocks/>
          </p:cNvSpPr>
          <p:nvPr/>
        </p:nvSpPr>
        <p:spPr bwMode="auto">
          <a:xfrm>
            <a:off x="1101724" y="4367783"/>
            <a:ext cx="16084552" cy="155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i="1"/>
              <a:t>(board example inserted here)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22578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3DFB-39AA-EE11-8784-1C5D8425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 Predictive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8C462-0C70-3B39-2892-694E82FE3D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Prediction involves computing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8C462-0C70-3B39-2892-694E82FE3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27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8270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BDA0A51-B445-017C-B19B-D95D977CD4AE}"/>
              </a:ext>
            </a:extLst>
          </p:cNvPr>
          <p:cNvSpPr txBox="1">
            <a:spLocks/>
          </p:cNvSpPr>
          <p:nvPr/>
        </p:nvSpPr>
        <p:spPr bwMode="auto">
          <a:xfrm>
            <a:off x="1101724" y="4367783"/>
            <a:ext cx="16084552" cy="155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i="1"/>
              <a:t>(board example inserted here)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67097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8C462-0C70-3B39-2892-694E82FE3D4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8550" y="2085698"/>
                <a:ext cx="9691370" cy="6515100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 dirty="0"/>
                  <a:t>Prediction involves computing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e>
                          <m:r>
                            <a:rPr lang="en-US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en-US" dirty="0"/>
              </a:p>
              <a:p>
                <a:r>
                  <a:rPr lang="en-US" altLang="en-US" dirty="0"/>
                  <a:t>To draw from the posterior predictive distribution, first draw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altLang="en-US" dirty="0"/>
                  <a:t> </a:t>
                </a:r>
                <a:r>
                  <a:rPr lang="en-US" altLang="en-US" dirty="0"/>
                  <a:t>from their joint posterior distribution and then simulate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8C462-0C70-3B39-2892-694E82FE3D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8550" y="2085698"/>
                <a:ext cx="9691370" cy="6515100"/>
              </a:xfrm>
              <a:blipFill>
                <a:blip r:embed="rId2"/>
                <a:stretch>
                  <a:fillRect l="-1832" t="-28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46E15DAF-0705-0FA8-CC99-F23652D826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977576" y="2464892"/>
            <a:ext cx="6205523" cy="549038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3C3DFB-39AA-EE11-8784-1C5D8425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 Predictive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780751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0B8552-BFC3-C5F8-9277-A50D65B90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A394F7E-691B-5ABC-4435-56C974BE18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i="1" u="none" strike="noStrike" dirty="0">
                    <a:solidFill>
                      <a:srgbClr val="000000"/>
                    </a:solidFill>
                    <a:effectLst/>
                  </a:rPr>
                  <a:t>Suppose a physicist conducted an experiment to measure the gravitational constant (G). He recorded 70 measurements of G (in arbitrary units). These measurements are believed to be normally distributed with some mean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b="0" i="1" u="none" strike="noStrike" dirty="0">
                    <a:solidFill>
                      <a:srgbClr val="000000"/>
                    </a:solidFill>
                    <a:effectLst/>
                  </a:rPr>
                  <a:t> and variance </a:t>
                </a:r>
                <a:r>
                  <a:rPr lang="en-US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b="0" i="1" u="none" strike="noStrike" dirty="0">
                    <a:solidFill>
                      <a:srgbClr val="000000"/>
                    </a:solidFill>
                    <a:effectLst/>
                  </a:rPr>
                  <a:t>. </a:t>
                </a:r>
                <a:r>
                  <a:rPr lang="en-US" b="0" i="1" u="none" strike="noStrike" dirty="0">
                    <a:solidFill>
                      <a:srgbClr val="000000"/>
                    </a:solidFill>
                    <a:effectLst/>
                  </a:rPr>
                  <a:t>Dr. Smith wants to perform posterior inference for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l-GR" b="0" i="1" u="none" strike="noStrike" dirty="0">
                    <a:solidFill>
                      <a:srgbClr val="000000"/>
                    </a:solidFill>
                    <a:effectLst/>
                  </a:rPr>
                  <a:t> </a:t>
                </a:r>
                <a:r>
                  <a:rPr lang="en-US" b="0" i="1" u="none" strike="noStrike" dirty="0">
                    <a:solidFill>
                      <a:srgbClr val="000000"/>
                    </a:solidFill>
                    <a:effectLst/>
                  </a:rPr>
                  <a:t>using a Bayesian approach with a noninformative prior distribution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)∝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l-GR" b="0" i="1" u="none" strike="noStrike" dirty="0">
                    <a:solidFill>
                      <a:srgbClr val="000000"/>
                    </a:solidFill>
                    <a:effectLst/>
                  </a:rPr>
                  <a:t>.</a:t>
                </a:r>
                <a:b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</a:br>
                <a:endParaRPr lang="el-GR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lvl="1"/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Number of measurements (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): 70 </a:t>
                </a:r>
              </a:p>
              <a:p>
                <a:pPr lvl="1"/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Mean of the measurements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​): 6.5</a:t>
                </a:r>
              </a:p>
              <a:p>
                <a:pPr lvl="1"/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Sample standard deviation (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): 2.4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A394F7E-691B-5ABC-4435-56C974BE18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277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diagram of a normal distribution&#10;&#10;Description automatically generated">
            <a:extLst>
              <a:ext uri="{FF2B5EF4-FFF2-40B4-BE49-F238E27FC236}">
                <a16:creationId xmlns:a16="http://schemas.microsoft.com/office/drawing/2014/main" id="{F0A96CE8-D623-950D-D7EB-10BC4C0D53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2412" y="2320925"/>
            <a:ext cx="6832600" cy="60452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F6277B-3CB5-9977-D0AD-F7DDFEFD23B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i="0" u="none" strike="noStrike" dirty="0">
                    <a:solidFill>
                      <a:srgbClr val="000000"/>
                    </a:solidFill>
                    <a:effectLst/>
                  </a:rPr>
                  <a:t>Sampling from the Posterior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: We draw samples from the posterior distribution of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 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and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For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,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we use the inverse chi-squared distribution.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For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,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given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</a:rPr>
                  <a:t>,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we use the normal distribution.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8F6277B-3CB5-9977-D0AD-F7DDFEFD2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805" t="-1751" r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52C44341-E2B0-D5BA-F621-C4F7746BE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Gravity</a:t>
            </a:r>
          </a:p>
        </p:txBody>
      </p:sp>
    </p:spTree>
    <p:extLst>
      <p:ext uri="{BB962C8B-B14F-4D97-AF65-F5344CB8AC3E}">
        <p14:creationId xmlns:p14="http://schemas.microsoft.com/office/powerpoint/2010/main" val="112419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Next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Normal data with a conjugate prior distribution</a:t>
            </a:r>
          </a:p>
          <a:p>
            <a:r>
              <a:rPr lang="en-US" altLang="en-US"/>
              <a:t>Multinomial model for categorical data</a:t>
            </a:r>
            <a:endParaRPr lang="en-US" altLang="en-US" dirty="0"/>
          </a:p>
          <a:p>
            <a:r>
              <a:rPr lang="en-US" altLang="en-US" dirty="0"/>
              <a:t>Multivariate normal models with known variance</a:t>
            </a:r>
          </a:p>
        </p:txBody>
      </p:sp>
    </p:spTree>
    <p:extLst>
      <p:ext uri="{BB962C8B-B14F-4D97-AF65-F5344CB8AC3E}">
        <p14:creationId xmlns:p14="http://schemas.microsoft.com/office/powerpoint/2010/main" val="3951947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6737F79C-8003-4AC6-9505-E5DCB5CA59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</TotalTime>
  <Words>552</Words>
  <Application>Microsoft Macintosh PowerPoint</Application>
  <PresentationFormat>Custom</PresentationFormat>
  <Paragraphs>64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Cambria Math</vt:lpstr>
      <vt:lpstr>Wingdings 2</vt:lpstr>
      <vt:lpstr>Breeze</vt:lpstr>
      <vt:lpstr>Bayesian Inference</vt:lpstr>
      <vt:lpstr>Nuisance Parameters</vt:lpstr>
      <vt:lpstr>Last Time</vt:lpstr>
      <vt:lpstr>Objectives</vt:lpstr>
      <vt:lpstr>Nuisance Parameters</vt:lpstr>
      <vt:lpstr>Normal Distribution Example</vt:lpstr>
      <vt:lpstr>Factoring Joint Posterior Density</vt:lpstr>
      <vt:lpstr>Computability</vt:lpstr>
      <vt:lpstr>Normal Data, Noninformative Prior</vt:lpstr>
      <vt:lpstr>PowerPoint Presentation</vt:lpstr>
      <vt:lpstr>Posterior Predictive Distribution</vt:lpstr>
      <vt:lpstr>PowerPoint Presentation</vt:lpstr>
      <vt:lpstr>Posterior Predictive Distribution</vt:lpstr>
      <vt:lpstr>Example: Gravity</vt:lpstr>
      <vt:lpstr>Example: Gravity</vt:lpstr>
      <vt:lpstr>Next Time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21</cp:revision>
  <dcterms:created xsi:type="dcterms:W3CDTF">2019-02-13T16:04:21Z</dcterms:created>
  <dcterms:modified xsi:type="dcterms:W3CDTF">2024-06-24T18:14:59Z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MSIP_Label_f2dee603-0001-4639-81f8-0608a53322f1_Enabled">
    <vt:lpwstr>true</vt:lpwstr>
  </property>
  <property fmtid="{D5CDD505-2E9C-101B-9397-08002B2CF9AE}" pid="5" name="MSIP_Label_f2dee603-0001-4639-81f8-0608a53322f1_SetDate">
    <vt:lpwstr>2024-06-24T03:34:40Z</vt:lpwstr>
  </property>
  <property fmtid="{D5CDD505-2E9C-101B-9397-08002B2CF9AE}" pid="6" name="MSIP_Label_f2dee603-0001-4639-81f8-0608a53322f1_Method">
    <vt:lpwstr>Standard</vt:lpwstr>
  </property>
  <property fmtid="{D5CDD505-2E9C-101B-9397-08002B2CF9AE}" pid="7" name="MSIP_Label_f2dee603-0001-4639-81f8-0608a53322f1_Name">
    <vt:lpwstr>defa4170-0d19-0005-0004-bc88714345d2</vt:lpwstr>
  </property>
  <property fmtid="{D5CDD505-2E9C-101B-9397-08002B2CF9AE}" pid="8" name="MSIP_Label_f2dee603-0001-4639-81f8-0608a53322f1_SiteId">
    <vt:lpwstr>b4478c05-3dd9-4e06-a7fb-5dcf72bd44ee</vt:lpwstr>
  </property>
  <property fmtid="{D5CDD505-2E9C-101B-9397-08002B2CF9AE}" pid="9" name="MSIP_Label_f2dee603-0001-4639-81f8-0608a53322f1_ActionId">
    <vt:lpwstr>a5a42784-79e3-4cb6-a6c1-d59028c560ef</vt:lpwstr>
  </property>
  <property fmtid="{D5CDD505-2E9C-101B-9397-08002B2CF9AE}" pid="10" name="MSIP_Label_f2dee603-0001-4639-81f8-0608a53322f1_ContentBits">
    <vt:lpwstr>0</vt:lpwstr>
  </property>
</Properties>
</file>