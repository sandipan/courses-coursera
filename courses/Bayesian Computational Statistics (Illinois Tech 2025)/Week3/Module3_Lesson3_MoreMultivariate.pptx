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7"/>
  </p:notesMasterIdLst>
  <p:sldIdLst>
    <p:sldId id="259" r:id="rId5"/>
    <p:sldId id="262" r:id="rId6"/>
    <p:sldId id="263" r:id="rId7"/>
    <p:sldId id="264" r:id="rId8"/>
    <p:sldId id="266" r:id="rId9"/>
    <p:sldId id="272" r:id="rId10"/>
    <p:sldId id="267" r:id="rId11"/>
    <p:sldId id="273" r:id="rId12"/>
    <p:sldId id="274" r:id="rId13"/>
    <p:sldId id="275" r:id="rId14"/>
    <p:sldId id="276" r:id="rId15"/>
    <p:sldId id="28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65" r:id="rId26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  <p1510:client id="{6AD5E037-7EB6-5E87-6C38-A6EA964E9895}" v="3" dt="2023-09-10T20:07:15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941"/>
    <p:restoredTop sz="79249"/>
  </p:normalViewPr>
  <p:slideViewPr>
    <p:cSldViewPr snapToGrid="0" snapToObjects="1">
      <p:cViewPr varScale="1">
        <p:scale>
          <a:sx n="29" d="100"/>
          <a:sy n="29" d="100"/>
        </p:scale>
        <p:origin x="264" y="872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rosen@iit.edu" userId="S::urn:spo:guest#jrosen@iit.edu::" providerId="AD" clId="Web-{6AD5E037-7EB6-5E87-6C38-A6EA964E9895}"/>
    <pc:docChg chg="modSld">
      <pc:chgData name="jrosen@iit.edu" userId="S::urn:spo:guest#jrosen@iit.edu::" providerId="AD" clId="Web-{6AD5E037-7EB6-5E87-6C38-A6EA964E9895}" dt="2023-09-10T20:07:15.134" v="2" actId="20577"/>
      <pc:docMkLst>
        <pc:docMk/>
      </pc:docMkLst>
      <pc:sldChg chg="modSp">
        <pc:chgData name="jrosen@iit.edu" userId="S::urn:spo:guest#jrosen@iit.edu::" providerId="AD" clId="Web-{6AD5E037-7EB6-5E87-6C38-A6EA964E9895}" dt="2023-09-10T20:07:15.134" v="2" actId="20577"/>
        <pc:sldMkLst>
          <pc:docMk/>
          <pc:sldMk cId="0" sldId="260"/>
        </pc:sldMkLst>
        <pc:spChg chg="mod">
          <ac:chgData name="jrosen@iit.edu" userId="S::urn:spo:guest#jrosen@iit.edu::" providerId="AD" clId="Web-{6AD5E037-7EB6-5E87-6C38-A6EA964E9895}" dt="2023-09-10T20:07:15.134" v="2" actId="20577"/>
          <ac:spMkLst>
            <pc:docMk/>
            <pc:sldMk cId="0" sldId="260"/>
            <ac:spMk id="5121" creationId="{4201BE09-6437-8CAC-DA00-D42CB41E2B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7AD0C-12B3-7D49-8AB1-3CDD1B339C77}" type="datetimeFigureOut">
              <a:rPr lang="en-US" smtClean="0"/>
              <a:t>6/24/24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E4751-2FA4-1F40-84D6-9A2F118C7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32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 the likelihood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C6366-923F-1E4D-A532-3CA59BF466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72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Compute the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C6366-923F-1E4D-A532-3CA59BF4666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3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Bayesian Inference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3A97B-06C2-BD5D-13DD-A14A00967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Module 3, Lesson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More Models and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Conjugate posterior for normal distribution</a:t>
            </a:r>
          </a:p>
          <a:p>
            <a:r>
              <a:rPr lang="en-US" altLang="en-US" dirty="0"/>
              <a:t>Categorical data and corresponding model</a:t>
            </a:r>
          </a:p>
          <a:p>
            <a:r>
              <a:rPr lang="en-US" altLang="en-US" dirty="0"/>
              <a:t>Multiple means and variances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Analyze logistic regression problems.</a:t>
            </a:r>
          </a:p>
          <a:p>
            <a:r>
              <a:rPr lang="en-US" altLang="en-US" dirty="0"/>
              <a:t>Apply Bayesian methods to complex real-world problems.</a:t>
            </a:r>
          </a:p>
        </p:txBody>
      </p:sp>
    </p:spTree>
    <p:extLst>
      <p:ext uri="{BB962C8B-B14F-4D97-AF65-F5344CB8AC3E}">
        <p14:creationId xmlns:p14="http://schemas.microsoft.com/office/powerpoint/2010/main" val="648465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ACB89-06A7-B815-DD00-B1E30698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577F40-ABF4-26C9-4076-D4EE59942D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Logistic regression is a type of generalized linear model.</a:t>
                </a:r>
              </a:p>
              <a:p>
                <a:r>
                  <a:rPr lang="en-US" dirty="0"/>
                  <a:t>Data: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Bin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dirty="0"/>
                  <a:t> </a:t>
                </a:r>
                <a:endParaRPr lang="en-US" dirty="0"/>
              </a:p>
              <a:p>
                <a:pPr lvl="1"/>
                <a:r>
                  <a:rPr lang="en-US" dirty="0"/>
                  <a:t>Recall, binary data</a:t>
                </a:r>
              </a:p>
              <a:p>
                <a:r>
                  <a:rPr lang="en-US" dirty="0"/>
                  <a:t>In logistic regression, we model the probability of the binary outcomes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covariates/predictors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577F40-ABF4-26C9-4076-D4EE59942D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132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BDA0A51-B445-017C-B19B-D95D977CD4AE}"/>
              </a:ext>
            </a:extLst>
          </p:cNvPr>
          <p:cNvSpPr txBox="1">
            <a:spLocks/>
          </p:cNvSpPr>
          <p:nvPr/>
        </p:nvSpPr>
        <p:spPr bwMode="auto">
          <a:xfrm>
            <a:off x="1101724" y="4367783"/>
            <a:ext cx="16084552" cy="155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i="1" dirty="0"/>
              <a:t>(board example inserted here)</a:t>
            </a:r>
          </a:p>
        </p:txBody>
      </p:sp>
    </p:spTree>
    <p:extLst>
      <p:ext uri="{BB962C8B-B14F-4D97-AF65-F5344CB8AC3E}">
        <p14:creationId xmlns:p14="http://schemas.microsoft.com/office/powerpoint/2010/main" val="3822578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ACB89-06A7-B815-DD00-B1E30698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577F40-ABF4-26C9-4076-D4EE59942D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Noninformative Prior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)∝1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Likelihood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Posterior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)∝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577F40-ABF4-26C9-4076-D4EE59942D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b="-42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388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diagram of a normal distribution&#10;&#10;Description automatically generated">
            <a:extLst>
              <a:ext uri="{FF2B5EF4-FFF2-40B4-BE49-F238E27FC236}">
                <a16:creationId xmlns:a16="http://schemas.microsoft.com/office/drawing/2014/main" id="{AB4286AD-A67D-BB31-074A-9E4DABD6D48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54212" y="2320925"/>
            <a:ext cx="5969000" cy="6045200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BEA643-F0A8-1336-ED33-1195E86911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Directly sampling from this posterior distribution is challenging due to its complexity. </a:t>
            </a:r>
          </a:p>
          <a:p>
            <a:r>
              <a:rPr lang="en-US" dirty="0"/>
              <a:t>We often use Markov Chain Monte Carlo (MCMC) methods in software like Stan.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27FDC3-945F-A157-F586-241E3CD34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Posterior Sampling</a:t>
            </a:r>
          </a:p>
        </p:txBody>
      </p:sp>
    </p:spTree>
    <p:extLst>
      <p:ext uri="{BB962C8B-B14F-4D97-AF65-F5344CB8AC3E}">
        <p14:creationId xmlns:p14="http://schemas.microsoft.com/office/powerpoint/2010/main" val="1782421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 up of glass laboratory equipment">
            <a:extLst>
              <a:ext uri="{FF2B5EF4-FFF2-40B4-BE49-F238E27FC236}">
                <a16:creationId xmlns:a16="http://schemas.microsoft.com/office/drawing/2014/main" id="{B13DF19F-BDAB-AFAD-1F65-3EA6A38E81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86" r="2919" b="-1"/>
          <a:stretch/>
        </p:blipFill>
        <p:spPr>
          <a:xfrm>
            <a:off x="1098550" y="2085698"/>
            <a:ext cx="7680960" cy="6515100"/>
          </a:xfrm>
          <a:prstGeom prst="rect">
            <a:avLst/>
          </a:prstGeom>
          <a:noFill/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3D71DD4-3B02-AF55-6DC1-109405417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/>
          <a:p>
            <a:r>
              <a:rPr lang="en-US" dirty="0"/>
              <a:t>It is rare to have simple posterior distributions.</a:t>
            </a:r>
          </a:p>
          <a:p>
            <a:r>
              <a:rPr lang="en-US" dirty="0"/>
              <a:t>This bioassay experiment illustrates the challenges</a:t>
            </a:r>
          </a:p>
          <a:p>
            <a:r>
              <a:rPr lang="en-US" dirty="0"/>
              <a:t>A </a:t>
            </a:r>
            <a:r>
              <a:rPr lang="en-US" i="1" dirty="0">
                <a:solidFill>
                  <a:schemeClr val="bg1"/>
                </a:solidFill>
              </a:rPr>
              <a:t>bioassay</a:t>
            </a:r>
            <a:r>
              <a:rPr lang="en-US" dirty="0"/>
              <a:t> is an analytical method to determine the effect of a substance on living cells or tissues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961D08-3B68-4A76-9591-90D7C2FBD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Example: Analysis of a Bioassay Experiment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AFC74-2D9C-4C35-6D4A-45BC0355AE85}"/>
              </a:ext>
            </a:extLst>
          </p:cNvPr>
          <p:cNvSpPr txBox="1"/>
          <p:nvPr/>
        </p:nvSpPr>
        <p:spPr>
          <a:xfrm>
            <a:off x="1098550" y="8600798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Microsoft Stock Images</a:t>
            </a:r>
          </a:p>
        </p:txBody>
      </p:sp>
    </p:spTree>
    <p:extLst>
      <p:ext uri="{BB962C8B-B14F-4D97-AF65-F5344CB8AC3E}">
        <p14:creationId xmlns:p14="http://schemas.microsoft.com/office/powerpoint/2010/main" val="1435366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F98DF87-C037-0344-E110-867ECDDF766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Variable meanings: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number of positive outcomes (</a:t>
                </a:r>
                <a:r>
                  <a:rPr lang="en-US" i="1" dirty="0"/>
                  <a:t>survivals</a:t>
                </a:r>
                <a:r>
                  <a:rPr lang="en-US" dirty="0"/>
                  <a:t>).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dose level.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number of trials.</a:t>
                </a:r>
              </a:p>
              <a:p>
                <a:r>
                  <a:rPr lang="en-US" dirty="0"/>
                  <a:t>The logistic regression model is often to model the dose and the probability of survival.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F98DF87-C037-0344-E110-867ECDDF76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10" t="-1751" r="-2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blue dot diagram with white text&#10;&#10;Description automatically generated">
            <a:extLst>
              <a:ext uri="{FF2B5EF4-FFF2-40B4-BE49-F238E27FC236}">
                <a16:creationId xmlns:a16="http://schemas.microsoft.com/office/drawing/2014/main" id="{7C7DEB28-12A5-34DE-173A-EF94A6EA3B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502775" y="2932025"/>
            <a:ext cx="7680325" cy="48230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E2075DB-1B2E-C13B-7DB7-0A96A8D3C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Bioassay Example</a:t>
            </a:r>
          </a:p>
        </p:txBody>
      </p:sp>
    </p:spTree>
    <p:extLst>
      <p:ext uri="{BB962C8B-B14F-4D97-AF65-F5344CB8AC3E}">
        <p14:creationId xmlns:p14="http://schemas.microsoft.com/office/powerpoint/2010/main" val="410327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22E1B3-9B6D-5602-E283-8B05365C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Two Proportions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780F71A-749C-C3E4-B5BC-F0BED81FDC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could compare the two proportions,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Bin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Bin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Hypothesis: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.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, since this matches well with logistic regression.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780F71A-749C-C3E4-B5BC-F0BED81FDC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17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BDA0A51-B445-017C-B19B-D95D977CD4AE}"/>
              </a:ext>
            </a:extLst>
          </p:cNvPr>
          <p:cNvSpPr txBox="1">
            <a:spLocks/>
          </p:cNvSpPr>
          <p:nvPr/>
        </p:nvSpPr>
        <p:spPr bwMode="auto">
          <a:xfrm>
            <a:off x="1101724" y="4367783"/>
            <a:ext cx="16084552" cy="155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i="1" dirty="0"/>
              <a:t>(board example inserted here)</a:t>
            </a:r>
          </a:p>
        </p:txBody>
      </p:sp>
    </p:spTree>
    <p:extLst>
      <p:ext uri="{BB962C8B-B14F-4D97-AF65-F5344CB8AC3E}">
        <p14:creationId xmlns:p14="http://schemas.microsoft.com/office/powerpoint/2010/main" val="2897174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3080D-752C-EBF6-F0DD-FA7FFBC9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Multiparameter Models and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3BE52-8425-DD67-9566-DDD40AAC4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Lack of easily calculable posterior distributions in multiparameter models isn't a significant drawback due to practical reasons.</a:t>
            </a:r>
          </a:p>
          <a:p>
            <a:r>
              <a:rPr lang="en-US" dirty="0"/>
              <a:t>Simulation methods suffice for obtaining posterior inference in nonconjugate multiparameter models with few parameters.</a:t>
            </a:r>
          </a:p>
          <a:p>
            <a:r>
              <a:rPr lang="en-US" dirty="0"/>
              <a:t>The bioassay example demonstrates this approach where simulation methods were effectively used for posterior inference.</a:t>
            </a:r>
          </a:p>
        </p:txBody>
      </p:sp>
    </p:spTree>
    <p:extLst>
      <p:ext uri="{BB962C8B-B14F-4D97-AF65-F5344CB8AC3E}">
        <p14:creationId xmlns:p14="http://schemas.microsoft.com/office/powerpoint/2010/main" val="943488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3ACFD-B125-6618-B8BC-72DA3443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for Computation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6DAE62-C2DA-2B7E-C714-60E3F59AEF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Step 1</a:t>
                </a:r>
                <a:r>
                  <a:rPr lang="en-US" dirty="0"/>
                  <a:t>: Write the likelihood component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dirty="0"/>
                  <a:t>, </a:t>
                </a:r>
                <a:r>
                  <a:rPr lang="en-US" dirty="0"/>
                  <a:t>ignoring factors independent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dirty="0"/>
                  <a:t>.</a:t>
                </a:r>
              </a:p>
              <a:p>
                <a:r>
                  <a:rPr lang="en-US" b="1" dirty="0"/>
                  <a:t>Step 2</a:t>
                </a:r>
                <a:r>
                  <a:rPr lang="en-US" dirty="0"/>
                  <a:t>: Construct the posterior density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incorporating prior information strategically.</a:t>
                </a:r>
              </a:p>
              <a:p>
                <a:r>
                  <a:rPr lang="en-US" b="1" dirty="0"/>
                  <a:t>Step 3</a:t>
                </a:r>
                <a:r>
                  <a:rPr lang="en-US" dirty="0"/>
                  <a:t>: Create a crude estimate of parameters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dirty="0"/>
                  <a:t> </a:t>
                </a:r>
                <a:r>
                  <a:rPr lang="en-US" dirty="0"/>
                  <a:t>provides a starting point for further computation.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6DAE62-C2DA-2B7E-C714-60E3F59AEF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300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3ACFD-B125-6618-B8BC-72DA3443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for Computation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6DAE62-C2DA-2B7E-C714-60E3F59AEF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Step 4</a:t>
                </a:r>
                <a:r>
                  <a:rPr lang="en-US" dirty="0"/>
                  <a:t>: Draw simulations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p>
                    </m:sSup>
                  </m:oMath>
                </a14:m>
                <a:r>
                  <a:rPr lang="en-US" dirty="0"/>
                  <a:t> from the posterior distribution. Compute posterior densities of relevant functions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dirty="0"/>
                  <a:t>.</a:t>
                </a:r>
              </a:p>
              <a:p>
                <a:r>
                  <a:rPr lang="en-US" b="1" dirty="0"/>
                  <a:t>Step 5</a:t>
                </a:r>
                <a:r>
                  <a:rPr lang="en-US" dirty="0"/>
                  <a:t>: If any predictive quantities,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, are of interest, simulate values based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based on a drawn 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6DAE62-C2DA-2B7E-C714-60E3F59AEF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564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4B59-D84A-6CBE-1A1E-5AD1CA81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Walk 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C937F-80F4-D19B-CC4C-844C53862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have data from a clinical trial comparing the success rates of two treatments, A and B. The data are as follows:</a:t>
            </a:r>
          </a:p>
          <a:p>
            <a:pPr marL="0" indent="0">
              <a:buNone/>
            </a:pPr>
            <a:r>
              <a:rPr lang="en-US" b="1" dirty="0"/>
              <a:t>Group Treated with A</a:t>
            </a:r>
            <a:r>
              <a:rPr lang="en-US" dirty="0"/>
              <a:t>: 35 successes out of 50 trials</a:t>
            </a:r>
          </a:p>
          <a:p>
            <a:pPr marL="0" indent="0">
              <a:buNone/>
            </a:pPr>
            <a:r>
              <a:rPr lang="en-US" b="1" dirty="0"/>
              <a:t>Group Treated with B</a:t>
            </a:r>
            <a:r>
              <a:rPr lang="en-US" dirty="0"/>
              <a:t>: 45 successes out of 60 trials</a:t>
            </a:r>
          </a:p>
          <a:p>
            <a:pPr marL="0" indent="0">
              <a:buNone/>
            </a:pPr>
            <a:r>
              <a:rPr lang="en-US" dirty="0"/>
              <a:t>We want to estimate and compare the success probabilities for treatments A and B, respectively, using Bayesian methods.</a:t>
            </a:r>
          </a:p>
        </p:txBody>
      </p:sp>
    </p:spTree>
    <p:extLst>
      <p:ext uri="{BB962C8B-B14F-4D97-AF65-F5344CB8AC3E}">
        <p14:creationId xmlns:p14="http://schemas.microsoft.com/office/powerpoint/2010/main" val="2318484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4E9E2-2960-629A-EAC5-8352A84C1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Likelihood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2522C3-F577-AA64-32A6-FD2BA83427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Outcomes are binary, 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Recall: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4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4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sSupPr>
                        <m:ctrlP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2522C3-F577-AA64-32A6-FD2BA83427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220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515D4-7ABF-38F2-3C2A-58C655A2D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Construct Posterior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FFEAE3-E83E-9251-7491-A7C49C0648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will use a conjugate prior start with weakly informative information. 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Beta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Beta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Posterior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FFEAE3-E83E-9251-7491-A7C49C0648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3153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6523-9D30-884E-06AC-27D2AE0B1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Crude Initial Estimates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81FC9E-CA73-2F89-8A4D-010E8B47BF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pick initial values of our parameters based on our sample.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 and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81FC9E-CA73-2F89-8A4D-010E8B47BF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684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comparison of a distribution of a number of individuals&#10;&#10;Description automatically generated with medium confidence">
            <a:extLst>
              <a:ext uri="{FF2B5EF4-FFF2-40B4-BE49-F238E27FC236}">
                <a16:creationId xmlns:a16="http://schemas.microsoft.com/office/drawing/2014/main" id="{CC91B6ED-006C-898F-77F2-B4D7005C9F2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8550" y="2932025"/>
            <a:ext cx="7680325" cy="4823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03F53AB-59C5-D26D-E189-25E6350B2E0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Draw SS samples from the posterior distribution using Markov Chain Monte Carlo (MCMC) methods, e.g., using Stan.</a:t>
                </a:r>
              </a:p>
              <a:p>
                <a:r>
                  <a:rPr lang="en-US" dirty="0"/>
                  <a:t>Compute posterior densities of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 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/>
                  <a:t>​ based on these samples.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03F53AB-59C5-D26D-E189-25E6350B2E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310" t="-1751" r="-2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A1ACE70A-70DD-6B8F-0F17-6A3C15DFC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Simulation</a:t>
            </a:r>
          </a:p>
        </p:txBody>
      </p:sp>
    </p:spTree>
    <p:extLst>
      <p:ext uri="{BB962C8B-B14F-4D97-AF65-F5344CB8AC3E}">
        <p14:creationId xmlns:p14="http://schemas.microsoft.com/office/powerpoint/2010/main" val="351617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D5C8ED-EBD1-DDCD-08B0-59C5427093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 can estimate the likelihood of success in the next trial.</a:t>
            </a:r>
          </a:p>
          <a:p>
            <a:r>
              <a:rPr lang="en-US" dirty="0"/>
              <a:t>We simulate new data from our posterior. </a:t>
            </a:r>
          </a:p>
          <a:p>
            <a:endParaRPr lang="en-US" dirty="0"/>
          </a:p>
        </p:txBody>
      </p:sp>
      <p:pic>
        <p:nvPicPr>
          <p:cNvPr id="7" name="Content Placeholder 6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F4F9E94D-7577-D31B-CA87-861042C542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502775" y="2932025"/>
            <a:ext cx="7680325" cy="48230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66B6257-BD37-C49F-17E3-30F0D746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Prediction</a:t>
            </a:r>
          </a:p>
        </p:txBody>
      </p:sp>
      <p:pic>
        <p:nvPicPr>
          <p:cNvPr id="9" name="Picture 8" descr="A group of numbers and symbols&#10;&#10;Description automatically generated">
            <a:extLst>
              <a:ext uri="{FF2B5EF4-FFF2-40B4-BE49-F238E27FC236}">
                <a16:creationId xmlns:a16="http://schemas.microsoft.com/office/drawing/2014/main" id="{372DF561-B3F1-A49F-7E8E-B91E787B6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946" y="6091325"/>
            <a:ext cx="6762168" cy="250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14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Next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Large-Sample Inference and Frequency Properties</a:t>
            </a:r>
          </a:p>
        </p:txBody>
      </p:sp>
    </p:spTree>
    <p:extLst>
      <p:ext uri="{BB962C8B-B14F-4D97-AF65-F5344CB8AC3E}">
        <p14:creationId xmlns:p14="http://schemas.microsoft.com/office/powerpoint/2010/main" val="3951947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2.xml><?xml version="1.0" encoding="utf-8"?>
<ds:datastoreItem xmlns:ds="http://schemas.openxmlformats.org/officeDocument/2006/customXml" ds:itemID="{6737F79C-8003-4AC6-9505-E5DCB5CA59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681</TotalTime>
  <Words>756</Words>
  <Application>Microsoft Macintosh PowerPoint</Application>
  <PresentationFormat>Custom</PresentationFormat>
  <Paragraphs>89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Cambria Math</vt:lpstr>
      <vt:lpstr>Wingdings 2</vt:lpstr>
      <vt:lpstr>Breeze</vt:lpstr>
      <vt:lpstr>Bayesian Inference</vt:lpstr>
      <vt:lpstr>More Models and Applications</vt:lpstr>
      <vt:lpstr>Last Time</vt:lpstr>
      <vt:lpstr>Objectives</vt:lpstr>
      <vt:lpstr>Logistic Regression</vt:lpstr>
      <vt:lpstr>PowerPoint Presentation</vt:lpstr>
      <vt:lpstr>Logistic Regression Summary</vt:lpstr>
      <vt:lpstr>Posterior Sampling</vt:lpstr>
      <vt:lpstr>Example: Analysis of a Bioassay Experiment</vt:lpstr>
      <vt:lpstr>Bioassay Example</vt:lpstr>
      <vt:lpstr>Comparing Two Proportions</vt:lpstr>
      <vt:lpstr>PowerPoint Presentation</vt:lpstr>
      <vt:lpstr>Multiparameter Models and Considerations</vt:lpstr>
      <vt:lpstr>Strategy for Computation</vt:lpstr>
      <vt:lpstr>Strategy for Computation</vt:lpstr>
      <vt:lpstr>Outline Walk Through</vt:lpstr>
      <vt:lpstr>Step 1: Likelihood </vt:lpstr>
      <vt:lpstr>Step 2: Construct Posterior </vt:lpstr>
      <vt:lpstr>Step 3: Crude Initial Estimates </vt:lpstr>
      <vt:lpstr>Step 4: Simulation</vt:lpstr>
      <vt:lpstr>Step 5: Prediction</vt:lpstr>
      <vt:lpstr>Next Time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19</cp:revision>
  <dcterms:created xsi:type="dcterms:W3CDTF">2019-02-13T16:04:21Z</dcterms:created>
  <dcterms:modified xsi:type="dcterms:W3CDTF">2024-06-25T06:20:18Z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MSIP_Label_f2dee603-0001-4639-81f8-0608a53322f1_Enabled">
    <vt:lpwstr>true</vt:lpwstr>
  </property>
  <property fmtid="{D5CDD505-2E9C-101B-9397-08002B2CF9AE}" pid="5" name="MSIP_Label_f2dee603-0001-4639-81f8-0608a53322f1_SetDate">
    <vt:lpwstr>2024-06-24T03:34:40Z</vt:lpwstr>
  </property>
  <property fmtid="{D5CDD505-2E9C-101B-9397-08002B2CF9AE}" pid="6" name="MSIP_Label_f2dee603-0001-4639-81f8-0608a53322f1_Method">
    <vt:lpwstr>Standard</vt:lpwstr>
  </property>
  <property fmtid="{D5CDD505-2E9C-101B-9397-08002B2CF9AE}" pid="7" name="MSIP_Label_f2dee603-0001-4639-81f8-0608a53322f1_Name">
    <vt:lpwstr>defa4170-0d19-0005-0004-bc88714345d2</vt:lpwstr>
  </property>
  <property fmtid="{D5CDD505-2E9C-101B-9397-08002B2CF9AE}" pid="8" name="MSIP_Label_f2dee603-0001-4639-81f8-0608a53322f1_SiteId">
    <vt:lpwstr>b4478c05-3dd9-4e06-a7fb-5dcf72bd44ee</vt:lpwstr>
  </property>
  <property fmtid="{D5CDD505-2E9C-101B-9397-08002B2CF9AE}" pid="9" name="MSIP_Label_f2dee603-0001-4639-81f8-0608a53322f1_ActionId">
    <vt:lpwstr>a5a42784-79e3-4cb6-a6c1-d59028c560ef</vt:lpwstr>
  </property>
  <property fmtid="{D5CDD505-2E9C-101B-9397-08002B2CF9AE}" pid="10" name="MSIP_Label_f2dee603-0001-4639-81f8-0608a53322f1_ContentBits">
    <vt:lpwstr>0</vt:lpwstr>
  </property>
</Properties>
</file>