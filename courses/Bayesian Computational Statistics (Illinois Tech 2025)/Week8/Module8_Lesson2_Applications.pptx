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7" r:id="rId4"/>
  </p:sldMasterIdLst>
  <p:notesMasterIdLst>
    <p:notesMasterId r:id="rId30"/>
  </p:notesMasterIdLst>
  <p:sldIdLst>
    <p:sldId id="259" r:id="rId5"/>
    <p:sldId id="262" r:id="rId6"/>
    <p:sldId id="263" r:id="rId7"/>
    <p:sldId id="264" r:id="rId8"/>
    <p:sldId id="266" r:id="rId9"/>
    <p:sldId id="281" r:id="rId10"/>
    <p:sldId id="282" r:id="rId11"/>
    <p:sldId id="283" r:id="rId12"/>
    <p:sldId id="284" r:id="rId13"/>
    <p:sldId id="285" r:id="rId14"/>
    <p:sldId id="288" r:id="rId15"/>
    <p:sldId id="287" r:id="rId16"/>
    <p:sldId id="289" r:id="rId17"/>
    <p:sldId id="293" r:id="rId18"/>
    <p:sldId id="292" r:id="rId19"/>
    <p:sldId id="294" r:id="rId20"/>
    <p:sldId id="295" r:id="rId21"/>
    <p:sldId id="290" r:id="rId22"/>
    <p:sldId id="291" r:id="rId23"/>
    <p:sldId id="286" r:id="rId24"/>
    <p:sldId id="296" r:id="rId25"/>
    <p:sldId id="297" r:id="rId26"/>
    <p:sldId id="298" r:id="rId27"/>
    <p:sldId id="299" r:id="rId28"/>
    <p:sldId id="300" r:id="rId29"/>
  </p:sldIdLst>
  <p:sldSz cx="18288000" cy="10287000"/>
  <p:notesSz cx="6858000" cy="9144000"/>
  <p:defaultTextStyle>
    <a:defPPr>
      <a:defRPr lang="en-US"/>
    </a:defPPr>
    <a:lvl1pPr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9144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18288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27432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36576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45720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54864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64008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73152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40" userDrawn="1">
          <p15:clr>
            <a:srgbClr val="A4A3A4"/>
          </p15:clr>
        </p15:guide>
        <p15:guide id="2" pos="57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70609A-D6D1-4398-8205-3727AD454177}" v="1" dt="2023-05-09T15:11:37.596"/>
    <p1510:client id="{6AD5E037-7EB6-5E87-6C38-A6EA964E9895}" v="3" dt="2023-09-10T20:07:15.13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56"/>
    <p:restoredTop sz="72789"/>
  </p:normalViewPr>
  <p:slideViewPr>
    <p:cSldViewPr snapToGrid="0" snapToObjects="1">
      <p:cViewPr varScale="1">
        <p:scale>
          <a:sx n="60" d="100"/>
          <a:sy n="60" d="100"/>
        </p:scale>
        <p:origin x="216" y="200"/>
      </p:cViewPr>
      <p:guideLst>
        <p:guide orient="horz" pos="3240"/>
        <p:guide pos="57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rosen@iit.edu" userId="S::urn:spo:guest#jrosen@iit.edu::" providerId="AD" clId="Web-{6AD5E037-7EB6-5E87-6C38-A6EA964E9895}"/>
    <pc:docChg chg="modSld">
      <pc:chgData name="jrosen@iit.edu" userId="S::urn:spo:guest#jrosen@iit.edu::" providerId="AD" clId="Web-{6AD5E037-7EB6-5E87-6C38-A6EA964E9895}" dt="2023-09-10T20:07:15.134" v="2" actId="20577"/>
      <pc:docMkLst>
        <pc:docMk/>
      </pc:docMkLst>
      <pc:sldChg chg="modSp">
        <pc:chgData name="jrosen@iit.edu" userId="S::urn:spo:guest#jrosen@iit.edu::" providerId="AD" clId="Web-{6AD5E037-7EB6-5E87-6C38-A6EA964E9895}" dt="2023-09-10T20:07:15.134" v="2" actId="20577"/>
        <pc:sldMkLst>
          <pc:docMk/>
          <pc:sldMk cId="0" sldId="260"/>
        </pc:sldMkLst>
        <pc:spChg chg="mod">
          <ac:chgData name="jrosen@iit.edu" userId="S::urn:spo:guest#jrosen@iit.edu::" providerId="AD" clId="Web-{6AD5E037-7EB6-5E87-6C38-A6EA964E9895}" dt="2023-09-10T20:07:15.134" v="2" actId="20577"/>
          <ac:spMkLst>
            <pc:docMk/>
            <pc:sldMk cId="0" sldId="260"/>
            <ac:spMk id="5121" creationId="{4201BE09-6437-8CAC-DA00-D42CB41E2B9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9FD443-4068-3B41-85C2-6A7B45928F9D}" type="datetimeFigureOut">
              <a:rPr lang="en-US" smtClean="0"/>
              <a:t>8/2/24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0434E8-B60F-E047-A53D-C83843599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4671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to lesson 2 of module 8 of Bayesian Inference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0434E8-B60F-E047-A53D-C8384359916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8576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this lesson, we will discuss applications of mixture models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0434E8-B60F-E047-A53D-C8384359916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8839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the last lesson, we discussed Setting Up and Interpreting Mixture Models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0434E8-B60F-E047-A53D-C8384359916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5983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By the end of this lesson, you will be understand how one </a:t>
            </a:r>
          </a:p>
          <a:p>
            <a:endParaRPr lang="en-US" dirty="0"/>
          </a:p>
          <a:p>
            <a:r>
              <a:rPr lang="en-US" dirty="0"/>
              <a:t>Applies mixture models to real-world data</a:t>
            </a:r>
          </a:p>
          <a:p>
            <a:endParaRPr lang="en-US" dirty="0"/>
          </a:p>
          <a:p>
            <a:r>
              <a:rPr lang="en-US" dirty="0"/>
              <a:t>You’ll also understand how the challenges in posterior computation, including label switching. </a:t>
            </a:r>
          </a:p>
          <a:p>
            <a:endParaRPr lang="en-US" dirty="0"/>
          </a:p>
          <a:p>
            <a:r>
              <a:rPr lang="en-US" dirty="0"/>
              <a:t>Finally, you’ll learn methods to handle an unspecified  number of mixture components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0434E8-B60F-E047-A53D-C8384359916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8639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rgbClr val="0E0E0E"/>
                </a:solidFill>
                <a:effectLst/>
                <a:latin typeface=".SF NS"/>
              </a:rPr>
              <a:t>The example from the book that illustrates simple mixture models looks at reaction times in people with versus without schizophrenia.</a:t>
            </a:r>
          </a:p>
          <a:p>
            <a:endParaRPr lang="en-US" dirty="0">
              <a:solidFill>
                <a:srgbClr val="0E0E0E"/>
              </a:solidFill>
              <a:effectLst/>
              <a:latin typeface=".SF N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rgbClr val="0E0E0E"/>
                </a:solidFill>
                <a:effectLst/>
                <a:latin typeface=".SF NS"/>
              </a:rPr>
              <a:t>Individuals with schizophrenia are believed to have a higher-than-average response times compared those who don’t. The theory suggests the origins may be due to </a:t>
            </a:r>
            <a:br>
              <a:rPr lang="en-US" dirty="0">
                <a:solidFill>
                  <a:srgbClr val="0E0E0E"/>
                </a:solidFill>
                <a:effectLst/>
                <a:latin typeface=".SF NS"/>
              </a:rPr>
            </a:br>
            <a:endParaRPr lang="en-US" dirty="0">
              <a:solidFill>
                <a:srgbClr val="0E0E0E"/>
              </a:solidFill>
              <a:effectLst/>
              <a:latin typeface=".SF NS"/>
            </a:endParaRPr>
          </a:p>
          <a:p>
            <a:r>
              <a:rPr lang="en-US" dirty="0">
                <a:solidFill>
                  <a:srgbClr val="0E0E0E"/>
                </a:solidFill>
                <a:effectLst/>
                <a:latin typeface="Times New Roman" panose="02020603050405020304" pitchFamily="18" charset="0"/>
              </a:rPr>
              <a:t>1. </a:t>
            </a:r>
            <a:r>
              <a:rPr lang="en-US" b="1" dirty="0">
                <a:solidFill>
                  <a:srgbClr val="0E0E0E"/>
                </a:solidFill>
                <a:effectLst/>
                <a:latin typeface=".SF NS"/>
              </a:rPr>
              <a:t>General Motor Reflex Delays:</a:t>
            </a:r>
            <a:r>
              <a:rPr lang="en-US" dirty="0">
                <a:solidFill>
                  <a:srgbClr val="0E0E0E"/>
                </a:solidFill>
                <a:effectLst/>
                <a:latin typeface=".SF NS"/>
              </a:rPr>
              <a:t> This affects all trials and leads to slower response times across the board.</a:t>
            </a:r>
          </a:p>
          <a:p>
            <a:r>
              <a:rPr lang="en-US" dirty="0">
                <a:solidFill>
                  <a:srgbClr val="0E0E0E"/>
                </a:solidFill>
                <a:effectLst/>
                <a:latin typeface="Times New Roman" panose="02020603050405020304" pitchFamily="18" charset="0"/>
              </a:rPr>
              <a:t>2. </a:t>
            </a:r>
            <a:r>
              <a:rPr lang="en-US" b="1" dirty="0">
                <a:solidFill>
                  <a:srgbClr val="0E0E0E"/>
                </a:solidFill>
                <a:effectLst/>
                <a:latin typeface=".SF NS"/>
              </a:rPr>
              <a:t>Attentional Deficit:</a:t>
            </a:r>
            <a:r>
              <a:rPr lang="en-US" dirty="0">
                <a:solidFill>
                  <a:srgbClr val="0E0E0E"/>
                </a:solidFill>
                <a:effectLst/>
                <a:latin typeface=".SF NS"/>
              </a:rPr>
              <a:t> This affects only some trials, leading to increased variability in response times.</a:t>
            </a:r>
          </a:p>
          <a:p>
            <a:br>
              <a:rPr lang="en-US" dirty="0">
                <a:solidFill>
                  <a:srgbClr val="0E0E0E"/>
                </a:solidFill>
                <a:effectLst/>
                <a:latin typeface=".SF NS"/>
              </a:rPr>
            </a:br>
            <a:r>
              <a:rPr lang="en-US" dirty="0">
                <a:solidFill>
                  <a:srgbClr val="0E0E0E"/>
                </a:solidFill>
                <a:effectLst/>
                <a:latin typeface=".SF NS"/>
              </a:rPr>
              <a:t>The experiment discussed involved only 17 participants, with 11 people without schizophrenia and 6 with the disorder. Provided in the readings are two detailed sources discussing the approach to modeling the problem. Their approach involves a technique that I’d like to discuss here a bit to support your reading of the materials.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0434E8-B60F-E047-A53D-C8384359916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9626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researchers used the ECM algorithm, which stands for expectation conditional maximization. This is a technique that alternates between two main steps to iteratively improve parameter estimates. </a:t>
            </a:r>
          </a:p>
          <a:p>
            <a:endParaRPr lang="en-US" dirty="0"/>
          </a:p>
          <a:p>
            <a:r>
              <a:rPr lang="en-US" dirty="0"/>
              <a:t>The first step is the E step, which involves computing the expected value from the log likelihood given the current estimates. </a:t>
            </a:r>
          </a:p>
          <a:p>
            <a:endParaRPr lang="en-US" dirty="0"/>
          </a:p>
          <a:p>
            <a:r>
              <a:rPr lang="en-US" dirty="0"/>
              <a:t>The CM-steps are typically multiple steps to update the parameters in pieces rather than altogether. I believe this example does it in 4 steps. </a:t>
            </a:r>
          </a:p>
          <a:p>
            <a:endParaRPr lang="en-US" dirty="0"/>
          </a:p>
          <a:p>
            <a:r>
              <a:rPr lang="en-US" dirty="0"/>
              <a:t>It can be particularly challenging to update parameters of mixture models, so the ECM algorithm is a good choice. </a:t>
            </a:r>
          </a:p>
          <a:p>
            <a:endParaRPr lang="en-US" dirty="0"/>
          </a:p>
          <a:p>
            <a:r>
              <a:rPr lang="en-US" dirty="0"/>
              <a:t>The process terminates once the values of the E-step are within some threshold of one another.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0434E8-B60F-E047-A53D-C8384359916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5809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Because we don’t have access to the data in the current example, I’ve included a simple example with synthetic data using the ECM algorithm within this lesson. On the left, we see a histogram of the synthetic data, which is a mixture of two normal distributions—much like our schizophrenia example. On the right are the estimated parameters against the actual ones used the generate the synthetic data. This is with a </a:t>
            </a:r>
            <a:r>
              <a:rPr lang="en-US" dirty="0" err="1"/>
              <a:t>thresthold</a:t>
            </a:r>
            <a:r>
              <a:rPr lang="en-US" dirty="0"/>
              <a:t> of 1e-6.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0434E8-B60F-E047-A53D-C8384359916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9252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Rather than walk through that example, which I think is a little advance as a starting point, I would like to instead walk through a simpler example. The example uses synthetic data and is hypothetical, but it is simple enough to understand the process.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0434E8-B60F-E047-A53D-C8384359916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9301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rgbClr val="0E0E0E"/>
                </a:solidFill>
                <a:effectLst/>
                <a:latin typeface=".SF NS"/>
              </a:rPr>
              <a:t>Let’s take a moment to refresh our understanding of the Gibbs Sampler, an essential tool in Bayesian statistics for sampling from high-dimensional posterior distributions.</a:t>
            </a:r>
          </a:p>
          <a:p>
            <a:endParaRPr lang="en-US" dirty="0">
              <a:solidFill>
                <a:srgbClr val="0E0E0E"/>
              </a:solidFill>
              <a:effectLst/>
              <a:latin typeface=".SF NS"/>
            </a:endParaRPr>
          </a:p>
          <a:p>
            <a:r>
              <a:rPr lang="en-US" dirty="0">
                <a:solidFill>
                  <a:srgbClr val="0E0E0E"/>
                </a:solidFill>
                <a:effectLst/>
                <a:latin typeface=".SF NS"/>
              </a:rPr>
              <a:t>The </a:t>
            </a:r>
            <a:r>
              <a:rPr lang="en-US" b="1" dirty="0">
                <a:solidFill>
                  <a:srgbClr val="0E0E0E"/>
                </a:solidFill>
                <a:effectLst/>
                <a:latin typeface=".SF NS"/>
              </a:rPr>
              <a:t>purpose</a:t>
            </a:r>
            <a:r>
              <a:rPr lang="en-US" dirty="0">
                <a:solidFill>
                  <a:srgbClr val="0E0E0E"/>
                </a:solidFill>
                <a:effectLst/>
                <a:latin typeface=".SF NS"/>
              </a:rPr>
              <a:t> of the Gibbs Sampler is to efficiently sample from complex, high-dimensional distributions, which can be challenging with direct sampling methods.</a:t>
            </a:r>
          </a:p>
          <a:p>
            <a:endParaRPr lang="en-US" dirty="0">
              <a:solidFill>
                <a:srgbClr val="0E0E0E"/>
              </a:solidFill>
              <a:effectLst/>
              <a:latin typeface=".SF NS"/>
            </a:endParaRPr>
          </a:p>
          <a:p>
            <a:r>
              <a:rPr lang="en-US" dirty="0">
                <a:solidFill>
                  <a:srgbClr val="0E0E0E"/>
                </a:solidFill>
                <a:effectLst/>
                <a:latin typeface=".SF NS"/>
              </a:rPr>
              <a:t>Here’s a step-by-step overview of the </a:t>
            </a:r>
            <a:r>
              <a:rPr lang="en-US" b="1" dirty="0">
                <a:solidFill>
                  <a:srgbClr val="0E0E0E"/>
                </a:solidFill>
                <a:effectLst/>
                <a:latin typeface=".SF NS"/>
              </a:rPr>
              <a:t>process</a:t>
            </a:r>
            <a:r>
              <a:rPr lang="en-US" dirty="0">
                <a:solidFill>
                  <a:srgbClr val="0E0E0E"/>
                </a:solidFill>
                <a:effectLst/>
                <a:latin typeface=".SF NS"/>
              </a:rPr>
              <a:t>:</a:t>
            </a:r>
          </a:p>
          <a:p>
            <a:endParaRPr lang="en-US" dirty="0">
              <a:solidFill>
                <a:srgbClr val="0E0E0E"/>
              </a:solidFill>
              <a:effectLst/>
              <a:latin typeface=".SF NS"/>
            </a:endParaRPr>
          </a:p>
          <a:p>
            <a:r>
              <a:rPr lang="en-US" dirty="0">
                <a:solidFill>
                  <a:srgbClr val="0E0E0E"/>
                </a:solidFill>
                <a:effectLst/>
                <a:latin typeface="Times New Roman" panose="02020603050405020304" pitchFamily="18" charset="0"/>
              </a:rPr>
              <a:t>1. </a:t>
            </a:r>
            <a:r>
              <a:rPr lang="en-US" b="1" dirty="0">
                <a:solidFill>
                  <a:srgbClr val="0E0E0E"/>
                </a:solidFill>
                <a:effectLst/>
                <a:latin typeface=".SF NS"/>
              </a:rPr>
              <a:t>Initialize Parameters:</a:t>
            </a:r>
            <a:r>
              <a:rPr lang="en-US" dirty="0">
                <a:solidFill>
                  <a:srgbClr val="0E0E0E"/>
                </a:solidFill>
                <a:effectLst/>
                <a:latin typeface=".SF NS"/>
              </a:rPr>
              <a:t> We start with initial guesses for all parameters. These initial values can be arbitrary, but choosing reasonable starting points can help the sampler converge more quickly.</a:t>
            </a:r>
          </a:p>
          <a:p>
            <a:r>
              <a:rPr lang="en-US" dirty="0">
                <a:solidFill>
                  <a:srgbClr val="0E0E0E"/>
                </a:solidFill>
                <a:effectLst/>
                <a:latin typeface="Times New Roman" panose="02020603050405020304" pitchFamily="18" charset="0"/>
              </a:rPr>
              <a:t>2. </a:t>
            </a:r>
            <a:r>
              <a:rPr lang="en-US" b="1" dirty="0">
                <a:solidFill>
                  <a:srgbClr val="0E0E0E"/>
                </a:solidFill>
                <a:effectLst/>
                <a:latin typeface=".SF NS"/>
              </a:rPr>
              <a:t>Iterative Sampling:</a:t>
            </a:r>
            <a:r>
              <a:rPr lang="en-US" dirty="0">
                <a:solidFill>
                  <a:srgbClr val="0E0E0E"/>
                </a:solidFill>
                <a:effectLst/>
                <a:latin typeface=".SF NS"/>
              </a:rPr>
              <a:t> The core of the Gibbs Sampler is its iterative nature. In each iteration, we update each parameter one at a time, conditioned on the current values of all other parameters. This means we sample from the conditional distribution of each parameter, given the others.</a:t>
            </a:r>
          </a:p>
          <a:p>
            <a:r>
              <a:rPr lang="en-US" dirty="0">
                <a:solidFill>
                  <a:srgbClr val="0E0E0E"/>
                </a:solidFill>
                <a:effectLst/>
                <a:latin typeface="Times New Roman" panose="02020603050405020304" pitchFamily="18" charset="0"/>
              </a:rPr>
              <a:t>3. </a:t>
            </a:r>
            <a:r>
              <a:rPr lang="en-US" b="1" dirty="0">
                <a:solidFill>
                  <a:srgbClr val="0E0E0E"/>
                </a:solidFill>
                <a:effectLst/>
                <a:latin typeface=".SF NS"/>
              </a:rPr>
              <a:t>Repeat:</a:t>
            </a:r>
            <a:r>
              <a:rPr lang="en-US" dirty="0">
                <a:solidFill>
                  <a:srgbClr val="0E0E0E"/>
                </a:solidFill>
                <a:effectLst/>
                <a:latin typeface=".SF NS"/>
              </a:rPr>
              <a:t> We continue these iterations, updating each parameter in turn, until the samples stabilize and we achieve convergence.</a:t>
            </a:r>
          </a:p>
          <a:p>
            <a:br>
              <a:rPr lang="en-US" dirty="0">
                <a:solidFill>
                  <a:srgbClr val="0E0E0E"/>
                </a:solidFill>
                <a:effectLst/>
                <a:latin typeface=".SF NS"/>
              </a:rPr>
            </a:br>
            <a:endParaRPr lang="en-US" dirty="0">
              <a:solidFill>
                <a:srgbClr val="0E0E0E"/>
              </a:solidFill>
              <a:effectLst/>
              <a:latin typeface=".SF NS"/>
            </a:endParaRPr>
          </a:p>
          <a:p>
            <a:r>
              <a:rPr lang="en-US" dirty="0">
                <a:solidFill>
                  <a:srgbClr val="0E0E0E"/>
                </a:solidFill>
                <a:effectLst/>
                <a:latin typeface=".SF NS"/>
              </a:rPr>
              <a:t>The </a:t>
            </a:r>
            <a:r>
              <a:rPr lang="en-US" b="1" dirty="0">
                <a:solidFill>
                  <a:srgbClr val="0E0E0E"/>
                </a:solidFill>
                <a:effectLst/>
                <a:latin typeface=".SF NS"/>
              </a:rPr>
              <a:t>benefits</a:t>
            </a:r>
            <a:r>
              <a:rPr lang="en-US" dirty="0">
                <a:solidFill>
                  <a:srgbClr val="0E0E0E"/>
                </a:solidFill>
                <a:effectLst/>
                <a:latin typeface=".SF NS"/>
              </a:rPr>
              <a:t> of the Gibbs Sampler are significant. It is particularly useful for handling complex, high-dimensional distributions, which are common in real-world problems. Moreover, the Gibbs Sampler is often easier to implement than direct sampling methods because it breaks down the complex problem into simpler conditional distributions.</a:t>
            </a:r>
          </a:p>
          <a:p>
            <a:br>
              <a:rPr lang="en-US" dirty="0">
                <a:solidFill>
                  <a:srgbClr val="0E0E0E"/>
                </a:solidFill>
                <a:effectLst/>
                <a:latin typeface=".SF NS"/>
              </a:rPr>
            </a:br>
            <a:endParaRPr lang="en-US" dirty="0">
              <a:solidFill>
                <a:srgbClr val="0E0E0E"/>
              </a:solidFill>
              <a:effectLst/>
              <a:latin typeface=".SF NS"/>
            </a:endParaRPr>
          </a:p>
          <a:p>
            <a:r>
              <a:rPr lang="en-US" dirty="0">
                <a:solidFill>
                  <a:srgbClr val="0E0E0E"/>
                </a:solidFill>
                <a:effectLst/>
                <a:latin typeface=".SF NS"/>
              </a:rPr>
              <a:t>This iterative, conditional updating process makes the Gibbs Sampler a powerful technique for Bayesian inference, enabling us to draw samples from distributions that would otherwise be difficult to handle.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0434E8-B60F-E047-A53D-C8384359916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9238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solidFill>
                <a:srgbClr val="0E0E0E"/>
              </a:solidFill>
              <a:effectLst/>
              <a:latin typeface=".SF NS"/>
            </a:endParaRPr>
          </a:p>
          <a:p>
            <a:endParaRPr lang="en-US" dirty="0">
              <a:solidFill>
                <a:srgbClr val="0E0E0E"/>
              </a:solidFill>
              <a:effectLst/>
              <a:latin typeface=".SF NS"/>
            </a:endParaRPr>
          </a:p>
          <a:p>
            <a:r>
              <a:rPr lang="en-US" dirty="0">
                <a:solidFill>
                  <a:srgbClr val="0E0E0E"/>
                </a:solidFill>
                <a:effectLst/>
                <a:latin typeface=".SF NS"/>
              </a:rPr>
              <a:t> An S-shaped pattern (points above the line in the center and below the line at the ends or vice versa) suggests skewness.</a:t>
            </a:r>
          </a:p>
          <a:p>
            <a:r>
              <a:rPr lang="en-US" dirty="0">
                <a:solidFill>
                  <a:srgbClr val="0E0E0E"/>
                </a:solidFill>
                <a:effectLst/>
                <a:latin typeface=".SF NS"/>
              </a:rPr>
              <a:t>• An upward bend in the right tail and downward bend in the left tail indicate positive skewness.</a:t>
            </a:r>
          </a:p>
          <a:p>
            <a:r>
              <a:rPr lang="en-US" dirty="0">
                <a:solidFill>
                  <a:srgbClr val="0E0E0E"/>
                </a:solidFill>
                <a:effectLst/>
                <a:latin typeface=".SF NS"/>
              </a:rPr>
              <a:t>• A downward bend in the right tail and upward bend in the left tail indicate negative skewness.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0434E8-B60F-E047-A53D-C8384359916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9642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rgbClr val="0E0E0E"/>
                </a:solidFill>
                <a:effectLst/>
                <a:latin typeface=".SF NS"/>
              </a:rPr>
              <a:t>In dealing with a variable number of mixture components, one approach is to choose a prior for H, such as a truncated Poisson, and use reversible jump MCMC for posterior computation. However, this method is computationally intensive.</a:t>
            </a:r>
          </a:p>
          <a:p>
            <a:br>
              <a:rPr lang="en-US" dirty="0">
                <a:solidFill>
                  <a:srgbClr val="0E0E0E"/>
                </a:solidFill>
                <a:effectLst/>
                <a:latin typeface=".SF NS"/>
              </a:rPr>
            </a:br>
            <a:endParaRPr lang="en-US" dirty="0">
              <a:solidFill>
                <a:srgbClr val="0E0E0E"/>
              </a:solidFill>
              <a:effectLst/>
              <a:latin typeface=".SF NS"/>
            </a:endParaRPr>
          </a:p>
          <a:p>
            <a:r>
              <a:rPr lang="en-US" dirty="0">
                <a:solidFill>
                  <a:srgbClr val="0E0E0E"/>
                </a:solidFill>
                <a:effectLst/>
                <a:latin typeface=".SF NS"/>
              </a:rPr>
              <a:t>A more practical approach involves fitting the model for various values of H and using a goodness-of-fit criterion penalized for model complexity to choose the best H. Common criteria include the Deviance Information Criterion (DIC) and the Watanabe-Akaike Information Criterion (WAIC).</a:t>
            </a:r>
          </a:p>
          <a:p>
            <a:br>
              <a:rPr lang="en-US" dirty="0">
                <a:solidFill>
                  <a:srgbClr val="0E0E0E"/>
                </a:solidFill>
                <a:effectLst/>
                <a:latin typeface=".SF NS"/>
              </a:rPr>
            </a:br>
            <a:endParaRPr lang="en-US" dirty="0">
              <a:solidFill>
                <a:srgbClr val="0E0E0E"/>
              </a:solidFill>
              <a:effectLst/>
              <a:latin typeface=".SF NS"/>
            </a:endParaRPr>
          </a:p>
          <a:p>
            <a:r>
              <a:rPr lang="en-US" dirty="0">
                <a:solidFill>
                  <a:srgbClr val="0E0E0E"/>
                </a:solidFill>
                <a:effectLst/>
                <a:latin typeface=".SF NS"/>
              </a:rPr>
              <a:t>Another effective method is to use the EM algorithm to obtain maximum likelihood estimates or posterior modes for the parameters for each choice of H and then report the results for the H that shows the best marginal posterior probability or estimated predictive performance.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0434E8-B60F-E047-A53D-C83843599167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5788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2A486D6-E442-077A-EEB3-88D208F2FC4C}"/>
              </a:ext>
            </a:extLst>
          </p:cNvPr>
          <p:cNvSpPr/>
          <p:nvPr/>
        </p:nvSpPr>
        <p:spPr>
          <a:xfrm>
            <a:off x="2657477" y="1943101"/>
            <a:ext cx="12973050" cy="4730750"/>
          </a:xfrm>
          <a:prstGeom prst="rect">
            <a:avLst/>
          </a:prstGeom>
          <a:noFill/>
          <a:ln w="12700" cap="flat" cmpd="sng">
            <a:solidFill>
              <a:schemeClr val="bg1"/>
            </a:solidFill>
            <a:prstDash val="solid"/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>
            <a:normAutofit/>
          </a:bodyPr>
          <a:lstStyle/>
          <a:p>
            <a:pPr defTabSz="1828800" fontAlgn="auto">
              <a:spcBef>
                <a:spcPts val="4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/>
            </a:pPr>
            <a:endParaRPr sz="64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5842" y="2286000"/>
            <a:ext cx="12996316" cy="2587300"/>
          </a:xfrm>
        </p:spPr>
        <p:txBody>
          <a:bodyPr lIns="182880" rIns="182880" rtlCol="0">
            <a:noAutofit/>
          </a:bodyPr>
          <a:lstStyle>
            <a:lvl1pPr marL="0" indent="0" algn="ctr" defTabSz="1828800" rtl="0" eaLnBrk="1" latinLnBrk="0" hangingPunct="1">
              <a:spcBef>
                <a:spcPct val="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7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5845" y="4948519"/>
            <a:ext cx="12996318" cy="1374962"/>
          </a:xfrm>
        </p:spPr>
        <p:txBody>
          <a:bodyPr rtlCol="0">
            <a:normAutofit/>
          </a:bodyPr>
          <a:lstStyle>
            <a:lvl1pPr marL="0" indent="0" algn="ctr" defTabSz="18288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572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6400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7315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6748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8550" y="2050699"/>
            <a:ext cx="16084552" cy="6888006"/>
          </a:xfrm>
        </p:spPr>
        <p:txBody>
          <a:bodyPr/>
          <a:lstStyle>
            <a:lvl1pPr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025930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8550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502142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56114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482098A7-74DB-47EC-8637-CFD1F5FF8EA6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098551" y="161926"/>
            <a:ext cx="16084550" cy="2003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A30E7C49-5D51-22BD-9218-005012D508B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098551" y="2400300"/>
            <a:ext cx="16084550" cy="651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pic>
        <p:nvPicPr>
          <p:cNvPr id="1028" name="Picture 5" descr="ILTECH_wht_horiz.png">
            <a:extLst>
              <a:ext uri="{FF2B5EF4-FFF2-40B4-BE49-F238E27FC236}">
                <a16:creationId xmlns:a16="http://schemas.microsoft.com/office/drawing/2014/main" id="{42D74730-BBC2-6B47-9AEF-9E8FDE440A0D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89076" y="9185276"/>
            <a:ext cx="35560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4" r:id="rId2"/>
    <p:sldLayoutId id="2147483675" r:id="rId3"/>
  </p:sldLayoutIdLst>
  <p:txStyles>
    <p:titleStyle>
      <a:lvl1pPr algn="ctr" rtl="0" fontAlgn="base">
        <a:spcBef>
          <a:spcPct val="0"/>
        </a:spcBef>
        <a:spcAft>
          <a:spcPct val="0"/>
        </a:spcAft>
        <a:defRPr sz="5600" b="1" kern="1200">
          <a:solidFill>
            <a:schemeClr val="accent1"/>
          </a:solidFill>
          <a:latin typeface="+mj-lt"/>
          <a:ea typeface="ＭＳ Ｐゴシック" panose="020B0600070205080204" pitchFamily="34" charset="-128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2pPr>
      <a:lvl3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3pPr>
      <a:lvl4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4pPr>
      <a:lvl5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5pPr>
      <a:lvl6pPr marL="9144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6pPr>
      <a:lvl7pPr marL="18288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7pPr>
      <a:lvl8pPr marL="27432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8pPr>
      <a:lvl9pPr marL="36576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9pPr>
    </p:titleStyle>
    <p:bodyStyle>
      <a:lvl1pPr marL="698500" indent="-698500" algn="l" rtl="0" fontAlgn="base">
        <a:spcBef>
          <a:spcPts val="4000"/>
        </a:spcBef>
        <a:spcAft>
          <a:spcPct val="0"/>
        </a:spcAft>
        <a:buClr>
          <a:schemeClr val="accent2"/>
        </a:buClr>
        <a:buSzPct val="100000"/>
        <a:buFont typeface="Wingdings 2" pitchFamily="2" charset="2"/>
        <a:buChar char=""/>
        <a:defRPr sz="48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1pPr>
      <a:lvl2pPr marL="1371600" indent="-673100" algn="l" rtl="0" fontAlgn="base">
        <a:spcBef>
          <a:spcPts val="1200"/>
        </a:spcBef>
        <a:spcAft>
          <a:spcPct val="0"/>
        </a:spcAft>
        <a:buClr>
          <a:srgbClr val="808080"/>
        </a:buClr>
        <a:buSzPct val="100000"/>
        <a:buFont typeface="Wingdings 2" pitchFamily="2" charset="2"/>
        <a:buChar char=""/>
        <a:defRPr sz="44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2pPr>
      <a:lvl3pPr marL="1936750" indent="-565150" algn="l" rtl="0" fontAlgn="base">
        <a:spcBef>
          <a:spcPts val="1200"/>
        </a:spcBef>
        <a:spcAft>
          <a:spcPct val="0"/>
        </a:spcAft>
        <a:buClr>
          <a:srgbClr val="969696"/>
        </a:buClr>
        <a:buSzPct val="100000"/>
        <a:buFont typeface="Wingdings 2" pitchFamily="2" charset="2"/>
        <a:buChar char=""/>
        <a:defRPr sz="40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3pPr>
      <a:lvl4pPr marL="2527300" indent="-590550" algn="l" rtl="0" fontAlgn="base">
        <a:spcBef>
          <a:spcPts val="1200"/>
        </a:spcBef>
        <a:spcAft>
          <a:spcPct val="0"/>
        </a:spcAft>
        <a:buClr>
          <a:srgbClr val="F8BC65"/>
        </a:buClr>
        <a:buSzPct val="100000"/>
        <a:buFont typeface="Wingdings 2" pitchFamily="2" charset="2"/>
        <a:buChar char=""/>
        <a:defRPr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4pPr>
      <a:lvl5pPr marL="3092450" indent="-565150" algn="l" rtl="0" fontAlgn="base">
        <a:spcBef>
          <a:spcPts val="1200"/>
        </a:spcBef>
        <a:spcAft>
          <a:spcPct val="0"/>
        </a:spcAft>
        <a:buClr>
          <a:srgbClr val="FBD299"/>
        </a:buClr>
        <a:buSzPct val="100000"/>
        <a:buFont typeface="Wingdings 2" pitchFamily="2" charset="2"/>
        <a:buChar char=""/>
        <a:defRPr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5pPr>
      <a:lvl6pPr marL="3657600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18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4235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4797426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18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5378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"/>
        <a:defRPr lang="en-US" sz="3600" kern="1200" dirty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3D2C4-084C-C545-00AC-430EC19B6C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44777" y="2286001"/>
            <a:ext cx="12998450" cy="2587626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Bayesian Inference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73A97B-06C2-BD5D-13DD-A14A00967D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44777" y="4949827"/>
            <a:ext cx="12998450" cy="1374774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Module 8, Lesson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2807F-AA75-8289-ABFC-30F1E44E67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44777" y="2286001"/>
            <a:ext cx="12998450" cy="2587626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Applications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D820C0-3BC8-687A-7D56-C3951CF5E8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44777" y="4949827"/>
            <a:ext cx="12998450" cy="1374774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Shahrzad Jamshidi, PhD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>
            <a:extLst>
              <a:ext uri="{FF2B5EF4-FFF2-40B4-BE49-F238E27FC236}">
                <a16:creationId xmlns:a16="http://schemas.microsoft.com/office/drawing/2014/main" id="{7437B09B-40A5-6CD5-DCB3-08809A79E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551" y="161926"/>
            <a:ext cx="16084550" cy="1549400"/>
          </a:xfrm>
        </p:spPr>
        <p:txBody>
          <a:bodyPr/>
          <a:lstStyle/>
          <a:p>
            <a:r>
              <a:rPr lang="en-US" altLang="en-US" dirty="0"/>
              <a:t>Last Time</a:t>
            </a:r>
          </a:p>
        </p:txBody>
      </p:sp>
      <p:sp>
        <p:nvSpPr>
          <p:cNvPr id="6146" name="Content Placeholder 2">
            <a:extLst>
              <a:ext uri="{FF2B5EF4-FFF2-40B4-BE49-F238E27FC236}">
                <a16:creationId xmlns:a16="http://schemas.microsoft.com/office/drawing/2014/main" id="{8DFB1FDB-789D-3A4E-B0C7-3BAF194C66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8551" y="2051050"/>
            <a:ext cx="16084550" cy="6886576"/>
          </a:xfrm>
        </p:spPr>
        <p:txBody>
          <a:bodyPr/>
          <a:lstStyle/>
          <a:p>
            <a:r>
              <a:rPr lang="en-US" altLang="en-US" dirty="0"/>
              <a:t>Setting Up and Interpreting Mixture Models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>
            <a:extLst>
              <a:ext uri="{FF2B5EF4-FFF2-40B4-BE49-F238E27FC236}">
                <a16:creationId xmlns:a16="http://schemas.microsoft.com/office/drawing/2014/main" id="{7437B09B-40A5-6CD5-DCB3-08809A79E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551" y="161926"/>
            <a:ext cx="16084550" cy="1549400"/>
          </a:xfrm>
        </p:spPr>
        <p:txBody>
          <a:bodyPr/>
          <a:lstStyle/>
          <a:p>
            <a:r>
              <a:rPr lang="en-US" altLang="en-US" dirty="0"/>
              <a:t>Objectives</a:t>
            </a:r>
          </a:p>
        </p:txBody>
      </p:sp>
      <p:sp>
        <p:nvSpPr>
          <p:cNvPr id="6146" name="Content Placeholder 2">
            <a:extLst>
              <a:ext uri="{FF2B5EF4-FFF2-40B4-BE49-F238E27FC236}">
                <a16:creationId xmlns:a16="http://schemas.microsoft.com/office/drawing/2014/main" id="{8DFB1FDB-789D-3A4E-B0C7-3BAF194C66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8551" y="2051050"/>
            <a:ext cx="16084550" cy="6886576"/>
          </a:xfrm>
        </p:spPr>
        <p:txBody>
          <a:bodyPr/>
          <a:lstStyle/>
          <a:p>
            <a:r>
              <a:rPr lang="en-US" altLang="en-US" dirty="0"/>
              <a:t>Explore a mixture problem with data.</a:t>
            </a:r>
          </a:p>
        </p:txBody>
      </p:sp>
    </p:spTree>
    <p:extLst>
      <p:ext uri="{BB962C8B-B14F-4D97-AF65-F5344CB8AC3E}">
        <p14:creationId xmlns:p14="http://schemas.microsoft.com/office/powerpoint/2010/main" val="648465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6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4F66-F305-0F14-B0CF-DD0C1FD5E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From Reading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E76D9B-0C3B-9490-5836-474DE39C15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Schizophrenics have higher average response times.</a:t>
            </a:r>
          </a:p>
          <a:p>
            <a:pPr lvl="1"/>
            <a:r>
              <a:rPr lang="en-US" dirty="0"/>
              <a:t>Greater variability in response times among some schizophrenic individuals.</a:t>
            </a:r>
          </a:p>
          <a:p>
            <a:r>
              <a:rPr lang="en-US" dirty="0"/>
              <a:t>Psychological Theory: Schizophrenics may experience:</a:t>
            </a:r>
          </a:p>
          <a:p>
            <a:pPr lvl="1"/>
            <a:r>
              <a:rPr lang="en-US" dirty="0"/>
              <a:t>General motor reflex delays affecting all trials.</a:t>
            </a:r>
          </a:p>
          <a:p>
            <a:pPr lvl="1"/>
            <a:r>
              <a:rPr lang="en-US" dirty="0"/>
              <a:t>Attentional deficit affecting some trials.</a:t>
            </a:r>
          </a:p>
          <a:p>
            <a:r>
              <a:rPr lang="en-US" dirty="0"/>
              <a:t>Study: Each participant’s reaction times measured 30 times.</a:t>
            </a:r>
          </a:p>
          <a:p>
            <a:pPr lvl="1"/>
            <a:r>
              <a:rPr lang="en-US" dirty="0"/>
              <a:t>17 participants: 11 non-schizophrenics, 6 schizophrenics.</a:t>
            </a:r>
          </a:p>
        </p:txBody>
      </p:sp>
    </p:spTree>
    <p:extLst>
      <p:ext uri="{BB962C8B-B14F-4D97-AF65-F5344CB8AC3E}">
        <p14:creationId xmlns:p14="http://schemas.microsoft.com/office/powerpoint/2010/main" val="1484275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CFAFD-6485-0707-0572-C9E7B436C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Expectation Conditional Maximization (ECM)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3D2032-EE97-BA1D-F219-E92C47EB90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ECM alternates between two main steps to iteratively improve parameter estimates.</a:t>
            </a:r>
          </a:p>
          <a:p>
            <a:pPr lvl="1"/>
            <a:r>
              <a:rPr lang="en-US" b="1" dirty="0"/>
              <a:t>The E-step</a:t>
            </a:r>
          </a:p>
          <a:p>
            <a:pPr lvl="2"/>
            <a:r>
              <a:rPr lang="en-US" dirty="0"/>
              <a:t>Calculate the expected value of the complete-data log-likelihood given the current estimates of the parameters.</a:t>
            </a:r>
          </a:p>
          <a:p>
            <a:pPr lvl="1"/>
            <a:r>
              <a:rPr lang="en-US" b="1" dirty="0"/>
              <a:t>The CM-steps</a:t>
            </a:r>
          </a:p>
          <a:p>
            <a:pPr lvl="2"/>
            <a:r>
              <a:rPr lang="en-US" dirty="0"/>
              <a:t>In each CM-step, update one subset of parameters while keeping the others fixed at their current values.</a:t>
            </a:r>
          </a:p>
          <a:p>
            <a:pPr lvl="2"/>
            <a:r>
              <a:rPr lang="en-US" dirty="0"/>
              <a:t>This can be broken down into several steps, each focusing on different subsets of parameters, to simplify the optimization problem.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1859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 descr="A green graph with numbers and a white background&#10;&#10;Description automatically generated">
            <a:extLst>
              <a:ext uri="{FF2B5EF4-FFF2-40B4-BE49-F238E27FC236}">
                <a16:creationId xmlns:a16="http://schemas.microsoft.com/office/drawing/2014/main" id="{F3FD1CD8-990A-9706-C4E9-18F27AADBE2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098550" y="2225618"/>
            <a:ext cx="7680325" cy="6235813"/>
          </a:xfrm>
        </p:spPr>
      </p:pic>
      <p:pic>
        <p:nvPicPr>
          <p:cNvPr id="9" name="Content Placeholder 8" descr="A graph with blue and red triangles&#10;&#10;Description automatically generated">
            <a:extLst>
              <a:ext uri="{FF2B5EF4-FFF2-40B4-BE49-F238E27FC236}">
                <a16:creationId xmlns:a16="http://schemas.microsoft.com/office/drawing/2014/main" id="{0374F440-CCB0-E201-ACAE-0ABC779B2EB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9502775" y="2225618"/>
            <a:ext cx="7680325" cy="6235813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4930FB5-E9C6-3442-D9A7-6EE03332C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ECM Results with Synthetic Data</a:t>
            </a:r>
          </a:p>
        </p:txBody>
      </p:sp>
    </p:spTree>
    <p:extLst>
      <p:ext uri="{BB962C8B-B14F-4D97-AF65-F5344CB8AC3E}">
        <p14:creationId xmlns:p14="http://schemas.microsoft.com/office/powerpoint/2010/main" val="878310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AF091E9-FF06-4B22-2207-5D403C8AA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2A68A2-4396-A4F5-CB0D-3A200C8BCB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Synthetic data and a hypothetical example</a:t>
            </a:r>
          </a:p>
          <a:p>
            <a:r>
              <a:rPr lang="en-US" dirty="0"/>
              <a:t>Customer purchase behavior in two different types of stores</a:t>
            </a:r>
          </a:p>
          <a:p>
            <a:pPr lvl="1"/>
            <a:r>
              <a:rPr lang="en-US" dirty="0"/>
              <a:t>Online versus in-person</a:t>
            </a:r>
          </a:p>
          <a:p>
            <a:pPr lvl="1"/>
            <a:r>
              <a:rPr lang="en-US" dirty="0"/>
              <a:t>300 customers total</a:t>
            </a:r>
          </a:p>
          <a:p>
            <a:r>
              <a:rPr lang="en-US" dirty="0"/>
              <a:t>We want to model the distribution of the amount spent by customers.</a:t>
            </a:r>
          </a:p>
          <a:p>
            <a:pPr marL="6985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0433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72EEA-82C7-91E8-05C4-45220AD78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EA63C73-8763-7962-F694-101BB2F293F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is the amount spent by customer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is an indicator variable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 for customers of the physical store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/>
                  <a:t> for customers online</a:t>
                </a:r>
              </a:p>
              <a:p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dirty="0"/>
                  <a:t> is the mixing proportion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0" dirty="0" err="1" smtClean="0">
                            <a:latin typeface="Cambria Math" panose="02040503050406030204" pitchFamily="18" charset="0"/>
                          </a:rPr>
                          <m:t>onlin</m:t>
                        </m:r>
                        <m:r>
                          <m:rPr>
                            <m:sty m:val="p"/>
                          </m:rPr>
                          <a:rPr lang="en-US" i="0" dirty="0" err="1">
                            <a:latin typeface="Cambria Math" panose="02040503050406030204" pitchFamily="18" charset="0"/>
                          </a:rPr>
                          <m:t>e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physical</m:t>
                        </m:r>
                      </m:sub>
                    </m:sSub>
                  </m:oMath>
                </a14:m>
                <a:r>
                  <a:rPr lang="en-US" dirty="0"/>
                  <a:t> are the mean dollars spent</a:t>
                </a: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online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physical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dirty="0"/>
                  <a:t> are the variances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EA63C73-8763-7962-F694-101BB2F293F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04" t="-1657" b="-5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6688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621877-A81D-C775-6835-48EA2663EE7C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US" b="0" i="1" dirty="0" smtClean="0">
                        <a:latin typeface="Cambria Math" panose="02040503050406030204" pitchFamily="18" charset="0"/>
                      </a:rPr>
                      <m:t>Beta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(2,2) 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0" dirty="0" err="1" smtClean="0">
                            <a:latin typeface="Cambria Math" panose="02040503050406030204" pitchFamily="18" charset="0"/>
                          </a:rPr>
                          <m:t>online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(50, </m:t>
                    </m:r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25</m:t>
                        </m:r>
                      </m:e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0" dirty="0" err="1" smtClean="0">
                            <a:latin typeface="Cambria Math" panose="02040503050406030204" pitchFamily="18" charset="0"/>
                          </a:rPr>
                          <m:t>physical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(50, </m:t>
                    </m:r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25</m:t>
                        </m:r>
                      </m:e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𝑜𝑛𝑙𝑖𝑛𝑒</m:t>
                        </m:r>
                      </m:sub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i="1" dirty="0" smtClean="0"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Inv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 dirty="0" smtClean="0">
                        <a:latin typeface="Cambria Math" panose="02040503050406030204" pitchFamily="18" charset="0"/>
                      </a:rPr>
                      <m:t>(2) 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621877-A81D-C775-6835-48EA2663EE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2310" t="-3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Content Placeholder 5" descr="A graph with a blue line with Gateway Arch in the background&#10;&#10;Description automatically generated">
            <a:extLst>
              <a:ext uri="{FF2B5EF4-FFF2-40B4-BE49-F238E27FC236}">
                <a16:creationId xmlns:a16="http://schemas.microsoft.com/office/drawing/2014/main" id="{8C4F35A7-0EFC-90D4-8893-D3BC01ECDD2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9502775" y="2225618"/>
            <a:ext cx="7680325" cy="6235813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463DE3E-D106-4BEA-0C0C-AED2ED39A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Priors</a:t>
            </a:r>
          </a:p>
        </p:txBody>
      </p:sp>
    </p:spTree>
    <p:extLst>
      <p:ext uri="{BB962C8B-B14F-4D97-AF65-F5344CB8AC3E}">
        <p14:creationId xmlns:p14="http://schemas.microsoft.com/office/powerpoint/2010/main" val="3923218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621877-A81D-C775-6835-48EA2663EE7C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US" b="0" i="1" dirty="0" smtClean="0">
                        <a:latin typeface="Cambria Math" panose="02040503050406030204" pitchFamily="18" charset="0"/>
                      </a:rPr>
                      <m:t>Beta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(2,2) 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0" dirty="0" err="1" smtClean="0">
                            <a:latin typeface="Cambria Math" panose="02040503050406030204" pitchFamily="18" charset="0"/>
                          </a:rPr>
                          <m:t>online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(50, </m:t>
                    </m:r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25</m:t>
                        </m:r>
                      </m:e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0" dirty="0" err="1" smtClean="0">
                            <a:latin typeface="Cambria Math" panose="02040503050406030204" pitchFamily="18" charset="0"/>
                          </a:rPr>
                          <m:t>physical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(50, </m:t>
                    </m:r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25</m:t>
                        </m:r>
                      </m:e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𝑜𝑛𝑙𝑖𝑛𝑒</m:t>
                        </m:r>
                      </m:sub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i="1" dirty="0" smtClean="0"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Inv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  <m:sSubSup>
                      <m:sSub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𝑝h𝑦𝑠𝑖𝑐𝑎𝑙</m:t>
                        </m:r>
                      </m:sub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i="1" dirty="0" smtClean="0"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Inv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  <m:sSubSup>
                      <m:sSub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621877-A81D-C775-6835-48EA2663EE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2310" t="-3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9463DE3E-D106-4BEA-0C0C-AED2ED39A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Priors</a:t>
            </a:r>
          </a:p>
        </p:txBody>
      </p:sp>
      <p:pic>
        <p:nvPicPr>
          <p:cNvPr id="7" name="Content Placeholder 6" descr="A graph with a line&#10;&#10;Description automatically generated">
            <a:extLst>
              <a:ext uri="{FF2B5EF4-FFF2-40B4-BE49-F238E27FC236}">
                <a16:creationId xmlns:a16="http://schemas.microsoft.com/office/drawing/2014/main" id="{1F3ABA0D-F61D-4B71-EAD3-C9E3E0D151E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3"/>
          <a:srcRect t="3945" b="-3913"/>
          <a:stretch/>
        </p:blipFill>
        <p:spPr>
          <a:xfrm>
            <a:off x="9502777" y="2743200"/>
            <a:ext cx="7680325" cy="5212080"/>
          </a:xfrm>
        </p:spPr>
      </p:pic>
    </p:spTree>
    <p:extLst>
      <p:ext uri="{BB962C8B-B14F-4D97-AF65-F5344CB8AC3E}">
        <p14:creationId xmlns:p14="http://schemas.microsoft.com/office/powerpoint/2010/main" val="28367147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112A26C-A678-25F4-67D4-D995034E5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Crude Estimates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1133296B-39D4-E0BB-791A-35CB06ADE20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0" dirty="0">
                    <a:latin typeface="Cambria Math" panose="02040503050406030204" pitchFamily="18" charset="0"/>
                  </a:rPr>
                  <a:t>Ideally, we start with initial values that are crude estimates from our sample.</a:t>
                </a:r>
              </a:p>
              <a:p>
                <a:pPr lvl="1"/>
                <a:r>
                  <a:rPr lang="en-US" dirty="0">
                    <a:latin typeface="Cambria Math" panose="02040503050406030204" pitchFamily="18" charset="0"/>
                  </a:rPr>
                  <a:t>If we can, we differentiate the populations. </a:t>
                </a:r>
              </a:p>
              <a:p>
                <a:pPr lvl="1"/>
                <a:r>
                  <a:rPr lang="en-US" b="0" dirty="0">
                    <a:latin typeface="Cambria Math" panose="02040503050406030204" pitchFamily="18" charset="0"/>
                  </a:rPr>
                  <a:t>Here, we assume we cannot. 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0" dirty="0" err="1" smtClean="0">
                            <a:latin typeface="Cambria Math" panose="02040503050406030204" pitchFamily="18" charset="0"/>
                          </a:rPr>
                          <m:t>online</m:t>
                        </m:r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initial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physical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𝑖𝑛𝑖𝑡𝑖𝑎𝑙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𝑜𝑛𝑙𝑖𝑛𝑒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𝑖𝑛𝑖𝑡𝑖𝑎𝑙</m:t>
                        </m:r>
                      </m:sub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𝑝h𝑦𝑠𝑖𝑐𝑎𝑙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𝑖𝑛𝑖𝑡𝑖𝑎𝑙</m:t>
                        </m:r>
                      </m:sub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1133296B-39D4-E0BB-791A-35CB06ADE20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04" t="-16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486237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F77EA-1485-803D-F990-93ED6A8DA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Gibbs Sampler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6D924E-1C01-A3A4-F89E-142A53D7A7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Process:</a:t>
            </a:r>
          </a:p>
          <a:p>
            <a:pPr marL="1441450" lvl="1" indent="-742950">
              <a:buFont typeface="+mj-lt"/>
              <a:buAutoNum type="arabicPeriod"/>
            </a:pPr>
            <a:r>
              <a:rPr lang="en-US" b="1" u="sng" dirty="0"/>
              <a:t>Initialize Parameters</a:t>
            </a:r>
            <a:r>
              <a:rPr lang="en-US" dirty="0"/>
              <a:t>: Start with initial guesses for all parameters.</a:t>
            </a:r>
          </a:p>
          <a:p>
            <a:pPr marL="1441450" lvl="1" indent="-742950">
              <a:buFont typeface="+mj-lt"/>
              <a:buAutoNum type="arabicPeriod"/>
            </a:pPr>
            <a:r>
              <a:rPr lang="en-US" b="1" u="sng" dirty="0"/>
              <a:t>Iterative Sampling</a:t>
            </a:r>
            <a:r>
              <a:rPr lang="en-US" dirty="0"/>
              <a:t>: Update each parameter in turn, conditioned on the current values of the other parameters.</a:t>
            </a:r>
          </a:p>
          <a:p>
            <a:pPr marL="1441450" lvl="1" indent="-742950">
              <a:buFont typeface="+mj-lt"/>
              <a:buAutoNum type="arabicPeriod"/>
            </a:pPr>
            <a:r>
              <a:rPr lang="en-US" b="1" u="sng" dirty="0"/>
              <a:t>Repeat</a:t>
            </a:r>
            <a:r>
              <a:rPr lang="en-US" dirty="0"/>
              <a:t>: Continue iterations until convergence.</a:t>
            </a:r>
          </a:p>
          <a:p>
            <a:r>
              <a:rPr lang="en-US" dirty="0"/>
              <a:t>Benefits:</a:t>
            </a:r>
          </a:p>
          <a:p>
            <a:pPr lvl="1"/>
            <a:r>
              <a:rPr lang="en-US" dirty="0"/>
              <a:t>Handles complex, high-dimensional distributions.</a:t>
            </a:r>
          </a:p>
          <a:p>
            <a:pPr lvl="1"/>
            <a:r>
              <a:rPr lang="en-US" dirty="0"/>
              <a:t>Often easier to implement than direct sampling methods.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6542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D2AA17F-7DDD-106B-9AA2-C78344E2AA70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Gibbs Sampler Updates: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𝒛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D2AA17F-7DDD-106B-9AA2-C78344E2AA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b="-243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C02E54-4A9C-492C-D460-6E60EE51F2E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latin typeface="Cambria Math" panose="02040503050406030204" pitchFamily="18" charset="0"/>
                  </a:rPr>
                  <a:t>To update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</a:rPr>
                  <a:t> by computing the posterior probability</a:t>
                </a:r>
                <a:br>
                  <a:rPr lang="en-US" dirty="0">
                    <a:latin typeface="Cambria Math" panose="02040503050406030204" pitchFamily="18" charset="0"/>
                  </a:rPr>
                </a:br>
                <a:endParaRPr lang="en-US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</m:sSub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𝑜𝑙𝑑</m:t>
                              </m:r>
                            </m:sub>
                          </m:s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 dirty="0" err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 err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 dirty="0" err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i="1" dirty="0" err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𝑜𝑛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𝑖𝑛𝑖𝑡</m:t>
                              </m:r>
                            </m:sub>
                          </m:s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𝑜𝑛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𝑖𝑛𝑖𝑡</m:t>
                              </m:r>
                            </m:sub>
                            <m:sup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𝑜𝑙𝑑</m:t>
                              </m:r>
                            </m:sub>
                          </m:s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𝑁</m:t>
                          </m:r>
                          <m:d>
                            <m:d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 dirty="0" err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 err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 dirty="0" err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 dirty="0" err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𝑜𝑛</m:t>
                                  </m:r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𝑖𝑛𝑖𝑡</m:t>
                                  </m:r>
                                </m:sub>
                              </m:s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Sup>
                                <m:sSubSup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𝑜𝑛</m:t>
                                  </m:r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𝑖𝑛𝑖𝑡</m:t>
                                  </m:r>
                                </m:sub>
                                <m:sup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d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+(1−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𝑜𝑙𝑑</m:t>
                              </m:r>
                            </m:sub>
                          </m:s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𝑁</m:t>
                          </m:r>
                          <m:d>
                            <m:d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 dirty="0" err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 err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 dirty="0" err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 dirty="0" err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𝑝h</m:t>
                                  </m:r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𝑖𝑛𝑖𝑡</m:t>
                                  </m:r>
                                </m:sub>
                              </m:s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Sup>
                                <m:sSubSup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𝑝h</m:t>
                                  </m:r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𝑖𝑛𝑖𝑡</m:t>
                                  </m:r>
                                </m:sub>
                                <m:sup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Compute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𝑛𝑒𝑤</m:t>
                        </m:r>
                      </m:sup>
                    </m:sSubSup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𝐵𝑖𝑛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C02E54-4A9C-492C-D460-6E60EE51F2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104" t="-16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545490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D2AA17F-7DDD-106B-9AA2-C78344E2AA70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Gibbs Sampler Updates: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D2AA17F-7DDD-106B-9AA2-C78344E2AA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b="-243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C02E54-4A9C-492C-D460-6E60EE51F2E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0" dirty="0"/>
                  <a:t>Posterior Beta distribution: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𝑛𝑒𝑤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𝑜𝑙𝑑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Sup>
                          <m:sSubSup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𝑛𝑒𝑤</m:t>
                            </m:r>
                          </m:sup>
                        </m:sSubSup>
                      </m:e>
                    </m:nary>
                  </m:oMath>
                </a14:m>
                <a:endParaRPr lang="en-US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𝑛𝑒𝑤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𝑜𝑙𝑑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Sup>
                          <m:sSubSup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𝑛𝑒𝑤</m:t>
                            </m:r>
                          </m:sup>
                        </m:sSubSup>
                      </m:e>
                    </m:nary>
                  </m:oMath>
                </a14:m>
                <a:endParaRPr lang="en-US" dirty="0">
                  <a:latin typeface="Cambria Math" panose="02040503050406030204" pitchFamily="18" charset="0"/>
                </a:endParaRPr>
              </a:p>
              <a:p>
                <a:r>
                  <a:rPr lang="en-US" dirty="0">
                    <a:latin typeface="Cambria Math" panose="02040503050406030204" pitchFamily="18" charset="0"/>
                  </a:rPr>
                  <a:t>To update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</a:rPr>
                  <a:t> by computing the posterior probability</a:t>
                </a:r>
                <a:endParaRPr lang="en-US" dirty="0"/>
              </a:p>
              <a:p>
                <a:pPr lvl="1"/>
                <a:r>
                  <a:rPr lang="en-US" dirty="0"/>
                  <a:t>Draw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𝑛𝑒𝑤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𝑒𝑡𝑎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𝑛𝑒𝑤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𝑛𝑒𝑤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C02E54-4A9C-492C-D460-6E60EE51F2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104" t="-20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38163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D2AA17F-7DDD-106B-9AA2-C78344E2AA70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Gibbs Sampler Updates: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𝒐𝒏𝒍𝒊𝒏𝒆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D2AA17F-7DDD-106B-9AA2-C78344E2AA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b="-243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C02E54-4A9C-492C-D460-6E60EE51F2E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Number of online observations: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𝑜𝑛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Sup>
                          <m:sSubSup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𝑛𝑒𝑤</m:t>
                            </m:r>
                          </m:sup>
                        </m:sSubSup>
                      </m:e>
                    </m:nary>
                  </m:oMath>
                </a14:m>
                <a:endParaRPr lang="en-US" dirty="0"/>
              </a:p>
              <a:p>
                <a:r>
                  <a:rPr lang="en-US" dirty="0"/>
                  <a:t>Mean of online observations: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𝑜𝑛𝑙𝑖𝑛𝑒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Sup>
                          <m:sSubSup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𝑛𝑒𝑤</m:t>
                            </m:r>
                          </m:sup>
                        </m:sSub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=1)</m:t>
                        </m:r>
                      </m:e>
                    </m:nary>
                  </m:oMath>
                </a14:m>
                <a:endParaRPr lang="en-US" dirty="0"/>
              </a:p>
              <a:p>
                <a:r>
                  <a:rPr lang="en-US" dirty="0"/>
                  <a:t>Posterior mean: 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𝑜𝑛𝑙𝑖𝑛𝑒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𝑛𝑒𝑤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type m:val="skw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𝑜𝑛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𝑖𝑛𝑖𝑡</m:t>
                                  </m:r>
                                </m:sub>
                              </m:sSub>
                            </m:num>
                            <m:den>
                              <m:sSubSup>
                                <m:sSub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𝑜𝑛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𝑖𝑛𝑖𝑡</m:t>
                                  </m:r>
                                </m:sub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𝑜𝑛</m:t>
                              </m:r>
                            </m:sub>
                          </m:sSub>
                          <m:f>
                            <m:fPr>
                              <m:type m:val="skw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𝑜𝑛</m:t>
                                  </m:r>
                                </m:sub>
                              </m:sSub>
                            </m:num>
                            <m:den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𝑜𝑛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𝑜𝑙𝑑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den>
                          </m:f>
                        </m:num>
                        <m:den>
                          <m:f>
                            <m:fPr>
                              <m:type m:val="skw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𝑜𝑛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𝑖𝑛𝑖𝑡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den>
                          </m:f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type m:val="skw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𝑜𝑛</m:t>
                                  </m:r>
                                </m:sub>
                              </m:sSub>
                            </m:num>
                            <m:den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𝑜𝑛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𝑜𝑙𝑑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den>
                          </m:f>
                        </m:den>
                      </m:f>
                    </m:oMath>
                  </m:oMathPara>
                </a14:m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𝑝h𝑦𝑠𝑖𝑐𝑎𝑙</m:t>
                        </m:r>
                      </m:sub>
                    </m:sSub>
                  </m:oMath>
                </a14:m>
                <a:r>
                  <a:rPr lang="en-US" dirty="0"/>
                  <a:t> works the same way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C02E54-4A9C-492C-D460-6E60EE51F2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104" t="-14365" b="-292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44203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D2AA17F-7DDD-106B-9AA2-C78344E2AA70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Gibbs Sampler Updates: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𝑜𝑛𝑙𝑖𝑛𝑒</m:t>
                        </m:r>
                      </m:sub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D2AA17F-7DDD-106B-9AA2-C78344E2AA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b="-243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C02E54-4A9C-492C-D460-6E60EE51F2E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Compute the posterior distribution parameters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Inv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𝜈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𝜈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𝑛𝑒𝑤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𝜈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𝑜𝑙𝑑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𝑜𝑛𝑙𝑖𝑛𝑒</m:t>
                        </m:r>
                      </m:sub>
                    </m:sSub>
                  </m:oMath>
                </a14:m>
                <a:endParaRPr lang="en-US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𝑛𝑒𝑤</m:t>
                        </m:r>
                      </m:sub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𝜈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𝑜𝑙𝑑</m:t>
                            </m:r>
                          </m:sub>
                        </m:sSub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𝑜𝑛𝑙𝑖𝑛𝑒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𝑜𝑛𝑙𝑖𝑛𝑒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𝜈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𝑛𝑒𝑤</m:t>
                            </m:r>
                          </m:sub>
                        </m:sSub>
                      </m:den>
                    </m:f>
                  </m:oMath>
                </a14:m>
                <a:endParaRPr lang="en-US" dirty="0"/>
              </a:p>
              <a:p>
                <a:r>
                  <a:rPr lang="en-US" dirty="0"/>
                  <a:t>Sample a new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𝑜𝑛𝑙𝑖𝑛𝑒</m:t>
                        </m:r>
                      </m:sub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dirty="0"/>
                  <a:t> from the new distribution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C02E54-4A9C-492C-D460-6E60EE51F2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104" t="-16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389439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Content Placeholder 7">
                <a:extLst>
                  <a:ext uri="{FF2B5EF4-FFF2-40B4-BE49-F238E27FC236}">
                    <a16:creationId xmlns:a16="http://schemas.microsoft.com/office/drawing/2014/main" id="{CFE5197A-E325-687D-873F-3F9E4EB9C98E}"/>
                  </a:ext>
                </a:extLst>
              </p:cNvPr>
              <p:cNvGraphicFramePr>
                <a:graphicFrameLocks noGrp="1"/>
              </p:cNvGraphicFramePr>
              <p:nvPr>
                <p:ph sz="half" idx="2"/>
                <p:extLst>
                  <p:ext uri="{D42A27DB-BD31-4B8C-83A1-F6EECF244321}">
                    <p14:modId xmlns:p14="http://schemas.microsoft.com/office/powerpoint/2010/main" val="1518187111"/>
                  </p:ext>
                </p:extLst>
              </p:nvPr>
            </p:nvGraphicFramePr>
            <p:xfrm>
              <a:off x="9528179" y="3223260"/>
              <a:ext cx="7680323" cy="247237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65221">
                      <a:extLst>
                        <a:ext uri="{9D8B030D-6E8A-4147-A177-3AD203B41FA5}">
                          <a16:colId xmlns:a16="http://schemas.microsoft.com/office/drawing/2014/main" val="2670507075"/>
                        </a:ext>
                      </a:extLst>
                    </a:gridCol>
                    <a:gridCol w="1066800">
                      <a:extLst>
                        <a:ext uri="{9D8B030D-6E8A-4147-A177-3AD203B41FA5}">
                          <a16:colId xmlns:a16="http://schemas.microsoft.com/office/drawing/2014/main" val="3573873473"/>
                        </a:ext>
                      </a:extLst>
                    </a:gridCol>
                    <a:gridCol w="1059546">
                      <a:extLst>
                        <a:ext uri="{9D8B030D-6E8A-4147-A177-3AD203B41FA5}">
                          <a16:colId xmlns:a16="http://schemas.microsoft.com/office/drawing/2014/main" val="2677024816"/>
                        </a:ext>
                      </a:extLst>
                    </a:gridCol>
                    <a:gridCol w="1097189">
                      <a:extLst>
                        <a:ext uri="{9D8B030D-6E8A-4147-A177-3AD203B41FA5}">
                          <a16:colId xmlns:a16="http://schemas.microsoft.com/office/drawing/2014/main" val="857469167"/>
                        </a:ext>
                      </a:extLst>
                    </a:gridCol>
                    <a:gridCol w="1069065">
                      <a:extLst>
                        <a:ext uri="{9D8B030D-6E8A-4147-A177-3AD203B41FA5}">
                          <a16:colId xmlns:a16="http://schemas.microsoft.com/office/drawing/2014/main" val="3625969851"/>
                        </a:ext>
                      </a:extLst>
                    </a:gridCol>
                    <a:gridCol w="1125313">
                      <a:extLst>
                        <a:ext uri="{9D8B030D-6E8A-4147-A177-3AD203B41FA5}">
                          <a16:colId xmlns:a16="http://schemas.microsoft.com/office/drawing/2014/main" val="1208142622"/>
                        </a:ext>
                      </a:extLst>
                    </a:gridCol>
                    <a:gridCol w="1097189">
                      <a:extLst>
                        <a:ext uri="{9D8B030D-6E8A-4147-A177-3AD203B41FA5}">
                          <a16:colId xmlns:a16="http://schemas.microsoft.com/office/drawing/2014/main" val="91313704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Param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Min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Q1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Med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Mean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Q3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Max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4175367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0.2598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0.3416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0.3696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0.3718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0.4023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0.5195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033023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 dirty="0" smtClean="0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2000" i="0" dirty="0" err="1" smtClean="0">
                                        <a:latin typeface="Cambria Math" panose="02040503050406030204" pitchFamily="18" charset="0"/>
                                      </a:rPr>
                                      <m:t>online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34.27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40.60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42.38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42.64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44.61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53.88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260521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20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000" i="1" dirty="0" smtClean="0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sz="2000" i="1" dirty="0" smtClean="0">
                                        <a:latin typeface="Cambria Math" panose="02040503050406030204" pitchFamily="18" charset="0"/>
                                      </a:rPr>
                                      <m:t>𝑜𝑛𝑙𝑖𝑛𝑒</m:t>
                                    </m:r>
                                  </m:sub>
                                  <m:sup>
                                    <m:r>
                                      <a:rPr lang="en-US" sz="2000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179.8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289.2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342.1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349.6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397.3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683.4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692046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 dirty="0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2000" b="0" i="0" dirty="0" smtClean="0">
                                        <a:latin typeface="Cambria Math" panose="02040503050406030204" pitchFamily="18" charset="0"/>
                                      </a:rPr>
                                      <m:t>physical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92.85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97.03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98.25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98.19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99.44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103.09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019916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20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000" i="1" dirty="0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sz="2000" i="1" dirty="0">
                                        <a:latin typeface="Cambria Math" panose="02040503050406030204" pitchFamily="18" charset="0"/>
                                      </a:rPr>
                                      <m:t>𝑝h𝑦𝑠𝑖𝑐𝑎𝑙</m:t>
                                    </m:r>
                                  </m:sub>
                                  <m:sup>
                                    <m:r>
                                      <a:rPr lang="en-US" sz="2000" i="1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169.7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234.3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265.0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267.2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292.1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420.1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2935529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Content Placeholder 7">
                <a:extLst>
                  <a:ext uri="{FF2B5EF4-FFF2-40B4-BE49-F238E27FC236}">
                    <a16:creationId xmlns:a16="http://schemas.microsoft.com/office/drawing/2014/main" id="{CFE5197A-E325-687D-873F-3F9E4EB9C98E}"/>
                  </a:ext>
                </a:extLst>
              </p:cNvPr>
              <p:cNvGraphicFramePr>
                <a:graphicFrameLocks noGrp="1"/>
              </p:cNvGraphicFramePr>
              <p:nvPr>
                <p:ph sz="half" idx="2"/>
                <p:extLst>
                  <p:ext uri="{D42A27DB-BD31-4B8C-83A1-F6EECF244321}">
                    <p14:modId xmlns:p14="http://schemas.microsoft.com/office/powerpoint/2010/main" val="1518187111"/>
                  </p:ext>
                </p:extLst>
              </p:nvPr>
            </p:nvGraphicFramePr>
            <p:xfrm>
              <a:off x="9528179" y="3223260"/>
              <a:ext cx="7680323" cy="247237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65221">
                      <a:extLst>
                        <a:ext uri="{9D8B030D-6E8A-4147-A177-3AD203B41FA5}">
                          <a16:colId xmlns:a16="http://schemas.microsoft.com/office/drawing/2014/main" val="2670507075"/>
                        </a:ext>
                      </a:extLst>
                    </a:gridCol>
                    <a:gridCol w="1066800">
                      <a:extLst>
                        <a:ext uri="{9D8B030D-6E8A-4147-A177-3AD203B41FA5}">
                          <a16:colId xmlns:a16="http://schemas.microsoft.com/office/drawing/2014/main" val="3573873473"/>
                        </a:ext>
                      </a:extLst>
                    </a:gridCol>
                    <a:gridCol w="1059546">
                      <a:extLst>
                        <a:ext uri="{9D8B030D-6E8A-4147-A177-3AD203B41FA5}">
                          <a16:colId xmlns:a16="http://schemas.microsoft.com/office/drawing/2014/main" val="2677024816"/>
                        </a:ext>
                      </a:extLst>
                    </a:gridCol>
                    <a:gridCol w="1097189">
                      <a:extLst>
                        <a:ext uri="{9D8B030D-6E8A-4147-A177-3AD203B41FA5}">
                          <a16:colId xmlns:a16="http://schemas.microsoft.com/office/drawing/2014/main" val="857469167"/>
                        </a:ext>
                      </a:extLst>
                    </a:gridCol>
                    <a:gridCol w="1069065">
                      <a:extLst>
                        <a:ext uri="{9D8B030D-6E8A-4147-A177-3AD203B41FA5}">
                          <a16:colId xmlns:a16="http://schemas.microsoft.com/office/drawing/2014/main" val="3625969851"/>
                        </a:ext>
                      </a:extLst>
                    </a:gridCol>
                    <a:gridCol w="1125313">
                      <a:extLst>
                        <a:ext uri="{9D8B030D-6E8A-4147-A177-3AD203B41FA5}">
                          <a16:colId xmlns:a16="http://schemas.microsoft.com/office/drawing/2014/main" val="1208142622"/>
                        </a:ext>
                      </a:extLst>
                    </a:gridCol>
                    <a:gridCol w="1097189">
                      <a:extLst>
                        <a:ext uri="{9D8B030D-6E8A-4147-A177-3AD203B41FA5}">
                          <a16:colId xmlns:a16="http://schemas.microsoft.com/office/drawing/2014/main" val="913137048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Param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Min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Q1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Med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Mean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Q3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Max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41753676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87" t="-103125" r="-560870" b="-4312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0.2598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0.3416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0.3696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0.3718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0.4023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0.5195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03302306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87" t="-209677" r="-560870" b="-3451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34.27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40.60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42.38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42.64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44.61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53.88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26052162"/>
                      </a:ext>
                    </a:extLst>
                  </a:tr>
                  <a:tr h="41275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87" t="-290909" r="-560870" b="-2242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179.8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289.2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342.1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349.6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397.3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683.4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6920465"/>
                      </a:ext>
                    </a:extLst>
                  </a:tr>
                  <a:tr h="4241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87" t="-379412" r="-560870" b="-1176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92.85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97.03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98.25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98.19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99.44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103.09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0199167"/>
                      </a:ext>
                    </a:extLst>
                  </a:tr>
                  <a:tr h="44672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87" t="-465714" r="-560870" b="-1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169.7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234.3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265.0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267.2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292.1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420.1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2935529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33A95C3F-9381-70F7-49E9-4A7C027ED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</a:t>
            </a:r>
          </a:p>
        </p:txBody>
      </p:sp>
      <p:pic>
        <p:nvPicPr>
          <p:cNvPr id="16" name="Content Placeholder 15" descr="A group of graphs showing different types of data&#10;&#10;Description automatically generated with medium confidence">
            <a:extLst>
              <a:ext uri="{FF2B5EF4-FFF2-40B4-BE49-F238E27FC236}">
                <a16:creationId xmlns:a16="http://schemas.microsoft.com/office/drawing/2014/main" id="{CE25F804-4D70-8C98-7FBD-314539764F9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4"/>
          <a:stretch>
            <a:fillRect/>
          </a:stretch>
        </p:blipFill>
        <p:spPr>
          <a:xfrm>
            <a:off x="1098550" y="2787586"/>
            <a:ext cx="7680325" cy="5111877"/>
          </a:xfrm>
        </p:spPr>
      </p:pic>
    </p:spTree>
    <p:extLst>
      <p:ext uri="{BB962C8B-B14F-4D97-AF65-F5344CB8AC3E}">
        <p14:creationId xmlns:p14="http://schemas.microsoft.com/office/powerpoint/2010/main" val="1879566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98FC2D-9093-0143-1A55-F57FA1D8AA7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A Quantile-Quantile plot (QQ plot) is a graphical tool to assess if a set of data plausibly came from some theoretical distribution.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A9986F9-8688-DA5E-60A0-844150ABF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</a:t>
            </a:r>
          </a:p>
        </p:txBody>
      </p:sp>
      <p:pic>
        <p:nvPicPr>
          <p:cNvPr id="15" name="Content Placeholder 14" descr="A graph with a red line&#10;&#10;Description automatically generated">
            <a:extLst>
              <a:ext uri="{FF2B5EF4-FFF2-40B4-BE49-F238E27FC236}">
                <a16:creationId xmlns:a16="http://schemas.microsoft.com/office/drawing/2014/main" id="{96069878-396D-5715-98D1-27A28FA7DEB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651000" y="2085698"/>
            <a:ext cx="6302882" cy="6515100"/>
          </a:xfrm>
        </p:spPr>
      </p:pic>
    </p:spTree>
    <p:extLst>
      <p:ext uri="{BB962C8B-B14F-4D97-AF65-F5344CB8AC3E}">
        <p14:creationId xmlns:p14="http://schemas.microsoft.com/office/powerpoint/2010/main" val="7903571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Content Placeholder 6">
                <a:extLst>
                  <a:ext uri="{FF2B5EF4-FFF2-40B4-BE49-F238E27FC236}">
                    <a16:creationId xmlns:a16="http://schemas.microsoft.com/office/drawing/2014/main" id="{7CEB26AC-60D7-C32A-77A6-58AA94309184}"/>
                  </a:ext>
                </a:extLst>
              </p:cNvPr>
              <p:cNvGraphicFramePr>
                <a:graphicFrameLocks noGrp="1"/>
              </p:cNvGraphicFramePr>
              <p:nvPr>
                <p:ph sz="half" idx="1"/>
                <p:extLst>
                  <p:ext uri="{D42A27DB-BD31-4B8C-83A1-F6EECF244321}">
                    <p14:modId xmlns:p14="http://schemas.microsoft.com/office/powerpoint/2010/main" val="852480656"/>
                  </p:ext>
                </p:extLst>
              </p:nvPr>
            </p:nvGraphicFramePr>
            <p:xfrm>
              <a:off x="1098550" y="3025097"/>
              <a:ext cx="7680324" cy="456031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60108">
                      <a:extLst>
                        <a:ext uri="{9D8B030D-6E8A-4147-A177-3AD203B41FA5}">
                          <a16:colId xmlns:a16="http://schemas.microsoft.com/office/drawing/2014/main" val="2241486525"/>
                        </a:ext>
                      </a:extLst>
                    </a:gridCol>
                    <a:gridCol w="2560108">
                      <a:extLst>
                        <a:ext uri="{9D8B030D-6E8A-4147-A177-3AD203B41FA5}">
                          <a16:colId xmlns:a16="http://schemas.microsoft.com/office/drawing/2014/main" val="241488578"/>
                        </a:ext>
                      </a:extLst>
                    </a:gridCol>
                    <a:gridCol w="2560108">
                      <a:extLst>
                        <a:ext uri="{9D8B030D-6E8A-4147-A177-3AD203B41FA5}">
                          <a16:colId xmlns:a16="http://schemas.microsoft.com/office/drawing/2014/main" val="82013686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Estimated</a:t>
                          </a:r>
                          <a:br>
                            <a:rPr lang="en-US" dirty="0">
                              <a:solidFill>
                                <a:schemeClr val="tx1"/>
                              </a:solidFill>
                            </a:rPr>
                          </a:br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(mean)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Actual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6186967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600" dirty="0"/>
                            <a:t>0.3718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3295419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i="0" dirty="0" err="1" smtClean="0">
                                        <a:latin typeface="Cambria Math" panose="02040503050406030204" pitchFamily="18" charset="0"/>
                                      </a:rPr>
                                      <m:t>online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600" dirty="0"/>
                            <a:t>42.64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917226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i="0" dirty="0" err="1" smtClean="0">
                                        <a:latin typeface="Cambria Math" panose="02040503050406030204" pitchFamily="18" charset="0"/>
                                      </a:rPr>
                                      <m:t>physical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600" dirty="0"/>
                            <a:t>98.19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668558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  <m:t>𝑜𝑛𝑙𝑖𝑛𝑒</m:t>
                                    </m:r>
                                  </m:sub>
                                  <m:sup>
                                    <m: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600" dirty="0"/>
                            <a:t>349.6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690931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  <m:t>𝑝h𝑦𝑠𝑖𝑐𝑎𝑙</m:t>
                                    </m:r>
                                  </m:sub>
                                  <m:sup>
                                    <m: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600" dirty="0"/>
                            <a:t>267.2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225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2933925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Content Placeholder 6">
                <a:extLst>
                  <a:ext uri="{FF2B5EF4-FFF2-40B4-BE49-F238E27FC236}">
                    <a16:creationId xmlns:a16="http://schemas.microsoft.com/office/drawing/2014/main" id="{7CEB26AC-60D7-C32A-77A6-58AA94309184}"/>
                  </a:ext>
                </a:extLst>
              </p:cNvPr>
              <p:cNvGraphicFramePr>
                <a:graphicFrameLocks noGrp="1"/>
              </p:cNvGraphicFramePr>
              <p:nvPr>
                <p:ph sz="half" idx="1"/>
                <p:extLst>
                  <p:ext uri="{D42A27DB-BD31-4B8C-83A1-F6EECF244321}">
                    <p14:modId xmlns:p14="http://schemas.microsoft.com/office/powerpoint/2010/main" val="852480656"/>
                  </p:ext>
                </p:extLst>
              </p:nvPr>
            </p:nvGraphicFramePr>
            <p:xfrm>
              <a:off x="1098550" y="3025097"/>
              <a:ext cx="7680324" cy="456031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60108">
                      <a:extLst>
                        <a:ext uri="{9D8B030D-6E8A-4147-A177-3AD203B41FA5}">
                          <a16:colId xmlns:a16="http://schemas.microsoft.com/office/drawing/2014/main" val="2241486525"/>
                        </a:ext>
                      </a:extLst>
                    </a:gridCol>
                    <a:gridCol w="2560108">
                      <a:extLst>
                        <a:ext uri="{9D8B030D-6E8A-4147-A177-3AD203B41FA5}">
                          <a16:colId xmlns:a16="http://schemas.microsoft.com/office/drawing/2014/main" val="241488578"/>
                        </a:ext>
                      </a:extLst>
                    </a:gridCol>
                    <a:gridCol w="2560108">
                      <a:extLst>
                        <a:ext uri="{9D8B030D-6E8A-4147-A177-3AD203B41FA5}">
                          <a16:colId xmlns:a16="http://schemas.microsoft.com/office/drawing/2014/main" val="820136869"/>
                        </a:ext>
                      </a:extLst>
                    </a:gridCol>
                  </a:tblGrid>
                  <a:tr h="1188720"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Estimated</a:t>
                          </a:r>
                          <a:br>
                            <a:rPr lang="en-US" dirty="0">
                              <a:solidFill>
                                <a:schemeClr val="tx1"/>
                              </a:solidFill>
                            </a:rPr>
                          </a:br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(mean)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Actual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61869679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95" t="-204000" r="-200990" b="-45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600" dirty="0"/>
                            <a:t>0.3718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32954198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95" t="-298039" r="-200990" b="-3450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600" dirty="0"/>
                            <a:t>42.64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9172267"/>
                      </a:ext>
                    </a:extLst>
                  </a:tr>
                  <a:tr h="69056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95" t="-375926" r="-200990" b="-2259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600" dirty="0"/>
                            <a:t>98.19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66855852"/>
                      </a:ext>
                    </a:extLst>
                  </a:tr>
                  <a:tr h="66979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95" t="-484906" r="-200990" b="-1301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600" dirty="0"/>
                            <a:t>349.6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6909313"/>
                      </a:ext>
                    </a:extLst>
                  </a:tr>
                  <a:tr h="73107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95" t="-534483" r="-200990" b="-1896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600" dirty="0"/>
                            <a:t>267.2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225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2933925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C9B988C0-A5E5-68FD-7DEE-5E567607C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Estimates and Actuals</a:t>
            </a:r>
          </a:p>
        </p:txBody>
      </p:sp>
      <p:pic>
        <p:nvPicPr>
          <p:cNvPr id="10" name="Content Placeholder 9" descr="A graph with red and blue lines&#10;&#10;Description automatically generated">
            <a:extLst>
              <a:ext uri="{FF2B5EF4-FFF2-40B4-BE49-F238E27FC236}">
                <a16:creationId xmlns:a16="http://schemas.microsoft.com/office/drawing/2014/main" id="{1EB2880C-8731-6E77-D449-2125E480B8F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9502775" y="2787586"/>
            <a:ext cx="7680325" cy="5111877"/>
          </a:xfrm>
        </p:spPr>
      </p:pic>
    </p:spTree>
    <p:extLst>
      <p:ext uri="{BB962C8B-B14F-4D97-AF65-F5344CB8AC3E}">
        <p14:creationId xmlns:p14="http://schemas.microsoft.com/office/powerpoint/2010/main" val="37169402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Content Placeholder 13" descr="A graph of a graph with dots and lines&#10;&#10;Description automatically generated with medium confidence">
            <a:extLst>
              <a:ext uri="{FF2B5EF4-FFF2-40B4-BE49-F238E27FC236}">
                <a16:creationId xmlns:a16="http://schemas.microsoft.com/office/drawing/2014/main" id="{FA0243CC-9FF7-013C-1413-7DD99AB9516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0448280" y="2290717"/>
            <a:ext cx="6375400" cy="5966596"/>
          </a:xfr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3418FFA7-DBCA-16B5-3DCD-7FD1E769F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Adjustments to Consider</a:t>
            </a:r>
          </a:p>
        </p:txBody>
      </p:sp>
      <p:pic>
        <p:nvPicPr>
          <p:cNvPr id="9" name="Content Placeholder 8" descr="A graph with a red line&#10;&#10;Description automatically generated">
            <a:extLst>
              <a:ext uri="{FF2B5EF4-FFF2-40B4-BE49-F238E27FC236}">
                <a16:creationId xmlns:a16="http://schemas.microsoft.com/office/drawing/2014/main" id="{763B0A0A-E46E-BEC5-B7B3-9BDB65C07B9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625600" y="2029687"/>
            <a:ext cx="6375400" cy="6227626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FBBF8E0-150B-E1F2-A474-C13FDC5702AF}"/>
              </a:ext>
            </a:extLst>
          </p:cNvPr>
          <p:cNvSpPr txBox="1"/>
          <p:nvPr/>
        </p:nvSpPr>
        <p:spPr>
          <a:xfrm>
            <a:off x="1625600" y="8574201"/>
            <a:ext cx="6223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Log Transformation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0738562-3C5E-D869-F3C7-E987D8EC1EE5}"/>
              </a:ext>
            </a:extLst>
          </p:cNvPr>
          <p:cNvSpPr txBox="1"/>
          <p:nvPr/>
        </p:nvSpPr>
        <p:spPr>
          <a:xfrm>
            <a:off x="10524480" y="8542843"/>
            <a:ext cx="6223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Three Modes</a:t>
            </a:r>
          </a:p>
        </p:txBody>
      </p:sp>
    </p:spTree>
    <p:extLst>
      <p:ext uri="{BB962C8B-B14F-4D97-AF65-F5344CB8AC3E}">
        <p14:creationId xmlns:p14="http://schemas.microsoft.com/office/powerpoint/2010/main" val="4211862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 descr="A collage of graphs and diagrams&#10;&#10;Description automatically generated">
            <a:extLst>
              <a:ext uri="{FF2B5EF4-FFF2-40B4-BE49-F238E27FC236}">
                <a16:creationId xmlns:a16="http://schemas.microsoft.com/office/drawing/2014/main" id="{3ED0684B-88DF-25F4-ADED-55FC97F053E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457970" y="2085975"/>
            <a:ext cx="6961485" cy="6515100"/>
          </a:xfr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F83B52D-FFBF-65BF-D53D-229026224B8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No skewness </a:t>
            </a:r>
          </a:p>
          <a:p>
            <a:r>
              <a:rPr lang="en-US" dirty="0"/>
              <a:t>Distributions lack clear peaks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81AFD0E-B65C-346B-D313-DD927EDCA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 Modes</a:t>
            </a:r>
          </a:p>
        </p:txBody>
      </p:sp>
    </p:spTree>
    <p:extLst>
      <p:ext uri="{BB962C8B-B14F-4D97-AF65-F5344CB8AC3E}">
        <p14:creationId xmlns:p14="http://schemas.microsoft.com/office/powerpoint/2010/main" val="9630242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 descr="A collage of graphs and diagrams&#10;&#10;Description automatically generated">
            <a:extLst>
              <a:ext uri="{FF2B5EF4-FFF2-40B4-BE49-F238E27FC236}">
                <a16:creationId xmlns:a16="http://schemas.microsoft.com/office/drawing/2014/main" id="{3ED0684B-88DF-25F4-ADED-55FC97F053E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457970" y="2085975"/>
            <a:ext cx="6961485" cy="6515100"/>
          </a:xfr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681AFD0E-B65C-346B-D313-DD927EDCA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 Modes versus Two</a:t>
            </a:r>
          </a:p>
        </p:txBody>
      </p:sp>
      <p:pic>
        <p:nvPicPr>
          <p:cNvPr id="4" name="Content Placeholder 3" descr="A group of graphs showing different types of data&#10;&#10;Description automatically generated with medium confidence">
            <a:extLst>
              <a:ext uri="{FF2B5EF4-FFF2-40B4-BE49-F238E27FC236}">
                <a16:creationId xmlns:a16="http://schemas.microsoft.com/office/drawing/2014/main" id="{1CFFDBC2-3DA0-5CC3-3317-E5C67084F2E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9502775" y="2787586"/>
            <a:ext cx="7680325" cy="5111877"/>
          </a:xfrm>
        </p:spPr>
      </p:pic>
    </p:spTree>
    <p:extLst>
      <p:ext uri="{BB962C8B-B14F-4D97-AF65-F5344CB8AC3E}">
        <p14:creationId xmlns:p14="http://schemas.microsoft.com/office/powerpoint/2010/main" val="11575753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FAD0E53-C567-EDD4-5035-C723689731E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Because the data is synthetic, we can compare real versus the estimate.</a:t>
            </a:r>
          </a:p>
          <a:p>
            <a:r>
              <a:rPr lang="en-US" dirty="0"/>
              <a:t>Determining the number of modes is quite hard in practice!</a:t>
            </a:r>
          </a:p>
        </p:txBody>
      </p:sp>
      <p:pic>
        <p:nvPicPr>
          <p:cNvPr id="6" name="Content Placeholder 5" descr="A graph of a function&#10;&#10;Description automatically generated">
            <a:extLst>
              <a:ext uri="{FF2B5EF4-FFF2-40B4-BE49-F238E27FC236}">
                <a16:creationId xmlns:a16="http://schemas.microsoft.com/office/drawing/2014/main" id="{7666A149-30F3-4BE9-0C36-B98C5B7C31E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9502775" y="2127651"/>
            <a:ext cx="7680325" cy="6431747"/>
          </a:xfr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CDFB6861-8DDE-A8D3-DBBD-8B9236EC8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Trimode</a:t>
            </a:r>
            <a:r>
              <a:rPr lang="en-US" dirty="0"/>
              <a:t> versus Actual</a:t>
            </a:r>
          </a:p>
        </p:txBody>
      </p:sp>
    </p:spTree>
    <p:extLst>
      <p:ext uri="{BB962C8B-B14F-4D97-AF65-F5344CB8AC3E}">
        <p14:creationId xmlns:p14="http://schemas.microsoft.com/office/powerpoint/2010/main" val="14913588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4E69EBE-74F1-C3E4-0A95-274FFF21E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 Number of Mixture Components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8B4CA2AC-2506-5F98-AD0C-568186AD52B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Choosing a Prior for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US" dirty="0"/>
                  <a:t>:</a:t>
                </a:r>
              </a:p>
              <a:p>
                <a:pPr lvl="1"/>
                <a:r>
                  <a:rPr lang="en-US" dirty="0"/>
                  <a:t>Use a truncated Poisson prior for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Employ reversible jump MCMC for posterior computation. </a:t>
                </a:r>
              </a:p>
              <a:p>
                <a:r>
                  <a:rPr lang="en-US" dirty="0"/>
                  <a:t>Use goodness-of-fit criteria penalized for model complexity to choose the best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US" dirty="0"/>
                  <a:t>. </a:t>
                </a:r>
              </a:p>
              <a:p>
                <a:pPr lvl="1"/>
                <a:r>
                  <a:rPr lang="en-US" dirty="0"/>
                  <a:t>Common criteria include DIC and WAIC.</a:t>
                </a:r>
              </a:p>
              <a:p>
                <a:r>
                  <a:rPr lang="en-US" dirty="0"/>
                  <a:t>EM Algorithm:</a:t>
                </a:r>
              </a:p>
              <a:p>
                <a:pPr lvl="1"/>
                <a:r>
                  <a:rPr lang="en-US" dirty="0"/>
                  <a:t>Obtain MLEs or posterior modes for parameters for different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US" dirty="0"/>
                  <a:t> with the best marginal posterior or estimated predictive performance.</a:t>
                </a:r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8B4CA2AC-2506-5F98-AD0C-568186AD52B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104" t="-1657" r="-79" b="-57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51526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reeze">
  <a:themeElements>
    <a:clrScheme name="Custom 3">
      <a:dk1>
        <a:sysClr val="windowText" lastClr="000000"/>
      </a:dk1>
      <a:lt1>
        <a:srgbClr val="C40724"/>
      </a:lt1>
      <a:dk2>
        <a:srgbClr val="000000"/>
      </a:dk2>
      <a:lt2>
        <a:srgbClr val="F8F8F8"/>
      </a:lt2>
      <a:accent1>
        <a:srgbClr val="BD061C"/>
      </a:accent1>
      <a:accent2>
        <a:srgbClr val="E98D0A"/>
      </a:accent2>
      <a:accent3>
        <a:srgbClr val="969696"/>
      </a:accent3>
      <a:accent4>
        <a:srgbClr val="808080"/>
      </a:accent4>
      <a:accent5>
        <a:srgbClr val="C40724"/>
      </a:accent5>
      <a:accent6>
        <a:srgbClr val="3F4F6C"/>
      </a:accent6>
      <a:hlink>
        <a:srgbClr val="5F5F5F"/>
      </a:hlink>
      <a:folHlink>
        <a:srgbClr val="919191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reeze">
      <a:fillStyleLst>
        <a:solidFill>
          <a:schemeClr val="phClr"/>
        </a:solidFill>
        <a:gradFill rotWithShape="1">
          <a:gsLst>
            <a:gs pos="31000">
              <a:schemeClr val="phClr">
                <a:tint val="100000"/>
                <a:shade val="100000"/>
                <a:satMod val="120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shade val="100000"/>
                <a:satMod val="120000"/>
              </a:schemeClr>
            </a:gs>
            <a:gs pos="69000">
              <a:schemeClr val="phClr">
                <a:tint val="80000"/>
                <a:shade val="100000"/>
                <a:satMod val="150000"/>
              </a:schemeClr>
            </a:gs>
            <a:gs pos="100000">
              <a:schemeClr val="phClr">
                <a:tint val="50000"/>
                <a:shade val="100000"/>
                <a:satMod val="15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dbl" algn="ctr">
          <a:solidFill>
            <a:schemeClr val="phClr"/>
          </a:solidFill>
          <a:prstDash val="solid"/>
        </a:ln>
        <a:ln w="31750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sx="101000" sy="101000" rotWithShape="0">
              <a:srgbClr val="000000">
                <a:alpha val="40000"/>
              </a:srgbClr>
            </a:outerShdw>
          </a:effectLst>
        </a:effectStyle>
        <a:effectStyle>
          <a:effectLst>
            <a:innerShdw blurRad="127000" dist="25400" dir="13500000">
              <a:srgbClr val="C0C0C0">
                <a:alpha val="75000"/>
              </a:srgbClr>
            </a:innerShdw>
            <a:outerShdw blurRad="88900" dist="25400" dir="5400000" sx="102000" sy="102000" algn="ctr" rotWithShape="0">
              <a:srgbClr val="C0C0C0">
                <a:alpha val="40000"/>
              </a:srgbClr>
            </a:outerShdw>
          </a:effectLst>
          <a:scene3d>
            <a:camera prst="perspectiveLeft" fov="300000"/>
            <a:lightRig rig="soft" dir="l">
              <a:rot lat="0" lon="0" rev="4200000"/>
            </a:lightRig>
          </a:scene3d>
          <a:sp3d extrusionH="38100" prstMaterial="powder">
            <a:bevelT w="50800" h="88900" prst="convex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0000"/>
                <a:satMod val="400000"/>
              </a:schemeClr>
              <a:schemeClr val="phClr">
                <a:tint val="10000"/>
                <a:satMod val="200000"/>
              </a:schemeClr>
            </a:duotone>
          </a:blip>
          <a:stretch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ILTECH_Template_2019 (1)  -  Compatibility Mode" id="{96DF2388-B785-2045-9157-84F6A1D402CB}" vid="{FA40E05E-1420-CD4F-AB4E-3CD2BC76CD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EF55019BAB0549B2C20BFAAB8A2896" ma:contentTypeVersion="17" ma:contentTypeDescription="Create a new document." ma:contentTypeScope="" ma:versionID="76077723e4e34c3b5aeef4b04efa78bf">
  <xsd:schema xmlns:xsd="http://www.w3.org/2001/XMLSchema" xmlns:xs="http://www.w3.org/2001/XMLSchema" xmlns:p="http://schemas.microsoft.com/office/2006/metadata/properties" xmlns:ns2="5e41b080-9453-459c-bb93-b19be7335f42" xmlns:ns3="4e58ebf2-e4df-4cd3-9186-1e42b3ede124" targetNamespace="http://schemas.microsoft.com/office/2006/metadata/properties" ma:root="true" ma:fieldsID="19e363e40d36e188a1c3db48bbcaf99f" ns2:_="" ns3:_="">
    <xsd:import namespace="5e41b080-9453-459c-bb93-b19be7335f42"/>
    <xsd:import namespace="4e58ebf2-e4df-4cd3-9186-1e42b3ede124"/>
    <xsd:element name="properties">
      <xsd:complexType>
        <xsd:sequence>
          <xsd:element name="documentManagement">
            <xsd:complexType>
              <xsd:all>
                <xsd:element ref="ns2:Due_x0020_Date" minOccurs="0"/>
                <xsd:element ref="ns2:Status" minOccurs="0"/>
                <xsd:element ref="ns2:Comments" minOccurs="0"/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41b080-9453-459c-bb93-b19be7335f42" elementFormDefault="qualified">
    <xsd:import namespace="http://schemas.microsoft.com/office/2006/documentManagement/types"/>
    <xsd:import namespace="http://schemas.microsoft.com/office/infopath/2007/PartnerControls"/>
    <xsd:element name="Due_x0020_Date" ma:index="8" nillable="true" ma:displayName="Due Date" ma:format="DateOnly" ma:indexed="true" ma:internalName="Due_x0020_Date">
      <xsd:simpleType>
        <xsd:restriction base="dms:DateTime"/>
      </xsd:simpleType>
    </xsd:element>
    <xsd:element name="Status" ma:index="9" nillable="true" ma:displayName="Status" ma:format="Dropdown" ma:indexed="true" ma:internalName="Status">
      <xsd:simpleType>
        <xsd:restriction base="dms:Choice">
          <xsd:enumeration value="For Partner Review"/>
          <xsd:enumeration value="For Collegis Review"/>
          <xsd:enumeration value="Approved by Partner"/>
        </xsd:restriction>
      </xsd:simpleType>
    </xsd:element>
    <xsd:element name="Comments" ma:index="10" nillable="true" ma:displayName="Comments" ma:internalName="Comments">
      <xsd:simpleType>
        <xsd:restriction base="dms:Note">
          <xsd:maxLength value="255"/>
        </xsd:restriction>
      </xsd:simple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11040b95-0fdc-46ce-be91-73dc895452d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58ebf2-e4df-4cd3-9186-1e42b3ede124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ef5f3a8b-878a-4d06-a8de-79a1d9f1fffd}" ma:internalName="TaxCatchAll" ma:showField="CatchAllData" ma:web="4e58ebf2-e4df-4cd3-9186-1e42b3ede12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5e41b080-9453-459c-bb93-b19be7335f42" xsi:nil="true"/>
    <Comments xmlns="5e41b080-9453-459c-bb93-b19be7335f42" xsi:nil="true"/>
    <Due_x0020_Date xmlns="5e41b080-9453-459c-bb93-b19be7335f42" xsi:nil="true"/>
    <lcf76f155ced4ddcb4097134ff3c332f xmlns="5e41b080-9453-459c-bb93-b19be7335f42">
      <Terms xmlns="http://schemas.microsoft.com/office/infopath/2007/PartnerControls"/>
    </lcf76f155ced4ddcb4097134ff3c332f>
    <TaxCatchAll xmlns="4e58ebf2-e4df-4cd3-9186-1e42b3ede124" xsi:nil="true"/>
  </documentManagement>
</p:properties>
</file>

<file path=customXml/itemProps1.xml><?xml version="1.0" encoding="utf-8"?>
<ds:datastoreItem xmlns:ds="http://schemas.openxmlformats.org/officeDocument/2006/customXml" ds:itemID="{4C9441AC-D8F6-429C-B3AF-18894E9E3EF7}"/>
</file>

<file path=customXml/itemProps2.xml><?xml version="1.0" encoding="utf-8"?>
<ds:datastoreItem xmlns:ds="http://schemas.openxmlformats.org/officeDocument/2006/customXml" ds:itemID="{BFA838ED-C12F-4A42-8E88-98BAC73D214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C6A4EEA-2556-441D-B20B-0657893061DE}">
  <ds:schemaRefs>
    <ds:schemaRef ds:uri="http://schemas.microsoft.com/office/2006/metadata/properties"/>
    <ds:schemaRef ds:uri="http://schemas.microsoft.com/office/infopath/2007/PartnerControls"/>
    <ds:schemaRef ds:uri="5e41b080-9453-459c-bb93-b19be7335f42"/>
    <ds:schemaRef ds:uri="4e58ebf2-e4df-4cd3-9186-1e42b3ede124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10305</TotalTime>
  <Words>1712</Words>
  <Application>Microsoft Macintosh PowerPoint</Application>
  <PresentationFormat>Custom</PresentationFormat>
  <Paragraphs>228</Paragraphs>
  <Slides>25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.SF NS</vt:lpstr>
      <vt:lpstr>Aptos</vt:lpstr>
      <vt:lpstr>Arial</vt:lpstr>
      <vt:lpstr>Cambria Math</vt:lpstr>
      <vt:lpstr>Times New Roman</vt:lpstr>
      <vt:lpstr>Wingdings 2</vt:lpstr>
      <vt:lpstr>Breeze</vt:lpstr>
      <vt:lpstr>Bayesian Inference</vt:lpstr>
      <vt:lpstr>Applications</vt:lpstr>
      <vt:lpstr>Last Time</vt:lpstr>
      <vt:lpstr>Objectives</vt:lpstr>
      <vt:lpstr>Example From Reading</vt:lpstr>
      <vt:lpstr>Expectation Conditional Maximization (ECM)</vt:lpstr>
      <vt:lpstr>ECM Results with Synthetic Data</vt:lpstr>
      <vt:lpstr>Example</vt:lpstr>
      <vt:lpstr>Notation</vt:lpstr>
      <vt:lpstr>Priors</vt:lpstr>
      <vt:lpstr>Priors</vt:lpstr>
      <vt:lpstr>Crude Estimates</vt:lpstr>
      <vt:lpstr>Gibbs Sampler</vt:lpstr>
      <vt:lpstr>Gibbs Sampler Updates: z </vt:lpstr>
      <vt:lpstr>Gibbs Sampler Updates: λ </vt:lpstr>
      <vt:lpstr>Gibbs Sampler Updates: μ_online </vt:lpstr>
      <vt:lpstr>Gibbs Sampler Updates: σ_online^2</vt:lpstr>
      <vt:lpstr>Results </vt:lpstr>
      <vt:lpstr>Performance</vt:lpstr>
      <vt:lpstr>Estimates and Actuals</vt:lpstr>
      <vt:lpstr>Some Adjustments to Consider</vt:lpstr>
      <vt:lpstr>Three Modes</vt:lpstr>
      <vt:lpstr>Three Modes versus Two</vt:lpstr>
      <vt:lpstr>Trimode versus Actual</vt:lpstr>
      <vt:lpstr>Variable Number of Mixture Components</vt:lpstr>
    </vt:vector>
  </TitlesOfParts>
  <Manager/>
  <Company>Illinois Institute of Technology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Illinois Tech President's PowerPoint Presentation</dc:title>
  <dc:subject/>
  <dc:creator>Sandra Laporte</dc:creator>
  <cp:keywords/>
  <dc:description/>
  <cp:lastModifiedBy>Jamshidi, Sara (She/Her/Hers)</cp:lastModifiedBy>
  <cp:revision>34</cp:revision>
  <dcterms:created xsi:type="dcterms:W3CDTF">2019-02-13T16:04:21Z</dcterms:created>
  <dcterms:modified xsi:type="dcterms:W3CDTF">2024-08-03T06:40:50Z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0x010100F3EF55019BAB0549B2C20BFAAB8A2896</vt:lpwstr>
  </property>
  <property fmtid="{D5CDD505-2E9C-101B-9397-08002B2CF9AE}" pid="3" name="MediaServiceImageTags">
    <vt:lpwstr/>
  </property>
  <property fmtid="{D5CDD505-2E9C-101B-9397-08002B2CF9AE}" pid="4" name="MSIP_Label_f2dee603-0001-4639-81f8-0608a53322f1_Enabled">
    <vt:lpwstr>true</vt:lpwstr>
  </property>
  <property fmtid="{D5CDD505-2E9C-101B-9397-08002B2CF9AE}" pid="5" name="MSIP_Label_f2dee603-0001-4639-81f8-0608a53322f1_SetDate">
    <vt:lpwstr>2024-06-24T03:34:40Z</vt:lpwstr>
  </property>
  <property fmtid="{D5CDD505-2E9C-101B-9397-08002B2CF9AE}" pid="6" name="MSIP_Label_f2dee603-0001-4639-81f8-0608a53322f1_Method">
    <vt:lpwstr>Standard</vt:lpwstr>
  </property>
  <property fmtid="{D5CDD505-2E9C-101B-9397-08002B2CF9AE}" pid="7" name="MSIP_Label_f2dee603-0001-4639-81f8-0608a53322f1_Name">
    <vt:lpwstr>defa4170-0d19-0005-0004-bc88714345d2</vt:lpwstr>
  </property>
  <property fmtid="{D5CDD505-2E9C-101B-9397-08002B2CF9AE}" pid="8" name="MSIP_Label_f2dee603-0001-4639-81f8-0608a53322f1_SiteId">
    <vt:lpwstr>b4478c05-3dd9-4e06-a7fb-5dcf72bd44ee</vt:lpwstr>
  </property>
  <property fmtid="{D5CDD505-2E9C-101B-9397-08002B2CF9AE}" pid="9" name="MSIP_Label_f2dee603-0001-4639-81f8-0608a53322f1_ActionId">
    <vt:lpwstr>a5a42784-79e3-4cb6-a6c1-d59028c560ef</vt:lpwstr>
  </property>
  <property fmtid="{D5CDD505-2E9C-101B-9397-08002B2CF9AE}" pid="10" name="MSIP_Label_f2dee603-0001-4639-81f8-0608a53322f1_ContentBits">
    <vt:lpwstr>0</vt:lpwstr>
  </property>
</Properties>
</file>