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27"/>
  </p:notesMasterIdLst>
  <p:sldIdLst>
    <p:sldId id="506" r:id="rId2"/>
    <p:sldId id="522" r:id="rId3"/>
    <p:sldId id="523" r:id="rId4"/>
    <p:sldId id="524" r:id="rId5"/>
    <p:sldId id="525" r:id="rId6"/>
    <p:sldId id="526" r:id="rId7"/>
    <p:sldId id="508" r:id="rId8"/>
    <p:sldId id="509" r:id="rId9"/>
    <p:sldId id="513" r:id="rId10"/>
    <p:sldId id="514" r:id="rId11"/>
    <p:sldId id="515" r:id="rId12"/>
    <p:sldId id="521" r:id="rId13"/>
    <p:sldId id="516" r:id="rId14"/>
    <p:sldId id="527" r:id="rId15"/>
    <p:sldId id="520" r:id="rId16"/>
    <p:sldId id="517" r:id="rId17"/>
    <p:sldId id="528" r:id="rId18"/>
    <p:sldId id="530" r:id="rId19"/>
    <p:sldId id="529" r:id="rId20"/>
    <p:sldId id="519" r:id="rId21"/>
    <p:sldId id="531" r:id="rId22"/>
    <p:sldId id="512" r:id="rId23"/>
    <p:sldId id="532" r:id="rId24"/>
    <p:sldId id="533" r:id="rId25"/>
    <p:sldId id="534" r:id="rId2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4660"/>
  </p:normalViewPr>
  <p:slideViewPr>
    <p:cSldViewPr>
      <p:cViewPr varScale="1">
        <p:scale>
          <a:sx n="108" d="100"/>
          <a:sy n="108" d="100"/>
        </p:scale>
        <p:origin x="725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7F0B71-AAAA-4792-BE6C-AA7513867772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3C4375-5D5B-4983-9E94-ADB1EF41B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316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912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045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852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922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014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614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7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906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15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822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946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880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Frequency Analysis of </a:t>
            </a:r>
            <a:r>
              <a:rPr lang="en-US" sz="2800" b="1" dirty="0" err="1"/>
              <a:t>Monoalphabetic</a:t>
            </a:r>
            <a:r>
              <a:rPr lang="en-US" sz="2800" b="1" dirty="0"/>
              <a:t> Ciphers</a:t>
            </a:r>
            <a:br>
              <a:rPr lang="en-US" sz="2800" b="1" dirty="0"/>
            </a:br>
            <a:r>
              <a:rPr lang="en-US" sz="2800" b="1" dirty="0"/>
              <a:t>Example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1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548344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Frequency Analysis of </a:t>
            </a:r>
            <a:r>
              <a:rPr lang="en-US" sz="2800" b="1" dirty="0" err="1"/>
              <a:t>Monoalphabetic</a:t>
            </a:r>
            <a:r>
              <a:rPr lang="en-US" sz="2800" b="1" dirty="0"/>
              <a:t> Ciphers</a:t>
            </a:r>
            <a:br>
              <a:rPr lang="en-US" sz="2800" b="1" dirty="0"/>
            </a:br>
            <a:r>
              <a:rPr lang="en-US" sz="2800" b="1" dirty="0"/>
              <a:t>Example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1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Ciphertext</a:t>
            </a:r>
            <a:r>
              <a:rPr lang="en-US" sz="2000" b="1" dirty="0"/>
              <a:t> key randomly generated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53460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Frequency Analysis of </a:t>
            </a:r>
            <a:r>
              <a:rPr lang="en-US" sz="2800" b="1" dirty="0" err="1"/>
              <a:t>Monoalphabetic</a:t>
            </a:r>
            <a:r>
              <a:rPr lang="en-US" sz="2800" b="1" dirty="0"/>
              <a:t> Ciphers</a:t>
            </a:r>
            <a:br>
              <a:rPr lang="en-US" sz="2800" b="1" dirty="0"/>
            </a:br>
            <a:r>
              <a:rPr lang="en-US" sz="2800" b="1" dirty="0"/>
              <a:t>Example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1"/>
            <a:ext cx="5867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Ciphertext</a:t>
            </a:r>
            <a:r>
              <a:rPr lang="en-US" sz="2000" b="1" dirty="0"/>
              <a:t> key randomly generated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Plaintext</a:t>
            </a:r>
          </a:p>
        </p:txBody>
      </p:sp>
    </p:spTree>
    <p:extLst>
      <p:ext uri="{BB962C8B-B14F-4D97-AF65-F5344CB8AC3E}">
        <p14:creationId xmlns:p14="http://schemas.microsoft.com/office/powerpoint/2010/main" val="353460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Frequency Analysis of </a:t>
            </a:r>
            <a:r>
              <a:rPr lang="en-US" sz="2800" b="1" dirty="0" err="1"/>
              <a:t>Monoalphabetic</a:t>
            </a:r>
            <a:r>
              <a:rPr lang="en-US" sz="2800" b="1" dirty="0"/>
              <a:t> Ciphers</a:t>
            </a:r>
            <a:br>
              <a:rPr lang="en-US" sz="2800" b="1" dirty="0"/>
            </a:br>
            <a:r>
              <a:rPr lang="en-US" sz="2800" b="1" dirty="0"/>
              <a:t>Example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Ciphertext</a:t>
            </a:r>
            <a:r>
              <a:rPr lang="en-US" sz="2000" b="1" dirty="0"/>
              <a:t> key randomly generated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Plaintext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Author: Leo Tolstoy</a:t>
            </a:r>
          </a:p>
        </p:txBody>
      </p:sp>
    </p:spTree>
    <p:extLst>
      <p:ext uri="{BB962C8B-B14F-4D97-AF65-F5344CB8AC3E}">
        <p14:creationId xmlns:p14="http://schemas.microsoft.com/office/powerpoint/2010/main" val="353460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Frequency Analysis of </a:t>
            </a:r>
            <a:r>
              <a:rPr lang="en-US" sz="2800" b="1" dirty="0" err="1"/>
              <a:t>Monoalphabetic</a:t>
            </a:r>
            <a:r>
              <a:rPr lang="en-US" sz="2800" b="1" dirty="0"/>
              <a:t> Ciphers</a:t>
            </a:r>
            <a:br>
              <a:rPr lang="en-US" sz="2800" b="1" dirty="0"/>
            </a:br>
            <a:r>
              <a:rPr lang="en-US" sz="2800" b="1" dirty="0"/>
              <a:t>Example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1"/>
            <a:ext cx="5867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Ciphertext</a:t>
            </a:r>
            <a:r>
              <a:rPr lang="en-US" sz="2000" b="1" dirty="0"/>
              <a:t> key randomly generated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Plaintext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Author: Leo Tolstoy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Source: 1 of 7 novels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53460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Frequency Analysis of </a:t>
            </a:r>
            <a:r>
              <a:rPr lang="en-US" sz="2800" b="1" dirty="0" err="1"/>
              <a:t>Monoalphabetic</a:t>
            </a:r>
            <a:r>
              <a:rPr lang="en-US" sz="2800" b="1" dirty="0"/>
              <a:t> Ciphers</a:t>
            </a:r>
            <a:br>
              <a:rPr lang="en-US" sz="2800" b="1" dirty="0"/>
            </a:br>
            <a:r>
              <a:rPr lang="en-US" sz="2800" b="1" dirty="0"/>
              <a:t>Example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1"/>
            <a:ext cx="586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Ciphertext</a:t>
            </a:r>
            <a:r>
              <a:rPr lang="en-US" sz="2000" b="1" dirty="0"/>
              <a:t> key randomly generated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Plaintext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Author: Leo Tolstoy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Source: 1 of 7 novels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Test: 250 characters from middle half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53460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Leo Tolstoy </a:t>
            </a:r>
            <a:r>
              <a:rPr lang="en-US" sz="2800" b="1" dirty="0" err="1"/>
              <a:t>ciphertext</a:t>
            </a:r>
            <a:endParaRPr lang="en-US" sz="28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3200400" y="1200150"/>
            <a:ext cx="5147563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WEDIO  CDWZH  IJUPK  EPUOI  VODPO 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DIEWE  KCOZI  EEJIW  KSLHW  KIHHP 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UUPWV  HSLOC  KYIOD  IYCLK  OIHHY 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PJJIE  DIVHC  KPKEW  KUCVZ  IEDWZ 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ODPOH  DIDPE  PQVCZ  WHHCV  FKCOI 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UVCZP  KKPZW  NDPFJ  CTKPU  CVOGC 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ODCLH  PKEVL  SJIHP  KEPHN  IEDWZ 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GDPOD  IODCL  XDOCU  ECWKX  GWODW 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OODWH  PKHGI  VIEKW  YDCJP  HFCLH 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PFWOV  IHOHG  WODZI  GIJJW  ECKOJ 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8" name="Rectangle 7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0090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Single- and double-letter frequencies for the Leo Tolstoy </a:t>
            </a:r>
            <a:r>
              <a:rPr lang="en-US" sz="2800" b="1" dirty="0" err="1"/>
              <a:t>ciphertext</a:t>
            </a:r>
            <a:r>
              <a:rPr lang="en-US" sz="2800" b="1" dirty="0"/>
              <a:t> yields some clues, but not a lot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1"/>
            <a:ext cx="58674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 single double | C single double | C single double</a:t>
            </a:r>
          </a:p>
          <a:p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----------------+-----------------+----------------</a:t>
            </a:r>
          </a:p>
          <a:p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  9.200  0.000 | V  4.400  0.000 | N  0.800  0.000</a:t>
            </a:r>
          </a:p>
          <a:p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O  9.200 11.111 | J  4.000 22.222 | X  0.800  0.000</a:t>
            </a:r>
          </a:p>
          <a:p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D  8.400  0.000 | Z  3.600  0.000 | Q  0.400  0.000</a:t>
            </a:r>
          </a:p>
          <a:p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  8.400  0.000 | U  3.200 11.111 | T  0.400  0.000</a:t>
            </a:r>
          </a:p>
          <a:p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  8.000  0.000 | L  2.800  0.000 | A  0.000  0.000</a:t>
            </a:r>
          </a:p>
          <a:p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H  8.000 33.333 | G  2.400  0.000 | B  0.000  0.000</a:t>
            </a:r>
          </a:p>
          <a:p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K  7.600 11.111 | F  1.600  0.000 | M  0.000  0.000</a:t>
            </a:r>
          </a:p>
          <a:p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W  7.600  0.000 | Y  1.600  0.000 | R  0.000  0.000</a:t>
            </a:r>
          </a:p>
          <a:p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E  6.400 11.111 | S  1.200  0.000 </a:t>
            </a:r>
          </a:p>
        </p:txBody>
      </p:sp>
    </p:spTree>
    <p:extLst>
      <p:ext uri="{BB962C8B-B14F-4D97-AF65-F5344CB8AC3E}">
        <p14:creationId xmlns:p14="http://schemas.microsoft.com/office/powerpoint/2010/main" val="254348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Plot of double vs. single character frequencies </a:t>
            </a:r>
            <a:br>
              <a:rPr lang="en-US" sz="2800" b="1" dirty="0"/>
            </a:br>
            <a:r>
              <a:rPr lang="en-US" sz="2800" b="1" dirty="0"/>
              <a:t>highlights the confusion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0926" y="1195388"/>
            <a:ext cx="4584700" cy="275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1908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4900" y="1195388"/>
            <a:ext cx="4584700" cy="275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Obvious mappings may be misleading due to outliers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3" name="Oval 2"/>
          <p:cNvSpPr/>
          <p:nvPr/>
        </p:nvSpPr>
        <p:spPr>
          <a:xfrm>
            <a:off x="5029200" y="2190750"/>
            <a:ext cx="381000" cy="4572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751156" y="2528920"/>
            <a:ext cx="228600" cy="4572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069304" y="2710802"/>
            <a:ext cx="2286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6427496" y="2419350"/>
            <a:ext cx="304800" cy="533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460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Increasing the </a:t>
            </a:r>
            <a:r>
              <a:rPr lang="en-US" sz="2800" b="1" dirty="0" err="1"/>
              <a:t>ciphertext</a:t>
            </a:r>
            <a:r>
              <a:rPr lang="en-US" sz="2800" b="1" dirty="0"/>
              <a:t> from 250 characters to 2500 characters makes a profound difference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92639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Increasing the </a:t>
            </a:r>
            <a:r>
              <a:rPr lang="en-US" sz="2800" b="1" dirty="0" err="1"/>
              <a:t>ciphertext</a:t>
            </a:r>
            <a:r>
              <a:rPr lang="en-US" sz="2800" b="1" dirty="0"/>
              <a:t> from 250 characters to 2500 characters makes a profound difference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1"/>
            <a:ext cx="58674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 single double | C single double | C single double</a:t>
            </a:r>
          </a:p>
          <a:p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----------------+-----------------+----------------</a:t>
            </a:r>
          </a:p>
          <a:p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 12.449 12.768 | E  4.683  3.611 | Q  1.780  3.068</a:t>
            </a:r>
          </a:p>
          <a:p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O  8.928 16.430 | J  3.819 15.552 | S  1.381  0.274</a:t>
            </a:r>
          </a:p>
          <a:p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  8.130  0.725 | L  2.582  0.043 | T  1.065  0.009</a:t>
            </a:r>
          </a:p>
          <a:p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  7.615  9.412 | Z  2.437  1.900 | N  0.821  0.014</a:t>
            </a:r>
          </a:p>
          <a:p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K  7.283  2.879 | Y  2.427  1.244 | A  0.160  0.091</a:t>
            </a:r>
          </a:p>
          <a:p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W  6.866  0.411 | G  2.344  0.932 | B  0.099  0.000</a:t>
            </a:r>
          </a:p>
          <a:p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D  6.636  2.426 | U  2.167  3.810 | R  0.095  0.054</a:t>
            </a:r>
          </a:p>
          <a:p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H  6.448 16.733 | X  2.025  0.792 | M  0.092  0.000</a:t>
            </a:r>
          </a:p>
          <a:p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V  5.842  6.442 | F  1.827  0.380 | </a:t>
            </a:r>
          </a:p>
        </p:txBody>
      </p:sp>
    </p:spTree>
    <p:extLst>
      <p:ext uri="{BB962C8B-B14F-4D97-AF65-F5344CB8AC3E}">
        <p14:creationId xmlns:p14="http://schemas.microsoft.com/office/powerpoint/2010/main" val="18203325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single vs. double letter frequencies </a:t>
            </a:r>
            <a:br>
              <a:rPr lang="en-US" sz="2800" b="1" dirty="0"/>
            </a:br>
            <a:r>
              <a:rPr lang="en-US" sz="2800" b="1" dirty="0"/>
              <a:t>for 2500 </a:t>
            </a:r>
            <a:r>
              <a:rPr lang="en-US" sz="2800" b="1" dirty="0" err="1"/>
              <a:t>ciphertext</a:t>
            </a:r>
            <a:r>
              <a:rPr lang="en-US" sz="2800" b="1" dirty="0"/>
              <a:t> characters shows clear pairings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24769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single vs. double letter frequencies </a:t>
            </a:r>
            <a:br>
              <a:rPr lang="en-US" sz="2800" b="1" dirty="0"/>
            </a:br>
            <a:r>
              <a:rPr lang="en-US" sz="2800" b="1" dirty="0"/>
              <a:t>for 2500 </a:t>
            </a:r>
            <a:r>
              <a:rPr lang="en-US" sz="2800" b="1" dirty="0" err="1"/>
              <a:t>ciphertext</a:t>
            </a:r>
            <a:r>
              <a:rPr lang="en-US" sz="2800" b="1" dirty="0"/>
              <a:t> characters shows clear pairings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4900" y="1195388"/>
            <a:ext cx="4584700" cy="275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0126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CIPHERTEXT: ABCDEFGHIJKLMNOPQRSTUVWXYZ</a:t>
            </a:r>
            <a:b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PLAINTEXT :   o d 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      r 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4900" y="1195388"/>
            <a:ext cx="4584700" cy="275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Oval 2"/>
          <p:cNvSpPr/>
          <p:nvPr/>
        </p:nvSpPr>
        <p:spPr>
          <a:xfrm>
            <a:off x="5105400" y="1809750"/>
            <a:ext cx="2286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5715000" y="1885950"/>
            <a:ext cx="3048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6400800" y="1809750"/>
            <a:ext cx="3048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7239000" y="2038350"/>
            <a:ext cx="3048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6019800" y="2495550"/>
            <a:ext cx="304800" cy="304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181600" y="2952750"/>
            <a:ext cx="381000" cy="304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605430" y="2724150"/>
            <a:ext cx="2286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017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0926" y="1195388"/>
            <a:ext cx="4584700" cy="275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0" y="7646"/>
            <a:ext cx="9144000" cy="1200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CIPHERTEXT: ABCDEFGHIJKLMNOPQRSTUVWXYZ</a:t>
            </a:r>
            <a:b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PLAINTEXT :  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ohd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seln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ta    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ri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5" name="Oval 4"/>
          <p:cNvSpPr/>
          <p:nvPr/>
        </p:nvSpPr>
        <p:spPr>
          <a:xfrm>
            <a:off x="4724400" y="1885950"/>
            <a:ext cx="533400" cy="4572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5410200" y="1657350"/>
            <a:ext cx="609600" cy="304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5257800" y="3028950"/>
            <a:ext cx="3810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6692252" y="284318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489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0926" y="1195388"/>
            <a:ext cx="4584700" cy="275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5" name="Oval 4"/>
          <p:cNvSpPr/>
          <p:nvPr/>
        </p:nvSpPr>
        <p:spPr>
          <a:xfrm>
            <a:off x="7391400" y="3181350"/>
            <a:ext cx="457200" cy="304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953000" y="3181350"/>
            <a:ext cx="457200" cy="304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486400" y="3181350"/>
            <a:ext cx="228600" cy="304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943600" y="3105150"/>
            <a:ext cx="3048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6324600" y="1962150"/>
            <a:ext cx="3048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6858000" y="1657350"/>
            <a:ext cx="533400" cy="304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0" y="7646"/>
            <a:ext cx="9144000" cy="1200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CIPHERTEXT: ABCDEFGHIJKLMNOPQRSTUVWXYZ</a:t>
            </a:r>
            <a:b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PLAINTEXT :  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ohd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selnu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ktap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bvfri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84539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0926" y="1195388"/>
            <a:ext cx="4584700" cy="275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0" name="Title 1"/>
          <p:cNvSpPr txBox="1">
            <a:spLocks/>
          </p:cNvSpPr>
          <p:nvPr/>
        </p:nvSpPr>
        <p:spPr>
          <a:xfrm>
            <a:off x="0" y="7646"/>
            <a:ext cx="9144000" cy="1200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CIPHERTEXT: ABCDEFGHIJKLMNOPQRSTUVWXYZ</a:t>
            </a:r>
            <a:b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PLAINTEXT :  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ohd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selnu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ktap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bvfri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5" name="Oval 4"/>
          <p:cNvSpPr/>
          <p:nvPr/>
        </p:nvSpPr>
        <p:spPr>
          <a:xfrm>
            <a:off x="7391400" y="3181350"/>
            <a:ext cx="457200" cy="304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953000" y="3181350"/>
            <a:ext cx="457200" cy="304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486400" y="3181350"/>
            <a:ext cx="228600" cy="304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943600" y="3105150"/>
            <a:ext cx="3048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6324600" y="1962150"/>
            <a:ext cx="3048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6858000" y="1657350"/>
            <a:ext cx="533400" cy="304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 rot="19478248">
            <a:off x="6246380" y="2400317"/>
            <a:ext cx="1768320" cy="867978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3333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0926" y="1195388"/>
            <a:ext cx="4584700" cy="275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0" name="Title 1"/>
          <p:cNvSpPr txBox="1">
            <a:spLocks/>
          </p:cNvSpPr>
          <p:nvPr/>
        </p:nvSpPr>
        <p:spPr>
          <a:xfrm>
            <a:off x="0" y="7646"/>
            <a:ext cx="9144000" cy="1200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CIPHERTEXT: ABCDEFGHIJKLMNOPQRSTUVWXYZ</a:t>
            </a:r>
            <a:b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PLAINTEXT :  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ohdywselnu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ktap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bvfrigcm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7391400" y="3181350"/>
            <a:ext cx="457200" cy="304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953000" y="3181350"/>
            <a:ext cx="457200" cy="304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486400" y="3181350"/>
            <a:ext cx="228600" cy="304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943600" y="3105150"/>
            <a:ext cx="3048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6477000" y="3098476"/>
            <a:ext cx="3048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477000" y="2907134"/>
            <a:ext cx="4572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 rot="4172898">
            <a:off x="7012238" y="2821575"/>
            <a:ext cx="228600" cy="4572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 rot="3071718">
            <a:off x="7326926" y="2242443"/>
            <a:ext cx="205147" cy="51950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 rot="2714566">
            <a:off x="7314162" y="2528504"/>
            <a:ext cx="264948" cy="4572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6324600" y="1962150"/>
            <a:ext cx="3048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6858000" y="1657350"/>
            <a:ext cx="533400" cy="304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 rot="19478248">
            <a:off x="6246380" y="2400317"/>
            <a:ext cx="1768320" cy="867978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539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4900" y="1195388"/>
            <a:ext cx="4584700" cy="275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0" y="7646"/>
            <a:ext cx="9144000" cy="1200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CIPHERTEXT: ABCDEFGHIJKLMNOPQRSTUVWXYZ</a:t>
            </a:r>
            <a:b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PLAINTEXT : x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ohdywselnu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ktapzbvfrigcm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6553200" y="2571750"/>
            <a:ext cx="685800" cy="533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953000" y="2800350"/>
            <a:ext cx="990600" cy="304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489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4900" y="1195388"/>
            <a:ext cx="4584700" cy="275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0" y="7646"/>
            <a:ext cx="9144000" cy="1200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CIPHERTEXT: ABCDEFGHIJKLMNOPQRSTUVWXYZ</a:t>
            </a:r>
            <a:b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PLAINTEXT :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xjohdywselnuqktapzbvfrigcm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6553200" y="2571750"/>
            <a:ext cx="685800" cy="533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953000" y="2800350"/>
            <a:ext cx="990600" cy="304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5673285" y="3143660"/>
            <a:ext cx="471921" cy="166868"/>
          </a:xfrm>
          <a:custGeom>
            <a:avLst/>
            <a:gdLst>
              <a:gd name="connsiteX0" fmla="*/ 0 w 471921"/>
              <a:gd name="connsiteY0" fmla="*/ 153520 h 166868"/>
              <a:gd name="connsiteX1" fmla="*/ 280327 w 471921"/>
              <a:gd name="connsiteY1" fmla="*/ 7 h 166868"/>
              <a:gd name="connsiteX2" fmla="*/ 460537 w 471921"/>
              <a:gd name="connsiteY2" fmla="*/ 146845 h 166868"/>
              <a:gd name="connsiteX3" fmla="*/ 460537 w 471921"/>
              <a:gd name="connsiteY3" fmla="*/ 166868 h 166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1921" h="166868">
                <a:moveTo>
                  <a:pt x="0" y="153520"/>
                </a:moveTo>
                <a:cubicBezTo>
                  <a:pt x="101785" y="77319"/>
                  <a:pt x="203571" y="1119"/>
                  <a:pt x="280327" y="7"/>
                </a:cubicBezTo>
                <a:cubicBezTo>
                  <a:pt x="357083" y="-1105"/>
                  <a:pt x="430502" y="119035"/>
                  <a:pt x="460537" y="146845"/>
                </a:cubicBezTo>
                <a:cubicBezTo>
                  <a:pt x="490572" y="174655"/>
                  <a:pt x="450525" y="132383"/>
                  <a:pt x="460537" y="166868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5833472" y="3397296"/>
            <a:ext cx="507258" cy="153646"/>
          </a:xfrm>
          <a:custGeom>
            <a:avLst/>
            <a:gdLst>
              <a:gd name="connsiteX0" fmla="*/ 0 w 507258"/>
              <a:gd name="connsiteY0" fmla="*/ 0 h 153646"/>
              <a:gd name="connsiteX1" fmla="*/ 287001 w 507258"/>
              <a:gd name="connsiteY1" fmla="*/ 153513 h 153646"/>
              <a:gd name="connsiteX2" fmla="*/ 507258 w 507258"/>
              <a:gd name="connsiteY2" fmla="*/ 26698 h 153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7258" h="153646">
                <a:moveTo>
                  <a:pt x="0" y="0"/>
                </a:moveTo>
                <a:cubicBezTo>
                  <a:pt x="101229" y="74531"/>
                  <a:pt x="202458" y="149063"/>
                  <a:pt x="287001" y="153513"/>
                </a:cubicBezTo>
                <a:cubicBezTo>
                  <a:pt x="371544" y="157963"/>
                  <a:pt x="470549" y="50059"/>
                  <a:pt x="507258" y="26698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7314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Frequency analysis on 2500 characters of </a:t>
            </a:r>
            <a:r>
              <a:rPr lang="en-US" b="1" dirty="0" err="1"/>
              <a:t>ciphtertext</a:t>
            </a:r>
            <a:r>
              <a:rPr lang="en-US" b="1" dirty="0"/>
              <a:t> produced correct cipher map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1"/>
            <a:ext cx="5867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0531854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Frequency analysis on 2500 characters of </a:t>
            </a:r>
            <a:r>
              <a:rPr lang="en-US" b="1" dirty="0" err="1"/>
              <a:t>ciphtertext</a:t>
            </a:r>
            <a:r>
              <a:rPr lang="en-US" b="1" dirty="0"/>
              <a:t> produced correct cipher map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C: ABCDEFGHIJKLMNOPQRSTUVWXYZ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1979516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Frequency analysis on 2500 characters of </a:t>
            </a:r>
            <a:r>
              <a:rPr lang="en-US" b="1" dirty="0" err="1"/>
              <a:t>ciphtertext</a:t>
            </a:r>
            <a:r>
              <a:rPr lang="en-US" b="1" dirty="0"/>
              <a:t> produced correct cipher map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1"/>
            <a:ext cx="5867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C: ABCDEFGHIJKLMNOPQRSTUVWXYZ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A: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xjohdywselnuqktapzbvfrigcm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1979516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Frequency analysis on 2500 characters of </a:t>
            </a:r>
            <a:r>
              <a:rPr lang="en-US" b="1" dirty="0" err="1"/>
              <a:t>ciphtertext</a:t>
            </a:r>
            <a:r>
              <a:rPr lang="en-US" b="1" dirty="0"/>
              <a:t> produced correct cipher map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1"/>
            <a:ext cx="5867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C: ABCDEFGHIJKLMNOPQRSTUVWXYZ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A: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xjohdywselnuqktapzbvfrigcm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P: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xjohdywselnuqktapzbvfrigcm</a:t>
            </a:r>
            <a:endParaRPr lang="en-US" sz="2000" b="1" dirty="0"/>
          </a:p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197951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24212</TotalTime>
  <Words>598</Words>
  <Application>Microsoft Office PowerPoint</Application>
  <PresentationFormat>On-screen Show (16:9)</PresentationFormat>
  <Paragraphs>184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Courier New</vt:lpstr>
      <vt:lpstr>Office Theme</vt:lpstr>
      <vt:lpstr>Frequency Analysis of Monoalphabetic Ciphers Example</vt:lpstr>
      <vt:lpstr>Frequency Analysis of Monoalphabetic Ciphers Example</vt:lpstr>
      <vt:lpstr>Frequency Analysis of Monoalphabetic Ciphers Example</vt:lpstr>
      <vt:lpstr>Frequency Analysis of Monoalphabetic Ciphers Example</vt:lpstr>
      <vt:lpstr>Frequency Analysis of Monoalphabetic Ciphers Example</vt:lpstr>
      <vt:lpstr>Frequency Analysis of Monoalphabetic Ciphers Example</vt:lpstr>
      <vt:lpstr>Leo Tolstoy ciphertext</vt:lpstr>
      <vt:lpstr>Single- and double-letter frequencies for the Leo Tolstoy ciphertext yields some clues, but not a lot</vt:lpstr>
      <vt:lpstr>Plot of double vs. single character frequencies  highlights the confusion</vt:lpstr>
      <vt:lpstr>Obvious mappings may be misleading due to outliers</vt:lpstr>
      <vt:lpstr>Increasing the ciphertext from 250 characters to 2500 characters makes a profound difference</vt:lpstr>
      <vt:lpstr>Increasing the ciphertext from 250 characters to 2500 characters makes a profound difference</vt:lpstr>
      <vt:lpstr>single vs. double letter frequencies  for 2500 ciphertext characters shows clear pairings</vt:lpstr>
      <vt:lpstr>single vs. double letter frequencies  for 2500 ciphertext characters shows clear pairings</vt:lpstr>
      <vt:lpstr>CIPHERTEXT: ABCDEFGHIJKLMNOPQRSTUVWXYZ PLAINTEXT :   o d  sel    t      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Frequency analysis on 2500 characters of ciphtertext produced correct cipher map</vt:lpstr>
      <vt:lpstr>Frequency analysis on 2500 characters of ciphtertext produced correct cipher map</vt:lpstr>
      <vt:lpstr>Frequency analysis on 2500 characters of ciphtertext produced correct cipher map</vt:lpstr>
      <vt:lpstr>Frequency analysis on 2500 characters of ciphtertext produced correct cipher map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Chinese Remainder Theorem</dc:title>
  <dc:creator>WBahn</dc:creator>
  <cp:lastModifiedBy>Oluwatobi Akanbi</cp:lastModifiedBy>
  <cp:revision>142</cp:revision>
  <dcterms:created xsi:type="dcterms:W3CDTF">2017-04-06T17:43:22Z</dcterms:created>
  <dcterms:modified xsi:type="dcterms:W3CDTF">2017-09-15T20:01:28Z</dcterms:modified>
</cp:coreProperties>
</file>