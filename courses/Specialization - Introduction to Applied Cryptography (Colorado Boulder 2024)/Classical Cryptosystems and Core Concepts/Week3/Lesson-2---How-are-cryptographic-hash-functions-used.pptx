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42"/>
  </p:notesMasterIdLst>
  <p:sldIdLst>
    <p:sldId id="585" r:id="rId2"/>
    <p:sldId id="586" r:id="rId3"/>
    <p:sldId id="587" r:id="rId4"/>
    <p:sldId id="588" r:id="rId5"/>
    <p:sldId id="589" r:id="rId6"/>
    <p:sldId id="590" r:id="rId7"/>
    <p:sldId id="591" r:id="rId8"/>
    <p:sldId id="592" r:id="rId9"/>
    <p:sldId id="593" r:id="rId10"/>
    <p:sldId id="594" r:id="rId11"/>
    <p:sldId id="595" r:id="rId12"/>
    <p:sldId id="596" r:id="rId13"/>
    <p:sldId id="597" r:id="rId14"/>
    <p:sldId id="550" r:id="rId15"/>
    <p:sldId id="598" r:id="rId16"/>
    <p:sldId id="599" r:id="rId17"/>
    <p:sldId id="600" r:id="rId18"/>
    <p:sldId id="601" r:id="rId19"/>
    <p:sldId id="602" r:id="rId20"/>
    <p:sldId id="603" r:id="rId21"/>
    <p:sldId id="514" r:id="rId22"/>
    <p:sldId id="604" r:id="rId23"/>
    <p:sldId id="605" r:id="rId24"/>
    <p:sldId id="606" r:id="rId25"/>
    <p:sldId id="607" r:id="rId26"/>
    <p:sldId id="578" r:id="rId27"/>
    <p:sldId id="608" r:id="rId28"/>
    <p:sldId id="609" r:id="rId29"/>
    <p:sldId id="610" r:id="rId30"/>
    <p:sldId id="611" r:id="rId31"/>
    <p:sldId id="612" r:id="rId32"/>
    <p:sldId id="549" r:id="rId33"/>
    <p:sldId id="613" r:id="rId34"/>
    <p:sldId id="614" r:id="rId35"/>
    <p:sldId id="615" r:id="rId36"/>
    <p:sldId id="616" r:id="rId37"/>
    <p:sldId id="617" r:id="rId38"/>
    <p:sldId id="618" r:id="rId39"/>
    <p:sldId id="619" r:id="rId40"/>
    <p:sldId id="620" r:id="rId4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0B71-AAAA-4792-BE6C-AA7513867772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C4375-5D5B-4983-9E94-ADB1EF41B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1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1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5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2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1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8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 functions are used to </a:t>
            </a:r>
            <a:br>
              <a:rPr lang="en-US" b="1" dirty="0"/>
            </a:br>
            <a:r>
              <a:rPr lang="en-US" b="1" dirty="0"/>
              <a:t>achieve integrity and authenticity goals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Using the Random Oracle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48724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 functions are used to </a:t>
            </a:r>
            <a:br>
              <a:rPr lang="en-US" b="1" dirty="0"/>
            </a:br>
            <a:r>
              <a:rPr lang="en-US" b="1" dirty="0"/>
              <a:t>achieve integrity and authenticity goals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Using the Random Oracle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Computational security goal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48724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 functions are used to </a:t>
            </a:r>
            <a:br>
              <a:rPr lang="en-US" b="1" dirty="0"/>
            </a:br>
            <a:r>
              <a:rPr lang="en-US" b="1" dirty="0"/>
              <a:t>achieve integrity and authenticity goals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Using the Random Oracle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Computational security goal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“Computationally Infeasible” taken to extremes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48724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 functions are used to </a:t>
            </a:r>
            <a:br>
              <a:rPr lang="en-US" b="1" dirty="0"/>
            </a:br>
            <a:r>
              <a:rPr lang="en-US" b="1" dirty="0"/>
              <a:t>achieve integrity and authenticity goals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Using the Random Oracle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Computational security goal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“Computationally Infeasible” taken to extremes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Real hash functions introduce vulnerabilities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48724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 functions can </a:t>
            </a:r>
            <a:br>
              <a:rPr lang="en-US" b="1" dirty="0"/>
            </a:br>
            <a:r>
              <a:rPr lang="en-US" b="1" dirty="0"/>
              <a:t>ensure message integrity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Bind message contents to digest</a:t>
            </a:r>
          </a:p>
        </p:txBody>
      </p:sp>
    </p:spTree>
    <p:extLst>
      <p:ext uri="{BB962C8B-B14F-4D97-AF65-F5344CB8AC3E}">
        <p14:creationId xmlns:p14="http://schemas.microsoft.com/office/powerpoint/2010/main" val="455181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 functions can </a:t>
            </a:r>
            <a:br>
              <a:rPr lang="en-US" b="1" dirty="0"/>
            </a:br>
            <a:r>
              <a:rPr lang="en-US" b="1" dirty="0"/>
              <a:t>ensure message integrity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Bind message contents to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 practice: each message has a unique digest</a:t>
            </a:r>
          </a:p>
        </p:txBody>
      </p:sp>
    </p:spTree>
    <p:extLst>
      <p:ext uri="{BB962C8B-B14F-4D97-AF65-F5344CB8AC3E}">
        <p14:creationId xmlns:p14="http://schemas.microsoft.com/office/powerpoint/2010/main" val="455181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 functions can </a:t>
            </a:r>
            <a:br>
              <a:rPr lang="en-US" b="1" dirty="0"/>
            </a:br>
            <a:r>
              <a:rPr lang="en-US" b="1" dirty="0"/>
              <a:t>ensure message integrity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Bind message contents to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 practice: each message has a unique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Alice sends Bob message + digest</a:t>
            </a:r>
          </a:p>
        </p:txBody>
      </p:sp>
    </p:spTree>
    <p:extLst>
      <p:ext uri="{BB962C8B-B14F-4D97-AF65-F5344CB8AC3E}">
        <p14:creationId xmlns:p14="http://schemas.microsoft.com/office/powerpoint/2010/main" val="455181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 functions can </a:t>
            </a:r>
            <a:br>
              <a:rPr lang="en-US" b="1" dirty="0"/>
            </a:br>
            <a:r>
              <a:rPr lang="en-US" b="1" dirty="0"/>
              <a:t>ensure message integrity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Bind message contents to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 practice: each message has a unique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Alice sends Bob message +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Bob hashes message and compares to digest</a:t>
            </a:r>
          </a:p>
        </p:txBody>
      </p:sp>
    </p:spTree>
    <p:extLst>
      <p:ext uri="{BB962C8B-B14F-4D97-AF65-F5344CB8AC3E}">
        <p14:creationId xmlns:p14="http://schemas.microsoft.com/office/powerpoint/2010/main" val="455181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 functions can </a:t>
            </a:r>
            <a:br>
              <a:rPr lang="en-US" b="1" dirty="0"/>
            </a:br>
            <a:r>
              <a:rPr lang="en-US" b="1" dirty="0"/>
              <a:t>ensure message integrity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Bind message contents to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 practice: each message has a unique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Alice sends Bob message +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Bob hashes message and compares to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Message rejected if the two digests don’t agree</a:t>
            </a:r>
          </a:p>
        </p:txBody>
      </p:sp>
    </p:spTree>
    <p:extLst>
      <p:ext uri="{BB962C8B-B14F-4D97-AF65-F5344CB8AC3E}">
        <p14:creationId xmlns:p14="http://schemas.microsoft.com/office/powerpoint/2010/main" val="455181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 functions can </a:t>
            </a:r>
            <a:br>
              <a:rPr lang="en-US" b="1" dirty="0"/>
            </a:br>
            <a:r>
              <a:rPr lang="en-US" b="1" dirty="0"/>
              <a:t>ensure message integrity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Bind message contents to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 practice: each message has a unique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Alice sends Bob message +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Bob hashes message and compares to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Message rejected if the two digests don’t agree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Malory can change BOTH message and digest</a:t>
            </a:r>
          </a:p>
        </p:txBody>
      </p:sp>
    </p:spTree>
    <p:extLst>
      <p:ext uri="{BB962C8B-B14F-4D97-AF65-F5344CB8AC3E}">
        <p14:creationId xmlns:p14="http://schemas.microsoft.com/office/powerpoint/2010/main" val="455181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 functions can </a:t>
            </a:r>
            <a:br>
              <a:rPr lang="en-US" b="1" dirty="0"/>
            </a:br>
            <a:r>
              <a:rPr lang="en-US" b="1" dirty="0"/>
              <a:t>ensure message integrity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Bind message contents to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 practice: each message has a unique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Alice sends Bob message +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Bob hashes message and compares to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Message rejected if the two digests don’t agree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Malory can change BOTH message and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We can prevent this, so let’s assume for now</a:t>
            </a:r>
          </a:p>
        </p:txBody>
      </p:sp>
    </p:spTree>
    <p:extLst>
      <p:ext uri="{BB962C8B-B14F-4D97-AF65-F5344CB8AC3E}">
        <p14:creationId xmlns:p14="http://schemas.microsoft.com/office/powerpoint/2010/main" val="455181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 functions can </a:t>
            </a:r>
            <a:br>
              <a:rPr lang="en-US" b="1" dirty="0"/>
            </a:br>
            <a:r>
              <a:rPr lang="en-US" b="1" dirty="0"/>
              <a:t>ensure message integrity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Bind message contents to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 practice: each message has a unique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Alice sends Bob message +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Bob hashes message and compares to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Message rejected if the two digests don’t agree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Malory can change BOTH message and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We can prevent this, so let’s assume for now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Malory must perform “second preimage attack”</a:t>
            </a:r>
          </a:p>
        </p:txBody>
      </p:sp>
    </p:spTree>
    <p:extLst>
      <p:ext uri="{BB962C8B-B14F-4D97-AF65-F5344CB8AC3E}">
        <p14:creationId xmlns:p14="http://schemas.microsoft.com/office/powerpoint/2010/main" val="455181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 functions can </a:t>
            </a:r>
            <a:br>
              <a:rPr lang="en-US" b="1" dirty="0"/>
            </a:br>
            <a:r>
              <a:rPr lang="en-US" b="1" dirty="0"/>
              <a:t>ensure message integrity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Bind message contents to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 practice: each message has a unique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Alice sends Bob message +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Bob hashes message and compares to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Message rejected if the two digests don’t agree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Malory can change BOTH message and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We can prevent this, so let’s assume for now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Malory must perform “second preimage attack”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Subtly different from “preimage attack”</a:t>
            </a:r>
          </a:p>
        </p:txBody>
      </p:sp>
    </p:spTree>
    <p:extLst>
      <p:ext uri="{BB962C8B-B14F-4D97-AF65-F5344CB8AC3E}">
        <p14:creationId xmlns:p14="http://schemas.microsoft.com/office/powerpoint/2010/main" val="455181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If attacker provides original message, they can find a suitable alternate more easily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48558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If attacker provides original message, they can find a suitable alternate more easily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Chuck – legitimate, but dishonest, party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84556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If attacker provides original message, they can find a suitable alternate more easily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Chuck – legitimate, but dishonest, party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Provides original, but later replaces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84556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If attacker provides original message, they can find a suitable alternate more easily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Chuck – legitimate, but dishonest, party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Provides original, but later replaces 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Only needs a collision, not a specific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84556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If attacker provides original message, they can find a suitable alternate more easily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Chuck – legitimate, but dishonest, party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Provides original, but later replaces 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Only needs a collision, not a specific digest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Produces many variants and looks for match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84556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If attacker provides original message, they can find a suitable alternate more easily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Chuck – legitimate, but dishonest, party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Provides original, but later replaces 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Only needs a collision, not a specific digest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Produces many variants and looks for match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Susceptible to Birthday Attack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84556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If attacker provides original message, they can find a suitable alternate more easily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Chuck – legitimate, but dishonest, party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Provides original, but later replaces 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Only needs a collision, not a specific digest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Produces many variants and looks for match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Susceptible to Birthday Attack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Effective number of bits in hash cut in half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84556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Modification Detection Codes (MDC)</a:t>
            </a:r>
            <a:br>
              <a:rPr lang="en-US" b="1" dirty="0"/>
            </a:br>
            <a:r>
              <a:rPr lang="en-US" b="1" dirty="0"/>
              <a:t>are used to ensure message integrity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6037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Modification Detection Codes (MDC)</a:t>
            </a:r>
            <a:br>
              <a:rPr lang="en-US" b="1" dirty="0"/>
            </a:br>
            <a:r>
              <a:rPr lang="en-US" b="1" dirty="0"/>
              <a:t>are used to ensure message integrity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an “authentic channel” (i.e., Trent)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73742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Modification Detection Codes (MDC)</a:t>
            </a:r>
            <a:br>
              <a:rPr lang="en-US" b="1" dirty="0"/>
            </a:br>
            <a:r>
              <a:rPr lang="en-US" b="1" dirty="0"/>
              <a:t>are used to ensure message integrity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an “authentic channel” (i.e., Trent)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Encrypt message +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73742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Modification Detection Codes (MDC)</a:t>
            </a:r>
            <a:br>
              <a:rPr lang="en-US" b="1" dirty="0"/>
            </a:br>
            <a:r>
              <a:rPr lang="en-US" b="1" dirty="0"/>
              <a:t>are used to ensure message integrity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an “authentic channel” (i.e., Trent)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Encrypt message +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“Sign” the digest by encrypting with private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73742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Modification Detection Codes (MDC)</a:t>
            </a:r>
            <a:br>
              <a:rPr lang="en-US" b="1" dirty="0"/>
            </a:br>
            <a:r>
              <a:rPr lang="en-US" b="1" dirty="0"/>
              <a:t>are used to ensure message integrity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an “authentic channel” (i.e., Trent)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Encrypt message +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“Sign” the digest by encrypting with private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a MAC – Message Authentication Code</a:t>
            </a:r>
          </a:p>
        </p:txBody>
      </p:sp>
    </p:spTree>
    <p:extLst>
      <p:ext uri="{BB962C8B-B14F-4D97-AF65-F5344CB8AC3E}">
        <p14:creationId xmlns:p14="http://schemas.microsoft.com/office/powerpoint/2010/main" val="11737429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Hashes can provide authentication when only the originator can provide the digest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4553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Hashes can provide authentication when only the originator can provide the digest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an “authentic channel” (i.e., Trent)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43111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Hashes can provide authentication when only the originator can provide the digest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an “authentic channel” (i.e., Trent)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a keyed-hash functions</a:t>
            </a:r>
          </a:p>
        </p:txBody>
      </p:sp>
    </p:spTree>
    <p:extLst>
      <p:ext uri="{BB962C8B-B14F-4D97-AF65-F5344CB8AC3E}">
        <p14:creationId xmlns:p14="http://schemas.microsoft.com/office/powerpoint/2010/main" val="24431119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Hashes can provide authentication when only the originator can provide the digest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an “authentic channel” (i.e., Trent)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a keyed-hash functions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Key distribution problem</a:t>
            </a:r>
          </a:p>
        </p:txBody>
      </p:sp>
    </p:spTree>
    <p:extLst>
      <p:ext uri="{BB962C8B-B14F-4D97-AF65-F5344CB8AC3E}">
        <p14:creationId xmlns:p14="http://schemas.microsoft.com/office/powerpoint/2010/main" val="24431119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Hashes can provide authentication when only the originator can provide the digest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an “authentic channel” (i.e., Trent)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a keyed-hash functions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Key distribution problem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Length-extension attacks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431119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Hashes can provide authentication when only the originator can provide the digest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an “authentic channel” (i.e., Trent)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a keyed-hash functions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Key distribution problem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Length-extension attacks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“Sign” the digest by encrypting with private key</a:t>
            </a:r>
          </a:p>
        </p:txBody>
      </p:sp>
    </p:spTree>
    <p:extLst>
      <p:ext uri="{BB962C8B-B14F-4D97-AF65-F5344CB8AC3E}">
        <p14:creationId xmlns:p14="http://schemas.microsoft.com/office/powerpoint/2010/main" val="24431119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3853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Hash functions can be used to ensure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32035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Hash functions can be used to ensure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32035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Hash functions can be used to ensure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Authenticity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32035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Hash functions can be used to ensure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Authenticity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Attacks against a Random Oracle hash function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32035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Hash functions can be used to ensure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Authenticity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Attacks against a Random Oracle hash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Real hash functions have specific vulnerabilities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32035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Hash functions can be used to ensure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Authenticity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Attacks against a Random Oracle hash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Real hash functions have specific vulnerabilities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Coming 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32035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Hash functions can be used to ensure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Authenticity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Attacks against a Random Oracle hash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Real hash functions have specific vulnerabilities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Coming 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Brute force attacks in detail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32035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Hash functions can be used to ensure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Authenticity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Attacks against a Random Oracle hash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Real hash functions have specific vulnerabilities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Coming 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Brute force attacks in detail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Properties important to a real hash function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3203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39205</TotalTime>
  <Words>1307</Words>
  <Application>Microsoft Office PowerPoint</Application>
  <PresentationFormat>On-screen Show (16:9)</PresentationFormat>
  <Paragraphs>386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Hash functions are used to  achieve integrity and authenticity goals</vt:lpstr>
      <vt:lpstr>Hash functions are used to  achieve integrity and authenticity goals</vt:lpstr>
      <vt:lpstr>Hash functions are used to  achieve integrity and authenticity goals</vt:lpstr>
      <vt:lpstr>Hash functions are used to  achieve integrity and authenticity goals</vt:lpstr>
      <vt:lpstr>Hash functions can  ensure message integrity</vt:lpstr>
      <vt:lpstr>Hash functions can  ensure message integrity</vt:lpstr>
      <vt:lpstr>Hash functions can  ensure message integrity</vt:lpstr>
      <vt:lpstr>Hash functions can  ensure message integrity</vt:lpstr>
      <vt:lpstr>Hash functions can  ensure message integrity</vt:lpstr>
      <vt:lpstr>Hash functions can  ensure message integrity</vt:lpstr>
      <vt:lpstr>Hash functions can  ensure message integrity</vt:lpstr>
      <vt:lpstr>Hash functions can  ensure message integrity</vt:lpstr>
      <vt:lpstr>Hash functions can  ensure message integrity</vt:lpstr>
      <vt:lpstr>If attacker provides original message, they can find a suitable alternate more easily</vt:lpstr>
      <vt:lpstr>If attacker provides original message, they can find a suitable alternate more easily</vt:lpstr>
      <vt:lpstr>If attacker provides original message, they can find a suitable alternate more easily</vt:lpstr>
      <vt:lpstr>If attacker provides original message, they can find a suitable alternate more easily</vt:lpstr>
      <vt:lpstr>If attacker provides original message, they can find a suitable alternate more easily</vt:lpstr>
      <vt:lpstr>If attacker provides original message, they can find a suitable alternate more easily</vt:lpstr>
      <vt:lpstr>If attacker provides original message, they can find a suitable alternate more easily</vt:lpstr>
      <vt:lpstr>Modification Detection Codes (MDC) are used to ensure message integrity</vt:lpstr>
      <vt:lpstr>Modification Detection Codes (MDC) are used to ensure message integrity</vt:lpstr>
      <vt:lpstr>Modification Detection Codes (MDC) are used to ensure message integrity</vt:lpstr>
      <vt:lpstr>Modification Detection Codes (MDC) are used to ensure message integrity</vt:lpstr>
      <vt:lpstr>Modification Detection Codes (MDC) are used to ensure message integrity</vt:lpstr>
      <vt:lpstr>Hashes can provide authentication when only the originator can provide the digest</vt:lpstr>
      <vt:lpstr>Hashes can provide authentication when only the originator can provide the digest</vt:lpstr>
      <vt:lpstr>Hashes can provide authentication when only the originator can provide the digest</vt:lpstr>
      <vt:lpstr>Hashes can provide authentication when only the originator can provide the digest</vt:lpstr>
      <vt:lpstr>Hashes can provide authentication when only the originator can provide the digest</vt:lpstr>
      <vt:lpstr>Hashes can provide authentication when only the originator can provide the digest</vt:lpstr>
      <vt:lpstr>In review…</vt:lpstr>
      <vt:lpstr>In review…</vt:lpstr>
      <vt:lpstr>In review…</vt:lpstr>
      <vt:lpstr>In review…</vt:lpstr>
      <vt:lpstr>In review…</vt:lpstr>
      <vt:lpstr>In review…</vt:lpstr>
      <vt:lpstr>In review…</vt:lpstr>
      <vt:lpstr>In review…</vt:lpstr>
      <vt:lpstr>In review…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Remainder Theorem</dc:title>
  <dc:creator>WBahn</dc:creator>
  <cp:lastModifiedBy>Oluwatobi Akanbi</cp:lastModifiedBy>
  <cp:revision>148</cp:revision>
  <dcterms:created xsi:type="dcterms:W3CDTF">2017-04-06T17:43:22Z</dcterms:created>
  <dcterms:modified xsi:type="dcterms:W3CDTF">2017-09-15T20:11:28Z</dcterms:modified>
</cp:coreProperties>
</file>