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9"/>
  </p:notesMasterIdLst>
  <p:sldIdLst>
    <p:sldId id="739" r:id="rId2"/>
    <p:sldId id="749" r:id="rId3"/>
    <p:sldId id="750" r:id="rId4"/>
    <p:sldId id="751" r:id="rId5"/>
    <p:sldId id="752" r:id="rId6"/>
    <p:sldId id="753" r:id="rId7"/>
    <p:sldId id="754" r:id="rId8"/>
    <p:sldId id="740" r:id="rId9"/>
    <p:sldId id="755" r:id="rId10"/>
    <p:sldId id="756" r:id="rId11"/>
    <p:sldId id="757" r:id="rId12"/>
    <p:sldId id="758" r:id="rId13"/>
    <p:sldId id="759" r:id="rId14"/>
    <p:sldId id="760" r:id="rId15"/>
    <p:sldId id="761" r:id="rId16"/>
    <p:sldId id="762" r:id="rId17"/>
    <p:sldId id="763" r:id="rId18"/>
    <p:sldId id="741" r:id="rId19"/>
    <p:sldId id="764" r:id="rId20"/>
    <p:sldId id="765" r:id="rId21"/>
    <p:sldId id="766" r:id="rId22"/>
    <p:sldId id="767" r:id="rId23"/>
    <p:sldId id="768" r:id="rId24"/>
    <p:sldId id="769" r:id="rId25"/>
    <p:sldId id="770" r:id="rId26"/>
    <p:sldId id="771" r:id="rId27"/>
    <p:sldId id="742" r:id="rId28"/>
    <p:sldId id="772" r:id="rId29"/>
    <p:sldId id="773" r:id="rId30"/>
    <p:sldId id="774" r:id="rId31"/>
    <p:sldId id="775" r:id="rId32"/>
    <p:sldId id="776" r:id="rId33"/>
    <p:sldId id="777" r:id="rId34"/>
    <p:sldId id="778" r:id="rId35"/>
    <p:sldId id="779" r:id="rId36"/>
    <p:sldId id="780" r:id="rId37"/>
    <p:sldId id="743" r:id="rId38"/>
    <p:sldId id="781" r:id="rId39"/>
    <p:sldId id="782" r:id="rId40"/>
    <p:sldId id="783" r:id="rId41"/>
    <p:sldId id="784" r:id="rId42"/>
    <p:sldId id="785" r:id="rId43"/>
    <p:sldId id="786" r:id="rId44"/>
    <p:sldId id="826" r:id="rId45"/>
    <p:sldId id="827" r:id="rId46"/>
    <p:sldId id="744" r:id="rId47"/>
    <p:sldId id="790" r:id="rId48"/>
    <p:sldId id="791" r:id="rId49"/>
    <p:sldId id="792" r:id="rId50"/>
    <p:sldId id="793" r:id="rId51"/>
    <p:sldId id="794" r:id="rId52"/>
    <p:sldId id="795" r:id="rId53"/>
    <p:sldId id="745" r:id="rId54"/>
    <p:sldId id="829" r:id="rId55"/>
    <p:sldId id="830" r:id="rId56"/>
    <p:sldId id="831" r:id="rId57"/>
    <p:sldId id="832" r:id="rId58"/>
    <p:sldId id="833" r:id="rId59"/>
    <p:sldId id="834" r:id="rId60"/>
    <p:sldId id="835" r:id="rId61"/>
    <p:sldId id="836" r:id="rId62"/>
    <p:sldId id="746" r:id="rId63"/>
    <p:sldId id="804" r:id="rId64"/>
    <p:sldId id="805" r:id="rId65"/>
    <p:sldId id="806" r:id="rId66"/>
    <p:sldId id="807" r:id="rId67"/>
    <p:sldId id="808" r:id="rId68"/>
    <p:sldId id="837" r:id="rId69"/>
    <p:sldId id="747" r:id="rId70"/>
    <p:sldId id="809" r:id="rId71"/>
    <p:sldId id="810" r:id="rId72"/>
    <p:sldId id="811" r:id="rId73"/>
    <p:sldId id="812" r:id="rId74"/>
    <p:sldId id="813" r:id="rId75"/>
    <p:sldId id="814" r:id="rId76"/>
    <p:sldId id="815" r:id="rId77"/>
    <p:sldId id="816" r:id="rId78"/>
    <p:sldId id="748" r:id="rId79"/>
    <p:sldId id="817" r:id="rId80"/>
    <p:sldId id="818" r:id="rId81"/>
    <p:sldId id="819" r:id="rId82"/>
    <p:sldId id="820" r:id="rId83"/>
    <p:sldId id="821" r:id="rId84"/>
    <p:sldId id="822" r:id="rId85"/>
    <p:sldId id="823" r:id="rId86"/>
    <p:sldId id="824" r:id="rId87"/>
    <p:sldId id="825" r:id="rId8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533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operations</a:t>
            </a:r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When we can and can’t perform reductions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is working with remainders after dividing by the modulus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When we can and can’t perform reductions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Divisibility rule examples</a:t>
            </a:r>
          </a:p>
        </p:txBody>
      </p:sp>
    </p:spTree>
    <p:extLst>
      <p:ext uri="{BB962C8B-B14F-4D97-AF65-F5344CB8AC3E}">
        <p14:creationId xmlns:p14="http://schemas.microsoft.com/office/powerpoint/2010/main" val="422561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856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936" t="-4545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936" t="-258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936" t="-180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82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r: remainder (“residue”)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2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r: remainder (“residue”)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Infinite possibilities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936" t="-943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r: remainder (“residue”)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Infinite possibilities</a:t>
                </a:r>
              </a:p>
              <a:p>
                <a:pPr lvl="1">
                  <a:tabLst>
                    <a:tab pos="2633663" algn="l"/>
                  </a:tabLst>
                </a:pPr>
                <a:r>
                  <a:rPr lang="en-US" sz="2000" dirty="0"/>
                  <a:t>37 = 2·13 + 11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936" t="-815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r: remainder (“residue”)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Infinite possibilities</a:t>
                </a:r>
              </a:p>
              <a:p>
                <a:pPr lvl="1">
                  <a:tabLst>
                    <a:tab pos="2633663" algn="l"/>
                  </a:tabLst>
                </a:pPr>
                <a:r>
                  <a:rPr lang="en-US" sz="2000" dirty="0"/>
                  <a:t>37 = 2·13 + 11</a:t>
                </a:r>
              </a:p>
              <a:p>
                <a:pPr lvl="1">
                  <a:tabLst>
                    <a:tab pos="2633663" algn="l"/>
                  </a:tabLst>
                </a:pPr>
                <a:r>
                  <a:rPr lang="en-US" sz="2000" dirty="0"/>
                  <a:t>37 = 3·13 + -2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t="-716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concepts of modular arithmetic are the same ones we learned in grade school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n: dividend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d : divisor (“modulus”)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q: quotient (normally don’t care about it)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r: remainder (“residue”)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Infinite possibilities</a:t>
                </a:r>
              </a:p>
              <a:p>
                <a:pPr lvl="1">
                  <a:tabLst>
                    <a:tab pos="2633663" algn="l"/>
                  </a:tabLst>
                </a:pPr>
                <a:r>
                  <a:rPr lang="en-US" sz="2000" dirty="0"/>
                  <a:t>37 = 2·13 + 11</a:t>
                </a:r>
              </a:p>
              <a:p>
                <a:pPr lvl="1">
                  <a:tabLst>
                    <a:tab pos="2633663" algn="l"/>
                  </a:tabLst>
                </a:pPr>
                <a:r>
                  <a:rPr lang="en-US" sz="2000" dirty="0"/>
                  <a:t>37 = 3·13 + -2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2633663" algn="l"/>
                  </a:tabLst>
                </a:pPr>
                <a:r>
                  <a:rPr lang="en-US" sz="2000" dirty="0"/>
                  <a:t>By convention: choose q such that 0 ≤ r &lt; d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t="-640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385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297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-2, 11, 24 are congruent modulo 13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-2, 11, 24 are congruent modulo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11 and 24 are not equal, but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-2, 11, 24 are congruent modulo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11 and 24 are not equal, but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Each residue class has a “class representative”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-2, 11, 24 are congruent modulo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11 and 24 are not equal, but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Each residue class has a “class representative”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Could pick representatives randomly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Residue classes are sets of integers that are equivalent in a modular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Integers partitioned into residue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 of residue classes equal to modulus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Members of residue class congruent to each other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-2, 11, 24 are congruent modulo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11 and 24 are not equal, but are congruent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Each residue class has a “class representative”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Could pick representatives randomly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Least residue system: </a:t>
            </a:r>
            <a:r>
              <a:rPr lang="en-US" sz="2000" dirty="0"/>
              <a:t>0 ≤ r &lt; modulus</a:t>
            </a:r>
          </a:p>
        </p:txBody>
      </p:sp>
    </p:spTree>
    <p:extLst>
      <p:ext uri="{BB962C8B-B14F-4D97-AF65-F5344CB8AC3E}">
        <p14:creationId xmlns:p14="http://schemas.microsoft.com/office/powerpoint/2010/main" val="631887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633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lvl="1"/>
            <a:r>
              <a:rPr lang="en-US" sz="2000" b="1" dirty="0"/>
              <a:t>(a-b) = (k-j)N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lvl="1"/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  <a:p>
            <a:pPr lvl="1"/>
            <a:r>
              <a:rPr lang="en-US" sz="2000" b="1" dirty="0"/>
              <a:t>11 = 24 (mod 13) WRONG!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  <a:p>
            <a:pPr lvl="1"/>
            <a:r>
              <a:rPr lang="en-US" sz="2000" b="1" dirty="0"/>
              <a:t>11 = 24 (mod 13) WRONG!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an operator, but a predicate expression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  <a:p>
            <a:pPr lvl="1"/>
            <a:r>
              <a:rPr lang="en-US" sz="2000" b="1" dirty="0"/>
              <a:t>11 = 24 (mod 13) WRONG!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an operator, but a predicate expression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 operator “reduces” to class representative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  <a:p>
            <a:pPr lvl="1"/>
            <a:r>
              <a:rPr lang="en-US" sz="2000" b="1" dirty="0"/>
              <a:t>11 = 24 (mod 13) WRONG!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an operator, but a predicate expression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 operator “reduces” to class representative</a:t>
            </a:r>
          </a:p>
          <a:p>
            <a:pPr lvl="1"/>
            <a:r>
              <a:rPr lang="en-US" sz="2000" b="1" dirty="0"/>
              <a:t>r = a mod N  (sometimes written: r = a % N)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Two integers are congruent mod-N </a:t>
            </a:r>
            <a:br>
              <a:rPr lang="en-US" b="1" dirty="0"/>
            </a:br>
            <a:r>
              <a:rPr lang="en-US" b="1" dirty="0"/>
              <a:t>if their difference is divisible by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= </a:t>
            </a:r>
            <a:r>
              <a:rPr lang="en-US" sz="2000" b="1" dirty="0" err="1"/>
              <a:t>kN</a:t>
            </a:r>
            <a:r>
              <a:rPr lang="en-US" sz="2000" b="1" dirty="0"/>
              <a:t> + r, b = </a:t>
            </a:r>
            <a:r>
              <a:rPr lang="en-US" sz="2000" b="1" dirty="0" err="1"/>
              <a:t>jN</a:t>
            </a:r>
            <a:r>
              <a:rPr lang="en-US" sz="2000" b="1" dirty="0"/>
              <a:t> + 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(a-b) = (k-j)N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≡ b (mod N)</a:t>
            </a:r>
          </a:p>
          <a:p>
            <a:pPr lvl="1"/>
            <a:r>
              <a:rPr lang="en-US" sz="2000" b="1" dirty="0"/>
              <a:t>11 ≡ 24 (mod 13)  CORRECT</a:t>
            </a:r>
          </a:p>
          <a:p>
            <a:pPr lvl="1"/>
            <a:r>
              <a:rPr lang="en-US" sz="2000" b="1" dirty="0"/>
              <a:t>11 = 24 (mod 13) WRONG!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an operator, but a predicate expression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 operator “reduces” to class representative</a:t>
            </a:r>
          </a:p>
          <a:p>
            <a:pPr lvl="1"/>
            <a:r>
              <a:rPr lang="en-US" sz="2000" b="1" dirty="0"/>
              <a:t>r = a mod N  (sometimes written: r = a % 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Is NOT in a mod world</a:t>
            </a:r>
          </a:p>
        </p:txBody>
      </p:sp>
    </p:spTree>
    <p:extLst>
      <p:ext uri="{BB962C8B-B14F-4D97-AF65-F5344CB8AC3E}">
        <p14:creationId xmlns:p14="http://schemas.microsoft.com/office/powerpoint/2010/main" val="2225195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8789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Numbers of cryptographic interest are “huge”</a:t>
            </a:r>
          </a:p>
        </p:txBody>
      </p:sp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Numbers of cryptographic interest are “huge”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Addition/Subtraction</a:t>
            </a:r>
          </a:p>
        </p:txBody>
      </p:sp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936" t="-3012" b="-5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</a:rPr>
                            <m:t>+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936" t="-2304" b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</a:rPr>
                            <m:t>+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Multiplication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936" t="-1873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</a:rPr>
                            <m:t>+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Multiplication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572" b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72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</a:rPr>
                            <m:t>+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Multiplication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59" b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866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Just do normal math and reduce wherever convenient, but also always at the end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Numbers of cryptographic interest are “huge”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Addition/Subtraction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𝒄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𝑵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/>
                            </a:rPr>
                            <m:t>+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Multiplication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𝒄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)</m:t>
                      </m:r>
                      <m:r>
                        <a:rPr lang="en-US" sz="2000" b="1" i="1">
                          <a:latin typeface="Cambria Math"/>
                        </a:rPr>
                        <m:t>𝑵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 final reduction is still needed at end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866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1347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Assume division is defined in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92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Assume division is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92405"/>
              </a:xfrm>
              <a:prstGeom prst="rect">
                <a:avLst/>
              </a:prstGeom>
              <a:blipFill rotWithShape="1">
                <a:blip r:embed="rId3"/>
                <a:stretch>
                  <a:fillRect l="-936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07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Assume division is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Which 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07958"/>
              </a:xfrm>
              <a:prstGeom prst="rect">
                <a:avLst/>
              </a:prstGeom>
              <a:blipFill rotWithShape="1">
                <a:blip r:embed="rId3"/>
                <a:stretch>
                  <a:fillRect l="-936" t="-1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1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Assume division is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Which 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Contradiction → assumption wrong!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1573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77" b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Assume division is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Which 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Contradiction → assumption wrong!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Division is NOT defined in modular arithmetic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23511"/>
              </a:xfrm>
              <a:prstGeom prst="rect">
                <a:avLst/>
              </a:prstGeom>
              <a:blipFill rotWithShape="1">
                <a:blip r:embed="rId3"/>
                <a:stretch>
                  <a:fillRect l="-936" t="-1208" b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Division in a modular world breaks residue class congruency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3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Assume division is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Which requires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Contradiction → assumption wrong!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Division is NOT defined in modular arithmetic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Don’t get tempted to do it!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31288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78" b="-3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4889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47863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Due to Euler’s Totient Theorem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Due to Euler’s Totient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a mod-7 world, exponents live in mod-6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Due to Euler’s Totient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a mod-7 world, exponents live in mod-6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6</a:t>
            </a:r>
            <a:r>
              <a:rPr lang="en-US" sz="2000" b="1" dirty="0"/>
              <a:t> mod 7 = 3</a:t>
            </a:r>
            <a:r>
              <a:rPr lang="en-US" sz="2000" b="1" baseline="30000" dirty="0"/>
              <a:t>2</a:t>
            </a:r>
            <a:r>
              <a:rPr lang="en-US" sz="2000" b="1" dirty="0"/>
              <a:t> mod 7 = 9 mod 7 = 2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Due to Euler’s Totient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a mod-7 world, exponents live in mod-6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6</a:t>
            </a:r>
            <a:r>
              <a:rPr lang="en-US" sz="2000" b="1" dirty="0"/>
              <a:t> mod 7 = 3</a:t>
            </a:r>
            <a:r>
              <a:rPr lang="en-US" sz="2000" b="1" baseline="30000" dirty="0"/>
              <a:t>2</a:t>
            </a:r>
            <a:r>
              <a:rPr lang="en-US" sz="2000" b="1" dirty="0"/>
              <a:t> mod 7 = 9 mod 7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Euler’s Totient Theorem explored in another lesson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Exponentiation is defined, but the exponents live in a different mod world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Consider 3</a:t>
            </a:r>
            <a:r>
              <a:rPr lang="en-US" sz="2000" b="1" baseline="30000" dirty="0"/>
              <a:t>14</a:t>
            </a:r>
            <a:r>
              <a:rPr lang="en-US" sz="2000" b="1" dirty="0"/>
              <a:t> mod 7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</a:t>
            </a:r>
            <a:r>
              <a:rPr lang="en-US" sz="2000" b="1" dirty="0"/>
              <a:t> mod 7 = 4782969 mod 7 = 2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7</a:t>
            </a:r>
            <a:r>
              <a:rPr lang="en-US" sz="2000" b="1" dirty="0"/>
              <a:t> mod 7 = 3</a:t>
            </a:r>
            <a:r>
              <a:rPr lang="en-US" sz="2000" b="1" baseline="30000" dirty="0"/>
              <a:t>0</a:t>
            </a:r>
            <a:r>
              <a:rPr lang="en-US" sz="2000" b="1" dirty="0"/>
              <a:t> mod 7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Due to Euler’s Totient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 a mod-7 world, exponents live in mod-6</a:t>
            </a:r>
          </a:p>
          <a:p>
            <a:pPr lvl="1"/>
            <a:r>
              <a:rPr lang="en-US" sz="2000" b="1" dirty="0"/>
              <a:t>3</a:t>
            </a:r>
            <a:r>
              <a:rPr lang="en-US" sz="2000" b="1" baseline="30000" dirty="0"/>
              <a:t>14 mod 6</a:t>
            </a:r>
            <a:r>
              <a:rPr lang="en-US" sz="2000" b="1" dirty="0"/>
              <a:t> mod 7 = 3</a:t>
            </a:r>
            <a:r>
              <a:rPr lang="en-US" sz="2000" b="1" baseline="30000" dirty="0"/>
              <a:t>2</a:t>
            </a:r>
            <a:r>
              <a:rPr lang="en-US" sz="2000" b="1" dirty="0"/>
              <a:t> mod 7 = 9 mod 7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Euler’s Totient Theorem explored in another lesson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property is critical to modern e-commerce</a:t>
            </a:r>
          </a:p>
        </p:txBody>
      </p:sp>
    </p:spTree>
    <p:extLst>
      <p:ext uri="{BB962C8B-B14F-4D97-AF65-F5344CB8AC3E}">
        <p14:creationId xmlns:p14="http://schemas.microsoft.com/office/powerpoint/2010/main" val="7371975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39411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Recursively sum up digits until a one-digit result</a:t>
            </a:r>
          </a:p>
        </p:txBody>
      </p:sp>
    </p:spTree>
    <p:extLst>
      <p:ext uri="{BB962C8B-B14F-4D97-AF65-F5344CB8AC3E}">
        <p14:creationId xmlns:p14="http://schemas.microsoft.com/office/powerpoint/2010/main" val="16671339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Recursively sum up digits until a one-digit result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6! = 2·3·4·5·6 = 2</a:t>
            </a:r>
            <a:r>
              <a:rPr lang="en-US" sz="2000" b="1" baseline="30000" dirty="0"/>
              <a:t>4</a:t>
            </a:r>
            <a:r>
              <a:rPr lang="en-US" sz="2000" b="1" dirty="0"/>
              <a:t>·3</a:t>
            </a:r>
            <a:r>
              <a:rPr lang="en-US" sz="2000" b="1" baseline="30000" dirty="0"/>
              <a:t>2</a:t>
            </a:r>
            <a:r>
              <a:rPr lang="en-US" sz="2000" b="1" dirty="0"/>
              <a:t>·5  → 9 | n! (n &gt; 5)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67133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Recursively sum up digits until a one-digit result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6! = 2·3·4·5·6 = 2</a:t>
            </a:r>
            <a:r>
              <a:rPr lang="en-US" sz="2000" b="1" baseline="30000" dirty="0"/>
              <a:t>4</a:t>
            </a:r>
            <a:r>
              <a:rPr lang="en-US" sz="2000" b="1" dirty="0"/>
              <a:t>·3</a:t>
            </a:r>
            <a:r>
              <a:rPr lang="en-US" sz="2000" b="1" baseline="30000" dirty="0"/>
              <a:t>2</a:t>
            </a:r>
            <a:r>
              <a:rPr lang="en-US" sz="2000" b="1" dirty="0"/>
              <a:t>·5  → 9 | n! (n &gt; 5)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9 | x, then x mod 9 = 0</a:t>
            </a:r>
          </a:p>
        </p:txBody>
      </p:sp>
    </p:spTree>
    <p:extLst>
      <p:ext uri="{BB962C8B-B14F-4D97-AF65-F5344CB8AC3E}">
        <p14:creationId xmlns:p14="http://schemas.microsoft.com/office/powerpoint/2010/main" val="16671339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04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Recursively sum up digits until a one-digit result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6! = 2·3·4·5·6 = 2</a:t>
                </a:r>
                <a:r>
                  <a:rPr lang="en-US" sz="2000" b="1" baseline="30000" dirty="0"/>
                  <a:t>4</a:t>
                </a:r>
                <a:r>
                  <a:rPr lang="en-US" sz="2000" b="1" dirty="0"/>
                  <a:t>·3</a:t>
                </a:r>
                <a:r>
                  <a:rPr lang="en-US" sz="2000" b="1" baseline="30000" dirty="0"/>
                  <a:t>2</a:t>
                </a:r>
                <a:r>
                  <a:rPr lang="en-US" sz="2000" b="1" dirty="0"/>
                  <a:t>·5  → 9 | n! (n &gt; 5)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If 9 | x, then x mod 9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𝑵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𝟗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0421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1339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04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Recursively sum up digits until a one-digit result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6! = 2·3·4·5·6 = 2</a:t>
                </a:r>
                <a:r>
                  <a:rPr lang="en-US" sz="2000" b="1" baseline="30000" dirty="0"/>
                  <a:t>4</a:t>
                </a:r>
                <a:r>
                  <a:rPr lang="en-US" sz="2000" b="1" dirty="0"/>
                  <a:t>·3</a:t>
                </a:r>
                <a:r>
                  <a:rPr lang="en-US" sz="2000" b="1" baseline="30000" dirty="0"/>
                  <a:t>2</a:t>
                </a:r>
                <a:r>
                  <a:rPr lang="en-US" sz="2000" b="1" dirty="0"/>
                  <a:t>·5  → 9 | n! (n &gt; 5)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If 9 | x, then x mod 9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𝑵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𝟗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/>
                                </a:rPr>
                                <m:t>𝑵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𝒎𝒐𝒅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𝟗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0421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1339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 of digits in n! for n &gt; 5 sheds light on where divisibility rule for 9 comes from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11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Recursively sum up digits until a one-digit result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6! = 2·3·4·5·6 = 2</a:t>
                </a:r>
                <a:r>
                  <a:rPr lang="en-US" sz="2000" b="1" baseline="30000" dirty="0"/>
                  <a:t>4</a:t>
                </a:r>
                <a:r>
                  <a:rPr lang="en-US" sz="2000" b="1" dirty="0"/>
                  <a:t>·3</a:t>
                </a:r>
                <a:r>
                  <a:rPr lang="en-US" sz="2000" b="1" baseline="30000" dirty="0"/>
                  <a:t>2</a:t>
                </a:r>
                <a:r>
                  <a:rPr lang="en-US" sz="2000" b="1" dirty="0"/>
                  <a:t>·5  → 9 | n! (n &gt; 5)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If 9 | x, then x mod 9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𝑵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𝟗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2000" b="1" i="1">
                                  <a:latin typeface="Cambria Math"/>
                                </a:rPr>
                                <m:t>𝑵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𝒎𝒐𝒅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𝟗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Similar rule for divisibility by (B-1) in base B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1988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85" b="-3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5918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9590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Powerful general algorithm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Powerful general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Easily implemented in a program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Powerful general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Easily implemented in a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Space efficient: Largest sum &lt; </a:t>
            </a:r>
            <a:r>
              <a:rPr lang="en-US" sz="2000" b="1" dirty="0" err="1"/>
              <a:t>base·divisor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Powerful general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Easily implemented in a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Space efficient: Largest sum &lt; </a:t>
            </a:r>
            <a:r>
              <a:rPr lang="en-US" sz="2000" b="1" dirty="0" err="1"/>
              <a:t>base·divisor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Time efficient: O(log(v))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Modular arithmetic provides for a generic divisibility rule that is efficient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= 5432 =  ( ( (0 + 5)·10 + 4 )·10 + 3 )·10 + 2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 perform mod reductions as desired.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If divisor ≤ base, reduce digits and base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Powerful general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Easily implemented in a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Space efficient: Largest sum &lt; </a:t>
            </a:r>
            <a:r>
              <a:rPr lang="en-US" sz="2000" b="1" dirty="0" err="1"/>
              <a:t>base·divisor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Time efficient: O(log(v))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Base/divisor-specific algorithms can be faster</a:t>
            </a:r>
          </a:p>
        </p:txBody>
      </p:sp>
    </p:spTree>
    <p:extLst>
      <p:ext uri="{BB962C8B-B14F-4D97-AF65-F5344CB8AC3E}">
        <p14:creationId xmlns:p14="http://schemas.microsoft.com/office/powerpoint/2010/main" val="5824696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94375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Exponents live in a different modular world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Exponents live in a different modular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Generic divisibility algorithm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Exponents live in a different modular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Generic divisibility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Exponents live in a different modular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Generic divisibility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Multiplicative inverses and how to find them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Defining relationship for modular arithmetic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Residue/congruence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congruence vs. modular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Add, subtract, multiply good; divide 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Exponents live in a different modular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Generic divisibility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Multiplicative inverses and how to find them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Modular exponentiation</a:t>
            </a:r>
          </a:p>
        </p:txBody>
      </p:sp>
    </p:spTree>
    <p:extLst>
      <p:ext uri="{BB962C8B-B14F-4D97-AF65-F5344CB8AC3E}">
        <p14:creationId xmlns:p14="http://schemas.microsoft.com/office/powerpoint/2010/main" val="51258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47592</TotalTime>
  <Words>3918</Words>
  <Application>Microsoft Office PowerPoint</Application>
  <PresentationFormat>On-screen Show (16:9)</PresentationFormat>
  <Paragraphs>798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Calibri</vt:lpstr>
      <vt:lpstr>Cambria Math</vt:lpstr>
      <vt:lpstr>Office Theme</vt:lpstr>
      <vt:lpstr>Modular arithmetic is working with remainders after dividing by the modulus</vt:lpstr>
      <vt:lpstr>Modular arithmetic is working with remainders after dividing by the modulus</vt:lpstr>
      <vt:lpstr>Modular arithmetic is working with remainders after dividing by the modulus</vt:lpstr>
      <vt:lpstr>Modular arithmetic is working with remainders after dividing by the modulus</vt:lpstr>
      <vt:lpstr>Modular arithmetic is working with remainders after dividing by the modulus</vt:lpstr>
      <vt:lpstr>Modular arithmetic is working with remainders after dividing by the modulus</vt:lpstr>
      <vt:lpstr>Modular arithmetic is working with remainders after dividing by the modulus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Basic concepts of modular arithmetic are the same ones we learned in grade school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Residue classes are sets of integers that are equivalent in a modular world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Two integers are congruent mod-N  if their difference is divisible by N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Just do normal math and reduce wherever convenient, but also always at the end</vt:lpstr>
      <vt:lpstr>Division in a modular world breaks residue class congruency</vt:lpstr>
      <vt:lpstr>Division in a modular world breaks residue class congruency</vt:lpstr>
      <vt:lpstr>Division in a modular world breaks residue class congruency</vt:lpstr>
      <vt:lpstr>Division in a modular world breaks residue class congruency</vt:lpstr>
      <vt:lpstr>Division in a modular world breaks residue class congruency</vt:lpstr>
      <vt:lpstr>Division in a modular world breaks residue class congruency</vt:lpstr>
      <vt:lpstr>Division in a modular world breaks residue class congruency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Exponentiation is defined, but the exponents live in a different mod world</vt:lpstr>
      <vt:lpstr>Sum of digits in n! for n &gt; 5 sheds light on where divisibility rule for 9 comes from</vt:lpstr>
      <vt:lpstr>Sum of digits in n! for n &gt; 5 sheds light on where divisibility rule for 9 comes from</vt:lpstr>
      <vt:lpstr>Sum of digits in n! for n &gt; 5 sheds light on where divisibility rule for 9 comes from</vt:lpstr>
      <vt:lpstr>Sum of digits in n! for n &gt; 5 sheds light on where divisibility rule for 9 comes from</vt:lpstr>
      <vt:lpstr>Sum of digits in n! for n &gt; 5 sheds light on where divisibility rule for 9 comes from</vt:lpstr>
      <vt:lpstr>Sum of digits in n! for n &gt; 5 sheds light on where divisibility rule for 9 comes from</vt:lpstr>
      <vt:lpstr>Sum of digits in n! for n &gt; 5 sheds light on where divisibility rule for 9 comes from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Modular arithmetic provides for a generic divisibility rule that is efficient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222</cp:revision>
  <dcterms:created xsi:type="dcterms:W3CDTF">2017-04-06T17:43:22Z</dcterms:created>
  <dcterms:modified xsi:type="dcterms:W3CDTF">2017-09-15T23:50:19Z</dcterms:modified>
</cp:coreProperties>
</file>