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68"/>
  </p:notesMasterIdLst>
  <p:sldIdLst>
    <p:sldId id="470" r:id="rId2"/>
    <p:sldId id="517" r:id="rId3"/>
    <p:sldId id="518" r:id="rId4"/>
    <p:sldId id="519" r:id="rId5"/>
    <p:sldId id="520" r:id="rId6"/>
    <p:sldId id="521" r:id="rId7"/>
    <p:sldId id="522" r:id="rId8"/>
    <p:sldId id="523" r:id="rId9"/>
    <p:sldId id="524" r:id="rId10"/>
    <p:sldId id="525" r:id="rId11"/>
    <p:sldId id="506" r:id="rId12"/>
    <p:sldId id="526" r:id="rId13"/>
    <p:sldId id="527" r:id="rId14"/>
    <p:sldId id="528" r:id="rId15"/>
    <p:sldId id="529" r:id="rId16"/>
    <p:sldId id="530" r:id="rId17"/>
    <p:sldId id="531" r:id="rId18"/>
    <p:sldId id="532" r:id="rId19"/>
    <p:sldId id="533" r:id="rId20"/>
    <p:sldId id="534" r:id="rId21"/>
    <p:sldId id="535" r:id="rId22"/>
    <p:sldId id="536" r:id="rId23"/>
    <p:sldId id="507" r:id="rId24"/>
    <p:sldId id="537" r:id="rId25"/>
    <p:sldId id="538" r:id="rId26"/>
    <p:sldId id="539" r:id="rId27"/>
    <p:sldId id="540" r:id="rId28"/>
    <p:sldId id="541" r:id="rId29"/>
    <p:sldId id="542" r:id="rId30"/>
    <p:sldId id="543" r:id="rId31"/>
    <p:sldId id="544" r:id="rId32"/>
    <p:sldId id="545" r:id="rId33"/>
    <p:sldId id="546" r:id="rId34"/>
    <p:sldId id="547" r:id="rId35"/>
    <p:sldId id="508" r:id="rId36"/>
    <p:sldId id="548" r:id="rId37"/>
    <p:sldId id="549" r:id="rId38"/>
    <p:sldId id="550" r:id="rId39"/>
    <p:sldId id="551" r:id="rId40"/>
    <p:sldId id="552" r:id="rId41"/>
    <p:sldId id="553" r:id="rId42"/>
    <p:sldId id="554" r:id="rId43"/>
    <p:sldId id="555" r:id="rId44"/>
    <p:sldId id="556" r:id="rId45"/>
    <p:sldId id="509" r:id="rId46"/>
    <p:sldId id="557" r:id="rId47"/>
    <p:sldId id="558" r:id="rId48"/>
    <p:sldId id="559" r:id="rId49"/>
    <p:sldId id="560" r:id="rId50"/>
    <p:sldId id="561" r:id="rId51"/>
    <p:sldId id="562" r:id="rId52"/>
    <p:sldId id="563" r:id="rId53"/>
    <p:sldId id="564" r:id="rId54"/>
    <p:sldId id="565" r:id="rId55"/>
    <p:sldId id="566" r:id="rId56"/>
    <p:sldId id="510" r:id="rId57"/>
    <p:sldId id="567" r:id="rId58"/>
    <p:sldId id="568" r:id="rId59"/>
    <p:sldId id="569" r:id="rId60"/>
    <p:sldId id="570" r:id="rId61"/>
    <p:sldId id="571" r:id="rId62"/>
    <p:sldId id="572" r:id="rId63"/>
    <p:sldId id="573" r:id="rId64"/>
    <p:sldId id="574" r:id="rId65"/>
    <p:sldId id="575" r:id="rId66"/>
    <p:sldId id="576" r:id="rId6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7F0B71-AAAA-4792-BE6C-AA7513867772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3C4375-5D5B-4983-9E94-ADB1EF41B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316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912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045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852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922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014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614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7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906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215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822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946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880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Modern cryptography needs large prime numbers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3580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Modern cryptography needs large prime numbers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RSA uses 1024-, 2048-, and 4096-bit keys</a:t>
            </a:r>
          </a:p>
        </p:txBody>
      </p:sp>
    </p:spTree>
    <p:extLst>
      <p:ext uri="{BB962C8B-B14F-4D97-AF65-F5344CB8AC3E}">
        <p14:creationId xmlns:p14="http://schemas.microsoft.com/office/powerpoint/2010/main" val="4003481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Modern cryptography needs large prime numbers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RSA uses 1024-, 2048-, and 4096-bit keys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Roughly 300, 600, 1200 decimal digits</a:t>
            </a:r>
          </a:p>
        </p:txBody>
      </p:sp>
    </p:spTree>
    <p:extLst>
      <p:ext uri="{BB962C8B-B14F-4D97-AF65-F5344CB8AC3E}">
        <p14:creationId xmlns:p14="http://schemas.microsoft.com/office/powerpoint/2010/main" val="4003481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Modern cryptography needs large prime numbers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RSA uses 1024-, 2048-, and 4096-bit keys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Roughly 300, 600, 1200 decimal digits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Need 150, 300, and 600 digit primes</a:t>
            </a:r>
          </a:p>
        </p:txBody>
      </p:sp>
    </p:spTree>
    <p:extLst>
      <p:ext uri="{BB962C8B-B14F-4D97-AF65-F5344CB8AC3E}">
        <p14:creationId xmlns:p14="http://schemas.microsoft.com/office/powerpoint/2010/main" val="4003481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Modern cryptography needs large prime numbers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RSA uses 1024-, 2048-, and 4096-bit keys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Roughly 300, 600, 1200 decimal digits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Need 150, 300, and 600 digit primes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Alice and Bob must find N-bit primes</a:t>
            </a:r>
          </a:p>
        </p:txBody>
      </p:sp>
    </p:spTree>
    <p:extLst>
      <p:ext uri="{BB962C8B-B14F-4D97-AF65-F5344CB8AC3E}">
        <p14:creationId xmlns:p14="http://schemas.microsoft.com/office/powerpoint/2010/main" val="4003481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Modern cryptography needs large prime numbers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RSA uses 1024-, 2048-, and 4096-bit keys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Roughly 300, 600, 1200 decimal digits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Need 150, 300, and 600 digit primes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Alice and Bob must find N-bit primes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Eve and Mal must find N-bit prime factors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4003481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Modern cryptography needs large prime numbers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RSA uses 1024-, 2048-, and 4096-bit keys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Roughly 300, 600, 1200 decimal digits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Need 150, 300, and 600 digit primes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Alice and Bob must find N-bit primes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Eve and Mal must find N-bit prime factors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Eve and Mal must find specific prime numbers</a:t>
            </a:r>
          </a:p>
        </p:txBody>
      </p:sp>
    </p:spTree>
    <p:extLst>
      <p:ext uri="{BB962C8B-B14F-4D97-AF65-F5344CB8AC3E}">
        <p14:creationId xmlns:p14="http://schemas.microsoft.com/office/powerpoint/2010/main" val="4003481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Modern cryptography needs large prime numbers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RSA uses 1024-, 2048-, and 4096-bit keys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Roughly 300, 600, 1200 decimal digits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Need 150, 300, and 600 digit primes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Alice and Bob must find N-bit primes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Eve and Mal must find N-bit prime factors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Eve and Mal must find specific prime numbers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Alice and Bob can settle for any prime number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4003481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Modern cryptography needs large prime numbers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RSA uses 1024-, 2048-, and 4096-bit keys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Roughly 300, 600, 1200 decimal digits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Need 150, 300, and 600 digit primes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Alice and Bob must find N-bit primes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Eve and Mal must find N-bit prime factors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Eve and Mal must find specific prime numbers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Alice and Bob can settle for any prime number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Alice and Bob – Can guess a random number and check if prime</a:t>
            </a:r>
          </a:p>
        </p:txBody>
      </p:sp>
    </p:spTree>
    <p:extLst>
      <p:ext uri="{BB962C8B-B14F-4D97-AF65-F5344CB8AC3E}">
        <p14:creationId xmlns:p14="http://schemas.microsoft.com/office/powerpoint/2010/main" val="4003481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Modern cryptography needs large prime numbers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RSA uses 1024-, 2048-, and 4096-bit keys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Roughly 300, 600, 1200 decimal digits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Need 150, 300, and 600 digit primes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Alice and Bob must find N-bit primes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Eve and Mal must find N-bit prime factors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Eve and Mal must find specific prime numbers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Alice and Bob can settle for any prime number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Alice and Bob – Can guess a random number and check if prime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Eve and Mal – Must solve the Integer Factorization Problem</a:t>
            </a:r>
          </a:p>
        </p:txBody>
      </p:sp>
    </p:spTree>
    <p:extLst>
      <p:ext uri="{BB962C8B-B14F-4D97-AF65-F5344CB8AC3E}">
        <p14:creationId xmlns:p14="http://schemas.microsoft.com/office/powerpoint/2010/main" val="4003481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Real problems need primes much to large to tabulate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93068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Real problems need primes much to large to tabulate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Toy problem: Alice wants a 32-bit RSA key</a:t>
            </a:r>
          </a:p>
        </p:txBody>
      </p:sp>
    </p:spTree>
    <p:extLst>
      <p:ext uri="{BB962C8B-B14F-4D97-AF65-F5344CB8AC3E}">
        <p14:creationId xmlns:p14="http://schemas.microsoft.com/office/powerpoint/2010/main" val="37479933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Real problems need primes much to large to tabulate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Toy problem: Alice wants a 32-bit RSA key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Wants two primes about 16-bits each</a:t>
            </a:r>
          </a:p>
        </p:txBody>
      </p:sp>
    </p:spTree>
    <p:extLst>
      <p:ext uri="{BB962C8B-B14F-4D97-AF65-F5344CB8AC3E}">
        <p14:creationId xmlns:p14="http://schemas.microsoft.com/office/powerpoint/2010/main" val="3747993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Real problems need primes much to large to tabulate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Toy problem: Alice wants a 32-bit RSA key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Wants two primes about 16-bits each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Decides to use 16-bit and 18-bit primes</a:t>
            </a:r>
          </a:p>
        </p:txBody>
      </p:sp>
    </p:spTree>
    <p:extLst>
      <p:ext uri="{BB962C8B-B14F-4D97-AF65-F5344CB8AC3E}">
        <p14:creationId xmlns:p14="http://schemas.microsoft.com/office/powerpoint/2010/main" val="37479933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Real problems need primes much to large to tabulate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Toy problem: Alice wants a 32-bit RSA key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Wants two primes about 16-bits each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Decides to use 16-bit and 18-bit primes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Needs primes near 16,000 and 260,000</a:t>
            </a:r>
          </a:p>
        </p:txBody>
      </p:sp>
    </p:spTree>
    <p:extLst>
      <p:ext uri="{BB962C8B-B14F-4D97-AF65-F5344CB8AC3E}">
        <p14:creationId xmlns:p14="http://schemas.microsoft.com/office/powerpoint/2010/main" val="37479933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Real problems need primes much to large to tabulate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Toy problem: Alice wants a 32-bit RSA key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Wants two primes about 16-bits each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Decides to use 16-bit and 18-bit primes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Needs primes near 16,000 and 260,000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Uses 16,001 and 260,003</a:t>
            </a:r>
          </a:p>
        </p:txBody>
      </p:sp>
    </p:spTree>
    <p:extLst>
      <p:ext uri="{BB962C8B-B14F-4D97-AF65-F5344CB8AC3E}">
        <p14:creationId xmlns:p14="http://schemas.microsoft.com/office/powerpoint/2010/main" val="37479933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Real problems need primes much to large to tabulate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Toy problem: Alice wants a 32-bit RSA key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Wants two primes about 16-bits each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Decides to use 16-bit and 18-bit primes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Needs primes near 16,000 and 260,000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Uses 16,001 and 260,003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Public modulus 4,160,308,003</a:t>
            </a:r>
          </a:p>
        </p:txBody>
      </p:sp>
    </p:spTree>
    <p:extLst>
      <p:ext uri="{BB962C8B-B14F-4D97-AF65-F5344CB8AC3E}">
        <p14:creationId xmlns:p14="http://schemas.microsoft.com/office/powerpoint/2010/main" val="37479933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Real problems need primes much to large to tabulate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Toy problem: Alice wants a 32-bit RSA key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Wants two primes about 16-bits each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Decides to use 16-bit and 18-bit primes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Needs primes near 16,000 and 260,000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Uses 16,001 and 260,003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Public modulus 4,160,308,003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Found these primes by cheating (looked in a list of primes)</a:t>
            </a:r>
          </a:p>
        </p:txBody>
      </p:sp>
    </p:spTree>
    <p:extLst>
      <p:ext uri="{BB962C8B-B14F-4D97-AF65-F5344CB8AC3E}">
        <p14:creationId xmlns:p14="http://schemas.microsoft.com/office/powerpoint/2010/main" val="37479933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Real problems need primes much to large to tabulate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Toy problem: Alice wants a 32-bit RSA key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Wants two primes about 16-bits each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Decides to use 16-bit and 18-bit primes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Needs primes near 16,000 and 260,000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Uses 16,001 and 260,003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Public modulus 4,160,308,003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Found these primes by cheating (looked in a list of primes)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Real-sized problems much too large to cheat</a:t>
            </a:r>
          </a:p>
        </p:txBody>
      </p:sp>
    </p:spTree>
    <p:extLst>
      <p:ext uri="{BB962C8B-B14F-4D97-AF65-F5344CB8AC3E}">
        <p14:creationId xmlns:p14="http://schemas.microsoft.com/office/powerpoint/2010/main" val="37479933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Real problems need primes much to large to tabulate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Toy problem: Alice wants a 32-bit RSA key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Wants two primes about 16-bits each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Decides to use 16-bit and 18-bit primes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Needs primes near 16,000 and 260,000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Uses 16,001 and 260,003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Public modulus 4,160,308,003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Found these primes by cheating (looked in a list of primes)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Real-sized problems much too large to cheat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Estimated that all primes smaller than 18 digits found</a:t>
            </a:r>
          </a:p>
        </p:txBody>
      </p:sp>
    </p:spTree>
    <p:extLst>
      <p:ext uri="{BB962C8B-B14F-4D97-AF65-F5344CB8AC3E}">
        <p14:creationId xmlns:p14="http://schemas.microsoft.com/office/powerpoint/2010/main" val="37479933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Real problems need primes much to large to tabulate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Toy problem: Alice wants a 32-bit RSA key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Wants two primes about 16-bits each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Decides to use 16-bit and 18-bit primes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Needs primes near 16,000 and 260,000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Uses 16,001 and 260,003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Public modulus 4,160,308,003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Found these primes by cheating (looked in a list of primes)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Real-sized problems much too large to cheat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Estimated that all primes smaller than 18 digits found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Even this table would require ~2 </a:t>
            </a:r>
            <a:r>
              <a:rPr lang="en-US" sz="1600" b="1" dirty="0" err="1"/>
              <a:t>exabytes</a:t>
            </a:r>
            <a:r>
              <a:rPr lang="en-US" sz="1600" b="1" dirty="0"/>
              <a:t> of storage</a:t>
            </a:r>
          </a:p>
        </p:txBody>
      </p:sp>
    </p:spTree>
    <p:extLst>
      <p:ext uri="{BB962C8B-B14F-4D97-AF65-F5344CB8AC3E}">
        <p14:creationId xmlns:p14="http://schemas.microsoft.com/office/powerpoint/2010/main" val="37479933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Real problems need primes much to large to tabulate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Toy problem: Alice wants a 32-bit RSA key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Wants two primes about 16-bits each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Decides to use 16-bit and 18-bit primes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Needs primes near 16,000 and 260,000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Uses 16,001 and 260,003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Public modulus 4,160,308,003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Found these primes by cheating (looked in a list of primes)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Real-sized problems much too large to cheat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Estimated that all primes smaller than 18 digits found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Even this table would require ~2 </a:t>
            </a:r>
            <a:r>
              <a:rPr lang="en-US" sz="1600" b="1" dirty="0" err="1"/>
              <a:t>exabytes</a:t>
            </a:r>
            <a:r>
              <a:rPr lang="en-US" sz="1600" b="1" dirty="0"/>
              <a:t> of storage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Entire planet has ~1000 </a:t>
            </a:r>
            <a:r>
              <a:rPr lang="en-US" sz="1600" b="1" dirty="0" err="1"/>
              <a:t>exabytes</a:t>
            </a:r>
            <a:r>
              <a:rPr lang="en-US" sz="1600" b="1" dirty="0"/>
              <a:t> of storage</a:t>
            </a:r>
          </a:p>
        </p:txBody>
      </p:sp>
    </p:spTree>
    <p:extLst>
      <p:ext uri="{BB962C8B-B14F-4D97-AF65-F5344CB8AC3E}">
        <p14:creationId xmlns:p14="http://schemas.microsoft.com/office/powerpoint/2010/main" val="37479933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Alice and Eve have very different challenges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6940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Alice and Eve have very different challenges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Alice’s Problem – Primality Testing</a:t>
            </a:r>
          </a:p>
        </p:txBody>
      </p:sp>
    </p:spTree>
    <p:extLst>
      <p:ext uri="{BB962C8B-B14F-4D97-AF65-F5344CB8AC3E}">
        <p14:creationId xmlns:p14="http://schemas.microsoft.com/office/powerpoint/2010/main" val="24899180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Alice and Eve have very different challenges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Alice’s Problem – Primality Testing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Density of primes in vicinity of N is ≈1/ln(N)</a:t>
            </a:r>
          </a:p>
        </p:txBody>
      </p:sp>
    </p:spTree>
    <p:extLst>
      <p:ext uri="{BB962C8B-B14F-4D97-AF65-F5344CB8AC3E}">
        <p14:creationId xmlns:p14="http://schemas.microsoft.com/office/powerpoint/2010/main" val="24899180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Alice and Eve have very different challenges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Alice’s Problem – Primality Testing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Density of primes in vicinity of N is ≈1/ln(N)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near 16,000 is about 10%</a:t>
            </a:r>
          </a:p>
        </p:txBody>
      </p:sp>
    </p:spTree>
    <p:extLst>
      <p:ext uri="{BB962C8B-B14F-4D97-AF65-F5344CB8AC3E}">
        <p14:creationId xmlns:p14="http://schemas.microsoft.com/office/powerpoint/2010/main" val="24899180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Alice and Eve have very different challenges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Alice’s Problem – Primality Testing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Density of primes in vicinity of N is ≈1/ln(N)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near 16,000 is about 10%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near 260,000 is about 8%</a:t>
            </a:r>
          </a:p>
        </p:txBody>
      </p:sp>
    </p:spTree>
    <p:extLst>
      <p:ext uri="{BB962C8B-B14F-4D97-AF65-F5344CB8AC3E}">
        <p14:creationId xmlns:p14="http://schemas.microsoft.com/office/powerpoint/2010/main" val="24899180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Alice and Eve have very different challenges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Alice’s Problem – Primality Testing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Density of primes in vicinity of N is ≈1/ln(N)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near 16,000 is about 10%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near 260,000 is about 8%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near 150-digit number is about 1 in 350</a:t>
            </a:r>
          </a:p>
        </p:txBody>
      </p:sp>
    </p:spTree>
    <p:extLst>
      <p:ext uri="{BB962C8B-B14F-4D97-AF65-F5344CB8AC3E}">
        <p14:creationId xmlns:p14="http://schemas.microsoft.com/office/powerpoint/2010/main" val="24899180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Alice and Eve have very different challenges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Alice’s Problem – Primality Testing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Density of primes in vicinity of N is ≈1/ln(N)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near 16,000 is about 10%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near 260,000 is about 8%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near 150-digit number is about 1 in 350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near 600 digit number is about 1 in 1400</a:t>
            </a:r>
          </a:p>
        </p:txBody>
      </p:sp>
    </p:spTree>
    <p:extLst>
      <p:ext uri="{BB962C8B-B14F-4D97-AF65-F5344CB8AC3E}">
        <p14:creationId xmlns:p14="http://schemas.microsoft.com/office/powerpoint/2010/main" val="24899180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Alice and Eve have very different challenges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Alice’s Problem – Primality Testing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Density of primes in vicinity of N is ≈1/ln(N)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near 16,000 is about 10%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near 260,000 is about 8%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near 150-digit number is about 1 in 350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near 600 digit number is about 1 in 1400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Eve’s Problem – Integer Factorization</a:t>
            </a:r>
          </a:p>
        </p:txBody>
      </p:sp>
    </p:spTree>
    <p:extLst>
      <p:ext uri="{BB962C8B-B14F-4D97-AF65-F5344CB8AC3E}">
        <p14:creationId xmlns:p14="http://schemas.microsoft.com/office/powerpoint/2010/main" val="24899180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Alice and Eve have very different challenges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Alice’s Problem – Primality Testing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Density of primes in vicinity of N is ≈1/ln(N)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near 16,000 is about 10%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near 260,000 is about 8%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near 150-digit number is about 1 in 350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near 600 digit number is about 1 in 1400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Eve’s Problem – Integer Factorization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True Brute Force Trial Division</a:t>
            </a:r>
          </a:p>
        </p:txBody>
      </p:sp>
    </p:spTree>
    <p:extLst>
      <p:ext uri="{BB962C8B-B14F-4D97-AF65-F5344CB8AC3E}">
        <p14:creationId xmlns:p14="http://schemas.microsoft.com/office/powerpoint/2010/main" val="24899180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Alice and Eve have very different challenges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Alice’s Problem – Primality Testing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Density of primes in vicinity of N is ≈1/ln(N)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near 16,000 is about 10%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near 260,000 is about 8%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near 150-digit number is about 1 in 350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near 600 digit number is about 1 in 1400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Eve’s Problem – Integer Factorization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True Brute Force Trial Division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Try 2, 3, 4, 5, ..., N-1</a:t>
            </a:r>
          </a:p>
        </p:txBody>
      </p:sp>
    </p:spTree>
    <p:extLst>
      <p:ext uri="{BB962C8B-B14F-4D97-AF65-F5344CB8AC3E}">
        <p14:creationId xmlns:p14="http://schemas.microsoft.com/office/powerpoint/2010/main" val="24899180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Alice and Eve have very different challenges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Alice’s Problem – Primality Testing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Density of primes in vicinity of N is ≈1/ln(N)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near 16,000 is about 10%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near 260,000 is about 8%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near 150-digit number is about 1 in 350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near 600 digit number is about 1 in 1400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Eve’s Problem – Integer Factorization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True Brute Force Trial Division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Try 2, 3, 4, 5, ..., N-1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Guaranteed to work, but is O(N) = O(2</a:t>
            </a:r>
            <a:r>
              <a:rPr lang="en-US" sz="1600" b="1" baseline="30000" dirty="0"/>
              <a:t>bits</a:t>
            </a:r>
            <a:r>
              <a:rPr lang="en-US" sz="16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899180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Alice and Eve have very different challenges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Alice’s Problem – Primality Testing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Density of primes in vicinity of N is ≈1/ln(N)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near 16,000 is about 10%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near 260,000 is about 8%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near 150-digit number is about 1 in 350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near 600 digit number is about 1 in 1400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Eve’s Problem – Integer Factorization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True Brute Force Trial Division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Try 2, 3, 4, 5, ..., N-1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Guaranteed to work, but is O(N) = O(2</a:t>
            </a:r>
            <a:r>
              <a:rPr lang="en-US" sz="1600" b="1" baseline="30000" dirty="0"/>
              <a:t>bits</a:t>
            </a:r>
            <a:r>
              <a:rPr lang="en-US" sz="1600" b="1" dirty="0"/>
              <a:t>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Not practical, but useful as a benchmark</a:t>
            </a:r>
          </a:p>
        </p:txBody>
      </p:sp>
    </p:spTree>
    <p:extLst>
      <p:ext uri="{BB962C8B-B14F-4D97-AF65-F5344CB8AC3E}">
        <p14:creationId xmlns:p14="http://schemas.microsoft.com/office/powerpoint/2010/main" val="24899180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Trial division can be improved significantly, </a:t>
            </a:r>
            <a:br>
              <a:rPr lang="en-US" sz="3200" b="1" dirty="0"/>
            </a:br>
            <a:r>
              <a:rPr lang="en-US" sz="3200" b="1" dirty="0"/>
              <a:t>but not enough to matter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728299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Trial division can be improved significantly, </a:t>
            </a:r>
            <a:br>
              <a:rPr lang="en-US" sz="3200" b="1" dirty="0"/>
            </a:br>
            <a:r>
              <a:rPr lang="en-US" sz="3200" b="1" dirty="0"/>
              <a:t>but not enough to matter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Any factors of N must be no larger than N/2, but still O(N)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7397561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Trial division can be improved significantly, </a:t>
            </a:r>
            <a:br>
              <a:rPr lang="en-US" sz="3200" b="1" dirty="0"/>
            </a:br>
            <a:r>
              <a:rPr lang="en-US" sz="3200" b="1" dirty="0"/>
              <a:t>but not enough to matter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Any factors of N must be no larger than N/2, but still O(N)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Only need to go to largest value that smallest factor, p,  can be</a:t>
            </a:r>
          </a:p>
        </p:txBody>
      </p:sp>
    </p:spTree>
    <p:extLst>
      <p:ext uri="{BB962C8B-B14F-4D97-AF65-F5344CB8AC3E}">
        <p14:creationId xmlns:p14="http://schemas.microsoft.com/office/powerpoint/2010/main" val="37397561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Trial division can be improved significantly, </a:t>
            </a:r>
            <a:br>
              <a:rPr lang="en-US" sz="3200" b="1" dirty="0"/>
            </a:br>
            <a:r>
              <a:rPr lang="en-US" sz="3200" b="1" dirty="0"/>
              <a:t>but not enough to matter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Any factors of N must be no larger than N/2, but still O(N)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Only need to go to largest value that smallest factor, p,  can be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 is prime</a:t>
            </a:r>
          </a:p>
        </p:txBody>
      </p:sp>
    </p:spTree>
    <p:extLst>
      <p:ext uri="{BB962C8B-B14F-4D97-AF65-F5344CB8AC3E}">
        <p14:creationId xmlns:p14="http://schemas.microsoft.com/office/powerpoint/2010/main" val="37397561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Trial division can be improved significantly, </a:t>
            </a:r>
            <a:br>
              <a:rPr lang="en-US" sz="3200" b="1" dirty="0"/>
            </a:br>
            <a:r>
              <a:rPr lang="en-US" sz="3200" b="1" dirty="0"/>
              <a:t>but not enough to matter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Any factors of N must be no larger than N/2, but still O(N)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Only need to go to largest value that smallest factor, p,  can be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 is prime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 = </a:t>
            </a:r>
            <a:r>
              <a:rPr lang="en-US" sz="1600" b="1" dirty="0" err="1"/>
              <a:t>p·q</a:t>
            </a:r>
            <a:r>
              <a:rPr lang="en-US" sz="1600" b="1" dirty="0"/>
              <a:t> ≥ p</a:t>
            </a:r>
            <a:r>
              <a:rPr lang="en-US" sz="1600" b="1" baseline="30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397561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Trial division can be improved significantly, </a:t>
            </a:r>
            <a:br>
              <a:rPr lang="en-US" sz="3200" b="1" dirty="0"/>
            </a:br>
            <a:r>
              <a:rPr lang="en-US" sz="3200" b="1" dirty="0"/>
              <a:t>but not enough to matter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Any factors of N must be no larger than N/2, but still O(N)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Only need to go to largest value that smallest factor, p,  can be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 is prime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 = </a:t>
            </a:r>
            <a:r>
              <a:rPr lang="en-US" sz="1600" b="1" dirty="0" err="1"/>
              <a:t>p·q</a:t>
            </a:r>
            <a:r>
              <a:rPr lang="en-US" sz="1600" b="1" dirty="0"/>
              <a:t> ≥ p</a:t>
            </a:r>
            <a:r>
              <a:rPr lang="en-US" sz="1600" b="1" baseline="30000" dirty="0"/>
              <a:t>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 ≤ √N, so O(√N)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7397561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Trial division can be improved significantly, </a:t>
            </a:r>
            <a:br>
              <a:rPr lang="en-US" sz="3200" b="1" dirty="0"/>
            </a:br>
            <a:r>
              <a:rPr lang="en-US" sz="3200" b="1" dirty="0"/>
              <a:t>but not enough to matter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Any factors of N must be no larger than N/2, but still O(N)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Only need to go to largest value that smallest factor, p,  can be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 is prime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 = </a:t>
            </a:r>
            <a:r>
              <a:rPr lang="en-US" sz="1600" b="1" dirty="0" err="1"/>
              <a:t>p·q</a:t>
            </a:r>
            <a:r>
              <a:rPr lang="en-US" sz="1600" b="1" dirty="0"/>
              <a:t> ≥ p</a:t>
            </a:r>
            <a:r>
              <a:rPr lang="en-US" sz="1600" b="1" baseline="30000" dirty="0"/>
              <a:t>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 ≤ √N, so O(√N)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Toy problem (factor 32-bit number) - 65,000 times faster</a:t>
            </a:r>
          </a:p>
        </p:txBody>
      </p:sp>
    </p:spTree>
    <p:extLst>
      <p:ext uri="{BB962C8B-B14F-4D97-AF65-F5344CB8AC3E}">
        <p14:creationId xmlns:p14="http://schemas.microsoft.com/office/powerpoint/2010/main" val="37397561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Trial division can be improved significantly, </a:t>
            </a:r>
            <a:br>
              <a:rPr lang="en-US" sz="3200" b="1" dirty="0"/>
            </a:br>
            <a:r>
              <a:rPr lang="en-US" sz="3200" b="1" dirty="0"/>
              <a:t>but not enough to matter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Any factors of N must be no larger than N/2, but still O(N)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Only need to go to largest value that smallest factor, p,  can be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 is prime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 = </a:t>
            </a:r>
            <a:r>
              <a:rPr lang="en-US" sz="1600" b="1" dirty="0" err="1"/>
              <a:t>p·q</a:t>
            </a:r>
            <a:r>
              <a:rPr lang="en-US" sz="1600" b="1" dirty="0"/>
              <a:t> ≥ p</a:t>
            </a:r>
            <a:r>
              <a:rPr lang="en-US" sz="1600" b="1" baseline="30000" dirty="0"/>
              <a:t>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 ≤ √N, so O(√N)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Toy problem (factor 32-bit number) - 65,000 times faster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Only check divisibility by primes less than √N </a:t>
            </a:r>
          </a:p>
        </p:txBody>
      </p:sp>
    </p:spTree>
    <p:extLst>
      <p:ext uri="{BB962C8B-B14F-4D97-AF65-F5344CB8AC3E}">
        <p14:creationId xmlns:p14="http://schemas.microsoft.com/office/powerpoint/2010/main" val="37397561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Trial division can be improved significantly, </a:t>
            </a:r>
            <a:br>
              <a:rPr lang="en-US" sz="3200" b="1" dirty="0"/>
            </a:br>
            <a:r>
              <a:rPr lang="en-US" sz="3200" b="1" dirty="0"/>
              <a:t>but not enough to matter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Any factors of N must be no larger than N/2, but still O(N)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Only need to go to largest value that smallest factor, p,  can be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 is prime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 = </a:t>
            </a:r>
            <a:r>
              <a:rPr lang="en-US" sz="1600" b="1" dirty="0" err="1"/>
              <a:t>p·q</a:t>
            </a:r>
            <a:r>
              <a:rPr lang="en-US" sz="1600" b="1" dirty="0"/>
              <a:t> ≥ p</a:t>
            </a:r>
            <a:r>
              <a:rPr lang="en-US" sz="1600" b="1" baseline="30000" dirty="0"/>
              <a:t>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 ≤ √N, so O(√N)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Toy problem (factor 32-bit number) - 65,000 times faster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Only check divisibility by primes less than √N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Prime counting function: </a:t>
            </a:r>
            <a:r>
              <a:rPr lang="el-GR" sz="1600" b="1" dirty="0"/>
              <a:t>π</a:t>
            </a:r>
            <a:r>
              <a:rPr lang="en-US" sz="1600" b="1" dirty="0"/>
              <a:t>(n) ≈n/ln(n)</a:t>
            </a:r>
          </a:p>
        </p:txBody>
      </p:sp>
    </p:spTree>
    <p:extLst>
      <p:ext uri="{BB962C8B-B14F-4D97-AF65-F5344CB8AC3E}">
        <p14:creationId xmlns:p14="http://schemas.microsoft.com/office/powerpoint/2010/main" val="37397561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Trial division can be improved significantly, </a:t>
            </a:r>
            <a:br>
              <a:rPr lang="en-US" sz="3200" b="1" dirty="0"/>
            </a:br>
            <a:r>
              <a:rPr lang="en-US" sz="3200" b="1" dirty="0"/>
              <a:t>but not enough to matter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Any factors of N must be no larger than N/2, but still O(N)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Only need to go to largest value that smallest factor, p,  can be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 is prime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 = </a:t>
            </a:r>
            <a:r>
              <a:rPr lang="en-US" sz="1600" b="1" dirty="0" err="1"/>
              <a:t>p·q</a:t>
            </a:r>
            <a:r>
              <a:rPr lang="en-US" sz="1600" b="1" dirty="0"/>
              <a:t> ≥ p</a:t>
            </a:r>
            <a:r>
              <a:rPr lang="en-US" sz="1600" b="1" baseline="30000" dirty="0"/>
              <a:t>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 ≤ √N, so O(√N)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Toy problem (factor 32-bit number) - 65,000 times faster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Only check divisibility by primes less than √N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Prime counting function: </a:t>
            </a:r>
            <a:r>
              <a:rPr lang="el-GR" sz="1600" b="1" dirty="0"/>
              <a:t>π</a:t>
            </a:r>
            <a:r>
              <a:rPr lang="en-US" sz="1600" b="1" dirty="0"/>
              <a:t>(n) ≈n/ln(n)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10</a:t>
            </a:r>
            <a:r>
              <a:rPr lang="en-US" sz="1600" b="1" baseline="30000" dirty="0"/>
              <a:t>9</a:t>
            </a:r>
            <a:r>
              <a:rPr lang="en-US" sz="1600" b="1" dirty="0"/>
              <a:t> divisions/second → 7 years to factor 38 digit number</a:t>
            </a:r>
          </a:p>
        </p:txBody>
      </p:sp>
    </p:spTree>
    <p:extLst>
      <p:ext uri="{BB962C8B-B14F-4D97-AF65-F5344CB8AC3E}">
        <p14:creationId xmlns:p14="http://schemas.microsoft.com/office/powerpoint/2010/main" val="37397561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Current "fast" factoring algorithms </a:t>
            </a:r>
            <a:br>
              <a:rPr lang="en-US" sz="3200" b="1" dirty="0"/>
            </a:br>
            <a:r>
              <a:rPr lang="en-US" sz="3200" b="1" dirty="0"/>
              <a:t>are not nearly fast enough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717065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Current "fast" factoring algorithms </a:t>
            </a:r>
            <a:br>
              <a:rPr lang="en-US" sz="3200" b="1" dirty="0"/>
            </a:br>
            <a:r>
              <a:rPr lang="en-US" sz="3200" b="1" dirty="0"/>
              <a:t>are not nearly fast enough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Fastest methods are not polynomial time</a:t>
            </a:r>
          </a:p>
        </p:txBody>
      </p:sp>
    </p:spTree>
    <p:extLst>
      <p:ext uri="{BB962C8B-B14F-4D97-AF65-F5344CB8AC3E}">
        <p14:creationId xmlns:p14="http://schemas.microsoft.com/office/powerpoint/2010/main" val="2825798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Current "fast" factoring algorithms </a:t>
            </a:r>
            <a:br>
              <a:rPr lang="en-US" sz="3200" b="1" dirty="0"/>
            </a:br>
            <a:r>
              <a:rPr lang="en-US" sz="3200" b="1" dirty="0"/>
              <a:t>are not nearly fast enough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Fastest methods are not polynomial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Generally use some form of sieve approach</a:t>
            </a:r>
          </a:p>
        </p:txBody>
      </p:sp>
    </p:spTree>
    <p:extLst>
      <p:ext uri="{BB962C8B-B14F-4D97-AF65-F5344CB8AC3E}">
        <p14:creationId xmlns:p14="http://schemas.microsoft.com/office/powerpoint/2010/main" val="2825798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Current "fast" factoring algorithms </a:t>
            </a:r>
            <a:br>
              <a:rPr lang="en-US" sz="3200" b="1" dirty="0"/>
            </a:br>
            <a:r>
              <a:rPr lang="en-US" sz="3200" b="1" dirty="0"/>
              <a:t>are not nearly fast enough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Fastest methods are not polynomial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Generally use some form of sieve approach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Sieve of Eratosthenes illustrates basic approach</a:t>
            </a:r>
          </a:p>
        </p:txBody>
      </p:sp>
    </p:spTree>
    <p:extLst>
      <p:ext uri="{BB962C8B-B14F-4D97-AF65-F5344CB8AC3E}">
        <p14:creationId xmlns:p14="http://schemas.microsoft.com/office/powerpoint/2010/main" val="2825798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Current "fast" factoring algorithms </a:t>
            </a:r>
            <a:br>
              <a:rPr lang="en-US" sz="3200" b="1" dirty="0"/>
            </a:br>
            <a:r>
              <a:rPr lang="en-US" sz="3200" b="1" dirty="0"/>
              <a:t>are not nearly fast enough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Fastest methods are not polynomial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Generally use some form of sieve approach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Sieve of Eratosthenes illustrates basic approach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General Number Field Sieve </a:t>
            </a:r>
            <a:r>
              <a:rPr lang="en-US" sz="1600" b="1" dirty="0" err="1"/>
              <a:t>currenyly</a:t>
            </a:r>
            <a:r>
              <a:rPr lang="en-US" sz="1600" b="1" dirty="0"/>
              <a:t> fastest for large 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8257982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Current "fast" factoring algorithms </a:t>
            </a:r>
            <a:br>
              <a:rPr lang="en-US" sz="3200" b="1" dirty="0"/>
            </a:br>
            <a:r>
              <a:rPr lang="en-US" sz="3200" b="1" dirty="0"/>
              <a:t>are not nearly fast enough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Fastest methods are not polynomial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Generally use some form of sieve approach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Sieve of Eratosthenes illustrates basic approach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General Number Field Sieve </a:t>
            </a:r>
            <a:r>
              <a:rPr lang="en-US" sz="1600" b="1" dirty="0" err="1"/>
              <a:t>currenyly</a:t>
            </a:r>
            <a:r>
              <a:rPr lang="en-US" sz="1600" b="1" dirty="0"/>
              <a:t> fastest for large 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RSA Challenge</a:t>
            </a:r>
          </a:p>
        </p:txBody>
      </p:sp>
    </p:spTree>
    <p:extLst>
      <p:ext uri="{BB962C8B-B14F-4D97-AF65-F5344CB8AC3E}">
        <p14:creationId xmlns:p14="http://schemas.microsoft.com/office/powerpoint/2010/main" val="2825798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Current "fast" factoring algorithms </a:t>
            </a:r>
            <a:br>
              <a:rPr lang="en-US" sz="3200" b="1" dirty="0"/>
            </a:br>
            <a:r>
              <a:rPr lang="en-US" sz="3200" b="1" dirty="0"/>
              <a:t>are not nearly fast enough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Fastest methods are not polynomial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Generally use some form of sieve approach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Sieve of Eratosthenes illustrates basic approach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General Number Field Sieve </a:t>
            </a:r>
            <a:r>
              <a:rPr lang="en-US" sz="1600" b="1" dirty="0" err="1"/>
              <a:t>currenyly</a:t>
            </a:r>
            <a:r>
              <a:rPr lang="en-US" sz="1600" b="1" dirty="0"/>
              <a:t> fastest for large 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RSA Challenge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As of 2017, largest factored </a:t>
            </a:r>
            <a:r>
              <a:rPr lang="en-US" sz="1600" b="1" dirty="0" err="1"/>
              <a:t>semiprime</a:t>
            </a:r>
            <a:r>
              <a:rPr lang="en-US" sz="1600" b="1" dirty="0"/>
              <a:t> is 768 bits</a:t>
            </a:r>
          </a:p>
        </p:txBody>
      </p:sp>
    </p:spTree>
    <p:extLst>
      <p:ext uri="{BB962C8B-B14F-4D97-AF65-F5344CB8AC3E}">
        <p14:creationId xmlns:p14="http://schemas.microsoft.com/office/powerpoint/2010/main" val="28257982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Current "fast" factoring algorithms </a:t>
            </a:r>
            <a:br>
              <a:rPr lang="en-US" sz="3200" b="1" dirty="0"/>
            </a:br>
            <a:r>
              <a:rPr lang="en-US" sz="3200" b="1" dirty="0"/>
              <a:t>are not nearly fast enough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Fastest methods are not polynomial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Generally use some form of sieve approach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Sieve of Eratosthenes illustrates basic approach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General Number Field Sieve </a:t>
            </a:r>
            <a:r>
              <a:rPr lang="en-US" sz="1600" b="1" dirty="0" err="1"/>
              <a:t>currenyly</a:t>
            </a:r>
            <a:r>
              <a:rPr lang="en-US" sz="1600" b="1" dirty="0"/>
              <a:t> fastest for large 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RSA Challenge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As of 2017, largest factored </a:t>
            </a:r>
            <a:r>
              <a:rPr lang="en-US" sz="1600" b="1" dirty="0" err="1"/>
              <a:t>semiprime</a:t>
            </a:r>
            <a:r>
              <a:rPr lang="en-US" sz="1600" b="1" dirty="0"/>
              <a:t> is 768 bits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Took about two years and hundreds of processors</a:t>
            </a:r>
          </a:p>
        </p:txBody>
      </p:sp>
    </p:spTree>
    <p:extLst>
      <p:ext uri="{BB962C8B-B14F-4D97-AF65-F5344CB8AC3E}">
        <p14:creationId xmlns:p14="http://schemas.microsoft.com/office/powerpoint/2010/main" val="2825798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Current "fast" factoring algorithms </a:t>
            </a:r>
            <a:br>
              <a:rPr lang="en-US" sz="3200" b="1" dirty="0"/>
            </a:br>
            <a:r>
              <a:rPr lang="en-US" sz="3200" b="1" dirty="0"/>
              <a:t>are not nearly fast enough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Fastest methods are not polynomial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Generally use some form of sieve approach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Sieve of Eratosthenes illustrates basic approach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General Number Field Sieve </a:t>
            </a:r>
            <a:r>
              <a:rPr lang="en-US" sz="1600" b="1" dirty="0" err="1"/>
              <a:t>currenyly</a:t>
            </a:r>
            <a:r>
              <a:rPr lang="en-US" sz="1600" b="1" dirty="0"/>
              <a:t> fastest for large 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RSA Challenge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As of 2017, largest factored </a:t>
            </a:r>
            <a:r>
              <a:rPr lang="en-US" sz="1600" b="1" dirty="0" err="1"/>
              <a:t>semiprime</a:t>
            </a:r>
            <a:r>
              <a:rPr lang="en-US" sz="1600" b="1" dirty="0"/>
              <a:t> is 768 bits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Took about two years and hundreds of processors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Original 512-bit RSA keys</a:t>
            </a:r>
          </a:p>
        </p:txBody>
      </p:sp>
    </p:spTree>
    <p:extLst>
      <p:ext uri="{BB962C8B-B14F-4D97-AF65-F5344CB8AC3E}">
        <p14:creationId xmlns:p14="http://schemas.microsoft.com/office/powerpoint/2010/main" val="2825798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Current "fast" factoring algorithms </a:t>
            </a:r>
            <a:br>
              <a:rPr lang="en-US" sz="3200" b="1" dirty="0"/>
            </a:br>
            <a:r>
              <a:rPr lang="en-US" sz="3200" b="1" dirty="0"/>
              <a:t>are not nearly fast enough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Fastest methods are not polynomial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Generally use some form of sieve approach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Sieve of Eratosthenes illustrates basic approach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General Number Field Sieve </a:t>
            </a:r>
            <a:r>
              <a:rPr lang="en-US" sz="1600" b="1" dirty="0" err="1"/>
              <a:t>currenyly</a:t>
            </a:r>
            <a:r>
              <a:rPr lang="en-US" sz="1600" b="1" dirty="0"/>
              <a:t> fastest for large 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RSA Challenge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As of 2017, largest factored </a:t>
            </a:r>
            <a:r>
              <a:rPr lang="en-US" sz="1600" b="1" dirty="0" err="1"/>
              <a:t>semiprime</a:t>
            </a:r>
            <a:r>
              <a:rPr lang="en-US" sz="1600" b="1" dirty="0"/>
              <a:t> is 768 bits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Took about two years and hundreds of processors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Original 512-bit RSA keys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1999: RSA-155, Cray supercomputer, 8000 MIPS years</a:t>
            </a:r>
          </a:p>
        </p:txBody>
      </p:sp>
    </p:spTree>
    <p:extLst>
      <p:ext uri="{BB962C8B-B14F-4D97-AF65-F5344CB8AC3E}">
        <p14:creationId xmlns:p14="http://schemas.microsoft.com/office/powerpoint/2010/main" val="2825798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Current "fast" factoring algorithms </a:t>
            </a:r>
            <a:br>
              <a:rPr lang="en-US" sz="3200" b="1" dirty="0"/>
            </a:br>
            <a:r>
              <a:rPr lang="en-US" sz="3200" b="1" dirty="0"/>
              <a:t>are not nearly fast enough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Fastest methods are not polynomial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Generally use some form of sieve approach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Sieve of Eratosthenes illustrates basic approach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General Number Field Sieve </a:t>
            </a:r>
            <a:r>
              <a:rPr lang="en-US" sz="1600" b="1" dirty="0" err="1"/>
              <a:t>currenyly</a:t>
            </a:r>
            <a:r>
              <a:rPr lang="en-US" sz="1600" b="1" dirty="0"/>
              <a:t> fastest for large 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RSA Challenge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As of 2017, largest factored </a:t>
            </a:r>
            <a:r>
              <a:rPr lang="en-US" sz="1600" b="1" dirty="0" err="1"/>
              <a:t>semiprime</a:t>
            </a:r>
            <a:r>
              <a:rPr lang="en-US" sz="1600" b="1" dirty="0"/>
              <a:t> is 768 bits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Took about two years and hundreds of processors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Original 512-bit RSA keys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1999: RSA-155, Cray supercomputer, 8000 MIPS years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2009: TI-83+ Signing Key: 1.9 GHz PC, 73 days</a:t>
            </a:r>
          </a:p>
        </p:txBody>
      </p:sp>
    </p:spTree>
    <p:extLst>
      <p:ext uri="{BB962C8B-B14F-4D97-AF65-F5344CB8AC3E}">
        <p14:creationId xmlns:p14="http://schemas.microsoft.com/office/powerpoint/2010/main" val="2825798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Current key lengths are likely secure, unless… 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3166760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Current key lengths are likely secure, unless… 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Current 1024-bit key MAY be </a:t>
            </a:r>
            <a:r>
              <a:rPr lang="en-US" sz="1600" b="1" dirty="0" err="1"/>
              <a:t>factorably</a:t>
            </a:r>
            <a:r>
              <a:rPr lang="en-US" sz="1600" b="1" dirty="0"/>
              <a:t> now by state actors</a:t>
            </a:r>
          </a:p>
        </p:txBody>
      </p:sp>
    </p:spTree>
    <p:extLst>
      <p:ext uri="{BB962C8B-B14F-4D97-AF65-F5344CB8AC3E}">
        <p14:creationId xmlns:p14="http://schemas.microsoft.com/office/powerpoint/2010/main" val="299208693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Current key lengths are likely secure, unless… 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Current 1024-bit key MAY be </a:t>
            </a:r>
            <a:r>
              <a:rPr lang="en-US" sz="1600" b="1" dirty="0" err="1"/>
              <a:t>factorably</a:t>
            </a:r>
            <a:r>
              <a:rPr lang="en-US" sz="1600" b="1" dirty="0"/>
              <a:t> now by state actors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Almost certainly possible in near future</a:t>
            </a:r>
          </a:p>
        </p:txBody>
      </p:sp>
    </p:spTree>
    <p:extLst>
      <p:ext uri="{BB962C8B-B14F-4D97-AF65-F5344CB8AC3E}">
        <p14:creationId xmlns:p14="http://schemas.microsoft.com/office/powerpoint/2010/main" val="299208693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Current key lengths are likely secure, unless… 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Current 1024-bit key MAY be </a:t>
            </a:r>
            <a:r>
              <a:rPr lang="en-US" sz="1600" b="1" dirty="0" err="1"/>
              <a:t>factorably</a:t>
            </a:r>
            <a:r>
              <a:rPr lang="en-US" sz="1600" b="1" dirty="0"/>
              <a:t> now by state actors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Almost certainly possible in near future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Recommendation is to go to 2048-bit keys</a:t>
            </a:r>
          </a:p>
        </p:txBody>
      </p:sp>
    </p:spTree>
    <p:extLst>
      <p:ext uri="{BB962C8B-B14F-4D97-AF65-F5344CB8AC3E}">
        <p14:creationId xmlns:p14="http://schemas.microsoft.com/office/powerpoint/2010/main" val="299208693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Current key lengths are likely secure, unless… 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Current 1024-bit key MAY be </a:t>
            </a:r>
            <a:r>
              <a:rPr lang="en-US" sz="1600" b="1" dirty="0" err="1"/>
              <a:t>factorably</a:t>
            </a:r>
            <a:r>
              <a:rPr lang="en-US" sz="1600" b="1" dirty="0"/>
              <a:t> now by state actors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Almost certainly possible in near future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Recommendation is to go to 2048-bit keys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Barring solution to integer factorization or quantum computer</a:t>
            </a:r>
          </a:p>
        </p:txBody>
      </p:sp>
    </p:spTree>
    <p:extLst>
      <p:ext uri="{BB962C8B-B14F-4D97-AF65-F5344CB8AC3E}">
        <p14:creationId xmlns:p14="http://schemas.microsoft.com/office/powerpoint/2010/main" val="299208693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Current key lengths are likely secure, unless… 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Current 1024-bit key MAY be </a:t>
            </a:r>
            <a:r>
              <a:rPr lang="en-US" sz="1600" b="1" dirty="0" err="1"/>
              <a:t>factorably</a:t>
            </a:r>
            <a:r>
              <a:rPr lang="en-US" sz="1600" b="1" dirty="0"/>
              <a:t> now by state actors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Almost certainly possible in near future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Recommendation is to go to 2048-bit keys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Barring solution to integer factorization or quantum computer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4096-bit keys secure indefinitely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99208693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Current key lengths are likely secure, unless… 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Current 1024-bit key MAY be </a:t>
            </a:r>
            <a:r>
              <a:rPr lang="en-US" sz="1600" b="1" dirty="0" err="1"/>
              <a:t>factorably</a:t>
            </a:r>
            <a:r>
              <a:rPr lang="en-US" sz="1600" b="1" dirty="0"/>
              <a:t> now by state actors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Almost certainly possible in near future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Recommendation is to go to 2048-bit keys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Barring solution to integer factorization or quantum computer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4096-bit keys secure indefinitely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Eve and Mal aren’t just going to go away</a:t>
            </a:r>
          </a:p>
        </p:txBody>
      </p:sp>
    </p:spTree>
    <p:extLst>
      <p:ext uri="{BB962C8B-B14F-4D97-AF65-F5344CB8AC3E}">
        <p14:creationId xmlns:p14="http://schemas.microsoft.com/office/powerpoint/2010/main" val="299208693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Current key lengths are likely secure, unless… 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Current 1024-bit key MAY be </a:t>
            </a:r>
            <a:r>
              <a:rPr lang="en-US" sz="1600" b="1" dirty="0" err="1"/>
              <a:t>factorably</a:t>
            </a:r>
            <a:r>
              <a:rPr lang="en-US" sz="1600" b="1" dirty="0"/>
              <a:t> now by state actors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Almost certainly possible in near future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Recommendation is to go to 2048-bit keys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Barring solution to integer factorization or quantum computer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4096-bit keys secure indefinitely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Eve and Mal aren’t just going to go away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RSA and others: Attack the Discrete Log Problem</a:t>
            </a:r>
          </a:p>
        </p:txBody>
      </p:sp>
    </p:spTree>
    <p:extLst>
      <p:ext uri="{BB962C8B-B14F-4D97-AF65-F5344CB8AC3E}">
        <p14:creationId xmlns:p14="http://schemas.microsoft.com/office/powerpoint/2010/main" val="299208693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Current key lengths are likely secure, unless… 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Current 1024-bit key MAY be </a:t>
            </a:r>
            <a:r>
              <a:rPr lang="en-US" sz="1600" b="1" dirty="0" err="1"/>
              <a:t>factorably</a:t>
            </a:r>
            <a:r>
              <a:rPr lang="en-US" sz="1600" b="1" dirty="0"/>
              <a:t> now by state actors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Almost certainly possible in near future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Recommendation is to go to 2048-bit keys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Barring solution to integer factorization or quantum computer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4096-bit keys secure indefinitely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Eve and Mal aren’t just going to go away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RSA and others: Attack the Discrete Log Problem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Exploitable weaknesses in algorithm/protocol design</a:t>
            </a:r>
          </a:p>
        </p:txBody>
      </p:sp>
    </p:spTree>
    <p:extLst>
      <p:ext uri="{BB962C8B-B14F-4D97-AF65-F5344CB8AC3E}">
        <p14:creationId xmlns:p14="http://schemas.microsoft.com/office/powerpoint/2010/main" val="299208693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Current key lengths are likely secure, unless… 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Current 1024-bit key MAY be </a:t>
            </a:r>
            <a:r>
              <a:rPr lang="en-US" sz="1600" b="1" dirty="0" err="1"/>
              <a:t>factorably</a:t>
            </a:r>
            <a:r>
              <a:rPr lang="en-US" sz="1600" b="1" dirty="0"/>
              <a:t> now by state actors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Almost certainly possible in near future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Recommendation is to go to 2048-bit keys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Barring solution to integer factorization or quantum computer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4096-bit keys secure indefinitely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Eve and Mal aren’t just going to go away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RSA and others: Attack the Discrete Log Problem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Exploitable weaknesses in algorithm/protocol design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Side channel attacks against the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99208693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Current key lengths are likely secure, unless… 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Current 1024-bit key MAY be </a:t>
            </a:r>
            <a:r>
              <a:rPr lang="en-US" sz="1600" b="1" dirty="0" err="1"/>
              <a:t>factorably</a:t>
            </a:r>
            <a:r>
              <a:rPr lang="en-US" sz="1600" b="1" dirty="0"/>
              <a:t> now by state actors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Almost certainly possible in near future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Recommendation is to go to 2048-bit keys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Barring solution to integer factorization or quantum computer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4096-bit keys secure indefinitely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Eve and Mal aren’t just going to go away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RSA and others: Attack the Discrete Log Problem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Exploitable weaknesses in algorithm/protocol design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Side channel attacks against the implementation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Social engineering attacks against the users</a:t>
            </a:r>
          </a:p>
        </p:txBody>
      </p:sp>
    </p:spTree>
    <p:extLst>
      <p:ext uri="{BB962C8B-B14F-4D97-AF65-F5344CB8AC3E}">
        <p14:creationId xmlns:p14="http://schemas.microsoft.com/office/powerpoint/2010/main" val="2992086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35667</TotalTime>
  <Words>3438</Words>
  <Application>Microsoft Office PowerPoint</Application>
  <PresentationFormat>On-screen Show (16:9)</PresentationFormat>
  <Paragraphs>691</Paragraphs>
  <Slides>66</Slides>
  <Notes>66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69" baseType="lpstr">
      <vt:lpstr>Arial</vt:lpstr>
      <vt:lpstr>Calibri</vt:lpstr>
      <vt:lpstr>Office Theme</vt:lpstr>
      <vt:lpstr>Modern cryptography needs large prime numbers</vt:lpstr>
      <vt:lpstr>Modern cryptography needs large prime numbers</vt:lpstr>
      <vt:lpstr>Modern cryptography needs large prime numbers</vt:lpstr>
      <vt:lpstr>Modern cryptography needs large prime numbers</vt:lpstr>
      <vt:lpstr>Modern cryptography needs large prime numbers</vt:lpstr>
      <vt:lpstr>Modern cryptography needs large prime numbers</vt:lpstr>
      <vt:lpstr>Modern cryptography needs large prime numbers</vt:lpstr>
      <vt:lpstr>Modern cryptography needs large prime numbers</vt:lpstr>
      <vt:lpstr>Modern cryptography needs large prime numbers</vt:lpstr>
      <vt:lpstr>Modern cryptography needs large prime numbers</vt:lpstr>
      <vt:lpstr>Real problems need primes much to large to tabulate</vt:lpstr>
      <vt:lpstr>Real problems need primes much to large to tabulate</vt:lpstr>
      <vt:lpstr>Real problems need primes much to large to tabulate</vt:lpstr>
      <vt:lpstr>Real problems need primes much to large to tabulate</vt:lpstr>
      <vt:lpstr>Real problems need primes much to large to tabulate</vt:lpstr>
      <vt:lpstr>Real problems need primes much to large to tabulate</vt:lpstr>
      <vt:lpstr>Real problems need primes much to large to tabulate</vt:lpstr>
      <vt:lpstr>Real problems need primes much to large to tabulate</vt:lpstr>
      <vt:lpstr>Real problems need primes much to large to tabulate</vt:lpstr>
      <vt:lpstr>Real problems need primes much to large to tabulate</vt:lpstr>
      <vt:lpstr>Real problems need primes much to large to tabulate</vt:lpstr>
      <vt:lpstr>Real problems need primes much to large to tabulate</vt:lpstr>
      <vt:lpstr>Alice and Eve have very different challenges</vt:lpstr>
      <vt:lpstr>Alice and Eve have very different challenges</vt:lpstr>
      <vt:lpstr>Alice and Eve have very different challenges</vt:lpstr>
      <vt:lpstr>Alice and Eve have very different challenges</vt:lpstr>
      <vt:lpstr>Alice and Eve have very different challenges</vt:lpstr>
      <vt:lpstr>Alice and Eve have very different challenges</vt:lpstr>
      <vt:lpstr>Alice and Eve have very different challenges</vt:lpstr>
      <vt:lpstr>Alice and Eve have very different challenges</vt:lpstr>
      <vt:lpstr>Alice and Eve have very different challenges</vt:lpstr>
      <vt:lpstr>Alice and Eve have very different challenges</vt:lpstr>
      <vt:lpstr>Alice and Eve have very different challenges</vt:lpstr>
      <vt:lpstr>Alice and Eve have very different challenges</vt:lpstr>
      <vt:lpstr>Trial division can be improved significantly,  but not enough to matter</vt:lpstr>
      <vt:lpstr>Trial division can be improved significantly,  but not enough to matter</vt:lpstr>
      <vt:lpstr>Trial division can be improved significantly,  but not enough to matter</vt:lpstr>
      <vt:lpstr>Trial division can be improved significantly,  but not enough to matter</vt:lpstr>
      <vt:lpstr>Trial division can be improved significantly,  but not enough to matter</vt:lpstr>
      <vt:lpstr>Trial division can be improved significantly,  but not enough to matter</vt:lpstr>
      <vt:lpstr>Trial division can be improved significantly,  but not enough to matter</vt:lpstr>
      <vt:lpstr>Trial division can be improved significantly,  but not enough to matter</vt:lpstr>
      <vt:lpstr>Trial division can be improved significantly,  but not enough to matter</vt:lpstr>
      <vt:lpstr>Trial division can be improved significantly,  but not enough to matter</vt:lpstr>
      <vt:lpstr>Current "fast" factoring algorithms  are not nearly fast enough</vt:lpstr>
      <vt:lpstr>Current "fast" factoring algorithms  are not nearly fast enough</vt:lpstr>
      <vt:lpstr>Current "fast" factoring algorithms  are not nearly fast enough</vt:lpstr>
      <vt:lpstr>Current "fast" factoring algorithms  are not nearly fast enough</vt:lpstr>
      <vt:lpstr>Current "fast" factoring algorithms  are not nearly fast enough</vt:lpstr>
      <vt:lpstr>Current "fast" factoring algorithms  are not nearly fast enough</vt:lpstr>
      <vt:lpstr>Current "fast" factoring algorithms  are not nearly fast enough</vt:lpstr>
      <vt:lpstr>Current "fast" factoring algorithms  are not nearly fast enough</vt:lpstr>
      <vt:lpstr>Current "fast" factoring algorithms  are not nearly fast enough</vt:lpstr>
      <vt:lpstr>Current "fast" factoring algorithms  are not nearly fast enough</vt:lpstr>
      <vt:lpstr>Current "fast" factoring algorithms  are not nearly fast enough</vt:lpstr>
      <vt:lpstr>Current key lengths are likely secure, unless… </vt:lpstr>
      <vt:lpstr>Current key lengths are likely secure, unless… </vt:lpstr>
      <vt:lpstr>Current key lengths are likely secure, unless… </vt:lpstr>
      <vt:lpstr>Current key lengths are likely secure, unless… </vt:lpstr>
      <vt:lpstr>Current key lengths are likely secure, unless… </vt:lpstr>
      <vt:lpstr>Current key lengths are likely secure, unless… </vt:lpstr>
      <vt:lpstr>Current key lengths are likely secure, unless… </vt:lpstr>
      <vt:lpstr>Current key lengths are likely secure, unless… </vt:lpstr>
      <vt:lpstr>Current key lengths are likely secure, unless… </vt:lpstr>
      <vt:lpstr>Current key lengths are likely secure, unless… </vt:lpstr>
      <vt:lpstr>Current key lengths are likely secure, unless… 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Chinese Remainder Theorem</dc:title>
  <dc:creator>WBahn</dc:creator>
  <cp:lastModifiedBy>Oluwatobi Akanbi</cp:lastModifiedBy>
  <cp:revision>116</cp:revision>
  <dcterms:created xsi:type="dcterms:W3CDTF">2017-04-06T17:43:22Z</dcterms:created>
  <dcterms:modified xsi:type="dcterms:W3CDTF">2017-09-16T00:05:15Z</dcterms:modified>
</cp:coreProperties>
</file>