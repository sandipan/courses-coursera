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4"/>
  </p:notesMasterIdLst>
  <p:sldIdLst>
    <p:sldId id="518" r:id="rId2"/>
    <p:sldId id="564" r:id="rId3"/>
    <p:sldId id="565" r:id="rId4"/>
    <p:sldId id="566" r:id="rId5"/>
    <p:sldId id="567" r:id="rId6"/>
    <p:sldId id="568" r:id="rId7"/>
    <p:sldId id="569" r:id="rId8"/>
    <p:sldId id="549" r:id="rId9"/>
    <p:sldId id="570" r:id="rId10"/>
    <p:sldId id="571" r:id="rId11"/>
    <p:sldId id="572" r:id="rId12"/>
    <p:sldId id="550" r:id="rId13"/>
    <p:sldId id="573" r:id="rId14"/>
    <p:sldId id="574" r:id="rId15"/>
    <p:sldId id="575" r:id="rId16"/>
    <p:sldId id="576" r:id="rId17"/>
    <p:sldId id="577" r:id="rId18"/>
    <p:sldId id="578" r:id="rId19"/>
    <p:sldId id="579" r:id="rId20"/>
    <p:sldId id="551" r:id="rId21"/>
    <p:sldId id="580" r:id="rId22"/>
    <p:sldId id="581" r:id="rId23"/>
    <p:sldId id="582" r:id="rId24"/>
    <p:sldId id="583" r:id="rId25"/>
    <p:sldId id="552" r:id="rId26"/>
    <p:sldId id="584" r:id="rId27"/>
    <p:sldId id="585" r:id="rId28"/>
    <p:sldId id="586" r:id="rId29"/>
    <p:sldId id="587" r:id="rId30"/>
    <p:sldId id="588" r:id="rId31"/>
    <p:sldId id="589" r:id="rId32"/>
    <p:sldId id="553" r:id="rId33"/>
    <p:sldId id="590" r:id="rId34"/>
    <p:sldId id="591" r:id="rId35"/>
    <p:sldId id="592" r:id="rId36"/>
    <p:sldId id="593" r:id="rId37"/>
    <p:sldId id="594" r:id="rId38"/>
    <p:sldId id="595" r:id="rId39"/>
    <p:sldId id="554" r:id="rId40"/>
    <p:sldId id="596" r:id="rId41"/>
    <p:sldId id="597" r:id="rId42"/>
    <p:sldId id="598" r:id="rId43"/>
    <p:sldId id="599" r:id="rId44"/>
    <p:sldId id="600" r:id="rId45"/>
    <p:sldId id="555" r:id="rId46"/>
    <p:sldId id="601" r:id="rId47"/>
    <p:sldId id="602" r:id="rId48"/>
    <p:sldId id="603" r:id="rId49"/>
    <p:sldId id="604" r:id="rId50"/>
    <p:sldId id="605" r:id="rId51"/>
    <p:sldId id="606" r:id="rId52"/>
    <p:sldId id="607" r:id="rId5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1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925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N=60</a:t>
            </a:r>
          </a:p>
        </p:txBody>
      </p:sp>
    </p:spTree>
    <p:extLst>
      <p:ext uri="{BB962C8B-B14F-4D97-AF65-F5344CB8AC3E}">
        <p14:creationId xmlns:p14="http://schemas.microsoft.com/office/powerpoint/2010/main" val="321466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N=60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CRT moduli = (3, 4, 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1466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N=60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CRT moduli = (3, 4, 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𝒗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𝟒𝟎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𝟒𝟓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𝟑𝟔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936" t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69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N=60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CRT moduli = (3, 4, 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𝒗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𝟒𝟎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𝟒𝟓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𝟑𝟔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b="1" dirty="0"/>
                  <a:t>x = 23; y = 46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6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N=60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CRT moduli = (3, 4, 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𝒗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𝟒𝟎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𝟒𝟓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𝟑𝟔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b="1" dirty="0"/>
                  <a:t>x = 23; y = 46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b="1" dirty="0"/>
                  <a:t>x ≡ (2,3,3) (mod (3,4,5))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6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Chinese Remainder Theorem:</a:t>
            </a:r>
            <a:br>
              <a:rPr lang="en-US" sz="3200" b="1" dirty="0"/>
            </a:br>
            <a:r>
              <a:rPr lang="en-US" sz="3200" b="1" dirty="0"/>
              <a:t>What we can and can’t do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N=60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CRT moduli = (3, 4, 5)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𝒗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𝟒𝟎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𝟑</m:t>
                          </m:r>
                        </m:sub>
                      </m:sSub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𝟒𝟓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𝟒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𝟑𝟔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b="1" dirty="0"/>
                  <a:t>x = 23; y = 46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20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b="1" dirty="0"/>
                  <a:t>x ≡ (2,3,3) (mod (3,4,5))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000" b="1" dirty="0"/>
                  <a:t>y ≡ (1,2,1) (mod (3,4,5))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66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6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Only two numbers, 0 and 1, have the same representation in all CRT worlds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0395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Only two numbers, 0 and 1, have the same representation in all CRT worlds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0 </a:t>
            </a:r>
            <a:r>
              <a:rPr lang="pt-BR" sz="2000" b="1" dirty="0"/>
              <a:t>≡</a:t>
            </a:r>
            <a:r>
              <a:rPr lang="en-US" sz="2000" b="1" dirty="0"/>
              <a:t> (0,0,…,0) (mod anything)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8253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Only two numbers, 0 and 1, have the same representation in all CRT worlds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0 </a:t>
            </a:r>
            <a:r>
              <a:rPr lang="pt-BR" sz="2000" b="1" dirty="0"/>
              <a:t>≡</a:t>
            </a:r>
            <a:r>
              <a:rPr lang="en-US" sz="2000" b="1" dirty="0"/>
              <a:t> (0,0,…,0) (mod anything)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 </a:t>
            </a:r>
            <a:r>
              <a:rPr lang="pt-BR" sz="2000" b="1" dirty="0"/>
              <a:t>≡</a:t>
            </a:r>
            <a:r>
              <a:rPr lang="en-US" sz="2000" b="1" dirty="0"/>
              <a:t> (1,1,…,1) (mod anything)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8253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Only two numbers, 0 and 1, have the same representation in all CRT worlds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0 </a:t>
            </a:r>
            <a:r>
              <a:rPr lang="pt-BR" sz="2000" b="1" dirty="0"/>
              <a:t>≡</a:t>
            </a:r>
            <a:r>
              <a:rPr lang="en-US" sz="2000" b="1" dirty="0"/>
              <a:t> (0,0,…,0) (mod anything)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1 </a:t>
            </a:r>
            <a:r>
              <a:rPr lang="pt-BR" sz="2000" b="1" dirty="0"/>
              <a:t>≡</a:t>
            </a:r>
            <a:r>
              <a:rPr lang="en-US" sz="2000" b="1" dirty="0"/>
              <a:t> (1,1,…,1) (mod anything)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Any other value depends on moduli chosen</a:t>
            </a:r>
          </a:p>
        </p:txBody>
      </p:sp>
    </p:spTree>
    <p:extLst>
      <p:ext uri="{BB962C8B-B14F-4D97-AF65-F5344CB8AC3E}">
        <p14:creationId xmlns:p14="http://schemas.microsoft.com/office/powerpoint/2010/main" val="3182532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0615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(x + y) mod 3</a:t>
            </a:r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(x + y)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(x mod 3) + (y mod 3) ) mod 3</a:t>
            </a:r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(x + y)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(x mod 3) + (y mod 3)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  <a:r>
              <a:rPr lang="en-US" sz="2000" b="1" dirty="0"/>
              <a:t> ) mod 3</a:t>
            </a:r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(x + y)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(x mod 3) + (y mod 3)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  <a:r>
              <a:rPr lang="en-US" sz="2000" b="1" dirty="0"/>
              <a:t>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 </a:t>
            </a:r>
            <a:r>
              <a:rPr lang="en-US" sz="2000" b="1" dirty="0"/>
              <a:t>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(x + y)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(x mod 3) + (y mod 3)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  <a:r>
              <a:rPr lang="en-US" sz="2000" b="1" dirty="0"/>
              <a:t>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 </a:t>
            </a:r>
            <a:r>
              <a:rPr lang="en-US" sz="2000" b="1" dirty="0"/>
              <a:t>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23 + 46 </a:t>
            </a:r>
            <a:r>
              <a:rPr lang="pt-BR" sz="2000" b="1" dirty="0"/>
              <a:t>≡</a:t>
            </a:r>
            <a:r>
              <a:rPr lang="en-US" sz="2000" b="1" dirty="0"/>
              <a:t> 69 </a:t>
            </a:r>
            <a:r>
              <a:rPr lang="pt-BR" sz="2000" b="1" dirty="0"/>
              <a:t>≡</a:t>
            </a:r>
            <a:r>
              <a:rPr lang="en-US" sz="2000" b="1" dirty="0"/>
              <a:t> 9 </a:t>
            </a:r>
            <a:r>
              <a:rPr lang="pt-BR" sz="2000" b="1" dirty="0"/>
              <a:t>≡</a:t>
            </a:r>
            <a:r>
              <a:rPr lang="en-US" sz="2000" b="1" dirty="0"/>
              <a:t> (0,1,4)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Addition:</a:t>
            </a:r>
            <a:br>
              <a:rPr lang="en-US" sz="3200" b="1" dirty="0"/>
            </a:br>
            <a:r>
              <a:rPr lang="en-US" sz="3200" b="1" dirty="0"/>
              <a:t>Add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 = x + 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(x + y)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(x mod 3) + (y mod 3)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= (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  <a:r>
              <a:rPr lang="en-US" sz="2000" b="1" dirty="0"/>
              <a:t> ) mod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 </a:t>
            </a:r>
            <a:r>
              <a:rPr lang="en-US" sz="2000" b="1" dirty="0"/>
              <a:t> x</a:t>
            </a:r>
            <a:r>
              <a:rPr lang="en-US" sz="2000" b="1" baseline="-25000" dirty="0"/>
              <a:t>3</a:t>
            </a:r>
            <a:r>
              <a:rPr lang="en-US" sz="2000" b="1" dirty="0"/>
              <a:t> + y</a:t>
            </a:r>
            <a:r>
              <a:rPr lang="en-US" sz="2000" b="1" baseline="-25000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23 + 46 </a:t>
            </a:r>
            <a:r>
              <a:rPr lang="pt-BR" sz="2000" b="1" dirty="0"/>
              <a:t>≡</a:t>
            </a:r>
            <a:r>
              <a:rPr lang="en-US" sz="2000" b="1" dirty="0"/>
              <a:t> 69 </a:t>
            </a:r>
            <a:r>
              <a:rPr lang="pt-BR" sz="2000" b="1" dirty="0"/>
              <a:t>≡</a:t>
            </a:r>
            <a:r>
              <a:rPr lang="en-US" sz="2000" b="1" dirty="0"/>
              <a:t> 9 </a:t>
            </a:r>
            <a:r>
              <a:rPr lang="pt-BR" sz="2000" b="1" dirty="0"/>
              <a:t>≡</a:t>
            </a:r>
            <a:r>
              <a:rPr lang="en-US" sz="2000" b="1" dirty="0"/>
              <a:t> (0,1,4)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(2,3,3) + (1,2,1) </a:t>
            </a:r>
            <a:r>
              <a:rPr lang="pt-BR" sz="2000" b="1" dirty="0"/>
              <a:t>≡</a:t>
            </a:r>
            <a:r>
              <a:rPr lang="en-US" sz="2000" b="1" dirty="0"/>
              <a:t> (3,5,4) </a:t>
            </a:r>
            <a:r>
              <a:rPr lang="pt-BR" sz="2000" b="1" dirty="0"/>
              <a:t>≡</a:t>
            </a:r>
            <a:r>
              <a:rPr lang="en-US" sz="2000" b="1" dirty="0"/>
              <a:t> (0,1,4)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83629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Multiplying by an integer is trivial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702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Multiplying by an integer is trivial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k(40·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 + 45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 + 36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11997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Multiplying by an integer is trivial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k(40·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 + 45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 + 36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(40·(k·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 + 45</a:t>
            </a:r>
            <a:r>
              <a:rPr lang="pt-BR" sz="2000" b="1" dirty="0"/>
              <a:t>·(k·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) + 36</a:t>
            </a:r>
            <a:r>
              <a:rPr lang="pt-BR" sz="2000" b="1" dirty="0"/>
              <a:t>·(k·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11997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Multiplying by an integer is trivial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k(40·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 + 45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 + 36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(40·(k·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 + 45</a:t>
            </a:r>
            <a:r>
              <a:rPr lang="pt-BR" sz="2000" b="1" dirty="0"/>
              <a:t>·(k·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) + 36</a:t>
            </a:r>
            <a:r>
              <a:rPr lang="pt-BR" sz="2000" b="1" dirty="0"/>
              <a:t>·(k·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(k·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, </a:t>
            </a:r>
            <a:r>
              <a:rPr lang="pt-BR" sz="2000" b="1" dirty="0"/>
              <a:t>k·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, </a:t>
            </a:r>
            <a:r>
              <a:rPr lang="pt-BR" sz="2000" b="1" dirty="0"/>
              <a:t>k·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11997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Multiplying by an integer is trivial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k(40·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 + 45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 + 36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(40·(k·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 + 45</a:t>
            </a:r>
            <a:r>
              <a:rPr lang="pt-BR" sz="2000" b="1" dirty="0"/>
              <a:t>·(k·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) + 36</a:t>
            </a:r>
            <a:r>
              <a:rPr lang="pt-BR" sz="2000" b="1" dirty="0"/>
              <a:t>·(k·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k·x</a:t>
            </a:r>
            <a:r>
              <a:rPr lang="en-US" sz="2000" b="1" dirty="0"/>
              <a:t> </a:t>
            </a:r>
            <a:r>
              <a:rPr lang="pt-BR" sz="2000" b="1" dirty="0"/>
              <a:t>≡ (k·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, </a:t>
            </a:r>
            <a:r>
              <a:rPr lang="pt-BR" sz="2000" b="1" dirty="0"/>
              <a:t>k·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, </a:t>
            </a:r>
            <a:r>
              <a:rPr lang="pt-BR" sz="2000" b="1" dirty="0"/>
              <a:t>k·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2·(2,3,3) </a:t>
            </a:r>
            <a:r>
              <a:rPr lang="pt-BR" sz="2000" b="1" dirty="0"/>
              <a:t>≡ (4,6,6) ≡ (1,2,1) (mod 60)</a:t>
            </a:r>
          </a:p>
        </p:txBody>
      </p:sp>
    </p:spTree>
    <p:extLst>
      <p:ext uri="{BB962C8B-B14F-4D97-AF65-F5344CB8AC3E}">
        <p14:creationId xmlns:p14="http://schemas.microsoft.com/office/powerpoint/2010/main" val="4211997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120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z ≡ 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</a:t>
            </a:r>
            <a:r>
              <a:rPr lang="pt-BR" sz="2000" b="1" dirty="0"/>
              <a:t>(40·y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·y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·y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93097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z ≡ 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</a:t>
            </a:r>
            <a:r>
              <a:rPr lang="pt-BR" sz="2000" b="1" dirty="0"/>
              <a:t>(40·y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·y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·y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</a:t>
            </a:r>
            <a:r>
              <a:rPr lang="pt-BR" sz="2000" b="1" dirty="0"/>
              <a:t>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)·(</a:t>
            </a:r>
            <a:r>
              <a:rPr lang="pt-BR" sz="2000" b="1" dirty="0"/>
              <a:t>40·y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(mod 3) </a:t>
            </a:r>
          </a:p>
        </p:txBody>
      </p:sp>
    </p:spTree>
    <p:extLst>
      <p:ext uri="{BB962C8B-B14F-4D97-AF65-F5344CB8AC3E}">
        <p14:creationId xmlns:p14="http://schemas.microsoft.com/office/powerpoint/2010/main" val="3993097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z ≡ 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</a:t>
            </a:r>
            <a:r>
              <a:rPr lang="pt-BR" sz="2000" b="1" dirty="0"/>
              <a:t>(40·y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·y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·y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</a:t>
            </a:r>
            <a:r>
              <a:rPr lang="pt-BR" sz="2000" b="1" dirty="0"/>
              <a:t>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)·(</a:t>
            </a:r>
            <a:r>
              <a:rPr lang="pt-BR" sz="2000" b="1" dirty="0"/>
              <a:t>40·y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(1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)(1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</a:t>
            </a:r>
          </a:p>
        </p:txBody>
      </p:sp>
    </p:spTree>
    <p:extLst>
      <p:ext uri="{BB962C8B-B14F-4D97-AF65-F5344CB8AC3E}">
        <p14:creationId xmlns:p14="http://schemas.microsoft.com/office/powerpoint/2010/main" val="3993097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z ≡ 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</a:t>
            </a:r>
            <a:r>
              <a:rPr lang="pt-BR" sz="2000" b="1" dirty="0"/>
              <a:t>(40·y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·y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·y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</a:t>
            </a:r>
            <a:r>
              <a:rPr lang="pt-BR" sz="2000" b="1" dirty="0"/>
              <a:t>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)·(</a:t>
            </a:r>
            <a:r>
              <a:rPr lang="pt-BR" sz="2000" b="1" dirty="0"/>
              <a:t>40·y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(1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)(1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x</a:t>
            </a:r>
            <a:r>
              <a:rPr lang="en-US" sz="2000" b="1" baseline="-25000" dirty="0"/>
              <a:t>3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93097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z ≡ 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</a:t>
            </a:r>
            <a:r>
              <a:rPr lang="pt-BR" sz="2000" b="1" dirty="0"/>
              <a:t>(40·y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·y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·y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</a:t>
            </a:r>
            <a:r>
              <a:rPr lang="pt-BR" sz="2000" b="1" dirty="0"/>
              <a:t>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)·(</a:t>
            </a:r>
            <a:r>
              <a:rPr lang="pt-BR" sz="2000" b="1" dirty="0"/>
              <a:t>40·y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(1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)(1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x</a:t>
            </a:r>
            <a:r>
              <a:rPr lang="en-US" sz="2000" b="1" baseline="-25000" dirty="0"/>
              <a:t>3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23·46 </a:t>
            </a:r>
            <a:r>
              <a:rPr lang="pt-BR" sz="2000" b="1" dirty="0"/>
              <a:t>≡</a:t>
            </a:r>
            <a:r>
              <a:rPr lang="en-US" sz="2000" b="1" dirty="0"/>
              <a:t> 1058 </a:t>
            </a:r>
            <a:r>
              <a:rPr lang="pt-BR" sz="2000" b="1" dirty="0"/>
              <a:t>≡</a:t>
            </a:r>
            <a:r>
              <a:rPr lang="en-US" sz="2000" b="1" dirty="0"/>
              <a:t> 38 </a:t>
            </a:r>
            <a:r>
              <a:rPr lang="pt-BR" sz="2000" b="1" dirty="0"/>
              <a:t>≡</a:t>
            </a:r>
            <a:r>
              <a:rPr lang="en-US" sz="2000" b="1" dirty="0"/>
              <a:t> (2,2,3) (mod 60)</a:t>
            </a:r>
          </a:p>
        </p:txBody>
      </p:sp>
    </p:spTree>
    <p:extLst>
      <p:ext uri="{BB962C8B-B14F-4D97-AF65-F5344CB8AC3E}">
        <p14:creationId xmlns:p14="http://schemas.microsoft.com/office/powerpoint/2010/main" val="3993097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Multiplication:</a:t>
            </a:r>
            <a:br>
              <a:rPr lang="en-US" sz="3200" b="1" dirty="0"/>
            </a:br>
            <a:r>
              <a:rPr lang="en-US" sz="3200" b="1" dirty="0"/>
              <a:t>Multiply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z ≡ (40·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5</a:t>
            </a:r>
            <a:r>
              <a:rPr lang="en-US" sz="2000" b="1" dirty="0"/>
              <a:t>)</a:t>
            </a:r>
            <a:r>
              <a:rPr lang="pt-BR" sz="2000" b="1" dirty="0"/>
              <a:t>(40·y</a:t>
            </a:r>
            <a:r>
              <a:rPr lang="en-US" sz="2000" b="1" baseline="-25000" dirty="0"/>
              <a:t>3</a:t>
            </a:r>
            <a:r>
              <a:rPr lang="en-US" sz="2000" b="1" dirty="0"/>
              <a:t>+45</a:t>
            </a:r>
            <a:r>
              <a:rPr lang="pt-BR" sz="2000" b="1" dirty="0"/>
              <a:t>·y</a:t>
            </a:r>
            <a:r>
              <a:rPr lang="en-US" sz="2000" b="1" baseline="-25000" dirty="0"/>
              <a:t>4</a:t>
            </a:r>
            <a:r>
              <a:rPr lang="en-US" sz="2000" b="1" dirty="0"/>
              <a:t>+36</a:t>
            </a:r>
            <a:r>
              <a:rPr lang="pt-BR" sz="2000" b="1" dirty="0"/>
              <a:t>·y</a:t>
            </a:r>
            <a:r>
              <a:rPr lang="en-US" sz="2000" b="1" baseline="-25000" dirty="0"/>
              <a:t>5</a:t>
            </a:r>
            <a:r>
              <a:rPr lang="en-US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</a:t>
            </a:r>
            <a:r>
              <a:rPr lang="pt-BR" sz="2000" b="1" dirty="0"/>
              <a:t>40·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)·(</a:t>
            </a:r>
            <a:r>
              <a:rPr lang="pt-BR" sz="2000" b="1" dirty="0"/>
              <a:t>40·y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(1</a:t>
            </a:r>
            <a:r>
              <a:rPr lang="pt-BR" sz="2000" b="1" dirty="0"/>
              <a:t>·</a:t>
            </a:r>
            <a:r>
              <a:rPr lang="en-US" sz="2000" b="1" dirty="0"/>
              <a:t>x</a:t>
            </a:r>
            <a:r>
              <a:rPr lang="en-US" sz="2000" b="1" baseline="-25000" dirty="0"/>
              <a:t>3</a:t>
            </a:r>
            <a:r>
              <a:rPr lang="en-US" sz="2000" b="1" dirty="0"/>
              <a:t>)(1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)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z</a:t>
            </a:r>
            <a:r>
              <a:rPr lang="en-US" sz="2000" b="1" baseline="-25000" dirty="0"/>
              <a:t>3</a:t>
            </a:r>
            <a:r>
              <a:rPr lang="en-US" sz="2000" b="1" dirty="0"/>
              <a:t> </a:t>
            </a:r>
            <a:r>
              <a:rPr lang="pt-BR" sz="2000" b="1" dirty="0"/>
              <a:t>≡</a:t>
            </a:r>
            <a:r>
              <a:rPr lang="en-US" sz="2000" b="1" dirty="0"/>
              <a:t> x</a:t>
            </a:r>
            <a:r>
              <a:rPr lang="en-US" sz="2000" b="1" baseline="-25000" dirty="0"/>
              <a:t>3</a:t>
            </a:r>
            <a:r>
              <a:rPr lang="pt-BR" sz="2000" b="1" dirty="0"/>
              <a:t>·y</a:t>
            </a:r>
            <a:r>
              <a:rPr lang="en-US" sz="2000" b="1" baseline="-25000" dirty="0"/>
              <a:t>3</a:t>
            </a:r>
            <a:r>
              <a:rPr lang="en-US" sz="2000" b="1" dirty="0"/>
              <a:t> (mod 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23·46 </a:t>
            </a:r>
            <a:r>
              <a:rPr lang="pt-BR" sz="2000" b="1" dirty="0"/>
              <a:t>≡</a:t>
            </a:r>
            <a:r>
              <a:rPr lang="en-US" sz="2000" b="1" dirty="0"/>
              <a:t> 1058 </a:t>
            </a:r>
            <a:r>
              <a:rPr lang="pt-BR" sz="2000" b="1" dirty="0"/>
              <a:t>≡</a:t>
            </a:r>
            <a:r>
              <a:rPr lang="en-US" sz="2000" b="1" dirty="0"/>
              <a:t> 38 </a:t>
            </a:r>
            <a:r>
              <a:rPr lang="pt-BR" sz="2000" b="1" dirty="0"/>
              <a:t>≡</a:t>
            </a:r>
            <a:r>
              <a:rPr lang="en-US" sz="2000" b="1" dirty="0"/>
              <a:t> (2,2,3)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(2,3,3)·(1,2,1) </a:t>
            </a:r>
            <a:r>
              <a:rPr lang="pt-BR" sz="2000" b="1" dirty="0"/>
              <a:t>≡</a:t>
            </a:r>
            <a:r>
              <a:rPr lang="en-US" sz="2000" b="1" dirty="0"/>
              <a:t> (2,6,3) </a:t>
            </a:r>
            <a:r>
              <a:rPr lang="pt-BR" sz="2000" b="1" dirty="0"/>
              <a:t>≡</a:t>
            </a:r>
            <a:r>
              <a:rPr lang="en-US" sz="2000" b="1" dirty="0"/>
              <a:t> (2,2,3)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93097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66341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-1 </a:t>
            </a:r>
            <a:r>
              <a:rPr lang="pt-BR" sz="2000" b="1" dirty="0"/>
              <a:t>·x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131681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-1 </a:t>
            </a:r>
            <a:r>
              <a:rPr lang="pt-BR" sz="2000" b="1" dirty="0"/>
              <a:t>·x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3</a:t>
            </a:r>
            <a:r>
              <a:rPr lang="pt-BR" sz="2000" b="1" dirty="0"/>
              <a:t> · 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4</a:t>
            </a:r>
            <a:r>
              <a:rPr lang="pt-BR" sz="2000" b="1" dirty="0"/>
              <a:t> ·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5</a:t>
            </a:r>
            <a:r>
              <a:rPr lang="pt-BR" sz="2000" b="1" dirty="0"/>
              <a:t> · x</a:t>
            </a:r>
            <a:r>
              <a:rPr lang="pt-BR" sz="2000" b="1" baseline="-25000" dirty="0"/>
              <a:t>5</a:t>
            </a:r>
            <a:r>
              <a:rPr lang="pt-BR" sz="2000" b="1" dirty="0"/>
              <a:t>)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131681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-1 </a:t>
            </a:r>
            <a:r>
              <a:rPr lang="pt-BR" sz="2000" b="1" dirty="0"/>
              <a:t>·x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3</a:t>
            </a:r>
            <a:r>
              <a:rPr lang="pt-BR" sz="2000" b="1" dirty="0"/>
              <a:t> · 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4</a:t>
            </a:r>
            <a:r>
              <a:rPr lang="pt-BR" sz="2000" b="1" dirty="0"/>
              <a:t> ·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5</a:t>
            </a:r>
            <a:r>
              <a:rPr lang="pt-BR" sz="2000" b="1" dirty="0"/>
              <a:t> · x</a:t>
            </a:r>
            <a:r>
              <a:rPr lang="pt-BR" sz="2000" b="1" baseline="-25000" dirty="0"/>
              <a:t>5</a:t>
            </a:r>
            <a:r>
              <a:rPr lang="pt-BR" sz="2000" b="1" dirty="0"/>
              <a:t>)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-1</a:t>
            </a:r>
            <a:r>
              <a:rPr lang="pt-BR" sz="2000" b="1" dirty="0"/>
              <a:t> ≡ 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) (mod 60)</a:t>
            </a:r>
          </a:p>
        </p:txBody>
      </p:sp>
    </p:spTree>
    <p:extLst>
      <p:ext uri="{BB962C8B-B14F-4D97-AF65-F5344CB8AC3E}">
        <p14:creationId xmlns:p14="http://schemas.microsoft.com/office/powerpoint/2010/main" val="4131681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-1 </a:t>
            </a:r>
            <a:r>
              <a:rPr lang="pt-BR" sz="2000" b="1" dirty="0"/>
              <a:t>·x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3</a:t>
            </a:r>
            <a:r>
              <a:rPr lang="pt-BR" sz="2000" b="1" dirty="0"/>
              <a:t> · 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4</a:t>
            </a:r>
            <a:r>
              <a:rPr lang="pt-BR" sz="2000" b="1" dirty="0"/>
              <a:t> ·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5</a:t>
            </a:r>
            <a:r>
              <a:rPr lang="pt-BR" sz="2000" b="1" dirty="0"/>
              <a:t> · x</a:t>
            </a:r>
            <a:r>
              <a:rPr lang="pt-BR" sz="2000" b="1" baseline="-25000" dirty="0"/>
              <a:t>5</a:t>
            </a:r>
            <a:r>
              <a:rPr lang="pt-BR" sz="2000" b="1" dirty="0"/>
              <a:t>)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-1</a:t>
            </a:r>
            <a:r>
              <a:rPr lang="pt-BR" sz="2000" b="1" dirty="0"/>
              <a:t> ≡ 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(2,3,2) (mod 60) ≡ 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131681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-1 </a:t>
            </a:r>
            <a:r>
              <a:rPr lang="pt-BR" sz="2000" b="1" dirty="0"/>
              <a:t>·x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3</a:t>
            </a:r>
            <a:r>
              <a:rPr lang="pt-BR" sz="2000" b="1" dirty="0"/>
              <a:t> · 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4</a:t>
            </a:r>
            <a:r>
              <a:rPr lang="pt-BR" sz="2000" b="1" dirty="0"/>
              <a:t> ·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5</a:t>
            </a:r>
            <a:r>
              <a:rPr lang="pt-BR" sz="2000" b="1" dirty="0"/>
              <a:t> · x</a:t>
            </a:r>
            <a:r>
              <a:rPr lang="pt-BR" sz="2000" b="1" baseline="-25000" dirty="0"/>
              <a:t>5</a:t>
            </a:r>
            <a:r>
              <a:rPr lang="pt-BR" sz="2000" b="1" dirty="0"/>
              <a:t>)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-1</a:t>
            </a:r>
            <a:r>
              <a:rPr lang="pt-BR" sz="2000" b="1" dirty="0"/>
              <a:t> ≡ 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(2,3,2) (mod 60) ≡ 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(2,3,3)·(2,3,2) ≡ (1,1,1) (mod 60)</a:t>
            </a:r>
          </a:p>
        </p:txBody>
      </p:sp>
    </p:spTree>
    <p:extLst>
      <p:ext uri="{BB962C8B-B14F-4D97-AF65-F5344CB8AC3E}">
        <p14:creationId xmlns:p14="http://schemas.microsoft.com/office/powerpoint/2010/main" val="4131681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CRT Multiplicative Inverse: </a:t>
            </a:r>
            <a:br>
              <a:rPr lang="en-US" sz="3200" b="1" dirty="0"/>
            </a:br>
            <a:r>
              <a:rPr lang="en-US" sz="3200" b="1" dirty="0"/>
              <a:t>Take the multiplicative inverse of the respective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-1 </a:t>
            </a:r>
            <a:r>
              <a:rPr lang="pt-BR" sz="2000" b="1" dirty="0"/>
              <a:t>·x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3</a:t>
            </a:r>
            <a:r>
              <a:rPr lang="pt-BR" sz="2000" b="1" dirty="0"/>
              <a:t> · 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4</a:t>
            </a:r>
            <a:r>
              <a:rPr lang="pt-BR" sz="2000" b="1" dirty="0"/>
              <a:t> ·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30000" dirty="0"/>
              <a:t>-1 </a:t>
            </a:r>
            <a:r>
              <a:rPr lang="pt-BR" sz="2000" b="1" baseline="-25000" dirty="0"/>
              <a:t>5</a:t>
            </a:r>
            <a:r>
              <a:rPr lang="pt-BR" sz="2000" b="1" dirty="0"/>
              <a:t> · x</a:t>
            </a:r>
            <a:r>
              <a:rPr lang="pt-BR" sz="2000" b="1" baseline="-25000" dirty="0"/>
              <a:t>5</a:t>
            </a:r>
            <a:r>
              <a:rPr lang="pt-BR" sz="2000" b="1" dirty="0"/>
              <a:t>)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-1</a:t>
            </a:r>
            <a:r>
              <a:rPr lang="pt-BR" sz="2000" b="1" dirty="0"/>
              <a:t> ≡ 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,3</a:t>
            </a:r>
            <a:r>
              <a:rPr lang="pt-BR" sz="2000" b="1" baseline="30000" dirty="0"/>
              <a:t>-1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(2,3,3)</a:t>
            </a:r>
            <a:r>
              <a:rPr lang="pt-BR" sz="2000" b="1" baseline="30000" dirty="0"/>
              <a:t>-1</a:t>
            </a:r>
            <a:r>
              <a:rPr lang="pt-BR" sz="2000" b="1" dirty="0"/>
              <a:t> ≡ (2,3,2) (mod 60) ≡ 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(2,3,3)·(2,3,2) ≡ (1,1,1)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23·47 ≡ 1081 ≡ 1 (mod 60)</a:t>
            </a:r>
          </a:p>
        </p:txBody>
      </p:sp>
    </p:spTree>
    <p:extLst>
      <p:ext uri="{BB962C8B-B14F-4D97-AF65-F5344CB8AC3E}">
        <p14:creationId xmlns:p14="http://schemas.microsoft.com/office/powerpoint/2010/main" val="4131681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Distribute integer exponents across the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05407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Distribute integer exponents across the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dirty="0"/>
              <a:t>)</a:t>
            </a:r>
            <a:r>
              <a:rPr lang="pt-BR" sz="2000" b="1" baseline="30000" dirty="0"/>
              <a:t>n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8110051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Distribute integer exponents across the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dirty="0"/>
              <a:t>)</a:t>
            </a:r>
            <a:r>
              <a:rPr lang="pt-BR" sz="2000" b="1" baseline="30000" dirty="0"/>
              <a:t>n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baseline="30000" dirty="0"/>
              <a:t>n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811005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Distribute integer exponents across the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dirty="0"/>
              <a:t>)</a:t>
            </a:r>
            <a:r>
              <a:rPr lang="pt-BR" sz="2000" b="1" baseline="30000" dirty="0"/>
              <a:t>n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baseline="30000" dirty="0"/>
              <a:t>n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3</a:t>
            </a:r>
            <a:r>
              <a:rPr lang="pt-BR" sz="2000" b="1" dirty="0"/>
              <a:t> ≡ (2</a:t>
            </a:r>
            <a:r>
              <a:rPr lang="pt-BR" sz="2000" b="1" baseline="30000" dirty="0"/>
              <a:t>3</a:t>
            </a:r>
            <a:r>
              <a:rPr lang="pt-BR" sz="2000" b="1" dirty="0"/>
              <a:t>,3</a:t>
            </a:r>
            <a:r>
              <a:rPr lang="pt-BR" sz="2000" b="1" baseline="30000" dirty="0"/>
              <a:t>3</a:t>
            </a:r>
            <a:r>
              <a:rPr lang="pt-BR" sz="2000" b="1" dirty="0"/>
              <a:t>,3</a:t>
            </a:r>
            <a:r>
              <a:rPr lang="pt-BR" sz="2000" b="1" baseline="30000" dirty="0"/>
              <a:t>3</a:t>
            </a:r>
            <a:r>
              <a:rPr lang="pt-BR" sz="2000" b="1" dirty="0"/>
              <a:t>) (mod 60)</a:t>
            </a:r>
          </a:p>
        </p:txBody>
      </p:sp>
    </p:spTree>
    <p:extLst>
      <p:ext uri="{BB962C8B-B14F-4D97-AF65-F5344CB8AC3E}">
        <p14:creationId xmlns:p14="http://schemas.microsoft.com/office/powerpoint/2010/main" val="2811005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Distribute integer exponents across the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dirty="0"/>
              <a:t>)</a:t>
            </a:r>
            <a:r>
              <a:rPr lang="pt-BR" sz="2000" b="1" baseline="30000" dirty="0"/>
              <a:t>n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baseline="30000" dirty="0"/>
              <a:t>n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3</a:t>
            </a:r>
            <a:r>
              <a:rPr lang="pt-BR" sz="2000" b="1" dirty="0"/>
              <a:t> ≡ (2</a:t>
            </a:r>
            <a:r>
              <a:rPr lang="pt-BR" sz="2000" b="1" baseline="30000" dirty="0"/>
              <a:t>3</a:t>
            </a:r>
            <a:r>
              <a:rPr lang="pt-BR" sz="2000" b="1" dirty="0"/>
              <a:t>,3</a:t>
            </a:r>
            <a:r>
              <a:rPr lang="pt-BR" sz="2000" b="1" baseline="30000" dirty="0"/>
              <a:t>3</a:t>
            </a:r>
            <a:r>
              <a:rPr lang="pt-BR" sz="2000" b="1" dirty="0"/>
              <a:t>,3</a:t>
            </a:r>
            <a:r>
              <a:rPr lang="pt-BR" sz="2000" b="1" baseline="30000" dirty="0"/>
              <a:t>3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3</a:t>
            </a:r>
            <a:r>
              <a:rPr lang="pt-BR" sz="2000" b="1" dirty="0"/>
              <a:t> ≡ (8, 27, 27) ≡ (2, 3, 2) ≡ 47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8110051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Distribute integer exponents across the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dirty="0"/>
              <a:t>)</a:t>
            </a:r>
            <a:r>
              <a:rPr lang="pt-BR" sz="2000" b="1" baseline="30000" dirty="0"/>
              <a:t>n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x</a:t>
            </a:r>
            <a:r>
              <a:rPr lang="pt-BR" sz="2000" b="1" baseline="30000" dirty="0"/>
              <a:t>n </a:t>
            </a:r>
            <a:r>
              <a:rPr lang="pt-BR" sz="2000" b="1" dirty="0"/>
              <a:t> ≡ (x</a:t>
            </a:r>
            <a:r>
              <a:rPr lang="pt-BR" sz="2000" b="1" baseline="-25000" dirty="0"/>
              <a:t>3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4</a:t>
            </a:r>
            <a:r>
              <a:rPr lang="pt-BR" sz="2000" b="1" baseline="30000" dirty="0"/>
              <a:t>n</a:t>
            </a:r>
            <a:r>
              <a:rPr lang="pt-BR" sz="2000" b="1" dirty="0"/>
              <a:t>, x</a:t>
            </a:r>
            <a:r>
              <a:rPr lang="pt-BR" sz="2000" b="1" baseline="-25000" dirty="0"/>
              <a:t>5</a:t>
            </a:r>
            <a:r>
              <a:rPr lang="pt-BR" sz="2000" b="1" baseline="30000" dirty="0"/>
              <a:t>n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3</a:t>
            </a:r>
            <a:r>
              <a:rPr lang="pt-BR" sz="2000" b="1" dirty="0"/>
              <a:t> ≡ (2</a:t>
            </a:r>
            <a:r>
              <a:rPr lang="pt-BR" sz="2000" b="1" baseline="30000" dirty="0"/>
              <a:t>3</a:t>
            </a:r>
            <a:r>
              <a:rPr lang="pt-BR" sz="2000" b="1" dirty="0"/>
              <a:t>,3</a:t>
            </a:r>
            <a:r>
              <a:rPr lang="pt-BR" sz="2000" b="1" baseline="30000" dirty="0"/>
              <a:t>3</a:t>
            </a:r>
            <a:r>
              <a:rPr lang="pt-BR" sz="2000" b="1" dirty="0"/>
              <a:t>,3</a:t>
            </a:r>
            <a:r>
              <a:rPr lang="pt-BR" sz="2000" b="1" baseline="30000" dirty="0"/>
              <a:t>3</a:t>
            </a:r>
            <a:r>
              <a:rPr lang="pt-BR" sz="2000" b="1" dirty="0"/>
              <a:t>)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3</a:t>
            </a:r>
            <a:r>
              <a:rPr lang="pt-BR" sz="2000" b="1" dirty="0"/>
              <a:t> ≡ (8, 27, 27) ≡ (2, 3, 2) ≡ 47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23</a:t>
            </a:r>
            <a:r>
              <a:rPr lang="pt-BR" sz="2000" b="1" baseline="30000" dirty="0"/>
              <a:t>3</a:t>
            </a:r>
            <a:r>
              <a:rPr lang="pt-BR" sz="2000" b="1" dirty="0"/>
              <a:t> ≡ 12167 ≡ 47 (mod 60)</a:t>
            </a:r>
          </a:p>
        </p:txBody>
      </p:sp>
    </p:spTree>
    <p:extLst>
      <p:ext uri="{BB962C8B-B14F-4D97-AF65-F5344CB8AC3E}">
        <p14:creationId xmlns:p14="http://schemas.microsoft.com/office/powerpoint/2010/main" val="28110051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1724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20 ≡ 80 (mod 60)</a:t>
            </a:r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20 ≡ 80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= 16</a:t>
            </a:r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20 ≡ 80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=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20 ≡ 4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20 ≡ 80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=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20 ≡ 4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80 ≡ 0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20 ≡ 80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=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20 ≡ 4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80 ≡ 0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(40·x3 + 45·x4 + 36·x5)</a:t>
            </a:r>
            <a:r>
              <a:rPr lang="pt-BR" sz="2000" b="1" dirty="0"/>
              <a:t> (mod 60)</a:t>
            </a:r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CRT Exponentiation: </a:t>
            </a:r>
            <a:br>
              <a:rPr lang="en-US" sz="3200" b="1" dirty="0"/>
            </a:br>
            <a:r>
              <a:rPr lang="en-US" sz="3200" b="1" dirty="0"/>
              <a:t>If the exponent is in CRT format, it's a real challenge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0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(x3, x4, x5) (mod60)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20 ≡ 80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=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20 ≡ 4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 80 ≡ 0 (mod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pt-BR" sz="2000" b="1" dirty="0"/>
              <a:t>(60)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2</a:t>
            </a:r>
            <a:r>
              <a:rPr lang="pt-BR" sz="2000" b="1" baseline="30000" dirty="0"/>
              <a:t>(40·x3 + 45·x4 + 36·x5)</a:t>
            </a:r>
            <a:r>
              <a:rPr lang="pt-BR" sz="2000" b="1" dirty="0"/>
              <a:t> (mod 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</a:t>
            </a:r>
            <a:r>
              <a:rPr lang="pt-BR" sz="2000" b="1" baseline="30000" dirty="0"/>
              <a:t>x </a:t>
            </a:r>
            <a:r>
              <a:rPr lang="pt-BR" sz="2000" b="1" dirty="0"/>
              <a:t> ≡ (2</a:t>
            </a:r>
            <a:r>
              <a:rPr lang="pt-BR" sz="2000" b="1" baseline="30000" dirty="0"/>
              <a:t>40·x3</a:t>
            </a:r>
            <a:r>
              <a:rPr lang="pt-BR" sz="2000" b="1" dirty="0"/>
              <a:t>)(2</a:t>
            </a:r>
            <a:r>
              <a:rPr lang="pt-BR" sz="2000" b="1" baseline="30000" dirty="0"/>
              <a:t>45·x4</a:t>
            </a:r>
            <a:r>
              <a:rPr lang="pt-BR" sz="2000" b="1" dirty="0"/>
              <a:t>)(2</a:t>
            </a:r>
            <a:r>
              <a:rPr lang="pt-BR" sz="2000" b="1" baseline="30000" dirty="0"/>
              <a:t>36·x5</a:t>
            </a:r>
            <a:r>
              <a:rPr lang="pt-BR" sz="2000" b="1" dirty="0"/>
              <a:t>) (mod 60)</a:t>
            </a:r>
          </a:p>
        </p:txBody>
      </p:sp>
    </p:spTree>
    <p:extLst>
      <p:ext uri="{BB962C8B-B14F-4D97-AF65-F5344CB8AC3E}">
        <p14:creationId xmlns:p14="http://schemas.microsoft.com/office/powerpoint/2010/main" val="101300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27217</TotalTime>
  <Words>2416</Words>
  <Application>Microsoft Office PowerPoint</Application>
  <PresentationFormat>On-screen Show (16:9)</PresentationFormat>
  <Paragraphs>466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Cambria Math</vt:lpstr>
      <vt:lpstr>Office Theme</vt:lpstr>
      <vt:lpstr>Chinese Remainder Theorem: What we can and can’t do</vt:lpstr>
      <vt:lpstr>Chinese Remainder Theorem: What we can and can’t do</vt:lpstr>
      <vt:lpstr>Chinese Remainder Theorem: What we can and can’t do</vt:lpstr>
      <vt:lpstr>Chinese Remainder Theorem: What we can and can’t do</vt:lpstr>
      <vt:lpstr>Chinese Remainder Theorem: What we can and can’t do</vt:lpstr>
      <vt:lpstr>Chinese Remainder Theorem: What we can and can’t do</vt:lpstr>
      <vt:lpstr>Chinese Remainder Theorem: What we can and can’t do</vt:lpstr>
      <vt:lpstr>Only two numbers, 0 and 1, have the same representation in all CRT worlds</vt:lpstr>
      <vt:lpstr>Only two numbers, 0 and 1, have the same representation in all CRT worlds</vt:lpstr>
      <vt:lpstr>Only two numbers, 0 and 1, have the same representation in all CRT worlds</vt:lpstr>
      <vt:lpstr>Only two numbers, 0 and 1, have the same representation in all CRT worlds</vt:lpstr>
      <vt:lpstr>CRT Addition: Add the respective residues</vt:lpstr>
      <vt:lpstr>CRT Addition: Add the respective residues</vt:lpstr>
      <vt:lpstr>CRT Addition: Add the respective residues</vt:lpstr>
      <vt:lpstr>CRT Addition: Add the respective residues</vt:lpstr>
      <vt:lpstr>CRT Addition: Add the respective residues</vt:lpstr>
      <vt:lpstr>CRT Addition: Add the respective residues</vt:lpstr>
      <vt:lpstr>CRT Addition: Add the respective residues</vt:lpstr>
      <vt:lpstr>CRT Addition: Add the respective residues</vt:lpstr>
      <vt:lpstr>CRT Multiplication: Multiplying by an integer is trivial</vt:lpstr>
      <vt:lpstr>CRT Multiplication: Multiplying by an integer is trivial</vt:lpstr>
      <vt:lpstr>CRT Multiplication: Multiplying by an integer is trivial</vt:lpstr>
      <vt:lpstr>CRT Multiplication: Multiplying by an integer is trivial</vt:lpstr>
      <vt:lpstr>CRT Multiplication: Multiplying by an integer is trivial</vt:lpstr>
      <vt:lpstr>CRT Multiplication: Multiply the respective residues</vt:lpstr>
      <vt:lpstr>CRT Multiplication: Multiply the respective residues</vt:lpstr>
      <vt:lpstr>CRT Multiplication: Multiply the respective residues</vt:lpstr>
      <vt:lpstr>CRT Multiplication: Multiply the respective residues</vt:lpstr>
      <vt:lpstr>CRT Multiplication: Multiply the respective residues</vt:lpstr>
      <vt:lpstr>CRT Multiplication: Multiply the respective residues</vt:lpstr>
      <vt:lpstr>CRT Multiplication: Multiply the respective residues</vt:lpstr>
      <vt:lpstr>CRT Multiplicative Inverse:  Take the multiplicative inverse of the respective residues</vt:lpstr>
      <vt:lpstr>CRT Multiplicative Inverse:  Take the multiplicative inverse of the respective residues</vt:lpstr>
      <vt:lpstr>CRT Multiplicative Inverse:  Take the multiplicative inverse of the respective residues</vt:lpstr>
      <vt:lpstr>CRT Multiplicative Inverse:  Take the multiplicative inverse of the respective residues</vt:lpstr>
      <vt:lpstr>CRT Multiplicative Inverse:  Take the multiplicative inverse of the respective residues</vt:lpstr>
      <vt:lpstr>CRT Multiplicative Inverse:  Take the multiplicative inverse of the respective residues</vt:lpstr>
      <vt:lpstr>CRT Multiplicative Inverse:  Take the multiplicative inverse of the respective residues</vt:lpstr>
      <vt:lpstr>CRT Exponentiation:  Distribute integer exponents across the residues</vt:lpstr>
      <vt:lpstr>CRT Exponentiation:  Distribute integer exponents across the residues</vt:lpstr>
      <vt:lpstr>CRT Exponentiation:  Distribute integer exponents across the residues</vt:lpstr>
      <vt:lpstr>CRT Exponentiation:  Distribute integer exponents across the residues</vt:lpstr>
      <vt:lpstr>CRT Exponentiation:  Distribute integer exponents across the residues</vt:lpstr>
      <vt:lpstr>CRT Exponentiation:  Distribute integer exponents across the residues</vt:lpstr>
      <vt:lpstr>CRT Exponentiation:  If the exponent is in CRT format, it's a real challenge</vt:lpstr>
      <vt:lpstr>CRT Exponentiation:  If the exponent is in CRT format, it's a real challenge</vt:lpstr>
      <vt:lpstr>CRT Exponentiation:  If the exponent is in CRT format, it's a real challenge</vt:lpstr>
      <vt:lpstr>CRT Exponentiation:  If the exponent is in CRT format, it's a real challenge</vt:lpstr>
      <vt:lpstr>CRT Exponentiation:  If the exponent is in CRT format, it's a real challenge</vt:lpstr>
      <vt:lpstr>CRT Exponentiation:  If the exponent is in CRT format, it's a real challenge</vt:lpstr>
      <vt:lpstr>CRT Exponentiation:  If the exponent is in CRT format, it's a real challenge</vt:lpstr>
      <vt:lpstr>CRT Exponentiation:  If the exponent is in CRT format, it's a real challenge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143</cp:revision>
  <dcterms:created xsi:type="dcterms:W3CDTF">2017-04-06T17:43:22Z</dcterms:created>
  <dcterms:modified xsi:type="dcterms:W3CDTF">2017-09-16T00:03:26Z</dcterms:modified>
</cp:coreProperties>
</file>