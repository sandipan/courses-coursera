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9"/>
  </p:notesMasterIdLst>
  <p:sldIdLst>
    <p:sldId id="417" r:id="rId2"/>
    <p:sldId id="426" r:id="rId3"/>
    <p:sldId id="427" r:id="rId4"/>
    <p:sldId id="428" r:id="rId5"/>
    <p:sldId id="429" r:id="rId6"/>
    <p:sldId id="430" r:id="rId7"/>
    <p:sldId id="418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19" r:id="rId17"/>
    <p:sldId id="439" r:id="rId18"/>
    <p:sldId id="440" r:id="rId19"/>
    <p:sldId id="441" r:id="rId20"/>
    <p:sldId id="442" r:id="rId21"/>
    <p:sldId id="443" r:id="rId22"/>
    <p:sldId id="444" r:id="rId23"/>
    <p:sldId id="448" r:id="rId24"/>
    <p:sldId id="445" r:id="rId25"/>
    <p:sldId id="446" r:id="rId26"/>
    <p:sldId id="420" r:id="rId27"/>
    <p:sldId id="449" r:id="rId28"/>
    <p:sldId id="450" r:id="rId29"/>
    <p:sldId id="451" r:id="rId30"/>
    <p:sldId id="421" r:id="rId31"/>
    <p:sldId id="452" r:id="rId32"/>
    <p:sldId id="453" r:id="rId33"/>
    <p:sldId id="454" r:id="rId34"/>
    <p:sldId id="455" r:id="rId35"/>
    <p:sldId id="456" r:id="rId36"/>
    <p:sldId id="457" r:id="rId37"/>
    <p:sldId id="422" r:id="rId38"/>
    <p:sldId id="458" r:id="rId39"/>
    <p:sldId id="459" r:id="rId40"/>
    <p:sldId id="460" r:id="rId41"/>
    <p:sldId id="461" r:id="rId42"/>
    <p:sldId id="462" r:id="rId43"/>
    <p:sldId id="463" r:id="rId44"/>
    <p:sldId id="423" r:id="rId45"/>
    <p:sldId id="464" r:id="rId46"/>
    <p:sldId id="465" r:id="rId47"/>
    <p:sldId id="466" r:id="rId48"/>
    <p:sldId id="424" r:id="rId49"/>
    <p:sldId id="467" r:id="rId50"/>
    <p:sldId id="468" r:id="rId51"/>
    <p:sldId id="469" r:id="rId52"/>
    <p:sldId id="470" r:id="rId53"/>
    <p:sldId id="471" r:id="rId54"/>
    <p:sldId id="472" r:id="rId55"/>
    <p:sldId id="473" r:id="rId56"/>
    <p:sldId id="474" r:id="rId57"/>
    <p:sldId id="475" r:id="rId5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Autofit/>
          </a:bodyPr>
          <a:lstStyle/>
          <a:p>
            <a:r>
              <a:rPr lang="en-US" sz="3200" b="1" dirty="0"/>
              <a:t>Chinese Remainder Theorem</a:t>
            </a:r>
            <a:br>
              <a:rPr lang="en-US" sz="3200" b="1" dirty="0"/>
            </a:br>
            <a:r>
              <a:rPr lang="en-US" sz="3200" b="1" dirty="0"/>
              <a:t>Lesson 2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56210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Autofit/>
          </a:bodyPr>
          <a:lstStyle/>
          <a:p>
            <a:r>
              <a:rPr lang="en-US" sz="3200" b="1" dirty="0"/>
              <a:t>Chinese Remainder Theorem</a:t>
            </a:r>
            <a:br>
              <a:rPr lang="en-US" sz="3200" b="1" dirty="0"/>
            </a:br>
            <a:r>
              <a:rPr lang="en-US" sz="3200" b="1" dirty="0"/>
              <a:t>Lesson 2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Restrictions on choice of moduli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2606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Autofit/>
          </a:bodyPr>
          <a:lstStyle/>
          <a:p>
            <a:r>
              <a:rPr lang="en-US" sz="3200" b="1" dirty="0"/>
              <a:t>Chinese Remainder Theorem</a:t>
            </a:r>
            <a:br>
              <a:rPr lang="en-US" sz="3200" b="1" dirty="0"/>
            </a:br>
            <a:r>
              <a:rPr lang="en-US" sz="3200" b="1" dirty="0"/>
              <a:t>Lesson 2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Restrictions on choice of moduli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Converting from CRT to an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2606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Autofit/>
          </a:bodyPr>
          <a:lstStyle/>
          <a:p>
            <a:r>
              <a:rPr lang="en-US" sz="3200" b="1" dirty="0"/>
              <a:t>Chinese Remainder Theorem</a:t>
            </a:r>
            <a:br>
              <a:rPr lang="en-US" sz="3200" b="1" dirty="0"/>
            </a:br>
            <a:r>
              <a:rPr lang="en-US" sz="3200" b="1" dirty="0"/>
              <a:t>Lesson 2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Restrictions on choice of moduli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Converting from CRT to an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Next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2606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Autofit/>
          </a:bodyPr>
          <a:lstStyle/>
          <a:p>
            <a:r>
              <a:rPr lang="en-US" sz="3200" b="1" dirty="0"/>
              <a:t>Chinese Remainder Theorem</a:t>
            </a:r>
            <a:br>
              <a:rPr lang="en-US" sz="3200" b="1" dirty="0"/>
            </a:br>
            <a:r>
              <a:rPr lang="en-US" sz="3200" b="1" dirty="0"/>
              <a:t>Lesson 2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Restrictions on choice of moduli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Converting from CRT to an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Next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What we can do with CRT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26064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57250"/>
          </a:xfrm>
        </p:spPr>
        <p:txBody>
          <a:bodyPr>
            <a:noAutofit/>
          </a:bodyPr>
          <a:lstStyle/>
          <a:p>
            <a:r>
              <a:rPr lang="en-US" sz="3200" b="1" dirty="0"/>
              <a:t>Chinese Remainder Theorem</a:t>
            </a:r>
            <a:br>
              <a:rPr lang="en-US" sz="3200" b="1" dirty="0"/>
            </a:br>
            <a:r>
              <a:rPr lang="en-US" sz="3200" b="1" dirty="0"/>
              <a:t>Lesson 2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Restrictions on choice of moduli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Converting from CRT to an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Next lesson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What we can do with CRT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What we can’t do with CRT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2606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i="1" dirty="0">
              <a:latin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i="1" dirty="0"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32508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416"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416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416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Implications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of</m:t>
                    </m:r>
                    <m:r>
                      <a:rPr lang="en-US" sz="1600" b="1" i="1" dirty="0" smtClean="0">
                        <a:latin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6)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416" t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Implications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of</m:t>
                    </m:r>
                    <m:r>
                      <a:rPr lang="en-US" sz="1600" b="1" i="1" dirty="0" smtClean="0">
                        <a:latin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6)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is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divisble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by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416" t="-1167" b="-3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Implications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of</m:t>
                    </m:r>
                    <m:r>
                      <a:rPr lang="en-US" sz="1600" b="1" i="1" dirty="0" smtClean="0">
                        <a:latin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6)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is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divisble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by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Therefore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is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divisble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by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latin typeface="Cambria Math"/>
                    <a:ea typeface="Cambria Math"/>
                  </a:rPr>
                  <a:t>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416" t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Implications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of</m:t>
                    </m:r>
                    <m:r>
                      <a:rPr lang="en-US" sz="1600" b="1" i="1" dirty="0" smtClean="0">
                        <a:latin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6)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is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divisble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by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Therefore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is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divisble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by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latin typeface="Cambria Math"/>
                    <a:ea typeface="Cambria Math"/>
                  </a:rPr>
                  <a:t>3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Therefore</m:t>
                    </m:r>
                    <m:r>
                      <a:rPr lang="en-US" sz="1600" b="1" i="1" dirty="0" smtClean="0">
                        <a:latin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∈{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sz="1600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416" t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Implications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of</m:t>
                    </m:r>
                    <m:r>
                      <a:rPr lang="en-US" sz="1600" b="1" i="1" dirty="0" smtClean="0">
                        <a:latin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6)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is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divisble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by</m:t>
                    </m:r>
                    <m:r>
                      <m:rPr>
                        <m:nor/>
                      </m:rPr>
                      <a:rPr lang="en-US" sz="1600" b="1" i="0" smtClean="0">
                        <a:latin typeface="Cambria Math"/>
                        <a:ea typeface="Cambria Math"/>
                      </a:rPr>
                      <m:t> 6</m:t>
                    </m:r>
                  </m:oMath>
                </a14:m>
                <a:endParaRPr lang="en-US" sz="1600" b="1" i="0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Therefore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is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divisble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by</m:t>
                    </m:r>
                    <m:r>
                      <m:rPr>
                        <m:nor/>
                      </m:rPr>
                      <a:rPr lang="en-US" sz="1600" b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latin typeface="Cambria Math"/>
                    <a:ea typeface="Cambria Math"/>
                  </a:rPr>
                  <a:t>3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Therefore</m:t>
                    </m:r>
                    <m:r>
                      <a:rPr lang="en-US" sz="1600" b="1" i="1" dirty="0" smtClean="0">
                        <a:latin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∈{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sz="1600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CRT residues (0,1) for example, is empty.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dirty="0"/>
                      <m:t> </m:t>
                    </m:r>
                  </m:oMath>
                </a14:m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93100"/>
              </a:xfrm>
              <a:prstGeom prst="rect">
                <a:avLst/>
              </a:prstGeom>
              <a:blipFill rotWithShape="1">
                <a:blip r:embed="rId3"/>
                <a:stretch>
                  <a:fillRect l="-416" t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992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416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053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6 and 9 have a common factor of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416" t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611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6 and 9 have a common factor of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Can leave it in only one of the moduli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416" t="-1167" b="-4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61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6 and 9 have a common factor of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Can leave it in only one of the moduli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So use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</m:oMath>
                </a14:m>
                <a:r>
                  <a:rPr lang="en-US" sz="1600" b="1" dirty="0">
                    <a:latin typeface="19"/>
                  </a:rPr>
                  <a:t> </a:t>
                </a:r>
                <a:r>
                  <a:rPr lang="en-US" sz="1600" b="1" dirty="0"/>
                  <a:t>instead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416" t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611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CRT moduli must be pairwise coprime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i="0" dirty="0" smtClean="0"/>
                      <m:t>Can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we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choose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arbitrary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moduli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for</m:t>
                    </m:r>
                    <m:r>
                      <m:rPr>
                        <m:nor/>
                      </m:rPr>
                      <a:rPr lang="en-US" sz="1600" b="1" i="0" dirty="0" smtClean="0"/>
                      <m:t> </m:t>
                    </m:r>
                    <m:r>
                      <m:rPr>
                        <m:nor/>
                      </m:rPr>
                      <a:rPr lang="en-US" sz="1600" b="1" i="0" dirty="0" smtClean="0"/>
                      <m:t>CRT</m:t>
                    </m:r>
                  </m:oMath>
                </a14:m>
                <a:r>
                  <a:rPr lang="en-US" sz="1600" b="1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≡</m:t>
                    </m:r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𝑿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6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𝟔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  <m:r>
                      <a:rPr lang="en-US" sz="16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𝑵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𝟔</m:t>
                    </m:r>
                    <m:r>
                      <a:rPr lang="en-US" sz="1600" b="1" i="1" smtClean="0">
                        <a:latin typeface="Cambria Math"/>
                      </a:rPr>
                      <m:t> ∗</m:t>
                    </m:r>
                    <m:r>
                      <a:rPr lang="en-US" sz="1600" b="1" i="1" smtClean="0">
                        <a:latin typeface="Cambria Math"/>
                      </a:rPr>
                      <m:t>𝟗</m:t>
                    </m:r>
                    <m:r>
                      <a:rPr lang="en-US" sz="1600" b="1" i="1" smtClean="0">
                        <a:latin typeface="Cambria Math"/>
                      </a:rPr>
                      <m:t>= </m:t>
                    </m:r>
                    <m:r>
                      <a:rPr lang="en-US" sz="1600" b="1" i="1" smtClean="0">
                        <a:latin typeface="Cambria Math"/>
                      </a:rPr>
                      <m:t>𝟓𝟒</m:t>
                    </m:r>
                    <m:r>
                      <a:rPr lang="en-US" sz="1600" b="1" i="1" smtClean="0">
                        <a:latin typeface="Cambria Math"/>
                      </a:rPr>
                      <m:t> ?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6 and 9 have a common factor of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Can leave it in only one of the moduli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So use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6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1" i="1">
                            <a:latin typeface="Cambria Math"/>
                            <a:ea typeface="Cambria Math"/>
                          </a:rPr>
                          <m:t>𝟗</m:t>
                        </m:r>
                      </m:e>
                    </m:d>
                  </m:oMath>
                </a14:m>
                <a:r>
                  <a:rPr lang="en-US" sz="1600" b="1" dirty="0">
                    <a:latin typeface="19"/>
                  </a:rPr>
                  <a:t> </a:t>
                </a:r>
                <a:r>
                  <a:rPr lang="en-US" sz="1600" b="1" dirty="0"/>
                  <a:t>instead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𝑵</m:t>
                    </m:r>
                    <m:r>
                      <a:rPr lang="en-US" sz="1600" b="1" i="1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𝟐</m:t>
                    </m:r>
                    <m:r>
                      <a:rPr lang="en-US" sz="1600" b="1" i="1">
                        <a:latin typeface="Cambria Math"/>
                      </a:rPr>
                      <m:t> ∗</m:t>
                    </m:r>
                    <m:r>
                      <a:rPr lang="en-US" sz="1600" b="1" i="1">
                        <a:latin typeface="Cambria Math"/>
                      </a:rPr>
                      <m:t>𝟗</m:t>
                    </m:r>
                    <m:r>
                      <a:rPr lang="en-US" sz="1600" b="1" i="1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𝟏𝟖</m:t>
                    </m:r>
                  </m:oMath>
                </a14:m>
                <a:endParaRPr lang="en-US" sz="16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339102"/>
              </a:xfrm>
              <a:prstGeom prst="rect">
                <a:avLst/>
              </a:prstGeom>
              <a:blipFill rotWithShape="1">
                <a:blip r:embed="rId3"/>
                <a:stretch>
                  <a:fillRect l="-416" t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611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8047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307777"/>
              </a:xfrm>
              <a:prstGeom prst="rect">
                <a:avLst/>
              </a:prstGeom>
              <a:blipFill rotWithShape="1">
                <a:blip r:embed="rId3"/>
                <a:stretch>
                  <a:fillRect l="-208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048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𝟐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08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065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𝟐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𝑨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𝑹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𝑨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𝟐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𝑹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𝟐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738664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048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𝟐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𝑨</m:t>
                          </m:r>
                          <m:r>
                            <a:rPr lang="en-US" sz="1400" b="1" i="1" baseline="-25000"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  <m:r>
                            <a:rPr lang="en-US" sz="1400" b="1" i="1" baseline="-25000"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𝑨</m:t>
                          </m:r>
                          <m:r>
                            <a:rPr lang="en-US" sz="1400" b="1" i="1" baseline="-25000">
                              <a:latin typeface="Cambria Math"/>
                              <a:ea typeface="Cambria Math"/>
                            </a:rPr>
                            <m:t>𝟐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  <m:r>
                            <a:rPr lang="en-US" sz="1400" b="1" i="1" baseline="-2500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954107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048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432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𝟐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endParaRPr lang="en-US" sz="14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432252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496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262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𝟐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262029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897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477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𝟐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𝒋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𝒂𝒍𝒍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endParaRPr lang="en-US" sz="14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477473"/>
              </a:xfrm>
              <a:prstGeom prst="rect">
                <a:avLst/>
              </a:prstGeom>
              <a:blipFill rotWithShape="1">
                <a:blip r:embed="rId3"/>
                <a:stretch>
                  <a:fillRect l="-208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897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Converting from CRT to an integer </a:t>
            </a:r>
            <a:br>
              <a:rPr lang="en-US" sz="3200" b="1" dirty="0"/>
            </a:br>
            <a:r>
              <a:rPr lang="en-US" sz="3200" b="1" dirty="0"/>
              <a:t>uses modular arithmetic properties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692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𝑿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𝑹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 smtClean="0"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</a:rPr>
                      <m:t>𝑴</m:t>
                    </m:r>
                    <m:r>
                      <a:rPr lang="en-US" sz="1400" b="1" i="1" baseline="-25000" smtClean="0">
                        <a:latin typeface="Cambria Math"/>
                      </a:rPr>
                      <m:t>𝟐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𝒋</m:t>
                        </m:r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𝒂𝒍𝒍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𝑹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𝑹</m:t>
                    </m:r>
                    <m:r>
                      <a:rPr lang="en-US" sz="1400" b="1" i="1" baseline="-25000" smtClean="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𝑴𝒋</m:t>
                        </m:r>
                      </m:e>
                    </m:d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692917"/>
              </a:xfrm>
              <a:prstGeom prst="rect">
                <a:avLst/>
              </a:prstGeom>
              <a:blipFill rotWithShape="1">
                <a:blip r:embed="rId3"/>
                <a:stretch>
                  <a:fillRect l="-208" b="-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897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Make terms vanish for other moduli </a:t>
            </a:r>
            <a:br>
              <a:rPr lang="en-US" sz="3200" b="1" dirty="0"/>
            </a:br>
            <a:r>
              <a:rPr lang="en-US" sz="3200" b="1" dirty="0"/>
              <a:t>by multiplying by all other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867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Make terms vanish for other moduli </a:t>
            </a:r>
            <a:br>
              <a:rPr lang="en-US" sz="3200" b="1" dirty="0"/>
            </a:br>
            <a:r>
              <a:rPr lang="en-US" sz="3200" b="1" dirty="0"/>
              <a:t>by multiplying by all other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)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for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all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b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47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Make terms vanish for other moduli </a:t>
            </a:r>
            <a:br>
              <a:rPr lang="en-US" sz="3200" b="1" dirty="0"/>
            </a:br>
            <a:r>
              <a:rPr lang="en-US" sz="3200" b="1" dirty="0"/>
              <a:t>by multiplying by all other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)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for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all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b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N is product of all moduli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169551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47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Make terms vanish for other moduli </a:t>
            </a:r>
            <a:br>
              <a:rPr lang="en-US" sz="3200" b="1" dirty="0"/>
            </a:br>
            <a:r>
              <a:rPr lang="en-US" sz="3200" b="1" dirty="0"/>
              <a:t>by multiplying by all other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622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)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for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all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b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N is product of all moduli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product of all moduli except </a:t>
                </a:r>
                <a:r>
                  <a:rPr lang="en-US" sz="1400" b="1" dirty="0" err="1">
                    <a:ea typeface="Cambria Math"/>
                  </a:rPr>
                  <a:t>M</a:t>
                </a:r>
                <a:r>
                  <a:rPr lang="en-US" sz="1400" b="1" baseline="-25000" dirty="0" err="1">
                    <a:ea typeface="Cambria Math"/>
                  </a:rPr>
                  <a:t>i</a:t>
                </a:r>
                <a:endParaRPr lang="en-US" sz="1400" b="1" baseline="-2500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baseline="-25000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622945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47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Make terms vanish for other moduli </a:t>
            </a:r>
            <a:br>
              <a:rPr lang="en-US" sz="3200" b="1" dirty="0"/>
            </a:br>
            <a:r>
              <a:rPr lang="en-US" sz="3200" b="1" dirty="0"/>
              <a:t>by multiplying by all other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244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)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for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all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b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N is product of all moduli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product of all moduli except </a:t>
                </a:r>
                <a:r>
                  <a:rPr lang="en-US" sz="1400" b="1" dirty="0" err="1">
                    <a:ea typeface="Cambria Math"/>
                  </a:rPr>
                  <a:t>M</a:t>
                </a:r>
                <a:r>
                  <a:rPr lang="en-US" sz="1400" b="1" baseline="-25000" dirty="0" err="1">
                    <a:ea typeface="Cambria Math"/>
                  </a:rPr>
                  <a:t>i</a:t>
                </a:r>
                <a:endParaRPr lang="en-US" sz="1400" b="1" baseline="-2500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baseline="-25000" dirty="0">
                  <a:ea typeface="Cambria Math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 smtClean="0">
                                      <a:latin typeface="Cambria Math"/>
                                      <a:ea typeface="Cambria Math"/>
                                    </a:rPr>
                                    <m:t>𝑨</m:t>
                                  </m:r>
                                  <m:r>
                                    <a:rPr lang="en-US" sz="1400" b="1" i="1" baseline="-25000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′</m:t>
                                  </m:r>
                                  <m:f>
                                    <m:f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𝑵</m:t>
                                      </m:r>
                                    </m:num>
                                    <m:den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𝑴</m:t>
                                      </m:r>
                                      <m:r>
                                        <a:rPr lang="en-US" sz="1400" b="1" i="1" baseline="-25000"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baseline="-25000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244717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477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Make terms vanish for other moduli </a:t>
            </a:r>
            <a:br>
              <a:rPr lang="en-US" sz="3200" b="1" dirty="0"/>
            </a:br>
            <a:r>
              <a:rPr lang="en-US" sz="3200" b="1" dirty="0"/>
              <a:t>by multiplying by all other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460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)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for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all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b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N is product of all moduli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product of all moduli except </a:t>
                </a:r>
                <a:r>
                  <a:rPr lang="en-US" sz="1400" b="1" dirty="0" err="1">
                    <a:ea typeface="Cambria Math"/>
                  </a:rPr>
                  <a:t>M</a:t>
                </a:r>
                <a:r>
                  <a:rPr lang="en-US" sz="1400" b="1" baseline="-25000" dirty="0" err="1">
                    <a:ea typeface="Cambria Math"/>
                  </a:rPr>
                  <a:t>i</a:t>
                </a:r>
                <a:endParaRPr lang="en-US" sz="1400" b="1" baseline="-2500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baseline="-25000" dirty="0">
                  <a:ea typeface="Cambria Math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 smtClean="0">
                                      <a:latin typeface="Cambria Math"/>
                                      <a:ea typeface="Cambria Math"/>
                                    </a:rPr>
                                    <m:t>𝑨</m:t>
                                  </m:r>
                                  <m:r>
                                    <a:rPr lang="en-US" sz="1400" b="1" i="1" baseline="-25000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′</m:t>
                                  </m:r>
                                  <m:f>
                                    <m:f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𝑵</m:t>
                                      </m:r>
                                    </m:num>
                                    <m:den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𝑴</m:t>
                                      </m:r>
                                      <m:r>
                                        <a:rPr lang="en-US" sz="1400" b="1" i="1" baseline="-25000"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baseline="-25000" dirty="0">
                  <a:ea typeface="Cambria Math"/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𝑴𝒋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𝒂𝒍𝒍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r>
                  <a:rPr lang="en-US" sz="1400" b="1" i="1" dirty="0">
                    <a:latin typeface="Cambria Math"/>
                    <a:ea typeface="Cambria Math"/>
                  </a:rPr>
                  <a:t> (YES)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460161"/>
              </a:xfrm>
              <a:prstGeom prst="rect">
                <a:avLst/>
              </a:prstGeom>
              <a:blipFill rotWithShape="1">
                <a:blip r:embed="rId3"/>
                <a:stretch>
                  <a:fillRect l="-208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47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Make terms vanish for other moduli </a:t>
            </a:r>
            <a:br>
              <a:rPr lang="en-US" sz="3200" b="1" dirty="0"/>
            </a:br>
            <a:r>
              <a:rPr lang="en-US" sz="3200" b="1" dirty="0"/>
              <a:t>by multiplying by all other moduli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891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0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)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for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all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400" b="1" i="0" smtClean="0">
                        <a:latin typeface="Cambria Math"/>
                        <a:ea typeface="Cambria Math"/>
                      </a:rPr>
                      <m:t>b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N is product of all moduli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product of all moduli except </a:t>
                </a:r>
                <a:r>
                  <a:rPr lang="en-US" sz="1400" b="1" dirty="0" err="1">
                    <a:ea typeface="Cambria Math"/>
                  </a:rPr>
                  <a:t>M</a:t>
                </a:r>
                <a:r>
                  <a:rPr lang="en-US" sz="1400" b="1" baseline="-25000" dirty="0" err="1">
                    <a:ea typeface="Cambria Math"/>
                  </a:rPr>
                  <a:t>i</a:t>
                </a:r>
                <a:endParaRPr lang="en-US" sz="1400" b="1" baseline="-2500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baseline="-25000" dirty="0">
                  <a:ea typeface="Cambria Math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 smtClean="0">
                                      <a:latin typeface="Cambria Math"/>
                                      <a:ea typeface="Cambria Math"/>
                                    </a:rPr>
                                    <m:t>𝑨</m:t>
                                  </m:r>
                                  <m:r>
                                    <a:rPr lang="en-US" sz="1400" b="1" i="1" baseline="-25000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′</m:t>
                                  </m:r>
                                  <m:f>
                                    <m:f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𝑵</m:t>
                                      </m:r>
                                    </m:num>
                                    <m:den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𝑴</m:t>
                                      </m:r>
                                      <m:r>
                                        <a:rPr lang="en-US" sz="1400" b="1" i="1" baseline="-25000"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 b="1" baseline="-25000" dirty="0">
                  <a:ea typeface="Cambria Math"/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𝑴𝒋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𝒂𝒍𝒍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r>
                  <a:rPr lang="en-US" sz="1400" b="1" i="1" dirty="0">
                    <a:latin typeface="Cambria Math"/>
                    <a:ea typeface="Cambria Math"/>
                  </a:rPr>
                  <a:t> (YES)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𝑹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𝑹𝒊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𝑴𝒋</m:t>
                        </m:r>
                      </m:e>
                    </m:d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𝑵𝑶𝑻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𝒀𝑬𝑻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891048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47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Multiply each coefficient by its </a:t>
            </a:r>
            <a:br>
              <a:rPr lang="en-US" sz="3200" b="1" dirty="0"/>
            </a:br>
            <a:r>
              <a:rPr lang="en-US" sz="3200" b="1" dirty="0"/>
              <a:t>multiplicative inverse for that term’s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ea typeface="Cambria Mat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07739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Multiply each coefficient by its </a:t>
            </a:r>
            <a:br>
              <a:rPr lang="en-US" sz="3200" b="1" dirty="0"/>
            </a:br>
            <a:r>
              <a:rPr lang="en-US" sz="3200" b="1" dirty="0"/>
              <a:t>multiplicative inverse for that term’s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98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 baseline="-25000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𝒃</m:t>
                            </m:r>
                            <m:r>
                              <a:rPr lang="en-US" sz="1400" b="1" i="1" baseline="-25000">
                                <a:latin typeface="Cambria Math"/>
                                <a:ea typeface="Cambria Math"/>
                              </a:rPr>
                              <m:t>𝒊</m:t>
                            </m:r>
                          </m:e>
                          <m:sup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𝑴𝒊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981807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706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Multiply each coefficient by its </a:t>
            </a:r>
            <a:br>
              <a:rPr lang="en-US" sz="3200" b="1" dirty="0"/>
            </a:br>
            <a:r>
              <a:rPr lang="en-US" sz="3200" b="1" dirty="0"/>
              <a:t>multiplicative inverse for that term’s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417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 baseline="-25000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𝒃</m:t>
                            </m:r>
                            <m:r>
                              <a:rPr lang="en-US" sz="1400" b="1" i="1" baseline="-25000">
                                <a:latin typeface="Cambria Math"/>
                                <a:ea typeface="Cambria Math"/>
                              </a:rPr>
                              <m:t>𝒊</m:t>
                            </m:r>
                          </m:e>
                          <m:sup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𝑴𝒊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400" b="1" dirty="0">
                    <a:ea typeface="Cambria Math"/>
                  </a:rPr>
                  <a:t> to exist, </a:t>
                </a:r>
                <a:r>
                  <a:rPr lang="en-US" sz="1400" b="1" dirty="0" err="1">
                    <a:ea typeface="Cambria Math"/>
                  </a:rPr>
                  <a:t>gcd</a:t>
                </a:r>
                <a:r>
                  <a:rPr lang="en-US" sz="1400" b="1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 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417504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70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Multiply each coefficient by its </a:t>
            </a:r>
            <a:br>
              <a:rPr lang="en-US" sz="3200" b="1" dirty="0"/>
            </a:br>
            <a:r>
              <a:rPr lang="en-US" sz="3200" b="1" dirty="0"/>
              <a:t>multiplicative inverse for that term’s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1942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 baseline="-25000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𝒃</m:t>
                            </m:r>
                            <m:r>
                              <a:rPr lang="en-US" sz="1400" b="1" i="1" baseline="-25000">
                                <a:latin typeface="Cambria Math"/>
                                <a:ea typeface="Cambria Math"/>
                              </a:rPr>
                              <m:t>𝒊</m:t>
                            </m:r>
                          </m:e>
                          <m:sup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𝑴𝒊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400" b="1" dirty="0">
                    <a:ea typeface="Cambria Math"/>
                  </a:rPr>
                  <a:t> to exist, </a:t>
                </a:r>
                <a:r>
                  <a:rPr lang="en-US" sz="1400" b="1" dirty="0" err="1">
                    <a:ea typeface="Cambria Math"/>
                  </a:rPr>
                  <a:t>gcd</a:t>
                </a:r>
                <a:r>
                  <a:rPr lang="en-US" sz="1400" b="1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 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relatively prime to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endParaRPr lang="en-US" sz="1400" b="1" baseline="-25000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1942711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70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Multiply each coefficient by its </a:t>
            </a:r>
            <a:br>
              <a:rPr lang="en-US" sz="3200" b="1" dirty="0"/>
            </a:br>
            <a:r>
              <a:rPr lang="en-US" sz="3200" b="1" dirty="0"/>
              <a:t>multiplicative inverse for that term’s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2636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 baseline="-25000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𝒃</m:t>
                            </m:r>
                            <m:r>
                              <a:rPr lang="en-US" sz="1400" b="1" i="1" baseline="-25000">
                                <a:latin typeface="Cambria Math"/>
                                <a:ea typeface="Cambria Math"/>
                              </a:rPr>
                              <m:t>𝒊</m:t>
                            </m:r>
                          </m:e>
                          <m:sup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𝑴𝒊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400" b="1" dirty="0">
                    <a:ea typeface="Cambria Math"/>
                  </a:rPr>
                  <a:t> to exist, </a:t>
                </a:r>
                <a:r>
                  <a:rPr lang="en-US" sz="1400" b="1" dirty="0" err="1">
                    <a:ea typeface="Cambria Math"/>
                  </a:rPr>
                  <a:t>gcd</a:t>
                </a:r>
                <a:r>
                  <a:rPr lang="en-US" sz="1400" b="1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 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relatively prime to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endParaRPr lang="en-US" sz="1400" b="1" baseline="-25000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𝑨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𝑵</m:t>
                                  </m:r>
                                </m:num>
                                <m:den>
                                  <m:r>
                                    <a:rPr lang="en-US" sz="1400" b="1" i="1" smtClean="0">
                                      <a:latin typeface="Cambria Math"/>
                                      <a:ea typeface="Cambria Math"/>
                                    </a:rPr>
                                    <m:t>𝑴</m:t>
                                  </m:r>
                                  <m:r>
                                    <a:rPr lang="en-US" sz="1400" b="1" i="1" baseline="-25000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1" i="1">
                                              <a:latin typeface="Cambria Math"/>
                                              <a:ea typeface="Cambria Math"/>
                                            </a:rPr>
                                            <m:t>𝑵</m:t>
                                          </m:r>
                                        </m:num>
                                        <m:den>
                                          <m:r>
                                            <a:rPr lang="en-US" sz="14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𝑴</m:t>
                                          </m:r>
                                          <m:r>
                                            <a:rPr lang="en-US" sz="1400" b="1" i="1" baseline="-2500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1400" b="1" dirty="0">
                                  <a:ea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𝒎𝒐𝒅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4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smtClean="0">
                                          <a:latin typeface="Cambria Math"/>
                                          <a:ea typeface="Cambria Math"/>
                                        </a:rPr>
                                        <m:t>𝑴</m:t>
                                      </m:r>
                                    </m:e>
                                    <m:sub>
                                      <m:r>
                                        <a:rPr lang="en-US" sz="1400" b="1" i="1" smtClean="0"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19"/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2636299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70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Multiply each coefficient by its </a:t>
            </a:r>
            <a:br>
              <a:rPr lang="en-US" sz="3200" b="1" dirty="0"/>
            </a:br>
            <a:r>
              <a:rPr lang="en-US" sz="3200" b="1" dirty="0"/>
              <a:t>multiplicative inverse for that term’s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067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 baseline="-25000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𝒃</m:t>
                            </m:r>
                            <m:r>
                              <a:rPr lang="en-US" sz="1400" b="1" i="1" baseline="-25000">
                                <a:latin typeface="Cambria Math"/>
                                <a:ea typeface="Cambria Math"/>
                              </a:rPr>
                              <m:t>𝒊</m:t>
                            </m:r>
                          </m:e>
                          <m:sup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𝑴𝒊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400" b="1" dirty="0">
                    <a:ea typeface="Cambria Math"/>
                  </a:rPr>
                  <a:t> to exist, </a:t>
                </a:r>
                <a:r>
                  <a:rPr lang="en-US" sz="1400" b="1" dirty="0" err="1">
                    <a:ea typeface="Cambria Math"/>
                  </a:rPr>
                  <a:t>gcd</a:t>
                </a:r>
                <a:r>
                  <a:rPr lang="en-US" sz="1400" b="1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 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relatively prime to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endParaRPr lang="en-US" sz="1400" b="1" baseline="-25000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𝑨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𝑵</m:t>
                                  </m:r>
                                </m:num>
                                <m:den>
                                  <m:r>
                                    <a:rPr lang="en-US" sz="1400" b="1" i="1" smtClean="0">
                                      <a:latin typeface="Cambria Math"/>
                                      <a:ea typeface="Cambria Math"/>
                                    </a:rPr>
                                    <m:t>𝑴</m:t>
                                  </m:r>
                                  <m:r>
                                    <a:rPr lang="en-US" sz="1400" b="1" i="1" baseline="-25000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1" i="1">
                                              <a:latin typeface="Cambria Math"/>
                                              <a:ea typeface="Cambria Math"/>
                                            </a:rPr>
                                            <m:t>𝑵</m:t>
                                          </m:r>
                                        </m:num>
                                        <m:den>
                                          <m:r>
                                            <a:rPr lang="en-US" sz="14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𝑴</m:t>
                                          </m:r>
                                          <m:r>
                                            <a:rPr lang="en-US" sz="1400" b="1" i="1" baseline="-2500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1400" b="1" dirty="0">
                                  <a:ea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𝒎𝒐𝒅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4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smtClean="0">
                                          <a:latin typeface="Cambria Math"/>
                                          <a:ea typeface="Cambria Math"/>
                                        </a:rPr>
                                        <m:t>𝑴</m:t>
                                      </m:r>
                                    </m:e>
                                    <m:sub>
                                      <m:r>
                                        <a:rPr lang="en-US" sz="1400" b="1" i="1" smtClean="0"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19"/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𝑴𝒋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𝒂𝒍𝒍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r>
                  <a:rPr lang="en-US" sz="1400" b="1" i="1" dirty="0">
                    <a:latin typeface="Cambria Math"/>
                    <a:ea typeface="Cambria Math"/>
                  </a:rPr>
                  <a:t> (YES)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3067186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70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Autofit/>
          </a:bodyPr>
          <a:lstStyle/>
          <a:p>
            <a:r>
              <a:rPr lang="en-US" sz="3200" b="1" dirty="0"/>
              <a:t>Multiply each coefficient by its </a:t>
            </a:r>
            <a:br>
              <a:rPr lang="en-US" sz="3200" b="1" dirty="0"/>
            </a:br>
            <a:r>
              <a:rPr lang="en-US" sz="3200" b="1" dirty="0"/>
              <a:t>multiplicative inverse for that term’s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0"/>
                <a:ext cx="5867400" cy="3282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 baseline="-25000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𝒃</m:t>
                            </m:r>
                            <m:r>
                              <a:rPr lang="en-US" sz="1400" b="1" i="1" baseline="-25000">
                                <a:latin typeface="Cambria Math"/>
                                <a:ea typeface="Cambria Math"/>
                              </a:rPr>
                              <m:t>𝒊</m:t>
                            </m:r>
                          </m:e>
                          <m:sup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sz="1400" b="1" i="1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𝑴𝒊</m:t>
                    </m:r>
                    <m:r>
                      <m:rPr>
                        <m:nor/>
                      </m:rPr>
                      <a:rPr lang="en-US" sz="1400" b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a typeface="Cambria Math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400" b="1" dirty="0">
                    <a:ea typeface="Cambria Math"/>
                  </a:rPr>
                  <a:t> to exist, </a:t>
                </a:r>
                <a:r>
                  <a:rPr lang="en-US" sz="1400" b="1" dirty="0" err="1">
                    <a:ea typeface="Cambria Math"/>
                  </a:rPr>
                  <a:t>gcd</a:t>
                </a:r>
                <a:r>
                  <a:rPr lang="en-US" sz="1400" b="1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𝒃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r>
                  <a:rPr lang="en-US" sz="1400" b="1" dirty="0">
                    <a:ea typeface="Cambria Math"/>
                  </a:rPr>
                  <a:t> 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𝑵</m:t>
                        </m:r>
                      </m:num>
                      <m:den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</m:t>
                        </m:r>
                        <m:r>
                          <a:rPr lang="en-US" sz="1400" b="1" i="1" baseline="-25000">
                            <a:latin typeface="Cambria Math"/>
                            <a:ea typeface="Cambria Math"/>
                          </a:rPr>
                          <m:t>𝒊</m:t>
                        </m:r>
                      </m:den>
                    </m:f>
                  </m:oMath>
                </a14:m>
                <a:r>
                  <a:rPr lang="en-US" sz="1400" b="1" dirty="0">
                    <a:ea typeface="Cambria Math"/>
                  </a:rPr>
                  <a:t> IS relatively prime to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𝑴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</m:oMath>
                </a14:m>
                <a:endParaRPr lang="en-US" sz="1400" b="1" baseline="-25000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𝑨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𝑵</m:t>
                                  </m:r>
                                </m:num>
                                <m:den>
                                  <m:r>
                                    <a:rPr lang="en-US" sz="1400" b="1" i="1" smtClean="0">
                                      <a:latin typeface="Cambria Math"/>
                                      <a:ea typeface="Cambria Math"/>
                                    </a:rPr>
                                    <m:t>𝑴</m:t>
                                  </m:r>
                                  <m:r>
                                    <a:rPr lang="en-US" sz="1400" b="1" i="1" baseline="-25000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1" i="1">
                                              <a:latin typeface="Cambria Math"/>
                                              <a:ea typeface="Cambria Math"/>
                                            </a:rPr>
                                            <m:t>𝑵</m:t>
                                          </m:r>
                                        </m:num>
                                        <m:den>
                                          <m:r>
                                            <a:rPr lang="en-US" sz="14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𝑴</m:t>
                                          </m:r>
                                          <m:r>
                                            <a:rPr lang="en-US" sz="1400" b="1" i="1" baseline="-2500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1400" b="1" dirty="0">
                                  <a:ea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𝒎𝒐𝒅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400" b="1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smtClean="0">
                                          <a:latin typeface="Cambria Math"/>
                                          <a:ea typeface="Cambria Math"/>
                                        </a:rPr>
                                        <m:t>𝑴</m:t>
                                      </m:r>
                                    </m:e>
                                    <m:sub>
                                      <m:r>
                                        <a:rPr lang="en-US" sz="1400" b="1" i="1" smtClean="0"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19"/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𝑴𝒋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𝒂𝒍𝒍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r>
                  <a:rPr lang="en-US" sz="1400" b="1" i="1" dirty="0">
                    <a:latin typeface="Cambria Math"/>
                    <a:ea typeface="Cambria Math"/>
                  </a:rPr>
                  <a:t> (YES)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𝑹</m:t>
                    </m:r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𝑹𝒊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𝑴𝒋</m:t>
                        </m:r>
                      </m:e>
                    </m:d>
                    <m:r>
                      <a:rPr lang="en-US" sz="1400" b="1" i="1" baseline="-2500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𝒇𝒐𝒓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𝒀𝑬𝑺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0"/>
                <a:ext cx="5867400" cy="3282630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70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Everything CRT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8435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Everything CRT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137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sz="1400" b="1" i="1">
                          <a:latin typeface="Cambria Math"/>
                          <a:ea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13755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6992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Everything CRT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046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sz="1400" b="1" i="1">
                          <a:latin typeface="Cambria Math"/>
                          <a:ea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465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699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Everything CRT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74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sz="1400" b="1" i="1">
                          <a:latin typeface="Cambria Math"/>
                          <a:ea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sz="1400" b="1" i="1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  <m:r>
                                <a:rPr lang="en-US" sz="1400" b="1" i="1" baseline="-2500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</m:e>
                          </m:nary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</m:oMath>
                  </m:oMathPara>
                </a14:m>
                <a:endParaRPr lang="en-US" sz="1400" b="1" i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𝑨</m:t>
                      </m:r>
                      <m:r>
                        <a:rPr lang="en-US" sz="1400" b="1" i="1" baseline="-2500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𝑵</m:t>
                                  </m:r>
                                </m:num>
                                <m:den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𝑴</m:t>
                                  </m:r>
                                  <m:r>
                                    <a:rPr lang="en-US" sz="1400" b="1" i="1" baseline="-25000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1" i="1">
                                              <a:latin typeface="Cambria Math"/>
                                              <a:ea typeface="Cambria Math"/>
                                            </a:rPr>
                                            <m:t>𝑵</m:t>
                                          </m:r>
                                        </m:num>
                                        <m:den>
                                          <m:r>
                                            <a:rPr lang="en-US" sz="1400" b="1" i="1">
                                              <a:latin typeface="Cambria Math"/>
                                              <a:ea typeface="Cambria Math"/>
                                            </a:rPr>
                                            <m:t>𝑴</m:t>
                                          </m:r>
                                          <m:r>
                                            <a:rPr lang="en-US" sz="1400" b="1" i="1" baseline="-2500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1400" b="1" dirty="0">
                                  <a:ea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𝒎𝒐𝒅</m:t>
                                  </m:r>
                                  <m:r>
                                    <a:rPr lang="en-US" sz="1400" b="1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𝑴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latin typeface="Cambria Math"/>
                                          <a:ea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4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n-US" sz="1400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19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74017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699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2716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07777"/>
              </a:xfrm>
              <a:prstGeom prst="rect">
                <a:avLst/>
              </a:prstGeom>
              <a:blipFill rotWithShape="1">
                <a:blip r:embed="rId3"/>
                <a:stretch>
                  <a:fillRect l="-208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08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𝟗𝟎𝟎</m:t>
                    </m:r>
                    <m:r>
                      <a:rPr lang="en-US" sz="1400" b="1" i="0" smtClean="0">
                        <a:latin typeface="Cambria Math"/>
                      </a:rPr>
                      <m:t>/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𝟐𝟐𝟓</m:t>
                    </m:r>
                  </m:oMath>
                </a14:m>
                <a:endParaRPr lang="en-US" sz="14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738664"/>
              </a:xfrm>
              <a:prstGeom prst="rect">
                <a:avLst/>
              </a:prstGeom>
              <a:blipFill rotWithShape="1">
                <a:blip r:embed="rId3"/>
                <a:stretch>
                  <a:fillRect l="-208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003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𝟗𝟎𝟎</m:t>
                    </m:r>
                    <m:r>
                      <a:rPr lang="en-US" sz="1400" b="1" i="0" smtClean="0">
                        <a:latin typeface="Cambria Math"/>
                      </a:rPr>
                      <m:t>/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𝟐𝟐𝟓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latin typeface="Cambria Math"/>
                            <a:ea typeface="Cambria Math"/>
                          </a:rPr>
                          <m:t>𝟐𝟐𝟓</m:t>
                        </m:r>
                      </m:e>
                      <m:sup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03288"/>
              </a:xfrm>
              <a:prstGeom prst="rect">
                <a:avLst/>
              </a:prstGeom>
              <a:blipFill rotWithShape="1">
                <a:blip r:embed="rId3"/>
                <a:stretch>
                  <a:fillRect l="-208" b="-1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483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𝟗𝟎𝟎</m:t>
                    </m:r>
                    <m:r>
                      <a:rPr lang="en-US" sz="1400" b="1" i="0" smtClean="0">
                        <a:latin typeface="Cambria Math"/>
                      </a:rPr>
                      <m:t>/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𝟐𝟐𝟓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latin typeface="Cambria Math"/>
                            <a:ea typeface="Cambria Math"/>
                          </a:rPr>
                          <m:t>𝟐𝟐𝟓</m:t>
                        </m:r>
                      </m:e>
                      <m:sup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400" b="1" i="1" smtClean="0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/>
                        <a:ea typeface="Cambria Math"/>
                      </a:rPr>
                      <m:t>𝟐𝟐𝟓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𝟐𝟐𝟓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483355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1533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𝟗𝟎𝟎</m:t>
                    </m:r>
                    <m:r>
                      <a:rPr lang="en-US" sz="1400" b="1" i="0" smtClean="0">
                        <a:latin typeface="Cambria Math"/>
                      </a:rPr>
                      <m:t>/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𝟐𝟐𝟓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latin typeface="Cambria Math"/>
                            <a:ea typeface="Cambria Math"/>
                          </a:rPr>
                          <m:t>𝟐𝟐𝟓</m:t>
                        </m:r>
                      </m:e>
                      <m:sup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400" b="1" i="1" smtClean="0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/>
                        <a:ea typeface="Cambria Math"/>
                      </a:rPr>
                      <m:t>𝟐𝟐𝟓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𝟐𝟐𝟓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1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𝟎𝟎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𝟏𝟎𝟎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33561"/>
              </a:xfrm>
              <a:prstGeom prst="rect">
                <a:avLst/>
              </a:prstGeom>
              <a:blipFill rotWithShape="1">
                <a:blip r:embed="rId3"/>
                <a:stretch>
                  <a:fillRect l="-208" b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014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𝟗𝟎𝟎</m:t>
                    </m:r>
                    <m:r>
                      <a:rPr lang="en-US" sz="1400" b="1" i="0" smtClean="0">
                        <a:latin typeface="Cambria Math"/>
                      </a:rPr>
                      <m:t>/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𝟐𝟐𝟓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latin typeface="Cambria Math"/>
                            <a:ea typeface="Cambria Math"/>
                          </a:rPr>
                          <m:t>𝟐𝟐𝟓</m:t>
                        </m:r>
                      </m:e>
                      <m:sup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400" b="1" i="1" smtClean="0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/>
                        <a:ea typeface="Cambria Math"/>
                      </a:rPr>
                      <m:t>𝟐𝟐𝟓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𝟐𝟐𝟓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1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𝟎𝟎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𝟏𝟎𝟎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𝟑𝟔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𝟒𝟏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𝟓𝟕𝟔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14654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445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𝟗𝟎𝟎</m:t>
                    </m:r>
                    <m:r>
                      <a:rPr lang="en-US" sz="1400" b="1" i="0" smtClean="0">
                        <a:latin typeface="Cambria Math"/>
                      </a:rPr>
                      <m:t>/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𝟐𝟐𝟓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latin typeface="Cambria Math"/>
                            <a:ea typeface="Cambria Math"/>
                          </a:rPr>
                          <m:t>𝟐𝟐𝟓</m:t>
                        </m:r>
                      </m:e>
                      <m:sup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400" b="1" i="1" smtClean="0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/>
                        <a:ea typeface="Cambria Math"/>
                      </a:rPr>
                      <m:t>𝟐𝟐𝟓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𝟐𝟐𝟓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1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𝟎𝟎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𝟏𝟎𝟎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𝟑𝟔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𝟒𝟏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𝟓𝟕𝟔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𝟐𝟐𝟓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𝟏𝟎𝟎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𝟓𝟕𝟔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𝟗𝟎𝟎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latin typeface="19"/>
                  <a:ea typeface="Cambria Math"/>
                </a:endParaRPr>
              </a:p>
              <a:p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445541"/>
              </a:xfrm>
              <a:prstGeom prst="rect">
                <a:avLst/>
              </a:prstGeom>
              <a:blipFill rotWithShape="1">
                <a:blip r:embed="rId3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7155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(2, 7, 19) (mod (4, 9, 25))?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76600" y="1200151"/>
                <a:ext cx="5867400" cy="2660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𝟐𝟓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𝟗𝟎𝟎</m:t>
                    </m:r>
                  </m:oMath>
                </a14:m>
                <a:endParaRPr lang="en-US" sz="1400" b="1" dirty="0">
                  <a:latin typeface="Cambria Math"/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𝟗𝟎𝟎</m:t>
                    </m:r>
                    <m:r>
                      <a:rPr lang="en-US" sz="1400" b="1" i="0" smtClean="0">
                        <a:latin typeface="Cambria Math"/>
                      </a:rPr>
                      <m:t>/</m:t>
                    </m:r>
                    <m:r>
                      <a:rPr lang="en-US" sz="1400" b="1" i="0" smtClean="0">
                        <a:latin typeface="Cambria Math"/>
                      </a:rPr>
                      <m:t>𝟒</m:t>
                    </m:r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r>
                      <a:rPr lang="en-US" sz="1400" b="1" i="0" smtClean="0">
                        <a:latin typeface="Cambria Math"/>
                      </a:rPr>
                      <m:t>𝟐𝟐𝟓</m:t>
                    </m:r>
                  </m:oMath>
                </a14:m>
                <a:endParaRPr lang="en-US" sz="1400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latin typeface="Cambria Math"/>
                            <a:ea typeface="Cambria Math"/>
                          </a:rPr>
                          <m:t>𝟐𝟐𝟓</m:t>
                        </m:r>
                      </m:e>
                      <m:sup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e>
                      <m:sup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</m:sSup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𝒎𝒐𝒅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1400" b="1" i="1">
                            <a:latin typeface="Cambria Math"/>
                            <a:ea typeface="Cambria Math"/>
                          </a:rPr>
                          <m:t>𝟒</m:t>
                        </m:r>
                      </m:e>
                    </m:d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400" b="1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1400" b="1" i="1" smtClean="0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/>
                        <a:ea typeface="Cambria Math"/>
                      </a:rPr>
                      <m:t>𝟐𝟐𝟓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𝟐𝟐𝟓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1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>
                        <a:latin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</a:rPr>
                      <m:t>𝟏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𝟎𝟎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𝟏𝟎𝟎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14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1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400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r>
                          <a:rPr lang="en-US" sz="1400" b="1" i="1">
                            <a:latin typeface="Cambria Math"/>
                          </a:rPr>
                          <m:t>𝟏</m:t>
                        </m:r>
                      </m:sup>
                    </m:sSubSup>
                    <m:r>
                      <a:rPr lang="en-US" sz="1400" b="1" i="1">
                        <a:latin typeface="Cambria Math"/>
                      </a:rPr>
                      <m:t>=</m:t>
                    </m:r>
                  </m:oMath>
                </a14:m>
                <a:r>
                  <a:rPr lang="en-US" sz="14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0" smtClean="0">
                        <a:latin typeface="Cambria Math"/>
                        <a:ea typeface="Cambria Math"/>
                      </a:rPr>
                      <m:t>𝟑𝟔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·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𝟒𝟏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𝒎𝒐𝒅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𝟗𝟎𝟎</m:t>
                    </m:r>
                    <m:r>
                      <a:rPr lang="en-US" sz="14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400" b="1" i="1" smtClean="0">
                        <a:latin typeface="Cambria Math"/>
                        <a:ea typeface="Cambria Math"/>
                      </a:rPr>
                      <m:t>𝟓𝟕𝟔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𝟐𝟐𝟓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𝟏𝟎𝟎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𝟓𝟕𝟔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  <a:ea typeface="Cambria Math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  <a:ea typeface="Cambria Math"/>
                            </a:rPr>
                            <m:t>𝟗𝟎𝟎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latin typeface="19"/>
                  <a:ea typeface="Cambria Math"/>
                </a:endParaRPr>
              </a:p>
              <a:p>
                <a:endParaRPr lang="en-US" sz="1400" b="1" dirty="0">
                  <a:latin typeface="1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</a:rPr>
                        <m:t>𝑿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𝟑𝟗𝟒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𝟗𝟎𝟎</m:t>
                      </m:r>
                      <m:r>
                        <a:rPr lang="en-US" sz="1400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1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60985"/>
              </a:xfrm>
              <a:prstGeom prst="rect">
                <a:avLst/>
              </a:prstGeom>
              <a:blipFill rotWithShape="1">
                <a:blip r:embed="rId3"/>
                <a:stretch>
                  <a:fillRect l="-208" b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67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23865</TotalTime>
  <Words>2135</Words>
  <Application>Microsoft Office PowerPoint</Application>
  <PresentationFormat>On-screen Show (16:9)</PresentationFormat>
  <Paragraphs>551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19</vt:lpstr>
      <vt:lpstr>Arial</vt:lpstr>
      <vt:lpstr>Calibri</vt:lpstr>
      <vt:lpstr>Cambria Math</vt:lpstr>
      <vt:lpstr>Office Theme</vt:lpstr>
      <vt:lpstr>Chinese Remainder Theorem Lesson 2</vt:lpstr>
      <vt:lpstr>Chinese Remainder Theorem Lesson 2</vt:lpstr>
      <vt:lpstr>Chinese Remainder Theorem Lesson 2</vt:lpstr>
      <vt:lpstr>Chinese Remainder Theorem Lesson 2</vt:lpstr>
      <vt:lpstr>Chinese Remainder Theorem Lesson 2</vt:lpstr>
      <vt:lpstr>Chinese Remainder Theorem Lesson 2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CRT moduli must be pairwise coprime</vt:lpstr>
      <vt:lpstr>Converting from CRT to an integer  uses modular arithmetic properties</vt:lpstr>
      <vt:lpstr>Converting from CRT to an integer  uses modular arithmetic properties</vt:lpstr>
      <vt:lpstr>Converting from CRT to an integer  uses modular arithmetic properties</vt:lpstr>
      <vt:lpstr>Converting from CRT to an integer  uses modular arithmetic properties</vt:lpstr>
      <vt:lpstr>Converting from CRT to an integer  uses modular arithmetic properties</vt:lpstr>
      <vt:lpstr>Converting from CRT to an integer  uses modular arithmetic properties</vt:lpstr>
      <vt:lpstr>Converting from CRT to an integer  uses modular arithmetic properties</vt:lpstr>
      <vt:lpstr>Converting from CRT to an integer  uses modular arithmetic properties</vt:lpstr>
      <vt:lpstr>Converting from CRT to an integer  uses modular arithmetic properties</vt:lpstr>
      <vt:lpstr>Make terms vanish for other moduli  by multiplying by all other moduli</vt:lpstr>
      <vt:lpstr>Make terms vanish for other moduli  by multiplying by all other moduli</vt:lpstr>
      <vt:lpstr>Make terms vanish for other moduli  by multiplying by all other moduli</vt:lpstr>
      <vt:lpstr>Make terms vanish for other moduli  by multiplying by all other moduli</vt:lpstr>
      <vt:lpstr>Make terms vanish for other moduli  by multiplying by all other moduli</vt:lpstr>
      <vt:lpstr>Make terms vanish for other moduli  by multiplying by all other moduli</vt:lpstr>
      <vt:lpstr>Make terms vanish for other moduli  by multiplying by all other moduli</vt:lpstr>
      <vt:lpstr>Multiply each coefficient by its  multiplicative inverse for that term’s modulus</vt:lpstr>
      <vt:lpstr>Multiply each coefficient by its  multiplicative inverse for that term’s modulus</vt:lpstr>
      <vt:lpstr>Multiply each coefficient by its  multiplicative inverse for that term’s modulus</vt:lpstr>
      <vt:lpstr>Multiply each coefficient by its  multiplicative inverse for that term’s modulus</vt:lpstr>
      <vt:lpstr>Multiply each coefficient by its  multiplicative inverse for that term’s modulus</vt:lpstr>
      <vt:lpstr>Multiply each coefficient by its  multiplicative inverse for that term’s modulus</vt:lpstr>
      <vt:lpstr>Multiply each coefficient by its  multiplicative inverse for that term’s modulus</vt:lpstr>
      <vt:lpstr>Everything CRT in one place</vt:lpstr>
      <vt:lpstr>Everything CRT in one place</vt:lpstr>
      <vt:lpstr>Everything CRT in one place</vt:lpstr>
      <vt:lpstr>Everything CRT in one place</vt:lpstr>
      <vt:lpstr>What is (2, 7, 19) (mod (4, 9, 25))?</vt:lpstr>
      <vt:lpstr>What is (2, 7, 19) (mod (4, 9, 25))?</vt:lpstr>
      <vt:lpstr>What is (2, 7, 19) (mod (4, 9, 25))?</vt:lpstr>
      <vt:lpstr>What is (2, 7, 19) (mod (4, 9, 25))?</vt:lpstr>
      <vt:lpstr>What is (2, 7, 19) (mod (4, 9, 25))?</vt:lpstr>
      <vt:lpstr>What is (2, 7, 19) (mod (4, 9, 25))?</vt:lpstr>
      <vt:lpstr>What is (2, 7, 19) (mod (4, 9, 25))?</vt:lpstr>
      <vt:lpstr>What is (2, 7, 19) (mod (4, 9, 25))?</vt:lpstr>
      <vt:lpstr>What is (2, 7, 19) (mod (4, 9, 25))?</vt:lpstr>
      <vt:lpstr>What is (2, 7, 19) (mod (4, 9, 25))?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64</cp:revision>
  <dcterms:created xsi:type="dcterms:W3CDTF">2017-04-06T17:43:22Z</dcterms:created>
  <dcterms:modified xsi:type="dcterms:W3CDTF">2017-09-16T00:02:42Z</dcterms:modified>
</cp:coreProperties>
</file>