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4"/>
  </p:notesMasterIdLst>
  <p:sldIdLst>
    <p:sldId id="1017" r:id="rId2"/>
    <p:sldId id="1034" r:id="rId3"/>
    <p:sldId id="1118" r:id="rId4"/>
    <p:sldId id="1116" r:id="rId5"/>
    <p:sldId id="1117" r:id="rId6"/>
    <p:sldId id="1035" r:id="rId7"/>
    <p:sldId id="1036" r:id="rId8"/>
    <p:sldId id="1037" r:id="rId9"/>
    <p:sldId id="1018" r:id="rId10"/>
    <p:sldId id="1038" r:id="rId11"/>
    <p:sldId id="1039" r:id="rId12"/>
    <p:sldId id="1040" r:id="rId13"/>
    <p:sldId id="1041" r:id="rId14"/>
    <p:sldId id="1019" r:id="rId15"/>
    <p:sldId id="1119" r:id="rId16"/>
    <p:sldId id="1042" r:id="rId17"/>
    <p:sldId id="1043" r:id="rId18"/>
    <p:sldId id="1044" r:id="rId19"/>
    <p:sldId id="1045" r:id="rId20"/>
    <p:sldId id="1046" r:id="rId21"/>
    <p:sldId id="1047" r:id="rId22"/>
    <p:sldId id="1048" r:id="rId23"/>
    <p:sldId id="1050" r:id="rId24"/>
    <p:sldId id="1020" r:id="rId25"/>
    <p:sldId id="1051" r:id="rId26"/>
    <p:sldId id="1021" r:id="rId27"/>
    <p:sldId id="1052" r:id="rId28"/>
    <p:sldId id="1053" r:id="rId29"/>
    <p:sldId id="1054" r:id="rId30"/>
    <p:sldId id="1056" r:id="rId31"/>
    <p:sldId id="1057" r:id="rId32"/>
    <p:sldId id="1058" r:id="rId33"/>
    <p:sldId id="1059" r:id="rId34"/>
    <p:sldId id="1060" r:id="rId35"/>
    <p:sldId id="1120" r:id="rId36"/>
    <p:sldId id="1022" r:id="rId37"/>
    <p:sldId id="1061" r:id="rId38"/>
    <p:sldId id="1062" r:id="rId39"/>
    <p:sldId id="1023" r:id="rId40"/>
    <p:sldId id="1063" r:id="rId41"/>
    <p:sldId id="1064" r:id="rId42"/>
    <p:sldId id="1024" r:id="rId43"/>
    <p:sldId id="1065" r:id="rId44"/>
    <p:sldId id="1025" r:id="rId45"/>
    <p:sldId id="1066" r:id="rId46"/>
    <p:sldId id="1026" r:id="rId47"/>
    <p:sldId id="1067" r:id="rId48"/>
    <p:sldId id="1068" r:id="rId49"/>
    <p:sldId id="1069" r:id="rId50"/>
    <p:sldId id="1070" r:id="rId51"/>
    <p:sldId id="1071" r:id="rId52"/>
    <p:sldId id="1072" r:id="rId53"/>
    <p:sldId id="1073" r:id="rId54"/>
    <p:sldId id="1074" r:id="rId55"/>
    <p:sldId id="1027" r:id="rId56"/>
    <p:sldId id="1075" r:id="rId57"/>
    <p:sldId id="1076" r:id="rId58"/>
    <p:sldId id="1077" r:id="rId59"/>
    <p:sldId id="1078" r:id="rId60"/>
    <p:sldId id="1079" r:id="rId61"/>
    <p:sldId id="1080" r:id="rId62"/>
    <p:sldId id="1081" r:id="rId63"/>
    <p:sldId id="1082" r:id="rId64"/>
    <p:sldId id="1083" r:id="rId65"/>
    <p:sldId id="1028" r:id="rId66"/>
    <p:sldId id="1084" r:id="rId67"/>
    <p:sldId id="1085" r:id="rId68"/>
    <p:sldId id="1086" r:id="rId69"/>
    <p:sldId id="1087" r:id="rId70"/>
    <p:sldId id="1088" r:id="rId71"/>
    <p:sldId id="1089" r:id="rId72"/>
    <p:sldId id="1090" r:id="rId73"/>
    <p:sldId id="1091" r:id="rId74"/>
    <p:sldId id="1092" r:id="rId75"/>
    <p:sldId id="1029" r:id="rId76"/>
    <p:sldId id="1093" r:id="rId77"/>
    <p:sldId id="1094" r:id="rId78"/>
    <p:sldId id="1095" r:id="rId79"/>
    <p:sldId id="1096" r:id="rId80"/>
    <p:sldId id="1097" r:id="rId81"/>
    <p:sldId id="1098" r:id="rId82"/>
    <p:sldId id="1030" r:id="rId83"/>
    <p:sldId id="1099" r:id="rId84"/>
    <p:sldId id="1100" r:id="rId85"/>
    <p:sldId id="1101" r:id="rId86"/>
    <p:sldId id="1031" r:id="rId87"/>
    <p:sldId id="1102" r:id="rId88"/>
    <p:sldId id="1103" r:id="rId89"/>
    <p:sldId id="1104" r:id="rId90"/>
    <p:sldId id="1105" r:id="rId91"/>
    <p:sldId id="1032" r:id="rId92"/>
    <p:sldId id="1106" r:id="rId93"/>
    <p:sldId id="1107" r:id="rId94"/>
    <p:sldId id="1108" r:id="rId95"/>
    <p:sldId id="1109" r:id="rId96"/>
    <p:sldId id="1110" r:id="rId97"/>
    <p:sldId id="1111" r:id="rId98"/>
    <p:sldId id="1033" r:id="rId99"/>
    <p:sldId id="1112" r:id="rId100"/>
    <p:sldId id="1113" r:id="rId101"/>
    <p:sldId id="1114" r:id="rId102"/>
    <p:sldId id="1115" r:id="rId10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73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7336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53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50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50361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54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27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in positive integers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27360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45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10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in positive integers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Less than 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04359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45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89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in positive integers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Less than 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Relatively prime to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89134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53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009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in positive integers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Less than 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Relatively prime to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mbria Math"/>
                  </a:rPr>
                  <a:t>Euler’s Totient Theorem (when </a:t>
                </a:r>
                <a:r>
                  <a:rPr lang="en-US" sz="2000" b="1" dirty="0" err="1">
                    <a:ea typeface="Cambria Math"/>
                  </a:rPr>
                  <a:t>gcd</a:t>
                </a:r>
                <a:r>
                  <a:rPr lang="en-US" sz="2000" b="1" dirty="0">
                    <a:ea typeface="Cambria Math"/>
                  </a:rPr>
                  <a:t>(x, N) = 1)</a:t>
                </a:r>
              </a:p>
              <a:p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009735"/>
              </a:xfrm>
              <a:prstGeom prst="rect">
                <a:avLst/>
              </a:prstGeom>
              <a:blipFill rotWithShape="1">
                <a:blip r:embed="rId3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53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relates modulus of the exponent to that of the 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009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Euler’s Totient Function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in positive integers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Less than 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Relatively prime to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mbria Math"/>
                  </a:rPr>
                  <a:t>Euler’s Totient Theorem (when </a:t>
                </a:r>
                <a:r>
                  <a:rPr lang="en-US" sz="2000" b="1" dirty="0" err="1">
                    <a:ea typeface="Cambria Math"/>
                  </a:rPr>
                  <a:t>gcd</a:t>
                </a:r>
                <a:r>
                  <a:rPr lang="en-US" sz="2000" b="1" dirty="0">
                    <a:ea typeface="Cambria Math"/>
                  </a:rPr>
                  <a:t>(x, N) = 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ea typeface="Cambria Math"/>
                </a:endParaRPr>
              </a:p>
              <a:p>
                <a:endParaRPr lang="en-US" sz="20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009735"/>
              </a:xfrm>
              <a:prstGeom prst="rect">
                <a:avLst/>
              </a:prstGeom>
              <a:blipFill rotWithShape="1">
                <a:blip r:embed="rId3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53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only applies to bases relatively prime to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37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only applies to bases relatively prime to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3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3480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34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only applies to bases relatively prime to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488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x and N must be relatively prime!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88806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34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only applies to bases relatively prime to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42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x and N must be relatively prime!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;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𝑺</m:t>
                    </m:r>
                    <m:r>
                      <m:rPr>
                        <m:nor/>
                      </m:rPr>
                      <a:rPr lang="en-US" b="1">
                        <a:latin typeface="Cambria Math"/>
                        <a:ea typeface="Cambria Math"/>
                      </a:rPr>
                      <m:t> =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4280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34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Theorem only applies to bases relatively prime to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19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x and N must be relatively prime!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;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𝑺</m:t>
                    </m:r>
                    <m:r>
                      <m:rPr>
                        <m:nor/>
                      </m:rPr>
                      <a:rPr lang="en-US" b="1">
                        <a:latin typeface="Cambria Math"/>
                        <a:ea typeface="Cambria Math"/>
                      </a:rPr>
                      <m:t> =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DON’T IGNORE THE FINE PRINT!: </a:t>
                </a:r>
                <a:r>
                  <a:rPr lang="en-US" b="1" dirty="0" err="1">
                    <a:ea typeface="Cambria Math"/>
                  </a:rPr>
                  <a:t>gcd</a:t>
                </a:r>
                <a:r>
                  <a:rPr lang="en-US" b="1" dirty="0">
                    <a:ea typeface="Cambria Math"/>
                  </a:rPr>
                  <a:t>(x, N) = 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19802"/>
              </a:xfrm>
              <a:prstGeom prst="rect">
                <a:avLst/>
              </a:prstGeom>
              <a:blipFill rotWithShape="1">
                <a:blip r:embed="rId3"/>
                <a:stretch>
                  <a:fillRect l="-728" b="-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34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37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</p:txBody>
      </p:sp>
    </p:spTree>
    <p:extLst>
      <p:ext uri="{BB962C8B-B14F-4D97-AF65-F5344CB8AC3E}">
        <p14:creationId xmlns:p14="http://schemas.microsoft.com/office/powerpoint/2010/main" val="2015119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5 (mod 21)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5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25 ≡ 4 (mod 21)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5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25 ≡ 4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16 (mod 21)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5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25 ≡ 4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16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8</a:t>
            </a:r>
            <a:r>
              <a:rPr lang="en-US" b="1" dirty="0">
                <a:ea typeface="Cambria Math"/>
              </a:rPr>
              <a:t> ≡ 256 ≡ 4 (mod 21)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5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25 ≡ 4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16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8</a:t>
            </a:r>
            <a:r>
              <a:rPr lang="en-US" b="1" dirty="0">
                <a:ea typeface="Cambria Math"/>
              </a:rPr>
              <a:t> ≡ 256 ≡ 4 (mod 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5</a:t>
            </a:r>
            <a:r>
              <a:rPr lang="en-US" b="1" baseline="30000" dirty="0">
                <a:ea typeface="Cambria Math"/>
              </a:rPr>
              <a:t>12</a:t>
            </a:r>
            <a:r>
              <a:rPr lang="en-US" b="1" dirty="0">
                <a:ea typeface="Cambria Math"/>
              </a:rPr>
              <a:t> ≡ 5</a:t>
            </a:r>
            <a:r>
              <a:rPr lang="en-US" b="1" baseline="30000" dirty="0">
                <a:ea typeface="Cambria Math"/>
              </a:rPr>
              <a:t>8</a:t>
            </a:r>
            <a:r>
              <a:rPr lang="en-US" b="1" dirty="0">
                <a:ea typeface="Cambria Math"/>
              </a:rPr>
              <a:t>·5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4·16 ≡ 63 ≡ 1 (mod 21)</a:t>
            </a:r>
          </a:p>
        </p:txBody>
      </p:sp>
    </p:spTree>
    <p:extLst>
      <p:ext uri="{BB962C8B-B14F-4D97-AF65-F5344CB8AC3E}">
        <p14:creationId xmlns:p14="http://schemas.microsoft.com/office/powerpoint/2010/main" val="3851054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6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≠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3767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6</a:t>
            </a:r>
            <a:r>
              <a:rPr lang="en-US" sz="3200" b="1" baseline="30000" dirty="0"/>
              <a:t>tot(12)</a:t>
            </a:r>
            <a:r>
              <a:rPr lang="en-US" sz="3200" b="1" dirty="0"/>
              <a:t> mod 21 ≠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6</a:t>
            </a:r>
            <a:r>
              <a:rPr lang="en-US" b="1" baseline="30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6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6</a:t>
            </a:r>
            <a:r>
              <a:rPr lang="en-US" b="1" baseline="30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36 ≡ 15 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6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225 ≡ 15(mod 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6</a:t>
            </a:r>
            <a:r>
              <a:rPr lang="en-US" b="1" baseline="30000" dirty="0">
                <a:ea typeface="Cambria Math"/>
              </a:rPr>
              <a:t>8</a:t>
            </a:r>
            <a:r>
              <a:rPr lang="en-US" b="1" dirty="0">
                <a:ea typeface="Cambria Math"/>
              </a:rPr>
              <a:t> ≡ 225 ≡ 15 (mod 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6</a:t>
            </a:r>
            <a:r>
              <a:rPr lang="en-US" b="1" baseline="30000" dirty="0">
                <a:ea typeface="Cambria Math"/>
              </a:rPr>
              <a:t>12</a:t>
            </a:r>
            <a:r>
              <a:rPr lang="en-US" b="1" dirty="0">
                <a:ea typeface="Cambria Math"/>
              </a:rPr>
              <a:t> ≡ 6</a:t>
            </a:r>
            <a:r>
              <a:rPr lang="en-US" b="1" baseline="30000" dirty="0">
                <a:ea typeface="Cambria Math"/>
              </a:rPr>
              <a:t>8</a:t>
            </a:r>
            <a:r>
              <a:rPr lang="en-US" b="1" dirty="0">
                <a:ea typeface="Cambria Math"/>
              </a:rPr>
              <a:t>·6</a:t>
            </a:r>
            <a:r>
              <a:rPr lang="en-US" b="1" baseline="30000" dirty="0">
                <a:ea typeface="Cambria Math"/>
              </a:rPr>
              <a:t>4</a:t>
            </a:r>
            <a:r>
              <a:rPr lang="en-US" b="1" dirty="0">
                <a:ea typeface="Cambria Math"/>
              </a:rPr>
              <a:t> ≡ 15·15 ≡ 225 ≡ 15 (mod 21)</a:t>
            </a:r>
          </a:p>
        </p:txBody>
      </p:sp>
    </p:spTree>
    <p:extLst>
      <p:ext uri="{BB962C8B-B14F-4D97-AF65-F5344CB8AC3E}">
        <p14:creationId xmlns:p14="http://schemas.microsoft.com/office/powerpoint/2010/main" val="4229658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8780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936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93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936" t="-3311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936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Establish four key properties of sets S and R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936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Establish four key properties of sets S and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Show that S = R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936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Establish four key properties of sets S and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Show that S =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Define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and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, the products over each set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Establish four key properties of sets S and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Show that S =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Define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and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, the products over each set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Use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=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 to establish the theorem’s claim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85323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190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proof in eight (mostly) simple steps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0" dirty="0" smtClean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b="1" dirty="0">
                        <a:ea typeface="Cambria Math"/>
                      </a:rPr>
                      <m:t>) = 1}</m:t>
                    </m:r>
                  </m:oMath>
                </a14:m>
                <a:endParaRPr lang="en-US" b="1" dirty="0"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 = |S|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Choose x |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= 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R = {j | j = </a:t>
                </a:r>
                <a:r>
                  <a:rPr lang="en-US" b="1" dirty="0" err="1"/>
                  <a:t>x·k</a:t>
                </a:r>
                <a:r>
                  <a:rPr lang="en-US" b="1" dirty="0"/>
                  <a:t> mod(N) for each k </a:t>
                </a:r>
                <a:r>
                  <a:rPr lang="en-US" b="1" dirty="0">
                    <a:latin typeface="Cambria Math"/>
                    <a:ea typeface="Cambria Math"/>
                  </a:rPr>
                  <a:t>∈ S}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Establish four key properties of sets S and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Show that S = 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Define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and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, the products over each set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Use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=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 to establish the theorem’s claim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Generic algebraic proof and numeric example in parallel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66" b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912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/>
                  <a:t>Step 1: 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) = 1}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4404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/>
                  <a:t>Step 1: 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) = 1}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</p:txBody>
      </p:sp>
    </p:spTree>
    <p:extLst>
      <p:ext uri="{BB962C8B-B14F-4D97-AF65-F5344CB8AC3E}">
        <p14:creationId xmlns:p14="http://schemas.microsoft.com/office/powerpoint/2010/main" val="401071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/>
                  <a:t>Step 1: 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{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| 0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&lt;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gcd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k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sz="3200" b="1" dirty="0">
                        <a:ea typeface="Cambria Math"/>
                      </a:rPr>
                      <m:t>) = 1}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0" y="0"/>
                <a:ext cx="9144000" cy="120015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</p:txBody>
      </p:sp>
    </p:spTree>
    <p:extLst>
      <p:ext uri="{BB962C8B-B14F-4D97-AF65-F5344CB8AC3E}">
        <p14:creationId xmlns:p14="http://schemas.microsoft.com/office/powerpoint/2010/main" val="401071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2: m = |S|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</p:txBody>
      </p:sp>
    </p:spTree>
    <p:extLst>
      <p:ext uri="{BB962C8B-B14F-4D97-AF65-F5344CB8AC3E}">
        <p14:creationId xmlns:p14="http://schemas.microsoft.com/office/powerpoint/2010/main" val="3171007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2: m = |S|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m = 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63711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2: m = |S|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N = 21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S = {1, 2, 4, 5, 8, 10, 11, 13, 16, 17, 19, 20}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m = |S| = 12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/>
                  </a:rPr>
                  <a:t>By definition, m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</m:oMath>
                </a14:m>
                <a:r>
                  <a:rPr lang="en-US" b="1" dirty="0">
                    <a:ea typeface="Cambria Math"/>
                  </a:rPr>
                  <a:t> = totient(N) = tot(N)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728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11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3: Choose x | </a:t>
            </a:r>
            <a:r>
              <a:rPr lang="en-US" sz="3200" b="1" dirty="0" err="1"/>
              <a:t>gcd</a:t>
            </a:r>
            <a:r>
              <a:rPr lang="en-US" sz="3200" b="1" dirty="0"/>
              <a:t>(</a:t>
            </a:r>
            <a:r>
              <a:rPr lang="en-US" sz="3200" b="1" dirty="0" err="1"/>
              <a:t>x,N</a:t>
            </a:r>
            <a:r>
              <a:rPr lang="en-US" sz="3200" b="1" dirty="0"/>
              <a:t>)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m = |S| = 12</a:t>
            </a:r>
          </a:p>
        </p:txBody>
      </p:sp>
    </p:spTree>
    <p:extLst>
      <p:ext uri="{BB962C8B-B14F-4D97-AF65-F5344CB8AC3E}">
        <p14:creationId xmlns:p14="http://schemas.microsoft.com/office/powerpoint/2010/main" val="1410012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3: Choose x | </a:t>
            </a:r>
            <a:r>
              <a:rPr lang="en-US" sz="3200" b="1" dirty="0" err="1"/>
              <a:t>gcd</a:t>
            </a:r>
            <a:r>
              <a:rPr lang="en-US" sz="3200" b="1" dirty="0"/>
              <a:t>(</a:t>
            </a:r>
            <a:r>
              <a:rPr lang="en-US" sz="3200" b="1" dirty="0" err="1"/>
              <a:t>x,N</a:t>
            </a:r>
            <a:r>
              <a:rPr lang="en-US" sz="3200" b="1" dirty="0"/>
              <a:t>) =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m = 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</p:txBody>
      </p:sp>
    </p:spTree>
    <p:extLst>
      <p:ext uri="{BB962C8B-B14F-4D97-AF65-F5344CB8AC3E}">
        <p14:creationId xmlns:p14="http://schemas.microsoft.com/office/powerpoint/2010/main" val="387827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4: R = {j | j = </a:t>
            </a:r>
            <a:r>
              <a:rPr lang="en-US" sz="3200" b="1" dirty="0" err="1"/>
              <a:t>x·k</a:t>
            </a:r>
            <a:r>
              <a:rPr lang="en-US" sz="3200" b="1" dirty="0"/>
              <a:t> mod(N) for each k </a:t>
            </a:r>
            <a:r>
              <a:rPr lang="en-US" sz="3200" b="1" dirty="0">
                <a:latin typeface="Cambria Math"/>
                <a:ea typeface="Cambria Math"/>
              </a:rPr>
              <a:t>∈ S}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m = 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</p:txBody>
      </p:sp>
    </p:spTree>
    <p:extLst>
      <p:ext uri="{BB962C8B-B14F-4D97-AF65-F5344CB8AC3E}">
        <p14:creationId xmlns:p14="http://schemas.microsoft.com/office/powerpoint/2010/main" val="1067356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4: R = {j | j = </a:t>
            </a:r>
            <a:r>
              <a:rPr lang="en-US" sz="3200" b="1" dirty="0" err="1"/>
              <a:t>x·k</a:t>
            </a:r>
            <a:r>
              <a:rPr lang="en-US" sz="3200" b="1" dirty="0"/>
              <a:t> mod(N) for each k </a:t>
            </a:r>
            <a:r>
              <a:rPr lang="en-US" sz="3200" b="1" dirty="0">
                <a:latin typeface="Cambria Math"/>
                <a:ea typeface="Cambria Math"/>
              </a:rPr>
              <a:t>∈ S}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N =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= {1, 2, 4, 5, 8, 10, 11, 13, 16, 17, 19, 20}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m = |S|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R = {5, 10, 20, 4, 19, 8, 13, 2, 17, 1, 11, 16}</a:t>
            </a:r>
          </a:p>
        </p:txBody>
      </p:sp>
    </p:spTree>
    <p:extLst>
      <p:ext uri="{BB962C8B-B14F-4D97-AF65-F5344CB8AC3E}">
        <p14:creationId xmlns:p14="http://schemas.microsoft.com/office/powerpoint/2010/main" val="12348865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0977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Proof by contradiction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Proof by contradiction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5: Establish four key properties of sets S and R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Self-evident by nature of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Proof by contradiction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Proof by contradiction</a:t>
            </a:r>
          </a:p>
        </p:txBody>
      </p:sp>
    </p:spTree>
    <p:extLst>
      <p:ext uri="{BB962C8B-B14F-4D97-AF65-F5344CB8AC3E}">
        <p14:creationId xmlns:p14="http://schemas.microsoft.com/office/powerpoint/2010/main" val="18472502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09820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</a:t>
            </a:r>
            <a:r>
              <a:rPr lang="en-US" b="1" dirty="0" err="1">
                <a:ea typeface="Cambria Math"/>
              </a:rPr>
              <a:t>q·N</a:t>
            </a:r>
            <a:r>
              <a:rPr lang="en-US" b="1" dirty="0">
                <a:ea typeface="Cambria Math"/>
              </a:rPr>
              <a:t>  (0 ≤ j &lt; N)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</a:t>
            </a:r>
            <a:r>
              <a:rPr lang="en-US" b="1" dirty="0" err="1">
                <a:ea typeface="Cambria Math"/>
              </a:rPr>
              <a:t>q·N</a:t>
            </a:r>
            <a:r>
              <a:rPr lang="en-US" b="1" dirty="0">
                <a:ea typeface="Cambria Math"/>
              </a:rPr>
              <a:t>  (0 ≤ j &lt;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·d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q·c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·d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</a:t>
            </a:r>
            <a:r>
              <a:rPr lang="en-US" b="1" dirty="0" err="1">
                <a:ea typeface="Cambria Math"/>
              </a:rPr>
              <a:t>q·N</a:t>
            </a:r>
            <a:r>
              <a:rPr lang="en-US" b="1" dirty="0">
                <a:ea typeface="Cambria Math"/>
              </a:rPr>
              <a:t>  (0 ≤ j &lt;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·d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q·c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/d + q·c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</a:t>
            </a:r>
            <a:r>
              <a:rPr lang="en-US" b="1" dirty="0" err="1">
                <a:ea typeface="Cambria Math"/>
              </a:rPr>
              <a:t>q·N</a:t>
            </a:r>
            <a:r>
              <a:rPr lang="en-US" b="1" dirty="0">
                <a:ea typeface="Cambria Math"/>
              </a:rPr>
              <a:t>  (0 ≤ j &lt;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·d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q·c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/d + q·c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1 (contradiction!)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5.3: All elements in R are also in S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element in R are non-negative integers less than 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Any element relatively prime to N must also be in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| </a:t>
            </a: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d where d 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mod N where k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</a:t>
            </a:r>
            <a:r>
              <a:rPr lang="en-US" b="1" dirty="0" err="1">
                <a:ea typeface="Cambria Math"/>
              </a:rPr>
              <a:t>q·N</a:t>
            </a:r>
            <a:r>
              <a:rPr lang="en-US" b="1" dirty="0">
                <a:ea typeface="Cambria Math"/>
              </a:rPr>
              <a:t>  (0 ≤ j &lt;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·d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 + q·c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c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</a:t>
            </a:r>
            <a:r>
              <a:rPr lang="en-US" b="1" dirty="0" err="1">
                <a:ea typeface="Cambria Math"/>
              </a:rPr>
              <a:t>k·x</a:t>
            </a:r>
            <a:r>
              <a:rPr lang="en-US" b="1" dirty="0">
                <a:ea typeface="Cambria Math"/>
              </a:rPr>
              <a:t>/d + q·c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ea typeface="Cambria Math"/>
              </a:rPr>
              <a:t>gcd</a:t>
            </a:r>
            <a:r>
              <a:rPr lang="en-US" b="1" dirty="0">
                <a:ea typeface="Cambria Math"/>
              </a:rPr>
              <a:t>(j, N) = 1 (contradiction!)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If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then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S, thus 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34186550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34271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</a:t>
            </a:r>
            <a:r>
              <a:rPr lang="en-US" b="1" baseline="30000" dirty="0">
                <a:ea typeface="Cambria Math"/>
              </a:rPr>
              <a:t>-1</a:t>
            </a:r>
            <a:r>
              <a:rPr lang="en-US" b="1" dirty="0">
                <a:ea typeface="Cambria Math"/>
              </a:rPr>
              <a:t> (mod N) exists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</a:t>
            </a:r>
            <a:r>
              <a:rPr lang="en-US" b="1" baseline="30000" dirty="0">
                <a:ea typeface="Cambria Math"/>
              </a:rPr>
              <a:t>-1</a:t>
            </a:r>
            <a:r>
              <a:rPr lang="en-US" b="1" dirty="0">
                <a:ea typeface="Cambria Math"/>
              </a:rPr>
              <a:t> (mod N)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</a:t>
            </a:r>
            <a:r>
              <a:rPr lang="en-US" b="1" baseline="30000" dirty="0">
                <a:ea typeface="Cambria Math"/>
              </a:rPr>
              <a:t>-1</a:t>
            </a:r>
            <a:r>
              <a:rPr lang="en-US" b="1" dirty="0">
                <a:ea typeface="Cambria Math"/>
              </a:rPr>
              <a:t> (mod N)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k | 0 ≤ k &lt; N are in distinct residue classes.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</a:t>
            </a:r>
            <a:r>
              <a:rPr lang="en-US" b="1" baseline="30000" dirty="0">
                <a:ea typeface="Cambria Math"/>
              </a:rPr>
              <a:t>-1</a:t>
            </a:r>
            <a:r>
              <a:rPr lang="en-US" b="1" dirty="0">
                <a:ea typeface="Cambria Math"/>
              </a:rPr>
              <a:t> (mod N)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k | 0 ≤ k &lt; N are in distinct residue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(contradiction!)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/>
              <a:t>Step 5.4: All elements in R are distinct</a:t>
            </a:r>
            <a:endParaRPr lang="en-US" sz="3200" b="1" dirty="0">
              <a:latin typeface="Cambria Math"/>
              <a:ea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Assume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,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exist such that 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(mod N) and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 </a:t>
            </a:r>
            <a:r>
              <a:rPr lang="en-US" b="1" dirty="0">
                <a:latin typeface="Cambria Math"/>
                <a:ea typeface="Cambria Math"/>
              </a:rPr>
              <a:t>⇒ </a:t>
            </a: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·x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·x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x</a:t>
            </a:r>
            <a:r>
              <a:rPr lang="en-US" b="1" baseline="30000" dirty="0">
                <a:ea typeface="Cambria Math"/>
              </a:rPr>
              <a:t>-1</a:t>
            </a:r>
            <a:r>
              <a:rPr lang="en-US" b="1" dirty="0">
                <a:ea typeface="Cambria Math"/>
              </a:rPr>
              <a:t> (mod N)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≡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All k | 0 ≤ k &lt; N are in distinct residue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k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= k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(contradiction!)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j</a:t>
            </a:r>
            <a:r>
              <a:rPr lang="en-US" b="1" baseline="-25000" dirty="0">
                <a:ea typeface="Cambria Math"/>
              </a:rPr>
              <a:t>1</a:t>
            </a:r>
            <a:r>
              <a:rPr lang="en-US" b="1" dirty="0">
                <a:ea typeface="Cambria Math"/>
              </a:rPr>
              <a:t> </a:t>
            </a:r>
            <a:r>
              <a:rPr lang="en-US" b="1" dirty="0">
                <a:latin typeface="Cambria Math"/>
                <a:ea typeface="Cambria Math"/>
              </a:rPr>
              <a:t>≢</a:t>
            </a:r>
            <a:r>
              <a:rPr lang="en-US" b="1" dirty="0">
                <a:ea typeface="Cambria Math"/>
              </a:rPr>
              <a:t> j</a:t>
            </a:r>
            <a:r>
              <a:rPr lang="en-US" b="1" baseline="-25000" dirty="0">
                <a:ea typeface="Cambria Math"/>
              </a:rPr>
              <a:t>2</a:t>
            </a:r>
            <a:r>
              <a:rPr lang="en-US" b="1" dirty="0">
                <a:ea typeface="Cambria Math"/>
              </a:rPr>
              <a:t> (mod N)</a:t>
            </a:r>
            <a:r>
              <a:rPr lang="en-US" b="1" dirty="0">
                <a:latin typeface="Cambria Math"/>
                <a:ea typeface="Cambria Math"/>
              </a:rPr>
              <a:t> ⇒ </a:t>
            </a:r>
            <a:r>
              <a:rPr lang="en-US" b="1" dirty="0">
                <a:ea typeface="Cambria Math"/>
              </a:rPr>
              <a:t>All j </a:t>
            </a:r>
            <a:r>
              <a:rPr lang="en-US" b="1" dirty="0">
                <a:latin typeface="Cambria Math"/>
                <a:ea typeface="Cambria Math"/>
              </a:rPr>
              <a:t>∈</a:t>
            </a:r>
            <a:r>
              <a:rPr lang="en-US" b="1" dirty="0">
                <a:ea typeface="Cambria Math"/>
              </a:rPr>
              <a:t> R are distinct</a:t>
            </a:r>
          </a:p>
        </p:txBody>
      </p:sp>
    </p:spTree>
    <p:extLst>
      <p:ext uri="{BB962C8B-B14F-4D97-AF65-F5344CB8AC3E}">
        <p14:creationId xmlns:p14="http://schemas.microsoft.com/office/powerpoint/2010/main" val="28766126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5029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R by pigeonhole principle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6: Show that S = 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|S| = |R| = 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mbria Math"/>
              </a:rPr>
              <a:t>All elements of S are distinct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S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R by pigeonhole principle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mbria Math"/>
              </a:rPr>
              <a:t>R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S and S </a:t>
            </a:r>
            <a:r>
              <a:rPr lang="en-US" b="1" dirty="0">
                <a:latin typeface="Cambria Math"/>
                <a:ea typeface="Cambria Math"/>
              </a:rPr>
              <a:t>⊆</a:t>
            </a:r>
            <a:r>
              <a:rPr lang="en-US" b="1" dirty="0">
                <a:ea typeface="Cambria Math"/>
              </a:rPr>
              <a:t> R </a:t>
            </a:r>
            <a:r>
              <a:rPr lang="en-US" b="1" dirty="0">
                <a:latin typeface="Cambria Math"/>
                <a:ea typeface="Cambria Math"/>
              </a:rPr>
              <a:t>⇒</a:t>
            </a:r>
            <a:r>
              <a:rPr lang="en-US" b="1" dirty="0">
                <a:ea typeface="Cambria Math"/>
              </a:rPr>
              <a:t> R = 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760909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7: Define P</a:t>
            </a:r>
            <a:r>
              <a:rPr lang="en-US" sz="3200" b="1" baseline="-25000" dirty="0"/>
              <a:t>S</a:t>
            </a:r>
            <a:r>
              <a:rPr lang="en-US" sz="3200" b="1" dirty="0"/>
              <a:t> and P</a:t>
            </a:r>
            <a:r>
              <a:rPr lang="en-US" sz="3200" b="1" baseline="-25000" dirty="0"/>
              <a:t>R</a:t>
            </a:r>
            <a:r>
              <a:rPr lang="en-US" sz="3200" b="1" dirty="0"/>
              <a:t>, the products over each set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668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7: Define P</a:t>
            </a:r>
            <a:r>
              <a:rPr lang="en-US" sz="3200" b="1" baseline="-25000" dirty="0"/>
              <a:t>S</a:t>
            </a:r>
            <a:r>
              <a:rPr lang="en-US" sz="3200" b="1" dirty="0"/>
              <a:t> and P</a:t>
            </a:r>
            <a:r>
              <a:rPr lang="en-US" sz="3200" b="1" baseline="-25000" dirty="0"/>
              <a:t>R</a:t>
            </a:r>
            <a:r>
              <a:rPr lang="en-US" sz="3200" b="1" dirty="0"/>
              <a:t>, the products over each set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124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12421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1106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7: Define P</a:t>
            </a:r>
            <a:r>
              <a:rPr lang="en-US" sz="3200" b="1" baseline="-25000" dirty="0"/>
              <a:t>S</a:t>
            </a:r>
            <a:r>
              <a:rPr lang="en-US" sz="3200" b="1" dirty="0"/>
              <a:t> and P</a:t>
            </a:r>
            <a:r>
              <a:rPr lang="en-US" sz="3200" b="1" baseline="-25000" dirty="0"/>
              <a:t>R</a:t>
            </a:r>
            <a:r>
              <a:rPr lang="en-US" sz="3200" b="1" dirty="0"/>
              <a:t>, the products over each set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156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561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1106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7: Define P</a:t>
            </a:r>
            <a:r>
              <a:rPr lang="en-US" sz="3200" b="1" baseline="-25000" dirty="0"/>
              <a:t>S</a:t>
            </a:r>
            <a:r>
              <a:rPr lang="en-US" sz="3200" b="1" dirty="0"/>
              <a:t> and P</a:t>
            </a:r>
            <a:r>
              <a:rPr lang="en-US" sz="3200" b="1" baseline="-25000" dirty="0"/>
              <a:t>R</a:t>
            </a:r>
            <a:r>
              <a:rPr lang="en-US" sz="3200" b="1" dirty="0"/>
              <a:t>, the products over each set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433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P</a:t>
                </a:r>
                <a:r>
                  <a:rPr lang="en-US" b="1" baseline="-25000" dirty="0"/>
                  <a:t>S</a:t>
                </a:r>
                <a:r>
                  <a:rPr lang="en-US" b="1" dirty="0"/>
                  <a:t> = P</a:t>
                </a:r>
                <a:r>
                  <a:rPr lang="en-US" b="1" baseline="-25000" dirty="0"/>
                  <a:t>R</a:t>
                </a:r>
                <a:r>
                  <a:rPr lang="en-US" b="1" dirty="0"/>
                  <a:t> = 47,297,536,000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33102"/>
              </a:xfrm>
              <a:prstGeom prst="rect">
                <a:avLst/>
              </a:prstGeom>
              <a:blipFill rotWithShape="1">
                <a:blip r:embed="rId3"/>
                <a:stretch>
                  <a:fillRect l="-728" b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1106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8: Use P</a:t>
            </a:r>
            <a:r>
              <a:rPr lang="en-US" sz="3200" b="1" baseline="-25000" dirty="0"/>
              <a:t>S</a:t>
            </a:r>
            <a:r>
              <a:rPr lang="en-US" sz="3200" b="1" dirty="0"/>
              <a:t> = P</a:t>
            </a:r>
            <a:r>
              <a:rPr lang="en-US" sz="3200" b="1" baseline="-25000" dirty="0"/>
              <a:t>R</a:t>
            </a:r>
            <a:r>
              <a:rPr lang="en-US" sz="3200" b="1" dirty="0"/>
              <a:t> to establish the theorem’s claim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9544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8: Use P</a:t>
            </a:r>
            <a:r>
              <a:rPr lang="en-US" sz="3200" b="1" baseline="-25000" dirty="0"/>
              <a:t>S</a:t>
            </a:r>
            <a:r>
              <a:rPr lang="en-US" sz="3200" b="1" dirty="0"/>
              <a:t> = P</a:t>
            </a:r>
            <a:r>
              <a:rPr lang="en-US" sz="3200" b="1" baseline="-25000" dirty="0"/>
              <a:t>R</a:t>
            </a:r>
            <a:r>
              <a:rPr lang="en-US" sz="3200" b="1" dirty="0"/>
              <a:t> to establish the theorem’s claim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62984"/>
              </a:xfrm>
              <a:prstGeom prst="rect">
                <a:avLst/>
              </a:prstGeom>
              <a:blipFill rotWithShape="1"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5420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8: Use P</a:t>
            </a:r>
            <a:r>
              <a:rPr lang="en-US" sz="3200" b="1" baseline="-25000" dirty="0"/>
              <a:t>S</a:t>
            </a:r>
            <a:r>
              <a:rPr lang="en-US" sz="3200" b="1" dirty="0"/>
              <a:t> = P</a:t>
            </a:r>
            <a:r>
              <a:rPr lang="en-US" sz="3200" b="1" baseline="-25000" dirty="0"/>
              <a:t>R</a:t>
            </a:r>
            <a:r>
              <a:rPr lang="en-US" sz="3200" b="1" dirty="0"/>
              <a:t> to establish the theorem’s claim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94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9486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5420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8: Use P</a:t>
            </a:r>
            <a:r>
              <a:rPr lang="en-US" sz="3200" b="1" baseline="-25000" dirty="0"/>
              <a:t>S</a:t>
            </a:r>
            <a:r>
              <a:rPr lang="en-US" sz="3200" b="1" dirty="0"/>
              <a:t> = P</a:t>
            </a:r>
            <a:r>
              <a:rPr lang="en-US" sz="3200" b="1" baseline="-25000" dirty="0"/>
              <a:t>R</a:t>
            </a:r>
            <a:r>
              <a:rPr lang="en-US" sz="3200" b="1" dirty="0"/>
              <a:t> to establish the theorem’s claim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42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267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5420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Step 8: Use P</a:t>
            </a:r>
            <a:r>
              <a:rPr lang="en-US" sz="3200" b="1" baseline="-25000" dirty="0"/>
              <a:t>S</a:t>
            </a:r>
            <a:r>
              <a:rPr lang="en-US" sz="3200" b="1" dirty="0"/>
              <a:t> = P</a:t>
            </a:r>
            <a:r>
              <a:rPr lang="en-US" sz="3200" b="1" baseline="-25000" dirty="0"/>
              <a:t>R</a:t>
            </a:r>
            <a:r>
              <a:rPr lang="en-US" sz="3200" b="1" dirty="0"/>
              <a:t> to establish the theorem’s claim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710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dirty="0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  <a:p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b="1" i="1" dirty="0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</m:t>
                          </m:r>
                        </m:sup>
                      </m:sSup>
                      <m:r>
                        <a:rPr lang="en-US" b="1" i="1" dirty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latin typeface="Cambria Math"/>
                              <a:ea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71010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5420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86454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79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7978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67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6723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3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endParaRPr lang="en-US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3168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97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 (</m:t>
                      </m:r>
                      <m:r>
                        <a:rPr lang="en-US" b="1" i="1" smtClean="0">
                          <a:latin typeface="Cambria Math"/>
                        </a:rPr>
                        <m:t>𝒎𝒐𝒅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9715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69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 (</m:t>
                      </m:r>
                      <m:r>
                        <a:rPr lang="en-US" b="1" i="1" smtClean="0">
                          <a:latin typeface="Cambria Math"/>
                        </a:rPr>
                        <m:t>𝒎𝒐𝒅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>
                          <a:latin typeface="Cambria Math"/>
                        </a:rPr>
                        <m:t>𝑰𝑭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697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 exponent lives in a mod-totient world – </a:t>
            </a:r>
            <a:br>
              <a:rPr lang="en-US" sz="3200" b="1" dirty="0"/>
            </a:br>
            <a:r>
              <a:rPr lang="en-US" sz="3200" b="1" dirty="0"/>
              <a:t>but only when the base is </a:t>
            </a:r>
            <a:r>
              <a:rPr lang="en-US" sz="3200" b="1" dirty="0" err="1"/>
              <a:t>r.p.</a:t>
            </a:r>
            <a:r>
              <a:rPr lang="en-US" sz="3200" b="1" dirty="0"/>
              <a:t> to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65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𝒓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𝒒𝒎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 (</m:t>
                      </m:r>
                      <m:r>
                        <a:rPr lang="en-US" b="1" i="1" smtClean="0">
                          <a:latin typeface="Cambria Math"/>
                        </a:rPr>
                        <m:t>𝒎𝒐𝒅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𝒒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>
                          <a:latin typeface="Cambria Math"/>
                        </a:rPr>
                        <m:t>𝑰𝑭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>
                          <a:latin typeface="Cambria Math"/>
                        </a:rPr>
                        <m:t>𝑰𝑭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65345"/>
              </a:xfrm>
              <a:prstGeom prst="rect">
                <a:avLst/>
              </a:prstGeom>
              <a:blipFill rotWithShape="1">
                <a:blip r:embed="rId3"/>
                <a:stretch>
                  <a:fillRect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138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Don’t forget the fine print!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03973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Don’t forget the fine print!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 general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38629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Don’t forget the fine print!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41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general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≢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41925"/>
              </a:xfrm>
              <a:prstGeom prst="rect">
                <a:avLst/>
              </a:prstGeom>
              <a:blipFill rotWithShape="1">
                <a:blip r:embed="rId3"/>
                <a:stretch>
                  <a:fillRect l="-728" t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8629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Don’t forget the fine print!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495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general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≢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Congruence only holds when x, N are relatively prime!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95922"/>
              </a:xfrm>
              <a:prstGeom prst="rect">
                <a:avLst/>
              </a:prstGeom>
              <a:blipFill rotWithShape="1">
                <a:blip r:embed="rId3"/>
                <a:stretch>
                  <a:fillRect l="-728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8629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Don’t forget the fine print!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4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general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≢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Congruence only holds when x, N are relatively prime!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Next: Euler’s Totient Function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49920"/>
              </a:xfrm>
              <a:prstGeom prst="rect">
                <a:avLst/>
              </a:prstGeom>
              <a:blipFill rotWithShape="1">
                <a:blip r:embed="rId3"/>
                <a:stretch>
                  <a:fillRect l="-728" t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86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81633</TotalTime>
  <Words>4791</Words>
  <Application>Microsoft Office PowerPoint</Application>
  <PresentationFormat>On-screen Show (16:9)</PresentationFormat>
  <Paragraphs>924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6" baseType="lpstr">
      <vt:lpstr>Arial</vt:lpstr>
      <vt:lpstr>Calibri</vt:lpstr>
      <vt:lpstr>Cambria Math</vt:lpstr>
      <vt:lpstr>Office Theme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relates modulus of the exponent to that of the base</vt:lpstr>
      <vt:lpstr>Euler’s Totient Theorem only applies to bases relatively prime to modulus</vt:lpstr>
      <vt:lpstr>Euler’s Totient Theorem only applies to bases relatively prime to modulus</vt:lpstr>
      <vt:lpstr>Euler’s Totient Theorem only applies to bases relatively prime to modulus</vt:lpstr>
      <vt:lpstr>Euler’s Totient Theorem only applies to bases relatively prime to modulus</vt:lpstr>
      <vt:lpstr>Euler’s Totient Theorem only applies to bases relatively prime to modulus</vt:lpstr>
      <vt:lpstr>5tot(12) mod 21 = 1</vt:lpstr>
      <vt:lpstr>5tot(12) mod 21 = 1</vt:lpstr>
      <vt:lpstr>5tot(12) mod 21 = 1</vt:lpstr>
      <vt:lpstr>5tot(12) mod 21 = 1</vt:lpstr>
      <vt:lpstr>5tot(12) mod 21 = 1</vt:lpstr>
      <vt:lpstr>5tot(12) mod 21 = 1</vt:lpstr>
      <vt:lpstr>5tot(12) mod 21 = 1</vt:lpstr>
      <vt:lpstr>5tot(12) mod 21 = 1</vt:lpstr>
      <vt:lpstr>5tot(12) mod 21 = 1</vt:lpstr>
      <vt:lpstr>5tot(12) mod 21 = 1</vt:lpstr>
      <vt:lpstr>6tot(12) mod 21 ≠ 1</vt:lpstr>
      <vt:lpstr>6tot(12) mod 21 ≠ 1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A proof in eight (mostly) simple steps</vt:lpstr>
      <vt:lpstr>Step 1: S = "{k| 0 &lt; k &lt; N and gcd(k, N) = 1}"</vt:lpstr>
      <vt:lpstr>Step 1: S = "{k| 0 &lt; k &lt; N and gcd(k, N) = 1}"</vt:lpstr>
      <vt:lpstr>Step 1: S = "{k| 0 &lt; k &lt; N and gcd(k, N) = 1}"</vt:lpstr>
      <vt:lpstr>Step 2: m = |S|</vt:lpstr>
      <vt:lpstr>Step 2: m = |S|</vt:lpstr>
      <vt:lpstr>Step 2: m = |S|</vt:lpstr>
      <vt:lpstr>Step 3: Choose x | gcd(x,N) = 1</vt:lpstr>
      <vt:lpstr>Step 3: Choose x | gcd(x,N) = 1</vt:lpstr>
      <vt:lpstr>Step 4: R = {j | j = x·k mod(N) for each k ∈ S}</vt:lpstr>
      <vt:lpstr>Step 4: R = {j | j = x·k mod(N) for each k ∈ S}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5: Establish four key properties of sets S and R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5.3: All elements in R are also in S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5.4: All elements in R are distinct</vt:lpstr>
      <vt:lpstr>Step 6: Show that S = R</vt:lpstr>
      <vt:lpstr>Step 6: Show that S = R</vt:lpstr>
      <vt:lpstr>Step 6: Show that S = R</vt:lpstr>
      <vt:lpstr>Step 6: Show that S = R</vt:lpstr>
      <vt:lpstr>Step 6: Show that S = R</vt:lpstr>
      <vt:lpstr>Step 6: Show that S = R</vt:lpstr>
      <vt:lpstr>Step 6: Show that S = R</vt:lpstr>
      <vt:lpstr>Step 7: Define PS and PR, the products over each set</vt:lpstr>
      <vt:lpstr>Step 7: Define PS and PR, the products over each set</vt:lpstr>
      <vt:lpstr>Step 7: Define PS and PR, the products over each set</vt:lpstr>
      <vt:lpstr>Step 7: Define PS and PR, the products over each set</vt:lpstr>
      <vt:lpstr>Step 8: Use PS = PR to establish the theorem’s claim</vt:lpstr>
      <vt:lpstr>Step 8: Use PS = PR to establish the theorem’s claim</vt:lpstr>
      <vt:lpstr>Step 8: Use PS = PR to establish the theorem’s claim</vt:lpstr>
      <vt:lpstr>Step 8: Use PS = PR to establish the theorem’s claim</vt:lpstr>
      <vt:lpstr>Step 8: Use PS = PR to establish the theorem’s claim</vt:lpstr>
      <vt:lpstr>The exponent lives in a mod-totient world –  but only when the base is r.p. to the modulus</vt:lpstr>
      <vt:lpstr>The exponent lives in a mod-totient world –  but only when the base is r.p. to the modulus</vt:lpstr>
      <vt:lpstr>The exponent lives in a mod-totient world –  but only when the base is r.p. to the modulus</vt:lpstr>
      <vt:lpstr>The exponent lives in a mod-totient world –  but only when the base is r.p. to the modulus</vt:lpstr>
      <vt:lpstr>The exponent lives in a mod-totient world –  but only when the base is r.p. to the modulus</vt:lpstr>
      <vt:lpstr>The exponent lives in a mod-totient world –  but only when the base is r.p. to the modulus</vt:lpstr>
      <vt:lpstr>The exponent lives in a mod-totient world –  but only when the base is r.p. to the modulus</vt:lpstr>
      <vt:lpstr>Don’t forget the fine print!</vt:lpstr>
      <vt:lpstr>Don’t forget the fine print!</vt:lpstr>
      <vt:lpstr>Don’t forget the fine print!</vt:lpstr>
      <vt:lpstr>Don’t forget the fine print!</vt:lpstr>
      <vt:lpstr>Don’t forget the fine print!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319</cp:revision>
  <dcterms:created xsi:type="dcterms:W3CDTF">2017-04-06T17:43:22Z</dcterms:created>
  <dcterms:modified xsi:type="dcterms:W3CDTF">2017-09-15T23:57:03Z</dcterms:modified>
</cp:coreProperties>
</file>