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8"/>
  </p:notesMasterIdLst>
  <p:sldIdLst>
    <p:sldId id="1025" r:id="rId2"/>
    <p:sldId id="1034" r:id="rId3"/>
    <p:sldId id="1035" r:id="rId4"/>
    <p:sldId id="1036" r:id="rId5"/>
    <p:sldId id="1037" r:id="rId6"/>
    <p:sldId id="1038" r:id="rId7"/>
    <p:sldId id="1026" r:id="rId8"/>
    <p:sldId id="1039" r:id="rId9"/>
    <p:sldId id="1040" r:id="rId10"/>
    <p:sldId id="1041" r:id="rId11"/>
    <p:sldId id="1042" r:id="rId12"/>
    <p:sldId id="1027" r:id="rId13"/>
    <p:sldId id="1043" r:id="rId14"/>
    <p:sldId id="1044" r:id="rId15"/>
    <p:sldId id="1045" r:id="rId16"/>
    <p:sldId id="1046" r:id="rId17"/>
    <p:sldId id="1047" r:id="rId18"/>
    <p:sldId id="1028" r:id="rId19"/>
    <p:sldId id="1048" r:id="rId20"/>
    <p:sldId id="1049" r:id="rId21"/>
    <p:sldId id="1050" r:id="rId22"/>
    <p:sldId id="1051" r:id="rId23"/>
    <p:sldId id="1052" r:id="rId24"/>
    <p:sldId id="1029" r:id="rId25"/>
    <p:sldId id="1053" r:id="rId26"/>
    <p:sldId id="1054" r:id="rId27"/>
    <p:sldId id="1055" r:id="rId28"/>
    <p:sldId id="1056" r:id="rId29"/>
    <p:sldId id="1057" r:id="rId30"/>
    <p:sldId id="1058" r:id="rId31"/>
    <p:sldId id="1030" r:id="rId32"/>
    <p:sldId id="1059" r:id="rId33"/>
    <p:sldId id="1060" r:id="rId34"/>
    <p:sldId id="1061" r:id="rId35"/>
    <p:sldId id="1031" r:id="rId36"/>
    <p:sldId id="1062" r:id="rId37"/>
    <p:sldId id="1063" r:id="rId38"/>
    <p:sldId id="1064" r:id="rId39"/>
    <p:sldId id="1065" r:id="rId40"/>
    <p:sldId id="1066" r:id="rId41"/>
    <p:sldId id="1032" r:id="rId42"/>
    <p:sldId id="1067" r:id="rId43"/>
    <p:sldId id="1068" r:id="rId44"/>
    <p:sldId id="1069" r:id="rId45"/>
    <p:sldId id="1033" r:id="rId46"/>
    <p:sldId id="1070" r:id="rId47"/>
    <p:sldId id="1071" r:id="rId48"/>
    <p:sldId id="1072" r:id="rId49"/>
    <p:sldId id="1073" r:id="rId50"/>
    <p:sldId id="1074" r:id="rId51"/>
    <p:sldId id="1075" r:id="rId52"/>
    <p:sldId id="1076" r:id="rId53"/>
    <p:sldId id="1077" r:id="rId54"/>
    <p:sldId id="1078" r:id="rId55"/>
    <p:sldId id="1079" r:id="rId56"/>
    <p:sldId id="1080" r:id="rId5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465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b="1" i="1" dirty="0">
                    <a:latin typeface="Cambria Math"/>
                    <a:ea typeface="Cambria Math"/>
                  </a:rPr>
                  <a:t> where  </a:t>
                </a:r>
                <a:r>
                  <a:rPr lang="en-US" b="1" dirty="0">
                    <a:latin typeface="Cambria Math"/>
                    <a:ea typeface="Cambria Math"/>
                  </a:rPr>
                  <a:t>S = {k | 0 &lt; k &lt; N and </a:t>
                </a:r>
                <a:r>
                  <a:rPr lang="en-US" b="1" dirty="0" err="1">
                    <a:latin typeface="Cambria Math"/>
                    <a:ea typeface="Cambria Math"/>
                  </a:rPr>
                  <a:t>gcd</a:t>
                </a:r>
                <a:r>
                  <a:rPr lang="en-US" b="1" dirty="0">
                    <a:latin typeface="Cambria Math"/>
                    <a:ea typeface="Cambria Math"/>
                  </a:rPr>
                  <a:t>(</a:t>
                </a:r>
                <a:r>
                  <a:rPr lang="en-US" b="1" dirty="0" err="1">
                    <a:latin typeface="Cambria Math"/>
                    <a:ea typeface="Cambria Math"/>
                  </a:rPr>
                  <a:t>N,k</a:t>
                </a:r>
                <a:r>
                  <a:rPr lang="en-US" b="1" dirty="0">
                    <a:latin typeface="Cambria Math"/>
                    <a:ea typeface="Cambria Math"/>
                  </a:rPr>
                  <a:t>) = 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728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b="1" i="1" dirty="0">
                    <a:latin typeface="Cambria Math"/>
                    <a:ea typeface="Cambria Math"/>
                  </a:rPr>
                  <a:t> where  </a:t>
                </a:r>
                <a:r>
                  <a:rPr lang="en-US" b="1" dirty="0">
                    <a:latin typeface="Cambria Math"/>
                    <a:ea typeface="Cambria Math"/>
                  </a:rPr>
                  <a:t>S = {k | 0 &lt; k &lt; N and </a:t>
                </a:r>
                <a:r>
                  <a:rPr lang="en-US" b="1" dirty="0" err="1">
                    <a:latin typeface="Cambria Math"/>
                    <a:ea typeface="Cambria Math"/>
                  </a:rPr>
                  <a:t>gcd</a:t>
                </a:r>
                <a:r>
                  <a:rPr lang="en-US" b="1" dirty="0">
                    <a:latin typeface="Cambria Math"/>
                    <a:ea typeface="Cambria Math"/>
                  </a:rPr>
                  <a:t>(</a:t>
                </a:r>
                <a:r>
                  <a:rPr lang="en-US" b="1" dirty="0" err="1">
                    <a:latin typeface="Cambria Math"/>
                    <a:ea typeface="Cambria Math"/>
                  </a:rPr>
                  <a:t>N,k</a:t>
                </a:r>
                <a:r>
                  <a:rPr lang="en-US" b="1" dirty="0">
                    <a:latin typeface="Cambria Math"/>
                    <a:ea typeface="Cambria Math"/>
                  </a:rPr>
                  <a:t>) = 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Fundamental theorem of arithmetic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728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07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b="1" i="1" dirty="0">
                    <a:latin typeface="Cambria Math"/>
                    <a:ea typeface="Cambria Math"/>
                  </a:rPr>
                  <a:t> where  </a:t>
                </a:r>
                <a:r>
                  <a:rPr lang="en-US" b="1" dirty="0">
                    <a:latin typeface="Cambria Math"/>
                    <a:ea typeface="Cambria Math"/>
                  </a:rPr>
                  <a:t>S = {k | 0 &lt; k &lt; N and </a:t>
                </a:r>
                <a:r>
                  <a:rPr lang="en-US" b="1" dirty="0" err="1">
                    <a:latin typeface="Cambria Math"/>
                    <a:ea typeface="Cambria Math"/>
                  </a:rPr>
                  <a:t>gcd</a:t>
                </a:r>
                <a:r>
                  <a:rPr lang="en-US" b="1" dirty="0">
                    <a:latin typeface="Cambria Math"/>
                    <a:ea typeface="Cambria Math"/>
                  </a:rPr>
                  <a:t>(</a:t>
                </a:r>
                <a:r>
                  <a:rPr lang="en-US" b="1" dirty="0" err="1">
                    <a:latin typeface="Cambria Math"/>
                    <a:ea typeface="Cambria Math"/>
                  </a:rPr>
                  <a:t>N,k</a:t>
                </a:r>
                <a:r>
                  <a:rPr lang="en-US" b="1" dirty="0">
                    <a:latin typeface="Cambria Math"/>
                    <a:ea typeface="Cambria Math"/>
                  </a:rPr>
                  <a:t>) = 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Fundamental theorem of arithmetic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07647"/>
              </a:xfrm>
              <a:prstGeom prst="rect">
                <a:avLst/>
              </a:prstGeom>
              <a:blipFill rotWithShape="1">
                <a:blip r:embed="rId3"/>
                <a:stretch>
                  <a:fillRect l="-728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b="1" i="1" dirty="0">
                    <a:latin typeface="Cambria Math"/>
                    <a:ea typeface="Cambria Math"/>
                  </a:rPr>
                  <a:t> where  </a:t>
                </a:r>
                <a:r>
                  <a:rPr lang="en-US" b="1" dirty="0">
                    <a:latin typeface="Cambria Math"/>
                    <a:ea typeface="Cambria Math"/>
                  </a:rPr>
                  <a:t>S = {k | 0 &lt; k &lt; N and </a:t>
                </a:r>
                <a:r>
                  <a:rPr lang="en-US" b="1" dirty="0" err="1">
                    <a:latin typeface="Cambria Math"/>
                    <a:ea typeface="Cambria Math"/>
                  </a:rPr>
                  <a:t>gcd</a:t>
                </a:r>
                <a:r>
                  <a:rPr lang="en-US" b="1" dirty="0">
                    <a:latin typeface="Cambria Math"/>
                    <a:ea typeface="Cambria Math"/>
                  </a:rPr>
                  <a:t>(</a:t>
                </a:r>
                <a:r>
                  <a:rPr lang="en-US" b="1" dirty="0" err="1">
                    <a:latin typeface="Cambria Math"/>
                    <a:ea typeface="Cambria Math"/>
                  </a:rPr>
                  <a:t>N,k</a:t>
                </a:r>
                <a:r>
                  <a:rPr lang="en-US" b="1" dirty="0">
                    <a:latin typeface="Cambria Math"/>
                    <a:ea typeface="Cambria Math"/>
                  </a:rPr>
                  <a:t>) = 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Fundamental theorem of arithmetic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Euler’s totient function</a:t>
                </a:r>
                <a:endParaRPr lang="en-US" b="1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blipFill rotWithShape="1">
                <a:blip r:embed="rId3"/>
                <a:stretch>
                  <a:fillRect l="-728" t="-1846" b="-4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Euler’s Totient Function is the number of positive integers less than and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768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𝝋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𝑵</m:t>
                        </m:r>
                      </m:e>
                    </m:d>
                    <m:r>
                      <a:rPr lang="en-US" b="1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b="1" i="1" dirty="0">
                    <a:latin typeface="Cambria Math"/>
                    <a:ea typeface="Cambria Math"/>
                  </a:rPr>
                  <a:t> where  </a:t>
                </a:r>
                <a:r>
                  <a:rPr lang="en-US" b="1" dirty="0">
                    <a:latin typeface="Cambria Math"/>
                    <a:ea typeface="Cambria Math"/>
                  </a:rPr>
                  <a:t>S = {k | 0 &lt; k &lt; N and </a:t>
                </a:r>
                <a:r>
                  <a:rPr lang="en-US" b="1" dirty="0" err="1">
                    <a:latin typeface="Cambria Math"/>
                    <a:ea typeface="Cambria Math"/>
                  </a:rPr>
                  <a:t>gcd</a:t>
                </a:r>
                <a:r>
                  <a:rPr lang="en-US" b="1" dirty="0">
                    <a:latin typeface="Cambria Math"/>
                    <a:ea typeface="Cambria Math"/>
                  </a:rPr>
                  <a:t>(</a:t>
                </a:r>
                <a:r>
                  <a:rPr lang="en-US" b="1" dirty="0" err="1">
                    <a:latin typeface="Cambria Math"/>
                    <a:ea typeface="Cambria Math"/>
                  </a:rPr>
                  <a:t>N,k</a:t>
                </a:r>
                <a:r>
                  <a:rPr lang="en-US" b="1" dirty="0">
                    <a:latin typeface="Cambria Math"/>
                    <a:ea typeface="Cambria Math"/>
                  </a:rPr>
                  <a:t>) = 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Fundamental theorem of arithmetic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Euler’s totient function</a:t>
                </a:r>
                <a:endParaRPr lang="en-US" b="1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768963"/>
              </a:xfrm>
              <a:prstGeom prst="rect">
                <a:avLst/>
              </a:prstGeom>
              <a:blipFill rotWithShape="1">
                <a:blip r:embed="rId4"/>
                <a:stretch>
                  <a:fillRect l="-728" t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prime, p, is simply (p-1)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11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prime, p, is simply (p-1)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154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𝒑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r>
                        <a:rPr lang="en-US" b="1" i="1" smtClean="0"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1549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63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prime, p, is simply (p-1)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431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𝒑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r>
                        <a:rPr lang="en-US" b="1" i="1" smtClean="0"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431930"/>
              </a:xfrm>
              <a:prstGeom prst="rect">
                <a:avLst/>
              </a:prstGeom>
              <a:blipFill rotWithShape="1">
                <a:blip r:embed="rId3"/>
                <a:stretch>
                  <a:fillRect l="-728" b="-5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63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prime, p, is simply (p-1)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08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𝒑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r>
                        <a:rPr lang="en-US" b="1" i="1" smtClean="0"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(89) = 88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08929"/>
              </a:xfrm>
              <a:prstGeom prst="rect">
                <a:avLst/>
              </a:prstGeom>
              <a:blipFill rotWithShape="1">
                <a:blip r:embed="rId3"/>
                <a:stretch>
                  <a:fillRect l="-72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63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prime, p, is simply (p-1)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85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𝒑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  <m:r>
                        <a:rPr lang="en-US" b="1" i="1" smtClean="0"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(89) = 88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(97) = 96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85928"/>
              </a:xfrm>
              <a:prstGeom prst="rect">
                <a:avLst/>
              </a:prstGeom>
              <a:blipFill rotWithShape="1">
                <a:blip r:embed="rId5"/>
                <a:stretch>
                  <a:fillRect l="-728" b="-3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63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203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15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150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55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9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89 · 97 = 8633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92048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55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46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89 · 97 = 8633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(8633) = 88 · 96 = 8448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46045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55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923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89 · 97 = 8633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(8633) = 88 · 96 = 8448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product of first ten primes (p</a:t>
                </a:r>
                <a:r>
                  <a:rPr lang="en-US" b="1" baseline="-25000" dirty="0"/>
                  <a:t>i</a:t>
                </a:r>
                <a:r>
                  <a:rPr lang="en-US" b="1" dirty="0"/>
                  <a:t> &lt; 30)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23044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55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product of primes </a:t>
            </a:r>
            <a:br>
              <a:rPr lang="en-US" sz="3200" b="1" dirty="0"/>
            </a:br>
            <a:r>
              <a:rPr lang="en-US" sz="3200" b="1" dirty="0"/>
              <a:t>is the product of one less than each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200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/>
                                </a:rPr>
                                <m:t>𝑷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89 · 97 = 8633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(8633) = 88 · 96 = 8448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N = product of first ten primes (p</a:t>
                </a:r>
                <a:r>
                  <a:rPr lang="en-US" b="1" baseline="-25000" dirty="0"/>
                  <a:t>i</a:t>
                </a:r>
                <a:r>
                  <a:rPr lang="en-US" b="1" dirty="0"/>
                  <a:t> &lt; 30)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 </a:t>
                </a:r>
                <a:r>
                  <a:rPr lang="en-US" b="1" dirty="0"/>
                  <a:t>(6,469,693.230) = 1,106,472,960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200043"/>
              </a:xfrm>
              <a:prstGeom prst="rect">
                <a:avLst/>
              </a:prstGeom>
              <a:blipFill rotWithShape="1">
                <a:blip r:embed="rId4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55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8087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545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5456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436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22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2</a:t>
                </a:r>
                <a:r>
                  <a:rPr lang="en-US" b="1" baseline="30000" dirty="0"/>
                  <a:t>(k-1)</a:t>
                </a:r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22678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436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84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2</a:t>
                </a:r>
                <a:r>
                  <a:rPr lang="en-US" b="1" baseline="30000" dirty="0"/>
                  <a:t>(k-1)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(1024 = 2</a:t>
                </a:r>
                <a:r>
                  <a:rPr lang="en-US" b="1" baseline="30000" dirty="0"/>
                  <a:t>10</a:t>
                </a:r>
                <a:r>
                  <a:rPr lang="en-US" b="1" dirty="0"/>
                  <a:t>) = 512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baseline="30000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8434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436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61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2</a:t>
                </a:r>
                <a:r>
                  <a:rPr lang="en-US" b="1" baseline="30000" dirty="0"/>
                  <a:t>(k-1)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(1024 = 2</a:t>
                </a:r>
                <a:r>
                  <a:rPr lang="en-US" b="1" baseline="30000" dirty="0"/>
                  <a:t>10</a:t>
                </a:r>
                <a:r>
                  <a:rPr lang="en-US" b="1" dirty="0"/>
                  <a:t>) = 512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(7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6·7</a:t>
                </a:r>
                <a:r>
                  <a:rPr lang="en-US" b="1" baseline="30000" dirty="0"/>
                  <a:t>(k-1)</a:t>
                </a:r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61342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43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 prime power is a </a:t>
            </a:r>
            <a:br>
              <a:rPr lang="en-US" sz="3200" b="1" dirty="0"/>
            </a:br>
            <a:r>
              <a:rPr lang="en-US" sz="3200" b="1" dirty="0"/>
              <a:t>simple fraction of the value of the number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38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2</a:t>
                </a:r>
                <a:r>
                  <a:rPr lang="en-US" b="1" baseline="30000" dirty="0"/>
                  <a:t>(k-1)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(1024 = 2</a:t>
                </a:r>
                <a:r>
                  <a:rPr lang="en-US" b="1" baseline="30000" dirty="0"/>
                  <a:t>10</a:t>
                </a:r>
                <a:r>
                  <a:rPr lang="en-US" b="1" dirty="0"/>
                  <a:t>) = 512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baseline="30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(7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6·7</a:t>
                </a:r>
                <a:r>
                  <a:rPr lang="en-US" b="1" baseline="30000" dirty="0"/>
                  <a:t>(k-1)</a:t>
                </a: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(343 = 7</a:t>
                </a:r>
                <a:r>
                  <a:rPr lang="en-US" b="1" baseline="30000" dirty="0"/>
                  <a:t>k</a:t>
                </a:r>
                <a:r>
                  <a:rPr lang="en-US" b="1" dirty="0"/>
                  <a:t>) = 6·7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 = 294</a:t>
                </a:r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38341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436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2021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61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Multiplicative property of </a:t>
                </a:r>
                <a:r>
                  <a:rPr lang="el-GR" b="1" dirty="0"/>
                  <a:t>ϕ</a:t>
                </a:r>
                <a:r>
                  <a:rPr lang="en-US" b="1" dirty="0"/>
                  <a:t>(N)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61645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Multiplicative property of </a:t>
                </a:r>
                <a:r>
                  <a:rPr lang="el-GR" b="1" dirty="0"/>
                  <a:t>ϕ</a:t>
                </a:r>
                <a:r>
                  <a:rPr lang="en-US" b="1" dirty="0"/>
                  <a:t>(N)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a·b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(a)·</a:t>
                </a:r>
                <a:r>
                  <a:rPr lang="el-GR" b="1" dirty="0"/>
                  <a:t>ϕ</a:t>
                </a:r>
                <a:r>
                  <a:rPr lang="en-US" b="1" dirty="0"/>
                  <a:t>(b)  IF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a,b</a:t>
                </a:r>
                <a:r>
                  <a:rPr lang="en-US" b="1" dirty="0"/>
                  <a:t>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Multiplicative property of </a:t>
                </a:r>
                <a:r>
                  <a:rPr lang="el-GR" b="1" dirty="0"/>
                  <a:t>ϕ</a:t>
                </a:r>
                <a:r>
                  <a:rPr lang="en-US" b="1" dirty="0"/>
                  <a:t>(N)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a·b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(a)·</a:t>
                </a:r>
                <a:r>
                  <a:rPr lang="el-GR" b="1" dirty="0"/>
                  <a:t>ϕ</a:t>
                </a:r>
                <a:r>
                  <a:rPr lang="en-US" b="1" dirty="0"/>
                  <a:t>(b)  IF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a,b</a:t>
                </a:r>
                <a:r>
                  <a:rPr lang="en-US" b="1" dirty="0"/>
                  <a:t>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(1100 = 2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·5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·11</a:t>
                </a:r>
                <a:r>
                  <a:rPr lang="en-US" b="1" baseline="30000" dirty="0"/>
                  <a:t>1</a:t>
                </a:r>
                <a:r>
                  <a:rPr lang="en-US" b="1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369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Multiplicative property of </a:t>
                </a:r>
                <a:r>
                  <a:rPr lang="el-GR" b="1" dirty="0"/>
                  <a:t>ϕ</a:t>
                </a:r>
                <a:r>
                  <a:rPr lang="en-US" b="1" dirty="0"/>
                  <a:t>(N)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a·b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(a)·</a:t>
                </a:r>
                <a:r>
                  <a:rPr lang="el-GR" b="1" dirty="0"/>
                  <a:t>ϕ</a:t>
                </a:r>
                <a:r>
                  <a:rPr lang="en-US" b="1" dirty="0"/>
                  <a:t>(b)  IF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a,b</a:t>
                </a:r>
                <a:r>
                  <a:rPr lang="en-US" b="1" dirty="0"/>
                  <a:t>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(1100 = 2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·5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·11</a:t>
                </a:r>
                <a:r>
                  <a:rPr lang="en-US" b="1" baseline="30000" dirty="0"/>
                  <a:t>1</a:t>
                </a:r>
                <a:r>
                  <a:rPr lang="en-US" b="1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(1100) = 1100·(1/2)(4/5)(10/11) = 400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369640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Totient of an arbitrary number </a:t>
            </a:r>
            <a:br>
              <a:rPr lang="en-US" sz="3200" b="1" dirty="0"/>
            </a:br>
            <a:r>
              <a:rPr lang="en-US" sz="3200" b="1" dirty="0"/>
              <a:t>is the product of the totient of the prime powers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64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Multiplicative property of </a:t>
                </a:r>
                <a:r>
                  <a:rPr lang="el-GR" b="1" dirty="0"/>
                  <a:t>ϕ</a:t>
                </a:r>
                <a:r>
                  <a:rPr lang="en-US" b="1" dirty="0"/>
                  <a:t>(N)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a·b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(a)·</a:t>
                </a:r>
                <a:r>
                  <a:rPr lang="el-GR" b="1" dirty="0"/>
                  <a:t>ϕ</a:t>
                </a:r>
                <a:r>
                  <a:rPr lang="en-US" b="1" dirty="0"/>
                  <a:t>(b)  IF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a,b</a:t>
                </a:r>
                <a:r>
                  <a:rPr lang="en-US" b="1" dirty="0"/>
                  <a:t>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Example: </a:t>
                </a:r>
                <a:r>
                  <a:rPr lang="el-GR" b="1" dirty="0"/>
                  <a:t>ϕ</a:t>
                </a:r>
                <a:r>
                  <a:rPr lang="en-US" b="1" dirty="0"/>
                  <a:t>(1100 = 2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·5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·11</a:t>
                </a:r>
                <a:r>
                  <a:rPr lang="en-US" b="1" baseline="30000" dirty="0"/>
                  <a:t>1</a:t>
                </a:r>
                <a:r>
                  <a:rPr lang="en-US" b="1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(1100) = 1100·(1/2)(4/5)(10/11) = 400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·5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·11</a:t>
                </a:r>
                <a:r>
                  <a:rPr lang="en-US" b="1" baseline="30000" dirty="0"/>
                  <a:t>1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(2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)</a:t>
                </a:r>
                <a:r>
                  <a:rPr lang="el-GR" b="1" dirty="0"/>
                  <a:t>ϕ</a:t>
                </a:r>
                <a:r>
                  <a:rPr lang="en-US" b="1" dirty="0"/>
                  <a:t>(5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)</a:t>
                </a:r>
                <a:r>
                  <a:rPr lang="el-GR" b="1" dirty="0"/>
                  <a:t>ϕ</a:t>
                </a:r>
                <a:r>
                  <a:rPr lang="en-US" b="1" dirty="0"/>
                  <a:t>(11) = 2·20·10 = 400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646639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58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Proof of Totient formula </a:t>
            </a:r>
            <a:br>
              <a:rPr lang="en-US" sz="3200" b="1" dirty="0"/>
            </a:br>
            <a:r>
              <a:rPr lang="en-US" sz="3200" b="1" dirty="0"/>
              <a:t>requires proof of just two special cases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606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Proof of Totient formula </a:t>
            </a:r>
            <a:br>
              <a:rPr lang="en-US" sz="3200" b="1" dirty="0"/>
            </a:br>
            <a:r>
              <a:rPr lang="en-US" sz="3200" b="1" dirty="0"/>
              <a:t>requires proof of just two special cases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To prove that the totient function formula is correct: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84646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253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Proof of Totient formula </a:t>
            </a:r>
            <a:br>
              <a:rPr lang="en-US" sz="3200" b="1" dirty="0"/>
            </a:br>
            <a:r>
              <a:rPr lang="en-US" sz="3200" b="1" dirty="0"/>
              <a:t>requires proof of just two special cases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38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To prove that the totient function formula is correct: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Prove </a:t>
                </a: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p</a:t>
                </a:r>
                <a:r>
                  <a:rPr lang="en-US" b="1" baseline="30000" dirty="0" err="1"/>
                  <a:t>k</a:t>
                </a:r>
                <a:r>
                  <a:rPr lang="en-US" b="1" dirty="0"/>
                  <a:t>) = (N/p)(p-1)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38644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253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Proof of Totient formula </a:t>
            </a:r>
            <a:br>
              <a:rPr lang="en-US" sz="3200" b="1" dirty="0"/>
            </a:br>
            <a:r>
              <a:rPr lang="en-US" sz="3200" b="1" dirty="0"/>
              <a:t>requires proof of just two special cases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𝑵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</m:sSup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/>
                            </a:rPr>
                            <m:t>𝒊</m:t>
                          </m:r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latin typeface="Cambria Math"/>
                            </a:rPr>
                            <m:t>𝑷</m:t>
                          </m:r>
                        </m:sup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𝝋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  <a:ea typeface="Cambria Math"/>
                                    </a:rPr>
                                    <m:t>𝒌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To prove that the totient function formula is correct: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Prove </a:t>
                </a: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p</a:t>
                </a:r>
                <a:r>
                  <a:rPr lang="en-US" b="1" baseline="30000" dirty="0" err="1"/>
                  <a:t>k</a:t>
                </a:r>
                <a:r>
                  <a:rPr lang="en-US" b="1" dirty="0"/>
                  <a:t>) = (N/p)(p-1)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Prove </a:t>
                </a:r>
                <a:r>
                  <a:rPr lang="el-GR" b="1" dirty="0"/>
                  <a:t>ϕ</a:t>
                </a:r>
                <a:r>
                  <a:rPr lang="en-US" b="1" dirty="0"/>
                  <a:t>(</a:t>
                </a:r>
                <a:r>
                  <a:rPr lang="en-US" b="1" dirty="0" err="1"/>
                  <a:t>a·b</a:t>
                </a:r>
                <a:r>
                  <a:rPr lang="en-US" b="1" dirty="0"/>
                  <a:t>) = </a:t>
                </a:r>
                <a:r>
                  <a:rPr lang="el-GR" b="1" dirty="0"/>
                  <a:t>ϕ</a:t>
                </a:r>
                <a:r>
                  <a:rPr lang="en-US" b="1" dirty="0"/>
                  <a:t>(a)·</a:t>
                </a:r>
                <a:r>
                  <a:rPr lang="el-GR" b="1" dirty="0"/>
                  <a:t>ϕ</a:t>
                </a:r>
                <a:r>
                  <a:rPr lang="en-US" b="1" dirty="0"/>
                  <a:t>(b)  IF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a,b</a:t>
                </a:r>
                <a:r>
                  <a:rPr lang="en-US" b="1" dirty="0"/>
                  <a:t>) =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1564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253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74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 of candidates is N-1 (i.e., 1 ≤ x ≤ 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9127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 of candidates is N-1 (i.e., 1 ≤ x ≤ 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 how many values of x for which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x,N</a:t>
            </a:r>
            <a:r>
              <a:rPr lang="en-US" b="1" dirty="0"/>
              <a:t>) &gt; 1</a:t>
            </a:r>
          </a:p>
        </p:txBody>
      </p:sp>
    </p:spTree>
    <p:extLst>
      <p:ext uri="{BB962C8B-B14F-4D97-AF65-F5344CB8AC3E}">
        <p14:creationId xmlns:p14="http://schemas.microsoft.com/office/powerpoint/2010/main" val="2199127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 of candidates is N-1 (i.e., 1 ≤ x ≤ 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 how many values of x for which </a:t>
            </a: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x,N</a:t>
            </a:r>
            <a:r>
              <a:rPr lang="en-US" b="1" dirty="0"/>
              <a:t>) &gt;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gcd</a:t>
            </a:r>
            <a:r>
              <a:rPr lang="en-US" b="1" dirty="0"/>
              <a:t>(</a:t>
            </a:r>
            <a:r>
              <a:rPr lang="en-US" b="1" dirty="0" err="1"/>
              <a:t>x,N</a:t>
            </a:r>
            <a:r>
              <a:rPr lang="en-US" b="1" dirty="0"/>
              <a:t>) &gt; 1 only if x = </a:t>
            </a:r>
            <a:r>
              <a:rPr lang="en-US" b="1" dirty="0" err="1"/>
              <a:t>m·p</a:t>
            </a:r>
            <a:r>
              <a:rPr lang="en-US" b="1" dirty="0"/>
              <a:t> for (1 ≤ m &lt; N/p)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9127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822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of candidates is N-1 (i.e., 1 ≤ x ≤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Count how many values of x for which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&gt;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&gt; 1 only if x = </a:t>
                </a:r>
                <a:r>
                  <a:rPr lang="en-US" b="1" dirty="0" err="1"/>
                  <a:t>m·p</a:t>
                </a:r>
                <a:r>
                  <a:rPr lang="en-US" b="1" dirty="0"/>
                  <a:t> for (1 ≤ m &lt; N/p)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−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822678"/>
              </a:xfrm>
              <a:prstGeom prst="rect">
                <a:avLst/>
              </a:prstGeom>
              <a:blipFill rotWithShape="1">
                <a:blip r:embed="rId3"/>
                <a:stretch>
                  <a:fillRect l="-728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127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</a:t>
            </a:r>
            <a:r>
              <a:rPr lang="en-US" sz="3200" b="1" dirty="0" err="1"/>
              <a:t>p</a:t>
            </a:r>
            <a:r>
              <a:rPr lang="en-US" sz="3200" b="1" baseline="30000" dirty="0" err="1"/>
              <a:t>k</a:t>
            </a:r>
            <a:r>
              <a:rPr lang="en-US" sz="3200" b="1" dirty="0"/>
              <a:t>, subtract number of multiples of p from number of positive integers less than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445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Number of candidates is N-1 (i.e., 1 ≤ x ≤ 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Count how many values of x for which </a:t>
                </a: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&gt; 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 err="1"/>
                  <a:t>gcd</a:t>
                </a:r>
                <a:r>
                  <a:rPr lang="en-US" b="1" dirty="0"/>
                  <a:t>(</a:t>
                </a:r>
                <a:r>
                  <a:rPr lang="en-US" b="1" dirty="0" err="1"/>
                  <a:t>x,N</a:t>
                </a:r>
                <a:r>
                  <a:rPr lang="en-US" b="1" dirty="0"/>
                  <a:t>) &gt; 1 only if x = </a:t>
                </a:r>
                <a:r>
                  <a:rPr lang="en-US" b="1" dirty="0" err="1"/>
                  <a:t>m·p</a:t>
                </a:r>
                <a:r>
                  <a:rPr lang="en-US" b="1" dirty="0"/>
                  <a:t> for (1 ≤ m &lt; N/p)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𝑵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−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  <a:ea typeface="Cambria Math"/>
                        </a:rPr>
                        <m:t>𝝋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𝑵</m:t>
                          </m:r>
                          <m:r>
                            <a:rPr lang="en-US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/>
                                  <a:ea typeface="Cambria Math"/>
                                </a:rPr>
                                <m:t>𝒌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den>
                          </m:f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1" i="1">
                              <a:latin typeface="Cambria Math"/>
                            </a:rPr>
                            <m:t>𝒑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𝒌</m:t>
                          </m:r>
                        </m:sup>
                      </m:sSup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−</m:t>
                          </m:r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45028"/>
              </a:xfrm>
              <a:prstGeom prst="rect">
                <a:avLst/>
              </a:prstGeom>
              <a:blipFill rotWithShape="1">
                <a:blip r:embed="rId3"/>
                <a:stretch>
                  <a:fillRect l="-728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127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N=PQ, identify groups of integers that are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034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N=PQ, identify groups of integers that are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Create table of all x | 0 ≤ x &lt; N</a:t>
            </a:r>
          </a:p>
        </p:txBody>
      </p:sp>
    </p:spTree>
    <p:extLst>
      <p:ext uri="{BB962C8B-B14F-4D97-AF65-F5344CB8AC3E}">
        <p14:creationId xmlns:p14="http://schemas.microsoft.com/office/powerpoint/2010/main" val="342288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N=PQ, identify groups of integers that are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Create table of all x | 0 ≤ x &lt;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qP+p</a:t>
            </a:r>
            <a:r>
              <a:rPr lang="en-US" sz="1600" b="1" dirty="0">
                <a:cs typeface="Courier New" panose="02070309020205020404" pitchFamily="49" charset="0"/>
              </a:rPr>
              <a:t>  with 0 ≤ q &lt; Q; 0 ≤ p &lt;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88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To find totient of N=PQ, identify groups of integers that are relatively prime to 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Create table of all x | 0 ≤ x &lt;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qP+p</a:t>
            </a:r>
            <a:r>
              <a:rPr lang="en-US" sz="1600" b="1" dirty="0">
                <a:cs typeface="Courier New" panose="02070309020205020404" pitchFamily="49" charset="0"/>
              </a:rPr>
              <a:t>  with 0 ≤ q &lt; Q; 0 ≤ p &lt;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r>
              <a:rPr lang="en-US" sz="16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  |  0   1    2    ... q    ... (Q-1)   _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  |  0   P    2P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(Q-1)P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  |  1   P+1  2P+1     qP+1     (Q-1)P+1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  |  2   P+2  2P+2     qP+2     (Q-1)P+2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 |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  |  3   P+3  2P+3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qP+p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(Q-1)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P+p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 |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P-1 | P-1 2P-1  3P-1    (q+1)P-1    QP-1</a:t>
            </a:r>
          </a:p>
        </p:txBody>
      </p:sp>
    </p:spTree>
    <p:extLst>
      <p:ext uri="{BB962C8B-B14F-4D97-AF65-F5344CB8AC3E}">
        <p14:creationId xmlns:p14="http://schemas.microsoft.com/office/powerpoint/2010/main" val="342288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432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P &amp; Q are relatively prime, Q columns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P &amp; Q are relatively prime, Q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Each residue mod-Q appears exactly once in each row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P &amp; Q are relatively prime, Q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Each residue mod-Q appears exactly once in each row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elements relatively prime to N is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(Q)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P &amp; Q are relatively prime, Q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Each residue mod-Q appears exactly once in each row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elements relatively prime to N is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(Q)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(N) =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(P)·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(Q)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Autofit/>
          </a:bodyPr>
          <a:lstStyle/>
          <a:p>
            <a:r>
              <a:rPr lang="en-US" sz="3200" b="1" dirty="0"/>
              <a:t>Eliminate rows containing no values relatively prime to N, then eliminate elements in the remaining rows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Choose p that is NOT relatively prime to 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cs typeface="Courier New" panose="02070309020205020404" pitchFamily="49" charset="0"/>
              </a:rPr>
              <a:t>gcd</a:t>
            </a:r>
            <a:r>
              <a:rPr lang="en-US" sz="1600" b="1" dirty="0">
                <a:cs typeface="Courier New" panose="02070309020205020404" pitchFamily="49" charset="0"/>
              </a:rPr>
              <a:t>(p, P) = c;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’; P =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 + p = </a:t>
            </a:r>
            <a:r>
              <a:rPr lang="en-US" sz="1600" b="1" dirty="0" err="1">
                <a:cs typeface="Courier New" panose="02070309020205020404" pitchFamily="49" charset="0"/>
              </a:rPr>
              <a:t>qcP</a:t>
            </a:r>
            <a:r>
              <a:rPr lang="en-US" sz="1600" b="1" dirty="0">
                <a:cs typeface="Courier New" panose="02070309020205020404" pitchFamily="49" charset="0"/>
              </a:rPr>
              <a:t>’ + </a:t>
            </a:r>
            <a:r>
              <a:rPr lang="en-US" sz="1600" b="1" dirty="0" err="1">
                <a:cs typeface="Courier New" panose="02070309020205020404" pitchFamily="49" charset="0"/>
              </a:rPr>
              <a:t>cp</a:t>
            </a:r>
            <a:r>
              <a:rPr lang="en-US" sz="1600" b="1" dirty="0">
                <a:cs typeface="Courier New" panose="02070309020205020404" pitchFamily="49" charset="0"/>
              </a:rPr>
              <a:t>; = c(</a:t>
            </a:r>
            <a:r>
              <a:rPr lang="en-US" sz="1600" b="1" dirty="0" err="1">
                <a:cs typeface="Courier New" panose="02070309020205020404" pitchFamily="49" charset="0"/>
              </a:rPr>
              <a:t>qP</a:t>
            </a:r>
            <a:r>
              <a:rPr lang="en-US" sz="1600" b="1" dirty="0">
                <a:cs typeface="Courier New" panose="02070309020205020404" pitchFamily="49" charset="0"/>
              </a:rPr>
              <a:t>’ + p’)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Every integer on row p shares a factor with P, and hence 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rows left is equal to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On each row, we add P to prior entry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P &amp; Q are relatively prime, Q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Each residue mod-Q appears exactly once in each row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Number of elements relatively prime to N is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(Q)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(N) = 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(P)·</a:t>
            </a:r>
            <a:r>
              <a:rPr lang="el-GR" sz="1600" b="1" dirty="0">
                <a:cs typeface="Courier New" panose="02070309020205020404" pitchFamily="49" charset="0"/>
              </a:rPr>
              <a:t>ϕ</a:t>
            </a:r>
            <a:r>
              <a:rPr lang="en-US" sz="1600" b="1" dirty="0">
                <a:cs typeface="Courier New" panose="02070309020205020404" pitchFamily="49" charset="0"/>
              </a:rPr>
              <a:t>(Q)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cs typeface="Courier New" panose="02070309020205020404" pitchFamily="49" charset="0"/>
              </a:rPr>
              <a:t>Can general to any number of relatively prime factors.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5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84015</TotalTime>
  <Words>3030</Words>
  <Application>Microsoft Office PowerPoint</Application>
  <PresentationFormat>On-screen Show (16:9)</PresentationFormat>
  <Paragraphs>520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Cambria Math</vt:lpstr>
      <vt:lpstr>Courier New</vt:lpstr>
      <vt:lpstr>Office Theme</vt:lpstr>
      <vt:lpstr>Euler’s Totient Function is the number of positive integers less than and relatively prime to N</vt:lpstr>
      <vt:lpstr>Euler’s Totient Function is the number of positive integers less than and relatively prime to N</vt:lpstr>
      <vt:lpstr>Euler’s Totient Function is the number of positive integers less than and relatively prime to N</vt:lpstr>
      <vt:lpstr>Euler’s Totient Function is the number of positive integers less than and relatively prime to N</vt:lpstr>
      <vt:lpstr>Euler’s Totient Function is the number of positive integers less than and relatively prime to N</vt:lpstr>
      <vt:lpstr>Euler’s Totient Function is the number of positive integers less than and relatively prime to N</vt:lpstr>
      <vt:lpstr>Totient of a prime, p, is simply (p-1)</vt:lpstr>
      <vt:lpstr>Totient of a prime, p, is simply (p-1)</vt:lpstr>
      <vt:lpstr>Totient of a prime, p, is simply (p-1)</vt:lpstr>
      <vt:lpstr>Totient of a prime, p, is simply (p-1)</vt:lpstr>
      <vt:lpstr>Totient of a prime, p, is simply (p-1)</vt:lpstr>
      <vt:lpstr>Totient of a product of primes  is the product of one less than each prime</vt:lpstr>
      <vt:lpstr>Totient of a product of primes  is the product of one less than each prime</vt:lpstr>
      <vt:lpstr>Totient of a product of primes  is the product of one less than each prime</vt:lpstr>
      <vt:lpstr>Totient of a product of primes  is the product of one less than each prime</vt:lpstr>
      <vt:lpstr>Totient of a product of primes  is the product of one less than each prime</vt:lpstr>
      <vt:lpstr>Totient of a product of primes  is the product of one less than each prime</vt:lpstr>
      <vt:lpstr>Totient of a prime power is a  simple fraction of the value of the number</vt:lpstr>
      <vt:lpstr>Totient of a prime power is a  simple fraction of the value of the number</vt:lpstr>
      <vt:lpstr>Totient of a prime power is a  simple fraction of the value of the number</vt:lpstr>
      <vt:lpstr>Totient of a prime power is a  simple fraction of the value of the number</vt:lpstr>
      <vt:lpstr>Totient of a prime power is a  simple fraction of the value of the number</vt:lpstr>
      <vt:lpstr>Totient of a prime power is a  simple fraction of the value of the number</vt:lpstr>
      <vt:lpstr>Totient of an arbitrary number  is the product of the totient of the prime powers</vt:lpstr>
      <vt:lpstr>Totient of an arbitrary number  is the product of the totient of the prime powers</vt:lpstr>
      <vt:lpstr>Totient of an arbitrary number  is the product of the totient of the prime powers</vt:lpstr>
      <vt:lpstr>Totient of an arbitrary number  is the product of the totient of the prime powers</vt:lpstr>
      <vt:lpstr>Totient of an arbitrary number  is the product of the totient of the prime powers</vt:lpstr>
      <vt:lpstr>Totient of an arbitrary number  is the product of the totient of the prime powers</vt:lpstr>
      <vt:lpstr>Totient of an arbitrary number  is the product of the totient of the prime powers</vt:lpstr>
      <vt:lpstr>Proof of Totient formula  requires proof of just two special cases</vt:lpstr>
      <vt:lpstr>Proof of Totient formula  requires proof of just two special cases</vt:lpstr>
      <vt:lpstr>Proof of Totient formula  requires proof of just two special cases</vt:lpstr>
      <vt:lpstr>Proof of Totient formula  requires proof of just two special cases</vt:lpstr>
      <vt:lpstr>To find totient of N=pk, subtract number of multiples of p from number of positive integers less than N</vt:lpstr>
      <vt:lpstr>To find totient of N=pk, subtract number of multiples of p from number of positive integers less than N</vt:lpstr>
      <vt:lpstr>To find totient of N=pk, subtract number of multiples of p from number of positive integers less than N</vt:lpstr>
      <vt:lpstr>To find totient of N=pk, subtract number of multiples of p from number of positive integers less than N</vt:lpstr>
      <vt:lpstr>To find totient of N=pk, subtract number of multiples of p from number of positive integers less than N</vt:lpstr>
      <vt:lpstr>To find totient of N=pk, subtract number of multiples of p from number of positive integers less than N</vt:lpstr>
      <vt:lpstr>To find totient of N=PQ, identify groups of integers that are relatively prime to N</vt:lpstr>
      <vt:lpstr>To find totient of N=PQ, identify groups of integers that are relatively prime to N</vt:lpstr>
      <vt:lpstr>To find totient of N=PQ, identify groups of integers that are relatively prime to N</vt:lpstr>
      <vt:lpstr>To find totient of N=PQ, identify groups of integers that are relatively prime to N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  <vt:lpstr>Eliminate rows containing no values relatively prime to N, then eliminate elements in the remaining rows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343</cp:revision>
  <dcterms:created xsi:type="dcterms:W3CDTF">2017-04-06T17:43:22Z</dcterms:created>
  <dcterms:modified xsi:type="dcterms:W3CDTF">2017-09-15T23:58:22Z</dcterms:modified>
</cp:coreProperties>
</file>