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40"/>
  </p:notesMasterIdLst>
  <p:sldIdLst>
    <p:sldId id="629" r:id="rId2"/>
    <p:sldId id="643" r:id="rId3"/>
    <p:sldId id="644" r:id="rId4"/>
    <p:sldId id="645" r:id="rId5"/>
    <p:sldId id="646" r:id="rId6"/>
    <p:sldId id="647" r:id="rId7"/>
    <p:sldId id="630" r:id="rId8"/>
    <p:sldId id="648" r:id="rId9"/>
    <p:sldId id="649" r:id="rId10"/>
    <p:sldId id="650" r:id="rId11"/>
    <p:sldId id="651" r:id="rId12"/>
    <p:sldId id="652" r:id="rId13"/>
    <p:sldId id="653" r:id="rId14"/>
    <p:sldId id="654" r:id="rId15"/>
    <p:sldId id="655" r:id="rId16"/>
    <p:sldId id="656" r:id="rId17"/>
    <p:sldId id="631" r:id="rId18"/>
    <p:sldId id="720" r:id="rId19"/>
    <p:sldId id="657" r:id="rId20"/>
    <p:sldId id="658" r:id="rId21"/>
    <p:sldId id="659" r:id="rId22"/>
    <p:sldId id="660" r:id="rId23"/>
    <p:sldId id="661" r:id="rId24"/>
    <p:sldId id="632" r:id="rId25"/>
    <p:sldId id="663" r:id="rId26"/>
    <p:sldId id="664" r:id="rId27"/>
    <p:sldId id="665" r:id="rId28"/>
    <p:sldId id="666" r:id="rId29"/>
    <p:sldId id="667" r:id="rId30"/>
    <p:sldId id="668" r:id="rId31"/>
    <p:sldId id="633" r:id="rId32"/>
    <p:sldId id="669" r:id="rId33"/>
    <p:sldId id="670" r:id="rId34"/>
    <p:sldId id="671" r:id="rId35"/>
    <p:sldId id="672" r:id="rId36"/>
    <p:sldId id="673" r:id="rId37"/>
    <p:sldId id="674" r:id="rId38"/>
    <p:sldId id="675" r:id="rId3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7F0B71-AAAA-4792-BE6C-AA7513867772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3C4375-5D5B-4983-9E94-ADB1EF41B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316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912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045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852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922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014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614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7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906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215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822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946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880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 Random Oracle </a:t>
            </a:r>
            <a:br>
              <a:rPr lang="en-US" b="1" dirty="0"/>
            </a:br>
            <a:r>
              <a:rPr lang="en-US" b="1" dirty="0"/>
              <a:t>is subject to three types of attacks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5416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 Random Oracle </a:t>
            </a:r>
            <a:br>
              <a:rPr lang="en-US" b="1" dirty="0"/>
            </a:br>
            <a:r>
              <a:rPr lang="en-US" b="1" dirty="0"/>
              <a:t>is subject to three types of attacks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Attacks against a Random Oracle</a:t>
            </a:r>
          </a:p>
        </p:txBody>
      </p:sp>
    </p:spTree>
    <p:extLst>
      <p:ext uri="{BB962C8B-B14F-4D97-AF65-F5344CB8AC3E}">
        <p14:creationId xmlns:p14="http://schemas.microsoft.com/office/powerpoint/2010/main" val="1722792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 Random Oracle </a:t>
            </a:r>
            <a:br>
              <a:rPr lang="en-US" b="1" dirty="0"/>
            </a:br>
            <a:r>
              <a:rPr lang="en-US" b="1" dirty="0"/>
              <a:t>is subject to three types of attacks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Attacks against a Random Oracle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Preimage attack</a:t>
            </a:r>
          </a:p>
        </p:txBody>
      </p:sp>
    </p:spTree>
    <p:extLst>
      <p:ext uri="{BB962C8B-B14F-4D97-AF65-F5344CB8AC3E}">
        <p14:creationId xmlns:p14="http://schemas.microsoft.com/office/powerpoint/2010/main" val="1722792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 Random Oracle </a:t>
            </a:r>
            <a:br>
              <a:rPr lang="en-US" b="1" dirty="0"/>
            </a:br>
            <a:r>
              <a:rPr lang="en-US" b="1" dirty="0"/>
              <a:t>is subject to three types of attacks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Attacks against a Random Oracle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Preimage attack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Second preimage attack</a:t>
            </a:r>
          </a:p>
        </p:txBody>
      </p:sp>
    </p:spTree>
    <p:extLst>
      <p:ext uri="{BB962C8B-B14F-4D97-AF65-F5344CB8AC3E}">
        <p14:creationId xmlns:p14="http://schemas.microsoft.com/office/powerpoint/2010/main" val="1722792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 Random Oracle </a:t>
            </a:r>
            <a:br>
              <a:rPr lang="en-US" b="1" dirty="0"/>
            </a:br>
            <a:r>
              <a:rPr lang="en-US" b="1" dirty="0"/>
              <a:t>is subject to three types of attacks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Attacks against a Random Oracle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Preimage attack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Second preimage attack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Hash collision (birthday) attack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722792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 Random Oracle </a:t>
            </a:r>
            <a:br>
              <a:rPr lang="en-US" b="1" dirty="0"/>
            </a:br>
            <a:r>
              <a:rPr lang="en-US" b="1" dirty="0"/>
              <a:t>is subject to three types of attacks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Attacks against a Random Oracle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Preimage attack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Second preimage attack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Hash collision (birthday) attack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Real hash functions vulnerable to other attacks</a:t>
            </a:r>
          </a:p>
        </p:txBody>
      </p:sp>
    </p:spTree>
    <p:extLst>
      <p:ext uri="{BB962C8B-B14F-4D97-AF65-F5344CB8AC3E}">
        <p14:creationId xmlns:p14="http://schemas.microsoft.com/office/powerpoint/2010/main" val="1722792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Brute force attacks against </a:t>
            </a:r>
            <a:br>
              <a:rPr lang="en-US" b="1" dirty="0"/>
            </a:br>
            <a:r>
              <a:rPr lang="en-US" b="1" dirty="0"/>
              <a:t>a hash function are exponentially difficult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18650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Brute force attacks against </a:t>
            </a:r>
            <a:br>
              <a:rPr lang="en-US" b="1" dirty="0"/>
            </a:br>
            <a:r>
              <a:rPr lang="en-US" b="1" dirty="0"/>
              <a:t>a hash function are exponentially difficult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N-bit hash function has 2</a:t>
            </a:r>
            <a:r>
              <a:rPr lang="en-US" sz="2000" b="1" baseline="30000" dirty="0"/>
              <a:t>N</a:t>
            </a:r>
            <a:r>
              <a:rPr lang="en-US" sz="2000" b="1" dirty="0"/>
              <a:t> possible digests</a:t>
            </a:r>
          </a:p>
        </p:txBody>
      </p:sp>
    </p:spTree>
    <p:extLst>
      <p:ext uri="{BB962C8B-B14F-4D97-AF65-F5344CB8AC3E}">
        <p14:creationId xmlns:p14="http://schemas.microsoft.com/office/powerpoint/2010/main" val="2211259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Brute force attacks against </a:t>
            </a:r>
            <a:br>
              <a:rPr lang="en-US" b="1" dirty="0"/>
            </a:br>
            <a:r>
              <a:rPr lang="en-US" b="1" dirty="0"/>
              <a:t>a hash function are exponentially difficult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N-bit hash function has 2</a:t>
            </a:r>
            <a:r>
              <a:rPr lang="en-US" sz="2000" b="1" baseline="30000" dirty="0"/>
              <a:t>N</a:t>
            </a:r>
            <a:r>
              <a:rPr lang="en-US" sz="2000" b="1" dirty="0"/>
              <a:t> possible digests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Brute force attacks search digest space</a:t>
            </a:r>
          </a:p>
        </p:txBody>
      </p:sp>
    </p:spTree>
    <p:extLst>
      <p:ext uri="{BB962C8B-B14F-4D97-AF65-F5344CB8AC3E}">
        <p14:creationId xmlns:p14="http://schemas.microsoft.com/office/powerpoint/2010/main" val="2211259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Brute force attacks against </a:t>
            </a:r>
            <a:br>
              <a:rPr lang="en-US" b="1" dirty="0"/>
            </a:br>
            <a:r>
              <a:rPr lang="en-US" b="1" dirty="0"/>
              <a:t>a hash function are exponentially difficult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N-bit hash function has 2</a:t>
            </a:r>
            <a:r>
              <a:rPr lang="en-US" sz="2000" b="1" baseline="30000" dirty="0"/>
              <a:t>N</a:t>
            </a:r>
            <a:r>
              <a:rPr lang="en-US" sz="2000" b="1" dirty="0"/>
              <a:t> possible digests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Brute force attacks search digest space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Atoms in universe – 10</a:t>
            </a:r>
            <a:r>
              <a:rPr lang="en-US" sz="2000" b="1" baseline="30000" dirty="0"/>
              <a:t>80</a:t>
            </a:r>
            <a:r>
              <a:rPr lang="en-US" sz="2000" b="1" dirty="0"/>
              <a:t> or 2</a:t>
            </a:r>
            <a:r>
              <a:rPr lang="en-US" sz="2000" b="1" baseline="30000" dirty="0"/>
              <a:t>265</a:t>
            </a:r>
          </a:p>
        </p:txBody>
      </p:sp>
    </p:spTree>
    <p:extLst>
      <p:ext uri="{BB962C8B-B14F-4D97-AF65-F5344CB8AC3E}">
        <p14:creationId xmlns:p14="http://schemas.microsoft.com/office/powerpoint/2010/main" val="2211259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Brute force attacks against </a:t>
            </a:r>
            <a:br>
              <a:rPr lang="en-US" b="1" dirty="0"/>
            </a:br>
            <a:r>
              <a:rPr lang="en-US" b="1" dirty="0"/>
              <a:t>a hash function are exponentially difficult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N-bit hash function has 2</a:t>
            </a:r>
            <a:r>
              <a:rPr lang="en-US" sz="2000" b="1" baseline="30000" dirty="0"/>
              <a:t>N</a:t>
            </a:r>
            <a:r>
              <a:rPr lang="en-US" sz="2000" b="1" dirty="0"/>
              <a:t> possible digests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Brute force attacks search digest space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Atoms in universe – 10</a:t>
            </a:r>
            <a:r>
              <a:rPr lang="en-US" sz="2000" b="1" baseline="30000" dirty="0"/>
              <a:t>80</a:t>
            </a:r>
            <a:r>
              <a:rPr lang="en-US" sz="2000" b="1" dirty="0"/>
              <a:t> or 2</a:t>
            </a:r>
            <a:r>
              <a:rPr lang="en-US" sz="2000" b="1" baseline="30000" dirty="0"/>
              <a:t>265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At 1 atom/bit:</a:t>
            </a:r>
          </a:p>
        </p:txBody>
      </p:sp>
    </p:spTree>
    <p:extLst>
      <p:ext uri="{BB962C8B-B14F-4D97-AF65-F5344CB8AC3E}">
        <p14:creationId xmlns:p14="http://schemas.microsoft.com/office/powerpoint/2010/main" val="2211259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Brute force attacks against </a:t>
            </a:r>
            <a:br>
              <a:rPr lang="en-US" b="1" dirty="0"/>
            </a:br>
            <a:r>
              <a:rPr lang="en-US" b="1" dirty="0"/>
              <a:t>a hash function are exponentially difficult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N-bit hash function has 2</a:t>
            </a:r>
            <a:r>
              <a:rPr lang="en-US" sz="2000" b="1" baseline="30000" dirty="0"/>
              <a:t>N</a:t>
            </a:r>
            <a:r>
              <a:rPr lang="en-US" sz="2000" b="1" dirty="0"/>
              <a:t> possible digests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Brute force attacks search digest space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Atoms in universe – 10</a:t>
            </a:r>
            <a:r>
              <a:rPr lang="en-US" sz="2000" b="1" baseline="30000" dirty="0"/>
              <a:t>80</a:t>
            </a:r>
            <a:r>
              <a:rPr lang="en-US" sz="2000" b="1" dirty="0"/>
              <a:t> or 2</a:t>
            </a:r>
            <a:r>
              <a:rPr lang="en-US" sz="2000" b="1" baseline="30000" dirty="0"/>
              <a:t>265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At 1 atom/bit: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256-bit hash requires half the mass of universe</a:t>
            </a:r>
          </a:p>
        </p:txBody>
      </p:sp>
    </p:spTree>
    <p:extLst>
      <p:ext uri="{BB962C8B-B14F-4D97-AF65-F5344CB8AC3E}">
        <p14:creationId xmlns:p14="http://schemas.microsoft.com/office/powerpoint/2010/main" val="2211259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Brute force attacks against </a:t>
            </a:r>
            <a:br>
              <a:rPr lang="en-US" b="1" dirty="0"/>
            </a:br>
            <a:r>
              <a:rPr lang="en-US" b="1" dirty="0"/>
              <a:t>a hash function are exponentially difficult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N-bit hash function has 2</a:t>
            </a:r>
            <a:r>
              <a:rPr lang="en-US" sz="2000" b="1" baseline="30000" dirty="0"/>
              <a:t>N</a:t>
            </a:r>
            <a:r>
              <a:rPr lang="en-US" sz="2000" b="1" dirty="0"/>
              <a:t> possible digests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Brute force attacks search digest space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Atoms in universe – 10</a:t>
            </a:r>
            <a:r>
              <a:rPr lang="en-US" sz="2000" b="1" baseline="30000" dirty="0"/>
              <a:t>80</a:t>
            </a:r>
            <a:r>
              <a:rPr lang="en-US" sz="2000" b="1" dirty="0"/>
              <a:t> or 2</a:t>
            </a:r>
            <a:r>
              <a:rPr lang="en-US" sz="2000" b="1" baseline="30000" dirty="0"/>
              <a:t>265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At 1 atom/bit: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256-bit hash requires half the mass of universe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Atoms in a grain of sand – 10</a:t>
            </a:r>
            <a:r>
              <a:rPr lang="en-US" sz="2000" b="1" baseline="30000" dirty="0"/>
              <a:t>20</a:t>
            </a:r>
            <a:r>
              <a:rPr lang="en-US" sz="2000" b="1" dirty="0"/>
              <a:t> or 2</a:t>
            </a:r>
            <a:r>
              <a:rPr lang="en-US" sz="2000" b="1" baseline="30000" dirty="0"/>
              <a:t>66</a:t>
            </a:r>
          </a:p>
        </p:txBody>
      </p:sp>
    </p:spTree>
    <p:extLst>
      <p:ext uri="{BB962C8B-B14F-4D97-AF65-F5344CB8AC3E}">
        <p14:creationId xmlns:p14="http://schemas.microsoft.com/office/powerpoint/2010/main" val="2211259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Brute force attacks against </a:t>
            </a:r>
            <a:br>
              <a:rPr lang="en-US" b="1" dirty="0"/>
            </a:br>
            <a:r>
              <a:rPr lang="en-US" b="1" dirty="0"/>
              <a:t>a hash function are exponentially difficult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N-bit hash function has 2</a:t>
            </a:r>
            <a:r>
              <a:rPr lang="en-US" sz="2000" b="1" baseline="30000" dirty="0"/>
              <a:t>N</a:t>
            </a:r>
            <a:r>
              <a:rPr lang="en-US" sz="2000" b="1" dirty="0"/>
              <a:t> possible digests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Brute force attacks search digest space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Atoms in universe – 10</a:t>
            </a:r>
            <a:r>
              <a:rPr lang="en-US" sz="2000" b="1" baseline="30000" dirty="0"/>
              <a:t>80</a:t>
            </a:r>
            <a:r>
              <a:rPr lang="en-US" sz="2000" b="1" dirty="0"/>
              <a:t> or 2</a:t>
            </a:r>
            <a:r>
              <a:rPr lang="en-US" sz="2000" b="1" baseline="30000" dirty="0"/>
              <a:t>265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At 1 atom/bit: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256-bit hash requires half the mass of universe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Atoms in a grain of sand – 10</a:t>
            </a:r>
            <a:r>
              <a:rPr lang="en-US" sz="2000" b="1" baseline="30000" dirty="0"/>
              <a:t>20</a:t>
            </a:r>
            <a:r>
              <a:rPr lang="en-US" sz="2000" b="1" dirty="0"/>
              <a:t> or 2</a:t>
            </a:r>
            <a:r>
              <a:rPr lang="en-US" sz="2000" b="1" baseline="30000" dirty="0"/>
              <a:t>66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64-bit hash function ≈ 12 grains of sand</a:t>
            </a:r>
          </a:p>
        </p:txBody>
      </p:sp>
    </p:spTree>
    <p:extLst>
      <p:ext uri="{BB962C8B-B14F-4D97-AF65-F5344CB8AC3E}">
        <p14:creationId xmlns:p14="http://schemas.microsoft.com/office/powerpoint/2010/main" val="2211259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Brute force attacks against </a:t>
            </a:r>
            <a:br>
              <a:rPr lang="en-US" b="1" dirty="0"/>
            </a:br>
            <a:r>
              <a:rPr lang="en-US" b="1" dirty="0"/>
              <a:t>a hash function are exponentially difficult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N-bit hash function has 2</a:t>
            </a:r>
            <a:r>
              <a:rPr lang="en-US" sz="2000" b="1" baseline="30000" dirty="0"/>
              <a:t>N</a:t>
            </a:r>
            <a:r>
              <a:rPr lang="en-US" sz="2000" b="1" dirty="0"/>
              <a:t> possible digests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Brute force attacks search digest space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Atoms in universe – 10</a:t>
            </a:r>
            <a:r>
              <a:rPr lang="en-US" sz="2000" b="1" baseline="30000" dirty="0"/>
              <a:t>80</a:t>
            </a:r>
            <a:r>
              <a:rPr lang="en-US" sz="2000" b="1" dirty="0"/>
              <a:t> or 2</a:t>
            </a:r>
            <a:r>
              <a:rPr lang="en-US" sz="2000" b="1" baseline="30000" dirty="0"/>
              <a:t>265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At 1 atom/bit: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256-bit hash requires half the mass of universe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Atoms in a grain of sand – 10</a:t>
            </a:r>
            <a:r>
              <a:rPr lang="en-US" sz="2000" b="1" baseline="30000" dirty="0"/>
              <a:t>20</a:t>
            </a:r>
            <a:r>
              <a:rPr lang="en-US" sz="2000" b="1" dirty="0"/>
              <a:t> or 2</a:t>
            </a:r>
            <a:r>
              <a:rPr lang="en-US" sz="2000" b="1" baseline="30000" dirty="0"/>
              <a:t>66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64-bit hash function ≈ 12 grains of sand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One million digests per second</a:t>
            </a:r>
          </a:p>
        </p:txBody>
      </p:sp>
    </p:spTree>
    <p:extLst>
      <p:ext uri="{BB962C8B-B14F-4D97-AF65-F5344CB8AC3E}">
        <p14:creationId xmlns:p14="http://schemas.microsoft.com/office/powerpoint/2010/main" val="22112590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Brute force attacks against </a:t>
            </a:r>
            <a:br>
              <a:rPr lang="en-US" b="1" dirty="0"/>
            </a:br>
            <a:r>
              <a:rPr lang="en-US" b="1" dirty="0"/>
              <a:t>a hash function are exponentially difficult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N-bit hash function has 2</a:t>
            </a:r>
            <a:r>
              <a:rPr lang="en-US" sz="2000" b="1" baseline="30000" dirty="0"/>
              <a:t>N</a:t>
            </a:r>
            <a:r>
              <a:rPr lang="en-US" sz="2000" b="1" dirty="0"/>
              <a:t> possible digests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Brute force attacks search digest space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Atoms in universe – 10</a:t>
            </a:r>
            <a:r>
              <a:rPr lang="en-US" sz="2000" b="1" baseline="30000" dirty="0"/>
              <a:t>80</a:t>
            </a:r>
            <a:r>
              <a:rPr lang="en-US" sz="2000" b="1" dirty="0"/>
              <a:t> or 2</a:t>
            </a:r>
            <a:r>
              <a:rPr lang="en-US" sz="2000" b="1" baseline="30000" dirty="0"/>
              <a:t>265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At 1 atom/bit: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256-bit hash requires half the mass of universe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Atoms in a grain of sand – 10</a:t>
            </a:r>
            <a:r>
              <a:rPr lang="en-US" sz="2000" b="1" baseline="30000" dirty="0"/>
              <a:t>20</a:t>
            </a:r>
            <a:r>
              <a:rPr lang="en-US" sz="2000" b="1" dirty="0"/>
              <a:t> or 2</a:t>
            </a:r>
            <a:r>
              <a:rPr lang="en-US" sz="2000" b="1" baseline="30000" dirty="0"/>
              <a:t>66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64-bit hash function ≈ 12 grains of sand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One million digests per second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Enumerate 64-bit hash in half a million years</a:t>
            </a:r>
          </a:p>
        </p:txBody>
      </p:sp>
    </p:spTree>
    <p:extLst>
      <p:ext uri="{BB962C8B-B14F-4D97-AF65-F5344CB8AC3E}">
        <p14:creationId xmlns:p14="http://schemas.microsoft.com/office/powerpoint/2010/main" val="22112590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 preimage attack attempts to find a message having a specific digest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2244289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 preimage attack attempts to find a message having a specific digest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Try random messages looking for target digest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2214386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 preimage attack attempts to find a message having a specific digest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276600" y="1200151"/>
                <a:ext cx="5867400" cy="23821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Try random messages looking for target digest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Chance of success per attempt: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 smtClean="0"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US" sz="2000" b="1" i="1" smtClean="0">
                            <a:latin typeface="Cambria Math"/>
                          </a:rPr>
                          <m:t>𝑫</m:t>
                        </m:r>
                      </m:den>
                    </m:f>
                  </m:oMath>
                </a14:m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382127"/>
              </a:xfrm>
              <a:prstGeom prst="rect">
                <a:avLst/>
              </a:prstGeom>
              <a:blipFill rotWithShape="1">
                <a:blip r:embed="rId3"/>
                <a:stretch>
                  <a:fillRect l="-936" t="-1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3591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 preimage attack attempts to find a message having a specific digest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276600" y="1200151"/>
                <a:ext cx="5867400" cy="26899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Try random messages looking for target digest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Chance of success per attempt: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 smtClean="0"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US" sz="2000" b="1" i="1" smtClean="0">
                            <a:latin typeface="Cambria Math"/>
                          </a:rPr>
                          <m:t>𝑫</m:t>
                        </m:r>
                      </m:den>
                    </m:f>
                  </m:oMath>
                </a14:m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Chance of failure after k attempts</a:t>
                </a:r>
              </a:p>
              <a:p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689904"/>
              </a:xfrm>
              <a:prstGeom prst="rect">
                <a:avLst/>
              </a:prstGeom>
              <a:blipFill rotWithShape="1">
                <a:blip r:embed="rId3"/>
                <a:stretch>
                  <a:fillRect l="-936" t="-11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3591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 preimage attack attempts to find a message having a specific digest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276600" y="1200151"/>
                <a:ext cx="5867400" cy="34547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Try random messages looking for target digest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Chance of success per attempt: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 smtClean="0"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US" sz="2000" b="1" i="1" smtClean="0">
                            <a:latin typeface="Cambria Math"/>
                          </a:rPr>
                          <m:t>𝑫</m:t>
                        </m:r>
                      </m:den>
                    </m:f>
                  </m:oMath>
                </a14:m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Chance of failure after k attempts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𝒑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𝒇𝒂𝒊𝒍𝒖𝒓𝒆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𝒂𝒇𝒕𝒆𝒓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𝒌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>
                                  <a:latin typeface="Cambria Math"/>
                                </a:rPr>
                                <m:t>𝟏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1">
                                      <a:latin typeface="Cambria Math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sz="2000" b="1" i="1">
                                      <a:latin typeface="Cambria Math"/>
                                    </a:rPr>
                                    <m:t>𝑫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000" b="1" i="1" smtClean="0">
                              <a:latin typeface="Cambria Math"/>
                            </a:rPr>
                            <m:t>𝒌</m:t>
                          </m:r>
                        </m:sup>
                      </m:sSup>
                    </m:oMath>
                  </m:oMathPara>
                </a14:m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3454792"/>
              </a:xfrm>
              <a:prstGeom prst="rect">
                <a:avLst/>
              </a:prstGeom>
              <a:blipFill rotWithShape="1">
                <a:blip r:embed="rId3"/>
                <a:stretch>
                  <a:fillRect l="-936" t="-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3591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 preimage attack attempts to find a message having a specific digest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276600" y="1200151"/>
                <a:ext cx="5867400" cy="40952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Try random messages looking for target digest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Chance of success per attempt: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 smtClean="0"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US" sz="2000" b="1" i="1" smtClean="0">
                            <a:latin typeface="Cambria Math"/>
                          </a:rPr>
                          <m:t>𝑫</m:t>
                        </m:r>
                      </m:den>
                    </m:f>
                  </m:oMath>
                </a14:m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Chance of failure after k attempts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𝒑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𝒇𝒂𝒊𝒍𝒖𝒓𝒆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𝒂𝒇𝒕𝒆𝒓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𝒌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>
                                  <a:latin typeface="Cambria Math"/>
                                </a:rPr>
                                <m:t>𝟏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1">
                                      <a:latin typeface="Cambria Math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sz="2000" b="1" i="1">
                                      <a:latin typeface="Cambria Math"/>
                                    </a:rPr>
                                    <m:t>𝑫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000" b="1" i="1" smtClean="0">
                              <a:latin typeface="Cambria Math"/>
                            </a:rPr>
                            <m:t>𝒌</m:t>
                          </m:r>
                        </m:sup>
                      </m:sSup>
                    </m:oMath>
                  </m:oMathPara>
                </a14:m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Attempts for 50/50 chance of success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/>
              </a:p>
              <a:p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4095224"/>
              </a:xfrm>
              <a:prstGeom prst="rect">
                <a:avLst/>
              </a:prstGeom>
              <a:blipFill rotWithShape="1">
                <a:blip r:embed="rId3"/>
                <a:stretch>
                  <a:fillRect l="-936" t="-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3591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 preimage attack attempts to find a message having a specific digest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276600" y="1200151"/>
                <a:ext cx="5867400" cy="40952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Try random messages looking for target digest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Chance of success per attempt: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 smtClean="0"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US" sz="2000" b="1" i="1" smtClean="0">
                            <a:latin typeface="Cambria Math"/>
                          </a:rPr>
                          <m:t>𝑫</m:t>
                        </m:r>
                      </m:den>
                    </m:f>
                  </m:oMath>
                </a14:m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Chance of failure after k attempts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𝒑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𝒇𝒂𝒊𝒍𝒖𝒓𝒆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𝒂𝒇𝒕𝒆𝒓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𝒌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>
                                  <a:latin typeface="Cambria Math"/>
                                </a:rPr>
                                <m:t>𝟏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1">
                                      <a:latin typeface="Cambria Math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sz="2000" b="1" i="1">
                                      <a:latin typeface="Cambria Math"/>
                                    </a:rPr>
                                    <m:t>𝑫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000" b="1" i="1" smtClean="0">
                              <a:latin typeface="Cambria Math"/>
                            </a:rPr>
                            <m:t>𝒌</m:t>
                          </m:r>
                        </m:sup>
                      </m:sSup>
                    </m:oMath>
                  </m:oMathPara>
                </a14:m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Attempts for 50/50 chance of success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𝒌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𝟓𝟎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% 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𝒄𝒉𝒂𝒏𝒄𝒆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</a:rPr>
                        <m:t>𝒍𝒏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𝟐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𝑫</m:t>
                      </m:r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</a:rPr>
                        <m:t>𝒍𝒏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𝟐</m:t>
                          </m:r>
                        </m:e>
                      </m:d>
                      <m:sSup>
                        <m:s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𝟐</m:t>
                          </m:r>
                        </m:e>
                        <m:sup>
                          <m:r>
                            <a:rPr lang="en-US" sz="2000" b="1" i="1" smtClean="0">
                              <a:latin typeface="Cambria Math"/>
                            </a:rPr>
                            <m:t>𝑵</m:t>
                          </m:r>
                        </m:sup>
                      </m:sSup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</a:rPr>
                        <m:t>𝑶</m:t>
                      </m:r>
                      <m:r>
                        <a:rPr lang="en-US" sz="2000" b="1" i="1" smtClean="0"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latin typeface="Cambria Math"/>
                            </a:rPr>
                            <m:t> 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𝟐</m:t>
                          </m:r>
                        </m:e>
                        <m:sup>
                          <m:r>
                            <a:rPr lang="en-US" sz="2000" b="1" i="1">
                              <a:latin typeface="Cambria Math"/>
                            </a:rPr>
                            <m:t>𝑵</m:t>
                          </m:r>
                        </m:sup>
                      </m:sSup>
                      <m:r>
                        <a:rPr lang="en-US" sz="2000" b="1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4095224"/>
              </a:xfrm>
              <a:prstGeom prst="rect">
                <a:avLst/>
              </a:prstGeom>
              <a:blipFill rotWithShape="1">
                <a:blip r:embed="rId3"/>
                <a:stretch>
                  <a:fillRect l="-936" t="-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3591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Preimage attacks against good hash functions are computationally infeasible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Attacks on 64-bit hash functions barely feasible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4061408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Preimage attacks against good hash functions are computationally infeasible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Attacks on 64-bit hash functions barely feasible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Most current hash functions 128, 256 bits or more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9579404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Preimage attacks against good hash functions are computationally infeasible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Attacks on 64-bit hash functions barely feasible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Most current hash functions 128, 256 bits or more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Large hash functions CAN be vulnerable</a:t>
            </a:r>
          </a:p>
        </p:txBody>
      </p:sp>
    </p:spTree>
    <p:extLst>
      <p:ext uri="{BB962C8B-B14F-4D97-AF65-F5344CB8AC3E}">
        <p14:creationId xmlns:p14="http://schemas.microsoft.com/office/powerpoint/2010/main" val="19579404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Preimage attacks against good hash functions are computationally infeasible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Attacks on 64-bit hash functions barely feasible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Most current hash functions 128, 256 bits or more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Large hash functions CAN be vulnerable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Simple “perfect hashes” are trivially broken</a:t>
            </a:r>
          </a:p>
        </p:txBody>
      </p:sp>
    </p:spTree>
    <p:extLst>
      <p:ext uri="{BB962C8B-B14F-4D97-AF65-F5344CB8AC3E}">
        <p14:creationId xmlns:p14="http://schemas.microsoft.com/office/powerpoint/2010/main" val="19579404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Preimage attacks against good hash functions are computationally infeasible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Attacks on 64-bit hash functions barely feasible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Most current hash functions 128, 256 bits or more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Large hash functions CAN be vulnerable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Simple “perfect hashes” are trivially broken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Key lessons</a:t>
            </a:r>
          </a:p>
        </p:txBody>
      </p:sp>
    </p:spTree>
    <p:extLst>
      <p:ext uri="{BB962C8B-B14F-4D97-AF65-F5344CB8AC3E}">
        <p14:creationId xmlns:p14="http://schemas.microsoft.com/office/powerpoint/2010/main" val="19579404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Preimage attacks against good hash functions are computationally infeasible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Attacks on 64-bit hash functions barely feasible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Most current hash functions 128, 256 bits or more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Large hash functions CAN be vulnerable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Simple “perfect hashes” are trivially broken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Key lessons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Large hash does not imply secure hash</a:t>
            </a:r>
          </a:p>
        </p:txBody>
      </p:sp>
    </p:spTree>
    <p:extLst>
      <p:ext uri="{BB962C8B-B14F-4D97-AF65-F5344CB8AC3E}">
        <p14:creationId xmlns:p14="http://schemas.microsoft.com/office/powerpoint/2010/main" val="19579404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Preimage attacks against good hash functions are computationally infeasible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Attacks on 64-bit hash functions barely feasible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Most current hash functions 128, 256 bits or more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Large hash functions CAN be vulnerable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Simple “perfect hashes” are trivially broken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Key lessons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Large hash does not imply secure hash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Weaknesses that CAN exist, WILL exist</a:t>
            </a:r>
          </a:p>
        </p:txBody>
      </p:sp>
    </p:spTree>
    <p:extLst>
      <p:ext uri="{BB962C8B-B14F-4D97-AF65-F5344CB8AC3E}">
        <p14:creationId xmlns:p14="http://schemas.microsoft.com/office/powerpoint/2010/main" val="19579404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Second Preimage attacks are “usually” equivalent to a preimage attack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598632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Second Preimage attacks are “usually” equivalent to a preimage attack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Reduces to preimage attack with Random Oracle</a:t>
            </a:r>
          </a:p>
        </p:txBody>
      </p:sp>
    </p:spTree>
    <p:extLst>
      <p:ext uri="{BB962C8B-B14F-4D97-AF65-F5344CB8AC3E}">
        <p14:creationId xmlns:p14="http://schemas.microsoft.com/office/powerpoint/2010/main" val="23963873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Second Preimage attacks are “usually” equivalent to a preimage attack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Reduces to preimage attack with Random Oracle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Effort is O(2</a:t>
            </a:r>
            <a:r>
              <a:rPr lang="en-US" sz="2000" b="1" baseline="30000" dirty="0"/>
              <a:t>N</a:t>
            </a:r>
            <a:r>
              <a:rPr lang="en-US" sz="2000" b="1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3963873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Second Preimage attacks are “usually” equivalent to a preimage attack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Reduces to preimage attack with Random Oracle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Effort is O(2</a:t>
            </a:r>
            <a:r>
              <a:rPr lang="en-US" sz="2000" b="1" baseline="30000" dirty="0"/>
              <a:t>N</a:t>
            </a:r>
            <a:r>
              <a:rPr lang="en-US" sz="2000" b="1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Perfect hash is immune to second preimage attack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3963873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Second Preimage attacks are “usually” equivalent to a preimage attack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Reduces to preimage attack with Random Oracle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Effort is O(2</a:t>
            </a:r>
            <a:r>
              <a:rPr lang="en-US" sz="2000" b="1" baseline="30000" dirty="0"/>
              <a:t>N</a:t>
            </a:r>
            <a:r>
              <a:rPr lang="en-US" sz="2000" b="1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Perfect hash is immune to second preimage attack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Subtle but important distinction</a:t>
            </a:r>
          </a:p>
        </p:txBody>
      </p:sp>
    </p:spTree>
    <p:extLst>
      <p:ext uri="{BB962C8B-B14F-4D97-AF65-F5344CB8AC3E}">
        <p14:creationId xmlns:p14="http://schemas.microsoft.com/office/powerpoint/2010/main" val="23963873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Second Preimage attacks are “usually” equivalent to a preimage attack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Reduces to preimage attack with Random Oracle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Effort is O(2</a:t>
            </a:r>
            <a:r>
              <a:rPr lang="en-US" sz="2000" b="1" baseline="30000" dirty="0"/>
              <a:t>N</a:t>
            </a:r>
            <a:r>
              <a:rPr lang="en-US" sz="2000" b="1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Perfect hash is immune to second preimage attack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Subtle but important distinction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Real hash functions probably have traces of it</a:t>
            </a:r>
          </a:p>
        </p:txBody>
      </p:sp>
    </p:spTree>
    <p:extLst>
      <p:ext uri="{BB962C8B-B14F-4D97-AF65-F5344CB8AC3E}">
        <p14:creationId xmlns:p14="http://schemas.microsoft.com/office/powerpoint/2010/main" val="23963873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Second Preimage attacks are “usually” equivalent to a preimage attack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Reduces to preimage attack with Random Oracle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Effort is O(2</a:t>
            </a:r>
            <a:r>
              <a:rPr lang="en-US" sz="2000" b="1" baseline="30000" dirty="0"/>
              <a:t>N</a:t>
            </a:r>
            <a:r>
              <a:rPr lang="en-US" sz="2000" b="1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Perfect hash is immune to second preimage attack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Subtle but important distinction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Real hash functions probably have traces of it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Adversaries will seek them out</a:t>
            </a:r>
          </a:p>
        </p:txBody>
      </p:sp>
    </p:spTree>
    <p:extLst>
      <p:ext uri="{BB962C8B-B14F-4D97-AF65-F5344CB8AC3E}">
        <p14:creationId xmlns:p14="http://schemas.microsoft.com/office/powerpoint/2010/main" val="23963873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Second Preimage attacks are “usually” equivalent to a preimage attack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Reduces to preimage attack with Random Oracle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Effort is O(2</a:t>
            </a:r>
            <a:r>
              <a:rPr lang="en-US" sz="2000" b="1" baseline="30000" dirty="0"/>
              <a:t>N</a:t>
            </a:r>
            <a:r>
              <a:rPr lang="en-US" sz="2000" b="1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Perfect hash is immune to second preimage attack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Subtle but important distinction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Real hash functions probably have traces of it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Adversaries will seek them out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Our design needs to treat them separately</a:t>
            </a:r>
          </a:p>
        </p:txBody>
      </p:sp>
    </p:spTree>
    <p:extLst>
      <p:ext uri="{BB962C8B-B14F-4D97-AF65-F5344CB8AC3E}">
        <p14:creationId xmlns:p14="http://schemas.microsoft.com/office/powerpoint/2010/main" val="2396387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39685</TotalTime>
  <Words>1352</Words>
  <Application>Microsoft Office PowerPoint</Application>
  <PresentationFormat>On-screen Show (16:9)</PresentationFormat>
  <Paragraphs>370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Arial</vt:lpstr>
      <vt:lpstr>Calibri</vt:lpstr>
      <vt:lpstr>Cambria Math</vt:lpstr>
      <vt:lpstr>Office Theme</vt:lpstr>
      <vt:lpstr>A Random Oracle  is subject to three types of attacks</vt:lpstr>
      <vt:lpstr>A Random Oracle  is subject to three types of attacks</vt:lpstr>
      <vt:lpstr>A Random Oracle  is subject to three types of attacks</vt:lpstr>
      <vt:lpstr>A Random Oracle  is subject to three types of attacks</vt:lpstr>
      <vt:lpstr>A Random Oracle  is subject to three types of attacks</vt:lpstr>
      <vt:lpstr>A Random Oracle  is subject to three types of attacks</vt:lpstr>
      <vt:lpstr>Brute force attacks against  a hash function are exponentially difficult</vt:lpstr>
      <vt:lpstr>Brute force attacks against  a hash function are exponentially difficult</vt:lpstr>
      <vt:lpstr>Brute force attacks against  a hash function are exponentially difficult</vt:lpstr>
      <vt:lpstr>Brute force attacks against  a hash function are exponentially difficult</vt:lpstr>
      <vt:lpstr>Brute force attacks against  a hash function are exponentially difficult</vt:lpstr>
      <vt:lpstr>Brute force attacks against  a hash function are exponentially difficult</vt:lpstr>
      <vt:lpstr>Brute force attacks against  a hash function are exponentially difficult</vt:lpstr>
      <vt:lpstr>Brute force attacks against  a hash function are exponentially difficult</vt:lpstr>
      <vt:lpstr>Brute force attacks against  a hash function are exponentially difficult</vt:lpstr>
      <vt:lpstr>Brute force attacks against  a hash function are exponentially difficult</vt:lpstr>
      <vt:lpstr>A preimage attack attempts to find a message having a specific digest</vt:lpstr>
      <vt:lpstr>A preimage attack attempts to find a message having a specific digest</vt:lpstr>
      <vt:lpstr>A preimage attack attempts to find a message having a specific digest</vt:lpstr>
      <vt:lpstr>A preimage attack attempts to find a message having a specific digest</vt:lpstr>
      <vt:lpstr>A preimage attack attempts to find a message having a specific digest</vt:lpstr>
      <vt:lpstr>A preimage attack attempts to find a message having a specific digest</vt:lpstr>
      <vt:lpstr>A preimage attack attempts to find a message having a specific digest</vt:lpstr>
      <vt:lpstr>Preimage attacks against good hash functions are computationally infeasible</vt:lpstr>
      <vt:lpstr>Preimage attacks against good hash functions are computationally infeasible</vt:lpstr>
      <vt:lpstr>Preimage attacks against good hash functions are computationally infeasible</vt:lpstr>
      <vt:lpstr>Preimage attacks against good hash functions are computationally infeasible</vt:lpstr>
      <vt:lpstr>Preimage attacks against good hash functions are computationally infeasible</vt:lpstr>
      <vt:lpstr>Preimage attacks against good hash functions are computationally infeasible</vt:lpstr>
      <vt:lpstr>Preimage attacks against good hash functions are computationally infeasible</vt:lpstr>
      <vt:lpstr>Second Preimage attacks are “usually” equivalent to a preimage attack</vt:lpstr>
      <vt:lpstr>Second Preimage attacks are “usually” equivalent to a preimage attack</vt:lpstr>
      <vt:lpstr>Second Preimage attacks are “usually” equivalent to a preimage attack</vt:lpstr>
      <vt:lpstr>Second Preimage attacks are “usually” equivalent to a preimage attack</vt:lpstr>
      <vt:lpstr>Second Preimage attacks are “usually” equivalent to a preimage attack</vt:lpstr>
      <vt:lpstr>Second Preimage attacks are “usually” equivalent to a preimage attack</vt:lpstr>
      <vt:lpstr>Second Preimage attacks are “usually” equivalent to a preimage attack</vt:lpstr>
      <vt:lpstr>Second Preimage attacks are “usually” equivalent to a preimage attack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Chinese Remainder Theorem</dc:title>
  <dc:creator>WBahn</dc:creator>
  <cp:lastModifiedBy>Oluwatobi Akanbi</cp:lastModifiedBy>
  <cp:revision>176</cp:revision>
  <dcterms:created xsi:type="dcterms:W3CDTF">2017-04-06T17:43:22Z</dcterms:created>
  <dcterms:modified xsi:type="dcterms:W3CDTF">2017-09-15T20:12:55Z</dcterms:modified>
</cp:coreProperties>
</file>