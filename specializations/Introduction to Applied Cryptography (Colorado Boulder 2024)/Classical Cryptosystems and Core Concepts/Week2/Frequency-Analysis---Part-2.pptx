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notesSlides/notesSlide20.xml" ContentType="application/vnd.openxmlformats-officedocument.presentationml.notesSlide+xml"/>
  <Override PartName="/ppt/charts/chart2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2"/>
  </p:notesMasterIdLst>
  <p:sldIdLst>
    <p:sldId id="518" r:id="rId2"/>
    <p:sldId id="519" r:id="rId3"/>
    <p:sldId id="520" r:id="rId4"/>
    <p:sldId id="521" r:id="rId5"/>
    <p:sldId id="522" r:id="rId6"/>
    <p:sldId id="523" r:id="rId7"/>
    <p:sldId id="524" r:id="rId8"/>
    <p:sldId id="525" r:id="rId9"/>
    <p:sldId id="526" r:id="rId10"/>
    <p:sldId id="527" r:id="rId11"/>
    <p:sldId id="528" r:id="rId12"/>
    <p:sldId id="529" r:id="rId13"/>
    <p:sldId id="530" r:id="rId14"/>
    <p:sldId id="531" r:id="rId15"/>
    <p:sldId id="532" r:id="rId16"/>
    <p:sldId id="533" r:id="rId17"/>
    <p:sldId id="534" r:id="rId18"/>
    <p:sldId id="535" r:id="rId19"/>
    <p:sldId id="536" r:id="rId20"/>
    <p:sldId id="537" r:id="rId2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English Letter Distribution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dLbls>
            <c:dLbl>
              <c:idx val="0"/>
              <c:tx>
                <c:strRef>
                  <c:f>[1]Frequencies!$C$4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{ADD41F00-8E94-4250-A86D-97434C584C05}</c15:txfldGUID>
                      <c15:f>[1]Frequencies!$C$4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0-B58F-43A0-96E4-3ED279C5DFC2}"/>
                </c:ext>
              </c:extLst>
            </c:dLbl>
            <c:dLbl>
              <c:idx val="1"/>
              <c:tx>
                <c:strRef>
                  <c:f>[1]Frequencies!$C$5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{B8C63350-71EB-4342-9FE3-142A35FD7C7C}</c15:txfldGUID>
                      <c15:f>[1]Frequencies!$C$5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1-B58F-43A0-96E4-3ED279C5DFC2}"/>
                </c:ext>
              </c:extLst>
            </c:dLbl>
            <c:dLbl>
              <c:idx val="2"/>
              <c:tx>
                <c:strRef>
                  <c:f>[1]Frequencies!$C$6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{A49E2C65-9133-49BC-B6DD-D739A744A8B0}</c15:txfldGUID>
                      <c15:f>[1]Frequencies!$C$6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2-B58F-43A0-96E4-3ED279C5DFC2}"/>
                </c:ext>
              </c:extLst>
            </c:dLbl>
            <c:dLbl>
              <c:idx val="3"/>
              <c:tx>
                <c:strRef>
                  <c:f>[1]Frequencies!$C$7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{02FB9AEF-AF6D-4E2B-8721-8ECD1C755316}</c15:txfldGUID>
                      <c15:f>[1]Frequencies!$C$7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3-B58F-43A0-96E4-3ED279C5DFC2}"/>
                </c:ext>
              </c:extLst>
            </c:dLbl>
            <c:dLbl>
              <c:idx val="4"/>
              <c:tx>
                <c:strRef>
                  <c:f>[1]Frequencies!$C$8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{631B2A27-AB3E-449C-BDFB-E7ED393EAFCD}</c15:txfldGUID>
                      <c15:f>[1]Frequencies!$C$8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4-B58F-43A0-96E4-3ED279C5DFC2}"/>
                </c:ext>
              </c:extLst>
            </c:dLbl>
            <c:dLbl>
              <c:idx val="5"/>
              <c:tx>
                <c:strRef>
                  <c:f>[1]Frequencies!$C$9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{A24FB541-1AE4-4D87-BD1C-E0F76B41187F}</c15:txfldGUID>
                      <c15:f>[1]Frequencies!$C$9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5-B58F-43A0-96E4-3ED279C5DFC2}"/>
                </c:ext>
              </c:extLst>
            </c:dLbl>
            <c:dLbl>
              <c:idx val="6"/>
              <c:tx>
                <c:strRef>
                  <c:f>[1]Frequencies!$C$10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{8D6DB61D-A537-402D-859F-12F3EAB1BCBE}</c15:txfldGUID>
                      <c15:f>[1]Frequencies!$C$10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6-B58F-43A0-96E4-3ED279C5DFC2}"/>
                </c:ext>
              </c:extLst>
            </c:dLbl>
            <c:dLbl>
              <c:idx val="7"/>
              <c:tx>
                <c:strRef>
                  <c:f>[1]Frequencies!$C$11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{AE9CDA15-AEED-4373-8655-5537B90A90AE}</c15:txfldGUID>
                      <c15:f>[1]Frequencies!$C$11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7-B58F-43A0-96E4-3ED279C5DFC2}"/>
                </c:ext>
              </c:extLst>
            </c:dLbl>
            <c:dLbl>
              <c:idx val="8"/>
              <c:tx>
                <c:strRef>
                  <c:f>[1]Frequencies!$C$12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{FD1C1C28-3C60-4627-9F16-FEF71D347225}</c15:txfldGUID>
                      <c15:f>[1]Frequencies!$C$12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8-B58F-43A0-96E4-3ED279C5DFC2}"/>
                </c:ext>
              </c:extLst>
            </c:dLbl>
            <c:dLbl>
              <c:idx val="9"/>
              <c:tx>
                <c:strRef>
                  <c:f>[1]Frequencies!$C$13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{A9F55072-E0A4-4787-9E14-88A43470B83A}</c15:txfldGUID>
                      <c15:f>[1]Frequencies!$C$13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9-B58F-43A0-96E4-3ED279C5DFC2}"/>
                </c:ext>
              </c:extLst>
            </c:dLbl>
            <c:dLbl>
              <c:idx val="10"/>
              <c:tx>
                <c:strRef>
                  <c:f>[1]Frequencies!$C$14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{1781CB64-FD0B-43C7-9505-97FD4404E4F2}</c15:txfldGUID>
                      <c15:f>[1]Frequencies!$C$14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A-B58F-43A0-96E4-3ED279C5DFC2}"/>
                </c:ext>
              </c:extLst>
            </c:dLbl>
            <c:dLbl>
              <c:idx val="11"/>
              <c:tx>
                <c:strRef>
                  <c:f>[1]Frequencies!$C$15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{36E0A040-FF5D-4C16-8A9C-683ED2217EC9}</c15:txfldGUID>
                      <c15:f>[1]Frequencies!$C$15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B-B58F-43A0-96E4-3ED279C5DFC2}"/>
                </c:ext>
              </c:extLst>
            </c:dLbl>
            <c:dLbl>
              <c:idx val="12"/>
              <c:tx>
                <c:strRef>
                  <c:f>[1]Frequencies!$C$16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{AA292AEE-0798-4AF5-8D53-4977E4693176}</c15:txfldGUID>
                      <c15:f>[1]Frequencies!$C$16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C-B58F-43A0-96E4-3ED279C5DFC2}"/>
                </c:ext>
              </c:extLst>
            </c:dLbl>
            <c:dLbl>
              <c:idx val="13"/>
              <c:tx>
                <c:strRef>
                  <c:f>[1]Frequencies!$C$17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{07377063-F511-472F-B2BD-9B0155F9D0AC}</c15:txfldGUID>
                      <c15:f>[1]Frequencies!$C$17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D-B58F-43A0-96E4-3ED279C5DFC2}"/>
                </c:ext>
              </c:extLst>
            </c:dLbl>
            <c:dLbl>
              <c:idx val="14"/>
              <c:tx>
                <c:strRef>
                  <c:f>[1]Frequencies!$C$18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{82F8F662-312B-454A-B869-FFC4B753645E}</c15:txfldGUID>
                      <c15:f>[1]Frequencies!$C$18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E-B58F-43A0-96E4-3ED279C5DFC2}"/>
                </c:ext>
              </c:extLst>
            </c:dLbl>
            <c:dLbl>
              <c:idx val="15"/>
              <c:tx>
                <c:strRef>
                  <c:f>[1]Frequencies!$C$19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{9932197B-9FBB-47D9-8B5D-34987A7C3104}</c15:txfldGUID>
                      <c15:f>[1]Frequencies!$C$19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F-B58F-43A0-96E4-3ED279C5DFC2}"/>
                </c:ext>
              </c:extLst>
            </c:dLbl>
            <c:dLbl>
              <c:idx val="16"/>
              <c:tx>
                <c:strRef>
                  <c:f>[1]Frequencies!$C$20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{A45A65A1-33F1-40E3-A428-0C08775A9DD6}</c15:txfldGUID>
                      <c15:f>[1]Frequencies!$C$20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0-B58F-43A0-96E4-3ED279C5DFC2}"/>
                </c:ext>
              </c:extLst>
            </c:dLbl>
            <c:dLbl>
              <c:idx val="17"/>
              <c:tx>
                <c:strRef>
                  <c:f>[1]Frequencies!$C$21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{B7A12AD6-3CB2-4F35-AED1-D7D26E0725D7}</c15:txfldGUID>
                      <c15:f>[1]Frequencies!$C$21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1-B58F-43A0-96E4-3ED279C5DFC2}"/>
                </c:ext>
              </c:extLst>
            </c:dLbl>
            <c:dLbl>
              <c:idx val="18"/>
              <c:tx>
                <c:strRef>
                  <c:f>[1]Frequencies!$C$22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{5FD4F046-952E-4858-9623-48E0D7109465}</c15:txfldGUID>
                      <c15:f>[1]Frequencies!$C$22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2-B58F-43A0-96E4-3ED279C5DFC2}"/>
                </c:ext>
              </c:extLst>
            </c:dLbl>
            <c:dLbl>
              <c:idx val="19"/>
              <c:tx>
                <c:strRef>
                  <c:f>[1]Frequencies!$C$23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{5B33BD2A-B589-4E4E-8AB5-86533B6B1C8F}</c15:txfldGUID>
                      <c15:f>[1]Frequencies!$C$23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3-B58F-43A0-96E4-3ED279C5DFC2}"/>
                </c:ext>
              </c:extLst>
            </c:dLbl>
            <c:dLbl>
              <c:idx val="20"/>
              <c:tx>
                <c:strRef>
                  <c:f>[1]Frequencies!$C$24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{BDBCC49C-A8FB-42E2-8898-F7DFB280B73F}</c15:txfldGUID>
                      <c15:f>[1]Frequencies!$C$24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4-B58F-43A0-96E4-3ED279C5DFC2}"/>
                </c:ext>
              </c:extLst>
            </c:dLbl>
            <c:dLbl>
              <c:idx val="21"/>
              <c:tx>
                <c:strRef>
                  <c:f>[1]Frequencies!$C$25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{F60141F6-073F-44D0-9184-DB09D921F14E}</c15:txfldGUID>
                      <c15:f>[1]Frequencies!$C$25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5-B58F-43A0-96E4-3ED279C5DFC2}"/>
                </c:ext>
              </c:extLst>
            </c:dLbl>
            <c:dLbl>
              <c:idx val="22"/>
              <c:tx>
                <c:strRef>
                  <c:f>[1]Frequencies!$C$26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{A6CB71F1-48DB-448D-82A3-DE1576A3D75E}</c15:txfldGUID>
                      <c15:f>[1]Frequencies!$C$26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6-B58F-43A0-96E4-3ED279C5DFC2}"/>
                </c:ext>
              </c:extLst>
            </c:dLbl>
            <c:dLbl>
              <c:idx val="23"/>
              <c:tx>
                <c:strRef>
                  <c:f>[1]Frequencies!$C$27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{3D39EDAB-0B85-47B5-B1C8-B6FBB6EE8089}</c15:txfldGUID>
                      <c15:f>[1]Frequencies!$C$27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7-B58F-43A0-96E4-3ED279C5DFC2}"/>
                </c:ext>
              </c:extLst>
            </c:dLbl>
            <c:dLbl>
              <c:idx val="24"/>
              <c:tx>
                <c:strRef>
                  <c:f>[1]Frequencies!$C$28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{0A96B98E-2309-4FF0-8698-A7185F4909D7}</c15:txfldGUID>
                      <c15:f>[1]Frequencies!$C$28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8-B58F-43A0-96E4-3ED279C5DFC2}"/>
                </c:ext>
              </c:extLst>
            </c:dLbl>
            <c:dLbl>
              <c:idx val="25"/>
              <c:tx>
                <c:strRef>
                  <c:f>[1]Frequencies!$C$29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{5DBBCE68-2F5B-4674-99A5-D580464AFA9B}</c15:txfldGUID>
                      <c15:f>[1]Frequencies!$C$29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9-B58F-43A0-96E4-3ED279C5DFC2}"/>
                </c:ext>
              </c:extLst>
            </c:dLbl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[1]Frequencies!$D$4:$D$29</c:f>
              <c:numCache>
                <c:formatCode>General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</c:numCache>
            </c:numRef>
          </c:xVal>
          <c:yVal>
            <c:numRef>
              <c:f>[1]Frequencies!$E$4:$E$29</c:f>
              <c:numCache>
                <c:formatCode>General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A-B58F-43A0-96E4-3ED279C5DFC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axId val="77771904"/>
        <c:axId val="78328960"/>
      </c:scatterChart>
      <c:valAx>
        <c:axId val="77771904"/>
        <c:scaling>
          <c:orientation val="minMax"/>
          <c:max val="15"/>
          <c:min val="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Single-Letter Frequency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78328960"/>
        <c:crosses val="autoZero"/>
        <c:crossBetween val="midCat"/>
        <c:majorUnit val="1"/>
      </c:valAx>
      <c:valAx>
        <c:axId val="78328960"/>
        <c:scaling>
          <c:orientation val="minMax"/>
          <c:max val="2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Double-Letter Frequency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77771904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English Letter Distribution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dLbls>
            <c:dLbl>
              <c:idx val="0"/>
              <c:tx>
                <c:strRef>
                  <c:f>[1]Frequencies!$C$4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{543B51E1-2C77-4C81-9B09-D133066E0EC0}</c15:txfldGUID>
                      <c15:f>[1]Frequencies!$C$4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0-419D-41D8-84D7-D47994F7D1AA}"/>
                </c:ext>
              </c:extLst>
            </c:dLbl>
            <c:dLbl>
              <c:idx val="1"/>
              <c:tx>
                <c:strRef>
                  <c:f>[1]Frequencies!$C$5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{9E908E2E-3B2F-4D86-997A-161C674F1383}</c15:txfldGUID>
                      <c15:f>[1]Frequencies!$C$5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1-419D-41D8-84D7-D47994F7D1AA}"/>
                </c:ext>
              </c:extLst>
            </c:dLbl>
            <c:dLbl>
              <c:idx val="2"/>
              <c:tx>
                <c:strRef>
                  <c:f>[1]Frequencies!$C$6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{EAD4783E-3E0A-401D-A27A-2E028BD37049}</c15:txfldGUID>
                      <c15:f>[1]Frequencies!$C$6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2-419D-41D8-84D7-D47994F7D1AA}"/>
                </c:ext>
              </c:extLst>
            </c:dLbl>
            <c:dLbl>
              <c:idx val="3"/>
              <c:tx>
                <c:strRef>
                  <c:f>[1]Frequencies!$C$7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{662011BF-7A64-457F-B67F-0DB40A00699F}</c15:txfldGUID>
                      <c15:f>[1]Frequencies!$C$7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3-419D-41D8-84D7-D47994F7D1AA}"/>
                </c:ext>
              </c:extLst>
            </c:dLbl>
            <c:dLbl>
              <c:idx val="4"/>
              <c:tx>
                <c:strRef>
                  <c:f>[1]Frequencies!$C$8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{F1D8C07C-279D-44D5-B16F-3A944237B031}</c15:txfldGUID>
                      <c15:f>[1]Frequencies!$C$8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4-419D-41D8-84D7-D47994F7D1AA}"/>
                </c:ext>
              </c:extLst>
            </c:dLbl>
            <c:dLbl>
              <c:idx val="5"/>
              <c:tx>
                <c:strRef>
                  <c:f>[1]Frequencies!$C$9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{AFD15A10-C980-405B-805F-ADF7B9DB53EC}</c15:txfldGUID>
                      <c15:f>[1]Frequencies!$C$9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5-419D-41D8-84D7-D47994F7D1AA}"/>
                </c:ext>
              </c:extLst>
            </c:dLbl>
            <c:dLbl>
              <c:idx val="6"/>
              <c:tx>
                <c:strRef>
                  <c:f>[1]Frequencies!$C$10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{9AB4EF06-36E8-487C-9E99-550B1AB7FF6F}</c15:txfldGUID>
                      <c15:f>[1]Frequencies!$C$10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6-419D-41D8-84D7-D47994F7D1AA}"/>
                </c:ext>
              </c:extLst>
            </c:dLbl>
            <c:dLbl>
              <c:idx val="7"/>
              <c:tx>
                <c:strRef>
                  <c:f>[1]Frequencies!$C$11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{9298072C-F622-45B1-9D06-B0CDD03E2C4D}</c15:txfldGUID>
                      <c15:f>[1]Frequencies!$C$11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7-419D-41D8-84D7-D47994F7D1AA}"/>
                </c:ext>
              </c:extLst>
            </c:dLbl>
            <c:dLbl>
              <c:idx val="8"/>
              <c:tx>
                <c:strRef>
                  <c:f>[1]Frequencies!$C$12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{FED168AE-5C15-4D94-8DD2-9381510FBC29}</c15:txfldGUID>
                      <c15:f>[1]Frequencies!$C$12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8-419D-41D8-84D7-D47994F7D1AA}"/>
                </c:ext>
              </c:extLst>
            </c:dLbl>
            <c:dLbl>
              <c:idx val="9"/>
              <c:tx>
                <c:strRef>
                  <c:f>[1]Frequencies!$C$13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{CB1876F7-5856-4FA8-B4F4-37F73FA251D9}</c15:txfldGUID>
                      <c15:f>[1]Frequencies!$C$13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9-419D-41D8-84D7-D47994F7D1AA}"/>
                </c:ext>
              </c:extLst>
            </c:dLbl>
            <c:dLbl>
              <c:idx val="10"/>
              <c:tx>
                <c:strRef>
                  <c:f>[1]Frequencies!$C$14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{F9D8B1AC-E8E1-47AA-AE29-CE0DB1A5DB82}</c15:txfldGUID>
                      <c15:f>[1]Frequencies!$C$14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A-419D-41D8-84D7-D47994F7D1AA}"/>
                </c:ext>
              </c:extLst>
            </c:dLbl>
            <c:dLbl>
              <c:idx val="11"/>
              <c:tx>
                <c:strRef>
                  <c:f>[1]Frequencies!$C$15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{AE4CE972-4998-4CB0-AE7C-0C7BDB6C8BE5}</c15:txfldGUID>
                      <c15:f>[1]Frequencies!$C$15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B-419D-41D8-84D7-D47994F7D1AA}"/>
                </c:ext>
              </c:extLst>
            </c:dLbl>
            <c:dLbl>
              <c:idx val="12"/>
              <c:tx>
                <c:strRef>
                  <c:f>[1]Frequencies!$C$16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{CBEE4702-526A-4766-9353-ACE89F76F06D}</c15:txfldGUID>
                      <c15:f>[1]Frequencies!$C$16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C-419D-41D8-84D7-D47994F7D1AA}"/>
                </c:ext>
              </c:extLst>
            </c:dLbl>
            <c:dLbl>
              <c:idx val="13"/>
              <c:tx>
                <c:strRef>
                  <c:f>[1]Frequencies!$C$17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{B8526E69-1583-466F-BFA8-9D103BD80D47}</c15:txfldGUID>
                      <c15:f>[1]Frequencies!$C$17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D-419D-41D8-84D7-D47994F7D1AA}"/>
                </c:ext>
              </c:extLst>
            </c:dLbl>
            <c:dLbl>
              <c:idx val="14"/>
              <c:tx>
                <c:strRef>
                  <c:f>[1]Frequencies!$C$18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{894BDFFD-2311-4D2F-9346-2C3D4B66E4E8}</c15:txfldGUID>
                      <c15:f>[1]Frequencies!$C$18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E-419D-41D8-84D7-D47994F7D1AA}"/>
                </c:ext>
              </c:extLst>
            </c:dLbl>
            <c:dLbl>
              <c:idx val="15"/>
              <c:tx>
                <c:strRef>
                  <c:f>[1]Frequencies!$C$19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{8A365F2C-8F5F-4D5F-AEE4-93E20E83FB34}</c15:txfldGUID>
                      <c15:f>[1]Frequencies!$C$19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F-419D-41D8-84D7-D47994F7D1AA}"/>
                </c:ext>
              </c:extLst>
            </c:dLbl>
            <c:dLbl>
              <c:idx val="16"/>
              <c:tx>
                <c:strRef>
                  <c:f>[1]Frequencies!$C$20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{ED8F1A5F-541A-4582-806C-AC12B8196B82}</c15:txfldGUID>
                      <c15:f>[1]Frequencies!$C$20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0-419D-41D8-84D7-D47994F7D1AA}"/>
                </c:ext>
              </c:extLst>
            </c:dLbl>
            <c:dLbl>
              <c:idx val="17"/>
              <c:tx>
                <c:strRef>
                  <c:f>[1]Frequencies!$C$21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{FA0F039B-2FFF-4CF2-8674-BE69899DEE11}</c15:txfldGUID>
                      <c15:f>[1]Frequencies!$C$21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1-419D-41D8-84D7-D47994F7D1AA}"/>
                </c:ext>
              </c:extLst>
            </c:dLbl>
            <c:dLbl>
              <c:idx val="18"/>
              <c:tx>
                <c:strRef>
                  <c:f>[1]Frequencies!$C$22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{67D2FF20-E7AF-4869-BA9A-7037A6EEDF7D}</c15:txfldGUID>
                      <c15:f>[1]Frequencies!$C$22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2-419D-41D8-84D7-D47994F7D1AA}"/>
                </c:ext>
              </c:extLst>
            </c:dLbl>
            <c:dLbl>
              <c:idx val="19"/>
              <c:tx>
                <c:strRef>
                  <c:f>[1]Frequencies!$C$23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{22ABBE90-2011-42A4-9346-1C88ADEBC6B9}</c15:txfldGUID>
                      <c15:f>[1]Frequencies!$C$23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3-419D-41D8-84D7-D47994F7D1AA}"/>
                </c:ext>
              </c:extLst>
            </c:dLbl>
            <c:dLbl>
              <c:idx val="20"/>
              <c:tx>
                <c:strRef>
                  <c:f>[1]Frequencies!$C$24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{C8B17773-F3A4-4A8C-81E1-2F65C4F13CCF}</c15:txfldGUID>
                      <c15:f>[1]Frequencies!$C$24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4-419D-41D8-84D7-D47994F7D1AA}"/>
                </c:ext>
              </c:extLst>
            </c:dLbl>
            <c:dLbl>
              <c:idx val="21"/>
              <c:tx>
                <c:strRef>
                  <c:f>[1]Frequencies!$C$25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{78A291B2-5698-48B1-AE89-9ED62517BCE2}</c15:txfldGUID>
                      <c15:f>[1]Frequencies!$C$25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5-419D-41D8-84D7-D47994F7D1AA}"/>
                </c:ext>
              </c:extLst>
            </c:dLbl>
            <c:dLbl>
              <c:idx val="22"/>
              <c:tx>
                <c:strRef>
                  <c:f>[1]Frequencies!$C$26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{BB7F62B6-0F8F-4EF7-9874-758FEF61E92D}</c15:txfldGUID>
                      <c15:f>[1]Frequencies!$C$26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6-419D-41D8-84D7-D47994F7D1AA}"/>
                </c:ext>
              </c:extLst>
            </c:dLbl>
            <c:dLbl>
              <c:idx val="23"/>
              <c:tx>
                <c:strRef>
                  <c:f>[1]Frequencies!$C$27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{35585D4F-7F50-4E4C-A694-EC39B00DEE18}</c15:txfldGUID>
                      <c15:f>[1]Frequencies!$C$27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7-419D-41D8-84D7-D47994F7D1AA}"/>
                </c:ext>
              </c:extLst>
            </c:dLbl>
            <c:dLbl>
              <c:idx val="24"/>
              <c:tx>
                <c:strRef>
                  <c:f>[1]Frequencies!$C$28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{5358FE7E-8DB3-4C55-B1E2-088F8C4FC225}</c15:txfldGUID>
                      <c15:f>[1]Frequencies!$C$28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8-419D-41D8-84D7-D47994F7D1AA}"/>
                </c:ext>
              </c:extLst>
            </c:dLbl>
            <c:dLbl>
              <c:idx val="25"/>
              <c:tx>
                <c:strRef>
                  <c:f>[1]Frequencies!$C$29</c:f>
                  <c:strCache>
                    <c:ptCount val="1"/>
                    <c:pt idx="0">
                      <c:v>#REF!</c:v>
                    </c:pt>
                  </c:strCache>
                </c:strRef>
              </c:tx>
              <c:spPr/>
              <c:txPr>
                <a:bodyPr/>
                <a:lstStyle/>
                <a:p>
                  <a:pPr>
                    <a:defRPr sz="1100" b="0" i="0" u="none" strike="noStrike">
                      <a:latin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{0D7DEDC9-96C5-4E53-A59D-44FBC107B22D}</c15:txfldGUID>
                      <c15:f>[1]Frequencies!$C$29</c15:f>
                      <c15:dlblFieldTableCache>
                        <c:ptCount val="1"/>
                        <c:pt idx="0">
                          <c:v>#REF!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9-419D-41D8-84D7-D47994F7D1AA}"/>
                </c:ext>
              </c:extLst>
            </c:dLbl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[1]Frequencies!$D$4:$D$29</c:f>
              <c:numCache>
                <c:formatCode>General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</c:numCache>
            </c:numRef>
          </c:xVal>
          <c:yVal>
            <c:numRef>
              <c:f>[1]Frequencies!$E$4:$E$29</c:f>
              <c:numCache>
                <c:formatCode>General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A-419D-41D8-84D7-D47994F7D1A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axId val="88008960"/>
        <c:axId val="91310336"/>
      </c:scatterChart>
      <c:valAx>
        <c:axId val="88008960"/>
        <c:scaling>
          <c:orientation val="minMax"/>
          <c:max val="3"/>
          <c:min val="0"/>
        </c:scaling>
        <c:delete val="0"/>
        <c:axPos val="b"/>
        <c:majorGridlines/>
        <c:min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Single-Letter Frequency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91310336"/>
        <c:crosses val="autoZero"/>
        <c:crossBetween val="midCat"/>
        <c:majorUnit val="1"/>
        <c:minorUnit val="0.5"/>
      </c:valAx>
      <c:valAx>
        <c:axId val="91310336"/>
        <c:scaling>
          <c:orientation val="minMax"/>
          <c:max val="4"/>
        </c:scaling>
        <c:delete val="0"/>
        <c:axPos val="l"/>
        <c:majorGridlines/>
        <c:min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Double-Letter Frequency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88008960"/>
        <c:crosses val="autoZero"/>
        <c:crossBetween val="midCat"/>
        <c:majorUnit val="1"/>
        <c:minorUnit val="0.5"/>
      </c:valAx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0B71-AAAA-4792-BE6C-AA7513867772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C4375-5D5B-4983-9E94-ADB1EF41B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1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1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5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2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1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8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 err="1"/>
              <a:t>Multicharacter</a:t>
            </a:r>
            <a:r>
              <a:rPr lang="en-US" b="1" dirty="0"/>
              <a:t> frequency analysis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760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 err="1"/>
              <a:t>Multicharacter</a:t>
            </a:r>
            <a:r>
              <a:rPr lang="en-US" b="1" dirty="0"/>
              <a:t> frequency analysis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Single-character frequency analysis is a significant break into a </a:t>
            </a:r>
            <a:r>
              <a:rPr lang="en-US" sz="2000" b="1" dirty="0" err="1"/>
              <a:t>monoalphabetic</a:t>
            </a:r>
            <a:r>
              <a:rPr lang="en-US" sz="2000" b="1" dirty="0"/>
              <a:t> cipher.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37606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 err="1"/>
              <a:t>Multicharacter</a:t>
            </a:r>
            <a:r>
              <a:rPr lang="en-US" b="1" dirty="0"/>
              <a:t> frequency analysis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Single-character frequency analysis is a significant break into a </a:t>
            </a:r>
            <a:r>
              <a:rPr lang="en-US" sz="2000" b="1" dirty="0" err="1"/>
              <a:t>monoalphabetic</a:t>
            </a:r>
            <a:r>
              <a:rPr lang="en-US" sz="2000" b="1" dirty="0"/>
              <a:t> cipher.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But is often not enough given the key space and the brevity of </a:t>
            </a:r>
            <a:r>
              <a:rPr lang="en-US" sz="2000" b="1" dirty="0" err="1"/>
              <a:t>ciphertext</a:t>
            </a:r>
            <a:r>
              <a:rPr lang="en-US" sz="2000" b="1" dirty="0"/>
              <a:t> available.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37606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Only sequences that appear multiple times are useful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274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Only sequences that appear multiple times are useful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26</a:t>
            </a:r>
            <a:r>
              <a:rPr lang="en-US" sz="2000" b="1" baseline="30000" dirty="0"/>
              <a:t>2</a:t>
            </a:r>
            <a:r>
              <a:rPr lang="en-US" sz="2000" b="1" dirty="0"/>
              <a:t> = 676 digraphs</a:t>
            </a:r>
          </a:p>
        </p:txBody>
      </p:sp>
    </p:spTree>
    <p:extLst>
      <p:ext uri="{BB962C8B-B14F-4D97-AF65-F5344CB8AC3E}">
        <p14:creationId xmlns:p14="http://schemas.microsoft.com/office/powerpoint/2010/main" val="156274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Only sequences that appear multiple times are useful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26</a:t>
            </a:r>
            <a:r>
              <a:rPr lang="en-US" sz="2000" b="1" baseline="30000" dirty="0"/>
              <a:t>2</a:t>
            </a:r>
            <a:r>
              <a:rPr lang="en-US" sz="2000" b="1" dirty="0"/>
              <a:t> = 676 digraphs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26</a:t>
            </a:r>
            <a:r>
              <a:rPr lang="en-US" sz="2000" b="1" baseline="30000" dirty="0"/>
              <a:t>3</a:t>
            </a:r>
            <a:r>
              <a:rPr lang="en-US" sz="2000" b="1" dirty="0"/>
              <a:t> = 17,576 </a:t>
            </a:r>
            <a:r>
              <a:rPr lang="en-US" sz="2000" b="1" dirty="0" err="1"/>
              <a:t>trigraphs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6274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Only sequences that appear multiple times are useful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26</a:t>
            </a:r>
            <a:r>
              <a:rPr lang="en-US" sz="2000" b="1" baseline="30000" dirty="0"/>
              <a:t>2</a:t>
            </a:r>
            <a:r>
              <a:rPr lang="en-US" sz="2000" b="1" dirty="0"/>
              <a:t> = 676 digraphs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26</a:t>
            </a:r>
            <a:r>
              <a:rPr lang="en-US" sz="2000" b="1" baseline="30000" dirty="0"/>
              <a:t>3</a:t>
            </a:r>
            <a:r>
              <a:rPr lang="en-US" sz="2000" b="1" dirty="0"/>
              <a:t> = 17,576 </a:t>
            </a:r>
            <a:r>
              <a:rPr lang="en-US" sz="2000" b="1" dirty="0" err="1"/>
              <a:t>trigraphs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26</a:t>
            </a:r>
            <a:r>
              <a:rPr lang="en-US" sz="2000" b="1" baseline="30000" dirty="0"/>
              <a:t>4</a:t>
            </a:r>
            <a:r>
              <a:rPr lang="en-US" sz="2000" b="1" dirty="0"/>
              <a:t> = 456,976 </a:t>
            </a:r>
            <a:r>
              <a:rPr lang="en-US" sz="2000" b="1" dirty="0" err="1"/>
              <a:t>quadgraphs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6274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Only sequences that appear multiple times are useful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26</a:t>
            </a:r>
            <a:r>
              <a:rPr lang="en-US" sz="2000" b="1" baseline="30000" dirty="0"/>
              <a:t>2</a:t>
            </a:r>
            <a:r>
              <a:rPr lang="en-US" sz="2000" b="1" dirty="0"/>
              <a:t> = 676 digraphs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26</a:t>
            </a:r>
            <a:r>
              <a:rPr lang="en-US" sz="2000" b="1" baseline="30000" dirty="0"/>
              <a:t>3</a:t>
            </a:r>
            <a:r>
              <a:rPr lang="en-US" sz="2000" b="1" dirty="0"/>
              <a:t> = 17,576 </a:t>
            </a:r>
            <a:r>
              <a:rPr lang="en-US" sz="2000" b="1" dirty="0" err="1"/>
              <a:t>trigraphs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26</a:t>
            </a:r>
            <a:r>
              <a:rPr lang="en-US" sz="2000" b="1" baseline="30000" dirty="0"/>
              <a:t>4</a:t>
            </a:r>
            <a:r>
              <a:rPr lang="en-US" sz="2000" b="1" dirty="0"/>
              <a:t> = 456,976 </a:t>
            </a:r>
            <a:r>
              <a:rPr lang="en-US" sz="2000" b="1" dirty="0" err="1"/>
              <a:t>quadgraphs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Need multiple occurrences to be helpful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627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Only sequences that appear multiple times are useful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26</a:t>
            </a:r>
            <a:r>
              <a:rPr lang="en-US" sz="2000" b="1" baseline="30000" dirty="0"/>
              <a:t>2</a:t>
            </a:r>
            <a:r>
              <a:rPr lang="en-US" sz="2000" b="1" dirty="0"/>
              <a:t> = 676 digraphs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26</a:t>
            </a:r>
            <a:r>
              <a:rPr lang="en-US" sz="2000" b="1" baseline="30000" dirty="0"/>
              <a:t>3</a:t>
            </a:r>
            <a:r>
              <a:rPr lang="en-US" sz="2000" b="1" dirty="0"/>
              <a:t> = 17,576 </a:t>
            </a:r>
            <a:r>
              <a:rPr lang="en-US" sz="2000" b="1" dirty="0" err="1"/>
              <a:t>trigraphs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26</a:t>
            </a:r>
            <a:r>
              <a:rPr lang="en-US" sz="2000" b="1" baseline="30000" dirty="0"/>
              <a:t>4</a:t>
            </a:r>
            <a:r>
              <a:rPr lang="en-US" sz="2000" b="1" dirty="0"/>
              <a:t> = 456,976 </a:t>
            </a:r>
            <a:r>
              <a:rPr lang="en-US" sz="2000" b="1" dirty="0" err="1"/>
              <a:t>quadgraphs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Need multiple occurrences to be helpful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250-character </a:t>
            </a:r>
            <a:r>
              <a:rPr lang="en-US" sz="2000" b="1" dirty="0" err="1"/>
              <a:t>ciphertext</a:t>
            </a:r>
            <a:r>
              <a:rPr lang="en-US" sz="2000" b="1" dirty="0"/>
              <a:t> needs rates above ~1%</a:t>
            </a:r>
          </a:p>
        </p:txBody>
      </p:sp>
    </p:spTree>
    <p:extLst>
      <p:ext uri="{BB962C8B-B14F-4D97-AF65-F5344CB8AC3E}">
        <p14:creationId xmlns:p14="http://schemas.microsoft.com/office/powerpoint/2010/main" val="156274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The frequent one-percenters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Monograph: All but V, K, J, X, Q, 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376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The frequent one-percenters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Monograph: All but V, K, J, X, Q, 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Digraph: TH, HE, IN, ER, AN, RE + ~10 others</a:t>
            </a:r>
          </a:p>
        </p:txBody>
      </p:sp>
    </p:spTree>
    <p:extLst>
      <p:ext uri="{BB962C8B-B14F-4D97-AF65-F5344CB8AC3E}">
        <p14:creationId xmlns:p14="http://schemas.microsoft.com/office/powerpoint/2010/main" val="17376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The frequent one-percenters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Monograph: All but V, K, J, X, Q, 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Digraph: TH, HE, IN, ER, AN, RE + ~10 others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Trigraph</a:t>
            </a:r>
            <a:r>
              <a:rPr lang="en-US" sz="2000" b="1" dirty="0"/>
              <a:t>: THE (AND,ING @ 0.75%, ENT,ION @ 0.5%)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376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The frequent one-percenters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Monograph: All but V, K, J, X, Q, 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Digraph: TH, HE, IN, ER, AN, RE + ~10 others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Trigraph</a:t>
            </a:r>
            <a:r>
              <a:rPr lang="en-US" sz="2000" b="1" dirty="0"/>
              <a:t>: THE (AND,ING @ 0.75%, ENT,ION @ 0.5%)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Quadgraph</a:t>
            </a:r>
            <a:r>
              <a:rPr lang="en-US" sz="2000" b="1" dirty="0"/>
              <a:t>: none (TION @ 0.3%)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Quintgraph</a:t>
            </a:r>
            <a:r>
              <a:rPr lang="en-US" sz="2000" b="1" dirty="0"/>
              <a:t>: none (OFTHE, ATION, INTHE @ 0.18%)</a:t>
            </a:r>
          </a:p>
        </p:txBody>
      </p:sp>
    </p:spTree>
    <p:extLst>
      <p:ext uri="{BB962C8B-B14F-4D97-AF65-F5344CB8AC3E}">
        <p14:creationId xmlns:p14="http://schemas.microsoft.com/office/powerpoint/2010/main" val="17376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The rare eventers can also help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Q almost always followed by 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10665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The rare eventers can also help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Q almost always followed by 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J, Z almost always followed by a vowel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10665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The rare eventers can also help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Q almost always followed by 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J, Z almost always followed by a vowel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Many digraphs almost never appear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to identify word breaks in partial plaintext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10665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The rare eventers can also help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Q almost always followed by 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J, Z almost always followed by a vowel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Many digraphs almost never appear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to identify word breaks in partial plaintext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More than half of words end in E,T,D,S</a:t>
            </a:r>
          </a:p>
        </p:txBody>
      </p:sp>
    </p:spTree>
    <p:extLst>
      <p:ext uri="{BB962C8B-B14F-4D97-AF65-F5344CB8AC3E}">
        <p14:creationId xmlns:p14="http://schemas.microsoft.com/office/powerpoint/2010/main" val="2910665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Single- and double-letter frequencies show significant, and useful, differences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276600" y="1200151"/>
            <a:ext cx="5867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12.476 14.225  d  4.215  3.143  p  1.783  2.991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  9.209 16.561  l  3.947 18.449  b  1.553  0.555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 8.168  0.975  u  2.790  0.059  v  1.038  0.009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  7.636  8.154  c  2.629  1.931  k  0.660  0.030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7.096  2.935  m  2.594  2.382  x  0.179  0.065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  7.043  0.449  f  2.331  3.943  j  0.158  0.012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  6.351 14.962  w  2.054  0.564  q  0.114  0.000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  6.314  2.056  g  1.890  0.753  z  0.075  0.101</a:t>
            </a:r>
          </a:p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  5.859  4.277  y  1.840  0.420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52800" y="3257550"/>
            <a:ext cx="5105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Based on 30 large documents with 37+ million characters including fiction, non-fiction, reference, religious, technical, historical, and government works from www.textfiles.com/etext.</a:t>
            </a:r>
          </a:p>
        </p:txBody>
      </p:sp>
    </p:spTree>
    <p:extLst>
      <p:ext uri="{BB962C8B-B14F-4D97-AF65-F5344CB8AC3E}">
        <p14:creationId xmlns:p14="http://schemas.microsoft.com/office/powerpoint/2010/main" val="84929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Combined English monograph and digraph distributions very helpful in cryptanalysis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7421779"/>
              </p:ext>
            </p:extLst>
          </p:nvPr>
        </p:nvGraphicFramePr>
        <p:xfrm>
          <a:off x="3276600" y="120015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04132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Low-occurrence letters can be very helpful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0642094"/>
              </p:ext>
            </p:extLst>
          </p:nvPr>
        </p:nvGraphicFramePr>
        <p:xfrm>
          <a:off x="3276600" y="120015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34303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23825</TotalTime>
  <Words>693</Words>
  <Application>Microsoft Office PowerPoint</Application>
  <PresentationFormat>On-screen Show (16:9)</PresentationFormat>
  <Paragraphs>171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Multicharacter frequency analysis</vt:lpstr>
      <vt:lpstr>Multicharacter frequency analysis</vt:lpstr>
      <vt:lpstr>Multicharacter frequency analysis</vt:lpstr>
      <vt:lpstr>Only sequences that appear multiple times are useful</vt:lpstr>
      <vt:lpstr>Only sequences that appear multiple times are useful</vt:lpstr>
      <vt:lpstr>Only sequences that appear multiple times are useful</vt:lpstr>
      <vt:lpstr>Only sequences that appear multiple times are useful</vt:lpstr>
      <vt:lpstr>Only sequences that appear multiple times are useful</vt:lpstr>
      <vt:lpstr>Only sequences that appear multiple times are useful</vt:lpstr>
      <vt:lpstr>The frequent one-percenters</vt:lpstr>
      <vt:lpstr>The frequent one-percenters</vt:lpstr>
      <vt:lpstr>The frequent one-percenters</vt:lpstr>
      <vt:lpstr>The frequent one-percenters</vt:lpstr>
      <vt:lpstr>The rare eventers can also help</vt:lpstr>
      <vt:lpstr>The rare eventers can also help</vt:lpstr>
      <vt:lpstr>The rare eventers can also help</vt:lpstr>
      <vt:lpstr>The rare eventers can also help</vt:lpstr>
      <vt:lpstr>Single- and double-letter frequencies show significant, and useful, differences</vt:lpstr>
      <vt:lpstr>Combined English monograph and digraph distributions very helpful in cryptanalysis</vt:lpstr>
      <vt:lpstr>Low-occurrence letters can be very helpful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Remainder Theorem</dc:title>
  <dc:creator>WBahn</dc:creator>
  <cp:lastModifiedBy>Oluwatobi Akanbi</cp:lastModifiedBy>
  <cp:revision>129</cp:revision>
  <dcterms:created xsi:type="dcterms:W3CDTF">2017-04-06T17:43:22Z</dcterms:created>
  <dcterms:modified xsi:type="dcterms:W3CDTF">2017-09-15T19:57:38Z</dcterms:modified>
</cp:coreProperties>
</file>