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65"/>
  </p:notesMasterIdLst>
  <p:sldIdLst>
    <p:sldId id="910" r:id="rId2"/>
    <p:sldId id="923" r:id="rId3"/>
    <p:sldId id="924" r:id="rId4"/>
    <p:sldId id="925" r:id="rId5"/>
    <p:sldId id="926" r:id="rId6"/>
    <p:sldId id="911" r:id="rId7"/>
    <p:sldId id="927" r:id="rId8"/>
    <p:sldId id="928" r:id="rId9"/>
    <p:sldId id="929" r:id="rId10"/>
    <p:sldId id="930" r:id="rId11"/>
    <p:sldId id="931" r:id="rId12"/>
    <p:sldId id="932" r:id="rId13"/>
    <p:sldId id="933" r:id="rId14"/>
    <p:sldId id="912" r:id="rId15"/>
    <p:sldId id="934" r:id="rId16"/>
    <p:sldId id="935" r:id="rId17"/>
    <p:sldId id="936" r:id="rId18"/>
    <p:sldId id="937" r:id="rId19"/>
    <p:sldId id="938" r:id="rId20"/>
    <p:sldId id="939" r:id="rId21"/>
    <p:sldId id="940" r:id="rId22"/>
    <p:sldId id="941" r:id="rId23"/>
    <p:sldId id="950" r:id="rId24"/>
    <p:sldId id="974" r:id="rId25"/>
    <p:sldId id="975" r:id="rId26"/>
    <p:sldId id="976" r:id="rId27"/>
    <p:sldId id="977" r:id="rId28"/>
    <p:sldId id="978" r:id="rId29"/>
    <p:sldId id="979" r:id="rId30"/>
    <p:sldId id="914" r:id="rId31"/>
    <p:sldId id="980" r:id="rId32"/>
    <p:sldId id="981" r:id="rId33"/>
    <p:sldId id="982" r:id="rId34"/>
    <p:sldId id="983" r:id="rId35"/>
    <p:sldId id="984" r:id="rId36"/>
    <p:sldId id="915" r:id="rId37"/>
    <p:sldId id="985" r:id="rId38"/>
    <p:sldId id="986" r:id="rId39"/>
    <p:sldId id="987" r:id="rId40"/>
    <p:sldId id="988" r:id="rId41"/>
    <p:sldId id="916" r:id="rId42"/>
    <p:sldId id="989" r:id="rId43"/>
    <p:sldId id="990" r:id="rId44"/>
    <p:sldId id="991" r:id="rId45"/>
    <p:sldId id="992" r:id="rId46"/>
    <p:sldId id="993" r:id="rId47"/>
    <p:sldId id="994" r:id="rId48"/>
    <p:sldId id="917" r:id="rId49"/>
    <p:sldId id="960" r:id="rId50"/>
    <p:sldId id="918" r:id="rId51"/>
    <p:sldId id="1000" r:id="rId52"/>
    <p:sldId id="999" r:id="rId53"/>
    <p:sldId id="919" r:id="rId54"/>
    <p:sldId id="920" r:id="rId55"/>
    <p:sldId id="966" r:id="rId56"/>
    <p:sldId id="921" r:id="rId57"/>
    <p:sldId id="967" r:id="rId58"/>
    <p:sldId id="922" r:id="rId59"/>
    <p:sldId id="968" r:id="rId60"/>
    <p:sldId id="969" r:id="rId61"/>
    <p:sldId id="970" r:id="rId62"/>
    <p:sldId id="971" r:id="rId63"/>
    <p:sldId id="972" r:id="rId6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 lets us find modular multiplicative inverses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2386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 lets us find modular multiplicative inverses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the extended Euclidean algorithm tells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44655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 lets us find modular multiplicative inverses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the extended Euclidean algorithm tells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lightweight version of the EAA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44655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 lets us find modular multiplicative inverses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the extended Euclidean algorithm tells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lightweight version of the EAA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Examples when the multiplicative inverse exists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44655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 lets us find modular multiplicative inverses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What the extended Euclidean algorithm tells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 lightweight version of the EAA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Examples when the multiplicative inverse exists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An examples when it doesn’t</a:t>
            </a:r>
          </a:p>
        </p:txBody>
      </p:sp>
    </p:spTree>
    <p:extLst>
      <p:ext uri="{BB962C8B-B14F-4D97-AF65-F5344CB8AC3E}">
        <p14:creationId xmlns:p14="http://schemas.microsoft.com/office/powerpoint/2010/main" val="1044655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</a:t>
            </a:r>
            <a:br>
              <a:rPr lang="en-US" b="1" dirty="0"/>
            </a:br>
            <a:r>
              <a:rPr lang="en-US" b="1" dirty="0"/>
              <a:t>is information overkill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8021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</a:t>
            </a:r>
            <a:br>
              <a:rPr lang="en-US" b="1" dirty="0"/>
            </a:br>
            <a:r>
              <a:rPr lang="en-US" b="1" dirty="0"/>
              <a:t>is information overkill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 Math"/>
              </a:rPr>
              <a:t>Given x and y, finds integers a and b such that</a:t>
            </a:r>
          </a:p>
        </p:txBody>
      </p:sp>
    </p:spTree>
    <p:extLst>
      <p:ext uri="{BB962C8B-B14F-4D97-AF65-F5344CB8AC3E}">
        <p14:creationId xmlns:p14="http://schemas.microsoft.com/office/powerpoint/2010/main" val="3896252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</a:t>
            </a:r>
            <a:br>
              <a:rPr lang="en-US" b="1" dirty="0"/>
            </a:br>
            <a:r>
              <a:rPr lang="en-US" b="1" dirty="0"/>
              <a:t>is information overkill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Given x and y, finds integers a and b such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𝒂𝒙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𝒃𝒚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015663"/>
              </a:xfrm>
              <a:prstGeom prst="rect">
                <a:avLst/>
              </a:prstGeom>
              <a:blipFill rotWithShape="1">
                <a:blip r:embed="rId3"/>
                <a:stretch>
                  <a:fillRect l="-936" t="-3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252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</a:t>
            </a:r>
            <a:br>
              <a:rPr lang="en-US" b="1" dirty="0"/>
            </a:br>
            <a:r>
              <a:rPr lang="en-US" b="1" dirty="0"/>
              <a:t>is information overkill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Given x and y, finds integers a and b such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𝒂𝒙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𝒃𝒚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Integer equation (NOT a modular equation)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blipFill rotWithShape="1">
                <a:blip r:embed="rId3"/>
                <a:stretch>
                  <a:fillRect l="-936" t="-1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252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</a:t>
            </a:r>
            <a:br>
              <a:rPr lang="en-US" b="1" dirty="0"/>
            </a:br>
            <a:r>
              <a:rPr lang="en-US" b="1" dirty="0"/>
              <a:t>is information overkill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Given x and y, finds integers a and b such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𝒂𝒙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𝒃𝒚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Integer equation (NOT a modular equation)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ax ≡ 1 (mod y) ⇒ a ≡ x</a:t>
                </a:r>
                <a:r>
                  <a:rPr lang="en-US" sz="2000" b="1" baseline="30000" dirty="0">
                    <a:latin typeface="Cambria Math"/>
                  </a:rPr>
                  <a:t>-1</a:t>
                </a:r>
                <a:r>
                  <a:rPr lang="en-US" sz="2000" b="1" dirty="0">
                    <a:latin typeface="Cambria Math"/>
                  </a:rPr>
                  <a:t> (mod y)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938992"/>
              </a:xfrm>
              <a:prstGeom prst="rect">
                <a:avLst/>
              </a:prstGeom>
              <a:blipFill rotWithShape="1">
                <a:blip r:embed="rId3"/>
                <a:stretch>
                  <a:fillRect l="-936" t="-1572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252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</a:t>
            </a:r>
            <a:br>
              <a:rPr lang="en-US" b="1" dirty="0"/>
            </a:br>
            <a:r>
              <a:rPr lang="en-US" b="1" dirty="0"/>
              <a:t>is information overkill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Given x and y, finds integers a and b such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𝒂𝒙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𝒃𝒚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Integer equation (NOT a modular equation)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ax ≡ 1 (mod y) ⇒ a ≡ x</a:t>
                </a:r>
                <a:r>
                  <a:rPr lang="en-US" sz="2000" b="1" baseline="30000" dirty="0">
                    <a:latin typeface="Cambria Math"/>
                  </a:rPr>
                  <a:t>-1</a:t>
                </a:r>
                <a:r>
                  <a:rPr lang="en-US" sz="2000" b="1" dirty="0">
                    <a:latin typeface="Cambria Math"/>
                  </a:rPr>
                  <a:t> (mod y)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by ≡ 1 (mod x) ⇒ b ≡ y</a:t>
                </a:r>
                <a:r>
                  <a:rPr lang="en-US" sz="2000" b="1" baseline="30000" dirty="0">
                    <a:latin typeface="Cambria Math"/>
                  </a:rPr>
                  <a:t>-1</a:t>
                </a:r>
                <a:r>
                  <a:rPr lang="en-US" sz="2000" b="1" dirty="0">
                    <a:latin typeface="Cambria Math"/>
                  </a:rPr>
                  <a:t> (mod x)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246769"/>
              </a:xfrm>
              <a:prstGeom prst="rect">
                <a:avLst/>
              </a:prstGeom>
              <a:blipFill rotWithShape="1">
                <a:blip r:embed="rId3"/>
                <a:stretch>
                  <a:fillRect l="-936" t="-1359" b="-4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252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</a:t>
            </a:r>
            <a:br>
              <a:rPr lang="en-US" b="1" dirty="0"/>
            </a:br>
            <a:r>
              <a:rPr lang="en-US" b="1" dirty="0"/>
              <a:t>is information overkill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Given x and y, finds integers a and b such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𝒂𝒙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𝒃𝒚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Integer equation (NOT a modular equation)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ax ≡ 1 (mod y) ⇒ a ≡ x</a:t>
                </a:r>
                <a:r>
                  <a:rPr lang="en-US" sz="2000" b="1" baseline="30000" dirty="0">
                    <a:latin typeface="Cambria Math"/>
                  </a:rPr>
                  <a:t>-1</a:t>
                </a:r>
                <a:r>
                  <a:rPr lang="en-US" sz="2000" b="1" dirty="0">
                    <a:latin typeface="Cambria Math"/>
                  </a:rPr>
                  <a:t> (mod y)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by ≡ 1 (mod x) ⇒ b ≡ y</a:t>
                </a:r>
                <a:r>
                  <a:rPr lang="en-US" sz="2000" b="1" baseline="30000" dirty="0">
                    <a:latin typeface="Cambria Math"/>
                  </a:rPr>
                  <a:t>-1</a:t>
                </a:r>
                <a:r>
                  <a:rPr lang="en-US" sz="2000" b="1" dirty="0">
                    <a:latin typeface="Cambria Math"/>
                  </a:rPr>
                  <a:t> (mod x)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ax ≡ 1 (mod b) ⇒ a ≡ x</a:t>
                </a:r>
                <a:r>
                  <a:rPr lang="en-US" sz="2000" b="1" baseline="30000" dirty="0">
                    <a:latin typeface="Cambria Math"/>
                  </a:rPr>
                  <a:t>-1</a:t>
                </a:r>
                <a:r>
                  <a:rPr lang="en-US" sz="2000" b="1" dirty="0">
                    <a:latin typeface="Cambria Math"/>
                  </a:rPr>
                  <a:t> (mod b)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blipFill rotWithShape="1">
                <a:blip r:embed="rId3"/>
                <a:stretch>
                  <a:fillRect l="-936" t="-1193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252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</a:t>
            </a:r>
            <a:br>
              <a:rPr lang="en-US" b="1" dirty="0"/>
            </a:br>
            <a:r>
              <a:rPr lang="en-US" b="1" dirty="0"/>
              <a:t>is information overkill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Given x and y, finds integers a and b such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𝒂𝒙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𝒃𝒚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Integer equation (NOT a modular equation)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ax ≡ 1 (mod y) ⇒ a ≡ x</a:t>
                </a:r>
                <a:r>
                  <a:rPr lang="en-US" sz="2000" b="1" baseline="30000" dirty="0">
                    <a:latin typeface="Cambria Math"/>
                  </a:rPr>
                  <a:t>-1</a:t>
                </a:r>
                <a:r>
                  <a:rPr lang="en-US" sz="2000" b="1" dirty="0">
                    <a:latin typeface="Cambria Math"/>
                  </a:rPr>
                  <a:t> (mod y)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by ≡ 1 (mod x) ⇒ b ≡ y</a:t>
                </a:r>
                <a:r>
                  <a:rPr lang="en-US" sz="2000" b="1" baseline="30000" dirty="0">
                    <a:latin typeface="Cambria Math"/>
                  </a:rPr>
                  <a:t>-1</a:t>
                </a:r>
                <a:r>
                  <a:rPr lang="en-US" sz="2000" b="1" dirty="0">
                    <a:latin typeface="Cambria Math"/>
                  </a:rPr>
                  <a:t> (mod x)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ax ≡ 1 (mod b) ⇒ a ≡ x</a:t>
                </a:r>
                <a:r>
                  <a:rPr lang="en-US" sz="2000" b="1" baseline="30000" dirty="0">
                    <a:latin typeface="Cambria Math"/>
                  </a:rPr>
                  <a:t>-1</a:t>
                </a:r>
                <a:r>
                  <a:rPr lang="en-US" sz="2000" b="1" dirty="0">
                    <a:latin typeface="Cambria Math"/>
                  </a:rPr>
                  <a:t> (mod b)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by ≡ 1 (mod a) ⇒ b ≡ y</a:t>
                </a:r>
                <a:r>
                  <a:rPr lang="en-US" sz="2000" b="1" baseline="30000" dirty="0">
                    <a:latin typeface="Cambria Math"/>
                  </a:rPr>
                  <a:t>-1</a:t>
                </a:r>
                <a:r>
                  <a:rPr lang="en-US" sz="2000" b="1" dirty="0">
                    <a:latin typeface="Cambria Math"/>
                  </a:rPr>
                  <a:t> (mod a)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62322"/>
              </a:xfrm>
              <a:prstGeom prst="rect">
                <a:avLst/>
              </a:prstGeom>
              <a:blipFill rotWithShape="1">
                <a:blip r:embed="rId3"/>
                <a:stretch>
                  <a:fillRect l="-936" t="-1066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252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 may not yield a solution – which is good!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7938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 may not yield a solution – which is good!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𝒂𝒙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𝒃𝒚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70788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756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 may not yield a solution – which is good!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𝒂𝒙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𝒃𝒚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Possibly many, none, or one solution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756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 may not yield a solution – which is good!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𝒂𝒙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𝒃𝒚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Possibly many, none, or one solution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x = 1;  y = 0 (many solutions)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936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756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 may not yield a solution – which is good!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𝒂𝒙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𝒃𝒚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Possibly many, none, or one solution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x = 1;  y = 0 (many solutions)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𝟎</m:t>
                      </m:r>
                      <m:r>
                        <a:rPr lang="en-US" sz="2000" b="1" i="1" smtClean="0">
                          <a:latin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</a:rPr>
                        <m:t> →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𝒂𝒏𝒚𝒕𝒉𝒊𝒏𝒈</m:t>
                      </m:r>
                    </m:oMath>
                  </m:oMathPara>
                </a14:m>
                <a:endParaRPr lang="en-US" sz="2000" b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blipFill rotWithShape="1">
                <a:blip r:embed="rId3"/>
                <a:stretch>
                  <a:fillRect l="-936" b="-3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756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 may not yield a solution – which is good!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𝒂𝒙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𝒃𝒚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Possibly many, none, or one solution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x = 1;  y = 0 (many solutions)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𝟎</m:t>
                      </m:r>
                      <m:r>
                        <a:rPr lang="en-US" sz="2000" b="1" i="1" smtClean="0">
                          <a:latin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</a:rPr>
                        <m:t> →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𝒂𝒏𝒚𝒕𝒉𝒊𝒏𝒈</m:t>
                      </m:r>
                    </m:oMath>
                  </m:oMathPara>
                </a14:m>
                <a:endParaRPr lang="en-US" sz="2000" b="1" dirty="0">
                  <a:latin typeface="Cambria Math"/>
                  <a:ea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x = 2;  y = 4  (no solutions)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938992"/>
              </a:xfrm>
              <a:prstGeom prst="rect">
                <a:avLst/>
              </a:prstGeom>
              <a:blipFill rotWithShape="1">
                <a:blip r:embed="rId3"/>
                <a:stretch>
                  <a:fillRect l="-936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756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 may not yield a solution – which is good!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𝒂𝒙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𝒃𝒚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Possibly many, none, or one solution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x = 1;  y = 0 (many solutions)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𝟎</m:t>
                      </m:r>
                      <m:r>
                        <a:rPr lang="en-US" sz="2000" b="1" i="1" smtClean="0">
                          <a:latin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</a:rPr>
                        <m:t> →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𝒂𝒏𝒚𝒕𝒉𝒊𝒏𝒈</m:t>
                      </m:r>
                    </m:oMath>
                  </m:oMathPara>
                </a14:m>
                <a:endParaRPr lang="en-US" sz="2000" b="1" dirty="0">
                  <a:latin typeface="Cambria Math"/>
                  <a:ea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x = 2;  y = 4  (no solutions)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𝟐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𝟒</m:t>
                      </m:r>
                      <m:r>
                        <a:rPr lang="en-US" sz="2000" b="1" i="1">
                          <a:latin typeface="Cambria Math"/>
                        </a:rPr>
                        <m:t>𝒃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𝟏</m:t>
                      </m:r>
                      <m:r>
                        <a:rPr lang="en-US" sz="2000" b="1" i="1">
                          <a:latin typeface="Cambria Math"/>
                        </a:rPr>
                        <m:t> →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𝟐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𝒃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blipFill rotWithShape="1">
                <a:blip r:embed="rId3"/>
                <a:stretch>
                  <a:fillRect l="-936" b="-15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756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 may not yield a solution – which is good!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𝒂𝒙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𝒃𝒚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Possibly many, none, or one solution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x = 1;  y = 0 (many solutions)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𝟎</m:t>
                      </m:r>
                      <m:r>
                        <a:rPr lang="en-US" sz="2000" b="1" i="1" smtClean="0">
                          <a:latin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</a:rPr>
                        <m:t> →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𝒂𝒏𝒚𝒕𝒉𝒊𝒏𝒈</m:t>
                      </m:r>
                    </m:oMath>
                  </m:oMathPara>
                </a14:m>
                <a:endParaRPr lang="en-US" sz="2000" b="1" dirty="0">
                  <a:latin typeface="Cambria Math"/>
                  <a:ea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x = 2;  y = 4  (no solutions)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𝟐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𝟒</m:t>
                      </m:r>
                      <m:r>
                        <a:rPr lang="en-US" sz="2000" b="1" i="1">
                          <a:latin typeface="Cambria Math"/>
                        </a:rPr>
                        <m:t>𝒃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𝟏</m:t>
                      </m:r>
                      <m:r>
                        <a:rPr lang="en-US" sz="2000" b="1" i="1">
                          <a:latin typeface="Cambria Math"/>
                        </a:rPr>
                        <m:t> →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𝟐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𝒃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x = 7;  y = 11 (one solution)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blipFill rotWithShape="1">
                <a:blip r:embed="rId3"/>
                <a:stretch>
                  <a:fillRect l="-936" b="-15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756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extended Euclidean algorithm may not yield a solution – which is good!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𝒂𝒙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𝒃𝒚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Possibly many, none, or one solution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x = 1;  y = 0 (many solutions)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𝟎</m:t>
                      </m:r>
                      <m:r>
                        <a:rPr lang="en-US" sz="2000" b="1" i="1" smtClean="0">
                          <a:latin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</a:rPr>
                        <m:t> →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, 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𝒃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𝒂𝒏𝒚𝒕𝒉𝒊𝒏𝒈</m:t>
                      </m:r>
                    </m:oMath>
                  </m:oMathPara>
                </a14:m>
                <a:endParaRPr lang="en-US" sz="2000" b="1" dirty="0">
                  <a:latin typeface="Cambria Math"/>
                  <a:ea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x = 2;  y = 4  (no solutions)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𝟐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𝟒</m:t>
                      </m:r>
                      <m:r>
                        <a:rPr lang="en-US" sz="2000" b="1" i="1">
                          <a:latin typeface="Cambria Math"/>
                        </a:rPr>
                        <m:t>𝒃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𝟏</m:t>
                      </m:r>
                      <m:r>
                        <a:rPr lang="en-US" sz="2000" b="1" i="1">
                          <a:latin typeface="Cambria Math"/>
                        </a:rPr>
                        <m:t> →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𝟐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𝒃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US" sz="2000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x = 7;  y = 11 (one solution)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/>
                        </a:rPr>
                        <m:t>𝟕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r>
                        <a:rPr lang="en-US" sz="2000" b="1" i="1">
                          <a:latin typeface="Cambria Math"/>
                        </a:rPr>
                        <m:t>+</m:t>
                      </m:r>
                      <m:r>
                        <a:rPr lang="en-US" sz="2000" b="1" i="1" smtClean="0">
                          <a:latin typeface="Cambria Math"/>
                        </a:rPr>
                        <m:t>𝟏𝟏</m:t>
                      </m:r>
                      <m:r>
                        <a:rPr lang="en-US" sz="2000" b="1" i="1">
                          <a:latin typeface="Cambria Math"/>
                        </a:rPr>
                        <m:t>𝒃</m:t>
                      </m:r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𝟏</m:t>
                      </m:r>
                      <m:r>
                        <a:rPr lang="en-US" sz="2000" b="1" i="1">
                          <a:latin typeface="Cambria Math"/>
                        </a:rPr>
                        <m:t> →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𝟕</m:t>
                          </m:r>
                        </m:e>
                      </m:d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𝟖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+(−</m:t>
                      </m:r>
                      <m:r>
                        <a:rPr lang="en-US" sz="2000" b="1" i="1" smtClean="0">
                          <a:latin typeface="Cambria Math"/>
                        </a:rPr>
                        <m:t>𝟓</m:t>
                      </m:r>
                      <m:r>
                        <a:rPr lang="en-US" sz="2000" b="1" i="1" smtClean="0">
                          <a:latin typeface="Cambria Math"/>
                        </a:rPr>
                        <m:t>)(</m:t>
                      </m:r>
                      <m:r>
                        <a:rPr lang="en-US" sz="2000" b="1" i="1" smtClean="0">
                          <a:latin typeface="Cambria Math"/>
                        </a:rPr>
                        <m:t>𝟏𝟏</m:t>
                      </m:r>
                      <m:r>
                        <a:rPr lang="en-US" sz="2000" b="1" i="1" smtClean="0">
                          <a:latin typeface="Cambria Math"/>
                        </a:rPr>
                        <m:t>)=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62322"/>
              </a:xfrm>
              <a:prstGeom prst="rect">
                <a:avLst/>
              </a:prstGeom>
              <a:blipFill rotWithShape="1">
                <a:blip r:embed="rId3"/>
                <a:stretch>
                  <a:fillRect l="-936" b="-3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756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Expressing the Euclidean algorithm as a recurrence relation is our start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0911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Expressing the Euclidean algorithm as a recurrence relation is our start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/>
                        </a:rPr>
                        <m:t>𝐠𝐜𝐝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𝒎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𝒈𝒄𝒅</m:t>
                      </m:r>
                      <m:r>
                        <a:rPr lang="en-US" sz="2000" b="1" i="1" smtClean="0">
                          <a:latin typeface="Cambria Math"/>
                        </a:rPr>
                        <m:t>(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, </m:t>
                      </m:r>
                      <m:r>
                        <a:rPr lang="en-US" sz="2000" b="1" i="1" smtClean="0">
                          <a:latin typeface="Cambria Math"/>
                        </a:rPr>
                        <m:t>𝒎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70788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735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Expressing the Euclidean algorithm as a recurrence relation is our start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/>
                        </a:rPr>
                        <m:t>𝐠𝐜𝐝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𝒎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𝒈𝒄𝒅</m:t>
                      </m:r>
                      <m:r>
                        <a:rPr lang="en-US" sz="2000" b="1" i="1" smtClean="0">
                          <a:latin typeface="Cambria Math"/>
                        </a:rPr>
                        <m:t>(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, </m:t>
                      </m:r>
                      <m:r>
                        <a:rPr lang="en-US" sz="2000" b="1" i="1" smtClean="0">
                          <a:latin typeface="Cambria Math"/>
                        </a:rPr>
                        <m:t>𝒎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𝟎</m:t>
                              </m:r>
                            </m:e>
                          </m:d>
                          <m:r>
                            <a:rPr lang="en-US" sz="2000" b="1" i="1">
                              <a:latin typeface="Cambria Math"/>
                            </a:rPr>
                            <m:t>,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000" b="1" i="1">
                              <a:latin typeface="Cambria Math"/>
                            </a:rPr>
                            <m:t>,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015663"/>
              </a:xfrm>
              <a:prstGeom prst="rect">
                <a:avLst/>
              </a:prstGeom>
              <a:blipFill rotWithShape="1">
                <a:blip r:embed="rId3"/>
                <a:stretch>
                  <a:fillRect b="-6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735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Expressing the Euclidean algorithm as a recurrence relation is our start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/>
                        </a:rPr>
                        <m:t>𝐠𝐜𝐝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𝒎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𝒈𝒄𝒅</m:t>
                      </m:r>
                      <m:r>
                        <a:rPr lang="en-US" sz="2000" b="1" i="1" smtClean="0">
                          <a:latin typeface="Cambria Math"/>
                        </a:rPr>
                        <m:t>(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, </m:t>
                      </m:r>
                      <m:r>
                        <a:rPr lang="en-US" sz="2000" b="1" i="1" smtClean="0">
                          <a:latin typeface="Cambria Math"/>
                        </a:rPr>
                        <m:t>𝒎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𝟎</m:t>
                              </m:r>
                            </m:e>
                          </m:d>
                          <m:r>
                            <a:rPr lang="en-US" sz="2000" b="1" i="1">
                              <a:latin typeface="Cambria Math"/>
                            </a:rPr>
                            <m:t>,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000" b="1" i="1">
                              <a:latin typeface="Cambria Math"/>
                            </a:rPr>
                            <m:t>,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735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Expressing the Euclidean algorithm as a recurrence relation is our start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/>
                        </a:rPr>
                        <m:t>𝐠𝐜𝐝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𝒎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𝒈𝒄𝒅</m:t>
                      </m:r>
                      <m:r>
                        <a:rPr lang="en-US" sz="2000" b="1" i="1" smtClean="0">
                          <a:latin typeface="Cambria Math"/>
                        </a:rPr>
                        <m:t>(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, </m:t>
                      </m:r>
                      <m:r>
                        <a:rPr lang="en-US" sz="2000" b="1" i="1" smtClean="0">
                          <a:latin typeface="Cambria Math"/>
                        </a:rPr>
                        <m:t>𝒎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𝟎</m:t>
                              </m:r>
                            </m:e>
                          </m:d>
                          <m:r>
                            <a:rPr lang="en-US" sz="2000" b="1" i="1">
                              <a:latin typeface="Cambria Math"/>
                            </a:rPr>
                            <m:t>,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000" b="1" i="1">
                              <a:latin typeface="Cambria Math"/>
                            </a:rPr>
                            <m:t>,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93899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7350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Expressing the Euclidean algorithm as a recurrence relation is our start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/>
                        </a:rPr>
                        <m:t>𝐠𝐜𝐝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𝒎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𝒈𝒄𝒅</m:t>
                      </m:r>
                      <m:r>
                        <a:rPr lang="en-US" sz="2000" b="1" i="1" smtClean="0">
                          <a:latin typeface="Cambria Math"/>
                        </a:rPr>
                        <m:t>(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, </m:t>
                      </m:r>
                      <m:r>
                        <a:rPr lang="en-US" sz="2000" b="1" i="1" smtClean="0">
                          <a:latin typeface="Cambria Math"/>
                        </a:rPr>
                        <m:t>𝒎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𝟎</m:t>
                              </m:r>
                            </m:e>
                          </m:d>
                          <m:r>
                            <a:rPr lang="en-US" sz="2000" b="1" i="1">
                              <a:latin typeface="Cambria Math"/>
                            </a:rPr>
                            <m:t>,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000" b="1" i="1">
                              <a:latin typeface="Cambria Math"/>
                            </a:rPr>
                            <m:t>,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𝒎</m:t>
                      </m:r>
                      <m:r>
                        <a:rPr lang="en-US" sz="2000" b="1" i="1" smtClean="0">
                          <a:latin typeface="Cambria Math"/>
                        </a:rPr>
                        <m:t>;</m:t>
                      </m:r>
                      <m:r>
                        <a:rPr lang="en-US" sz="2000" b="1" i="1" smtClean="0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5454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7350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Expressing the Euclidean algorithm as a recurrence relation is our start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/>
                        </a:rPr>
                        <m:t>𝐠𝐜𝐝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𝒎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𝒈𝒄𝒅</m:t>
                      </m:r>
                      <m:r>
                        <a:rPr lang="en-US" sz="2000" b="1" i="1" smtClean="0">
                          <a:latin typeface="Cambria Math"/>
                        </a:rPr>
                        <m:t>(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, </m:t>
                      </m:r>
                      <m:r>
                        <a:rPr lang="en-US" sz="2000" b="1" i="1" smtClean="0">
                          <a:latin typeface="Cambria Math"/>
                        </a:rPr>
                        <m:t>𝒎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𝟎</m:t>
                              </m:r>
                            </m:e>
                          </m:d>
                          <m:r>
                            <a:rPr lang="en-US" sz="2000" b="1" i="1">
                              <a:latin typeface="Cambria Math"/>
                            </a:rPr>
                            <m:t>,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𝒈𝒄𝒅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𝟏</m:t>
                              </m:r>
                            </m:e>
                          </m:d>
                          <m:r>
                            <a:rPr lang="en-US" sz="2000" b="1" i="1">
                              <a:latin typeface="Cambria Math"/>
                            </a:rPr>
                            <m:t>, 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𝒓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/>
                                </a:rPr>
                                <m:t>𝟐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𝒎</m:t>
                      </m:r>
                      <m:r>
                        <a:rPr lang="en-US" sz="2000" b="1" i="1" smtClean="0">
                          <a:latin typeface="Cambria Math"/>
                        </a:rPr>
                        <m:t>;</m:t>
                      </m:r>
                      <m:r>
                        <a:rPr lang="en-US" sz="2000" b="1" i="1" smtClean="0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Cambria Math"/>
                  </a:rPr>
                  <a:t>r[</a:t>
                </a:r>
                <a:r>
                  <a:rPr lang="en-US" sz="2000" b="1" dirty="0" err="1">
                    <a:latin typeface="Cambria Math"/>
                  </a:rPr>
                  <a:t>i</a:t>
                </a:r>
                <a:r>
                  <a:rPr lang="en-US" sz="2000" b="1" dirty="0">
                    <a:latin typeface="Cambria Math"/>
                  </a:rPr>
                  <a:t>] = 1⇒ inverse exists; r[</a:t>
                </a:r>
                <a:r>
                  <a:rPr lang="en-US" sz="2000" b="1" dirty="0" err="1">
                    <a:latin typeface="Cambria Math"/>
                  </a:rPr>
                  <a:t>i</a:t>
                </a:r>
                <a:r>
                  <a:rPr lang="en-US" sz="2000" b="1" dirty="0">
                    <a:latin typeface="Cambria Math"/>
                  </a:rPr>
                  <a:t>] = 0 ⇒ no inverse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62322"/>
              </a:xfrm>
              <a:prstGeom prst="rect">
                <a:avLst/>
              </a:prstGeom>
              <a:blipFill rotWithShape="1">
                <a:blip r:embed="rId3"/>
                <a:stretch>
                  <a:fillRect l="-936" b="-2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7350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Need to tie the multiplicative inverse to Euclidean algorithm recurrence relation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latin typeface="Cambria Math"/>
            </a:endParaRPr>
          </a:p>
          <a:p>
            <a:endParaRPr lang="en-US" sz="2000" b="1" dirty="0">
              <a:latin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657247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Need to tie the multiplicative inverse to Euclidean algorithm recurrence relation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</a:rPr>
                        <m:t>𝟏</m:t>
                      </m:r>
                      <m:r>
                        <a:rPr lang="en-US" sz="2000" b="1" i="1">
                          <a:latin typeface="Cambria Math"/>
                        </a:rPr>
                        <m:t> (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70788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933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Need to tie the multiplicative inverse to Euclidean algorithm recurrence relation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</a:rPr>
                        <m:t>𝟏</m:t>
                      </m:r>
                      <m:r>
                        <a:rPr lang="en-US" sz="2000" b="1" i="1">
                          <a:latin typeface="Cambria Math"/>
                        </a:rPr>
                        <m:t> (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[</m:t>
                      </m:r>
                      <m:r>
                        <a:rPr lang="en-US" sz="2000" b="1" i="1" smtClean="0">
                          <a:latin typeface="Cambria Math"/>
                        </a:rPr>
                        <m:t>𝒊</m:t>
                      </m:r>
                      <m:r>
                        <a:rPr lang="en-US" sz="2000" b="1" i="1" smtClean="0">
                          <a:latin typeface="Cambria Math"/>
                        </a:rPr>
                        <m:t>]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[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𝒊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] (</m:t>
                      </m:r>
                      <m:r>
                        <a:rPr lang="en-US" sz="2000" b="1" i="1" smtClean="0">
                          <a:latin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𝒎</m:t>
                      </m:r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933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Need to tie the multiplicative inverse to Euclidean algorithm recurrence relation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</a:rPr>
                        <m:t>𝟏</m:t>
                      </m:r>
                      <m:r>
                        <a:rPr lang="en-US" sz="2000" b="1" i="1">
                          <a:latin typeface="Cambria Math"/>
                        </a:rPr>
                        <m:t> (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[</m:t>
                      </m:r>
                      <m:r>
                        <a:rPr lang="en-US" sz="2000" b="1" i="1" smtClean="0">
                          <a:latin typeface="Cambria Math"/>
                        </a:rPr>
                        <m:t>𝒊</m:t>
                      </m:r>
                      <m:r>
                        <a:rPr lang="en-US" sz="2000" b="1" i="1" smtClean="0">
                          <a:latin typeface="Cambria Math"/>
                        </a:rPr>
                        <m:t>]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[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𝒊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] (</m:t>
                      </m:r>
                      <m:r>
                        <a:rPr lang="en-US" sz="2000" b="1" i="1" smtClean="0">
                          <a:latin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𝒎</m:t>
                      </m:r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933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Need to tie the multiplicative inverse to Euclidean algorithm recurrence relation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</a:rPr>
                        <m:t>𝟏</m:t>
                      </m:r>
                      <m:r>
                        <a:rPr lang="en-US" sz="2000" b="1" i="1">
                          <a:latin typeface="Cambria Math"/>
                        </a:rPr>
                        <m:t> (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[</m:t>
                      </m:r>
                      <m:r>
                        <a:rPr lang="en-US" sz="2000" b="1" i="1" smtClean="0">
                          <a:latin typeface="Cambria Math"/>
                        </a:rPr>
                        <m:t>𝒊</m:t>
                      </m:r>
                      <m:r>
                        <a:rPr lang="en-US" sz="2000" b="1" i="1" smtClean="0">
                          <a:latin typeface="Cambria Math"/>
                        </a:rPr>
                        <m:t>]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[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𝒊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] (</m:t>
                      </m:r>
                      <m:r>
                        <a:rPr lang="en-US" sz="2000" b="1" i="1" smtClean="0">
                          <a:latin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𝒎</m:t>
                      </m:r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24676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93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Need to tie the multiplicative inverse to Euclidean algorithm recurrence relation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931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</a:rPr>
                        <m:t>𝟏</m:t>
                      </m:r>
                      <m:r>
                        <a:rPr lang="en-US" sz="2000" b="1" i="1">
                          <a:latin typeface="Cambria Math"/>
                        </a:rPr>
                        <m:t> (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r>
                        <a:rPr lang="en-US" sz="2000" b="1" i="1" smtClean="0">
                          <a:latin typeface="Cambria Math"/>
                        </a:rPr>
                        <m:t>[</m:t>
                      </m:r>
                      <m:r>
                        <a:rPr lang="en-US" sz="2000" b="1" i="1" smtClean="0">
                          <a:latin typeface="Cambria Math"/>
                        </a:rPr>
                        <m:t>𝒊</m:t>
                      </m:r>
                      <m:r>
                        <a:rPr lang="en-US" sz="2000" b="1" i="1" smtClean="0">
                          <a:latin typeface="Cambria Math"/>
                        </a:rPr>
                        <m:t>]</m:t>
                      </m:r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𝒓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[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𝒊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] (</m:t>
                      </m:r>
                      <m:r>
                        <a:rPr lang="en-US" sz="2000" b="1" i="1" smtClean="0">
                          <a:latin typeface="Cambria Math"/>
                        </a:rPr>
                        <m:t>𝒎𝒐𝒅</m:t>
                      </m:r>
                      <m:r>
                        <a:rPr lang="en-US" sz="2000" b="1" i="1" smtClean="0">
                          <a:latin typeface="Cambria Math"/>
                        </a:rPr>
                        <m:t> </m:t>
                      </m:r>
                      <m:r>
                        <a:rPr lang="en-US" sz="2000" b="1" i="1" smtClean="0">
                          <a:latin typeface="Cambria Math"/>
                        </a:rPr>
                        <m:t>𝒎</m:t>
                      </m:r>
                      <m:r>
                        <a:rPr lang="en-US" sz="2000" b="1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 smtClean="0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 smtClean="0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+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 smtClean="0">
                                  <a:latin typeface="Cambria Math"/>
                                </a:rPr>
                                <m:t>𝒓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[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]</m:t>
                              </m:r>
                            </m:num>
                            <m:den>
                              <m:r>
                                <a:rPr lang="en-US" sz="2000" b="1" i="1" smtClean="0">
                                  <a:latin typeface="Cambria Math"/>
                                </a:rPr>
                                <m:t>𝒓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[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sz="2000" b="1" i="1" smtClean="0">
                                  <a:latin typeface="Cambria Math"/>
                                </a:rPr>
                                <m:t>]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93157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8933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Next we fold in our auxiliary congruence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77982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Next we fold in our auxiliary congruence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−</m:t>
                      </m:r>
                      <m:r>
                        <a:rPr lang="en-US" sz="2000" b="1" i="1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  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400110"/>
              </a:xfrm>
              <a:prstGeom prst="rect">
                <a:avLst/>
              </a:prstGeom>
              <a:blipFill rotWithShape="1"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6887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Next we fold in our auxiliary congruence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−</m:t>
                      </m:r>
                      <m:r>
                        <a:rPr lang="en-US" sz="2000" b="1" i="1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  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</a:rPr>
                        <m:t>−</m:t>
                      </m:r>
                      <m:r>
                        <a:rPr lang="en-US" sz="2000" b="1" i="1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</a:rPr>
                        <m:t> 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US" sz="2000" b="1" i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01566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6887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Next we fold in our auxiliary congruence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−</m:t>
                      </m:r>
                      <m:r>
                        <a:rPr lang="en-US" sz="2000" b="1" i="1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  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</a:rPr>
                        <m:t>−</m:t>
                      </m:r>
                      <m:r>
                        <a:rPr lang="en-US" sz="2000" b="1" i="1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</a:rPr>
                        <m:t> 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US" sz="2000" b="1" i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−</m:t>
                      </m:r>
                      <m:r>
                        <a:rPr lang="en-US" sz="2000" b="1" i="1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US" sz="2000" b="1" i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6887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Next we fold in our auxiliary congruence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623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−</m:t>
                      </m:r>
                      <m:r>
                        <a:rPr lang="en-US" sz="2000" b="1" i="1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  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</a:rPr>
                        <m:t>−</m:t>
                      </m:r>
                      <m:r>
                        <a:rPr lang="en-US" sz="2000" b="1" i="1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 smtClean="0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</a:rPr>
                        <m:t> 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US" sz="2000" b="1" i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−</m:t>
                      </m:r>
                      <m:r>
                        <a:rPr lang="en-US" sz="2000" b="1" i="1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US" sz="2000" b="1" i="1" dirty="0">
                  <a:latin typeface="Cambria Math"/>
                </a:endParaRPr>
              </a:p>
              <a:p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 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/>
                                </a:rPr>
                                <m:t>𝒓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[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]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/>
                                </a:rPr>
                                <m:t>𝒓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[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]</m:t>
                              </m:r>
                            </m:den>
                          </m:f>
                        </m:e>
                      </m:d>
                      <m:r>
                        <a:rPr lang="en-US" sz="2000" b="1" i="1" smtClean="0">
                          <a:latin typeface="Cambria Math"/>
                          <a:ea typeface="Cambria Math"/>
                        </a:rPr>
                        <m:t>≠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≠≠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 smtClean="0">
                                  <a:latin typeface="Cambria Math"/>
                                </a:rPr>
                                <m:t>𝒂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𝒊</m:t>
                                  </m:r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</m:d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num>
                            <m:den>
                              <m:r>
                                <a:rPr lang="en-US" sz="2000" b="1" i="1" smtClean="0">
                                  <a:latin typeface="Cambria Math"/>
                                </a:rPr>
                                <m:t>𝒂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𝒊</m:t>
                                  </m:r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b="1" i="1"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sz="2000" b="1" i="1" smtClean="0">
                                  <a:latin typeface="Cambria Math"/>
                                </a:rPr>
                                <m:t>𝒙</m:t>
                              </m:r>
                            </m:den>
                          </m:f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≠≠≠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 smtClean="0">
                                  <a:latin typeface="Cambria Math"/>
                                </a:rPr>
                                <m:t>𝒂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[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]</m:t>
                              </m:r>
                            </m:num>
                            <m:den>
                              <m:r>
                                <a:rPr lang="en-US" sz="2000" b="1" i="1" smtClean="0">
                                  <a:latin typeface="Cambria Math"/>
                                </a:rPr>
                                <m:t>𝒂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[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]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i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6237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6887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key elements all in one place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i="1" dirty="0">
              <a:latin typeface="Cambria Math"/>
            </a:endParaRPr>
          </a:p>
          <a:p>
            <a:endParaRPr lang="en-US" sz="2000" b="1" i="1" dirty="0">
              <a:latin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7586026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key elements all in one place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;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40011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5085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key elements all in one place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;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⇒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70788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5085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key elements all in one place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;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⇒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⇒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32343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5085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key elements all in one place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;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⇒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⇒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63121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5085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key elements all in one place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623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;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⇒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⇒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 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/>
                                </a:rPr>
                                <m:t>𝒓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[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]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/>
                                </a:rPr>
                                <m:t>𝒓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[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]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i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6237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5085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The key elements all in one place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931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</a:rPr>
                        <m:t>;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𝒎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⇒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  <a:ea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𝒙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⇒</m:t>
                      </m:r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</m:t>
                      </m:r>
                      <m:r>
                        <a:rPr lang="en-US" sz="2000" b="1" i="1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𝒎𝒐𝒅</m:t>
                      </m:r>
                      <m:r>
                        <a:rPr lang="en-US" sz="2000" b="1" i="1">
                          <a:latin typeface="Cambria Math"/>
                        </a:rPr>
                        <m:t> </m:t>
                      </m:r>
                      <m:r>
                        <a:rPr lang="en-US" sz="2000" b="1" i="1">
                          <a:latin typeface="Cambria Math"/>
                        </a:rPr>
                        <m:t>𝒓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sz="2000" b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= 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1" i="1">
                                  <a:latin typeface="Cambria Math"/>
                                </a:rPr>
                                <m:t>𝒓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[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]</m:t>
                              </m:r>
                            </m:num>
                            <m:den>
                              <m:r>
                                <a:rPr lang="en-US" sz="2000" b="1" i="1">
                                  <a:latin typeface="Cambria Math"/>
                                </a:rPr>
                                <m:t>𝒓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[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US" sz="2000" b="1" i="1">
                                  <a:latin typeface="Cambria Math"/>
                                </a:rPr>
                                <m:t>]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sz="2000" b="1" i="1">
                          <a:latin typeface="Cambria Math"/>
                          <a:ea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𝟐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−</m:t>
                      </m:r>
                      <m:r>
                        <a:rPr lang="en-US" sz="2000" b="1" i="1">
                          <a:latin typeface="Cambria Math"/>
                        </a:rPr>
                        <m:t>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𝒂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𝒊</m:t>
                          </m:r>
                          <m:r>
                            <a:rPr lang="en-US" sz="20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𝟏</m:t>
                          </m:r>
                        </m:e>
                      </m:d>
                      <m:r>
                        <a:rPr lang="en-US" sz="2000" b="1" i="1">
                          <a:latin typeface="Cambria Math"/>
                        </a:rPr>
                        <m:t>  </m:t>
                      </m:r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/>
                            </a:rPr>
                            <m:t>𝒎𝒐𝒅</m:t>
                          </m:r>
                          <m:r>
                            <a:rPr lang="en-US" sz="2000" b="1" i="1">
                              <a:latin typeface="Cambria Math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/>
                            </a:rPr>
                            <m:t>𝒎</m:t>
                          </m:r>
                        </m:e>
                      </m:d>
                    </m:oMath>
                  </m:oMathPara>
                </a14:m>
                <a:endParaRPr lang="en-US" sz="2000" b="1" i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93157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5085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quick example we already know the answer to: 7</a:t>
            </a:r>
            <a:r>
              <a:rPr lang="en-US" b="1" baseline="30000" dirty="0"/>
              <a:t>-1</a:t>
            </a:r>
            <a:r>
              <a:rPr lang="en-US" b="1" dirty="0"/>
              <a:t> (mod 11)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47097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 quick example we already know the answer to: 7</a:t>
            </a:r>
            <a:r>
              <a:rPr lang="en-US" b="1" baseline="30000" dirty="0"/>
              <a:t>-1</a:t>
            </a:r>
            <a:r>
              <a:rPr lang="en-US" b="1" dirty="0"/>
              <a:t> (mod 11)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q[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a[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11   --   0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7   --   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4    1  10 ≡  0 – 1· 1 (mod 11)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3    1   2 ≡  1 – 1·10 (mod 11)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 1    1   8 ≡ 10 – 1· 2 (mod 11)</a:t>
            </a:r>
          </a:p>
        </p:txBody>
      </p:sp>
    </p:spTree>
    <p:extLst>
      <p:ext uri="{BB962C8B-B14F-4D97-AF65-F5344CB8AC3E}">
        <p14:creationId xmlns:p14="http://schemas.microsoft.com/office/powerpoint/2010/main" val="3843131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An example that is a bit more involved</a:t>
            </a:r>
            <a:br>
              <a:rPr lang="en-US" b="1" dirty="0"/>
            </a:br>
            <a:r>
              <a:rPr lang="en-US" b="1" dirty="0"/>
              <a:t>2000</a:t>
            </a:r>
            <a:r>
              <a:rPr lang="en-US" b="1" baseline="30000" dirty="0"/>
              <a:t>-1</a:t>
            </a:r>
            <a:r>
              <a:rPr lang="en-US" b="1" dirty="0"/>
              <a:t> (mod 2017)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  r[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 q[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 a[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2017   --     0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2000   --     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2    17    1  2016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3    11  117   118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4     6    1  1898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5     5    1   237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6     1    1  1661</a:t>
            </a:r>
          </a:p>
        </p:txBody>
      </p:sp>
    </p:spTree>
    <p:extLst>
      <p:ext uri="{BB962C8B-B14F-4D97-AF65-F5344CB8AC3E}">
        <p14:creationId xmlns:p14="http://schemas.microsoft.com/office/powerpoint/2010/main" val="31349179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An example that is a bit more involved</a:t>
            </a:r>
            <a:br>
              <a:rPr lang="en-US" b="1" dirty="0"/>
            </a:br>
            <a:r>
              <a:rPr lang="en-US" b="1" dirty="0"/>
              <a:t>2000</a:t>
            </a:r>
            <a:r>
              <a:rPr lang="en-US" b="1" baseline="30000" dirty="0"/>
              <a:t>-1</a:t>
            </a:r>
            <a:r>
              <a:rPr lang="en-US" b="1" dirty="0"/>
              <a:t> (mod 2017)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  r[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 q[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 a[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2017   --     0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2000   --     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2    17    1  2016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3    11  117   118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4     6    1  1898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5     5    1   237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6     1    1  1661</a:t>
            </a:r>
          </a:p>
        </p:txBody>
      </p:sp>
    </p:spTree>
    <p:extLst>
      <p:ext uri="{BB962C8B-B14F-4D97-AF65-F5344CB8AC3E}">
        <p14:creationId xmlns:p14="http://schemas.microsoft.com/office/powerpoint/2010/main" val="14070822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An example that is a bit more involved shows the usefulness of negative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33219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An example that is a bit more involved shows the usefulness of negative residues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 q[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 a[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2017   --     0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2000   --     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17    1    -1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3    11  117   118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   6    1  -119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5     5    1   237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     1    1  -356 ≡ 1661 (mod 2017)</a:t>
            </a:r>
          </a:p>
        </p:txBody>
      </p:sp>
    </p:spTree>
    <p:extLst>
      <p:ext uri="{BB962C8B-B14F-4D97-AF65-F5344CB8AC3E}">
        <p14:creationId xmlns:p14="http://schemas.microsoft.com/office/powerpoint/2010/main" val="25562473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 multiplicative inverse exists if the residue reaches 0 without becoming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67326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 multiplicative inverse exists if the residue reaches 0 without becoming 1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r[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 q[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 a[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   30   --     0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 22   --     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  8    2    -1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3     6    2     3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   2    1    -4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5     0    1    15</a:t>
            </a:r>
          </a:p>
        </p:txBody>
      </p:sp>
    </p:spTree>
    <p:extLst>
      <p:ext uri="{BB962C8B-B14F-4D97-AF65-F5344CB8AC3E}">
        <p14:creationId xmlns:p14="http://schemas.microsoft.com/office/powerpoint/2010/main" val="22601582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What is 14019</a:t>
            </a:r>
            <a:r>
              <a:rPr lang="en-US" b="1" baseline="30000" dirty="0"/>
              <a:t>-1</a:t>
            </a:r>
            <a:r>
              <a:rPr lang="en-US" b="1" dirty="0"/>
              <a:t> (mod 1247290)?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238678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What is 14019</a:t>
            </a:r>
            <a:r>
              <a:rPr lang="en-US" b="1" baseline="30000" dirty="0"/>
              <a:t>-1</a:t>
            </a:r>
            <a:r>
              <a:rPr lang="en-US" b="1" dirty="0"/>
              <a:t> (mod 1247290)?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q[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   a[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 1247290   --      0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   14019   --      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   13618   88    -88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3     401    1     89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4     385   33  -3025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5      16    1   3114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       1   24 -77761 ≡ 1169529</a:t>
            </a:r>
          </a:p>
        </p:txBody>
      </p:sp>
    </p:spTree>
    <p:extLst>
      <p:ext uri="{BB962C8B-B14F-4D97-AF65-F5344CB8AC3E}">
        <p14:creationId xmlns:p14="http://schemas.microsoft.com/office/powerpoint/2010/main" val="40439159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57730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Extended Euclidean algorithm answers many Q’s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268959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Extended Euclidean algorithm answers many Q’s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Streamlined version adequate to our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268959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Extended Euclidean algorithm answers many Q’s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Streamlined version adequate to our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Does a multiplicative inverse exist and what is 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268959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Extended Euclidean algorithm answers many Q’s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Streamlined version adequate to our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Does a multiplicative inverse exist and what is 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 = 1, inverse exists and we’ve identified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268959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b="1" dirty="0"/>
              <a:t>In review…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Extended Euclidean algorithm answers many Q’s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Streamlined version adequate to our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Does a multiplicative inverse exist and what is 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Residue = 1, inverse exists and we’ve identified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Otherwise, does not exist</a:t>
            </a:r>
          </a:p>
        </p:txBody>
      </p:sp>
    </p:spTree>
    <p:extLst>
      <p:ext uri="{BB962C8B-B14F-4D97-AF65-F5344CB8AC3E}">
        <p14:creationId xmlns:p14="http://schemas.microsoft.com/office/powerpoint/2010/main" val="2326895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55303</TotalTime>
  <Words>2592</Words>
  <Application>Microsoft Office PowerPoint</Application>
  <PresentationFormat>On-screen Show (16:9)</PresentationFormat>
  <Paragraphs>566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8" baseType="lpstr">
      <vt:lpstr>Arial</vt:lpstr>
      <vt:lpstr>Calibri</vt:lpstr>
      <vt:lpstr>Cambria Math</vt:lpstr>
      <vt:lpstr>Courier New</vt:lpstr>
      <vt:lpstr>Office Theme</vt:lpstr>
      <vt:lpstr>The extended Euclidean algorithm lets us find modular multiplicative inverses</vt:lpstr>
      <vt:lpstr>The extended Euclidean algorithm lets us find modular multiplicative inverses</vt:lpstr>
      <vt:lpstr>The extended Euclidean algorithm lets us find modular multiplicative inverses</vt:lpstr>
      <vt:lpstr>The extended Euclidean algorithm lets us find modular multiplicative inverses</vt:lpstr>
      <vt:lpstr>The extended Euclidean algorithm lets us find modular multiplicative inverses</vt:lpstr>
      <vt:lpstr>The extended Euclidean algorithm is information overkill</vt:lpstr>
      <vt:lpstr>The extended Euclidean algorithm is information overkill</vt:lpstr>
      <vt:lpstr>The extended Euclidean algorithm is information overkill</vt:lpstr>
      <vt:lpstr>The extended Euclidean algorithm is information overkill</vt:lpstr>
      <vt:lpstr>The extended Euclidean algorithm is information overkill</vt:lpstr>
      <vt:lpstr>The extended Euclidean algorithm is information overkill</vt:lpstr>
      <vt:lpstr>The extended Euclidean algorithm is information overkill</vt:lpstr>
      <vt:lpstr>The extended Euclidean algorithm is information overkill</vt:lpstr>
      <vt:lpstr>The extended Euclidean algorithm may not yield a solution – which is good!</vt:lpstr>
      <vt:lpstr>The extended Euclidean algorithm may not yield a solution – which is good!</vt:lpstr>
      <vt:lpstr>The extended Euclidean algorithm may not yield a solution – which is good!</vt:lpstr>
      <vt:lpstr>The extended Euclidean algorithm may not yield a solution – which is good!</vt:lpstr>
      <vt:lpstr>The extended Euclidean algorithm may not yield a solution – which is good!</vt:lpstr>
      <vt:lpstr>The extended Euclidean algorithm may not yield a solution – which is good!</vt:lpstr>
      <vt:lpstr>The extended Euclidean algorithm may not yield a solution – which is good!</vt:lpstr>
      <vt:lpstr>The extended Euclidean algorithm may not yield a solution – which is good!</vt:lpstr>
      <vt:lpstr>The extended Euclidean algorithm may not yield a solution – which is good!</vt:lpstr>
      <vt:lpstr>Expressing the Euclidean algorithm as a recurrence relation is our start</vt:lpstr>
      <vt:lpstr>Expressing the Euclidean algorithm as a recurrence relation is our start</vt:lpstr>
      <vt:lpstr>Expressing the Euclidean algorithm as a recurrence relation is our start</vt:lpstr>
      <vt:lpstr>Expressing the Euclidean algorithm as a recurrence relation is our start</vt:lpstr>
      <vt:lpstr>Expressing the Euclidean algorithm as a recurrence relation is our start</vt:lpstr>
      <vt:lpstr>Expressing the Euclidean algorithm as a recurrence relation is our start</vt:lpstr>
      <vt:lpstr>Expressing the Euclidean algorithm as a recurrence relation is our start</vt:lpstr>
      <vt:lpstr>Need to tie the multiplicative inverse to Euclidean algorithm recurrence relation</vt:lpstr>
      <vt:lpstr>Need to tie the multiplicative inverse to Euclidean algorithm recurrence relation</vt:lpstr>
      <vt:lpstr>Need to tie the multiplicative inverse to Euclidean algorithm recurrence relation</vt:lpstr>
      <vt:lpstr>Need to tie the multiplicative inverse to Euclidean algorithm recurrence relation</vt:lpstr>
      <vt:lpstr>Need to tie the multiplicative inverse to Euclidean algorithm recurrence relation</vt:lpstr>
      <vt:lpstr>Need to tie the multiplicative inverse to Euclidean algorithm recurrence relation</vt:lpstr>
      <vt:lpstr>Next we fold in our auxiliary congruence</vt:lpstr>
      <vt:lpstr>Next we fold in our auxiliary congruence</vt:lpstr>
      <vt:lpstr>Next we fold in our auxiliary congruence</vt:lpstr>
      <vt:lpstr>Next we fold in our auxiliary congruence</vt:lpstr>
      <vt:lpstr>Next we fold in our auxiliary congruence</vt:lpstr>
      <vt:lpstr>The key elements all in one place</vt:lpstr>
      <vt:lpstr>The key elements all in one place</vt:lpstr>
      <vt:lpstr>The key elements all in one place</vt:lpstr>
      <vt:lpstr>The key elements all in one place</vt:lpstr>
      <vt:lpstr>The key elements all in one place</vt:lpstr>
      <vt:lpstr>The key elements all in one place</vt:lpstr>
      <vt:lpstr>The key elements all in one place</vt:lpstr>
      <vt:lpstr>A quick example we already know the answer to: 7-1 (mod 11)</vt:lpstr>
      <vt:lpstr>A quick example we already know the answer to: 7-1 (mod 11)</vt:lpstr>
      <vt:lpstr>An example that is a bit more involved 2000-1 (mod 2017)</vt:lpstr>
      <vt:lpstr>An example that is a bit more involved 2000-1 (mod 2017)</vt:lpstr>
      <vt:lpstr>An example that is a bit more involved shows the usefulness of negative residues</vt:lpstr>
      <vt:lpstr>An example that is a bit more involved shows the usefulness of negative residues</vt:lpstr>
      <vt:lpstr>No multiplicative inverse exists if the residue reaches 0 without becoming 1</vt:lpstr>
      <vt:lpstr>No multiplicative inverse exists if the residue reaches 0 without becoming 1</vt:lpstr>
      <vt:lpstr>What is 14019-1 (mod 1247290)?</vt:lpstr>
      <vt:lpstr>What is 14019-1 (mod 1247290)?</vt:lpstr>
      <vt:lpstr>In review…</vt:lpstr>
      <vt:lpstr>In review…</vt:lpstr>
      <vt:lpstr>In review…</vt:lpstr>
      <vt:lpstr>In review…</vt:lpstr>
      <vt:lpstr>In review…</vt:lpstr>
      <vt:lpstr>In review…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282</cp:revision>
  <dcterms:created xsi:type="dcterms:W3CDTF">2017-04-06T17:43:22Z</dcterms:created>
  <dcterms:modified xsi:type="dcterms:W3CDTF">2017-09-15T23:53:37Z</dcterms:modified>
</cp:coreProperties>
</file>