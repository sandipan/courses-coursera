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77"/>
  </p:notesMasterIdLst>
  <p:sldIdLst>
    <p:sldId id="834" r:id="rId2"/>
    <p:sldId id="845" r:id="rId3"/>
    <p:sldId id="846" r:id="rId4"/>
    <p:sldId id="847" r:id="rId5"/>
    <p:sldId id="848" r:id="rId6"/>
    <p:sldId id="849" r:id="rId7"/>
    <p:sldId id="850" r:id="rId8"/>
    <p:sldId id="835" r:id="rId9"/>
    <p:sldId id="851" r:id="rId10"/>
    <p:sldId id="852" r:id="rId11"/>
    <p:sldId id="853" r:id="rId12"/>
    <p:sldId id="854" r:id="rId13"/>
    <p:sldId id="836" r:id="rId14"/>
    <p:sldId id="900" r:id="rId15"/>
    <p:sldId id="837" r:id="rId16"/>
    <p:sldId id="838" r:id="rId17"/>
    <p:sldId id="839" r:id="rId18"/>
    <p:sldId id="855" r:id="rId19"/>
    <p:sldId id="856" r:id="rId20"/>
    <p:sldId id="857" r:id="rId21"/>
    <p:sldId id="858" r:id="rId22"/>
    <p:sldId id="859" r:id="rId23"/>
    <p:sldId id="860" r:id="rId24"/>
    <p:sldId id="861" r:id="rId25"/>
    <p:sldId id="862" r:id="rId26"/>
    <p:sldId id="863" r:id="rId27"/>
    <p:sldId id="840" r:id="rId28"/>
    <p:sldId id="864" r:id="rId29"/>
    <p:sldId id="865" r:id="rId30"/>
    <p:sldId id="866" r:id="rId31"/>
    <p:sldId id="867" r:id="rId32"/>
    <p:sldId id="868" r:id="rId33"/>
    <p:sldId id="869" r:id="rId34"/>
    <p:sldId id="870" r:id="rId35"/>
    <p:sldId id="871" r:id="rId36"/>
    <p:sldId id="841" r:id="rId37"/>
    <p:sldId id="872" r:id="rId38"/>
    <p:sldId id="873" r:id="rId39"/>
    <p:sldId id="874" r:id="rId40"/>
    <p:sldId id="877" r:id="rId41"/>
    <p:sldId id="878" r:id="rId42"/>
    <p:sldId id="842" r:id="rId43"/>
    <p:sldId id="879" r:id="rId44"/>
    <p:sldId id="880" r:id="rId45"/>
    <p:sldId id="881" r:id="rId46"/>
    <p:sldId id="882" r:id="rId47"/>
    <p:sldId id="883" r:id="rId48"/>
    <p:sldId id="884" r:id="rId49"/>
    <p:sldId id="843" r:id="rId50"/>
    <p:sldId id="885" r:id="rId51"/>
    <p:sldId id="886" r:id="rId52"/>
    <p:sldId id="887" r:id="rId53"/>
    <p:sldId id="888" r:id="rId54"/>
    <p:sldId id="889" r:id="rId55"/>
    <p:sldId id="890" r:id="rId56"/>
    <p:sldId id="891" r:id="rId57"/>
    <p:sldId id="844" r:id="rId58"/>
    <p:sldId id="892" r:id="rId59"/>
    <p:sldId id="893" r:id="rId60"/>
    <p:sldId id="894" r:id="rId61"/>
    <p:sldId id="895" r:id="rId62"/>
    <p:sldId id="896" r:id="rId63"/>
    <p:sldId id="897" r:id="rId64"/>
    <p:sldId id="447" r:id="rId65"/>
    <p:sldId id="731" r:id="rId66"/>
    <p:sldId id="829" r:id="rId67"/>
    <p:sldId id="898" r:id="rId68"/>
    <p:sldId id="830" r:id="rId69"/>
    <p:sldId id="899" r:id="rId70"/>
    <p:sldId id="733" r:id="rId71"/>
    <p:sldId id="831" r:id="rId72"/>
    <p:sldId id="828" r:id="rId73"/>
    <p:sldId id="833" r:id="rId74"/>
    <p:sldId id="832" r:id="rId75"/>
    <p:sldId id="584" r:id="rId7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63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92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4737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What </a:t>
            </a:r>
            <a:r>
              <a:rPr lang="en-US" sz="2000" b="1" dirty="0" smtClean="0"/>
              <a:t>a multiplicative </a:t>
            </a:r>
            <a:r>
              <a:rPr lang="en-US" sz="2000" b="1" dirty="0" smtClean="0"/>
              <a:t>inverse </a:t>
            </a:r>
            <a:r>
              <a:rPr lang="en-US" sz="2000" b="1" dirty="0" smtClean="0"/>
              <a:t>is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45369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What </a:t>
            </a:r>
            <a:r>
              <a:rPr lang="en-US" sz="2000" b="1" dirty="0" smtClean="0"/>
              <a:t>a multiplicative </a:t>
            </a:r>
            <a:r>
              <a:rPr lang="en-US" sz="2000" b="1" dirty="0" smtClean="0"/>
              <a:t>inverse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When a </a:t>
            </a:r>
            <a:r>
              <a:rPr lang="en-US" sz="2000" b="1" dirty="0" smtClean="0"/>
              <a:t>multiplicative inverse </a:t>
            </a:r>
            <a:r>
              <a:rPr lang="en-US" sz="2000" b="1" dirty="0" smtClean="0"/>
              <a:t>exists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45369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What </a:t>
            </a:r>
            <a:r>
              <a:rPr lang="en-US" sz="2000" b="1" dirty="0" smtClean="0"/>
              <a:t>a multiplicative </a:t>
            </a:r>
            <a:r>
              <a:rPr lang="en-US" sz="2000" b="1" dirty="0" smtClean="0"/>
              <a:t>inverse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When a </a:t>
            </a:r>
            <a:r>
              <a:rPr lang="en-US" sz="2000" b="1" dirty="0" smtClean="0"/>
              <a:t>multiplicative inverse </a:t>
            </a:r>
            <a:r>
              <a:rPr lang="en-US" sz="2000" b="1" dirty="0" smtClean="0"/>
              <a:t>exists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 </a:t>
            </a:r>
            <a:r>
              <a:rPr lang="en-US" sz="2000" b="1" dirty="0" smtClean="0"/>
              <a:t>Euclidean algorithm finds </a:t>
            </a:r>
            <a:r>
              <a:rPr lang="en-US" sz="2000" b="1" dirty="0" smtClean="0"/>
              <a:t>the </a:t>
            </a:r>
            <a:r>
              <a:rPr lang="en-US" sz="2000" b="1" dirty="0" err="1" smtClean="0"/>
              <a:t>gcd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45369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What </a:t>
            </a:r>
            <a:r>
              <a:rPr lang="en-US" sz="2000" b="1" dirty="0" smtClean="0"/>
              <a:t>a multiplicative </a:t>
            </a:r>
            <a:r>
              <a:rPr lang="en-US" sz="2000" b="1" dirty="0" smtClean="0"/>
              <a:t>inverse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When a </a:t>
            </a:r>
            <a:r>
              <a:rPr lang="en-US" sz="2000" b="1" dirty="0" smtClean="0"/>
              <a:t>multiplicative inverse </a:t>
            </a:r>
            <a:r>
              <a:rPr lang="en-US" sz="2000" b="1" dirty="0" smtClean="0"/>
              <a:t>exists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 </a:t>
            </a:r>
            <a:r>
              <a:rPr lang="en-US" sz="2000" b="1" dirty="0" smtClean="0"/>
              <a:t>Euclidean algorithm finds </a:t>
            </a:r>
            <a:r>
              <a:rPr lang="en-US" sz="2000" b="1" dirty="0" smtClean="0"/>
              <a:t>the </a:t>
            </a:r>
            <a:r>
              <a:rPr lang="en-US" sz="2000" b="1" dirty="0" err="1" smtClean="0"/>
              <a:t>gcd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How efficient the Euclidean algorithm is</a:t>
            </a:r>
          </a:p>
        </p:txBody>
      </p:sp>
    </p:spTree>
    <p:extLst>
      <p:ext uri="{BB962C8B-B14F-4D97-AF65-F5344CB8AC3E}">
        <p14:creationId xmlns:p14="http://schemas.microsoft.com/office/powerpoint/2010/main" val="145369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What </a:t>
            </a:r>
            <a:r>
              <a:rPr lang="en-US" sz="2000" b="1" dirty="0" smtClean="0"/>
              <a:t>a multiplicative </a:t>
            </a:r>
            <a:r>
              <a:rPr lang="en-US" sz="2000" b="1" dirty="0" smtClean="0"/>
              <a:t>inverse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When a </a:t>
            </a:r>
            <a:r>
              <a:rPr lang="en-US" sz="2000" b="1" dirty="0" smtClean="0"/>
              <a:t>multiplicative inverse </a:t>
            </a:r>
            <a:r>
              <a:rPr lang="en-US" sz="2000" b="1" dirty="0" smtClean="0"/>
              <a:t>exists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 </a:t>
            </a:r>
            <a:r>
              <a:rPr lang="en-US" sz="2000" b="1" dirty="0" smtClean="0"/>
              <a:t>Euclidean algorithm finds </a:t>
            </a:r>
            <a:r>
              <a:rPr lang="en-US" sz="2000" b="1" dirty="0" smtClean="0"/>
              <a:t>the </a:t>
            </a:r>
            <a:r>
              <a:rPr lang="en-US" sz="2000" b="1" dirty="0" err="1" smtClean="0"/>
              <a:t>gcd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How efficient the Euclidean algorithm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Prove the validity of the Euclidean algorithm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5369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What </a:t>
            </a:r>
            <a:r>
              <a:rPr lang="en-US" sz="2000" b="1" dirty="0" smtClean="0"/>
              <a:t>a multiplicative </a:t>
            </a:r>
            <a:r>
              <a:rPr lang="en-US" sz="2000" b="1" dirty="0" smtClean="0"/>
              <a:t>inverse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When a </a:t>
            </a:r>
            <a:r>
              <a:rPr lang="en-US" sz="2000" b="1" dirty="0" smtClean="0"/>
              <a:t>multiplicative inverse </a:t>
            </a:r>
            <a:r>
              <a:rPr lang="en-US" sz="2000" b="1" dirty="0" smtClean="0"/>
              <a:t>exists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 </a:t>
            </a:r>
            <a:r>
              <a:rPr lang="en-US" sz="2000" b="1" dirty="0" smtClean="0"/>
              <a:t>Euclidean algorithm finds </a:t>
            </a:r>
            <a:r>
              <a:rPr lang="en-US" sz="2000" b="1" dirty="0" smtClean="0"/>
              <a:t>the </a:t>
            </a:r>
            <a:r>
              <a:rPr lang="en-US" sz="2000" b="1" dirty="0" err="1" smtClean="0"/>
              <a:t>gcd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How efficient the Euclidean algorithm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Prove the validity of the Euclidean algorithm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Future work – extend the Euclidean algorithm</a:t>
            </a:r>
          </a:p>
        </p:txBody>
      </p:sp>
    </p:spTree>
    <p:extLst>
      <p:ext uri="{BB962C8B-B14F-4D97-AF65-F5344CB8AC3E}">
        <p14:creationId xmlns:p14="http://schemas.microsoft.com/office/powerpoint/2010/main" val="145369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isn't defined,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but </a:t>
            </a:r>
            <a:r>
              <a:rPr lang="en-US" b="1" dirty="0"/>
              <a:t>multiplicative inverses are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852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isn't defined,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but </a:t>
            </a:r>
            <a:r>
              <a:rPr lang="en-US" b="1" dirty="0"/>
              <a:t>multiplicative inverses are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mbria Math"/>
              </a:rPr>
              <a:t>Dividing by x = multiplying by reciprocal of 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592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isn't defined,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but </a:t>
            </a:r>
            <a:r>
              <a:rPr lang="en-US" b="1" dirty="0"/>
              <a:t>multiplicative inverses are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00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Cambria Math"/>
                  </a:rPr>
                  <a:t>Dividing by x = multiplying by reciprocal of x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 smtClean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0018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isn't defined,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but </a:t>
            </a:r>
            <a:r>
              <a:rPr lang="en-US" b="1" dirty="0"/>
              <a:t>multiplicative inverses are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15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Cambria Math"/>
                  </a:rPr>
                  <a:t>Dividing by x = multiplying by reciprocal of x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Reciprocal also know as multiplicative inverse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 smtClean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15735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isn't defined,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but </a:t>
            </a:r>
            <a:r>
              <a:rPr lang="en-US" b="1" dirty="0"/>
              <a:t>multiplicative inverses are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2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Cambria Math"/>
                  </a:rPr>
                  <a:t>Dividing by x = multiplying by reciprocal of x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Reciprocal also know as multiplicative inverse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Product of x and its multiplicative inverse is 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23511"/>
              </a:xfrm>
              <a:prstGeom prst="rect">
                <a:avLst/>
              </a:prstGeom>
              <a:blipFill rotWithShape="1">
                <a:blip r:embed="rId5"/>
                <a:stretch>
                  <a:fillRect l="-936" t="-1208" b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mod-7 multiplication table shows</a:t>
            </a:r>
            <a:br>
              <a:rPr lang="en-US" b="1" dirty="0" smtClean="0"/>
            </a:br>
            <a:r>
              <a:rPr lang="en-US" b="1" dirty="0" smtClean="0"/>
              <a:t>every nonzero residue class has an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0162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16301"/>
              </p:ext>
            </p:extLst>
          </p:nvPr>
        </p:nvGraphicFramePr>
        <p:xfrm>
          <a:off x="3200400" y="1200150"/>
          <a:ext cx="5029200" cy="2743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379828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mod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mod-7 multiplication table shows</a:t>
            </a:r>
            <a:br>
              <a:rPr lang="en-US" b="1" dirty="0" smtClean="0"/>
            </a:br>
            <a:r>
              <a:rPr lang="en-US" b="1" dirty="0" smtClean="0"/>
              <a:t>every nonzero residue class has an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58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270258"/>
              </p:ext>
            </p:extLst>
          </p:nvPr>
        </p:nvGraphicFramePr>
        <p:xfrm>
          <a:off x="3200400" y="1200150"/>
          <a:ext cx="5029200" cy="2743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379828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mod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mod-7 multiplication table shows</a:t>
            </a:r>
            <a:br>
              <a:rPr lang="en-US" b="1" dirty="0" smtClean="0"/>
            </a:br>
            <a:r>
              <a:rPr lang="en-US" b="1" dirty="0" smtClean="0"/>
              <a:t>every nonzero residue class has an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418420"/>
              </p:ext>
            </p:extLst>
          </p:nvPr>
        </p:nvGraphicFramePr>
        <p:xfrm>
          <a:off x="3200400" y="1200150"/>
          <a:ext cx="5029200" cy="2743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379828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mod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03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mod-15 </a:t>
            </a:r>
            <a:r>
              <a:rPr lang="en-US" b="1" dirty="0"/>
              <a:t>multiplication table shows</a:t>
            </a:r>
            <a:br>
              <a:rPr lang="en-US" b="1" dirty="0"/>
            </a:br>
            <a:r>
              <a:rPr lang="en-US" b="1" dirty="0" smtClean="0"/>
              <a:t>many </a:t>
            </a:r>
            <a:r>
              <a:rPr lang="en-US" b="1" dirty="0"/>
              <a:t>nonzero residue </a:t>
            </a:r>
            <a:r>
              <a:rPr lang="en-US" b="1" dirty="0" smtClean="0"/>
              <a:t>classes don’t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72884"/>
              </p:ext>
            </p:extLst>
          </p:nvPr>
        </p:nvGraphicFramePr>
        <p:xfrm>
          <a:off x="3200400" y="1200149"/>
          <a:ext cx="5029200" cy="2753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</a:tblGrid>
              <a:tr h="269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 smtClean="0">
                          <a:effectLst/>
                        </a:rPr>
                        <a:t>Mod</a:t>
                      </a:r>
                    </a:p>
                    <a:p>
                      <a:pPr algn="ctr" fontAlgn="b"/>
                      <a:r>
                        <a:rPr lang="en-US" sz="900" u="none" strike="noStrike" dirty="0" smtClean="0">
                          <a:effectLst/>
                        </a:rPr>
                        <a:t>15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57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7709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</a:t>
            </a:r>
            <a:r>
              <a:rPr lang="en-US" sz="2000" b="1" dirty="0" smtClean="0"/>
              <a:t>)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)·a}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</a:t>
            </a:r>
            <a:r>
              <a:rPr lang="en-US" sz="2000" b="1" dirty="0" smtClean="0"/>
              <a:t>)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Can </a:t>
            </a:r>
            <a:r>
              <a:rPr lang="en-US" sz="2000" b="1" dirty="0" err="1" smtClean="0"/>
              <a:t>x·a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≡ </a:t>
            </a:r>
            <a:r>
              <a:rPr lang="en-US" sz="2000" b="1" dirty="0" err="1" smtClean="0"/>
              <a:t>y·a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(mod m) </a:t>
            </a:r>
            <a:r>
              <a:rPr lang="en-US" sz="2000" b="1" dirty="0" smtClean="0"/>
              <a:t>?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Can </a:t>
            </a:r>
            <a:r>
              <a:rPr lang="en-US" sz="2000" b="1" dirty="0" err="1" smtClean="0"/>
              <a:t>x·a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≡ </a:t>
            </a:r>
            <a:r>
              <a:rPr lang="en-US" sz="2000" b="1" dirty="0" err="1" smtClean="0"/>
              <a:t>y·a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(mod m)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Requires (x-y</a:t>
            </a:r>
            <a:r>
              <a:rPr lang="en-US" sz="2000" b="1" dirty="0" smtClean="0"/>
              <a:t>)·a </a:t>
            </a:r>
            <a:r>
              <a:rPr lang="en-US" sz="2000" b="1" dirty="0" smtClean="0"/>
              <a:t>= </a:t>
            </a:r>
            <a:r>
              <a:rPr lang="en-US" sz="2000" b="1" dirty="0" smtClean="0"/>
              <a:t>km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Can </a:t>
            </a:r>
            <a:r>
              <a:rPr lang="en-US" sz="2000" b="1" dirty="0" err="1" smtClean="0"/>
              <a:t>x·a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≡ </a:t>
            </a:r>
            <a:r>
              <a:rPr lang="en-US" sz="2000" b="1" dirty="0" err="1" smtClean="0"/>
              <a:t>y·a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(mod m)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Requires (x-y</a:t>
            </a:r>
            <a:r>
              <a:rPr lang="en-US" sz="2000" b="1" dirty="0" smtClean="0"/>
              <a:t>)·a </a:t>
            </a:r>
            <a:r>
              <a:rPr lang="en-US" sz="2000" b="1" dirty="0" smtClean="0"/>
              <a:t>= 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Since ‘a’ has no factors of ‘m’, (x-y) | </a:t>
            </a:r>
            <a:r>
              <a:rPr lang="en-US" sz="2000" b="1" dirty="0" smtClean="0"/>
              <a:t>m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Can </a:t>
            </a:r>
            <a:r>
              <a:rPr lang="en-US" sz="2000" b="1" dirty="0" err="1" smtClean="0"/>
              <a:t>x·a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≡ </a:t>
            </a:r>
            <a:r>
              <a:rPr lang="en-US" sz="2000" b="1" dirty="0" err="1" smtClean="0"/>
              <a:t>y·a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(mod m)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Requires (x-y</a:t>
            </a:r>
            <a:r>
              <a:rPr lang="en-US" sz="2000" b="1" dirty="0" smtClean="0"/>
              <a:t>)·a </a:t>
            </a:r>
            <a:r>
              <a:rPr lang="en-US" sz="2000" b="1" dirty="0" smtClean="0"/>
              <a:t>= 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Since ‘a’ has no factors of ‘m’, (x-y) |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But –m &lt; (x-y) &lt; m and (x-y) ≠ </a:t>
            </a:r>
            <a:r>
              <a:rPr lang="en-US" sz="2000" b="1" dirty="0" smtClean="0"/>
              <a:t>0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Can </a:t>
            </a:r>
            <a:r>
              <a:rPr lang="en-US" sz="2000" b="1" dirty="0" err="1" smtClean="0"/>
              <a:t>x·a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≡ </a:t>
            </a:r>
            <a:r>
              <a:rPr lang="en-US" sz="2000" b="1" dirty="0" err="1" smtClean="0"/>
              <a:t>y·a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(mod m)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Requires (x-y</a:t>
            </a:r>
            <a:r>
              <a:rPr lang="en-US" sz="2000" b="1" dirty="0" smtClean="0"/>
              <a:t>)·a </a:t>
            </a:r>
            <a:r>
              <a:rPr lang="en-US" sz="2000" b="1" dirty="0" smtClean="0"/>
              <a:t>= 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Since ‘a’ has no factors of ‘m’, (x-y) |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But –m &lt; (x-y) &lt; m and (x-y) ≠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No two members of sequence are congruent</a:t>
            </a:r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Can </a:t>
            </a:r>
            <a:r>
              <a:rPr lang="en-US" sz="2000" b="1" dirty="0" err="1" smtClean="0"/>
              <a:t>x·a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≡ </a:t>
            </a:r>
            <a:r>
              <a:rPr lang="en-US" sz="2000" b="1" dirty="0" err="1" smtClean="0"/>
              <a:t>y·a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(mod m)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Requires (x-y</a:t>
            </a:r>
            <a:r>
              <a:rPr lang="en-US" sz="2000" b="1" dirty="0" smtClean="0"/>
              <a:t>)·a </a:t>
            </a:r>
            <a:r>
              <a:rPr lang="en-US" sz="2000" b="1" dirty="0" smtClean="0"/>
              <a:t>= 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Since ‘a’ has no factors of ‘m’, (x-y) |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But –m &lt; (x-y) &lt; m and (x-y) ≠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No two members of sequence are congruent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Pigeonhole Principle: 1 member is congruent to 1</a:t>
            </a:r>
          </a:p>
        </p:txBody>
      </p:sp>
    </p:spTree>
    <p:extLst>
      <p:ext uri="{BB962C8B-B14F-4D97-AF65-F5344CB8AC3E}">
        <p14:creationId xmlns:p14="http://schemas.microsoft.com/office/powerpoint/2010/main" val="36527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2790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gcd(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</a:t>
            </a:r>
            <a:r>
              <a:rPr lang="en-US" sz="2000" b="1" dirty="0"/>
              <a:t>c </a:t>
            </a:r>
            <a:r>
              <a:rPr lang="en-US" sz="2000" b="1" dirty="0" smtClean="0"/>
              <a:t>&gt; 1 </a:t>
            </a:r>
            <a:r>
              <a:rPr lang="en-US" sz="2000" b="1" dirty="0" smtClean="0"/>
              <a:t>(i.e., </a:t>
            </a:r>
            <a:r>
              <a:rPr lang="en-US" sz="2000" b="1" dirty="0" smtClean="0"/>
              <a:t>NOT relatively </a:t>
            </a:r>
            <a:r>
              <a:rPr lang="en-US" sz="2000" b="1" dirty="0" smtClean="0"/>
              <a:t>prime</a:t>
            </a:r>
            <a:r>
              <a:rPr lang="en-US" sz="20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gcd(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</a:t>
            </a:r>
            <a:r>
              <a:rPr lang="en-US" sz="2000" b="1" dirty="0"/>
              <a:t>c </a:t>
            </a:r>
            <a:r>
              <a:rPr lang="en-US" sz="2000" b="1" dirty="0" smtClean="0"/>
              <a:t>&gt; 1 </a:t>
            </a:r>
            <a:r>
              <a:rPr lang="en-US" sz="2000" b="1" dirty="0" smtClean="0"/>
              <a:t>(i.e., </a:t>
            </a:r>
            <a:r>
              <a:rPr lang="en-US" sz="2000" b="1" dirty="0" smtClean="0"/>
              <a:t>NOT relatively </a:t>
            </a:r>
            <a:r>
              <a:rPr lang="en-US" sz="2000" b="1" dirty="0" smtClean="0"/>
              <a:t>prime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a = </a:t>
            </a:r>
            <a:r>
              <a:rPr lang="en-US" sz="2000" b="1" dirty="0" err="1" smtClean="0"/>
              <a:t>b·c</a:t>
            </a:r>
            <a:r>
              <a:rPr lang="en-US" sz="2000" b="1" dirty="0" smtClean="0"/>
              <a:t>, m = </a:t>
            </a:r>
            <a:r>
              <a:rPr lang="en-US" sz="2000" b="1" dirty="0" err="1" smtClean="0"/>
              <a:t>n·c</a:t>
            </a:r>
            <a:r>
              <a:rPr lang="en-US" sz="2000" b="1" dirty="0" smtClean="0"/>
              <a:t> where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b,n</a:t>
            </a:r>
            <a:r>
              <a:rPr lang="en-US" sz="2000" b="1" dirty="0" smtClean="0"/>
              <a:t>) = 1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gcd(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</a:t>
            </a:r>
            <a:r>
              <a:rPr lang="en-US" sz="2000" b="1" dirty="0"/>
              <a:t>c </a:t>
            </a:r>
            <a:r>
              <a:rPr lang="en-US" sz="2000" b="1" dirty="0" smtClean="0"/>
              <a:t>&gt; 1 </a:t>
            </a:r>
            <a:r>
              <a:rPr lang="en-US" sz="2000" b="1" dirty="0" smtClean="0"/>
              <a:t>(i.e., </a:t>
            </a:r>
            <a:r>
              <a:rPr lang="en-US" sz="2000" b="1" dirty="0" smtClean="0"/>
              <a:t>NOT relatively </a:t>
            </a:r>
            <a:r>
              <a:rPr lang="en-US" sz="2000" b="1" dirty="0" smtClean="0"/>
              <a:t>prime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a = </a:t>
            </a:r>
            <a:r>
              <a:rPr lang="en-US" sz="2000" b="1" dirty="0" err="1" smtClean="0"/>
              <a:t>b·c</a:t>
            </a:r>
            <a:r>
              <a:rPr lang="en-US" sz="2000" b="1" dirty="0" smtClean="0"/>
              <a:t>, m = </a:t>
            </a:r>
            <a:r>
              <a:rPr lang="en-US" sz="2000" b="1" dirty="0" err="1" smtClean="0"/>
              <a:t>n·c</a:t>
            </a:r>
            <a:r>
              <a:rPr lang="en-US" sz="2000" b="1" dirty="0" smtClean="0"/>
              <a:t> where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b,n</a:t>
            </a:r>
            <a:r>
              <a:rPr lang="en-US" sz="2000" b="1" dirty="0" smtClean="0"/>
              <a:t>) = 1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(</a:t>
            </a:r>
            <a:r>
              <a:rPr lang="en-US" sz="2000" b="1" dirty="0"/>
              <a:t>x-y)a = </a:t>
            </a:r>
            <a:r>
              <a:rPr lang="en-US" sz="2000" b="1" dirty="0" smtClean="0"/>
              <a:t>km → </a:t>
            </a:r>
            <a:r>
              <a:rPr lang="en-US" sz="2000" b="1" dirty="0"/>
              <a:t>(</a:t>
            </a:r>
            <a:r>
              <a:rPr lang="en-US" sz="2000" b="1" dirty="0" smtClean="0"/>
              <a:t>x-y)</a:t>
            </a:r>
            <a:r>
              <a:rPr lang="en-US" sz="2000" b="1" dirty="0" err="1" smtClean="0"/>
              <a:t>bc</a:t>
            </a:r>
            <a:r>
              <a:rPr lang="en-US" sz="2000" b="1" dirty="0" smtClean="0"/>
              <a:t> </a:t>
            </a:r>
            <a:r>
              <a:rPr lang="en-US" sz="2000" b="1" dirty="0"/>
              <a:t>= </a:t>
            </a:r>
            <a:r>
              <a:rPr lang="en-US" sz="2000" b="1" dirty="0" err="1" smtClean="0"/>
              <a:t>knc</a:t>
            </a:r>
            <a:r>
              <a:rPr lang="en-US" sz="2000" b="1" dirty="0" smtClean="0"/>
              <a:t> </a:t>
            </a:r>
            <a:r>
              <a:rPr lang="en-US" sz="2000" b="1" dirty="0"/>
              <a:t>→ (</a:t>
            </a:r>
            <a:r>
              <a:rPr lang="en-US" sz="2000" b="1" dirty="0" smtClean="0"/>
              <a:t>x-y)b </a:t>
            </a:r>
            <a:r>
              <a:rPr lang="en-US" sz="2000" b="1" dirty="0"/>
              <a:t>= </a:t>
            </a:r>
            <a:r>
              <a:rPr lang="en-US" sz="2000" b="1" dirty="0" err="1" smtClean="0"/>
              <a:t>kn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gcd(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</a:t>
            </a:r>
            <a:r>
              <a:rPr lang="en-US" sz="2000" b="1" dirty="0"/>
              <a:t>c </a:t>
            </a:r>
            <a:r>
              <a:rPr lang="en-US" sz="2000" b="1" dirty="0" smtClean="0"/>
              <a:t>&gt; 1 </a:t>
            </a:r>
            <a:r>
              <a:rPr lang="en-US" sz="2000" b="1" dirty="0" smtClean="0"/>
              <a:t>(i.e., </a:t>
            </a:r>
            <a:r>
              <a:rPr lang="en-US" sz="2000" b="1" dirty="0" smtClean="0"/>
              <a:t>NOT relatively </a:t>
            </a:r>
            <a:r>
              <a:rPr lang="en-US" sz="2000" b="1" dirty="0" smtClean="0"/>
              <a:t>prime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a = </a:t>
            </a:r>
            <a:r>
              <a:rPr lang="en-US" sz="2000" b="1" dirty="0" err="1" smtClean="0"/>
              <a:t>b·c</a:t>
            </a:r>
            <a:r>
              <a:rPr lang="en-US" sz="2000" b="1" dirty="0" smtClean="0"/>
              <a:t>, m = </a:t>
            </a:r>
            <a:r>
              <a:rPr lang="en-US" sz="2000" b="1" dirty="0" err="1" smtClean="0"/>
              <a:t>n·c</a:t>
            </a:r>
            <a:r>
              <a:rPr lang="en-US" sz="2000" b="1" dirty="0" smtClean="0"/>
              <a:t> where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b,n</a:t>
            </a:r>
            <a:r>
              <a:rPr lang="en-US" sz="2000" b="1" dirty="0" smtClean="0"/>
              <a:t>) = 1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(</a:t>
            </a:r>
            <a:r>
              <a:rPr lang="en-US" sz="2000" b="1" dirty="0"/>
              <a:t>x-y)a = </a:t>
            </a:r>
            <a:r>
              <a:rPr lang="en-US" sz="2000" b="1" dirty="0" smtClean="0"/>
              <a:t>km → </a:t>
            </a:r>
            <a:r>
              <a:rPr lang="en-US" sz="2000" b="1" dirty="0"/>
              <a:t>(</a:t>
            </a:r>
            <a:r>
              <a:rPr lang="en-US" sz="2000" b="1" dirty="0" smtClean="0"/>
              <a:t>x-y)</a:t>
            </a:r>
            <a:r>
              <a:rPr lang="en-US" sz="2000" b="1" dirty="0" err="1" smtClean="0"/>
              <a:t>bc</a:t>
            </a:r>
            <a:r>
              <a:rPr lang="en-US" sz="2000" b="1" dirty="0" smtClean="0"/>
              <a:t> </a:t>
            </a:r>
            <a:r>
              <a:rPr lang="en-US" sz="2000" b="1" dirty="0"/>
              <a:t>= </a:t>
            </a:r>
            <a:r>
              <a:rPr lang="en-US" sz="2000" b="1" dirty="0" err="1" smtClean="0"/>
              <a:t>knc</a:t>
            </a:r>
            <a:r>
              <a:rPr lang="en-US" sz="2000" b="1" dirty="0" smtClean="0"/>
              <a:t> </a:t>
            </a:r>
            <a:r>
              <a:rPr lang="en-US" sz="2000" b="1" dirty="0"/>
              <a:t>→ (</a:t>
            </a:r>
            <a:r>
              <a:rPr lang="en-US" sz="2000" b="1" dirty="0" smtClean="0"/>
              <a:t>x-y)b </a:t>
            </a:r>
            <a:r>
              <a:rPr lang="en-US" sz="2000" b="1" dirty="0"/>
              <a:t>= </a:t>
            </a:r>
            <a:r>
              <a:rPr lang="en-US" sz="2000" b="1" dirty="0" err="1" smtClean="0"/>
              <a:t>kn</a:t>
            </a:r>
            <a:r>
              <a:rPr lang="en-US" sz="2000" b="1" dirty="0" smtClean="0"/>
              <a:t> 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x·b</a:t>
            </a:r>
            <a:r>
              <a:rPr lang="en-US" sz="2000" b="1" dirty="0" smtClean="0"/>
              <a:t> produces all n residues: </a:t>
            </a:r>
          </a:p>
          <a:p>
            <a:pPr lvl="1"/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872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gcd(</a:t>
                </a:r>
                <a:r>
                  <a:rPr lang="en-US" sz="2000" b="1" dirty="0" err="1" smtClean="0"/>
                  <a:t>a,m</a:t>
                </a:r>
                <a:r>
                  <a:rPr lang="en-US" sz="2000" b="1" dirty="0" smtClean="0"/>
                  <a:t>) = </a:t>
                </a:r>
                <a:r>
                  <a:rPr lang="en-US" sz="2000" b="1" dirty="0"/>
                  <a:t>c </a:t>
                </a:r>
                <a:r>
                  <a:rPr lang="en-US" sz="2000" b="1" dirty="0" smtClean="0"/>
                  <a:t>&gt; 1 </a:t>
                </a:r>
                <a:r>
                  <a:rPr lang="en-US" sz="2000" b="1" dirty="0" smtClean="0"/>
                  <a:t>(i.e., </a:t>
                </a:r>
                <a:r>
                  <a:rPr lang="en-US" sz="2000" b="1" dirty="0" smtClean="0"/>
                  <a:t>NOT relatively </a:t>
                </a:r>
                <a:r>
                  <a:rPr lang="en-US" sz="2000" b="1" dirty="0" smtClean="0"/>
                  <a:t>prime</a:t>
                </a:r>
                <a:r>
                  <a:rPr lang="en-US" sz="2000" b="1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a = </a:t>
                </a:r>
                <a:r>
                  <a:rPr lang="en-US" sz="2000" b="1" dirty="0" err="1" smtClean="0"/>
                  <a:t>b·c</a:t>
                </a:r>
                <a:r>
                  <a:rPr lang="en-US" sz="2000" b="1" dirty="0" smtClean="0"/>
                  <a:t>, m = </a:t>
                </a:r>
                <a:r>
                  <a:rPr lang="en-US" sz="2000" b="1" dirty="0" err="1" smtClean="0"/>
                  <a:t>n·c</a:t>
                </a:r>
                <a:r>
                  <a:rPr lang="en-US" sz="2000" b="1" dirty="0" smtClean="0"/>
                  <a:t> where </a:t>
                </a:r>
                <a:r>
                  <a:rPr lang="en-US" sz="2000" b="1" dirty="0" err="1" smtClean="0"/>
                  <a:t>gcd</a:t>
                </a:r>
                <a:r>
                  <a:rPr lang="en-US" sz="2000" b="1" dirty="0" smtClean="0"/>
                  <a:t>(</a:t>
                </a:r>
                <a:r>
                  <a:rPr lang="en-US" sz="2000" b="1" dirty="0" err="1" smtClean="0"/>
                  <a:t>b,n</a:t>
                </a:r>
                <a:r>
                  <a:rPr lang="en-US" sz="2000" b="1" dirty="0" smtClean="0"/>
                  <a:t>) = 1</a:t>
                </a: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(</a:t>
                </a:r>
                <a:r>
                  <a:rPr lang="en-US" sz="2000" b="1" dirty="0"/>
                  <a:t>x-y)a = </a:t>
                </a:r>
                <a:r>
                  <a:rPr lang="en-US" sz="2000" b="1" dirty="0" smtClean="0"/>
                  <a:t>km → </a:t>
                </a:r>
                <a:r>
                  <a:rPr lang="en-US" sz="2000" b="1" dirty="0"/>
                  <a:t>(</a:t>
                </a:r>
                <a:r>
                  <a:rPr lang="en-US" sz="2000" b="1" dirty="0" smtClean="0"/>
                  <a:t>x-y)</a:t>
                </a:r>
                <a:r>
                  <a:rPr lang="en-US" sz="2000" b="1" dirty="0" err="1" smtClean="0"/>
                  <a:t>bc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→ (</a:t>
                </a:r>
                <a:r>
                  <a:rPr lang="en-US" sz="2000" b="1" dirty="0" smtClean="0"/>
                  <a:t>x-y)b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</a:t>
                </a:r>
                <a:r>
                  <a:rPr lang="en-US" sz="2000" b="1" dirty="0" smtClean="0"/>
                  <a:t> </a:t>
                </a: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err="1" smtClean="0"/>
                  <a:t>x·b</a:t>
                </a:r>
                <a:r>
                  <a:rPr lang="en-US" sz="2000" b="1" dirty="0" smtClean="0"/>
                  <a:t> produces all n residues: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</a:rPr>
                        <m:t>{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𝟐</m:t>
                      </m:r>
                      <m:r>
                        <a:rPr lang="en-US" sz="2000" b="1" i="1" dirty="0" smtClean="0">
                          <a:latin typeface="Cambria Math"/>
                        </a:rPr>
                        <m:t>,…, (</m:t>
                      </m:r>
                      <m:r>
                        <a:rPr lang="en-US" sz="2000" b="1" i="1" dirty="0" smtClean="0">
                          <a:latin typeface="Cambria Math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/>
                        </a:rPr>
                        <m:t>−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)}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𝟏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,…,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𝒄</m:t>
                                  </m:r>
                                </m:den>
                              </m:f>
                              <m:r>
                                <a:rPr lang="en-US" sz="2000" b="1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72244"/>
              </a:xfrm>
              <a:prstGeom prst="rect">
                <a:avLst/>
              </a:prstGeom>
              <a:blipFill rotWithShape="1">
                <a:blip r:embed="rId3"/>
                <a:stretch>
                  <a:fillRect l="-936" t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180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gcd(</a:t>
                </a:r>
                <a:r>
                  <a:rPr lang="en-US" sz="2000" b="1" dirty="0" err="1" smtClean="0"/>
                  <a:t>a,m</a:t>
                </a:r>
                <a:r>
                  <a:rPr lang="en-US" sz="2000" b="1" dirty="0" smtClean="0"/>
                  <a:t>) = </a:t>
                </a:r>
                <a:r>
                  <a:rPr lang="en-US" sz="2000" b="1" dirty="0"/>
                  <a:t>c </a:t>
                </a:r>
                <a:r>
                  <a:rPr lang="en-US" sz="2000" b="1" dirty="0" smtClean="0"/>
                  <a:t>&gt; 1 </a:t>
                </a:r>
                <a:r>
                  <a:rPr lang="en-US" sz="2000" b="1" dirty="0" smtClean="0"/>
                  <a:t>(i.e., </a:t>
                </a:r>
                <a:r>
                  <a:rPr lang="en-US" sz="2000" b="1" dirty="0" smtClean="0"/>
                  <a:t>NOT relatively </a:t>
                </a:r>
                <a:r>
                  <a:rPr lang="en-US" sz="2000" b="1" dirty="0" smtClean="0"/>
                  <a:t>prime</a:t>
                </a:r>
                <a:r>
                  <a:rPr lang="en-US" sz="2000" b="1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a = </a:t>
                </a:r>
                <a:r>
                  <a:rPr lang="en-US" sz="2000" b="1" dirty="0" err="1" smtClean="0"/>
                  <a:t>b·c</a:t>
                </a:r>
                <a:r>
                  <a:rPr lang="en-US" sz="2000" b="1" dirty="0" smtClean="0"/>
                  <a:t>, m = </a:t>
                </a:r>
                <a:r>
                  <a:rPr lang="en-US" sz="2000" b="1" dirty="0" err="1" smtClean="0"/>
                  <a:t>n·c</a:t>
                </a:r>
                <a:r>
                  <a:rPr lang="en-US" sz="2000" b="1" dirty="0" smtClean="0"/>
                  <a:t> where </a:t>
                </a:r>
                <a:r>
                  <a:rPr lang="en-US" sz="2000" b="1" dirty="0" err="1" smtClean="0"/>
                  <a:t>gcd</a:t>
                </a:r>
                <a:r>
                  <a:rPr lang="en-US" sz="2000" b="1" dirty="0" smtClean="0"/>
                  <a:t>(</a:t>
                </a:r>
                <a:r>
                  <a:rPr lang="en-US" sz="2000" b="1" dirty="0" err="1" smtClean="0"/>
                  <a:t>b,n</a:t>
                </a:r>
                <a:r>
                  <a:rPr lang="en-US" sz="2000" b="1" dirty="0" smtClean="0"/>
                  <a:t>) = 1</a:t>
                </a: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(</a:t>
                </a:r>
                <a:r>
                  <a:rPr lang="en-US" sz="2000" b="1" dirty="0"/>
                  <a:t>x-y)a = </a:t>
                </a:r>
                <a:r>
                  <a:rPr lang="en-US" sz="2000" b="1" dirty="0" smtClean="0"/>
                  <a:t>km → </a:t>
                </a:r>
                <a:r>
                  <a:rPr lang="en-US" sz="2000" b="1" dirty="0"/>
                  <a:t>(</a:t>
                </a:r>
                <a:r>
                  <a:rPr lang="en-US" sz="2000" b="1" dirty="0" smtClean="0"/>
                  <a:t>x-y)</a:t>
                </a:r>
                <a:r>
                  <a:rPr lang="en-US" sz="2000" b="1" dirty="0" err="1" smtClean="0"/>
                  <a:t>bc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→ (</a:t>
                </a:r>
                <a:r>
                  <a:rPr lang="en-US" sz="2000" b="1" dirty="0" smtClean="0"/>
                  <a:t>x-y)b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</a:t>
                </a:r>
                <a:r>
                  <a:rPr lang="en-US" sz="2000" b="1" dirty="0" smtClean="0"/>
                  <a:t> </a:t>
                </a: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err="1" smtClean="0"/>
                  <a:t>x·b</a:t>
                </a:r>
                <a:r>
                  <a:rPr lang="en-US" sz="2000" b="1" dirty="0" smtClean="0"/>
                  <a:t> produces all n residues: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</a:rPr>
                        <m:t>{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𝟐</m:t>
                      </m:r>
                      <m:r>
                        <a:rPr lang="en-US" sz="2000" b="1" i="1" dirty="0" smtClean="0">
                          <a:latin typeface="Cambria Math"/>
                        </a:rPr>
                        <m:t>,…, (</m:t>
                      </m:r>
                      <m:r>
                        <a:rPr lang="en-US" sz="2000" b="1" i="1" dirty="0" smtClean="0">
                          <a:latin typeface="Cambria Math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/>
                        </a:rPr>
                        <m:t>−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)}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𝟏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,…,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𝒄</m:t>
                                  </m:r>
                                </m:den>
                              </m:f>
                              <m:r>
                                <a:rPr lang="en-US" sz="2000" b="1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To get back to ‘a’ and ‘m’, multiply residues by ‘c’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180020"/>
              </a:xfrm>
              <a:prstGeom prst="rect">
                <a:avLst/>
              </a:prstGeom>
              <a:blipFill rotWithShape="1">
                <a:blip r:embed="rId3"/>
                <a:stretch>
                  <a:fillRect l="-936" t="-1401" b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487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gcd(</a:t>
                </a:r>
                <a:r>
                  <a:rPr lang="en-US" sz="2000" b="1" dirty="0" err="1" smtClean="0"/>
                  <a:t>a,m</a:t>
                </a:r>
                <a:r>
                  <a:rPr lang="en-US" sz="2000" b="1" dirty="0" smtClean="0"/>
                  <a:t>) = </a:t>
                </a:r>
                <a:r>
                  <a:rPr lang="en-US" sz="2000" b="1" dirty="0"/>
                  <a:t>c </a:t>
                </a:r>
                <a:r>
                  <a:rPr lang="en-US" sz="2000" b="1" dirty="0" smtClean="0"/>
                  <a:t>&gt; 1 </a:t>
                </a:r>
                <a:r>
                  <a:rPr lang="en-US" sz="2000" b="1" dirty="0" smtClean="0"/>
                  <a:t>(i.e., </a:t>
                </a:r>
                <a:r>
                  <a:rPr lang="en-US" sz="2000" b="1" dirty="0" smtClean="0"/>
                  <a:t>NOT relatively </a:t>
                </a:r>
                <a:r>
                  <a:rPr lang="en-US" sz="2000" b="1" dirty="0" smtClean="0"/>
                  <a:t>prime</a:t>
                </a:r>
                <a:r>
                  <a:rPr lang="en-US" sz="2000" b="1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a = </a:t>
                </a:r>
                <a:r>
                  <a:rPr lang="en-US" sz="2000" b="1" dirty="0" err="1" smtClean="0"/>
                  <a:t>b·c</a:t>
                </a:r>
                <a:r>
                  <a:rPr lang="en-US" sz="2000" b="1" dirty="0" smtClean="0"/>
                  <a:t>, m = </a:t>
                </a:r>
                <a:r>
                  <a:rPr lang="en-US" sz="2000" b="1" dirty="0" err="1" smtClean="0"/>
                  <a:t>n·c</a:t>
                </a:r>
                <a:r>
                  <a:rPr lang="en-US" sz="2000" b="1" dirty="0" smtClean="0"/>
                  <a:t> where </a:t>
                </a:r>
                <a:r>
                  <a:rPr lang="en-US" sz="2000" b="1" dirty="0" err="1" smtClean="0"/>
                  <a:t>gcd</a:t>
                </a:r>
                <a:r>
                  <a:rPr lang="en-US" sz="2000" b="1" dirty="0" smtClean="0"/>
                  <a:t>(</a:t>
                </a:r>
                <a:r>
                  <a:rPr lang="en-US" sz="2000" b="1" dirty="0" err="1" smtClean="0"/>
                  <a:t>b,n</a:t>
                </a:r>
                <a:r>
                  <a:rPr lang="en-US" sz="2000" b="1" dirty="0" smtClean="0"/>
                  <a:t>) = 1</a:t>
                </a: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(</a:t>
                </a:r>
                <a:r>
                  <a:rPr lang="en-US" sz="2000" b="1" dirty="0"/>
                  <a:t>x-y)a = </a:t>
                </a:r>
                <a:r>
                  <a:rPr lang="en-US" sz="2000" b="1" dirty="0" smtClean="0"/>
                  <a:t>km → </a:t>
                </a:r>
                <a:r>
                  <a:rPr lang="en-US" sz="2000" b="1" dirty="0"/>
                  <a:t>(</a:t>
                </a:r>
                <a:r>
                  <a:rPr lang="en-US" sz="2000" b="1" dirty="0" smtClean="0"/>
                  <a:t>x-y)</a:t>
                </a:r>
                <a:r>
                  <a:rPr lang="en-US" sz="2000" b="1" dirty="0" err="1" smtClean="0"/>
                  <a:t>bc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→ (</a:t>
                </a:r>
                <a:r>
                  <a:rPr lang="en-US" sz="2000" b="1" dirty="0" smtClean="0"/>
                  <a:t>x-y)b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</a:t>
                </a:r>
                <a:r>
                  <a:rPr lang="en-US" sz="2000" b="1" dirty="0" smtClean="0"/>
                  <a:t> </a:t>
                </a: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err="1" smtClean="0"/>
                  <a:t>x·b</a:t>
                </a:r>
                <a:r>
                  <a:rPr lang="en-US" sz="2000" b="1" dirty="0" smtClean="0"/>
                  <a:t> produces all n residues: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</a:rPr>
                        <m:t>{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𝟐</m:t>
                      </m:r>
                      <m:r>
                        <a:rPr lang="en-US" sz="2000" b="1" i="1" dirty="0" smtClean="0">
                          <a:latin typeface="Cambria Math"/>
                        </a:rPr>
                        <m:t>,…, (</m:t>
                      </m:r>
                      <m:r>
                        <a:rPr lang="en-US" sz="2000" b="1" i="1" dirty="0" smtClean="0">
                          <a:latin typeface="Cambria Math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/>
                        </a:rPr>
                        <m:t>−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)}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𝟏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,…,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𝒄</m:t>
                                  </m:r>
                                </m:den>
                              </m:f>
                              <m:r>
                                <a:rPr lang="en-US" sz="2000" b="1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To get back to ‘a’ and ‘m’, multiply residues by ‘c’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𝒄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𝒄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𝒎</m:t>
                              </m:r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𝒄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487797"/>
              </a:xfrm>
              <a:prstGeom prst="rect">
                <a:avLst/>
              </a:prstGeom>
              <a:blipFill rotWithShape="1">
                <a:blip r:embed="rId3"/>
                <a:stretch>
                  <a:fillRect l="-936" t="-1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795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gcd(</a:t>
                </a:r>
                <a:r>
                  <a:rPr lang="en-US" sz="2000" b="1" dirty="0" err="1" smtClean="0"/>
                  <a:t>a,m</a:t>
                </a:r>
                <a:r>
                  <a:rPr lang="en-US" sz="2000" b="1" dirty="0" smtClean="0"/>
                  <a:t>) = </a:t>
                </a:r>
                <a:r>
                  <a:rPr lang="en-US" sz="2000" b="1" dirty="0"/>
                  <a:t>c </a:t>
                </a:r>
                <a:r>
                  <a:rPr lang="en-US" sz="2000" b="1" dirty="0" smtClean="0"/>
                  <a:t>&gt; 1 </a:t>
                </a:r>
                <a:r>
                  <a:rPr lang="en-US" sz="2000" b="1" dirty="0" smtClean="0"/>
                  <a:t>(i.e., </a:t>
                </a:r>
                <a:r>
                  <a:rPr lang="en-US" sz="2000" b="1" dirty="0" smtClean="0"/>
                  <a:t>NOT relatively </a:t>
                </a:r>
                <a:r>
                  <a:rPr lang="en-US" sz="2000" b="1" dirty="0" smtClean="0"/>
                  <a:t>prime</a:t>
                </a:r>
                <a:r>
                  <a:rPr lang="en-US" sz="2000" b="1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a = </a:t>
                </a:r>
                <a:r>
                  <a:rPr lang="en-US" sz="2000" b="1" dirty="0" err="1" smtClean="0"/>
                  <a:t>b·c</a:t>
                </a:r>
                <a:r>
                  <a:rPr lang="en-US" sz="2000" b="1" dirty="0" smtClean="0"/>
                  <a:t>, m = </a:t>
                </a:r>
                <a:r>
                  <a:rPr lang="en-US" sz="2000" b="1" dirty="0" err="1" smtClean="0"/>
                  <a:t>n·c</a:t>
                </a:r>
                <a:r>
                  <a:rPr lang="en-US" sz="2000" b="1" dirty="0" smtClean="0"/>
                  <a:t> where </a:t>
                </a:r>
                <a:r>
                  <a:rPr lang="en-US" sz="2000" b="1" dirty="0" err="1" smtClean="0"/>
                  <a:t>gcd</a:t>
                </a:r>
                <a:r>
                  <a:rPr lang="en-US" sz="2000" b="1" dirty="0" smtClean="0"/>
                  <a:t>(</a:t>
                </a:r>
                <a:r>
                  <a:rPr lang="en-US" sz="2000" b="1" dirty="0" err="1" smtClean="0"/>
                  <a:t>b,n</a:t>
                </a:r>
                <a:r>
                  <a:rPr lang="en-US" sz="2000" b="1" dirty="0" smtClean="0"/>
                  <a:t>) = 1</a:t>
                </a: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(</a:t>
                </a:r>
                <a:r>
                  <a:rPr lang="en-US" sz="2000" b="1" dirty="0"/>
                  <a:t>x-y)a = </a:t>
                </a:r>
                <a:r>
                  <a:rPr lang="en-US" sz="2000" b="1" dirty="0" smtClean="0"/>
                  <a:t>km → </a:t>
                </a:r>
                <a:r>
                  <a:rPr lang="en-US" sz="2000" b="1" dirty="0"/>
                  <a:t>(</a:t>
                </a:r>
                <a:r>
                  <a:rPr lang="en-US" sz="2000" b="1" dirty="0" smtClean="0"/>
                  <a:t>x-y)</a:t>
                </a:r>
                <a:r>
                  <a:rPr lang="en-US" sz="2000" b="1" dirty="0" err="1" smtClean="0"/>
                  <a:t>bc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→ (</a:t>
                </a:r>
                <a:r>
                  <a:rPr lang="en-US" sz="2000" b="1" dirty="0" smtClean="0"/>
                  <a:t>x-y)b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</a:t>
                </a:r>
                <a:r>
                  <a:rPr lang="en-US" sz="2000" b="1" dirty="0" smtClean="0"/>
                  <a:t> </a:t>
                </a: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err="1" smtClean="0"/>
                  <a:t>x·b</a:t>
                </a:r>
                <a:r>
                  <a:rPr lang="en-US" sz="2000" b="1" dirty="0" smtClean="0"/>
                  <a:t> produces all n residues: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</a:rPr>
                        <m:t>{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𝟐</m:t>
                      </m:r>
                      <m:r>
                        <a:rPr lang="en-US" sz="2000" b="1" i="1" dirty="0" smtClean="0">
                          <a:latin typeface="Cambria Math"/>
                        </a:rPr>
                        <m:t>,…, (</m:t>
                      </m:r>
                      <m:r>
                        <a:rPr lang="en-US" sz="2000" b="1" i="1" dirty="0" smtClean="0">
                          <a:latin typeface="Cambria Math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/>
                        </a:rPr>
                        <m:t>−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)}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𝟏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,…,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𝒄</m:t>
                                  </m:r>
                                </m:den>
                              </m:f>
                              <m:r>
                                <a:rPr lang="en-US" sz="2000" b="1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To get back to ‘a’ and ‘m’, multiply residues by ‘c’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𝒄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𝒄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𝒎</m:t>
                              </m:r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𝒄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The residue class congruent to 1 is NOT present!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795573"/>
              </a:xfrm>
              <a:prstGeom prst="rect">
                <a:avLst/>
              </a:prstGeom>
              <a:blipFill rotWithShape="1">
                <a:blip r:embed="rId3"/>
                <a:stretch>
                  <a:fillRect l="-936" t="-1092" b="-3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7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Euclidean Algorithm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7110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Euclidean Algorithm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Oldest known algorithm</a:t>
            </a:r>
          </a:p>
        </p:txBody>
      </p:sp>
    </p:spTree>
    <p:extLst>
      <p:ext uri="{BB962C8B-B14F-4D97-AF65-F5344CB8AC3E}">
        <p14:creationId xmlns:p14="http://schemas.microsoft.com/office/powerpoint/2010/main" val="5138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Euclidean Algorithm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Oldest known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(y,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  (x &gt;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5138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Euclidean Algorithm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Oldest known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(y,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  (x &gt;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(2017, 1024)</a:t>
            </a:r>
          </a:p>
        </p:txBody>
      </p:sp>
    </p:spTree>
    <p:extLst>
      <p:ext uri="{BB962C8B-B14F-4D97-AF65-F5344CB8AC3E}">
        <p14:creationId xmlns:p14="http://schemas.microsoft.com/office/powerpoint/2010/main" val="5138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Euclidean Algorithm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Oldest known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(y,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  (x &gt;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(2017, 1024)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(1024, 993)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(993, 31)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(31, 1)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138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Euclidean Algorithm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Oldest known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(y,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  (x &gt;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(2017, 1024)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(1024, 993)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(993, 31)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(31, 1)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2017 and 1024 are relatively prime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138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475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err="1"/>
              <a:t>gcd</a:t>
            </a:r>
            <a:r>
              <a:rPr lang="en-US" sz="2000" b="1" dirty="0"/>
              <a:t>(y, </a:t>
            </a:r>
            <a:r>
              <a:rPr lang="en-US" sz="2000" b="1" dirty="0" err="1"/>
              <a:t>x%y</a:t>
            </a:r>
            <a:r>
              <a:rPr lang="en-US" sz="2000" b="1" dirty="0"/>
              <a:t>) </a:t>
            </a:r>
            <a:r>
              <a:rPr lang="en-US" sz="2000" b="1" dirty="0" smtClean="0"/>
              <a:t>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, 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)%y)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2894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err="1"/>
              <a:t>gcd</a:t>
            </a:r>
            <a:r>
              <a:rPr lang="en-US" sz="2000" b="1" dirty="0"/>
              <a:t>(y, </a:t>
            </a:r>
            <a:r>
              <a:rPr lang="en-US" sz="2000" b="1" dirty="0" err="1"/>
              <a:t>x%y</a:t>
            </a:r>
            <a:r>
              <a:rPr lang="en-US" sz="2000" b="1" dirty="0"/>
              <a:t>) </a:t>
            </a:r>
            <a:r>
              <a:rPr lang="en-US" sz="2000" b="1" dirty="0" smtClean="0"/>
              <a:t>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, 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)%y)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&lt;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&lt; (x/2)</a:t>
            </a:r>
          </a:p>
        </p:txBody>
      </p:sp>
    </p:spTree>
    <p:extLst>
      <p:ext uri="{BB962C8B-B14F-4D97-AF65-F5344CB8AC3E}">
        <p14:creationId xmlns:p14="http://schemas.microsoft.com/office/powerpoint/2010/main" val="42894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err="1"/>
              <a:t>gcd</a:t>
            </a:r>
            <a:r>
              <a:rPr lang="en-US" sz="2000" b="1" dirty="0"/>
              <a:t>(y, </a:t>
            </a:r>
            <a:r>
              <a:rPr lang="en-US" sz="2000" b="1" dirty="0" err="1"/>
              <a:t>x%y</a:t>
            </a:r>
            <a:r>
              <a:rPr lang="en-US" sz="2000" b="1" dirty="0"/>
              <a:t>) </a:t>
            </a:r>
            <a:r>
              <a:rPr lang="en-US" sz="2000" b="1" dirty="0" smtClean="0"/>
              <a:t>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, 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)%y)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&lt;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&gt;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= x – y &lt; x – (x/2) &lt; (x/2)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2894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err="1"/>
              <a:t>gcd</a:t>
            </a:r>
            <a:r>
              <a:rPr lang="en-US" sz="2000" b="1" dirty="0"/>
              <a:t>(y, </a:t>
            </a:r>
            <a:r>
              <a:rPr lang="en-US" sz="2000" b="1" dirty="0" err="1"/>
              <a:t>x%y</a:t>
            </a:r>
            <a:r>
              <a:rPr lang="en-US" sz="2000" b="1" dirty="0"/>
              <a:t>) </a:t>
            </a:r>
            <a:r>
              <a:rPr lang="en-US" sz="2000" b="1" dirty="0" smtClean="0"/>
              <a:t>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, 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)%y)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&lt;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&gt;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= x – y &lt; x – (x/2) &lt; (x/2)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Therefore, x % y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2894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err="1"/>
              <a:t>gcd</a:t>
            </a:r>
            <a:r>
              <a:rPr lang="en-US" sz="2000" b="1" dirty="0"/>
              <a:t>(y, </a:t>
            </a:r>
            <a:r>
              <a:rPr lang="en-US" sz="2000" b="1" dirty="0" err="1"/>
              <a:t>x%y</a:t>
            </a:r>
            <a:r>
              <a:rPr lang="en-US" sz="2000" b="1" dirty="0"/>
              <a:t>) </a:t>
            </a:r>
            <a:r>
              <a:rPr lang="en-US" sz="2000" b="1" dirty="0" smtClean="0"/>
              <a:t>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, 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)%y)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&lt;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&gt;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= x – y &lt; x – (x/2) &lt; (x/2)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Therefore, x % y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Number of iterations is O(log(x))</a:t>
            </a:r>
          </a:p>
        </p:txBody>
      </p:sp>
    </p:spTree>
    <p:extLst>
      <p:ext uri="{BB962C8B-B14F-4D97-AF65-F5344CB8AC3E}">
        <p14:creationId xmlns:p14="http://schemas.microsoft.com/office/powerpoint/2010/main" val="42894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err="1"/>
              <a:t>gcd</a:t>
            </a:r>
            <a:r>
              <a:rPr lang="en-US" sz="2000" b="1" dirty="0"/>
              <a:t>(y, </a:t>
            </a:r>
            <a:r>
              <a:rPr lang="en-US" sz="2000" b="1" dirty="0" err="1"/>
              <a:t>x%y</a:t>
            </a:r>
            <a:r>
              <a:rPr lang="en-US" sz="2000" b="1" dirty="0"/>
              <a:t>) </a:t>
            </a:r>
            <a:r>
              <a:rPr lang="en-US" sz="2000" b="1" dirty="0" smtClean="0"/>
              <a:t>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, 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)%y)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&lt;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&gt;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= x – y &lt; x – (x/2) &lt; (x/2)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Therefore, x % y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Number of iterations is O(log(x))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Worst case typically 2·(bits in modulus)</a:t>
            </a:r>
          </a:p>
        </p:txBody>
      </p:sp>
    </p:spTree>
    <p:extLst>
      <p:ext uri="{BB962C8B-B14F-4D97-AF65-F5344CB8AC3E}">
        <p14:creationId xmlns:p14="http://schemas.microsoft.com/office/powerpoint/2010/main" val="42894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7676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2599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x =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+ r </a:t>
            </a:r>
            <a:r>
              <a:rPr lang="en-US" sz="2000" b="1" dirty="0"/>
              <a:t>→ </a:t>
            </a:r>
            <a:r>
              <a:rPr lang="en-US" sz="2000" b="1" dirty="0" smtClean="0"/>
              <a:t>r = x –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= k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·c – q·k</a:t>
            </a:r>
            <a:r>
              <a:rPr lang="en-US" sz="2000" b="1" baseline="-25000" dirty="0" smtClean="0"/>
              <a:t>2</a:t>
            </a:r>
            <a:r>
              <a:rPr lang="en-US" sz="2000" b="1" dirty="0" smtClean="0"/>
              <a:t>·c = </a:t>
            </a:r>
            <a:r>
              <a:rPr lang="en-US" sz="2000" b="1" dirty="0" err="1" smtClean="0"/>
              <a:t>k</a:t>
            </a:r>
            <a:r>
              <a:rPr lang="en-US" sz="2000" b="1" baseline="-25000" dirty="0" err="1" smtClean="0"/>
              <a:t>c</a:t>
            </a:r>
            <a:r>
              <a:rPr lang="en-US" sz="2000" b="1" dirty="0" err="1" smtClean="0"/>
              <a:t>·c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2599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x =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+ r </a:t>
            </a:r>
            <a:r>
              <a:rPr lang="en-US" sz="2000" b="1" dirty="0"/>
              <a:t>→ </a:t>
            </a:r>
            <a:r>
              <a:rPr lang="en-US" sz="2000" b="1" dirty="0" smtClean="0"/>
              <a:t>r = x –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= k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·c – q·k</a:t>
            </a:r>
            <a:r>
              <a:rPr lang="en-US" sz="2000" b="1" baseline="-25000" dirty="0" smtClean="0"/>
              <a:t>2</a:t>
            </a:r>
            <a:r>
              <a:rPr lang="en-US" sz="2000" b="1" dirty="0" smtClean="0"/>
              <a:t>·c = </a:t>
            </a:r>
            <a:r>
              <a:rPr lang="en-US" sz="2000" b="1" dirty="0" err="1" smtClean="0"/>
              <a:t>k</a:t>
            </a:r>
            <a:r>
              <a:rPr lang="en-US" sz="2000" b="1" baseline="-25000" dirty="0" err="1" smtClean="0"/>
              <a:t>c</a:t>
            </a:r>
            <a:r>
              <a:rPr lang="en-US" sz="2000" b="1" dirty="0" err="1" smtClean="0"/>
              <a:t>·c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c|r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2599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x =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+ r </a:t>
            </a:r>
            <a:r>
              <a:rPr lang="en-US" sz="2000" b="1" dirty="0"/>
              <a:t>→ </a:t>
            </a:r>
            <a:r>
              <a:rPr lang="en-US" sz="2000" b="1" dirty="0" smtClean="0"/>
              <a:t>r = x –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= k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·c – q·k</a:t>
            </a:r>
            <a:r>
              <a:rPr lang="en-US" sz="2000" b="1" baseline="-25000" dirty="0" smtClean="0"/>
              <a:t>2</a:t>
            </a:r>
            <a:r>
              <a:rPr lang="en-US" sz="2000" b="1" dirty="0" smtClean="0"/>
              <a:t>·c = </a:t>
            </a:r>
            <a:r>
              <a:rPr lang="en-US" sz="2000" b="1" dirty="0" err="1" smtClean="0"/>
              <a:t>k</a:t>
            </a:r>
            <a:r>
              <a:rPr lang="en-US" sz="2000" b="1" baseline="-25000" dirty="0" err="1" smtClean="0"/>
              <a:t>c</a:t>
            </a:r>
            <a:r>
              <a:rPr lang="en-US" sz="2000" b="1" dirty="0" err="1" smtClean="0"/>
              <a:t>·c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c|r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</a:t>
            </a:r>
            <a:r>
              <a:rPr lang="en-US" sz="2000" b="1" dirty="0"/>
              <a:t>= </a:t>
            </a:r>
            <a:r>
              <a:rPr lang="en-US" sz="2000" b="1" dirty="0" smtClean="0"/>
              <a:t>d </a:t>
            </a:r>
            <a:r>
              <a:rPr lang="en-US" sz="2000" b="1" dirty="0"/>
              <a:t>→ </a:t>
            </a:r>
            <a:r>
              <a:rPr lang="en-US" sz="2000" b="1" dirty="0" err="1" smtClean="0"/>
              <a:t>d|y</a:t>
            </a:r>
            <a:r>
              <a:rPr lang="en-US" sz="2000" b="1" dirty="0" smtClean="0"/>
              <a:t> </a:t>
            </a:r>
            <a:r>
              <a:rPr lang="en-US" sz="2000" b="1" dirty="0"/>
              <a:t>and </a:t>
            </a:r>
            <a:r>
              <a:rPr lang="en-US" sz="2000" b="1" dirty="0" err="1" smtClean="0"/>
              <a:t>d|r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599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x =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+ r </a:t>
            </a:r>
            <a:r>
              <a:rPr lang="en-US" sz="2000" b="1" dirty="0"/>
              <a:t>→ </a:t>
            </a:r>
            <a:r>
              <a:rPr lang="en-US" sz="2000" b="1" dirty="0" smtClean="0"/>
              <a:t>r = x –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= k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·c – q·k</a:t>
            </a:r>
            <a:r>
              <a:rPr lang="en-US" sz="2000" b="1" baseline="-25000" dirty="0" smtClean="0"/>
              <a:t>2</a:t>
            </a:r>
            <a:r>
              <a:rPr lang="en-US" sz="2000" b="1" dirty="0" smtClean="0"/>
              <a:t>·c = </a:t>
            </a:r>
            <a:r>
              <a:rPr lang="en-US" sz="2000" b="1" dirty="0" err="1" smtClean="0"/>
              <a:t>k</a:t>
            </a:r>
            <a:r>
              <a:rPr lang="en-US" sz="2000" b="1" baseline="-25000" dirty="0" err="1" smtClean="0"/>
              <a:t>c</a:t>
            </a:r>
            <a:r>
              <a:rPr lang="en-US" sz="2000" b="1" dirty="0" err="1" smtClean="0"/>
              <a:t>·c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c|r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</a:t>
            </a:r>
            <a:r>
              <a:rPr lang="en-US" sz="2000" b="1" dirty="0"/>
              <a:t>= </a:t>
            </a:r>
            <a:r>
              <a:rPr lang="en-US" sz="2000" b="1" dirty="0" smtClean="0"/>
              <a:t>d </a:t>
            </a:r>
            <a:r>
              <a:rPr lang="en-US" sz="2000" b="1" dirty="0"/>
              <a:t>→ </a:t>
            </a:r>
            <a:r>
              <a:rPr lang="en-US" sz="2000" b="1" dirty="0" err="1" smtClean="0"/>
              <a:t>d|y</a:t>
            </a:r>
            <a:r>
              <a:rPr lang="en-US" sz="2000" b="1" dirty="0" smtClean="0"/>
              <a:t> </a:t>
            </a:r>
            <a:r>
              <a:rPr lang="en-US" sz="2000" b="1" dirty="0"/>
              <a:t>and </a:t>
            </a:r>
            <a:r>
              <a:rPr lang="en-US" sz="2000" b="1" dirty="0" err="1" smtClean="0"/>
              <a:t>d|r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</a:t>
            </a:r>
            <a:r>
              <a:rPr lang="en-US" sz="2000" b="1" dirty="0" smtClean="0"/>
              <a:t>q·k</a:t>
            </a:r>
            <a:r>
              <a:rPr lang="en-US" sz="2000" b="1" baseline="-25000" dirty="0" smtClean="0"/>
              <a:t>3</a:t>
            </a:r>
            <a:r>
              <a:rPr lang="en-US" sz="2000" b="1" dirty="0" smtClean="0"/>
              <a:t>·d + k</a:t>
            </a:r>
            <a:r>
              <a:rPr lang="en-US" sz="2000" b="1" baseline="-25000" dirty="0" smtClean="0"/>
              <a:t>4</a:t>
            </a:r>
            <a:r>
              <a:rPr lang="en-US" sz="2000" b="1" dirty="0" smtClean="0"/>
              <a:t>·d = </a:t>
            </a:r>
            <a:r>
              <a:rPr lang="en-US" sz="2000" b="1" dirty="0" err="1" smtClean="0"/>
              <a:t>k</a:t>
            </a:r>
            <a:r>
              <a:rPr lang="en-US" sz="2000" b="1" i="0" baseline="-25000" dirty="0" err="1" smtClean="0">
                <a:latin typeface="+mj-lt"/>
              </a:rPr>
              <a:t>d</a:t>
            </a:r>
            <a:r>
              <a:rPr lang="en-US" sz="2000" b="1" dirty="0" err="1" smtClean="0"/>
              <a:t>·d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599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x =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+ r </a:t>
            </a:r>
            <a:r>
              <a:rPr lang="en-US" sz="2000" b="1" dirty="0"/>
              <a:t>→ </a:t>
            </a:r>
            <a:r>
              <a:rPr lang="en-US" sz="2000" b="1" dirty="0" smtClean="0"/>
              <a:t>r = x –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= k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·c – q·k</a:t>
            </a:r>
            <a:r>
              <a:rPr lang="en-US" sz="2000" b="1" baseline="-25000" dirty="0" smtClean="0"/>
              <a:t>2</a:t>
            </a:r>
            <a:r>
              <a:rPr lang="en-US" sz="2000" b="1" dirty="0" smtClean="0"/>
              <a:t>·c = </a:t>
            </a:r>
            <a:r>
              <a:rPr lang="en-US" sz="2000" b="1" dirty="0" err="1" smtClean="0"/>
              <a:t>k</a:t>
            </a:r>
            <a:r>
              <a:rPr lang="en-US" sz="2000" b="1" baseline="-25000" dirty="0" err="1" smtClean="0"/>
              <a:t>c</a:t>
            </a:r>
            <a:r>
              <a:rPr lang="en-US" sz="2000" b="1" dirty="0" err="1" smtClean="0"/>
              <a:t>·c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c|r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</a:t>
            </a:r>
            <a:r>
              <a:rPr lang="en-US" sz="2000" b="1" dirty="0"/>
              <a:t>= </a:t>
            </a:r>
            <a:r>
              <a:rPr lang="en-US" sz="2000" b="1" dirty="0" smtClean="0"/>
              <a:t>d </a:t>
            </a:r>
            <a:r>
              <a:rPr lang="en-US" sz="2000" b="1" dirty="0"/>
              <a:t>→ </a:t>
            </a:r>
            <a:r>
              <a:rPr lang="en-US" sz="2000" b="1" dirty="0" err="1" smtClean="0"/>
              <a:t>d|y</a:t>
            </a:r>
            <a:r>
              <a:rPr lang="en-US" sz="2000" b="1" dirty="0" smtClean="0"/>
              <a:t> </a:t>
            </a:r>
            <a:r>
              <a:rPr lang="en-US" sz="2000" b="1" dirty="0"/>
              <a:t>and </a:t>
            </a:r>
            <a:r>
              <a:rPr lang="en-US" sz="2000" b="1" dirty="0" err="1" smtClean="0"/>
              <a:t>d|r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</a:t>
            </a:r>
            <a:r>
              <a:rPr lang="en-US" sz="2000" b="1" dirty="0" smtClean="0"/>
              <a:t>q·k</a:t>
            </a:r>
            <a:r>
              <a:rPr lang="en-US" sz="2000" b="1" baseline="-25000" dirty="0" smtClean="0"/>
              <a:t>3</a:t>
            </a:r>
            <a:r>
              <a:rPr lang="en-US" sz="2000" b="1" dirty="0" smtClean="0"/>
              <a:t>·d + k</a:t>
            </a:r>
            <a:r>
              <a:rPr lang="en-US" sz="2000" b="1" baseline="-25000" dirty="0" smtClean="0"/>
              <a:t>4</a:t>
            </a:r>
            <a:r>
              <a:rPr lang="en-US" sz="2000" b="1" dirty="0" smtClean="0"/>
              <a:t>·d = </a:t>
            </a:r>
            <a:r>
              <a:rPr lang="en-US" sz="2000" b="1" dirty="0" err="1" smtClean="0"/>
              <a:t>k</a:t>
            </a:r>
            <a:r>
              <a:rPr lang="en-US" sz="2000" b="1" i="0" baseline="-25000" dirty="0" err="1" smtClean="0">
                <a:latin typeface="+mj-lt"/>
              </a:rPr>
              <a:t>d</a:t>
            </a:r>
            <a:r>
              <a:rPr lang="en-US" sz="2000" b="1" dirty="0" err="1" smtClean="0"/>
              <a:t>·d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d|x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</a:t>
            </a:r>
            <a:r>
              <a:rPr lang="en-US" sz="2000" b="1" dirty="0"/>
              <a:t>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2599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x =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+ r </a:t>
            </a:r>
            <a:r>
              <a:rPr lang="en-US" sz="2000" b="1" dirty="0"/>
              <a:t>→ </a:t>
            </a:r>
            <a:r>
              <a:rPr lang="en-US" sz="2000" b="1" dirty="0" smtClean="0"/>
              <a:t>r = x –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= k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·c – q·k</a:t>
            </a:r>
            <a:r>
              <a:rPr lang="en-US" sz="2000" b="1" baseline="-25000" dirty="0" smtClean="0"/>
              <a:t>2</a:t>
            </a:r>
            <a:r>
              <a:rPr lang="en-US" sz="2000" b="1" dirty="0" smtClean="0"/>
              <a:t>·c = </a:t>
            </a:r>
            <a:r>
              <a:rPr lang="en-US" sz="2000" b="1" dirty="0" err="1" smtClean="0"/>
              <a:t>k</a:t>
            </a:r>
            <a:r>
              <a:rPr lang="en-US" sz="2000" b="1" baseline="-25000" dirty="0" err="1" smtClean="0"/>
              <a:t>c</a:t>
            </a:r>
            <a:r>
              <a:rPr lang="en-US" sz="2000" b="1" dirty="0" err="1" smtClean="0"/>
              <a:t>·c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c|r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</a:t>
            </a:r>
            <a:r>
              <a:rPr lang="en-US" sz="2000" b="1" dirty="0"/>
              <a:t>= </a:t>
            </a:r>
            <a:r>
              <a:rPr lang="en-US" sz="2000" b="1" dirty="0" smtClean="0"/>
              <a:t>d </a:t>
            </a:r>
            <a:r>
              <a:rPr lang="en-US" sz="2000" b="1" dirty="0"/>
              <a:t>→ </a:t>
            </a:r>
            <a:r>
              <a:rPr lang="en-US" sz="2000" b="1" dirty="0" err="1" smtClean="0"/>
              <a:t>d|y</a:t>
            </a:r>
            <a:r>
              <a:rPr lang="en-US" sz="2000" b="1" dirty="0" smtClean="0"/>
              <a:t> </a:t>
            </a:r>
            <a:r>
              <a:rPr lang="en-US" sz="2000" b="1" dirty="0"/>
              <a:t>and </a:t>
            </a:r>
            <a:r>
              <a:rPr lang="en-US" sz="2000" b="1" dirty="0" err="1" smtClean="0"/>
              <a:t>d|r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</a:t>
            </a:r>
            <a:r>
              <a:rPr lang="en-US" sz="2000" b="1" dirty="0" smtClean="0"/>
              <a:t>q·k</a:t>
            </a:r>
            <a:r>
              <a:rPr lang="en-US" sz="2000" b="1" baseline="-25000" dirty="0" smtClean="0"/>
              <a:t>3</a:t>
            </a:r>
            <a:r>
              <a:rPr lang="en-US" sz="2000" b="1" dirty="0" smtClean="0"/>
              <a:t>·d + k</a:t>
            </a:r>
            <a:r>
              <a:rPr lang="en-US" sz="2000" b="1" baseline="-25000" dirty="0" smtClean="0"/>
              <a:t>4</a:t>
            </a:r>
            <a:r>
              <a:rPr lang="en-US" sz="2000" b="1" dirty="0" smtClean="0"/>
              <a:t>·d = </a:t>
            </a:r>
            <a:r>
              <a:rPr lang="en-US" sz="2000" b="1" dirty="0" err="1" smtClean="0"/>
              <a:t>k</a:t>
            </a:r>
            <a:r>
              <a:rPr lang="en-US" sz="2000" b="1" i="0" baseline="-25000" dirty="0" err="1" smtClean="0">
                <a:latin typeface="+mj-lt"/>
              </a:rPr>
              <a:t>d</a:t>
            </a:r>
            <a:r>
              <a:rPr lang="en-US" sz="2000" b="1" dirty="0" err="1" smtClean="0"/>
              <a:t>·d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d|x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</a:t>
            </a:r>
            <a:r>
              <a:rPr lang="en-US" sz="2000" b="1" dirty="0"/>
              <a:t>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y,x%y</a:t>
            </a:r>
            <a:r>
              <a:rPr lang="en-US" sz="20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99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9715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a multiplicative inverse </a:t>
            </a:r>
            <a:r>
              <a:rPr lang="en-US" sz="2000" b="1" dirty="0" smtClean="0"/>
              <a:t>in a modular world is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443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a multiplicative inverse </a:t>
            </a:r>
            <a:r>
              <a:rPr lang="en-US" sz="2000" b="1" dirty="0" smtClean="0"/>
              <a:t>in a modular world is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Multiplicative inverses exist when </a:t>
            </a:r>
            <a:r>
              <a:rPr lang="en-US" sz="2000" b="1" dirty="0" err="1" smtClean="0"/>
              <a:t>r.p.</a:t>
            </a:r>
            <a:r>
              <a:rPr lang="en-US" sz="2000" b="1" dirty="0" smtClean="0"/>
              <a:t> to modulus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443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a multiplicative inverse </a:t>
            </a:r>
            <a:r>
              <a:rPr lang="en-US" sz="2000" b="1" dirty="0" smtClean="0"/>
              <a:t>in a modular world is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Multiplicative inverses exist when </a:t>
            </a:r>
            <a:r>
              <a:rPr lang="en-US" sz="2000" b="1" dirty="0" err="1" smtClean="0"/>
              <a:t>r.p.</a:t>
            </a:r>
            <a:r>
              <a:rPr lang="en-US" sz="2000" b="1" dirty="0" smtClean="0"/>
              <a:t> to modulus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Euclidean algorithm finds </a:t>
            </a:r>
            <a:r>
              <a:rPr lang="en-US" sz="2000" b="1" dirty="0" err="1" smtClean="0"/>
              <a:t>gcd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443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a multiplicative inverse </a:t>
            </a:r>
            <a:r>
              <a:rPr lang="en-US" sz="2000" b="1" dirty="0" smtClean="0"/>
              <a:t>in a modular world is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Multiplicative inverses exist when </a:t>
            </a:r>
            <a:r>
              <a:rPr lang="en-US" sz="2000" b="1" dirty="0" err="1" smtClean="0"/>
              <a:t>r.p.</a:t>
            </a:r>
            <a:r>
              <a:rPr lang="en-US" sz="2000" b="1" dirty="0" smtClean="0"/>
              <a:t> to modulus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Euclidean algorithm finds </a:t>
            </a:r>
            <a:r>
              <a:rPr lang="en-US" sz="2000" b="1" dirty="0" err="1" smtClean="0"/>
              <a:t>gcd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Why </a:t>
            </a:r>
            <a:r>
              <a:rPr lang="en-US" sz="2000" b="1" dirty="0" smtClean="0"/>
              <a:t>the </a:t>
            </a:r>
            <a:r>
              <a:rPr lang="en-US" sz="2000" b="1" dirty="0"/>
              <a:t>Euclidean algorithm </a:t>
            </a:r>
            <a:r>
              <a:rPr lang="en-US" sz="2000" b="1" dirty="0" smtClean="0"/>
              <a:t>works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443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a multiplicative inverse </a:t>
            </a:r>
            <a:r>
              <a:rPr lang="en-US" sz="2000" b="1" dirty="0" smtClean="0"/>
              <a:t>in a modular world is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Multiplicative inverses exist when </a:t>
            </a:r>
            <a:r>
              <a:rPr lang="en-US" sz="2000" b="1" dirty="0" err="1" smtClean="0"/>
              <a:t>r.p.</a:t>
            </a:r>
            <a:r>
              <a:rPr lang="en-US" sz="2000" b="1" dirty="0" smtClean="0"/>
              <a:t> to modulus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Euclidean algorithm finds </a:t>
            </a:r>
            <a:r>
              <a:rPr lang="en-US" sz="2000" b="1" dirty="0" err="1" smtClean="0"/>
              <a:t>gcd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Why </a:t>
            </a:r>
            <a:r>
              <a:rPr lang="en-US" sz="2000" b="1" dirty="0" smtClean="0"/>
              <a:t>the </a:t>
            </a:r>
            <a:r>
              <a:rPr lang="en-US" sz="2000" b="1" dirty="0"/>
              <a:t>Euclidean algorithm </a:t>
            </a:r>
            <a:r>
              <a:rPr lang="en-US" sz="2000" b="1" dirty="0" smtClean="0"/>
              <a:t>works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Coming up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65443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a multiplicative inverse </a:t>
            </a:r>
            <a:r>
              <a:rPr lang="en-US" sz="2000" b="1" dirty="0" smtClean="0"/>
              <a:t>in a modular world is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Multiplicative inverses exist when </a:t>
            </a:r>
            <a:r>
              <a:rPr lang="en-US" sz="2000" b="1" dirty="0" err="1" smtClean="0"/>
              <a:t>r.p.</a:t>
            </a:r>
            <a:r>
              <a:rPr lang="en-US" sz="2000" b="1" dirty="0" smtClean="0"/>
              <a:t> to modulus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Euclidean algorithm finds </a:t>
            </a:r>
            <a:r>
              <a:rPr lang="en-US" sz="2000" b="1" dirty="0" err="1" smtClean="0"/>
              <a:t>gcd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Why </a:t>
            </a:r>
            <a:r>
              <a:rPr lang="en-US" sz="2000" b="1" dirty="0" smtClean="0"/>
              <a:t>the </a:t>
            </a:r>
            <a:r>
              <a:rPr lang="en-US" sz="2000" b="1" dirty="0"/>
              <a:t>Euclidean algorithm </a:t>
            </a:r>
            <a:r>
              <a:rPr lang="en-US" sz="2000" b="1" dirty="0" smtClean="0"/>
              <a:t>works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Coming </a:t>
            </a:r>
            <a:r>
              <a:rPr lang="en-US" sz="2000" b="1" dirty="0" smtClean="0"/>
              <a:t>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Extend </a:t>
            </a:r>
            <a:r>
              <a:rPr lang="en-US" sz="2000" b="1" dirty="0"/>
              <a:t>the Euclidean </a:t>
            </a:r>
            <a:r>
              <a:rPr lang="en-US" sz="2000" b="1" dirty="0" smtClean="0"/>
              <a:t>algorithm to find multiplicative inverses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443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SOURCE SLIDES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4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analog to division in a modular world is the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What </a:t>
            </a:r>
            <a:r>
              <a:rPr lang="en-US" sz="2000" b="1" dirty="0" smtClean="0"/>
              <a:t>a multiplicative </a:t>
            </a:r>
            <a:r>
              <a:rPr lang="en-US" sz="2000" b="1" dirty="0" smtClean="0"/>
              <a:t>inverse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When a </a:t>
            </a:r>
            <a:r>
              <a:rPr lang="en-US" sz="2000" b="1" dirty="0" smtClean="0"/>
              <a:t>multiplicative inverse </a:t>
            </a:r>
            <a:r>
              <a:rPr lang="en-US" sz="2000" b="1" dirty="0" smtClean="0"/>
              <a:t>exists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 </a:t>
            </a:r>
            <a:r>
              <a:rPr lang="en-US" sz="2000" b="1" dirty="0" smtClean="0"/>
              <a:t>Euclidean algorithm finds </a:t>
            </a:r>
            <a:r>
              <a:rPr lang="en-US" sz="2000" b="1" dirty="0" smtClean="0"/>
              <a:t>the </a:t>
            </a:r>
            <a:r>
              <a:rPr lang="en-US" sz="2000" b="1" dirty="0" err="1" smtClean="0"/>
              <a:t>gcd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How efficient the Euclidean algorithm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Prove the validity of the Euclidean algorithm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Future work – extend the Euclidean algorithm</a:t>
            </a:r>
          </a:p>
        </p:txBody>
      </p:sp>
    </p:spTree>
    <p:extLst>
      <p:ext uri="{BB962C8B-B14F-4D97-AF65-F5344CB8AC3E}">
        <p14:creationId xmlns:p14="http://schemas.microsoft.com/office/powerpoint/2010/main" val="133902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isn't defined,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but </a:t>
            </a:r>
            <a:r>
              <a:rPr lang="en-US" b="1" dirty="0"/>
              <a:t>multiplicative inverses are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2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Cambria Math"/>
                  </a:rPr>
                  <a:t>Dividing by x = multiplying by reciprocal of x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Reciprocal also know as multiplicative inverse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Product of x and its multiplicative inverse is 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23511"/>
              </a:xfrm>
              <a:prstGeom prst="rect">
                <a:avLst/>
              </a:prstGeom>
              <a:blipFill rotWithShape="1">
                <a:blip r:embed="rId5"/>
                <a:stretch>
                  <a:fillRect l="-936" t="-1208" b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83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131224"/>
              </p:ext>
            </p:extLst>
          </p:nvPr>
        </p:nvGraphicFramePr>
        <p:xfrm>
          <a:off x="3200400" y="1200150"/>
          <a:ext cx="5029200" cy="2743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379828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mod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mod-7 multiplication table shows</a:t>
            </a:r>
            <a:br>
              <a:rPr lang="en-US" b="1" dirty="0" smtClean="0"/>
            </a:br>
            <a:r>
              <a:rPr lang="en-US" b="1" dirty="0" smtClean="0"/>
              <a:t>every nonzero residue class has an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3405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201380"/>
              </p:ext>
            </p:extLst>
          </p:nvPr>
        </p:nvGraphicFramePr>
        <p:xfrm>
          <a:off x="3200400" y="1200150"/>
          <a:ext cx="5029200" cy="2743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379828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mod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mod-7 multiplication table shows</a:t>
            </a:r>
            <a:br>
              <a:rPr lang="en-US" b="1" dirty="0" smtClean="0"/>
            </a:br>
            <a:r>
              <a:rPr lang="en-US" b="1" dirty="0" smtClean="0"/>
              <a:t>every nonzero residue class has an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934549"/>
              </p:ext>
            </p:extLst>
          </p:nvPr>
        </p:nvGraphicFramePr>
        <p:xfrm>
          <a:off x="3200400" y="1200150"/>
          <a:ext cx="5029200" cy="2743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379828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mod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6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mod-15 </a:t>
            </a:r>
            <a:r>
              <a:rPr lang="en-US" b="1" dirty="0"/>
              <a:t>multiplication table shows</a:t>
            </a:r>
            <a:br>
              <a:rPr lang="en-US" b="1" dirty="0"/>
            </a:br>
            <a:r>
              <a:rPr lang="en-US" b="1" dirty="0" smtClean="0"/>
              <a:t>many </a:t>
            </a:r>
            <a:r>
              <a:rPr lang="en-US" b="1" dirty="0"/>
              <a:t>nonzero residue </a:t>
            </a:r>
            <a:r>
              <a:rPr lang="en-US" b="1" dirty="0" smtClean="0"/>
              <a:t>classes don’t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24208"/>
              </p:ext>
            </p:extLst>
          </p:nvPr>
        </p:nvGraphicFramePr>
        <p:xfrm>
          <a:off x="3200400" y="1200149"/>
          <a:ext cx="5029200" cy="2753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  <a:gridCol w="314325"/>
              </a:tblGrid>
              <a:tr h="269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 smtClean="0">
                          <a:effectLst/>
                        </a:rPr>
                        <a:t>Mod</a:t>
                      </a:r>
                    </a:p>
                    <a:p>
                      <a:pPr algn="ctr" fontAlgn="b"/>
                      <a:r>
                        <a:rPr lang="en-US" sz="900" u="none" strike="noStrike" dirty="0" smtClean="0">
                          <a:effectLst/>
                        </a:rPr>
                        <a:t>15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</a:tr>
              <a:tr h="164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29" marR="6429" marT="6429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69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sufficient to 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a,m</a:t>
            </a:r>
            <a:r>
              <a:rPr lang="en-US" sz="2000" b="1" dirty="0" smtClean="0"/>
              <a:t>) = 1 (i.e., relatively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of m values: {</a:t>
            </a:r>
            <a:r>
              <a:rPr lang="en-US" sz="2000" b="1" dirty="0" smtClean="0"/>
              <a:t>0·a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1·a</a:t>
            </a:r>
            <a:r>
              <a:rPr lang="en-US" sz="2000" b="1" dirty="0" smtClean="0"/>
              <a:t>, </a:t>
            </a:r>
            <a:r>
              <a:rPr lang="en-US" sz="2000" b="1" dirty="0" smtClean="0"/>
              <a:t>2·a</a:t>
            </a:r>
            <a:r>
              <a:rPr lang="en-US" sz="2000" b="1" dirty="0" smtClean="0"/>
              <a:t>, …, (m-1</a:t>
            </a:r>
            <a:r>
              <a:rPr lang="en-US" sz="2000" b="1" dirty="0" smtClean="0"/>
              <a:t>)·a</a:t>
            </a:r>
            <a:r>
              <a:rPr lang="en-US" sz="2000" b="1" dirty="0" smtClean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Pick x and y that are NOT congruent (mod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Can </a:t>
            </a:r>
            <a:r>
              <a:rPr lang="en-US" sz="2000" b="1" dirty="0" err="1" smtClean="0"/>
              <a:t>x·a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≡ </a:t>
            </a:r>
            <a:r>
              <a:rPr lang="en-US" sz="2000" b="1" dirty="0" err="1" smtClean="0"/>
              <a:t>y·a</a:t>
            </a:r>
            <a:r>
              <a:rPr lang="en-US" sz="2000" b="1" dirty="0" smtClean="0"/>
              <a:t> </a:t>
            </a:r>
            <a:r>
              <a:rPr lang="en-US" sz="2000" b="1" dirty="0" smtClean="0"/>
              <a:t>(mod m)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Requires (x-y</a:t>
            </a:r>
            <a:r>
              <a:rPr lang="en-US" sz="2000" b="1" dirty="0" smtClean="0"/>
              <a:t>)·a </a:t>
            </a:r>
            <a:r>
              <a:rPr lang="en-US" sz="2000" b="1" dirty="0" smtClean="0"/>
              <a:t>= 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Since ‘a’ has no factors of ‘m’, (x-y) |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But –m &lt; (x-y) &lt; m and (x-y) ≠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No two members of sequence are congruent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Pigeonhole Principle: 1 member is congruent to 1</a:t>
            </a:r>
          </a:p>
        </p:txBody>
      </p:sp>
    </p:spTree>
    <p:extLst>
      <p:ext uri="{BB962C8B-B14F-4D97-AF65-F5344CB8AC3E}">
        <p14:creationId xmlns:p14="http://schemas.microsoft.com/office/powerpoint/2010/main" val="168841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Being relatively prime to the modulus is </a:t>
            </a:r>
            <a:r>
              <a:rPr lang="en-US" b="1" dirty="0" smtClean="0"/>
              <a:t>necessary to </a:t>
            </a:r>
            <a:r>
              <a:rPr lang="en-US" b="1" dirty="0"/>
              <a:t>have a multiplicative inverse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795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gcd(</a:t>
                </a:r>
                <a:r>
                  <a:rPr lang="en-US" sz="2000" b="1" dirty="0" err="1" smtClean="0"/>
                  <a:t>a,m</a:t>
                </a:r>
                <a:r>
                  <a:rPr lang="en-US" sz="2000" b="1" dirty="0" smtClean="0"/>
                  <a:t>) = </a:t>
                </a:r>
                <a:r>
                  <a:rPr lang="en-US" sz="2000" b="1" dirty="0"/>
                  <a:t>c </a:t>
                </a:r>
                <a:r>
                  <a:rPr lang="en-US" sz="2000" b="1" dirty="0" smtClean="0"/>
                  <a:t>&gt; 1 </a:t>
                </a:r>
                <a:r>
                  <a:rPr lang="en-US" sz="2000" b="1" dirty="0" smtClean="0"/>
                  <a:t>(i.e., </a:t>
                </a:r>
                <a:r>
                  <a:rPr lang="en-US" sz="2000" b="1" dirty="0" smtClean="0"/>
                  <a:t>NOT relatively </a:t>
                </a:r>
                <a:r>
                  <a:rPr lang="en-US" sz="2000" b="1" dirty="0" smtClean="0"/>
                  <a:t>prime</a:t>
                </a:r>
                <a:r>
                  <a:rPr lang="en-US" sz="2000" b="1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a = </a:t>
                </a:r>
                <a:r>
                  <a:rPr lang="en-US" sz="2000" b="1" dirty="0" err="1" smtClean="0"/>
                  <a:t>b·c</a:t>
                </a:r>
                <a:r>
                  <a:rPr lang="en-US" sz="2000" b="1" dirty="0" smtClean="0"/>
                  <a:t>, m = </a:t>
                </a:r>
                <a:r>
                  <a:rPr lang="en-US" sz="2000" b="1" dirty="0" err="1" smtClean="0"/>
                  <a:t>n·c</a:t>
                </a:r>
                <a:r>
                  <a:rPr lang="en-US" sz="2000" b="1" dirty="0" smtClean="0"/>
                  <a:t> where </a:t>
                </a:r>
                <a:r>
                  <a:rPr lang="en-US" sz="2000" b="1" dirty="0" err="1" smtClean="0"/>
                  <a:t>gcd</a:t>
                </a:r>
                <a:r>
                  <a:rPr lang="en-US" sz="2000" b="1" dirty="0" smtClean="0"/>
                  <a:t>(</a:t>
                </a:r>
                <a:r>
                  <a:rPr lang="en-US" sz="2000" b="1" dirty="0" err="1" smtClean="0"/>
                  <a:t>b,n</a:t>
                </a:r>
                <a:r>
                  <a:rPr lang="en-US" sz="2000" b="1" dirty="0" smtClean="0"/>
                  <a:t>) = 1</a:t>
                </a:r>
                <a:endParaRPr lang="en-US" sz="20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(</a:t>
                </a:r>
                <a:r>
                  <a:rPr lang="en-US" sz="2000" b="1" dirty="0"/>
                  <a:t>x-y)a = </a:t>
                </a:r>
                <a:r>
                  <a:rPr lang="en-US" sz="2000" b="1" dirty="0" smtClean="0"/>
                  <a:t>km → </a:t>
                </a:r>
                <a:r>
                  <a:rPr lang="en-US" sz="2000" b="1" dirty="0"/>
                  <a:t>(</a:t>
                </a:r>
                <a:r>
                  <a:rPr lang="en-US" sz="2000" b="1" dirty="0" smtClean="0"/>
                  <a:t>x-y)</a:t>
                </a:r>
                <a:r>
                  <a:rPr lang="en-US" sz="2000" b="1" dirty="0" err="1" smtClean="0"/>
                  <a:t>bc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knc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→ (</a:t>
                </a:r>
                <a:r>
                  <a:rPr lang="en-US" sz="2000" b="1" dirty="0" smtClean="0"/>
                  <a:t>x-y)b </a:t>
                </a:r>
                <a:r>
                  <a:rPr lang="en-US" sz="2000" b="1" dirty="0"/>
                  <a:t>= </a:t>
                </a:r>
                <a:r>
                  <a:rPr lang="en-US" sz="2000" b="1" dirty="0" err="1" smtClean="0"/>
                  <a:t>kn</a:t>
                </a:r>
                <a:r>
                  <a:rPr lang="en-US" sz="2000" b="1" dirty="0" smtClean="0"/>
                  <a:t> </a:t>
                </a: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err="1" smtClean="0"/>
                  <a:t>x·b</a:t>
                </a:r>
                <a:r>
                  <a:rPr lang="en-US" sz="2000" b="1" dirty="0" smtClean="0"/>
                  <a:t> produces all n residues: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</a:rPr>
                        <m:t>{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,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𝟐</m:t>
                      </m:r>
                      <m:r>
                        <a:rPr lang="en-US" sz="2000" b="1" i="1" dirty="0" smtClean="0">
                          <a:latin typeface="Cambria Math"/>
                        </a:rPr>
                        <m:t>,…, (</m:t>
                      </m:r>
                      <m:r>
                        <a:rPr lang="en-US" sz="2000" b="1" i="1" dirty="0" smtClean="0">
                          <a:latin typeface="Cambria Math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/>
                        </a:rPr>
                        <m:t>−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)}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𝟏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,…,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sz="2000" b="1" i="1" dirty="0">
                                      <a:latin typeface="Cambria Math"/>
                                    </a:rPr>
                                    <m:t>𝒄</m:t>
                                  </m:r>
                                </m:den>
                              </m:f>
                              <m:r>
                                <a:rPr lang="en-US" sz="2000" b="1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To get back to ‘a’ and ‘m’, multiply residues by ‘c’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𝒄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𝟐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𝒄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,…</m:t>
                          </m:r>
                          <m:r>
                            <a:rPr lang="en-US" sz="2000" b="1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𝒎</m:t>
                              </m:r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dirty="0" smtClean="0">
                                  <a:latin typeface="Cambria Math"/>
                                </a:rPr>
                                <m:t>𝒄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smtClean="0"/>
                  <a:t>The residue class congruent to 1 is NOT present!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795573"/>
              </a:xfrm>
              <a:prstGeom prst="rect">
                <a:avLst/>
              </a:prstGeom>
              <a:blipFill rotWithShape="1">
                <a:blip r:embed="rId3"/>
                <a:stretch>
                  <a:fillRect l="-936" t="-1092" b="-3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18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The Euclidean Algorithm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Oldest known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(y,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  (x &gt;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(2017, 1024)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(1024, 993)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(993, 31)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(31, 1)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2017 and 1024 are relatively prime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3358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efficiently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err="1"/>
              <a:t>gcd</a:t>
            </a:r>
            <a:r>
              <a:rPr lang="en-US" sz="2000" b="1" dirty="0"/>
              <a:t>(y, </a:t>
            </a:r>
            <a:r>
              <a:rPr lang="en-US" sz="2000" b="1" dirty="0" err="1"/>
              <a:t>x%y</a:t>
            </a:r>
            <a:r>
              <a:rPr lang="en-US" sz="2000" b="1" dirty="0"/>
              <a:t>) </a:t>
            </a:r>
            <a:r>
              <a:rPr lang="en-US" sz="2000" b="1" dirty="0" smtClean="0"/>
              <a:t>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, (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)%y)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&lt;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If y &gt; (x/2), </a:t>
            </a:r>
            <a:r>
              <a:rPr lang="en-US" sz="2000" b="1" dirty="0" err="1" smtClean="0"/>
              <a:t>x%y</a:t>
            </a:r>
            <a:r>
              <a:rPr lang="en-US" sz="2000" b="1" dirty="0" smtClean="0"/>
              <a:t> = x – y &lt; x – (x/2) &lt; (x/2)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Therefore, x % y &lt; (x/2)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Number of iterations is O(log(x))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Worst case typically 2·(bits in modulus)</a:t>
            </a:r>
          </a:p>
        </p:txBody>
      </p:sp>
    </p:spTree>
    <p:extLst>
      <p:ext uri="{BB962C8B-B14F-4D97-AF65-F5344CB8AC3E}">
        <p14:creationId xmlns:p14="http://schemas.microsoft.com/office/powerpoint/2010/main" val="142669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Euclidean Algorithm </a:t>
            </a:r>
            <a:br>
              <a:rPr lang="en-US" b="1" dirty="0" smtClean="0"/>
            </a:br>
            <a:r>
              <a:rPr lang="en-US" b="1" dirty="0" smtClean="0"/>
              <a:t>actually finds </a:t>
            </a:r>
            <a:r>
              <a:rPr lang="en-US" b="1" dirty="0" err="1" smtClean="0"/>
              <a:t>gcd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/>
              <a:t>) = </a:t>
            </a:r>
            <a:r>
              <a:rPr lang="en-US" sz="2000" b="1" dirty="0" smtClean="0"/>
              <a:t>c → </a:t>
            </a:r>
            <a:r>
              <a:rPr lang="en-US" sz="2000" b="1" dirty="0" err="1" smtClean="0"/>
              <a:t>c|x</a:t>
            </a:r>
            <a:r>
              <a:rPr lang="en-US" sz="2000" b="1" dirty="0" smtClean="0"/>
              <a:t> and </a:t>
            </a:r>
            <a:r>
              <a:rPr lang="en-US" sz="2000" b="1" dirty="0" err="1" smtClean="0"/>
              <a:t>c|y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x =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+ r </a:t>
            </a:r>
            <a:r>
              <a:rPr lang="en-US" sz="2000" b="1" dirty="0"/>
              <a:t>→ </a:t>
            </a:r>
            <a:r>
              <a:rPr lang="en-US" sz="2000" b="1" dirty="0" smtClean="0"/>
              <a:t>r = x – </a:t>
            </a:r>
            <a:r>
              <a:rPr lang="en-US" sz="2000" b="1" dirty="0" err="1" smtClean="0"/>
              <a:t>q·y</a:t>
            </a:r>
            <a:r>
              <a:rPr lang="en-US" sz="2000" b="1" dirty="0" smtClean="0"/>
              <a:t> = k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·c – q·k</a:t>
            </a:r>
            <a:r>
              <a:rPr lang="en-US" sz="2000" b="1" baseline="-25000" dirty="0" smtClean="0"/>
              <a:t>2</a:t>
            </a:r>
            <a:r>
              <a:rPr lang="en-US" sz="2000" b="1" dirty="0" smtClean="0"/>
              <a:t>·c = </a:t>
            </a:r>
            <a:r>
              <a:rPr lang="en-US" sz="2000" b="1" dirty="0" err="1" smtClean="0"/>
              <a:t>k</a:t>
            </a:r>
            <a:r>
              <a:rPr lang="en-US" sz="2000" b="1" baseline="-25000" dirty="0" err="1" smtClean="0"/>
              <a:t>c</a:t>
            </a:r>
            <a:r>
              <a:rPr lang="en-US" sz="2000" b="1" dirty="0" err="1" smtClean="0"/>
              <a:t>·c</a:t>
            </a: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c|r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</a:t>
            </a:r>
            <a:r>
              <a:rPr lang="en-US" sz="2000" b="1" dirty="0"/>
              <a:t>= </a:t>
            </a:r>
            <a:r>
              <a:rPr lang="en-US" sz="2000" b="1" dirty="0" smtClean="0"/>
              <a:t>d </a:t>
            </a:r>
            <a:r>
              <a:rPr lang="en-US" sz="2000" b="1" dirty="0"/>
              <a:t>→ </a:t>
            </a:r>
            <a:r>
              <a:rPr lang="en-US" sz="2000" b="1" dirty="0" err="1" smtClean="0"/>
              <a:t>d|y</a:t>
            </a:r>
            <a:r>
              <a:rPr lang="en-US" sz="2000" b="1" dirty="0" smtClean="0"/>
              <a:t> </a:t>
            </a:r>
            <a:r>
              <a:rPr lang="en-US" sz="2000" b="1" dirty="0"/>
              <a:t>and </a:t>
            </a:r>
            <a:r>
              <a:rPr lang="en-US" sz="2000" b="1" dirty="0" err="1" smtClean="0"/>
              <a:t>d|r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</a:t>
            </a:r>
            <a:r>
              <a:rPr lang="en-US" sz="2000" b="1" dirty="0" smtClean="0"/>
              <a:t>q·k</a:t>
            </a:r>
            <a:r>
              <a:rPr lang="en-US" sz="2000" b="1" baseline="-25000" dirty="0" smtClean="0"/>
              <a:t>3</a:t>
            </a:r>
            <a:r>
              <a:rPr lang="en-US" sz="2000" b="1" dirty="0" smtClean="0"/>
              <a:t>·d + k</a:t>
            </a:r>
            <a:r>
              <a:rPr lang="en-US" sz="2000" b="1" baseline="-25000" dirty="0" smtClean="0"/>
              <a:t>4</a:t>
            </a:r>
            <a:r>
              <a:rPr lang="en-US" sz="2000" b="1" dirty="0" smtClean="0"/>
              <a:t>·d = </a:t>
            </a:r>
            <a:r>
              <a:rPr lang="en-US" sz="2000" b="1" dirty="0" err="1" smtClean="0"/>
              <a:t>k</a:t>
            </a:r>
            <a:r>
              <a:rPr lang="en-US" sz="2000" b="1" i="0" baseline="-25000" dirty="0" err="1" smtClean="0">
                <a:latin typeface="+mj-lt"/>
              </a:rPr>
              <a:t>d</a:t>
            </a:r>
            <a:r>
              <a:rPr lang="en-US" sz="2000" b="1" dirty="0" err="1" smtClean="0"/>
              <a:t>·d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d|x</a:t>
            </a:r>
            <a:r>
              <a:rPr lang="en-US" sz="2000" b="1" dirty="0" smtClean="0"/>
              <a:t> </a:t>
            </a:r>
            <a:r>
              <a:rPr lang="en-US" sz="2000" b="1" dirty="0"/>
              <a:t>→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</a:t>
            </a:r>
            <a:r>
              <a:rPr lang="en-US" sz="2000" b="1" dirty="0"/>
              <a:t>≥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x,y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y,r</a:t>
            </a:r>
            <a:r>
              <a:rPr lang="en-US" sz="2000" b="1" dirty="0" smtClean="0"/>
              <a:t>) = </a:t>
            </a:r>
            <a:r>
              <a:rPr lang="en-US" sz="2000" b="1" dirty="0" err="1" smtClean="0"/>
              <a:t>gcd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y,x%y</a:t>
            </a:r>
            <a:r>
              <a:rPr lang="en-US" sz="20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548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smtClean="0"/>
              <a:t>In review…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 smtClean="0"/>
                <a:t>INSERT</a:t>
              </a:r>
            </a:p>
            <a:p>
              <a:pPr algn="ctr"/>
              <a:r>
                <a:rPr lang="en-US" sz="4000" b="1" dirty="0" smtClean="0"/>
                <a:t>VIDEO</a:t>
              </a:r>
            </a:p>
            <a:p>
              <a:pPr algn="ctr"/>
              <a:r>
                <a:rPr lang="en-US" sz="4000" b="1" dirty="0" smtClean="0"/>
                <a:t>HERE</a:t>
              </a:r>
              <a:endParaRPr lang="en-US" sz="4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a multiplicative inverse </a:t>
            </a:r>
            <a:r>
              <a:rPr lang="en-US" sz="2000" b="1" dirty="0" smtClean="0"/>
              <a:t>in a modular world is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Multiplicative inverses exist when </a:t>
            </a:r>
            <a:r>
              <a:rPr lang="en-US" sz="2000" b="1" dirty="0" err="1" smtClean="0"/>
              <a:t>r.p.</a:t>
            </a:r>
            <a:r>
              <a:rPr lang="en-US" sz="2000" b="1" dirty="0" smtClean="0"/>
              <a:t> to modulus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Euclidean algorithm finds </a:t>
            </a:r>
            <a:r>
              <a:rPr lang="en-US" sz="2000" b="1" dirty="0" err="1" smtClean="0"/>
              <a:t>gcd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Why </a:t>
            </a:r>
            <a:r>
              <a:rPr lang="en-US" sz="2000" b="1" dirty="0" smtClean="0"/>
              <a:t>the </a:t>
            </a:r>
            <a:r>
              <a:rPr lang="en-US" sz="2000" b="1" dirty="0"/>
              <a:t>Euclidean algorithm </a:t>
            </a:r>
            <a:r>
              <a:rPr lang="en-US" sz="2000" b="1" dirty="0" smtClean="0"/>
              <a:t>works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Coming </a:t>
            </a:r>
            <a:r>
              <a:rPr lang="en-US" sz="2000" b="1" dirty="0" smtClean="0"/>
              <a:t>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Extend </a:t>
            </a:r>
            <a:r>
              <a:rPr lang="en-US" sz="2000" b="1" dirty="0"/>
              <a:t>the Euclidean </a:t>
            </a:r>
            <a:r>
              <a:rPr lang="en-US" sz="2000" b="1" dirty="0" smtClean="0"/>
              <a:t>algorithm to find multiplicative inverses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0377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47936</TotalTime>
  <Words>4312</Words>
  <Application>Microsoft Office PowerPoint</Application>
  <PresentationFormat>On-screen Show (16:9)</PresentationFormat>
  <Paragraphs>1563</Paragraphs>
  <Slides>75</Slides>
  <Notes>74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Office Theme</vt:lpstr>
      <vt:lpstr>The analog to division in a modular world is the multiplicative inverse</vt:lpstr>
      <vt:lpstr>The analog to division in a modular world is the multiplicative inverse</vt:lpstr>
      <vt:lpstr>The analog to division in a modular world is the multiplicative inverse</vt:lpstr>
      <vt:lpstr>The analog to division in a modular world is the multiplicative inverse</vt:lpstr>
      <vt:lpstr>The analog to division in a modular world is the multiplicative inverse</vt:lpstr>
      <vt:lpstr>The analog to division in a modular world is the multiplicative inverse</vt:lpstr>
      <vt:lpstr>The analog to division in a modular world is the multiplicative inverse</vt:lpstr>
      <vt:lpstr>Division isn't defined,  but multiplicative inverses are</vt:lpstr>
      <vt:lpstr>Division isn't defined,  but multiplicative inverses are</vt:lpstr>
      <vt:lpstr>Division isn't defined,  but multiplicative inverses are</vt:lpstr>
      <vt:lpstr>Division isn't defined,  but multiplicative inverses are</vt:lpstr>
      <vt:lpstr>Division isn't defined,  but multiplicative inverses are</vt:lpstr>
      <vt:lpstr>mod-7 multiplication table shows every nonzero residue class has an inverse</vt:lpstr>
      <vt:lpstr>mod-7 multiplication table shows every nonzero residue class has an inverse</vt:lpstr>
      <vt:lpstr>mod-7 multiplication table shows every nonzero residue class has an inverse</vt:lpstr>
      <vt:lpstr>mod-15 multiplication table shows many nonzero residue classes don’t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sufficient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Being relatively prime to the modulus is necessary to have a multiplicative inverse</vt:lpstr>
      <vt:lpstr>The Euclidean Algorithm finds gcd(x,y)</vt:lpstr>
      <vt:lpstr>The Euclidean Algorithm finds gcd(x,y)</vt:lpstr>
      <vt:lpstr>The Euclidean Algorithm finds gcd(x,y)</vt:lpstr>
      <vt:lpstr>The Euclidean Algorithm finds gcd(x,y)</vt:lpstr>
      <vt:lpstr>The Euclidean Algorithm finds gcd(x,y)</vt:lpstr>
      <vt:lpstr>The Euclidean Algorithm finds gcd(x,y)</vt:lpstr>
      <vt:lpstr>The Euclidean Algorithm  efficiently finds gcd(x,y)</vt:lpstr>
      <vt:lpstr>The Euclidean Algorithm  efficiently finds gcd(x,y)</vt:lpstr>
      <vt:lpstr>The Euclidean Algorithm  efficiently finds gcd(x,y)</vt:lpstr>
      <vt:lpstr>The Euclidean Algorithm  efficiently finds gcd(x,y)</vt:lpstr>
      <vt:lpstr>The Euclidean Algorithm  efficiently finds gcd(x,y)</vt:lpstr>
      <vt:lpstr>The Euclidean Algorithm  efficiently finds gcd(x,y)</vt:lpstr>
      <vt:lpstr>The Euclidean Algorithm  efficiently finds gcd(x,y)</vt:lpstr>
      <vt:lpstr>The Euclidean Algorithm  actually finds gcd(x,y)</vt:lpstr>
      <vt:lpstr>The Euclidean Algorithm  actually finds gcd(x,y)</vt:lpstr>
      <vt:lpstr>The Euclidean Algorithm  actually finds gcd(x,y)</vt:lpstr>
      <vt:lpstr>The Euclidean Algorithm  actually finds gcd(x,y)</vt:lpstr>
      <vt:lpstr>The Euclidean Algorithm  actually finds gcd(x,y)</vt:lpstr>
      <vt:lpstr>The Euclidean Algorithm  actually finds gcd(x,y)</vt:lpstr>
      <vt:lpstr>The Euclidean Algorithm  actually finds gcd(x,y)</vt:lpstr>
      <vt:lpstr>The Euclidean Algorithm  actually finds gcd(x,y)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SOURCE SLIDES</vt:lpstr>
      <vt:lpstr>The analog to division in a modular world is the multiplicative inverse</vt:lpstr>
      <vt:lpstr>Division isn't defined,  but multiplicative inverses are</vt:lpstr>
      <vt:lpstr>mod-7 multiplication table shows every nonzero residue class has an inverse</vt:lpstr>
      <vt:lpstr>mod-7 multiplication table shows every nonzero residue class has an inverse</vt:lpstr>
      <vt:lpstr>mod-15 multiplication table shows many nonzero residue classes don’t</vt:lpstr>
      <vt:lpstr>Being relatively prime to the modulus is sufficient to have a multiplicative inverse</vt:lpstr>
      <vt:lpstr>Being relatively prime to the modulus is necessary to have a multiplicative inverse</vt:lpstr>
      <vt:lpstr>The Euclidean Algorithm finds gcd(x,y)</vt:lpstr>
      <vt:lpstr>The Euclidean Algorithm  efficiently finds gcd(x,y)</vt:lpstr>
      <vt:lpstr>The Euclidean Algorithm  actually finds gcd(x,y)</vt:lpstr>
      <vt:lpstr>In review…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WBahn</cp:lastModifiedBy>
  <cp:revision>243</cp:revision>
  <dcterms:created xsi:type="dcterms:W3CDTF">2017-04-06T17:43:22Z</dcterms:created>
  <dcterms:modified xsi:type="dcterms:W3CDTF">2017-07-18T11:54:33Z</dcterms:modified>
</cp:coreProperties>
</file>