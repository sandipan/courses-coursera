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92"/>
  </p:notesMasterIdLst>
  <p:sldIdLst>
    <p:sldId id="525" r:id="rId2"/>
    <p:sldId id="534" r:id="rId3"/>
    <p:sldId id="535" r:id="rId4"/>
    <p:sldId id="536" r:id="rId5"/>
    <p:sldId id="537" r:id="rId6"/>
    <p:sldId id="538" r:id="rId7"/>
    <p:sldId id="539" r:id="rId8"/>
    <p:sldId id="540" r:id="rId9"/>
    <p:sldId id="526" r:id="rId10"/>
    <p:sldId id="541" r:id="rId11"/>
    <p:sldId id="542" r:id="rId12"/>
    <p:sldId id="543" r:id="rId13"/>
    <p:sldId id="544" r:id="rId14"/>
    <p:sldId id="545" r:id="rId15"/>
    <p:sldId id="546" r:id="rId16"/>
    <p:sldId id="547" r:id="rId17"/>
    <p:sldId id="548" r:id="rId18"/>
    <p:sldId id="527" r:id="rId19"/>
    <p:sldId id="549" r:id="rId20"/>
    <p:sldId id="550" r:id="rId21"/>
    <p:sldId id="551" r:id="rId22"/>
    <p:sldId id="552" r:id="rId23"/>
    <p:sldId id="553" r:id="rId24"/>
    <p:sldId id="554" r:id="rId25"/>
    <p:sldId id="555" r:id="rId26"/>
    <p:sldId id="528" r:id="rId27"/>
    <p:sldId id="556" r:id="rId28"/>
    <p:sldId id="557" r:id="rId29"/>
    <p:sldId id="558" r:id="rId30"/>
    <p:sldId id="559" r:id="rId31"/>
    <p:sldId id="560" r:id="rId32"/>
    <p:sldId id="561" r:id="rId33"/>
    <p:sldId id="562" r:id="rId34"/>
    <p:sldId id="563" r:id="rId35"/>
    <p:sldId id="564" r:id="rId36"/>
    <p:sldId id="565" r:id="rId37"/>
    <p:sldId id="566" r:id="rId38"/>
    <p:sldId id="529" r:id="rId39"/>
    <p:sldId id="567" r:id="rId40"/>
    <p:sldId id="568" r:id="rId41"/>
    <p:sldId id="569" r:id="rId42"/>
    <p:sldId id="570" r:id="rId43"/>
    <p:sldId id="571" r:id="rId44"/>
    <p:sldId id="572" r:id="rId45"/>
    <p:sldId id="573" r:id="rId46"/>
    <p:sldId id="530" r:id="rId47"/>
    <p:sldId id="574" r:id="rId48"/>
    <p:sldId id="575" r:id="rId49"/>
    <p:sldId id="576" r:id="rId50"/>
    <p:sldId id="577" r:id="rId51"/>
    <p:sldId id="578" r:id="rId52"/>
    <p:sldId id="579" r:id="rId53"/>
    <p:sldId id="580" r:id="rId54"/>
    <p:sldId id="581" r:id="rId55"/>
    <p:sldId id="531" r:id="rId56"/>
    <p:sldId id="603" r:id="rId57"/>
    <p:sldId id="604" r:id="rId58"/>
    <p:sldId id="618" r:id="rId59"/>
    <p:sldId id="605" r:id="rId60"/>
    <p:sldId id="606" r:id="rId61"/>
    <p:sldId id="607" r:id="rId62"/>
    <p:sldId id="608" r:id="rId63"/>
    <p:sldId id="609" r:id="rId64"/>
    <p:sldId id="619" r:id="rId65"/>
    <p:sldId id="610" r:id="rId66"/>
    <p:sldId id="611" r:id="rId67"/>
    <p:sldId id="620" r:id="rId68"/>
    <p:sldId id="532" r:id="rId69"/>
    <p:sldId id="582" r:id="rId70"/>
    <p:sldId id="583" r:id="rId71"/>
    <p:sldId id="584" r:id="rId72"/>
    <p:sldId id="585" r:id="rId73"/>
    <p:sldId id="586" r:id="rId74"/>
    <p:sldId id="587" r:id="rId75"/>
    <p:sldId id="588" r:id="rId76"/>
    <p:sldId id="589" r:id="rId77"/>
    <p:sldId id="590" r:id="rId78"/>
    <p:sldId id="591" r:id="rId79"/>
    <p:sldId id="533" r:id="rId80"/>
    <p:sldId id="592" r:id="rId81"/>
    <p:sldId id="593" r:id="rId82"/>
    <p:sldId id="594" r:id="rId83"/>
    <p:sldId id="595" r:id="rId84"/>
    <p:sldId id="596" r:id="rId85"/>
    <p:sldId id="597" r:id="rId86"/>
    <p:sldId id="598" r:id="rId87"/>
    <p:sldId id="599" r:id="rId88"/>
    <p:sldId id="600" r:id="rId89"/>
    <p:sldId id="601" r:id="rId90"/>
    <p:sldId id="602" r:id="rId9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6">
          <p15:clr>
            <a:srgbClr val="A4A3A4"/>
          </p15:clr>
        </p15:guide>
        <p15:guide id="2" pos="310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2436"/>
        <p:guide pos="310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overcomes </a:t>
            </a:r>
            <a:br>
              <a:rPr lang="en-US" sz="3200" b="1" dirty="0"/>
            </a:br>
            <a:r>
              <a:rPr lang="en-US" sz="3200" b="1" dirty="0"/>
              <a:t>the major flaw of Fermat’s Primality Test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3514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overcomes </a:t>
            </a:r>
            <a:br>
              <a:rPr lang="en-US" sz="3200" b="1" dirty="0"/>
            </a:br>
            <a:r>
              <a:rPr lang="en-US" sz="3200" b="1" dirty="0"/>
              <a:t>the major flaw of Fermat’s Primality Test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Fermat’s Primality Test efficient, but flawed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511384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overcomes </a:t>
            </a:r>
            <a:br>
              <a:rPr lang="en-US" sz="3200" b="1" dirty="0"/>
            </a:br>
            <a:r>
              <a:rPr lang="en-US" sz="3200" b="1" dirty="0"/>
              <a:t>the major flaw of Fermat’s Primality Test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Fermat’s Primality Test efficient, but flawed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Other tests available</a:t>
            </a:r>
          </a:p>
        </p:txBody>
      </p:sp>
    </p:spTree>
    <p:extLst>
      <p:ext uri="{BB962C8B-B14F-4D97-AF65-F5344CB8AC3E}">
        <p14:creationId xmlns:p14="http://schemas.microsoft.com/office/powerpoint/2010/main" val="351138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overcomes </a:t>
            </a:r>
            <a:br>
              <a:rPr lang="en-US" sz="3200" b="1" dirty="0"/>
            </a:br>
            <a:r>
              <a:rPr lang="en-US" sz="3200" b="1" dirty="0"/>
              <a:t>the major flaw of Fermat’s Primality Test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Fermat’s Primality Test efficient, but flawed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Other tests available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Greater certainly, but slower and more complicated</a:t>
            </a:r>
          </a:p>
        </p:txBody>
      </p:sp>
    </p:spTree>
    <p:extLst>
      <p:ext uri="{BB962C8B-B14F-4D97-AF65-F5344CB8AC3E}">
        <p14:creationId xmlns:p14="http://schemas.microsoft.com/office/powerpoint/2010/main" val="3511384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overcomes </a:t>
            </a:r>
            <a:br>
              <a:rPr lang="en-US" sz="3200" b="1" dirty="0"/>
            </a:br>
            <a:r>
              <a:rPr lang="en-US" sz="3200" b="1" dirty="0"/>
              <a:t>the major flaw of Fermat’s Primality Test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Fermat’s Primality Test efficient, but flawed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Other tests available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Greater certainly, but slower and more complicated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Deterministic tests generally too slow for practicality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511384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overcomes </a:t>
            </a:r>
            <a:br>
              <a:rPr lang="en-US" sz="3200" b="1" dirty="0"/>
            </a:br>
            <a:r>
              <a:rPr lang="en-US" sz="3200" b="1" dirty="0"/>
              <a:t>the major flaw of Fermat’s Primality Test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Fermat’s Primality Test efficient, but flawed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Other tests available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Greater certainly, but slower and more complicated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Deterministic tests generally too slow for practicality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Miller-Rabin a very commonly used probabilistic test</a:t>
            </a:r>
          </a:p>
        </p:txBody>
      </p:sp>
    </p:spTree>
    <p:extLst>
      <p:ext uri="{BB962C8B-B14F-4D97-AF65-F5344CB8AC3E}">
        <p14:creationId xmlns:p14="http://schemas.microsoft.com/office/powerpoint/2010/main" val="3511384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overcomes </a:t>
            </a:r>
            <a:br>
              <a:rPr lang="en-US" sz="3200" b="1" dirty="0"/>
            </a:br>
            <a:r>
              <a:rPr lang="en-US" sz="3200" b="1" dirty="0"/>
              <a:t>the major flaw of Fermat’s Primality Test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Fermat’s Primality Test efficient, but flawed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Other tests available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Greater certainly, but slower and more complicated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Deterministic tests generally too slow for practicality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Miller-Rabin a very commonly used probabilistic test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Based on behavior of modular square roots</a:t>
            </a:r>
          </a:p>
        </p:txBody>
      </p:sp>
    </p:spTree>
    <p:extLst>
      <p:ext uri="{BB962C8B-B14F-4D97-AF65-F5344CB8AC3E}">
        <p14:creationId xmlns:p14="http://schemas.microsoft.com/office/powerpoint/2010/main" val="3511384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overcomes </a:t>
            </a:r>
            <a:br>
              <a:rPr lang="en-US" sz="3200" b="1" dirty="0"/>
            </a:br>
            <a:r>
              <a:rPr lang="en-US" sz="3200" b="1" dirty="0"/>
              <a:t>the major flaw of Fermat’s Primality Test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Fermat’s Primality Test efficient, but flawed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Other tests available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Greater certainly, but slower and more complicated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Deterministic tests generally too slow for practicality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Miller-Rabin a very commonly used probabilistic test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Based on behavior of modular square roots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Uses Fermat’s Little Theorem to exploit this behavior</a:t>
            </a:r>
          </a:p>
        </p:txBody>
      </p:sp>
    </p:spTree>
    <p:extLst>
      <p:ext uri="{BB962C8B-B14F-4D97-AF65-F5344CB8AC3E}">
        <p14:creationId xmlns:p14="http://schemas.microsoft.com/office/powerpoint/2010/main" val="3511384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endParaRPr lang="en-US" sz="32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1119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endParaRPr lang="en-US" sz="32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59035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139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endParaRPr lang="en-US" sz="32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Always two trivial solutions: x ≡ {1, -1} (mod n)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836576"/>
              </a:xfrm>
              <a:prstGeom prst="rect">
                <a:avLst/>
              </a:prstGeom>
              <a:blipFill rotWithShape="1">
                <a:blip r:embed="rId3"/>
                <a:stretch>
                  <a:fillRect l="-416" b="-8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139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endParaRPr lang="en-US" sz="32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082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Always two trivial solutions: x ≡ {1, -1} (mod 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Nontrivial solutions possible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082797"/>
              </a:xfrm>
              <a:prstGeom prst="rect">
                <a:avLst/>
              </a:prstGeom>
              <a:blipFill rotWithShape="1">
                <a:blip r:embed="rId3"/>
                <a:stretch>
                  <a:fillRect l="-416"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139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endParaRPr lang="en-US" sz="32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575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Always two trivial solutions: x ≡ {1, -1} (mod 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Nontrivial solutions possible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Example: 3</a:t>
                </a:r>
                <a:r>
                  <a:rPr lang="en-US" sz="1600" b="1" baseline="30000" dirty="0"/>
                  <a:t>2</a:t>
                </a:r>
                <a:r>
                  <a:rPr lang="en-US" sz="1600" b="1" dirty="0"/>
                  <a:t> ≡ 1 (mod 8)</a:t>
                </a:r>
              </a:p>
              <a:p>
                <a:endParaRPr lang="en-US" sz="16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575239"/>
              </a:xfrm>
              <a:prstGeom prst="rect">
                <a:avLst/>
              </a:prstGeom>
              <a:blipFill rotWithShape="1">
                <a:blip r:embed="rId3"/>
                <a:stretch>
                  <a:fillRect l="-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139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endParaRPr lang="en-US" sz="32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827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Always two trivial solutions: x ≡ {1, -1} (mod 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Nontrivial solutions possible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Example: 3</a:t>
                </a:r>
                <a:r>
                  <a:rPr lang="en-US" sz="1600" b="1" baseline="30000" dirty="0"/>
                  <a:t>2</a:t>
                </a:r>
                <a:r>
                  <a:rPr lang="en-US" sz="1600" b="1" dirty="0"/>
                  <a:t> ≡ 1 (mod 8)</a:t>
                </a:r>
              </a:p>
              <a:p>
                <a:endParaRPr lang="en-US" sz="16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</a:rPr>
                        <m:t>−</m:t>
                      </m:r>
                      <m:r>
                        <a:rPr lang="en-US" sz="1600" b="1" i="1" smtClean="0">
                          <a:latin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𝟎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827039"/>
              </a:xfrm>
              <a:prstGeom prst="rect">
                <a:avLst/>
              </a:prstGeom>
              <a:blipFill rotWithShape="1">
                <a:blip r:embed="rId3"/>
                <a:stretch>
                  <a:fillRect l="-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139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endParaRPr lang="en-US" sz="32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319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Always two trivial solutions: x ≡ {1, -1} (mod 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Nontrivial solutions possible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Example: 3</a:t>
                </a:r>
                <a:r>
                  <a:rPr lang="en-US" sz="1600" b="1" baseline="30000" dirty="0"/>
                  <a:t>2</a:t>
                </a:r>
                <a:r>
                  <a:rPr lang="en-US" sz="1600" b="1" dirty="0"/>
                  <a:t> ≡ 1 (mod 8)</a:t>
                </a:r>
              </a:p>
              <a:p>
                <a:endParaRPr lang="en-US" sz="16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</a:rPr>
                        <m:t>−</m:t>
                      </m:r>
                      <m:r>
                        <a:rPr lang="en-US" sz="1600" b="1" i="1" smtClean="0">
                          <a:latin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𝟎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16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6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1600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6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𝟎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319481"/>
              </a:xfrm>
              <a:prstGeom prst="rect">
                <a:avLst/>
              </a:prstGeom>
              <a:blipFill rotWithShape="1">
                <a:blip r:embed="rId3"/>
                <a:stretch>
                  <a:fillRect l="-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139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endParaRPr lang="en-US" sz="32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565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Always two trivial solutions: x ≡ {1, -1} (mod 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Nontrivial solutions possible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Example: 3</a:t>
                </a:r>
                <a:r>
                  <a:rPr lang="en-US" sz="1600" b="1" baseline="30000" dirty="0"/>
                  <a:t>2</a:t>
                </a:r>
                <a:r>
                  <a:rPr lang="en-US" sz="1600" b="1" dirty="0"/>
                  <a:t> ≡ 1 (mod 8)</a:t>
                </a:r>
              </a:p>
              <a:p>
                <a:endParaRPr lang="en-US" sz="16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</a:rPr>
                        <m:t>−</m:t>
                      </m:r>
                      <m:r>
                        <a:rPr lang="en-US" sz="1600" b="1" i="1" smtClean="0">
                          <a:latin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𝟎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16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6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1600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6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𝟎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i="1" dirty="0"/>
                  <a:t>n</a:t>
                </a:r>
                <a:r>
                  <a:rPr lang="en-US" sz="1600" b="1" dirty="0"/>
                  <a:t> must divide the product of these two factors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65702"/>
              </a:xfrm>
              <a:prstGeom prst="rect">
                <a:avLst/>
              </a:prstGeom>
              <a:blipFill rotWithShape="1">
                <a:blip r:embed="rId3"/>
                <a:stretch>
                  <a:fillRect l="-416" b="-2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139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endParaRPr lang="en-US" sz="32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811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Always two trivial solutions: x ≡ {1, -1} (mod 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Nontrivial solutions possible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Example: 3</a:t>
                </a:r>
                <a:r>
                  <a:rPr lang="en-US" sz="1600" b="1" baseline="30000" dirty="0"/>
                  <a:t>2</a:t>
                </a:r>
                <a:r>
                  <a:rPr lang="en-US" sz="1600" b="1" dirty="0"/>
                  <a:t> ≡ 1 (mod 8)</a:t>
                </a:r>
              </a:p>
              <a:p>
                <a:endParaRPr lang="en-US" sz="16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</a:rPr>
                        <m:t>−</m:t>
                      </m:r>
                      <m:r>
                        <a:rPr lang="en-US" sz="1600" b="1" i="1" smtClean="0">
                          <a:latin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𝟎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16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6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1600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6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𝟎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i="1" dirty="0"/>
                  <a:t>n</a:t>
                </a:r>
                <a:r>
                  <a:rPr lang="en-US" sz="1600" b="1" dirty="0"/>
                  <a:t> must divide the product of these two factors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When </a:t>
                </a:r>
                <a:r>
                  <a:rPr lang="en-US" sz="1600" b="1" i="1" dirty="0"/>
                  <a:t>n</a:t>
                </a:r>
                <a:r>
                  <a:rPr lang="en-US" sz="1600" b="1" dirty="0"/>
                  <a:t> is composite, its factors can be split between the two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11924"/>
              </a:xfrm>
              <a:prstGeom prst="rect">
                <a:avLst/>
              </a:prstGeom>
              <a:blipFill rotWithShape="1">
                <a:blip r:embed="rId3"/>
                <a:stretch>
                  <a:fillRect l="-416" b="-1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139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r>
              <a:rPr lang="en-US" sz="3200" b="1" dirty="0"/>
              <a:t>EXCEPT when the modulus is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2331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r>
              <a:rPr lang="en-US" sz="3200" b="1" dirty="0"/>
              <a:t>EXCEPT when the modulus is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n is prime, </a:t>
            </a:r>
          </a:p>
        </p:txBody>
      </p:sp>
    </p:spTree>
    <p:extLst>
      <p:ext uri="{BB962C8B-B14F-4D97-AF65-F5344CB8AC3E}">
        <p14:creationId xmlns:p14="http://schemas.microsoft.com/office/powerpoint/2010/main" val="2164950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r>
              <a:rPr lang="en-US" sz="3200" b="1" dirty="0"/>
              <a:t>EXCEPT when the modulus is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n is prime,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It must divide either (x-1) or (x+1)</a:t>
            </a:r>
          </a:p>
        </p:txBody>
      </p:sp>
    </p:spTree>
    <p:extLst>
      <p:ext uri="{BB962C8B-B14F-4D97-AF65-F5344CB8AC3E}">
        <p14:creationId xmlns:p14="http://schemas.microsoft.com/office/powerpoint/2010/main" val="2164950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r>
              <a:rPr lang="en-US" sz="3200" b="1" dirty="0"/>
              <a:t>EXCEPT when the modulus is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n is prime,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It must divide either (x-1) or (x+1)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𝒐𝒓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</a:rPr>
                        <m:t>−</m:t>
                      </m:r>
                      <m:r>
                        <a:rPr lang="en-US" sz="1600" b="1" i="1">
                          <a:latin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416" t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950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r>
              <a:rPr lang="en-US" sz="3200" b="1" dirty="0"/>
              <a:t>EXCEPT when the modulus is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n is prime,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It must divide either (x-1) or (x+1)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𝒐𝒓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</a:rPr>
                        <m:t>−</m:t>
                      </m:r>
                      <m:r>
                        <a:rPr lang="en-US" sz="1600" b="1" i="1">
                          <a:latin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There are NO nontrivial square roots of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323439"/>
              </a:xfrm>
              <a:prstGeom prst="rect">
                <a:avLst/>
              </a:prstGeom>
              <a:blipFill rotWithShape="1">
                <a:blip r:embed="rId3"/>
                <a:stretch>
                  <a:fillRect l="-416" t="-1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950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r>
              <a:rPr lang="en-US" sz="3200" b="1" dirty="0"/>
              <a:t>EXCEPT when the modulus is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n is prime,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It must divide either (x-1) or (x+1)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𝒐𝒓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</a:rPr>
                        <m:t>−</m:t>
                      </m:r>
                      <m:r>
                        <a:rPr lang="en-US" sz="1600" b="1" i="1">
                          <a:latin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There are NO nontrivial square roots of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we find a nontrivial square root of 1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416" t="-1167" b="-4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950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r>
              <a:rPr lang="en-US" sz="3200" b="1" dirty="0"/>
              <a:t>EXCEPT when the modulus is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n is prime,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It must divide either (x-1) or (x+1)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𝒐𝒓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</a:rPr>
                        <m:t>−</m:t>
                      </m:r>
                      <m:r>
                        <a:rPr lang="en-US" sz="1600" b="1" i="1">
                          <a:latin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There are NO nontrivial square roots of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we find a nontrivial square root of 1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i="1" dirty="0"/>
                  <a:t>n</a:t>
                </a:r>
                <a:r>
                  <a:rPr lang="en-US" sz="1600" b="1" dirty="0"/>
                  <a:t> is NOT prime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062103"/>
              </a:xfrm>
              <a:prstGeom prst="rect">
                <a:avLst/>
              </a:prstGeom>
              <a:blipFill rotWithShape="1">
                <a:blip r:embed="rId3"/>
                <a:stretch>
                  <a:fillRect l="-416" t="-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950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There can be more than two square roots of 1</a:t>
            </a:r>
            <a:br>
              <a:rPr lang="en-US" sz="3200" b="1" dirty="0"/>
            </a:br>
            <a:r>
              <a:rPr lang="en-US" sz="3200" b="1" dirty="0"/>
              <a:t>EXCEPT when the modulus is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n is prime,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It must divide either (x-1) or (x+1)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𝒐𝒓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</a:rPr>
                        <m:t>−</m:t>
                      </m:r>
                      <m:r>
                        <a:rPr lang="en-US" sz="1600" b="1" i="1">
                          <a:latin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There are NO nontrivial square roots of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we find a nontrivial square root of 1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i="1" dirty="0"/>
                  <a:t>n</a:t>
                </a:r>
                <a:r>
                  <a:rPr lang="en-US" sz="1600" b="1" dirty="0"/>
                  <a:t> is NOT prime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Miller-Rabin seeks to find a nontrivial square root of 1 (mod </a:t>
                </a:r>
                <a:r>
                  <a:rPr lang="en-US" sz="1600" b="1" i="1" dirty="0"/>
                  <a:t>n</a:t>
                </a:r>
                <a:r>
                  <a:rPr lang="en-US" sz="1600" b="1" dirty="0"/>
                  <a:t>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308324"/>
              </a:xfrm>
              <a:prstGeom prst="rect">
                <a:avLst/>
              </a:prstGeom>
              <a:blipFill rotWithShape="1">
                <a:blip r:embed="rId3"/>
                <a:stretch>
                  <a:fillRect l="-416" t="-792" b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950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Little Theorem lets us cheat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8470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Little Theorem lets us cheat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355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;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𝑰𝑭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𝒊𝒔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𝒑𝒓𝒊𝒎𝒆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55225"/>
              </a:xfrm>
              <a:prstGeom prst="rect">
                <a:avLst/>
              </a:prstGeom>
              <a:blipFill rotWithShape="1">
                <a:blip r:embed="rId3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389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Little Theorem lets us cheat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601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;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𝑰𝑭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𝒊𝒔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𝒑𝒓𝒊𝒎𝒆</m:t>
                      </m:r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Start with carefully chosen value of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such that</a:t>
                </a:r>
                <a:endParaRPr lang="en-US" sz="1600" b="1" baseline="30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601447"/>
              </a:xfrm>
              <a:prstGeom prst="rect">
                <a:avLst/>
              </a:prstGeom>
              <a:blipFill rotWithShape="1">
                <a:blip r:embed="rId3"/>
                <a:stretch>
                  <a:fillRect l="-416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389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Little Theorem lets us cheat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847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;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𝑰𝑭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𝒊𝒔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𝒑𝒓𝒊𝒎𝒆</m:t>
                      </m:r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Start with carefully chosen value of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such that</a:t>
                </a:r>
                <a:endParaRPr lang="en-US" sz="1600" b="1" baseline="30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Squaring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an integer number of times yields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(n-1)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847668"/>
              </a:xfrm>
              <a:prstGeom prst="rect">
                <a:avLst/>
              </a:prstGeom>
              <a:blipFill rotWithShape="1">
                <a:blip r:embed="rId3"/>
                <a:stretch>
                  <a:fillRect l="-416" b="-8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389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Little Theorem lets us cheat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093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;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𝑰𝑭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𝒊𝒔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𝒑𝒓𝒊𝒎𝒆</m:t>
                      </m:r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Start with carefully chosen value of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such that</a:t>
                </a:r>
                <a:endParaRPr lang="en-US" sz="1600" b="1" baseline="30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Squaring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an integer number of times yields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(n-1)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this is congruent to 1, this value of </a:t>
                </a:r>
                <a:r>
                  <a:rPr lang="en-US" sz="1600" b="1" i="1" dirty="0"/>
                  <a:t>a</a:t>
                </a:r>
                <a:r>
                  <a:rPr lang="en-US" sz="1600" b="1" dirty="0"/>
                  <a:t> passes Fermat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093889"/>
              </a:xfrm>
              <a:prstGeom prst="rect">
                <a:avLst/>
              </a:prstGeom>
              <a:blipFill rotWithShape="1">
                <a:blip r:embed="rId3"/>
                <a:stretch>
                  <a:fillRect l="-416" b="-6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3899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Little Theorem lets us cheat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34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;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𝑰𝑭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𝒊𝒔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𝒑𝒓𝒊𝒎𝒆</m:t>
                      </m:r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Start with carefully chosen value of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such that</a:t>
                </a:r>
                <a:endParaRPr lang="en-US" sz="1600" b="1" baseline="30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Squaring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an integer number of times yields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(n-1)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this is congruent to 1, this value of </a:t>
                </a:r>
                <a:r>
                  <a:rPr lang="en-US" sz="1600" b="1" i="1" dirty="0"/>
                  <a:t>a</a:t>
                </a:r>
                <a:r>
                  <a:rPr lang="en-US" sz="1600" b="1" dirty="0"/>
                  <a:t> passes Fermat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Last value squared is potentially nontrivial root of 1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340110"/>
              </a:xfrm>
              <a:prstGeom prst="rect">
                <a:avLst/>
              </a:prstGeom>
              <a:blipFill rotWithShape="1">
                <a:blip r:embed="rId3"/>
                <a:stretch>
                  <a:fillRect l="-416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3899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Little Theorem lets us cheat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58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;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𝑰𝑭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𝒊𝒔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𝒑𝒓𝒊𝒎𝒆</m:t>
                      </m:r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Start with carefully chosen value of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such that</a:t>
                </a:r>
                <a:endParaRPr lang="en-US" sz="1600" b="1" baseline="30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Squaring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an integer number of times yields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(n-1)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this is congruent to 1, this value of </a:t>
                </a:r>
                <a:r>
                  <a:rPr lang="en-US" sz="1600" b="1" i="1" dirty="0"/>
                  <a:t>a</a:t>
                </a:r>
                <a:r>
                  <a:rPr lang="en-US" sz="1600" b="1" dirty="0"/>
                  <a:t> passes Fermat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Last value squared is potentially nontrivial root of 1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congruent to 1, proceed back down list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586332"/>
              </a:xfrm>
              <a:prstGeom prst="rect">
                <a:avLst/>
              </a:prstGeom>
              <a:blipFill rotWithShape="1">
                <a:blip r:embed="rId3"/>
                <a:stretch>
                  <a:fillRect l="-416" b="-4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3899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Little Theorem lets us cheat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832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;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𝑰𝑭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𝒊𝒔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𝒑𝒓𝒊𝒎𝒆</m:t>
                      </m:r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Start with carefully chosen value of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such that</a:t>
                </a:r>
                <a:endParaRPr lang="en-US" sz="1600" b="1" baseline="30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Squaring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an integer number of times yields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(n-1)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this is congruent to 1, this value of </a:t>
                </a:r>
                <a:r>
                  <a:rPr lang="en-US" sz="1600" b="1" i="1" dirty="0"/>
                  <a:t>a</a:t>
                </a:r>
                <a:r>
                  <a:rPr lang="en-US" sz="1600" b="1" dirty="0"/>
                  <a:t> passes Fermat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Last value squared is potentially nontrivial root of 1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congruent to 1, proceed back down list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we reach</a:t>
                </a:r>
                <a:r>
                  <a:rPr lang="en-US" sz="1600" b="1" i="1" dirty="0"/>
                  <a:t> 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without a nontrivial root of 1, test passes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832553"/>
              </a:xfrm>
              <a:prstGeom prst="rect">
                <a:avLst/>
              </a:prstGeom>
              <a:blipFill rotWithShape="1">
                <a:blip r:embed="rId3"/>
                <a:stretch>
                  <a:fillRect l="-416" b="-3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3899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Little Theorem lets us cheat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078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;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𝑰𝑭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𝒊𝒔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𝒑𝒓𝒊𝒎𝒆</m:t>
                      </m:r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Start with carefully chosen value of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such that</a:t>
                </a:r>
                <a:endParaRPr lang="en-US" sz="1600" b="1" baseline="30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Squaring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an integer number of times yields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(n-1)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this is congruent to 1, this value of </a:t>
                </a:r>
                <a:r>
                  <a:rPr lang="en-US" sz="1600" b="1" i="1" dirty="0"/>
                  <a:t>a</a:t>
                </a:r>
                <a:r>
                  <a:rPr lang="en-US" sz="1600" b="1" dirty="0"/>
                  <a:t> passes Fermat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Last value squared is potentially nontrivial root of 1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congruent to 1, proceed back down list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we reach</a:t>
                </a:r>
                <a:r>
                  <a:rPr lang="en-US" sz="1600" b="1" i="1" dirty="0"/>
                  <a:t> 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without a nontrivial root of 1, test passes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Assume </a:t>
                </a:r>
                <a:r>
                  <a:rPr lang="en-US" sz="1600" b="1" i="1" dirty="0"/>
                  <a:t>n</a:t>
                </a:r>
                <a:r>
                  <a:rPr lang="en-US" sz="1600" b="1" dirty="0"/>
                  <a:t> is prime or repeat test with different </a:t>
                </a:r>
                <a:r>
                  <a:rPr lang="en-US" sz="1600" b="1" i="1" dirty="0"/>
                  <a:t>a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078774"/>
              </a:xfrm>
              <a:prstGeom prst="rect">
                <a:avLst/>
              </a:prstGeom>
              <a:blipFill rotWithShape="1">
                <a:blip r:embed="rId3"/>
                <a:stretch>
                  <a:fillRect l="-416" b="-2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3899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Little Theorem lets us cheat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32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;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𝑰𝑭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𝒊𝒔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𝒑𝒓𝒊𝒎𝒆</m:t>
                      </m:r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Start with carefully chosen value of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such that</a:t>
                </a:r>
                <a:endParaRPr lang="en-US" sz="1600" b="1" baseline="30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Squaring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an integer number of times yields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(n-1)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this is congruent to 1, this value of </a:t>
                </a:r>
                <a:r>
                  <a:rPr lang="en-US" sz="1600" b="1" i="1" dirty="0"/>
                  <a:t>a</a:t>
                </a:r>
                <a:r>
                  <a:rPr lang="en-US" sz="1600" b="1" dirty="0"/>
                  <a:t> passes Fermat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Last value squared is potentially nontrivial root of 1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congruent to 1, proceed back down list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we reach</a:t>
                </a:r>
                <a:r>
                  <a:rPr lang="en-US" sz="1600" b="1" i="1" dirty="0"/>
                  <a:t> 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without a nontrivial root of 1, test passes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Assume </a:t>
                </a:r>
                <a:r>
                  <a:rPr lang="en-US" sz="1600" b="1" i="1" dirty="0"/>
                  <a:t>n</a:t>
                </a:r>
                <a:r>
                  <a:rPr lang="en-US" sz="1600" b="1" dirty="0"/>
                  <a:t> is prime or repeat test with different </a:t>
                </a:r>
                <a:r>
                  <a:rPr lang="en-US" sz="1600" b="1" i="1" dirty="0"/>
                  <a:t>a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Relatively few trials need for good security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324995"/>
              </a:xfrm>
              <a:prstGeom prst="rect">
                <a:avLst/>
              </a:prstGeom>
              <a:blipFill rotWithShape="1">
                <a:blip r:embed="rId3"/>
                <a:stretch>
                  <a:fillRect l="-416" b="-2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3899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Little Theorem lets us cheat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571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;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𝑰𝑭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𝒊𝒔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𝒑𝒓𝒊𝒎𝒆</m:t>
                      </m:r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Start with carefully chosen value of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such that</a:t>
                </a:r>
                <a:endParaRPr lang="en-US" sz="1600" b="1" baseline="30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Squaring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an integer number of times yields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(n-1)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this is congruent to 1, this value of </a:t>
                </a:r>
                <a:r>
                  <a:rPr lang="en-US" sz="1600" b="1" i="1" dirty="0"/>
                  <a:t>a</a:t>
                </a:r>
                <a:r>
                  <a:rPr lang="en-US" sz="1600" b="1" dirty="0"/>
                  <a:t> passes Fermat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Last value squared is potentially nontrivial root of 1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congruent to 1, proceed back down list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we reach</a:t>
                </a:r>
                <a:r>
                  <a:rPr lang="en-US" sz="1600" b="1" i="1" dirty="0"/>
                  <a:t> 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without a nontrivial root of 1, test passes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Assume </a:t>
                </a:r>
                <a:r>
                  <a:rPr lang="en-US" sz="1600" b="1" i="1" dirty="0"/>
                  <a:t>n</a:t>
                </a:r>
                <a:r>
                  <a:rPr lang="en-US" sz="1600" b="1" dirty="0"/>
                  <a:t> is prime or repeat test with different </a:t>
                </a:r>
                <a:r>
                  <a:rPr lang="en-US" sz="1600" b="1" i="1" dirty="0"/>
                  <a:t>a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Relatively few trials need for good security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1024-bit RSA primes: 5 trials yield 112-bits of security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71217"/>
              </a:xfrm>
              <a:prstGeom prst="rect">
                <a:avLst/>
              </a:prstGeom>
              <a:blipFill rotWithShape="1">
                <a:blip r:embed="rId3"/>
                <a:stretch>
                  <a:fillRect l="-416" b="-2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3899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Little Theorem lets us cheat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817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;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𝑰𝑭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𝒊𝒔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𝒑𝒓𝒊𝒎𝒆</m:t>
                      </m:r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Start with carefully chosen value of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such that</a:t>
                </a:r>
                <a:endParaRPr lang="en-US" sz="1600" b="1" baseline="30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Squaring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an integer number of times yields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(n-1)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this is congruent to 1, this value of </a:t>
                </a:r>
                <a:r>
                  <a:rPr lang="en-US" sz="1600" b="1" i="1" dirty="0"/>
                  <a:t>a</a:t>
                </a:r>
                <a:r>
                  <a:rPr lang="en-US" sz="1600" b="1" dirty="0"/>
                  <a:t> passes Fermat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Last value squared is potentially nontrivial root of 1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congruent to 1, proceed back down list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we reach</a:t>
                </a:r>
                <a:r>
                  <a:rPr lang="en-US" sz="1600" b="1" i="1" dirty="0"/>
                  <a:t> 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without a nontrivial root of 1, test passes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Assume </a:t>
                </a:r>
                <a:r>
                  <a:rPr lang="en-US" sz="1600" b="1" i="1" dirty="0"/>
                  <a:t>n</a:t>
                </a:r>
                <a:r>
                  <a:rPr lang="en-US" sz="1600" b="1" dirty="0"/>
                  <a:t> is prime or repeat test with different </a:t>
                </a:r>
                <a:r>
                  <a:rPr lang="en-US" sz="1600" b="1" i="1" dirty="0"/>
                  <a:t>a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Relatively few trials need for good security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1024-bit RSA primes: 5 trials yield 112-bits of security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133-bit RSA primes: 39 trials yield 112-bit security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17438"/>
              </a:xfrm>
              <a:prstGeom prst="rect">
                <a:avLst/>
              </a:prstGeom>
              <a:blipFill rotWithShape="1">
                <a:blip r:embed="rId3"/>
                <a:stretch>
                  <a:fillRect l="-416" b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3899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Choosing the proper value for a</a:t>
            </a:r>
            <a:r>
              <a:rPr lang="en-US" sz="3200" b="1" baseline="30000" dirty="0"/>
              <a:t>d</a:t>
            </a:r>
            <a:r>
              <a:rPr lang="en-US" sz="3200" b="1" dirty="0"/>
              <a:t> </a:t>
            </a:r>
            <a:br>
              <a:rPr lang="en-US" sz="3200" b="1" dirty="0"/>
            </a:br>
            <a:r>
              <a:rPr lang="en-US" sz="3200" b="1" dirty="0"/>
              <a:t>is as simple as dividing by two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39027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Choosing the proper value for a</a:t>
            </a:r>
            <a:r>
              <a:rPr lang="en-US" sz="3200" b="1" baseline="30000" dirty="0"/>
              <a:t>d</a:t>
            </a:r>
            <a:r>
              <a:rPr lang="en-US" sz="3200" b="1" dirty="0"/>
              <a:t> </a:t>
            </a:r>
            <a:br>
              <a:rPr lang="en-US" sz="3200" b="1" dirty="0"/>
            </a:br>
            <a:r>
              <a:rPr lang="en-US" sz="3200" b="1" dirty="0"/>
              <a:t>is as simple as dividing by two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How to carefully choose </a:t>
            </a:r>
            <a:r>
              <a:rPr lang="en-US" sz="1600" b="1" i="1" dirty="0"/>
              <a:t>a</a:t>
            </a:r>
            <a:r>
              <a:rPr lang="en-US" sz="1600" b="1" baseline="30000" dirty="0"/>
              <a:t>d</a:t>
            </a:r>
            <a:r>
              <a:rPr lang="en-US" sz="1600" b="1" dirty="0"/>
              <a:t> </a:t>
            </a:r>
            <a:endParaRPr lang="en-US" sz="1600" b="1" baseline="30000" dirty="0"/>
          </a:p>
        </p:txBody>
      </p:sp>
    </p:spTree>
    <p:extLst>
      <p:ext uri="{BB962C8B-B14F-4D97-AF65-F5344CB8AC3E}">
        <p14:creationId xmlns:p14="http://schemas.microsoft.com/office/powerpoint/2010/main" val="10781411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Choosing the proper value for a</a:t>
            </a:r>
            <a:r>
              <a:rPr lang="en-US" sz="3200" b="1" baseline="30000" dirty="0"/>
              <a:t>d</a:t>
            </a:r>
            <a:r>
              <a:rPr lang="en-US" sz="3200" b="1" dirty="0"/>
              <a:t> </a:t>
            </a:r>
            <a:br>
              <a:rPr lang="en-US" sz="3200" b="1" dirty="0"/>
            </a:br>
            <a:r>
              <a:rPr lang="en-US" sz="3200" b="1" dirty="0"/>
              <a:t>is as simple as dividing by two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How to carefully choose </a:t>
            </a:r>
            <a:r>
              <a:rPr lang="en-US" sz="1600" b="1" i="1" dirty="0"/>
              <a:t>a</a:t>
            </a:r>
            <a:r>
              <a:rPr lang="en-US" sz="1600" b="1" baseline="30000" dirty="0"/>
              <a:t>d</a:t>
            </a:r>
            <a:r>
              <a:rPr lang="en-US" sz="1600" b="1" dirty="0"/>
              <a:t> </a:t>
            </a:r>
            <a:endParaRPr lang="en-US" sz="1600" b="1" baseline="30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Since n is odd, (n-1) is even (and divisible by 2)</a:t>
            </a:r>
          </a:p>
        </p:txBody>
      </p:sp>
    </p:spTree>
    <p:extLst>
      <p:ext uri="{BB962C8B-B14F-4D97-AF65-F5344CB8AC3E}">
        <p14:creationId xmlns:p14="http://schemas.microsoft.com/office/powerpoint/2010/main" val="10781411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Choosing the proper value for a</a:t>
            </a:r>
            <a:r>
              <a:rPr lang="en-US" sz="3200" b="1" baseline="30000" dirty="0"/>
              <a:t>d</a:t>
            </a:r>
            <a:r>
              <a:rPr lang="en-US" sz="3200" b="1" dirty="0"/>
              <a:t> </a:t>
            </a:r>
            <a:br>
              <a:rPr lang="en-US" sz="3200" b="1" dirty="0"/>
            </a:br>
            <a:r>
              <a:rPr lang="en-US" sz="3200" b="1" dirty="0"/>
              <a:t>is as simple as dividing by two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How to carefully choose </a:t>
            </a:r>
            <a:r>
              <a:rPr lang="en-US" sz="1600" b="1" i="1" dirty="0"/>
              <a:t>a</a:t>
            </a:r>
            <a:r>
              <a:rPr lang="en-US" sz="1600" b="1" baseline="30000" dirty="0"/>
              <a:t>d</a:t>
            </a:r>
            <a:r>
              <a:rPr lang="en-US" sz="1600" b="1" dirty="0"/>
              <a:t> </a:t>
            </a:r>
            <a:endParaRPr lang="en-US" sz="1600" b="1" baseline="30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Since n is odd, (n-1) is even (and divisible by 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Pull all </a:t>
            </a:r>
            <a:r>
              <a:rPr lang="en-US" sz="1600" b="1" i="1" dirty="0"/>
              <a:t>s</a:t>
            </a:r>
            <a:r>
              <a:rPr lang="en-US" sz="1600" b="1" dirty="0"/>
              <a:t> 2’s out, making (</a:t>
            </a:r>
            <a:r>
              <a:rPr lang="en-US" sz="1600" b="1" i="1" dirty="0"/>
              <a:t>n</a:t>
            </a:r>
            <a:r>
              <a:rPr lang="en-US" sz="1600" b="1" dirty="0"/>
              <a:t>-1) = 2</a:t>
            </a:r>
            <a:r>
              <a:rPr lang="en-US" sz="1600" b="1" i="1" baseline="30000" dirty="0"/>
              <a:t>s</a:t>
            </a:r>
            <a:r>
              <a:rPr lang="en-US" sz="1600" b="1" i="1" dirty="0"/>
              <a:t>·d</a:t>
            </a:r>
            <a:r>
              <a:rPr lang="en-US" sz="1600" b="1" dirty="0"/>
              <a:t>, with </a:t>
            </a:r>
            <a:r>
              <a:rPr lang="en-US" sz="1600" b="1" i="1" dirty="0"/>
              <a:t>d</a:t>
            </a:r>
            <a:r>
              <a:rPr lang="en-US" sz="1600" b="1" dirty="0"/>
              <a:t> odd</a:t>
            </a:r>
          </a:p>
          <a:p>
            <a:pPr lvl="1"/>
            <a:endParaRPr lang="en-US" sz="1600" b="1" i="1" dirty="0">
              <a:latin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0781411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Choosing the proper value for a</a:t>
            </a:r>
            <a:r>
              <a:rPr lang="en-US" sz="3200" b="1" baseline="30000" dirty="0"/>
              <a:t>d</a:t>
            </a:r>
            <a:r>
              <a:rPr lang="en-US" sz="3200" b="1" dirty="0"/>
              <a:t> </a:t>
            </a:r>
            <a:br>
              <a:rPr lang="en-US" sz="3200" b="1" dirty="0"/>
            </a:br>
            <a:r>
              <a:rPr lang="en-US" sz="3200" b="1" dirty="0"/>
              <a:t>is as simple as dividing by two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343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How to carefully choose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</a:t>
                </a:r>
                <a:endParaRPr lang="en-US" sz="1600" b="1" baseline="30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Since n is odd, (n-1) is even (and divisible by 2)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Pull all </a:t>
                </a:r>
                <a:r>
                  <a:rPr lang="en-US" sz="1600" b="1" i="1" dirty="0"/>
                  <a:t>s</a:t>
                </a:r>
                <a:r>
                  <a:rPr lang="en-US" sz="1600" b="1" dirty="0"/>
                  <a:t> 2’s out, making (</a:t>
                </a:r>
                <a:r>
                  <a:rPr lang="en-US" sz="1600" b="1" i="1" dirty="0"/>
                  <a:t>n</a:t>
                </a:r>
                <a:r>
                  <a:rPr lang="en-US" sz="1600" b="1" dirty="0"/>
                  <a:t>-1) = 2</a:t>
                </a:r>
                <a:r>
                  <a:rPr lang="en-US" sz="1600" b="1" i="1" baseline="30000" dirty="0"/>
                  <a:t>s</a:t>
                </a:r>
                <a:r>
                  <a:rPr lang="en-US" sz="1600" b="1" i="1" dirty="0"/>
                  <a:t>·d</a:t>
                </a:r>
                <a:r>
                  <a:rPr lang="en-US" sz="1600" b="1" dirty="0"/>
                  <a:t>, with </a:t>
                </a:r>
                <a:r>
                  <a:rPr lang="en-US" sz="1600" b="1" i="1" dirty="0"/>
                  <a:t>d</a:t>
                </a:r>
                <a:r>
                  <a:rPr lang="en-US" sz="1600" b="1" dirty="0"/>
                  <a:t> odd</a:t>
                </a:r>
              </a:p>
              <a:p>
                <a:pPr lvl="1"/>
                <a:endParaRPr lang="en-US" sz="1600" b="1" i="1" dirty="0">
                  <a:latin typeface="Cambria Math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6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</a:rPr>
                                    <m:t>𝒔</m:t>
                                  </m:r>
                                </m:sup>
                              </m:sSup>
                              <m:r>
                                <a:rPr lang="en-US" sz="1600" b="1" i="1" smtClean="0">
                                  <a:latin typeface="Cambria Math"/>
                                </a:rPr>
                                <m:t>𝒅</m:t>
                              </m:r>
                            </m:e>
                          </m:d>
                        </m:sup>
                      </m:sSup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343316"/>
              </a:xfrm>
              <a:prstGeom prst="rect">
                <a:avLst/>
              </a:prstGeom>
              <a:blipFill rotWithShape="1">
                <a:blip r:embed="rId3"/>
                <a:stretch>
                  <a:fillRect l="-416" t="-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1411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Choosing the proper value for a</a:t>
            </a:r>
            <a:r>
              <a:rPr lang="en-US" sz="3200" b="1" baseline="30000" dirty="0"/>
              <a:t>d</a:t>
            </a:r>
            <a:r>
              <a:rPr lang="en-US" sz="3200" b="1" dirty="0"/>
              <a:t> </a:t>
            </a:r>
            <a:br>
              <a:rPr lang="en-US" sz="3200" b="1" dirty="0"/>
            </a:br>
            <a:r>
              <a:rPr lang="en-US" sz="3200" b="1" dirty="0"/>
              <a:t>is as simple as dividing by two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936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How to carefully choose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</a:t>
                </a:r>
                <a:endParaRPr lang="en-US" sz="1600" b="1" baseline="30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Since n is odd, (n-1) is even (and divisible by 2)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Pull all </a:t>
                </a:r>
                <a:r>
                  <a:rPr lang="en-US" sz="1600" b="1" i="1" dirty="0"/>
                  <a:t>s</a:t>
                </a:r>
                <a:r>
                  <a:rPr lang="en-US" sz="1600" b="1" dirty="0"/>
                  <a:t> 2’s out, making (</a:t>
                </a:r>
                <a:r>
                  <a:rPr lang="en-US" sz="1600" b="1" i="1" dirty="0"/>
                  <a:t>n</a:t>
                </a:r>
                <a:r>
                  <a:rPr lang="en-US" sz="1600" b="1" dirty="0"/>
                  <a:t>-1) = 2</a:t>
                </a:r>
                <a:r>
                  <a:rPr lang="en-US" sz="1600" b="1" i="1" baseline="30000" dirty="0"/>
                  <a:t>s</a:t>
                </a:r>
                <a:r>
                  <a:rPr lang="en-US" sz="1600" b="1" i="1" dirty="0"/>
                  <a:t>·d</a:t>
                </a:r>
                <a:r>
                  <a:rPr lang="en-US" sz="1600" b="1" dirty="0"/>
                  <a:t>, with </a:t>
                </a:r>
                <a:r>
                  <a:rPr lang="en-US" sz="1600" b="1" i="1" dirty="0"/>
                  <a:t>d</a:t>
                </a:r>
                <a:r>
                  <a:rPr lang="en-US" sz="1600" b="1" dirty="0"/>
                  <a:t> odd</a:t>
                </a:r>
              </a:p>
              <a:p>
                <a:pPr lvl="1"/>
                <a:endParaRPr lang="en-US" sz="1600" b="1" i="1" dirty="0">
                  <a:latin typeface="Cambria Math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6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</a:rPr>
                                    <m:t>𝒔</m:t>
                                  </m:r>
                                </m:sup>
                              </m:sSup>
                              <m:r>
                                <a:rPr lang="en-US" sz="1600" b="1" i="1" smtClean="0">
                                  <a:latin typeface="Cambria Math"/>
                                </a:rPr>
                                <m:t>𝒅</m:t>
                              </m:r>
                            </m:e>
                          </m:d>
                        </m:sup>
                      </m:sSup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𝒔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600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936684"/>
              </a:xfrm>
              <a:prstGeom prst="rect">
                <a:avLst/>
              </a:prstGeom>
              <a:blipFill rotWithShape="1">
                <a:blip r:embed="rId3"/>
                <a:stretch>
                  <a:fillRect l="-416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141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Choosing the proper value for a</a:t>
            </a:r>
            <a:r>
              <a:rPr lang="en-US" sz="3200" b="1" baseline="30000" dirty="0"/>
              <a:t>d</a:t>
            </a:r>
            <a:r>
              <a:rPr lang="en-US" sz="3200" b="1" dirty="0"/>
              <a:t> </a:t>
            </a:r>
            <a:br>
              <a:rPr lang="en-US" sz="3200" b="1" dirty="0"/>
            </a:br>
            <a:r>
              <a:rPr lang="en-US" sz="3200" b="1" dirty="0"/>
              <a:t>is as simple as dividing by two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182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How to carefully choose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</a:t>
                </a:r>
                <a:endParaRPr lang="en-US" sz="1600" b="1" baseline="30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Since n is odd, (n-1) is even (and divisible by 2)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Pull all </a:t>
                </a:r>
                <a:r>
                  <a:rPr lang="en-US" sz="1600" b="1" i="1" dirty="0"/>
                  <a:t>s</a:t>
                </a:r>
                <a:r>
                  <a:rPr lang="en-US" sz="1600" b="1" dirty="0"/>
                  <a:t> 2’s out, making (</a:t>
                </a:r>
                <a:r>
                  <a:rPr lang="en-US" sz="1600" b="1" i="1" dirty="0"/>
                  <a:t>n</a:t>
                </a:r>
                <a:r>
                  <a:rPr lang="en-US" sz="1600" b="1" dirty="0"/>
                  <a:t>-1) = 2</a:t>
                </a:r>
                <a:r>
                  <a:rPr lang="en-US" sz="1600" b="1" i="1" baseline="30000" dirty="0"/>
                  <a:t>s</a:t>
                </a:r>
                <a:r>
                  <a:rPr lang="en-US" sz="1600" b="1" i="1" dirty="0"/>
                  <a:t>·d</a:t>
                </a:r>
                <a:r>
                  <a:rPr lang="en-US" sz="1600" b="1" dirty="0"/>
                  <a:t>, with </a:t>
                </a:r>
                <a:r>
                  <a:rPr lang="en-US" sz="1600" b="1" i="1" dirty="0"/>
                  <a:t>d</a:t>
                </a:r>
                <a:r>
                  <a:rPr lang="en-US" sz="1600" b="1" dirty="0"/>
                  <a:t> odd</a:t>
                </a:r>
              </a:p>
              <a:p>
                <a:pPr lvl="1"/>
                <a:endParaRPr lang="en-US" sz="1600" b="1" i="1" dirty="0">
                  <a:latin typeface="Cambria Math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6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</a:rPr>
                                    <m:t>𝒔</m:t>
                                  </m:r>
                                </m:sup>
                              </m:sSup>
                              <m:r>
                                <a:rPr lang="en-US" sz="1600" b="1" i="1" smtClean="0">
                                  <a:latin typeface="Cambria Math"/>
                                </a:rPr>
                                <m:t>𝒅</m:t>
                              </m:r>
                            </m:e>
                          </m:d>
                        </m:sup>
                      </m:sSup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𝒔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6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If x</a:t>
                </a:r>
                <a:r>
                  <a:rPr lang="en-US" sz="1600" b="1" baseline="30000" dirty="0">
                    <a:ea typeface="Cambria Math"/>
                  </a:rPr>
                  <a:t>2</a:t>
                </a:r>
                <a:r>
                  <a:rPr lang="en-US" sz="1600" b="1" dirty="0">
                    <a:ea typeface="Cambria Math"/>
                  </a:rPr>
                  <a:t> ≢ 1(mod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), then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 not prime and can stop</a:t>
                </a:r>
                <a:endParaRPr lang="en-US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182905"/>
              </a:xfrm>
              <a:prstGeom prst="rect">
                <a:avLst/>
              </a:prstGeom>
              <a:blipFill rotWithShape="1">
                <a:blip r:embed="rId3"/>
                <a:stretch>
                  <a:fillRect l="-416" t="-838" b="-2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1411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Choosing the proper value for a</a:t>
            </a:r>
            <a:r>
              <a:rPr lang="en-US" sz="3200" b="1" baseline="30000" dirty="0"/>
              <a:t>d</a:t>
            </a:r>
            <a:r>
              <a:rPr lang="en-US" sz="3200" b="1" dirty="0"/>
              <a:t> </a:t>
            </a:r>
            <a:br>
              <a:rPr lang="en-US" sz="3200" b="1" dirty="0"/>
            </a:br>
            <a:r>
              <a:rPr lang="en-US" sz="3200" b="1" dirty="0"/>
              <a:t>is as simple as dividing by two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453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How to carefully choose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 </a:t>
                </a:r>
                <a:endParaRPr lang="en-US" sz="1600" b="1" baseline="30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Since n is odd, (n-1) is even (and divisible by 2)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Pull all </a:t>
                </a:r>
                <a:r>
                  <a:rPr lang="en-US" sz="1600" b="1" i="1" dirty="0"/>
                  <a:t>s</a:t>
                </a:r>
                <a:r>
                  <a:rPr lang="en-US" sz="1600" b="1" dirty="0"/>
                  <a:t> 2’s out, making (</a:t>
                </a:r>
                <a:r>
                  <a:rPr lang="en-US" sz="1600" b="1" i="1" dirty="0"/>
                  <a:t>n</a:t>
                </a:r>
                <a:r>
                  <a:rPr lang="en-US" sz="1600" b="1" dirty="0"/>
                  <a:t>-1) = 2</a:t>
                </a:r>
                <a:r>
                  <a:rPr lang="en-US" sz="1600" b="1" i="1" baseline="30000" dirty="0"/>
                  <a:t>s</a:t>
                </a:r>
                <a:r>
                  <a:rPr lang="en-US" sz="1600" b="1" i="1" dirty="0"/>
                  <a:t>·d</a:t>
                </a:r>
                <a:r>
                  <a:rPr lang="en-US" sz="1600" b="1" dirty="0"/>
                  <a:t>, with </a:t>
                </a:r>
                <a:r>
                  <a:rPr lang="en-US" sz="1600" b="1" i="1" dirty="0"/>
                  <a:t>d</a:t>
                </a:r>
                <a:r>
                  <a:rPr lang="en-US" sz="1600" b="1" dirty="0"/>
                  <a:t> odd</a:t>
                </a:r>
              </a:p>
              <a:p>
                <a:pPr lvl="1"/>
                <a:endParaRPr lang="en-US" sz="1600" b="1" i="1" dirty="0">
                  <a:latin typeface="Cambria Math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6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>
                              <a:latin typeface="Cambria Math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</a:rPr>
                                    <m:t>𝒔</m:t>
                                  </m:r>
                                </m:sup>
                              </m:sSup>
                              <m:r>
                                <a:rPr lang="en-US" sz="1600" b="1" i="1" smtClean="0">
                                  <a:latin typeface="Cambria Math"/>
                                </a:rPr>
                                <m:t>𝒅</m:t>
                              </m:r>
                            </m:e>
                          </m:d>
                        </m:sup>
                      </m:sSup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𝒔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6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If x</a:t>
                </a:r>
                <a:r>
                  <a:rPr lang="en-US" sz="1600" b="1" baseline="30000" dirty="0">
                    <a:ea typeface="Cambria Math"/>
                  </a:rPr>
                  <a:t>2</a:t>
                </a:r>
                <a:r>
                  <a:rPr lang="en-US" sz="1600" b="1" dirty="0">
                    <a:ea typeface="Cambria Math"/>
                  </a:rPr>
                  <a:t> ≢ 1(mod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), then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 not prime and can stop</a:t>
                </a:r>
                <a:endParaRPr lang="en-US" sz="1600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If x</a:t>
                </a:r>
                <a:r>
                  <a:rPr lang="en-US" sz="1600" b="1" baseline="30000" dirty="0">
                    <a:ea typeface="Cambria Math"/>
                  </a:rPr>
                  <a:t>2</a:t>
                </a:r>
                <a:r>
                  <a:rPr lang="en-US" sz="1600" b="1" dirty="0">
                    <a:ea typeface="Cambria Math"/>
                  </a:rPr>
                  <a:t> ≡ 1(mod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), then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 may be prime, is x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𝟏</m:t>
                        </m:r>
                      </m:e>
                    </m:ra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1600" b="1" dirty="0"/>
                  <a:t>trivial?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453172"/>
              </a:xfrm>
              <a:prstGeom prst="rect">
                <a:avLst/>
              </a:prstGeom>
              <a:blipFill rotWithShape="1">
                <a:blip r:embed="rId3"/>
                <a:stretch>
                  <a:fillRect l="-416" t="-746" b="-2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1411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Conceptual algorithm designed downward , but implementation is a simple loop flowing upward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18790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Conceptual algorithm designed downward , but implementation is a simple loop flowing upward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839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𝒅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</m:sSup>
                        </m:e>
                      </m:rad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𝟏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83965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12433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Conceptual algorithm designed downward , but implementation is a simple loop flowing upward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0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𝒅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</m:sSup>
                        </m:e>
                      </m:rad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𝟏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x </a:t>
                </a:r>
                <a:r>
                  <a:rPr lang="en-US" sz="1600" b="1" dirty="0">
                    <a:ea typeface="Cambria Math"/>
                  </a:rPr>
                  <a:t>≢ {1,-1} (mod n), n is not prime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085875"/>
              </a:xfrm>
              <a:prstGeom prst="rect">
                <a:avLst/>
              </a:prstGeom>
              <a:blipFill rotWithShape="1">
                <a:blip r:embed="rId3"/>
                <a:stretch>
                  <a:fillRect l="-416" b="-6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12433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Conceptual algorithm designed downward , but implementation is a simple loop flowing upward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578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𝒅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</m:sSup>
                        </m:e>
                      </m:rad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𝟏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x </a:t>
                </a:r>
                <a:r>
                  <a:rPr lang="en-US" sz="1600" b="1" dirty="0">
                    <a:ea typeface="Cambria Math"/>
                  </a:rPr>
                  <a:t>≢ {1,-1} (mod n), n is not prime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IF </a:t>
                </a:r>
                <a:r>
                  <a:rPr lang="en-US" sz="1600" b="1" dirty="0"/>
                  <a:t>x </a:t>
                </a:r>
                <a:r>
                  <a:rPr lang="en-US" sz="1600" b="1" dirty="0">
                    <a:ea typeface="Cambria Math"/>
                  </a:rPr>
                  <a:t>≡ -1 (mod n), test passes,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 may be prime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578317"/>
              </a:xfrm>
              <a:prstGeom prst="rect">
                <a:avLst/>
              </a:prstGeom>
              <a:blipFill rotWithShape="1">
                <a:blip r:embed="rId3"/>
                <a:stretch>
                  <a:fillRect l="-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12433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Conceptual algorithm designed downward , but implementation is a simple loop flowing upward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824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𝒅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</m:sSup>
                        </m:e>
                      </m:rad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𝟏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x </a:t>
                </a:r>
                <a:r>
                  <a:rPr lang="en-US" sz="1600" b="1" dirty="0">
                    <a:ea typeface="Cambria Math"/>
                  </a:rPr>
                  <a:t>≢ {1,-1} (mod n), n is not prime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IF </a:t>
                </a:r>
                <a:r>
                  <a:rPr lang="en-US" sz="1600" b="1" dirty="0"/>
                  <a:t>x </a:t>
                </a:r>
                <a:r>
                  <a:rPr lang="en-US" sz="1600" b="1" dirty="0">
                    <a:ea typeface="Cambria Math"/>
                  </a:rPr>
                  <a:t>≡ -1 (mod n), test passes,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 may be prime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IF </a:t>
                </a:r>
                <a:r>
                  <a:rPr lang="en-US" sz="1600" b="1" dirty="0"/>
                  <a:t>x </a:t>
                </a:r>
                <a:r>
                  <a:rPr lang="en-US" sz="1600" b="1" dirty="0">
                    <a:ea typeface="Cambria Math"/>
                  </a:rPr>
                  <a:t>≡ +1 (mod n),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 may be prime, test continues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824538"/>
              </a:xfrm>
              <a:prstGeom prst="rect">
                <a:avLst/>
              </a:prstGeom>
              <a:blipFill rotWithShape="1">
                <a:blip r:embed="rId3"/>
                <a:stretch>
                  <a:fillRect l="-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12433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Conceptual algorithm designed downward , but implementation is a simple loop flowing upward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076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𝒅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</m:sSup>
                        </m:e>
                      </m:rad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𝟏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x </a:t>
                </a:r>
                <a:r>
                  <a:rPr lang="en-US" sz="1600" b="1" dirty="0">
                    <a:ea typeface="Cambria Math"/>
                  </a:rPr>
                  <a:t>≢ {1,-1} (mod n), n is not prime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IF </a:t>
                </a:r>
                <a:r>
                  <a:rPr lang="en-US" sz="1600" b="1" dirty="0"/>
                  <a:t>x </a:t>
                </a:r>
                <a:r>
                  <a:rPr lang="en-US" sz="1600" b="1" dirty="0">
                    <a:ea typeface="Cambria Math"/>
                  </a:rPr>
                  <a:t>≡ -1 (mod n), test passes,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 may be prime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IF </a:t>
                </a:r>
                <a:r>
                  <a:rPr lang="en-US" sz="1600" b="1" dirty="0"/>
                  <a:t>x </a:t>
                </a:r>
                <a:r>
                  <a:rPr lang="en-US" sz="1600" b="1" dirty="0">
                    <a:ea typeface="Cambria Math"/>
                  </a:rPr>
                  <a:t>≡ +1 (mod n),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 may be prime, test continues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 smtClean="0">
                          <a:latin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𝒚</m:t>
                          </m:r>
                        </m:e>
                        <m:sup>
                          <m:r>
                            <a:rPr lang="en-US" sz="1600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076338"/>
              </a:xfrm>
              <a:prstGeom prst="rect">
                <a:avLst/>
              </a:prstGeom>
              <a:blipFill rotWithShape="1">
                <a:blip r:embed="rId3"/>
                <a:stretch>
                  <a:fillRect l="-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12433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Conceptual algorithm designed downward , but implementation is a simple loop flowing upward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592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𝒅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</m:sSup>
                        </m:e>
                      </m:rad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𝟏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x </a:t>
                </a:r>
                <a:r>
                  <a:rPr lang="en-US" sz="1600" b="1" dirty="0">
                    <a:ea typeface="Cambria Math"/>
                  </a:rPr>
                  <a:t>≢ {1,-1} (mod n), n is not prime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IF </a:t>
                </a:r>
                <a:r>
                  <a:rPr lang="en-US" sz="1600" b="1" dirty="0"/>
                  <a:t>x </a:t>
                </a:r>
                <a:r>
                  <a:rPr lang="en-US" sz="1600" b="1" dirty="0">
                    <a:ea typeface="Cambria Math"/>
                  </a:rPr>
                  <a:t>≡ -1 (mod n), test passes,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 may be prime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IF </a:t>
                </a:r>
                <a:r>
                  <a:rPr lang="en-US" sz="1600" b="1" dirty="0"/>
                  <a:t>x </a:t>
                </a:r>
                <a:r>
                  <a:rPr lang="en-US" sz="1600" b="1" dirty="0">
                    <a:ea typeface="Cambria Math"/>
                  </a:rPr>
                  <a:t>≡ +1 (mod n),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 may be prime, test continues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 smtClean="0">
                          <a:latin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𝒚</m:t>
                          </m:r>
                        </m:e>
                        <m:sup>
                          <m:r>
                            <a:rPr lang="en-US" sz="1600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Repeat down to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, at each step, same choices based on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1" i="1" smtClean="0">
                            <a:latin typeface="Cambria Math"/>
                          </a:rPr>
                          <m:t>𝟏</m:t>
                        </m:r>
                      </m:e>
                    </m:rad>
                  </m:oMath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92826"/>
              </a:xfrm>
              <a:prstGeom prst="rect">
                <a:avLst/>
              </a:prstGeom>
              <a:blipFill rotWithShape="1">
                <a:blip r:embed="rId3"/>
                <a:stretch>
                  <a:fillRect l="-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12433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Conceptual algorithm designed downward , but implementation is a simple loop flowing upward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855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𝒅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</m:sSup>
                        </m:e>
                      </m:rad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𝟏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x </a:t>
                </a:r>
                <a:r>
                  <a:rPr lang="en-US" sz="1600" b="1" dirty="0">
                    <a:ea typeface="Cambria Math"/>
                  </a:rPr>
                  <a:t>≢ {1,-1} (mod n), n is not prime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IF </a:t>
                </a:r>
                <a:r>
                  <a:rPr lang="en-US" sz="1600" b="1" dirty="0"/>
                  <a:t>x </a:t>
                </a:r>
                <a:r>
                  <a:rPr lang="en-US" sz="1600" b="1" dirty="0">
                    <a:ea typeface="Cambria Math"/>
                  </a:rPr>
                  <a:t>≡ -1 (mod n), test passes,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 may be prime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IF </a:t>
                </a:r>
                <a:r>
                  <a:rPr lang="en-US" sz="1600" b="1" dirty="0"/>
                  <a:t>x </a:t>
                </a:r>
                <a:r>
                  <a:rPr lang="en-US" sz="1600" b="1" dirty="0">
                    <a:ea typeface="Cambria Math"/>
                  </a:rPr>
                  <a:t>≡ +1 (mod n),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 may be prime, test continues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 smtClean="0">
                          <a:latin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𝒚</m:t>
                          </m:r>
                        </m:e>
                        <m:sup>
                          <m:r>
                            <a:rPr lang="en-US" sz="1600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Repeat down to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, at each step, same choices based on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1" i="1" smtClean="0">
                            <a:latin typeface="Cambria Math"/>
                          </a:rPr>
                          <m:t>𝟏</m:t>
                        </m:r>
                      </m:e>
                    </m:rad>
                  </m:oMath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Process just described starts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/>
                          </a:rPr>
                          <m:t>𝒂</m:t>
                        </m:r>
                      </m:e>
                      <m:sup>
                        <m:d>
                          <m:d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>
                                <a:latin typeface="Cambria Math"/>
                              </a:rPr>
                              <m:t>𝒏</m:t>
                            </m:r>
                            <m:r>
                              <a:rPr lang="en-US" sz="1600" b="1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1600" b="1" i="1">
                                <a:latin typeface="Cambria Math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sz="1600" b="1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b="1" dirty="0"/>
                  <a:t>and works toward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/>
                          </a:rPr>
                          <m:t>𝒂</m:t>
                        </m:r>
                      </m:e>
                      <m:sup>
                        <m:r>
                          <a:rPr lang="en-US" sz="1600" b="1" i="1" smtClean="0">
                            <a:latin typeface="Cambria Math"/>
                          </a:rPr>
                          <m:t>𝒅</m:t>
                        </m:r>
                      </m:sup>
                    </m:sSup>
                  </m:oMath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55718"/>
              </a:xfrm>
              <a:prstGeom prst="rect">
                <a:avLst/>
              </a:prstGeom>
              <a:blipFill rotWithShape="1">
                <a:blip r:embed="rId3"/>
                <a:stretch>
                  <a:fillRect l="-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12433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Conceptual algorithm designed downward , but implementation is a simple loop flowing upward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3118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𝒅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</m:sSup>
                        </m:e>
                      </m:rad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𝒔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𝟏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IF x </a:t>
                </a:r>
                <a:r>
                  <a:rPr lang="en-US" sz="1600" b="1" dirty="0">
                    <a:ea typeface="Cambria Math"/>
                  </a:rPr>
                  <a:t>≢ {1,-1} (mod n), n is not prime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IF </a:t>
                </a:r>
                <a:r>
                  <a:rPr lang="en-US" sz="1600" b="1" dirty="0"/>
                  <a:t>x </a:t>
                </a:r>
                <a:r>
                  <a:rPr lang="en-US" sz="1600" b="1" dirty="0">
                    <a:ea typeface="Cambria Math"/>
                  </a:rPr>
                  <a:t>≡ -1 (mod n), test passes,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 may be prime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a typeface="Cambria Math"/>
                  </a:rPr>
                  <a:t>IF </a:t>
                </a:r>
                <a:r>
                  <a:rPr lang="en-US" sz="1600" b="1" dirty="0"/>
                  <a:t>x </a:t>
                </a:r>
                <a:r>
                  <a:rPr lang="en-US" sz="1600" b="1" dirty="0">
                    <a:ea typeface="Cambria Math"/>
                  </a:rPr>
                  <a:t>≡ +1 (mod n), </a:t>
                </a:r>
                <a:r>
                  <a:rPr lang="en-US" sz="1600" b="1" i="1" dirty="0">
                    <a:ea typeface="Cambria Math"/>
                  </a:rPr>
                  <a:t>n</a:t>
                </a:r>
                <a:r>
                  <a:rPr lang="en-US" sz="1600" b="1" dirty="0">
                    <a:ea typeface="Cambria Math"/>
                  </a:rPr>
                  <a:t> may be prime, test continues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𝒙</m:t>
                      </m:r>
                      <m:r>
                        <a:rPr lang="en-US" sz="1600" b="1" i="1" smtClean="0">
                          <a:latin typeface="Cambria Math"/>
                        </a:rPr>
                        <m:t>≡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/>
                            </a:rPr>
                            <m:t>𝒚</m:t>
                          </m:r>
                        </m:e>
                        <m:sup>
                          <m:r>
                            <a:rPr lang="en-US" sz="1600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16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6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Repeat down to </a:t>
                </a:r>
                <a:r>
                  <a:rPr lang="en-US" sz="1600" b="1" i="1" dirty="0"/>
                  <a:t>a</a:t>
                </a:r>
                <a:r>
                  <a:rPr lang="en-US" sz="1600" b="1" baseline="30000" dirty="0"/>
                  <a:t>d</a:t>
                </a:r>
                <a:r>
                  <a:rPr lang="en-US" sz="1600" b="1" dirty="0"/>
                  <a:t>, at each step, same choices based on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1" i="1" smtClean="0">
                            <a:latin typeface="Cambria Math"/>
                          </a:rPr>
                          <m:t>𝟏</m:t>
                        </m:r>
                      </m:e>
                    </m:rad>
                  </m:oMath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Process just described starts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/>
                          </a:rPr>
                          <m:t>𝒂</m:t>
                        </m:r>
                      </m:e>
                      <m:sup>
                        <m:d>
                          <m:d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>
                                <a:latin typeface="Cambria Math"/>
                              </a:rPr>
                              <m:t>𝒏</m:t>
                            </m:r>
                            <m:r>
                              <a:rPr lang="en-US" sz="1600" b="1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1600" b="1" i="1">
                                <a:latin typeface="Cambria Math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sz="1600" b="1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b="1" dirty="0"/>
                  <a:t>and works toward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/>
                          </a:rPr>
                          <m:t>𝒂</m:t>
                        </m:r>
                      </m:e>
                      <m:sup>
                        <m:r>
                          <a:rPr lang="en-US" sz="1600" b="1" i="1" smtClean="0">
                            <a:latin typeface="Cambria Math"/>
                          </a:rPr>
                          <m:t>𝒅</m:t>
                        </m:r>
                      </m:sup>
                    </m:sSup>
                  </m:oMath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More efficient to start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/>
                          </a:rPr>
                          <m:t>𝒂</m:t>
                        </m:r>
                      </m:e>
                      <m:sup>
                        <m:r>
                          <a:rPr lang="en-US" sz="1600" b="1" i="1">
                            <a:latin typeface="Cambria Math"/>
                          </a:rPr>
                          <m:t>𝒅</m:t>
                        </m:r>
                      </m:sup>
                    </m:sSup>
                    <m:r>
                      <a:rPr lang="en-US" sz="1600" b="1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b="1" dirty="0"/>
                  <a:t>and work toward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/>
                          </a:rPr>
                          <m:t>𝒂</m:t>
                        </m:r>
                      </m:e>
                      <m:sup>
                        <m:d>
                          <m:d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>
                                <a:latin typeface="Cambria Math"/>
                              </a:rPr>
                              <m:t>𝒏</m:t>
                            </m:r>
                            <m:r>
                              <a:rPr lang="en-US" sz="1600" b="1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1600" b="1" i="1">
                                <a:latin typeface="Cambria Math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118611"/>
              </a:xfrm>
              <a:prstGeom prst="rect">
                <a:avLst/>
              </a:prstGeom>
              <a:blipFill rotWithShape="1">
                <a:blip r:embed="rId3"/>
                <a:stretch>
                  <a:fillRect l="-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12433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Tree of possible paths reveals the key </a:t>
            </a:r>
            <a:br>
              <a:rPr lang="en-US" sz="3200" b="1" dirty="0"/>
            </a:br>
            <a:r>
              <a:rPr lang="en-US" sz="3200" b="1" dirty="0"/>
              <a:t>to simple, fast, efficient implementation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36896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Tree of possible paths reveals the key </a:t>
            </a:r>
            <a:br>
              <a:rPr lang="en-US" sz="3200" b="1" dirty="0"/>
            </a:br>
            <a:r>
              <a:rPr lang="en-US" sz="3200" b="1" dirty="0"/>
              <a:t>to simple, fast, efficient implementation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708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 smtClean="0">
                          <a:latin typeface="Cambria Math"/>
                          <a:ea typeface="Cambria Math"/>
                          <a:cs typeface="Courier New" panose="02070309020205020404" pitchFamily="49" charset="0"/>
                        </a:rPr>
                        <m:t>≡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  <a:cs typeface="Courier New" panose="02070309020205020404" pitchFamily="49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7087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1243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Tree of possible paths reveals the key </a:t>
            </a:r>
            <a:br>
              <a:rPr lang="en-US" sz="3200" b="1" dirty="0"/>
            </a:br>
            <a:r>
              <a:rPr lang="en-US" sz="3200" b="1" dirty="0"/>
              <a:t>to simple, fast, efficient implementation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201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 smtClean="0">
                          <a:latin typeface="Cambria Math"/>
                          <a:ea typeface="Cambria Math"/>
                          <a:cs typeface="Courier New" panose="02070309020205020404" pitchFamily="49" charset="0"/>
                        </a:rPr>
                        <m:t>≡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  <a:cs typeface="Courier New" panose="02070309020205020404" pitchFamily="49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(n-1)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</a:t>
                </a: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201163"/>
              </a:xfrm>
              <a:prstGeom prst="rect">
                <a:avLst/>
              </a:prstGeom>
              <a:blipFill rotWithShape="1">
                <a:blip r:embed="rId3"/>
                <a:stretch>
                  <a:fillRect l="-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1243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Tree of possible paths reveals the key </a:t>
            </a:r>
            <a:br>
              <a:rPr lang="en-US" sz="3200" b="1" dirty="0"/>
            </a:br>
            <a:r>
              <a:rPr lang="en-US" sz="3200" b="1" dirty="0"/>
              <a:t>to simple, fast, efficient implementation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201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 smtClean="0">
                          <a:latin typeface="Cambria Math"/>
                          <a:ea typeface="Cambria Math"/>
                          <a:cs typeface="Courier New" panose="02070309020205020404" pitchFamily="49" charset="0"/>
                        </a:rPr>
                        <m:t>≡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  <a:cs typeface="Courier New" panose="02070309020205020404" pitchFamily="49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(n-1)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				+1			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</a:t>
                </a: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201163"/>
              </a:xfrm>
              <a:prstGeom prst="rect">
                <a:avLst/>
              </a:prstGeom>
              <a:blipFill rotWithShape="1">
                <a:blip r:embed="rId3"/>
                <a:stretch>
                  <a:fillRect l="-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47374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Tree of possible paths reveals the key </a:t>
            </a:r>
            <a:br>
              <a:rPr lang="en-US" sz="3200" b="1" dirty="0"/>
            </a:br>
            <a:r>
              <a:rPr lang="en-US" sz="3200" b="1" dirty="0"/>
              <a:t>to simple, fast, efficient implementation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365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 smtClean="0">
                          <a:latin typeface="Cambria Math"/>
                          <a:ea typeface="Cambria Math"/>
                          <a:cs typeface="Courier New" panose="02070309020205020404" pitchFamily="49" charset="0"/>
                        </a:rPr>
                        <m:t>≡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  <a:cs typeface="Courier New" panose="02070309020205020404" pitchFamily="49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(n-1)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				+1			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K	</a:t>
                </a: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365310"/>
              </a:xfrm>
              <a:prstGeom prst="rect">
                <a:avLst/>
              </a:prstGeom>
              <a:blipFill rotWithShape="1">
                <a:blip r:embed="rId3"/>
                <a:stretch>
                  <a:fillRect l="-624" b="-4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/>
          <p:cNvCxnSpPr/>
          <p:nvPr/>
        </p:nvCxnSpPr>
        <p:spPr>
          <a:xfrm>
            <a:off x="48768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1243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Tree of possible paths reveals the key </a:t>
            </a:r>
            <a:br>
              <a:rPr lang="en-US" sz="3200" b="1" dirty="0"/>
            </a:br>
            <a:r>
              <a:rPr lang="en-US" sz="3200" b="1" dirty="0"/>
              <a:t>to simple, fast, efficient implementation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365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 smtClean="0">
                          <a:latin typeface="Cambria Math"/>
                          <a:ea typeface="Cambria Math"/>
                          <a:cs typeface="Courier New" panose="02070309020205020404" pitchFamily="49" charset="0"/>
                        </a:rPr>
                        <m:t>≡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  <a:cs typeface="Courier New" panose="02070309020205020404" pitchFamily="49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(n-1)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				+1			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K	-1			+1		 	 K	</a:t>
                </a: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365310"/>
              </a:xfrm>
              <a:prstGeom prst="rect">
                <a:avLst/>
              </a:prstGeom>
              <a:blipFill rotWithShape="1">
                <a:blip r:embed="rId3"/>
                <a:stretch>
                  <a:fillRect l="-624" b="-4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H="1">
            <a:off x="5486400" y="2038350"/>
            <a:ext cx="1066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858000" y="2038350"/>
            <a:ext cx="11430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7056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8768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1243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Tree of possible paths reveals the key </a:t>
            </a:r>
            <a:br>
              <a:rPr lang="en-US" sz="3200" b="1" dirty="0"/>
            </a:br>
            <a:r>
              <a:rPr lang="en-US" sz="3200" b="1" dirty="0"/>
              <a:t>to simple, fast, efficient implementation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857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 smtClean="0">
                          <a:latin typeface="Cambria Math"/>
                          <a:ea typeface="Cambria Math"/>
                          <a:cs typeface="Courier New" panose="02070309020205020404" pitchFamily="49" charset="0"/>
                        </a:rPr>
                        <m:t>≡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  <a:cs typeface="Courier New" panose="02070309020205020404" pitchFamily="49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(n-1)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				+1			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K	-1			+1		 	 K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</a:t>
                </a: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857753"/>
              </a:xfrm>
              <a:prstGeom prst="rect">
                <a:avLst/>
              </a:prstGeom>
              <a:blipFill rotWithShape="1">
                <a:blip r:embed="rId3"/>
                <a:stretch>
                  <a:fillRect l="-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H="1">
            <a:off x="5486400" y="2038350"/>
            <a:ext cx="1066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858000" y="2038350"/>
            <a:ext cx="11430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7056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8768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86106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1243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Tree of possible paths reveals the key </a:t>
            </a:r>
            <a:br>
              <a:rPr lang="en-US" sz="3200" b="1" dirty="0"/>
            </a:br>
            <a:r>
              <a:rPr lang="en-US" sz="3200" b="1" dirty="0"/>
              <a:t>to simple, fast, efficient implementation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947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 smtClean="0">
                          <a:latin typeface="Cambria Math"/>
                          <a:ea typeface="Cambria Math"/>
                          <a:cs typeface="Courier New" panose="02070309020205020404" pitchFamily="49" charset="0"/>
                        </a:rPr>
                        <m:t>≡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  <a:cs typeface="Courier New" panose="02070309020205020404" pitchFamily="49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(n-1)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				+1			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K	-1			+1		 	 K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K	 K	-1 		+1	 	 K	 K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K	 K	 K	-1	+1	 K	 K	 K	 K 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</a:t>
                </a: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947474"/>
              </a:xfrm>
              <a:prstGeom prst="rect">
                <a:avLst/>
              </a:prstGeom>
              <a:blipFill rotWithShape="1">
                <a:blip r:embed="rId3"/>
                <a:stretch>
                  <a:fillRect l="-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H="1">
            <a:off x="5486400" y="2038350"/>
            <a:ext cx="1066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858000" y="2038350"/>
            <a:ext cx="11430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7056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5943600" y="2495550"/>
            <a:ext cx="6096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705600" y="2495550"/>
            <a:ext cx="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858000" y="2495550"/>
            <a:ext cx="685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6324600" y="3028950"/>
            <a:ext cx="22860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705600" y="3028950"/>
            <a:ext cx="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858000" y="2952750"/>
            <a:ext cx="304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8768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8768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48768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3340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3340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7912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86106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86106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86106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81534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1534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6962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1243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Tree of possible paths reveals the key </a:t>
            </a:r>
            <a:br>
              <a:rPr lang="en-US" sz="3200" b="1" dirty="0"/>
            </a:br>
            <a:r>
              <a:rPr lang="en-US" sz="3200" b="1" dirty="0"/>
              <a:t>to simple, fast, efficient implementation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947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 smtClean="0">
                          <a:latin typeface="Cambria Math"/>
                          <a:ea typeface="Cambria Math"/>
                          <a:cs typeface="Courier New" panose="02070309020205020404" pitchFamily="49" charset="0"/>
                        </a:rPr>
                        <m:t>≡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  <a:cs typeface="Courier New" panose="02070309020205020404" pitchFamily="49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(n-1)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				+1			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K	-1			+1		 	 K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K	 K	-1 		+1	 	 K	 K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K	 K	 K	-1	+1	 K	 K	 K	 K 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RESULT:	 P	 P	 P	 P	 	</a:t>
                </a: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947474"/>
              </a:xfrm>
              <a:prstGeom prst="rect">
                <a:avLst/>
              </a:prstGeom>
              <a:blipFill rotWithShape="1">
                <a:blip r:embed="rId3"/>
                <a:stretch>
                  <a:fillRect l="-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H="1">
            <a:off x="5486400" y="2038350"/>
            <a:ext cx="1066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858000" y="2038350"/>
            <a:ext cx="11430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7056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5943600" y="2495550"/>
            <a:ext cx="6096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705600" y="2495550"/>
            <a:ext cx="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858000" y="2495550"/>
            <a:ext cx="685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6324600" y="3028950"/>
            <a:ext cx="22860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705600" y="3028950"/>
            <a:ext cx="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858000" y="2952750"/>
            <a:ext cx="304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8768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8768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48768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3340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3340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7912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86106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86106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86106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81534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1534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6962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48768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48768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48768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53340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3340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57912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692146" y="1809750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6075978" y="3194698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5612104" y="2697454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5161578" y="2224120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243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Tree of possible paths reveals the key </a:t>
            </a:r>
            <a:br>
              <a:rPr lang="en-US" sz="3200" b="1" dirty="0"/>
            </a:br>
            <a:r>
              <a:rPr lang="en-US" sz="3200" b="1" dirty="0"/>
              <a:t>to simple, fast, efficient implementation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947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 smtClean="0">
                          <a:latin typeface="Cambria Math"/>
                          <a:ea typeface="Cambria Math"/>
                          <a:cs typeface="Courier New" panose="02070309020205020404" pitchFamily="49" charset="0"/>
                        </a:rPr>
                        <m:t>≡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  <a:cs typeface="Courier New" panose="02070309020205020404" pitchFamily="49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(n-1)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				+1			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K	-1			+1		 	 K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K	 K	-1 		+1	 	 K	 K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K	 K	 K	-1	+1	 K	 K	 K	 K 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RESULT:	 P	 P	 P	 P	 P	</a:t>
                </a: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947474"/>
              </a:xfrm>
              <a:prstGeom prst="rect">
                <a:avLst/>
              </a:prstGeom>
              <a:blipFill rotWithShape="1">
                <a:blip r:embed="rId3"/>
                <a:stretch>
                  <a:fillRect l="-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H="1">
            <a:off x="5486400" y="2038350"/>
            <a:ext cx="1066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858000" y="2038350"/>
            <a:ext cx="11430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7056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5943600" y="2495550"/>
            <a:ext cx="6096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705600" y="2495550"/>
            <a:ext cx="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858000" y="2495550"/>
            <a:ext cx="685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6324600" y="3028950"/>
            <a:ext cx="22860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705600" y="3028950"/>
            <a:ext cx="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858000" y="2952750"/>
            <a:ext cx="304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8768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8768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48768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3340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3340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7912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86106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86106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86106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81534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1534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6962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542056" y="3194698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692146" y="1809750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6075978" y="3194698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5612104" y="2697454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5161578" y="2224120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290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Tree of possible paths reveals the key </a:t>
            </a:r>
            <a:br>
              <a:rPr lang="en-US" sz="3200" b="1" dirty="0"/>
            </a:br>
            <a:r>
              <a:rPr lang="en-US" sz="3200" b="1" dirty="0"/>
              <a:t>to simple, fast, efficient implementation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8426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 smtClean="0">
                          <a:latin typeface="Cambria Math"/>
                          <a:ea typeface="Cambria Math"/>
                          <a:cs typeface="Courier New" panose="02070309020205020404" pitchFamily="49" charset="0"/>
                        </a:rPr>
                        <m:t>≡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  <a:cs typeface="Courier New" panose="02070309020205020404" pitchFamily="49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(n-1)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				+1			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K	-1			+1		 	 K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K	 K	-1 		+1	 	 K	 K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K	 K	 K	-1	+1	 K	 K	 K	 K 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RESULT:	 P	 P	 P	 P	 P	 C	 C	 C	 C </a:t>
                </a: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42638"/>
              </a:xfrm>
              <a:prstGeom prst="rect">
                <a:avLst/>
              </a:prstGeom>
              <a:blipFill rotWithShape="1">
                <a:blip r:embed="rId3"/>
                <a:stretch>
                  <a:fillRect l="-624" b="-1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H="1">
            <a:off x="5486400" y="2038350"/>
            <a:ext cx="1066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858000" y="2038350"/>
            <a:ext cx="11430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7056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5943600" y="2495550"/>
            <a:ext cx="6096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705600" y="2495550"/>
            <a:ext cx="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858000" y="2495550"/>
            <a:ext cx="685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6324600" y="3028950"/>
            <a:ext cx="22860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705600" y="3028950"/>
            <a:ext cx="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858000" y="2952750"/>
            <a:ext cx="304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8768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8768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48768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3340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3340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7912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86106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86106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86106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81534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1534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6962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692146" y="1809750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6075978" y="3194698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5612104" y="2697454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5161578" y="2224120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6542056" y="3194698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243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Tree of possible paths reveals the key </a:t>
            </a:r>
            <a:br>
              <a:rPr lang="en-US" sz="3200" b="1" dirty="0"/>
            </a:br>
            <a:r>
              <a:rPr lang="en-US" sz="3200" b="1" dirty="0"/>
              <a:t>to simple, fast, efficient implementation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8426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 smtClean="0">
                          <a:latin typeface="Cambria Math"/>
                          <a:ea typeface="Cambria Math"/>
                          <a:cs typeface="Courier New" panose="02070309020205020404" pitchFamily="49" charset="0"/>
                        </a:rPr>
                        <m:t>≡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  <a:cs typeface="Courier New" panose="02070309020205020404" pitchFamily="49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(n-1)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				+1			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K	-1			+1		 	 K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K	 K	-1 		+1	 	 K	 K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K	 K	 K	-1	+1	 K	 K	 K	 K 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RESULT:	 P	 P	 P	 P	 P	 C	 C	 C	 C</a:t>
                </a: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42638"/>
              </a:xfrm>
              <a:prstGeom prst="rect">
                <a:avLst/>
              </a:prstGeom>
              <a:blipFill rotWithShape="1">
                <a:blip r:embed="rId3"/>
                <a:stretch>
                  <a:fillRect l="-624" b="-1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H="1">
            <a:off x="5486400" y="2038350"/>
            <a:ext cx="1066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858000" y="2038350"/>
            <a:ext cx="11430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7056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5943600" y="2495550"/>
            <a:ext cx="6096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705600" y="2495550"/>
            <a:ext cx="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858000" y="2495550"/>
            <a:ext cx="685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6324600" y="3028950"/>
            <a:ext cx="22860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705600" y="3028950"/>
            <a:ext cx="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858000" y="2952750"/>
            <a:ext cx="304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8768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8768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48768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3340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3340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7912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86106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86106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86106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81534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1534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6962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692146" y="1809750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6129370" y="3694728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6582682" y="3691942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6075978" y="3194698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5612104" y="2697454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5161578" y="2224120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6542056" y="3194698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243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Tree of possible paths reveals the key </a:t>
            </a:r>
            <a:br>
              <a:rPr lang="en-US" sz="3200" b="1" dirty="0"/>
            </a:br>
            <a:r>
              <a:rPr lang="en-US" sz="3200" b="1" dirty="0"/>
              <a:t>to simple, fast, efficient implementation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8426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/>
                              <a:cs typeface="Courier New" panose="02070309020205020404" pitchFamily="49" charset="0"/>
                            </a:rPr>
                            <m:t>𝒊</m:t>
                          </m:r>
                        </m:sub>
                      </m:sSub>
                      <m:r>
                        <a:rPr lang="en-US" sz="1600" b="1" i="1" smtClean="0">
                          <a:latin typeface="Cambria Math"/>
                          <a:ea typeface="Cambria Math"/>
                          <a:cs typeface="Courier New" panose="02070309020205020404" pitchFamily="49" charset="0"/>
                        </a:rPr>
                        <m:t>≡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  <a:cs typeface="Courier New" panose="02070309020205020404" pitchFamily="49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  <a:cs typeface="Courier New" panose="02070309020205020404" pitchFamily="49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(n-1)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				+1			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K	-1			+1		 	 K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 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K	 K	-1 		+1	 	 K	 K	 K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a</a:t>
                </a:r>
                <a:r>
                  <a:rPr lang="en-US" sz="1600" b="1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x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K	 K	 K	-1	+1	 K	 K	 K	 K </a:t>
                </a: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tabLst>
                    <a:tab pos="914400" algn="l"/>
                    <a:tab pos="1374775" algn="l"/>
                    <a:tab pos="1828800" algn="l"/>
                    <a:tab pos="2289175" algn="l"/>
                    <a:tab pos="2743200" algn="l"/>
                    <a:tab pos="3203575" algn="l"/>
                    <a:tab pos="3657600" algn="l"/>
                    <a:tab pos="4117975" algn="l"/>
                    <a:tab pos="4572000" algn="l"/>
                    <a:tab pos="5032375" algn="l"/>
                    <a:tab pos="5486400" algn="l"/>
                  </a:tabLst>
                </a:pP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RESULT:	 P	 P	 P	 P	 P	 C	 C	 C	 C</a:t>
                </a: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42638"/>
              </a:xfrm>
              <a:prstGeom prst="rect">
                <a:avLst/>
              </a:prstGeom>
              <a:blipFill rotWithShape="1">
                <a:blip r:embed="rId3"/>
                <a:stretch>
                  <a:fillRect l="-624" b="-1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H="1">
            <a:off x="5486400" y="2038350"/>
            <a:ext cx="1066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858000" y="2038350"/>
            <a:ext cx="11430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7056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5943600" y="2495550"/>
            <a:ext cx="6096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705600" y="2495550"/>
            <a:ext cx="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858000" y="2495550"/>
            <a:ext cx="685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6324600" y="3028950"/>
            <a:ext cx="22860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705600" y="3028950"/>
            <a:ext cx="0" cy="228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858000" y="2952750"/>
            <a:ext cx="3048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8768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8768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48768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3340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3340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7912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8610600" y="21145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86106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86106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81534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153400" y="25717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696200" y="3028950"/>
            <a:ext cx="0" cy="152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692146" y="1809750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758886" y="3714750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5221644" y="3693058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5672170" y="3691942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6129370" y="3694728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6582682" y="3691942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6075978" y="3194698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5612104" y="2697454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5161578" y="2224120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6542056" y="3194698"/>
            <a:ext cx="333166" cy="333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651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is actually quite tame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44444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is actually quite tame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522725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is actually quite tame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Prefilter</a:t>
            </a:r>
            <a:r>
              <a:rPr lang="en-US" sz="1600" b="1" dirty="0"/>
              <a:t> with sieve or Fermat’s Primality Test if desired</a:t>
            </a:r>
          </a:p>
        </p:txBody>
      </p:sp>
    </p:spTree>
    <p:extLst>
      <p:ext uri="{BB962C8B-B14F-4D97-AF65-F5344CB8AC3E}">
        <p14:creationId xmlns:p14="http://schemas.microsoft.com/office/powerpoint/2010/main" val="522725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is actually quite tame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Prefilter</a:t>
            </a:r>
            <a:r>
              <a:rPr lang="en-US" sz="1600" b="1" dirty="0"/>
              <a:t> with sieve or Fermat’s Primality Test if desired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Compute (</a:t>
            </a:r>
            <a:r>
              <a:rPr lang="en-US" sz="1600" b="1" i="1" dirty="0"/>
              <a:t>n</a:t>
            </a:r>
            <a:r>
              <a:rPr lang="en-US" sz="1600" b="1" dirty="0"/>
              <a:t>-1)</a:t>
            </a:r>
          </a:p>
        </p:txBody>
      </p:sp>
    </p:spTree>
    <p:extLst>
      <p:ext uri="{BB962C8B-B14F-4D97-AF65-F5344CB8AC3E}">
        <p14:creationId xmlns:p14="http://schemas.microsoft.com/office/powerpoint/2010/main" val="5227259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is actually quite tame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Prefilter</a:t>
            </a:r>
            <a:r>
              <a:rPr lang="en-US" sz="1600" b="1" dirty="0"/>
              <a:t> with sieve or Fermat’s Primality Test if desired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Compute (</a:t>
            </a:r>
            <a:r>
              <a:rPr lang="en-US" sz="1600" b="1" i="1" dirty="0"/>
              <a:t>n</a:t>
            </a:r>
            <a:r>
              <a:rPr lang="en-US" sz="1600" b="1" dirty="0"/>
              <a:t>-1)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Determine the value of </a:t>
            </a:r>
            <a:r>
              <a:rPr lang="en-US" sz="1600" b="1" i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522725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is actually quite tame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Prefilter</a:t>
            </a:r>
            <a:r>
              <a:rPr lang="en-US" sz="1600" b="1" dirty="0"/>
              <a:t> with sieve or Fermat’s Primality Test if desired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Compute (</a:t>
            </a:r>
            <a:r>
              <a:rPr lang="en-US" sz="1600" b="1" i="1" dirty="0"/>
              <a:t>n</a:t>
            </a:r>
            <a:r>
              <a:rPr lang="en-US" sz="1600" b="1" dirty="0"/>
              <a:t>-1)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Determine the value of </a:t>
            </a:r>
            <a:r>
              <a:rPr lang="en-US" sz="1600" b="1" i="1" dirty="0"/>
              <a:t>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Number of times division by 2 needed to get an odd </a:t>
            </a:r>
            <a:r>
              <a:rPr lang="en-US" sz="1600" b="1" i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522725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is actually quite tame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Prefilter</a:t>
            </a:r>
            <a:r>
              <a:rPr lang="en-US" sz="1600" b="1" dirty="0"/>
              <a:t> with sieve or Fermat’s Primality Test if desired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Compute (</a:t>
            </a:r>
            <a:r>
              <a:rPr lang="en-US" sz="1600" b="1" i="1" dirty="0"/>
              <a:t>n</a:t>
            </a:r>
            <a:r>
              <a:rPr lang="en-US" sz="1600" b="1" dirty="0"/>
              <a:t>-1)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Determine the value of </a:t>
            </a:r>
            <a:r>
              <a:rPr lang="en-US" sz="1600" b="1" i="1" dirty="0"/>
              <a:t>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Number of times division by 2 needed to get an odd </a:t>
            </a:r>
            <a:r>
              <a:rPr lang="en-US" sz="1600" b="1" i="1" dirty="0"/>
              <a:t>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Calculate </a:t>
            </a:r>
            <a:r>
              <a:rPr lang="en-US" sz="1600" b="1" i="1" dirty="0"/>
              <a:t>x</a:t>
            </a:r>
            <a:r>
              <a:rPr lang="en-US" sz="1600" b="1" dirty="0"/>
              <a:t> ≡ </a:t>
            </a:r>
            <a:r>
              <a:rPr lang="en-US" sz="1600" b="1" i="1" dirty="0"/>
              <a:t>a</a:t>
            </a:r>
            <a:r>
              <a:rPr lang="en-US" sz="1600" b="1" baseline="30000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522725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is actually quite tame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Prefilter</a:t>
            </a:r>
            <a:r>
              <a:rPr lang="en-US" sz="1600" b="1" dirty="0"/>
              <a:t> with sieve or Fermat’s Primality Test if desired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Compute (</a:t>
            </a:r>
            <a:r>
              <a:rPr lang="en-US" sz="1600" b="1" i="1" dirty="0"/>
              <a:t>n</a:t>
            </a:r>
            <a:r>
              <a:rPr lang="en-US" sz="1600" b="1" dirty="0"/>
              <a:t>-1)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Determine the value of </a:t>
            </a:r>
            <a:r>
              <a:rPr lang="en-US" sz="1600" b="1" i="1" dirty="0"/>
              <a:t>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Number of times division by 2 needed to get an odd </a:t>
            </a:r>
            <a:r>
              <a:rPr lang="en-US" sz="1600" b="1" i="1" dirty="0"/>
              <a:t>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Calculate </a:t>
            </a:r>
            <a:r>
              <a:rPr lang="en-US" sz="1600" b="1" i="1" dirty="0"/>
              <a:t>x</a:t>
            </a:r>
            <a:r>
              <a:rPr lang="en-US" sz="1600" b="1" dirty="0"/>
              <a:t> ≡ </a:t>
            </a:r>
            <a:r>
              <a:rPr lang="en-US" sz="1600" b="1" i="1" dirty="0"/>
              <a:t>a</a:t>
            </a:r>
            <a:r>
              <a:rPr lang="en-US" sz="1600" b="1" baseline="30000" dirty="0"/>
              <a:t>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congruent to -1, +1, end test with PASS (possible prime)</a:t>
            </a:r>
          </a:p>
        </p:txBody>
      </p:sp>
    </p:spTree>
    <p:extLst>
      <p:ext uri="{BB962C8B-B14F-4D97-AF65-F5344CB8AC3E}">
        <p14:creationId xmlns:p14="http://schemas.microsoft.com/office/powerpoint/2010/main" val="5227259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is actually quite tame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Prefilter</a:t>
            </a:r>
            <a:r>
              <a:rPr lang="en-US" sz="1600" b="1" dirty="0"/>
              <a:t> with sieve or Fermat’s Primality Test if desired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Compute (</a:t>
            </a:r>
            <a:r>
              <a:rPr lang="en-US" sz="1600" b="1" i="1" dirty="0"/>
              <a:t>n</a:t>
            </a:r>
            <a:r>
              <a:rPr lang="en-US" sz="1600" b="1" dirty="0"/>
              <a:t>-1)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Determine the value of </a:t>
            </a:r>
            <a:r>
              <a:rPr lang="en-US" sz="1600" b="1" i="1" dirty="0"/>
              <a:t>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Number of times division by 2 needed to get an odd </a:t>
            </a:r>
            <a:r>
              <a:rPr lang="en-US" sz="1600" b="1" i="1" dirty="0"/>
              <a:t>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Calculate </a:t>
            </a:r>
            <a:r>
              <a:rPr lang="en-US" sz="1600" b="1" i="1" dirty="0"/>
              <a:t>x</a:t>
            </a:r>
            <a:r>
              <a:rPr lang="en-US" sz="1600" b="1" dirty="0"/>
              <a:t> ≡ </a:t>
            </a:r>
            <a:r>
              <a:rPr lang="en-US" sz="1600" b="1" i="1" dirty="0"/>
              <a:t>a</a:t>
            </a:r>
            <a:r>
              <a:rPr lang="en-US" sz="1600" b="1" baseline="30000" dirty="0"/>
              <a:t>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congruent to -1, +1, end test with PASS (possible prime)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Square </a:t>
            </a:r>
            <a:r>
              <a:rPr lang="en-US" sz="1600" b="1" i="1" dirty="0"/>
              <a:t>x</a:t>
            </a:r>
            <a:r>
              <a:rPr lang="en-US" sz="1600" b="1" dirty="0"/>
              <a:t> a total of s times and, at each step</a:t>
            </a:r>
          </a:p>
        </p:txBody>
      </p:sp>
    </p:spTree>
    <p:extLst>
      <p:ext uri="{BB962C8B-B14F-4D97-AF65-F5344CB8AC3E}">
        <p14:creationId xmlns:p14="http://schemas.microsoft.com/office/powerpoint/2010/main" val="5227259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is actually quite tame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Prefilter</a:t>
            </a:r>
            <a:r>
              <a:rPr lang="en-US" sz="1600" b="1" dirty="0"/>
              <a:t> with sieve or Fermat’s Primality Test if desired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Compute (</a:t>
            </a:r>
            <a:r>
              <a:rPr lang="en-US" sz="1600" b="1" i="1" dirty="0"/>
              <a:t>n</a:t>
            </a:r>
            <a:r>
              <a:rPr lang="en-US" sz="1600" b="1" dirty="0"/>
              <a:t>-1)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Determine the value of </a:t>
            </a:r>
            <a:r>
              <a:rPr lang="en-US" sz="1600" b="1" i="1" dirty="0"/>
              <a:t>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Number of times division by 2 needed to get an odd </a:t>
            </a:r>
            <a:r>
              <a:rPr lang="en-US" sz="1600" b="1" i="1" dirty="0"/>
              <a:t>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Calculate </a:t>
            </a:r>
            <a:r>
              <a:rPr lang="en-US" sz="1600" b="1" i="1" dirty="0"/>
              <a:t>x</a:t>
            </a:r>
            <a:r>
              <a:rPr lang="en-US" sz="1600" b="1" dirty="0"/>
              <a:t> ≡ </a:t>
            </a:r>
            <a:r>
              <a:rPr lang="en-US" sz="1600" b="1" i="1" dirty="0"/>
              <a:t>a</a:t>
            </a:r>
            <a:r>
              <a:rPr lang="en-US" sz="1600" b="1" baseline="30000" dirty="0"/>
              <a:t>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congruent to -1, +1, end test with PASS (possible prime)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Square </a:t>
            </a:r>
            <a:r>
              <a:rPr lang="en-US" sz="1600" b="1" i="1" dirty="0"/>
              <a:t>x</a:t>
            </a:r>
            <a:r>
              <a:rPr lang="en-US" sz="1600" b="1" dirty="0"/>
              <a:t> a total of s times and, at each step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</a:t>
            </a:r>
            <a:r>
              <a:rPr lang="en-US" sz="1600" b="1" i="1" dirty="0"/>
              <a:t>x</a:t>
            </a:r>
            <a:r>
              <a:rPr lang="en-US" sz="1600" b="1" dirty="0"/>
              <a:t> ≡ -1 (mod </a:t>
            </a:r>
            <a:r>
              <a:rPr lang="en-US" sz="1600" b="1" i="1" dirty="0"/>
              <a:t>n</a:t>
            </a:r>
            <a:r>
              <a:rPr lang="en-US" sz="1600" b="1" dirty="0"/>
              <a:t>), end test with PASS (possible prime)</a:t>
            </a:r>
          </a:p>
        </p:txBody>
      </p:sp>
    </p:spTree>
    <p:extLst>
      <p:ext uri="{BB962C8B-B14F-4D97-AF65-F5344CB8AC3E}">
        <p14:creationId xmlns:p14="http://schemas.microsoft.com/office/powerpoint/2010/main" val="522725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Miller-Rabin is actually quite tame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Prefilter</a:t>
            </a:r>
            <a:r>
              <a:rPr lang="en-US" sz="1600" b="1" dirty="0"/>
              <a:t> with sieve or Fermat’s Primality Test if desired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Compute (</a:t>
            </a:r>
            <a:r>
              <a:rPr lang="en-US" sz="1600" b="1" i="1" dirty="0"/>
              <a:t>n</a:t>
            </a:r>
            <a:r>
              <a:rPr lang="en-US" sz="1600" b="1" dirty="0"/>
              <a:t>-1)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Determine the value of </a:t>
            </a:r>
            <a:r>
              <a:rPr lang="en-US" sz="1600" b="1" i="1" dirty="0"/>
              <a:t>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Number of times division by 2 needed to get an odd </a:t>
            </a:r>
            <a:r>
              <a:rPr lang="en-US" sz="1600" b="1" i="1" dirty="0"/>
              <a:t>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Calculate </a:t>
            </a:r>
            <a:r>
              <a:rPr lang="en-US" sz="1600" b="1" i="1" dirty="0"/>
              <a:t>x</a:t>
            </a:r>
            <a:r>
              <a:rPr lang="en-US" sz="1600" b="1" dirty="0"/>
              <a:t> ≡ </a:t>
            </a:r>
            <a:r>
              <a:rPr lang="en-US" sz="1600" b="1" i="1" dirty="0"/>
              <a:t>a</a:t>
            </a:r>
            <a:r>
              <a:rPr lang="en-US" sz="1600" b="1" baseline="30000" dirty="0"/>
              <a:t>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congruent to -1, +1, end test with PASS (possible prime)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Square </a:t>
            </a:r>
            <a:r>
              <a:rPr lang="en-US" sz="1600" b="1" i="1" dirty="0"/>
              <a:t>x</a:t>
            </a:r>
            <a:r>
              <a:rPr lang="en-US" sz="1600" b="1" dirty="0"/>
              <a:t> a total of s times and, at each step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</a:t>
            </a:r>
            <a:r>
              <a:rPr lang="en-US" sz="1600" b="1" i="1" dirty="0"/>
              <a:t>x</a:t>
            </a:r>
            <a:r>
              <a:rPr lang="en-US" sz="1600" b="1" dirty="0"/>
              <a:t> ≡ -1 (mod </a:t>
            </a:r>
            <a:r>
              <a:rPr lang="en-US" sz="1600" b="1" i="1" dirty="0"/>
              <a:t>n</a:t>
            </a:r>
            <a:r>
              <a:rPr lang="en-US" sz="1600" b="1" dirty="0"/>
              <a:t>), end test with PASS (possible prime)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End test with COMPOSITE (is not prime)</a:t>
            </a:r>
          </a:p>
        </p:txBody>
      </p:sp>
    </p:spTree>
    <p:extLst>
      <p:ext uri="{BB962C8B-B14F-4D97-AF65-F5344CB8AC3E}">
        <p14:creationId xmlns:p14="http://schemas.microsoft.com/office/powerpoint/2010/main" val="522725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couple examples to wrap it up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65157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couple examples to wrap it up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561 (smallest </a:t>
            </a:r>
            <a:r>
              <a:rPr lang="en-US" sz="1600" b="1" dirty="0" err="1"/>
              <a:t>Charmichael</a:t>
            </a:r>
            <a:r>
              <a:rPr lang="en-US" sz="1600" b="1" dirty="0"/>
              <a:t> number)</a:t>
            </a:r>
          </a:p>
        </p:txBody>
      </p:sp>
    </p:spTree>
    <p:extLst>
      <p:ext uri="{BB962C8B-B14F-4D97-AF65-F5344CB8AC3E}">
        <p14:creationId xmlns:p14="http://schemas.microsoft.com/office/powerpoint/2010/main" val="37725061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couple examples to wrap it up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561 (smallest </a:t>
            </a:r>
            <a:r>
              <a:rPr lang="en-US" sz="1600" b="1" dirty="0" err="1"/>
              <a:t>Charmichael</a:t>
            </a:r>
            <a:r>
              <a:rPr lang="en-US" sz="1600" b="1" dirty="0"/>
              <a:t> number)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s</a:t>
            </a:r>
            <a:r>
              <a:rPr lang="en-US" sz="1600" b="1" dirty="0"/>
              <a:t> = 4, </a:t>
            </a:r>
            <a:r>
              <a:rPr lang="en-US" sz="1600" b="1" i="1" dirty="0"/>
              <a:t>d</a:t>
            </a:r>
            <a:r>
              <a:rPr lang="en-US" sz="1600" b="1" dirty="0"/>
              <a:t> = 35</a:t>
            </a:r>
          </a:p>
        </p:txBody>
      </p:sp>
    </p:spTree>
    <p:extLst>
      <p:ext uri="{BB962C8B-B14F-4D97-AF65-F5344CB8AC3E}">
        <p14:creationId xmlns:p14="http://schemas.microsoft.com/office/powerpoint/2010/main" val="377250618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couple examples to wrap it up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561 (smallest </a:t>
            </a:r>
            <a:r>
              <a:rPr lang="en-US" sz="1600" b="1" dirty="0" err="1"/>
              <a:t>Charmichael</a:t>
            </a:r>
            <a:r>
              <a:rPr lang="en-US" sz="1600" b="1" dirty="0"/>
              <a:t> number)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s</a:t>
            </a:r>
            <a:r>
              <a:rPr lang="en-US" sz="1600" b="1" dirty="0"/>
              <a:t> = 4, </a:t>
            </a:r>
            <a:r>
              <a:rPr lang="en-US" sz="1600" b="1" i="1" dirty="0"/>
              <a:t>d</a:t>
            </a:r>
            <a:r>
              <a:rPr lang="en-US" sz="1600" b="1" dirty="0"/>
              <a:t> = 35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a</a:t>
            </a:r>
            <a:r>
              <a:rPr lang="en-US" sz="1600" b="1" dirty="0"/>
              <a:t> = 7</a:t>
            </a:r>
          </a:p>
        </p:txBody>
      </p:sp>
    </p:spTree>
    <p:extLst>
      <p:ext uri="{BB962C8B-B14F-4D97-AF65-F5344CB8AC3E}">
        <p14:creationId xmlns:p14="http://schemas.microsoft.com/office/powerpoint/2010/main" val="377250618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couple examples to wrap it up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561 (smallest </a:t>
            </a:r>
            <a:r>
              <a:rPr lang="en-US" sz="1600" b="1" dirty="0" err="1"/>
              <a:t>Charmichael</a:t>
            </a:r>
            <a:r>
              <a:rPr lang="en-US" sz="1600" b="1" dirty="0"/>
              <a:t> number)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s</a:t>
            </a:r>
            <a:r>
              <a:rPr lang="en-US" sz="1600" b="1" dirty="0"/>
              <a:t> = 4, </a:t>
            </a:r>
            <a:r>
              <a:rPr lang="en-US" sz="1600" b="1" i="1" dirty="0"/>
              <a:t>d</a:t>
            </a:r>
            <a:r>
              <a:rPr lang="en-US" sz="1600" b="1" dirty="0"/>
              <a:t> = 35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a</a:t>
            </a:r>
            <a:r>
              <a:rPr lang="en-US" sz="1600" b="1" dirty="0"/>
              <a:t> = 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7</a:t>
            </a:r>
            <a:r>
              <a:rPr lang="en-US" sz="1600" b="1" baseline="30000" dirty="0"/>
              <a:t>35</a:t>
            </a:r>
            <a:r>
              <a:rPr lang="en-US" sz="1600" b="1" dirty="0"/>
              <a:t> ≡ 241 (mod 561)</a:t>
            </a:r>
          </a:p>
        </p:txBody>
      </p:sp>
    </p:spTree>
    <p:extLst>
      <p:ext uri="{BB962C8B-B14F-4D97-AF65-F5344CB8AC3E}">
        <p14:creationId xmlns:p14="http://schemas.microsoft.com/office/powerpoint/2010/main" val="377250618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couple examples to wrap it up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561 (smallest </a:t>
            </a:r>
            <a:r>
              <a:rPr lang="en-US" sz="1600" b="1" dirty="0" err="1"/>
              <a:t>Charmichael</a:t>
            </a:r>
            <a:r>
              <a:rPr lang="en-US" sz="1600" b="1" dirty="0"/>
              <a:t> number)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s</a:t>
            </a:r>
            <a:r>
              <a:rPr lang="en-US" sz="1600" b="1" dirty="0"/>
              <a:t> = 4, </a:t>
            </a:r>
            <a:r>
              <a:rPr lang="en-US" sz="1600" b="1" i="1" dirty="0"/>
              <a:t>d</a:t>
            </a:r>
            <a:r>
              <a:rPr lang="en-US" sz="1600" b="1" dirty="0"/>
              <a:t> = 35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a</a:t>
            </a:r>
            <a:r>
              <a:rPr lang="en-US" sz="1600" b="1" dirty="0"/>
              <a:t> = 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7</a:t>
            </a:r>
            <a:r>
              <a:rPr lang="en-US" sz="1600" b="1" baseline="30000" dirty="0"/>
              <a:t>35</a:t>
            </a:r>
            <a:r>
              <a:rPr lang="en-US" sz="1600" b="1" dirty="0"/>
              <a:t> ≡ 241 (mod 561)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Four squares: 298, 166, 67, 1</a:t>
            </a:r>
          </a:p>
        </p:txBody>
      </p:sp>
    </p:spTree>
    <p:extLst>
      <p:ext uri="{BB962C8B-B14F-4D97-AF65-F5344CB8AC3E}">
        <p14:creationId xmlns:p14="http://schemas.microsoft.com/office/powerpoint/2010/main" val="377250618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couple examples to wrap it up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561 (smallest </a:t>
            </a:r>
            <a:r>
              <a:rPr lang="en-US" sz="1600" b="1" dirty="0" err="1"/>
              <a:t>Charmichael</a:t>
            </a:r>
            <a:r>
              <a:rPr lang="en-US" sz="1600" b="1" dirty="0"/>
              <a:t> number)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s</a:t>
            </a:r>
            <a:r>
              <a:rPr lang="en-US" sz="1600" b="1" dirty="0"/>
              <a:t> = 4, </a:t>
            </a:r>
            <a:r>
              <a:rPr lang="en-US" sz="1600" b="1" i="1" dirty="0"/>
              <a:t>d</a:t>
            </a:r>
            <a:r>
              <a:rPr lang="en-US" sz="1600" b="1" dirty="0"/>
              <a:t> = 35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a</a:t>
            </a:r>
            <a:r>
              <a:rPr lang="en-US" sz="1600" b="1" dirty="0"/>
              <a:t> = 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7</a:t>
            </a:r>
            <a:r>
              <a:rPr lang="en-US" sz="1600" b="1" baseline="30000" dirty="0"/>
              <a:t>35</a:t>
            </a:r>
            <a:r>
              <a:rPr lang="en-US" sz="1600" b="1" dirty="0"/>
              <a:t> ≡ 241 (mod 561)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Four squares: 298, 166, 67,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561 is NOT prime</a:t>
            </a:r>
          </a:p>
        </p:txBody>
      </p:sp>
    </p:spTree>
    <p:extLst>
      <p:ext uri="{BB962C8B-B14F-4D97-AF65-F5344CB8AC3E}">
        <p14:creationId xmlns:p14="http://schemas.microsoft.com/office/powerpoint/2010/main" val="377250618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couple examples to wrap it up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561 (smallest </a:t>
            </a:r>
            <a:r>
              <a:rPr lang="en-US" sz="1600" b="1" dirty="0" err="1"/>
              <a:t>Charmichael</a:t>
            </a:r>
            <a:r>
              <a:rPr lang="en-US" sz="1600" b="1" dirty="0"/>
              <a:t> number)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s</a:t>
            </a:r>
            <a:r>
              <a:rPr lang="en-US" sz="1600" b="1" dirty="0"/>
              <a:t> = 4, </a:t>
            </a:r>
            <a:r>
              <a:rPr lang="en-US" sz="1600" b="1" i="1" dirty="0"/>
              <a:t>d</a:t>
            </a:r>
            <a:r>
              <a:rPr lang="en-US" sz="1600" b="1" dirty="0"/>
              <a:t> = 35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a</a:t>
            </a:r>
            <a:r>
              <a:rPr lang="en-US" sz="1600" b="1" dirty="0"/>
              <a:t> = 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7</a:t>
            </a:r>
            <a:r>
              <a:rPr lang="en-US" sz="1600" b="1" baseline="30000" dirty="0"/>
              <a:t>35</a:t>
            </a:r>
            <a:r>
              <a:rPr lang="en-US" sz="1600" b="1" dirty="0"/>
              <a:t> ≡ 241 (mod 561)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Four squares: 298, 166, 67,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561 is NOT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563</a:t>
            </a:r>
          </a:p>
        </p:txBody>
      </p:sp>
    </p:spTree>
    <p:extLst>
      <p:ext uri="{BB962C8B-B14F-4D97-AF65-F5344CB8AC3E}">
        <p14:creationId xmlns:p14="http://schemas.microsoft.com/office/powerpoint/2010/main" val="377250618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couple examples to wrap it up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561 (smallest </a:t>
            </a:r>
            <a:r>
              <a:rPr lang="en-US" sz="1600" b="1" dirty="0" err="1"/>
              <a:t>Charmichael</a:t>
            </a:r>
            <a:r>
              <a:rPr lang="en-US" sz="1600" b="1" dirty="0"/>
              <a:t> number)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s</a:t>
            </a:r>
            <a:r>
              <a:rPr lang="en-US" sz="1600" b="1" dirty="0"/>
              <a:t> = 4, </a:t>
            </a:r>
            <a:r>
              <a:rPr lang="en-US" sz="1600" b="1" i="1" dirty="0"/>
              <a:t>d</a:t>
            </a:r>
            <a:r>
              <a:rPr lang="en-US" sz="1600" b="1" dirty="0"/>
              <a:t> = 35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a</a:t>
            </a:r>
            <a:r>
              <a:rPr lang="en-US" sz="1600" b="1" dirty="0"/>
              <a:t> = 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7</a:t>
            </a:r>
            <a:r>
              <a:rPr lang="en-US" sz="1600" b="1" baseline="30000" dirty="0"/>
              <a:t>35</a:t>
            </a:r>
            <a:r>
              <a:rPr lang="en-US" sz="1600" b="1" dirty="0"/>
              <a:t> ≡ 241 (mod 561)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Four squares: 298, 166, 67,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561 is NOT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s</a:t>
            </a:r>
            <a:r>
              <a:rPr lang="en-US" sz="1600" b="1" dirty="0"/>
              <a:t> = 1, </a:t>
            </a:r>
            <a:r>
              <a:rPr lang="en-US" sz="1600" b="1" i="1" dirty="0"/>
              <a:t>d</a:t>
            </a:r>
            <a:r>
              <a:rPr lang="en-US" sz="1600" b="1" dirty="0"/>
              <a:t> = 281</a:t>
            </a:r>
          </a:p>
        </p:txBody>
      </p:sp>
    </p:spTree>
    <p:extLst>
      <p:ext uri="{BB962C8B-B14F-4D97-AF65-F5344CB8AC3E}">
        <p14:creationId xmlns:p14="http://schemas.microsoft.com/office/powerpoint/2010/main" val="377250618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couple examples to wrap it up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561 (smallest </a:t>
            </a:r>
            <a:r>
              <a:rPr lang="en-US" sz="1600" b="1" dirty="0" err="1"/>
              <a:t>Charmichael</a:t>
            </a:r>
            <a:r>
              <a:rPr lang="en-US" sz="1600" b="1" dirty="0"/>
              <a:t> number)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s</a:t>
            </a:r>
            <a:r>
              <a:rPr lang="en-US" sz="1600" b="1" dirty="0"/>
              <a:t> = 4, </a:t>
            </a:r>
            <a:r>
              <a:rPr lang="en-US" sz="1600" b="1" i="1" dirty="0"/>
              <a:t>d</a:t>
            </a:r>
            <a:r>
              <a:rPr lang="en-US" sz="1600" b="1" dirty="0"/>
              <a:t> = 35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a</a:t>
            </a:r>
            <a:r>
              <a:rPr lang="en-US" sz="1600" b="1" dirty="0"/>
              <a:t> = 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7</a:t>
            </a:r>
            <a:r>
              <a:rPr lang="en-US" sz="1600" b="1" baseline="30000" dirty="0"/>
              <a:t>35</a:t>
            </a:r>
            <a:r>
              <a:rPr lang="en-US" sz="1600" b="1" dirty="0"/>
              <a:t> ≡ 241 (mod 561)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Four squares: 298, 166, 67,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561 is NOT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s</a:t>
            </a:r>
            <a:r>
              <a:rPr lang="en-US" sz="1600" b="1" dirty="0"/>
              <a:t> = 1, </a:t>
            </a:r>
            <a:r>
              <a:rPr lang="en-US" sz="1600" b="1" i="1" dirty="0"/>
              <a:t>d</a:t>
            </a:r>
            <a:r>
              <a:rPr lang="en-US" sz="1600" b="1" dirty="0"/>
              <a:t> = 281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a</a:t>
            </a:r>
            <a:r>
              <a:rPr lang="en-US" sz="1600" b="1" dirty="0"/>
              <a:t> = 7</a:t>
            </a:r>
          </a:p>
        </p:txBody>
      </p:sp>
    </p:spTree>
    <p:extLst>
      <p:ext uri="{BB962C8B-B14F-4D97-AF65-F5344CB8AC3E}">
        <p14:creationId xmlns:p14="http://schemas.microsoft.com/office/powerpoint/2010/main" val="37725061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couple examples to wrap it up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561 (smallest </a:t>
            </a:r>
            <a:r>
              <a:rPr lang="en-US" sz="1600" b="1" dirty="0" err="1"/>
              <a:t>Charmichael</a:t>
            </a:r>
            <a:r>
              <a:rPr lang="en-US" sz="1600" b="1" dirty="0"/>
              <a:t> number)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s</a:t>
            </a:r>
            <a:r>
              <a:rPr lang="en-US" sz="1600" b="1" dirty="0"/>
              <a:t> = 4, </a:t>
            </a:r>
            <a:r>
              <a:rPr lang="en-US" sz="1600" b="1" i="1" dirty="0"/>
              <a:t>d</a:t>
            </a:r>
            <a:r>
              <a:rPr lang="en-US" sz="1600" b="1" dirty="0"/>
              <a:t> = 35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a</a:t>
            </a:r>
            <a:r>
              <a:rPr lang="en-US" sz="1600" b="1" dirty="0"/>
              <a:t> = 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7</a:t>
            </a:r>
            <a:r>
              <a:rPr lang="en-US" sz="1600" b="1" baseline="30000" dirty="0"/>
              <a:t>35</a:t>
            </a:r>
            <a:r>
              <a:rPr lang="en-US" sz="1600" b="1" dirty="0"/>
              <a:t> ≡ 241 (mod 561)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Four squares: 298, 166, 67,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561 is NOT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s</a:t>
            </a:r>
            <a:r>
              <a:rPr lang="en-US" sz="1600" b="1" dirty="0"/>
              <a:t> = 1, </a:t>
            </a:r>
            <a:r>
              <a:rPr lang="en-US" sz="1600" b="1" i="1" dirty="0"/>
              <a:t>d</a:t>
            </a:r>
            <a:r>
              <a:rPr lang="en-US" sz="1600" b="1" dirty="0"/>
              <a:t> = 281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a</a:t>
            </a:r>
            <a:r>
              <a:rPr lang="en-US" sz="1600" b="1" dirty="0"/>
              <a:t> = 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7</a:t>
            </a:r>
            <a:r>
              <a:rPr lang="en-US" sz="1600" b="1" baseline="30000" dirty="0"/>
              <a:t>281</a:t>
            </a:r>
            <a:r>
              <a:rPr lang="en-US" sz="1600" b="1" dirty="0"/>
              <a:t> ≡ -1</a:t>
            </a:r>
          </a:p>
        </p:txBody>
      </p:sp>
    </p:spTree>
    <p:extLst>
      <p:ext uri="{BB962C8B-B14F-4D97-AF65-F5344CB8AC3E}">
        <p14:creationId xmlns:p14="http://schemas.microsoft.com/office/powerpoint/2010/main" val="377250618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A couple examples to wrap it up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561 (smallest </a:t>
            </a:r>
            <a:r>
              <a:rPr lang="en-US" sz="1600" b="1" dirty="0" err="1"/>
              <a:t>Charmichael</a:t>
            </a:r>
            <a:r>
              <a:rPr lang="en-US" sz="1600" b="1" dirty="0"/>
              <a:t> number)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s</a:t>
            </a:r>
            <a:r>
              <a:rPr lang="en-US" sz="1600" b="1" dirty="0"/>
              <a:t> = 4, </a:t>
            </a:r>
            <a:r>
              <a:rPr lang="en-US" sz="1600" b="1" i="1" dirty="0"/>
              <a:t>d</a:t>
            </a:r>
            <a:r>
              <a:rPr lang="en-US" sz="1600" b="1" dirty="0"/>
              <a:t> = 35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a</a:t>
            </a:r>
            <a:r>
              <a:rPr lang="en-US" sz="1600" b="1" dirty="0"/>
              <a:t> = 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7</a:t>
            </a:r>
            <a:r>
              <a:rPr lang="en-US" sz="1600" b="1" baseline="30000" dirty="0"/>
              <a:t>35</a:t>
            </a:r>
            <a:r>
              <a:rPr lang="en-US" sz="1600" b="1" dirty="0"/>
              <a:t> ≡ 241 (mod 561)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Four squares: 298, 166, 67,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561 is NOT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n</a:t>
            </a:r>
            <a:r>
              <a:rPr lang="en-US" sz="1600" b="1" dirty="0"/>
              <a:t> = 563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s</a:t>
            </a:r>
            <a:r>
              <a:rPr lang="en-US" sz="1600" b="1" dirty="0"/>
              <a:t> = 1, </a:t>
            </a:r>
            <a:r>
              <a:rPr lang="en-US" sz="1600" b="1" i="1" dirty="0"/>
              <a:t>d</a:t>
            </a:r>
            <a:r>
              <a:rPr lang="en-US" sz="1600" b="1" dirty="0"/>
              <a:t> = 281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a</a:t>
            </a:r>
            <a:r>
              <a:rPr lang="en-US" sz="1600" b="1" dirty="0"/>
              <a:t> = 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7</a:t>
            </a:r>
            <a:r>
              <a:rPr lang="en-US" sz="1600" b="1" baseline="30000" dirty="0"/>
              <a:t>281</a:t>
            </a:r>
            <a:r>
              <a:rPr lang="en-US" sz="1600" b="1" dirty="0"/>
              <a:t> ≡ -1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563 MAY be prime</a:t>
            </a:r>
          </a:p>
        </p:txBody>
      </p:sp>
    </p:spTree>
    <p:extLst>
      <p:ext uri="{BB962C8B-B14F-4D97-AF65-F5344CB8AC3E}">
        <p14:creationId xmlns:p14="http://schemas.microsoft.com/office/powerpoint/2010/main" val="3772506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36340</TotalTime>
  <Words>4061</Words>
  <Application>Microsoft Office PowerPoint</Application>
  <PresentationFormat>On-screen Show (16:9)</PresentationFormat>
  <Paragraphs>927</Paragraphs>
  <Slides>90</Slides>
  <Notes>90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5" baseType="lpstr">
      <vt:lpstr>Arial</vt:lpstr>
      <vt:lpstr>Calibri</vt:lpstr>
      <vt:lpstr>Cambria Math</vt:lpstr>
      <vt:lpstr>Courier New</vt:lpstr>
      <vt:lpstr>Office Theme</vt:lpstr>
      <vt:lpstr>Miller-Rabin overcomes  the major flaw of Fermat’s Primality Test</vt:lpstr>
      <vt:lpstr>Miller-Rabin overcomes  the major flaw of Fermat’s Primality Test</vt:lpstr>
      <vt:lpstr>Miller-Rabin overcomes  the major flaw of Fermat’s Primality Test</vt:lpstr>
      <vt:lpstr>Miller-Rabin overcomes  the major flaw of Fermat’s Primality Test</vt:lpstr>
      <vt:lpstr>Miller-Rabin overcomes  the major flaw of Fermat’s Primality Test</vt:lpstr>
      <vt:lpstr>Miller-Rabin overcomes  the major flaw of Fermat’s Primality Test</vt:lpstr>
      <vt:lpstr>Miller-Rabin overcomes  the major flaw of Fermat’s Primality Test</vt:lpstr>
      <vt:lpstr>Miller-Rabin overcomes  the major flaw of Fermat’s Primality Test</vt:lpstr>
      <vt:lpstr>There can be more than two square roots of 1 </vt:lpstr>
      <vt:lpstr>There can be more than two square roots of 1 </vt:lpstr>
      <vt:lpstr>There can be more than two square roots of 1 </vt:lpstr>
      <vt:lpstr>There can be more than two square roots of 1 </vt:lpstr>
      <vt:lpstr>There can be more than two square roots of 1 </vt:lpstr>
      <vt:lpstr>There can be more than two square roots of 1 </vt:lpstr>
      <vt:lpstr>There can be more than two square roots of 1 </vt:lpstr>
      <vt:lpstr>There can be more than two square roots of 1 </vt:lpstr>
      <vt:lpstr>There can be more than two square roots of 1 </vt:lpstr>
      <vt:lpstr>There can be more than two square roots of 1 EXCEPT when the modulus is prime</vt:lpstr>
      <vt:lpstr>There can be more than two square roots of 1 EXCEPT when the modulus is prime</vt:lpstr>
      <vt:lpstr>There can be more than two square roots of 1 EXCEPT when the modulus is prime</vt:lpstr>
      <vt:lpstr>There can be more than two square roots of 1 EXCEPT when the modulus is prime</vt:lpstr>
      <vt:lpstr>There can be more than two square roots of 1 EXCEPT when the modulus is prime</vt:lpstr>
      <vt:lpstr>There can be more than two square roots of 1 EXCEPT when the modulus is prime</vt:lpstr>
      <vt:lpstr>There can be more than two square roots of 1 EXCEPT when the modulus is prime</vt:lpstr>
      <vt:lpstr>There can be more than two square roots of 1 EXCEPT when the modulus is prime</vt:lpstr>
      <vt:lpstr>Fermat’s Little Theorem lets us cheat</vt:lpstr>
      <vt:lpstr>Fermat’s Little Theorem lets us cheat</vt:lpstr>
      <vt:lpstr>Fermat’s Little Theorem lets us cheat</vt:lpstr>
      <vt:lpstr>Fermat’s Little Theorem lets us cheat</vt:lpstr>
      <vt:lpstr>Fermat’s Little Theorem lets us cheat</vt:lpstr>
      <vt:lpstr>Fermat’s Little Theorem lets us cheat</vt:lpstr>
      <vt:lpstr>Fermat’s Little Theorem lets us cheat</vt:lpstr>
      <vt:lpstr>Fermat’s Little Theorem lets us cheat</vt:lpstr>
      <vt:lpstr>Fermat’s Little Theorem lets us cheat</vt:lpstr>
      <vt:lpstr>Fermat’s Little Theorem lets us cheat</vt:lpstr>
      <vt:lpstr>Fermat’s Little Theorem lets us cheat</vt:lpstr>
      <vt:lpstr>Fermat’s Little Theorem lets us cheat</vt:lpstr>
      <vt:lpstr>Choosing the proper value for ad  is as simple as dividing by two</vt:lpstr>
      <vt:lpstr>Choosing the proper value for ad  is as simple as dividing by two</vt:lpstr>
      <vt:lpstr>Choosing the proper value for ad  is as simple as dividing by two</vt:lpstr>
      <vt:lpstr>Choosing the proper value for ad  is as simple as dividing by two</vt:lpstr>
      <vt:lpstr>Choosing the proper value for ad  is as simple as dividing by two</vt:lpstr>
      <vt:lpstr>Choosing the proper value for ad  is as simple as dividing by two</vt:lpstr>
      <vt:lpstr>Choosing the proper value for ad  is as simple as dividing by two</vt:lpstr>
      <vt:lpstr>Choosing the proper value for ad  is as simple as dividing by two</vt:lpstr>
      <vt:lpstr>Conceptual algorithm designed downward , but implementation is a simple loop flowing upward</vt:lpstr>
      <vt:lpstr>Conceptual algorithm designed downward , but implementation is a simple loop flowing upward</vt:lpstr>
      <vt:lpstr>Conceptual algorithm designed downward , but implementation is a simple loop flowing upward</vt:lpstr>
      <vt:lpstr>Conceptual algorithm designed downward , but implementation is a simple loop flowing upward</vt:lpstr>
      <vt:lpstr>Conceptual algorithm designed downward , but implementation is a simple loop flowing upward</vt:lpstr>
      <vt:lpstr>Conceptual algorithm designed downward , but implementation is a simple loop flowing upward</vt:lpstr>
      <vt:lpstr>Conceptual algorithm designed downward , but implementation is a simple loop flowing upward</vt:lpstr>
      <vt:lpstr>Conceptual algorithm designed downward , but implementation is a simple loop flowing upward</vt:lpstr>
      <vt:lpstr>Conceptual algorithm designed downward , but implementation is a simple loop flowing upward</vt:lpstr>
      <vt:lpstr>Tree of possible paths reveals the key  to simple, fast, efficient implementation</vt:lpstr>
      <vt:lpstr>Tree of possible paths reveals the key  to simple, fast, efficient implementation</vt:lpstr>
      <vt:lpstr>Tree of possible paths reveals the key  to simple, fast, efficient implementation</vt:lpstr>
      <vt:lpstr>Tree of possible paths reveals the key  to simple, fast, efficient implementation</vt:lpstr>
      <vt:lpstr>Tree of possible paths reveals the key  to simple, fast, efficient implementation</vt:lpstr>
      <vt:lpstr>Tree of possible paths reveals the key  to simple, fast, efficient implementation</vt:lpstr>
      <vt:lpstr>Tree of possible paths reveals the key  to simple, fast, efficient implementation</vt:lpstr>
      <vt:lpstr>Tree of possible paths reveals the key  to simple, fast, efficient implementation</vt:lpstr>
      <vt:lpstr>Tree of possible paths reveals the key  to simple, fast, efficient implementation</vt:lpstr>
      <vt:lpstr>Tree of possible paths reveals the key  to simple, fast, efficient implementation</vt:lpstr>
      <vt:lpstr>Tree of possible paths reveals the key  to simple, fast, efficient implementation</vt:lpstr>
      <vt:lpstr>Tree of possible paths reveals the key  to simple, fast, efficient implementation</vt:lpstr>
      <vt:lpstr>Tree of possible paths reveals the key  to simple, fast, efficient implementation</vt:lpstr>
      <vt:lpstr>Miller-Rabin is actually quite tame</vt:lpstr>
      <vt:lpstr>Miller-Rabin is actually quite tame</vt:lpstr>
      <vt:lpstr>Miller-Rabin is actually quite tame</vt:lpstr>
      <vt:lpstr>Miller-Rabin is actually quite tame</vt:lpstr>
      <vt:lpstr>Miller-Rabin is actually quite tame</vt:lpstr>
      <vt:lpstr>Miller-Rabin is actually quite tame</vt:lpstr>
      <vt:lpstr>Miller-Rabin is actually quite tame</vt:lpstr>
      <vt:lpstr>Miller-Rabin is actually quite tame</vt:lpstr>
      <vt:lpstr>Miller-Rabin is actually quite tame</vt:lpstr>
      <vt:lpstr>Miller-Rabin is actually quite tame</vt:lpstr>
      <vt:lpstr>Miller-Rabin is actually quite tame</vt:lpstr>
      <vt:lpstr>A couple examples to wrap it up</vt:lpstr>
      <vt:lpstr>A couple examples to wrap it up</vt:lpstr>
      <vt:lpstr>A couple examples to wrap it up</vt:lpstr>
      <vt:lpstr>A couple examples to wrap it up</vt:lpstr>
      <vt:lpstr>A couple examples to wrap it up</vt:lpstr>
      <vt:lpstr>A couple examples to wrap it up</vt:lpstr>
      <vt:lpstr>A couple examples to wrap it up</vt:lpstr>
      <vt:lpstr>A couple examples to wrap it up</vt:lpstr>
      <vt:lpstr>A couple examples to wrap it up</vt:lpstr>
      <vt:lpstr>A couple examples to wrap it up</vt:lpstr>
      <vt:lpstr>A couple examples to wrap it up</vt:lpstr>
      <vt:lpstr>A couple examples to wrap it up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153</cp:revision>
  <dcterms:created xsi:type="dcterms:W3CDTF">2017-04-06T17:43:22Z</dcterms:created>
  <dcterms:modified xsi:type="dcterms:W3CDTF">2017-09-16T00:07:24Z</dcterms:modified>
</cp:coreProperties>
</file>