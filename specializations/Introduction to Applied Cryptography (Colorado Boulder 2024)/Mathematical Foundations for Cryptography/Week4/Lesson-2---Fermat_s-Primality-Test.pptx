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4"/>
  </p:notesMasterIdLst>
  <p:sldIdLst>
    <p:sldId id="520" r:id="rId2"/>
    <p:sldId id="524" r:id="rId3"/>
    <p:sldId id="525" r:id="rId4"/>
    <p:sldId id="526" r:id="rId5"/>
    <p:sldId id="527" r:id="rId6"/>
    <p:sldId id="528" r:id="rId7"/>
    <p:sldId id="529" r:id="rId8"/>
    <p:sldId id="530" r:id="rId9"/>
    <p:sldId id="531" r:id="rId10"/>
    <p:sldId id="532" r:id="rId11"/>
    <p:sldId id="521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  <p:sldId id="541" r:id="rId21"/>
    <p:sldId id="542" r:id="rId22"/>
    <p:sldId id="522" r:id="rId23"/>
    <p:sldId id="543" r:id="rId24"/>
    <p:sldId id="544" r:id="rId25"/>
    <p:sldId id="545" r:id="rId26"/>
    <p:sldId id="546" r:id="rId27"/>
    <p:sldId id="547" r:id="rId28"/>
    <p:sldId id="548" r:id="rId29"/>
    <p:sldId id="549" r:id="rId30"/>
    <p:sldId id="550" r:id="rId31"/>
    <p:sldId id="523" r:id="rId32"/>
    <p:sldId id="551" r:id="rId33"/>
    <p:sldId id="552" r:id="rId34"/>
    <p:sldId id="553" r:id="rId35"/>
    <p:sldId id="554" r:id="rId36"/>
    <p:sldId id="555" r:id="rId37"/>
    <p:sldId id="556" r:id="rId38"/>
    <p:sldId id="557" r:id="rId39"/>
    <p:sldId id="558" r:id="rId40"/>
    <p:sldId id="559" r:id="rId41"/>
    <p:sldId id="560" r:id="rId42"/>
    <p:sldId id="561" r:id="rId4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21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Probabilistic 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Probabilistic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fails, number is NOT prime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Probabilistic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fails, number is NOT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passes, number MAY be prime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Probabilistic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fails, number is NOT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passes, number MAY be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Based on Fermat’s Little Theorem</a:t>
            </a:r>
          </a:p>
          <a:p>
            <a:pPr lvl="2"/>
            <a:r>
              <a:rPr lang="en-US" sz="16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Primality tests seek to determine </a:t>
            </a:r>
            <a:br>
              <a:rPr lang="en-US" sz="3200" b="1" dirty="0"/>
            </a:br>
            <a:r>
              <a:rPr lang="en-US" sz="3200" b="1" dirty="0"/>
              <a:t>if a number is prime without factoring it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Factoring large numbers is hard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Can keep choosing larger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Primality tests do not attempt to factor the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Fermat’s Primality 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Probabilistic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fails, number is NOT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it passes, number MAY be prime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Based on Fermat’s Little Theorem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dirty="0" err="1"/>
              <a:t>a</a:t>
            </a:r>
            <a:r>
              <a:rPr lang="en-US" sz="1600" b="1" baseline="30000" dirty="0" err="1"/>
              <a:t>p</a:t>
            </a:r>
            <a:r>
              <a:rPr lang="en-US" sz="1600" b="1" dirty="0"/>
              <a:t> ≡ a (mod p)</a:t>
            </a:r>
          </a:p>
        </p:txBody>
      </p:sp>
    </p:spTree>
    <p:extLst>
      <p:ext uri="{BB962C8B-B14F-4D97-AF65-F5344CB8AC3E}">
        <p14:creationId xmlns:p14="http://schemas.microsoft.com/office/powerpoint/2010/main" val="230999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504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value of </a:t>
            </a:r>
            <a:r>
              <a:rPr lang="en-US" sz="1600" b="1" i="1" dirty="0"/>
              <a:t>a</a:t>
            </a:r>
            <a:r>
              <a:rPr lang="en-US" sz="1600" b="1" dirty="0"/>
              <a:t> such that 1 &lt; </a:t>
            </a:r>
            <a:r>
              <a:rPr lang="en-US" sz="1600" b="1" i="1" dirty="0"/>
              <a:t>a</a:t>
            </a:r>
            <a:r>
              <a:rPr lang="en-US" sz="1600" b="1" dirty="0"/>
              <a:t> &lt; </a:t>
            </a:r>
            <a:r>
              <a:rPr lang="en-US" sz="1600" b="1" i="1" dirty="0"/>
              <a:t>p</a:t>
            </a:r>
            <a:r>
              <a:rPr lang="en-US" sz="1600" b="1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value of </a:t>
            </a:r>
            <a:r>
              <a:rPr lang="en-US" sz="1600" b="1" i="1" dirty="0"/>
              <a:t>a</a:t>
            </a:r>
            <a:r>
              <a:rPr lang="en-US" sz="1600" b="1" dirty="0"/>
              <a:t> such that 1 &lt; </a:t>
            </a:r>
            <a:r>
              <a:rPr lang="en-US" sz="1600" b="1" i="1" dirty="0"/>
              <a:t>a</a:t>
            </a:r>
            <a:r>
              <a:rPr lang="en-US" sz="1600" b="1" dirty="0"/>
              <a:t> &lt; </a:t>
            </a:r>
            <a:r>
              <a:rPr lang="en-US" sz="1600" b="1" i="1" dirty="0"/>
              <a:t>p</a:t>
            </a:r>
            <a:r>
              <a:rPr lang="en-US" sz="1600" b="1" dirty="0"/>
              <a:t>-1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Check if 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value of </a:t>
            </a:r>
            <a:r>
              <a:rPr lang="en-US" sz="1600" b="1" i="1" dirty="0"/>
              <a:t>a</a:t>
            </a:r>
            <a:r>
              <a:rPr lang="en-US" sz="1600" b="1" dirty="0"/>
              <a:t> such that 1 &lt; </a:t>
            </a:r>
            <a:r>
              <a:rPr lang="en-US" sz="1600" b="1" i="1" dirty="0"/>
              <a:t>a</a:t>
            </a:r>
            <a:r>
              <a:rPr lang="en-US" sz="1600" b="1" dirty="0"/>
              <a:t> &lt; </a:t>
            </a:r>
            <a:r>
              <a:rPr lang="en-US" sz="1600" b="1" i="1" dirty="0"/>
              <a:t>p</a:t>
            </a:r>
            <a:r>
              <a:rPr lang="en-US" sz="1600" b="1" dirty="0"/>
              <a:t>-1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Check if 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NO: </a:t>
            </a:r>
            <a:r>
              <a:rPr lang="en-US" sz="1600" b="1" i="1" dirty="0"/>
              <a:t>a</a:t>
            </a:r>
            <a:r>
              <a:rPr lang="en-US" sz="1600" b="1" dirty="0"/>
              <a:t> is a Fermat witness to compositeness of </a:t>
            </a:r>
            <a:r>
              <a:rPr lang="en-US" sz="1600" b="1" i="1" dirty="0"/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value of </a:t>
            </a:r>
            <a:r>
              <a:rPr lang="en-US" sz="1600" b="1" i="1" dirty="0"/>
              <a:t>a</a:t>
            </a:r>
            <a:r>
              <a:rPr lang="en-US" sz="1600" b="1" dirty="0"/>
              <a:t> such that 1 &lt; </a:t>
            </a:r>
            <a:r>
              <a:rPr lang="en-US" sz="1600" b="1" i="1" dirty="0"/>
              <a:t>a</a:t>
            </a:r>
            <a:r>
              <a:rPr lang="en-US" sz="1600" b="1" dirty="0"/>
              <a:t> &lt; </a:t>
            </a:r>
            <a:r>
              <a:rPr lang="en-US" sz="1600" b="1" i="1" dirty="0"/>
              <a:t>p</a:t>
            </a:r>
            <a:r>
              <a:rPr lang="en-US" sz="1600" b="1" dirty="0"/>
              <a:t>-1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Check if 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NO: </a:t>
            </a:r>
            <a:r>
              <a:rPr lang="en-US" sz="1600" b="1" i="1" dirty="0"/>
              <a:t>a</a:t>
            </a:r>
            <a:r>
              <a:rPr lang="en-US" sz="1600" b="1" dirty="0"/>
              <a:t> is a Fermat witness to compositeness of </a:t>
            </a:r>
            <a:r>
              <a:rPr lang="en-US" sz="1600" b="1" i="1" dirty="0"/>
              <a:t>p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YES: two possibilities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value of </a:t>
            </a:r>
            <a:r>
              <a:rPr lang="en-US" sz="1600" b="1" i="1" dirty="0"/>
              <a:t>a</a:t>
            </a:r>
            <a:r>
              <a:rPr lang="en-US" sz="1600" b="1" dirty="0"/>
              <a:t> such that 1 &lt; </a:t>
            </a:r>
            <a:r>
              <a:rPr lang="en-US" sz="1600" b="1" i="1" dirty="0"/>
              <a:t>a</a:t>
            </a:r>
            <a:r>
              <a:rPr lang="en-US" sz="1600" b="1" dirty="0"/>
              <a:t> &lt; </a:t>
            </a:r>
            <a:r>
              <a:rPr lang="en-US" sz="1600" b="1" i="1" dirty="0"/>
              <a:t>p</a:t>
            </a:r>
            <a:r>
              <a:rPr lang="en-US" sz="1600" b="1" dirty="0"/>
              <a:t>-1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Check if 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NO: </a:t>
            </a:r>
            <a:r>
              <a:rPr lang="en-US" sz="1600" b="1" i="1" dirty="0"/>
              <a:t>a</a:t>
            </a:r>
            <a:r>
              <a:rPr lang="en-US" sz="1600" b="1" dirty="0"/>
              <a:t> is a Fermat witness to compositeness of </a:t>
            </a:r>
            <a:r>
              <a:rPr lang="en-US" sz="1600" b="1" i="1" dirty="0"/>
              <a:t>p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YES: two possibilities</a:t>
            </a:r>
          </a:p>
          <a:p>
            <a:pPr marL="1657350" lvl="5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p </a:t>
            </a:r>
            <a:r>
              <a:rPr lang="en-US" sz="1600" b="1" dirty="0"/>
              <a:t>is prime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Fermat’s Primality Test assumes the number is prime and checks for behavior inconsistent with a prime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a and p are relatively prime, </a:t>
            </a:r>
            <a:r>
              <a:rPr lang="en-US" sz="1600" b="1" i="1" dirty="0"/>
              <a:t>a</a:t>
            </a:r>
            <a:r>
              <a:rPr lang="en-US" sz="1600" b="1" baseline="30000" dirty="0"/>
              <a:t>-1</a:t>
            </a:r>
            <a:r>
              <a:rPr lang="en-US" sz="1600" b="1" dirty="0"/>
              <a:t> exists</a:t>
            </a:r>
          </a:p>
          <a:p>
            <a:pPr lvl="2"/>
            <a:r>
              <a:rPr lang="en-US" sz="1600" b="1" dirty="0"/>
              <a:t>	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The algorithm: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a random value for </a:t>
            </a:r>
            <a:r>
              <a:rPr lang="en-US" sz="1600" b="1" i="1" dirty="0"/>
              <a:t>p</a:t>
            </a:r>
            <a:r>
              <a:rPr lang="en-US" sz="1600" b="1" dirty="0"/>
              <a:t> of the right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Pick value of </a:t>
            </a:r>
            <a:r>
              <a:rPr lang="en-US" sz="1600" b="1" i="1" dirty="0"/>
              <a:t>a</a:t>
            </a:r>
            <a:r>
              <a:rPr lang="en-US" sz="1600" b="1" dirty="0"/>
              <a:t> such that 1 &lt; </a:t>
            </a:r>
            <a:r>
              <a:rPr lang="en-US" sz="1600" b="1" i="1" dirty="0"/>
              <a:t>a</a:t>
            </a:r>
            <a:r>
              <a:rPr lang="en-US" sz="1600" b="1" dirty="0"/>
              <a:t> &lt; </a:t>
            </a:r>
            <a:r>
              <a:rPr lang="en-US" sz="1600" b="1" i="1" dirty="0"/>
              <a:t>p</a:t>
            </a:r>
            <a:r>
              <a:rPr lang="en-US" sz="1600" b="1" dirty="0"/>
              <a:t>-1</a:t>
            </a:r>
          </a:p>
          <a:p>
            <a:pPr marL="742950" lvl="3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Check if </a:t>
            </a:r>
            <a:r>
              <a:rPr lang="en-US" sz="1600" b="1" i="1" dirty="0"/>
              <a:t>a</a:t>
            </a:r>
            <a:r>
              <a:rPr lang="en-US" sz="1600" b="1" baseline="30000" dirty="0"/>
              <a:t>p-1</a:t>
            </a:r>
            <a:r>
              <a:rPr lang="en-US" sz="1600" b="1" dirty="0"/>
              <a:t> ≡ 1 (mod </a:t>
            </a:r>
            <a:r>
              <a:rPr lang="en-US" sz="1600" b="1" i="1" dirty="0"/>
              <a:t>p</a:t>
            </a:r>
            <a:r>
              <a:rPr lang="en-US" sz="1600" b="1" dirty="0"/>
              <a:t>)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NO: </a:t>
            </a:r>
            <a:r>
              <a:rPr lang="en-US" sz="1600" b="1" i="1" dirty="0"/>
              <a:t>a</a:t>
            </a:r>
            <a:r>
              <a:rPr lang="en-US" sz="1600" b="1" dirty="0"/>
              <a:t> is a Fermat witness to compositeness of </a:t>
            </a:r>
            <a:r>
              <a:rPr lang="en-US" sz="1600" b="1" i="1" dirty="0"/>
              <a:t>p</a:t>
            </a:r>
          </a:p>
          <a:p>
            <a:pPr marL="1200150" lvl="4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IF YES: two possibilities</a:t>
            </a:r>
          </a:p>
          <a:p>
            <a:pPr marL="1657350" lvl="5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p </a:t>
            </a:r>
            <a:r>
              <a:rPr lang="en-US" sz="1600" b="1" dirty="0"/>
              <a:t>is prime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600" b="1" i="1" dirty="0"/>
              <a:t>p </a:t>
            </a:r>
            <a:r>
              <a:rPr lang="en-US" sz="1600" b="1" dirty="0"/>
              <a:t>is a </a:t>
            </a:r>
            <a:r>
              <a:rPr lang="en-US" sz="1600" b="1" dirty="0" err="1"/>
              <a:t>pseudoprime</a:t>
            </a:r>
            <a:r>
              <a:rPr lang="en-US" sz="1600" b="1" dirty="0"/>
              <a:t> to base </a:t>
            </a:r>
            <a:r>
              <a:rPr lang="en-US" sz="1600" b="1" i="1" dirty="0"/>
              <a:t>a</a:t>
            </a:r>
            <a:r>
              <a:rPr lang="en-US" sz="1600" b="1" dirty="0"/>
              <a:t>; </a:t>
            </a:r>
            <a:r>
              <a:rPr lang="en-US" sz="1600" b="1" i="1" dirty="0"/>
              <a:t>a</a:t>
            </a:r>
            <a:r>
              <a:rPr lang="en-US" sz="1600" b="1" dirty="0"/>
              <a:t> is a Fermat liar</a:t>
            </a:r>
          </a:p>
        </p:txBody>
      </p:sp>
    </p:spTree>
    <p:extLst>
      <p:ext uri="{BB962C8B-B14F-4D97-AF65-F5344CB8AC3E}">
        <p14:creationId xmlns:p14="http://schemas.microsoft.com/office/powerpoint/2010/main" val="331698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361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4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YES</a:t>
            </a:r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4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might be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4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might be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4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might be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2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NO (it’s congruent to 4)</a:t>
            </a:r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4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might be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2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NO (it’s congruent to 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is NOT prime (2 is a Fermat witness for 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Is 15 prime? Let’s find out…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a huge candidate prime, say </a:t>
            </a:r>
            <a:r>
              <a:rPr lang="en-US" sz="1600" b="1" i="1" dirty="0"/>
              <a:t>p</a:t>
            </a:r>
            <a:r>
              <a:rPr lang="en-US" sz="1600" b="1" dirty="0"/>
              <a:t> = 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4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might be prime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Randomly pick </a:t>
            </a:r>
            <a:r>
              <a:rPr lang="en-US" sz="1600" b="1" i="1" dirty="0"/>
              <a:t>a</a:t>
            </a:r>
            <a:r>
              <a:rPr lang="en-US" sz="1600" b="1" dirty="0"/>
              <a:t> 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Is 2</a:t>
            </a:r>
            <a:r>
              <a:rPr lang="en-US" sz="1600" b="1" baseline="30000" dirty="0"/>
              <a:t>14</a:t>
            </a:r>
            <a:r>
              <a:rPr lang="en-US" sz="1600" b="1" dirty="0"/>
              <a:t> ≡ 1 (mod 15)? NO (it’s congruent to 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is NOT prime (2 is a Fermat witness for 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15 is a </a:t>
            </a:r>
            <a:r>
              <a:rPr lang="en-US" sz="1600" b="1" dirty="0" err="1"/>
              <a:t>pseudoprime</a:t>
            </a:r>
            <a:r>
              <a:rPr lang="en-US" sz="1600" b="1" dirty="0"/>
              <a:t> to the base 4 (4 is a Fermat liar for 15)</a:t>
            </a:r>
          </a:p>
        </p:txBody>
      </p:sp>
    </p:spTree>
    <p:extLst>
      <p:ext uri="{BB962C8B-B14F-4D97-AF65-F5344CB8AC3E}">
        <p14:creationId xmlns:p14="http://schemas.microsoft.com/office/powerpoint/2010/main" val="1623074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155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of candidate </a:t>
            </a:r>
            <a:r>
              <a:rPr lang="en-US" sz="1600" b="1" i="1" dirty="0"/>
              <a:t>p</a:t>
            </a:r>
            <a:r>
              <a:rPr lang="en-US" sz="1600" b="1" dirty="0"/>
              <a:t> often preprocessed by a sieve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of candidate </a:t>
            </a:r>
            <a:r>
              <a:rPr lang="en-US" sz="1600" b="1" i="1" dirty="0"/>
              <a:t>p</a:t>
            </a:r>
            <a:r>
              <a:rPr lang="en-US" sz="1600" b="1" dirty="0"/>
              <a:t> often preprocessed by a sieve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Odds of random 500-bit number being prime: 1 in 350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of candidate </a:t>
            </a:r>
            <a:r>
              <a:rPr lang="en-US" sz="1600" b="1" i="1" dirty="0"/>
              <a:t>p</a:t>
            </a:r>
            <a:r>
              <a:rPr lang="en-US" sz="1600" b="1" dirty="0"/>
              <a:t> often preprocessed by a sieve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Odds of random 500-bit number being prime: 1 in 350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15 primes (p &lt; 50): 1 in 50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of candidate </a:t>
            </a:r>
            <a:r>
              <a:rPr lang="en-US" sz="1600" b="1" i="1" dirty="0"/>
              <a:t>p</a:t>
            </a:r>
            <a:r>
              <a:rPr lang="en-US" sz="1600" b="1" dirty="0"/>
              <a:t> often preprocessed by a sieve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Odds of random 500-bit number being prime: 1 in 350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15 primes (p &lt; 50): 1 in 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95 primes (p &lt; 500): 1 in 30 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of candidate </a:t>
            </a:r>
            <a:r>
              <a:rPr lang="en-US" sz="1600" b="1" i="1" dirty="0"/>
              <a:t>p</a:t>
            </a:r>
            <a:r>
              <a:rPr lang="en-US" sz="1600" b="1" dirty="0"/>
              <a:t> often preprocessed by a sieve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Odds of random 500-bit number being prime: 1 in 350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15 primes (p &lt; 50): 1 in 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95 primes (p &lt; 500): 1 in 30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Often use first k primes as the values for </a:t>
            </a:r>
            <a:r>
              <a:rPr lang="en-US" sz="1600" b="1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3200" b="1" dirty="0"/>
              <a:t>Sometimes everyone lies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276600" y="1200151"/>
            <a:ext cx="58674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Some numbers have no Fermat witnesses, only liars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Such numbers are known as Carmichael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Smallest Carmichael number is 561 = 17·33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Infinitely many Carmichael numbers, but still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Fermat primarily test often followed by stronger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Selection of candidate </a:t>
            </a:r>
            <a:r>
              <a:rPr lang="en-US" sz="1600" b="1" i="1" dirty="0"/>
              <a:t>p</a:t>
            </a:r>
            <a:r>
              <a:rPr lang="en-US" sz="1600" b="1" dirty="0"/>
              <a:t> often preprocessed by a sieve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Odds of random 500-bit number being prime: 1 in 350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15 primes (p &lt; 50): 1 in 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Sieved against first 95 primes (p &lt; 500): 1 in 30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Often use first k primes as the values for </a:t>
            </a:r>
            <a:r>
              <a:rPr lang="en-US" sz="1600" b="1" i="1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Charmichael</a:t>
            </a:r>
            <a:r>
              <a:rPr lang="en-US" sz="1600" b="1" dirty="0"/>
              <a:t> numbers are a major flaw in this algorithm</a:t>
            </a:r>
          </a:p>
        </p:txBody>
      </p:sp>
    </p:spTree>
    <p:extLst>
      <p:ext uri="{BB962C8B-B14F-4D97-AF65-F5344CB8AC3E}">
        <p14:creationId xmlns:p14="http://schemas.microsoft.com/office/powerpoint/2010/main" val="164750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35788</TotalTime>
  <Words>1725</Words>
  <Application>Microsoft Office PowerPoint</Application>
  <PresentationFormat>On-screen Show (16:9)</PresentationFormat>
  <Paragraphs>447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Primality tests seek to determine  if a number is prime without factoring it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Fermat’s Primality Test assumes the number is prime and checks for behavior inconsistent with a prime</vt:lpstr>
      <vt:lpstr>Is 15 prime? Let’s find out…</vt:lpstr>
      <vt:lpstr>Is 15 prime? Let’s find out…</vt:lpstr>
      <vt:lpstr>Is 15 prime? Let’s find out…</vt:lpstr>
      <vt:lpstr>Is 15 prime? Let’s find out…</vt:lpstr>
      <vt:lpstr>Is 15 prime? Let’s find out…</vt:lpstr>
      <vt:lpstr>Is 15 prime? Let’s find out…</vt:lpstr>
      <vt:lpstr>Is 15 prime? Let’s find out…</vt:lpstr>
      <vt:lpstr>Is 15 prime? Let’s find out…</vt:lpstr>
      <vt:lpstr>Is 15 prime? Let’s find out…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  <vt:lpstr>Sometimes everyone lies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124</cp:revision>
  <dcterms:created xsi:type="dcterms:W3CDTF">2017-04-06T17:43:22Z</dcterms:created>
  <dcterms:modified xsi:type="dcterms:W3CDTF">2017-09-16T00:06:17Z</dcterms:modified>
</cp:coreProperties>
</file>