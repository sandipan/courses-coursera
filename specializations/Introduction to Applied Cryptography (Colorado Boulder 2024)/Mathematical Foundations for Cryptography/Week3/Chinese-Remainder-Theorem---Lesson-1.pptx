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7"/>
  </p:notesMasterIdLst>
  <p:sldIdLst>
    <p:sldId id="256" r:id="rId2"/>
    <p:sldId id="272" r:id="rId3"/>
    <p:sldId id="271" r:id="rId4"/>
    <p:sldId id="270" r:id="rId5"/>
    <p:sldId id="269" r:id="rId6"/>
    <p:sldId id="268" r:id="rId7"/>
    <p:sldId id="267" r:id="rId8"/>
    <p:sldId id="264" r:id="rId9"/>
    <p:sldId id="293" r:id="rId10"/>
    <p:sldId id="263" r:id="rId11"/>
    <p:sldId id="262" r:id="rId12"/>
    <p:sldId id="261" r:id="rId13"/>
    <p:sldId id="260" r:id="rId14"/>
    <p:sldId id="257" r:id="rId15"/>
    <p:sldId id="258" r:id="rId16"/>
    <p:sldId id="273" r:id="rId17"/>
    <p:sldId id="275" r:id="rId18"/>
    <p:sldId id="277" r:id="rId19"/>
    <p:sldId id="278" r:id="rId20"/>
    <p:sldId id="281" r:id="rId21"/>
    <p:sldId id="280" r:id="rId22"/>
    <p:sldId id="282" r:id="rId23"/>
    <p:sldId id="283" r:id="rId24"/>
    <p:sldId id="285" r:id="rId25"/>
    <p:sldId id="286" r:id="rId26"/>
    <p:sldId id="287" r:id="rId27"/>
    <p:sldId id="288" r:id="rId28"/>
    <p:sldId id="291" r:id="rId29"/>
    <p:sldId id="292" r:id="rId30"/>
    <p:sldId id="297" r:id="rId31"/>
    <p:sldId id="298" r:id="rId32"/>
    <p:sldId id="299" r:id="rId33"/>
    <p:sldId id="300" r:id="rId34"/>
    <p:sldId id="301" r:id="rId35"/>
    <p:sldId id="302" r:id="rId36"/>
    <p:sldId id="364" r:id="rId37"/>
    <p:sldId id="363" r:id="rId38"/>
    <p:sldId id="366" r:id="rId39"/>
    <p:sldId id="367" r:id="rId40"/>
    <p:sldId id="368" r:id="rId41"/>
    <p:sldId id="369" r:id="rId42"/>
    <p:sldId id="370" r:id="rId43"/>
    <p:sldId id="371" r:id="rId44"/>
    <p:sldId id="372" r:id="rId45"/>
    <p:sldId id="373" r:id="rId4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5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572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Chinese Remainder Theorem</a:t>
            </a:r>
            <a:br>
              <a:rPr lang="en-US" b="1" dirty="0"/>
            </a:br>
            <a:r>
              <a:rPr lang="en-US" b="1" dirty="0"/>
              <a:t>Lesson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316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CRT is another way to represent integers.</a:t>
            </a:r>
          </a:p>
          <a:p>
            <a:endParaRPr lang="en-US" sz="2000" b="1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72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Chinese Remainder Theorem</a:t>
            </a:r>
            <a:br>
              <a:rPr lang="en-US" b="1" dirty="0"/>
            </a:br>
            <a:r>
              <a:rPr lang="en-US" b="1" dirty="0"/>
              <a:t>Lesson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71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572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Chinese Remainder Theorem</a:t>
            </a:r>
            <a:br>
              <a:rPr lang="en-US" b="1" dirty="0"/>
            </a:br>
            <a:r>
              <a:rPr lang="en-US" b="1" dirty="0"/>
              <a:t>Lesson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85565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CRT is another way to represent integers.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How an integer is represented using CRT.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3771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572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Chinese Remainder Theorem</a:t>
            </a:r>
            <a:br>
              <a:rPr lang="en-US" b="1" dirty="0"/>
            </a:br>
            <a:r>
              <a:rPr lang="en-US" b="1" dirty="0"/>
              <a:t>Lesson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CRT is another way to represent integers.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How an integer is represented using CRT.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CRT exposes useful aspects of the structure.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3771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572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Chinese Remainder Theorem</a:t>
            </a:r>
            <a:br>
              <a:rPr lang="en-US" b="1" dirty="0"/>
            </a:br>
            <a:r>
              <a:rPr lang="en-US" b="1" dirty="0"/>
              <a:t>Lesson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CRT is another way to represent integers.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How an integer is represented using CRT.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CRT exposes useful aspects of the structure.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How to convert from CRT to an integer.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377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572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Chinese Remainder Theorem</a:t>
            </a:r>
            <a:br>
              <a:rPr lang="en-US" b="1" dirty="0"/>
            </a:br>
            <a:r>
              <a:rPr lang="en-US" b="1" dirty="0"/>
              <a:t>Lesson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CRT is another way to represent integers.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How an integer is represented using CRT.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CRT exposes useful aspects of the structure.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How to convert from CRT to an integer.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Some of the things we can do with CRT.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377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572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Chinese Remainder Theorem</a:t>
            </a:r>
            <a:br>
              <a:rPr lang="en-US" b="1" dirty="0"/>
            </a:br>
            <a:r>
              <a:rPr lang="en-US" b="1" dirty="0"/>
              <a:t>Lesson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CRT is another way to represent integers.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How an integer is represented using CRT.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CRT exposes useful aspects of the structure.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How to convert from CRT to an integer.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Some of the things we can do with CRT.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Some of the things we cannot do with CRT.</a:t>
            </a:r>
          </a:p>
        </p:txBody>
      </p:sp>
    </p:spTree>
    <p:extLst>
      <p:ext uri="{BB962C8B-B14F-4D97-AF65-F5344CB8AC3E}">
        <p14:creationId xmlns:p14="http://schemas.microsoft.com/office/powerpoint/2010/main" val="16377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is another way to represent integers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Different representations reveal different types of information about the structure of a number.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25871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is another way to represent integers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2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Different representations reveal different types of information about the structure of a number.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Consider the prime factorization of two numbers: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= 24,279,255,000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Y =    3,364,653,600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endParaRPr lang="en-US" sz="20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2265300"/>
              </a:xfrm>
              <a:prstGeom prst="rect">
                <a:avLst/>
              </a:prstGeom>
              <a:blipFill rotWithShape="1">
                <a:blip r:embed="rId3"/>
                <a:stretch>
                  <a:fillRect l="-936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2224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is another way to represent integers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573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Different representations reveal different types of information about the structure of a number.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Consider the prime factorization of two numbers: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evenly divisible by Y?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2573077"/>
              </a:xfrm>
              <a:prstGeom prst="rect">
                <a:avLst/>
              </a:prstGeom>
              <a:blipFill rotWithShape="1">
                <a:blip r:embed="rId3"/>
                <a:stretch>
                  <a:fillRect l="-936" t="-1185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871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is another way to represent integers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3188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Different representations reveal different types of information about the structure of a number.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Consider the prime factorization of two numbers: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evenly divisible by Y? NO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At least one factor in Y has a larger exponent then the same factor in X.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3188630"/>
              </a:xfrm>
              <a:prstGeom prst="rect">
                <a:avLst/>
              </a:prstGeom>
              <a:blipFill rotWithShape="1">
                <a:blip r:embed="rId3"/>
                <a:stretch>
                  <a:fillRect l="-936" t="-956" b="-2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871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is another way to represent integers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67635" y="1200150"/>
                <a:ext cx="5867400" cy="2880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Different representations reveal different types of information about the structure of a number.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Consider the prime factorization of two numbers: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evenly divisible by Y ? NO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GCD(X,Y) ? 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635" y="1600200"/>
                <a:ext cx="5867400" cy="2880853"/>
              </a:xfrm>
              <a:prstGeom prst="rect">
                <a:avLst/>
              </a:prstGeom>
              <a:blipFill rotWithShape="1">
                <a:blip r:embed="rId3"/>
                <a:stretch>
                  <a:fillRect l="-831" t="-1059" b="-2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871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is another way to represent integers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3503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Different representations reveal different types of information about the structure of a number.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Consider the prime factorization of two numbers: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evenly divisible by Y ? NO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GCD(X,Y) ? 970,200</a:t>
                </a: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Use smallest exponent for each prime factor.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𝟎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𝟎</m:t>
                        </m:r>
                      </m:sup>
                    </m:sSup>
                    <m:r>
                      <a:rPr lang="en-US" sz="2000" b="1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= 970,200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3503395"/>
              </a:xfrm>
              <a:prstGeom prst="rect">
                <a:avLst/>
              </a:prstGeom>
              <a:blipFill rotWithShape="1">
                <a:blip r:embed="rId3"/>
                <a:stretch>
                  <a:fillRect l="-936" t="-871" b="-2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871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is another way to represent integers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3188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Different representations reveal different types of information about the structure of a number.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Consider the prime factorization of two numbers: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evenly divisible by Y ? NO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GCD(X,Y) ? 970,200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the largest shared square?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3188630"/>
              </a:xfrm>
              <a:prstGeom prst="rect">
                <a:avLst/>
              </a:prstGeom>
              <a:blipFill rotWithShape="1">
                <a:blip r:embed="rId3"/>
                <a:stretch>
                  <a:fillRect l="-936" t="-956" b="-2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476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is another way to represent integers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67635" y="1200151"/>
                <a:ext cx="5867400" cy="3503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Different representations reveal different types of information about the structure of a number.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Consider the prime factorization of two numbers: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evenly divisible by Y ? NO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GCD(X,Y) ? 970,200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the largest shared square? 44,100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b="1" dirty="0"/>
                  <a:t> = 44,100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635" y="1600200"/>
                <a:ext cx="5867400" cy="3503395"/>
              </a:xfrm>
              <a:prstGeom prst="rect">
                <a:avLst/>
              </a:prstGeom>
              <a:blipFill rotWithShape="1">
                <a:blip r:embed="rId3"/>
                <a:stretch>
                  <a:fillRect l="-831" t="-871" b="-2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425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is another way to represent integers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3496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Different representations reveal different types of information about the structure of a number.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Consider the prime factorization of two numbers: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evenly divisible by Y ? NO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GCD(X,Y) ? 970,200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the largest shared square? 44,100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&gt; Y ?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3496406"/>
              </a:xfrm>
              <a:prstGeom prst="rect">
                <a:avLst/>
              </a:prstGeom>
              <a:blipFill rotWithShape="1">
                <a:blip r:embed="rId3"/>
                <a:stretch>
                  <a:fillRect l="-936" t="-873" b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650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is another way to represent integers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3496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Different representations reveal different types of information about the structure of a number.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Consider the prime factorization of two numbers: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evenly divisible by Y ? NO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GCD(X,Y) ? 970,200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the largest shared square? 44,100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&gt; Y ? Difficult to tell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3496406"/>
              </a:xfrm>
              <a:prstGeom prst="rect">
                <a:avLst/>
              </a:prstGeom>
              <a:blipFill rotWithShape="1">
                <a:blip r:embed="rId3"/>
                <a:stretch>
                  <a:fillRect l="-936" t="-873" b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069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is another way to represent integers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3804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Different representations reveal different types of information about the structure of a number.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Consider the prime factorization of two numbers: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evenly divisible by Y ? NO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GCD(X,Y) ? 970,200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the largest shared square? 44,100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&gt; Y ? Difficult to tell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X+Y ?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3804183"/>
              </a:xfrm>
              <a:prstGeom prst="rect">
                <a:avLst/>
              </a:prstGeom>
              <a:blipFill rotWithShape="1">
                <a:blip r:embed="rId3"/>
                <a:stretch>
                  <a:fillRect l="-936" t="-801" b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2663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is another way to represent integers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3804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Different representations reveal different types of information about the structure of a number.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Consider the prime factorization of two numbers: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𝟏𝟏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𝟏𝟕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evenly divisible by Y ? NO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GCD(X,Y) ? 970,200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the largest shared square? 44,100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Is X &gt; Y ? Difficult to tell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What is X+Y ? Difficult to tell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3804183"/>
              </a:xfrm>
              <a:prstGeom prst="rect">
                <a:avLst/>
              </a:prstGeom>
              <a:blipFill rotWithShape="1">
                <a:blip r:embed="rId3"/>
                <a:stretch>
                  <a:fillRect l="-936" t="-801" b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9276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Different representations are good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9715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factor representation is great for some things, not great for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33655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Different representations are good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971550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factor representation is great for some things, not great for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This is true for all representations – it’s why we have different representations in our toolbox.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33655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Different representations are good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971551"/>
            <a:ext cx="5867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factor representation is great for some things, not great for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This is true for all representations – it’s why we have different representations in our toolbox.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more representations we know how to use, the better able we are to choose a good one for the task at hand.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90956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Different representations are good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971550"/>
            <a:ext cx="58674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Prime factor representation is great for some things, not great for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This is true for all representations – it’s why we have different representations in our toolbox.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more representations we know how to use, the better able we are to choose a good one for the task at hand.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CRT, like all representations, has strengths and weaknesses – we need to understand both in order to make use it effectively.</a:t>
            </a:r>
          </a:p>
        </p:txBody>
      </p:sp>
    </p:spTree>
    <p:extLst>
      <p:ext uri="{BB962C8B-B14F-4D97-AF65-F5344CB8AC3E}">
        <p14:creationId xmlns:p14="http://schemas.microsoft.com/office/powerpoint/2010/main" val="46428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number am I thinking of?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is a non-negative integer strictly less than 900.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remainder when divided by 25 is 19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remainder when divided by 9 is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remainder when divided by 4 is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is the number?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7674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number am I thinking of?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is a non-negative integer strictly less than 900.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The remainder when divided by 25 is 19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The remainder when divided by 9 is 7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The remainder when divided by 4 is 2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𝑿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𝟏𝟗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𝟐𝟓</m:t>
                        </m:r>
                      </m:e>
                    </m:d>
                  </m:oMath>
                </a14:m>
                <a:endParaRPr lang="en-US" sz="20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Only 1 number 25 satisfies this constraint.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24/25 (96%) of the 900 possible values eliminated.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Only 36 left.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endParaRPr lang="en-US" sz="20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3785652"/>
              </a:xfrm>
              <a:prstGeom prst="rect">
                <a:avLst/>
              </a:prstGeom>
              <a:blipFill rotWithShape="1">
                <a:blip r:embed="rId3"/>
                <a:stretch>
                  <a:fillRect l="-936" t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674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number am I thinking of?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is a non-negative integer strictly less than 900.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The remainder when divided by 25 is 19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The remainder when divided by 9 is 7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The remainder when divided by 4 is 2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𝑿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𝟏𝟗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/>
                  <a:t> → 36 possibilities remain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𝑿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𝟕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Only 1 number 9 satisfies this constraint.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8/9 (89%) of the 36 remaining values eliminated.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Only 4 left.</a:t>
                </a:r>
              </a:p>
              <a:p>
                <a:endParaRPr lang="en-US" sz="2000" b="1" dirty="0"/>
              </a:p>
              <a:p>
                <a:endParaRPr lang="en-US" sz="20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4401205"/>
              </a:xfrm>
              <a:prstGeom prst="rect">
                <a:avLst/>
              </a:prstGeom>
              <a:blipFill rotWithShape="1">
                <a:blip r:embed="rId3"/>
                <a:stretch>
                  <a:fillRect l="-936" t="-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674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number am I thinking of?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is a non-negative integer strictly less than 900.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The remainder when divided by 25 is 19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The remainder when divided by 9 is 7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The remainder when divided by 4 is 2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𝑿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𝟏𝟗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/>
                  <a:t> → 36 possibilities remain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𝑿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𝟕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/>
                  <a:t> → 4 possibilities remain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𝑿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𝟐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0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Only 1 number 4 satisfies this constraint.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3/4 (75%) of the 4 remaining values eliminated.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Only 1 left.</a:t>
                </a:r>
              </a:p>
              <a:p>
                <a:pPr lvl="1"/>
                <a:endParaRPr lang="en-US" sz="2000" b="1" dirty="0"/>
              </a:p>
              <a:p>
                <a:endParaRPr lang="en-US" sz="20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5016758"/>
              </a:xfrm>
              <a:prstGeom prst="rect">
                <a:avLst/>
              </a:prstGeom>
              <a:blipFill rotWithShape="1">
                <a:blip r:embed="rId3"/>
                <a:stretch>
                  <a:fillRect l="-936" t="-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674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number am I thinking of?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X is a non-negative integer strictly less than 900.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The remainder when divided by 25 is 19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The remainder when divided by 9 is 7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The remainder when divided by 4 is 2</a:t>
                </a:r>
              </a:p>
              <a:p>
                <a:endParaRPr lang="en-US" sz="20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𝑿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𝟏𝟗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/>
                  <a:t> → 36 possibilities remain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𝑿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𝟕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/>
                  <a:t> → 4 possibilities remain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𝑿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𝟐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  <m:r>
                      <m:rPr>
                        <m:nor/>
                      </m:rPr>
                      <a:rPr lang="en-US" sz="2000" b="1" dirty="0" smtClean="0"/>
                      <m:t>→ </m:t>
                    </m:r>
                    <m:r>
                      <m:rPr>
                        <m:nor/>
                      </m:rPr>
                      <a:rPr lang="en-US" sz="2000" b="1" i="0" dirty="0" smtClean="0"/>
                      <m:t>1</m:t>
                    </m:r>
                    <m:r>
                      <m:rPr>
                        <m:nor/>
                      </m:rPr>
                      <a:rPr lang="en-US" sz="2000" b="1" dirty="0" smtClean="0"/>
                      <m:t> </m:t>
                    </m:r>
                    <m:r>
                      <m:rPr>
                        <m:nor/>
                      </m:rPr>
                      <a:rPr lang="en-US" sz="2000" b="1" dirty="0" smtClean="0"/>
                      <m:t>possibility</m:t>
                    </m:r>
                    <m:r>
                      <m:rPr>
                        <m:nor/>
                      </m:rPr>
                      <a:rPr lang="en-US" sz="2000" b="1" dirty="0" smtClean="0"/>
                      <m:t> </m:t>
                    </m:r>
                    <m:r>
                      <m:rPr>
                        <m:nor/>
                      </m:rPr>
                      <a:rPr lang="en-US" sz="2000" b="1" dirty="0" smtClean="0"/>
                      <m:t>remains</m:t>
                    </m:r>
                  </m:oMath>
                </a14:m>
                <a:endParaRPr lang="en-US" sz="2000" b="1" dirty="0"/>
              </a:p>
              <a:p>
                <a:pPr lvl="1"/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But how do we figure out which one?</a:t>
                </a:r>
              </a:p>
              <a:p>
                <a:endParaRPr lang="en-US" sz="20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4093428"/>
              </a:xfrm>
              <a:prstGeom prst="rect">
                <a:avLst/>
              </a:prstGeom>
              <a:blipFill rotWithShape="1">
                <a:blip r:embed="rId3"/>
                <a:stretch>
                  <a:fillRect l="-936" t="-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804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number am I thinking of?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is a non-negative integer strictly less than 900.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remainder when divided by 25 is 19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remainder when divided by 9 is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remainder when divided by 4 is 2</a:t>
            </a:r>
          </a:p>
          <a:p>
            <a:endParaRPr lang="en-US" sz="2000" b="1" i="1" dirty="0">
              <a:latin typeface="Cambria Mat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But how do we figure out which one?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Let’s come back to this after seeing how to represent a number using CRT.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30831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representation is simply </a:t>
            </a:r>
            <a:br>
              <a:rPr lang="en-US" b="1" dirty="0"/>
            </a:br>
            <a:r>
              <a:rPr lang="en-US" b="1" dirty="0"/>
              <a:t>the residues of the selected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1683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representation is simply </a:t>
            </a:r>
            <a:br>
              <a:rPr lang="en-US" b="1" dirty="0"/>
            </a:br>
            <a:r>
              <a:rPr lang="en-US" b="1" dirty="0"/>
              <a:t>the residues of the selected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𝟕𝟑𝟗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𝟑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𝟕𝟑𝟗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𝟕𝟑𝟗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𝟏𝟒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936" t="-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4401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representation is simply </a:t>
            </a:r>
            <a:br>
              <a:rPr lang="en-US" b="1" dirty="0"/>
            </a:br>
            <a:r>
              <a:rPr lang="en-US" b="1" dirty="0"/>
              <a:t>the residues of the selected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𝟕𝟑𝟗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𝟑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𝟕𝟑𝟗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𝟕𝟑𝟗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𝟏𝟒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/>
                      </a:rPr>
                      <m:t>𝟕𝟑𝟗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𝟑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𝟏𝟒</m:t>
                        </m:r>
                      </m:e>
                    </m:d>
                    <m:r>
                      <a:rPr lang="en-US" sz="20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𝟒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𝟐𝟓</m:t>
                        </m:r>
                      </m:e>
                    </m:d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000" b="1" dirty="0"/>
              </a:p>
              <a:p>
                <a:endParaRPr lang="en-US" sz="20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600200"/>
                <a:ext cx="5867400" cy="1938992"/>
              </a:xfrm>
              <a:prstGeom prst="rect">
                <a:avLst/>
              </a:prstGeom>
              <a:blipFill rotWithShape="1">
                <a:blip r:embed="rId3"/>
                <a:stretch>
                  <a:fillRect l="-936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440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representation is simply </a:t>
            </a:r>
            <a:br>
              <a:rPr lang="en-US" b="1" dirty="0"/>
            </a:br>
            <a:r>
              <a:rPr lang="en-US" b="1" dirty="0"/>
              <a:t>the residues of the selected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1308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/>
                      </a:rPr>
                      <m:t>𝟕𝟑𝟗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𝟑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𝟏𝟒</m:t>
                        </m:r>
                      </m:e>
                    </m:d>
                    <m:r>
                      <a:rPr lang="en-US" sz="20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𝟒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𝟐𝟓</m:t>
                        </m:r>
                      </m:e>
                    </m:d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9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</m:t>
                        </m:r>
                        <m:r>
                          <a:rPr lang="en-US" sz="19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, …,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𝒎𝒌</m:t>
                        </m:r>
                      </m:e>
                    </m:d>
                    <m:r>
                      <a:rPr lang="en-US" sz="19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</m:t>
                        </m:r>
                        <m:r>
                          <a:rPr lang="en-US" sz="19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,…,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𝒎𝒌</m:t>
                        </m:r>
                      </m:e>
                    </m:d>
                    <m:r>
                      <a:rPr lang="en-US" sz="1900" b="1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900" b="1" dirty="0"/>
              </a:p>
              <a:p>
                <a:endParaRPr lang="en-US" sz="20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1308050"/>
              </a:xfrm>
              <a:prstGeom prst="rect">
                <a:avLst/>
              </a:prstGeom>
              <a:blipFill rotWithShape="1">
                <a:blip r:embed="rId3"/>
                <a:stretch>
                  <a:fillRect l="-936" t="-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440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representation is simply </a:t>
            </a:r>
            <a:br>
              <a:rPr lang="en-US" b="1" dirty="0"/>
            </a:br>
            <a:r>
              <a:rPr lang="en-US" b="1" dirty="0"/>
              <a:t>the residues of the selected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893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/>
                      </a:rPr>
                      <m:t>𝟕𝟑𝟗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𝟑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𝟏𝟒</m:t>
                        </m:r>
                      </m:e>
                    </m:d>
                    <m:r>
                      <a:rPr lang="en-US" sz="20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𝟒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𝟐𝟓</m:t>
                        </m:r>
                      </m:e>
                    </m:d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9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</m:t>
                        </m:r>
                        <m:r>
                          <a:rPr lang="en-US" sz="19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, …,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𝒎𝒌</m:t>
                        </m:r>
                      </m:e>
                    </m:d>
                    <m:r>
                      <a:rPr lang="en-US" sz="19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</m:t>
                        </m:r>
                        <m:r>
                          <a:rPr lang="en-US" sz="19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,…,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𝒎𝒌</m:t>
                        </m:r>
                      </m:e>
                    </m:d>
                    <m:r>
                      <a:rPr lang="en-US" sz="1900" b="1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9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How many residue classes?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𝒊</m:t>
                        </m:r>
                        <m:r>
                          <a:rPr lang="en-US" sz="2000" b="1" i="1" baseline="-2500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𝒊</m:t>
                        </m:r>
                        <m:r>
                          <a:rPr lang="en-US" sz="2000" b="1" i="1" baseline="-25000">
                            <a:latin typeface="Cambria Math"/>
                            <a:ea typeface="Cambria Math"/>
                          </a:rPr>
                          <m:t>𝟐</m:t>
                        </m:r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,…</m:t>
                        </m:r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𝒊𝒌</m:t>
                        </m:r>
                      </m:e>
                    </m:d>
                    <m:r>
                      <a:rPr lang="en-US" sz="20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𝒎</m:t>
                        </m:r>
                        <m:r>
                          <a:rPr lang="en-US" sz="2000" b="1" i="1" baseline="-2500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𝒎</m:t>
                        </m:r>
                        <m:r>
                          <a:rPr lang="en-US" sz="2000" b="1" i="1" baseline="-25000">
                            <a:latin typeface="Cambria Math"/>
                            <a:ea typeface="Cambria Math"/>
                          </a:rPr>
                          <m:t>𝟐</m:t>
                        </m:r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,…,</m:t>
                        </m:r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𝒎𝒌</m:t>
                        </m:r>
                      </m:e>
                    </m:d>
                    <m:r>
                      <a:rPr lang="en-US" sz="2000" b="1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000" b="1" dirty="0">
                  <a:latin typeface="19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/>
                          </a:rPr>
                          <m:t>𝒎𝒐𝒅</m:t>
                        </m:r>
                        <m:r>
                          <a:rPr lang="en-US" sz="2000" b="1" i="1">
                            <a:latin typeface="Cambria Math"/>
                          </a:rPr>
                          <m:t> </m:t>
                        </m:r>
                        <m:r>
                          <a:rPr lang="en-US" sz="2000" b="1" i="1">
                            <a:latin typeface="Cambria Math"/>
                          </a:rPr>
                          <m:t>𝑵</m:t>
                        </m:r>
                      </m:e>
                    </m:d>
                    <m:r>
                      <a:rPr lang="en-US" sz="2000" b="1" i="1" smtClean="0"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</a:rPr>
                      <m:t>𝒘𝒉𝒆𝒓𝒆</m:t>
                    </m:r>
                  </m:oMath>
                </a14:m>
                <a:endParaRPr lang="en-US" sz="2000" b="1" i="1" dirty="0">
                  <a:latin typeface="Cambria Math"/>
                </a:endParaRP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𝑵</m:t>
                    </m:r>
                    <m:r>
                      <a:rPr lang="en-US" sz="2000" b="1" i="1">
                        <a:latin typeface="Cambria Math"/>
                      </a:rPr>
                      <m:t>=</m:t>
                    </m:r>
                    <m:r>
                      <a:rPr lang="en-US" sz="2000" b="1" i="1">
                        <a:latin typeface="Cambria Math"/>
                      </a:rPr>
                      <m:t>𝒎</m:t>
                    </m:r>
                    <m:r>
                      <a:rPr lang="en-US" sz="2000" b="1" i="1" baseline="-25000"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∗</m:t>
                    </m:r>
                    <m:r>
                      <a:rPr lang="en-US" sz="2000" b="1" i="1">
                        <a:latin typeface="Cambria Math"/>
                      </a:rPr>
                      <m:t>𝒎</m:t>
                    </m:r>
                    <m:r>
                      <a:rPr lang="en-US" sz="2000" b="1" i="1" baseline="-25000">
                        <a:latin typeface="Cambria Math"/>
                      </a:rPr>
                      <m:t>𝟐</m:t>
                    </m:r>
                    <m:r>
                      <a:rPr lang="en-US" sz="2000" b="1" i="1">
                        <a:latin typeface="Cambria Math"/>
                      </a:rPr>
                      <m:t>∗…∗</m:t>
                    </m:r>
                    <m:r>
                      <a:rPr lang="en-US" sz="2000" b="1" i="1">
                        <a:latin typeface="Cambria Math"/>
                      </a:rPr>
                      <m:t>𝒎𝒌</m:t>
                    </m:r>
                    <m:r>
                      <a:rPr lang="en-US" sz="2000" b="1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nary>
                          <m:naryPr>
                            <m:chr m:val="∏"/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1" i="1">
                                <a:latin typeface="Cambria Math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/>
                              </a:rPr>
                              <m:t>=</m:t>
                            </m:r>
                            <m:r>
                              <a:rPr lang="en-US" sz="2000" b="1" i="1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2000" b="1" i="1">
                                <a:latin typeface="Cambria Math"/>
                              </a:rPr>
                              <m:t>𝒌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000" b="1" i="1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sz="2000" b="1" dirty="0">
                  <a:latin typeface="19"/>
                </a:endParaRPr>
              </a:p>
              <a:p>
                <a:endParaRPr lang="en-US" sz="20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2893164"/>
              </a:xfrm>
              <a:prstGeom prst="rect">
                <a:avLst/>
              </a:prstGeom>
              <a:blipFill rotWithShape="1">
                <a:blip r:embed="rId3"/>
                <a:stretch>
                  <a:fillRect l="-936" t="-633" b="-13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440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representation is simply </a:t>
            </a:r>
            <a:br>
              <a:rPr lang="en-US" b="1" dirty="0"/>
            </a:br>
            <a:r>
              <a:rPr lang="en-US" b="1" dirty="0"/>
              <a:t>the residues of the selected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631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/>
                      </a:rPr>
                      <m:t>𝟕𝟑𝟗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𝟑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𝟏𝟒</m:t>
                        </m:r>
                      </m:e>
                    </m:d>
                    <m:r>
                      <a:rPr lang="en-US" sz="20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𝟒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𝟐𝟓</m:t>
                        </m:r>
                      </m:e>
                    </m:d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9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</m:t>
                        </m:r>
                        <m:r>
                          <a:rPr lang="en-US" sz="19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, …,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𝒎𝒌</m:t>
                        </m:r>
                      </m:e>
                    </m:d>
                    <m:r>
                      <a:rPr lang="en-US" sz="19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</m:t>
                        </m:r>
                        <m:r>
                          <a:rPr lang="en-US" sz="19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,…,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𝒎𝒌</m:t>
                        </m:r>
                      </m:e>
                    </m:d>
                    <m:r>
                      <a:rPr lang="en-US" sz="1900" b="1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9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𝒎𝒐𝒅</m:t>
                        </m:r>
                        <m:r>
                          <a:rPr lang="en-US" sz="2000" b="1" i="1" smtClean="0">
                            <a:latin typeface="Cambria Math"/>
                          </a:rPr>
                          <m:t> </m:t>
                        </m:r>
                        <m:r>
                          <a:rPr lang="en-US" sz="2000" b="1" i="1" smtClean="0">
                            <a:latin typeface="Cambria Math"/>
                          </a:rPr>
                          <m:t>𝑵</m:t>
                        </m:r>
                      </m:e>
                    </m:d>
                    <m:r>
                      <a:rPr lang="en-US" sz="2000" b="1" i="1" smtClean="0">
                        <a:latin typeface="Cambria Math"/>
                      </a:rPr>
                      <m:t>; </m:t>
                    </m:r>
                    <m:r>
                      <a:rPr lang="en-US" sz="2000" b="1" i="1" smtClean="0">
                        <a:latin typeface="Cambria Math"/>
                      </a:rPr>
                      <m:t>𝑵</m:t>
                    </m:r>
                    <m:r>
                      <a:rPr lang="en-US" sz="2000" b="1" i="1">
                        <a:latin typeface="Cambria Math"/>
                      </a:rPr>
                      <m:t>=</m:t>
                    </m:r>
                    <m:r>
                      <a:rPr lang="en-US" sz="2000" b="1" i="1">
                        <a:latin typeface="Cambria Math"/>
                      </a:rPr>
                      <m:t>𝒎</m:t>
                    </m:r>
                    <m:r>
                      <a:rPr lang="en-US" sz="2000" b="1" i="1" baseline="-25000"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∗</m:t>
                    </m:r>
                    <m:r>
                      <a:rPr lang="en-US" sz="2000" b="1" i="1">
                        <a:latin typeface="Cambria Math"/>
                      </a:rPr>
                      <m:t>𝒎</m:t>
                    </m:r>
                    <m:r>
                      <a:rPr lang="en-US" sz="2000" b="1" i="1" baseline="-25000">
                        <a:latin typeface="Cambria Math"/>
                      </a:rPr>
                      <m:t>𝟐</m:t>
                    </m:r>
                    <m:r>
                      <a:rPr lang="en-US" sz="2000" b="1" i="1">
                        <a:latin typeface="Cambria Math"/>
                      </a:rPr>
                      <m:t>∗…∗</m:t>
                    </m:r>
                    <m:r>
                      <a:rPr lang="en-US" sz="2000" b="1" i="1">
                        <a:latin typeface="Cambria Math"/>
                      </a:rPr>
                      <m:t>𝒎𝒌</m:t>
                    </m:r>
                    <m:r>
                      <a:rPr lang="en-US" sz="2000" b="1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nary>
                          <m:naryPr>
                            <m:chr m:val="∏"/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1" i="1">
                                <a:latin typeface="Cambria Math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/>
                              </a:rPr>
                              <m:t>=</m:t>
                            </m:r>
                            <m:r>
                              <a:rPr lang="en-US" sz="2000" b="1" i="1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2000" b="1" i="1">
                                <a:latin typeface="Cambria Math"/>
                              </a:rPr>
                              <m:t>𝒌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000" b="1" i="1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sz="20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Least residue system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Class representative is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𝒎𝒐𝒅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= </m:t>
                        </m:r>
                        <m:nary>
                          <m:naryPr>
                            <m:chr m:val="∏"/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1" i="1">
                                <a:latin typeface="Cambria Math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/>
                              </a:rPr>
                              <m:t>=</m:t>
                            </m:r>
                            <m:r>
                              <a:rPr lang="en-US" sz="2000" b="1" i="1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2000" b="1" i="1">
                                <a:latin typeface="Cambria Math"/>
                              </a:rPr>
                              <m:t>𝒌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000" b="1" i="1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2631618"/>
              </a:xfrm>
              <a:prstGeom prst="rect">
                <a:avLst/>
              </a:prstGeom>
              <a:blipFill rotWithShape="1">
                <a:blip r:embed="rId3"/>
                <a:stretch>
                  <a:fillRect l="-936" t="-694" r="-104" b="-26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7786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CRT representation is simply</a:t>
            </a:r>
            <a:br>
              <a:rPr lang="en-US" b="1" dirty="0"/>
            </a:br>
            <a:r>
              <a:rPr lang="en-US" b="1" dirty="0"/>
              <a:t>the residues of the selected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3554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/>
                      </a:rPr>
                      <m:t>𝟕𝟑𝟗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𝟑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𝟏𝟒</m:t>
                        </m:r>
                      </m:e>
                    </m:d>
                    <m:r>
                      <a:rPr lang="en-US" sz="20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𝟒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𝟐𝟓</m:t>
                        </m:r>
                      </m:e>
                    </m:d>
                    <m:r>
                      <a:rPr lang="en-US" sz="20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9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</m:t>
                        </m:r>
                        <m:r>
                          <a:rPr lang="en-US" sz="19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, …,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𝒎𝒌</m:t>
                        </m:r>
                      </m:e>
                    </m:d>
                    <m:r>
                      <a:rPr lang="en-US" sz="19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9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</m:t>
                        </m:r>
                        <m:r>
                          <a:rPr lang="en-US" sz="19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,…,</m:t>
                        </m:r>
                        <m:r>
                          <a:rPr lang="en-US" sz="1900" b="1" i="1" smtClean="0">
                            <a:latin typeface="Cambria Math"/>
                            <a:ea typeface="Cambria Math"/>
                          </a:rPr>
                          <m:t>𝒎𝒌</m:t>
                        </m:r>
                      </m:e>
                    </m:d>
                    <m:r>
                      <a:rPr lang="en-US" sz="1900" b="1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9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/>
                          </a:rPr>
                          <m:t>𝒎𝒐𝒅</m:t>
                        </m:r>
                        <m:r>
                          <a:rPr lang="en-US" sz="2000" b="1" i="1">
                            <a:latin typeface="Cambria Math"/>
                          </a:rPr>
                          <m:t> </m:t>
                        </m:r>
                        <m:r>
                          <a:rPr lang="en-US" sz="2000" b="1" i="1">
                            <a:latin typeface="Cambria Math"/>
                          </a:rPr>
                          <m:t>𝑵</m:t>
                        </m:r>
                      </m:e>
                    </m:d>
                    <m:r>
                      <a:rPr lang="en-US" sz="2000" b="1" i="1">
                        <a:latin typeface="Cambria Math"/>
                      </a:rPr>
                      <m:t>; </m:t>
                    </m:r>
                    <m:r>
                      <a:rPr lang="en-US" sz="2000" b="1" i="1">
                        <a:latin typeface="Cambria Math"/>
                      </a:rPr>
                      <m:t>𝑵</m:t>
                    </m:r>
                    <m:r>
                      <a:rPr lang="en-US" sz="2000" b="1" i="1">
                        <a:latin typeface="Cambria Math"/>
                      </a:rPr>
                      <m:t>=</m:t>
                    </m:r>
                    <m:r>
                      <a:rPr lang="en-US" sz="2000" b="1" i="1">
                        <a:latin typeface="Cambria Math"/>
                      </a:rPr>
                      <m:t>𝒎</m:t>
                    </m:r>
                    <m:r>
                      <a:rPr lang="en-US" sz="2000" b="1" i="1" baseline="-25000">
                        <a:latin typeface="Cambria Math"/>
                      </a:rPr>
                      <m:t>𝟏</m:t>
                    </m:r>
                    <m:r>
                      <a:rPr lang="en-US" sz="2000" b="1" i="1">
                        <a:latin typeface="Cambria Math"/>
                      </a:rPr>
                      <m:t>∗</m:t>
                    </m:r>
                    <m:r>
                      <a:rPr lang="en-US" sz="2000" b="1" i="1">
                        <a:latin typeface="Cambria Math"/>
                      </a:rPr>
                      <m:t>𝒎</m:t>
                    </m:r>
                    <m:r>
                      <a:rPr lang="en-US" sz="2000" b="1" i="1" baseline="-25000">
                        <a:latin typeface="Cambria Math"/>
                      </a:rPr>
                      <m:t>𝟐</m:t>
                    </m:r>
                    <m:r>
                      <a:rPr lang="en-US" sz="2000" b="1" i="1">
                        <a:latin typeface="Cambria Math"/>
                      </a:rPr>
                      <m:t>∗…∗</m:t>
                    </m:r>
                    <m:r>
                      <a:rPr lang="en-US" sz="2000" b="1" i="1">
                        <a:latin typeface="Cambria Math"/>
                      </a:rPr>
                      <m:t>𝒎𝒌</m:t>
                    </m:r>
                    <m:r>
                      <a:rPr lang="en-US" sz="2000" b="1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nary>
                          <m:naryPr>
                            <m:chr m:val="∏"/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1" i="1">
                                <a:latin typeface="Cambria Math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/>
                              </a:rPr>
                              <m:t>=</m:t>
                            </m:r>
                            <m:r>
                              <a:rPr lang="en-US" sz="2000" b="1" i="1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2000" b="1" i="1">
                                <a:latin typeface="Cambria Math"/>
                              </a:rPr>
                              <m:t>𝒌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000" b="1" i="1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sz="20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Class representative is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𝒎𝒐𝒅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= </m:t>
                        </m:r>
                        <m:nary>
                          <m:naryPr>
                            <m:chr m:val="∏"/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1" i="1">
                                <a:latin typeface="Cambria Math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/>
                              </a:rPr>
                              <m:t>=</m:t>
                            </m:r>
                            <m:r>
                              <a:rPr lang="en-US" sz="2000" b="1" i="1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2000" b="1" i="1">
                                <a:latin typeface="Cambria Math"/>
                              </a:rPr>
                              <m:t>𝒌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000" b="1" i="1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Finer detail about the number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𝑿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: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𝒅𝒊𝒗𝒊𝒔𝒃𝒍𝒆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𝒃𝒚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𝑵</m:t>
                    </m:r>
                  </m:oMath>
                </a14:m>
                <a:endParaRPr lang="en-US" sz="2000" b="1" i="1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ea typeface="Cambria Math"/>
                  </a:rPr>
                  <a:t>In CRT, divisibility by any moduli apparent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3554948"/>
              </a:xfrm>
              <a:prstGeom prst="rect">
                <a:avLst/>
              </a:prstGeom>
              <a:blipFill rotWithShape="1">
                <a:blip r:embed="rId3"/>
                <a:stretch>
                  <a:fillRect l="-936" t="-515" b="-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3624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b="1" dirty="0"/>
              <a:t>Lesson Review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THIS LESSON</a:t>
            </a:r>
          </a:p>
        </p:txBody>
      </p:sp>
    </p:spTree>
    <p:extLst>
      <p:ext uri="{BB962C8B-B14F-4D97-AF65-F5344CB8AC3E}">
        <p14:creationId xmlns:p14="http://schemas.microsoft.com/office/powerpoint/2010/main" val="4092650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b="1" dirty="0"/>
              <a:t>Lesson Review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THIS LESSON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Another representation of a mod-N world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650326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b="1" dirty="0"/>
              <a:t>Lesson Review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THIS LESSON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Another representation of a mod-N world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 set of moduli whose product is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650326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b="1" dirty="0"/>
              <a:t>Lesson Review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THIS LESSON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Another representation of a mod-N world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 set of moduli whose product is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 X by each moduli in sequence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650326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b="1" dirty="0"/>
              <a:t>Lesson Review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THIS LESSON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Another representation of a mod-N world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 set of moduli whose product is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 X by each moduli in sequence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Reveals finer detail about 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65032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b="1" dirty="0"/>
              <a:t>Lesson Review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THIS LESSON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Another representation of a mod-N world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 set of moduli whose product is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 X by each moduli in sequence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Reveals finer detail about 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COMING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Restrictions on choice of moduli</a:t>
            </a:r>
          </a:p>
        </p:txBody>
      </p:sp>
    </p:spTree>
    <p:extLst>
      <p:ext uri="{BB962C8B-B14F-4D97-AF65-F5344CB8AC3E}">
        <p14:creationId xmlns:p14="http://schemas.microsoft.com/office/powerpoint/2010/main" val="7650326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b="1" dirty="0"/>
              <a:t>Lesson Review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THIS LESSON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Another representation of a mod-N world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 set of moduli whose product is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 X by each moduli in sequence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Reveals finer detail about 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COMING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Restrictions on choice of moduli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Converting from CRT to an integer</a:t>
            </a:r>
          </a:p>
        </p:txBody>
      </p:sp>
    </p:spTree>
    <p:extLst>
      <p:ext uri="{BB962C8B-B14F-4D97-AF65-F5344CB8AC3E}">
        <p14:creationId xmlns:p14="http://schemas.microsoft.com/office/powerpoint/2010/main" val="7650326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b="1" dirty="0"/>
              <a:t>Lesson Review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THIS LESSON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Another representation of a mod-N world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 set of moduli whose product is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 X by each moduli in sequence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Reveals finer detail about 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COMING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Restrictions on choice of moduli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Converting from CRT to an integer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we can do with CRT</a:t>
            </a:r>
          </a:p>
        </p:txBody>
      </p:sp>
    </p:spTree>
    <p:extLst>
      <p:ext uri="{BB962C8B-B14F-4D97-AF65-F5344CB8AC3E}">
        <p14:creationId xmlns:p14="http://schemas.microsoft.com/office/powerpoint/2010/main" val="7650326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b="1" dirty="0"/>
              <a:t>Lesson Review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THIS LESSON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Another representation of a mod-N world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 set of moduli whose product is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 X by each moduli in sequence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Reveals finer detail about 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COMING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Restrictions on choice of moduli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Converting from CRT to an integer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we can do with CRT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we can’t do with CRT</a:t>
            </a:r>
          </a:p>
        </p:txBody>
      </p:sp>
    </p:spTree>
    <p:extLst>
      <p:ext uri="{BB962C8B-B14F-4D97-AF65-F5344CB8AC3E}">
        <p14:creationId xmlns:p14="http://schemas.microsoft.com/office/powerpoint/2010/main" val="765032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24039</TotalTime>
  <Words>2327</Words>
  <Application>Microsoft Office PowerPoint</Application>
  <PresentationFormat>On-screen Show (16:9)</PresentationFormat>
  <Paragraphs>528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19</vt:lpstr>
      <vt:lpstr>Arial</vt:lpstr>
      <vt:lpstr>Calibri</vt:lpstr>
      <vt:lpstr>Cambria Math</vt:lpstr>
      <vt:lpstr>Office Theme</vt:lpstr>
      <vt:lpstr>Chinese Remainder Theorem Lesson 1</vt:lpstr>
      <vt:lpstr>Chinese Remainder Theorem Lesson 1</vt:lpstr>
      <vt:lpstr>Chinese Remainder Theorem Lesson 1</vt:lpstr>
      <vt:lpstr>Chinese Remainder Theorem Lesson 1</vt:lpstr>
      <vt:lpstr>Chinese Remainder Theorem Lesson 1</vt:lpstr>
      <vt:lpstr>Chinese Remainder Theorem Lesson 1</vt:lpstr>
      <vt:lpstr>Chinese Remainder Theorem Lesson 1</vt:lpstr>
      <vt:lpstr>CRT is another way to represent integers</vt:lpstr>
      <vt:lpstr>CRT is another way to represent integers</vt:lpstr>
      <vt:lpstr>CRT is another way to represent integers</vt:lpstr>
      <vt:lpstr>CRT is another way to represent integers</vt:lpstr>
      <vt:lpstr>CRT is another way to represent integers</vt:lpstr>
      <vt:lpstr>CRT is another way to represent integers</vt:lpstr>
      <vt:lpstr>CRT is another way to represent integers</vt:lpstr>
      <vt:lpstr>CRT is another way to represent integers</vt:lpstr>
      <vt:lpstr>CRT is another way to represent integers</vt:lpstr>
      <vt:lpstr>CRT is another way to represent integers</vt:lpstr>
      <vt:lpstr>CRT is another way to represent integers</vt:lpstr>
      <vt:lpstr>CRT is another way to represent integers</vt:lpstr>
      <vt:lpstr>Different representations are good</vt:lpstr>
      <vt:lpstr>Different representations are good</vt:lpstr>
      <vt:lpstr>Different representations are good</vt:lpstr>
      <vt:lpstr>Different representations are good</vt:lpstr>
      <vt:lpstr>What number am I thinking of?</vt:lpstr>
      <vt:lpstr>What number am I thinking of?</vt:lpstr>
      <vt:lpstr>What number am I thinking of?</vt:lpstr>
      <vt:lpstr>What number am I thinking of?</vt:lpstr>
      <vt:lpstr>What number am I thinking of?</vt:lpstr>
      <vt:lpstr>What number am I thinking of?</vt:lpstr>
      <vt:lpstr>CRT representation is simply  the residues of the selected moduli</vt:lpstr>
      <vt:lpstr>CRT representation is simply  the residues of the selected moduli</vt:lpstr>
      <vt:lpstr>CRT representation is simply  the residues of the selected moduli</vt:lpstr>
      <vt:lpstr>CRT representation is simply  the residues of the selected moduli</vt:lpstr>
      <vt:lpstr>CRT representation is simply  the residues of the selected moduli</vt:lpstr>
      <vt:lpstr>CRT representation is simply  the residues of the selected moduli</vt:lpstr>
      <vt:lpstr>CRT representation is simply the residues of the selected moduli</vt:lpstr>
      <vt:lpstr>Lesson Review</vt:lpstr>
      <vt:lpstr>Lesson Review</vt:lpstr>
      <vt:lpstr>Lesson Review</vt:lpstr>
      <vt:lpstr>Lesson Review</vt:lpstr>
      <vt:lpstr>Lesson Review</vt:lpstr>
      <vt:lpstr>Lesson Review</vt:lpstr>
      <vt:lpstr>Lesson Review</vt:lpstr>
      <vt:lpstr>Lesson Review</vt:lpstr>
      <vt:lpstr>Lesson Review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51</cp:revision>
  <dcterms:created xsi:type="dcterms:W3CDTF">2017-04-06T17:43:22Z</dcterms:created>
  <dcterms:modified xsi:type="dcterms:W3CDTF">2017-09-16T00:01:11Z</dcterms:modified>
</cp:coreProperties>
</file>