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45"/>
  </p:notesMasterIdLst>
  <p:sldIdLst>
    <p:sldId id="1002" r:id="rId2"/>
    <p:sldId id="1008" r:id="rId3"/>
    <p:sldId id="1009" r:id="rId4"/>
    <p:sldId id="1010" r:id="rId5"/>
    <p:sldId id="1011" r:id="rId6"/>
    <p:sldId id="1012" r:id="rId7"/>
    <p:sldId id="1003" r:id="rId8"/>
    <p:sldId id="1013" r:id="rId9"/>
    <p:sldId id="1014" r:id="rId10"/>
    <p:sldId id="1015" r:id="rId11"/>
    <p:sldId id="1016" r:id="rId12"/>
    <p:sldId id="1017" r:id="rId13"/>
    <p:sldId id="1004" r:id="rId14"/>
    <p:sldId id="1018" r:id="rId15"/>
    <p:sldId id="1019" r:id="rId16"/>
    <p:sldId id="1020" r:id="rId17"/>
    <p:sldId id="1021" r:id="rId18"/>
    <p:sldId id="1022" r:id="rId19"/>
    <p:sldId id="1023" r:id="rId20"/>
    <p:sldId id="1024" r:id="rId21"/>
    <p:sldId id="1025" r:id="rId22"/>
    <p:sldId id="1005" r:id="rId23"/>
    <p:sldId id="1026" r:id="rId24"/>
    <p:sldId id="1027" r:id="rId25"/>
    <p:sldId id="1028" r:id="rId26"/>
    <p:sldId id="1029" r:id="rId27"/>
    <p:sldId id="1030" r:id="rId28"/>
    <p:sldId id="1031" r:id="rId29"/>
    <p:sldId id="1032" r:id="rId30"/>
    <p:sldId id="1006" r:id="rId31"/>
    <p:sldId id="1033" r:id="rId32"/>
    <p:sldId id="1034" r:id="rId33"/>
    <p:sldId id="1035" r:id="rId34"/>
    <p:sldId id="1036" r:id="rId35"/>
    <p:sldId id="1037" r:id="rId36"/>
    <p:sldId id="1038" r:id="rId37"/>
    <p:sldId id="1039" r:id="rId38"/>
    <p:sldId id="1007" r:id="rId39"/>
    <p:sldId id="1040" r:id="rId40"/>
    <p:sldId id="1041" r:id="rId41"/>
    <p:sldId id="1042" r:id="rId42"/>
    <p:sldId id="1043" r:id="rId43"/>
    <p:sldId id="1044" r:id="rId4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Direct modular exponentiation is only practical for small values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9919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Direct modular exponentiation is only practical for small values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9644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𝒙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𝟑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𝟓</m:t>
                          </m:r>
                        </m:sup>
                      </m:s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96443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598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Direct modular exponentiation is only practical for small values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518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𝒙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𝟑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𝟓</m:t>
                          </m:r>
                        </m:sup>
                      </m:s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</a:rPr>
                        <m:t>𝒙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𝟖𝟏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𝟐𝟒𝟑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𝟏𝟎𝟎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51842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598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Direct modular exponentiation is only practical for small values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770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𝒙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𝟑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𝟓</m:t>
                          </m:r>
                        </m:sup>
                      </m:s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</a:rPr>
                        <m:t>𝒙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𝟖𝟏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𝟐𝟒𝟑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𝟏𝟎𝟎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</a:rPr>
                        <m:t>𝒚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𝟏𝟐𝟑𝟒𝟓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77086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598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Direct modular exponentiation is only practical for small values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632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𝒙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𝟑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𝟓</m:t>
                          </m:r>
                        </m:sup>
                      </m:s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</a:rPr>
                        <m:t>𝒙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𝟖𝟏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𝟐𝟒𝟑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𝟏𝟎𝟎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</a:rPr>
                        <m:t>𝒚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𝟏𝟐𝟑𝟒𝟓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Has nearly 28,000 digits and must be EXACT!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632644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598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Direct modular exponentiation is only practical for small values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909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𝒙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𝟑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𝟓</m:t>
                          </m:r>
                        </m:sup>
                      </m:s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</a:rPr>
                        <m:t>𝒙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𝟖𝟏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𝟐𝟒𝟑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𝟏𝟎𝟎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</a:rPr>
                        <m:t>𝒚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𝟏𝟐𝟑𝟒𝟓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Has nearly 28,000 digits and must be EXACT!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</a:rPr>
                        <m:t>𝒚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𝟏𝟐𝟓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909643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598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Reducing operands helps (some)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3541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Reducing operands helps (some)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652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𝟏𝟐𝟑𝟒𝟓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65255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9483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Reducing operands helps (some)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2180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𝟏𝟐𝟑𝟒𝟓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𝟏𝟐𝟑𝟒𝟓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𝟏𝟒𝟑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))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21802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9483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Reducing operands helps (some)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772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𝟏𝟐𝟑𝟒𝟓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𝟏𝟐𝟑𝟒𝟓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𝟏𝟒𝟑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))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𝒕𝒐𝒕𝒊𝒆𝒏𝒕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𝟏𝟒𝟑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)=</m:t>
                      </m:r>
                      <m:r>
                        <a:rPr lang="en-US" b="1" i="1" smtClean="0">
                          <a:latin typeface="Cambria Math"/>
                        </a:rPr>
                        <m:t>𝟏𝟐𝟎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77202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9483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Reducing operands helps (some)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3322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𝟏𝟐𝟑𝟒𝟓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𝟏𝟐𝟑𝟒𝟓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𝟏𝟒𝟑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))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𝒕𝒐𝒕𝒊𝒆𝒏𝒕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𝟏𝟒𝟑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)=</m:t>
                      </m:r>
                      <m:r>
                        <a:rPr lang="en-US" b="1" i="1" smtClean="0">
                          <a:latin typeface="Cambria Math"/>
                        </a:rPr>
                        <m:t>𝟏𝟐𝟎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𝟏𝟐𝟑𝟒𝟓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33224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9483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Reducing operands helps (some)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609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𝟏𝟐𝟑𝟒𝟓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𝟏𝟐𝟑𝟒𝟓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𝟏𝟒𝟑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))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𝒕𝒐𝒕𝒊𝒆𝒏𝒕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𝟏𝟒𝟑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)=</m:t>
                      </m:r>
                      <m:r>
                        <a:rPr lang="en-US" b="1" i="1" smtClean="0">
                          <a:latin typeface="Cambria Math"/>
                        </a:rPr>
                        <m:t>𝟏𝟐𝟎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𝟏𝟐𝟑𝟒𝟓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𝟔𝟕𝟖𝟗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115 digits – still requires a big number library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609240"/>
              </a:xfrm>
              <a:prstGeom prst="rect">
                <a:avLst/>
              </a:prstGeom>
              <a:blipFill rotWithShape="1">
                <a:blip r:embed="rId3"/>
                <a:stretch>
                  <a:fillRect l="-728"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9483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Multiply-and-reduce is O(modulus)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6098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Multiply-and-reduce is O(modulus)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≡(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)·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375552"/>
              </a:xfrm>
              <a:prstGeom prst="rect">
                <a:avLst/>
              </a:prstGeom>
              <a:blipFill rotWithShape="1"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917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Multiply-and-reduce is O(modulus)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658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≡(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)·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𝟐𝟐𝟎𝟗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658770"/>
              </a:xfrm>
              <a:prstGeom prst="rect">
                <a:avLst/>
              </a:prstGeom>
              <a:blipFill rotWithShape="1">
                <a:blip r:embed="rId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917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Multiply-and-reduce is O(modulus)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218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≡(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)·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𝟐𝟐𝟎𝟗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𝟔𝟒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21898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917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Multiply-and-reduce is O(modulus)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502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≡(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)·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𝟐𝟐𝟎𝟗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𝟔𝟒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𝟔𝟒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·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502206"/>
              </a:xfrm>
              <a:prstGeom prst="rect">
                <a:avLst/>
              </a:prstGeom>
              <a:blipFill rotWithShape="1">
                <a:blip r:embed="rId3"/>
                <a:stretch>
                  <a:fillRect b="-3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917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Multiply-and-reduce is O(modulus)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785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≡(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)·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𝟐𝟐𝟎𝟗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𝟔𝟒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𝟔𝟒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·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𝟑𝟎𝟎𝟖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𝟔𝟔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785425"/>
              </a:xfrm>
              <a:prstGeom prst="rect">
                <a:avLst/>
              </a:prstGeom>
              <a:blipFill rotWithShape="1">
                <a:blip r:embed="rId3"/>
                <a:stretch>
                  <a:fillRect b="-2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917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Multiply-and-reduce is O(modulus)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345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≡(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)·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𝟐𝟐𝟎𝟗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𝟔𝟒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𝟔𝟒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·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𝟑𝟎𝟎𝟖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𝟔𝟔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𝟓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𝟔𝟔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34564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917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Multiply-and-reduce is O(modulus)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6226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≡(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)·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𝟐𝟐𝟎𝟗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𝟔𝟒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𝟔𝟒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·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𝟑𝟎𝟎𝟖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𝟔𝟔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𝟓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𝟔𝟔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Number of iterations about equal to exponent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622641"/>
              </a:xfrm>
              <a:prstGeom prst="rect">
                <a:avLst/>
              </a:prstGeom>
              <a:blipFill rotWithShape="1">
                <a:blip r:embed="rId3"/>
                <a:stretch>
                  <a:fillRect l="-728" b="-2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917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Multiply-and-reduce is O(modulus)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899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≡(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)·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𝟐𝟐𝟎𝟗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𝟔𝟒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𝟔𝟕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𝟔𝟒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·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𝟑𝟎𝟎𝟖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𝟔𝟔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𝟓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𝟔𝟔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Number of iterations about equal to exponent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Values &lt; modulus squared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99640"/>
              </a:xfrm>
              <a:prstGeom prst="rect">
                <a:avLst/>
              </a:prstGeom>
              <a:blipFill rotWithShape="1">
                <a:blip r:embed="rId3"/>
                <a:stretch>
                  <a:fillRect l="-728" b="-2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917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Square-and-multiply is O(log(modulus))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latin typeface="Cambria Math"/>
            </a:endParaRPr>
          </a:p>
          <a:p>
            <a:endParaRPr lang="en-US" b="1" dirty="0">
              <a:latin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127341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Square-and-multiply is O(log(modulus))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929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𝟑𝟒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𝟑𝟒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929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299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Square-and-multiply is O(log(modulus))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580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𝟑𝟒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𝟑𝟒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𝟑𝟒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58094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2990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Square-and-multiply is O(log(modulus))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864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𝟑𝟒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𝟑𝟒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𝟑𝟒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8641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2990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Square-and-multiply is O(log(modulus))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14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𝟑𝟒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𝟑𝟒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𝟑𝟒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𝟐𝟐𝟎𝟗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𝟔𝟒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</m:oMath>
                  </m:oMathPara>
                </a14:m>
                <a:endParaRPr lang="en-US" b="1" dirty="0">
                  <a:latin typeface="Cambria Math"/>
                  <a:ea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14738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2990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Square-and-multiply is O(log(modulus))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521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𝟑𝟒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𝟑𝟒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𝟑𝟒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𝟐𝟐𝟎𝟗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𝟔𝟒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</m:oMath>
                  </m:oMathPara>
                </a14:m>
                <a:endParaRPr lang="en-US" b="1" dirty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𝟒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𝟔𝟒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𝟒𝟎𝟗𝟔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𝟗𝟐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2178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2990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Square-and-multiply is O(log(modulus))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89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𝟑𝟒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𝟑𝟒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𝟑𝟒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𝟐𝟐𝟎𝟗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𝟔𝟒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</m:oMath>
                  </m:oMathPara>
                </a14:m>
                <a:endParaRPr lang="en-US" b="1" dirty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𝟒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𝟔𝟒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𝟒𝟎𝟗𝟔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𝟗𝟐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𝟖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𝟗𝟐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𝟖𝟒𝟔𝟒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𝟐𝟕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961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299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Square-and-multiply is O(log(modulus))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3270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𝟑𝟒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𝟑𝟒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𝟑𝟒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𝟐𝟐𝟎𝟗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𝟔𝟒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𝒎𝒐𝒅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𝟏𝟒𝟑</m:t>
                          </m:r>
                        </m:e>
                      </m:d>
                    </m:oMath>
                  </m:oMathPara>
                </a14:m>
                <a:endParaRPr lang="en-US" b="1" dirty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𝟒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𝟔𝟒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𝟒𝟎𝟗𝟔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𝟗𝟐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𝟖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𝟗𝟐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𝟖𝟒𝟔𝟒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𝟐𝟕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𝟏𝟔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𝟏𝟒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; 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𝟓𝟑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;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𝟔𝟒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𝟗𝟐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32705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299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Square-and-multiply uses the binary representation of the exponent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8712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Square-and-multiply uses the binary representation of the exponent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652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𝟔𝟒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65255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3745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Square-and-multiply uses the binary representation of the exponent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212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𝟔𝟒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𝟗𝟐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𝟗𝟐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𝟏𝟐𝟓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21276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3745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Square-and-multiply uses the binary representation of the exponent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545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𝟔𝟒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𝟗𝟐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𝟗𝟐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𝟏𝟐𝟓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sz="1600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𝟔𝟒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𝟑𝟐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𝟔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𝟖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54561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3745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Square-and-multiply uses the binary representation of the exponent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099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𝟔𝟒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𝟗𝟐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𝟗𝟐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𝟏𝟐𝟓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sz="1600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𝟔𝟒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𝟑𝟐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𝟔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𝟖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𝟔𝟗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𝟐</m:t>
                          </m:r>
                        </m:sub>
                      </m:sSub>
                      <m:r>
                        <a:rPr lang="en-US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/>
                            </a:rPr>
                            <m:t>𝟏𝟎𝟎𝟎𝟏𝟎𝟏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09961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374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Square-and-multiply uses the binary representation of the exponent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376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𝟔𝟒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𝟗𝟐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𝟗𝟐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𝟏𝟐𝟓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sz="1600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𝟔𝟒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𝟑𝟐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𝟔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𝟖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𝟔𝟗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𝟐</m:t>
                          </m:r>
                        </m:sub>
                      </m:sSub>
                      <m:r>
                        <a:rPr lang="en-US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/>
                            </a:rPr>
                            <m:t>𝟏𝟎𝟎𝟎𝟏𝟎𝟏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Progressively square the base at each step to get factor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376613"/>
              </a:xfrm>
              <a:prstGeom prst="rect">
                <a:avLst/>
              </a:prstGeom>
              <a:blipFill rotWithShape="1">
                <a:blip r:embed="rId3"/>
                <a:stretch>
                  <a:fillRect l="-728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3745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Square-and-multiply uses the binary representation of the exponent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930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𝟔𝟒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𝟗𝟐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𝟗𝟐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𝟏𝟐𝟓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sz="1600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𝟔𝟒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𝟑𝟐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𝟔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𝟖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𝟔𝟗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𝟐</m:t>
                          </m:r>
                        </m:sub>
                      </m:sSub>
                      <m:r>
                        <a:rPr lang="en-US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/>
                            </a:rPr>
                            <m:t>𝟏𝟎𝟎𝟎𝟏𝟎𝟏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Progressively square the base at each step to get factor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Starting with least significant bit of exponent</a:t>
                </a:r>
              </a:p>
              <a:p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930610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3745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Square-and-multiply uses the binary representation of the exponent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3207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𝟔𝟒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𝟗𝟐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𝟗𝟐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·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𝟒𝟕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𝟏𝟐𝟓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(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𝒎𝒐𝒅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𝟏𝟒𝟑</m:t>
                      </m:r>
                      <m:r>
                        <a:rPr lang="en-US" b="1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>
                              <a:latin typeface="Cambria Math"/>
                            </a:rPr>
                            <m:t>𝟒𝟕</m:t>
                          </m:r>
                        </m:e>
                        <m:sup>
                          <m:r>
                            <a:rPr lang="en-US" sz="1600" b="1" i="1">
                              <a:latin typeface="Cambria Math"/>
                            </a:rPr>
                            <m:t>𝟔𝟗</m:t>
                          </m:r>
                        </m:sup>
                      </m:sSup>
                      <m:r>
                        <a:rPr lang="en-US" sz="1600" b="1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𝟔𝟒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𝟑𝟐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𝟔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𝟖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>
                                      <a:latin typeface="Cambria Math"/>
                                      <a:ea typeface="Cambria Math"/>
                                    </a:rPr>
                                    <m:t>𝟒𝟕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latin typeface="Cambria Math"/>
                                      <a:ea typeface="Cambria Math"/>
                                    </a:rPr>
                                    <m:t>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6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𝟔𝟗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𝟐</m:t>
                          </m:r>
                        </m:sub>
                      </m:sSub>
                      <m:r>
                        <a:rPr lang="en-US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/>
                            </a:rPr>
                            <m:t>𝟏𝟎𝟎𝟎𝟏𝟎𝟏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latin typeface="Cambria Math"/>
                </a:endParaRPr>
              </a:p>
              <a:p>
                <a:endParaRPr lang="en-US" b="1" dirty="0">
                  <a:latin typeface="Cambria Math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Progressively square the base at each step to get factor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Starting with least significant bit of exponent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Multiply running product by new factor if 1</a:t>
                </a:r>
              </a:p>
              <a:p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3207609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3745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07160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Brute force modular exponentiation too 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625382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Brute force modular exponentiation too 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Reduce base mod-N, exponent mod(</a:t>
            </a:r>
            <a:r>
              <a:rPr lang="el-GR" sz="2000" b="1" dirty="0"/>
              <a:t>ϕ</a:t>
            </a:r>
            <a:r>
              <a:rPr lang="en-US" sz="2000" b="1" dirty="0"/>
              <a:t>(N))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625382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Brute force modular exponentiation too 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Reduce base mod-N, exponent mod(</a:t>
            </a:r>
            <a:r>
              <a:rPr lang="el-GR" sz="2000" b="1" dirty="0"/>
              <a:t>ϕ</a:t>
            </a:r>
            <a:r>
              <a:rPr lang="en-US" sz="2000" b="1" dirty="0"/>
              <a:t>(N))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Multiply-and-reduce keeps values &lt; N</a:t>
            </a:r>
            <a:r>
              <a:rPr lang="en-US" sz="2000" b="1" baseline="30000" dirty="0"/>
              <a:t>2</a:t>
            </a:r>
            <a:r>
              <a:rPr lang="en-US" sz="2000" b="1" dirty="0"/>
              <a:t> but is O(N)</a:t>
            </a:r>
            <a:endParaRPr lang="en-US" sz="2000" b="1" baseline="30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625382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Brute force modular exponentiation too 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Reduce base mod-N, exponent mod(</a:t>
            </a:r>
            <a:r>
              <a:rPr lang="el-GR" sz="2000" b="1" dirty="0"/>
              <a:t>ϕ</a:t>
            </a:r>
            <a:r>
              <a:rPr lang="en-US" sz="2000" b="1" dirty="0"/>
              <a:t>(N))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Multiply-and-reduce keeps values &lt; N</a:t>
            </a:r>
            <a:r>
              <a:rPr lang="en-US" sz="2000" b="1" baseline="30000" dirty="0"/>
              <a:t>2</a:t>
            </a:r>
            <a:r>
              <a:rPr lang="en-US" sz="2000" b="1" dirty="0"/>
              <a:t> but is O(N)</a:t>
            </a:r>
            <a:endParaRPr lang="en-US" sz="2000" b="1" baseline="30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Square-and-multiply O(log(N)) – very 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625382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Brute force modular exponentiation too 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Reduce base mod-N, exponent mod(</a:t>
            </a:r>
            <a:r>
              <a:rPr lang="el-GR" sz="2000" b="1" dirty="0"/>
              <a:t>ϕ</a:t>
            </a:r>
            <a:r>
              <a:rPr lang="en-US" sz="2000" b="1" dirty="0"/>
              <a:t>(N))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Multiply-and-reduce keeps values &lt; N</a:t>
            </a:r>
            <a:r>
              <a:rPr lang="en-US" sz="2000" b="1" baseline="30000" dirty="0"/>
              <a:t>2</a:t>
            </a:r>
            <a:r>
              <a:rPr lang="en-US" sz="2000" b="1" dirty="0"/>
              <a:t> but is O(N)</a:t>
            </a:r>
            <a:endParaRPr lang="en-US" sz="2000" b="1" baseline="30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Square-and-multiply O(log(N)) – very 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Coming up: Euler’s Totient Function</a:t>
            </a:r>
          </a:p>
        </p:txBody>
      </p:sp>
    </p:spTree>
    <p:extLst>
      <p:ext uri="{BB962C8B-B14F-4D97-AF65-F5344CB8AC3E}">
        <p14:creationId xmlns:p14="http://schemas.microsoft.com/office/powerpoint/2010/main" val="2162538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55470</TotalTime>
  <Words>1689</Words>
  <Application>Microsoft Office PowerPoint</Application>
  <PresentationFormat>On-screen Show (16:9)</PresentationFormat>
  <Paragraphs>407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Cambria Math</vt:lpstr>
      <vt:lpstr>Office Theme</vt:lpstr>
      <vt:lpstr>Direct modular exponentiation is only practical for small values</vt:lpstr>
      <vt:lpstr>Direct modular exponentiation is only practical for small values</vt:lpstr>
      <vt:lpstr>Direct modular exponentiation is only practical for small values</vt:lpstr>
      <vt:lpstr>Direct modular exponentiation is only practical for small values</vt:lpstr>
      <vt:lpstr>Direct modular exponentiation is only practical for small values</vt:lpstr>
      <vt:lpstr>Direct modular exponentiation is only practical for small values</vt:lpstr>
      <vt:lpstr>Reducing operands helps (some)</vt:lpstr>
      <vt:lpstr>Reducing operands helps (some)</vt:lpstr>
      <vt:lpstr>Reducing operands helps (some)</vt:lpstr>
      <vt:lpstr>Reducing operands helps (some)</vt:lpstr>
      <vt:lpstr>Reducing operands helps (some)</vt:lpstr>
      <vt:lpstr>Reducing operands helps (some)</vt:lpstr>
      <vt:lpstr>Multiply-and-reduce is O(modulus)</vt:lpstr>
      <vt:lpstr>Multiply-and-reduce is O(modulus)</vt:lpstr>
      <vt:lpstr>Multiply-and-reduce is O(modulus)</vt:lpstr>
      <vt:lpstr>Multiply-and-reduce is O(modulus)</vt:lpstr>
      <vt:lpstr>Multiply-and-reduce is O(modulus)</vt:lpstr>
      <vt:lpstr>Multiply-and-reduce is O(modulus)</vt:lpstr>
      <vt:lpstr>Multiply-and-reduce is O(modulus)</vt:lpstr>
      <vt:lpstr>Multiply-and-reduce is O(modulus)</vt:lpstr>
      <vt:lpstr>Multiply-and-reduce is O(modulus)</vt:lpstr>
      <vt:lpstr>Square-and-multiply is O(log(modulus))</vt:lpstr>
      <vt:lpstr>Square-and-multiply is O(log(modulus))</vt:lpstr>
      <vt:lpstr>Square-and-multiply is O(log(modulus))</vt:lpstr>
      <vt:lpstr>Square-and-multiply is O(log(modulus))</vt:lpstr>
      <vt:lpstr>Square-and-multiply is O(log(modulus))</vt:lpstr>
      <vt:lpstr>Square-and-multiply is O(log(modulus))</vt:lpstr>
      <vt:lpstr>Square-and-multiply is O(log(modulus))</vt:lpstr>
      <vt:lpstr>Square-and-multiply is O(log(modulus))</vt:lpstr>
      <vt:lpstr>Square-and-multiply uses the binary representation of the exponent</vt:lpstr>
      <vt:lpstr>Square-and-multiply uses the binary representation of the exponent</vt:lpstr>
      <vt:lpstr>Square-and-multiply uses the binary representation of the exponent</vt:lpstr>
      <vt:lpstr>Square-and-multiply uses the binary representation of the exponent</vt:lpstr>
      <vt:lpstr>Square-and-multiply uses the binary representation of the exponent</vt:lpstr>
      <vt:lpstr>Square-and-multiply uses the binary representation of the exponent</vt:lpstr>
      <vt:lpstr>Square-and-multiply uses the binary representation of the exponent</vt:lpstr>
      <vt:lpstr>Square-and-multiply uses the binary representation of the exponent</vt:lpstr>
      <vt:lpstr>In review…</vt:lpstr>
      <vt:lpstr>In review…</vt:lpstr>
      <vt:lpstr>In review…</vt:lpstr>
      <vt:lpstr>In review…</vt:lpstr>
      <vt:lpstr>In review…</vt:lpstr>
      <vt:lpstr>In review…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295</cp:revision>
  <dcterms:created xsi:type="dcterms:W3CDTF">2017-04-06T17:43:22Z</dcterms:created>
  <dcterms:modified xsi:type="dcterms:W3CDTF">2017-09-15T23:54:32Z</dcterms:modified>
</cp:coreProperties>
</file>