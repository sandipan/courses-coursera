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63"/>
  </p:notesMasterIdLst>
  <p:sldIdLst>
    <p:sldId id="1030" r:id="rId2"/>
    <p:sldId id="1042" r:id="rId3"/>
    <p:sldId id="1043" r:id="rId4"/>
    <p:sldId id="1044" r:id="rId5"/>
    <p:sldId id="1045" r:id="rId6"/>
    <p:sldId id="1046" r:id="rId7"/>
    <p:sldId id="1031" r:id="rId8"/>
    <p:sldId id="1047" r:id="rId9"/>
    <p:sldId id="1048" r:id="rId10"/>
    <p:sldId id="1049" r:id="rId11"/>
    <p:sldId id="1050" r:id="rId12"/>
    <p:sldId id="1051" r:id="rId13"/>
    <p:sldId id="1052" r:id="rId14"/>
    <p:sldId id="1053" r:id="rId15"/>
    <p:sldId id="1054" r:id="rId16"/>
    <p:sldId id="1032" r:id="rId17"/>
    <p:sldId id="1055" r:id="rId18"/>
    <p:sldId id="1056" r:id="rId19"/>
    <p:sldId id="1057" r:id="rId20"/>
    <p:sldId id="1058" r:id="rId21"/>
    <p:sldId id="1059" r:id="rId22"/>
    <p:sldId id="1060" r:id="rId23"/>
    <p:sldId id="1061" r:id="rId24"/>
    <p:sldId id="1062" r:id="rId25"/>
    <p:sldId id="1033" r:id="rId26"/>
    <p:sldId id="1082" r:id="rId27"/>
    <p:sldId id="1084" r:id="rId28"/>
    <p:sldId id="1085" r:id="rId29"/>
    <p:sldId id="1034" r:id="rId30"/>
    <p:sldId id="1035" r:id="rId31"/>
    <p:sldId id="1083" r:id="rId32"/>
    <p:sldId id="1036" r:id="rId33"/>
    <p:sldId id="1087" r:id="rId34"/>
    <p:sldId id="1088" r:id="rId35"/>
    <p:sldId id="1089" r:id="rId36"/>
    <p:sldId id="1037" r:id="rId37"/>
    <p:sldId id="1090" r:id="rId38"/>
    <p:sldId id="1091" r:id="rId39"/>
    <p:sldId id="1038" r:id="rId40"/>
    <p:sldId id="1092" r:id="rId41"/>
    <p:sldId id="1040" r:id="rId42"/>
    <p:sldId id="1063" r:id="rId43"/>
    <p:sldId id="1064" r:id="rId44"/>
    <p:sldId id="1065" r:id="rId45"/>
    <p:sldId id="1066" r:id="rId46"/>
    <p:sldId id="1067" r:id="rId47"/>
    <p:sldId id="1068" r:id="rId48"/>
    <p:sldId id="1069" r:id="rId49"/>
    <p:sldId id="1070" r:id="rId50"/>
    <p:sldId id="1071" r:id="rId51"/>
    <p:sldId id="1072" r:id="rId52"/>
    <p:sldId id="1041" r:id="rId53"/>
    <p:sldId id="1073" r:id="rId54"/>
    <p:sldId id="1074" r:id="rId55"/>
    <p:sldId id="1075" r:id="rId56"/>
    <p:sldId id="1076" r:id="rId57"/>
    <p:sldId id="1077" r:id="rId58"/>
    <p:sldId id="1078" r:id="rId59"/>
    <p:sldId id="1079" r:id="rId60"/>
    <p:sldId id="1080" r:id="rId61"/>
    <p:sldId id="1081" r:id="rId62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8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notesMaster" Target="notesMasters/notesMaster1.xml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7F0B71-AAAA-4792-BE6C-AA7513867772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3C4375-5D5B-4983-9E94-ADB1EF41B8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3C4375-5D5B-4983-9E94-ADB1EF41B840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5158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12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0454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852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922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7014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614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77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29062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15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822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46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68998-65E4-4D42-A636-16DD79DA22FC}" type="datetimeFigureOut">
              <a:rPr lang="en-US" smtClean="0"/>
              <a:t>9/15/2017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8A382-BE1D-4848-889F-21714BE1E3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88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Logarithms and exponentials are reciprocal functions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43156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Logarithms and exponentials are reciprocal functions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𝒍𝒐𝒈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</a:rPr>
                                <m:t>𝒚</m:t>
                              </m:r>
                            </m:sup>
                          </m:sSup>
                        </m:e>
                      </m:d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0" smtClean="0">
                          <a:latin typeface="Cambria Math"/>
                          <a:ea typeface="Cambria Math"/>
                        </a:rPr>
                        <m:t>𝐲</m:t>
                      </m:r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64633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8373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Logarithms and exponentials are reciprocal functions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2011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𝒍𝒐𝒈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</a:rPr>
                                <m:t>𝒚</m:t>
                              </m:r>
                            </m:sup>
                          </m:sSup>
                        </m:e>
                      </m:d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0" smtClean="0">
                          <a:latin typeface="Cambria Math"/>
                          <a:ea typeface="Cambria Math"/>
                        </a:rPr>
                        <m:t>𝐲</m:t>
                      </m:r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𝒆𝒙𝒑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𝒃</m:t>
                          </m:r>
                        </m:sub>
                        <m:sup/>
                      </m:sSub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𝒚</m:t>
                          </m:r>
                        </m:sup>
                      </m:sSup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20116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8373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Logarithms and exponentials are reciprocal functions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7559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𝒍𝒐𝒈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</a:rPr>
                                <m:t>𝒚</m:t>
                              </m:r>
                            </m:sup>
                          </m:sSup>
                        </m:e>
                      </m:d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0" smtClean="0">
                          <a:latin typeface="Cambria Math"/>
                          <a:ea typeface="Cambria Math"/>
                        </a:rPr>
                        <m:t>𝐲</m:t>
                      </m:r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𝒆𝒙𝒑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𝒃</m:t>
                          </m:r>
                        </m:sub>
                        <m:sup/>
                      </m:sSub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𝒚</m:t>
                          </m:r>
                        </m:sup>
                      </m:sSup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/>
                            </a:rPr>
                            <m:t>𝒆𝒙𝒑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𝒃</m:t>
                          </m:r>
                        </m:sub>
                        <m:sup/>
                      </m:sSub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𝒍𝒐𝒈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/>
                                </a:rPr>
                                <m:t>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𝒍𝒐𝒈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𝒃</m:t>
                          </m:r>
                        </m:sub>
                        <m:sup/>
                      </m:sSub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𝒆𝒙𝒑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/>
                                </a:rPr>
                                <m:t>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75599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83734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Logarithms and exponentials are reciprocal functions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309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𝒍𝒐𝒈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</a:rPr>
                                <m:t>𝒚</m:t>
                              </m:r>
                            </m:sup>
                          </m:sSup>
                        </m:e>
                      </m:d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0" smtClean="0">
                          <a:latin typeface="Cambria Math"/>
                          <a:ea typeface="Cambria Math"/>
                        </a:rPr>
                        <m:t>𝐲</m:t>
                      </m:r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𝒆𝒙𝒑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𝒃</m:t>
                          </m:r>
                        </m:sub>
                        <m:sup/>
                      </m:sSub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𝒚</m:t>
                          </m:r>
                        </m:sup>
                      </m:sSup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/>
                            </a:rPr>
                            <m:t>𝒆𝒙𝒑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𝒃</m:t>
                          </m:r>
                        </m:sub>
                        <m:sup/>
                      </m:sSub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𝒍𝒐𝒈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/>
                                </a:rPr>
                                <m:t>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𝒍𝒐𝒈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𝒃</m:t>
                          </m:r>
                        </m:sub>
                        <m:sup/>
                      </m:sSub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𝒆𝒙𝒑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/>
                                </a:rPr>
                                <m:t>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/>
                        </a:rPr>
                        <m:t>𝐧𝐚𝐭𝐮𝐫𝐚𝐥</m:t>
                      </m:r>
                      <m:r>
                        <a:rPr lang="en-US" b="1" i="0" smtClean="0">
                          <a:latin typeface="Cambria Math"/>
                        </a:rPr>
                        <m:t> </m:t>
                      </m:r>
                      <m:r>
                        <a:rPr lang="en-US" b="1" i="0" smtClean="0">
                          <a:latin typeface="Cambria Math"/>
                        </a:rPr>
                        <m:t>𝐥𝐨𝐠𝐬</m:t>
                      </m:r>
                      <m:r>
                        <a:rPr lang="en-US" b="1" i="0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(</m:t>
                      </m:r>
                      <m:r>
                        <a:rPr lang="en-US" b="1" i="1" smtClean="0">
                          <a:latin typeface="Cambria Math"/>
                        </a:rPr>
                        <m:t>𝒃</m:t>
                      </m:r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𝒆</m:t>
                      </m:r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𝟐</m:t>
                      </m:r>
                      <m:r>
                        <a:rPr lang="en-US" b="1" i="1" smtClean="0">
                          <a:latin typeface="Cambria Math"/>
                        </a:rPr>
                        <m:t>.</m:t>
                      </m:r>
                      <m:r>
                        <a:rPr lang="en-US" b="1" i="1" smtClean="0">
                          <a:latin typeface="Cambria Math"/>
                        </a:rPr>
                        <m:t>𝟕𝟏𝟖</m:t>
                      </m:r>
                      <m:r>
                        <a:rPr lang="en-US" b="1" i="1" smtClean="0">
                          <a:latin typeface="Cambria Math"/>
                        </a:rPr>
                        <m:t>…):</m:t>
                      </m:r>
                      <m:r>
                        <a:rPr lang="en-US" b="1" i="1" smtClean="0">
                          <a:latin typeface="Cambria Math"/>
                        </a:rPr>
                        <m:t>𝒍𝒏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; 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30999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8373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Logarithms and exponentials are reciprocal functions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5869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/>
                            </a:rPr>
                            <m:t>𝒍𝒐𝒈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𝒃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/>
                                </a:rPr>
                                <m:t>𝒚</m:t>
                              </m:r>
                            </m:sup>
                          </m:sSup>
                        </m:e>
                      </m:d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r>
                        <a:rPr lang="en-US" b="1" i="0" smtClean="0">
                          <a:latin typeface="Cambria Math"/>
                          <a:ea typeface="Cambria Math"/>
                        </a:rPr>
                        <m:t>𝐲</m:t>
                      </m:r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𝒆𝒙𝒑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𝒃</m:t>
                          </m:r>
                        </m:sub>
                        <m:sup/>
                      </m:sSub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</m:e>
                      </m:d>
                      <m:r>
                        <a:rPr lang="en-US" b="1" i="1">
                          <a:latin typeface="Cambria Math"/>
                          <a:ea typeface="Cambria Math"/>
                        </a:rPr>
                        <m:t>≡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𝒃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𝒚</m:t>
                          </m:r>
                        </m:sup>
                      </m:sSup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>
                              <a:latin typeface="Cambria Math"/>
                            </a:rPr>
                            <m:t>𝒆𝒙𝒑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𝒃</m:t>
                          </m:r>
                        </m:sub>
                        <m:sup/>
                      </m:sSub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𝒍𝒐𝒈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/>
                                </a:rPr>
                                <m:t>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𝒍𝒐𝒈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𝒃</m:t>
                          </m:r>
                        </m:sub>
                        <m:sup/>
                      </m:sSubSup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/>
                                </a:rPr>
                                <m:t>𝒆𝒙𝒑</m:t>
                              </m:r>
                            </m:e>
                            <m:sub>
                              <m:r>
                                <a:rPr lang="en-US" b="1" i="1">
                                  <a:latin typeface="Cambria Math"/>
                                </a:rPr>
                                <m:t>𝒃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𝒙</m:t>
                              </m:r>
                            </m:e>
                          </m:d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b="1" dirty="0"/>
              </a:p>
              <a:p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/>
                        </a:rPr>
                        <m:t>𝐧𝐚𝐭𝐮𝐫𝐚𝐥</m:t>
                      </m:r>
                      <m:r>
                        <a:rPr lang="en-US" b="1" i="0" smtClean="0">
                          <a:latin typeface="Cambria Math"/>
                        </a:rPr>
                        <m:t> </m:t>
                      </m:r>
                      <m:r>
                        <a:rPr lang="en-US" b="1" i="0" smtClean="0">
                          <a:latin typeface="Cambria Math"/>
                        </a:rPr>
                        <m:t>𝐥𝐨𝐠𝐬</m:t>
                      </m:r>
                      <m:r>
                        <a:rPr lang="en-US" b="1" i="0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(</m:t>
                      </m:r>
                      <m:r>
                        <a:rPr lang="en-US" b="1" i="1" smtClean="0">
                          <a:latin typeface="Cambria Math"/>
                        </a:rPr>
                        <m:t>𝒃</m:t>
                      </m:r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𝒆</m:t>
                      </m:r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𝟐</m:t>
                      </m:r>
                      <m:r>
                        <a:rPr lang="en-US" b="1" i="1" smtClean="0">
                          <a:latin typeface="Cambria Math"/>
                        </a:rPr>
                        <m:t>.</m:t>
                      </m:r>
                      <m:r>
                        <a:rPr lang="en-US" b="1" i="1" smtClean="0">
                          <a:latin typeface="Cambria Math"/>
                        </a:rPr>
                        <m:t>𝟕𝟏𝟖</m:t>
                      </m:r>
                      <m:r>
                        <a:rPr lang="en-US" b="1" i="1" smtClean="0">
                          <a:latin typeface="Cambria Math"/>
                        </a:rPr>
                        <m:t>…):</m:t>
                      </m:r>
                      <m:r>
                        <a:rPr lang="en-US" b="1" i="1" smtClean="0">
                          <a:latin typeface="Cambria Math"/>
                        </a:rPr>
                        <m:t>𝒍𝒏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; 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𝒆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0" smtClean="0">
                          <a:latin typeface="Cambria Math"/>
                        </a:rPr>
                        <m:t>𝐜𝐨𝐦𝐦𝐨𝐧</m:t>
                      </m:r>
                      <m:r>
                        <a:rPr lang="en-US" b="1" i="0">
                          <a:latin typeface="Cambria Math"/>
                        </a:rPr>
                        <m:t> </m:t>
                      </m:r>
                      <m:r>
                        <a:rPr lang="en-US" b="1" i="0">
                          <a:latin typeface="Cambria Math"/>
                        </a:rPr>
                        <m:t>𝐥𝐨𝐠𝐬</m:t>
                      </m:r>
                      <m:r>
                        <a:rPr lang="en-US" b="1" i="0">
                          <a:latin typeface="Cambria Math"/>
                        </a:rPr>
                        <m:t> </m:t>
                      </m:r>
                      <m:r>
                        <a:rPr lang="en-US" b="1" i="1">
                          <a:latin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</a:rPr>
                        <m:t>𝒃</m:t>
                      </m:r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𝟏𝟎</m:t>
                      </m:r>
                      <m:r>
                        <a:rPr lang="en-US" b="1" i="1">
                          <a:latin typeface="Cambria Math"/>
                        </a:rPr>
                        <m:t>):</m:t>
                      </m:r>
                      <m:r>
                        <a:rPr lang="en-US" b="1" i="1">
                          <a:latin typeface="Cambria Math"/>
                        </a:rPr>
                        <m:t>𝒍𝒐𝒈</m:t>
                      </m:r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; 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𝟏𝟎</m:t>
                          </m:r>
                        </m:e>
                        <m:sup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lang="en-US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86990"/>
              </a:xfrm>
              <a:prstGeom prst="rect">
                <a:avLst/>
              </a:prstGeom>
              <a:blipFill rotWithShape="1">
                <a:blip r:embed="rId3"/>
                <a:stretch>
                  <a:fillRect b="-11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8373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Logarithms transform multiplication into addition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ea typeface="Cambria Math"/>
            </a:endParaRPr>
          </a:p>
          <a:p>
            <a:endParaRPr lang="en-US" b="1" dirty="0">
              <a:ea typeface="Cambria Math"/>
            </a:endParaRPr>
          </a:p>
          <a:p>
            <a:endParaRPr lang="en-US" b="1" dirty="0">
              <a:ea typeface="Cambria Math"/>
            </a:endParaRPr>
          </a:p>
        </p:txBody>
      </p:sp>
    </p:spTree>
    <p:extLst>
      <p:ext uri="{BB962C8B-B14F-4D97-AF65-F5344CB8AC3E}">
        <p14:creationId xmlns:p14="http://schemas.microsoft.com/office/powerpoint/2010/main" val="27440543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Logarithms transform multiplication into addition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𝒃</m:t>
                      </m:r>
                      <m:r>
                        <a:rPr lang="en-US" b="1" i="1" smtClean="0">
                          <a:latin typeface="Cambria Math"/>
                        </a:rPr>
                        <m:t>&gt;</m:t>
                      </m:r>
                      <m:r>
                        <a:rPr lang="en-US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20032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9363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Logarithms transform multiplication into addition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𝒃</m:t>
                      </m:r>
                      <m:r>
                        <a:rPr lang="en-US" b="1" i="1" smtClean="0">
                          <a:latin typeface="Cambria Math"/>
                        </a:rPr>
                        <m:t>&gt;</m:t>
                      </m:r>
                      <m:r>
                        <a:rPr lang="en-US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 smtClean="0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9233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936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Logarithms transform multiplication into addition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084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𝒃</m:t>
                      </m:r>
                      <m:r>
                        <a:rPr lang="en-US" b="1" i="1" smtClean="0">
                          <a:latin typeface="Cambria Math"/>
                        </a:rPr>
                        <m:t>&gt;</m:t>
                      </m:r>
                      <m:r>
                        <a:rPr lang="en-US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 smtClean="0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 ≤</m:t>
                          </m:r>
                          <m:r>
                            <a:rPr lang="en-US" b="1" i="1">
                              <a:latin typeface="Cambria Math"/>
                            </a:rPr>
                            <m:t>𝟎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𝒖𝒏𝒅𝒆𝒇𝒊𝒏𝒆𝒅</m:t>
                      </m:r>
                      <m:r>
                        <a:rPr lang="en-US" b="1" i="1" smtClean="0">
                          <a:latin typeface="Cambria Math"/>
                        </a:rPr>
                        <m:t>;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𝐥𝐢𝐦</m:t>
                                  </m:r>
                                </m:e>
                                <m:lim>
                                  <m:r>
                                    <a:rPr lang="en-US" b="1" i="1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→</m:t>
                                  </m:r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  <a:ea typeface="Cambria Math"/>
                                        </a:rPr>
                                        <m:t>𝟎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/>
                                          <a:ea typeface="Cambria Math"/>
                                        </a:rPr>
                                        <m:t>+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=−∞</m:t>
                              </m:r>
                            </m:e>
                          </m:func>
                          <m:r>
                            <m:rPr>
                              <m:nor/>
                            </m:rPr>
                            <a:rPr lang="en-US" b="1" dirty="0">
                              <a:ea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08491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936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Logarithms transform multiplication into addition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3619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𝒃</m:t>
                      </m:r>
                      <m:r>
                        <a:rPr lang="en-US" b="1" i="1" smtClean="0">
                          <a:latin typeface="Cambria Math"/>
                        </a:rPr>
                        <m:t>&gt;</m:t>
                      </m:r>
                      <m:r>
                        <a:rPr lang="en-US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 smtClean="0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 ≤</m:t>
                          </m:r>
                          <m:r>
                            <a:rPr lang="en-US" b="1" i="1">
                              <a:latin typeface="Cambria Math"/>
                            </a:rPr>
                            <m:t>𝟎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𝒖𝒏𝒅𝒆𝒇𝒊𝒏𝒆𝒅</m:t>
                      </m:r>
                      <m:r>
                        <a:rPr lang="en-US" b="1" i="1" smtClean="0">
                          <a:latin typeface="Cambria Math"/>
                        </a:rPr>
                        <m:t>;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𝐥𝐢𝐦</m:t>
                                  </m:r>
                                </m:e>
                                <m:lim>
                                  <m:r>
                                    <a:rPr lang="en-US" b="1" i="1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→</m:t>
                                  </m:r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  <a:ea typeface="Cambria Math"/>
                                        </a:rPr>
                                        <m:t>𝟎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/>
                                          <a:ea typeface="Cambria Math"/>
                                        </a:rPr>
                                        <m:t>+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=−∞</m:t>
                              </m:r>
                            </m:e>
                          </m:func>
                          <m:r>
                            <m:rPr>
                              <m:nor/>
                            </m:rPr>
                            <a:rPr lang="en-US" b="1" dirty="0">
                              <a:ea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𝒊𝒇</m:t>
                      </m:r>
                      <m:r>
                        <a:rPr lang="en-US" b="1" i="1" smtClean="0">
                          <a:latin typeface="Cambria Math"/>
                        </a:rPr>
                        <m:t>   </m:t>
                      </m:r>
                      <m:r>
                        <a:rPr lang="en-US" b="1" i="1" smtClean="0">
                          <a:latin typeface="Cambria Math"/>
                        </a:rPr>
                        <m:t>𝒙</m:t>
                      </m:r>
                      <m:r>
                        <a:rPr lang="en-US" b="1" i="1" smtClean="0">
                          <a:latin typeface="Cambria Math"/>
                        </a:rPr>
                        <m:t>&gt;</m:t>
                      </m:r>
                      <m:r>
                        <a:rPr lang="en-US" b="1" i="1" smtClean="0">
                          <a:latin typeface="Cambria Math"/>
                        </a:rPr>
                        <m:t>𝒚</m:t>
                      </m:r>
                      <m:r>
                        <a:rPr lang="en-US" b="1" i="1" smtClean="0">
                          <a:latin typeface="Cambria Math"/>
                        </a:rPr>
                        <m:t>    </m:t>
                      </m:r>
                      <m:r>
                        <a:rPr lang="en-US" b="1" i="1" smtClean="0">
                          <a:latin typeface="Cambria Math"/>
                        </a:rPr>
                        <m:t>𝒕𝒉𝒆𝒏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1" smtClean="0">
                              <a:latin typeface="Cambria Math"/>
                            </a:rPr>
                            <m:t>   </m:t>
                          </m:r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/>
                        </a:rPr>
                        <m:t>&gt;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361911"/>
              </a:xfrm>
              <a:prstGeom prst="rect">
                <a:avLst/>
              </a:prstGeom>
              <a:blipFill rotWithShape="1">
                <a:blip r:embed="rId3"/>
                <a:stretch>
                  <a:fillRect b="-31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936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Logarithms transform multiplication into addition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9159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𝒃</m:t>
                      </m:r>
                      <m:r>
                        <a:rPr lang="en-US" b="1" i="1" smtClean="0">
                          <a:latin typeface="Cambria Math"/>
                        </a:rPr>
                        <m:t>&gt;</m:t>
                      </m:r>
                      <m:r>
                        <a:rPr lang="en-US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 smtClean="0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 ≤</m:t>
                          </m:r>
                          <m:r>
                            <a:rPr lang="en-US" b="1" i="1">
                              <a:latin typeface="Cambria Math"/>
                            </a:rPr>
                            <m:t>𝟎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𝒖𝒏𝒅𝒆𝒇𝒊𝒏𝒆𝒅</m:t>
                      </m:r>
                      <m:r>
                        <a:rPr lang="en-US" b="1" i="1" smtClean="0">
                          <a:latin typeface="Cambria Math"/>
                        </a:rPr>
                        <m:t>;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𝐥𝐢𝐦</m:t>
                                  </m:r>
                                </m:e>
                                <m:lim>
                                  <m:r>
                                    <a:rPr lang="en-US" b="1" i="1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→</m:t>
                                  </m:r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  <a:ea typeface="Cambria Math"/>
                                        </a:rPr>
                                        <m:t>𝟎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/>
                                          <a:ea typeface="Cambria Math"/>
                                        </a:rPr>
                                        <m:t>+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=−∞</m:t>
                              </m:r>
                            </m:e>
                          </m:func>
                          <m:r>
                            <m:rPr>
                              <m:nor/>
                            </m:rPr>
                            <a:rPr lang="en-US" b="1" dirty="0">
                              <a:ea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𝒊𝒇</m:t>
                      </m:r>
                      <m:r>
                        <a:rPr lang="en-US" b="1" i="1" smtClean="0">
                          <a:latin typeface="Cambria Math"/>
                        </a:rPr>
                        <m:t>   </m:t>
                      </m:r>
                      <m:r>
                        <a:rPr lang="en-US" b="1" i="1" smtClean="0">
                          <a:latin typeface="Cambria Math"/>
                        </a:rPr>
                        <m:t>𝒙</m:t>
                      </m:r>
                      <m:r>
                        <a:rPr lang="en-US" b="1" i="1" smtClean="0">
                          <a:latin typeface="Cambria Math"/>
                        </a:rPr>
                        <m:t>&gt;</m:t>
                      </m:r>
                      <m:r>
                        <a:rPr lang="en-US" b="1" i="1" smtClean="0">
                          <a:latin typeface="Cambria Math"/>
                        </a:rPr>
                        <m:t>𝒚</m:t>
                      </m:r>
                      <m:r>
                        <a:rPr lang="en-US" b="1" i="1" smtClean="0">
                          <a:latin typeface="Cambria Math"/>
                        </a:rPr>
                        <m:t>    </m:t>
                      </m:r>
                      <m:r>
                        <a:rPr lang="en-US" b="1" i="1" smtClean="0">
                          <a:latin typeface="Cambria Math"/>
                        </a:rPr>
                        <m:t>𝒕𝒉𝒆𝒏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1" smtClean="0">
                              <a:latin typeface="Cambria Math"/>
                            </a:rPr>
                            <m:t>   </m:t>
                          </m:r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/>
                        </a:rPr>
                        <m:t>&gt;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/>
                        </a:rPr>
                        <m:t>𝒂𝒏𝒅</m:t>
                      </m:r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0" smtClean="0">
                          <a:latin typeface="Cambria Math"/>
                        </a:rPr>
                        <m:t>𝐞𝐱𝐩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𝒂𝒓𝒆</m:t>
                      </m:r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𝒖𝒏𝒊𝒒𝒖𝒆</m:t>
                      </m:r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91590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9363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Logarithms transform multiplication into addition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19290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𝒃</m:t>
                      </m:r>
                      <m:r>
                        <a:rPr lang="en-US" b="1" i="1" smtClean="0">
                          <a:latin typeface="Cambria Math"/>
                        </a:rPr>
                        <m:t>&gt;</m:t>
                      </m:r>
                      <m:r>
                        <a:rPr lang="en-US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 smtClean="0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 ≤</m:t>
                          </m:r>
                          <m:r>
                            <a:rPr lang="en-US" b="1" i="1">
                              <a:latin typeface="Cambria Math"/>
                            </a:rPr>
                            <m:t>𝟎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𝒖𝒏𝒅𝒆𝒇𝒊𝒏𝒆𝒅</m:t>
                      </m:r>
                      <m:r>
                        <a:rPr lang="en-US" b="1" i="1" smtClean="0">
                          <a:latin typeface="Cambria Math"/>
                        </a:rPr>
                        <m:t>;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𝐥𝐢𝐦</m:t>
                                  </m:r>
                                </m:e>
                                <m:lim>
                                  <m:r>
                                    <a:rPr lang="en-US" b="1" i="1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→</m:t>
                                  </m:r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  <a:ea typeface="Cambria Math"/>
                                        </a:rPr>
                                        <m:t>𝟎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/>
                                          <a:ea typeface="Cambria Math"/>
                                        </a:rPr>
                                        <m:t>+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=−∞</m:t>
                              </m:r>
                            </m:e>
                          </m:func>
                          <m:r>
                            <m:rPr>
                              <m:nor/>
                            </m:rPr>
                            <a:rPr lang="en-US" b="1" dirty="0">
                              <a:ea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𝒊𝒇</m:t>
                      </m:r>
                      <m:r>
                        <a:rPr lang="en-US" b="1" i="1" smtClean="0">
                          <a:latin typeface="Cambria Math"/>
                        </a:rPr>
                        <m:t>   </m:t>
                      </m:r>
                      <m:r>
                        <a:rPr lang="en-US" b="1" i="1" smtClean="0">
                          <a:latin typeface="Cambria Math"/>
                        </a:rPr>
                        <m:t>𝒙</m:t>
                      </m:r>
                      <m:r>
                        <a:rPr lang="en-US" b="1" i="1" smtClean="0">
                          <a:latin typeface="Cambria Math"/>
                        </a:rPr>
                        <m:t>&gt;</m:t>
                      </m:r>
                      <m:r>
                        <a:rPr lang="en-US" b="1" i="1" smtClean="0">
                          <a:latin typeface="Cambria Math"/>
                        </a:rPr>
                        <m:t>𝒚</m:t>
                      </m:r>
                      <m:r>
                        <a:rPr lang="en-US" b="1" i="1" smtClean="0">
                          <a:latin typeface="Cambria Math"/>
                        </a:rPr>
                        <m:t>    </m:t>
                      </m:r>
                      <m:r>
                        <a:rPr lang="en-US" b="1" i="1" smtClean="0">
                          <a:latin typeface="Cambria Math"/>
                        </a:rPr>
                        <m:t>𝒕𝒉𝒆𝒏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1" smtClean="0">
                              <a:latin typeface="Cambria Math"/>
                            </a:rPr>
                            <m:t>   </m:t>
                          </m:r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/>
                        </a:rPr>
                        <m:t>&gt;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/>
                        </a:rPr>
                        <m:t>𝒂𝒏𝒅</m:t>
                      </m:r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0" smtClean="0">
                          <a:latin typeface="Cambria Math"/>
                        </a:rPr>
                        <m:t>𝐞𝐱𝐩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𝒂𝒓𝒆</m:t>
                      </m:r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𝒖𝒏𝒊𝒒𝒖𝒆</m:t>
                      </m:r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192908"/>
              </a:xfrm>
              <a:prstGeom prst="rect">
                <a:avLst/>
              </a:prstGeom>
              <a:blipFill rotWithShape="1">
                <a:blip r:embed="rId3"/>
                <a:stretch>
                  <a:fillRect b="-13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9363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Logarithms transform multiplication into addition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4699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𝒃</m:t>
                      </m:r>
                      <m:r>
                        <a:rPr lang="en-US" b="1" i="1" smtClean="0">
                          <a:latin typeface="Cambria Math"/>
                        </a:rPr>
                        <m:t>&gt;</m:t>
                      </m:r>
                      <m:r>
                        <a:rPr lang="en-US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 smtClean="0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 ≤</m:t>
                          </m:r>
                          <m:r>
                            <a:rPr lang="en-US" b="1" i="1">
                              <a:latin typeface="Cambria Math"/>
                            </a:rPr>
                            <m:t>𝟎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𝒖𝒏𝒅𝒆𝒇𝒊𝒏𝒆𝒅</m:t>
                      </m:r>
                      <m:r>
                        <a:rPr lang="en-US" b="1" i="1" smtClean="0">
                          <a:latin typeface="Cambria Math"/>
                        </a:rPr>
                        <m:t>;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𝐥𝐢𝐦</m:t>
                                  </m:r>
                                </m:e>
                                <m:lim>
                                  <m:r>
                                    <a:rPr lang="en-US" b="1" i="1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→</m:t>
                                  </m:r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  <a:ea typeface="Cambria Math"/>
                                        </a:rPr>
                                        <m:t>𝟎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/>
                                          <a:ea typeface="Cambria Math"/>
                                        </a:rPr>
                                        <m:t>+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=−∞</m:t>
                              </m:r>
                            </m:e>
                          </m:func>
                          <m:r>
                            <m:rPr>
                              <m:nor/>
                            </m:rPr>
                            <a:rPr lang="en-US" b="1" dirty="0">
                              <a:ea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𝒊𝒇</m:t>
                      </m:r>
                      <m:r>
                        <a:rPr lang="en-US" b="1" i="1" smtClean="0">
                          <a:latin typeface="Cambria Math"/>
                        </a:rPr>
                        <m:t>   </m:t>
                      </m:r>
                      <m:r>
                        <a:rPr lang="en-US" b="1" i="1" smtClean="0">
                          <a:latin typeface="Cambria Math"/>
                        </a:rPr>
                        <m:t>𝒙</m:t>
                      </m:r>
                      <m:r>
                        <a:rPr lang="en-US" b="1" i="1" smtClean="0">
                          <a:latin typeface="Cambria Math"/>
                        </a:rPr>
                        <m:t>&gt;</m:t>
                      </m:r>
                      <m:r>
                        <a:rPr lang="en-US" b="1" i="1" smtClean="0">
                          <a:latin typeface="Cambria Math"/>
                        </a:rPr>
                        <m:t>𝒚</m:t>
                      </m:r>
                      <m:r>
                        <a:rPr lang="en-US" b="1" i="1" smtClean="0">
                          <a:latin typeface="Cambria Math"/>
                        </a:rPr>
                        <m:t>    </m:t>
                      </m:r>
                      <m:r>
                        <a:rPr lang="en-US" b="1" i="1" smtClean="0">
                          <a:latin typeface="Cambria Math"/>
                        </a:rPr>
                        <m:t>𝒕𝒉𝒆𝒏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1" smtClean="0">
                              <a:latin typeface="Cambria Math"/>
                            </a:rPr>
                            <m:t>   </m:t>
                          </m:r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/>
                        </a:rPr>
                        <m:t>&gt;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/>
                        </a:rPr>
                        <m:t>𝒂𝒏𝒅</m:t>
                      </m:r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0" smtClean="0">
                          <a:latin typeface="Cambria Math"/>
                        </a:rPr>
                        <m:t>𝐞𝐱𝐩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𝒂𝒓𝒆</m:t>
                      </m:r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𝒖𝒏𝒊𝒒𝒖𝒆</m:t>
                      </m:r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𝒚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𝒚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∙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469907"/>
              </a:xfrm>
              <a:prstGeom prst="rect">
                <a:avLst/>
              </a:prstGeom>
              <a:blipFill rotWithShape="1">
                <a:blip r:embed="rId3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9363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Logarithms transform multiplication into addition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30239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𝒃</m:t>
                      </m:r>
                      <m:r>
                        <a:rPr lang="en-US" b="1" i="1" smtClean="0">
                          <a:latin typeface="Cambria Math"/>
                        </a:rPr>
                        <m:t>&gt;</m:t>
                      </m:r>
                      <m:r>
                        <a:rPr lang="en-US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0" smtClean="0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 smtClean="0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𝟏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𝟎</m:t>
                      </m:r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 ≤</m:t>
                          </m:r>
                          <m:r>
                            <a:rPr lang="en-US" b="1" i="1">
                              <a:latin typeface="Cambria Math"/>
                            </a:rPr>
                            <m:t>𝟎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𝒖𝒏𝒅𝒆𝒇𝒊𝒏𝒆𝒅</m:t>
                      </m:r>
                      <m:r>
                        <a:rPr lang="en-US" b="1" i="1" smtClean="0">
                          <a:latin typeface="Cambria Math"/>
                        </a:rPr>
                        <m:t>;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limLow>
                                <m:limLowPr>
                                  <m:ctrlP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r>
                                    <a:rPr lang="en-US" b="1" i="1">
                                      <a:latin typeface="Cambria Math"/>
                                    </a:rPr>
                                    <m:t>𝐥𝐢𝐦</m:t>
                                  </m:r>
                                </m:e>
                                <m:lim>
                                  <m:r>
                                    <a:rPr lang="en-US" b="1" i="1">
                                      <a:latin typeface="Cambria Math"/>
                                    </a:rPr>
                                    <m:t>𝒙</m:t>
                                  </m:r>
                                  <m:r>
                                    <a:rPr lang="en-US" b="1" i="1">
                                      <a:latin typeface="Cambria Math"/>
                                      <a:ea typeface="Cambria Math"/>
                                    </a:rPr>
                                    <m:t>→</m:t>
                                  </m:r>
                                  <m:sSup>
                                    <m:sSupPr>
                                      <m:ctrlPr>
                                        <a:rPr lang="en-US" b="1" i="1">
                                          <a:latin typeface="Cambria Math" panose="02040503050406030204" pitchFamily="18" charset="0"/>
                                          <a:ea typeface="Cambria Math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1" i="1">
                                          <a:latin typeface="Cambria Math"/>
                                          <a:ea typeface="Cambria Math"/>
                                        </a:rPr>
                                        <m:t>𝟎</m:t>
                                      </m:r>
                                    </m:e>
                                    <m:sup>
                                      <m:r>
                                        <a:rPr lang="en-US" b="1" i="1">
                                          <a:latin typeface="Cambria Math"/>
                                          <a:ea typeface="Cambria Math"/>
                                        </a:rPr>
                                        <m:t>+</m:t>
                                      </m:r>
                                    </m:sup>
                                  </m:sSup>
                                </m:lim>
                              </m:limLow>
                            </m:fName>
                            <m:e>
                              <m:r>
                                <a:rPr lang="en-US" b="1" i="1">
                                  <a:latin typeface="Cambria Math"/>
                                </a:rPr>
                                <m:t>𝒙</m:t>
                              </m:r>
                              <m:r>
                                <a:rPr lang="en-US" b="1" i="1">
                                  <a:latin typeface="Cambria Math"/>
                                </a:rPr>
                                <m:t>=−∞</m:t>
                              </m:r>
                            </m:e>
                          </m:func>
                          <m:r>
                            <m:rPr>
                              <m:nor/>
                            </m:rPr>
                            <a:rPr lang="en-US" b="1" dirty="0">
                              <a:ea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/>
                        </a:rPr>
                        <m:t>𝒊𝒇</m:t>
                      </m:r>
                      <m:r>
                        <a:rPr lang="en-US" b="1" i="1" smtClean="0">
                          <a:latin typeface="Cambria Math"/>
                        </a:rPr>
                        <m:t>   </m:t>
                      </m:r>
                      <m:r>
                        <a:rPr lang="en-US" b="1" i="1" smtClean="0">
                          <a:latin typeface="Cambria Math"/>
                        </a:rPr>
                        <m:t>𝒙</m:t>
                      </m:r>
                      <m:r>
                        <a:rPr lang="en-US" b="1" i="1" smtClean="0">
                          <a:latin typeface="Cambria Math"/>
                        </a:rPr>
                        <m:t>&gt;</m:t>
                      </m:r>
                      <m:r>
                        <a:rPr lang="en-US" b="1" i="1" smtClean="0">
                          <a:latin typeface="Cambria Math"/>
                        </a:rPr>
                        <m:t>𝒚</m:t>
                      </m:r>
                      <m:r>
                        <a:rPr lang="en-US" b="1" i="1" smtClean="0">
                          <a:latin typeface="Cambria Math"/>
                        </a:rPr>
                        <m:t>    </m:t>
                      </m:r>
                      <m:r>
                        <a:rPr lang="en-US" b="1" i="1" smtClean="0">
                          <a:latin typeface="Cambria Math"/>
                        </a:rPr>
                        <m:t>𝒕𝒉𝒆𝒏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 i="1" smtClean="0">
                              <a:latin typeface="Cambria Math"/>
                            </a:rPr>
                            <m:t>   </m:t>
                          </m:r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/>
                        </a:rPr>
                        <m:t>&gt;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/>
                        </a:rPr>
                        <m:t>𝒂𝒏𝒅</m:t>
                      </m:r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0" smtClean="0">
                          <a:latin typeface="Cambria Math"/>
                        </a:rPr>
                        <m:t>𝐞𝐱𝐩</m:t>
                      </m:r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𝒂𝒓𝒆</m:t>
                      </m:r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𝒖𝒏𝒊𝒒𝒖𝒆</m:t>
                      </m:r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∙</m:t>
                          </m:r>
                          <m:r>
                            <a:rPr lang="en-US" b="1" i="1" smtClean="0">
                              <a:latin typeface="Cambria Math"/>
                              <a:ea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  <m:r>
                        <a:rPr lang="en-US" b="1" i="1" smtClean="0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𝒚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d>
                            <m:d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en-US" b="1" i="1" smtClean="0">
                                      <a:latin typeface="Cambria Math"/>
                                    </a:rPr>
                                    <m:t>𝒚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𝒚</m:t>
                      </m:r>
                      <m:r>
                        <a:rPr lang="en-US" b="1" i="1" smtClean="0">
                          <a:latin typeface="Cambria Math"/>
                          <a:ea typeface="Cambria Math"/>
                        </a:rPr>
                        <m:t>∙</m:t>
                      </m:r>
                      <m:func>
                        <m:func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fName>
                        <m:e>
                          <m:r>
                            <a:rPr lang="en-US" b="1" i="1">
                              <a:latin typeface="Cambria Math"/>
                            </a:rPr>
                            <m:t>(</m:t>
                          </m:r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  <m:r>
                            <a:rPr lang="en-US" b="1" i="1">
                              <a:latin typeface="Cambria Math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𝒂</m:t>
                          </m:r>
                        </m:sub>
                      </m:sSub>
                      <m:d>
                        <m:d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𝒃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𝒙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 /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/>
                            </a:rPr>
                            <m:t> </m:t>
                          </m:r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𝒃</m:t>
                          </m:r>
                        </m:sub>
                      </m:sSub>
                      <m:r>
                        <a:rPr lang="en-US" b="1" i="1">
                          <a:latin typeface="Cambria Math"/>
                        </a:rPr>
                        <m:t>(</m:t>
                      </m:r>
                      <m:r>
                        <a:rPr lang="en-US" b="1" i="1">
                          <a:latin typeface="Cambria Math"/>
                        </a:rPr>
                        <m:t>𝒂</m:t>
                      </m:r>
                      <m:r>
                        <a:rPr lang="en-US" b="1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b="1" dirty="0">
                  <a:ea typeface="Cambria Math"/>
                </a:endParaRPr>
              </a:p>
              <a:p>
                <a:endParaRPr lang="en-US" b="1" dirty="0">
                  <a:ea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302390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239363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Not all positive integers have a discrete logarithm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94865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Not all positive integers have a discrete logarithm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𝟏𝟎𝟎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369332"/>
              </a:xfrm>
              <a:prstGeom prst="rect">
                <a:avLst/>
              </a:prstGeom>
              <a:blipFill rotWithShape="1">
                <a:blip r:embed="rId3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3391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Not all positive integers have a discrete logarithm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𝟏𝟎𝟎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/>
                            </a:rPr>
                            <m:t>𝐥</m:t>
                          </m:r>
                          <m:r>
                            <a:rPr lang="en-US" b="1">
                              <a:latin typeface="Cambria Math"/>
                            </a:rPr>
                            <m:t>𝐨𝐠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𝟏𝟎𝟎𝟎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200329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339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Not all positive integers have a discrete logarithm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𝟏𝟎𝟎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/>
                            </a:rPr>
                            <m:t>𝐥</m:t>
                          </m:r>
                          <m:r>
                            <a:rPr lang="en-US" b="1">
                              <a:latin typeface="Cambria Math"/>
                            </a:rPr>
                            <m:t>𝐨𝐠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𝟏𝟎𝟎𝟎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𝟓𝟏𝟐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  </m:t>
                      </m:r>
                      <m:r>
                        <a:rPr lang="en-US" b="1" i="1" smtClean="0">
                          <a:latin typeface="Cambria Math"/>
                        </a:rPr>
                        <m:t>𝒅𝒐𝒆𝒔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𝒏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𝒕</m:t>
                      </m:r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𝒆𝒙𝒊𝒔𝒕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1200329"/>
              </a:xfrm>
              <a:prstGeom prst="rect">
                <a:avLst/>
              </a:prstGeom>
              <a:blipFill rotWithShape="1">
                <a:blip r:embed="rId3"/>
                <a:stretch>
                  <a:fillRect b="-4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339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Not all positive integers have a discrete logarithm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𝟏𝟎𝟎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/>
                            </a:rPr>
                            <m:t>𝐥</m:t>
                          </m:r>
                          <m:r>
                            <a:rPr lang="en-US" b="1">
                              <a:latin typeface="Cambria Math"/>
                            </a:rPr>
                            <m:t>𝐨𝐠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𝟏𝟎𝟎𝟎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𝟓𝟏𝟐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  </m:t>
                      </m:r>
                      <m:r>
                        <a:rPr lang="en-US" b="1" i="1" smtClean="0">
                          <a:latin typeface="Cambria Math"/>
                        </a:rPr>
                        <m:t>𝒅𝒐𝒆𝒔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𝒏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𝒕</m:t>
                      </m:r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𝒆𝒙𝒊𝒔𝒕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𝟖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𝟓𝟏𝟐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03132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3391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Not all positive integers have a discrete logarithm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308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𝟏𝟎𝟎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/>
                            </a:rPr>
                            <m:t>𝐥</m:t>
                          </m:r>
                          <m:r>
                            <a:rPr lang="en-US" b="1">
                              <a:latin typeface="Cambria Math"/>
                            </a:rPr>
                            <m:t>𝐨𝐠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𝟏𝟎𝟎𝟎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𝟓𝟏𝟐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  </m:t>
                      </m:r>
                      <m:r>
                        <a:rPr lang="en-US" b="1" i="1" smtClean="0">
                          <a:latin typeface="Cambria Math"/>
                        </a:rPr>
                        <m:t>𝒅𝒐𝒆𝒔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𝒏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𝒕</m:t>
                      </m:r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𝒆𝒙𝒊𝒔𝒕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𝟖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𝟓𝟏𝟐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In ℤ</a:t>
                </a:r>
                <a:r>
                  <a:rPr lang="en-US" b="1" baseline="30000" dirty="0"/>
                  <a:t>+</a:t>
                </a:r>
                <a:r>
                  <a:rPr lang="en-US" b="1" dirty="0"/>
                  <a:t> (the set of positive integers)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308324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3391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Not all positive integers have a discrete logarithm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𝟏𝟎𝟎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/>
                            </a:rPr>
                            <m:t>𝐥</m:t>
                          </m:r>
                          <m:r>
                            <a:rPr lang="en-US" b="1">
                              <a:latin typeface="Cambria Math"/>
                            </a:rPr>
                            <m:t>𝐨𝐠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𝟏𝟎𝟎𝟎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𝟓𝟏𝟐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  </m:t>
                      </m:r>
                      <m:r>
                        <a:rPr lang="en-US" b="1" i="1" smtClean="0">
                          <a:latin typeface="Cambria Math"/>
                        </a:rPr>
                        <m:t>𝒅𝒐𝒆𝒔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𝒏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𝒕</m:t>
                      </m:r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𝒆𝒙𝒊𝒔𝒕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𝟖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𝟓𝟏𝟐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In ℤ</a:t>
                </a:r>
                <a:r>
                  <a:rPr lang="en-US" b="1" baseline="30000" dirty="0"/>
                  <a:t>+</a:t>
                </a:r>
                <a:r>
                  <a:rPr lang="en-US" b="1" dirty="0"/>
                  <a:t> (the set of positive integers)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if discrete log exists it is unique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585323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339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Not all positive integers have a discrete logarithm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𝟏𝟎𝟎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/>
                            </a:rPr>
                            <m:t>𝐥</m:t>
                          </m:r>
                          <m:r>
                            <a:rPr lang="en-US" b="1">
                              <a:latin typeface="Cambria Math"/>
                            </a:rPr>
                            <m:t>𝐨𝐠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𝟏𝟎𝟎𝟎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𝟓𝟏𝟐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  </m:t>
                      </m:r>
                      <m:r>
                        <a:rPr lang="en-US" b="1" i="1" smtClean="0">
                          <a:latin typeface="Cambria Math"/>
                        </a:rPr>
                        <m:t>𝒅𝒐𝒆𝒔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𝒏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𝒕</m:t>
                      </m:r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𝒆𝒙𝒊𝒔𝒕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𝟖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𝟓𝟏𝟐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In ℤ</a:t>
                </a:r>
                <a:r>
                  <a:rPr lang="en-US" b="1" baseline="30000" dirty="0"/>
                  <a:t>+</a:t>
                </a:r>
                <a:r>
                  <a:rPr lang="en-US" b="1" dirty="0"/>
                  <a:t> (the set of positive integers)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if discrete log exists it is unique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all other properties still hold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2862322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3391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Not all positive integers have a discrete logarithm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276600" y="1200151"/>
                <a:ext cx="5867400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𝟏𝟎𝟎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𝟐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0" smtClean="0">
                              <a:latin typeface="Cambria Math"/>
                            </a:rPr>
                            <m:t>𝐥</m:t>
                          </m:r>
                          <m:r>
                            <a:rPr lang="en-US" b="1">
                              <a:latin typeface="Cambria Math"/>
                            </a:rPr>
                            <m:t>𝐨𝐠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𝟏𝟎𝟎𝟎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>
                              <a:latin typeface="Cambria Math"/>
                            </a:rPr>
                            <m:t>𝟏𝟎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 smtClean="0">
                              <a:latin typeface="Cambria Math"/>
                            </a:rPr>
                            <m:t>𝟓𝟏𝟐</m:t>
                          </m:r>
                        </m:e>
                      </m:d>
                      <m:r>
                        <a:rPr lang="en-US" b="1" i="1" smtClean="0">
                          <a:latin typeface="Cambria Math"/>
                        </a:rPr>
                        <m:t>  </m:t>
                      </m:r>
                      <m:r>
                        <a:rPr lang="en-US" b="1" i="1" smtClean="0">
                          <a:latin typeface="Cambria Math"/>
                        </a:rPr>
                        <m:t>𝒅𝒐𝒆𝒔</m:t>
                      </m:r>
                      <m:sSup>
                        <m:sSup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1" i="1" smtClean="0">
                              <a:latin typeface="Cambria Math"/>
                            </a:rPr>
                            <m:t>𝒏</m:t>
                          </m:r>
                        </m:e>
                        <m:sup>
                          <m:r>
                            <a:rPr lang="en-US" b="1" i="1" smtClean="0">
                              <a:latin typeface="Cambria Math"/>
                            </a:rPr>
                            <m:t>′</m:t>
                          </m:r>
                        </m:sup>
                      </m:sSup>
                      <m:r>
                        <a:rPr lang="en-US" b="1" i="1" smtClean="0">
                          <a:latin typeface="Cambria Math"/>
                        </a:rPr>
                        <m:t>𝒕</m:t>
                      </m:r>
                      <m:r>
                        <a:rPr lang="en-US" b="1" i="1" smtClean="0">
                          <a:latin typeface="Cambria Math"/>
                        </a:rPr>
                        <m:t> </m:t>
                      </m:r>
                      <m:r>
                        <a:rPr lang="en-US" b="1" i="1" smtClean="0">
                          <a:latin typeface="Cambria Math"/>
                        </a:rPr>
                        <m:t>𝒆𝒙𝒊𝒔𝒕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>
                              <a:latin typeface="Cambria Math"/>
                            </a:rPr>
                            <m:t>𝐥𝐨𝐠</m:t>
                          </m:r>
                        </m:e>
                        <m:sub>
                          <m:r>
                            <a:rPr lang="en-US" b="1" i="1" smtClean="0">
                              <a:latin typeface="Cambria Math"/>
                            </a:rPr>
                            <m:t>𝟖</m:t>
                          </m:r>
                        </m:sub>
                      </m:sSub>
                      <m:d>
                        <m:dPr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1" i="1">
                              <a:latin typeface="Cambria Math"/>
                            </a:rPr>
                            <m:t>𝟓𝟏𝟐</m:t>
                          </m:r>
                        </m:e>
                      </m:d>
                      <m:r>
                        <a:rPr lang="en-US" b="1" i="1">
                          <a:latin typeface="Cambria Math"/>
                        </a:rPr>
                        <m:t>=</m:t>
                      </m:r>
                      <m:r>
                        <a:rPr lang="en-US" b="1" i="1" smtClean="0"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b="1" i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>
                  <a:latin typeface="Cambria Math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In ℤ</a:t>
                </a:r>
                <a:r>
                  <a:rPr lang="en-US" b="1" baseline="30000" dirty="0"/>
                  <a:t>+</a:t>
                </a:r>
                <a:r>
                  <a:rPr lang="en-US" b="1" dirty="0"/>
                  <a:t> (the set of positive integers)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if discrete log exists it is unique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all other properties still hold</a:t>
                </a:r>
              </a:p>
              <a:p>
                <a:pPr marL="800100" lvl="1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Easy to find if log exists and what it is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b="1" dirty="0">
                  <a:latin typeface="Cambria Math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6600" y="1200151"/>
                <a:ext cx="5867400" cy="3139321"/>
              </a:xfrm>
              <a:prstGeom prst="rect">
                <a:avLst/>
              </a:prstGeom>
              <a:blipFill rotWithShape="1">
                <a:blip r:embed="rId3"/>
                <a:stretch>
                  <a:fillRect l="-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233917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A exponentiation table can be used to find discrete logs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919429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A exponentiation table can be used to find discrete logs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base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 0  1  2  3  4  5  6  7  8  9 10 11 12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0 | -  1  1  1  1  1  1  1  1  1  1  1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1 | 0  1  2  3  4  5  6  7  8  9 10 11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2 | 0  1  4  9  3 12 10 10 12  3  9  4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 3 | 0  1  8  1 12  8  8  5  5  1 12  5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 4 | 0  1  3  3  9  1  9  9  1  9  3  3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  5 | 0  1  6  9 10  5  2 11  8  3  4  7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6 | 0  1 12  1  1 12 12 12 12  1  1 12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7 | 0  1 11  3  4  8  7  6  5  9 10  2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8 | 0  1  9  9  3  1  3  3  1  3  9  9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 9 | 0  1  5  1 12  5  5  8  8  1 12  8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10 | 0  1 10  3  9 12  4  4 12  9  3 10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11 | 0  1  7  9 10  8 11  2  5  3  4  6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12 | 0  1  1  1  1  1  1  1  1  1  1  1  1</a:t>
            </a:r>
          </a:p>
        </p:txBody>
      </p:sp>
    </p:spTree>
    <p:extLst>
      <p:ext uri="{BB962C8B-B14F-4D97-AF65-F5344CB8AC3E}">
        <p14:creationId xmlns:p14="http://schemas.microsoft.com/office/powerpoint/2010/main" val="20127777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A exponentiation table can be used to find discrete logs</a:t>
            </a:r>
            <a:br>
              <a:rPr lang="en-US" sz="2800" b="1" dirty="0"/>
            </a:br>
            <a:r>
              <a:rPr lang="en-US" sz="2800" b="1" dirty="0"/>
              <a:t>log</a:t>
            </a:r>
            <a:r>
              <a:rPr lang="en-US" sz="2800" b="1" baseline="-25000" dirty="0"/>
              <a:t>7</a:t>
            </a:r>
            <a:r>
              <a:rPr lang="en-US" sz="2800" b="1" dirty="0"/>
              <a:t>()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base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 0  1  2  3  4  5  6  7  8  9 10 11 12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0 | -  1  1  1  1  1  1  1  1  1  1  1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1 | 0  1  2  3  4  5  6  7  8  9 10 11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2 | 0  1  4  9  3 12 10 10 12  3  9  4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 3 | 0  1  8  1 12  8  8  5  5  1 12  5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 4 | 0  1  3  3  9  1  9  9  1  9  3  3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  5 | 0  1  6  9 10  5  2 11  8  3  4  7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6 | 0  1 12  1  1 12 12 12 12  1  1 12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7 | 0  1 11  3  4  8  7  6  5  9 10  2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8 | 0  1  9  9  3  1  3  3  1  3  9  9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 9 | 0  1  5  1 12  5  5  8  8  1 12  8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10 | 0  1 10  3  9 12  4  4 12  9  3 10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11 | 0  1  7  9 10  8 11  2  5  3  4  6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12 | 0  1  1  1  1  1  1  1  1  1  1  1  1</a:t>
            </a:r>
          </a:p>
        </p:txBody>
      </p:sp>
      <p:sp>
        <p:nvSpPr>
          <p:cNvPr id="3" name="Oval 2"/>
          <p:cNvSpPr/>
          <p:nvPr/>
        </p:nvSpPr>
        <p:spPr>
          <a:xfrm>
            <a:off x="5887422" y="140205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2223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A exponentiation table can be used to find discrete logs</a:t>
            </a:r>
            <a:br>
              <a:rPr lang="en-US" sz="2800" b="1" dirty="0"/>
            </a:br>
            <a:r>
              <a:rPr lang="en-US" sz="2800" b="1" dirty="0"/>
              <a:t>log</a:t>
            </a:r>
            <a:r>
              <a:rPr lang="en-US" sz="2800" b="1" baseline="-25000" dirty="0"/>
              <a:t>7</a:t>
            </a:r>
            <a:r>
              <a:rPr lang="en-US" sz="2800" b="1" dirty="0"/>
              <a:t>(4)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base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 0  1  2  3  4  5  6  7  8  9 10 11 12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0 | -  1  1  1  1  1  1  1  1  1  1  1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1 | 0  1  2  3  4  5  6  7  8  9 10 11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2 | 0  1  4  9  3 12 10 10 12  3  9  4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 3 | 0  1  8  1 12  8  8  5  5  1 12  5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 4 | 0  1  3  3  9  1  9  9  1  9  3  3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  5 | 0  1  6  9 10  5  2 11  8  3  4  7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6 | 0  1 12  1  1 12 12 12 12  1  1 12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7 | 0  1 11  3  4  8  7  6  5  9 10  2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8 | 0  1  9  9  3  1  3  3  1  3  9  9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 9 | 0  1  5  1 12  5  5  8  8  1 12  8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10 | 0  1 10  3  9 12  4  4 12  9  3 10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11 | 0  1  7  9 10  8 11  2  5  3  4  6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12 | 0  1  1  1  1  1  1  1  1  1  1  1  1</a:t>
            </a:r>
          </a:p>
        </p:txBody>
      </p:sp>
      <p:sp>
        <p:nvSpPr>
          <p:cNvPr id="3" name="Oval 2"/>
          <p:cNvSpPr/>
          <p:nvPr/>
        </p:nvSpPr>
        <p:spPr>
          <a:xfrm>
            <a:off x="5887422" y="140205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894096" y="3409950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>
            <a:stCxn id="3" idx="4"/>
            <a:endCxn id="9" idx="0"/>
          </p:cNvCxnSpPr>
          <p:nvPr/>
        </p:nvCxnSpPr>
        <p:spPr>
          <a:xfrm>
            <a:off x="6001722" y="1630654"/>
            <a:ext cx="6674" cy="1779296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38474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A exponentiation table can be used to find discrete logs</a:t>
            </a:r>
            <a:br>
              <a:rPr lang="en-US" sz="2800" b="1" dirty="0"/>
            </a:br>
            <a:r>
              <a:rPr lang="en-US" sz="2800" b="1" dirty="0"/>
              <a:t>log</a:t>
            </a:r>
            <a:r>
              <a:rPr lang="en-US" sz="2800" b="1" baseline="-25000" dirty="0"/>
              <a:t>7</a:t>
            </a:r>
            <a:r>
              <a:rPr lang="en-US" sz="2800" b="1" dirty="0"/>
              <a:t>(4) ≡ 10 (mod 13)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base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 0  1  2  3  4  5  6  7  8  9 10 11 12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0 | -  1  1  1  1  1  1  1  1  1  1  1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1 | 0  1  2  3  4  5  6  7  8  9 10 11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2 | 0  1  4  9  3 12 10 10 12  3  9  4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 3 | 0  1  8  1 12  8  8  5  5  1 12  5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 4 | 0  1  3  3  9  1  9  9  1  9  3  3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  5 | 0  1  6  9 10  5  2 11  8  3  4  7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6 | 0  1 12  1  1 12 12 12 12  1  1 12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7 | 0  1 11  3  4  8  7  6  5  9 10  2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8 | 0  1  9  9  3  1  3  3  1  3  9  9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 9 | 0  1  5  1 12  5  5  8  8  1 12  8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10 | 0  1 10  3  9 12  4  4 12  9  3 10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11 | 0  1  7  9 10  8 11  2  5  3  4  6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12 | 0  1  1  1  1  1  1  1  1  1  1  1  1</a:t>
            </a:r>
          </a:p>
        </p:txBody>
      </p:sp>
      <p:sp>
        <p:nvSpPr>
          <p:cNvPr id="3" name="Oval 2"/>
          <p:cNvSpPr/>
          <p:nvPr/>
        </p:nvSpPr>
        <p:spPr>
          <a:xfrm>
            <a:off x="5887422" y="140205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894096" y="3409950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534682" y="3409950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/>
          <p:cNvCxnSpPr>
            <a:stCxn id="3" idx="4"/>
            <a:endCxn id="9" idx="0"/>
          </p:cNvCxnSpPr>
          <p:nvPr/>
        </p:nvCxnSpPr>
        <p:spPr>
          <a:xfrm>
            <a:off x="6001722" y="1630654"/>
            <a:ext cx="6674" cy="1779296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9" idx="2"/>
            <a:endCxn id="10" idx="6"/>
          </p:cNvCxnSpPr>
          <p:nvPr/>
        </p:nvCxnSpPr>
        <p:spPr>
          <a:xfrm flipH="1">
            <a:off x="3763282" y="3524250"/>
            <a:ext cx="213081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1075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Discrete logs are not monotonic</a:t>
            </a:r>
            <a:br>
              <a:rPr lang="en-US" sz="2800" b="1" dirty="0"/>
            </a:br>
            <a:r>
              <a:rPr lang="en-US" sz="2800" b="1" dirty="0"/>
              <a:t>log</a:t>
            </a:r>
            <a:r>
              <a:rPr lang="en-US" sz="2800" b="1" baseline="-25000" dirty="0"/>
              <a:t>7</a:t>
            </a:r>
            <a:r>
              <a:rPr lang="en-US" sz="2800" b="1" dirty="0"/>
              <a:t>(4) ≡ 10 (mod 13)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base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 0  1  2  3  4  5  6  7  8  9 10 11 12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0 | -  1  1  1  1  1  1  1  1  1  1  1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1 | 0  1  2  3  4  5  6  7  8  9 10 11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2 | 0  1  4  9  3 12 10 10 12  3  9  4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 3 | 0  1  8  1 12  8  8  5  5  1 12  5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 4 | 0  1  3  3  9  1  9  9  1  9  3  3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  5 | 0  1  6  9 10  5  2 11  8  3  4  7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6 | 0  1 12  1  1 12 12 12 12  1  1 12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7 | 0  1 11  3  4  8  7  6  5  9 10  2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8 | 0  1  9  9  3  1  3  3  1  3  9  9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 9 | 0  1  5  1 12  5  5  8  8  1 12  8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10 | 0  1 10  3  9 12  4  4 12  9  3 10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11 | 0  1  7  9 10  8 11  2  5  3  4  6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12 | 0  1  1  1  1  1  1  1  1  1  1  1  1</a:t>
            </a:r>
          </a:p>
        </p:txBody>
      </p:sp>
      <p:sp>
        <p:nvSpPr>
          <p:cNvPr id="3" name="Oval 2"/>
          <p:cNvSpPr/>
          <p:nvPr/>
        </p:nvSpPr>
        <p:spPr>
          <a:xfrm>
            <a:off x="5887422" y="140205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894096" y="3409950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534682" y="3409950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9" idx="2"/>
            <a:endCxn id="10" idx="6"/>
          </p:cNvCxnSpPr>
          <p:nvPr/>
        </p:nvCxnSpPr>
        <p:spPr>
          <a:xfrm flipH="1">
            <a:off x="3763282" y="3524250"/>
            <a:ext cx="213081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rc 4"/>
          <p:cNvSpPr/>
          <p:nvPr/>
        </p:nvSpPr>
        <p:spPr>
          <a:xfrm>
            <a:off x="5181600" y="1504950"/>
            <a:ext cx="1828800" cy="1981200"/>
          </a:xfrm>
          <a:prstGeom prst="arc">
            <a:avLst>
              <a:gd name="adj1" fmla="val 16200000"/>
              <a:gd name="adj2" fmla="val 535225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410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Discrete logs are not monotonic</a:t>
            </a:r>
            <a:br>
              <a:rPr lang="en-US" sz="2800" b="1" dirty="0"/>
            </a:br>
            <a:r>
              <a:rPr lang="en-US" sz="2800" b="1" dirty="0"/>
              <a:t>log</a:t>
            </a:r>
            <a:r>
              <a:rPr lang="en-US" sz="2800" b="1" baseline="-25000" dirty="0"/>
              <a:t>7</a:t>
            </a:r>
            <a:r>
              <a:rPr lang="en-US" sz="2800" b="1" dirty="0"/>
              <a:t>(4) ≡ 10 (mod 13) &gt; log</a:t>
            </a:r>
            <a:r>
              <a:rPr lang="en-US" sz="2800" b="1" baseline="-25000" dirty="0"/>
              <a:t>7</a:t>
            </a:r>
            <a:r>
              <a:rPr lang="en-US" sz="2800" b="1" dirty="0"/>
              <a:t>(5) ≡ 3 (mod 13)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base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 0  1  2  3  4  5  6  7  8  9 10 11 12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0 | -  1  1  1  1  1  1  1  1  1  1  1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1 | 0  1  2  3  4  5  6  7  8  9 10 11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2 | 0  1  4  9  3 12 10 10 12  3  9  4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 3 | 0  1  8  1 12  8  8  5  5  1 12  5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 4 | 0  1  3  3  9  1  9  9  1  9  3  3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  5 | 0  1  6  9 10  5  2 11  8  3  4  7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6 | 0  1 12  1  1 12 12 12 12  1  1 12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7 | 0  1 11  3  4  8  7  6  5  9 10  2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8 | 0  1  9  9  3  1  3  3  1  3  9  9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 9 | 0  1  5  1 12  5  5  8  8  1 12  8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10 | 0  1 10  3  9 12  4  4 12  9  3 10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11 | 0  1  7  9 10  8 11  2  5  3  4  6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12 | 0  1  1  1  1  1  1  1  1  1  1  1  1</a:t>
            </a:r>
          </a:p>
        </p:txBody>
      </p:sp>
      <p:sp>
        <p:nvSpPr>
          <p:cNvPr id="3" name="Oval 2"/>
          <p:cNvSpPr/>
          <p:nvPr/>
        </p:nvSpPr>
        <p:spPr>
          <a:xfrm>
            <a:off x="5887422" y="140205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5894096" y="3409950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534682" y="3409950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9" idx="2"/>
            <a:endCxn id="10" idx="6"/>
          </p:cNvCxnSpPr>
          <p:nvPr/>
        </p:nvCxnSpPr>
        <p:spPr>
          <a:xfrm flipH="1">
            <a:off x="3763282" y="3524250"/>
            <a:ext cx="213081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5897984" y="213068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585288" y="213068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>
            <a:stCxn id="13" idx="2"/>
            <a:endCxn id="15" idx="6"/>
          </p:cNvCxnSpPr>
          <p:nvPr/>
        </p:nvCxnSpPr>
        <p:spPr>
          <a:xfrm flipH="1">
            <a:off x="3813888" y="2244984"/>
            <a:ext cx="2084096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rc 4"/>
          <p:cNvSpPr/>
          <p:nvPr/>
        </p:nvSpPr>
        <p:spPr>
          <a:xfrm>
            <a:off x="5181600" y="1504950"/>
            <a:ext cx="1828800" cy="1981200"/>
          </a:xfrm>
          <a:prstGeom prst="arc">
            <a:avLst>
              <a:gd name="adj1" fmla="val 16200000"/>
              <a:gd name="adj2" fmla="val 535225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/>
          <p:cNvSpPr/>
          <p:nvPr/>
        </p:nvSpPr>
        <p:spPr>
          <a:xfrm>
            <a:off x="5791200" y="1581150"/>
            <a:ext cx="609600" cy="609600"/>
          </a:xfrm>
          <a:prstGeom prst="arc">
            <a:avLst>
              <a:gd name="adj1" fmla="val 16200000"/>
              <a:gd name="adj2" fmla="val 5398179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67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Discrete logs are not unique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base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 0  1  2  3  4  5  6  7  8  9 10 11 12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0 | -  1  1  1  1  1  1  1  1  1  1  1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1 | 0  1  2  3  4  5  6  7  8  9 10 11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2 | 0  1  4  9  3 12 10 10 12  3  9  4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 3 | 0  1  8  1 12  8  8  5  5  1 12  5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 4 | 0  1  3  3  9  1  9  9  1  9  3  3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  5 | 0  1  6  9 10  5  2 11  8  3  4  7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6 | 0  1 12  1  1 12 12 12 12  1  1 12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7 | 0  1 11  3  4  8  7  6  5  9 10  2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8 | 0  1  9  9  3  1  3  3  1  3  9  9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 9 | 0  1  5  1 12  5  5  8  8  1 12  8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10 | 0  1 10  3  9 12  4  4 12  9  3 10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11 | 0  1  7  9 10  8 11  2  5  3  4  6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12 | 0  1  1  1  1  1  1  1  1  1  1  1  1</a:t>
            </a:r>
          </a:p>
        </p:txBody>
      </p:sp>
    </p:spTree>
    <p:extLst>
      <p:ext uri="{BB962C8B-B14F-4D97-AF65-F5344CB8AC3E}">
        <p14:creationId xmlns:p14="http://schemas.microsoft.com/office/powerpoint/2010/main" val="30260422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Discrete logs are not unique</a:t>
            </a:r>
            <a:br>
              <a:rPr lang="en-US" sz="2800" b="1" dirty="0"/>
            </a:br>
            <a:r>
              <a:rPr lang="en-US" sz="2800" b="1" dirty="0"/>
              <a:t>log</a:t>
            </a:r>
            <a:r>
              <a:rPr lang="en-US" sz="2800" b="1" baseline="-25000" dirty="0"/>
              <a:t>8</a:t>
            </a:r>
            <a:r>
              <a:rPr lang="en-US" sz="2800" b="1" dirty="0"/>
              <a:t>(5) ≡ 3 (mod 13)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base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 0  1  2  3  4  5  6  7  8  9 10 11 12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0 | -  1  1  1  1  1  1  1  1  1  1  1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1 | 0  1  2  3  4  5  6  7  8  9 10 11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2 | 0  1  4  9  3 12 10 10 12  3  9  4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 3 | 0  1  8  1 12  8  8  5  5  1 12  5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 4 | 0  1  3  3  9  1  9  9  1  9  3  3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  5 | 0  1  6  9 10  5  2 11  8  3  4  7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6 | 0  1 12  1  1 12 12 12 12  1  1 12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7 | 0  1 11  3  4  8  7  6  5  9 10  2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8 | 0  1  9  9  3  1  3  3  1  3  9  9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 9 | 0  1  5  1 12  5  5  8  8  1 12  8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10 | 0  1 10  3  9 12  4  4 12  9  3 10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11 | 0  1  7  9 10  8 11  2  5  3  4  6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12 | 0  1  1  1  1  1  1  1  1  1  1  1  1</a:t>
            </a:r>
          </a:p>
        </p:txBody>
      </p:sp>
      <p:sp>
        <p:nvSpPr>
          <p:cNvPr id="3" name="Oval 2"/>
          <p:cNvSpPr/>
          <p:nvPr/>
        </p:nvSpPr>
        <p:spPr>
          <a:xfrm>
            <a:off x="6149392" y="140205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159954" y="213068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585288" y="213068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>
            <a:stCxn id="13" idx="2"/>
            <a:endCxn id="15" idx="6"/>
          </p:cNvCxnSpPr>
          <p:nvPr/>
        </p:nvCxnSpPr>
        <p:spPr>
          <a:xfrm flipH="1">
            <a:off x="3813888" y="2244984"/>
            <a:ext cx="2346066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/>
          <p:cNvSpPr/>
          <p:nvPr/>
        </p:nvSpPr>
        <p:spPr>
          <a:xfrm>
            <a:off x="6053728" y="1581149"/>
            <a:ext cx="609042" cy="641443"/>
          </a:xfrm>
          <a:prstGeom prst="arc">
            <a:avLst>
              <a:gd name="adj1" fmla="val 16200000"/>
              <a:gd name="adj2" fmla="val 5398179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0839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Discrete logs are not unique</a:t>
            </a:r>
            <a:br>
              <a:rPr lang="en-US" sz="2800" b="1" dirty="0"/>
            </a:br>
            <a:r>
              <a:rPr lang="en-US" sz="2800" b="1" dirty="0"/>
              <a:t>log</a:t>
            </a:r>
            <a:r>
              <a:rPr lang="en-US" sz="2800" b="1" baseline="-25000" dirty="0"/>
              <a:t>8</a:t>
            </a:r>
            <a:r>
              <a:rPr lang="en-US" sz="2800" b="1" dirty="0"/>
              <a:t>(5) ≡ {3, 5} (mod 13)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base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 0  1  2  3  4  5  6  7  8  9 10 11 12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0 | -  1  1  1  1  1  1  1  1  1  1  1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1 | 0  1  2  3  4  5  6  7  8  9 10 11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2 | 0  1  4  9  3 12 10 10 12  3  9  4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 3 | 0  1  8  1 12  8  8  5  5  1 12  5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 4 | 0  1  3  3  9  1  9  9  1  9  3  3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  5 | 0  1  6  9 10  5  2 11  8  3  4  7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6 | 0  1 12  1  1 12 12 12 12  1  1 12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7 | 0  1 11  3  4  8  7  6  5  9 10  2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8 | 0  1  9  9  3  1  3  3  1  3  9  9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 9 | 0  1  5  1 12  5  5  8  8  1 12  8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10 | 0  1 10  3  9 12  4  4 12  9  3 10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11 | 0  1  7  9 10  8 11  2  5  3  4  6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12 | 0  1  1  1  1  1  1  1  1  1  1  1  1</a:t>
            </a:r>
          </a:p>
        </p:txBody>
      </p:sp>
      <p:sp>
        <p:nvSpPr>
          <p:cNvPr id="3" name="Oval 2"/>
          <p:cNvSpPr/>
          <p:nvPr/>
        </p:nvSpPr>
        <p:spPr>
          <a:xfrm>
            <a:off x="6149392" y="140205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6159954" y="213068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585288" y="213068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>
            <a:stCxn id="13" idx="2"/>
            <a:endCxn id="15" idx="6"/>
          </p:cNvCxnSpPr>
          <p:nvPr/>
        </p:nvCxnSpPr>
        <p:spPr>
          <a:xfrm flipH="1">
            <a:off x="3813888" y="2244984"/>
            <a:ext cx="2346066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Arc 16"/>
          <p:cNvSpPr/>
          <p:nvPr/>
        </p:nvSpPr>
        <p:spPr>
          <a:xfrm>
            <a:off x="6053728" y="1581149"/>
            <a:ext cx="609042" cy="641443"/>
          </a:xfrm>
          <a:prstGeom prst="arc">
            <a:avLst>
              <a:gd name="adj1" fmla="val 16200000"/>
              <a:gd name="adj2" fmla="val 5398179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156066" y="285931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581400" y="285931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>
            <a:stCxn id="23" idx="2"/>
            <a:endCxn id="24" idx="6"/>
          </p:cNvCxnSpPr>
          <p:nvPr/>
        </p:nvCxnSpPr>
        <p:spPr>
          <a:xfrm flipH="1">
            <a:off x="3810000" y="2973614"/>
            <a:ext cx="2346066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rc 25"/>
          <p:cNvSpPr/>
          <p:nvPr/>
        </p:nvSpPr>
        <p:spPr>
          <a:xfrm>
            <a:off x="5793424" y="1541798"/>
            <a:ext cx="1140775" cy="1428333"/>
          </a:xfrm>
          <a:prstGeom prst="arc">
            <a:avLst>
              <a:gd name="adj1" fmla="val 16200000"/>
              <a:gd name="adj2" fmla="val 5398179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083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Discrete logs are not unique</a:t>
            </a:r>
            <a:br>
              <a:rPr lang="en-US" sz="2800" b="1" dirty="0"/>
            </a:br>
            <a:r>
              <a:rPr lang="en-US" sz="2800" b="1" dirty="0"/>
              <a:t>log</a:t>
            </a:r>
            <a:r>
              <a:rPr lang="en-US" sz="2800" b="1" baseline="-25000" dirty="0"/>
              <a:t>8</a:t>
            </a:r>
            <a:r>
              <a:rPr lang="en-US" sz="2800" b="1" dirty="0"/>
              <a:t>(5) ≡ {3, 5, 11} (mod 13)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base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 0  1  2  3  4  5  6  7  8  9 10 11 12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0 | -  1  1  1  1  1  1  1  1  1  1  1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1 | 0  1  2  3  4  5  6  7  8  9 10 11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2 | 0  1  4  9  3 12 10 10 12  3  9  4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 3 | 0  1  8  1 12  8  8  5  5  1 12  5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 4 | 0  1  3  3  9  1  9  9  1  9  3  3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  5 | 0  1  6  9 10  5  2 11  8  3  4  7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6 | 0  1 12  1  1 12 12 12 12  1  1 12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7 | 0  1 11  3  4  8  7  6  5  9 10  2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8 | 0  1  9  9  3  1  3  3  1  3  9  9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 9 | 0  1  5  1 12  5  5  8  8  1 12  8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10 | 0  1 10  3  9 12  4  4 12  9  3 10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11 | 0  1  7  9 10  8 11  2  5  3  4  6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12 | 0  1  1  1  1  1  1  1  1  1  1  1  1</a:t>
            </a:r>
          </a:p>
        </p:txBody>
      </p:sp>
      <p:sp>
        <p:nvSpPr>
          <p:cNvPr id="3" name="Oval 2"/>
          <p:cNvSpPr/>
          <p:nvPr/>
        </p:nvSpPr>
        <p:spPr>
          <a:xfrm>
            <a:off x="6149392" y="140205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6156066" y="3590148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534682" y="3590148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/>
          <p:cNvCxnSpPr>
            <a:stCxn id="9" idx="2"/>
            <a:endCxn id="10" idx="6"/>
          </p:cNvCxnSpPr>
          <p:nvPr/>
        </p:nvCxnSpPr>
        <p:spPr>
          <a:xfrm flipH="1">
            <a:off x="3763282" y="3704448"/>
            <a:ext cx="2392784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6159954" y="213068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3585288" y="213068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/>
          <p:cNvCxnSpPr>
            <a:stCxn id="13" idx="2"/>
            <a:endCxn id="15" idx="6"/>
          </p:cNvCxnSpPr>
          <p:nvPr/>
        </p:nvCxnSpPr>
        <p:spPr>
          <a:xfrm flipH="1">
            <a:off x="3813888" y="2244984"/>
            <a:ext cx="2346066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Arc 4"/>
          <p:cNvSpPr/>
          <p:nvPr/>
        </p:nvSpPr>
        <p:spPr>
          <a:xfrm>
            <a:off x="5486400" y="1504950"/>
            <a:ext cx="1785970" cy="2209800"/>
          </a:xfrm>
          <a:prstGeom prst="arc">
            <a:avLst>
              <a:gd name="adj1" fmla="val 16200000"/>
              <a:gd name="adj2" fmla="val 5352257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/>
          <p:cNvSpPr/>
          <p:nvPr/>
        </p:nvSpPr>
        <p:spPr>
          <a:xfrm>
            <a:off x="6053728" y="1581149"/>
            <a:ext cx="609042" cy="641443"/>
          </a:xfrm>
          <a:prstGeom prst="arc">
            <a:avLst>
              <a:gd name="adj1" fmla="val 16200000"/>
              <a:gd name="adj2" fmla="val 5398179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/>
          <p:cNvSpPr/>
          <p:nvPr/>
        </p:nvSpPr>
        <p:spPr>
          <a:xfrm>
            <a:off x="6156066" y="285931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3581400" y="2859314"/>
            <a:ext cx="228600" cy="2286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Arrow Connector 24"/>
          <p:cNvCxnSpPr>
            <a:stCxn id="23" idx="2"/>
            <a:endCxn id="24" idx="6"/>
          </p:cNvCxnSpPr>
          <p:nvPr/>
        </p:nvCxnSpPr>
        <p:spPr>
          <a:xfrm flipH="1">
            <a:off x="3810000" y="2973614"/>
            <a:ext cx="2346066" cy="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Arc 25"/>
          <p:cNvSpPr/>
          <p:nvPr/>
        </p:nvSpPr>
        <p:spPr>
          <a:xfrm>
            <a:off x="5793424" y="1541798"/>
            <a:ext cx="1140775" cy="1428333"/>
          </a:xfrm>
          <a:prstGeom prst="arc">
            <a:avLst>
              <a:gd name="adj1" fmla="val 16200000"/>
              <a:gd name="adj2" fmla="val 5398179"/>
            </a:avLst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5083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 err="1"/>
              <a:t>b</a:t>
            </a:r>
            <a:r>
              <a:rPr lang="en-US" sz="2800" b="1" baseline="30000" dirty="0" err="1"/>
              <a:t>k</a:t>
            </a:r>
            <a:r>
              <a:rPr lang="en-US" sz="2800" b="1" dirty="0"/>
              <a:t> not unique for a given value of k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base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 0  1  2  3  4  5  6  7  8  9 10 11 12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0 | -  1  1  1  1  1  1  1  1  1  1  1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1 | 0  1  2  3  4  5  6  7  8  9 10 11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2 | 0  1  4  9  3 12 10 10 12  3  9  4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 3 | 0  1  8  1 12  8  8  5  5  1 12  5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 4 | 0  1  3  3  9  1  9  9  1  9  3  3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  5 | 0  1  6  9 10  5  2 11  8  3  4  7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6 | 0  1 12  1  1 12 12 12 12  1  1 12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7 | 0  1 11  3  4  8  7  6  5  9 10  2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8 | 0  1  9  9  3  1  3  3  1  3  9  9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 9 | 0  1  5  1 12  5  5  8  8  1 12  8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10 | 0  1 10  3  9 12  4  4 12  9  3 10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11 | 0  1  7  9 10  8 11  2  5  3  4  6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12 | 0  1  1  1  1  1  1  1  1  1  1  1  1</a:t>
            </a:r>
          </a:p>
        </p:txBody>
      </p:sp>
    </p:spTree>
    <p:extLst>
      <p:ext uri="{BB962C8B-B14F-4D97-AF65-F5344CB8AC3E}">
        <p14:creationId xmlns:p14="http://schemas.microsoft.com/office/powerpoint/2010/main" val="21703773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 err="1"/>
              <a:t>b</a:t>
            </a:r>
            <a:r>
              <a:rPr lang="en-US" sz="2800" b="1" baseline="30000" dirty="0" err="1"/>
              <a:t>k</a:t>
            </a:r>
            <a:r>
              <a:rPr lang="en-US" sz="2800" b="1" dirty="0"/>
              <a:t> not unique for a given value of k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base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 0  1  2  3  4  5  6  7  8  9 10 11 12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0 | -  1  1  1  1  1  1  1  1  1  1  1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1 | 0  1  2  3  4  5  6  7  8  9 10 11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2 | 0  1  4  9  3 12 10 10 12  3  9  4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 3 | 0  1  8  1 12  8  8  5  5  1 12  5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 4 | 0  1  3  3  9  1  9  9  1  9  3  3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  5 | 0  1  6  9 10  5  2 11  8  3  4  7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6 | 0  1 12  1  1 12 12 12 12  1  1 12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7 | 0  1 11  3  4  8  7  6  5  9 10  2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8 | 0  1  9  9  3  1  3  3  1  3  9  9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 9 | 0  1  5  1 12  5  5  8  8  1 12  8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10 | 0  1 10  3  9 12  4  4 12  9  3 10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11 | 0  1  7  9 10  8 11  2  5  3  4  6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12 | 0  1  1  1  1  1  1  1  1  1  1  1 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1400" y="2114550"/>
            <a:ext cx="3886200" cy="2286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927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 err="1"/>
              <a:t>b</a:t>
            </a:r>
            <a:r>
              <a:rPr lang="en-US" sz="2800" b="1" baseline="30000" dirty="0" err="1"/>
              <a:t>k</a:t>
            </a:r>
            <a:r>
              <a:rPr lang="en-US" sz="2800" b="1" dirty="0"/>
              <a:t> not unique for a given value of k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base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 0  1  2  3  4  5  6  7  8  9 10 11 12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0 | -  1  1  1  1  1  1  1  1  1  1  1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1 | 0  1  2  3  4  5  6  7  8  9 10 11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2 | 0  1  4  9  3 12 10 10 12  3  9  4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 3 | 0  1  8  1 12  8  8  5  5  1 12  5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 4 | 0  1  3  3  9  1  9  9  1  9  3  3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  5 | 0  1  6  9 10  5  2 11  8  3  4  7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6 | 0  1 12  1  1 12 12 12 12  1  1 12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7 | 0  1 11  3  4  8  7  6  5  9 10  2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8 | 0  1  9  9  3  1  3  3  1  3  9  9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 9 | 0  1  5  1 12  5  5  8  8  1 12  8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10 | 0  1 10  3  9 12  4  4 12  9  3 10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11 | 0  1  7  9 10  8 11  2  5  3  4  6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12 | 0  1  1  1  1  1  1  1  1  1  1  1  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81400" y="2114550"/>
            <a:ext cx="3886200" cy="2286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5005197" y="1428750"/>
            <a:ext cx="276606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ounded Rectangle 26"/>
          <p:cNvSpPr/>
          <p:nvPr/>
        </p:nvSpPr>
        <p:spPr>
          <a:xfrm>
            <a:off x="6657594" y="1428750"/>
            <a:ext cx="276606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ounded Rectangle 27"/>
          <p:cNvSpPr/>
          <p:nvPr/>
        </p:nvSpPr>
        <p:spPr>
          <a:xfrm>
            <a:off x="7190994" y="1428750"/>
            <a:ext cx="276606" cy="9144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09270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Primitive roots generate all relatively prime values</a:t>
            </a:r>
            <a:br>
              <a:rPr lang="en-US" sz="2800" b="1" dirty="0"/>
            </a:br>
            <a:r>
              <a:rPr lang="en-US" sz="2800" b="1" dirty="0"/>
              <a:t>if g is primitive root &amp; </a:t>
            </a:r>
            <a:r>
              <a:rPr lang="en-US" sz="2800" b="1" dirty="0" err="1"/>
              <a:t>gcd</a:t>
            </a:r>
            <a:r>
              <a:rPr lang="en-US" sz="2800" b="1" dirty="0"/>
              <a:t>(</a:t>
            </a:r>
            <a:r>
              <a:rPr lang="en-US" sz="2800" b="1" dirty="0" err="1"/>
              <a:t>a,N</a:t>
            </a:r>
            <a:r>
              <a:rPr lang="en-US" sz="2800" b="1" dirty="0"/>
              <a:t>) = 1, a ≡ </a:t>
            </a:r>
            <a:r>
              <a:rPr lang="en-US" sz="2800" b="1" dirty="0" err="1"/>
              <a:t>g</a:t>
            </a:r>
            <a:r>
              <a:rPr lang="en-US" sz="2800" b="1" baseline="30000" dirty="0" err="1"/>
              <a:t>k</a:t>
            </a:r>
            <a:r>
              <a:rPr lang="en-US" sz="2800" b="1" dirty="0"/>
              <a:t> (mod N) for some k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base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 0  1  2  3  4  5  6  7  8  9 10 11 12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0 | -  1  1  1  1  1  1  1  1  1  1  1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1 | 0  1  2  3  4  5  6  7  8  9 10 11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2 | 0  1  4  9  3 12 10 10 12  3  9  4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 3 | 0  1  8  1 12  8  8  5  5  1 12  5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 4 | 0  1  3  3  9  1  9  9  1  9  3  3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  5 | 0  1  6  9 10  5  2 11  8  3  4  7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6 | 0  1 12  1  1 12 12 12 12  1  1 12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7 | 0  1 11  3  4  8  7  6  5  9 10  2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8 | 0  1  9  9  3  1  3  3  1  3  9  9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 9 | 0  1  5  1 12  5  5  8  8  1 12  8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10 | 0  1 10  3  9 12  4  4 12  9  3 10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11 | 0  1  7  9 10  8 11  2  5  3  4  6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12 | 0  1  1  1  1  1  1  1  1  1  1  1  1</a:t>
            </a:r>
          </a:p>
        </p:txBody>
      </p:sp>
    </p:spTree>
    <p:extLst>
      <p:ext uri="{BB962C8B-B14F-4D97-AF65-F5344CB8AC3E}">
        <p14:creationId xmlns:p14="http://schemas.microsoft.com/office/powerpoint/2010/main" val="29910538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Primitive roots generate all relatively prime values</a:t>
            </a:r>
            <a:br>
              <a:rPr lang="en-US" sz="2800" b="1" dirty="0"/>
            </a:br>
            <a:r>
              <a:rPr lang="en-US" sz="2800" b="1" dirty="0"/>
              <a:t>if g is primitive root &amp; </a:t>
            </a:r>
            <a:r>
              <a:rPr lang="en-US" sz="2800" b="1" dirty="0" err="1"/>
              <a:t>gcd</a:t>
            </a:r>
            <a:r>
              <a:rPr lang="en-US" sz="2800" b="1" dirty="0"/>
              <a:t>(</a:t>
            </a:r>
            <a:r>
              <a:rPr lang="en-US" sz="2800" b="1" dirty="0" err="1"/>
              <a:t>a,N</a:t>
            </a:r>
            <a:r>
              <a:rPr lang="en-US" sz="2800" b="1" dirty="0"/>
              <a:t>) = 1, a ≡ </a:t>
            </a:r>
            <a:r>
              <a:rPr lang="en-US" sz="2800" b="1" dirty="0" err="1"/>
              <a:t>g</a:t>
            </a:r>
            <a:r>
              <a:rPr lang="en-US" sz="2800" b="1" baseline="30000" dirty="0" err="1"/>
              <a:t>k</a:t>
            </a:r>
            <a:r>
              <a:rPr lang="en-US" sz="2800" b="1" dirty="0"/>
              <a:t> (mod N) for some k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base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sz="1200" b="1" u="sng" dirty="0">
                <a:latin typeface="Courier New" panose="02070309020205020404" pitchFamily="49" charset="0"/>
                <a:cs typeface="Courier New" panose="02070309020205020404" pitchFamily="49" charset="0"/>
              </a:rPr>
              <a:t>  0  1  2  3  4  5  6  7  8  9 10 11 12 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0 | -  1  1  1  1  1  1  1  1  1  1  1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1 | 0  1  2  3  4  5  6  7  8  9 10 11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2 | 0  1  4  9  3 12 10 10 12  3  9  4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x  3 | 0  1  8  1 12  8  8  5  5  1 12  5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p  4 | 0  1  3  3  9  1  9  9  1  9  3  3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o  5 | 0  1  6  9 10  5  2 11  8  3  4  7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6 | 0  1 12  1  1 12 12 12 12  1  1 12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e  7 | 0  1 11  3  4  8  7  6  5  9 10  2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n  8 | 0  1  9  9  3  1  3  3  1  3  9  9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t  9 | 0  1  5  1 12  5  5  8  8  1 12  8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10 | 0  1 10  3  9 12  4  4 12  9  3 10  1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11 | 0  1  7  9 10  8 11  2  5  3  4  6 12</a:t>
            </a:r>
          </a:p>
          <a:p>
            <a:r>
              <a:rPr lang="en-US" sz="12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12 | 0  1  1  1  1  1  1  1  1  1  1  1  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455756" y="1428750"/>
            <a:ext cx="228600" cy="2590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5562600" y="1428750"/>
            <a:ext cx="228600" cy="2590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5827356" y="1428750"/>
            <a:ext cx="228600" cy="2590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6934200" y="1428750"/>
            <a:ext cx="228600" cy="259080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154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Finding discrete logarithms in a modular world is “hard“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68385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Finding discrete logarithms in a modular world is “hard“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(8) ≡ 9 (mod 13)</a:t>
            </a:r>
          </a:p>
        </p:txBody>
      </p:sp>
    </p:spTree>
    <p:extLst>
      <p:ext uri="{BB962C8B-B14F-4D97-AF65-F5344CB8AC3E}">
        <p14:creationId xmlns:p14="http://schemas.microsoft.com/office/powerpoint/2010/main" val="5623240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Finding discrete logarithms in a modular world is “hard“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(8) ≡ 9 (mod 13)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(8) </a:t>
            </a:r>
            <a:r>
              <a:rPr lang="en-US" b="1" dirty="0">
                <a:latin typeface="Cambria Math"/>
                <a:ea typeface="Cambria Math"/>
              </a:rPr>
              <a:t>≢ </a:t>
            </a: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(4) + log</a:t>
            </a:r>
            <a:r>
              <a:rPr lang="en-US" b="1" baseline="-25000" dirty="0"/>
              <a:t>7</a:t>
            </a:r>
            <a:r>
              <a:rPr lang="en-US" b="1" dirty="0"/>
              <a:t>(2) ≡ 10 + 11 ≡ 8 (mod 13)</a:t>
            </a:r>
          </a:p>
        </p:txBody>
      </p:sp>
    </p:spTree>
    <p:extLst>
      <p:ext uri="{BB962C8B-B14F-4D97-AF65-F5344CB8AC3E}">
        <p14:creationId xmlns:p14="http://schemas.microsoft.com/office/powerpoint/2010/main" val="56232405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Finding discrete logarithms in a modular world is “hard“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(8) ≡ 9 (mod 13)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(8) </a:t>
            </a:r>
            <a:r>
              <a:rPr lang="en-US" b="1" dirty="0">
                <a:latin typeface="Cambria Math"/>
                <a:ea typeface="Cambria Math"/>
              </a:rPr>
              <a:t>≢ </a:t>
            </a: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(4) + log</a:t>
            </a:r>
            <a:r>
              <a:rPr lang="en-US" b="1" baseline="-25000" dirty="0"/>
              <a:t>7</a:t>
            </a:r>
            <a:r>
              <a:rPr lang="en-US" b="1" dirty="0"/>
              <a:t>(2) ≡ 10 + 11 ≡ 8 (mod 13)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They do not obey normal rules even when they exist</a:t>
            </a:r>
          </a:p>
        </p:txBody>
      </p:sp>
    </p:spTree>
    <p:extLst>
      <p:ext uri="{BB962C8B-B14F-4D97-AF65-F5344CB8AC3E}">
        <p14:creationId xmlns:p14="http://schemas.microsoft.com/office/powerpoint/2010/main" val="5623240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Finding discrete logarithms in a modular world is “hard“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(8) ≡ 9 (mod 13)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(8) </a:t>
            </a:r>
            <a:r>
              <a:rPr lang="en-US" b="1" dirty="0">
                <a:latin typeface="Cambria Math"/>
                <a:ea typeface="Cambria Math"/>
              </a:rPr>
              <a:t>≢ </a:t>
            </a: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(4) + log</a:t>
            </a:r>
            <a:r>
              <a:rPr lang="en-US" b="1" baseline="-25000" dirty="0"/>
              <a:t>7</a:t>
            </a:r>
            <a:r>
              <a:rPr lang="en-US" b="1" dirty="0"/>
              <a:t>(2) ≡ 10 + 11 ≡ 8 (mod 13)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They do not obey normal rules even when they exist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Logarithms live in a mod-totient world</a:t>
            </a:r>
          </a:p>
        </p:txBody>
      </p:sp>
    </p:spTree>
    <p:extLst>
      <p:ext uri="{BB962C8B-B14F-4D97-AF65-F5344CB8AC3E}">
        <p14:creationId xmlns:p14="http://schemas.microsoft.com/office/powerpoint/2010/main" val="5623240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Finding discrete logarithms in a modular world is “hard“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(8) ≡ 9 (mod 13)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(8) </a:t>
            </a:r>
            <a:r>
              <a:rPr lang="en-US" b="1" dirty="0">
                <a:latin typeface="Cambria Math"/>
                <a:ea typeface="Cambria Math"/>
              </a:rPr>
              <a:t>≢ </a:t>
            </a: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(4) + log</a:t>
            </a:r>
            <a:r>
              <a:rPr lang="en-US" b="1" baseline="-25000" dirty="0"/>
              <a:t>7</a:t>
            </a:r>
            <a:r>
              <a:rPr lang="en-US" b="1" dirty="0"/>
              <a:t>(2) ≡ 10 + 11 ≡ 8 (mod 13)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They do not obey normal rules even when they exist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Logarithms live in a mod-totient world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 err="1">
                <a:cs typeface="Courier New" panose="02070309020205020404" pitchFamily="49" charset="0"/>
              </a:rPr>
              <a:t>b</a:t>
            </a:r>
            <a:r>
              <a:rPr lang="en-US" b="1" baseline="30000" dirty="0" err="1">
                <a:cs typeface="Courier New" panose="02070309020205020404" pitchFamily="49" charset="0"/>
              </a:rPr>
              <a:t>x</a:t>
            </a:r>
            <a:r>
              <a:rPr lang="en-US" b="1" dirty="0">
                <a:cs typeface="Courier New" panose="02070309020205020404" pitchFamily="49" charset="0"/>
              </a:rPr>
              <a:t> ≡ b</a:t>
            </a:r>
            <a:r>
              <a:rPr lang="en-US" b="1" baseline="30000" dirty="0">
                <a:cs typeface="Courier New" panose="02070309020205020404" pitchFamily="49" charset="0"/>
              </a:rPr>
              <a:t>y</a:t>
            </a:r>
            <a:r>
              <a:rPr lang="en-US" b="1" dirty="0">
                <a:cs typeface="Courier New" panose="02070309020205020404" pitchFamily="49" charset="0"/>
              </a:rPr>
              <a:t> (mod N) if x ≡  y (mod </a:t>
            </a:r>
            <a:r>
              <a:rPr lang="el-GR" b="1" dirty="0">
                <a:cs typeface="Courier New" panose="02070309020205020404" pitchFamily="49" charset="0"/>
              </a:rPr>
              <a:t>ϕ</a:t>
            </a:r>
            <a:r>
              <a:rPr lang="en-US" b="1" dirty="0">
                <a:cs typeface="Courier New" panose="02070309020205020404" pitchFamily="49" charset="0"/>
              </a:rPr>
              <a:t>(N))</a:t>
            </a:r>
          </a:p>
        </p:txBody>
      </p:sp>
    </p:spTree>
    <p:extLst>
      <p:ext uri="{BB962C8B-B14F-4D97-AF65-F5344CB8AC3E}">
        <p14:creationId xmlns:p14="http://schemas.microsoft.com/office/powerpoint/2010/main" val="56232405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Finding discrete logarithms in a modular world is “hard“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(8) ≡ 9 (mod 13)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(8) </a:t>
            </a:r>
            <a:r>
              <a:rPr lang="en-US" b="1" dirty="0">
                <a:latin typeface="Cambria Math"/>
                <a:ea typeface="Cambria Math"/>
              </a:rPr>
              <a:t>≢ </a:t>
            </a: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(4) + log</a:t>
            </a:r>
            <a:r>
              <a:rPr lang="en-US" b="1" baseline="-25000" dirty="0"/>
              <a:t>7</a:t>
            </a:r>
            <a:r>
              <a:rPr lang="en-US" b="1" dirty="0"/>
              <a:t>(2) ≡ 10 + 11 ≡ 8 (mod 13)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They do not obey normal rules even when they exist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Logarithms live in a mod-totient world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 err="1">
                <a:cs typeface="Courier New" panose="02070309020205020404" pitchFamily="49" charset="0"/>
              </a:rPr>
              <a:t>b</a:t>
            </a:r>
            <a:r>
              <a:rPr lang="en-US" b="1" baseline="30000" dirty="0" err="1">
                <a:cs typeface="Courier New" panose="02070309020205020404" pitchFamily="49" charset="0"/>
              </a:rPr>
              <a:t>x</a:t>
            </a:r>
            <a:r>
              <a:rPr lang="en-US" b="1" dirty="0">
                <a:cs typeface="Courier New" panose="02070309020205020404" pitchFamily="49" charset="0"/>
              </a:rPr>
              <a:t> ≡ b</a:t>
            </a:r>
            <a:r>
              <a:rPr lang="en-US" b="1" baseline="30000" dirty="0">
                <a:cs typeface="Courier New" panose="02070309020205020404" pitchFamily="49" charset="0"/>
              </a:rPr>
              <a:t>y</a:t>
            </a:r>
            <a:r>
              <a:rPr lang="en-US" b="1" dirty="0">
                <a:cs typeface="Courier New" panose="02070309020205020404" pitchFamily="49" charset="0"/>
              </a:rPr>
              <a:t> (mod N) if x ≡  y (mod </a:t>
            </a:r>
            <a:r>
              <a:rPr lang="el-GR" b="1" dirty="0">
                <a:cs typeface="Courier New" panose="02070309020205020404" pitchFamily="49" charset="0"/>
              </a:rPr>
              <a:t>ϕ</a:t>
            </a:r>
            <a:r>
              <a:rPr lang="en-US" b="1" dirty="0">
                <a:cs typeface="Courier New" panose="02070309020205020404" pitchFamily="49" charset="0"/>
              </a:rPr>
              <a:t>(N))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9</a:t>
            </a:r>
            <a:r>
              <a:rPr lang="en-US" b="1" dirty="0">
                <a:cs typeface="Courier New" panose="02070309020205020404" pitchFamily="49" charset="0"/>
              </a:rPr>
              <a:t> </a:t>
            </a:r>
            <a:r>
              <a:rPr lang="en-US" b="1" dirty="0"/>
              <a:t>≡ </a:t>
            </a: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10</a:t>
            </a:r>
            <a:r>
              <a:rPr lang="en-US" b="1" dirty="0">
                <a:cs typeface="Courier New" panose="02070309020205020404" pitchFamily="49" charset="0"/>
              </a:rPr>
              <a:t>∙7</a:t>
            </a:r>
            <a:r>
              <a:rPr lang="en-US" b="1" baseline="30000" dirty="0">
                <a:cs typeface="Courier New" panose="02070309020205020404" pitchFamily="49" charset="0"/>
              </a:rPr>
              <a:t>11</a:t>
            </a:r>
            <a:r>
              <a:rPr lang="en-US" b="1" dirty="0"/>
              <a:t> ≡ </a:t>
            </a: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(10 + 11) mod 12</a:t>
            </a:r>
            <a:r>
              <a:rPr lang="en-US" b="1" dirty="0"/>
              <a:t> ≡ </a:t>
            </a: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9</a:t>
            </a:r>
            <a:r>
              <a:rPr lang="en-US" b="1" dirty="0">
                <a:cs typeface="Courier New" panose="02070309020205020404" pitchFamily="49" charset="0"/>
              </a:rPr>
              <a:t> (mod 13) </a:t>
            </a:r>
          </a:p>
        </p:txBody>
      </p:sp>
    </p:spTree>
    <p:extLst>
      <p:ext uri="{BB962C8B-B14F-4D97-AF65-F5344CB8AC3E}">
        <p14:creationId xmlns:p14="http://schemas.microsoft.com/office/powerpoint/2010/main" val="5623240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Finding discrete logarithms in a modular world is “hard“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(8) ≡ 9 (mod 13)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(8) </a:t>
            </a:r>
            <a:r>
              <a:rPr lang="en-US" b="1" dirty="0">
                <a:latin typeface="Cambria Math"/>
                <a:ea typeface="Cambria Math"/>
              </a:rPr>
              <a:t>≢ </a:t>
            </a: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(4) + log</a:t>
            </a:r>
            <a:r>
              <a:rPr lang="en-US" b="1" baseline="-25000" dirty="0"/>
              <a:t>7</a:t>
            </a:r>
            <a:r>
              <a:rPr lang="en-US" b="1" dirty="0"/>
              <a:t>(2) ≡ 10 + 11 ≡ 8 (mod 13)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They do not obey normal rules even when they exist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Logarithms live in a mod-totient world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 err="1">
                <a:cs typeface="Courier New" panose="02070309020205020404" pitchFamily="49" charset="0"/>
              </a:rPr>
              <a:t>b</a:t>
            </a:r>
            <a:r>
              <a:rPr lang="en-US" b="1" baseline="30000" dirty="0" err="1">
                <a:cs typeface="Courier New" panose="02070309020205020404" pitchFamily="49" charset="0"/>
              </a:rPr>
              <a:t>x</a:t>
            </a:r>
            <a:r>
              <a:rPr lang="en-US" b="1" dirty="0">
                <a:cs typeface="Courier New" panose="02070309020205020404" pitchFamily="49" charset="0"/>
              </a:rPr>
              <a:t> ≡ b</a:t>
            </a:r>
            <a:r>
              <a:rPr lang="en-US" b="1" baseline="30000" dirty="0">
                <a:cs typeface="Courier New" panose="02070309020205020404" pitchFamily="49" charset="0"/>
              </a:rPr>
              <a:t>y</a:t>
            </a:r>
            <a:r>
              <a:rPr lang="en-US" b="1" dirty="0">
                <a:cs typeface="Courier New" panose="02070309020205020404" pitchFamily="49" charset="0"/>
              </a:rPr>
              <a:t> (mod N) if x ≡  y (mod </a:t>
            </a:r>
            <a:r>
              <a:rPr lang="el-GR" b="1" dirty="0">
                <a:cs typeface="Courier New" panose="02070309020205020404" pitchFamily="49" charset="0"/>
              </a:rPr>
              <a:t>ϕ</a:t>
            </a:r>
            <a:r>
              <a:rPr lang="en-US" b="1" dirty="0">
                <a:cs typeface="Courier New" panose="02070309020205020404" pitchFamily="49" charset="0"/>
              </a:rPr>
              <a:t>(N))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9</a:t>
            </a:r>
            <a:r>
              <a:rPr lang="en-US" b="1" dirty="0">
                <a:cs typeface="Courier New" panose="02070309020205020404" pitchFamily="49" charset="0"/>
              </a:rPr>
              <a:t> </a:t>
            </a:r>
            <a:r>
              <a:rPr lang="en-US" b="1" dirty="0"/>
              <a:t>≡ </a:t>
            </a: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10</a:t>
            </a:r>
            <a:r>
              <a:rPr lang="en-US" b="1" dirty="0">
                <a:cs typeface="Courier New" panose="02070309020205020404" pitchFamily="49" charset="0"/>
              </a:rPr>
              <a:t>∙7</a:t>
            </a:r>
            <a:r>
              <a:rPr lang="en-US" b="1" baseline="30000" dirty="0">
                <a:cs typeface="Courier New" panose="02070309020205020404" pitchFamily="49" charset="0"/>
              </a:rPr>
              <a:t>11</a:t>
            </a:r>
            <a:r>
              <a:rPr lang="en-US" b="1" dirty="0"/>
              <a:t> ≡ </a:t>
            </a: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(10 + 11) mod 12</a:t>
            </a:r>
            <a:r>
              <a:rPr lang="en-US" b="1" dirty="0"/>
              <a:t> ≡ </a:t>
            </a: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9</a:t>
            </a:r>
            <a:r>
              <a:rPr lang="en-US" b="1" dirty="0">
                <a:cs typeface="Courier New" panose="02070309020205020404" pitchFamily="49" charset="0"/>
              </a:rPr>
              <a:t> (mod 13)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No reliable pattern exists to help find discrete logs</a:t>
            </a:r>
          </a:p>
        </p:txBody>
      </p:sp>
    </p:spTree>
    <p:extLst>
      <p:ext uri="{BB962C8B-B14F-4D97-AF65-F5344CB8AC3E}">
        <p14:creationId xmlns:p14="http://schemas.microsoft.com/office/powerpoint/2010/main" val="5623240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Finding discrete logarithms in a modular world is “hard“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(8) ≡ 9 (mod 13)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(8) </a:t>
            </a:r>
            <a:r>
              <a:rPr lang="en-US" b="1" dirty="0">
                <a:latin typeface="Cambria Math"/>
                <a:ea typeface="Cambria Math"/>
              </a:rPr>
              <a:t>≢ </a:t>
            </a: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(4) + log</a:t>
            </a:r>
            <a:r>
              <a:rPr lang="en-US" b="1" baseline="-25000" dirty="0"/>
              <a:t>7</a:t>
            </a:r>
            <a:r>
              <a:rPr lang="en-US" b="1" dirty="0"/>
              <a:t>(2) ≡ 10 + 11 ≡ 8 (mod 13)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They do not obey normal rules even when they exist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Logarithms live in a mod-totient world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 err="1">
                <a:cs typeface="Courier New" panose="02070309020205020404" pitchFamily="49" charset="0"/>
              </a:rPr>
              <a:t>b</a:t>
            </a:r>
            <a:r>
              <a:rPr lang="en-US" b="1" baseline="30000" dirty="0" err="1">
                <a:cs typeface="Courier New" panose="02070309020205020404" pitchFamily="49" charset="0"/>
              </a:rPr>
              <a:t>x</a:t>
            </a:r>
            <a:r>
              <a:rPr lang="en-US" b="1" dirty="0">
                <a:cs typeface="Courier New" panose="02070309020205020404" pitchFamily="49" charset="0"/>
              </a:rPr>
              <a:t> ≡ b</a:t>
            </a:r>
            <a:r>
              <a:rPr lang="en-US" b="1" baseline="30000" dirty="0">
                <a:cs typeface="Courier New" panose="02070309020205020404" pitchFamily="49" charset="0"/>
              </a:rPr>
              <a:t>y</a:t>
            </a:r>
            <a:r>
              <a:rPr lang="en-US" b="1" dirty="0">
                <a:cs typeface="Courier New" panose="02070309020205020404" pitchFamily="49" charset="0"/>
              </a:rPr>
              <a:t> (mod N) if x ≡  y (mod </a:t>
            </a:r>
            <a:r>
              <a:rPr lang="el-GR" b="1" dirty="0">
                <a:cs typeface="Courier New" panose="02070309020205020404" pitchFamily="49" charset="0"/>
              </a:rPr>
              <a:t>ϕ</a:t>
            </a:r>
            <a:r>
              <a:rPr lang="en-US" b="1" dirty="0">
                <a:cs typeface="Courier New" panose="02070309020205020404" pitchFamily="49" charset="0"/>
              </a:rPr>
              <a:t>(N))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9</a:t>
            </a:r>
            <a:r>
              <a:rPr lang="en-US" b="1" dirty="0">
                <a:cs typeface="Courier New" panose="02070309020205020404" pitchFamily="49" charset="0"/>
              </a:rPr>
              <a:t> </a:t>
            </a:r>
            <a:r>
              <a:rPr lang="en-US" b="1" dirty="0"/>
              <a:t>≡ </a:t>
            </a: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10</a:t>
            </a:r>
            <a:r>
              <a:rPr lang="en-US" b="1" dirty="0">
                <a:cs typeface="Courier New" panose="02070309020205020404" pitchFamily="49" charset="0"/>
              </a:rPr>
              <a:t>∙7</a:t>
            </a:r>
            <a:r>
              <a:rPr lang="en-US" b="1" baseline="30000" dirty="0">
                <a:cs typeface="Courier New" panose="02070309020205020404" pitchFamily="49" charset="0"/>
              </a:rPr>
              <a:t>11</a:t>
            </a:r>
            <a:r>
              <a:rPr lang="en-US" b="1" dirty="0"/>
              <a:t> ≡ </a:t>
            </a: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(10 + 11) mod 12</a:t>
            </a:r>
            <a:r>
              <a:rPr lang="en-US" b="1" dirty="0"/>
              <a:t> ≡ </a:t>
            </a: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9</a:t>
            </a:r>
            <a:r>
              <a:rPr lang="en-US" b="1" dirty="0">
                <a:cs typeface="Courier New" panose="02070309020205020404" pitchFamily="49" charset="0"/>
              </a:rPr>
              <a:t> (mod 13)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No reliable pattern exists to help find discrete logs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Discrete Log Problem</a:t>
            </a:r>
          </a:p>
        </p:txBody>
      </p:sp>
    </p:spTree>
    <p:extLst>
      <p:ext uri="{BB962C8B-B14F-4D97-AF65-F5344CB8AC3E}">
        <p14:creationId xmlns:p14="http://schemas.microsoft.com/office/powerpoint/2010/main" val="56232405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Finding discrete logarithms in a modular world is “hard“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(8) ≡ 9 (mod 13)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(8) </a:t>
            </a:r>
            <a:r>
              <a:rPr lang="en-US" b="1" dirty="0">
                <a:latin typeface="Cambria Math"/>
                <a:ea typeface="Cambria Math"/>
              </a:rPr>
              <a:t>≢ </a:t>
            </a: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(4) + log</a:t>
            </a:r>
            <a:r>
              <a:rPr lang="en-US" b="1" baseline="-25000" dirty="0"/>
              <a:t>7</a:t>
            </a:r>
            <a:r>
              <a:rPr lang="en-US" b="1" dirty="0"/>
              <a:t>(2) ≡ 10 + 11 ≡ 8 (mod 13)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They do not obey normal rules even when they exist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Logarithms live in a mod-totient world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 err="1">
                <a:cs typeface="Courier New" panose="02070309020205020404" pitchFamily="49" charset="0"/>
              </a:rPr>
              <a:t>b</a:t>
            </a:r>
            <a:r>
              <a:rPr lang="en-US" b="1" baseline="30000" dirty="0" err="1">
                <a:cs typeface="Courier New" panose="02070309020205020404" pitchFamily="49" charset="0"/>
              </a:rPr>
              <a:t>x</a:t>
            </a:r>
            <a:r>
              <a:rPr lang="en-US" b="1" dirty="0">
                <a:cs typeface="Courier New" panose="02070309020205020404" pitchFamily="49" charset="0"/>
              </a:rPr>
              <a:t> ≡ b</a:t>
            </a:r>
            <a:r>
              <a:rPr lang="en-US" b="1" baseline="30000" dirty="0">
                <a:cs typeface="Courier New" panose="02070309020205020404" pitchFamily="49" charset="0"/>
              </a:rPr>
              <a:t>y</a:t>
            </a:r>
            <a:r>
              <a:rPr lang="en-US" b="1" dirty="0">
                <a:cs typeface="Courier New" panose="02070309020205020404" pitchFamily="49" charset="0"/>
              </a:rPr>
              <a:t> (mod N) if x ≡  y (mod </a:t>
            </a:r>
            <a:r>
              <a:rPr lang="el-GR" b="1" dirty="0">
                <a:cs typeface="Courier New" panose="02070309020205020404" pitchFamily="49" charset="0"/>
              </a:rPr>
              <a:t>ϕ</a:t>
            </a:r>
            <a:r>
              <a:rPr lang="en-US" b="1" dirty="0">
                <a:cs typeface="Courier New" panose="02070309020205020404" pitchFamily="49" charset="0"/>
              </a:rPr>
              <a:t>(N))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9</a:t>
            </a:r>
            <a:r>
              <a:rPr lang="en-US" b="1" dirty="0">
                <a:cs typeface="Courier New" panose="02070309020205020404" pitchFamily="49" charset="0"/>
              </a:rPr>
              <a:t> </a:t>
            </a:r>
            <a:r>
              <a:rPr lang="en-US" b="1" dirty="0"/>
              <a:t>≡ </a:t>
            </a: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10</a:t>
            </a:r>
            <a:r>
              <a:rPr lang="en-US" b="1" dirty="0">
                <a:cs typeface="Courier New" panose="02070309020205020404" pitchFamily="49" charset="0"/>
              </a:rPr>
              <a:t>∙7</a:t>
            </a:r>
            <a:r>
              <a:rPr lang="en-US" b="1" baseline="30000" dirty="0">
                <a:cs typeface="Courier New" panose="02070309020205020404" pitchFamily="49" charset="0"/>
              </a:rPr>
              <a:t>11</a:t>
            </a:r>
            <a:r>
              <a:rPr lang="en-US" b="1" dirty="0"/>
              <a:t> ≡ </a:t>
            </a: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(10 + 11) mod 12</a:t>
            </a:r>
            <a:r>
              <a:rPr lang="en-US" b="1" dirty="0"/>
              <a:t> ≡ </a:t>
            </a: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9</a:t>
            </a:r>
            <a:r>
              <a:rPr lang="en-US" b="1" dirty="0">
                <a:cs typeface="Courier New" panose="02070309020205020404" pitchFamily="49" charset="0"/>
              </a:rPr>
              <a:t> (mod 13)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No reliable pattern exists to help find discrete logs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Discrete Log Problem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No known efficient way to find them</a:t>
            </a:r>
          </a:p>
        </p:txBody>
      </p:sp>
    </p:spTree>
    <p:extLst>
      <p:ext uri="{BB962C8B-B14F-4D97-AF65-F5344CB8AC3E}">
        <p14:creationId xmlns:p14="http://schemas.microsoft.com/office/powerpoint/2010/main" val="56232405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/>
          </a:bodyPr>
          <a:lstStyle/>
          <a:p>
            <a:r>
              <a:rPr lang="en-US" sz="2800" b="1" dirty="0"/>
              <a:t>Finding discrete logarithms in a modular world is “hard“</a:t>
            </a:r>
            <a:br>
              <a:rPr lang="en-US" sz="2800" b="1" dirty="0"/>
            </a:br>
            <a:endParaRPr lang="en-US" sz="2800" b="1" dirty="0"/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(8) ≡ 9 (mod 13)</a:t>
            </a:r>
          </a:p>
          <a:p>
            <a:pPr marL="171450" lvl="1" indent="-171450">
              <a:buFont typeface="Arial" panose="020B0604020202020204" pitchFamily="34" charset="0"/>
              <a:buChar char="•"/>
            </a:pP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(8) </a:t>
            </a:r>
            <a:r>
              <a:rPr lang="en-US" b="1" dirty="0">
                <a:latin typeface="Cambria Math"/>
                <a:ea typeface="Cambria Math"/>
              </a:rPr>
              <a:t>≢ </a:t>
            </a:r>
            <a:r>
              <a:rPr lang="en-US" b="1" dirty="0"/>
              <a:t>log</a:t>
            </a:r>
            <a:r>
              <a:rPr lang="en-US" b="1" baseline="-25000" dirty="0"/>
              <a:t>7</a:t>
            </a:r>
            <a:r>
              <a:rPr lang="en-US" b="1" dirty="0"/>
              <a:t>(4) + log</a:t>
            </a:r>
            <a:r>
              <a:rPr lang="en-US" b="1" baseline="-25000" dirty="0"/>
              <a:t>7</a:t>
            </a:r>
            <a:r>
              <a:rPr lang="en-US" b="1" dirty="0"/>
              <a:t>(2) ≡ 10 + 11 ≡ 8 (mod 13)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They do not obey normal rules even when they exist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Logarithms live in a mod-totient world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 err="1">
                <a:cs typeface="Courier New" panose="02070309020205020404" pitchFamily="49" charset="0"/>
              </a:rPr>
              <a:t>b</a:t>
            </a:r>
            <a:r>
              <a:rPr lang="en-US" b="1" baseline="30000" dirty="0" err="1">
                <a:cs typeface="Courier New" panose="02070309020205020404" pitchFamily="49" charset="0"/>
              </a:rPr>
              <a:t>x</a:t>
            </a:r>
            <a:r>
              <a:rPr lang="en-US" b="1" dirty="0">
                <a:cs typeface="Courier New" panose="02070309020205020404" pitchFamily="49" charset="0"/>
              </a:rPr>
              <a:t> ≡ b</a:t>
            </a:r>
            <a:r>
              <a:rPr lang="en-US" b="1" baseline="30000" dirty="0">
                <a:cs typeface="Courier New" panose="02070309020205020404" pitchFamily="49" charset="0"/>
              </a:rPr>
              <a:t>y</a:t>
            </a:r>
            <a:r>
              <a:rPr lang="en-US" b="1" dirty="0">
                <a:cs typeface="Courier New" panose="02070309020205020404" pitchFamily="49" charset="0"/>
              </a:rPr>
              <a:t> (mod N) if x ≡  y (mod </a:t>
            </a:r>
            <a:r>
              <a:rPr lang="el-GR" b="1" dirty="0">
                <a:cs typeface="Courier New" panose="02070309020205020404" pitchFamily="49" charset="0"/>
              </a:rPr>
              <a:t>ϕ</a:t>
            </a:r>
            <a:r>
              <a:rPr lang="en-US" b="1" dirty="0">
                <a:cs typeface="Courier New" panose="02070309020205020404" pitchFamily="49" charset="0"/>
              </a:rPr>
              <a:t>(N))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9</a:t>
            </a:r>
            <a:r>
              <a:rPr lang="en-US" b="1" dirty="0">
                <a:cs typeface="Courier New" panose="02070309020205020404" pitchFamily="49" charset="0"/>
              </a:rPr>
              <a:t> </a:t>
            </a:r>
            <a:r>
              <a:rPr lang="en-US" b="1" dirty="0"/>
              <a:t>≡ </a:t>
            </a: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10</a:t>
            </a:r>
            <a:r>
              <a:rPr lang="en-US" b="1" dirty="0">
                <a:cs typeface="Courier New" panose="02070309020205020404" pitchFamily="49" charset="0"/>
              </a:rPr>
              <a:t>∙7</a:t>
            </a:r>
            <a:r>
              <a:rPr lang="en-US" b="1" baseline="30000" dirty="0">
                <a:cs typeface="Courier New" panose="02070309020205020404" pitchFamily="49" charset="0"/>
              </a:rPr>
              <a:t>11</a:t>
            </a:r>
            <a:r>
              <a:rPr lang="en-US" b="1" dirty="0"/>
              <a:t> ≡ </a:t>
            </a: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(10 + 11) mod 12</a:t>
            </a:r>
            <a:r>
              <a:rPr lang="en-US" b="1" dirty="0"/>
              <a:t> ≡ </a:t>
            </a:r>
            <a:r>
              <a:rPr lang="en-US" b="1" dirty="0">
                <a:cs typeface="Courier New" panose="02070309020205020404" pitchFamily="49" charset="0"/>
              </a:rPr>
              <a:t>7</a:t>
            </a:r>
            <a:r>
              <a:rPr lang="en-US" b="1" baseline="30000" dirty="0">
                <a:cs typeface="Courier New" panose="02070309020205020404" pitchFamily="49" charset="0"/>
              </a:rPr>
              <a:t>9</a:t>
            </a:r>
            <a:r>
              <a:rPr lang="en-US" b="1" dirty="0">
                <a:cs typeface="Courier New" panose="02070309020205020404" pitchFamily="49" charset="0"/>
              </a:rPr>
              <a:t> (mod 13)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No reliable pattern exists to help find discrete logs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Discrete Log Problem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No known efficient way to find them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>
                <a:cs typeface="Courier New" panose="02070309020205020404" pitchFamily="49" charset="0"/>
              </a:rPr>
              <a:t>“efficient” = poly-time in number of bits of modulus.</a:t>
            </a:r>
          </a:p>
        </p:txBody>
      </p:sp>
    </p:spTree>
    <p:extLst>
      <p:ext uri="{BB962C8B-B14F-4D97-AF65-F5344CB8AC3E}">
        <p14:creationId xmlns:p14="http://schemas.microsoft.com/office/powerpoint/2010/main" val="5623240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Some modern crypto relies on no efficient solution to Discrete Log Problem even though such a solution could be found tomorrow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625494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Some modern crypto relies on no efficient solution to Discrete Log Problem even though such a solution could be found tomorrow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Whether an efficient solution exists is an unknown</a:t>
            </a:r>
          </a:p>
        </p:txBody>
      </p:sp>
    </p:spTree>
    <p:extLst>
      <p:ext uri="{BB962C8B-B14F-4D97-AF65-F5344CB8AC3E}">
        <p14:creationId xmlns:p14="http://schemas.microsoft.com/office/powerpoint/2010/main" val="21181558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Some modern crypto relies on no efficient solution to Discrete Log Problem even though such a solution could be found tomorrow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Whether an efficient solution exists is an unknown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Critical cryptosystems rely on no efficient solution</a:t>
            </a:r>
          </a:p>
        </p:txBody>
      </p:sp>
    </p:spTree>
    <p:extLst>
      <p:ext uri="{BB962C8B-B14F-4D97-AF65-F5344CB8AC3E}">
        <p14:creationId xmlns:p14="http://schemas.microsoft.com/office/powerpoint/2010/main" val="211815582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Some modern crypto relies on no efficient solution to Discrete Log Problem even though such a solution could be found tomorrow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Whether an efficient solution exists is an unknown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Critical cryptosystems rely on no efficient solution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An efficient solution would break these systems</a:t>
            </a:r>
          </a:p>
        </p:txBody>
      </p:sp>
    </p:spTree>
    <p:extLst>
      <p:ext uri="{BB962C8B-B14F-4D97-AF65-F5344CB8AC3E}">
        <p14:creationId xmlns:p14="http://schemas.microsoft.com/office/powerpoint/2010/main" val="211815582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Some modern crypto relies on no efficient solution to Discrete Log Problem even though such a solution could be found tomorrow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Whether an efficient solution exists is an unknown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Critical cryptosystems rely on no efficient solution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An efficient solution would break these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It is suspected that no efficient solution exists</a:t>
            </a:r>
          </a:p>
        </p:txBody>
      </p:sp>
    </p:spTree>
    <p:extLst>
      <p:ext uri="{BB962C8B-B14F-4D97-AF65-F5344CB8AC3E}">
        <p14:creationId xmlns:p14="http://schemas.microsoft.com/office/powerpoint/2010/main" val="21181558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Some modern crypto relies on no efficient solution to Discrete Log Problem even though such a solution could be found tomorrow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Whether an efficient solution exists is an unknown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Critical cryptosystems rely on no efficient solution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An efficient solution would break these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It is suspected that no efficient solution exists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Suspected unsolvable problems are occasionally solved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181558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Some modern crypto relies on no efficient solution to Discrete Log Problem even though such a solution could be found tomorrow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Whether an efficient solution exists is an unknown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Critical cryptosystems rely on no efficient solution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An efficient solution would break these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It is suspected that no efficient solution exists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Suspected unsolvable problems are occasionally solved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Why are we willing to rely on this?</a:t>
            </a:r>
          </a:p>
        </p:txBody>
      </p:sp>
    </p:spTree>
    <p:extLst>
      <p:ext uri="{BB962C8B-B14F-4D97-AF65-F5344CB8AC3E}">
        <p14:creationId xmlns:p14="http://schemas.microsoft.com/office/powerpoint/2010/main" val="21181558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Some modern crypto relies on no efficient solution to Discrete Log Problem even though such a solution could be found tomorrow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Whether an efficient solution exists is an unknown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Critical cryptosystems rely on no efficient solution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An efficient solution would break these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It is suspected that no efficient solution exists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Suspected unsolvable problems are occasionally solved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Why are we willing to rely on this?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/>
              <a:t>Compromise between the desirable and the possible</a:t>
            </a:r>
          </a:p>
        </p:txBody>
      </p:sp>
    </p:spTree>
    <p:extLst>
      <p:ext uri="{BB962C8B-B14F-4D97-AF65-F5344CB8AC3E}">
        <p14:creationId xmlns:p14="http://schemas.microsoft.com/office/powerpoint/2010/main" val="211815582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Some modern crypto relies on no efficient solution to Discrete Log Problem even though such a solution could be found tomorrow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Whether an efficient solution exists is an unknown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Critical cryptosystems rely on no efficient solution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An efficient solution would break these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It is suspected that no efficient solution exists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Suspected unsolvable problems are occasionally solved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Why are we willing to rely on this?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/>
              <a:t>Compromise between the desirable and the possible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/>
              <a:t>Looking for practical provably hard problems</a:t>
            </a:r>
          </a:p>
        </p:txBody>
      </p:sp>
    </p:spTree>
    <p:extLst>
      <p:ext uri="{BB962C8B-B14F-4D97-AF65-F5344CB8AC3E}">
        <p14:creationId xmlns:p14="http://schemas.microsoft.com/office/powerpoint/2010/main" val="21181558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1200150"/>
          </a:xfrm>
        </p:spPr>
        <p:txBody>
          <a:bodyPr>
            <a:normAutofit fontScale="90000"/>
          </a:bodyPr>
          <a:lstStyle/>
          <a:p>
            <a:r>
              <a:rPr lang="en-US" sz="2800" b="1" dirty="0"/>
              <a:t>Some modern crypto relies on no efficient solution to Discrete Log Problem even though such a solution could be found tomorrow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457200" y="1200150"/>
            <a:ext cx="2667000" cy="2743200"/>
            <a:chOff x="457200" y="1295400"/>
            <a:chExt cx="3200400" cy="4343400"/>
          </a:xfrm>
        </p:grpSpPr>
        <p:sp>
          <p:nvSpPr>
            <p:cNvPr id="4" name="Rectangle 3"/>
            <p:cNvSpPr/>
            <p:nvPr/>
          </p:nvSpPr>
          <p:spPr>
            <a:xfrm>
              <a:off x="457200" y="1295400"/>
              <a:ext cx="3200400" cy="434340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50391" y="2438400"/>
              <a:ext cx="2025709" cy="30700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000" b="1" dirty="0"/>
                <a:t>INSERT</a:t>
              </a:r>
            </a:p>
            <a:p>
              <a:pPr algn="ctr"/>
              <a:r>
                <a:rPr lang="en-US" sz="4000" b="1" dirty="0"/>
                <a:t>VIDEO</a:t>
              </a:r>
            </a:p>
            <a:p>
              <a:pPr algn="ctr"/>
              <a:r>
                <a:rPr lang="en-US" sz="4000" b="1" dirty="0"/>
                <a:t>HERE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3276600" y="1200151"/>
            <a:ext cx="5867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Whether an efficient solution exists is an unknown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Critical cryptosystems rely on no efficient solution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An efficient solution would break these systems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It is suspected that no efficient solution exists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Suspected unsolvable problems are occasionally solved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b="1" dirty="0"/>
              <a:t>Why are we willing to rely on this?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/>
              <a:t>Compromise between the desirable and the possible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/>
              <a:t>Looking for practical provably hard problems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b="1" dirty="0"/>
              <a:t>Improving hardware to make known problems useful</a:t>
            </a:r>
          </a:p>
        </p:txBody>
      </p:sp>
    </p:spTree>
    <p:extLst>
      <p:ext uri="{BB962C8B-B14F-4D97-AF65-F5344CB8AC3E}">
        <p14:creationId xmlns:p14="http://schemas.microsoft.com/office/powerpoint/2010/main" val="21181558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solidFill>
            <a:schemeClr val="tx1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72019</TotalTime>
  <Words>5636</Words>
  <Application>Microsoft Office PowerPoint</Application>
  <PresentationFormat>On-screen Show (16:9)</PresentationFormat>
  <Paragraphs>746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6" baseType="lpstr">
      <vt:lpstr>Arial</vt:lpstr>
      <vt:lpstr>Calibri</vt:lpstr>
      <vt:lpstr>Cambria Math</vt:lpstr>
      <vt:lpstr>Courier New</vt:lpstr>
      <vt:lpstr>Office Theme</vt:lpstr>
      <vt:lpstr>Logarithms and exponentials are reciprocal functions </vt:lpstr>
      <vt:lpstr>Logarithms and exponentials are reciprocal functions </vt:lpstr>
      <vt:lpstr>Logarithms and exponentials are reciprocal functions </vt:lpstr>
      <vt:lpstr>Logarithms and exponentials are reciprocal functions </vt:lpstr>
      <vt:lpstr>Logarithms and exponentials are reciprocal functions </vt:lpstr>
      <vt:lpstr>Logarithms and exponentials are reciprocal functions </vt:lpstr>
      <vt:lpstr>Logarithms transform multiplication into addition </vt:lpstr>
      <vt:lpstr>Logarithms transform multiplication into addition </vt:lpstr>
      <vt:lpstr>Logarithms transform multiplication into addition </vt:lpstr>
      <vt:lpstr>Logarithms transform multiplication into addition </vt:lpstr>
      <vt:lpstr>Logarithms transform multiplication into addition </vt:lpstr>
      <vt:lpstr>Logarithms transform multiplication into addition </vt:lpstr>
      <vt:lpstr>Logarithms transform multiplication into addition </vt:lpstr>
      <vt:lpstr>Logarithms transform multiplication into addition </vt:lpstr>
      <vt:lpstr>Logarithms transform multiplication into addition </vt:lpstr>
      <vt:lpstr>Not all positive integers have a discrete logarithm </vt:lpstr>
      <vt:lpstr>Not all positive integers have a discrete logarithm </vt:lpstr>
      <vt:lpstr>Not all positive integers have a discrete logarithm </vt:lpstr>
      <vt:lpstr>Not all positive integers have a discrete logarithm </vt:lpstr>
      <vt:lpstr>Not all positive integers have a discrete logarithm </vt:lpstr>
      <vt:lpstr>Not all positive integers have a discrete logarithm </vt:lpstr>
      <vt:lpstr>Not all positive integers have a discrete logarithm </vt:lpstr>
      <vt:lpstr>Not all positive integers have a discrete logarithm </vt:lpstr>
      <vt:lpstr>Not all positive integers have a discrete logarithm </vt:lpstr>
      <vt:lpstr>A exponentiation table can be used to find discrete logs </vt:lpstr>
      <vt:lpstr>A exponentiation table can be used to find discrete logs </vt:lpstr>
      <vt:lpstr>A exponentiation table can be used to find discrete logs log7()</vt:lpstr>
      <vt:lpstr>A exponentiation table can be used to find discrete logs log7(4)</vt:lpstr>
      <vt:lpstr>A exponentiation table can be used to find discrete logs log7(4) ≡ 10 (mod 13)</vt:lpstr>
      <vt:lpstr>Discrete logs are not monotonic log7(4) ≡ 10 (mod 13)</vt:lpstr>
      <vt:lpstr>Discrete logs are not monotonic log7(4) ≡ 10 (mod 13) &gt; log7(5) ≡ 3 (mod 13) </vt:lpstr>
      <vt:lpstr>Discrete logs are not unique </vt:lpstr>
      <vt:lpstr>Discrete logs are not unique log8(5) ≡ 3 (mod 13)</vt:lpstr>
      <vt:lpstr>Discrete logs are not unique log8(5) ≡ {3, 5} (mod 13)</vt:lpstr>
      <vt:lpstr>Discrete logs are not unique log8(5) ≡ {3, 5, 11} (mod 13)</vt:lpstr>
      <vt:lpstr>bk not unique for a given value of k </vt:lpstr>
      <vt:lpstr>bk not unique for a given value of k </vt:lpstr>
      <vt:lpstr>bk not unique for a given value of k </vt:lpstr>
      <vt:lpstr>Primitive roots generate all relatively prime values if g is primitive root &amp; gcd(a,N) = 1, a ≡ gk (mod N) for some k</vt:lpstr>
      <vt:lpstr>Primitive roots generate all relatively prime values if g is primitive root &amp; gcd(a,N) = 1, a ≡ gk (mod N) for some k</vt:lpstr>
      <vt:lpstr>Finding discrete logarithms in a modular world is “hard“ </vt:lpstr>
      <vt:lpstr>Finding discrete logarithms in a modular world is “hard“ </vt:lpstr>
      <vt:lpstr>Finding discrete logarithms in a modular world is “hard“ </vt:lpstr>
      <vt:lpstr>Finding discrete logarithms in a modular world is “hard“ </vt:lpstr>
      <vt:lpstr>Finding discrete logarithms in a modular world is “hard“ </vt:lpstr>
      <vt:lpstr>Finding discrete logarithms in a modular world is “hard“ </vt:lpstr>
      <vt:lpstr>Finding discrete logarithms in a modular world is “hard“ </vt:lpstr>
      <vt:lpstr>Finding discrete logarithms in a modular world is “hard“ </vt:lpstr>
      <vt:lpstr>Finding discrete logarithms in a modular world is “hard“ </vt:lpstr>
      <vt:lpstr>Finding discrete logarithms in a modular world is “hard“ </vt:lpstr>
      <vt:lpstr>Finding discrete logarithms in a modular world is “hard“ </vt:lpstr>
      <vt:lpstr>Some modern crypto relies on no efficient solution to Discrete Log Problem even though such a solution could be found tomorrow</vt:lpstr>
      <vt:lpstr>Some modern crypto relies on no efficient solution to Discrete Log Problem even though such a solution could be found tomorrow</vt:lpstr>
      <vt:lpstr>Some modern crypto relies on no efficient solution to Discrete Log Problem even though such a solution could be found tomorrow</vt:lpstr>
      <vt:lpstr>Some modern crypto relies on no efficient solution to Discrete Log Problem even though such a solution could be found tomorrow</vt:lpstr>
      <vt:lpstr>Some modern crypto relies on no efficient solution to Discrete Log Problem even though such a solution could be found tomorrow</vt:lpstr>
      <vt:lpstr>Some modern crypto relies on no efficient solution to Discrete Log Problem even though such a solution could be found tomorrow</vt:lpstr>
      <vt:lpstr>Some modern crypto relies on no efficient solution to Discrete Log Problem even though such a solution could be found tomorrow</vt:lpstr>
      <vt:lpstr>Some modern crypto relies on no efficient solution to Discrete Log Problem even though such a solution could be found tomorrow</vt:lpstr>
      <vt:lpstr>Some modern crypto relies on no efficient solution to Discrete Log Problem even though such a solution could be found tomorrow</vt:lpstr>
      <vt:lpstr>Some modern crypto relies on no efficient solution to Discrete Log Problem even though such a solution could be found tomorrow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Chinese Remainder Theorem</dc:title>
  <dc:creator>WBahn</dc:creator>
  <cp:lastModifiedBy>Oluwatobi Akanbi</cp:lastModifiedBy>
  <cp:revision>347</cp:revision>
  <dcterms:created xsi:type="dcterms:W3CDTF">2017-04-06T17:43:22Z</dcterms:created>
  <dcterms:modified xsi:type="dcterms:W3CDTF">2017-09-15T23:59:36Z</dcterms:modified>
</cp:coreProperties>
</file>