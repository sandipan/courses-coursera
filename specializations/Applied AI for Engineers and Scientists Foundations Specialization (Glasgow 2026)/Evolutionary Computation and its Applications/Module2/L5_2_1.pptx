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5" r:id="rId15"/>
    <p:sldId id="506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25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86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68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40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89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65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96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10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2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58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228" y="1681372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GA Representation, Initialization and Selection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The workflow of GA</a:t>
            </a:r>
          </a:p>
        </p:txBody>
      </p:sp>
      <p:cxnSp>
        <p:nvCxnSpPr>
          <p:cNvPr id="2" name="直接箭头连接符 2">
            <a:extLst>
              <a:ext uri="{FF2B5EF4-FFF2-40B4-BE49-F238E27FC236}">
                <a16:creationId xmlns:a16="http://schemas.microsoft.com/office/drawing/2014/main" id="{90500468-AA58-A7DD-4CF9-598B49883A05}"/>
              </a:ext>
            </a:extLst>
          </p:cNvPr>
          <p:cNvCxnSpPr/>
          <p:nvPr/>
        </p:nvCxnSpPr>
        <p:spPr>
          <a:xfrm>
            <a:off x="6451163" y="1608418"/>
            <a:ext cx="650223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19">
            <a:extLst>
              <a:ext uri="{FF2B5EF4-FFF2-40B4-BE49-F238E27FC236}">
                <a16:creationId xmlns:a16="http://schemas.microsoft.com/office/drawing/2014/main" id="{E89764B2-714D-5C43-E7C3-F3CD542CDA93}"/>
              </a:ext>
            </a:extLst>
          </p:cNvPr>
          <p:cNvCxnSpPr/>
          <p:nvPr/>
        </p:nvCxnSpPr>
        <p:spPr>
          <a:xfrm flipV="1">
            <a:off x="6444829" y="2223068"/>
            <a:ext cx="656557" cy="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28">
            <a:extLst>
              <a:ext uri="{FF2B5EF4-FFF2-40B4-BE49-F238E27FC236}">
                <a16:creationId xmlns:a16="http://schemas.microsoft.com/office/drawing/2014/main" id="{21714FE4-E45F-8782-CF39-C0F7F425279C}"/>
              </a:ext>
            </a:extLst>
          </p:cNvPr>
          <p:cNvCxnSpPr/>
          <p:nvPr/>
        </p:nvCxnSpPr>
        <p:spPr>
          <a:xfrm flipV="1">
            <a:off x="6469492" y="2904773"/>
            <a:ext cx="631894" cy="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29">
            <a:extLst>
              <a:ext uri="{FF2B5EF4-FFF2-40B4-BE49-F238E27FC236}">
                <a16:creationId xmlns:a16="http://schemas.microsoft.com/office/drawing/2014/main" id="{E4EB5F16-50B7-B65F-6F01-C5B6E289FD93}"/>
              </a:ext>
            </a:extLst>
          </p:cNvPr>
          <p:cNvCxnSpPr/>
          <p:nvPr/>
        </p:nvCxnSpPr>
        <p:spPr>
          <a:xfrm flipV="1">
            <a:off x="6451562" y="3473049"/>
            <a:ext cx="631894" cy="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6">
            <a:extLst>
              <a:ext uri="{FF2B5EF4-FFF2-40B4-BE49-F238E27FC236}">
                <a16:creationId xmlns:a16="http://schemas.microsoft.com/office/drawing/2014/main" id="{D7902F2B-F464-4BD8-BD0D-7EACEA10F1A4}"/>
              </a:ext>
            </a:extLst>
          </p:cNvPr>
          <p:cNvSpPr/>
          <p:nvPr/>
        </p:nvSpPr>
        <p:spPr>
          <a:xfrm>
            <a:off x="7181717" y="1341735"/>
            <a:ext cx="2050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</p:txBody>
      </p:sp>
      <p:sp>
        <p:nvSpPr>
          <p:cNvPr id="7" name="矩形 30">
            <a:extLst>
              <a:ext uri="{FF2B5EF4-FFF2-40B4-BE49-F238E27FC236}">
                <a16:creationId xmlns:a16="http://schemas.microsoft.com/office/drawing/2014/main" id="{980544B9-71DC-E4A0-4EE1-22EE685D4571}"/>
              </a:ext>
            </a:extLst>
          </p:cNvPr>
          <p:cNvSpPr/>
          <p:nvPr/>
        </p:nvSpPr>
        <p:spPr>
          <a:xfrm>
            <a:off x="7111973" y="1910560"/>
            <a:ext cx="31433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mat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mat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mat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83C556B0-9E3D-6C30-70FB-017EC80E4F16}"/>
              </a:ext>
            </a:extLst>
          </p:cNvPr>
          <p:cNvSpPr/>
          <p:nvPr/>
        </p:nvSpPr>
        <p:spPr>
          <a:xfrm>
            <a:off x="7136906" y="2576793"/>
            <a:ext cx="32191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矩形 33">
            <a:extLst>
              <a:ext uri="{FF2B5EF4-FFF2-40B4-BE49-F238E27FC236}">
                <a16:creationId xmlns:a16="http://schemas.microsoft.com/office/drawing/2014/main" id="{947F0882-9300-D23D-BEDE-4ADFBD0C036A}"/>
              </a:ext>
            </a:extLst>
          </p:cNvPr>
          <p:cNvSpPr/>
          <p:nvPr/>
        </p:nvSpPr>
        <p:spPr>
          <a:xfrm>
            <a:off x="7163786" y="3197403"/>
            <a:ext cx="32363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35">
            <a:extLst>
              <a:ext uri="{FF2B5EF4-FFF2-40B4-BE49-F238E27FC236}">
                <a16:creationId xmlns:a16="http://schemas.microsoft.com/office/drawing/2014/main" id="{63563E43-4050-1F6A-51E0-8C7A073BD6BC}"/>
              </a:ext>
            </a:extLst>
          </p:cNvPr>
          <p:cNvSpPr/>
          <p:nvPr/>
        </p:nvSpPr>
        <p:spPr>
          <a:xfrm>
            <a:off x="3183701" y="1422400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Initialization 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36">
            <a:extLst>
              <a:ext uri="{FF2B5EF4-FFF2-40B4-BE49-F238E27FC236}">
                <a16:creationId xmlns:a16="http://schemas.microsoft.com/office/drawing/2014/main" id="{B68D89DE-8FA5-9025-288D-F3A78A2F9551}"/>
              </a:ext>
            </a:extLst>
          </p:cNvPr>
          <p:cNvSpPr/>
          <p:nvPr/>
        </p:nvSpPr>
        <p:spPr>
          <a:xfrm>
            <a:off x="3183701" y="2049923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Selection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菱形 37">
            <a:extLst>
              <a:ext uri="{FF2B5EF4-FFF2-40B4-BE49-F238E27FC236}">
                <a16:creationId xmlns:a16="http://schemas.microsoft.com/office/drawing/2014/main" id="{714086EE-D797-64D3-53E9-B8973CBF53C1}"/>
              </a:ext>
            </a:extLst>
          </p:cNvPr>
          <p:cNvSpPr/>
          <p:nvPr/>
        </p:nvSpPr>
        <p:spPr>
          <a:xfrm>
            <a:off x="2692768" y="4544381"/>
            <a:ext cx="4258235" cy="129201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Termination conditions?</a:t>
            </a:r>
            <a:endParaRPr lang="zh-CN" alt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矩形 38">
            <a:extLst>
              <a:ext uri="{FF2B5EF4-FFF2-40B4-BE49-F238E27FC236}">
                <a16:creationId xmlns:a16="http://schemas.microsoft.com/office/drawing/2014/main" id="{F63E2DE5-A3CC-9CAC-19F7-928EC8CAA5E8}"/>
              </a:ext>
            </a:extLst>
          </p:cNvPr>
          <p:cNvSpPr/>
          <p:nvPr/>
        </p:nvSpPr>
        <p:spPr>
          <a:xfrm>
            <a:off x="3174620" y="6143426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Save the optimal solution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直接箭头连接符 39">
            <a:extLst>
              <a:ext uri="{FF2B5EF4-FFF2-40B4-BE49-F238E27FC236}">
                <a16:creationId xmlns:a16="http://schemas.microsoft.com/office/drawing/2014/main" id="{DE3627F3-80EC-1724-F3A2-36BC68B89BC8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4822001" y="1812365"/>
            <a:ext cx="0" cy="2375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40">
            <a:extLst>
              <a:ext uri="{FF2B5EF4-FFF2-40B4-BE49-F238E27FC236}">
                <a16:creationId xmlns:a16="http://schemas.microsoft.com/office/drawing/2014/main" id="{0A63A029-8286-6106-C868-AE1176493F54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flipH="1">
            <a:off x="4821886" y="2439888"/>
            <a:ext cx="115" cy="246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41">
            <a:extLst>
              <a:ext uri="{FF2B5EF4-FFF2-40B4-BE49-F238E27FC236}">
                <a16:creationId xmlns:a16="http://schemas.microsoft.com/office/drawing/2014/main" id="{4E815E8C-E513-B602-E1FB-FBD291F699E6}"/>
              </a:ext>
            </a:extLst>
          </p:cNvPr>
          <p:cNvCxnSpPr>
            <a:stCxn id="22" idx="2"/>
            <a:endCxn id="13" idx="0"/>
          </p:cNvCxnSpPr>
          <p:nvPr/>
        </p:nvCxnSpPr>
        <p:spPr>
          <a:xfrm flipH="1">
            <a:off x="4821886" y="4285507"/>
            <a:ext cx="4894" cy="2588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42">
            <a:extLst>
              <a:ext uri="{FF2B5EF4-FFF2-40B4-BE49-F238E27FC236}">
                <a16:creationId xmlns:a16="http://schemas.microsoft.com/office/drawing/2014/main" id="{E9BF91B5-9C0D-E850-08BF-2210413993E9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flipH="1">
            <a:off x="4812920" y="5836398"/>
            <a:ext cx="8966" cy="30702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43">
            <a:extLst>
              <a:ext uri="{FF2B5EF4-FFF2-40B4-BE49-F238E27FC236}">
                <a16:creationId xmlns:a16="http://schemas.microsoft.com/office/drawing/2014/main" id="{0DE44692-08E3-31A6-B91A-A4FCFDF0461C}"/>
              </a:ext>
            </a:extLst>
          </p:cNvPr>
          <p:cNvCxnSpPr>
            <a:stCxn id="13" idx="1"/>
            <a:endCxn id="12" idx="1"/>
          </p:cNvCxnSpPr>
          <p:nvPr/>
        </p:nvCxnSpPr>
        <p:spPr>
          <a:xfrm rot="10800000" flipH="1">
            <a:off x="2692767" y="2244906"/>
            <a:ext cx="490933" cy="2945484"/>
          </a:xfrm>
          <a:prstGeom prst="bentConnector3">
            <a:avLst>
              <a:gd name="adj1" fmla="val -46564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44">
            <a:extLst>
              <a:ext uri="{FF2B5EF4-FFF2-40B4-BE49-F238E27FC236}">
                <a16:creationId xmlns:a16="http://schemas.microsoft.com/office/drawing/2014/main" id="{6C3EEA09-2B40-5834-A94A-E8F7597A3ABB}"/>
              </a:ext>
            </a:extLst>
          </p:cNvPr>
          <p:cNvSpPr/>
          <p:nvPr/>
        </p:nvSpPr>
        <p:spPr>
          <a:xfrm>
            <a:off x="3183586" y="2686804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Crossover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矩形 45">
            <a:extLst>
              <a:ext uri="{FF2B5EF4-FFF2-40B4-BE49-F238E27FC236}">
                <a16:creationId xmlns:a16="http://schemas.microsoft.com/office/drawing/2014/main" id="{F9392BB3-CD72-7EC8-2FD5-131363987C55}"/>
              </a:ext>
            </a:extLst>
          </p:cNvPr>
          <p:cNvSpPr/>
          <p:nvPr/>
        </p:nvSpPr>
        <p:spPr>
          <a:xfrm>
            <a:off x="3188480" y="3287033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Mutation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46">
            <a:extLst>
              <a:ext uri="{FF2B5EF4-FFF2-40B4-BE49-F238E27FC236}">
                <a16:creationId xmlns:a16="http://schemas.microsoft.com/office/drawing/2014/main" id="{C04D11AA-4060-37A2-A30C-4285E4419418}"/>
              </a:ext>
            </a:extLst>
          </p:cNvPr>
          <p:cNvSpPr/>
          <p:nvPr/>
        </p:nvSpPr>
        <p:spPr>
          <a:xfrm>
            <a:off x="3188480" y="3895542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Replacement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直接箭头连接符 47">
            <a:extLst>
              <a:ext uri="{FF2B5EF4-FFF2-40B4-BE49-F238E27FC236}">
                <a16:creationId xmlns:a16="http://schemas.microsoft.com/office/drawing/2014/main" id="{3D7D6468-3645-DE94-55F7-1575AF96F9D2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4821886" y="3076769"/>
            <a:ext cx="4894" cy="2102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48">
            <a:extLst>
              <a:ext uri="{FF2B5EF4-FFF2-40B4-BE49-F238E27FC236}">
                <a16:creationId xmlns:a16="http://schemas.microsoft.com/office/drawing/2014/main" id="{8C779DD6-22C5-9D06-C688-6E5E61244B0E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4826780" y="3676998"/>
            <a:ext cx="0" cy="218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EC76032-1AB8-415E-8EE5-0A6FCC5D48E6}"/>
              </a:ext>
            </a:extLst>
          </p:cNvPr>
          <p:cNvSpPr txBox="1"/>
          <p:nvPr/>
        </p:nvSpPr>
        <p:spPr>
          <a:xfrm>
            <a:off x="1876005" y="3599929"/>
            <a:ext cx="49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F60D7B-7C5F-2921-73A1-BE0D7B8CF933}"/>
              </a:ext>
            </a:extLst>
          </p:cNvPr>
          <p:cNvSpPr txBox="1"/>
          <p:nvPr/>
        </p:nvSpPr>
        <p:spPr>
          <a:xfrm>
            <a:off x="5205223" y="5758130"/>
            <a:ext cx="51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Representation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B67DC46-9E88-E083-5B41-4CA6B420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6" y="1618890"/>
            <a:ext cx="8077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An individual is encoded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with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some data structure. </a:t>
            </a:r>
            <a:endParaRPr lang="en-CA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E83E4F9-2ED5-DDFB-8282-3E0B54B2A47D}"/>
              </a:ext>
            </a:extLst>
          </p:cNvPr>
          <p:cNvGrpSpPr>
            <a:grpSpLocks/>
          </p:cNvGrpSpPr>
          <p:nvPr/>
        </p:nvGrpSpPr>
        <p:grpSpPr bwMode="auto">
          <a:xfrm>
            <a:off x="2277928" y="2609494"/>
            <a:ext cx="4089401" cy="461963"/>
            <a:chOff x="411" y="2016"/>
            <a:chExt cx="2576" cy="291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4ADD894A-72FE-24BF-405F-5EDF955F4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016"/>
              <a:ext cx="1307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 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0   0    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  1</a:t>
              </a:r>
              <a:endParaRPr lang="en-CA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3403A0B1-14D3-25F7-40E7-9CA54E100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" y="2016"/>
              <a:ext cx="13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Binary String:</a:t>
              </a:r>
              <a:endParaRPr lang="en-CA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13">
            <a:extLst>
              <a:ext uri="{FF2B5EF4-FFF2-40B4-BE49-F238E27FC236}">
                <a16:creationId xmlns:a16="http://schemas.microsoft.com/office/drawing/2014/main" id="{1B9E3544-16D4-DFEE-A960-E4D72C8E8695}"/>
              </a:ext>
            </a:extLst>
          </p:cNvPr>
          <p:cNvGrpSpPr>
            <a:grpSpLocks/>
          </p:cNvGrpSpPr>
          <p:nvPr/>
        </p:nvGrpSpPr>
        <p:grpSpPr bwMode="auto">
          <a:xfrm>
            <a:off x="960276" y="4288630"/>
            <a:ext cx="8077200" cy="1071563"/>
            <a:chOff x="432" y="2688"/>
            <a:chExt cx="5088" cy="675"/>
          </a:xfrm>
        </p:grpSpPr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BB9B917C-A411-7BC3-3216-52AEBF4FC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072"/>
              <a:ext cx="44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permutation, real number, integer, etc. </a:t>
              </a:r>
              <a:endParaRPr lang="en-CA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6B0A128A-319C-2207-A979-17BC4C631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688"/>
              <a:ext cx="508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Other 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representations</a:t>
              </a:r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: </a:t>
              </a:r>
              <a:endParaRPr lang="en-CA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" name="椭圆 2">
            <a:extLst>
              <a:ext uri="{FF2B5EF4-FFF2-40B4-BE49-F238E27FC236}">
                <a16:creationId xmlns:a16="http://schemas.microsoft.com/office/drawing/2014/main" id="{BFBC3CA2-87AE-1316-B5F0-F221959AF7B3}"/>
              </a:ext>
            </a:extLst>
          </p:cNvPr>
          <p:cNvSpPr/>
          <p:nvPr/>
        </p:nvSpPr>
        <p:spPr>
          <a:xfrm>
            <a:off x="4353634" y="2573003"/>
            <a:ext cx="2013155" cy="54922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7">
            <a:extLst>
              <a:ext uri="{FF2B5EF4-FFF2-40B4-BE49-F238E27FC236}">
                <a16:creationId xmlns:a16="http://schemas.microsoft.com/office/drawing/2014/main" id="{3C2D906E-95A9-C33F-08BB-3A717AC358EE}"/>
              </a:ext>
            </a:extLst>
          </p:cNvPr>
          <p:cNvSpPr/>
          <p:nvPr/>
        </p:nvSpPr>
        <p:spPr>
          <a:xfrm>
            <a:off x="6618126" y="230621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individual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椭圆 18">
            <a:extLst>
              <a:ext uri="{FF2B5EF4-FFF2-40B4-BE49-F238E27FC236}">
                <a16:creationId xmlns:a16="http://schemas.microsoft.com/office/drawing/2014/main" id="{13686F3B-AA41-E9F6-87E9-61721C687F0C}"/>
              </a:ext>
            </a:extLst>
          </p:cNvPr>
          <p:cNvSpPr/>
          <p:nvPr/>
        </p:nvSpPr>
        <p:spPr>
          <a:xfrm>
            <a:off x="5394905" y="2710309"/>
            <a:ext cx="494685" cy="27461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20">
            <a:extLst>
              <a:ext uri="{FF2B5EF4-FFF2-40B4-BE49-F238E27FC236}">
                <a16:creationId xmlns:a16="http://schemas.microsoft.com/office/drawing/2014/main" id="{A43BAC58-4898-D31F-E105-6A78AA56DDBD}"/>
              </a:ext>
            </a:extLst>
          </p:cNvPr>
          <p:cNvSpPr/>
          <p:nvPr/>
        </p:nvSpPr>
        <p:spPr>
          <a:xfrm>
            <a:off x="6609511" y="2901074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gene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下箭头 22">
            <a:extLst>
              <a:ext uri="{FF2B5EF4-FFF2-40B4-BE49-F238E27FC236}">
                <a16:creationId xmlns:a16="http://schemas.microsoft.com/office/drawing/2014/main" id="{384F6A7C-3464-AAB6-7373-2192B476602F}"/>
              </a:ext>
            </a:extLst>
          </p:cNvPr>
          <p:cNvSpPr/>
          <p:nvPr/>
        </p:nvSpPr>
        <p:spPr>
          <a:xfrm>
            <a:off x="4871482" y="3115743"/>
            <a:ext cx="190932" cy="640280"/>
          </a:xfrm>
          <a:prstGeom prst="downArrow">
            <a:avLst>
              <a:gd name="adj1" fmla="val 29463"/>
              <a:gd name="adj2" fmla="val 330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箭头连接符 9">
            <a:extLst>
              <a:ext uri="{FF2B5EF4-FFF2-40B4-BE49-F238E27FC236}">
                <a16:creationId xmlns:a16="http://schemas.microsoft.com/office/drawing/2014/main" id="{FBFE392D-317D-0CAF-BE7A-BAF66667409A}"/>
              </a:ext>
            </a:extLst>
          </p:cNvPr>
          <p:cNvCxnSpPr/>
          <p:nvPr/>
        </p:nvCxnSpPr>
        <p:spPr>
          <a:xfrm flipV="1">
            <a:off x="6366789" y="2675546"/>
            <a:ext cx="553064" cy="17482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4">
            <a:extLst>
              <a:ext uri="{FF2B5EF4-FFF2-40B4-BE49-F238E27FC236}">
                <a16:creationId xmlns:a16="http://schemas.microsoft.com/office/drawing/2014/main" id="{CA48F547-035C-6EF7-E295-ED03B3AD38C1}"/>
              </a:ext>
            </a:extLst>
          </p:cNvPr>
          <p:cNvCxnSpPr>
            <a:cxnSpLocks/>
          </p:cNvCxnSpPr>
          <p:nvPr/>
        </p:nvCxnSpPr>
        <p:spPr>
          <a:xfrm>
            <a:off x="5742497" y="2982029"/>
            <a:ext cx="904338" cy="14103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下箭头 28">
            <a:extLst>
              <a:ext uri="{FF2B5EF4-FFF2-40B4-BE49-F238E27FC236}">
                <a16:creationId xmlns:a16="http://schemas.microsoft.com/office/drawing/2014/main" id="{FD27342A-628A-3681-6815-90E8139B1DB8}"/>
              </a:ext>
            </a:extLst>
          </p:cNvPr>
          <p:cNvSpPr/>
          <p:nvPr/>
        </p:nvSpPr>
        <p:spPr>
          <a:xfrm rot="10800000">
            <a:off x="5581714" y="3115237"/>
            <a:ext cx="190932" cy="640280"/>
          </a:xfrm>
          <a:prstGeom prst="downArrow">
            <a:avLst>
              <a:gd name="adj1" fmla="val 29463"/>
              <a:gd name="adj2" fmla="val 330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29">
            <a:extLst>
              <a:ext uri="{FF2B5EF4-FFF2-40B4-BE49-F238E27FC236}">
                <a16:creationId xmlns:a16="http://schemas.microsoft.com/office/drawing/2014/main" id="{D4439B07-1CCF-A501-209B-D324A1AE52B9}"/>
              </a:ext>
            </a:extLst>
          </p:cNvPr>
          <p:cNvSpPr/>
          <p:nvPr/>
        </p:nvSpPr>
        <p:spPr>
          <a:xfrm>
            <a:off x="4954933" y="3862089"/>
            <a:ext cx="810555" cy="40011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30">
            <a:extLst>
              <a:ext uri="{FF2B5EF4-FFF2-40B4-BE49-F238E27FC236}">
                <a16:creationId xmlns:a16="http://schemas.microsoft.com/office/drawing/2014/main" id="{11333640-35EE-E98D-27CE-C39C924D5F9E}"/>
              </a:ext>
            </a:extLst>
          </p:cNvPr>
          <p:cNvSpPr/>
          <p:nvPr/>
        </p:nvSpPr>
        <p:spPr>
          <a:xfrm>
            <a:off x="3732056" y="3308091"/>
            <a:ext cx="1120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decoding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31">
            <a:extLst>
              <a:ext uri="{FF2B5EF4-FFF2-40B4-BE49-F238E27FC236}">
                <a16:creationId xmlns:a16="http://schemas.microsoft.com/office/drawing/2014/main" id="{6CC5513F-6E87-6B60-E16E-218C9B18F59A}"/>
              </a:ext>
            </a:extLst>
          </p:cNvPr>
          <p:cNvSpPr/>
          <p:nvPr/>
        </p:nvSpPr>
        <p:spPr>
          <a:xfrm>
            <a:off x="5713256" y="3251356"/>
            <a:ext cx="1120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encoding</a:t>
            </a:r>
          </a:p>
        </p:txBody>
      </p:sp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CC2D5A4B-BA21-386E-5C97-593729FB2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721321"/>
              </p:ext>
            </p:extLst>
          </p:nvPr>
        </p:nvGraphicFramePr>
        <p:xfrm>
          <a:off x="1531777" y="5849898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79476422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20181030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4016523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17202031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656626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53069459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612492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58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66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1" grpId="0"/>
      <p:bldP spid="12" grpId="0" animBg="1"/>
      <p:bldP spid="13" grpId="0"/>
      <p:bldP spid="14" grpId="0" animBg="1"/>
      <p:bldP spid="17" grpId="0" animBg="1"/>
      <p:bldP spid="18" grpId="0" animBg="1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Initialization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F3B55DC-315A-9519-128D-22CA282EF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104" y="1615913"/>
            <a:ext cx="7772400" cy="231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GAs starts from an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initial population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20000"/>
              </a:spcBef>
              <a:buSzPct val="80000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	A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population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= a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set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of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individuals</a:t>
            </a: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3" name="Group 42">
            <a:extLst>
              <a:ext uri="{FF2B5EF4-FFF2-40B4-BE49-F238E27FC236}">
                <a16:creationId xmlns:a16="http://schemas.microsoft.com/office/drawing/2014/main" id="{4C5AB686-9FE9-CEF1-64B8-9E6C6EB777E5}"/>
              </a:ext>
            </a:extLst>
          </p:cNvPr>
          <p:cNvGrpSpPr>
            <a:grpSpLocks/>
          </p:cNvGrpSpPr>
          <p:nvPr/>
        </p:nvGrpSpPr>
        <p:grpSpPr bwMode="auto">
          <a:xfrm>
            <a:off x="1072451" y="2913933"/>
            <a:ext cx="10378135" cy="2185988"/>
            <a:chOff x="338" y="2520"/>
            <a:chExt cx="5409" cy="1377"/>
          </a:xfrm>
        </p:grpSpPr>
        <p:sp>
          <p:nvSpPr>
            <p:cNvPr id="4" name="Rectangle 39">
              <a:extLst>
                <a:ext uri="{FF2B5EF4-FFF2-40B4-BE49-F238E27FC236}">
                  <a16:creationId xmlns:a16="http://schemas.microsoft.com/office/drawing/2014/main" id="{BC0781F2-03A1-BDEE-AF88-1EEC95A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520"/>
              <a:ext cx="489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Two essential things to be considered :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None/>
              </a:pPr>
              <a:endPara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" name="Text Box 40">
              <a:extLst>
                <a:ext uri="{FF2B5EF4-FFF2-40B4-BE49-F238E27FC236}">
                  <a16:creationId xmlns:a16="http://schemas.microsoft.com/office/drawing/2014/main" id="{CFDA5116-1F77-E7C8-2CF9-1198EFCEA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" y="2975"/>
              <a:ext cx="40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342900" indent="-342900">
                <a:spcBef>
                  <a:spcPct val="5000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4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opulation size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: how many individuals? </a:t>
              </a:r>
            </a:p>
          </p:txBody>
        </p:sp>
        <p:sp>
          <p:nvSpPr>
            <p:cNvPr id="6" name="Text Box 41">
              <a:extLst>
                <a:ext uri="{FF2B5EF4-FFF2-40B4-BE49-F238E27FC236}">
                  <a16:creationId xmlns:a16="http://schemas.microsoft.com/office/drawing/2014/main" id="{3DF5E7EF-5859-5589-E5C3-46D7100A1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" y="3374"/>
              <a:ext cx="534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342900" indent="-342900">
                <a:spcBef>
                  <a:spcPct val="5000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The initialization </a:t>
              </a:r>
              <a:r>
                <a:rPr lang="en-US" altLang="zh-CN" sz="24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method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: how to obtain the initial population? 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D7980C4-0FE6-D709-DC7A-523DA41AC324}"/>
              </a:ext>
            </a:extLst>
          </p:cNvPr>
          <p:cNvGrpSpPr/>
          <p:nvPr/>
        </p:nvGrpSpPr>
        <p:grpSpPr>
          <a:xfrm>
            <a:off x="7256027" y="5611991"/>
            <a:ext cx="2227007" cy="1106129"/>
            <a:chOff x="2815712" y="2875469"/>
            <a:chExt cx="2227007" cy="1106129"/>
          </a:xfrm>
        </p:grpSpPr>
        <p:sp>
          <p:nvSpPr>
            <p:cNvPr id="9" name="椭圆 4">
              <a:extLst>
                <a:ext uri="{FF2B5EF4-FFF2-40B4-BE49-F238E27FC236}">
                  <a16:creationId xmlns:a16="http://schemas.microsoft.com/office/drawing/2014/main" id="{548B2E96-5EBA-8CCF-8E74-9E955BBEB5D3}"/>
                </a:ext>
              </a:extLst>
            </p:cNvPr>
            <p:cNvSpPr/>
            <p:nvPr/>
          </p:nvSpPr>
          <p:spPr>
            <a:xfrm>
              <a:off x="2815712" y="2875469"/>
              <a:ext cx="2227007" cy="11061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 Box 66">
              <a:extLst>
                <a:ext uri="{FF2B5EF4-FFF2-40B4-BE49-F238E27FC236}">
                  <a16:creationId xmlns:a16="http://schemas.microsoft.com/office/drawing/2014/main" id="{7A8F646A-6E8C-CF7C-1048-E4CA7F421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225" y="332582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0101</a:t>
              </a:r>
              <a:endParaRPr lang="en-CA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" name="Text Box 67">
              <a:extLst>
                <a:ext uri="{FF2B5EF4-FFF2-40B4-BE49-F238E27FC236}">
                  <a16:creationId xmlns:a16="http://schemas.microsoft.com/office/drawing/2014/main" id="{95D02506-8D09-ED3E-CC72-8ABB3AFC7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1225" y="3061821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0110</a:t>
              </a:r>
              <a:endParaRPr lang="en-CA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" name="Text Box 68">
              <a:extLst>
                <a:ext uri="{FF2B5EF4-FFF2-40B4-BE49-F238E27FC236}">
                  <a16:creationId xmlns:a16="http://schemas.microsoft.com/office/drawing/2014/main" id="{4680AACD-F5D1-8B6A-69AA-9BA3E025D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225" y="2927366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1000</a:t>
              </a:r>
              <a:endParaRPr lang="en-CA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" name="Text Box 69">
              <a:extLst>
                <a:ext uri="{FF2B5EF4-FFF2-40B4-BE49-F238E27FC236}">
                  <a16:creationId xmlns:a16="http://schemas.microsoft.com/office/drawing/2014/main" id="{6F0CF5F7-07B2-293F-1CB5-860DAFD7C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1225" y="3428533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0111</a:t>
              </a:r>
              <a:endParaRPr lang="en-CA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91F83CC-4FC2-EF4B-85A4-C9E783EB1862}"/>
              </a:ext>
            </a:extLst>
          </p:cNvPr>
          <p:cNvSpPr txBox="1"/>
          <p:nvPr/>
        </p:nvSpPr>
        <p:spPr>
          <a:xfrm>
            <a:off x="1160721" y="5171290"/>
            <a:ext cx="6095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SzPct val="80000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initial population can be obtained by random sampling.</a:t>
            </a:r>
          </a:p>
        </p:txBody>
      </p:sp>
    </p:spTree>
    <p:extLst>
      <p:ext uri="{BB962C8B-B14F-4D97-AF65-F5344CB8AC3E}">
        <p14:creationId xmlns:p14="http://schemas.microsoft.com/office/powerpoint/2010/main" val="325251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0DF8F7FC-0635-BDBB-3FD4-8B29E1B70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877" y="5012093"/>
            <a:ext cx="10342795" cy="159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SzPct val="80000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Popular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selection schemes: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proportional selection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ournament selection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truncation selection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F5DD16-5D82-6DCE-2C81-F5B38979F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28" y="1592986"/>
            <a:ext cx="980232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SzPct val="80000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selection strategy simulates the natural selection method: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survival of the fittest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</a:t>
            </a:r>
          </a:p>
          <a:p>
            <a:pPr>
              <a:spcBef>
                <a:spcPct val="20000"/>
              </a:spcBef>
              <a:buSzPct val="80000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SzPct val="80000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SzPct val="80000"/>
            </a:pP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indent="-457200" eaLnBrk="1" hangingPunct="1">
              <a:spcBef>
                <a:spcPct val="20000"/>
              </a:spcBef>
              <a:buSzPct val="80000"/>
              <a:buFont typeface="Wingdings" pitchFamily="2" charset="2"/>
              <a:buChar char="Ø"/>
            </a:pP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F2CC7-613B-E5B4-9190-A3B28D5BA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878" y="2822078"/>
            <a:ext cx="9802326" cy="1942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decides which individuals go into the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mating pool.</a:t>
            </a:r>
          </a:p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give more chances to better individuals.</a:t>
            </a:r>
          </a:p>
          <a:p>
            <a:pPr marL="342900" lvl="2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determine “better” and “poorer” solutions by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the fitness function.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07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C6787B00-B9E4-F015-9722-7117D658A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9119" y="2095462"/>
            <a:ext cx="7772400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Consider the problem of maximizing the function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          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max 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G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)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=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−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x−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8)</a:t>
            </a:r>
            <a:r>
              <a:rPr lang="en-US" altLang="zh-CN" sz="24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+65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where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an integer and can vary between 0 and 15.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1369E5A-21E2-5110-26B5-C18A91523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119" y="3902188"/>
            <a:ext cx="7772400" cy="836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probability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of an individual becoming a parent 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is proportional to its fitness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2CACF0DF-244D-90E4-B0FF-02A2FA6E2C19}"/>
                  </a:ext>
                </a:extLst>
              </p:cNvPr>
              <p:cNvSpPr txBox="1"/>
              <p:nvPr/>
            </p:nvSpPr>
            <p:spPr bwMode="auto">
              <a:xfrm>
                <a:off x="2961207" y="4932324"/>
                <a:ext cx="4027487" cy="1728787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𝑝𝑟𝑜𝑏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𝑝𝑜𝑝</m:t>
                              </m:r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𝑠𝑖𝑧𝑒</m:t>
                              </m:r>
                            </m:sup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2CACF0DF-244D-90E4-B0FF-02A2FA6E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1207" y="4932324"/>
                <a:ext cx="4027487" cy="1728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227DC7E0-A221-6825-5357-F701D7C4A3E1}"/>
              </a:ext>
            </a:extLst>
          </p:cNvPr>
          <p:cNvSpPr/>
          <p:nvPr/>
        </p:nvSpPr>
        <p:spPr>
          <a:xfrm>
            <a:off x="856258" y="1422400"/>
            <a:ext cx="3978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Proportional selection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17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7D26CA8C-1498-8580-0ACD-A45D9383DC15}"/>
              </a:ext>
            </a:extLst>
          </p:cNvPr>
          <p:cNvSpPr/>
          <p:nvPr/>
        </p:nvSpPr>
        <p:spPr>
          <a:xfrm>
            <a:off x="895672" y="1422400"/>
            <a:ext cx="1059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Initial population (Generation 0) and corresponding fitness values: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FEAC161-90E5-EE55-7780-F408CDCCA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003453"/>
              </p:ext>
            </p:extLst>
          </p:nvPr>
        </p:nvGraphicFramePr>
        <p:xfrm>
          <a:off x="1336965" y="2010485"/>
          <a:ext cx="8236492" cy="3636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6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7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i</a:t>
                      </a:r>
                      <a:endParaRPr kumimoji="0" lang="en-US" altLang="zh-CN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chromosome 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 G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)</a:t>
                      </a:r>
                      <a:endParaRPr kumimoji="0" lang="en-US" altLang="zh-CN" sz="2000" b="0" i="1" u="none" strike="noStrike" cap="none" normalizeH="0" baseline="30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.55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probability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.28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.16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5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.01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 probability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96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846FF-38D1-9EEB-0B99-B0B4D146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82" y="2264658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endParaRPr lang="en-US" altLang="zh-CN" sz="2800" b="1" dirty="0"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7F89C6-A10F-9B45-F6C7-AEF623774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671" y="2144988"/>
            <a:ext cx="9843863" cy="252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Each individual occupies a part of the wheel with a size proportional to their fitness.</a:t>
            </a:r>
          </a:p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Turning the wheel allows for appropriate selection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5480D4-FAF3-9F5A-3D3C-FDCE3A2B9B60}"/>
              </a:ext>
            </a:extLst>
          </p:cNvPr>
          <p:cNvGrpSpPr/>
          <p:nvPr/>
        </p:nvGrpSpPr>
        <p:grpSpPr>
          <a:xfrm>
            <a:off x="6888206" y="4306599"/>
            <a:ext cx="2105933" cy="1930001"/>
            <a:chOff x="6673602" y="4470599"/>
            <a:chExt cx="2105933" cy="1930001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A6290624-C4F4-F65C-1E48-0EC9070084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3" b="-1"/>
            <a:stretch/>
          </p:blipFill>
          <p:spPr bwMode="auto">
            <a:xfrm>
              <a:off x="6673602" y="4470599"/>
              <a:ext cx="2105933" cy="19300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弧形 18">
              <a:extLst>
                <a:ext uri="{FF2B5EF4-FFF2-40B4-BE49-F238E27FC236}">
                  <a16:creationId xmlns:a16="http://schemas.microsoft.com/office/drawing/2014/main" id="{A45F07DB-E7B6-FECD-13A5-B90F96668812}"/>
                </a:ext>
              </a:extLst>
            </p:cNvPr>
            <p:cNvSpPr/>
            <p:nvPr/>
          </p:nvSpPr>
          <p:spPr>
            <a:xfrm rot="14380024">
              <a:off x="7480293" y="5162160"/>
              <a:ext cx="455226" cy="460672"/>
            </a:xfrm>
            <a:prstGeom prst="arc">
              <a:avLst>
                <a:gd name="adj1" fmla="val 2991968"/>
                <a:gd name="adj2" fmla="val 95425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矩形 2">
            <a:extLst>
              <a:ext uri="{FF2B5EF4-FFF2-40B4-BE49-F238E27FC236}">
                <a16:creationId xmlns:a16="http://schemas.microsoft.com/office/drawing/2014/main" id="{7185B1B0-E54E-6F45-3FC0-E9C9E83529BF}"/>
              </a:ext>
            </a:extLst>
          </p:cNvPr>
          <p:cNvSpPr/>
          <p:nvPr/>
        </p:nvSpPr>
        <p:spPr>
          <a:xfrm>
            <a:off x="895672" y="1422400"/>
            <a:ext cx="1059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Roulette Wheel: implement proportional selection</a:t>
            </a:r>
          </a:p>
        </p:txBody>
      </p:sp>
    </p:spTree>
    <p:extLst>
      <p:ext uri="{BB962C8B-B14F-4D97-AF65-F5344CB8AC3E}">
        <p14:creationId xmlns:p14="http://schemas.microsoft.com/office/powerpoint/2010/main" val="123529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2" name="矩形 2">
            <a:extLst>
              <a:ext uri="{FF2B5EF4-FFF2-40B4-BE49-F238E27FC236}">
                <a16:creationId xmlns:a16="http://schemas.microsoft.com/office/drawing/2014/main" id="{89572D78-D09C-835B-58DC-026A16D4FE00}"/>
              </a:ext>
            </a:extLst>
          </p:cNvPr>
          <p:cNvSpPr/>
          <p:nvPr/>
        </p:nvSpPr>
        <p:spPr>
          <a:xfrm>
            <a:off x="895672" y="1422400"/>
            <a:ext cx="1059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Roulette Wheel: implement proportional selection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A68A1E43-25D8-0A26-D6A7-70BE4FC38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691" y="2075701"/>
            <a:ext cx="7504112" cy="3939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Sum the fitness of all the population members: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Sum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(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Sum=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102)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Compute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 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S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 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+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S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 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+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3 , 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 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+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+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en-US" altLang="zh-CN" sz="20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     56 (</a:t>
            </a: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  85 (</a:t>
            </a: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  101 (</a:t>
            </a: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</a:t>
            </a:r>
            <a:r>
              <a:rPr lang="en-US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   102 (</a:t>
            </a: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=Sum</a:t>
            </a:r>
            <a:r>
              <a:rPr lang="en-US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Generate a random number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rand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between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0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Sum.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000" i="1" dirty="0">
              <a:solidFill>
                <a:schemeClr val="bg2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000" i="1" dirty="0">
              <a:solidFill>
                <a:schemeClr val="bg2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000" i="1" dirty="0">
              <a:solidFill>
                <a:schemeClr val="bg2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000" i="1" dirty="0">
              <a:solidFill>
                <a:schemeClr val="bg2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24">
                <a:extLst>
                  <a:ext uri="{FF2B5EF4-FFF2-40B4-BE49-F238E27FC236}">
                    <a16:creationId xmlns:a16="http://schemas.microsoft.com/office/drawing/2014/main" id="{50EE23F2-D03E-36B7-7D2E-E030E5D3AEB0}"/>
                  </a:ext>
                </a:extLst>
              </p:cNvPr>
              <p:cNvSpPr txBox="1"/>
              <p:nvPr/>
            </p:nvSpPr>
            <p:spPr bwMode="auto">
              <a:xfrm>
                <a:off x="1917700" y="4414838"/>
                <a:ext cx="6135688" cy="1698625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𝐼𝑓</m:t>
                            </m:r>
                          </m:e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𝑟𝑎𝑛𝑑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      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individual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1 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selected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  <m:m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𝐼𝑓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𝑟𝑎𝑛𝑑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individual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2 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selected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  <m:m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𝐼𝑓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𝑟𝑎𝑛𝑑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individual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3 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selected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  <m:m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𝐼𝑓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GB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𝑟𝑎𝑛𝑑</m:t>
                            </m:r>
                            <m:r>
                              <a:rPr lang="en-GB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GB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𝑠𝑢𝑚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      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individual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4 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selected</m:t>
                            </m:r>
                            <m:r>
                              <m:rPr>
                                <m:nor/>
                              </m:rPr>
                              <a:rPr lang="en-GB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Object 24">
                <a:extLst>
                  <a:ext uri="{FF2B5EF4-FFF2-40B4-BE49-F238E27FC236}">
                    <a16:creationId xmlns:a16="http://schemas.microsoft.com/office/drawing/2014/main" id="{50EE23F2-D03E-36B7-7D2E-E030E5D3A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7700" y="4414838"/>
                <a:ext cx="6135688" cy="1698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52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B63F20-2B7B-E5F9-4E11-6862B443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04" y="1474102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CN" sz="28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Proportional Selection:</a:t>
            </a:r>
          </a:p>
          <a:p>
            <a:pPr eaLnBrk="1" hangingPunct="1"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From population to mating pool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 </a:t>
            </a:r>
          </a:p>
        </p:txBody>
      </p:sp>
      <p:graphicFrame>
        <p:nvGraphicFramePr>
          <p:cNvPr id="6" name="表格 2">
            <a:extLst>
              <a:ext uri="{FF2B5EF4-FFF2-40B4-BE49-F238E27FC236}">
                <a16:creationId xmlns:a16="http://schemas.microsoft.com/office/drawing/2014/main" id="{6DAE6375-0017-C9D1-9AE3-C32A965F5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842449"/>
              </p:ext>
            </p:extLst>
          </p:nvPr>
        </p:nvGraphicFramePr>
        <p:xfrm>
          <a:off x="2351313" y="2758356"/>
          <a:ext cx="6164424" cy="3230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7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7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905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en-CA" altLang="zh-CN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en-CA" altLang="zh-CN" sz="2000" b="0" i="1" u="none" strike="noStrike" cap="none" normalizeH="0" baseline="30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Prob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Mating Pool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itchFamily="18" charset="0"/>
                          <a:cs typeface="Times New Roman" pitchFamily="18" charset="0"/>
                        </a:rPr>
                        <a:t>.55</a:t>
                      </a:r>
                      <a:endParaRPr lang="zh-CN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itchFamily="18" charset="0"/>
                          <a:cs typeface="Times New Roman" pitchFamily="18" charset="0"/>
                        </a:rPr>
                        <a:t>.28</a:t>
                      </a:r>
                      <a:endParaRPr lang="zh-CN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29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itchFamily="18" charset="0"/>
                          <a:cs typeface="Times New Roman" pitchFamily="18" charset="0"/>
                        </a:rPr>
                        <a:t>.16</a:t>
                      </a:r>
                      <a:endParaRPr lang="zh-CN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.01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16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Line 54">
            <a:extLst>
              <a:ext uri="{FF2B5EF4-FFF2-40B4-BE49-F238E27FC236}">
                <a16:creationId xmlns:a16="http://schemas.microsoft.com/office/drawing/2014/main" id="{8F05AEE5-C7B6-9368-E4AA-E27112BA46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374" y="5340007"/>
            <a:ext cx="2062062" cy="209939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4">
            <a:extLst>
              <a:ext uri="{FF2B5EF4-FFF2-40B4-BE49-F238E27FC236}">
                <a16:creationId xmlns:a16="http://schemas.microsoft.com/office/drawing/2014/main" id="{D43271CF-0663-0496-1ED6-7B831EAEE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374" y="4757449"/>
            <a:ext cx="200126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Line 54">
            <a:extLst>
              <a:ext uri="{FF2B5EF4-FFF2-40B4-BE49-F238E27FC236}">
                <a16:creationId xmlns:a16="http://schemas.microsoft.com/office/drawing/2014/main" id="{F6C9570B-E0E1-CF82-8801-C4D08B20D0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6705" y="3927769"/>
            <a:ext cx="2062064" cy="277218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54">
            <a:extLst>
              <a:ext uri="{FF2B5EF4-FFF2-40B4-BE49-F238E27FC236}">
                <a16:creationId xmlns:a16="http://schemas.microsoft.com/office/drawing/2014/main" id="{BBAA0E96-D68D-3A2D-6305-3C3323D52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371" y="4204986"/>
            <a:ext cx="2001262" cy="98612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601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FFE430F2-5A53-0D96-51E9-8036631767F0}"/>
              </a:ext>
            </a:extLst>
          </p:cNvPr>
          <p:cNvSpPr/>
          <p:nvPr/>
        </p:nvSpPr>
        <p:spPr>
          <a:xfrm>
            <a:off x="618884" y="1540372"/>
            <a:ext cx="9859394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SzPct val="80000"/>
            </a:pP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effect of selection:</a:t>
            </a:r>
          </a:p>
          <a:p>
            <a:pPr>
              <a:spcBef>
                <a:spcPct val="20000"/>
              </a:spcBef>
              <a:buSzPct val="80000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SzPct val="80000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Better individuals tend to have more copies in the mating pool.</a:t>
            </a:r>
          </a:p>
        </p:txBody>
      </p:sp>
      <p:graphicFrame>
        <p:nvGraphicFramePr>
          <p:cNvPr id="3" name="表格 6">
            <a:extLst>
              <a:ext uri="{FF2B5EF4-FFF2-40B4-BE49-F238E27FC236}">
                <a16:creationId xmlns:a16="http://schemas.microsoft.com/office/drawing/2014/main" id="{9670E5FF-4640-96F5-1CF3-BC42DD410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379276"/>
              </p:ext>
            </p:extLst>
          </p:nvPr>
        </p:nvGraphicFramePr>
        <p:xfrm>
          <a:off x="1237957" y="3233057"/>
          <a:ext cx="8194686" cy="241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6316">
                <a:tc>
                  <a:txBody>
                    <a:bodyPr/>
                    <a:lstStyle/>
                    <a:p>
                      <a:r>
                        <a:rPr lang="en-US" altLang="zh-CN" sz="2100" b="0" baseline="0" dirty="0">
                          <a:solidFill>
                            <a:schemeClr val="bg1"/>
                          </a:solidFill>
                        </a:rPr>
                        <a:t>Optimality  </a:t>
                      </a:r>
                      <a:endParaRPr lang="zh-CN" altLang="en-US" sz="2100" b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200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en-US" altLang="zh-CN" sz="2100" b="0" dirty="0">
                          <a:solidFill>
                            <a:schemeClr val="bg1"/>
                          </a:solidFill>
                        </a:rPr>
                        <a:t>Mating pool &gt; Previous Population </a:t>
                      </a:r>
                      <a:endParaRPr lang="en-US" altLang="zh-CN" sz="2100" b="0" dirty="0">
                        <a:solidFill>
                          <a:schemeClr val="bg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b="0" dirty="0">
                          <a:solidFill>
                            <a:schemeClr val="bg1"/>
                          </a:solidFill>
                        </a:rPr>
                        <a:t>Selection guides the search into a promising area in the search space.   </a:t>
                      </a:r>
                      <a:endParaRPr lang="en-US" altLang="zh-CN" sz="2100" b="0" dirty="0">
                        <a:solidFill>
                          <a:schemeClr val="bg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671">
                <a:tc>
                  <a:txBody>
                    <a:bodyPr/>
                    <a:lstStyle/>
                    <a:p>
                      <a:r>
                        <a:rPr lang="en-US" altLang="zh-CN" sz="2100" b="0" dirty="0">
                          <a:solidFill>
                            <a:schemeClr val="tx1"/>
                          </a:solidFill>
                        </a:rPr>
                        <a:t>Diversity</a:t>
                      </a:r>
                      <a:endParaRPr lang="zh-CN" altLang="en-US" sz="21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b="0" dirty="0"/>
                        <a:t>Mating pool &lt; Previous Population  </a:t>
                      </a:r>
                    </a:p>
                    <a:p>
                      <a:endParaRPr lang="zh-CN" altLang="en-US" sz="2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200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en-US" altLang="zh-CN" sz="2100" b="0" dirty="0"/>
                        <a:t>Selection decreases the number of different candidates. </a:t>
                      </a:r>
                    </a:p>
                    <a:p>
                      <a:endParaRPr lang="zh-CN" altLang="en-US" sz="2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94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D25970E-9B7B-F823-9445-7A68EBCE6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873" y="1967204"/>
            <a:ext cx="8686800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>
              <a:solidFill>
                <a:schemeClr val="tx1"/>
              </a:solidFill>
              <a:ea typeface="宋体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>
              <a:solidFill>
                <a:schemeClr val="tx1"/>
              </a:solidFill>
              <a:ea typeface="宋体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" name="Text Box 18">
            <a:extLst>
              <a:ext uri="{FF2B5EF4-FFF2-40B4-BE49-F238E27FC236}">
                <a16:creationId xmlns:a16="http://schemas.microsoft.com/office/drawing/2014/main" id="{F8A68EC1-BDEC-242A-CB2F-DE875439E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453" y="3268954"/>
            <a:ext cx="9583093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457200" indent="-457200" eaLnBrk="1" hangingPunct="1">
              <a:spcBef>
                <a:spcPts val="12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altLang="zh-CN" sz="2800" dirty="0">
                <a:latin typeface="Times New Roman" pitchFamily="18" charset="0"/>
                <a:ea typeface="宋体" pitchFamily="2" charset="-122"/>
              </a:rPr>
              <a:t>At last, all the members in the population will be same: the best one in the initial population.</a:t>
            </a:r>
            <a:endParaRPr lang="en-GB" altLang="zh-CN" sz="2800" b="1" dirty="0">
              <a:latin typeface="Times New Roman" pitchFamily="18" charset="0"/>
              <a:ea typeface="宋体" pitchFamily="2" charset="-122"/>
            </a:endParaRPr>
          </a:p>
          <a:p>
            <a:pPr marL="457200" indent="-457200" eaLnBrk="1" hangingPunct="1">
              <a:spcBef>
                <a:spcPts val="1200"/>
              </a:spcBef>
              <a:buSzPct val="80000"/>
              <a:buFont typeface="Arial" panose="020B0604020202020204" pitchFamily="34" charset="0"/>
              <a:buChar char="•"/>
            </a:pPr>
            <a:r>
              <a:rPr lang="en-GB" altLang="zh-CN" sz="2800" b="1" dirty="0">
                <a:latin typeface="Times New Roman" pitchFamily="18" charset="0"/>
                <a:ea typeface="宋体" pitchFamily="2" charset="-122"/>
              </a:rPr>
              <a:t>Selection alone cannot solve the optimization problem.</a:t>
            </a:r>
          </a:p>
          <a:p>
            <a:pPr eaLnBrk="1" hangingPunct="1">
              <a:spcBef>
                <a:spcPts val="1200"/>
              </a:spcBef>
              <a:buClr>
                <a:schemeClr val="accent2"/>
              </a:buClr>
              <a:buSzPct val="80000"/>
            </a:pPr>
            <a:endParaRPr lang="en-GB" altLang="zh-CN" sz="2800" dirty="0"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6AA841BD-678F-57AE-E9BE-AE861720720E}"/>
              </a:ext>
            </a:extLst>
          </p:cNvPr>
          <p:cNvGrpSpPr>
            <a:grpSpLocks/>
          </p:cNvGrpSpPr>
          <p:nvPr/>
        </p:nvGrpSpPr>
        <p:grpSpPr bwMode="auto">
          <a:xfrm>
            <a:off x="3083178" y="1533022"/>
            <a:ext cx="4756151" cy="1157288"/>
            <a:chOff x="412" y="1392"/>
            <a:chExt cx="2996" cy="729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52EC37C-A989-25E6-79AA-E815ABF84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" y="1578"/>
              <a:ext cx="980" cy="53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GB" altLang="zh-CN" sz="240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Population </a:t>
              </a: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3031897B-D67A-A3E4-F663-29D06BF5E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1584"/>
              <a:ext cx="948" cy="53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GB" altLang="zh-CN" sz="240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Mating </a:t>
              </a:r>
            </a:p>
            <a:p>
              <a:pPr algn="ctr" eaLnBrk="1" hangingPunct="1"/>
              <a:r>
                <a:rPr lang="en-GB" altLang="zh-CN" sz="240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Pool</a:t>
              </a:r>
            </a:p>
          </p:txBody>
        </p:sp>
        <p:sp>
          <p:nvSpPr>
            <p:cNvPr id="7" name="AutoShape 13">
              <a:extLst>
                <a:ext uri="{FF2B5EF4-FFF2-40B4-BE49-F238E27FC236}">
                  <a16:creationId xmlns:a16="http://schemas.microsoft.com/office/drawing/2014/main" id="{FEFBB34D-593E-D2D7-B978-D07A87AD2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4" y="1719"/>
              <a:ext cx="720" cy="96"/>
            </a:xfrm>
            <a:prstGeom prst="rightArrow">
              <a:avLst>
                <a:gd name="adj1" fmla="val 50000"/>
                <a:gd name="adj2" fmla="val 187500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" name="Text Box 19">
              <a:extLst>
                <a:ext uri="{FF2B5EF4-FFF2-40B4-BE49-F238E27FC236}">
                  <a16:creationId xmlns:a16="http://schemas.microsoft.com/office/drawing/2014/main" id="{2A92B366-F805-B203-32A8-03B638E28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0" y="1392"/>
              <a:ext cx="9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None/>
              </a:pPr>
              <a:r>
                <a:rPr lang="en-GB" altLang="zh-CN" sz="2800">
                  <a:latin typeface="Times New Roman" pitchFamily="18" charset="0"/>
                  <a:ea typeface="宋体" pitchFamily="2" charset="-122"/>
                </a:rPr>
                <a:t>selection</a:t>
              </a:r>
            </a:p>
          </p:txBody>
        </p:sp>
      </p:grpSp>
      <p:sp>
        <p:nvSpPr>
          <p:cNvPr id="10" name="AutoShape 13">
            <a:extLst>
              <a:ext uri="{FF2B5EF4-FFF2-40B4-BE49-F238E27FC236}">
                <a16:creationId xmlns:a16="http://schemas.microsoft.com/office/drawing/2014/main" id="{EC9A9699-0F9D-461C-9242-194B35BD3B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976271" y="2301371"/>
            <a:ext cx="1143000" cy="152400"/>
          </a:xfrm>
          <a:prstGeom prst="rightArrow">
            <a:avLst>
              <a:gd name="adj1" fmla="val 50000"/>
              <a:gd name="adj2" fmla="val 18750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919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DAD850-0F3A-483D-9C12-C2B6C0DDCE7C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790A5072-173B-4F93-8607-FDCB96F55C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2E69BF-2883-4BCC-B672-9BE892D00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1905</TotalTime>
  <Words>585</Words>
  <Application>Microsoft Office PowerPoint</Application>
  <PresentationFormat>Widescreen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宋体</vt:lpstr>
      <vt:lpstr>Arial</vt:lpstr>
      <vt:lpstr>Calibri</vt:lpstr>
      <vt:lpstr>Cambria Math</vt:lpstr>
      <vt:lpstr>Times New Roman</vt:lpstr>
      <vt:lpstr>Wingdings</vt:lpstr>
      <vt:lpstr>Office Theme</vt:lpstr>
      <vt:lpstr>GA Representation, Initialization and Selection</vt:lpstr>
      <vt:lpstr>The workflow of GA</vt:lpstr>
      <vt:lpstr>Representation</vt:lpstr>
      <vt:lpstr>Initialization</vt:lpstr>
      <vt:lpstr>Selection</vt:lpstr>
      <vt:lpstr>Selection</vt:lpstr>
      <vt:lpstr>Selection</vt:lpstr>
      <vt:lpstr>Selection</vt:lpstr>
      <vt:lpstr>Selection</vt:lpstr>
      <vt:lpstr>Selection</vt:lpstr>
      <vt:lpstr>Selection</vt:lpstr>
      <vt:lpstr>Selection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65</cp:revision>
  <dcterms:created xsi:type="dcterms:W3CDTF">2021-01-06T14:22:07Z</dcterms:created>
  <dcterms:modified xsi:type="dcterms:W3CDTF">2024-07-02T10:58:24Z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