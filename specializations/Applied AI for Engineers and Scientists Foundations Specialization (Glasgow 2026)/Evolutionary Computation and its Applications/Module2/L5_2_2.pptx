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508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4" r:id="rId15"/>
    <p:sldId id="505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571D09-D7BF-43B6-62CB-A6B2E844EE3E}" v="18" dt="2024-10-22T05:55:00.983"/>
    <p1510:client id="{CBAC9C65-433A-DA07-EF18-162B24B9406F}" v="3" dt="2024-10-22T05:56:19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 Liu" userId="S::bo.liu@glasgow.ac.uk::9f3cef8d-a62c-47d5-a5f2-d612cd92c880" providerId="AD" clId="Web-{B1571D09-D7BF-43B6-62CB-A6B2E844EE3E}"/>
    <pc:docChg chg="modSld">
      <pc:chgData name="Bo Liu" userId="S::bo.liu@glasgow.ac.uk::9f3cef8d-a62c-47d5-a5f2-d612cd92c880" providerId="AD" clId="Web-{B1571D09-D7BF-43B6-62CB-A6B2E844EE3E}" dt="2024-10-22T05:55:00.108" v="13"/>
      <pc:docMkLst>
        <pc:docMk/>
      </pc:docMkLst>
      <pc:sldChg chg="modSp">
        <pc:chgData name="Bo Liu" userId="S::bo.liu@glasgow.ac.uk::9f3cef8d-a62c-47d5-a5f2-d612cd92c880" providerId="AD" clId="Web-{B1571D09-D7BF-43B6-62CB-A6B2E844EE3E}" dt="2024-10-22T05:55:00.108" v="13"/>
        <pc:sldMkLst>
          <pc:docMk/>
          <pc:sldMk cId="3009975273" sldId="503"/>
        </pc:sldMkLst>
        <pc:graphicFrameChg chg="mod modGraphic">
          <ac:chgData name="Bo Liu" userId="S::bo.liu@glasgow.ac.uk::9f3cef8d-a62c-47d5-a5f2-d612cd92c880" providerId="AD" clId="Web-{B1571D09-D7BF-43B6-62CB-A6B2E844EE3E}" dt="2024-10-22T05:55:00.108" v="13"/>
          <ac:graphicFrameMkLst>
            <pc:docMk/>
            <pc:sldMk cId="3009975273" sldId="503"/>
            <ac:graphicFrameMk id="4" creationId="{2A3D68A2-FF16-6337-BDEF-E96FE52DE7D0}"/>
          </ac:graphicFrameMkLst>
        </pc:graphicFrameChg>
      </pc:sldChg>
    </pc:docChg>
  </pc:docChgLst>
  <pc:docChgLst>
    <pc:chgData name="Bo Liu" userId="S::bo.liu@glasgow.ac.uk::9f3cef8d-a62c-47d5-a5f2-d612cd92c880" providerId="AD" clId="Web-{CBAC9C65-433A-DA07-EF18-162B24B9406F}"/>
    <pc:docChg chg="modSld">
      <pc:chgData name="Bo Liu" userId="S::bo.liu@glasgow.ac.uk::9f3cef8d-a62c-47d5-a5f2-d612cd92c880" providerId="AD" clId="Web-{CBAC9C65-433A-DA07-EF18-162B24B9406F}" dt="2024-10-22T05:56:18.165" v="1" actId="20577"/>
      <pc:docMkLst>
        <pc:docMk/>
      </pc:docMkLst>
      <pc:sldChg chg="modSp">
        <pc:chgData name="Bo Liu" userId="S::bo.liu@glasgow.ac.uk::9f3cef8d-a62c-47d5-a5f2-d612cd92c880" providerId="AD" clId="Web-{CBAC9C65-433A-DA07-EF18-162B24B9406F}" dt="2024-10-22T05:56:18.165" v="1" actId="20577"/>
        <pc:sldMkLst>
          <pc:docMk/>
          <pc:sldMk cId="1845929871" sldId="505"/>
        </pc:sldMkLst>
        <pc:spChg chg="mod">
          <ac:chgData name="Bo Liu" userId="S::bo.liu@glasgow.ac.uk::9f3cef8d-a62c-47d5-a5f2-d612cd92c880" providerId="AD" clId="Web-{CBAC9C65-433A-DA07-EF18-162B24B9406F}" dt="2024-10-22T05:56:18.165" v="1" actId="20577"/>
          <ac:spMkLst>
            <pc:docMk/>
            <pc:sldMk cId="1845929871" sldId="505"/>
            <ac:spMk id="2" creationId="{1E3175F2-E5D1-BF75-5F26-AAC5EB2509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30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83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35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57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2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1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590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45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78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21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21/10/2024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GA Crossover and Mutation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The workflow of GA</a:t>
            </a:r>
          </a:p>
        </p:txBody>
      </p:sp>
      <p:cxnSp>
        <p:nvCxnSpPr>
          <p:cNvPr id="2" name="直接箭头连接符 2">
            <a:extLst>
              <a:ext uri="{FF2B5EF4-FFF2-40B4-BE49-F238E27FC236}">
                <a16:creationId xmlns:a16="http://schemas.microsoft.com/office/drawing/2014/main" id="{90500468-AA58-A7DD-4CF9-598B49883A05}"/>
              </a:ext>
            </a:extLst>
          </p:cNvPr>
          <p:cNvCxnSpPr/>
          <p:nvPr/>
        </p:nvCxnSpPr>
        <p:spPr>
          <a:xfrm>
            <a:off x="6451163" y="1608418"/>
            <a:ext cx="650223" cy="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19">
            <a:extLst>
              <a:ext uri="{FF2B5EF4-FFF2-40B4-BE49-F238E27FC236}">
                <a16:creationId xmlns:a16="http://schemas.microsoft.com/office/drawing/2014/main" id="{E89764B2-714D-5C43-E7C3-F3CD542CDA93}"/>
              </a:ext>
            </a:extLst>
          </p:cNvPr>
          <p:cNvCxnSpPr/>
          <p:nvPr/>
        </p:nvCxnSpPr>
        <p:spPr>
          <a:xfrm flipV="1">
            <a:off x="6444829" y="2223068"/>
            <a:ext cx="656557" cy="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28">
            <a:extLst>
              <a:ext uri="{FF2B5EF4-FFF2-40B4-BE49-F238E27FC236}">
                <a16:creationId xmlns:a16="http://schemas.microsoft.com/office/drawing/2014/main" id="{21714FE4-E45F-8782-CF39-C0F7F425279C}"/>
              </a:ext>
            </a:extLst>
          </p:cNvPr>
          <p:cNvCxnSpPr/>
          <p:nvPr/>
        </p:nvCxnSpPr>
        <p:spPr>
          <a:xfrm flipV="1">
            <a:off x="6469492" y="2904773"/>
            <a:ext cx="631894" cy="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29">
            <a:extLst>
              <a:ext uri="{FF2B5EF4-FFF2-40B4-BE49-F238E27FC236}">
                <a16:creationId xmlns:a16="http://schemas.microsoft.com/office/drawing/2014/main" id="{E4EB5F16-50B7-B65F-6F01-C5B6E289FD93}"/>
              </a:ext>
            </a:extLst>
          </p:cNvPr>
          <p:cNvCxnSpPr/>
          <p:nvPr/>
        </p:nvCxnSpPr>
        <p:spPr>
          <a:xfrm flipV="1">
            <a:off x="6451562" y="3473049"/>
            <a:ext cx="631894" cy="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6">
            <a:extLst>
              <a:ext uri="{FF2B5EF4-FFF2-40B4-BE49-F238E27FC236}">
                <a16:creationId xmlns:a16="http://schemas.microsoft.com/office/drawing/2014/main" id="{D7902F2B-F464-4BD8-BD0D-7EACEA10F1A4}"/>
              </a:ext>
            </a:extLst>
          </p:cNvPr>
          <p:cNvSpPr/>
          <p:nvPr/>
        </p:nvSpPr>
        <p:spPr>
          <a:xfrm>
            <a:off x="7181717" y="1341735"/>
            <a:ext cx="20506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</p:txBody>
      </p:sp>
      <p:sp>
        <p:nvSpPr>
          <p:cNvPr id="7" name="矩形 30">
            <a:extLst>
              <a:ext uri="{FF2B5EF4-FFF2-40B4-BE49-F238E27FC236}">
                <a16:creationId xmlns:a16="http://schemas.microsoft.com/office/drawing/2014/main" id="{980544B9-71DC-E4A0-4EE1-22EE685D4571}"/>
              </a:ext>
            </a:extLst>
          </p:cNvPr>
          <p:cNvSpPr/>
          <p:nvPr/>
        </p:nvSpPr>
        <p:spPr>
          <a:xfrm>
            <a:off x="7111973" y="1910560"/>
            <a:ext cx="31433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mat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mat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mat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  <a:p>
            <a:endParaRPr lang="zh-CN" altLang="en-US" sz="24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id="{83C556B0-9E3D-6C30-70FB-017EC80E4F16}"/>
              </a:ext>
            </a:extLst>
          </p:cNvPr>
          <p:cNvSpPr/>
          <p:nvPr/>
        </p:nvSpPr>
        <p:spPr>
          <a:xfrm>
            <a:off x="7136906" y="2576793"/>
            <a:ext cx="32191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cross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cross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cross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  <a:p>
            <a:endParaRPr lang="zh-CN" altLang="en-US" sz="24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矩形 33">
            <a:extLst>
              <a:ext uri="{FF2B5EF4-FFF2-40B4-BE49-F238E27FC236}">
                <a16:creationId xmlns:a16="http://schemas.microsoft.com/office/drawing/2014/main" id="{947F0882-9300-D23D-BEDE-4ADFBD0C036A}"/>
              </a:ext>
            </a:extLst>
          </p:cNvPr>
          <p:cNvSpPr/>
          <p:nvPr/>
        </p:nvSpPr>
        <p:spPr>
          <a:xfrm>
            <a:off x="7163786" y="3197403"/>
            <a:ext cx="32363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mut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mut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mut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  <a:p>
            <a:endParaRPr lang="zh-CN" altLang="en-US" sz="24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矩形 35">
            <a:extLst>
              <a:ext uri="{FF2B5EF4-FFF2-40B4-BE49-F238E27FC236}">
                <a16:creationId xmlns:a16="http://schemas.microsoft.com/office/drawing/2014/main" id="{63563E43-4050-1F6A-51E0-8C7A073BD6BC}"/>
              </a:ext>
            </a:extLst>
          </p:cNvPr>
          <p:cNvSpPr/>
          <p:nvPr/>
        </p:nvSpPr>
        <p:spPr>
          <a:xfrm>
            <a:off x="3183701" y="1422400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Initialization 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36">
            <a:extLst>
              <a:ext uri="{FF2B5EF4-FFF2-40B4-BE49-F238E27FC236}">
                <a16:creationId xmlns:a16="http://schemas.microsoft.com/office/drawing/2014/main" id="{B68D89DE-8FA5-9025-288D-F3A78A2F9551}"/>
              </a:ext>
            </a:extLst>
          </p:cNvPr>
          <p:cNvSpPr/>
          <p:nvPr/>
        </p:nvSpPr>
        <p:spPr>
          <a:xfrm>
            <a:off x="3183701" y="2049923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Selection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菱形 37">
            <a:extLst>
              <a:ext uri="{FF2B5EF4-FFF2-40B4-BE49-F238E27FC236}">
                <a16:creationId xmlns:a16="http://schemas.microsoft.com/office/drawing/2014/main" id="{714086EE-D797-64D3-53E9-B8973CBF53C1}"/>
              </a:ext>
            </a:extLst>
          </p:cNvPr>
          <p:cNvSpPr/>
          <p:nvPr/>
        </p:nvSpPr>
        <p:spPr>
          <a:xfrm>
            <a:off x="2692768" y="4544381"/>
            <a:ext cx="4258235" cy="129201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Termination conditions?</a:t>
            </a:r>
            <a:endParaRPr lang="zh-CN" alt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矩形 38">
            <a:extLst>
              <a:ext uri="{FF2B5EF4-FFF2-40B4-BE49-F238E27FC236}">
                <a16:creationId xmlns:a16="http://schemas.microsoft.com/office/drawing/2014/main" id="{F63E2DE5-A3CC-9CAC-19F7-928EC8CAA5E8}"/>
              </a:ext>
            </a:extLst>
          </p:cNvPr>
          <p:cNvSpPr/>
          <p:nvPr/>
        </p:nvSpPr>
        <p:spPr>
          <a:xfrm>
            <a:off x="3174620" y="6143426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Save the optimal solution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直接箭头连接符 39">
            <a:extLst>
              <a:ext uri="{FF2B5EF4-FFF2-40B4-BE49-F238E27FC236}">
                <a16:creationId xmlns:a16="http://schemas.microsoft.com/office/drawing/2014/main" id="{DE3627F3-80EC-1724-F3A2-36BC68B89BC8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4822001" y="1812365"/>
            <a:ext cx="0" cy="23755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40">
            <a:extLst>
              <a:ext uri="{FF2B5EF4-FFF2-40B4-BE49-F238E27FC236}">
                <a16:creationId xmlns:a16="http://schemas.microsoft.com/office/drawing/2014/main" id="{0A63A029-8286-6106-C868-AE1176493F54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flipH="1">
            <a:off x="4821886" y="2439888"/>
            <a:ext cx="115" cy="246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41">
            <a:extLst>
              <a:ext uri="{FF2B5EF4-FFF2-40B4-BE49-F238E27FC236}">
                <a16:creationId xmlns:a16="http://schemas.microsoft.com/office/drawing/2014/main" id="{4E815E8C-E513-B602-E1FB-FBD291F699E6}"/>
              </a:ext>
            </a:extLst>
          </p:cNvPr>
          <p:cNvCxnSpPr>
            <a:stCxn id="22" idx="2"/>
            <a:endCxn id="13" idx="0"/>
          </p:cNvCxnSpPr>
          <p:nvPr/>
        </p:nvCxnSpPr>
        <p:spPr>
          <a:xfrm flipH="1">
            <a:off x="4821886" y="4285507"/>
            <a:ext cx="4894" cy="2588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42">
            <a:extLst>
              <a:ext uri="{FF2B5EF4-FFF2-40B4-BE49-F238E27FC236}">
                <a16:creationId xmlns:a16="http://schemas.microsoft.com/office/drawing/2014/main" id="{E9BF91B5-9C0D-E850-08BF-2210413993E9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flipH="1">
            <a:off x="4812920" y="5836398"/>
            <a:ext cx="8966" cy="30702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43">
            <a:extLst>
              <a:ext uri="{FF2B5EF4-FFF2-40B4-BE49-F238E27FC236}">
                <a16:creationId xmlns:a16="http://schemas.microsoft.com/office/drawing/2014/main" id="{0DE44692-08E3-31A6-B91A-A4FCFDF0461C}"/>
              </a:ext>
            </a:extLst>
          </p:cNvPr>
          <p:cNvCxnSpPr>
            <a:stCxn id="13" idx="1"/>
            <a:endCxn id="12" idx="1"/>
          </p:cNvCxnSpPr>
          <p:nvPr/>
        </p:nvCxnSpPr>
        <p:spPr>
          <a:xfrm rot="10800000" flipH="1">
            <a:off x="2692767" y="2244906"/>
            <a:ext cx="490933" cy="2945484"/>
          </a:xfrm>
          <a:prstGeom prst="bentConnector3">
            <a:avLst>
              <a:gd name="adj1" fmla="val -46564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44">
            <a:extLst>
              <a:ext uri="{FF2B5EF4-FFF2-40B4-BE49-F238E27FC236}">
                <a16:creationId xmlns:a16="http://schemas.microsoft.com/office/drawing/2014/main" id="{6C3EEA09-2B40-5834-A94A-E8F7597A3ABB}"/>
              </a:ext>
            </a:extLst>
          </p:cNvPr>
          <p:cNvSpPr/>
          <p:nvPr/>
        </p:nvSpPr>
        <p:spPr>
          <a:xfrm>
            <a:off x="3183586" y="2686804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Crossover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矩形 45">
            <a:extLst>
              <a:ext uri="{FF2B5EF4-FFF2-40B4-BE49-F238E27FC236}">
                <a16:creationId xmlns:a16="http://schemas.microsoft.com/office/drawing/2014/main" id="{F9392BB3-CD72-7EC8-2FD5-131363987C55}"/>
              </a:ext>
            </a:extLst>
          </p:cNvPr>
          <p:cNvSpPr/>
          <p:nvPr/>
        </p:nvSpPr>
        <p:spPr>
          <a:xfrm>
            <a:off x="3188480" y="3287033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Mutation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46">
            <a:extLst>
              <a:ext uri="{FF2B5EF4-FFF2-40B4-BE49-F238E27FC236}">
                <a16:creationId xmlns:a16="http://schemas.microsoft.com/office/drawing/2014/main" id="{C04D11AA-4060-37A2-A30C-4285E4419418}"/>
              </a:ext>
            </a:extLst>
          </p:cNvPr>
          <p:cNvSpPr/>
          <p:nvPr/>
        </p:nvSpPr>
        <p:spPr>
          <a:xfrm>
            <a:off x="3188480" y="3895542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Replacement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直接箭头连接符 47">
            <a:extLst>
              <a:ext uri="{FF2B5EF4-FFF2-40B4-BE49-F238E27FC236}">
                <a16:creationId xmlns:a16="http://schemas.microsoft.com/office/drawing/2014/main" id="{3D7D6468-3645-DE94-55F7-1575AF96F9D2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4821886" y="3076769"/>
            <a:ext cx="4894" cy="2102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48">
            <a:extLst>
              <a:ext uri="{FF2B5EF4-FFF2-40B4-BE49-F238E27FC236}">
                <a16:creationId xmlns:a16="http://schemas.microsoft.com/office/drawing/2014/main" id="{8C779DD6-22C5-9D06-C688-6E5E61244B0E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4826780" y="3676998"/>
            <a:ext cx="0" cy="21854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EC76032-1AB8-415E-8EE5-0A6FCC5D48E6}"/>
              </a:ext>
            </a:extLst>
          </p:cNvPr>
          <p:cNvSpPr txBox="1"/>
          <p:nvPr/>
        </p:nvSpPr>
        <p:spPr>
          <a:xfrm>
            <a:off x="1876005" y="3599929"/>
            <a:ext cx="49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F60D7B-7C5F-2921-73A1-BE0D7B8CF933}"/>
              </a:ext>
            </a:extLst>
          </p:cNvPr>
          <p:cNvSpPr txBox="1"/>
          <p:nvPr/>
        </p:nvSpPr>
        <p:spPr>
          <a:xfrm>
            <a:off x="5205223" y="5758130"/>
            <a:ext cx="51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87506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Crossover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35EA615-9767-D463-86D5-C8DF10646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169" y="1694012"/>
            <a:ext cx="10454930" cy="3957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New solutions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are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generated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using the </a:t>
            </a:r>
            <a:r>
              <a:rPr lang="en-US" altLang="zh-CN" sz="2400" b="1" i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and </a:t>
            </a:r>
            <a:r>
              <a:rPr lang="en-US" altLang="zh-CN" sz="2400" b="1" i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mutation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operations. </a:t>
            </a:r>
          </a:p>
          <a:p>
            <a:pPr marL="457200" indent="-4572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Ø"/>
            </a:pP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These operators: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act directly on the individuals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are often used after selection </a:t>
            </a:r>
          </a:p>
          <a:p>
            <a:pPr marL="914400" lvl="1" indent="-4572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 most cases, h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ave no relation with the fitness </a:t>
            </a:r>
          </a:p>
        </p:txBody>
      </p:sp>
    </p:spTree>
    <p:extLst>
      <p:ext uri="{BB962C8B-B14F-4D97-AF65-F5344CB8AC3E}">
        <p14:creationId xmlns:p14="http://schemas.microsoft.com/office/powerpoint/2010/main" val="404703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Crossover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C25CC8-C89D-42A1-9829-1E43B04A4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1963" y="288132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Simple (One-Point) Crossover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1" i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K</a:t>
            </a:r>
            <a:r>
              <a:rPr lang="en-US" altLang="zh-CN" sz="2400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-Point Crossover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A7983D-FB1E-961D-2F9D-35A95BB7772A}"/>
              </a:ext>
            </a:extLst>
          </p:cNvPr>
          <p:cNvSpPr/>
          <p:nvPr/>
        </p:nvSpPr>
        <p:spPr>
          <a:xfrm>
            <a:off x="643680" y="1694301"/>
            <a:ext cx="7992285" cy="8309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In crossover operation, two individuals crossover with each other in some way.</a:t>
            </a:r>
            <a:endParaRPr lang="zh-CN" altLang="en-US" sz="2400" b="1" dirty="0"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4" name="矩形 93">
            <a:extLst>
              <a:ext uri="{FF2B5EF4-FFF2-40B4-BE49-F238E27FC236}">
                <a16:creationId xmlns:a16="http://schemas.microsoft.com/office/drawing/2014/main" id="{1BCE1B0E-6386-63EE-F5B4-3CDACF622A2B}"/>
              </a:ext>
            </a:extLst>
          </p:cNvPr>
          <p:cNvSpPr/>
          <p:nvPr/>
        </p:nvSpPr>
        <p:spPr>
          <a:xfrm>
            <a:off x="5322556" y="4380358"/>
            <a:ext cx="24625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After crossover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94">
            <a:extLst>
              <a:ext uri="{FF2B5EF4-FFF2-40B4-BE49-F238E27FC236}">
                <a16:creationId xmlns:a16="http://schemas.microsoft.com/office/drawing/2014/main" id="{6A088210-9925-56E3-0B2E-E6D4AE87E479}"/>
              </a:ext>
            </a:extLst>
          </p:cNvPr>
          <p:cNvSpPr/>
          <p:nvPr/>
        </p:nvSpPr>
        <p:spPr>
          <a:xfrm>
            <a:off x="1593421" y="4380358"/>
            <a:ext cx="27190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Before crossover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组合 106">
            <a:extLst>
              <a:ext uri="{FF2B5EF4-FFF2-40B4-BE49-F238E27FC236}">
                <a16:creationId xmlns:a16="http://schemas.microsoft.com/office/drawing/2014/main" id="{1936FC15-7D93-3873-1BD7-A7105F3CCCFB}"/>
              </a:ext>
            </a:extLst>
          </p:cNvPr>
          <p:cNvGrpSpPr/>
          <p:nvPr/>
        </p:nvGrpSpPr>
        <p:grpSpPr>
          <a:xfrm>
            <a:off x="2406108" y="5272977"/>
            <a:ext cx="1210339" cy="733425"/>
            <a:chOff x="2004891" y="4783875"/>
            <a:chExt cx="1210339" cy="733425"/>
          </a:xfrm>
        </p:grpSpPr>
        <p:grpSp>
          <p:nvGrpSpPr>
            <p:cNvPr id="7" name="Group 23">
              <a:extLst>
                <a:ext uri="{FF2B5EF4-FFF2-40B4-BE49-F238E27FC236}">
                  <a16:creationId xmlns:a16="http://schemas.microsoft.com/office/drawing/2014/main" id="{C261A3B4-0F5D-0AC5-5D4F-50E277B0E0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722" y="4783875"/>
              <a:ext cx="1016000" cy="733425"/>
              <a:chOff x="3472" y="2900"/>
              <a:chExt cx="640" cy="462"/>
            </a:xfrm>
          </p:grpSpPr>
          <p:sp>
            <p:nvSpPr>
              <p:cNvPr id="11" name="Text Box 24">
                <a:extLst>
                  <a:ext uri="{FF2B5EF4-FFF2-40B4-BE49-F238E27FC236}">
                    <a16:creationId xmlns:a16="http://schemas.microsoft.com/office/drawing/2014/main" id="{A83193BA-7293-42E9-E9DC-35CAA3DA6F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2900"/>
                <a:ext cx="6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   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0 0</a:t>
                </a:r>
                <a:endParaRPr lang="en-CA" altLang="zh-CN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 Box 25">
                <a:extLst>
                  <a:ext uri="{FF2B5EF4-FFF2-40B4-BE49-F238E27FC236}">
                    <a16:creationId xmlns:a16="http://schemas.microsoft.com/office/drawing/2014/main" id="{71099708-C822-210B-57BB-F40CCFB051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3131"/>
                <a:ext cx="64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0 1   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0 1</a:t>
                </a:r>
                <a:endParaRPr lang="en-CA" altLang="zh-CN" sz="1800" b="1" dirty="0">
                  <a:solidFill>
                    <a:schemeClr val="accent1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9" name="直接连接符 101">
              <a:extLst>
                <a:ext uri="{FF2B5EF4-FFF2-40B4-BE49-F238E27FC236}">
                  <a16:creationId xmlns:a16="http://schemas.microsoft.com/office/drawing/2014/main" id="{CE8E06C6-7A94-5936-D309-2823935F32ED}"/>
                </a:ext>
              </a:extLst>
            </p:cNvPr>
            <p:cNvCxnSpPr/>
            <p:nvPr/>
          </p:nvCxnSpPr>
          <p:spPr>
            <a:xfrm flipV="1">
              <a:off x="2610061" y="4875553"/>
              <a:ext cx="0" cy="55007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102">
              <a:extLst>
                <a:ext uri="{FF2B5EF4-FFF2-40B4-BE49-F238E27FC236}">
                  <a16:creationId xmlns:a16="http://schemas.microsoft.com/office/drawing/2014/main" id="{E3551B93-F857-4BD8-EE63-C1BB99FA6650}"/>
                </a:ext>
              </a:extLst>
            </p:cNvPr>
            <p:cNvSpPr/>
            <p:nvPr/>
          </p:nvSpPr>
          <p:spPr>
            <a:xfrm>
              <a:off x="2004891" y="4824016"/>
              <a:ext cx="1210339" cy="653143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组合 107">
            <a:extLst>
              <a:ext uri="{FF2B5EF4-FFF2-40B4-BE49-F238E27FC236}">
                <a16:creationId xmlns:a16="http://schemas.microsoft.com/office/drawing/2014/main" id="{E857853F-EEAE-9884-1E4C-D3D1EA99E0B9}"/>
              </a:ext>
            </a:extLst>
          </p:cNvPr>
          <p:cNvGrpSpPr/>
          <p:nvPr/>
        </p:nvGrpSpPr>
        <p:grpSpPr>
          <a:xfrm>
            <a:off x="5665601" y="5273067"/>
            <a:ext cx="1210339" cy="736600"/>
            <a:chOff x="2004891" y="4783875"/>
            <a:chExt cx="1210339" cy="736600"/>
          </a:xfrm>
        </p:grpSpPr>
        <p:grpSp>
          <p:nvGrpSpPr>
            <p:cNvPr id="14" name="Group 23">
              <a:extLst>
                <a:ext uri="{FF2B5EF4-FFF2-40B4-BE49-F238E27FC236}">
                  <a16:creationId xmlns:a16="http://schemas.microsoft.com/office/drawing/2014/main" id="{1609B0EF-B045-6E73-6D2F-D7244BE3B0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722" y="4783875"/>
              <a:ext cx="1016000" cy="736600"/>
              <a:chOff x="3472" y="2900"/>
              <a:chExt cx="640" cy="464"/>
            </a:xfrm>
          </p:grpSpPr>
          <p:sp>
            <p:nvSpPr>
              <p:cNvPr id="17" name="Text Box 24">
                <a:extLst>
                  <a:ext uri="{FF2B5EF4-FFF2-40B4-BE49-F238E27FC236}">
                    <a16:creationId xmlns:a16="http://schemas.microsoft.com/office/drawing/2014/main" id="{FA59943A-B1FB-26E1-1193-4D9B27BE54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2900"/>
                <a:ext cx="64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   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0 1</a:t>
                </a:r>
                <a:endParaRPr lang="en-CA" altLang="zh-CN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8" name="Text Box 25">
                <a:extLst>
                  <a:ext uri="{FF2B5EF4-FFF2-40B4-BE49-F238E27FC236}">
                    <a16:creationId xmlns:a16="http://schemas.microsoft.com/office/drawing/2014/main" id="{761F3EE9-31E3-B98D-86DA-EC0FE659A4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3131"/>
                <a:ext cx="640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0 1   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0 0</a:t>
                </a:r>
              </a:p>
            </p:txBody>
          </p:sp>
        </p:grpSp>
        <p:cxnSp>
          <p:nvCxnSpPr>
            <p:cNvPr id="15" name="直接连接符 109">
              <a:extLst>
                <a:ext uri="{FF2B5EF4-FFF2-40B4-BE49-F238E27FC236}">
                  <a16:creationId xmlns:a16="http://schemas.microsoft.com/office/drawing/2014/main" id="{0C3C143E-DF50-6B20-6E93-C2372642B9F4}"/>
                </a:ext>
              </a:extLst>
            </p:cNvPr>
            <p:cNvCxnSpPr/>
            <p:nvPr/>
          </p:nvCxnSpPr>
          <p:spPr>
            <a:xfrm flipV="1">
              <a:off x="2610061" y="4875553"/>
              <a:ext cx="0" cy="55007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10">
              <a:extLst>
                <a:ext uri="{FF2B5EF4-FFF2-40B4-BE49-F238E27FC236}">
                  <a16:creationId xmlns:a16="http://schemas.microsoft.com/office/drawing/2014/main" id="{463A9BA9-89B7-2480-00B7-CA6374B7D7CE}"/>
                </a:ext>
              </a:extLst>
            </p:cNvPr>
            <p:cNvSpPr/>
            <p:nvPr/>
          </p:nvSpPr>
          <p:spPr>
            <a:xfrm>
              <a:off x="2004891" y="4824016"/>
              <a:ext cx="1210339" cy="653143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93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Crossover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7D99244-61D2-AD6A-18D7-41F1FBACB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90" y="1359167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altLang="zh-CN" sz="2400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Simple (One-Point) Crossover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4CB2086-4A6B-7F1B-5AB7-D043704CB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02" y="2225524"/>
            <a:ext cx="9948317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Two individuals (parents) are selected randomly from the mating pool.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c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rossover site is randomly selected. 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children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are generated by swapping.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Text Box 44">
            <a:extLst>
              <a:ext uri="{FF2B5EF4-FFF2-40B4-BE49-F238E27FC236}">
                <a16:creationId xmlns:a16="http://schemas.microsoft.com/office/drawing/2014/main" id="{BC63596F-3763-8169-EA91-1E952CC19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926" y="4133183"/>
            <a:ext cx="21128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 Site (4)</a:t>
            </a:r>
            <a:endParaRPr lang="en-CA" altLang="zh-CN" sz="18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5" name="Group 82">
            <a:extLst>
              <a:ext uri="{FF2B5EF4-FFF2-40B4-BE49-F238E27FC236}">
                <a16:creationId xmlns:a16="http://schemas.microsoft.com/office/drawing/2014/main" id="{4C9D1A10-8269-1C0C-0240-F07CA0E8DDEB}"/>
              </a:ext>
            </a:extLst>
          </p:cNvPr>
          <p:cNvGrpSpPr>
            <a:grpSpLocks/>
          </p:cNvGrpSpPr>
          <p:nvPr/>
        </p:nvGrpSpPr>
        <p:grpSpPr bwMode="auto">
          <a:xfrm>
            <a:off x="5272590" y="4845914"/>
            <a:ext cx="1343026" cy="727075"/>
            <a:chOff x="3161" y="2444"/>
            <a:chExt cx="846" cy="458"/>
          </a:xfrm>
        </p:grpSpPr>
        <p:sp>
          <p:nvSpPr>
            <p:cNvPr id="6" name="Text Box 64">
              <a:extLst>
                <a:ext uri="{FF2B5EF4-FFF2-40B4-BE49-F238E27FC236}">
                  <a16:creationId xmlns:a16="http://schemas.microsoft.com/office/drawing/2014/main" id="{91D0D9F7-7A8D-BABB-E0BF-42D8BB9D6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1" y="2444"/>
              <a:ext cx="8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Child 1</a:t>
              </a:r>
              <a:endParaRPr lang="en-CA" altLang="zh-CN" sz="180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" name="Text Box 80">
              <a:extLst>
                <a:ext uri="{FF2B5EF4-FFF2-40B4-BE49-F238E27FC236}">
                  <a16:creationId xmlns:a16="http://schemas.microsoft.com/office/drawing/2014/main" id="{4C78F58E-0629-8C85-3290-909CD12738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1" y="2671"/>
              <a:ext cx="8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Child 2</a:t>
              </a:r>
              <a:endParaRPr lang="en-CA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91">
            <a:extLst>
              <a:ext uri="{FF2B5EF4-FFF2-40B4-BE49-F238E27FC236}">
                <a16:creationId xmlns:a16="http://schemas.microsoft.com/office/drawing/2014/main" id="{C4558199-536E-B928-2E72-8BF3BA6A538C}"/>
              </a:ext>
            </a:extLst>
          </p:cNvPr>
          <p:cNvGrpSpPr/>
          <p:nvPr/>
        </p:nvGrpSpPr>
        <p:grpSpPr>
          <a:xfrm>
            <a:off x="2676112" y="4853852"/>
            <a:ext cx="1671370" cy="1012825"/>
            <a:chOff x="2004891" y="4783875"/>
            <a:chExt cx="1210339" cy="1012825"/>
          </a:xfrm>
        </p:grpSpPr>
        <p:grpSp>
          <p:nvGrpSpPr>
            <p:cNvPr id="10" name="Group 23">
              <a:extLst>
                <a:ext uri="{FF2B5EF4-FFF2-40B4-BE49-F238E27FC236}">
                  <a16:creationId xmlns:a16="http://schemas.microsoft.com/office/drawing/2014/main" id="{43046FC6-13EC-1451-99B0-D95F22125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722" y="4783875"/>
              <a:ext cx="1016000" cy="1012825"/>
              <a:chOff x="3472" y="2900"/>
              <a:chExt cx="640" cy="638"/>
            </a:xfrm>
          </p:grpSpPr>
          <p:sp>
            <p:nvSpPr>
              <p:cNvPr id="13" name="Text Box 24">
                <a:extLst>
                  <a:ext uri="{FF2B5EF4-FFF2-40B4-BE49-F238E27FC236}">
                    <a16:creationId xmlns:a16="http://schemas.microsoft.com/office/drawing/2014/main" id="{8079BF63-6297-71A1-5517-72BAD0738E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2900"/>
                <a:ext cx="64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1 0 0 1   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</a:t>
                </a:r>
                <a:endParaRPr lang="en-CA" altLang="zh-CN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 Box 25">
                <a:extLst>
                  <a:ext uri="{FF2B5EF4-FFF2-40B4-BE49-F238E27FC236}">
                    <a16:creationId xmlns:a16="http://schemas.microsoft.com/office/drawing/2014/main" id="{CF0E288B-877F-A331-CBB9-8C0F4BA02B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3131"/>
                <a:ext cx="640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0 0 1 0   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0 1</a:t>
                </a:r>
                <a:endParaRPr lang="en-CA" altLang="zh-CN" sz="1800" b="1" dirty="0">
                  <a:solidFill>
                    <a:schemeClr val="accent1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" name="直接连接符 93">
              <a:extLst>
                <a:ext uri="{FF2B5EF4-FFF2-40B4-BE49-F238E27FC236}">
                  <a16:creationId xmlns:a16="http://schemas.microsoft.com/office/drawing/2014/main" id="{6B5C40BE-5601-397B-7F3F-EBA37A85AB57}"/>
                </a:ext>
              </a:extLst>
            </p:cNvPr>
            <p:cNvCxnSpPr/>
            <p:nvPr/>
          </p:nvCxnSpPr>
          <p:spPr>
            <a:xfrm flipV="1">
              <a:off x="2765111" y="4878728"/>
              <a:ext cx="0" cy="55007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94">
              <a:extLst>
                <a:ext uri="{FF2B5EF4-FFF2-40B4-BE49-F238E27FC236}">
                  <a16:creationId xmlns:a16="http://schemas.microsoft.com/office/drawing/2014/main" id="{51A0AD0F-12E9-F242-1068-6FB926B92DCD}"/>
                </a:ext>
              </a:extLst>
            </p:cNvPr>
            <p:cNvSpPr/>
            <p:nvPr/>
          </p:nvSpPr>
          <p:spPr>
            <a:xfrm>
              <a:off x="2004891" y="4824016"/>
              <a:ext cx="1210339" cy="653143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 Box 31">
            <a:extLst>
              <a:ext uri="{FF2B5EF4-FFF2-40B4-BE49-F238E27FC236}">
                <a16:creationId xmlns:a16="http://schemas.microsoft.com/office/drawing/2014/main" id="{989E1A42-D490-952A-3F57-774E4CCD4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529" y="4838827"/>
            <a:ext cx="1319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Parent 1</a:t>
            </a:r>
            <a:endParaRPr lang="en-CA" altLang="zh-CN" sz="1800" dirty="0">
              <a:solidFill>
                <a:srgbClr val="FF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6" name="Text Box 31">
            <a:extLst>
              <a:ext uri="{FF2B5EF4-FFF2-40B4-BE49-F238E27FC236}">
                <a16:creationId xmlns:a16="http://schemas.microsoft.com/office/drawing/2014/main" id="{50C6F4F3-7ED8-EBEC-77B4-B99910521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528" y="5205540"/>
            <a:ext cx="1319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Parent 2</a:t>
            </a:r>
            <a:endParaRPr lang="en-CA" altLang="zh-CN" sz="1800" dirty="0">
              <a:solidFill>
                <a:srgbClr val="FF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7" name="Line 48">
            <a:extLst>
              <a:ext uri="{FF2B5EF4-FFF2-40B4-BE49-F238E27FC236}">
                <a16:creationId xmlns:a16="http://schemas.microsoft.com/office/drawing/2014/main" id="{6D275B4A-5C5E-BBBA-7241-207F54F9E8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3380" y="4468275"/>
            <a:ext cx="0" cy="408744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组合 100">
            <a:extLst>
              <a:ext uri="{FF2B5EF4-FFF2-40B4-BE49-F238E27FC236}">
                <a16:creationId xmlns:a16="http://schemas.microsoft.com/office/drawing/2014/main" id="{EDB17545-F4BF-55A4-137A-967EA2435338}"/>
              </a:ext>
            </a:extLst>
          </p:cNvPr>
          <p:cNvGrpSpPr/>
          <p:nvPr/>
        </p:nvGrpSpPr>
        <p:grpSpPr>
          <a:xfrm>
            <a:off x="6283693" y="4867939"/>
            <a:ext cx="1684067" cy="1012825"/>
            <a:chOff x="2004891" y="4783875"/>
            <a:chExt cx="1210339" cy="1012825"/>
          </a:xfrm>
        </p:grpSpPr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FA576B22-F66C-B3BA-8735-59EB30CB1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722" y="4783875"/>
              <a:ext cx="1016000" cy="1012825"/>
              <a:chOff x="3472" y="2900"/>
              <a:chExt cx="640" cy="638"/>
            </a:xfrm>
          </p:grpSpPr>
          <p:sp>
            <p:nvSpPr>
              <p:cNvPr id="22" name="Text Box 24">
                <a:extLst>
                  <a:ext uri="{FF2B5EF4-FFF2-40B4-BE49-F238E27FC236}">
                    <a16:creationId xmlns:a16="http://schemas.microsoft.com/office/drawing/2014/main" id="{DBD59CE6-A5D3-EEA5-8B69-02D0F5E014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2900"/>
                <a:ext cx="64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1 0 0 1   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0 1</a:t>
                </a:r>
                <a:endParaRPr lang="en-CA" altLang="zh-CN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 Box 25">
                <a:extLst>
                  <a:ext uri="{FF2B5EF4-FFF2-40B4-BE49-F238E27FC236}">
                    <a16:creationId xmlns:a16="http://schemas.microsoft.com/office/drawing/2014/main" id="{53CA903F-7657-576C-806B-CD08B6C82B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3131"/>
                <a:ext cx="640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0 0 1 0   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</a:t>
                </a:r>
                <a:endParaRPr lang="en-CA" altLang="zh-CN" sz="1800" b="1" dirty="0">
                  <a:solidFill>
                    <a:schemeClr val="accent2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0" name="直接连接符 102">
              <a:extLst>
                <a:ext uri="{FF2B5EF4-FFF2-40B4-BE49-F238E27FC236}">
                  <a16:creationId xmlns:a16="http://schemas.microsoft.com/office/drawing/2014/main" id="{EE1E4839-025D-0383-4102-696A6B52DCBB}"/>
                </a:ext>
              </a:extLst>
            </p:cNvPr>
            <p:cNvCxnSpPr/>
            <p:nvPr/>
          </p:nvCxnSpPr>
          <p:spPr>
            <a:xfrm flipV="1">
              <a:off x="2765111" y="4878728"/>
              <a:ext cx="0" cy="55007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103">
              <a:extLst>
                <a:ext uri="{FF2B5EF4-FFF2-40B4-BE49-F238E27FC236}">
                  <a16:creationId xmlns:a16="http://schemas.microsoft.com/office/drawing/2014/main" id="{8A8F68C4-FBA5-FBC9-86A1-F12840548101}"/>
                </a:ext>
              </a:extLst>
            </p:cNvPr>
            <p:cNvSpPr/>
            <p:nvPr/>
          </p:nvSpPr>
          <p:spPr>
            <a:xfrm>
              <a:off x="2004891" y="4824016"/>
              <a:ext cx="1210339" cy="653143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233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Crossover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6177DF-5A10-46C1-0759-E31D742B3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820" y="1370025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altLang="zh-CN" sz="2400" b="1" i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K</a:t>
            </a:r>
            <a:r>
              <a:rPr lang="en-US" altLang="zh-CN" sz="2400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-Point Crossover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80FDD4-806B-EBAD-1B0F-9678219A9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828" y="2241974"/>
            <a:ext cx="8508125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-point crossover selects 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crossover sites and swaps the substrings between them. 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Example (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=2):</a:t>
            </a:r>
          </a:p>
        </p:txBody>
      </p:sp>
      <p:sp>
        <p:nvSpPr>
          <p:cNvPr id="4" name="Text Box 44">
            <a:extLst>
              <a:ext uri="{FF2B5EF4-FFF2-40B4-BE49-F238E27FC236}">
                <a16:creationId xmlns:a16="http://schemas.microsoft.com/office/drawing/2014/main" id="{FDEEBE77-F59A-D34D-838B-8057F6FFB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8058" y="3921554"/>
            <a:ext cx="1386874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 Site (4)</a:t>
            </a:r>
            <a:endParaRPr lang="en-CA" altLang="zh-CN" sz="18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5" name="Group 82">
            <a:extLst>
              <a:ext uri="{FF2B5EF4-FFF2-40B4-BE49-F238E27FC236}">
                <a16:creationId xmlns:a16="http://schemas.microsoft.com/office/drawing/2014/main" id="{06E3B8B9-F499-C325-7CC1-A1A79CF2D99B}"/>
              </a:ext>
            </a:extLst>
          </p:cNvPr>
          <p:cNvGrpSpPr>
            <a:grpSpLocks/>
          </p:cNvGrpSpPr>
          <p:nvPr/>
        </p:nvGrpSpPr>
        <p:grpSpPr bwMode="auto">
          <a:xfrm>
            <a:off x="5337411" y="4936152"/>
            <a:ext cx="1343026" cy="727075"/>
            <a:chOff x="3161" y="2444"/>
            <a:chExt cx="846" cy="458"/>
          </a:xfrm>
        </p:grpSpPr>
        <p:sp>
          <p:nvSpPr>
            <p:cNvPr id="6" name="Text Box 64">
              <a:extLst>
                <a:ext uri="{FF2B5EF4-FFF2-40B4-BE49-F238E27FC236}">
                  <a16:creationId xmlns:a16="http://schemas.microsoft.com/office/drawing/2014/main" id="{5C2AA661-CE5D-ACE5-F70B-0123E4311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1" y="2444"/>
              <a:ext cx="8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Child 1</a:t>
              </a:r>
              <a:endParaRPr lang="en-CA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" name="Text Box 80">
              <a:extLst>
                <a:ext uri="{FF2B5EF4-FFF2-40B4-BE49-F238E27FC236}">
                  <a16:creationId xmlns:a16="http://schemas.microsoft.com/office/drawing/2014/main" id="{E55D8154-E466-9ECD-E5AC-88EE8CB0F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1" y="2671"/>
              <a:ext cx="8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FF0000"/>
                  </a:solidFill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rPr>
                <a:t>Child 2</a:t>
              </a:r>
              <a:endParaRPr lang="en-CA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102">
            <a:extLst>
              <a:ext uri="{FF2B5EF4-FFF2-40B4-BE49-F238E27FC236}">
                <a16:creationId xmlns:a16="http://schemas.microsoft.com/office/drawing/2014/main" id="{1C1ECC3C-9AC9-211C-14F9-2C151185049C}"/>
              </a:ext>
            </a:extLst>
          </p:cNvPr>
          <p:cNvGrpSpPr/>
          <p:nvPr/>
        </p:nvGrpSpPr>
        <p:grpSpPr>
          <a:xfrm>
            <a:off x="2740933" y="4944090"/>
            <a:ext cx="2223998" cy="1012825"/>
            <a:chOff x="2004891" y="4783875"/>
            <a:chExt cx="1210339" cy="1012825"/>
          </a:xfrm>
        </p:grpSpPr>
        <p:grpSp>
          <p:nvGrpSpPr>
            <p:cNvPr id="10" name="Group 23">
              <a:extLst>
                <a:ext uri="{FF2B5EF4-FFF2-40B4-BE49-F238E27FC236}">
                  <a16:creationId xmlns:a16="http://schemas.microsoft.com/office/drawing/2014/main" id="{5994920E-F569-7324-E890-35B28F67DC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722" y="4783875"/>
              <a:ext cx="1016000" cy="1012825"/>
              <a:chOff x="3472" y="2900"/>
              <a:chExt cx="640" cy="638"/>
            </a:xfrm>
          </p:grpSpPr>
          <p:sp>
            <p:nvSpPr>
              <p:cNvPr id="13" name="Text Box 24">
                <a:extLst>
                  <a:ext uri="{FF2B5EF4-FFF2-40B4-BE49-F238E27FC236}">
                    <a16:creationId xmlns:a16="http://schemas.microsoft.com/office/drawing/2014/main" id="{8A1C633D-0424-95F4-1B58-9411D7B01E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2900"/>
                <a:ext cx="64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    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0 1   </a:t>
                </a: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</a:t>
                </a:r>
                <a:endParaRPr lang="en-CA" altLang="zh-CN" sz="18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 Box 25">
                <a:extLst>
                  <a:ext uri="{FF2B5EF4-FFF2-40B4-BE49-F238E27FC236}">
                    <a16:creationId xmlns:a16="http://schemas.microsoft.com/office/drawing/2014/main" id="{A0612686-8EBF-738E-51FD-6E14A90A08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3131"/>
                <a:ext cx="640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0 0    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</a:t>
                </a: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   0 1</a:t>
                </a:r>
                <a:endParaRPr lang="en-CA" altLang="zh-CN" sz="18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" name="直接连接符 104">
              <a:extLst>
                <a:ext uri="{FF2B5EF4-FFF2-40B4-BE49-F238E27FC236}">
                  <a16:creationId xmlns:a16="http://schemas.microsoft.com/office/drawing/2014/main" id="{453DF580-BC6D-221B-2C56-6D18D37EF28D}"/>
                </a:ext>
              </a:extLst>
            </p:cNvPr>
            <p:cNvCxnSpPr/>
            <p:nvPr/>
          </p:nvCxnSpPr>
          <p:spPr>
            <a:xfrm flipV="1">
              <a:off x="2709646" y="4876800"/>
              <a:ext cx="0" cy="55007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05">
              <a:extLst>
                <a:ext uri="{FF2B5EF4-FFF2-40B4-BE49-F238E27FC236}">
                  <a16:creationId xmlns:a16="http://schemas.microsoft.com/office/drawing/2014/main" id="{340B3266-227E-C5B4-B189-B75A014DFE93}"/>
                </a:ext>
              </a:extLst>
            </p:cNvPr>
            <p:cNvSpPr/>
            <p:nvPr/>
          </p:nvSpPr>
          <p:spPr>
            <a:xfrm>
              <a:off x="2004891" y="4824016"/>
              <a:ext cx="1210339" cy="653143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 Box 31">
            <a:extLst>
              <a:ext uri="{FF2B5EF4-FFF2-40B4-BE49-F238E27FC236}">
                <a16:creationId xmlns:a16="http://schemas.microsoft.com/office/drawing/2014/main" id="{CE65BC78-ADF8-2D71-554C-99199CB41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350" y="4929065"/>
            <a:ext cx="1319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Parent 1</a:t>
            </a:r>
            <a:endParaRPr lang="en-CA" altLang="zh-CN" sz="1800" dirty="0">
              <a:solidFill>
                <a:srgbClr val="FF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6" name="Text Box 31">
            <a:extLst>
              <a:ext uri="{FF2B5EF4-FFF2-40B4-BE49-F238E27FC236}">
                <a16:creationId xmlns:a16="http://schemas.microsoft.com/office/drawing/2014/main" id="{65FBF842-A53F-C89D-D4FE-DC8EFD2F0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349" y="5295778"/>
            <a:ext cx="1319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Parent 2</a:t>
            </a:r>
            <a:endParaRPr lang="en-CA" altLang="zh-CN" sz="1800" dirty="0">
              <a:solidFill>
                <a:srgbClr val="FF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7" name="Line 48">
            <a:extLst>
              <a:ext uri="{FF2B5EF4-FFF2-40B4-BE49-F238E27FC236}">
                <a16:creationId xmlns:a16="http://schemas.microsoft.com/office/drawing/2014/main" id="{51B94E43-CE8D-7397-4ADA-27ED93F06D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8870" y="4561192"/>
            <a:ext cx="0" cy="408744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44">
            <a:extLst>
              <a:ext uri="{FF2B5EF4-FFF2-40B4-BE49-F238E27FC236}">
                <a16:creationId xmlns:a16="http://schemas.microsoft.com/office/drawing/2014/main" id="{E5A39967-2272-A371-D0D2-99369F825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332" y="3919842"/>
            <a:ext cx="14928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8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 Site (2)</a:t>
            </a:r>
            <a:endParaRPr lang="en-CA" altLang="zh-CN" sz="18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19" name="Line 48">
            <a:extLst>
              <a:ext uri="{FF2B5EF4-FFF2-40B4-BE49-F238E27FC236}">
                <a16:creationId xmlns:a16="http://schemas.microsoft.com/office/drawing/2014/main" id="{38A9E793-9A73-9A6D-AA69-BFDDBE399F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1848" y="4566156"/>
            <a:ext cx="0" cy="408744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直接连接符 119">
            <a:extLst>
              <a:ext uri="{FF2B5EF4-FFF2-40B4-BE49-F238E27FC236}">
                <a16:creationId xmlns:a16="http://schemas.microsoft.com/office/drawing/2014/main" id="{502FAA8A-D7AD-44B2-C054-98971B866224}"/>
              </a:ext>
            </a:extLst>
          </p:cNvPr>
          <p:cNvCxnSpPr/>
          <p:nvPr/>
        </p:nvCxnSpPr>
        <p:spPr>
          <a:xfrm flipV="1">
            <a:off x="3496350" y="5037015"/>
            <a:ext cx="0" cy="5500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120">
            <a:extLst>
              <a:ext uri="{FF2B5EF4-FFF2-40B4-BE49-F238E27FC236}">
                <a16:creationId xmlns:a16="http://schemas.microsoft.com/office/drawing/2014/main" id="{86A2ACA0-D816-1ED5-E8DC-0F9E353F69F0}"/>
              </a:ext>
            </a:extLst>
          </p:cNvPr>
          <p:cNvGrpSpPr/>
          <p:nvPr/>
        </p:nvGrpSpPr>
        <p:grpSpPr>
          <a:xfrm>
            <a:off x="6205700" y="4959641"/>
            <a:ext cx="2400040" cy="1012825"/>
            <a:chOff x="2004891" y="4783875"/>
            <a:chExt cx="1210339" cy="1012825"/>
          </a:xfrm>
        </p:grpSpPr>
        <p:grpSp>
          <p:nvGrpSpPr>
            <p:cNvPr id="22" name="Group 23">
              <a:extLst>
                <a:ext uri="{FF2B5EF4-FFF2-40B4-BE49-F238E27FC236}">
                  <a16:creationId xmlns:a16="http://schemas.microsoft.com/office/drawing/2014/main" id="{298F15BB-1FC1-C054-67B7-E1A1C2F4CC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722" y="4783875"/>
              <a:ext cx="1016000" cy="1012825"/>
              <a:chOff x="3472" y="2900"/>
              <a:chExt cx="640" cy="638"/>
            </a:xfrm>
          </p:grpSpPr>
          <p:sp>
            <p:nvSpPr>
              <p:cNvPr id="25" name="Text Box 24">
                <a:extLst>
                  <a:ext uri="{FF2B5EF4-FFF2-40B4-BE49-F238E27FC236}">
                    <a16:creationId xmlns:a16="http://schemas.microsoft.com/office/drawing/2014/main" id="{24678718-E1C2-4B90-BC02-89B7F89BEC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2900"/>
                <a:ext cx="64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    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   </a:t>
                </a: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1 0</a:t>
                </a:r>
                <a:endParaRPr lang="en-CA" altLang="zh-CN" sz="18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6" name="Text Box 25">
                <a:extLst>
                  <a:ext uri="{FF2B5EF4-FFF2-40B4-BE49-F238E27FC236}">
                    <a16:creationId xmlns:a16="http://schemas.microsoft.com/office/drawing/2014/main" id="{AF0B69AB-C656-E2FB-4C66-804C874A98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2" y="3131"/>
                <a:ext cx="640" cy="4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0 0    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0 1   </a:t>
                </a:r>
                <a:r>
                  <a:rPr lang="en-US" altLang="zh-CN" sz="1800" b="1" dirty="0">
                    <a:latin typeface="Arial" panose="020B0604020202020204" pitchFamily="34" charset="0"/>
                    <a:ea typeface="宋体" pitchFamily="2" charset="-122"/>
                    <a:cs typeface="Arial" panose="020B0604020202020204" pitchFamily="34" charset="0"/>
                  </a:rPr>
                  <a:t>0 1</a:t>
                </a:r>
                <a:endParaRPr lang="en-CA" altLang="zh-CN" sz="1800" b="1" dirty="0">
                  <a:latin typeface="Arial" panose="020B0604020202020204" pitchFamily="34" charset="0"/>
                  <a:ea typeface="宋体" pitchFamily="2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3" name="直接连接符 122">
              <a:extLst>
                <a:ext uri="{FF2B5EF4-FFF2-40B4-BE49-F238E27FC236}">
                  <a16:creationId xmlns:a16="http://schemas.microsoft.com/office/drawing/2014/main" id="{83C404E4-D5B4-C77B-7E46-8010E0CC082C}"/>
                </a:ext>
              </a:extLst>
            </p:cNvPr>
            <p:cNvCxnSpPr/>
            <p:nvPr/>
          </p:nvCxnSpPr>
          <p:spPr>
            <a:xfrm flipV="1">
              <a:off x="2674609" y="4876800"/>
              <a:ext cx="0" cy="55007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123">
              <a:extLst>
                <a:ext uri="{FF2B5EF4-FFF2-40B4-BE49-F238E27FC236}">
                  <a16:creationId xmlns:a16="http://schemas.microsoft.com/office/drawing/2014/main" id="{38D9DB8E-E388-E9A9-B31C-763E21B08A2C}"/>
                </a:ext>
              </a:extLst>
            </p:cNvPr>
            <p:cNvSpPr/>
            <p:nvPr/>
          </p:nvSpPr>
          <p:spPr>
            <a:xfrm>
              <a:off x="2004891" y="4824016"/>
              <a:ext cx="1210339" cy="653143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7" name="直接连接符 126">
            <a:extLst>
              <a:ext uri="{FF2B5EF4-FFF2-40B4-BE49-F238E27FC236}">
                <a16:creationId xmlns:a16="http://schemas.microsoft.com/office/drawing/2014/main" id="{C7502A5D-517E-2C9E-B413-0A35F909CBD7}"/>
              </a:ext>
            </a:extLst>
          </p:cNvPr>
          <p:cNvCxnSpPr/>
          <p:nvPr/>
        </p:nvCxnSpPr>
        <p:spPr>
          <a:xfrm flipV="1">
            <a:off x="6951788" y="5054494"/>
            <a:ext cx="0" cy="5500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93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5" grpId="0"/>
      <p:bldP spid="16" grpId="0"/>
      <p:bldP spid="17" grpId="0" animBg="1"/>
      <p:bldP spid="18" grpId="0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Crossover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4B8AFFD-16D4-E732-8BF3-7A6A14EAC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71" y="1360667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altLang="zh-CN" sz="2800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Crossover rate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E1904E3-64D5-0B5D-D7FE-48C3285D2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930" y="5810841"/>
            <a:ext cx="8376083" cy="1047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SzPct val="80000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Typical values of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P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c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 are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0.6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 to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0.9</a:t>
            </a:r>
          </a:p>
        </p:txBody>
      </p:sp>
      <p:sp>
        <p:nvSpPr>
          <p:cNvPr id="4" name="矩形 4">
            <a:extLst>
              <a:ext uri="{FF2B5EF4-FFF2-40B4-BE49-F238E27FC236}">
                <a16:creationId xmlns:a16="http://schemas.microsoft.com/office/drawing/2014/main" id="{C3300365-81DA-2DE4-3CDF-69FB77186772}"/>
              </a:ext>
            </a:extLst>
          </p:cNvPr>
          <p:cNvSpPr/>
          <p:nvPr/>
        </p:nvSpPr>
        <p:spPr>
          <a:xfrm>
            <a:off x="1855930" y="2450418"/>
            <a:ext cx="7846398" cy="83099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SzPct val="80000"/>
            </a:pP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two parents from the mating pool undergo crossover with a (usually high) probability, </a:t>
            </a:r>
            <a:r>
              <a:rPr lang="en-US" altLang="zh-CN" sz="2400" i="1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en-US" altLang="zh-CN" sz="2400" i="1" baseline="-25000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F3711770-018C-ACB0-2162-D40AAF142E1C}"/>
              </a:ext>
            </a:extLst>
          </p:cNvPr>
          <p:cNvSpPr/>
          <p:nvPr/>
        </p:nvSpPr>
        <p:spPr>
          <a:xfrm>
            <a:off x="1855930" y="3664873"/>
            <a:ext cx="7846398" cy="83099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SzPct val="80000"/>
            </a:pP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random number </a:t>
            </a:r>
            <a:r>
              <a:rPr lang="en-US" altLang="zh-CN" sz="2400" i="1" dirty="0" err="1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 i="1" baseline="-25000" dirty="0" err="1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is generated in the range of 0-1, and the individuals undergo crossover if </a:t>
            </a:r>
            <a:r>
              <a:rPr lang="en-US" altLang="zh-CN" sz="2400" b="1" i="1" dirty="0" err="1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 b="1" i="1" baseline="-25000" dirty="0" err="1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 </a:t>
            </a:r>
            <a:r>
              <a:rPr lang="en-US" altLang="zh-CN" sz="2400" b="1" i="1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P</a:t>
            </a:r>
            <a:r>
              <a:rPr lang="en-US" altLang="zh-CN" sz="2400" b="1" i="1" baseline="-25000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c</a:t>
            </a:r>
            <a:endParaRPr lang="en-US" altLang="zh-CN" sz="2400" dirty="0">
              <a:solidFill>
                <a:srgbClr val="0000FF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6" name="矩形 9">
            <a:extLst>
              <a:ext uri="{FF2B5EF4-FFF2-40B4-BE49-F238E27FC236}">
                <a16:creationId xmlns:a16="http://schemas.microsoft.com/office/drawing/2014/main" id="{0409FFD7-35BD-AE0D-FF0A-4D2BD45EE48C}"/>
              </a:ext>
            </a:extLst>
          </p:cNvPr>
          <p:cNvSpPr/>
          <p:nvPr/>
        </p:nvSpPr>
        <p:spPr>
          <a:xfrm>
            <a:off x="1855930" y="4887007"/>
            <a:ext cx="7846398" cy="83099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SzPct val="80000"/>
            </a:pP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Otherwise, the parents proceed without crossover and directly become offspring.</a:t>
            </a:r>
          </a:p>
        </p:txBody>
      </p:sp>
      <p:sp>
        <p:nvSpPr>
          <p:cNvPr id="7" name="下箭头 10">
            <a:extLst>
              <a:ext uri="{FF2B5EF4-FFF2-40B4-BE49-F238E27FC236}">
                <a16:creationId xmlns:a16="http://schemas.microsoft.com/office/drawing/2014/main" id="{377886CB-31D6-37E3-5478-FAC7F42AC4CA}"/>
              </a:ext>
            </a:extLst>
          </p:cNvPr>
          <p:cNvSpPr/>
          <p:nvPr/>
        </p:nvSpPr>
        <p:spPr>
          <a:xfrm>
            <a:off x="5440499" y="3281415"/>
            <a:ext cx="172429" cy="3834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下箭头 12">
            <a:extLst>
              <a:ext uri="{FF2B5EF4-FFF2-40B4-BE49-F238E27FC236}">
                <a16:creationId xmlns:a16="http://schemas.microsoft.com/office/drawing/2014/main" id="{389B28D5-C6AE-AB93-08F9-E1698CE02E22}"/>
              </a:ext>
            </a:extLst>
          </p:cNvPr>
          <p:cNvSpPr/>
          <p:nvPr/>
        </p:nvSpPr>
        <p:spPr>
          <a:xfrm>
            <a:off x="5440499" y="4495870"/>
            <a:ext cx="172429" cy="3834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66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Crossover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D9F4A929-0DB3-7790-6B01-28C04B65A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116447"/>
              </p:ext>
            </p:extLst>
          </p:nvPr>
        </p:nvGraphicFramePr>
        <p:xfrm>
          <a:off x="1526945" y="2141879"/>
          <a:ext cx="8229987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71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07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1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76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kumimoji="0" lang="en-CA" altLang="zh-CN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kumimoji="0" lang="en-CA" altLang="zh-CN" sz="2000" b="0" i="1" u="none" strike="noStrike" cap="none" normalizeH="0" baseline="300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/>
                          <a:cs typeface="Times New Roman"/>
                        </a:rPr>
                        <a:t>Prob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Mating Pool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Crossover Site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cross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cross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56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Times New Roman" pitchFamily="18" charset="0"/>
                          <a:cs typeface="Times New Roman" pitchFamily="18" charset="0"/>
                        </a:rPr>
                        <a:t>.55</a:t>
                      </a:r>
                      <a:endParaRPr lang="zh-CN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Rc</a:t>
                      </a:r>
                      <a:r>
                        <a:rPr kumimoji="0"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≤</a:t>
                      </a:r>
                      <a:r>
                        <a:rPr kumimoji="0"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kumimoji="0" lang="en-CA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Pc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en-CA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61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/>
                        <a:ea typeface="宋体" pitchFamily="2" charset="-122"/>
                        <a:cs typeface="Times New Roman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0010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Times New Roman" pitchFamily="18" charset="0"/>
                          <a:cs typeface="Times New Roman" pitchFamily="18" charset="0"/>
                        </a:rPr>
                        <a:t>.28</a:t>
                      </a:r>
                      <a:endParaRPr lang="zh-CN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0010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en-CA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40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3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/>
                        <a:ea typeface="宋体" pitchFamily="2" charset="-122"/>
                        <a:cs typeface="Times New Roman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Times New Roman" pitchFamily="18" charset="0"/>
                          <a:cs typeface="Times New Roman" pitchFamily="18" charset="0"/>
                        </a:rPr>
                        <a:t>.16</a:t>
                      </a:r>
                      <a:endParaRPr lang="zh-CN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/>
                        <a:ea typeface="宋体" pitchFamily="2" charset="-122"/>
                        <a:cs typeface="Times New Roman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.01</a:t>
                      </a:r>
                    </a:p>
                  </a:txBody>
                  <a:tcPr marT="45670" marB="4567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Line 54">
            <a:extLst>
              <a:ext uri="{FF2B5EF4-FFF2-40B4-BE49-F238E27FC236}">
                <a16:creationId xmlns:a16="http://schemas.microsoft.com/office/drawing/2014/main" id="{8B99D2C9-F72F-D4BE-33F4-C0F99065E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4763" y="3131304"/>
            <a:ext cx="2558272" cy="65316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" name="Line 54">
            <a:extLst>
              <a:ext uri="{FF2B5EF4-FFF2-40B4-BE49-F238E27FC236}">
                <a16:creationId xmlns:a16="http://schemas.microsoft.com/office/drawing/2014/main" id="{B630CADF-E574-36BD-F2C4-A4D6CC632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4763" y="4216765"/>
            <a:ext cx="2558272" cy="65316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7853AC-B7F1-13DD-8526-A8AB536FDD10}"/>
              </a:ext>
            </a:extLst>
          </p:cNvPr>
          <p:cNvSpPr/>
          <p:nvPr/>
        </p:nvSpPr>
        <p:spPr>
          <a:xfrm>
            <a:off x="1489621" y="1750360"/>
            <a:ext cx="3275045" cy="42360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7">
            <a:extLst>
              <a:ext uri="{FF2B5EF4-FFF2-40B4-BE49-F238E27FC236}">
                <a16:creationId xmlns:a16="http://schemas.microsoft.com/office/drawing/2014/main" id="{200585D6-D8CA-4E82-06B2-CACFAE1CB4F2}"/>
              </a:ext>
            </a:extLst>
          </p:cNvPr>
          <p:cNvSpPr/>
          <p:nvPr/>
        </p:nvSpPr>
        <p:spPr>
          <a:xfrm>
            <a:off x="2175999" y="1685043"/>
            <a:ext cx="1901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Times New Roman" pitchFamily="18" charset="0"/>
                <a:ea typeface="宋体" pitchFamily="2" charset="-122"/>
              </a:rPr>
              <a:t>Generation 0</a:t>
            </a:r>
          </a:p>
        </p:txBody>
      </p:sp>
      <p:sp>
        <p:nvSpPr>
          <p:cNvPr id="7" name="矩形 14">
            <a:extLst>
              <a:ext uri="{FF2B5EF4-FFF2-40B4-BE49-F238E27FC236}">
                <a16:creationId xmlns:a16="http://schemas.microsoft.com/office/drawing/2014/main" id="{FE293D24-29C3-E45B-2E45-098BA623C6AD}"/>
              </a:ext>
            </a:extLst>
          </p:cNvPr>
          <p:cNvSpPr/>
          <p:nvPr/>
        </p:nvSpPr>
        <p:spPr>
          <a:xfrm>
            <a:off x="4769328" y="1750360"/>
            <a:ext cx="5047864" cy="42360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6">
            <a:extLst>
              <a:ext uri="{FF2B5EF4-FFF2-40B4-BE49-F238E27FC236}">
                <a16:creationId xmlns:a16="http://schemas.microsoft.com/office/drawing/2014/main" id="{B89DC0AF-9E2F-8363-2ACE-3F8C40293D45}"/>
              </a:ext>
            </a:extLst>
          </p:cNvPr>
          <p:cNvSpPr/>
          <p:nvPr/>
        </p:nvSpPr>
        <p:spPr>
          <a:xfrm>
            <a:off x="6161552" y="1694374"/>
            <a:ext cx="1901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Generation 1</a:t>
            </a:r>
          </a:p>
        </p:txBody>
      </p:sp>
    </p:spTree>
    <p:extLst>
      <p:ext uri="{BB962C8B-B14F-4D97-AF65-F5344CB8AC3E}">
        <p14:creationId xmlns:p14="http://schemas.microsoft.com/office/powerpoint/2010/main" val="117771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Crossover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E141B8CC-3131-4B9D-D3CE-AD162F15CF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1459863"/>
                  </p:ext>
                </p:extLst>
              </p:nvPr>
            </p:nvGraphicFramePr>
            <p:xfrm>
              <a:off x="1528465" y="2148051"/>
              <a:ext cx="8201884" cy="381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46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528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1877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0936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728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9406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22659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76858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054057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endParaRPr kumimoji="0" lang="en-CA" altLang="zh-CN" sz="20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endParaRPr kumimoji="0" lang="en-CA" altLang="zh-CN" sz="2000" b="0" i="1" u="none" strike="noStrike" cap="none" normalizeH="0" baseline="-2500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G</a:t>
                          </a: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(</a:t>
                          </a: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)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Prob</a:t>
                          </a: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(</a:t>
                          </a: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)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Mating Pool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G</a:t>
                          </a: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(</a:t>
                          </a: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)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Crossover Site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r>
                            <a:rPr kumimoji="0" lang="en-US" altLang="zh-CN" sz="2000" b="0" i="1" u="none" strike="noStrike" cap="none" normalizeH="0" baseline="-25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cross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G</a:t>
                          </a: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(</a:t>
                          </a:r>
                          <a:r>
                            <a:rPr kumimoji="0" lang="en-US" altLang="zh-CN" sz="20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r>
                            <a:rPr kumimoji="0" lang="en-US" altLang="zh-CN" sz="2000" b="0" i="1" u="none" strike="noStrike" cap="none" normalizeH="0" baseline="-25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cross</a:t>
                          </a: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)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1011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56</a:t>
                          </a:r>
                        </a:p>
                      </a:txBody>
                      <a:tcPr marT="45670" marB="45670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.55</a:t>
                          </a:r>
                          <a:endParaRPr lang="zh-CN" altLang="en-US" sz="20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1011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56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CA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Rc</a:t>
                          </a:r>
                          <a:r>
                            <a:rPr kumimoji="0"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 </a:t>
                          </a:r>
                          <a:r>
                            <a:rPr kumimoji="0" lang="zh-CN" altLang="en-US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≤</a:t>
                          </a:r>
                          <a:r>
                            <a:rPr kumimoji="0"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 </a:t>
                          </a:r>
                          <a:r>
                            <a:rPr kumimoji="0" lang="en-CA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Pc</a:t>
                          </a: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2</a:t>
                          </a: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10</a:t>
                          </a:r>
                          <a:r>
                            <a:rPr kumimoji="0" lang="en-US" altLang="zh-CN" sz="20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10</a:t>
                          </a:r>
                          <a:endParaRPr kumimoji="0" lang="en-CA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61</a:t>
                          </a:r>
                        </a:p>
                      </a:txBody>
                      <a:tcPr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2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/>
                            <a:ea typeface="宋体" pitchFamily="2" charset="-122"/>
                            <a:cs typeface="Times New Roman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0010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29</a:t>
                          </a:r>
                        </a:p>
                      </a:txBody>
                      <a:tcPr marT="45670" marB="45670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.28</a:t>
                          </a:r>
                          <a:endParaRPr lang="zh-CN" altLang="en-US" sz="20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0010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29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</a:t>
                          </a:r>
                          <a:r>
                            <a:rPr kumimoji="0" lang="en-US" altLang="zh-CN" sz="20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11</a:t>
                          </a:r>
                          <a:endParaRPr kumimoji="0" lang="en-CA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40</a:t>
                          </a:r>
                        </a:p>
                      </a:txBody>
                      <a:tcPr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3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/>
                            <a:ea typeface="宋体" pitchFamily="2" charset="-122"/>
                            <a:cs typeface="Times New Roman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0001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16</a:t>
                          </a:r>
                        </a:p>
                      </a:txBody>
                      <a:tcPr marT="45670" marB="45670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.16</a:t>
                          </a:r>
                          <a:endParaRPr lang="zh-CN" altLang="en-US" sz="20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1011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56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</a:pPr>
                          <a:r>
                            <a:rPr kumimoji="0" lang="en-CA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Rc</a:t>
                          </a:r>
                          <a:r>
                            <a:rPr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GB" altLang="zh-CN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ysClr val="windowText" lastClr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/>
                                  <a:cs typeface="Times New Roman"/>
                                </a:rPr>
                                <m:t>&gt;</m:t>
                              </m:r>
                            </m:oMath>
                          </a14:m>
                          <a:r>
                            <a:rPr lang="zh-CN" altLang="en-US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 </a:t>
                          </a:r>
                          <a:r>
                            <a:rPr kumimoji="0" lang="en-CA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Pc</a:t>
                          </a: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None/>
                            <a:tabLst/>
                            <a:defRPr/>
                          </a:pPr>
                          <a:r>
                            <a:rPr lang="en-US" sz="2000" b="0" i="0" u="none" strike="noStrike" cap="none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1011</a:t>
                          </a:r>
                          <a:endParaRPr kumimoji="0" lang="zh-CN" altLang="en-US" dirty="0"/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56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/>
                            <a:ea typeface="宋体"/>
                            <a:cs typeface="Times New Roman"/>
                          </a:endParaRPr>
                        </a:p>
                      </a:txBody>
                      <a:tcPr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4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/>
                            <a:ea typeface="宋体" pitchFamily="2" charset="-122"/>
                            <a:cs typeface="Times New Roman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0000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1</a:t>
                          </a:r>
                        </a:p>
                      </a:txBody>
                      <a:tcPr marT="45670" marB="45670"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.01</a:t>
                          </a:r>
                        </a:p>
                      </a:txBody>
                      <a:tcPr marT="45670" marB="45670"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0001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16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lv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0" i="0" u="none" strike="noStrike" cap="none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0001</a:t>
                          </a: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16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E141B8CC-3131-4B9D-D3CE-AD162F15CF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1459863"/>
                  </p:ext>
                </p:extLst>
              </p:nvPr>
            </p:nvGraphicFramePr>
            <p:xfrm>
              <a:off x="1528465" y="2148051"/>
              <a:ext cx="8201884" cy="381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46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528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1877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0936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728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9406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22659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76858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054057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endParaRPr kumimoji="0" lang="en-CA" altLang="zh-CN" sz="20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endParaRPr kumimoji="0" lang="en-CA" altLang="zh-CN" sz="2000" b="0" i="1" u="none" strike="noStrike" cap="none" normalizeH="0" baseline="-2500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G</a:t>
                          </a: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(</a:t>
                          </a: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)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Prob</a:t>
                          </a: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(</a:t>
                          </a: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)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Mating Pool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G</a:t>
                          </a: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(</a:t>
                          </a: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r>
                            <a:rPr kumimoji="0" lang="en-US" altLang="zh-CN" sz="2000" b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)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Crossover Site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r>
                            <a:rPr kumimoji="0" lang="en-US" altLang="zh-CN" sz="2000" b="0" i="1" u="none" strike="noStrike" cap="none" normalizeH="0" baseline="-25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cross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G</a:t>
                          </a: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(</a:t>
                          </a:r>
                          <a:r>
                            <a:rPr kumimoji="0" lang="en-US" altLang="zh-CN" sz="2000" b="0" i="1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x</a:t>
                          </a:r>
                          <a:r>
                            <a:rPr kumimoji="0" lang="en-US" altLang="zh-CN" sz="2000" b="0" i="1" u="none" strike="noStrike" cap="none" normalizeH="0" baseline="30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i</a:t>
                          </a:r>
                          <a:r>
                            <a:rPr kumimoji="0" lang="en-US" altLang="zh-CN" sz="2000" b="0" i="1" u="none" strike="noStrike" cap="none" normalizeH="0" baseline="-25000" dirty="0" err="1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cross</a:t>
                          </a: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)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1011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56</a:t>
                          </a:r>
                        </a:p>
                      </a:txBody>
                      <a:tcPr marT="45670" marB="45670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.55</a:t>
                          </a:r>
                          <a:endParaRPr lang="zh-CN" altLang="en-US" sz="20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1011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56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CA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Rc</a:t>
                          </a:r>
                          <a:r>
                            <a:rPr kumimoji="0"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 </a:t>
                          </a:r>
                          <a:r>
                            <a:rPr kumimoji="0" lang="zh-CN" altLang="en-US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≤</a:t>
                          </a:r>
                          <a:r>
                            <a:rPr kumimoji="0"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 </a:t>
                          </a:r>
                          <a:r>
                            <a:rPr kumimoji="0" lang="en-CA" altLang="zh-CN" sz="20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Pc</a:t>
                          </a: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2</a:t>
                          </a: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10</a:t>
                          </a:r>
                          <a:r>
                            <a:rPr kumimoji="0" lang="en-US" altLang="zh-CN" sz="20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2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10</a:t>
                          </a:r>
                          <a:endParaRPr kumimoji="0" lang="en-CA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2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61</a:t>
                          </a:r>
                        </a:p>
                      </a:txBody>
                      <a:tcPr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2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/>
                            <a:ea typeface="宋体" pitchFamily="2" charset="-122"/>
                            <a:cs typeface="Times New Roman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0010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29</a:t>
                          </a:r>
                        </a:p>
                      </a:txBody>
                      <a:tcPr marT="45670" marB="45670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.28</a:t>
                          </a:r>
                          <a:endParaRPr lang="zh-CN" altLang="en-US" sz="20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0010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29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</a:t>
                          </a:r>
                          <a:r>
                            <a:rPr kumimoji="0" lang="en-US" altLang="zh-CN" sz="2000" b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11</a:t>
                          </a:r>
                          <a:endParaRPr kumimoji="0" lang="en-CA" altLang="zh-CN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40</a:t>
                          </a:r>
                        </a:p>
                      </a:txBody>
                      <a:tcPr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3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/>
                            <a:ea typeface="宋体" pitchFamily="2" charset="-122"/>
                            <a:cs typeface="Times New Roman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0001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16</a:t>
                          </a:r>
                        </a:p>
                      </a:txBody>
                      <a:tcPr marT="45670" marB="45670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Times New Roman" pitchFamily="18" charset="0"/>
                              <a:cs typeface="Times New Roman" pitchFamily="18" charset="0"/>
                            </a:rPr>
                            <a:t>.16</a:t>
                          </a:r>
                          <a:endParaRPr lang="zh-CN" altLang="en-US" sz="20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1011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56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horzOverflow="overflow">
                        <a:blipFill>
                          <a:blip r:embed="rId3"/>
                          <a:stretch>
                            <a:fillRect l="-419307" t="-152400" r="-152970" b="-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None/>
                            <a:tabLst/>
                            <a:defRPr/>
                          </a:pPr>
                          <a:r>
                            <a:rPr lang="en-US" sz="2000" b="0" i="0" u="none" strike="noStrike" cap="none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1011</a:t>
                          </a:r>
                          <a:endParaRPr kumimoji="0" lang="zh-CN" altLang="en-US" dirty="0"/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56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/>
                            <a:ea typeface="宋体"/>
                            <a:cs typeface="Times New Roman"/>
                          </a:endParaRPr>
                        </a:p>
                      </a:txBody>
                      <a:tcPr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4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/>
                            <a:ea typeface="宋体" pitchFamily="2" charset="-122"/>
                            <a:cs typeface="Times New Roman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0000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1</a:t>
                          </a:r>
                        </a:p>
                      </a:txBody>
                      <a:tcPr marT="45670" marB="45670"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a:t>.01</a:t>
                          </a:r>
                        </a:p>
                      </a:txBody>
                      <a:tcPr marT="45670" marB="45670"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  <a:defRPr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0001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kumimoji="0" lang="en-US" altLang="zh-CN" sz="200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itchFamily="18" charset="0"/>
                              <a:cs typeface="Times New Roman" pitchFamily="18" charset="0"/>
                            </a:rPr>
                            <a:t>16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lv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0" i="0" u="none" strike="noStrike" cap="none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0001</a:t>
                          </a:r>
                        </a:p>
                      </a:txBody>
                      <a:tcPr anchor="ctr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itchFamily="2" charset="2"/>
                            <a:buNone/>
                            <a:tabLst/>
                          </a:pPr>
                          <a:r>
                            <a:rPr lang="en-CA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latin typeface="Times New Roman"/>
                              <a:ea typeface="宋体"/>
                              <a:cs typeface="Times New Roman"/>
                            </a:rPr>
                            <a:t>16</a:t>
                          </a:r>
                          <a:endParaRPr kumimoji="0" lang="en-CA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Times New Roman" pitchFamily="18" charset="0"/>
                            <a:ea typeface="宋体" pitchFamily="2" charset="-122"/>
                            <a:cs typeface="Times New Roman" pitchFamily="18" charset="0"/>
                          </a:endParaRPr>
                        </a:p>
                      </a:txBody>
                      <a:tcPr anchor="ctr" horzOverflow="overflow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Line 54">
            <a:extLst>
              <a:ext uri="{FF2B5EF4-FFF2-40B4-BE49-F238E27FC236}">
                <a16:creationId xmlns:a16="http://schemas.microsoft.com/office/drawing/2014/main" id="{373C8D35-F312-1A1F-BFEB-E8F6FE8F6E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7621" y="4583721"/>
            <a:ext cx="2558272" cy="65316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" name="Line 54">
            <a:extLst>
              <a:ext uri="{FF2B5EF4-FFF2-40B4-BE49-F238E27FC236}">
                <a16:creationId xmlns:a16="http://schemas.microsoft.com/office/drawing/2014/main" id="{24E135CA-CBE6-AD01-EFF2-099E5B8EB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7621" y="5734496"/>
            <a:ext cx="2558272" cy="65316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AB1470-368B-F6A0-CC2B-5BB559B28D27}"/>
              </a:ext>
            </a:extLst>
          </p:cNvPr>
          <p:cNvSpPr/>
          <p:nvPr/>
        </p:nvSpPr>
        <p:spPr>
          <a:xfrm>
            <a:off x="1472479" y="1747201"/>
            <a:ext cx="3275045" cy="42360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7">
            <a:extLst>
              <a:ext uri="{FF2B5EF4-FFF2-40B4-BE49-F238E27FC236}">
                <a16:creationId xmlns:a16="http://schemas.microsoft.com/office/drawing/2014/main" id="{887DFB1C-BCBC-9AFC-0DE8-6ED625AD3063}"/>
              </a:ext>
            </a:extLst>
          </p:cNvPr>
          <p:cNvSpPr/>
          <p:nvPr/>
        </p:nvSpPr>
        <p:spPr>
          <a:xfrm>
            <a:off x="2158857" y="1681884"/>
            <a:ext cx="1901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Times New Roman" pitchFamily="18" charset="0"/>
                <a:ea typeface="宋体" pitchFamily="2" charset="-122"/>
              </a:rPr>
              <a:t>Generation 0</a:t>
            </a:r>
          </a:p>
        </p:txBody>
      </p:sp>
      <p:sp>
        <p:nvSpPr>
          <p:cNvPr id="7" name="矩形 14">
            <a:extLst>
              <a:ext uri="{FF2B5EF4-FFF2-40B4-BE49-F238E27FC236}">
                <a16:creationId xmlns:a16="http://schemas.microsoft.com/office/drawing/2014/main" id="{ABFC7DC4-07EA-1BA4-98B4-F89AC5D68C9B}"/>
              </a:ext>
            </a:extLst>
          </p:cNvPr>
          <p:cNvSpPr/>
          <p:nvPr/>
        </p:nvSpPr>
        <p:spPr>
          <a:xfrm>
            <a:off x="4752186" y="1747201"/>
            <a:ext cx="5047864" cy="423609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6">
            <a:extLst>
              <a:ext uri="{FF2B5EF4-FFF2-40B4-BE49-F238E27FC236}">
                <a16:creationId xmlns:a16="http://schemas.microsoft.com/office/drawing/2014/main" id="{3BD16043-B749-1066-3220-2AAEE3F9B940}"/>
              </a:ext>
            </a:extLst>
          </p:cNvPr>
          <p:cNvSpPr/>
          <p:nvPr/>
        </p:nvSpPr>
        <p:spPr>
          <a:xfrm>
            <a:off x="6144410" y="1691215"/>
            <a:ext cx="1901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Generation 1</a:t>
            </a:r>
          </a:p>
        </p:txBody>
      </p:sp>
    </p:spTree>
    <p:extLst>
      <p:ext uri="{BB962C8B-B14F-4D97-AF65-F5344CB8AC3E}">
        <p14:creationId xmlns:p14="http://schemas.microsoft.com/office/powerpoint/2010/main" val="4270433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Crossover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1D5CB5-1CC9-3D47-D278-9859845F9FC0}"/>
              </a:ext>
            </a:extLst>
          </p:cNvPr>
          <p:cNvSpPr txBox="1"/>
          <p:nvPr/>
        </p:nvSpPr>
        <p:spPr>
          <a:xfrm>
            <a:off x="802696" y="1511554"/>
            <a:ext cx="36439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Effects of crossover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BFAD21D-3A30-A3F0-2C83-D46112185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034774"/>
            <a:ext cx="9763126" cy="428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It may increase or decrease the average fitness with a limited number of samples. </a:t>
            </a:r>
          </a:p>
          <a:p>
            <a:pPr marL="342900" indent="-342900" eaLnBrk="1" hangingPunct="1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Crossover increases diversity. 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q"/>
            </a:pP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4" name="表格 9">
            <a:extLst>
              <a:ext uri="{FF2B5EF4-FFF2-40B4-BE49-F238E27FC236}">
                <a16:creationId xmlns:a16="http://schemas.microsoft.com/office/drawing/2014/main" id="{2A3D68A2-FF16-6337-BDEF-E96FE52DE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9786"/>
              </p:ext>
            </p:extLst>
          </p:nvPr>
        </p:nvGraphicFramePr>
        <p:xfrm>
          <a:off x="2624669" y="3429000"/>
          <a:ext cx="5661080" cy="2510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56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8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746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57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Mating Pool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cross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0" i="1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cross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en-CA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61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0010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29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/>
                        <a:ea typeface="宋体" pitchFamily="2" charset="-122"/>
                        <a:cs typeface="Times New Roman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r>
                        <a:rPr kumimoji="0" lang="en-US" altLang="zh-CN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en-CA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40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  <a:defRPr/>
                      </a:pPr>
                      <a:r>
                        <a:rPr lang="en-US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1011</a:t>
                      </a:r>
                      <a:endParaRPr kumimoji="0" lang="zh-CN" altLang="en-US" dirty="0"/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56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16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0001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lang="en-CA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16</a:t>
                      </a:r>
                      <a:endParaRPr kumimoji="0" lang="en-CA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975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Crossover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9D3E6B3-06FD-D488-DD1A-09CD4367C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20" y="1194189"/>
            <a:ext cx="828516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1" hangingPunct="1">
              <a:defRPr/>
            </a:pPr>
            <a:r>
              <a:rPr lang="en-US" altLang="zh-CN" sz="2800" b="1" dirty="0">
                <a:latin typeface="Arial" panose="020B0604020202020204" pitchFamily="34" charset="0"/>
                <a:ea typeface="宋体" charset="-122"/>
                <a:cs typeface="Arial" panose="020B0604020202020204" pitchFamily="34" charset="0"/>
              </a:rPr>
              <a:t>Crossover &amp; Premature Convergence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BE520C1-AD4B-269E-1C87-81F746CA7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2789" y="2235764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 some cases, crossover cannot generate new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individuals, as shown below: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23DC6ABD-BA65-470A-8387-D56D21052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171" y="5445262"/>
            <a:ext cx="86336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zh-CN" sz="2400" b="1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Selection + crossover cannot solve the problem on some occasions. </a:t>
            </a:r>
            <a:endParaRPr lang="en-GB" altLang="zh-CN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ADDE00B-24CB-50FA-3119-560963F69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254795"/>
              </p:ext>
            </p:extLst>
          </p:nvPr>
        </p:nvGraphicFramePr>
        <p:xfrm>
          <a:off x="3441109" y="3278404"/>
          <a:ext cx="1811546" cy="1828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93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0 0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|</a:t>
                      </a:r>
                      <a:r>
                        <a:rPr lang="en-US" altLang="zh-CN" sz="2400" b="1" baseline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2400" b="1" dirty="0">
                          <a:solidFill>
                            <a:schemeClr val="accent1"/>
                          </a:solidFill>
                          <a:latin typeface="Times New Roman"/>
                          <a:cs typeface="Times New Roman"/>
                        </a:rPr>
                        <a:t>0 1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/>
                          <a:cs typeface="Times New Roman"/>
                        </a:rPr>
                        <a:t>0 0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| </a:t>
                      </a:r>
                      <a:r>
                        <a:rPr lang="en-US" altLang="zh-CN" sz="2400" b="1" dirty="0">
                          <a:solidFill>
                            <a:schemeClr val="accent2"/>
                          </a:solidFill>
                          <a:latin typeface="Times New Roman"/>
                          <a:cs typeface="Times New Roman"/>
                        </a:rPr>
                        <a:t>0 0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/>
                          <a:cs typeface="Times New Roman"/>
                        </a:rPr>
                        <a:t>0 0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1</a:t>
                      </a:r>
                      <a:r>
                        <a:rPr lang="en-US" altLang="zh-CN" sz="2400" b="1" dirty="0">
                          <a:solidFill>
                            <a:schemeClr val="accent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400" b="1" i="0" u="none" strike="noStrike" noProof="0" dirty="0">
                          <a:solidFill>
                            <a:srgbClr val="FF0000"/>
                          </a:solidFill>
                          <a:latin typeface="Times New Roman"/>
                        </a:rPr>
                        <a:t>| </a:t>
                      </a:r>
                      <a:r>
                        <a:rPr lang="en-US" altLang="zh-CN" sz="2400" b="1" dirty="0">
                          <a:solidFill>
                            <a:schemeClr val="accent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/>
                          <a:cs typeface="Times New Roman"/>
                        </a:rPr>
                        <a:t>0 0 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1 </a:t>
                      </a:r>
                      <a:r>
                        <a:rPr lang="en-US" sz="2400" b="1" i="0" u="none" strike="noStrike" noProof="0" dirty="0">
                          <a:solidFill>
                            <a:srgbClr val="FF0000"/>
                          </a:solidFill>
                          <a:latin typeface="Times New Roman"/>
                        </a:rPr>
                        <a:t>|</a:t>
                      </a:r>
                      <a:r>
                        <a:rPr lang="en-US" altLang="zh-CN" sz="2400" b="1" dirty="0">
                          <a:solidFill>
                            <a:schemeClr val="accent2"/>
                          </a:solidFill>
                          <a:latin typeface="Times New Roman"/>
                          <a:cs typeface="Times New Roman"/>
                        </a:rPr>
                        <a:t> 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表格 9">
            <a:extLst>
              <a:ext uri="{FF2B5EF4-FFF2-40B4-BE49-F238E27FC236}">
                <a16:creationId xmlns:a16="http://schemas.microsoft.com/office/drawing/2014/main" id="{27F978E5-68E8-0106-2FB5-1478AA4C4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33621"/>
              </p:ext>
            </p:extLst>
          </p:nvPr>
        </p:nvGraphicFramePr>
        <p:xfrm>
          <a:off x="6215412" y="3253523"/>
          <a:ext cx="1811546" cy="1828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93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0 0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|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2400" b="1" dirty="0">
                          <a:solidFill>
                            <a:schemeClr val="accent2"/>
                          </a:solidFill>
                          <a:latin typeface="Times New Roman"/>
                          <a:cs typeface="Times New Roman"/>
                        </a:rPr>
                        <a:t>0 0</a:t>
                      </a:r>
                      <a:endParaRPr lang="en-US" altLang="zh-CN" sz="2400" b="1" dirty="0">
                        <a:solidFill>
                          <a:schemeClr val="accent2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/>
                          <a:cs typeface="Times New Roman"/>
                        </a:rPr>
                        <a:t>0 0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|</a:t>
                      </a:r>
                      <a:r>
                        <a:rPr lang="en-US" altLang="zh-CN" sz="2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2400" b="1" dirty="0">
                          <a:solidFill>
                            <a:schemeClr val="accent1"/>
                          </a:solidFill>
                          <a:latin typeface="Times New Roman"/>
                          <a:cs typeface="Times New Roman"/>
                        </a:rPr>
                        <a:t>0 1</a:t>
                      </a:r>
                      <a:endParaRPr lang="en-US" altLang="zh-CN" sz="2400" b="1" dirty="0">
                        <a:solidFill>
                          <a:schemeClr val="accent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/>
                          <a:cs typeface="Times New Roman"/>
                        </a:rPr>
                        <a:t>0 0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lang="en-US" altLang="zh-CN" sz="2400" b="1" dirty="0">
                          <a:solidFill>
                            <a:schemeClr val="accent2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400" b="1" i="0" u="none" strike="noStrike" noProof="0" dirty="0">
                          <a:solidFill>
                            <a:srgbClr val="FF0000"/>
                          </a:solidFill>
                          <a:latin typeface="Times New Roman"/>
                        </a:rPr>
                        <a:t>|</a:t>
                      </a:r>
                      <a:r>
                        <a:rPr lang="en-US" sz="24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2400" b="1" i="0" u="none" strike="noStrike" noProof="0" dirty="0">
                          <a:solidFill>
                            <a:schemeClr val="accent2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lang="en-US" altLang="zh-CN" sz="2400" b="1" dirty="0">
                        <a:solidFill>
                          <a:schemeClr val="accent2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Times New Roman"/>
                          <a:cs typeface="Times New Roman"/>
                        </a:rPr>
                        <a:t>0 0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lang="en-US" altLang="zh-CN" sz="2400" b="1" dirty="0">
                          <a:solidFill>
                            <a:schemeClr val="accent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400" b="1" i="0" u="none" strike="noStrike" noProof="0" dirty="0">
                          <a:solidFill>
                            <a:srgbClr val="FF0000"/>
                          </a:solidFill>
                          <a:latin typeface="Times New Roman"/>
                        </a:rPr>
                        <a:t>| </a:t>
                      </a:r>
                      <a:r>
                        <a:rPr lang="en-US" sz="2400" b="1" i="0" u="none" strike="noStrike" noProof="0" dirty="0">
                          <a:solidFill>
                            <a:schemeClr val="accent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lang="en-US" altLang="zh-CN" sz="2400" b="1" dirty="0">
                        <a:solidFill>
                          <a:schemeClr val="accent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Line 54">
            <a:extLst>
              <a:ext uri="{FF2B5EF4-FFF2-40B4-BE49-F238E27FC236}">
                <a16:creationId xmlns:a16="http://schemas.microsoft.com/office/drawing/2014/main" id="{3D2AA7DB-F318-A1A3-EF23-33E886160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5489" y="3540371"/>
            <a:ext cx="867747" cy="41054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ine 54">
            <a:extLst>
              <a:ext uri="{FF2B5EF4-FFF2-40B4-BE49-F238E27FC236}">
                <a16:creationId xmlns:a16="http://schemas.microsoft.com/office/drawing/2014/main" id="{2ABF0415-B1C9-269D-BD76-C3824B2A96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5489" y="3540371"/>
            <a:ext cx="867747" cy="41054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Line 54">
            <a:extLst>
              <a:ext uri="{FF2B5EF4-FFF2-40B4-BE49-F238E27FC236}">
                <a16:creationId xmlns:a16="http://schemas.microsoft.com/office/drawing/2014/main" id="{8E19EF14-DEAD-B132-E68E-F57048913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5489" y="4523196"/>
            <a:ext cx="867747" cy="41054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ine 54">
            <a:extLst>
              <a:ext uri="{FF2B5EF4-FFF2-40B4-BE49-F238E27FC236}">
                <a16:creationId xmlns:a16="http://schemas.microsoft.com/office/drawing/2014/main" id="{1F1D3381-A872-DE55-DA9A-D0BB3BAED4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5489" y="4523196"/>
            <a:ext cx="867747" cy="41054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75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Mutation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E3175F2-E5D1-BF75-5F26-AAC5EB250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174" y="2647270"/>
            <a:ext cx="7772400" cy="4115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/>
          <a:p>
            <a:pPr marL="342900" indent="-342900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/>
                <a:ea typeface="宋体"/>
                <a:cs typeface="Arial"/>
              </a:rPr>
              <a:t>A small probability to mutate (</a:t>
            </a:r>
            <a:r>
              <a:rPr lang="en-US" altLang="zh-CN" sz="2400" i="1" dirty="0">
                <a:latin typeface="Arial"/>
                <a:ea typeface="宋体"/>
                <a:cs typeface="Arial"/>
              </a:rPr>
              <a:t>P</a:t>
            </a:r>
            <a:r>
              <a:rPr lang="en-US" altLang="zh-CN" sz="2400" i="1" baseline="-25000" dirty="0">
                <a:latin typeface="Arial"/>
                <a:ea typeface="宋体"/>
                <a:cs typeface="Arial"/>
              </a:rPr>
              <a:t>m</a:t>
            </a:r>
            <a:r>
              <a:rPr lang="en-US" altLang="zh-CN" sz="2400" dirty="0">
                <a:latin typeface="Arial"/>
                <a:ea typeface="宋体"/>
                <a:cs typeface="Arial"/>
                <a:sym typeface="Symbol" pitchFamily="18" charset="2"/>
              </a:rPr>
              <a:t> 0.001~0.01).</a:t>
            </a:r>
          </a:p>
          <a:p>
            <a:pPr marL="342900" indent="-342900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There are many mutation strategies.</a:t>
            </a:r>
          </a:p>
          <a:p>
            <a:pPr marL="342900" indent="-342900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In a binary string, with mutation rate,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P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m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, change a 0 to 1 or vice versa</a:t>
            </a:r>
          </a:p>
          <a:p>
            <a:pPr>
              <a:spcBef>
                <a:spcPct val="20000"/>
              </a:spcBef>
              <a:buSzPct val="80000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Generating new individuals (guaranteed).</a:t>
            </a: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SzPct val="80000"/>
            </a:pP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85B600-3C7A-3251-5835-5DA9C98D61C0}"/>
              </a:ext>
            </a:extLst>
          </p:cNvPr>
          <p:cNvSpPr/>
          <p:nvPr/>
        </p:nvSpPr>
        <p:spPr>
          <a:xfrm>
            <a:off x="1781174" y="1614770"/>
            <a:ext cx="68533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After crossover, a gene mutation occurs in one of the individuals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92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14BD47-FED7-45F9-A2AB-FB7D53D63325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117B4FB7-8C2F-4068-B6AD-FA5DED71A4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A26001-5A4A-4A7D-A56B-9383C771D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1887</TotalTime>
  <Words>660</Words>
  <Application>Microsoft Office PowerPoint</Application>
  <PresentationFormat>Widescreen</PresentationFormat>
  <Paragraphs>219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GA Crossover and Mutation</vt:lpstr>
      <vt:lpstr>The workflow of GA</vt:lpstr>
      <vt:lpstr>Crossover</vt:lpstr>
      <vt:lpstr>Crossover</vt:lpstr>
      <vt:lpstr>Crossover</vt:lpstr>
      <vt:lpstr>Crossover</vt:lpstr>
      <vt:lpstr>Crossover</vt:lpstr>
      <vt:lpstr>Crossover</vt:lpstr>
      <vt:lpstr>Crossover</vt:lpstr>
      <vt:lpstr>Crossover</vt:lpstr>
      <vt:lpstr>Crossover</vt:lpstr>
      <vt:lpstr>Mutation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74</cp:revision>
  <dcterms:created xsi:type="dcterms:W3CDTF">2021-01-06T14:22:07Z</dcterms:created>
  <dcterms:modified xsi:type="dcterms:W3CDTF">2024-10-22T05:56:24Z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