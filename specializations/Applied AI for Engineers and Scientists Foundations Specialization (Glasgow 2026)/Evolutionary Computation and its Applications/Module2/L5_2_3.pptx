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6" r:id="rId5"/>
    <p:sldId id="508" r:id="rId6"/>
    <p:sldId id="496" r:id="rId7"/>
    <p:sldId id="497" r:id="rId8"/>
    <p:sldId id="498" r:id="rId9"/>
    <p:sldId id="499" r:id="rId10"/>
    <p:sldId id="27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359" autoAdjust="0"/>
    <p:restoredTop sz="96327"/>
  </p:normalViewPr>
  <p:slideViewPr>
    <p:cSldViewPr snapToGrid="0">
      <p:cViewPr varScale="1">
        <p:scale>
          <a:sx n="136" d="100"/>
          <a:sy n="136" d="100"/>
        </p:scale>
        <p:origin x="96" y="532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7/2/2024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396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9443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1636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5705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02/07/2024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GA Stopping Criterion and Summary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The workflow of GA</a:t>
            </a:r>
          </a:p>
        </p:txBody>
      </p:sp>
      <p:cxnSp>
        <p:nvCxnSpPr>
          <p:cNvPr id="2" name="直接箭头连接符 2">
            <a:extLst>
              <a:ext uri="{FF2B5EF4-FFF2-40B4-BE49-F238E27FC236}">
                <a16:creationId xmlns:a16="http://schemas.microsoft.com/office/drawing/2014/main" id="{90500468-AA58-A7DD-4CF9-598B49883A05}"/>
              </a:ext>
            </a:extLst>
          </p:cNvPr>
          <p:cNvCxnSpPr/>
          <p:nvPr/>
        </p:nvCxnSpPr>
        <p:spPr>
          <a:xfrm>
            <a:off x="6451163" y="1608418"/>
            <a:ext cx="650223" cy="0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19">
            <a:extLst>
              <a:ext uri="{FF2B5EF4-FFF2-40B4-BE49-F238E27FC236}">
                <a16:creationId xmlns:a16="http://schemas.microsoft.com/office/drawing/2014/main" id="{E89764B2-714D-5C43-E7C3-F3CD542CDA93}"/>
              </a:ext>
            </a:extLst>
          </p:cNvPr>
          <p:cNvCxnSpPr/>
          <p:nvPr/>
        </p:nvCxnSpPr>
        <p:spPr>
          <a:xfrm flipV="1">
            <a:off x="6444829" y="2223068"/>
            <a:ext cx="656557" cy="1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28">
            <a:extLst>
              <a:ext uri="{FF2B5EF4-FFF2-40B4-BE49-F238E27FC236}">
                <a16:creationId xmlns:a16="http://schemas.microsoft.com/office/drawing/2014/main" id="{21714FE4-E45F-8782-CF39-C0F7F425279C}"/>
              </a:ext>
            </a:extLst>
          </p:cNvPr>
          <p:cNvCxnSpPr/>
          <p:nvPr/>
        </p:nvCxnSpPr>
        <p:spPr>
          <a:xfrm flipV="1">
            <a:off x="6469492" y="2904773"/>
            <a:ext cx="631894" cy="2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29">
            <a:extLst>
              <a:ext uri="{FF2B5EF4-FFF2-40B4-BE49-F238E27FC236}">
                <a16:creationId xmlns:a16="http://schemas.microsoft.com/office/drawing/2014/main" id="{E4EB5F16-50B7-B65F-6F01-C5B6E289FD93}"/>
              </a:ext>
            </a:extLst>
          </p:cNvPr>
          <p:cNvCxnSpPr/>
          <p:nvPr/>
        </p:nvCxnSpPr>
        <p:spPr>
          <a:xfrm flipV="1">
            <a:off x="6451562" y="3473049"/>
            <a:ext cx="631894" cy="2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6">
            <a:extLst>
              <a:ext uri="{FF2B5EF4-FFF2-40B4-BE49-F238E27FC236}">
                <a16:creationId xmlns:a16="http://schemas.microsoft.com/office/drawing/2014/main" id="{D7902F2B-F464-4BD8-BD0D-7EACEA10F1A4}"/>
              </a:ext>
            </a:extLst>
          </p:cNvPr>
          <p:cNvSpPr/>
          <p:nvPr/>
        </p:nvSpPr>
        <p:spPr>
          <a:xfrm>
            <a:off x="7181717" y="1341735"/>
            <a:ext cx="20506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={</a:t>
            </a:r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400" baseline="30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, …, </a:t>
            </a:r>
            <a:r>
              <a:rPr lang="en-US" altLang="zh-CN" sz="2400" i="1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400" i="1" baseline="30000" dirty="0" err="1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}</a:t>
            </a:r>
            <a:endParaRPr lang="zh-CN" altLang="en-US" sz="2400" dirty="0"/>
          </a:p>
        </p:txBody>
      </p:sp>
      <p:sp>
        <p:nvSpPr>
          <p:cNvPr id="7" name="矩形 30">
            <a:extLst>
              <a:ext uri="{FF2B5EF4-FFF2-40B4-BE49-F238E27FC236}">
                <a16:creationId xmlns:a16="http://schemas.microsoft.com/office/drawing/2014/main" id="{980544B9-71DC-E4A0-4EE1-22EE685D4571}"/>
              </a:ext>
            </a:extLst>
          </p:cNvPr>
          <p:cNvSpPr/>
          <p:nvPr/>
        </p:nvSpPr>
        <p:spPr>
          <a:xfrm>
            <a:off x="7111973" y="1910560"/>
            <a:ext cx="314331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i="1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400" i="1" baseline="-25000" dirty="0" err="1">
                <a:latin typeface="Times New Roman" pitchFamily="18" charset="0"/>
                <a:cs typeface="Times New Roman" pitchFamily="18" charset="0"/>
              </a:rPr>
              <a:t>mat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={</a:t>
            </a:r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400" baseline="30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sz="2400" i="1" baseline="-25000" dirty="0">
                <a:latin typeface="Times New Roman" pitchFamily="18" charset="0"/>
                <a:cs typeface="Times New Roman" pitchFamily="18" charset="0"/>
              </a:rPr>
              <a:t>mat 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, …, </a:t>
            </a:r>
            <a:r>
              <a:rPr lang="en-US" altLang="zh-CN" sz="2400" i="1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400" i="1" baseline="30000" dirty="0" err="1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CN" sz="2400" i="1" baseline="-25000" dirty="0" err="1">
                <a:latin typeface="Times New Roman" pitchFamily="18" charset="0"/>
                <a:cs typeface="Times New Roman" pitchFamily="18" charset="0"/>
              </a:rPr>
              <a:t>mat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}</a:t>
            </a:r>
            <a:endParaRPr lang="zh-CN" altLang="en-US" sz="2400" dirty="0"/>
          </a:p>
          <a:p>
            <a:endParaRPr lang="zh-CN" altLang="en-US" sz="2400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矩形 31">
            <a:extLst>
              <a:ext uri="{FF2B5EF4-FFF2-40B4-BE49-F238E27FC236}">
                <a16:creationId xmlns:a16="http://schemas.microsoft.com/office/drawing/2014/main" id="{83C556B0-9E3D-6C30-70FB-017EC80E4F16}"/>
              </a:ext>
            </a:extLst>
          </p:cNvPr>
          <p:cNvSpPr/>
          <p:nvPr/>
        </p:nvSpPr>
        <p:spPr>
          <a:xfrm>
            <a:off x="7136906" y="2576793"/>
            <a:ext cx="321912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i="1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400" i="1" baseline="-25000" dirty="0" err="1">
                <a:latin typeface="Times New Roman" pitchFamily="18" charset="0"/>
                <a:cs typeface="Times New Roman" pitchFamily="18" charset="0"/>
              </a:rPr>
              <a:t>cross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={</a:t>
            </a:r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400" baseline="30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sz="2400" i="1" baseline="-25000" dirty="0">
                <a:latin typeface="Times New Roman" pitchFamily="18" charset="0"/>
                <a:cs typeface="Times New Roman" pitchFamily="18" charset="0"/>
              </a:rPr>
              <a:t>cross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, …, </a:t>
            </a:r>
            <a:r>
              <a:rPr lang="en-US" altLang="zh-CN" sz="2400" i="1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400" i="1" baseline="30000" dirty="0" err="1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CN" sz="2400" i="1" baseline="-25000" dirty="0" err="1">
                <a:latin typeface="Times New Roman" pitchFamily="18" charset="0"/>
                <a:cs typeface="Times New Roman" pitchFamily="18" charset="0"/>
              </a:rPr>
              <a:t>cross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}</a:t>
            </a:r>
            <a:endParaRPr lang="zh-CN" altLang="en-US" sz="2400" dirty="0"/>
          </a:p>
          <a:p>
            <a:endParaRPr lang="zh-CN" altLang="en-US" sz="2400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矩形 33">
            <a:extLst>
              <a:ext uri="{FF2B5EF4-FFF2-40B4-BE49-F238E27FC236}">
                <a16:creationId xmlns:a16="http://schemas.microsoft.com/office/drawing/2014/main" id="{947F0882-9300-D23D-BEDE-4ADFBD0C036A}"/>
              </a:ext>
            </a:extLst>
          </p:cNvPr>
          <p:cNvSpPr/>
          <p:nvPr/>
        </p:nvSpPr>
        <p:spPr>
          <a:xfrm>
            <a:off x="7163786" y="3197403"/>
            <a:ext cx="323630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i="1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400" i="1" baseline="-25000" dirty="0" err="1">
                <a:latin typeface="Times New Roman" pitchFamily="18" charset="0"/>
                <a:cs typeface="Times New Roman" pitchFamily="18" charset="0"/>
              </a:rPr>
              <a:t>mut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={</a:t>
            </a:r>
            <a:r>
              <a:rPr lang="en-US" altLang="zh-CN" sz="24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400" baseline="30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sz="2400" i="1" baseline="-25000" dirty="0">
                <a:latin typeface="Times New Roman" pitchFamily="18" charset="0"/>
                <a:cs typeface="Times New Roman" pitchFamily="18" charset="0"/>
              </a:rPr>
              <a:t>mut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, …, </a:t>
            </a:r>
            <a:r>
              <a:rPr lang="en-US" altLang="zh-CN" sz="2400" i="1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400" i="1" baseline="30000" dirty="0" err="1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CN" sz="2400" i="1" baseline="-25000" dirty="0" err="1">
                <a:latin typeface="Times New Roman" pitchFamily="18" charset="0"/>
                <a:cs typeface="Times New Roman" pitchFamily="18" charset="0"/>
              </a:rPr>
              <a:t>mut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}</a:t>
            </a:r>
            <a:endParaRPr lang="zh-CN" altLang="en-US" sz="2400" dirty="0"/>
          </a:p>
          <a:p>
            <a:endParaRPr lang="zh-CN" altLang="en-US" sz="2400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矩形 35">
            <a:extLst>
              <a:ext uri="{FF2B5EF4-FFF2-40B4-BE49-F238E27FC236}">
                <a16:creationId xmlns:a16="http://schemas.microsoft.com/office/drawing/2014/main" id="{63563E43-4050-1F6A-51E0-8C7A073BD6BC}"/>
              </a:ext>
            </a:extLst>
          </p:cNvPr>
          <p:cNvSpPr/>
          <p:nvPr/>
        </p:nvSpPr>
        <p:spPr>
          <a:xfrm>
            <a:off x="3183701" y="1422400"/>
            <a:ext cx="3276600" cy="3899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Initialization </a:t>
            </a:r>
            <a:endParaRPr lang="zh-CN" alt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矩形 36">
            <a:extLst>
              <a:ext uri="{FF2B5EF4-FFF2-40B4-BE49-F238E27FC236}">
                <a16:creationId xmlns:a16="http://schemas.microsoft.com/office/drawing/2014/main" id="{B68D89DE-8FA5-9025-288D-F3A78A2F9551}"/>
              </a:ext>
            </a:extLst>
          </p:cNvPr>
          <p:cNvSpPr/>
          <p:nvPr/>
        </p:nvSpPr>
        <p:spPr>
          <a:xfrm>
            <a:off x="3183701" y="2049923"/>
            <a:ext cx="3276600" cy="3899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Selection</a:t>
            </a:r>
            <a:endParaRPr lang="zh-CN" alt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菱形 37">
            <a:extLst>
              <a:ext uri="{FF2B5EF4-FFF2-40B4-BE49-F238E27FC236}">
                <a16:creationId xmlns:a16="http://schemas.microsoft.com/office/drawing/2014/main" id="{714086EE-D797-64D3-53E9-B8973CBF53C1}"/>
              </a:ext>
            </a:extLst>
          </p:cNvPr>
          <p:cNvSpPr/>
          <p:nvPr/>
        </p:nvSpPr>
        <p:spPr>
          <a:xfrm>
            <a:off x="2692768" y="4544381"/>
            <a:ext cx="4258235" cy="1292017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Termination conditions?</a:t>
            </a:r>
            <a:endParaRPr lang="zh-CN" alt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矩形 38">
            <a:extLst>
              <a:ext uri="{FF2B5EF4-FFF2-40B4-BE49-F238E27FC236}">
                <a16:creationId xmlns:a16="http://schemas.microsoft.com/office/drawing/2014/main" id="{F63E2DE5-A3CC-9CAC-19F7-928EC8CAA5E8}"/>
              </a:ext>
            </a:extLst>
          </p:cNvPr>
          <p:cNvSpPr/>
          <p:nvPr/>
        </p:nvSpPr>
        <p:spPr>
          <a:xfrm>
            <a:off x="3174620" y="6143426"/>
            <a:ext cx="3276600" cy="3899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Save the optimal solution</a:t>
            </a:r>
            <a:endParaRPr lang="zh-CN" alt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5" name="直接箭头连接符 39">
            <a:extLst>
              <a:ext uri="{FF2B5EF4-FFF2-40B4-BE49-F238E27FC236}">
                <a16:creationId xmlns:a16="http://schemas.microsoft.com/office/drawing/2014/main" id="{DE3627F3-80EC-1724-F3A2-36BC68B89BC8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>
            <a:off x="4822001" y="1812365"/>
            <a:ext cx="0" cy="237558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40">
            <a:extLst>
              <a:ext uri="{FF2B5EF4-FFF2-40B4-BE49-F238E27FC236}">
                <a16:creationId xmlns:a16="http://schemas.microsoft.com/office/drawing/2014/main" id="{0A63A029-8286-6106-C868-AE1176493F54}"/>
              </a:ext>
            </a:extLst>
          </p:cNvPr>
          <p:cNvCxnSpPr>
            <a:stCxn id="12" idx="2"/>
            <a:endCxn id="20" idx="0"/>
          </p:cNvCxnSpPr>
          <p:nvPr/>
        </p:nvCxnSpPr>
        <p:spPr>
          <a:xfrm flipH="1">
            <a:off x="4821886" y="2439888"/>
            <a:ext cx="115" cy="246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41">
            <a:extLst>
              <a:ext uri="{FF2B5EF4-FFF2-40B4-BE49-F238E27FC236}">
                <a16:creationId xmlns:a16="http://schemas.microsoft.com/office/drawing/2014/main" id="{4E815E8C-E513-B602-E1FB-FBD291F699E6}"/>
              </a:ext>
            </a:extLst>
          </p:cNvPr>
          <p:cNvCxnSpPr>
            <a:stCxn id="22" idx="2"/>
            <a:endCxn id="13" idx="0"/>
          </p:cNvCxnSpPr>
          <p:nvPr/>
        </p:nvCxnSpPr>
        <p:spPr>
          <a:xfrm flipH="1">
            <a:off x="4821886" y="4285507"/>
            <a:ext cx="4894" cy="25887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42">
            <a:extLst>
              <a:ext uri="{FF2B5EF4-FFF2-40B4-BE49-F238E27FC236}">
                <a16:creationId xmlns:a16="http://schemas.microsoft.com/office/drawing/2014/main" id="{E9BF91B5-9C0D-E850-08BF-2210413993E9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 flipH="1">
            <a:off x="4812920" y="5836398"/>
            <a:ext cx="8966" cy="307028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肘形连接符 43">
            <a:extLst>
              <a:ext uri="{FF2B5EF4-FFF2-40B4-BE49-F238E27FC236}">
                <a16:creationId xmlns:a16="http://schemas.microsoft.com/office/drawing/2014/main" id="{0DE44692-08E3-31A6-B91A-A4FCFDF0461C}"/>
              </a:ext>
            </a:extLst>
          </p:cNvPr>
          <p:cNvCxnSpPr>
            <a:stCxn id="13" idx="1"/>
            <a:endCxn id="12" idx="1"/>
          </p:cNvCxnSpPr>
          <p:nvPr/>
        </p:nvCxnSpPr>
        <p:spPr>
          <a:xfrm rot="10800000" flipH="1">
            <a:off x="2692767" y="2244906"/>
            <a:ext cx="490933" cy="2945484"/>
          </a:xfrm>
          <a:prstGeom prst="bentConnector3">
            <a:avLst>
              <a:gd name="adj1" fmla="val -46564"/>
            </a:avLst>
          </a:prstGeom>
          <a:ln w="19050">
            <a:solidFill>
              <a:schemeClr val="tx1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44">
            <a:extLst>
              <a:ext uri="{FF2B5EF4-FFF2-40B4-BE49-F238E27FC236}">
                <a16:creationId xmlns:a16="http://schemas.microsoft.com/office/drawing/2014/main" id="{6C3EEA09-2B40-5834-A94A-E8F7597A3ABB}"/>
              </a:ext>
            </a:extLst>
          </p:cNvPr>
          <p:cNvSpPr/>
          <p:nvPr/>
        </p:nvSpPr>
        <p:spPr>
          <a:xfrm>
            <a:off x="3183586" y="2686804"/>
            <a:ext cx="3276600" cy="3899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Crossover</a:t>
            </a:r>
            <a:endParaRPr lang="zh-CN" alt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矩形 45">
            <a:extLst>
              <a:ext uri="{FF2B5EF4-FFF2-40B4-BE49-F238E27FC236}">
                <a16:creationId xmlns:a16="http://schemas.microsoft.com/office/drawing/2014/main" id="{F9392BB3-CD72-7EC8-2FD5-131363987C55}"/>
              </a:ext>
            </a:extLst>
          </p:cNvPr>
          <p:cNvSpPr/>
          <p:nvPr/>
        </p:nvSpPr>
        <p:spPr>
          <a:xfrm>
            <a:off x="3188480" y="3287033"/>
            <a:ext cx="3276600" cy="3899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Mutation</a:t>
            </a:r>
            <a:endParaRPr lang="zh-CN" alt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矩形 46">
            <a:extLst>
              <a:ext uri="{FF2B5EF4-FFF2-40B4-BE49-F238E27FC236}">
                <a16:creationId xmlns:a16="http://schemas.microsoft.com/office/drawing/2014/main" id="{C04D11AA-4060-37A2-A30C-4285E4419418}"/>
              </a:ext>
            </a:extLst>
          </p:cNvPr>
          <p:cNvSpPr/>
          <p:nvPr/>
        </p:nvSpPr>
        <p:spPr>
          <a:xfrm>
            <a:off x="3188480" y="3895542"/>
            <a:ext cx="3276600" cy="3899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Replacement</a:t>
            </a:r>
            <a:endParaRPr lang="zh-CN" altLang="en-US" sz="20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3" name="直接箭头连接符 47">
            <a:extLst>
              <a:ext uri="{FF2B5EF4-FFF2-40B4-BE49-F238E27FC236}">
                <a16:creationId xmlns:a16="http://schemas.microsoft.com/office/drawing/2014/main" id="{3D7D6468-3645-DE94-55F7-1575AF96F9D2}"/>
              </a:ext>
            </a:extLst>
          </p:cNvPr>
          <p:cNvCxnSpPr>
            <a:stCxn id="20" idx="2"/>
            <a:endCxn id="21" idx="0"/>
          </p:cNvCxnSpPr>
          <p:nvPr/>
        </p:nvCxnSpPr>
        <p:spPr>
          <a:xfrm>
            <a:off x="4821886" y="3076769"/>
            <a:ext cx="4894" cy="21026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48">
            <a:extLst>
              <a:ext uri="{FF2B5EF4-FFF2-40B4-BE49-F238E27FC236}">
                <a16:creationId xmlns:a16="http://schemas.microsoft.com/office/drawing/2014/main" id="{8C779DD6-22C5-9D06-C688-6E5E61244B0E}"/>
              </a:ext>
            </a:extLst>
          </p:cNvPr>
          <p:cNvCxnSpPr>
            <a:stCxn id="21" idx="2"/>
            <a:endCxn id="22" idx="0"/>
          </p:cNvCxnSpPr>
          <p:nvPr/>
        </p:nvCxnSpPr>
        <p:spPr>
          <a:xfrm>
            <a:off x="4826780" y="3676998"/>
            <a:ext cx="0" cy="21854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EC76032-1AB8-415E-8EE5-0A6FCC5D48E6}"/>
              </a:ext>
            </a:extLst>
          </p:cNvPr>
          <p:cNvSpPr txBox="1"/>
          <p:nvPr/>
        </p:nvSpPr>
        <p:spPr>
          <a:xfrm>
            <a:off x="1876005" y="3599929"/>
            <a:ext cx="490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EF60D7B-7C5F-2921-73A1-BE0D7B8CF933}"/>
              </a:ext>
            </a:extLst>
          </p:cNvPr>
          <p:cNvSpPr txBox="1"/>
          <p:nvPr/>
        </p:nvSpPr>
        <p:spPr>
          <a:xfrm>
            <a:off x="5205223" y="5758130"/>
            <a:ext cx="518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875068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Stopping condition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8CB83FC4-F539-BC40-3739-F77F4A734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129" y="1802232"/>
            <a:ext cx="9678437" cy="39720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If the </a:t>
            </a: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stopping condition 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is not met, the 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GA continues to produce new generations.</a:t>
            </a:r>
          </a:p>
          <a:p>
            <a:pPr marL="457200" indent="-457200">
              <a:spcBef>
                <a:spcPct val="20000"/>
              </a:spcBef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457200" indent="-457200" eaLnBrk="1" hangingPunct="1">
              <a:spcBef>
                <a:spcPct val="20000"/>
              </a:spcBef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Some</a:t>
            </a:r>
            <a:r>
              <a:rPr lang="en-US" altLang="zh-CN" sz="2400" b="1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stopping conditions:</a:t>
            </a:r>
          </a:p>
          <a:p>
            <a:pPr marL="914400" lvl="1" indent="-457200" eaLnBrk="1" hangingPunct="1">
              <a:spcBef>
                <a:spcPct val="20000"/>
              </a:spcBef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Maximum number of generations</a:t>
            </a:r>
          </a:p>
          <a:p>
            <a:pPr marL="914400" lvl="1" indent="-457200" eaLnBrk="1" hangingPunct="1">
              <a:spcBef>
                <a:spcPct val="20000"/>
              </a:spcBef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Satisfactory solution obtained </a:t>
            </a:r>
            <a:endParaRPr lang="en-US" altLang="zh-CN" sz="2400" dirty="0">
              <a:solidFill>
                <a:schemeClr val="tx1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914400" lvl="1" indent="-457200">
              <a:spcBef>
                <a:spcPct val="20000"/>
              </a:spcBef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The population converges </a:t>
            </a:r>
          </a:p>
        </p:txBody>
      </p:sp>
    </p:spTree>
    <p:extLst>
      <p:ext uri="{BB962C8B-B14F-4D97-AF65-F5344CB8AC3E}">
        <p14:creationId xmlns:p14="http://schemas.microsoft.com/office/powerpoint/2010/main" val="2040352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Evolution mechanism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CC3541-2707-0C2E-D623-03D4A70EB288}"/>
              </a:ext>
            </a:extLst>
          </p:cNvPr>
          <p:cNvSpPr txBox="1"/>
          <p:nvPr/>
        </p:nvSpPr>
        <p:spPr>
          <a:xfrm>
            <a:off x="705349" y="2230372"/>
            <a:ext cx="5235905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Crossover and mutation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Increase the population diversity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Has nothing to do with the fitness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2400" i="0" dirty="0">
                <a:latin typeface="Arial" panose="020B0604020202020204" pitchFamily="34" charset="0"/>
                <a:cs typeface="Arial" panose="020B0604020202020204" pitchFamily="34" charset="0"/>
              </a:rPr>
              <a:t>Focus on generating new individuals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643329-8B8C-2E69-5576-CF97861B354A}"/>
              </a:ext>
            </a:extLst>
          </p:cNvPr>
          <p:cNvSpPr txBox="1"/>
          <p:nvPr/>
        </p:nvSpPr>
        <p:spPr>
          <a:xfrm>
            <a:off x="6316392" y="2230372"/>
            <a:ext cx="4998722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Selection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Decrease the population diversity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Increase the fitness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2400" i="0" dirty="0">
                <a:latin typeface="Arial" panose="020B0604020202020204" pitchFamily="34" charset="0"/>
                <a:cs typeface="Arial" panose="020B0604020202020204" pitchFamily="34" charset="0"/>
              </a:rPr>
              <a:t>Focus on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entering </a:t>
            </a:r>
            <a:r>
              <a:rPr lang="en-US" altLang="zh-CN" sz="2400" i="0" dirty="0">
                <a:latin typeface="Arial" panose="020B0604020202020204" pitchFamily="34" charset="0"/>
                <a:cs typeface="Arial" panose="020B0604020202020204" pitchFamily="34" charset="0"/>
              </a:rPr>
              <a:t>promising areas</a:t>
            </a:r>
          </a:p>
        </p:txBody>
      </p:sp>
    </p:spTree>
    <p:extLst>
      <p:ext uri="{BB962C8B-B14F-4D97-AF65-F5344CB8AC3E}">
        <p14:creationId xmlns:p14="http://schemas.microsoft.com/office/powerpoint/2010/main" val="353342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US" dirty="0"/>
              <a:t>Advantages and disadvantages of GAs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37D4EA-0D35-E229-06F4-B07B4C675562}"/>
              </a:ext>
            </a:extLst>
          </p:cNvPr>
          <p:cNvSpPr txBox="1"/>
          <p:nvPr/>
        </p:nvSpPr>
        <p:spPr>
          <a:xfrm>
            <a:off x="919622" y="1668021"/>
            <a:ext cx="45284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Advantages of GAs:</a:t>
            </a:r>
            <a:endParaRPr lang="en-US" sz="2800" b="1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678A273-2CB6-6C93-783F-5A6E0E6DBDF0}"/>
              </a:ext>
            </a:extLst>
          </p:cNvPr>
          <p:cNvSpPr txBox="1">
            <a:spLocks noChangeArrowheads="1"/>
          </p:cNvSpPr>
          <p:nvPr/>
        </p:nvSpPr>
        <p:spPr>
          <a:xfrm>
            <a:off x="982341" y="2436862"/>
            <a:ext cx="9714608" cy="3529579"/>
          </a:xfrm>
          <a:prstGeom prst="rect">
            <a:avLst/>
          </a:prstGeom>
          <a:noFill/>
        </p:spPr>
        <p:txBody>
          <a:bodyPr lIns="90488" tIns="44450" rIns="90488" bIns="4445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1200"/>
              </a:spcBef>
            </a:pPr>
            <a:r>
              <a:rPr lang="en-US" altLang="zh-CN" dirty="0">
                <a:solidFill>
                  <a:schemeClr val="tx1"/>
                </a:solidFill>
                <a:ea typeface="宋体" pitchFamily="2" charset="-122"/>
              </a:rPr>
              <a:t>It is a general optimization method, which is independent of the problem domain.</a:t>
            </a:r>
          </a:p>
          <a:p>
            <a:pPr marL="342900" indent="-342900">
              <a:spcBef>
                <a:spcPts val="1200"/>
              </a:spcBef>
            </a:pPr>
            <a:r>
              <a:rPr lang="en-US" altLang="zh-CN" dirty="0">
                <a:solidFill>
                  <a:schemeClr val="tx1"/>
                </a:solidFill>
                <a:ea typeface="宋体" pitchFamily="2" charset="-122"/>
              </a:rPr>
              <a:t>The use of population; candidate solutions in a population can be evaluated in parallel. </a:t>
            </a:r>
          </a:p>
          <a:p>
            <a:pPr marL="342900" indent="-342900">
              <a:spcBef>
                <a:spcPts val="1200"/>
              </a:spcBef>
            </a:pPr>
            <a:r>
              <a:rPr lang="en-US" altLang="zh-CN" dirty="0">
                <a:solidFill>
                  <a:schemeClr val="tx1"/>
                </a:solidFill>
                <a:ea typeface="宋体" pitchFamily="2" charset="-122"/>
              </a:rPr>
              <a:t>It has the ability to generate various kinds of optimal solutions.</a:t>
            </a:r>
          </a:p>
          <a:p>
            <a:pPr marL="342900" indent="-342900">
              <a:spcBef>
                <a:spcPts val="1200"/>
              </a:spcBef>
            </a:pPr>
            <a:r>
              <a:rPr lang="en-US" altLang="zh-CN" dirty="0">
                <a:solidFill>
                  <a:schemeClr val="tx1"/>
                </a:solidFill>
                <a:ea typeface="宋体" pitchFamily="2" charset="-122"/>
              </a:rPr>
              <a:t>The process is not difficult to implement. </a:t>
            </a:r>
          </a:p>
        </p:txBody>
      </p:sp>
    </p:spTree>
    <p:extLst>
      <p:ext uri="{BB962C8B-B14F-4D97-AF65-F5344CB8AC3E}">
        <p14:creationId xmlns:p14="http://schemas.microsoft.com/office/powerpoint/2010/main" val="1805558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US" dirty="0"/>
              <a:t>Advantages and disadvantages of GAs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ADE3F6A9-66B2-5211-40AB-2C2E5525EA95}"/>
              </a:ext>
            </a:extLst>
          </p:cNvPr>
          <p:cNvSpPr txBox="1">
            <a:spLocks noChangeArrowheads="1"/>
          </p:cNvSpPr>
          <p:nvPr/>
        </p:nvSpPr>
        <p:spPr>
          <a:xfrm>
            <a:off x="1100142" y="2380879"/>
            <a:ext cx="8751882" cy="41148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solidFill>
                  <a:schemeClr val="tx1"/>
                </a:solidFill>
              </a:rPr>
              <a:t>It may not obtain a very high-quality optimal solution.  </a:t>
            </a:r>
          </a:p>
          <a:p>
            <a:pPr marL="342900" indent="-342900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solidFill>
                  <a:schemeClr val="tx1"/>
                </a:solidFill>
              </a:rPr>
              <a:t>The algorithm has several parameters, and the selection of these parameters affects the quality of the solution.</a:t>
            </a:r>
          </a:p>
          <a:p>
            <a:pPr marL="342900" indent="-342900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solidFill>
                  <a:schemeClr val="tx1"/>
                </a:solidFill>
              </a:rPr>
              <a:t>It is not fast.</a:t>
            </a:r>
            <a:endParaRPr lang="en-GB" altLang="zh-CN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6AE6CE-6533-F095-6D0D-A9BAE979FA04}"/>
              </a:ext>
            </a:extLst>
          </p:cNvPr>
          <p:cNvSpPr txBox="1"/>
          <p:nvPr/>
        </p:nvSpPr>
        <p:spPr>
          <a:xfrm>
            <a:off x="919622" y="1668021"/>
            <a:ext cx="45284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Disadvantages of GAs:</a:t>
            </a:r>
            <a:endParaRPr lang="en-US" sz="2800" b="1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5762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8CBB4CF-8D40-4E74-B312-CC1A84A2FB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5201581-EA7B-4416-BC13-DB70E9142767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3.xml><?xml version="1.0" encoding="utf-8"?>
<ds:datastoreItem xmlns:ds="http://schemas.openxmlformats.org/officeDocument/2006/customXml" ds:itemID="{214E73C5-EC1F-46EA-BBAD-5CA9723C0B3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1966</TotalTime>
  <Words>241</Words>
  <Application>Microsoft Office PowerPoint</Application>
  <PresentationFormat>Widescreen</PresentationFormat>
  <Paragraphs>54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宋体</vt:lpstr>
      <vt:lpstr>Arial</vt:lpstr>
      <vt:lpstr>Calibri</vt:lpstr>
      <vt:lpstr>Times New Roman</vt:lpstr>
      <vt:lpstr>Office Theme</vt:lpstr>
      <vt:lpstr>GA Stopping Criterion and Summary</vt:lpstr>
      <vt:lpstr>The workflow of GA</vt:lpstr>
      <vt:lpstr>Stopping condition</vt:lpstr>
      <vt:lpstr>Evolution mechanism</vt:lpstr>
      <vt:lpstr>Advantages and disadvantages of GAs</vt:lpstr>
      <vt:lpstr>Advantages and disadvantages of GAs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Bo Liu</cp:lastModifiedBy>
  <cp:revision>58</cp:revision>
  <dcterms:created xsi:type="dcterms:W3CDTF">2021-01-06T14:22:07Z</dcterms:created>
  <dcterms:modified xsi:type="dcterms:W3CDTF">2024-07-02T14:28:44Z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</Properties>
</file>