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494" r:id="rId6"/>
    <p:sldId id="498" r:id="rId7"/>
    <p:sldId id="499" r:id="rId8"/>
    <p:sldId id="496" r:id="rId9"/>
    <p:sldId id="497" r:id="rId10"/>
    <p:sldId id="500" r:id="rId11"/>
    <p:sldId id="501" r:id="rId12"/>
    <p:sldId id="502" r:id="rId13"/>
    <p:sldId id="503" r:id="rId14"/>
    <p:sldId id="504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670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64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772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3884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476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722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6874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2503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315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02/07/2024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fu.ca/~ssurjano/optimization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al-roomi.org/multimedia/CEC_Database/CEC2009/MultiObjectiveEA/CEC2009_MultiObjectiveEA_TechnicalReport.pdf" TargetMode="External"/><Relationship Id="rId4" Type="http://schemas.openxmlformats.org/officeDocument/2006/relationships/hyperlink" Target="http://www-optima.amp.i.kyoto-u.ac.jp/member/student/hedar/Hedar_files/TestGO.htm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7826" y="1516610"/>
            <a:ext cx="6591531" cy="78970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Use Genetic Algorithm via MATLAB: Employ the Function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52007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Mathematical benchmark problems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F228F01-A50A-F0C7-4282-F3521BBA4440}"/>
              </a:ext>
            </a:extLst>
          </p:cNvPr>
          <p:cNvSpPr txBox="1">
            <a:spLocks noChangeArrowheads="1"/>
          </p:cNvSpPr>
          <p:nvPr/>
        </p:nvSpPr>
        <p:spPr>
          <a:xfrm>
            <a:off x="616845" y="1923235"/>
            <a:ext cx="10225326" cy="396438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800"/>
              </a:spcBef>
              <a:buNone/>
            </a:pPr>
            <a:r>
              <a:rPr lang="en-GB" altLang="zh-CN" b="1" dirty="0">
                <a:solidFill>
                  <a:schemeClr val="tx1"/>
                </a:solidFill>
                <a:ea typeface="宋体" pitchFamily="2" charset="-122"/>
              </a:rPr>
              <a:t>Mathematical benchmark problems </a:t>
            </a:r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are used </a:t>
            </a:r>
            <a:r>
              <a:rPr lang="en-GB" altLang="zh-CN" b="1" dirty="0">
                <a:solidFill>
                  <a:schemeClr val="tx1"/>
                </a:solidFill>
                <a:ea typeface="宋体" pitchFamily="2" charset="-122"/>
              </a:rPr>
              <a:t>to test the performance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 of an algorithm before using it to engineering problems.</a:t>
            </a:r>
            <a:endParaRPr lang="en-GB" altLang="zh-CN" b="1" dirty="0">
              <a:solidFill>
                <a:schemeClr val="tx1"/>
              </a:solidFill>
              <a:ea typeface="宋体" pitchFamily="2" charset="-122"/>
            </a:endParaRPr>
          </a:p>
          <a:p>
            <a:pPr lvl="1" indent="-342900">
              <a:spcBef>
                <a:spcPts val="1800"/>
              </a:spcBef>
            </a:pP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Problems with various characteristics (unimodal, multimodal, many variables, various shape, etc.).</a:t>
            </a:r>
          </a:p>
          <a:p>
            <a:pPr lvl="1" indent="-342900">
              <a:spcBef>
                <a:spcPts val="1800"/>
              </a:spcBef>
            </a:pP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The global optimum/Pareto front is often known. </a:t>
            </a:r>
          </a:p>
          <a:p>
            <a:pPr lvl="1" indent="-342900">
              <a:spcBef>
                <a:spcPts val="1800"/>
              </a:spcBef>
            </a:pP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They are often computationally cheap. </a:t>
            </a:r>
          </a:p>
          <a:p>
            <a:pPr lvl="1" indent="-342900">
              <a:spcBef>
                <a:spcPts val="1800"/>
              </a:spcBef>
            </a:pP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There are reference performances of various algorithms for them in the literature to be compared with. </a:t>
            </a: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Mathematical benchmark problems (hyperlinks)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1A5A5D-20A2-D6E5-7A95-B5DAAC0CD3E4}"/>
              </a:ext>
            </a:extLst>
          </p:cNvPr>
          <p:cNvSpPr/>
          <p:nvPr/>
        </p:nvSpPr>
        <p:spPr>
          <a:xfrm>
            <a:off x="1601495" y="2148328"/>
            <a:ext cx="55002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Optimization test problems source 1</a:t>
            </a:r>
            <a:endParaRPr lang="en-US" altLang="zh-CN" sz="2400" b="1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9263D1-3D94-9173-0A7B-157EBD1CCD72}"/>
              </a:ext>
            </a:extLst>
          </p:cNvPr>
          <p:cNvSpPr/>
          <p:nvPr/>
        </p:nvSpPr>
        <p:spPr>
          <a:xfrm>
            <a:off x="1601495" y="2869391"/>
            <a:ext cx="64892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Global optimization test problems source 2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9">
            <a:extLst>
              <a:ext uri="{FF2B5EF4-FFF2-40B4-BE49-F238E27FC236}">
                <a16:creationId xmlns:a16="http://schemas.microsoft.com/office/drawing/2014/main" id="{E629D79F-A48E-6FE9-026D-FAFA5217D68B}"/>
              </a:ext>
            </a:extLst>
          </p:cNvPr>
          <p:cNvSpPr/>
          <p:nvPr/>
        </p:nvSpPr>
        <p:spPr>
          <a:xfrm>
            <a:off x="1601495" y="3590454"/>
            <a:ext cx="79623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Test problems in IEEE Congress on Evolutionary computation 2009</a:t>
            </a:r>
            <a:endParaRPr lang="en-US" altLang="zh-C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857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Pros and cons of benchmark problems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DD4E9671-60B6-A5EA-AFD6-79336FAA21E9}"/>
              </a:ext>
            </a:extLst>
          </p:cNvPr>
          <p:cNvSpPr txBox="1">
            <a:spLocks noChangeArrowheads="1"/>
          </p:cNvSpPr>
          <p:nvPr/>
        </p:nvSpPr>
        <p:spPr>
          <a:xfrm>
            <a:off x="635801" y="1907692"/>
            <a:ext cx="10784869" cy="325213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3000"/>
              </a:spcBef>
            </a:pP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Provide a quick evaluation of an algorithm. </a:t>
            </a:r>
          </a:p>
          <a:p>
            <a:pPr marL="342900" indent="-342900">
              <a:spcBef>
                <a:spcPts val="3000"/>
              </a:spcBef>
            </a:pP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Have various shapes and characteristics and have similarity with particular engineering problems. </a:t>
            </a:r>
          </a:p>
          <a:p>
            <a:pPr marL="342900" indent="-342900">
              <a:spcBef>
                <a:spcPts val="3000"/>
              </a:spcBef>
            </a:pP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Often, they are not generated from engineering problems.</a:t>
            </a:r>
          </a:p>
        </p:txBody>
      </p:sp>
    </p:spTree>
    <p:extLst>
      <p:ext uri="{BB962C8B-B14F-4D97-AF65-F5344CB8AC3E}">
        <p14:creationId xmlns:p14="http://schemas.microsoft.com/office/powerpoint/2010/main" val="129194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An example benchmark function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5DF920-D4F2-3CF2-3AA2-3B1048775BBF}"/>
              </a:ext>
            </a:extLst>
          </p:cNvPr>
          <p:cNvSpPr txBox="1"/>
          <p:nvPr/>
        </p:nvSpPr>
        <p:spPr>
          <a:xfrm>
            <a:off x="891321" y="1665472"/>
            <a:ext cx="84218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fontAlgn="base"/>
            <a:r>
              <a:rPr lang="en-US" sz="24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 example benchmark function: </a:t>
            </a:r>
            <a:r>
              <a:rPr lang="en-US" sz="2400" b="1" i="0" u="none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Rastrigin</a:t>
            </a:r>
            <a:r>
              <a:rPr lang="en-US" sz="2400" b="1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function</a:t>
            </a:r>
            <a:r>
              <a:rPr lang="zh-CN" sz="2400" b="0" i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​</a:t>
            </a:r>
            <a:endParaRPr lang="zh-CN" sz="32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7FDE683D-4F54-6D2A-D1B5-19BFF360F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14" y="2491894"/>
            <a:ext cx="4348305" cy="3140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13">
            <a:extLst>
              <a:ext uri="{FF2B5EF4-FFF2-40B4-BE49-F238E27FC236}">
                <a16:creationId xmlns:a16="http://schemas.microsoft.com/office/drawing/2014/main" id="{F1D8DDE5-B077-5160-303A-397EDAD9D6D0}"/>
              </a:ext>
            </a:extLst>
          </p:cNvPr>
          <p:cNvSpPr/>
          <p:nvPr/>
        </p:nvSpPr>
        <p:spPr>
          <a:xfrm>
            <a:off x="3604790" y="5638900"/>
            <a:ext cx="33121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2D-Rastrigin function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162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 err="1"/>
              <a:t>Rastrigin</a:t>
            </a:r>
            <a:r>
              <a:rPr lang="en-GB" dirty="0"/>
              <a:t> function </a:t>
            </a:r>
          </a:p>
        </p:txBody>
      </p:sp>
      <p:graphicFrame>
        <p:nvGraphicFramePr>
          <p:cNvPr id="3" name="对象 7">
            <a:extLst>
              <a:ext uri="{FF2B5EF4-FFF2-40B4-BE49-F238E27FC236}">
                <a16:creationId xmlns:a16="http://schemas.microsoft.com/office/drawing/2014/main" id="{996AB6D3-97C5-B6C7-BA3A-E53B10CF85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608004"/>
              </p:ext>
            </p:extLst>
          </p:nvPr>
        </p:nvGraphicFramePr>
        <p:xfrm>
          <a:off x="2051515" y="1557717"/>
          <a:ext cx="548005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52400" imgH="495000" progId="Equation.DSMT4">
                  <p:embed/>
                </p:oleObj>
              </mc:Choice>
              <mc:Fallback>
                <p:oleObj name="Equation" r:id="rId3" imgW="2552400" imgH="4950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1515" y="1557717"/>
                        <a:ext cx="5480050" cy="1063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39">
            <a:extLst>
              <a:ext uri="{FF2B5EF4-FFF2-40B4-BE49-F238E27FC236}">
                <a16:creationId xmlns:a16="http://schemas.microsoft.com/office/drawing/2014/main" id="{5CE2E44E-A0C0-F2D8-8431-B2FFA1CEF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515" y="2908066"/>
            <a:ext cx="602879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Helvetica"/>
                <a:cs typeface="Arial" panose="020B0604020202020204" pitchFamily="34" charset="0"/>
              </a:rPr>
              <a:t>where </a:t>
            </a:r>
            <a:r>
              <a:rPr lang="zh-CN" altLang="zh-CN" sz="2400" i="1" dirty="0">
                <a:solidFill>
                  <a:srgbClr val="000000"/>
                </a:solidFill>
                <a:latin typeface="Arial" panose="020B0604020202020204" pitchFamily="34" charset="0"/>
                <a:ea typeface="Helvetica"/>
                <a:cs typeface="Arial" panose="020B0604020202020204" pitchFamily="34" charset="0"/>
              </a:rPr>
              <a:t>d</a:t>
            </a:r>
            <a:r>
              <a:rPr lang="en-US" altLang="zh-CN" sz="2400" i="1" dirty="0">
                <a:solidFill>
                  <a:srgbClr val="000000"/>
                </a:solidFill>
                <a:latin typeface="Arial" panose="020B0604020202020204" pitchFamily="34" charset="0"/>
                <a:ea typeface="Helvetica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Helvetica"/>
                <a:cs typeface="Arial" panose="020B0604020202020204" pitchFamily="34" charset="0"/>
              </a:rPr>
              <a:t>is the dimension of </a:t>
            </a:r>
            <a:r>
              <a:rPr lang="en-US" altLang="zh-CN" sz="2400" i="1" dirty="0">
                <a:solidFill>
                  <a:srgbClr val="000000"/>
                </a:solidFill>
                <a:latin typeface="Arial" panose="020B0604020202020204" pitchFamily="34" charset="0"/>
                <a:ea typeface="Helvetica"/>
                <a:cs typeface="Arial" panose="020B0604020202020204" pitchFamily="34" charset="0"/>
              </a:rPr>
              <a:t>x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Helvetica"/>
                <a:cs typeface="Arial" panose="020B0604020202020204" pitchFamily="34" charset="0"/>
              </a:rPr>
              <a:t>.</a:t>
            </a:r>
            <a:endParaRPr lang="en-US" altLang="zh-CN" sz="2400" i="1" dirty="0">
              <a:solidFill>
                <a:srgbClr val="000000"/>
              </a:solidFill>
              <a:latin typeface="Arial" panose="020B0604020202020204" pitchFamily="34" charset="0"/>
              <a:ea typeface="Helvetica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2400" b="1" i="1" dirty="0">
              <a:solidFill>
                <a:srgbClr val="000000"/>
              </a:solidFill>
              <a:latin typeface="Arial" panose="020B0604020202020204" pitchFamily="34" charset="0"/>
              <a:ea typeface="Helvetica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elvetica"/>
                <a:cs typeface="Arial" panose="020B0604020202020204" pitchFamily="34" charset="0"/>
              </a:rPr>
              <a:t>Description: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elvetica"/>
                <a:cs typeface="Arial" panose="020B0604020202020204" pitchFamily="34" charset="0"/>
              </a:rPr>
            </a:b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Helvetica"/>
                <a:cs typeface="Arial" panose="020B0604020202020204" pitchFamily="34" charset="0"/>
              </a:rPr>
              <a:t>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Helvetica"/>
                <a:cs typeface="Arial" panose="020B0604020202020204" pitchFamily="34" charset="0"/>
              </a:rPr>
              <a:t>many local minimum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Helvetica"/>
                <a:cs typeface="Arial" panose="020B0604020202020204" pitchFamily="34" charset="0"/>
              </a:rPr>
              <a:t>one global minimum</a:t>
            </a:r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  <a:ea typeface="Helvetica"/>
                <a:cs typeface="Arial" panose="020B0604020202020204" pitchFamily="34" charset="0"/>
              </a:rPr>
              <a:t> 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elvetica"/>
                <a:cs typeface="Arial" panose="020B0604020202020204" pitchFamily="34" charset="0"/>
              </a:rPr>
            </a:br>
            <a:endParaRPr kumimoji="0" lang="zh-CN" altLang="zh-CN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Helvetica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elvetica"/>
                <a:cs typeface="Arial" panose="020B0604020202020204" pitchFamily="34" charset="0"/>
              </a:rPr>
              <a:t>Global Minimum: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elvetica"/>
                <a:cs typeface="Arial" panose="020B0604020202020204" pitchFamily="34" charset="0"/>
              </a:rPr>
              <a:t> 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elvetica"/>
                <a:cs typeface="Arial" panose="020B0604020202020204" pitchFamily="34" charset="0"/>
              </a:rPr>
              <a:t>f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elvetica"/>
                <a:cs typeface="Arial" panose="020B0604020202020204" pitchFamily="34" charset="0"/>
              </a:rPr>
              <a:t>(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elvetica"/>
                <a:cs typeface="Arial" panose="020B0604020202020204" pitchFamily="34" charset="0"/>
              </a:rPr>
              <a:t>x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elvetica"/>
                <a:cs typeface="Arial" panose="020B0604020202020204" pitchFamily="34" charset="0"/>
              </a:rPr>
              <a:t>*)=0,  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elvetica"/>
                <a:cs typeface="Arial" panose="020B0604020202020204" pitchFamily="34" charset="0"/>
              </a:rPr>
              <a:t>x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elvetica"/>
                <a:cs typeface="Arial" panose="020B0604020202020204" pitchFamily="34" charset="0"/>
              </a:rPr>
              <a:t>*=[0,…,0]</a:t>
            </a:r>
            <a:endParaRPr kumimoji="0" lang="zh-CN" altLang="zh-CN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Helvetica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elvetica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4" name="矩形 8">
            <a:extLst>
              <a:ext uri="{FF2B5EF4-FFF2-40B4-BE49-F238E27FC236}">
                <a16:creationId xmlns:a16="http://schemas.microsoft.com/office/drawing/2014/main" id="{8D05585F-FD65-2818-953C-4B9A26841A88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2602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5B462E0C-ED56-5851-F5C9-9BB57EE8FC64}"/>
              </a:ext>
            </a:extLst>
          </p:cNvPr>
          <p:cNvGrpSpPr/>
          <p:nvPr/>
        </p:nvGrpSpPr>
        <p:grpSpPr>
          <a:xfrm>
            <a:off x="6426929" y="2202096"/>
            <a:ext cx="4625860" cy="3462736"/>
            <a:chOff x="7134339" y="1981474"/>
            <a:chExt cx="4625860" cy="3462736"/>
          </a:xfrm>
        </p:grpSpPr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4EB397A4-276B-4805-A382-68D6ECE2DA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34339" y="1981474"/>
              <a:ext cx="4625860" cy="34627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椭圆 8">
              <a:extLst>
                <a:ext uri="{FF2B5EF4-FFF2-40B4-BE49-F238E27FC236}">
                  <a16:creationId xmlns:a16="http://schemas.microsoft.com/office/drawing/2014/main" id="{FB12144B-11DB-15DC-807A-77996245458E}"/>
                </a:ext>
              </a:extLst>
            </p:cNvPr>
            <p:cNvSpPr/>
            <p:nvPr/>
          </p:nvSpPr>
          <p:spPr>
            <a:xfrm>
              <a:off x="9481317" y="3530558"/>
              <a:ext cx="107004" cy="10700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Use GA to solve benchmark problems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CC880C5-437B-9D6B-14A6-4A320286B1A6}"/>
              </a:ext>
            </a:extLst>
          </p:cNvPr>
          <p:cNvSpPr/>
          <p:nvPr/>
        </p:nvSpPr>
        <p:spPr>
          <a:xfrm>
            <a:off x="770421" y="1961118"/>
            <a:ext cx="5325579" cy="666700"/>
          </a:xfrm>
          <a:prstGeom prst="roundRect">
            <a:avLst/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rng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default </a:t>
            </a:r>
            <a:r>
              <a:rPr lang="en-US" sz="1600" b="0" i="0" u="none" strike="noStrike" dirty="0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% For reproducibility</a:t>
            </a:r>
            <a:endParaRPr lang="en-US" sz="16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x = ga(@rastr_fx,2)</a:t>
            </a: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D41D762D-76EE-CAA0-851B-F8F28304C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384" y="3194800"/>
            <a:ext cx="3149703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FB5C10EC-315C-7385-DDFE-4A4FB7792836}"/>
              </a:ext>
            </a:extLst>
          </p:cNvPr>
          <p:cNvGrpSpPr/>
          <p:nvPr/>
        </p:nvGrpSpPr>
        <p:grpSpPr>
          <a:xfrm>
            <a:off x="974384" y="4367000"/>
            <a:ext cx="5225921" cy="738664"/>
            <a:chOff x="717679" y="4227630"/>
            <a:chExt cx="5225921" cy="738664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476A1AB9-D7BC-C35F-99B5-724D6A6AD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679" y="4227630"/>
              <a:ext cx="5225921" cy="7386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zh-CN" altLang="zh-CN" sz="2400" b="1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  <a:ea typeface="Roboto"/>
                  <a:cs typeface="Arial" panose="020B0604020202020204" pitchFamily="34" charset="0"/>
                </a:rPr>
                <a:t>This solution </a:t>
              </a:r>
              <a:r>
                <a:rPr kumimoji="0" lang="en-US" altLang="zh-CN" sz="2400" b="1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  <a:ea typeface="Roboto"/>
                  <a:cs typeface="Arial" panose="020B0604020202020204" pitchFamily="34" charset="0"/>
                </a:rPr>
                <a:t>(  ) </a:t>
              </a:r>
              <a:r>
                <a:rPr lang="en-GB" altLang="zh-CN" sz="2400" b="1" dirty="0">
                  <a:latin typeface="Arial" panose="020B0604020202020204" pitchFamily="34" charset="0"/>
                  <a:ea typeface="Roboto"/>
                  <a:cs typeface="Arial" panose="020B0604020202020204" pitchFamily="34" charset="0"/>
                </a:rPr>
                <a:t>has some distance to</a:t>
              </a:r>
              <a:r>
                <a:rPr kumimoji="0" lang="en-US" altLang="zh-CN" sz="2400" b="1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  <a:ea typeface="Roboto"/>
                  <a:cs typeface="Arial" panose="020B0604020202020204" pitchFamily="34" charset="0"/>
                </a:rPr>
                <a:t> </a:t>
              </a:r>
              <a:r>
                <a:rPr kumimoji="0" lang="zh-CN" altLang="zh-CN" sz="2400" b="1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  <a:ea typeface="Roboto"/>
                  <a:cs typeface="Arial" panose="020B0604020202020204" pitchFamily="34" charset="0"/>
                </a:rPr>
                <a:t>the true minimum</a:t>
              </a:r>
              <a:r>
                <a:rPr kumimoji="0" lang="en-GB" altLang="zh-CN" sz="2400" b="1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  <a:ea typeface="Roboto"/>
                  <a:cs typeface="Arial" panose="020B0604020202020204" pitchFamily="34" charset="0"/>
                </a:rPr>
                <a:t> </a:t>
              </a:r>
              <a:r>
                <a:rPr kumimoji="0" lang="en-US" altLang="zh-CN" sz="2400" b="1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  <a:ea typeface="Roboto"/>
                  <a:cs typeface="Arial" panose="020B0604020202020204" pitchFamily="34" charset="0"/>
                </a:rPr>
                <a:t>(  )</a:t>
              </a:r>
              <a:r>
                <a:rPr kumimoji="0" lang="zh-CN" altLang="zh-CN" sz="2400" b="1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  <a:ea typeface="Roboto"/>
                  <a:cs typeface="Arial" panose="020B0604020202020204" pitchFamily="34" charset="0"/>
                </a:rPr>
                <a:t>.</a:t>
              </a:r>
              <a:endParaRPr kumimoji="0" lang="zh-CN" altLang="zh-CN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9" name="椭圆 14">
              <a:extLst>
                <a:ext uri="{FF2B5EF4-FFF2-40B4-BE49-F238E27FC236}">
                  <a16:creationId xmlns:a16="http://schemas.microsoft.com/office/drawing/2014/main" id="{CA03E747-C0B8-840B-A833-A2CB399BEC25}"/>
                </a:ext>
              </a:extLst>
            </p:cNvPr>
            <p:cNvSpPr/>
            <p:nvPr/>
          </p:nvSpPr>
          <p:spPr>
            <a:xfrm>
              <a:off x="2826908" y="4394706"/>
              <a:ext cx="107004" cy="107004"/>
            </a:xfrm>
            <a:prstGeom prst="ellipse">
              <a:avLst/>
            </a:prstGeom>
            <a:solidFill>
              <a:srgbClr val="00356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15">
              <a:extLst>
                <a:ext uri="{FF2B5EF4-FFF2-40B4-BE49-F238E27FC236}">
                  <a16:creationId xmlns:a16="http://schemas.microsoft.com/office/drawing/2014/main" id="{FF00CFB9-050A-1145-EB92-E4151604216D}"/>
                </a:ext>
              </a:extLst>
            </p:cNvPr>
            <p:cNvSpPr/>
            <p:nvPr/>
          </p:nvSpPr>
          <p:spPr>
            <a:xfrm>
              <a:off x="3854791" y="4754227"/>
              <a:ext cx="107004" cy="10700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矩形 8">
            <a:extLst>
              <a:ext uri="{FF2B5EF4-FFF2-40B4-BE49-F238E27FC236}">
                <a16:creationId xmlns:a16="http://schemas.microsoft.com/office/drawing/2014/main" id="{34533729-C799-35C4-611F-1CA5770B67C5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0632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Use GA to solve benchmark problems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60E47F2-461F-18C0-F813-AC2031A32E3D}"/>
              </a:ext>
            </a:extLst>
          </p:cNvPr>
          <p:cNvSpPr/>
          <p:nvPr/>
        </p:nvSpPr>
        <p:spPr>
          <a:xfrm>
            <a:off x="770421" y="1961118"/>
            <a:ext cx="5325579" cy="666700"/>
          </a:xfrm>
          <a:prstGeom prst="roundRect">
            <a:avLst/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rng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default </a:t>
            </a:r>
            <a:r>
              <a:rPr lang="en-US" sz="1600" b="0" i="0" u="none" strike="noStrike" dirty="0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% For reproducibility</a:t>
            </a:r>
            <a:endParaRPr lang="en-US" sz="16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x = ga(@rastr_fx,2,[],[],[],[],[-5 -5],[5 5])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2A6393-673F-36E0-2D77-24A24E8F2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345" y="2958505"/>
            <a:ext cx="3180629" cy="800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72C3B538-BA1C-7C1C-ECDB-6FF5251E197F}"/>
              </a:ext>
            </a:extLst>
          </p:cNvPr>
          <p:cNvGrpSpPr/>
          <p:nvPr/>
        </p:nvGrpSpPr>
        <p:grpSpPr>
          <a:xfrm>
            <a:off x="958921" y="4356052"/>
            <a:ext cx="4391923" cy="738664"/>
            <a:chOff x="958921" y="4038811"/>
            <a:chExt cx="4391923" cy="738664"/>
          </a:xfrm>
        </p:grpSpPr>
        <p:sp>
          <p:nvSpPr>
            <p:cNvPr id="10" name="Rectangle 2">
              <a:extLst>
                <a:ext uri="{FF2B5EF4-FFF2-40B4-BE49-F238E27FC236}">
                  <a16:creationId xmlns:a16="http://schemas.microsoft.com/office/drawing/2014/main" id="{2092F600-352A-1646-610A-F7C56B3F7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921" y="4038811"/>
              <a:ext cx="4391923" cy="7386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zh-CN" altLang="zh-CN" sz="2400" b="1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  <a:ea typeface="Roboto"/>
                  <a:cs typeface="Arial" panose="020B0604020202020204" pitchFamily="34" charset="0"/>
                </a:rPr>
                <a:t>This solution </a:t>
              </a:r>
              <a:r>
                <a:rPr kumimoji="0" lang="en-US" altLang="zh-CN" sz="2400" b="1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  <a:ea typeface="Roboto"/>
                  <a:cs typeface="Arial" panose="020B0604020202020204" pitchFamily="34" charset="0"/>
                </a:rPr>
                <a:t>(  ) </a:t>
              </a:r>
              <a:r>
                <a:rPr kumimoji="0" lang="zh-CN" altLang="zh-CN" sz="2400" b="1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  <a:ea typeface="Roboto"/>
                  <a:cs typeface="Arial" panose="020B0604020202020204" pitchFamily="34" charset="0"/>
                </a:rPr>
                <a:t>is</a:t>
              </a:r>
              <a:r>
                <a:rPr kumimoji="0" lang="en-US" altLang="zh-CN" sz="2400" b="1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  <a:ea typeface="Roboto"/>
                  <a:cs typeface="Arial" panose="020B0604020202020204" pitchFamily="34" charset="0"/>
                </a:rPr>
                <a:t> very near to </a:t>
              </a:r>
              <a:r>
                <a:rPr kumimoji="0" lang="zh-CN" altLang="zh-CN" sz="2400" b="1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  <a:ea typeface="Roboto"/>
                  <a:cs typeface="Arial" panose="020B0604020202020204" pitchFamily="34" charset="0"/>
                </a:rPr>
                <a:t>the true minimum</a:t>
              </a:r>
              <a:r>
                <a:rPr kumimoji="0" lang="en-GB" altLang="zh-CN" sz="2400" b="1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  <a:ea typeface="Roboto"/>
                  <a:cs typeface="Arial" panose="020B0604020202020204" pitchFamily="34" charset="0"/>
                </a:rPr>
                <a:t> </a:t>
              </a:r>
              <a:r>
                <a:rPr kumimoji="0" lang="en-US" altLang="zh-CN" sz="2400" b="1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  <a:ea typeface="Roboto"/>
                  <a:cs typeface="Arial" panose="020B0604020202020204" pitchFamily="34" charset="0"/>
                </a:rPr>
                <a:t>(  )</a:t>
              </a:r>
              <a:r>
                <a:rPr kumimoji="0" lang="zh-CN" altLang="zh-CN" sz="2400" b="1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  <a:ea typeface="Roboto"/>
                  <a:cs typeface="Arial" panose="020B0604020202020204" pitchFamily="34" charset="0"/>
                </a:rPr>
                <a:t>.</a:t>
              </a:r>
              <a:endParaRPr kumimoji="0" lang="zh-CN" altLang="zh-CN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1" name="椭圆 14">
              <a:extLst>
                <a:ext uri="{FF2B5EF4-FFF2-40B4-BE49-F238E27FC236}">
                  <a16:creationId xmlns:a16="http://schemas.microsoft.com/office/drawing/2014/main" id="{9FCC66F7-5F0C-9BF0-3257-06C0B9634D08}"/>
                </a:ext>
              </a:extLst>
            </p:cNvPr>
            <p:cNvSpPr/>
            <p:nvPr/>
          </p:nvSpPr>
          <p:spPr>
            <a:xfrm>
              <a:off x="3066540" y="4207923"/>
              <a:ext cx="107004" cy="107004"/>
            </a:xfrm>
            <a:prstGeom prst="ellipse">
              <a:avLst/>
            </a:prstGeom>
            <a:solidFill>
              <a:srgbClr val="00356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5">
              <a:extLst>
                <a:ext uri="{FF2B5EF4-FFF2-40B4-BE49-F238E27FC236}">
                  <a16:creationId xmlns:a16="http://schemas.microsoft.com/office/drawing/2014/main" id="{34CE55E0-BDE7-02F3-1117-C216D2DB5C95}"/>
                </a:ext>
              </a:extLst>
            </p:cNvPr>
            <p:cNvSpPr/>
            <p:nvPr/>
          </p:nvSpPr>
          <p:spPr>
            <a:xfrm>
              <a:off x="4105126" y="4567832"/>
              <a:ext cx="107004" cy="10700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矩形 8">
            <a:extLst>
              <a:ext uri="{FF2B5EF4-FFF2-40B4-BE49-F238E27FC236}">
                <a16:creationId xmlns:a16="http://schemas.microsoft.com/office/drawing/2014/main" id="{5E6A1786-7F31-428B-320B-3B7E5FFDDB82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12E49DD-30A9-BFAF-DA6E-4F6B9F907A20}"/>
              </a:ext>
            </a:extLst>
          </p:cNvPr>
          <p:cNvGrpSpPr/>
          <p:nvPr/>
        </p:nvGrpSpPr>
        <p:grpSpPr>
          <a:xfrm>
            <a:off x="6426929" y="2202096"/>
            <a:ext cx="4625860" cy="3462736"/>
            <a:chOff x="6426929" y="2202096"/>
            <a:chExt cx="4625860" cy="3462736"/>
          </a:xfrm>
        </p:grpSpPr>
        <p:pic>
          <p:nvPicPr>
            <p:cNvPr id="18" name="Picture 6">
              <a:extLst>
                <a:ext uri="{FF2B5EF4-FFF2-40B4-BE49-F238E27FC236}">
                  <a16:creationId xmlns:a16="http://schemas.microsoft.com/office/drawing/2014/main" id="{FFFA792C-18EE-7F49-957F-22FF4A529C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26929" y="2202096"/>
              <a:ext cx="4625860" cy="34627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0" name="椭圆 13">
              <a:extLst>
                <a:ext uri="{FF2B5EF4-FFF2-40B4-BE49-F238E27FC236}">
                  <a16:creationId xmlns:a16="http://schemas.microsoft.com/office/drawing/2014/main" id="{508AD4D6-7560-D6DF-C14E-642C89AE31E5}"/>
                </a:ext>
              </a:extLst>
            </p:cNvPr>
            <p:cNvSpPr/>
            <p:nvPr/>
          </p:nvSpPr>
          <p:spPr>
            <a:xfrm>
              <a:off x="8767852" y="3752297"/>
              <a:ext cx="107004" cy="107004"/>
            </a:xfrm>
            <a:prstGeom prst="ellipse">
              <a:avLst/>
            </a:prstGeom>
            <a:solidFill>
              <a:srgbClr val="00356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5702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Use GA to solve benchmark problems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F894835-8D10-B3C5-21AD-3FD3F65D21EF}"/>
              </a:ext>
            </a:extLst>
          </p:cNvPr>
          <p:cNvSpPr/>
          <p:nvPr/>
        </p:nvSpPr>
        <p:spPr>
          <a:xfrm>
            <a:off x="538065" y="1639976"/>
            <a:ext cx="6945086" cy="972595"/>
          </a:xfrm>
          <a:prstGeom prst="roundRect">
            <a:avLst>
              <a:gd name="adj" fmla="val 9492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rng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default </a:t>
            </a:r>
            <a:r>
              <a:rPr lang="en-US" sz="1600" b="0" i="0" u="none" strike="noStrike" dirty="0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% For reproducibility</a:t>
            </a:r>
            <a:endParaRPr lang="en-US" sz="16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options = </a:t>
            </a:r>
            <a:r>
              <a:rPr lang="en-US" sz="16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optimoptions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'ga'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i="0" u="none" strike="noStrike" dirty="0" err="1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PlotFcn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, @gaplotbestf);</a:t>
            </a:r>
          </a:p>
          <a:p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x = ga(@rastr_fx,2,[],[],[],[],[-5 -5],[5 5],[],options)</a:t>
            </a:r>
          </a:p>
        </p:txBody>
      </p:sp>
      <p:cxnSp>
        <p:nvCxnSpPr>
          <p:cNvPr id="3" name="直接连接符 16">
            <a:extLst>
              <a:ext uri="{FF2B5EF4-FFF2-40B4-BE49-F238E27FC236}">
                <a16:creationId xmlns:a16="http://schemas.microsoft.com/office/drawing/2014/main" id="{ACFE8D73-5156-CB87-BE9B-69B5E0E193FE}"/>
              </a:ext>
            </a:extLst>
          </p:cNvPr>
          <p:cNvCxnSpPr>
            <a:cxnSpLocks/>
          </p:cNvCxnSpPr>
          <p:nvPr/>
        </p:nvCxnSpPr>
        <p:spPr>
          <a:xfrm>
            <a:off x="538065" y="2263960"/>
            <a:ext cx="605867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4">
            <a:extLst>
              <a:ext uri="{FF2B5EF4-FFF2-40B4-BE49-F238E27FC236}">
                <a16:creationId xmlns:a16="http://schemas.microsoft.com/office/drawing/2014/main" id="{9145510F-1810-BA27-A1CD-B0CE704CF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058" y="3021340"/>
            <a:ext cx="3180629" cy="800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40DE3004-21D5-735E-8B29-EFD852C7A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058" y="4156017"/>
            <a:ext cx="4395495" cy="7386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This solution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very near to </a:t>
            </a:r>
            <a:r>
              <a:rPr lang="zh-CN" altLang="zh-CN" sz="24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the true minimum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.</a:t>
            </a:r>
            <a:endParaRPr kumimoji="0" lang="zh-CN" altLang="zh-CN" sz="24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538D365A-8EC9-9792-2AC1-2ADF62893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4192" y="2755503"/>
            <a:ext cx="4984750" cy="38608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矩形 8">
            <a:extLst>
              <a:ext uri="{FF2B5EF4-FFF2-40B4-BE49-F238E27FC236}">
                <a16:creationId xmlns:a16="http://schemas.microsoft.com/office/drawing/2014/main" id="{525D5FE4-DB9C-6169-42E3-D3ECF6049C76}"/>
              </a:ext>
            </a:extLst>
          </p:cNvPr>
          <p:cNvSpPr/>
          <p:nvPr/>
        </p:nvSpPr>
        <p:spPr>
          <a:xfrm>
            <a:off x="829360" y="5982216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cxnSp>
        <p:nvCxnSpPr>
          <p:cNvPr id="4" name="直接连接符 16">
            <a:extLst>
              <a:ext uri="{FF2B5EF4-FFF2-40B4-BE49-F238E27FC236}">
                <a16:creationId xmlns:a16="http://schemas.microsoft.com/office/drawing/2014/main" id="{6D393FE5-93D1-ACAB-CB8F-97A538BE66E6}"/>
              </a:ext>
            </a:extLst>
          </p:cNvPr>
          <p:cNvCxnSpPr>
            <a:cxnSpLocks/>
          </p:cNvCxnSpPr>
          <p:nvPr/>
        </p:nvCxnSpPr>
        <p:spPr>
          <a:xfrm>
            <a:off x="5989320" y="2491175"/>
            <a:ext cx="76813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434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Use GA to solve benchmark problems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030C4FB-58F3-780F-72E6-FCFCA9F89432}"/>
              </a:ext>
            </a:extLst>
          </p:cNvPr>
          <p:cNvSpPr/>
          <p:nvPr/>
        </p:nvSpPr>
        <p:spPr>
          <a:xfrm>
            <a:off x="538064" y="1639976"/>
            <a:ext cx="8270033" cy="972595"/>
          </a:xfrm>
          <a:prstGeom prst="roundRect">
            <a:avLst>
              <a:gd name="adj" fmla="val 9492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rng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default </a:t>
            </a:r>
            <a:r>
              <a:rPr lang="en-US" sz="1600" b="0" i="0" u="none" strike="noStrike" dirty="0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% For reproducibility</a:t>
            </a:r>
            <a:endParaRPr lang="en-US" sz="16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options = </a:t>
            </a:r>
            <a:r>
              <a:rPr lang="en-US" sz="16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optimoptions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'ga'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i="0" u="none" strike="noStrike" dirty="0" err="1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PlotFcn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, @gaplotbestf);</a:t>
            </a:r>
          </a:p>
          <a:p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x = ga(@rastr_fx,2,[],[],[],[],[-5 -5],[1500 1500],[],[1],options)</a:t>
            </a:r>
          </a:p>
        </p:txBody>
      </p:sp>
      <p:cxnSp>
        <p:nvCxnSpPr>
          <p:cNvPr id="3" name="直接连接符 14">
            <a:extLst>
              <a:ext uri="{FF2B5EF4-FFF2-40B4-BE49-F238E27FC236}">
                <a16:creationId xmlns:a16="http://schemas.microsoft.com/office/drawing/2014/main" id="{554CFD3C-B185-D605-1B5C-0125075343EB}"/>
              </a:ext>
            </a:extLst>
          </p:cNvPr>
          <p:cNvCxnSpPr/>
          <p:nvPr/>
        </p:nvCxnSpPr>
        <p:spPr>
          <a:xfrm>
            <a:off x="6657392" y="2527191"/>
            <a:ext cx="33751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2">
            <a:extLst>
              <a:ext uri="{FF2B5EF4-FFF2-40B4-BE49-F238E27FC236}">
                <a16:creationId xmlns:a16="http://schemas.microsoft.com/office/drawing/2014/main" id="{8D8F51D9-2D28-6C7C-072C-5D86F4BA1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885" y="4245430"/>
            <a:ext cx="4395495" cy="7386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This solution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very near to </a:t>
            </a:r>
            <a:r>
              <a:rPr lang="zh-CN" altLang="zh-CN" sz="24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the true minimum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.</a:t>
            </a:r>
            <a:endParaRPr kumimoji="0" lang="zh-CN" altLang="zh-CN" sz="24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854DA688-0AAA-CD32-742B-4974259EC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885" y="2965846"/>
            <a:ext cx="2984204" cy="955878"/>
          </a:xfrm>
          <a:prstGeom prst="rect">
            <a:avLst/>
          </a:prstGeom>
          <a:solidFill>
            <a:srgbClr val="FF0000"/>
          </a:solidFill>
          <a:ln>
            <a:solidFill>
              <a:srgbClr val="FFFFFF"/>
            </a:solidFill>
          </a:ln>
          <a:effectLst/>
        </p:spPr>
      </p:pic>
      <p:sp>
        <p:nvSpPr>
          <p:cNvPr id="7" name="矩形 8">
            <a:extLst>
              <a:ext uri="{FF2B5EF4-FFF2-40B4-BE49-F238E27FC236}">
                <a16:creationId xmlns:a16="http://schemas.microsoft.com/office/drawing/2014/main" id="{696D9253-3BBB-7656-6134-2A951F4D9BFF}"/>
              </a:ext>
            </a:extLst>
          </p:cNvPr>
          <p:cNvSpPr/>
          <p:nvPr/>
        </p:nvSpPr>
        <p:spPr>
          <a:xfrm>
            <a:off x="829360" y="5982216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E12B4079-F91F-A549-DFD8-2CF44A1DB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8807" y="2830147"/>
            <a:ext cx="4933833" cy="37541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17509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Use GA to solve benchmark problems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87F08D4-3F75-9D4E-2D24-6A181EBD4D48}"/>
              </a:ext>
            </a:extLst>
          </p:cNvPr>
          <p:cNvSpPr/>
          <p:nvPr/>
        </p:nvSpPr>
        <p:spPr>
          <a:xfrm>
            <a:off x="538064" y="1639976"/>
            <a:ext cx="8270033" cy="972595"/>
          </a:xfrm>
          <a:prstGeom prst="roundRect">
            <a:avLst>
              <a:gd name="adj" fmla="val 9492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rng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default </a:t>
            </a:r>
            <a:r>
              <a:rPr lang="en-US" sz="1600" b="0" i="0" u="none" strike="noStrike" dirty="0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% For reproducibility</a:t>
            </a:r>
            <a:endParaRPr lang="en-US" sz="16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options = </a:t>
            </a:r>
            <a:r>
              <a:rPr lang="en-US" sz="16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optimoptions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'ga'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i="0" u="none" strike="noStrike" dirty="0" err="1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PlotFcn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, @gaplotbestf);</a:t>
            </a:r>
          </a:p>
          <a:p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[x </a:t>
            </a:r>
            <a:r>
              <a:rPr lang="en-US" sz="16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fval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]= ga(@rastr_fx,2,[],[],[],[],[-5 -5],[5 5],[],options)</a:t>
            </a:r>
          </a:p>
        </p:txBody>
      </p:sp>
      <p:cxnSp>
        <p:nvCxnSpPr>
          <p:cNvPr id="3" name="直接连接符 14">
            <a:extLst>
              <a:ext uri="{FF2B5EF4-FFF2-40B4-BE49-F238E27FC236}">
                <a16:creationId xmlns:a16="http://schemas.microsoft.com/office/drawing/2014/main" id="{E9E5416A-BDCE-FFC5-120D-DCB4B4D7AFFA}"/>
              </a:ext>
            </a:extLst>
          </p:cNvPr>
          <p:cNvCxnSpPr>
            <a:cxnSpLocks/>
          </p:cNvCxnSpPr>
          <p:nvPr/>
        </p:nvCxnSpPr>
        <p:spPr>
          <a:xfrm>
            <a:off x="635302" y="2532758"/>
            <a:ext cx="92291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7">
            <a:extLst>
              <a:ext uri="{FF2B5EF4-FFF2-40B4-BE49-F238E27FC236}">
                <a16:creationId xmlns:a16="http://schemas.microsoft.com/office/drawing/2014/main" id="{590B8732-ACA7-F0A5-D449-9AEFAE104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360" y="2962428"/>
            <a:ext cx="2457450" cy="10858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C5E72F93-607F-CF04-0896-BEA4D5420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360" y="4398135"/>
            <a:ext cx="4393993" cy="73866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This solution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very near to the true minimum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.</a:t>
            </a:r>
            <a:endParaRPr kumimoji="0" lang="zh-CN" altLang="zh-CN" sz="24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3AFB785C-0A5A-D5C7-6C04-21159B75A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9886" y="2740347"/>
            <a:ext cx="4984750" cy="38608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D0E97BE9-A8B5-4E16-3C42-3F50128E316A}"/>
              </a:ext>
            </a:extLst>
          </p:cNvPr>
          <p:cNvSpPr/>
          <p:nvPr/>
        </p:nvSpPr>
        <p:spPr>
          <a:xfrm>
            <a:off x="829360" y="5982216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0885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B06F7A5F-7C80-4D4F-BE52-DBE86E6AE89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2924E36-EBEB-4DB8-ABD4-4D4EDAF07C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4B54C0E-20B3-4D66-8E2A-6589181A8C76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1893</TotalTime>
  <Words>592</Words>
  <Application>Microsoft Office PowerPoint</Application>
  <PresentationFormat>Widescreen</PresentationFormat>
  <Paragraphs>72</Paragraphs>
  <Slides>12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宋体</vt:lpstr>
      <vt:lpstr>Arial</vt:lpstr>
      <vt:lpstr>Calibri</vt:lpstr>
      <vt:lpstr>Consolas</vt:lpstr>
      <vt:lpstr>Times New Roman</vt:lpstr>
      <vt:lpstr>Office Theme</vt:lpstr>
      <vt:lpstr>Equation</vt:lpstr>
      <vt:lpstr>Use Genetic Algorithm via MATLAB: Employ the Function</vt:lpstr>
      <vt:lpstr>Mathematical benchmark problems</vt:lpstr>
      <vt:lpstr>Mathematical benchmark problems (hyperlinks)</vt:lpstr>
      <vt:lpstr>Pros and cons of benchmark problems</vt:lpstr>
      <vt:lpstr>An example benchmark function</vt:lpstr>
      <vt:lpstr>Rastrigin function </vt:lpstr>
      <vt:lpstr>Use GA to solve benchmark problems</vt:lpstr>
      <vt:lpstr>Use GA to solve benchmark problems</vt:lpstr>
      <vt:lpstr>Use GA to solve benchmark problems</vt:lpstr>
      <vt:lpstr>Use GA to solve benchmark problems</vt:lpstr>
      <vt:lpstr>Use GA to solve benchmark problems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65</cp:revision>
  <dcterms:created xsi:type="dcterms:W3CDTF">2021-01-06T14:22:07Z</dcterms:created>
  <dcterms:modified xsi:type="dcterms:W3CDTF">2024-07-02T15:53:09Z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