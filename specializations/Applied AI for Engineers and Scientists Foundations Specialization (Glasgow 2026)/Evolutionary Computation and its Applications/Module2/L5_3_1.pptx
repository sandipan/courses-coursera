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4"/>
  </p:notesMasterIdLst>
  <p:sldIdLst>
    <p:sldId id="256" r:id="rId5"/>
    <p:sldId id="494" r:id="rId6"/>
    <p:sldId id="496" r:id="rId7"/>
    <p:sldId id="497" r:id="rId8"/>
    <p:sldId id="498" r:id="rId9"/>
    <p:sldId id="499" r:id="rId10"/>
    <p:sldId id="500" r:id="rId11"/>
    <p:sldId id="501" r:id="rId12"/>
    <p:sldId id="27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563C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3359" autoAdjust="0"/>
    <p:restoredTop sz="96327"/>
  </p:normalViewPr>
  <p:slideViewPr>
    <p:cSldViewPr snapToGrid="0">
      <p:cViewPr varScale="1">
        <p:scale>
          <a:sx n="136" d="100"/>
          <a:sy n="136" d="100"/>
        </p:scale>
        <p:origin x="96" y="532"/>
      </p:cViewPr>
      <p:guideLst/>
    </p:cSldViewPr>
  </p:slideViewPr>
  <p:outlineViewPr>
    <p:cViewPr>
      <p:scale>
        <a:sx n="30" d="100"/>
        <a:sy n="30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295AE2-43AC-144B-AE88-DCB376799F11}" type="datetimeFigureOut">
              <a:rPr lang="en-US" smtClean="0"/>
              <a:t>7/2/2024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24E5BB-E6B0-B84A-ABCD-9A3E9C2D78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742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95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2024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7122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40087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0702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5700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65994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8954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4946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83BB4406-02B4-284F-84C5-A21F22E6B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5FEA054A-F191-E34B-8C26-BA11F3F0C0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85750" y="1627188"/>
            <a:ext cx="11474450" cy="46069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92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EE31514-F8EA-5D4E-B45D-65DD78DBE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12524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91D55F9-A3F2-1242-A5F3-5AAACC9DB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49408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6629400" cy="789709"/>
          </a:xfrm>
        </p:spPr>
        <p:txBody>
          <a:bodyPr anchor="t">
            <a:normAutofit/>
          </a:bodyPr>
          <a:lstStyle>
            <a:lvl1pPr algn="l">
              <a:defRPr sz="28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90418" y="3015529"/>
            <a:ext cx="5680364" cy="623598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84273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F97420DD-2415-454D-AA0F-DBDA719CB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01283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1680" y="2123676"/>
            <a:ext cx="4027169" cy="1600200"/>
          </a:xfrm>
        </p:spPr>
        <p:txBody>
          <a:bodyPr anchor="t">
            <a:normAutofit/>
          </a:bodyPr>
          <a:lstStyle>
            <a:lvl1pPr algn="l">
              <a:defRPr sz="2800"/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1680" y="3934224"/>
            <a:ext cx="4030345" cy="1934763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28039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A65B24-645B-1746-9651-55C209C5E25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810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511800" y="681037"/>
            <a:ext cx="5842000" cy="100965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624FB1-CB24-4B4C-BFD4-AD276D9A4059}" type="datetimeFigureOut">
              <a:rPr lang="en-GB" smtClean="0"/>
              <a:t>02/07/2024</a:t>
            </a:fld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19F3F6-C255-4AC5-91C2-3F61B6509B36}" type="slidenum">
              <a:rPr lang="en-GB" smtClean="0"/>
              <a:t>‹#›</a:t>
            </a:fld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6262A0F-9E49-6B4D-94F3-647B33A25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699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52" r:id="rId2"/>
    <p:sldLayoutId id="2147483653" r:id="rId3"/>
    <p:sldLayoutId id="2147483649" r:id="rId4"/>
    <p:sldLayoutId id="2147483654" r:id="rId5"/>
    <p:sldLayoutId id="2147483656" r:id="rId6"/>
    <p:sldLayoutId id="2147483684" r:id="rId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uk.mathworks.com/products/global-optimization.html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uk.mathworks.com/videos/global-optimization-toolbox-overview-73470.html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nl.mathworks.com/help/gads/ga.html#mw_46d5ecc6-7ae1-4400-821b-3a29c14be603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nl.mathworks.com/help/gads/ga.html#d124e49755" TargetMode="External"/><Relationship Id="rId5" Type="http://schemas.openxmlformats.org/officeDocument/2006/relationships/hyperlink" Target="https://nl.mathworks.com/help/gads/ga.html#bs08mt7-1_sep_budidgf-nvars" TargetMode="External"/><Relationship Id="rId4" Type="http://schemas.openxmlformats.org/officeDocument/2006/relationships/hyperlink" Target="https://nl.mathworks.com/help/gads/ga.html#bs08mt7-1_sep_budidgf-fun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nl.mathworks.com/help/gads/ga.html#d124e49755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nl.mathworks.com/help/gads/ga.html#d124e49755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nl.mathworks.com/help/gads/ga.html#d124e49856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nl.mathworks.com/help/gads/ga.html#d124e49755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nl.mathworks.com/help/gads/ga.html#d124e49899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nl.mathworks.com/help/gads/ga.html#d124e49985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5" Type="http://schemas.openxmlformats.org/officeDocument/2006/relationships/hyperlink" Target="https://nl.mathworks.com/help/gads/ga.html#d124e49856" TargetMode="External"/><Relationship Id="rId4" Type="http://schemas.openxmlformats.org/officeDocument/2006/relationships/hyperlink" Target="https://nl.mathworks.com/help/gads/ga.html#d124e49755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The Gilbert Scott Building">
            <a:extLst>
              <a:ext uri="{FF2B5EF4-FFF2-40B4-BE49-F238E27FC236}">
                <a16:creationId xmlns:a16="http://schemas.microsoft.com/office/drawing/2014/main" id="{BAB3C4BD-A67A-4D47-6D5C-637F167E7C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8210986" cy="789709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1"/>
                </a:solidFill>
              </a:rPr>
              <a:t>Use Genetic Algorithm via MATLAB: GA Function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FFC54586-8882-6804-A250-091EB79369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0418" y="2576945"/>
            <a:ext cx="5680364" cy="1062182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Professor Bo Liu</a:t>
            </a:r>
          </a:p>
          <a:p>
            <a:r>
              <a:rPr lang="en-GB" dirty="0">
                <a:solidFill>
                  <a:schemeClr val="tx1"/>
                </a:solidFill>
              </a:rPr>
              <a:t>James Watt School of Engineering</a:t>
            </a:r>
          </a:p>
        </p:txBody>
      </p:sp>
    </p:spTree>
    <p:extLst>
      <p:ext uri="{BB962C8B-B14F-4D97-AF65-F5344CB8AC3E}">
        <p14:creationId xmlns:p14="http://schemas.microsoft.com/office/powerpoint/2010/main" val="4244171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MATLAB global optimization toolbox</a:t>
            </a:r>
          </a:p>
        </p:txBody>
      </p:sp>
      <p:sp>
        <p:nvSpPr>
          <p:cNvPr id="2" name="矩形 4">
            <a:extLst>
              <a:ext uri="{FF2B5EF4-FFF2-40B4-BE49-F238E27FC236}">
                <a16:creationId xmlns:a16="http://schemas.microsoft.com/office/drawing/2014/main" id="{4467EAA1-B6D8-2F00-AF07-15AE0E2B9379}"/>
              </a:ext>
            </a:extLst>
          </p:cNvPr>
          <p:cNvSpPr/>
          <p:nvPr/>
        </p:nvSpPr>
        <p:spPr>
          <a:xfrm>
            <a:off x="906972" y="1815174"/>
            <a:ext cx="9505992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MATLAB Global Optimization Toolbox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 provides functions that search for global optimal solutions.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It can handle unconstrained and constrained nonlinear minimization problems.  </a:t>
            </a:r>
          </a:p>
          <a:p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2400" b="1" dirty="0">
                <a:solidFill>
                  <a:srgbClr val="0563C1"/>
                </a:solidFill>
                <a:latin typeface="Arial" panose="020B0604020202020204" pitchFamily="34" charset="0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https://uk.mathworks.com/products/global-optimization.html </a:t>
            </a:r>
            <a:endParaRPr lang="en-US" altLang="zh-CN" sz="2400" b="1" dirty="0">
              <a:solidFill>
                <a:srgbClr val="0563C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zh-CN" sz="2400" b="1" dirty="0">
              <a:solidFill>
                <a:srgbClr val="0563C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2400" b="1" dirty="0">
                <a:solidFill>
                  <a:srgbClr val="0563C1"/>
                </a:solidFill>
                <a:latin typeface="Arial" panose="020B0604020202020204" pitchFamily="34" charset="0"/>
                <a:cs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Video: https://uk.mathworks.com/videos/global-optimization-toolbox-overview-73470.html</a:t>
            </a:r>
            <a:r>
              <a:rPr lang="en-US" altLang="zh-CN" sz="2400" b="1" dirty="0">
                <a:solidFill>
                  <a:srgbClr val="0563C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76015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MATLAB global optimization toolbox</a:t>
            </a:r>
          </a:p>
        </p:txBody>
      </p:sp>
      <p:sp>
        <p:nvSpPr>
          <p:cNvPr id="2" name="矩形 2">
            <a:extLst>
              <a:ext uri="{FF2B5EF4-FFF2-40B4-BE49-F238E27FC236}">
                <a16:creationId xmlns:a16="http://schemas.microsoft.com/office/drawing/2014/main" id="{3E8775FC-4ADB-A38E-F422-9B835BDD1E27}"/>
              </a:ext>
            </a:extLst>
          </p:cNvPr>
          <p:cNvSpPr/>
          <p:nvPr/>
        </p:nvSpPr>
        <p:spPr>
          <a:xfrm>
            <a:off x="1008737" y="1764945"/>
            <a:ext cx="588654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Optimization algorithms in the toolbox 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A681C1-415D-8D5E-ADE8-A65D0DB7749F}"/>
              </a:ext>
            </a:extLst>
          </p:cNvPr>
          <p:cNvSpPr txBox="1"/>
          <p:nvPr/>
        </p:nvSpPr>
        <p:spPr>
          <a:xfrm>
            <a:off x="1551214" y="2447564"/>
            <a:ext cx="5813862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altLang="zh-CN" sz="2400" b="0" i="0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Direct Search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altLang="zh-CN" sz="2400" b="0" i="0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Genetic algorithm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Particle swarm optimization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Surrogate optimization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Simulated annealing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Multi-objective optimization (NSGA-II)</a:t>
            </a:r>
            <a:endParaRPr lang="zh-CN" altLang="en-US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zh-CN" altLang="en-US" sz="2400" b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3644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MATLAB GA function syntax 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43869FB5-2C56-B6A5-1D50-2F1DB3E6C8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801" y="1422400"/>
            <a:ext cx="10466354" cy="41549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rgbClr val="0563C1"/>
                </a:solidFill>
                <a:effectLst/>
                <a:latin typeface="Arial" panose="020B0604020202020204" pitchFamily="34" charset="0"/>
                <a:ea typeface="Menlo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x</a:t>
            </a: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Arial" panose="020B0604020202020204" pitchFamily="34" charset="0"/>
                <a:ea typeface="Menlo"/>
                <a:cs typeface="Arial" panose="020B0604020202020204" pitchFamily="34" charset="0"/>
              </a:rPr>
              <a:t> = ga(</a:t>
            </a: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rgbClr val="0563C1"/>
                </a:solidFill>
                <a:effectLst/>
                <a:latin typeface="Arial" panose="020B0604020202020204" pitchFamily="34" charset="0"/>
                <a:ea typeface="Menlo"/>
                <a:cs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fun</a:t>
            </a: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Arial" panose="020B0604020202020204" pitchFamily="34" charset="0"/>
                <a:ea typeface="Menlo"/>
                <a:cs typeface="Arial" panose="020B0604020202020204" pitchFamily="34" charset="0"/>
              </a:rPr>
              <a:t>,</a:t>
            </a: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rgbClr val="0563C1"/>
                </a:solidFill>
                <a:effectLst/>
                <a:latin typeface="Arial" panose="020B0604020202020204" pitchFamily="34" charset="0"/>
                <a:ea typeface="Menlo"/>
                <a:cs typeface="Arial" panose="020B0604020202020204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nvars</a:t>
            </a: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Arial" panose="020B0604020202020204" pitchFamily="34" charset="0"/>
                <a:ea typeface="Menlo"/>
                <a:cs typeface="Arial" panose="020B0604020202020204" pitchFamily="34" charset="0"/>
              </a:rPr>
              <a:t>)</a:t>
            </a: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 </a:t>
            </a:r>
            <a:endParaRPr kumimoji="0" lang="en-GB" altLang="zh-CN" sz="2400" b="1" i="0" u="none" strike="noStrike" cap="none" normalizeH="0" baseline="0" dirty="0">
              <a:ln>
                <a:noFill/>
              </a:ln>
              <a:solidFill>
                <a:srgbClr val="212121"/>
              </a:solidFill>
              <a:effectLst/>
              <a:latin typeface="Arial" panose="020B0604020202020204" pitchFamily="34" charset="0"/>
              <a:ea typeface="Roboto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zh-CN" sz="2400" dirty="0">
              <a:solidFill>
                <a:srgbClr val="212121"/>
              </a:solidFill>
              <a:latin typeface="Arial" panose="020B0604020202020204" pitchFamily="34" charset="0"/>
              <a:ea typeface="Roboto"/>
              <a:cs typeface="Arial" panose="020B0604020202020204" pitchFamily="34" charset="0"/>
            </a:endParaRPr>
          </a:p>
          <a:p>
            <a:pPr marL="342900" lvl="0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GB" altLang="zh-CN" sz="2400" dirty="0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It carries out minimization. </a:t>
            </a:r>
          </a:p>
          <a:p>
            <a:pPr marL="342900" lvl="0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GB" altLang="zh-CN" sz="2400" dirty="0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No constraint is considered. </a:t>
            </a:r>
          </a:p>
          <a:p>
            <a:pPr marL="342900" lvl="0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GB" altLang="zh-CN" sz="2400" dirty="0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No search bound is considered. F</a:t>
            </a:r>
            <a:r>
              <a:rPr lang="en-US" altLang="zh-CN" sz="2400" dirty="0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or initialization of continuous variables, the default </a:t>
            </a:r>
            <a:r>
              <a:rPr lang="en-GB" altLang="zh-CN" sz="2400" dirty="0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search bound</a:t>
            </a:r>
            <a:r>
              <a:rPr lang="en-US" altLang="zh-CN" sz="2400" dirty="0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 is [-10, 10]. For integer variables, the default </a:t>
            </a:r>
            <a:r>
              <a:rPr lang="en-GB" altLang="zh-CN" sz="2400" dirty="0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search bound</a:t>
            </a:r>
            <a:r>
              <a:rPr lang="en-US" altLang="zh-CN" sz="2400" dirty="0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 is [- 10001, 10001]. </a:t>
            </a:r>
            <a:endParaRPr lang="en-GB" altLang="zh-CN" sz="2400" dirty="0">
              <a:latin typeface="Arial" panose="020B0604020202020204" pitchFamily="34" charset="0"/>
              <a:ea typeface="Roboto"/>
              <a:cs typeface="Arial" panose="020B0604020202020204" pitchFamily="34" charset="0"/>
            </a:endParaRP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endParaRPr lang="en-GB" altLang="zh-CN" sz="2400" dirty="0">
              <a:solidFill>
                <a:srgbClr val="212121"/>
              </a:solidFill>
              <a:latin typeface="Arial" panose="020B0604020202020204" pitchFamily="34" charset="0"/>
              <a:ea typeface="Roboto"/>
              <a:cs typeface="Arial" panose="020B0604020202020204" pitchFamily="34" charset="0"/>
            </a:endParaRPr>
          </a:p>
          <a:p>
            <a:pPr marL="342900" lvl="0" indent="-342900" fontAlgn="base"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zh-CN" sz="2400" u="sng" dirty="0">
                <a:solidFill>
                  <a:srgbClr val="0563C1"/>
                </a:solidFill>
                <a:latin typeface="Arial" panose="020B0604020202020204" pitchFamily="34" charset="0"/>
                <a:ea typeface="Menlo"/>
                <a:cs typeface="Arial" panose="020B0604020202020204" pitchFamily="34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x</a:t>
            </a:r>
            <a:r>
              <a:rPr lang="en-US" altLang="zh-CN" sz="2400" dirty="0">
                <a:solidFill>
                  <a:srgbClr val="212121"/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is the optimal solution (</a:t>
            </a:r>
            <a:r>
              <a:rPr lang="zh-CN" altLang="zh-CN" sz="2400" dirty="0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de</a:t>
            </a:r>
            <a:r>
              <a:rPr lang="en-GB" altLang="zh-CN" sz="2400" dirty="0" err="1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cision</a:t>
            </a:r>
            <a:r>
              <a:rPr lang="zh-CN" altLang="zh-CN" sz="2400" dirty="0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 variables</a:t>
            </a:r>
            <a:r>
              <a:rPr lang="en-US" altLang="zh-CN" sz="2400" dirty="0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) after optimization.</a:t>
            </a:r>
            <a:endParaRPr lang="en-US" altLang="zh-CN" sz="2400" dirty="0">
              <a:latin typeface="Arial" panose="020B0604020202020204" pitchFamily="34" charset="0"/>
              <a:ea typeface="Menlo"/>
              <a:cs typeface="Arial" panose="020B0604020202020204" pitchFamily="34" charset="0"/>
            </a:endParaRPr>
          </a:p>
          <a:p>
            <a:pPr marL="342900" lvl="0" indent="-342900" fontAlgn="base"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zh-CN" sz="2400" u="sng" dirty="0">
                <a:solidFill>
                  <a:srgbClr val="0563C1"/>
                </a:solidFill>
                <a:latin typeface="Arial" panose="020B0604020202020204" pitchFamily="34" charset="0"/>
                <a:ea typeface="Menlo"/>
                <a:cs typeface="Arial" panose="020B0604020202020204" pitchFamily="34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fun</a:t>
            </a:r>
            <a:r>
              <a:rPr lang="en-US" altLang="zh-CN" sz="2400" dirty="0">
                <a:solidFill>
                  <a:srgbClr val="212121"/>
                </a:solidFill>
                <a:latin typeface="Arial" panose="020B0604020202020204" pitchFamily="34" charset="0"/>
                <a:ea typeface="Menlo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ea typeface="Menlo"/>
                <a:cs typeface="Arial" panose="020B0604020202020204" pitchFamily="34" charset="0"/>
              </a:rPr>
              <a:t>is </a:t>
            </a:r>
            <a:r>
              <a:rPr lang="zh-CN" altLang="zh-CN" sz="2400" dirty="0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the objective function</a:t>
            </a:r>
            <a:r>
              <a:rPr lang="en-GB" altLang="zh-CN" sz="2400" dirty="0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.</a:t>
            </a:r>
            <a:endParaRPr lang="en-US" altLang="zh-CN" sz="2400" dirty="0">
              <a:latin typeface="Arial" panose="020B0604020202020204" pitchFamily="34" charset="0"/>
              <a:ea typeface="Menlo"/>
              <a:cs typeface="Arial" panose="020B0604020202020204" pitchFamily="34" charset="0"/>
            </a:endParaRPr>
          </a:p>
          <a:p>
            <a:pPr marL="342900" lvl="0" indent="-342900" fontAlgn="base"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zh-CN" sz="2400" u="sng" dirty="0">
                <a:solidFill>
                  <a:srgbClr val="0563C1"/>
                </a:solidFill>
                <a:latin typeface="Arial" panose="020B0604020202020204" pitchFamily="34" charset="0"/>
                <a:ea typeface="Menlo"/>
                <a:cs typeface="Arial" panose="020B0604020202020204" pitchFamily="34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nvars</a:t>
            </a:r>
            <a:r>
              <a:rPr lang="zh-CN" altLang="zh-CN" sz="2400" dirty="0">
                <a:solidFill>
                  <a:srgbClr val="212121"/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 </a:t>
            </a:r>
            <a:r>
              <a:rPr lang="zh-CN" altLang="zh-CN" sz="2400" dirty="0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is</a:t>
            </a:r>
            <a:r>
              <a:rPr lang="en-US" altLang="zh-CN" sz="2400" dirty="0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 </a:t>
            </a:r>
            <a:r>
              <a:rPr lang="zh-CN" altLang="zh-CN" sz="2400" dirty="0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the dimension (number of de</a:t>
            </a:r>
            <a:r>
              <a:rPr lang="en-GB" altLang="zh-CN" sz="2400" dirty="0" err="1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cision</a:t>
            </a:r>
            <a:r>
              <a:rPr lang="zh-CN" altLang="zh-CN" sz="2400" dirty="0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 variables) of</a:t>
            </a:r>
            <a:r>
              <a:rPr lang="zh-CN" altLang="zh-CN" sz="2400" dirty="0">
                <a:solidFill>
                  <a:srgbClr val="212121"/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 </a:t>
            </a:r>
            <a:r>
              <a:rPr lang="zh-CN" altLang="zh-CN" sz="2400" u="sng" dirty="0">
                <a:solidFill>
                  <a:srgbClr val="0563C1"/>
                </a:solidFill>
                <a:latin typeface="Arial" panose="020B0604020202020204" pitchFamily="34" charset="0"/>
                <a:ea typeface="Menlo"/>
                <a:cs typeface="Arial" panose="020B0604020202020204" pitchFamily="34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fun</a:t>
            </a:r>
            <a:r>
              <a:rPr lang="zh-CN" altLang="zh-CN" sz="2400" dirty="0">
                <a:solidFill>
                  <a:srgbClr val="0563C1"/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.</a:t>
            </a:r>
            <a:r>
              <a:rPr lang="zh-CN" altLang="zh-CN" sz="2400" dirty="0">
                <a:solidFill>
                  <a:prstClr val="black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 </a:t>
            </a:r>
            <a:endParaRPr lang="en-US" altLang="zh-CN" sz="2400" dirty="0">
              <a:solidFill>
                <a:prstClr val="black"/>
              </a:solidFill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4935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Syntax of GA algorithm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38CA48F1-011D-CBA6-030D-8443D3053C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801" y="1422400"/>
            <a:ext cx="8887776" cy="41549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zh-CN" altLang="zh-CN" sz="2400" u="sng" dirty="0">
                <a:solidFill>
                  <a:srgbClr val="0563C1"/>
                </a:solidFill>
                <a:latin typeface="Arial" panose="020B0604020202020204" pitchFamily="34" charset="0"/>
                <a:ea typeface="Menlo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x = ga(fun,nvars,</a:t>
            </a:r>
            <a:r>
              <a:rPr lang="en-US" altLang="zh-CN" sz="2400" u="sng" dirty="0">
                <a:solidFill>
                  <a:srgbClr val="0563C1"/>
                </a:solidFill>
                <a:latin typeface="Arial" panose="020B0604020202020204" pitchFamily="34" charset="0"/>
                <a:ea typeface="Menlo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[]</a:t>
            </a:r>
            <a:r>
              <a:rPr lang="zh-CN" altLang="zh-CN" sz="2400" u="sng" dirty="0">
                <a:solidFill>
                  <a:srgbClr val="0563C1"/>
                </a:solidFill>
                <a:latin typeface="Arial" panose="020B0604020202020204" pitchFamily="34" charset="0"/>
                <a:ea typeface="Menlo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,</a:t>
            </a:r>
            <a:r>
              <a:rPr lang="en-US" altLang="zh-CN" sz="2400" u="sng" dirty="0">
                <a:solidFill>
                  <a:srgbClr val="0563C1"/>
                </a:solidFill>
                <a:latin typeface="Arial" panose="020B0604020202020204" pitchFamily="34" charset="0"/>
                <a:ea typeface="Menlo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[]</a:t>
            </a:r>
            <a:r>
              <a:rPr lang="zh-CN" altLang="zh-CN" sz="2400" u="sng" dirty="0">
                <a:solidFill>
                  <a:srgbClr val="0563C1"/>
                </a:solidFill>
                <a:latin typeface="Arial" panose="020B0604020202020204" pitchFamily="34" charset="0"/>
                <a:ea typeface="Menlo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,</a:t>
            </a:r>
            <a:r>
              <a:rPr lang="en-US" altLang="zh-CN" sz="2400" u="sng" dirty="0">
                <a:solidFill>
                  <a:srgbClr val="0563C1"/>
                </a:solidFill>
                <a:latin typeface="Arial" panose="020B0604020202020204" pitchFamily="34" charset="0"/>
                <a:ea typeface="Menlo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[]</a:t>
            </a:r>
            <a:r>
              <a:rPr lang="zh-CN" altLang="zh-CN" sz="2400" u="sng" dirty="0">
                <a:solidFill>
                  <a:srgbClr val="0563C1"/>
                </a:solidFill>
                <a:latin typeface="Arial" panose="020B0604020202020204" pitchFamily="34" charset="0"/>
                <a:ea typeface="Menlo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,</a:t>
            </a:r>
            <a:r>
              <a:rPr lang="en-US" altLang="zh-CN" sz="2400" u="sng" dirty="0">
                <a:solidFill>
                  <a:srgbClr val="0563C1"/>
                </a:solidFill>
                <a:latin typeface="Arial" panose="020B0604020202020204" pitchFamily="34" charset="0"/>
                <a:ea typeface="Menlo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[]</a:t>
            </a:r>
            <a:r>
              <a:rPr lang="zh-CN" altLang="zh-CN" sz="2400" u="sng" dirty="0">
                <a:solidFill>
                  <a:srgbClr val="0563C1"/>
                </a:solidFill>
                <a:latin typeface="Arial" panose="020B0604020202020204" pitchFamily="34" charset="0"/>
                <a:ea typeface="Menlo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,</a:t>
            </a:r>
            <a:r>
              <a:rPr lang="zh-CN" altLang="zh-CN" sz="2400" u="sng" dirty="0">
                <a:solidFill>
                  <a:srgbClr val="FF0000"/>
                </a:solidFill>
                <a:latin typeface="Arial" panose="020B0604020202020204" pitchFamily="34" charset="0"/>
                <a:ea typeface="Menlo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lb,ub</a:t>
            </a:r>
            <a:r>
              <a:rPr lang="zh-CN" altLang="zh-CN" sz="2400" u="sng" dirty="0">
                <a:solidFill>
                  <a:srgbClr val="0563C1"/>
                </a:solidFill>
                <a:latin typeface="Arial" panose="020B0604020202020204" pitchFamily="34" charset="0"/>
                <a:ea typeface="Menlo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)</a:t>
            </a:r>
            <a:r>
              <a:rPr lang="en-US" altLang="zh-CN" sz="2400" u="sng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 </a:t>
            </a: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 </a:t>
            </a:r>
            <a:endParaRPr kumimoji="0" lang="en-US" altLang="zh-CN" sz="2400" b="1" i="0" u="none" strike="noStrike" cap="none" normalizeH="0" baseline="0" dirty="0">
              <a:ln>
                <a:noFill/>
              </a:ln>
              <a:solidFill>
                <a:srgbClr val="212121"/>
              </a:solidFill>
              <a:effectLst/>
              <a:latin typeface="Arial" panose="020B0604020202020204" pitchFamily="34" charset="0"/>
              <a:ea typeface="Roboto"/>
              <a:cs typeface="Arial" panose="020B0604020202020204" pitchFamily="34" charset="0"/>
            </a:endParaRP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endParaRPr kumimoji="0" lang="en-GB" altLang="zh-CN" sz="2400" b="1" i="0" u="none" strike="noStrike" cap="none" normalizeH="0" baseline="0" dirty="0">
              <a:ln>
                <a:noFill/>
              </a:ln>
              <a:solidFill>
                <a:srgbClr val="212121"/>
              </a:solidFill>
              <a:effectLst/>
              <a:latin typeface="Arial" panose="020B0604020202020204" pitchFamily="34" charset="0"/>
              <a:ea typeface="Roboto"/>
              <a:cs typeface="Arial" panose="020B0604020202020204" pitchFamily="34" charset="0"/>
            </a:endParaRPr>
          </a:p>
          <a:p>
            <a:pPr marL="342900" lvl="0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GB" altLang="zh-CN" sz="2400" dirty="0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Search bounds/ranges are considered.  </a:t>
            </a:r>
          </a:p>
          <a:p>
            <a:pPr marL="342900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zh-CN" sz="24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Menlo"/>
              <a:cs typeface="Arial" panose="020B0604020202020204" pitchFamily="34" charset="0"/>
            </a:endParaRPr>
          </a:p>
          <a:p>
            <a:pPr marL="342900" lvl="0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zh-CN" sz="2400" u="sng" dirty="0">
                <a:solidFill>
                  <a:srgbClr val="0563C1"/>
                </a:solidFill>
                <a:latin typeface="Arial" panose="020B0604020202020204" pitchFamily="34" charset="0"/>
                <a:ea typeface="Menlo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x</a:t>
            </a:r>
            <a:r>
              <a:rPr lang="en-US" altLang="zh-CN" sz="2400" dirty="0">
                <a:solidFill>
                  <a:srgbClr val="212121"/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is the optimal solution (</a:t>
            </a:r>
            <a:r>
              <a:rPr lang="zh-CN" altLang="zh-CN" sz="2400" dirty="0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de</a:t>
            </a:r>
            <a:r>
              <a:rPr lang="en-GB" altLang="zh-CN" sz="2400" dirty="0" err="1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cision</a:t>
            </a:r>
            <a:r>
              <a:rPr lang="zh-CN" altLang="zh-CN" sz="2400" dirty="0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 variables</a:t>
            </a:r>
            <a:r>
              <a:rPr lang="en-US" altLang="zh-CN" sz="2400" dirty="0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) after optimization.</a:t>
            </a:r>
            <a:endParaRPr lang="en-US" altLang="zh-CN" sz="2400" dirty="0">
              <a:latin typeface="Arial" panose="020B0604020202020204" pitchFamily="34" charset="0"/>
              <a:ea typeface="Menlo"/>
              <a:cs typeface="Arial" panose="020B0604020202020204" pitchFamily="34" charset="0"/>
            </a:endParaRPr>
          </a:p>
          <a:p>
            <a:pPr marL="342900" lvl="0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zh-CN" sz="2400" u="sng" dirty="0">
                <a:solidFill>
                  <a:srgbClr val="0563C1"/>
                </a:solidFill>
                <a:latin typeface="Arial" panose="020B0604020202020204" pitchFamily="34" charset="0"/>
                <a:ea typeface="Menlo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fun</a:t>
            </a:r>
            <a:r>
              <a:rPr lang="en-US" altLang="zh-CN" sz="2400" dirty="0">
                <a:solidFill>
                  <a:srgbClr val="212121"/>
                </a:solidFill>
                <a:latin typeface="Arial" panose="020B0604020202020204" pitchFamily="34" charset="0"/>
                <a:ea typeface="Menlo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ea typeface="Menlo"/>
                <a:cs typeface="Arial" panose="020B0604020202020204" pitchFamily="34" charset="0"/>
              </a:rPr>
              <a:t>is </a:t>
            </a:r>
            <a:r>
              <a:rPr lang="zh-CN" altLang="zh-CN" sz="2400" dirty="0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the objective function</a:t>
            </a:r>
            <a:r>
              <a:rPr lang="en-GB" altLang="zh-CN" sz="2400" dirty="0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.</a:t>
            </a:r>
            <a:endParaRPr lang="en-US" altLang="zh-CN" sz="2400" dirty="0">
              <a:latin typeface="Arial" panose="020B0604020202020204" pitchFamily="34" charset="0"/>
              <a:ea typeface="Menlo"/>
              <a:cs typeface="Arial" panose="020B0604020202020204" pitchFamily="34" charset="0"/>
            </a:endParaRPr>
          </a:p>
          <a:p>
            <a:pPr marL="342900" lvl="0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zh-CN" sz="2400" u="sng" dirty="0">
                <a:solidFill>
                  <a:srgbClr val="0563C1"/>
                </a:solidFill>
                <a:latin typeface="Arial" panose="020B0604020202020204" pitchFamily="34" charset="0"/>
                <a:ea typeface="Menlo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nvars</a:t>
            </a:r>
            <a:r>
              <a:rPr lang="zh-CN" altLang="zh-CN" sz="2400" dirty="0">
                <a:solidFill>
                  <a:srgbClr val="212121"/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 </a:t>
            </a:r>
            <a:r>
              <a:rPr lang="zh-CN" altLang="zh-CN" sz="2400" dirty="0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is</a:t>
            </a:r>
            <a:r>
              <a:rPr lang="en-US" altLang="zh-CN" sz="2400" dirty="0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 </a:t>
            </a:r>
            <a:r>
              <a:rPr lang="zh-CN" altLang="zh-CN" sz="2400" dirty="0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the dimension (number of de</a:t>
            </a:r>
            <a:r>
              <a:rPr lang="en-GB" altLang="zh-CN" sz="2400" dirty="0" err="1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cision</a:t>
            </a:r>
            <a:r>
              <a:rPr lang="zh-CN" altLang="zh-CN" sz="2400" dirty="0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 variables) of</a:t>
            </a:r>
            <a:r>
              <a:rPr lang="zh-CN" altLang="zh-CN" sz="2400" dirty="0">
                <a:solidFill>
                  <a:srgbClr val="212121"/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 </a:t>
            </a:r>
            <a:r>
              <a:rPr lang="zh-CN" altLang="zh-CN" sz="2400" u="sng" dirty="0">
                <a:solidFill>
                  <a:srgbClr val="0563C1"/>
                </a:solidFill>
                <a:latin typeface="Arial" panose="020B0604020202020204" pitchFamily="34" charset="0"/>
                <a:ea typeface="Menlo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fun</a:t>
            </a:r>
            <a:r>
              <a:rPr lang="zh-CN" altLang="zh-CN" sz="2400" dirty="0">
                <a:solidFill>
                  <a:srgbClr val="0563C1"/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.</a:t>
            </a:r>
            <a:r>
              <a:rPr lang="zh-CN" altLang="zh-CN" sz="2400" dirty="0">
                <a:solidFill>
                  <a:prstClr val="black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 </a:t>
            </a:r>
            <a:endParaRPr lang="en-US" altLang="zh-CN" sz="2400" dirty="0">
              <a:solidFill>
                <a:prstClr val="black"/>
              </a:solidFill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  <a:p>
            <a:pPr marL="342900" lvl="0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zh-CN" sz="2400" dirty="0">
              <a:solidFill>
                <a:srgbClr val="0076A8"/>
              </a:solidFill>
              <a:latin typeface="Arial" panose="020B0604020202020204" pitchFamily="34" charset="0"/>
              <a:ea typeface="Menlo"/>
              <a:cs typeface="Arial" panose="020B0604020202020204" pitchFamily="34" charset="0"/>
            </a:endParaRPr>
          </a:p>
          <a:p>
            <a:pPr marL="342900" lvl="0" indent="-342900" fontAlgn="base"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zh-CN" sz="2400" u="sng" dirty="0">
                <a:solidFill>
                  <a:srgbClr val="FF0000"/>
                </a:solidFill>
                <a:latin typeface="Arial" panose="020B0604020202020204" pitchFamily="34" charset="0"/>
                <a:ea typeface="Menlo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lb</a:t>
            </a:r>
            <a:r>
              <a:rPr lang="en-US" altLang="zh-CN" sz="2400" dirty="0">
                <a:solidFill>
                  <a:srgbClr val="212121"/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is the lower bound of the decision variables.</a:t>
            </a:r>
            <a:endParaRPr lang="en-US" altLang="zh-CN" sz="2400" dirty="0">
              <a:latin typeface="Arial" panose="020B0604020202020204" pitchFamily="34" charset="0"/>
              <a:ea typeface="Menlo"/>
              <a:cs typeface="Arial" panose="020B0604020202020204" pitchFamily="34" charset="0"/>
            </a:endParaRPr>
          </a:p>
          <a:p>
            <a:pPr marL="342900" lvl="0" indent="-342900" fontAlgn="base"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zh-CN" sz="2400" u="sng" dirty="0">
                <a:solidFill>
                  <a:srgbClr val="FF0000"/>
                </a:solidFill>
                <a:latin typeface="Arial" panose="020B0604020202020204" pitchFamily="34" charset="0"/>
                <a:ea typeface="Menlo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ub</a:t>
            </a:r>
            <a:r>
              <a:rPr lang="en-US" altLang="zh-CN" sz="2400" dirty="0">
                <a:solidFill>
                  <a:srgbClr val="212121"/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is the upper bound of the decision variables.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zh-CN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 </a:t>
            </a:r>
            <a:endParaRPr lang="en-US" altLang="zh-CN" sz="2400" dirty="0">
              <a:solidFill>
                <a:srgbClr val="0076A8"/>
              </a:solidFill>
              <a:latin typeface="Arial" panose="020B0604020202020204" pitchFamily="34" charset="0"/>
              <a:ea typeface="Menlo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8355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Syntax of GA algorithm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B11FF58C-AABA-2F79-46EC-4376E693AD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801" y="1415018"/>
            <a:ext cx="10251750" cy="452431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zh-CN" altLang="zh-CN" sz="2400" u="sng" dirty="0">
                <a:solidFill>
                  <a:srgbClr val="0563C1"/>
                </a:solidFill>
                <a:latin typeface="Arial" panose="020B0604020202020204" pitchFamily="34" charset="0"/>
                <a:ea typeface="Menlo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x = ga(fun,nvars,</a:t>
            </a:r>
            <a:r>
              <a:rPr lang="en-US" altLang="zh-CN" sz="2400" u="sng" dirty="0">
                <a:solidFill>
                  <a:srgbClr val="0563C1"/>
                </a:solidFill>
                <a:latin typeface="Arial" panose="020B0604020202020204" pitchFamily="34" charset="0"/>
                <a:ea typeface="Menlo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[]</a:t>
            </a:r>
            <a:r>
              <a:rPr lang="zh-CN" altLang="zh-CN" sz="2400" u="sng" dirty="0">
                <a:solidFill>
                  <a:srgbClr val="0563C1"/>
                </a:solidFill>
                <a:latin typeface="Arial" panose="020B0604020202020204" pitchFamily="34" charset="0"/>
                <a:ea typeface="Menlo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,</a:t>
            </a:r>
            <a:r>
              <a:rPr lang="en-US" altLang="zh-CN" sz="2400" u="sng" dirty="0">
                <a:solidFill>
                  <a:srgbClr val="0563C1"/>
                </a:solidFill>
                <a:latin typeface="Arial" panose="020B0604020202020204" pitchFamily="34" charset="0"/>
                <a:ea typeface="Menlo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[]</a:t>
            </a:r>
            <a:r>
              <a:rPr lang="zh-CN" altLang="zh-CN" sz="2400" u="sng" dirty="0">
                <a:solidFill>
                  <a:srgbClr val="0563C1"/>
                </a:solidFill>
                <a:latin typeface="Arial" panose="020B0604020202020204" pitchFamily="34" charset="0"/>
                <a:ea typeface="Menlo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,</a:t>
            </a:r>
            <a:r>
              <a:rPr lang="en-US" altLang="zh-CN" sz="2400" u="sng" dirty="0">
                <a:solidFill>
                  <a:srgbClr val="0563C1"/>
                </a:solidFill>
                <a:latin typeface="Arial" panose="020B0604020202020204" pitchFamily="34" charset="0"/>
                <a:ea typeface="Menlo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[]</a:t>
            </a:r>
            <a:r>
              <a:rPr lang="zh-CN" altLang="zh-CN" sz="2400" u="sng" dirty="0">
                <a:solidFill>
                  <a:srgbClr val="0563C1"/>
                </a:solidFill>
                <a:latin typeface="Arial" panose="020B0604020202020204" pitchFamily="34" charset="0"/>
                <a:ea typeface="Menlo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,</a:t>
            </a:r>
            <a:r>
              <a:rPr lang="en-US" altLang="zh-CN" sz="2400" u="sng" dirty="0">
                <a:solidFill>
                  <a:srgbClr val="0563C1"/>
                </a:solidFill>
                <a:latin typeface="Arial" panose="020B0604020202020204" pitchFamily="34" charset="0"/>
                <a:ea typeface="Menlo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[]</a:t>
            </a:r>
            <a:r>
              <a:rPr lang="zh-CN" altLang="zh-CN" sz="2400" u="sng" dirty="0">
                <a:solidFill>
                  <a:srgbClr val="0563C1"/>
                </a:solidFill>
                <a:latin typeface="Arial" panose="020B0604020202020204" pitchFamily="34" charset="0"/>
                <a:ea typeface="Menlo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,lb,ub</a:t>
            </a:r>
            <a:r>
              <a:rPr lang="en-US" altLang="zh-CN" sz="2400" u="sng" dirty="0">
                <a:solidFill>
                  <a:srgbClr val="0563C1"/>
                </a:solidFill>
                <a:latin typeface="Arial" panose="020B0604020202020204" pitchFamily="34" charset="0"/>
                <a:ea typeface="Menlo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,[],</a:t>
            </a:r>
            <a:r>
              <a:rPr lang="zh-CN" altLang="zh-CN" sz="2400" u="sng" dirty="0">
                <a:solidFill>
                  <a:srgbClr val="FF0000"/>
                </a:solidFill>
                <a:latin typeface="Arial" panose="020B0604020202020204" pitchFamily="34" charset="0"/>
                <a:ea typeface="Menlo"/>
                <a:cs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options</a:t>
            </a:r>
            <a:r>
              <a:rPr lang="zh-CN" altLang="zh-CN" sz="2400" u="sng" dirty="0">
                <a:solidFill>
                  <a:srgbClr val="0563C1"/>
                </a:solidFill>
                <a:latin typeface="Arial" panose="020B0604020202020204" pitchFamily="34" charset="0"/>
                <a:ea typeface="Menlo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)</a:t>
            </a:r>
            <a:r>
              <a:rPr lang="en-US" altLang="zh-CN" sz="2400" u="sng" dirty="0">
                <a:solidFill>
                  <a:srgbClr val="0563C1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 </a:t>
            </a:r>
            <a:r>
              <a:rPr lang="zh-CN" altLang="zh-CN" sz="2400" b="1" dirty="0">
                <a:solidFill>
                  <a:srgbClr val="0563C1"/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 </a:t>
            </a:r>
            <a:endParaRPr lang="en-US" altLang="zh-CN" sz="2400" b="1" dirty="0">
              <a:solidFill>
                <a:srgbClr val="0563C1"/>
              </a:solidFill>
              <a:latin typeface="Arial" panose="020B0604020202020204" pitchFamily="34" charset="0"/>
              <a:ea typeface="Roboto"/>
              <a:cs typeface="Arial" panose="020B0604020202020204" pitchFamily="34" charset="0"/>
            </a:endParaRP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endParaRPr kumimoji="0" lang="en-GB" altLang="zh-CN" sz="2400" b="1" i="0" u="none" strike="noStrike" cap="none" normalizeH="0" baseline="0" dirty="0">
              <a:ln>
                <a:noFill/>
              </a:ln>
              <a:solidFill>
                <a:srgbClr val="212121"/>
              </a:solidFill>
              <a:effectLst/>
              <a:latin typeface="Arial" panose="020B0604020202020204" pitchFamily="34" charset="0"/>
              <a:ea typeface="Roboto"/>
              <a:cs typeface="Arial" panose="020B0604020202020204" pitchFamily="34" charset="0"/>
            </a:endParaRPr>
          </a:p>
          <a:p>
            <a:pPr marL="342900" lvl="0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Optimization settings (e.g., GA parameters, plot) are considered. </a:t>
            </a:r>
          </a:p>
          <a:p>
            <a:pPr marL="342900" lvl="0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zh-CN" sz="2400" dirty="0">
              <a:solidFill>
                <a:srgbClr val="0076A8"/>
              </a:solidFill>
              <a:latin typeface="Arial" panose="020B0604020202020204" pitchFamily="34" charset="0"/>
              <a:ea typeface="Menlo"/>
              <a:cs typeface="Arial" panose="020B0604020202020204" pitchFamily="34" charset="0"/>
            </a:endParaRPr>
          </a:p>
          <a:p>
            <a:pPr marL="342900" lvl="0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zh-CN" sz="2400" u="sng" dirty="0">
                <a:solidFill>
                  <a:srgbClr val="0563C1"/>
                </a:solidFill>
                <a:latin typeface="Arial" panose="020B0604020202020204" pitchFamily="34" charset="0"/>
                <a:ea typeface="Menlo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x</a:t>
            </a:r>
            <a:r>
              <a:rPr lang="en-US" altLang="zh-CN" sz="2400" dirty="0">
                <a:solidFill>
                  <a:srgbClr val="212121"/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is the optimal solution (</a:t>
            </a:r>
            <a:r>
              <a:rPr lang="zh-CN" altLang="zh-CN" sz="2400" dirty="0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de</a:t>
            </a:r>
            <a:r>
              <a:rPr lang="en-GB" altLang="zh-CN" sz="2400" dirty="0" err="1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cision</a:t>
            </a:r>
            <a:r>
              <a:rPr lang="zh-CN" altLang="zh-CN" sz="2400" dirty="0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 variables</a:t>
            </a:r>
            <a:r>
              <a:rPr lang="en-US" altLang="zh-CN" sz="2400" dirty="0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) after optimization.</a:t>
            </a:r>
            <a:endParaRPr lang="en-US" altLang="zh-CN" sz="2400" dirty="0">
              <a:latin typeface="Arial" panose="020B0604020202020204" pitchFamily="34" charset="0"/>
              <a:ea typeface="Menlo"/>
              <a:cs typeface="Arial" panose="020B0604020202020204" pitchFamily="34" charset="0"/>
            </a:endParaRPr>
          </a:p>
          <a:p>
            <a:pPr marL="342900" lvl="0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zh-CN" sz="2400" u="sng" dirty="0">
                <a:solidFill>
                  <a:srgbClr val="0563C1"/>
                </a:solidFill>
                <a:latin typeface="Arial" panose="020B0604020202020204" pitchFamily="34" charset="0"/>
                <a:ea typeface="Menlo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fun</a:t>
            </a:r>
            <a:r>
              <a:rPr lang="en-US" altLang="zh-CN" sz="2400" dirty="0">
                <a:solidFill>
                  <a:srgbClr val="212121"/>
                </a:solidFill>
                <a:latin typeface="Arial" panose="020B0604020202020204" pitchFamily="34" charset="0"/>
                <a:ea typeface="Menlo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ea typeface="Menlo"/>
                <a:cs typeface="Arial" panose="020B0604020202020204" pitchFamily="34" charset="0"/>
              </a:rPr>
              <a:t>is </a:t>
            </a:r>
            <a:r>
              <a:rPr lang="zh-CN" altLang="zh-CN" sz="2400" dirty="0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the objective function</a:t>
            </a:r>
            <a:r>
              <a:rPr lang="en-GB" altLang="zh-CN" sz="2400" dirty="0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.</a:t>
            </a:r>
            <a:endParaRPr lang="en-US" altLang="zh-CN" sz="2400" dirty="0">
              <a:latin typeface="Arial" panose="020B0604020202020204" pitchFamily="34" charset="0"/>
              <a:ea typeface="Menlo"/>
              <a:cs typeface="Arial" panose="020B0604020202020204" pitchFamily="34" charset="0"/>
            </a:endParaRPr>
          </a:p>
          <a:p>
            <a:pPr marL="342900" lvl="0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zh-CN" sz="2400" u="sng" dirty="0">
                <a:solidFill>
                  <a:srgbClr val="0563C1"/>
                </a:solidFill>
                <a:latin typeface="Arial" panose="020B0604020202020204" pitchFamily="34" charset="0"/>
                <a:ea typeface="Menlo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nvars</a:t>
            </a:r>
            <a:r>
              <a:rPr lang="zh-CN" altLang="zh-CN" sz="2400" dirty="0">
                <a:solidFill>
                  <a:srgbClr val="212121"/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 </a:t>
            </a:r>
            <a:r>
              <a:rPr lang="zh-CN" altLang="zh-CN" sz="2400" dirty="0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is</a:t>
            </a:r>
            <a:r>
              <a:rPr lang="en-US" altLang="zh-CN" sz="2400" dirty="0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 </a:t>
            </a:r>
            <a:r>
              <a:rPr lang="zh-CN" altLang="zh-CN" sz="2400" dirty="0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the dimension (number of de</a:t>
            </a:r>
            <a:r>
              <a:rPr lang="en-GB" altLang="zh-CN" sz="2400" dirty="0" err="1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cision</a:t>
            </a:r>
            <a:r>
              <a:rPr lang="zh-CN" altLang="zh-CN" sz="2400" dirty="0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 variables) of </a:t>
            </a:r>
            <a:r>
              <a:rPr lang="zh-CN" altLang="zh-CN" sz="2400" u="sng" dirty="0">
                <a:solidFill>
                  <a:srgbClr val="0563C1"/>
                </a:solidFill>
                <a:latin typeface="Arial" panose="020B0604020202020204" pitchFamily="34" charset="0"/>
                <a:ea typeface="Menlo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fun</a:t>
            </a:r>
            <a:r>
              <a:rPr lang="zh-CN" altLang="zh-CN" sz="2400" dirty="0">
                <a:solidFill>
                  <a:srgbClr val="212121"/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.</a:t>
            </a:r>
            <a:r>
              <a:rPr lang="zh-CN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 </a:t>
            </a:r>
            <a:endParaRPr lang="en-US" altLang="zh-CN" sz="2400" dirty="0">
              <a:solidFill>
                <a:srgbClr val="0076A8"/>
              </a:solidFill>
              <a:latin typeface="Arial" panose="020B0604020202020204" pitchFamily="34" charset="0"/>
              <a:ea typeface="Menlo"/>
              <a:cs typeface="Arial" panose="020B0604020202020204" pitchFamily="34" charset="0"/>
            </a:endParaRPr>
          </a:p>
          <a:p>
            <a:pPr marL="342900" lvl="0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zh-CN" sz="2400" u="sng" dirty="0">
                <a:solidFill>
                  <a:srgbClr val="0563C1"/>
                </a:solidFill>
                <a:latin typeface="Arial" panose="020B0604020202020204" pitchFamily="34" charset="0"/>
                <a:ea typeface="Menlo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lb</a:t>
            </a:r>
            <a:r>
              <a:rPr lang="en-US" altLang="zh-CN" sz="2400" dirty="0">
                <a:solidFill>
                  <a:srgbClr val="212121"/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is the lower bound of the optimization.</a:t>
            </a:r>
            <a:endParaRPr lang="en-US" altLang="zh-CN" sz="2400" dirty="0">
              <a:latin typeface="Arial" panose="020B0604020202020204" pitchFamily="34" charset="0"/>
              <a:ea typeface="Menlo"/>
              <a:cs typeface="Arial" panose="020B0604020202020204" pitchFamily="34" charset="0"/>
            </a:endParaRPr>
          </a:p>
          <a:p>
            <a:pPr marL="342900" lvl="0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zh-CN" sz="2400" u="sng" dirty="0">
                <a:solidFill>
                  <a:srgbClr val="0563C1"/>
                </a:solidFill>
                <a:latin typeface="Arial" panose="020B0604020202020204" pitchFamily="34" charset="0"/>
                <a:ea typeface="Menlo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ub</a:t>
            </a:r>
            <a:r>
              <a:rPr lang="en-US" altLang="zh-CN" sz="2400" dirty="0">
                <a:solidFill>
                  <a:srgbClr val="212121"/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is the upper bound of the optimization.</a:t>
            </a:r>
          </a:p>
          <a:p>
            <a:pPr marL="342900" lvl="0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zh-CN" sz="2400" dirty="0">
              <a:solidFill>
                <a:srgbClr val="212121"/>
              </a:solidFill>
              <a:latin typeface="Arial" panose="020B0604020202020204" pitchFamily="34" charset="0"/>
              <a:ea typeface="Roboto"/>
              <a:cs typeface="Arial" panose="020B0604020202020204" pitchFamily="34" charset="0"/>
            </a:endParaRPr>
          </a:p>
          <a:p>
            <a:pPr marL="342900" lvl="0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zh-CN" sz="2400" u="sng" dirty="0">
                <a:solidFill>
                  <a:srgbClr val="FF0000"/>
                </a:solidFill>
                <a:latin typeface="Arial" panose="020B0604020202020204" pitchFamily="34" charset="0"/>
                <a:ea typeface="Menlo"/>
                <a:cs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options </a:t>
            </a:r>
            <a:r>
              <a:rPr lang="en-US" altLang="zh-CN" sz="2400" dirty="0">
                <a:latin typeface="Arial" panose="020B0604020202020204" pitchFamily="34" charset="0"/>
                <a:ea typeface="Menlo"/>
                <a:cs typeface="Arial" panose="020B0604020202020204" pitchFamily="34" charset="0"/>
              </a:rPr>
              <a:t>can set optimization options, which is a struct. 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zh-CN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 </a:t>
            </a:r>
            <a:endParaRPr lang="en-US" altLang="zh-CN" sz="2400" dirty="0">
              <a:solidFill>
                <a:srgbClr val="0076A8"/>
              </a:solidFill>
              <a:latin typeface="Arial" panose="020B0604020202020204" pitchFamily="34" charset="0"/>
              <a:ea typeface="Menlo"/>
              <a:cs typeface="Arial" panose="020B0604020202020204" pitchFamily="34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B2187CE-B28D-4A74-E56E-A77D2154E49C}"/>
              </a:ext>
            </a:extLst>
          </p:cNvPr>
          <p:cNvSpPr/>
          <p:nvPr/>
        </p:nvSpPr>
        <p:spPr>
          <a:xfrm>
            <a:off x="748039" y="5672201"/>
            <a:ext cx="993551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options = </a:t>
            </a:r>
            <a:r>
              <a:rPr lang="en-US" altLang="zh-CN" sz="2400" dirty="0" err="1">
                <a:latin typeface="Arial" panose="020B0604020202020204" pitchFamily="34" charset="0"/>
                <a:cs typeface="Arial" panose="020B0604020202020204" pitchFamily="34" charset="0"/>
              </a:rPr>
              <a:t>optimoptions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('ga','</a:t>
            </a:r>
            <a:r>
              <a:rPr lang="en-US" altLang="zh-CN" sz="2400" dirty="0" err="1">
                <a:latin typeface="Arial" panose="020B0604020202020204" pitchFamily="34" charset="0"/>
                <a:cs typeface="Arial" panose="020B0604020202020204" pitchFamily="34" charset="0"/>
              </a:rPr>
              <a:t>PlotFcn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','</a:t>
            </a:r>
            <a:r>
              <a:rPr lang="en-US" altLang="zh-CN" sz="2400" dirty="0" err="1">
                <a:latin typeface="Arial" panose="020B0604020202020204" pitchFamily="34" charset="0"/>
                <a:cs typeface="Arial" panose="020B0604020202020204" pitchFamily="34" charset="0"/>
              </a:rPr>
              <a:t>gaplotbestf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’). The convergence curve of GA will be plotted.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5687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Syntax of GA algorithm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7C6E5E37-D051-1885-E469-0B91379EC9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801" y="1599683"/>
            <a:ext cx="11231464" cy="41549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zh-CN" altLang="zh-CN" sz="2400" u="sng" dirty="0">
                <a:solidFill>
                  <a:srgbClr val="0563C1"/>
                </a:solidFill>
                <a:latin typeface="Arial" panose="020B0604020202020204" pitchFamily="34" charset="0"/>
                <a:ea typeface="Menlo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x = ga(fun,nvars,</a:t>
            </a:r>
            <a:r>
              <a:rPr lang="en-US" altLang="zh-CN" sz="2400" u="sng" dirty="0">
                <a:solidFill>
                  <a:srgbClr val="0563C1"/>
                </a:solidFill>
                <a:latin typeface="Arial" panose="020B0604020202020204" pitchFamily="34" charset="0"/>
                <a:ea typeface="Menlo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[]</a:t>
            </a:r>
            <a:r>
              <a:rPr lang="zh-CN" altLang="zh-CN" sz="2400" u="sng" dirty="0">
                <a:solidFill>
                  <a:srgbClr val="0563C1"/>
                </a:solidFill>
                <a:latin typeface="Arial" panose="020B0604020202020204" pitchFamily="34" charset="0"/>
                <a:ea typeface="Menlo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,</a:t>
            </a:r>
            <a:r>
              <a:rPr lang="en-US" altLang="zh-CN" sz="2400" u="sng" dirty="0">
                <a:solidFill>
                  <a:srgbClr val="0563C1"/>
                </a:solidFill>
                <a:latin typeface="Arial" panose="020B0604020202020204" pitchFamily="34" charset="0"/>
                <a:ea typeface="Menlo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[]</a:t>
            </a:r>
            <a:r>
              <a:rPr lang="zh-CN" altLang="zh-CN" sz="2400" u="sng" dirty="0">
                <a:solidFill>
                  <a:srgbClr val="0563C1"/>
                </a:solidFill>
                <a:latin typeface="Arial" panose="020B0604020202020204" pitchFamily="34" charset="0"/>
                <a:ea typeface="Menlo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,</a:t>
            </a:r>
            <a:r>
              <a:rPr lang="en-US" altLang="zh-CN" sz="2400" u="sng" dirty="0">
                <a:solidFill>
                  <a:srgbClr val="0563C1"/>
                </a:solidFill>
                <a:latin typeface="Arial" panose="020B0604020202020204" pitchFamily="34" charset="0"/>
                <a:ea typeface="Menlo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[]</a:t>
            </a:r>
            <a:r>
              <a:rPr lang="zh-CN" altLang="zh-CN" sz="2400" u="sng" dirty="0">
                <a:solidFill>
                  <a:srgbClr val="0563C1"/>
                </a:solidFill>
                <a:latin typeface="Arial" panose="020B0604020202020204" pitchFamily="34" charset="0"/>
                <a:ea typeface="Menlo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,</a:t>
            </a:r>
            <a:r>
              <a:rPr lang="en-US" altLang="zh-CN" sz="2400" u="sng" dirty="0">
                <a:solidFill>
                  <a:srgbClr val="0563C1"/>
                </a:solidFill>
                <a:latin typeface="Arial" panose="020B0604020202020204" pitchFamily="34" charset="0"/>
                <a:ea typeface="Menlo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[]</a:t>
            </a:r>
            <a:r>
              <a:rPr lang="zh-CN" altLang="zh-CN" sz="2400" u="sng" dirty="0">
                <a:solidFill>
                  <a:srgbClr val="0563C1"/>
                </a:solidFill>
                <a:latin typeface="Arial" panose="020B0604020202020204" pitchFamily="34" charset="0"/>
                <a:ea typeface="Menlo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,lb,ub</a:t>
            </a:r>
            <a:r>
              <a:rPr lang="en-US" altLang="zh-CN" sz="2400" u="sng" dirty="0">
                <a:solidFill>
                  <a:srgbClr val="0563C1"/>
                </a:solidFill>
                <a:latin typeface="Arial" panose="020B0604020202020204" pitchFamily="34" charset="0"/>
                <a:ea typeface="Menlo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,[],</a:t>
            </a:r>
            <a:r>
              <a:rPr lang="zh-CN" altLang="zh-CN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intcon</a:t>
            </a:r>
            <a:r>
              <a:rPr lang="zh-CN" altLang="zh-CN" sz="2400" u="sng" dirty="0">
                <a:solidFill>
                  <a:srgbClr val="0563C1"/>
                </a:solidFill>
                <a:latin typeface="Arial" panose="020B0604020202020204" pitchFamily="34" charset="0"/>
                <a:ea typeface="Menlo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)</a:t>
            </a:r>
            <a:r>
              <a:rPr lang="en-US" altLang="zh-CN" sz="2400" u="sng" dirty="0">
                <a:solidFill>
                  <a:srgbClr val="0563C1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 </a:t>
            </a: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rgbClr val="0563C1"/>
                </a:solidFill>
                <a:effectLst/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 </a:t>
            </a:r>
            <a:endParaRPr kumimoji="0" lang="en-US" altLang="zh-CN" sz="2400" b="1" i="0" u="none" strike="noStrike" cap="none" normalizeH="0" baseline="0" dirty="0">
              <a:ln>
                <a:noFill/>
              </a:ln>
              <a:solidFill>
                <a:srgbClr val="0563C1"/>
              </a:solidFill>
              <a:effectLst/>
              <a:latin typeface="Arial" panose="020B0604020202020204" pitchFamily="34" charset="0"/>
              <a:ea typeface="Roboto"/>
              <a:cs typeface="Arial" panose="020B0604020202020204" pitchFamily="34" charset="0"/>
            </a:endParaRP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endParaRPr kumimoji="0" lang="en-GB" altLang="zh-CN" sz="2400" b="1" i="0" u="none" strike="noStrike" cap="none" normalizeH="0" baseline="0" dirty="0">
              <a:ln>
                <a:noFill/>
              </a:ln>
              <a:solidFill>
                <a:srgbClr val="212121"/>
              </a:solidFill>
              <a:effectLst/>
              <a:latin typeface="Arial" panose="020B0604020202020204" pitchFamily="34" charset="0"/>
              <a:ea typeface="Roboto"/>
              <a:cs typeface="Arial" panose="020B0604020202020204" pitchFamily="34" charset="0"/>
            </a:endParaRPr>
          </a:p>
          <a:p>
            <a:pPr marL="342900" lvl="0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zh-CN" sz="2400" dirty="0">
              <a:solidFill>
                <a:srgbClr val="0076A8"/>
              </a:solidFill>
              <a:latin typeface="Arial" panose="020B0604020202020204" pitchFamily="34" charset="0"/>
              <a:ea typeface="Menlo"/>
              <a:cs typeface="Arial" panose="020B0604020202020204" pitchFamily="34" charset="0"/>
            </a:endParaRPr>
          </a:p>
          <a:p>
            <a:pPr marL="342900" lvl="0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zh-CN" sz="2400" u="sng" dirty="0">
                <a:solidFill>
                  <a:srgbClr val="0563C1"/>
                </a:solidFill>
                <a:latin typeface="Arial" panose="020B0604020202020204" pitchFamily="34" charset="0"/>
                <a:ea typeface="Menlo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x</a:t>
            </a:r>
            <a:r>
              <a:rPr lang="en-US" altLang="zh-CN" sz="2400" dirty="0">
                <a:solidFill>
                  <a:srgbClr val="212121"/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is the optimal solution (</a:t>
            </a:r>
            <a:r>
              <a:rPr lang="zh-CN" altLang="zh-CN" sz="2400" dirty="0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de</a:t>
            </a:r>
            <a:r>
              <a:rPr lang="en-GB" altLang="zh-CN" sz="2400" dirty="0" err="1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cision</a:t>
            </a:r>
            <a:r>
              <a:rPr lang="zh-CN" altLang="zh-CN" sz="2400" dirty="0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 variables</a:t>
            </a:r>
            <a:r>
              <a:rPr lang="en-US" altLang="zh-CN" sz="2400" dirty="0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) after optimization.</a:t>
            </a:r>
            <a:endParaRPr lang="en-US" altLang="zh-CN" sz="2400" dirty="0">
              <a:latin typeface="Arial" panose="020B0604020202020204" pitchFamily="34" charset="0"/>
              <a:ea typeface="Menlo"/>
              <a:cs typeface="Arial" panose="020B0604020202020204" pitchFamily="34" charset="0"/>
            </a:endParaRPr>
          </a:p>
          <a:p>
            <a:pPr marL="342900" lvl="0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zh-CN" sz="2400" u="sng" dirty="0">
                <a:solidFill>
                  <a:srgbClr val="0563C1"/>
                </a:solidFill>
                <a:latin typeface="Arial" panose="020B0604020202020204" pitchFamily="34" charset="0"/>
                <a:ea typeface="Menlo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fun</a:t>
            </a:r>
            <a:r>
              <a:rPr lang="en-US" altLang="zh-CN" sz="2400" dirty="0">
                <a:solidFill>
                  <a:srgbClr val="212121"/>
                </a:solidFill>
                <a:latin typeface="Arial" panose="020B0604020202020204" pitchFamily="34" charset="0"/>
                <a:ea typeface="Menlo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ea typeface="Menlo"/>
                <a:cs typeface="Arial" panose="020B0604020202020204" pitchFamily="34" charset="0"/>
              </a:rPr>
              <a:t>is </a:t>
            </a:r>
            <a:r>
              <a:rPr lang="zh-CN" altLang="zh-CN" sz="2400" dirty="0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the objective function</a:t>
            </a:r>
            <a:r>
              <a:rPr lang="en-GB" altLang="zh-CN" sz="2400" dirty="0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.</a:t>
            </a:r>
            <a:endParaRPr lang="en-US" altLang="zh-CN" sz="2400" dirty="0">
              <a:latin typeface="Arial" panose="020B0604020202020204" pitchFamily="34" charset="0"/>
              <a:ea typeface="Menlo"/>
              <a:cs typeface="Arial" panose="020B0604020202020204" pitchFamily="34" charset="0"/>
            </a:endParaRPr>
          </a:p>
          <a:p>
            <a:pPr marL="342900" lvl="0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zh-CN" sz="2400" u="sng" dirty="0">
                <a:solidFill>
                  <a:srgbClr val="0563C1"/>
                </a:solidFill>
                <a:latin typeface="Arial" panose="020B0604020202020204" pitchFamily="34" charset="0"/>
                <a:ea typeface="Menlo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nvars</a:t>
            </a:r>
            <a:r>
              <a:rPr lang="zh-CN" altLang="zh-CN" sz="2400" dirty="0">
                <a:solidFill>
                  <a:srgbClr val="212121"/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 </a:t>
            </a:r>
            <a:r>
              <a:rPr lang="zh-CN" altLang="zh-CN" sz="2400" dirty="0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is</a:t>
            </a:r>
            <a:r>
              <a:rPr lang="en-US" altLang="zh-CN" sz="2400" dirty="0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 </a:t>
            </a:r>
            <a:r>
              <a:rPr lang="zh-CN" altLang="zh-CN" sz="2400" dirty="0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the dimension (number of de</a:t>
            </a:r>
            <a:r>
              <a:rPr lang="en-GB" altLang="zh-CN" sz="2400" dirty="0" err="1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cision</a:t>
            </a:r>
            <a:r>
              <a:rPr lang="zh-CN" altLang="zh-CN" sz="2400" dirty="0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 variables) of</a:t>
            </a:r>
            <a:r>
              <a:rPr lang="zh-CN" altLang="zh-CN" sz="2400" dirty="0">
                <a:solidFill>
                  <a:srgbClr val="212121"/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 </a:t>
            </a:r>
            <a:r>
              <a:rPr lang="zh-CN" altLang="zh-CN" sz="2400" u="sng" dirty="0">
                <a:solidFill>
                  <a:srgbClr val="0563C1"/>
                </a:solidFill>
                <a:latin typeface="Arial" panose="020B0604020202020204" pitchFamily="34" charset="0"/>
                <a:ea typeface="Menlo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fun</a:t>
            </a:r>
            <a:r>
              <a:rPr lang="zh-CN" altLang="zh-CN" sz="2400" dirty="0">
                <a:solidFill>
                  <a:srgbClr val="212121"/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.</a:t>
            </a:r>
            <a:r>
              <a:rPr lang="zh-CN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 </a:t>
            </a:r>
            <a:endParaRPr lang="en-US" altLang="zh-CN" sz="2400" dirty="0">
              <a:solidFill>
                <a:srgbClr val="0076A8"/>
              </a:solidFill>
              <a:latin typeface="Arial" panose="020B0604020202020204" pitchFamily="34" charset="0"/>
              <a:ea typeface="Menlo"/>
              <a:cs typeface="Arial" panose="020B0604020202020204" pitchFamily="34" charset="0"/>
            </a:endParaRPr>
          </a:p>
          <a:p>
            <a:pPr marL="342900" lvl="0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zh-CN" sz="2400" u="sng" dirty="0">
                <a:solidFill>
                  <a:srgbClr val="0563C1"/>
                </a:solidFill>
                <a:latin typeface="Arial" panose="020B0604020202020204" pitchFamily="34" charset="0"/>
                <a:ea typeface="Menlo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lb</a:t>
            </a:r>
            <a:r>
              <a:rPr lang="en-US" altLang="zh-CN" sz="2400" dirty="0">
                <a:solidFill>
                  <a:srgbClr val="212121"/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is the lower bound of the optimization.</a:t>
            </a:r>
            <a:endParaRPr lang="en-US" altLang="zh-CN" sz="2400" dirty="0">
              <a:latin typeface="Arial" panose="020B0604020202020204" pitchFamily="34" charset="0"/>
              <a:ea typeface="Menlo"/>
              <a:cs typeface="Arial" panose="020B0604020202020204" pitchFamily="34" charset="0"/>
            </a:endParaRPr>
          </a:p>
          <a:p>
            <a:pPr marL="342900" lvl="0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zh-CN" sz="2400" u="sng" dirty="0">
                <a:solidFill>
                  <a:srgbClr val="0563C1"/>
                </a:solidFill>
                <a:latin typeface="Arial" panose="020B0604020202020204" pitchFamily="34" charset="0"/>
                <a:ea typeface="Menlo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ub</a:t>
            </a:r>
            <a:r>
              <a:rPr lang="en-US" altLang="zh-CN" sz="2400" dirty="0">
                <a:solidFill>
                  <a:srgbClr val="212121"/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is the upper bound of the optimization.</a:t>
            </a:r>
          </a:p>
          <a:p>
            <a:pPr marL="342900" lvl="0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zh-CN" sz="2400" dirty="0">
              <a:solidFill>
                <a:srgbClr val="212121"/>
              </a:solidFill>
              <a:latin typeface="Arial" panose="020B0604020202020204" pitchFamily="34" charset="0"/>
              <a:ea typeface="Roboto"/>
              <a:cs typeface="Arial" panose="020B0604020202020204" pitchFamily="34" charset="0"/>
            </a:endParaRPr>
          </a:p>
          <a:p>
            <a:pPr marL="342900" lvl="0" indent="-342900" fontAlgn="base"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zh-CN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intcon </a:t>
            </a:r>
            <a:r>
              <a:rPr lang="en-US" altLang="zh-CN" sz="2400" dirty="0">
                <a:latin typeface="Arial" panose="020B0604020202020204" pitchFamily="34" charset="0"/>
                <a:ea typeface="Menlo"/>
                <a:cs typeface="Arial" panose="020B0604020202020204" pitchFamily="34" charset="0"/>
              </a:rPr>
              <a:t>indicates that the </a:t>
            </a:r>
            <a:r>
              <a:rPr lang="zh-CN" altLang="zh-CN" sz="2400" dirty="0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de</a:t>
            </a:r>
            <a:r>
              <a:rPr lang="en-GB" altLang="zh-CN" sz="2400" dirty="0" err="1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cision</a:t>
            </a:r>
            <a:r>
              <a:rPr lang="zh-CN" altLang="zh-CN" sz="2400" dirty="0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ea typeface="Menlo"/>
                <a:cs typeface="Arial" panose="020B0604020202020204" pitchFamily="34" charset="0"/>
              </a:rPr>
              <a:t>variables listed in </a:t>
            </a:r>
            <a:r>
              <a:rPr lang="en-US" altLang="zh-CN" sz="2400" dirty="0" err="1">
                <a:latin typeface="Arial" panose="020B0604020202020204" pitchFamily="34" charset="0"/>
                <a:ea typeface="Menlo"/>
                <a:cs typeface="Arial" panose="020B0604020202020204" pitchFamily="34" charset="0"/>
              </a:rPr>
              <a:t>intcon</a:t>
            </a:r>
            <a:r>
              <a:rPr lang="en-US" altLang="zh-CN" sz="2400" dirty="0">
                <a:latin typeface="Arial" panose="020B0604020202020204" pitchFamily="34" charset="0"/>
                <a:ea typeface="Menlo"/>
                <a:cs typeface="Arial" panose="020B0604020202020204" pitchFamily="34" charset="0"/>
              </a:rPr>
              <a:t> take integer values. 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zh-CN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 </a:t>
            </a:r>
            <a:endParaRPr lang="en-US" altLang="zh-CN" sz="2400" dirty="0">
              <a:solidFill>
                <a:srgbClr val="0076A8"/>
              </a:solidFill>
              <a:latin typeface="Arial" panose="020B0604020202020204" pitchFamily="34" charset="0"/>
              <a:ea typeface="Menlo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619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Syntax of GA algorithm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28579C4E-AAC7-1385-74C1-CAAA41C928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801" y="1420450"/>
            <a:ext cx="11231464" cy="37856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zh-CN" altLang="zh-CN" sz="2400" u="sng" dirty="0">
                <a:solidFill>
                  <a:srgbClr val="0563C1"/>
                </a:solidFill>
                <a:latin typeface="Arial" panose="020B0604020202020204" pitchFamily="34" charset="0"/>
                <a:ea typeface="Menlo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[x,</a:t>
            </a:r>
            <a:r>
              <a:rPr lang="zh-CN" altLang="zh-CN" sz="2400" u="sng" dirty="0">
                <a:solidFill>
                  <a:srgbClr val="FF0000"/>
                </a:solidFill>
                <a:latin typeface="Arial" panose="020B0604020202020204" pitchFamily="34" charset="0"/>
                <a:ea typeface="Menlo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fval</a:t>
            </a:r>
            <a:r>
              <a:rPr lang="zh-CN" altLang="zh-CN" sz="2400" u="sng" dirty="0">
                <a:solidFill>
                  <a:srgbClr val="0563C1"/>
                </a:solidFill>
                <a:latin typeface="Arial" panose="020B0604020202020204" pitchFamily="34" charset="0"/>
                <a:ea typeface="Menlo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] </a:t>
            </a:r>
            <a:r>
              <a:rPr lang="zh-CN" altLang="zh-CN" sz="2400" u="sng" dirty="0">
                <a:solidFill>
                  <a:srgbClr val="0563C1"/>
                </a:solidFill>
                <a:latin typeface="Arial" panose="020B0604020202020204" pitchFamily="34" charset="0"/>
                <a:ea typeface="Menlo"/>
                <a:cs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= ga(fun,nvars,</a:t>
            </a:r>
            <a:r>
              <a:rPr lang="en-US" altLang="zh-CN" sz="2400" u="sng" dirty="0">
                <a:solidFill>
                  <a:srgbClr val="0563C1"/>
                </a:solidFill>
                <a:latin typeface="Arial" panose="020B0604020202020204" pitchFamily="34" charset="0"/>
                <a:ea typeface="Menlo"/>
                <a:cs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[]</a:t>
            </a:r>
            <a:r>
              <a:rPr lang="zh-CN" altLang="zh-CN" sz="2400" u="sng" dirty="0">
                <a:solidFill>
                  <a:srgbClr val="0563C1"/>
                </a:solidFill>
                <a:latin typeface="Arial" panose="020B0604020202020204" pitchFamily="34" charset="0"/>
                <a:ea typeface="Menlo"/>
                <a:cs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,</a:t>
            </a:r>
            <a:r>
              <a:rPr lang="en-US" altLang="zh-CN" sz="2400" u="sng" dirty="0">
                <a:solidFill>
                  <a:srgbClr val="0563C1"/>
                </a:solidFill>
                <a:latin typeface="Arial" panose="020B0604020202020204" pitchFamily="34" charset="0"/>
                <a:ea typeface="Menlo"/>
                <a:cs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[]</a:t>
            </a:r>
            <a:r>
              <a:rPr lang="zh-CN" altLang="zh-CN" sz="2400" u="sng" dirty="0">
                <a:solidFill>
                  <a:srgbClr val="0563C1"/>
                </a:solidFill>
                <a:latin typeface="Arial" panose="020B0604020202020204" pitchFamily="34" charset="0"/>
                <a:ea typeface="Menlo"/>
                <a:cs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,</a:t>
            </a:r>
            <a:r>
              <a:rPr lang="en-US" altLang="zh-CN" sz="2400" u="sng" dirty="0">
                <a:solidFill>
                  <a:srgbClr val="0563C1"/>
                </a:solidFill>
                <a:latin typeface="Arial" panose="020B0604020202020204" pitchFamily="34" charset="0"/>
                <a:ea typeface="Menlo"/>
                <a:cs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[]</a:t>
            </a:r>
            <a:r>
              <a:rPr lang="zh-CN" altLang="zh-CN" sz="2400" u="sng" dirty="0">
                <a:solidFill>
                  <a:srgbClr val="0563C1"/>
                </a:solidFill>
                <a:latin typeface="Arial" panose="020B0604020202020204" pitchFamily="34" charset="0"/>
                <a:ea typeface="Menlo"/>
                <a:cs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,</a:t>
            </a:r>
            <a:r>
              <a:rPr lang="en-US" altLang="zh-CN" sz="2400" u="sng" dirty="0">
                <a:solidFill>
                  <a:srgbClr val="0563C1"/>
                </a:solidFill>
                <a:latin typeface="Arial" panose="020B0604020202020204" pitchFamily="34" charset="0"/>
                <a:ea typeface="Menlo"/>
                <a:cs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[]</a:t>
            </a:r>
            <a:r>
              <a:rPr lang="zh-CN" altLang="zh-CN" sz="2400" u="sng" dirty="0">
                <a:solidFill>
                  <a:srgbClr val="0563C1"/>
                </a:solidFill>
                <a:latin typeface="Arial" panose="020B0604020202020204" pitchFamily="34" charset="0"/>
                <a:ea typeface="Menlo"/>
                <a:cs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,lb,ub</a:t>
            </a:r>
            <a:r>
              <a:rPr lang="en-US" altLang="zh-CN" sz="2400" u="sng" dirty="0">
                <a:solidFill>
                  <a:srgbClr val="0563C1"/>
                </a:solidFill>
                <a:latin typeface="Arial" panose="020B0604020202020204" pitchFamily="34" charset="0"/>
                <a:ea typeface="Menlo"/>
                <a:cs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,[],</a:t>
            </a:r>
            <a:r>
              <a:rPr lang="en-US" altLang="zh-CN" sz="2400" u="sng" dirty="0" err="1">
                <a:solidFill>
                  <a:srgbClr val="0563C1"/>
                </a:solidFill>
                <a:latin typeface="Arial" panose="020B0604020202020204" pitchFamily="34" charset="0"/>
                <a:ea typeface="Menlo"/>
                <a:cs typeface="Arial" panose="020B0604020202020204" pitchFamily="34" charset="0"/>
              </a:rPr>
              <a:t>intcon</a:t>
            </a:r>
            <a:r>
              <a:rPr lang="en-US" altLang="zh-CN" sz="2400" u="sng" dirty="0">
                <a:solidFill>
                  <a:srgbClr val="0563C1"/>
                </a:solidFill>
                <a:latin typeface="Arial" panose="020B0604020202020204" pitchFamily="34" charset="0"/>
                <a:ea typeface="Menlo"/>
                <a:cs typeface="Arial" panose="020B0604020202020204" pitchFamily="34" charset="0"/>
              </a:rPr>
              <a:t>,</a:t>
            </a:r>
            <a:r>
              <a:rPr lang="zh-CN" altLang="zh-CN" sz="2400" u="sng" dirty="0">
                <a:solidFill>
                  <a:srgbClr val="0563C1"/>
                </a:solidFill>
                <a:latin typeface="Arial" panose="020B0604020202020204" pitchFamily="34" charset="0"/>
                <a:ea typeface="Menlo"/>
                <a:cs typeface="Arial" panose="020B0604020202020204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options</a:t>
            </a:r>
            <a:r>
              <a:rPr lang="zh-CN" altLang="zh-CN" sz="2400" u="sng" dirty="0">
                <a:solidFill>
                  <a:srgbClr val="0563C1"/>
                </a:solidFill>
                <a:latin typeface="Arial" panose="020B0604020202020204" pitchFamily="34" charset="0"/>
                <a:ea typeface="Menlo"/>
                <a:cs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)</a:t>
            </a:r>
            <a:r>
              <a:rPr lang="en-US" altLang="zh-CN" sz="2400" u="sng" dirty="0">
                <a:solidFill>
                  <a:srgbClr val="0563C1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 </a:t>
            </a: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 </a:t>
            </a:r>
            <a:endParaRPr lang="en-US" altLang="zh-CN" sz="2400" dirty="0">
              <a:solidFill>
                <a:srgbClr val="212121"/>
              </a:solidFill>
              <a:latin typeface="Arial" panose="020B0604020202020204" pitchFamily="34" charset="0"/>
              <a:ea typeface="Roboto"/>
              <a:cs typeface="Arial" panose="020B0604020202020204" pitchFamily="34" charset="0"/>
            </a:endParaRPr>
          </a:p>
          <a:p>
            <a:pPr marL="342900" lvl="0" indent="-342900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Ø"/>
            </a:pPr>
            <a:endParaRPr lang="en-US" altLang="zh-CN" sz="2400" dirty="0">
              <a:solidFill>
                <a:srgbClr val="0076A8"/>
              </a:solidFill>
              <a:latin typeface="Arial" panose="020B0604020202020204" pitchFamily="34" charset="0"/>
              <a:ea typeface="Menlo"/>
              <a:cs typeface="Arial" panose="020B0604020202020204" pitchFamily="34" charset="0"/>
            </a:endParaRPr>
          </a:p>
          <a:p>
            <a:pPr marL="342900" lvl="0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zh-CN" sz="2400" u="sng" dirty="0">
                <a:solidFill>
                  <a:srgbClr val="0563C1"/>
                </a:solidFill>
                <a:latin typeface="Arial" panose="020B0604020202020204" pitchFamily="34" charset="0"/>
                <a:ea typeface="Menlo"/>
                <a:cs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x</a:t>
            </a:r>
            <a:r>
              <a:rPr lang="en-US" altLang="zh-CN" sz="2400" dirty="0">
                <a:solidFill>
                  <a:srgbClr val="212121"/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is the optimal solution (</a:t>
            </a:r>
            <a:r>
              <a:rPr lang="zh-CN" altLang="zh-CN" sz="2400" dirty="0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de</a:t>
            </a:r>
            <a:r>
              <a:rPr lang="en-GB" altLang="zh-CN" sz="2400" dirty="0" err="1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cision</a:t>
            </a:r>
            <a:r>
              <a:rPr lang="zh-CN" altLang="zh-CN" sz="2400" dirty="0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 variables</a:t>
            </a:r>
            <a:r>
              <a:rPr lang="en-US" altLang="zh-CN" sz="2400" dirty="0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) after optimization.</a:t>
            </a:r>
            <a:endParaRPr lang="en-US" altLang="zh-CN" sz="2400" dirty="0">
              <a:latin typeface="Arial" panose="020B0604020202020204" pitchFamily="34" charset="0"/>
              <a:ea typeface="Menlo"/>
              <a:cs typeface="Arial" panose="020B0604020202020204" pitchFamily="34" charset="0"/>
            </a:endParaRPr>
          </a:p>
          <a:p>
            <a:pPr marL="342900" lvl="0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zh-CN" sz="2400" u="sng" dirty="0">
                <a:solidFill>
                  <a:srgbClr val="0563C1"/>
                </a:solidFill>
                <a:latin typeface="Arial" panose="020B0604020202020204" pitchFamily="34" charset="0"/>
                <a:ea typeface="Menlo"/>
                <a:cs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fun</a:t>
            </a:r>
            <a:r>
              <a:rPr lang="en-US" altLang="zh-CN" sz="2400" dirty="0">
                <a:solidFill>
                  <a:srgbClr val="212121"/>
                </a:solidFill>
                <a:latin typeface="Arial" panose="020B0604020202020204" pitchFamily="34" charset="0"/>
                <a:ea typeface="Menlo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ea typeface="Menlo"/>
                <a:cs typeface="Arial" panose="020B0604020202020204" pitchFamily="34" charset="0"/>
              </a:rPr>
              <a:t>is </a:t>
            </a:r>
            <a:r>
              <a:rPr lang="zh-CN" altLang="zh-CN" sz="2400" dirty="0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the objective function</a:t>
            </a:r>
            <a:r>
              <a:rPr lang="en-GB" altLang="zh-CN" sz="2400" dirty="0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.</a:t>
            </a:r>
            <a:endParaRPr lang="en-US" altLang="zh-CN" sz="2400" dirty="0">
              <a:latin typeface="Arial" panose="020B0604020202020204" pitchFamily="34" charset="0"/>
              <a:ea typeface="Menlo"/>
              <a:cs typeface="Arial" panose="020B0604020202020204" pitchFamily="34" charset="0"/>
            </a:endParaRPr>
          </a:p>
          <a:p>
            <a:pPr marL="342900" lvl="0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zh-CN" sz="2400" u="sng" dirty="0">
                <a:solidFill>
                  <a:srgbClr val="0563C1"/>
                </a:solidFill>
                <a:latin typeface="Arial" panose="020B0604020202020204" pitchFamily="34" charset="0"/>
                <a:ea typeface="Menlo"/>
                <a:cs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nvars</a:t>
            </a:r>
            <a:r>
              <a:rPr lang="zh-CN" altLang="zh-CN" sz="2400" dirty="0">
                <a:solidFill>
                  <a:srgbClr val="212121"/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 </a:t>
            </a:r>
            <a:r>
              <a:rPr lang="zh-CN" altLang="zh-CN" sz="2400" dirty="0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is</a:t>
            </a:r>
            <a:r>
              <a:rPr lang="en-US" altLang="zh-CN" sz="2400" dirty="0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 </a:t>
            </a:r>
            <a:r>
              <a:rPr lang="zh-CN" altLang="zh-CN" sz="2400" dirty="0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the dimension (number of de</a:t>
            </a:r>
            <a:r>
              <a:rPr lang="en-GB" altLang="zh-CN" sz="2400" dirty="0" err="1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cision</a:t>
            </a:r>
            <a:r>
              <a:rPr lang="zh-CN" altLang="zh-CN" sz="2400" dirty="0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 variables) of</a:t>
            </a:r>
            <a:r>
              <a:rPr lang="zh-CN" altLang="zh-CN" sz="2400" dirty="0">
                <a:solidFill>
                  <a:srgbClr val="212121"/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 </a:t>
            </a:r>
            <a:r>
              <a:rPr lang="zh-CN" altLang="zh-CN" sz="2400" u="sng" dirty="0">
                <a:solidFill>
                  <a:srgbClr val="0563C1"/>
                </a:solidFill>
                <a:latin typeface="Arial" panose="020B0604020202020204" pitchFamily="34" charset="0"/>
                <a:ea typeface="Menlo"/>
                <a:cs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fun</a:t>
            </a:r>
            <a:r>
              <a:rPr lang="zh-CN" altLang="zh-CN" sz="2400" dirty="0">
                <a:solidFill>
                  <a:srgbClr val="212121"/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.</a:t>
            </a:r>
            <a:r>
              <a:rPr lang="zh-CN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 </a:t>
            </a:r>
            <a:endParaRPr lang="en-US" altLang="zh-CN" sz="2400" dirty="0">
              <a:solidFill>
                <a:srgbClr val="0076A8"/>
              </a:solidFill>
              <a:latin typeface="Arial" panose="020B0604020202020204" pitchFamily="34" charset="0"/>
              <a:ea typeface="Menlo"/>
              <a:cs typeface="Arial" panose="020B0604020202020204" pitchFamily="34" charset="0"/>
            </a:endParaRPr>
          </a:p>
          <a:p>
            <a:pPr marL="342900" lvl="0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zh-CN" sz="2400" u="sng" dirty="0">
                <a:solidFill>
                  <a:srgbClr val="0563C1"/>
                </a:solidFill>
                <a:latin typeface="Arial" panose="020B0604020202020204" pitchFamily="34" charset="0"/>
                <a:ea typeface="Menlo"/>
                <a:cs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lb</a:t>
            </a:r>
            <a:r>
              <a:rPr lang="en-US" altLang="zh-CN" sz="2400" dirty="0">
                <a:solidFill>
                  <a:srgbClr val="212121"/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is the lower bound of the optimization.</a:t>
            </a:r>
            <a:endParaRPr lang="en-US" altLang="zh-CN" sz="2400" dirty="0">
              <a:latin typeface="Arial" panose="020B0604020202020204" pitchFamily="34" charset="0"/>
              <a:ea typeface="Menlo"/>
              <a:cs typeface="Arial" panose="020B0604020202020204" pitchFamily="34" charset="0"/>
            </a:endParaRPr>
          </a:p>
          <a:p>
            <a:pPr marL="342900" lvl="0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zh-CN" sz="2400" u="sng" dirty="0">
                <a:solidFill>
                  <a:srgbClr val="0563C1"/>
                </a:solidFill>
                <a:latin typeface="Arial" panose="020B0604020202020204" pitchFamily="34" charset="0"/>
                <a:ea typeface="Menlo"/>
                <a:cs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ub</a:t>
            </a:r>
            <a:r>
              <a:rPr lang="en-US" altLang="zh-CN" sz="2400" dirty="0">
                <a:solidFill>
                  <a:srgbClr val="212121"/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is the upper bound of the optimization.</a:t>
            </a:r>
          </a:p>
          <a:p>
            <a:pPr marL="342900" indent="-342900" fontAlgn="base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zh-CN" altLang="zh-CN" sz="2400" u="sng" dirty="0">
                <a:solidFill>
                  <a:srgbClr val="0070C0"/>
                </a:solidFill>
                <a:latin typeface="Arial" panose="020B0604020202020204" pitchFamily="34" charset="0"/>
                <a:ea typeface="Menlo"/>
                <a:cs typeface="Arial" panose="020B0604020202020204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options </a:t>
            </a:r>
            <a:r>
              <a:rPr lang="en-US" altLang="zh-CN" sz="2400" dirty="0">
                <a:latin typeface="Arial" panose="020B0604020202020204" pitchFamily="34" charset="0"/>
                <a:ea typeface="Menlo"/>
                <a:cs typeface="Arial" panose="020B0604020202020204" pitchFamily="34" charset="0"/>
              </a:rPr>
              <a:t>can set optimization options, which is a struct. </a:t>
            </a:r>
            <a:endParaRPr lang="en-US" altLang="zh-CN" sz="2400" dirty="0">
              <a:solidFill>
                <a:srgbClr val="212121"/>
              </a:solidFill>
              <a:latin typeface="Arial" panose="020B0604020202020204" pitchFamily="34" charset="0"/>
              <a:ea typeface="Roboto"/>
              <a:cs typeface="Arial" panose="020B0604020202020204" pitchFamily="34" charset="0"/>
            </a:endParaRPr>
          </a:p>
          <a:p>
            <a:pPr marL="342900" lvl="0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zh-CN" sz="2400" dirty="0">
              <a:solidFill>
                <a:srgbClr val="212121"/>
              </a:solidFill>
              <a:latin typeface="Arial" panose="020B0604020202020204" pitchFamily="34" charset="0"/>
              <a:ea typeface="Roboto"/>
              <a:cs typeface="Arial" panose="020B0604020202020204" pitchFamily="34" charset="0"/>
            </a:endParaRPr>
          </a:p>
          <a:p>
            <a:pPr marL="342900" lvl="0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zh-CN" sz="2400" u="sng" dirty="0">
                <a:solidFill>
                  <a:srgbClr val="FF0000"/>
                </a:solidFill>
                <a:latin typeface="Arial" panose="020B0604020202020204" pitchFamily="34" charset="0"/>
                <a:ea typeface="Menlo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fval </a:t>
            </a:r>
            <a:r>
              <a:rPr lang="en-US" altLang="zh-CN" sz="2400" dirty="0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is the objective function value of </a:t>
            </a:r>
            <a:r>
              <a:rPr lang="zh-CN" altLang="zh-CN" sz="2400" u="sng" dirty="0">
                <a:solidFill>
                  <a:srgbClr val="0563C1"/>
                </a:solidFill>
                <a:latin typeface="Arial" panose="020B0604020202020204" pitchFamily="34" charset="0"/>
                <a:ea typeface="Menlo"/>
                <a:cs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x</a:t>
            </a:r>
            <a:r>
              <a:rPr lang="en-US" altLang="zh-CN" sz="2400" dirty="0">
                <a:latin typeface="Arial" panose="020B0604020202020204" pitchFamily="34" charset="0"/>
                <a:ea typeface="Menlo"/>
                <a:cs typeface="Arial" panose="020B0604020202020204" pitchFamily="34" charset="0"/>
              </a:rPr>
              <a:t>.</a:t>
            </a:r>
            <a:endParaRPr lang="en-US" altLang="zh-CN" sz="2400" dirty="0">
              <a:solidFill>
                <a:srgbClr val="212121"/>
              </a:solidFill>
              <a:latin typeface="Arial" panose="020B0604020202020204" pitchFamily="34" charset="0"/>
              <a:ea typeface="Roboto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6935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e University at sunset">
            <a:extLst>
              <a:ext uri="{FF2B5EF4-FFF2-40B4-BE49-F238E27FC236}">
                <a16:creationId xmlns:a16="http://schemas.microsoft.com/office/drawing/2014/main" id="{11FDCD37-95D4-D94F-8143-5384ADC6A6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175F20C-468E-F742-9149-B8A5FEBC291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45886" y="1889351"/>
            <a:ext cx="5842000" cy="1931535"/>
          </a:xfrm>
        </p:spPr>
        <p:txBody>
          <a:bodyPr>
            <a:noAutofit/>
          </a:bodyPr>
          <a:lstStyle/>
          <a:p>
            <a:pPr algn="l"/>
            <a:r>
              <a:rPr lang="en-GB">
                <a:solidFill>
                  <a:schemeClr val="bg1"/>
                </a:solidFill>
              </a:rPr>
              <a:t>Thanks!</a:t>
            </a:r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22ED6EA-1EF6-E99C-8D46-A77E8079F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385228" y="5699322"/>
            <a:ext cx="3413095" cy="854153"/>
            <a:chOff x="8385228" y="5699322"/>
            <a:chExt cx="3413095" cy="854153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44E80E0-21D5-A09C-9C43-3B822C05837D}"/>
                </a:ext>
              </a:extLst>
            </p:cNvPr>
            <p:cNvSpPr txBox="1"/>
            <p:nvPr/>
          </p:nvSpPr>
          <p:spPr>
            <a:xfrm>
              <a:off x="8385228" y="5699322"/>
              <a:ext cx="3413095" cy="461665"/>
            </a:xfrm>
            <a:prstGeom prst="rect">
              <a:avLst/>
            </a:prstGeom>
            <a:noFill/>
            <a:effectLst>
              <a:outerShdw blurRad="1270000" dist="50800" dir="5400000" sx="200000" sy="200000" algn="ctr" rotWithShape="0">
                <a:schemeClr val="tx1"/>
              </a:outerShdw>
            </a:effectLst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#</a:t>
              </a:r>
              <a:r>
                <a:rPr lang="en-US" sz="2400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UofGWorldChangers</a:t>
              </a:r>
              <a:endPara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92BBCD2-E264-1B57-0E93-92E9DB639953}"/>
                </a:ext>
              </a:extLst>
            </p:cNvPr>
            <p:cNvSpPr txBox="1"/>
            <p:nvPr/>
          </p:nvSpPr>
          <p:spPr>
            <a:xfrm>
              <a:off x="9098531" y="6091810"/>
              <a:ext cx="26997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 dirty="0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@</a:t>
              </a:r>
              <a:r>
                <a:rPr lang="en-US" sz="2400" b="1" dirty="0" err="1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UofGlasgow</a:t>
              </a:r>
              <a:endParaRPr lang="en-US" sz="2400" b="1" dirty="0">
                <a:solidFill>
                  <a:schemeClr val="bg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endParaRP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4EA5A01-D67E-B5A8-4983-B4E38F735C71}"/>
                </a:ext>
              </a:extLst>
            </p:cNvPr>
            <p:cNvGrpSpPr/>
            <p:nvPr/>
          </p:nvGrpSpPr>
          <p:grpSpPr>
            <a:xfrm>
              <a:off x="8516481" y="6162367"/>
              <a:ext cx="841333" cy="347112"/>
              <a:chOff x="8601252" y="6162367"/>
              <a:chExt cx="841333" cy="347112"/>
            </a:xfrm>
          </p:grpSpPr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8049EAA7-B259-E0CF-6188-D83E4A7650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778761" y="6162367"/>
                <a:ext cx="475023" cy="347112"/>
              </a:xfrm>
              <a:prstGeom prst="rect">
                <a:avLst/>
              </a:prstGeom>
            </p:spPr>
          </p:pic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C9EF044C-8E77-0253-404C-AEACFCC1AE0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9194185" y="6223334"/>
                <a:ext cx="248400" cy="248399"/>
              </a:xfrm>
              <a:prstGeom prst="rect">
                <a:avLst/>
              </a:prstGeom>
            </p:spPr>
          </p:pic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1EFBA2B9-08B7-B52F-FE3B-91DCAC58DC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8601252" y="6221141"/>
                <a:ext cx="239105" cy="239106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0063787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ofG colours">
      <a:dk1>
        <a:srgbClr val="003865"/>
      </a:dk1>
      <a:lt1>
        <a:srgbClr val="FFFFFE"/>
      </a:lt1>
      <a:dk2>
        <a:srgbClr val="000000"/>
      </a:dk2>
      <a:lt2>
        <a:srgbClr val="7D2238"/>
      </a:lt2>
      <a:accent1>
        <a:srgbClr val="0075B0"/>
      </a:accent1>
      <a:accent2>
        <a:srgbClr val="5B4D93"/>
      </a:accent2>
      <a:accent3>
        <a:srgbClr val="CF1C20"/>
      </a:accent3>
      <a:accent4>
        <a:srgbClr val="00833C"/>
      </a:accent4>
      <a:accent5>
        <a:srgbClr val="BE4D00"/>
      </a:accent5>
      <a:accent6>
        <a:srgbClr val="951271"/>
      </a:accent6>
      <a:hlink>
        <a:srgbClr val="584B3D"/>
      </a:hlink>
      <a:folHlink>
        <a:srgbClr val="0068A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A61AF5F2-503D-2641-86A1-09AD8919EA9C}" vid="{A816E7D6-9491-074F-A4D5-6596497DAC1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cc9bed8-8410-44eb-bf25-ca1ea4636418">
      <Terms xmlns="http://schemas.microsoft.com/office/infopath/2007/PartnerControls"/>
    </lcf76f155ced4ddcb4097134ff3c332f>
    <TaxCatchAll xmlns="dfc159fb-6789-415c-9027-b0bc58ba83c2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C3DDD16490E0A48848881CB6EECDF92" ma:contentTypeVersion="14" ma:contentTypeDescription="Create a new document." ma:contentTypeScope="" ma:versionID="7257862a4d6c3825659cc59ecdb78f01">
  <xsd:schema xmlns:xsd="http://www.w3.org/2001/XMLSchema" xmlns:xs="http://www.w3.org/2001/XMLSchema" xmlns:p="http://schemas.microsoft.com/office/2006/metadata/properties" xmlns:ns2="1cc9bed8-8410-44eb-bf25-ca1ea4636418" xmlns:ns3="dfc159fb-6789-415c-9027-b0bc58ba83c2" targetNamespace="http://schemas.microsoft.com/office/2006/metadata/properties" ma:root="true" ma:fieldsID="e75013956d80933023b8c9f213f858d3" ns2:_="" ns3:_="">
    <xsd:import namespace="1cc9bed8-8410-44eb-bf25-ca1ea4636418"/>
    <xsd:import namespace="dfc159fb-6789-415c-9027-b0bc58ba83c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cc9bed8-8410-44eb-bf25-ca1ea46364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7306b285-ac2c-4225-b56d-e54690cf9c9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c159fb-6789-415c-9027-b0bc58ba83c2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79eadc21-23c5-47b9-90bf-40474c6df852}" ma:internalName="TaxCatchAll" ma:showField="CatchAllData" ma:web="dfc159fb-6789-415c-9027-b0bc58ba83c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4A5A4A5-27FC-44F1-8368-6C2EC7914F6B}">
  <ds:schemaRefs>
    <ds:schemaRef ds:uri="http://schemas.microsoft.com/office/2006/metadata/properties"/>
    <ds:schemaRef ds:uri="http://schemas.microsoft.com/office/infopath/2007/PartnerControls"/>
    <ds:schemaRef ds:uri="1cc9bed8-8410-44eb-bf25-ca1ea4636418"/>
    <ds:schemaRef ds:uri="dfc159fb-6789-415c-9027-b0bc58ba83c2"/>
  </ds:schemaRefs>
</ds:datastoreItem>
</file>

<file path=customXml/itemProps2.xml><?xml version="1.0" encoding="utf-8"?>
<ds:datastoreItem xmlns:ds="http://schemas.openxmlformats.org/officeDocument/2006/customXml" ds:itemID="{B799FDE3-7AA5-4055-A926-06834CC9556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BB061B4-F47E-4D25-88CC-2A3338F9B8C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cc9bed8-8410-44eb-bf25-ca1ea4636418"/>
    <ds:schemaRef ds:uri="dfc159fb-6789-415c-9027-b0bc58ba83c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1886</TotalTime>
  <Words>1003</Words>
  <Application>Microsoft Office PowerPoint</Application>
  <PresentationFormat>Widescreen</PresentationFormat>
  <Paragraphs>90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Wingdings</vt:lpstr>
      <vt:lpstr>Office Theme</vt:lpstr>
      <vt:lpstr>Use Genetic Algorithm via MATLAB: GA Function</vt:lpstr>
      <vt:lpstr>MATLAB global optimization toolbox</vt:lpstr>
      <vt:lpstr>MATLAB global optimization toolbox</vt:lpstr>
      <vt:lpstr>MATLAB GA function syntax </vt:lpstr>
      <vt:lpstr>Syntax of GA algorithm</vt:lpstr>
      <vt:lpstr>Syntax of GA algorithm</vt:lpstr>
      <vt:lpstr>Syntax of GA algorithm</vt:lpstr>
      <vt:lpstr>Syntax of GA algorithm</vt:lpstr>
      <vt:lpstr>Thanks!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/>
  <cp:lastModifiedBy>Bo Liu</cp:lastModifiedBy>
  <cp:revision>67</cp:revision>
  <dcterms:created xsi:type="dcterms:W3CDTF">2021-01-06T14:22:07Z</dcterms:created>
  <dcterms:modified xsi:type="dcterms:W3CDTF">2024-07-02T15:21:56Z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0x0101009C3DDD16490E0A48848881CB6EECDF92</vt:lpwstr>
  </property>
</Properties>
</file>