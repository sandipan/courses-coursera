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499" r:id="rId6"/>
    <p:sldId id="494" r:id="rId7"/>
    <p:sldId id="496" r:id="rId8"/>
    <p:sldId id="497" r:id="rId9"/>
    <p:sldId id="498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52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020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227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264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02/07/2024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Genetic Algorithm: A First Introduction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Overview of genetic algorithms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0069960-B037-93C2-4C9F-9E43D0A65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146" y="1649737"/>
            <a:ext cx="11192070" cy="419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GA was developed in 1970s and is being widely applied.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There are many different versions nowadays, called genetic algorithms (GAs).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>
              <a:spcBef>
                <a:spcPts val="18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GAs are for solving optimization problems.</a:t>
            </a:r>
          </a:p>
          <a:p>
            <a:pPr marL="800100" lvl="1" indent="-342900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Easy to comprehend and apply,</a:t>
            </a:r>
          </a:p>
          <a:p>
            <a:pPr marL="800100" lvl="1" indent="-342900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Capable of solving some complex optimization problems,</a:t>
            </a:r>
          </a:p>
          <a:p>
            <a:pPr marL="800100" lvl="1" indent="-342900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Popular with the increase of computing power.</a:t>
            </a:r>
            <a:endParaRPr lang="en-CA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273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The intelligence to be borrowed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50F527E-4CA4-2B7B-8238-1B4557A76BE9}"/>
              </a:ext>
            </a:extLst>
          </p:cNvPr>
          <p:cNvSpPr txBox="1">
            <a:spLocks noChangeArrowheads="1"/>
          </p:cNvSpPr>
          <p:nvPr/>
        </p:nvSpPr>
        <p:spPr>
          <a:xfrm>
            <a:off x="564936" y="1851377"/>
            <a:ext cx="11107660" cy="3289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400" dirty="0">
                <a:ea typeface="宋体" pitchFamily="2" charset="-122"/>
              </a:rPr>
              <a:t>Computational intelligence </a:t>
            </a:r>
            <a:r>
              <a:rPr lang="en-US" altLang="zh-CN" sz="2400" b="0" dirty="0">
                <a:ea typeface="宋体" pitchFamily="2" charset="-122"/>
              </a:rPr>
              <a:t>(such as Neural Networks and Evolutionary Computation) builds problem solvers by copying ideas from God/nature</a:t>
            </a:r>
          </a:p>
          <a:p>
            <a:pPr>
              <a:lnSpc>
                <a:spcPct val="100000"/>
              </a:lnSpc>
            </a:pPr>
            <a:endParaRPr lang="en-US" altLang="zh-CN" sz="2400" b="0" dirty="0">
              <a:ea typeface="宋体" pitchFamily="2" charset="-122"/>
            </a:endParaRPr>
          </a:p>
          <a:p>
            <a:pPr>
              <a:lnSpc>
                <a:spcPct val="100000"/>
              </a:lnSpc>
              <a:spcBef>
                <a:spcPct val="30000"/>
              </a:spcBef>
              <a:spcAft>
                <a:spcPct val="30000"/>
              </a:spcAft>
            </a:pPr>
            <a:r>
              <a:rPr lang="en-US" altLang="zh-CN" sz="2400" b="0" dirty="0">
                <a:solidFill>
                  <a:schemeClr val="tx1"/>
                </a:solidFill>
                <a:ea typeface="宋体" pitchFamily="2" charset="-122"/>
              </a:rPr>
              <a:t>Brains  </a:t>
            </a:r>
            <a:r>
              <a:rPr lang="en-US" altLang="zh-CN" sz="2400" b="0" dirty="0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  artificial </a:t>
            </a:r>
            <a:r>
              <a:rPr lang="en-US" altLang="zh-CN" sz="2400" b="0" dirty="0">
                <a:solidFill>
                  <a:schemeClr val="tx1"/>
                </a:solidFill>
                <a:ea typeface="宋体" pitchFamily="2" charset="-122"/>
              </a:rPr>
              <a:t>neural networks</a:t>
            </a:r>
          </a:p>
          <a:p>
            <a:pPr>
              <a:lnSpc>
                <a:spcPct val="100000"/>
              </a:lnSpc>
              <a:spcBef>
                <a:spcPct val="30000"/>
              </a:spcBef>
              <a:spcAft>
                <a:spcPct val="30000"/>
              </a:spcAft>
            </a:pPr>
            <a:r>
              <a:rPr lang="en-US" altLang="zh-CN" sz="2400" b="0" dirty="0">
                <a:solidFill>
                  <a:schemeClr val="tx1"/>
                </a:solidFill>
                <a:ea typeface="宋体" pitchFamily="2" charset="-122"/>
              </a:rPr>
              <a:t>Evolution  </a:t>
            </a:r>
            <a:r>
              <a:rPr lang="en-US" altLang="zh-CN" sz="2400" b="0" dirty="0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  </a:t>
            </a:r>
            <a:r>
              <a:rPr lang="en-US" altLang="zh-CN" sz="2400" b="0" dirty="0">
                <a:solidFill>
                  <a:schemeClr val="tx1"/>
                </a:solidFill>
                <a:ea typeface="宋体" pitchFamily="2" charset="-122"/>
              </a:rPr>
              <a:t>evolutionary computation</a:t>
            </a: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Manchester Moth Story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" name="Picture 2" descr="https://upload.wikimedia.org/wikipedia/commons/thumb/6/6c/Biston.betularia.7200.jpg/260px-Biston.betularia.7200.jpg">
            <a:extLst>
              <a:ext uri="{FF2B5EF4-FFF2-40B4-BE49-F238E27FC236}">
                <a16:creationId xmlns:a16="http://schemas.microsoft.com/office/drawing/2014/main" id="{9F27C492-6627-E861-ED1E-275880C66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073" y="2030474"/>
            <a:ext cx="3030538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 descr="https://upload.wikimedia.org/wikipedia/commons/thumb/d/db/Biston.betularia.f.carbonaria.7209.jpg/260px-Biston.betularia.f.carbonaria.7209.jpg">
            <a:extLst>
              <a:ext uri="{FF2B5EF4-FFF2-40B4-BE49-F238E27FC236}">
                <a16:creationId xmlns:a16="http://schemas.microsoft.com/office/drawing/2014/main" id="{1FAFA5DD-0B23-E573-743C-1A600E31D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120" y="2030474"/>
            <a:ext cx="3030538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196B1F-5EDD-EBAA-4094-CBC53CCD8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6167" y="4255708"/>
            <a:ext cx="38163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Before industrial revolution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7E53D6C4-5096-44F2-0C16-5C6CC1E20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1892" y="4255708"/>
            <a:ext cx="42249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After industrial revolution</a:t>
            </a:r>
          </a:p>
        </p:txBody>
      </p:sp>
    </p:spTree>
    <p:extLst>
      <p:ext uri="{BB962C8B-B14F-4D97-AF65-F5344CB8AC3E}">
        <p14:creationId xmlns:p14="http://schemas.microsoft.com/office/powerpoint/2010/main" val="1170232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Essential elements that can be extracted from “evolution”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667237-5609-4ED9-8C3E-151BC2E30839}"/>
              </a:ext>
            </a:extLst>
          </p:cNvPr>
          <p:cNvSpPr/>
          <p:nvPr/>
        </p:nvSpPr>
        <p:spPr>
          <a:xfrm>
            <a:off x="955703" y="1750484"/>
            <a:ext cx="9883281" cy="75713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GB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Population </a:t>
            </a:r>
          </a:p>
          <a:p>
            <a:pPr lvl="1">
              <a:lnSpc>
                <a:spcPct val="90000"/>
              </a:lnSpc>
            </a:pPr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 number of individuals form a population.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672E9E-DF24-1A09-3D71-45F7B0B522A5}"/>
              </a:ext>
            </a:extLst>
          </p:cNvPr>
          <p:cNvSpPr/>
          <p:nvPr/>
        </p:nvSpPr>
        <p:spPr>
          <a:xfrm>
            <a:off x="955703" y="2723473"/>
            <a:ext cx="9883281" cy="108952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GB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Selection</a:t>
            </a:r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: </a:t>
            </a:r>
            <a:r>
              <a:rPr lang="en-GB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Survival of the fittest </a:t>
            </a:r>
          </a:p>
          <a:p>
            <a:pPr lvl="1">
              <a:lnSpc>
                <a:spcPct val="90000"/>
              </a:lnSpc>
            </a:pPr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better an individual is, the more possible it will become a parent for the next generation.</a:t>
            </a:r>
          </a:p>
        </p:txBody>
      </p:sp>
      <p:sp>
        <p:nvSpPr>
          <p:cNvPr id="4" name="矩形 4">
            <a:extLst>
              <a:ext uri="{FF2B5EF4-FFF2-40B4-BE49-F238E27FC236}">
                <a16:creationId xmlns:a16="http://schemas.microsoft.com/office/drawing/2014/main" id="{519194DE-3025-DCB9-C9E0-A9540ADC3F66}"/>
              </a:ext>
            </a:extLst>
          </p:cNvPr>
          <p:cNvSpPr/>
          <p:nvPr/>
        </p:nvSpPr>
        <p:spPr>
          <a:xfrm>
            <a:off x="955703" y="5357044"/>
            <a:ext cx="9883281" cy="108952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GB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Mutation</a:t>
            </a:r>
          </a:p>
          <a:p>
            <a:pPr lvl="1">
              <a:lnSpc>
                <a:spcPct val="90000"/>
              </a:lnSpc>
            </a:pPr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In some occasions, some part of the chromosome can be randomly changed.</a:t>
            </a:r>
          </a:p>
        </p:txBody>
      </p:sp>
      <p:sp>
        <p:nvSpPr>
          <p:cNvPr id="5" name="矩形 9">
            <a:extLst>
              <a:ext uri="{FF2B5EF4-FFF2-40B4-BE49-F238E27FC236}">
                <a16:creationId xmlns:a16="http://schemas.microsoft.com/office/drawing/2014/main" id="{EED1838D-3A42-B596-148A-E000276EC689}"/>
              </a:ext>
            </a:extLst>
          </p:cNvPr>
          <p:cNvSpPr/>
          <p:nvPr/>
        </p:nvSpPr>
        <p:spPr>
          <a:xfrm>
            <a:off x="955704" y="4051656"/>
            <a:ext cx="9883280" cy="108952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GB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Crossover</a:t>
            </a:r>
          </a:p>
          <a:p>
            <a:pPr lvl="1">
              <a:lnSpc>
                <a:spcPct val="90000"/>
              </a:lnSpc>
            </a:pPr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chromosome of a child is composed by chromosomes from its parents.</a:t>
            </a:r>
          </a:p>
        </p:txBody>
      </p:sp>
    </p:spTree>
    <p:extLst>
      <p:ext uri="{BB962C8B-B14F-4D97-AF65-F5344CB8AC3E}">
        <p14:creationId xmlns:p14="http://schemas.microsoft.com/office/powerpoint/2010/main" val="325483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Use “evolution” to solve an optimization problem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755D42B-52A9-F56D-499C-A7A3F9621907}"/>
              </a:ext>
            </a:extLst>
          </p:cNvPr>
          <p:cNvSpPr txBox="1">
            <a:spLocks noChangeArrowheads="1"/>
          </p:cNvSpPr>
          <p:nvPr/>
        </p:nvSpPr>
        <p:spPr>
          <a:xfrm>
            <a:off x="544715" y="1634059"/>
            <a:ext cx="10186612" cy="20768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b="1" dirty="0">
                <a:solidFill>
                  <a:schemeClr val="tx1"/>
                </a:solidFill>
                <a:ea typeface="宋体" pitchFamily="2" charset="-122"/>
              </a:rPr>
              <a:t>A solution 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in the search space </a:t>
            </a:r>
            <a:r>
              <a:rPr lang="en-US" altLang="zh-CN" sz="2400" b="0" dirty="0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 </a:t>
            </a:r>
            <a:r>
              <a:rPr lang="en-GB" altLang="zh-CN" b="1" dirty="0">
                <a:solidFill>
                  <a:schemeClr val="tx1"/>
                </a:solidFill>
                <a:ea typeface="宋体" pitchFamily="2" charset="-122"/>
              </a:rPr>
              <a:t>an individual 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in natural evolution</a:t>
            </a:r>
          </a:p>
          <a:p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We call it solution or individual or point  </a:t>
            </a:r>
          </a:p>
          <a:p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  <a:p>
            <a:r>
              <a:rPr lang="en-GB" altLang="zh-CN" b="1" dirty="0">
                <a:solidFill>
                  <a:schemeClr val="tx1"/>
                </a:solidFill>
                <a:ea typeface="宋体" pitchFamily="2" charset="-122"/>
              </a:rPr>
              <a:t>Evolution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en-US" altLang="zh-CN" sz="2400" b="0" dirty="0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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en-GB" altLang="zh-CN" b="1" dirty="0">
                <a:solidFill>
                  <a:schemeClr val="tx1"/>
                </a:solidFill>
                <a:ea typeface="宋体" pitchFamily="2" charset="-122"/>
              </a:rPr>
              <a:t>“Create” better solutions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.  </a:t>
            </a:r>
          </a:p>
          <a:p>
            <a:pPr>
              <a:buFont typeface="Wingdings" pitchFamily="2" charset="2"/>
              <a:buNone/>
            </a:pPr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  <a:p>
            <a:pPr>
              <a:buFont typeface="Wingdings" pitchFamily="2" charset="2"/>
              <a:buNone/>
            </a:pPr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  <a:p>
            <a:pPr>
              <a:buFont typeface="Wingdings" pitchFamily="2" charset="2"/>
              <a:buNone/>
            </a:pPr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  <a:p>
            <a:pPr>
              <a:buFont typeface="Wingdings" pitchFamily="2" charset="2"/>
              <a:buNone/>
            </a:pPr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0784D8C-35C4-0ABB-9AB8-903995B70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626" y="3986613"/>
            <a:ext cx="4043769" cy="62706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 population of solutions</a:t>
            </a:r>
          </a:p>
        </p:txBody>
      </p:sp>
      <p:grpSp>
        <p:nvGrpSpPr>
          <p:cNvPr id="4" name="Group 15">
            <a:extLst>
              <a:ext uri="{FF2B5EF4-FFF2-40B4-BE49-F238E27FC236}">
                <a16:creationId xmlns:a16="http://schemas.microsoft.com/office/drawing/2014/main" id="{552B1E18-4BC2-3C4E-2C6F-CC9025FD21D6}"/>
              </a:ext>
            </a:extLst>
          </p:cNvPr>
          <p:cNvGrpSpPr>
            <a:grpSpLocks/>
          </p:cNvGrpSpPr>
          <p:nvPr/>
        </p:nvGrpSpPr>
        <p:grpSpPr bwMode="auto">
          <a:xfrm>
            <a:off x="5086395" y="3704085"/>
            <a:ext cx="1601162" cy="649288"/>
            <a:chOff x="2426" y="1900"/>
            <a:chExt cx="862" cy="409"/>
          </a:xfrm>
        </p:grpSpPr>
        <p:sp>
          <p:nvSpPr>
            <p:cNvPr id="5" name="Line 6">
              <a:extLst>
                <a:ext uri="{FF2B5EF4-FFF2-40B4-BE49-F238E27FC236}">
                  <a16:creationId xmlns:a16="http://schemas.microsoft.com/office/drawing/2014/main" id="{22365880-1B39-E9BA-B9EF-16391E6410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2309"/>
              <a:ext cx="8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64750656-FF58-D8C4-F865-50B04A728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900"/>
              <a:ext cx="771" cy="31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GB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Selection</a:t>
              </a:r>
            </a:p>
          </p:txBody>
        </p:sp>
      </p:grpSp>
      <p:sp>
        <p:nvSpPr>
          <p:cNvPr id="7" name="Rectangle 8">
            <a:extLst>
              <a:ext uri="{FF2B5EF4-FFF2-40B4-BE49-F238E27FC236}">
                <a16:creationId xmlns:a16="http://schemas.microsoft.com/office/drawing/2014/main" id="{9B35C201-8092-136D-00D1-C217168B2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7557" y="4011218"/>
            <a:ext cx="4043770" cy="62706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Mating pool (parent set)</a:t>
            </a: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28B5DD86-6BE6-2E81-3008-5F7955D24F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52991" y="4666901"/>
            <a:ext cx="2149124" cy="157876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437D4DD5-94C0-EDB1-9276-205321FD3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9223" y="5886895"/>
            <a:ext cx="4043769" cy="62706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New solutions</a:t>
            </a: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B4F553C4-6BF1-BB23-68A6-2E0A953A4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7947" y="5453507"/>
            <a:ext cx="1768336" cy="64611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Crossover</a:t>
            </a:r>
          </a:p>
          <a:p>
            <a:pPr algn="ctr" eaLnBrk="1" hangingPunct="1"/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Mutation</a:t>
            </a: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EA1715EB-473C-6124-A4BD-366E4249BC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85764" y="4621657"/>
            <a:ext cx="0" cy="12652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F0EBE86C-C587-AA2F-0E57-CE9DE4829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608" y="4807394"/>
            <a:ext cx="2133436" cy="64611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Replacement</a:t>
            </a:r>
          </a:p>
        </p:txBody>
      </p:sp>
    </p:spTree>
    <p:extLst>
      <p:ext uri="{BB962C8B-B14F-4D97-AF65-F5344CB8AC3E}">
        <p14:creationId xmlns:p14="http://schemas.microsoft.com/office/powerpoint/2010/main" val="50540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CD0FFA-90F8-4E38-A1FC-0E73F246F3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6E3F710-2F51-4672-90C9-93C4EB057E84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1FC6D088-B4AB-4894-8C7E-6026ED4C13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1945</TotalTime>
  <Words>254</Words>
  <Application>Microsoft Office PowerPoint</Application>
  <PresentationFormat>Widescreen</PresentationFormat>
  <Paragraphs>52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宋体</vt:lpstr>
      <vt:lpstr>Arial</vt:lpstr>
      <vt:lpstr>Calibri</vt:lpstr>
      <vt:lpstr>Wingdings</vt:lpstr>
      <vt:lpstr>Office Theme</vt:lpstr>
      <vt:lpstr>Genetic Algorithm: A First Introduction</vt:lpstr>
      <vt:lpstr>Overview of genetic algorithms</vt:lpstr>
      <vt:lpstr>The intelligence to be borrowed</vt:lpstr>
      <vt:lpstr>Manchester Moth Story</vt:lpstr>
      <vt:lpstr>Essential elements that can be extracted from “evolution”</vt:lpstr>
      <vt:lpstr>Use “evolution” to solve an optimization problem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67</cp:revision>
  <dcterms:created xsi:type="dcterms:W3CDTF">2021-01-06T14:22:07Z</dcterms:created>
  <dcterms:modified xsi:type="dcterms:W3CDTF">2024-07-02T09:36:32Z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