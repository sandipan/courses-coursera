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4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5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93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84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51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61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95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90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72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em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videos/designing-antennas-and-antenna-arrays-with-matlab-and-antenna-to-1483477877085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044575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Use Genetic Algorithm via MATLAB: Engineering Case Studies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Antenna design problem</a:t>
            </a:r>
          </a:p>
        </p:txBody>
      </p:sp>
      <p:pic>
        <p:nvPicPr>
          <p:cNvPr id="2" name="图片 19">
            <a:extLst>
              <a:ext uri="{FF2B5EF4-FFF2-40B4-BE49-F238E27FC236}">
                <a16:creationId xmlns:a16="http://schemas.microsoft.com/office/drawing/2014/main" id="{78F604B5-7653-200B-AE71-F32380AA5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8" b="16287"/>
          <a:stretch>
            <a:fillRect/>
          </a:stretch>
        </p:blipFill>
        <p:spPr bwMode="auto">
          <a:xfrm>
            <a:off x="554334" y="3093728"/>
            <a:ext cx="7291387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8">
            <a:extLst>
              <a:ext uri="{FF2B5EF4-FFF2-40B4-BE49-F238E27FC236}">
                <a16:creationId xmlns:a16="http://schemas.microsoft.com/office/drawing/2014/main" id="{30AE0FB0-A579-DB6D-0E18-4255DBD66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24" y="4700500"/>
            <a:ext cx="883787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geometry parameters [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 determine the performance of the antenna.</a:t>
            </a:r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ABBAA6-E5C8-DA40-5253-3A2BA01A7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24" y="1788783"/>
            <a:ext cx="86979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b="1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Dipole antenna </a:t>
            </a:r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Antenna design problem</a:t>
            </a:r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06DA36ED-775D-F007-6436-E94F641CA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71" y="1720840"/>
            <a:ext cx="10148547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Dipole antenna: center frequency at 2 GHz. </a:t>
            </a:r>
          </a:p>
          <a:p>
            <a:endParaRPr lang="en-US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Design requirements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magnitude of </a:t>
            </a:r>
            <a:r>
              <a:rPr lang="en-US" altLang="zh-CN" sz="24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</a:t>
            </a:r>
            <a:r>
              <a:rPr lang="en-US" altLang="zh-CN" sz="2400" i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400" baseline="-250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11</a:t>
            </a:r>
            <a:r>
              <a:rPr lang="en-US" altLang="zh-CN" sz="24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is less than -10 dB within the frequency range [1.8 GHz 2.2 GHz].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between 60 mm and 90 mm.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between 0.1 mm and 0.5 mm.</a:t>
            </a:r>
          </a:p>
          <a:p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3" name="图片 19">
            <a:extLst>
              <a:ext uri="{FF2B5EF4-FFF2-40B4-BE49-F238E27FC236}">
                <a16:creationId xmlns:a16="http://schemas.microsoft.com/office/drawing/2014/main" id="{5500E5F0-9491-A727-3727-D481B34A8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8" b="16287"/>
          <a:stretch>
            <a:fillRect/>
          </a:stretch>
        </p:blipFill>
        <p:spPr bwMode="auto">
          <a:xfrm>
            <a:off x="3136161" y="5018623"/>
            <a:ext cx="6130497" cy="1129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10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Antenna design problem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85F04826-C915-BCFC-F681-3DD524C6B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13" y="1498874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problem formulation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33A502-930C-6A43-CB60-74AF02B25665}"/>
              </a:ext>
            </a:extLst>
          </p:cNvPr>
          <p:cNvGrpSpPr/>
          <p:nvPr/>
        </p:nvGrpSpPr>
        <p:grpSpPr>
          <a:xfrm>
            <a:off x="931180" y="1641065"/>
            <a:ext cx="4517706" cy="1938992"/>
            <a:chOff x="1061808" y="1819250"/>
            <a:chExt cx="4217199" cy="1938992"/>
          </a:xfrm>
        </p:grpSpPr>
        <p:sp>
          <p:nvSpPr>
            <p:cNvPr id="3" name="矩形 8">
              <a:extLst>
                <a:ext uri="{FF2B5EF4-FFF2-40B4-BE49-F238E27FC236}">
                  <a16:creationId xmlns:a16="http://schemas.microsoft.com/office/drawing/2014/main" id="{CA440748-38F9-DBC8-2512-70A51A27C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808" y="1819250"/>
              <a:ext cx="3773790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  <a:p>
              <a:r>
                <a:rPr lang="en-US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m</a:t>
              </a:r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inimize  </a:t>
              </a:r>
            </a:p>
            <a:p>
              <a:r>
                <a:rPr lang="en-US" altLang="zh-CN" sz="24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        </a:t>
              </a:r>
            </a:p>
            <a:p>
              <a:r>
                <a:rPr lang="en-US" altLang="zh-CN" sz="2400" i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      f</a:t>
              </a:r>
              <a:r>
                <a:rPr lang="en-US" altLang="zh-CN" sz="2400" i="1" baseline="-2500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r>
                <a:rPr lang="zh-CN" altLang="en-US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∈</a:t>
              </a:r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[1.8GHz</a:t>
              </a:r>
              <a:r>
                <a:rPr lang="zh-CN" altLang="en-US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</a:t>
              </a:r>
              <a:r>
                <a:rPr lang="en-US" altLang="zh-CN" sz="2400" i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2.2GHz]</a:t>
              </a:r>
              <a:endParaRPr lang="zh-CN" altLang="en-US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  <a:p>
              <a:pPr>
                <a:buFont typeface="Wingdings" pitchFamily="2" charset="2"/>
                <a:buNone/>
              </a:pPr>
              <a:endPara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5" name="对象 6">
              <a:extLst>
                <a:ext uri="{FF2B5EF4-FFF2-40B4-BE49-F238E27FC236}">
                  <a16:creationId xmlns:a16="http://schemas.microsoft.com/office/drawing/2014/main" id="{76CBB728-DF95-38C9-80E0-1999DDAA1F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2319278"/>
                </p:ext>
              </p:extLst>
            </p:nvPr>
          </p:nvGraphicFramePr>
          <p:xfrm>
            <a:off x="2353244" y="2133287"/>
            <a:ext cx="2925763" cy="604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49080" imgH="317160" progId="Equation.DSMT4">
                    <p:embed/>
                  </p:oleObj>
                </mc:Choice>
                <mc:Fallback>
                  <p:oleObj name="Equation" r:id="rId3" imgW="1549080" imgH="31716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3244" y="2133287"/>
                          <a:ext cx="2925763" cy="6048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963338A-DE20-3DD1-C415-DE7DC8C27D39}"/>
              </a:ext>
            </a:extLst>
          </p:cNvPr>
          <p:cNvGrpSpPr/>
          <p:nvPr/>
        </p:nvGrpSpPr>
        <p:grpSpPr>
          <a:xfrm>
            <a:off x="1181108" y="3498983"/>
            <a:ext cx="8616034" cy="3046988"/>
            <a:chOff x="1936888" y="3433669"/>
            <a:chExt cx="8616034" cy="3046988"/>
          </a:xfrm>
        </p:grpSpPr>
        <p:sp>
          <p:nvSpPr>
            <p:cNvPr id="4" name="矩形 14">
              <a:extLst>
                <a:ext uri="{FF2B5EF4-FFF2-40B4-BE49-F238E27FC236}">
                  <a16:creationId xmlns:a16="http://schemas.microsoft.com/office/drawing/2014/main" id="{CD6D2795-84C9-757A-B71D-03B3E5AD0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888" y="3433669"/>
              <a:ext cx="8616034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=[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l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,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]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l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[60mm 90mm]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[0.1mm 0.5mm]</a:t>
              </a:r>
              <a:endPara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f</a:t>
              </a:r>
              <a:r>
                <a:rPr lang="en-US" altLang="zh-CN" sz="2400" i="1" baseline="-25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i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is the </a:t>
              </a:r>
              <a:r>
                <a:rPr lang="en-US" altLang="zh-CN" sz="2400" i="1" dirty="0" err="1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i</a:t>
              </a:r>
              <a:r>
                <a:rPr lang="en-US" altLang="zh-CN" sz="2400" dirty="0" err="1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th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frequency sample in the frequency band.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K </a:t>
              </a:r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is the number of samples in 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frequency</a:t>
              </a:r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 band.</a:t>
              </a:r>
            </a:p>
            <a:p>
              <a:endParaRPr lang="en-US" altLang="zh-C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|·|</a:t>
              </a:r>
              <a:r>
                <a:rPr lang="en-US" altLang="zh-CN" sz="2400" baseline="30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* 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is</a:t>
              </a:r>
              <a:r>
                <a:rPr lang="en-US" altLang="zh-CN" sz="2400" baseline="30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defined as summing the number of frequency points whose values of                 is above </a:t>
              </a:r>
              <a:r>
                <a:rPr lang="en-GB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-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10dB.</a:t>
              </a:r>
              <a:endPara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pic>
          <p:nvPicPr>
            <p:cNvPr id="6" name="Picture 7">
              <a:extLst>
                <a:ext uri="{FF2B5EF4-FFF2-40B4-BE49-F238E27FC236}">
                  <a16:creationId xmlns:a16="http://schemas.microsoft.com/office/drawing/2014/main" id="{BCF22B70-8F55-195D-CB54-486343168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8643" y="6057150"/>
              <a:ext cx="1174269" cy="4235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662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 Formulate the objective function in MATLAB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0D5977-7FA6-15C2-6448-D9C8938C7B01}"/>
              </a:ext>
            </a:extLst>
          </p:cNvPr>
          <p:cNvSpPr/>
          <p:nvPr/>
        </p:nvSpPr>
        <p:spPr>
          <a:xfrm>
            <a:off x="388775" y="1614196"/>
            <a:ext cx="9305730" cy="4189445"/>
          </a:xfrm>
          <a:prstGeom prst="roundRect">
            <a:avLst>
              <a:gd name="adj" fmla="val 4548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func_antenna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fre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=2*1e9;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Set center operating frequency (Hz)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subobject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=design(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dipole,fre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Create antenna type: dipole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subobject.Load.Impedance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=100;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Set excitation port impedance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S Set antenna size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subobject.Length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=x(1);</a:t>
            </a: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subobject.Width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=x(2);</a:t>
            </a:r>
            <a:b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</a:b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S_data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sparameters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(subobject,1*1e9:2e7:3*1e9,201); 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S parameter calculation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y=sum((mag2db(abs(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S_data.Parameters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(1,1,41:61)))&gt;-10));</a:t>
            </a:r>
          </a:p>
          <a:p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figure(1);h=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rfplot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S_data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</a:b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D6A5A4-AFB9-6735-BC81-C2854B630772}"/>
              </a:ext>
            </a:extLst>
          </p:cNvPr>
          <p:cNvGrpSpPr/>
          <p:nvPr/>
        </p:nvGrpSpPr>
        <p:grpSpPr>
          <a:xfrm>
            <a:off x="474435" y="3192857"/>
            <a:ext cx="4864354" cy="786570"/>
            <a:chOff x="474435" y="3192857"/>
            <a:chExt cx="4864354" cy="78657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18CA17B-95E4-11E9-7EA8-C0BE2921D418}"/>
                </a:ext>
              </a:extLst>
            </p:cNvPr>
            <p:cNvSpPr txBox="1"/>
            <p:nvPr/>
          </p:nvSpPr>
          <p:spPr>
            <a:xfrm>
              <a:off x="3204871" y="3401476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Design parameters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2">
              <a:extLst>
                <a:ext uri="{FF2B5EF4-FFF2-40B4-BE49-F238E27FC236}">
                  <a16:creationId xmlns:a16="http://schemas.microsoft.com/office/drawing/2014/main" id="{07D406EA-C850-3795-0D97-27C8C024812F}"/>
                </a:ext>
              </a:extLst>
            </p:cNvPr>
            <p:cNvSpPr/>
            <p:nvPr/>
          </p:nvSpPr>
          <p:spPr>
            <a:xfrm>
              <a:off x="474435" y="3192857"/>
              <a:ext cx="2730436" cy="78657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7ABB1A-516A-96E7-29B0-481C84D214A4}"/>
              </a:ext>
            </a:extLst>
          </p:cNvPr>
          <p:cNvGrpSpPr/>
          <p:nvPr/>
        </p:nvGrpSpPr>
        <p:grpSpPr>
          <a:xfrm>
            <a:off x="483765" y="4714552"/>
            <a:ext cx="8046393" cy="395152"/>
            <a:chOff x="483765" y="4714552"/>
            <a:chExt cx="8046393" cy="395152"/>
          </a:xfrm>
        </p:grpSpPr>
        <p:cxnSp>
          <p:nvCxnSpPr>
            <p:cNvPr id="5" name="直接连接符 16">
              <a:extLst>
                <a:ext uri="{FF2B5EF4-FFF2-40B4-BE49-F238E27FC236}">
                  <a16:creationId xmlns:a16="http://schemas.microsoft.com/office/drawing/2014/main" id="{BE017EAE-0D02-48C0-7E9F-301F7A2F6C0F}"/>
                </a:ext>
              </a:extLst>
            </p:cNvPr>
            <p:cNvCxnSpPr>
              <a:cxnSpLocks/>
            </p:cNvCxnSpPr>
            <p:nvPr/>
          </p:nvCxnSpPr>
          <p:spPr>
            <a:xfrm>
              <a:off x="483765" y="4714552"/>
              <a:ext cx="619753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485B55-C632-D089-33F9-764B39E37FC9}"/>
                </a:ext>
              </a:extLst>
            </p:cNvPr>
            <p:cNvSpPr txBox="1"/>
            <p:nvPr/>
          </p:nvSpPr>
          <p:spPr>
            <a:xfrm>
              <a:off x="6447537" y="4740372"/>
              <a:ext cx="2082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 function 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矩形 8">
            <a:extLst>
              <a:ext uri="{FF2B5EF4-FFF2-40B4-BE49-F238E27FC236}">
                <a16:creationId xmlns:a16="http://schemas.microsoft.com/office/drawing/2014/main" id="{603B92AF-D0EC-6C29-AB75-E3FC685CEE87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9" name="矩形 10">
            <a:extLst>
              <a:ext uri="{FF2B5EF4-FFF2-40B4-BE49-F238E27FC236}">
                <a16:creationId xmlns:a16="http://schemas.microsoft.com/office/drawing/2014/main" id="{0230288D-DB3A-D92E-10DD-475725EA9433}"/>
              </a:ext>
            </a:extLst>
          </p:cNvPr>
          <p:cNvSpPr/>
          <p:nvPr/>
        </p:nvSpPr>
        <p:spPr>
          <a:xfrm>
            <a:off x="474434" y="5952347"/>
            <a:ext cx="88281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  <a:hlinkClick r:id="rId3"/>
              </a:rPr>
              <a:t>https://uk.mathworks.com/videos/designing-antennas-and-antenna-arrays-with-matlab-and-antenna-to-1483477877085.html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2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Perform GA for finding the optimal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D01BF3-1612-C7AB-A22C-280D65702F5E}"/>
              </a:ext>
            </a:extLst>
          </p:cNvPr>
          <p:cNvSpPr/>
          <p:nvPr/>
        </p:nvSpPr>
        <p:spPr>
          <a:xfrm>
            <a:off x="398107" y="1619991"/>
            <a:ext cx="11265158" cy="1585415"/>
          </a:xfrm>
          <a:prstGeom prst="roundRect">
            <a:avLst>
              <a:gd name="adj" fmla="val 7080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clear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clc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options =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optimoptions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'ga'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PlotFcn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@gaplotbestf,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'PopulationSize'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,10,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'MaxGenerations'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,25);</a:t>
            </a: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[x]= ga(@func_antenna,2,[],[],[],[],[60/1000 0.1/1000],[90/1000 0.5/1000], [],options)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795664-37E6-6B02-07EE-08CADC905ADE}"/>
              </a:ext>
            </a:extLst>
          </p:cNvPr>
          <p:cNvGrpSpPr/>
          <p:nvPr/>
        </p:nvGrpSpPr>
        <p:grpSpPr>
          <a:xfrm>
            <a:off x="279917" y="3067399"/>
            <a:ext cx="1107996" cy="552268"/>
            <a:chOff x="270587" y="3205406"/>
            <a:chExt cx="1107996" cy="552268"/>
          </a:xfrm>
        </p:grpSpPr>
        <p:cxnSp>
          <p:nvCxnSpPr>
            <p:cNvPr id="3" name="直接连接符 9">
              <a:extLst>
                <a:ext uri="{FF2B5EF4-FFF2-40B4-BE49-F238E27FC236}">
                  <a16:creationId xmlns:a16="http://schemas.microsoft.com/office/drawing/2014/main" id="{CBEFDFB2-FB33-440C-9BA9-ED7594FCDA2B}"/>
                </a:ext>
              </a:extLst>
            </p:cNvPr>
            <p:cNvCxnSpPr>
              <a:cxnSpLocks/>
            </p:cNvCxnSpPr>
            <p:nvPr/>
          </p:nvCxnSpPr>
          <p:spPr>
            <a:xfrm>
              <a:off x="460643" y="3205406"/>
              <a:ext cx="43995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40E777-085D-F2F5-91F6-31EE3FEA5A80}"/>
                </a:ext>
              </a:extLst>
            </p:cNvPr>
            <p:cNvSpPr txBox="1"/>
            <p:nvPr/>
          </p:nvSpPr>
          <p:spPr>
            <a:xfrm>
              <a:off x="270587" y="329600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A8D7FB9-5528-F5C9-BF47-1A52457363CD}"/>
              </a:ext>
            </a:extLst>
          </p:cNvPr>
          <p:cNvGrpSpPr/>
          <p:nvPr/>
        </p:nvGrpSpPr>
        <p:grpSpPr>
          <a:xfrm>
            <a:off x="4550121" y="3093038"/>
            <a:ext cx="4062034" cy="507057"/>
            <a:chOff x="4428823" y="3218126"/>
            <a:chExt cx="4062034" cy="507057"/>
          </a:xfrm>
        </p:grpSpPr>
        <p:cxnSp>
          <p:nvCxnSpPr>
            <p:cNvPr id="6" name="直接连接符 8">
              <a:extLst>
                <a:ext uri="{FF2B5EF4-FFF2-40B4-BE49-F238E27FC236}">
                  <a16:creationId xmlns:a16="http://schemas.microsoft.com/office/drawing/2014/main" id="{BA19A5B0-DEDE-1B74-3080-6463D234429C}"/>
                </a:ext>
              </a:extLst>
            </p:cNvPr>
            <p:cNvCxnSpPr>
              <a:cxnSpLocks/>
            </p:cNvCxnSpPr>
            <p:nvPr/>
          </p:nvCxnSpPr>
          <p:spPr>
            <a:xfrm>
              <a:off x="4428823" y="3218126"/>
              <a:ext cx="406203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50F9C5-42FF-3F5C-96E6-46549BF7934D}"/>
                </a:ext>
              </a:extLst>
            </p:cNvPr>
            <p:cNvSpPr txBox="1"/>
            <p:nvPr/>
          </p:nvSpPr>
          <p:spPr>
            <a:xfrm>
              <a:off x="4671318" y="3263518"/>
              <a:ext cx="37305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Design parameter bounds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765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7">
            <a:extLst>
              <a:ext uri="{FF2B5EF4-FFF2-40B4-BE49-F238E27FC236}">
                <a16:creationId xmlns:a16="http://schemas.microsoft.com/office/drawing/2014/main" id="{BED7E3F5-AE9E-17B0-6663-53E5803BD10B}"/>
              </a:ext>
            </a:extLst>
          </p:cNvPr>
          <p:cNvGrpSpPr/>
          <p:nvPr/>
        </p:nvGrpSpPr>
        <p:grpSpPr>
          <a:xfrm>
            <a:off x="977305" y="2582528"/>
            <a:ext cx="2579934" cy="2164258"/>
            <a:chOff x="5598436" y="2885450"/>
            <a:chExt cx="3144735" cy="2451076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6E01927A-3086-3A4B-59C1-B958CD5E49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10"/>
            <a:stretch/>
          </p:blipFill>
          <p:spPr bwMode="auto">
            <a:xfrm>
              <a:off x="5598436" y="2885450"/>
              <a:ext cx="3144735" cy="24510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" name="直接连接符 17">
              <a:extLst>
                <a:ext uri="{FF2B5EF4-FFF2-40B4-BE49-F238E27FC236}">
                  <a16:creationId xmlns:a16="http://schemas.microsoft.com/office/drawing/2014/main" id="{1BDD8058-FAE5-ABC1-E966-78129A7E70D9}"/>
                </a:ext>
              </a:extLst>
            </p:cNvPr>
            <p:cNvCxnSpPr/>
            <p:nvPr/>
          </p:nvCxnSpPr>
          <p:spPr>
            <a:xfrm>
              <a:off x="7059257" y="3757567"/>
              <a:ext cx="46579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Perform GA for finding the optimal design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A441519D-AC3D-5BB6-F8F4-CDD2798AF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54" y="1551866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process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102D689-CE3E-B5B0-BDE7-4B47B0402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757" y="1839104"/>
            <a:ext cx="4656201" cy="3606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5413551-F254-2E1B-700F-E4031B76A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159" y="5585722"/>
            <a:ext cx="4096799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 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meets design requirements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9" name="矩形 13">
            <a:extLst>
              <a:ext uri="{FF2B5EF4-FFF2-40B4-BE49-F238E27FC236}">
                <a16:creationId xmlns:a16="http://schemas.microsoft.com/office/drawing/2014/main" id="{D415A9C9-6E43-82DD-C9FA-DEF279AF0FC0}"/>
              </a:ext>
            </a:extLst>
          </p:cNvPr>
          <p:cNvSpPr/>
          <p:nvPr/>
        </p:nvSpPr>
        <p:spPr>
          <a:xfrm>
            <a:off x="6392982" y="1685994"/>
            <a:ext cx="1682829" cy="483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4">
            <a:extLst>
              <a:ext uri="{FF2B5EF4-FFF2-40B4-BE49-F238E27FC236}">
                <a16:creationId xmlns:a16="http://schemas.microsoft.com/office/drawing/2014/main" id="{2F9AC2AB-0DFC-C179-171B-7E0233E1F72D}"/>
              </a:ext>
            </a:extLst>
          </p:cNvPr>
          <p:cNvGrpSpPr/>
          <p:nvPr/>
        </p:nvGrpSpPr>
        <p:grpSpPr>
          <a:xfrm>
            <a:off x="977305" y="2635586"/>
            <a:ext cx="2626598" cy="2186676"/>
            <a:chOff x="714943" y="2925189"/>
            <a:chExt cx="3201616" cy="2476464"/>
          </a:xfrm>
        </p:grpSpPr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54280473-A307-0858-C1FD-CA75CA0D4D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943" y="2925189"/>
              <a:ext cx="3201616" cy="2476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2" name="直接连接符 14">
              <a:extLst>
                <a:ext uri="{FF2B5EF4-FFF2-40B4-BE49-F238E27FC236}">
                  <a16:creationId xmlns:a16="http://schemas.microsoft.com/office/drawing/2014/main" id="{FFB15BC8-C95A-C568-9C70-E19C3E1D81DB}"/>
                </a:ext>
              </a:extLst>
            </p:cNvPr>
            <p:cNvCxnSpPr/>
            <p:nvPr/>
          </p:nvCxnSpPr>
          <p:spPr>
            <a:xfrm>
              <a:off x="2241296" y="3810000"/>
              <a:ext cx="46579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9">
            <a:extLst>
              <a:ext uri="{FF2B5EF4-FFF2-40B4-BE49-F238E27FC236}">
                <a16:creationId xmlns:a16="http://schemas.microsoft.com/office/drawing/2014/main" id="{8F3B0608-251B-BA8F-6A61-C12555201BB6}"/>
              </a:ext>
            </a:extLst>
          </p:cNvPr>
          <p:cNvGrpSpPr/>
          <p:nvPr/>
        </p:nvGrpSpPr>
        <p:grpSpPr>
          <a:xfrm>
            <a:off x="977305" y="2695712"/>
            <a:ext cx="2695340" cy="2126550"/>
            <a:chOff x="6101864" y="3236474"/>
            <a:chExt cx="3285406" cy="2408370"/>
          </a:xfrm>
        </p:grpSpPr>
        <p:pic>
          <p:nvPicPr>
            <p:cNvPr id="17" name="Picture 5">
              <a:extLst>
                <a:ext uri="{FF2B5EF4-FFF2-40B4-BE49-F238E27FC236}">
                  <a16:creationId xmlns:a16="http://schemas.microsoft.com/office/drawing/2014/main" id="{77DB2196-7207-A627-30D4-80D0088BDA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1864" y="3236474"/>
              <a:ext cx="3285406" cy="2408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8" name="直接连接符 18">
              <a:extLst>
                <a:ext uri="{FF2B5EF4-FFF2-40B4-BE49-F238E27FC236}">
                  <a16:creationId xmlns:a16="http://schemas.microsoft.com/office/drawing/2014/main" id="{D353F525-D6CE-C54D-2D96-CD27ADA7B77C}"/>
                </a:ext>
              </a:extLst>
            </p:cNvPr>
            <p:cNvCxnSpPr/>
            <p:nvPr/>
          </p:nvCxnSpPr>
          <p:spPr>
            <a:xfrm>
              <a:off x="7511671" y="4237861"/>
              <a:ext cx="46579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矩形 8">
            <a:extLst>
              <a:ext uri="{FF2B5EF4-FFF2-40B4-BE49-F238E27FC236}">
                <a16:creationId xmlns:a16="http://schemas.microsoft.com/office/drawing/2014/main" id="{1ADA2D85-9ED3-BEB7-70A9-1B0EBA80AED1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324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Perform GA for finding the optimal design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5D9B53-9EB5-B7E4-E12D-DF40289C8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85" y="2304626"/>
            <a:ext cx="2987281" cy="72348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98151A-BD1E-F2A7-01D0-640FA8F61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061" y="1736909"/>
            <a:ext cx="4758967" cy="356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8">
            <a:extLst>
              <a:ext uri="{FF2B5EF4-FFF2-40B4-BE49-F238E27FC236}">
                <a16:creationId xmlns:a16="http://schemas.microsoft.com/office/drawing/2014/main" id="{D26462D5-2575-B8E7-EB3B-DD46834A26A4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C249FF8F-9BA8-A74F-1E5C-6ACDA49AC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54" y="1551866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results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79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Perform GA for finding the optimal design</a:t>
            </a:r>
            <a:br>
              <a:rPr lang="en-US" dirty="0"/>
            </a:br>
            <a:r>
              <a:rPr lang="en-US" dirty="0"/>
              <a:t>and the objective function value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E7B862-4BE5-74E3-70B1-A105B741AAEA}"/>
              </a:ext>
            </a:extLst>
          </p:cNvPr>
          <p:cNvSpPr/>
          <p:nvPr/>
        </p:nvSpPr>
        <p:spPr>
          <a:xfrm>
            <a:off x="398107" y="1619991"/>
            <a:ext cx="11265158" cy="1585415"/>
          </a:xfrm>
          <a:prstGeom prst="roundRect">
            <a:avLst>
              <a:gd name="adj" fmla="val 7080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clear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clc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options =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optimoptions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'ga'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PlotFcn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@gaplotbestf,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'PopulationSize'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,10,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'MaxGenerations'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,25);</a:t>
            </a: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[x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fval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]= ga(@func_antenna,2,[],[],[],[],[60/1000 0.1/1000],[90/1000 0.5/1000], [],options)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A59A9E-1577-F405-ACC2-65806BA9AD03}"/>
              </a:ext>
            </a:extLst>
          </p:cNvPr>
          <p:cNvGrpSpPr/>
          <p:nvPr/>
        </p:nvGrpSpPr>
        <p:grpSpPr>
          <a:xfrm>
            <a:off x="302219" y="3067399"/>
            <a:ext cx="1107996" cy="552268"/>
            <a:chOff x="270587" y="3205406"/>
            <a:chExt cx="1107996" cy="552268"/>
          </a:xfrm>
        </p:grpSpPr>
        <p:cxnSp>
          <p:nvCxnSpPr>
            <p:cNvPr id="7" name="直接连接符 9">
              <a:extLst>
                <a:ext uri="{FF2B5EF4-FFF2-40B4-BE49-F238E27FC236}">
                  <a16:creationId xmlns:a16="http://schemas.microsoft.com/office/drawing/2014/main" id="{E2DC8A2A-E2C0-0B48-DF95-1A3A8278652F}"/>
                </a:ext>
              </a:extLst>
            </p:cNvPr>
            <p:cNvCxnSpPr>
              <a:cxnSpLocks/>
            </p:cNvCxnSpPr>
            <p:nvPr/>
          </p:nvCxnSpPr>
          <p:spPr>
            <a:xfrm>
              <a:off x="503627" y="3205406"/>
              <a:ext cx="87495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FB568-D1C2-47CF-DA02-D87F1E1207CF}"/>
                </a:ext>
              </a:extLst>
            </p:cNvPr>
            <p:cNvSpPr txBox="1"/>
            <p:nvPr/>
          </p:nvSpPr>
          <p:spPr>
            <a:xfrm>
              <a:off x="270587" y="329600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80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Perform GA for finding the optimal design</a:t>
            </a:r>
            <a:br>
              <a:rPr lang="en-US" dirty="0"/>
            </a:br>
            <a:r>
              <a:rPr lang="en-US" dirty="0"/>
              <a:t>and the objective function value 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64D4498E-36F3-2EC4-E375-A25FAE587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54" y="1551866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results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5BC56A-6C99-817D-9157-7D77FA5AB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625" y="1739597"/>
            <a:ext cx="5037775" cy="4014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0EAA9E6-716B-C97F-DBF2-288D1E566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79" y="2631637"/>
            <a:ext cx="2897735" cy="111539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8">
            <a:extLst>
              <a:ext uri="{FF2B5EF4-FFF2-40B4-BE49-F238E27FC236}">
                <a16:creationId xmlns:a16="http://schemas.microsoft.com/office/drawing/2014/main" id="{37B79F92-87CC-C4D6-C734-33E8756BB602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820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A5ADBE-C9B3-4CE5-AAC0-4175A347AD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5761C8-6457-4834-8E4E-6F8094ECE6B8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698C8605-F9FB-4477-8BE0-B376D7745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1862</TotalTime>
  <Words>501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Wingdings</vt:lpstr>
      <vt:lpstr>Office Theme</vt:lpstr>
      <vt:lpstr>Equation</vt:lpstr>
      <vt:lpstr>Use Genetic Algorithm via MATLAB: Engineering Case Studies</vt:lpstr>
      <vt:lpstr>Antenna design problem</vt:lpstr>
      <vt:lpstr>Antenna design problem</vt:lpstr>
      <vt:lpstr>Antenna design problem</vt:lpstr>
      <vt:lpstr> Formulate the objective function in MATLAB </vt:lpstr>
      <vt:lpstr>Perform GA for finding the optimal design</vt:lpstr>
      <vt:lpstr>Perform GA for finding the optimal design</vt:lpstr>
      <vt:lpstr>Perform GA for finding the optimal design</vt:lpstr>
      <vt:lpstr>Perform GA for finding the optimal design and the objective function value </vt:lpstr>
      <vt:lpstr>Perform GA for finding the optimal design and the objective function value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75</cp:revision>
  <dcterms:created xsi:type="dcterms:W3CDTF">2021-01-06T14:22:07Z</dcterms:created>
  <dcterms:modified xsi:type="dcterms:W3CDTF">2024-07-02T16:22:00Z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