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5" r:id="rId7"/>
    <p:sldId id="496" r:id="rId8"/>
    <p:sldId id="497" r:id="rId9"/>
    <p:sldId id="498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Use Particle Swarm Optimization via MATLAB: Employ the Function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Benchmark function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B9ED5-BFAE-60DF-A35E-97AECF1EE403}"/>
              </a:ext>
            </a:extLst>
          </p:cNvPr>
          <p:cNvSpPr txBox="1"/>
          <p:nvPr/>
        </p:nvSpPr>
        <p:spPr>
          <a:xfrm>
            <a:off x="448409" y="1532740"/>
            <a:ext cx="8421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xample: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An exponential function of two variables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DC8A31C-A053-F3C3-1713-55C32CD78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834" y="2024419"/>
            <a:ext cx="519430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1">
                <a:extLst>
                  <a:ext uri="{FF2B5EF4-FFF2-40B4-BE49-F238E27FC236}">
                    <a16:creationId xmlns:a16="http://schemas.microsoft.com/office/drawing/2014/main" id="{857D6F8C-7DC5-715B-A247-008EDC059B23}"/>
                  </a:ext>
                </a:extLst>
              </p:cNvPr>
              <p:cNvSpPr txBox="1"/>
              <p:nvPr/>
            </p:nvSpPr>
            <p:spPr bwMode="auto">
              <a:xfrm>
                <a:off x="720724" y="2956076"/>
                <a:ext cx="3432175" cy="6270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Sup>
                            <m:sSubSup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对象 1">
                <a:extLst>
                  <a:ext uri="{FF2B5EF4-FFF2-40B4-BE49-F238E27FC236}">
                    <a16:creationId xmlns:a16="http://schemas.microsoft.com/office/drawing/2014/main" id="{857D6F8C-7DC5-715B-A247-008EDC059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724" y="2956076"/>
                <a:ext cx="3432175" cy="627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A1FE24A0-E66D-8FD0-1D53-F3A6DCDAFBF1}"/>
                  </a:ext>
                </a:extLst>
              </p:cNvPr>
              <p:cNvSpPr txBox="1"/>
              <p:nvPr/>
            </p:nvSpPr>
            <p:spPr>
              <a:xfrm>
                <a:off x="10331450" y="5283200"/>
                <a:ext cx="704850" cy="67601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A1FE24A0-E66D-8FD0-1D53-F3A6DCDA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450" y="5283200"/>
                <a:ext cx="704850" cy="6760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8">
                <a:extLst>
                  <a:ext uri="{FF2B5EF4-FFF2-40B4-BE49-F238E27FC236}">
                    <a16:creationId xmlns:a16="http://schemas.microsoft.com/office/drawing/2014/main" id="{DF9972FA-398D-12C4-653A-A3A35F7BEB78}"/>
                  </a:ext>
                </a:extLst>
              </p:cNvPr>
              <p:cNvSpPr txBox="1"/>
              <p:nvPr/>
            </p:nvSpPr>
            <p:spPr bwMode="auto">
              <a:xfrm>
                <a:off x="7410450" y="5137150"/>
                <a:ext cx="425450" cy="506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象 8">
                <a:extLst>
                  <a:ext uri="{FF2B5EF4-FFF2-40B4-BE49-F238E27FC236}">
                    <a16:creationId xmlns:a16="http://schemas.microsoft.com/office/drawing/2014/main" id="{DF9972FA-398D-12C4-653A-A3A35F7BE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10450" y="5137150"/>
                <a:ext cx="425450" cy="506769"/>
              </a:xfrm>
              <a:prstGeom prst="rect">
                <a:avLst/>
              </a:prstGeom>
              <a:blipFill>
                <a:blip r:embed="rId6"/>
                <a:stretch>
                  <a:fillRect r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9">
            <a:extLst>
              <a:ext uri="{FF2B5EF4-FFF2-40B4-BE49-F238E27FC236}">
                <a16:creationId xmlns:a16="http://schemas.microsoft.com/office/drawing/2014/main" id="{2F6B3FEC-62A8-399C-BF6F-79D6DE78584E}"/>
              </a:ext>
            </a:extLst>
          </p:cNvPr>
          <p:cNvSpPr/>
          <p:nvPr/>
        </p:nvSpPr>
        <p:spPr>
          <a:xfrm>
            <a:off x="720724" y="3936821"/>
            <a:ext cx="53252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Global Minimum:</a:t>
            </a:r>
            <a:r>
              <a:rPr lang="en-US" altLang="zh-CN" sz="2400" dirty="0"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Cambria Math" panose="02040503050406030204" pitchFamily="18" charset="0"/>
              </a:rPr>
              <a:t>f(x*) = -0.4289,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ambria Math" panose="02040503050406030204" pitchFamily="18" charset="0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ambria Math" panose="02040503050406030204" pitchFamily="18" charset="0"/>
              </a:rPr>
              <a:t>                                x* = [-0.7071, 0]</a:t>
            </a:r>
            <a:endParaRPr lang="zh-CN" altLang="zh-CN" sz="24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DF2BD-AC17-390F-A478-E3635244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PSO to solve benchmark problems</a:t>
            </a:r>
            <a:br>
              <a:rPr lang="en-GB" dirty="0"/>
            </a:br>
            <a:endParaRPr lang="en-GB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E0D012AD-CE09-652A-13B0-1E1B9B4E4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97" y="3477279"/>
            <a:ext cx="4279302" cy="119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69DDD3-637A-DF67-4B27-CF9A451F3114}"/>
              </a:ext>
            </a:extLst>
          </p:cNvPr>
          <p:cNvSpPr txBox="1"/>
          <p:nvPr/>
        </p:nvSpPr>
        <p:spPr>
          <a:xfrm>
            <a:off x="553494" y="1711208"/>
            <a:ext cx="6863306" cy="1129308"/>
          </a:xfrm>
          <a:prstGeom prst="roundRect">
            <a:avLst>
              <a:gd name="adj" fmla="val 941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rng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default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For reproducibility</a:t>
            </a:r>
          </a:p>
          <a:p>
            <a:pPr>
              <a:defRPr/>
            </a:pPr>
            <a:r>
              <a:rPr lang="en-US" sz="1600" kern="0" dirty="0">
                <a:solidFill>
                  <a:srgbClr val="212121"/>
                </a:solidFill>
                <a:latin typeface="Consolas" panose="020B0609020204030204" pitchFamily="49" charset="0"/>
              </a:rPr>
              <a:t>fun = @(x)x(1)*exp(-norm(x)^2);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srgbClr val="212121"/>
                </a:solidFill>
                <a:latin typeface="Consolas" panose="020B0609020204030204" pitchFamily="49" charset="0"/>
              </a:rPr>
              <a:t>x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(fun,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矩形 20">
            <a:extLst>
              <a:ext uri="{FF2B5EF4-FFF2-40B4-BE49-F238E27FC236}">
                <a16:creationId xmlns:a16="http://schemas.microsoft.com/office/drawing/2014/main" id="{3DE3370A-A0EE-A31F-7B22-710A36C1032B}"/>
              </a:ext>
            </a:extLst>
          </p:cNvPr>
          <p:cNvSpPr/>
          <p:nvPr/>
        </p:nvSpPr>
        <p:spPr>
          <a:xfrm>
            <a:off x="164390" y="6053044"/>
            <a:ext cx="3606757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矩形 9">
            <a:extLst>
              <a:ext uri="{FF2B5EF4-FFF2-40B4-BE49-F238E27FC236}">
                <a16:creationId xmlns:a16="http://schemas.microsoft.com/office/drawing/2014/main" id="{ABB4055C-0FA5-EE65-3F42-23415DA57DC9}"/>
              </a:ext>
            </a:extLst>
          </p:cNvPr>
          <p:cNvSpPr/>
          <p:nvPr/>
        </p:nvSpPr>
        <p:spPr>
          <a:xfrm>
            <a:off x="164390" y="4901678"/>
            <a:ext cx="89253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This solution is far from the true minimum.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24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5B8C-5E33-E762-0256-B1578391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PSO to solve benchmark problems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62B69-80CD-545E-0689-6CDA217E4E27}"/>
              </a:ext>
            </a:extLst>
          </p:cNvPr>
          <p:cNvSpPr txBox="1"/>
          <p:nvPr/>
        </p:nvSpPr>
        <p:spPr>
          <a:xfrm>
            <a:off x="368130" y="1674438"/>
            <a:ext cx="6578770" cy="1645563"/>
          </a:xfrm>
          <a:prstGeom prst="roundRect">
            <a:avLst>
              <a:gd name="adj" fmla="val 941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fun = @(x)x(1)*exp(-norm(x)^2);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[-10,-15];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[15,20];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rng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default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For reproducibility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srgbClr val="212121"/>
                </a:solidFill>
                <a:latin typeface="Consolas" panose="020B0609020204030204" pitchFamily="49" charset="0"/>
              </a:rPr>
              <a:t>x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(fun,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EB85802-6535-15AE-7961-8620AB2FE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04" y="3651317"/>
            <a:ext cx="3789419" cy="103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2F0468A7-EB0B-210E-04CC-A692FEC5D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01" y="4982475"/>
            <a:ext cx="7529974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 is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very near to </a:t>
            </a: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true minimum.</a:t>
            </a:r>
            <a:r>
              <a:rPr lang="en-GB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The search range is impactful considering the result. </a:t>
            </a:r>
            <a:endParaRPr lang="zh-CN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" name="矩形 20">
            <a:extLst>
              <a:ext uri="{FF2B5EF4-FFF2-40B4-BE49-F238E27FC236}">
                <a16:creationId xmlns:a16="http://schemas.microsoft.com/office/drawing/2014/main" id="{B98675AE-F35E-A733-1617-69B1693A659B}"/>
              </a:ext>
            </a:extLst>
          </p:cNvPr>
          <p:cNvSpPr/>
          <p:nvPr/>
        </p:nvSpPr>
        <p:spPr>
          <a:xfrm>
            <a:off x="253290" y="6129244"/>
            <a:ext cx="364614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9697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980B-CACD-E373-7C28-4FFEB264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PSO to solve benchmark problems</a:t>
            </a:r>
            <a:br>
              <a:rPr lang="en-GB" dirty="0"/>
            </a:br>
            <a:endParaRPr lang="en-GB" dirty="0"/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D77E4ECE-7621-56E5-3A19-BFAC2B9C2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97" y="3690603"/>
            <a:ext cx="3748486" cy="103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43D9AD-74D2-5BE9-7A23-0286DA7FCD4B}"/>
              </a:ext>
            </a:extLst>
          </p:cNvPr>
          <p:cNvSpPr txBox="1"/>
          <p:nvPr/>
        </p:nvSpPr>
        <p:spPr>
          <a:xfrm>
            <a:off x="638004" y="1504948"/>
            <a:ext cx="9090196" cy="1903690"/>
          </a:xfrm>
          <a:prstGeom prst="roundRect">
            <a:avLst>
              <a:gd name="adj" fmla="val 941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fun = @(x)x(1)*exp(-norm(x)^2);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[-10,-15];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[15,20];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Options =</a:t>
            </a:r>
            <a:r>
              <a:rPr kumimoji="0" lang="fr-F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optimoptions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'particleswarm'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'PlotFcn'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,@pswplotbestf,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'SwarmSize’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,100);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rng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default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For reproducibility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srgbClr val="212121"/>
                </a:solidFill>
                <a:latin typeface="Consolas" panose="020B0609020204030204" pitchFamily="49" charset="0"/>
              </a:rPr>
              <a:t>x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(fun,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F88C4C2-BA50-D4BA-B4C8-03D4208DE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76" y="5021910"/>
            <a:ext cx="721922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very near to </a:t>
            </a: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true minimum.</a:t>
            </a:r>
            <a:endParaRPr lang="zh-CN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cxnSp>
        <p:nvCxnSpPr>
          <p:cNvPr id="20" name="直接连接符 16">
            <a:extLst>
              <a:ext uri="{FF2B5EF4-FFF2-40B4-BE49-F238E27FC236}">
                <a16:creationId xmlns:a16="http://schemas.microsoft.com/office/drawing/2014/main" id="{87F6A3BD-9FDD-35D5-4A62-01791BCBFD3C}"/>
              </a:ext>
            </a:extLst>
          </p:cNvPr>
          <p:cNvCxnSpPr>
            <a:cxnSpLocks/>
          </p:cNvCxnSpPr>
          <p:nvPr/>
        </p:nvCxnSpPr>
        <p:spPr>
          <a:xfrm>
            <a:off x="794150" y="2597285"/>
            <a:ext cx="8718149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49A7158-3DC4-1EF5-E3DD-1D0B1485F011}"/>
              </a:ext>
            </a:extLst>
          </p:cNvPr>
          <p:cNvSpPr/>
          <p:nvPr/>
        </p:nvSpPr>
        <p:spPr>
          <a:xfrm>
            <a:off x="365531" y="5769039"/>
            <a:ext cx="40318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See live script for similar examples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FE63C8ED-F001-956F-B276-3AF13586C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920" y="3852683"/>
            <a:ext cx="3676759" cy="2775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直接连接符 14">
            <a:extLst>
              <a:ext uri="{FF2B5EF4-FFF2-40B4-BE49-F238E27FC236}">
                <a16:creationId xmlns:a16="http://schemas.microsoft.com/office/drawing/2014/main" id="{8E084E97-DFBB-9D62-6BD1-1F930942CEC9}"/>
              </a:ext>
            </a:extLst>
          </p:cNvPr>
          <p:cNvCxnSpPr>
            <a:cxnSpLocks/>
          </p:cNvCxnSpPr>
          <p:nvPr/>
        </p:nvCxnSpPr>
        <p:spPr>
          <a:xfrm>
            <a:off x="1193255" y="4725899"/>
            <a:ext cx="2603292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98231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3E04-2B0C-894F-BA36-312D84CD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PSO to solve benchmark problems</a:t>
            </a:r>
            <a:br>
              <a:rPr lang="en-GB" dirty="0"/>
            </a:b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D7963-4594-07FC-D7A6-ECCD9E4BF67E}"/>
              </a:ext>
            </a:extLst>
          </p:cNvPr>
          <p:cNvSpPr txBox="1"/>
          <p:nvPr/>
        </p:nvSpPr>
        <p:spPr>
          <a:xfrm>
            <a:off x="194076" y="1525310"/>
            <a:ext cx="10702524" cy="1903690"/>
          </a:xfrm>
          <a:prstGeom prst="roundRect">
            <a:avLst>
              <a:gd name="adj" fmla="val 941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fun = @(x)x(1)*exp(-norm(x)^2);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[-10,-15];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[15,20];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options =</a:t>
            </a:r>
            <a:r>
              <a:rPr kumimoji="0" lang="fr-F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optimoptions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'particleswarm'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'PlotFcn’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,@pswplotbestf,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'SwarmSize’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,100);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rng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default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For reproducibility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[x,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fval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exitflag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output] =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(fun,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options)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B11E26F-DF3E-F536-333C-7B9C2EEA8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25" y="5811961"/>
            <a:ext cx="690609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very near to the true minimum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zh-CN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4">
            <a:extLst>
              <a:ext uri="{FF2B5EF4-FFF2-40B4-BE49-F238E27FC236}">
                <a16:creationId xmlns:a16="http://schemas.microsoft.com/office/drawing/2014/main" id="{C14FCD53-66B5-3D7E-D4A0-04CA8C8647FC}"/>
              </a:ext>
            </a:extLst>
          </p:cNvPr>
          <p:cNvCxnSpPr>
            <a:cxnSpLocks/>
          </p:cNvCxnSpPr>
          <p:nvPr/>
        </p:nvCxnSpPr>
        <p:spPr>
          <a:xfrm>
            <a:off x="371625" y="3359994"/>
            <a:ext cx="3467730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pic>
        <p:nvPicPr>
          <p:cNvPr id="14" name="Picture 3">
            <a:extLst>
              <a:ext uri="{FF2B5EF4-FFF2-40B4-BE49-F238E27FC236}">
                <a16:creationId xmlns:a16="http://schemas.microsoft.com/office/drawing/2014/main" id="{6EEEA67C-EADA-9DDC-C8F2-14821BE9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124" y="3586590"/>
            <a:ext cx="4791429" cy="3074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78BEF53C-A045-F6B2-30F0-F1BBCF8C0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55" y="3539134"/>
            <a:ext cx="5058485" cy="233018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20">
            <a:extLst>
              <a:ext uri="{FF2B5EF4-FFF2-40B4-BE49-F238E27FC236}">
                <a16:creationId xmlns:a16="http://schemas.microsoft.com/office/drawing/2014/main" id="{7EFE3C55-3DD1-D22D-24C9-23CB9FDBEBA6}"/>
              </a:ext>
            </a:extLst>
          </p:cNvPr>
          <p:cNvSpPr/>
          <p:nvPr/>
        </p:nvSpPr>
        <p:spPr>
          <a:xfrm>
            <a:off x="311265" y="6291427"/>
            <a:ext cx="4254315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See live script for similar examples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81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229EC6-07EC-4F5E-A63E-110C7C7E8A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FB1C61-FEA2-4626-AA88-6BE3DD67CD97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03140727-E2EB-454C-9EB7-A961A496CA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1853</TotalTime>
  <Words>455</Words>
  <Application>Microsoft Office PowerPoint</Application>
  <PresentationFormat>Widescreen</PresentationFormat>
  <Paragraphs>53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Consolas</vt:lpstr>
      <vt:lpstr>Times New Roman</vt:lpstr>
      <vt:lpstr>Office Theme</vt:lpstr>
      <vt:lpstr>Use Particle Swarm Optimization via MATLAB: Employ the Function</vt:lpstr>
      <vt:lpstr>Benchmark function </vt:lpstr>
      <vt:lpstr>Use PSO to solve benchmark problems </vt:lpstr>
      <vt:lpstr>Use PSO to solve benchmark problems </vt:lpstr>
      <vt:lpstr>Use PSO to solve benchmark problems </vt:lpstr>
      <vt:lpstr>Use PSO to solve benchmark problems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63</cp:revision>
  <dcterms:created xsi:type="dcterms:W3CDTF">2021-01-06T14:22:07Z</dcterms:created>
  <dcterms:modified xsi:type="dcterms:W3CDTF">2024-07-03T11:45:17Z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