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500" r:id="rId6"/>
    <p:sldId id="494" r:id="rId7"/>
    <p:sldId id="501" r:id="rId8"/>
    <p:sldId id="502" r:id="rId9"/>
    <p:sldId id="503" r:id="rId10"/>
    <p:sldId id="504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04" d="100"/>
          <a:sy n="104" d="100"/>
        </p:scale>
        <p:origin x="60" y="180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Particle Swarm Optimization: Operators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CEC70-70F6-AA6A-07B0-8A6E6438D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work </a:t>
            </a:r>
            <a:r>
              <a:rPr lang="en-GB" dirty="0"/>
              <a:t>flow of PSO algorithms</a:t>
            </a:r>
            <a:br>
              <a:rPr lang="en-GB" dirty="0"/>
            </a:br>
            <a:endParaRPr lang="en-GB" dirty="0"/>
          </a:p>
        </p:txBody>
      </p:sp>
      <p:sp>
        <p:nvSpPr>
          <p:cNvPr id="3" name="矩形 17">
            <a:extLst>
              <a:ext uri="{FF2B5EF4-FFF2-40B4-BE49-F238E27FC236}">
                <a16:creationId xmlns:a16="http://schemas.microsoft.com/office/drawing/2014/main" id="{C1F47011-741C-96DF-A53B-6EF3E6387D5E}"/>
              </a:ext>
            </a:extLst>
          </p:cNvPr>
          <p:cNvSpPr/>
          <p:nvPr/>
        </p:nvSpPr>
        <p:spPr>
          <a:xfrm>
            <a:off x="1961976" y="1540987"/>
            <a:ext cx="5099185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Initialization 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18">
            <a:extLst>
              <a:ext uri="{FF2B5EF4-FFF2-40B4-BE49-F238E27FC236}">
                <a16:creationId xmlns:a16="http://schemas.microsoft.com/office/drawing/2014/main" id="{781424BA-4AC2-69AD-0CDE-325F6BB261DE}"/>
              </a:ext>
            </a:extLst>
          </p:cNvPr>
          <p:cNvSpPr/>
          <p:nvPr/>
        </p:nvSpPr>
        <p:spPr>
          <a:xfrm>
            <a:off x="1961976" y="2351017"/>
            <a:ext cx="5099185" cy="494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 </a:t>
            </a:r>
            <a:r>
              <a:rPr lang="en-US" altLang="zh-CN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pBest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each particle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菱形 19">
            <a:extLst>
              <a:ext uri="{FF2B5EF4-FFF2-40B4-BE49-F238E27FC236}">
                <a16:creationId xmlns:a16="http://schemas.microsoft.com/office/drawing/2014/main" id="{8CF76DFA-8505-0274-F939-2EF1DB6BEBFC}"/>
              </a:ext>
            </a:extLst>
          </p:cNvPr>
          <p:cNvSpPr/>
          <p:nvPr/>
        </p:nvSpPr>
        <p:spPr>
          <a:xfrm>
            <a:off x="2895184" y="5541205"/>
            <a:ext cx="3238500" cy="122335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Termination conditions?</a:t>
            </a:r>
            <a:endParaRPr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20">
            <a:extLst>
              <a:ext uri="{FF2B5EF4-FFF2-40B4-BE49-F238E27FC236}">
                <a16:creationId xmlns:a16="http://schemas.microsoft.com/office/drawing/2014/main" id="{581CD7F6-5E38-B508-8523-FD66F9AB7902}"/>
              </a:ext>
            </a:extLst>
          </p:cNvPr>
          <p:cNvSpPr/>
          <p:nvPr/>
        </p:nvSpPr>
        <p:spPr>
          <a:xfrm>
            <a:off x="7655032" y="5844019"/>
            <a:ext cx="4248822" cy="6177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the optimal solution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接箭头连接符 22">
            <a:extLst>
              <a:ext uri="{FF2B5EF4-FFF2-40B4-BE49-F238E27FC236}">
                <a16:creationId xmlns:a16="http://schemas.microsoft.com/office/drawing/2014/main" id="{B8ECE056-5F18-88D8-CE40-F815E361F1BE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4511569" y="2002652"/>
            <a:ext cx="0" cy="34836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24">
            <a:extLst>
              <a:ext uri="{FF2B5EF4-FFF2-40B4-BE49-F238E27FC236}">
                <a16:creationId xmlns:a16="http://schemas.microsoft.com/office/drawing/2014/main" id="{E295F9AD-D272-8C10-1EB0-DDAC68FB551F}"/>
              </a:ext>
            </a:extLst>
          </p:cNvPr>
          <p:cNvCxnSpPr>
            <a:cxnSpLocks/>
            <a:stCxn id="13" idx="2"/>
            <a:endCxn id="5" idx="0"/>
          </p:cNvCxnSpPr>
          <p:nvPr/>
        </p:nvCxnSpPr>
        <p:spPr>
          <a:xfrm>
            <a:off x="4511568" y="5231422"/>
            <a:ext cx="2866" cy="30978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25">
            <a:extLst>
              <a:ext uri="{FF2B5EF4-FFF2-40B4-BE49-F238E27FC236}">
                <a16:creationId xmlns:a16="http://schemas.microsoft.com/office/drawing/2014/main" id="{31F0EE7A-2F36-EF09-134E-E66B49B46A5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6133684" y="6152882"/>
            <a:ext cx="15213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连接符 26">
            <a:extLst>
              <a:ext uri="{FF2B5EF4-FFF2-40B4-BE49-F238E27FC236}">
                <a16:creationId xmlns:a16="http://schemas.microsoft.com/office/drawing/2014/main" id="{9FD0CAB1-D383-A9A9-E078-F0E4F3936F38}"/>
              </a:ext>
            </a:extLst>
          </p:cNvPr>
          <p:cNvCxnSpPr>
            <a:cxnSpLocks/>
            <a:stCxn id="5" idx="1"/>
            <a:endCxn id="4" idx="1"/>
          </p:cNvCxnSpPr>
          <p:nvPr/>
        </p:nvCxnSpPr>
        <p:spPr>
          <a:xfrm rot="10800000">
            <a:off x="1961976" y="2598360"/>
            <a:ext cx="933208" cy="3554523"/>
          </a:xfrm>
          <a:prstGeom prst="bentConnector3">
            <a:avLst>
              <a:gd name="adj1" fmla="val 124496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769EBC9-DBD4-1881-39FD-E6D77EDA2EC3}"/>
              </a:ext>
            </a:extLst>
          </p:cNvPr>
          <p:cNvSpPr txBox="1"/>
          <p:nvPr/>
        </p:nvSpPr>
        <p:spPr>
          <a:xfrm>
            <a:off x="2269456" y="573428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95695C-3DAF-E3B2-D589-917A7E807A66}"/>
              </a:ext>
            </a:extLst>
          </p:cNvPr>
          <p:cNvSpPr txBox="1"/>
          <p:nvPr/>
        </p:nvSpPr>
        <p:spPr>
          <a:xfrm>
            <a:off x="6624222" y="5739638"/>
            <a:ext cx="56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29">
            <a:extLst>
              <a:ext uri="{FF2B5EF4-FFF2-40B4-BE49-F238E27FC236}">
                <a16:creationId xmlns:a16="http://schemas.microsoft.com/office/drawing/2014/main" id="{F8E75228-0415-1F29-BBE4-97C521A04AC4}"/>
              </a:ext>
            </a:extLst>
          </p:cNvPr>
          <p:cNvSpPr/>
          <p:nvPr/>
        </p:nvSpPr>
        <p:spPr>
          <a:xfrm>
            <a:off x="1961975" y="4773199"/>
            <a:ext cx="5099186" cy="458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 each particle’s position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30">
            <a:extLst>
              <a:ext uri="{FF2B5EF4-FFF2-40B4-BE49-F238E27FC236}">
                <a16:creationId xmlns:a16="http://schemas.microsoft.com/office/drawing/2014/main" id="{79F5E19A-85BC-73D2-00FD-55B6DB025536}"/>
              </a:ext>
            </a:extLst>
          </p:cNvPr>
          <p:cNvSpPr/>
          <p:nvPr/>
        </p:nvSpPr>
        <p:spPr>
          <a:xfrm>
            <a:off x="1961975" y="3946111"/>
            <a:ext cx="5099186" cy="494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 velocity of each particle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31">
            <a:extLst>
              <a:ext uri="{FF2B5EF4-FFF2-40B4-BE49-F238E27FC236}">
                <a16:creationId xmlns:a16="http://schemas.microsoft.com/office/drawing/2014/main" id="{713AADC2-80B7-DDC6-1392-070DCB5D492E}"/>
              </a:ext>
            </a:extLst>
          </p:cNvPr>
          <p:cNvSpPr/>
          <p:nvPr/>
        </p:nvSpPr>
        <p:spPr>
          <a:xfrm>
            <a:off x="1961977" y="3174951"/>
            <a:ext cx="5099186" cy="4708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 </a:t>
            </a:r>
            <a:r>
              <a:rPr lang="en-US" altLang="zh-CN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gBest</a:t>
            </a:r>
            <a:r>
              <a:rPr lang="en-US" altLang="zh-CN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 population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直接箭头连接符 35">
            <a:extLst>
              <a:ext uri="{FF2B5EF4-FFF2-40B4-BE49-F238E27FC236}">
                <a16:creationId xmlns:a16="http://schemas.microsoft.com/office/drawing/2014/main" id="{9C8602C6-9853-2032-DAF6-CC5C10CFF139}"/>
              </a:ext>
            </a:extLst>
          </p:cNvPr>
          <p:cNvCxnSpPr>
            <a:cxnSpLocks/>
            <a:stCxn id="4" idx="2"/>
            <a:endCxn id="15" idx="0"/>
          </p:cNvCxnSpPr>
          <p:nvPr/>
        </p:nvCxnSpPr>
        <p:spPr>
          <a:xfrm>
            <a:off x="4511569" y="2845700"/>
            <a:ext cx="1" cy="32925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36">
            <a:extLst>
              <a:ext uri="{FF2B5EF4-FFF2-40B4-BE49-F238E27FC236}">
                <a16:creationId xmlns:a16="http://schemas.microsoft.com/office/drawing/2014/main" id="{342BCDC3-423F-0E82-11FF-5F18685DC8DC}"/>
              </a:ext>
            </a:extLst>
          </p:cNvPr>
          <p:cNvCxnSpPr>
            <a:cxnSpLocks/>
            <a:stCxn id="15" idx="2"/>
            <a:endCxn id="14" idx="0"/>
          </p:cNvCxnSpPr>
          <p:nvPr/>
        </p:nvCxnSpPr>
        <p:spPr>
          <a:xfrm flipH="1">
            <a:off x="4511568" y="3645829"/>
            <a:ext cx="2" cy="30028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37">
            <a:extLst>
              <a:ext uri="{FF2B5EF4-FFF2-40B4-BE49-F238E27FC236}">
                <a16:creationId xmlns:a16="http://schemas.microsoft.com/office/drawing/2014/main" id="{45A689B5-3DA4-E13E-81E0-030F8E690453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>
            <a:off x="4511568" y="4440794"/>
            <a:ext cx="0" cy="33240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5FD8863-9103-6572-03CB-58BB2BBF351F}"/>
              </a:ext>
            </a:extLst>
          </p:cNvPr>
          <p:cNvSpPr txBox="1"/>
          <p:nvPr/>
        </p:nvSpPr>
        <p:spPr>
          <a:xfrm>
            <a:off x="7655032" y="2367525"/>
            <a:ext cx="2382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position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A9D5A9-3805-EE88-88B4-EED1DB1AB05B}"/>
              </a:ext>
            </a:extLst>
          </p:cNvPr>
          <p:cNvSpPr txBox="1"/>
          <p:nvPr/>
        </p:nvSpPr>
        <p:spPr>
          <a:xfrm>
            <a:off x="7673353" y="3977340"/>
            <a:ext cx="2382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velocity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695784-09C6-9C06-91A2-74ED7B204B31}"/>
              </a:ext>
            </a:extLst>
          </p:cNvPr>
          <p:cNvSpPr txBox="1"/>
          <p:nvPr/>
        </p:nvSpPr>
        <p:spPr>
          <a:xfrm>
            <a:off x="7673353" y="3134618"/>
            <a:ext cx="2382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position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CC2E86-F8D7-AD3B-247D-4DB05348D087}"/>
              </a:ext>
            </a:extLst>
          </p:cNvPr>
          <p:cNvSpPr txBox="1"/>
          <p:nvPr/>
        </p:nvSpPr>
        <p:spPr>
          <a:xfrm>
            <a:off x="7673353" y="4723485"/>
            <a:ext cx="2382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position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B20BB9-DEB8-C63D-11F8-20401AACA16D}"/>
              </a:ext>
            </a:extLst>
          </p:cNvPr>
          <p:cNvSpPr txBox="1"/>
          <p:nvPr/>
        </p:nvSpPr>
        <p:spPr>
          <a:xfrm>
            <a:off x="7655032" y="1540672"/>
            <a:ext cx="3367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position, velocity </a:t>
            </a:r>
          </a:p>
        </p:txBody>
      </p:sp>
    </p:spTree>
    <p:extLst>
      <p:ext uri="{BB962C8B-B14F-4D97-AF65-F5344CB8AC3E}">
        <p14:creationId xmlns:p14="http://schemas.microsoft.com/office/powerpoint/2010/main" val="3415632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PSO operators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5" descr="ANI3">
                <a:extLst>
                  <a:ext uri="{FF2B5EF4-FFF2-40B4-BE49-F238E27FC236}">
                    <a16:creationId xmlns:a16="http://schemas.microsoft.com/office/drawing/2014/main" id="{7418A058-9366-3BDE-A618-B30D14E6ABDC}"/>
                  </a:ext>
                </a:extLst>
              </p:cNvPr>
              <p:cNvSpPr txBox="1"/>
              <p:nvPr/>
            </p:nvSpPr>
            <p:spPr bwMode="auto">
              <a:xfrm>
                <a:off x="2895601" y="3570030"/>
                <a:ext cx="5016500" cy="1022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×(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𝑝𝐵𝑒𝑠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×(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𝑔𝐵𝑒𝑠</m:t>
                      </m:r>
                      <m:sSup>
                        <m:s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Object 5" descr="ANI3">
                <a:extLst>
                  <a:ext uri="{FF2B5EF4-FFF2-40B4-BE49-F238E27FC236}">
                    <a16:creationId xmlns:a16="http://schemas.microsoft.com/office/drawing/2014/main" id="{7418A058-9366-3BDE-A618-B30D14E6A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5601" y="3570030"/>
                <a:ext cx="5016500" cy="10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7" descr="ANI3">
                <a:extLst>
                  <a:ext uri="{FF2B5EF4-FFF2-40B4-BE49-F238E27FC236}">
                    <a16:creationId xmlns:a16="http://schemas.microsoft.com/office/drawing/2014/main" id="{0D83CAFB-5F27-7C69-D4B4-EAA9EC3EE27F}"/>
                  </a:ext>
                </a:extLst>
              </p:cNvPr>
              <p:cNvSpPr txBox="1"/>
              <p:nvPr/>
            </p:nvSpPr>
            <p:spPr bwMode="auto">
              <a:xfrm>
                <a:off x="3506903" y="4668851"/>
                <a:ext cx="3282282" cy="6715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Object 7" descr="ANI3">
                <a:extLst>
                  <a:ext uri="{FF2B5EF4-FFF2-40B4-BE49-F238E27FC236}">
                    <a16:creationId xmlns:a16="http://schemas.microsoft.com/office/drawing/2014/main" id="{0D83CAFB-5F27-7C69-D4B4-EAA9EC3EE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6903" y="4668851"/>
                <a:ext cx="3282282" cy="6715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4">
            <a:extLst>
              <a:ext uri="{FF2B5EF4-FFF2-40B4-BE49-F238E27FC236}">
                <a16:creationId xmlns:a16="http://schemas.microsoft.com/office/drawing/2014/main" id="{64AB693C-98F8-E5DD-19CA-DAA83B768B33}"/>
              </a:ext>
            </a:extLst>
          </p:cNvPr>
          <p:cNvSpPr/>
          <p:nvPr/>
        </p:nvSpPr>
        <p:spPr>
          <a:xfrm>
            <a:off x="521485" y="1596931"/>
            <a:ext cx="81025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Particles update their velocity and position by:</a:t>
            </a:r>
            <a:endParaRPr lang="zh-CN" altLang="en-US" sz="24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cxnSp>
        <p:nvCxnSpPr>
          <p:cNvPr id="5" name="直接箭头连接符 12">
            <a:extLst>
              <a:ext uri="{FF2B5EF4-FFF2-40B4-BE49-F238E27FC236}">
                <a16:creationId xmlns:a16="http://schemas.microsoft.com/office/drawing/2014/main" id="{2ABBF683-EDD7-FA9B-B99E-7ABEBDE774E2}"/>
              </a:ext>
            </a:extLst>
          </p:cNvPr>
          <p:cNvCxnSpPr>
            <a:cxnSpLocks/>
          </p:cNvCxnSpPr>
          <p:nvPr/>
        </p:nvCxnSpPr>
        <p:spPr>
          <a:xfrm flipH="1">
            <a:off x="4270473" y="2778426"/>
            <a:ext cx="2084467" cy="78582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13">
            <a:extLst>
              <a:ext uri="{FF2B5EF4-FFF2-40B4-BE49-F238E27FC236}">
                <a16:creationId xmlns:a16="http://schemas.microsoft.com/office/drawing/2014/main" id="{3A7D740B-934C-ED15-0DCD-C0716AE03697}"/>
              </a:ext>
            </a:extLst>
          </p:cNvPr>
          <p:cNvSpPr/>
          <p:nvPr/>
        </p:nvSpPr>
        <p:spPr>
          <a:xfrm>
            <a:off x="6417624" y="2385386"/>
            <a:ext cx="53425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current velocity of the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i-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particle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14">
            <a:extLst>
              <a:ext uri="{FF2B5EF4-FFF2-40B4-BE49-F238E27FC236}">
                <a16:creationId xmlns:a16="http://schemas.microsoft.com/office/drawing/2014/main" id="{8DF712B7-8D38-0294-85E6-3CE47A8EC201}"/>
              </a:ext>
            </a:extLst>
          </p:cNvPr>
          <p:cNvSpPr/>
          <p:nvPr/>
        </p:nvSpPr>
        <p:spPr>
          <a:xfrm>
            <a:off x="940993" y="2378316"/>
            <a:ext cx="55535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updated velocity of the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i-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particle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15">
            <a:extLst>
              <a:ext uri="{FF2B5EF4-FFF2-40B4-BE49-F238E27FC236}">
                <a16:creationId xmlns:a16="http://schemas.microsoft.com/office/drawing/2014/main" id="{AC064372-3180-F8D9-A955-B3F5CB899800}"/>
              </a:ext>
            </a:extLst>
          </p:cNvPr>
          <p:cNvSpPr/>
          <p:nvPr/>
        </p:nvSpPr>
        <p:spPr>
          <a:xfrm>
            <a:off x="6893085" y="5908887"/>
            <a:ext cx="41340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current position of the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i-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particle.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16">
            <a:extLst>
              <a:ext uri="{FF2B5EF4-FFF2-40B4-BE49-F238E27FC236}">
                <a16:creationId xmlns:a16="http://schemas.microsoft.com/office/drawing/2014/main" id="{E6C94F99-BD3E-4208-78CC-4F0DF98EBFD1}"/>
              </a:ext>
            </a:extLst>
          </p:cNvPr>
          <p:cNvSpPr/>
          <p:nvPr/>
        </p:nvSpPr>
        <p:spPr>
          <a:xfrm>
            <a:off x="448837" y="5999424"/>
            <a:ext cx="53977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updated position of the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i-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particle.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直接箭头连接符 24">
            <a:extLst>
              <a:ext uri="{FF2B5EF4-FFF2-40B4-BE49-F238E27FC236}">
                <a16:creationId xmlns:a16="http://schemas.microsoft.com/office/drawing/2014/main" id="{FA9D6FC0-2561-7E3D-5D5A-4A79AA6F6490}"/>
              </a:ext>
            </a:extLst>
          </p:cNvPr>
          <p:cNvCxnSpPr>
            <a:cxnSpLocks/>
          </p:cNvCxnSpPr>
          <p:nvPr/>
        </p:nvCxnSpPr>
        <p:spPr>
          <a:xfrm flipV="1">
            <a:off x="3506902" y="5084506"/>
            <a:ext cx="523226" cy="914918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29">
            <a:extLst>
              <a:ext uri="{FF2B5EF4-FFF2-40B4-BE49-F238E27FC236}">
                <a16:creationId xmlns:a16="http://schemas.microsoft.com/office/drawing/2014/main" id="{910940D8-EF61-6E1D-FA0F-58974FDFCADE}"/>
              </a:ext>
            </a:extLst>
          </p:cNvPr>
          <p:cNvCxnSpPr>
            <a:cxnSpLocks/>
          </p:cNvCxnSpPr>
          <p:nvPr/>
        </p:nvCxnSpPr>
        <p:spPr>
          <a:xfrm>
            <a:off x="3190875" y="2778426"/>
            <a:ext cx="155771" cy="728376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32">
            <a:extLst>
              <a:ext uri="{FF2B5EF4-FFF2-40B4-BE49-F238E27FC236}">
                <a16:creationId xmlns:a16="http://schemas.microsoft.com/office/drawing/2014/main" id="{31BBDE71-46DF-4387-B264-612F0FD3250E}"/>
              </a:ext>
            </a:extLst>
          </p:cNvPr>
          <p:cNvCxnSpPr>
            <a:cxnSpLocks/>
          </p:cNvCxnSpPr>
          <p:nvPr/>
        </p:nvCxnSpPr>
        <p:spPr>
          <a:xfrm flipH="1" flipV="1">
            <a:off x="4819641" y="5183740"/>
            <a:ext cx="2073444" cy="87313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35">
            <a:extLst>
              <a:ext uri="{FF2B5EF4-FFF2-40B4-BE49-F238E27FC236}">
                <a16:creationId xmlns:a16="http://schemas.microsoft.com/office/drawing/2014/main" id="{C523044F-3C8F-C849-E56C-10E3CBAD199D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6494562" y="3300710"/>
            <a:ext cx="542167" cy="30964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36">
            <a:extLst>
              <a:ext uri="{FF2B5EF4-FFF2-40B4-BE49-F238E27FC236}">
                <a16:creationId xmlns:a16="http://schemas.microsoft.com/office/drawing/2014/main" id="{21402F69-7F27-47E0-39DF-45C5DA0EC08E}"/>
              </a:ext>
            </a:extLst>
          </p:cNvPr>
          <p:cNvSpPr/>
          <p:nvPr/>
        </p:nvSpPr>
        <p:spPr>
          <a:xfrm>
            <a:off x="7036729" y="2885211"/>
            <a:ext cx="42142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current best position of the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i-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particle 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直接箭头连接符 38">
            <a:extLst>
              <a:ext uri="{FF2B5EF4-FFF2-40B4-BE49-F238E27FC236}">
                <a16:creationId xmlns:a16="http://schemas.microsoft.com/office/drawing/2014/main" id="{B78EAC46-6906-1AA0-86E6-0E54A1DCE312}"/>
              </a:ext>
            </a:extLst>
          </p:cNvPr>
          <p:cNvCxnSpPr>
            <a:cxnSpLocks/>
          </p:cNvCxnSpPr>
          <p:nvPr/>
        </p:nvCxnSpPr>
        <p:spPr>
          <a:xfrm flipH="1" flipV="1">
            <a:off x="5703347" y="4486581"/>
            <a:ext cx="1490593" cy="430971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39">
            <a:extLst>
              <a:ext uri="{FF2B5EF4-FFF2-40B4-BE49-F238E27FC236}">
                <a16:creationId xmlns:a16="http://schemas.microsoft.com/office/drawing/2014/main" id="{926D23FC-AB0C-361B-32B0-D4560518A1D1}"/>
              </a:ext>
            </a:extLst>
          </p:cNvPr>
          <p:cNvSpPr/>
          <p:nvPr/>
        </p:nvSpPr>
        <p:spPr>
          <a:xfrm>
            <a:off x="7193940" y="4772363"/>
            <a:ext cx="42142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current best position of the 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whole population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9" grpId="0"/>
      <p:bldP spid="10" grpId="0"/>
      <p:bldP spid="15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D1355-6D20-780C-E33E-02FA1FEF4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PSO operators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Box 12" descr="ANI3">
            <a:extLst>
              <a:ext uri="{FF2B5EF4-FFF2-40B4-BE49-F238E27FC236}">
                <a16:creationId xmlns:a16="http://schemas.microsoft.com/office/drawing/2014/main" id="{C5233FC2-1310-6796-2632-C30080C46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9105" y="5099833"/>
            <a:ext cx="921096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i="1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=1, 2,...,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is the total number of particles in the population.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=1, 2,...,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is the total number of iterations.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7" descr="ANI3">
                <a:extLst>
                  <a:ext uri="{FF2B5EF4-FFF2-40B4-BE49-F238E27FC236}">
                    <a16:creationId xmlns:a16="http://schemas.microsoft.com/office/drawing/2014/main" id="{96D94233-B7F1-A30A-F3A1-3A1C0DD88F26}"/>
                  </a:ext>
                </a:extLst>
              </p:cNvPr>
              <p:cNvSpPr txBox="1"/>
              <p:nvPr/>
            </p:nvSpPr>
            <p:spPr bwMode="auto">
              <a:xfrm>
                <a:off x="3735098" y="3141663"/>
                <a:ext cx="2716502" cy="7133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+1</m:t>
                          </m:r>
                        </m:sup>
                      </m:sSubSup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Object 7" descr="ANI3">
                <a:extLst>
                  <a:ext uri="{FF2B5EF4-FFF2-40B4-BE49-F238E27FC236}">
                    <a16:creationId xmlns:a16="http://schemas.microsoft.com/office/drawing/2014/main" id="{96D94233-B7F1-A30A-F3A1-3A1C0DD88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35098" y="3141663"/>
                <a:ext cx="2716502" cy="7133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8">
            <a:extLst>
              <a:ext uri="{FF2B5EF4-FFF2-40B4-BE49-F238E27FC236}">
                <a16:creationId xmlns:a16="http://schemas.microsoft.com/office/drawing/2014/main" id="{7407D863-2D6D-4280-AD1F-770431CE3A1E}"/>
              </a:ext>
            </a:extLst>
          </p:cNvPr>
          <p:cNvSpPr/>
          <p:nvPr/>
        </p:nvSpPr>
        <p:spPr>
          <a:xfrm>
            <a:off x="1280140" y="4268836"/>
            <a:ext cx="74066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are random numbers between (0, 1).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are learning factors, usually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=2.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2" descr="ANI3">
                <a:extLst>
                  <a:ext uri="{FF2B5EF4-FFF2-40B4-BE49-F238E27FC236}">
                    <a16:creationId xmlns:a16="http://schemas.microsoft.com/office/drawing/2014/main" id="{1AB17C86-C703-CA6C-9CD8-2FDD4CE69937}"/>
                  </a:ext>
                </a:extLst>
              </p:cNvPr>
              <p:cNvSpPr txBox="1"/>
              <p:nvPr/>
            </p:nvSpPr>
            <p:spPr bwMode="auto">
              <a:xfrm>
                <a:off x="2549525" y="1990725"/>
                <a:ext cx="5273675" cy="1022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×(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𝑝𝐵𝑒𝑠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×(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𝑔𝐵𝑒𝑠</m:t>
                      </m:r>
                      <m:sSup>
                        <m:s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对象 2" descr="ANI3">
                <a:extLst>
                  <a:ext uri="{FF2B5EF4-FFF2-40B4-BE49-F238E27FC236}">
                    <a16:creationId xmlns:a16="http://schemas.microsoft.com/office/drawing/2014/main" id="{1AB17C86-C703-CA6C-9CD8-2FDD4CE69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9525" y="1990725"/>
                <a:ext cx="5273675" cy="10223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590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F1CFE-E04E-D4C2-028E-9D81FF16B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PSO operators</a:t>
            </a:r>
            <a:br>
              <a:rPr lang="en-GB" dirty="0"/>
            </a:br>
            <a:endParaRPr lang="en-GB" dirty="0"/>
          </a:p>
        </p:txBody>
      </p:sp>
      <p:sp>
        <p:nvSpPr>
          <p:cNvPr id="3" name="矩形 4">
            <a:extLst>
              <a:ext uri="{FF2B5EF4-FFF2-40B4-BE49-F238E27FC236}">
                <a16:creationId xmlns:a16="http://schemas.microsoft.com/office/drawing/2014/main" id="{F2B36BAE-B865-29C9-FC29-F6731546A036}"/>
              </a:ext>
            </a:extLst>
          </p:cNvPr>
          <p:cNvSpPr/>
          <p:nvPr/>
        </p:nvSpPr>
        <p:spPr>
          <a:xfrm>
            <a:off x="610385" y="1518788"/>
            <a:ext cx="83448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In 1998, a modified particle swarm optimizer is introduced: the inertia weighting factor.</a:t>
            </a:r>
            <a:endParaRPr lang="zh-CN" altLang="en-US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4" name="矩形 13">
            <a:extLst>
              <a:ext uri="{FF2B5EF4-FFF2-40B4-BE49-F238E27FC236}">
                <a16:creationId xmlns:a16="http://schemas.microsoft.com/office/drawing/2014/main" id="{AC535728-0146-837D-FF1B-05203B5B7E8B}"/>
              </a:ext>
            </a:extLst>
          </p:cNvPr>
          <p:cNvSpPr/>
          <p:nvPr/>
        </p:nvSpPr>
        <p:spPr>
          <a:xfrm>
            <a:off x="1737386" y="4470844"/>
            <a:ext cx="60635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is non-negative, called inertia </a:t>
            </a:r>
            <a:r>
              <a:rPr lang="en-US" altLang="zh-CN" sz="24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weighting 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factor.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14">
                <a:extLst>
                  <a:ext uri="{FF2B5EF4-FFF2-40B4-BE49-F238E27FC236}">
                    <a16:creationId xmlns:a16="http://schemas.microsoft.com/office/drawing/2014/main" id="{6DCBBD47-9973-8FC5-46DC-5BBA5F40D889}"/>
                  </a:ext>
                </a:extLst>
              </p:cNvPr>
              <p:cNvSpPr txBox="1"/>
              <p:nvPr/>
            </p:nvSpPr>
            <p:spPr>
              <a:xfrm>
                <a:off x="1423061" y="4476341"/>
                <a:ext cx="314325" cy="29051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对象 14">
                <a:extLst>
                  <a:ext uri="{FF2B5EF4-FFF2-40B4-BE49-F238E27FC236}">
                    <a16:creationId xmlns:a16="http://schemas.microsoft.com/office/drawing/2014/main" id="{6DCBBD47-9973-8FC5-46DC-5BBA5F40D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061" y="4476341"/>
                <a:ext cx="314325" cy="290513"/>
              </a:xfrm>
              <a:prstGeom prst="rect">
                <a:avLst/>
              </a:prstGeom>
              <a:blipFill>
                <a:blip r:embed="rId2"/>
                <a:stretch>
                  <a:fillRect r="-23077" b="-395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2" descr="ANI3">
                <a:extLst>
                  <a:ext uri="{FF2B5EF4-FFF2-40B4-BE49-F238E27FC236}">
                    <a16:creationId xmlns:a16="http://schemas.microsoft.com/office/drawing/2014/main" id="{17DD9DFD-B339-FD57-780C-BEECFD72BCA4}"/>
                  </a:ext>
                </a:extLst>
              </p:cNvPr>
              <p:cNvSpPr txBox="1"/>
              <p:nvPr/>
            </p:nvSpPr>
            <p:spPr bwMode="auto">
              <a:xfrm>
                <a:off x="2127249" y="2917825"/>
                <a:ext cx="5673655" cy="1022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×(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𝑝𝐵𝑒𝑠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×(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𝑔𝐵𝑒𝑠</m:t>
                      </m:r>
                      <m:sSup>
                        <m:s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对象 2" descr="ANI3">
                <a:extLst>
                  <a:ext uri="{FF2B5EF4-FFF2-40B4-BE49-F238E27FC236}">
                    <a16:creationId xmlns:a16="http://schemas.microsoft.com/office/drawing/2014/main" id="{17DD9DFD-B339-FD57-780C-BEECFD72B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7249" y="2917825"/>
                <a:ext cx="5673655" cy="10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95DA27D-3ADD-863E-020D-5A75F3584224}"/>
              </a:ext>
            </a:extLst>
          </p:cNvPr>
          <p:cNvSpPr txBox="1"/>
          <p:nvPr/>
        </p:nvSpPr>
        <p:spPr>
          <a:xfrm>
            <a:off x="547689" y="5378214"/>
            <a:ext cx="92109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Larger inertia weight: more exploration, slower convergence.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Smaller inertia weight: less exploration, faster convergence.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591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5E63F-F47D-D63D-08C4-59BA437AF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Standard PSO operators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7" descr="ANI3">
                <a:extLst>
                  <a:ext uri="{FF2B5EF4-FFF2-40B4-BE49-F238E27FC236}">
                    <a16:creationId xmlns:a16="http://schemas.microsoft.com/office/drawing/2014/main" id="{9BAFB09F-5720-44D8-C03C-C945F448BD11}"/>
                  </a:ext>
                </a:extLst>
              </p:cNvPr>
              <p:cNvSpPr txBox="1"/>
              <p:nvPr/>
            </p:nvSpPr>
            <p:spPr bwMode="auto">
              <a:xfrm>
                <a:off x="4787900" y="4262438"/>
                <a:ext cx="2616200" cy="5762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对象 7" descr="ANI3">
                <a:extLst>
                  <a:ext uri="{FF2B5EF4-FFF2-40B4-BE49-F238E27FC236}">
                    <a16:creationId xmlns:a16="http://schemas.microsoft.com/office/drawing/2014/main" id="{9BAFB09F-5720-44D8-C03C-C945F448B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7900" y="4262438"/>
                <a:ext cx="2616200" cy="5762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8" descr="ANI3">
                <a:extLst>
                  <a:ext uri="{FF2B5EF4-FFF2-40B4-BE49-F238E27FC236}">
                    <a16:creationId xmlns:a16="http://schemas.microsoft.com/office/drawing/2014/main" id="{86911D37-94AF-2CB5-AE89-15279FAA2A03}"/>
                  </a:ext>
                </a:extLst>
              </p:cNvPr>
              <p:cNvSpPr txBox="1"/>
              <p:nvPr/>
            </p:nvSpPr>
            <p:spPr bwMode="auto">
              <a:xfrm>
                <a:off x="3286919" y="3116263"/>
                <a:ext cx="5618162" cy="1022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×(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𝑝𝐵𝑒𝑠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×(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𝑔𝐵𝑒𝑠</m:t>
                      </m:r>
                      <m:sSup>
                        <m:s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GB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=1,..., 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对象 8" descr="ANI3">
                <a:extLst>
                  <a:ext uri="{FF2B5EF4-FFF2-40B4-BE49-F238E27FC236}">
                    <a16:creationId xmlns:a16="http://schemas.microsoft.com/office/drawing/2014/main" id="{86911D37-94AF-2CB5-AE89-15279FAA2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6919" y="3116263"/>
                <a:ext cx="5618162" cy="10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4">
            <a:extLst>
              <a:ext uri="{FF2B5EF4-FFF2-40B4-BE49-F238E27FC236}">
                <a16:creationId xmlns:a16="http://schemas.microsoft.com/office/drawing/2014/main" id="{E4B1BEFD-91E3-5E01-3FC2-A249F57A2784}"/>
              </a:ext>
            </a:extLst>
          </p:cNvPr>
          <p:cNvSpPr/>
          <p:nvPr/>
        </p:nvSpPr>
        <p:spPr>
          <a:xfrm>
            <a:off x="802519" y="1987806"/>
            <a:ext cx="81025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Standard PSO algorithms: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129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55B0-B7DB-256B-EFEF-ED8DCDF60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PSO flow diagram</a:t>
            </a:r>
            <a:br>
              <a:rPr lang="en-GB" dirty="0"/>
            </a:br>
            <a:endParaRPr lang="en-GB" dirty="0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B71E97DA-6E15-E20B-7872-9054B26D6DE5}"/>
              </a:ext>
            </a:extLst>
          </p:cNvPr>
          <p:cNvSpPr txBox="1">
            <a:spLocks noChangeArrowheads="1"/>
          </p:cNvSpPr>
          <p:nvPr/>
        </p:nvSpPr>
        <p:spPr>
          <a:xfrm>
            <a:off x="708129" y="1663065"/>
            <a:ext cx="8705938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 solution in the search space       	    A particle’s position.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GB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E9BC4500-C74F-85E2-68DD-99C5CA164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707" y="3371339"/>
            <a:ext cx="3455987" cy="627062"/>
          </a:xfrm>
          <a:prstGeom prst="rect">
            <a:avLst/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 population of solutions</a:t>
            </a:r>
          </a:p>
        </p:txBody>
      </p:sp>
      <p:grpSp>
        <p:nvGrpSpPr>
          <p:cNvPr id="21" name="Group 15">
            <a:extLst>
              <a:ext uri="{FF2B5EF4-FFF2-40B4-BE49-F238E27FC236}">
                <a16:creationId xmlns:a16="http://schemas.microsoft.com/office/drawing/2014/main" id="{3CADB638-E2B2-5E9B-6F51-A053C4483113}"/>
              </a:ext>
            </a:extLst>
          </p:cNvPr>
          <p:cNvGrpSpPr>
            <a:grpSpLocks/>
          </p:cNvGrpSpPr>
          <p:nvPr/>
        </p:nvGrpSpPr>
        <p:grpSpPr bwMode="auto">
          <a:xfrm>
            <a:off x="4870695" y="2668121"/>
            <a:ext cx="2505075" cy="1069975"/>
            <a:chOff x="2426" y="1635"/>
            <a:chExt cx="1578" cy="674"/>
          </a:xfrm>
        </p:grpSpPr>
        <p:sp>
          <p:nvSpPr>
            <p:cNvPr id="22" name="Line 6">
              <a:extLst>
                <a:ext uri="{FF2B5EF4-FFF2-40B4-BE49-F238E27FC236}">
                  <a16:creationId xmlns:a16="http://schemas.microsoft.com/office/drawing/2014/main" id="{DE869AB0-F87B-29D1-01BD-02C3C46C1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2309"/>
              <a:ext cx="1578" cy="0"/>
            </a:xfrm>
            <a:prstGeom prst="line">
              <a:avLst/>
            </a:prstGeom>
            <a:noFill/>
            <a:ln w="25400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C43A04C7-C35C-E509-43A7-7137B6230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8" y="1635"/>
              <a:ext cx="1424" cy="458"/>
            </a:xfrm>
            <a:prstGeom prst="rect">
              <a:avLst/>
            </a:prstGeom>
            <a:solidFill>
              <a:srgbClr val="5B9BD5">
                <a:lumMod val="60000"/>
                <a:lumOff val="40000"/>
              </a:srgbClr>
            </a:solidFill>
            <a:ln w="9525" algn="ctr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</p:grpSp>
      <p:sp>
        <p:nvSpPr>
          <p:cNvPr id="24" name="Line 10">
            <a:extLst>
              <a:ext uri="{FF2B5EF4-FFF2-40B4-BE49-F238E27FC236}">
                <a16:creationId xmlns:a16="http://schemas.microsoft.com/office/drawing/2014/main" id="{1A40E7F6-1E24-7F52-9931-B3168C6436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95043" y="4051627"/>
            <a:ext cx="1836738" cy="1578769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2B89FECB-9F99-34FE-EE68-804BD4B05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9056" y="5271621"/>
            <a:ext cx="3455987" cy="627062"/>
          </a:xfrm>
          <a:prstGeom prst="rect">
            <a:avLst/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New solutions</a:t>
            </a: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5421A735-3685-199D-B353-E661E204D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510" y="5219961"/>
            <a:ext cx="3630443" cy="792163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Update the speed and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position of each particle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27" name="Line 13">
            <a:extLst>
              <a:ext uri="{FF2B5EF4-FFF2-40B4-BE49-F238E27FC236}">
                <a16:creationId xmlns:a16="http://schemas.microsoft.com/office/drawing/2014/main" id="{54070008-A7F0-27CE-69CD-60CFD471FE8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02723" y="4006383"/>
            <a:ext cx="0" cy="1265238"/>
          </a:xfrm>
          <a:prstGeom prst="line">
            <a:avLst/>
          </a:prstGeom>
          <a:noFill/>
          <a:ln w="25400">
            <a:solidFill>
              <a:sysClr val="windowText" lastClr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040D44BE-61F8-7B98-8DA8-EF36E38B6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582" y="4192120"/>
            <a:ext cx="1933470" cy="646113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Replacement</a:t>
            </a:r>
          </a:p>
        </p:txBody>
      </p:sp>
      <p:sp>
        <p:nvSpPr>
          <p:cNvPr id="29" name="Arrow: Right 6">
            <a:extLst>
              <a:ext uri="{FF2B5EF4-FFF2-40B4-BE49-F238E27FC236}">
                <a16:creationId xmlns:a16="http://schemas.microsoft.com/office/drawing/2014/main" id="{BA9FB520-ACA6-AD74-8674-483AE2129EDE}"/>
              </a:ext>
            </a:extLst>
          </p:cNvPr>
          <p:cNvSpPr/>
          <p:nvPr/>
        </p:nvSpPr>
        <p:spPr>
          <a:xfrm>
            <a:off x="4870695" y="1786246"/>
            <a:ext cx="1034793" cy="127135"/>
          </a:xfrm>
          <a:prstGeom prst="rightArrow">
            <a:avLst>
              <a:gd name="adj1" fmla="val 50000"/>
              <a:gd name="adj2" fmla="val 227935"/>
            </a:avLst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0" name="组合 12">
            <a:extLst>
              <a:ext uri="{FF2B5EF4-FFF2-40B4-BE49-F238E27FC236}">
                <a16:creationId xmlns:a16="http://schemas.microsoft.com/office/drawing/2014/main" id="{1B2DB106-20BC-0294-7824-F33610E70A0E}"/>
              </a:ext>
            </a:extLst>
          </p:cNvPr>
          <p:cNvGrpSpPr/>
          <p:nvPr/>
        </p:nvGrpSpPr>
        <p:grpSpPr>
          <a:xfrm>
            <a:off x="7376130" y="3395944"/>
            <a:ext cx="2318977" cy="627062"/>
            <a:chOff x="6385326" y="3263696"/>
            <a:chExt cx="2318977" cy="627062"/>
          </a:xfrm>
        </p:grpSpPr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A1FA999A-2CBE-7844-971E-CAB1A6C29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85326" y="3263696"/>
              <a:ext cx="2318977" cy="62706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对象 2">
                  <a:extLst>
                    <a:ext uri="{FF2B5EF4-FFF2-40B4-BE49-F238E27FC236}">
                      <a16:creationId xmlns:a16="http://schemas.microsoft.com/office/drawing/2014/main" id="{100385B2-D935-AA2E-C448-50A5020DE1DB}"/>
                    </a:ext>
                  </a:extLst>
                </p:cNvPr>
                <p:cNvSpPr txBox="1"/>
                <p:nvPr/>
              </p:nvSpPr>
              <p:spPr bwMode="auto">
                <a:xfrm>
                  <a:off x="7727874" y="3341841"/>
                  <a:ext cx="844550" cy="4206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𝑔𝐵𝑒𝑠𝑡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对象 2">
                  <a:extLst>
                    <a:ext uri="{FF2B5EF4-FFF2-40B4-BE49-F238E27FC236}">
                      <a16:creationId xmlns:a16="http://schemas.microsoft.com/office/drawing/2014/main" id="{100385B2-D935-AA2E-C448-50A5020DE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727874" y="3341841"/>
                  <a:ext cx="844550" cy="420688"/>
                </a:xfrm>
                <a:prstGeom prst="rect">
                  <a:avLst/>
                </a:prstGeom>
                <a:blipFill>
                  <a:blip r:embed="rId2"/>
                  <a:stretch>
                    <a:fillRect l="-5755" r="-22302" b="-2753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对象 10">
                  <a:extLst>
                    <a:ext uri="{FF2B5EF4-FFF2-40B4-BE49-F238E27FC236}">
                      <a16:creationId xmlns:a16="http://schemas.microsoft.com/office/drawing/2014/main" id="{DBDFC001-AA1E-F062-98E0-10069ED566C9}"/>
                    </a:ext>
                  </a:extLst>
                </p:cNvPr>
                <p:cNvSpPr txBox="1"/>
                <p:nvPr/>
              </p:nvSpPr>
              <p:spPr bwMode="auto">
                <a:xfrm>
                  <a:off x="6700762" y="3341841"/>
                  <a:ext cx="871537" cy="4222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GB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𝑝𝐵𝑒𝑠𝑡</m:t>
                        </m:r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对象 10">
                  <a:extLst>
                    <a:ext uri="{FF2B5EF4-FFF2-40B4-BE49-F238E27FC236}">
                      <a16:creationId xmlns:a16="http://schemas.microsoft.com/office/drawing/2014/main" id="{DBDFC001-AA1E-F062-98E0-10069ED566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00762" y="3341841"/>
                  <a:ext cx="871537" cy="422275"/>
                </a:xfrm>
                <a:prstGeom prst="rect">
                  <a:avLst/>
                </a:prstGeom>
                <a:blipFill>
                  <a:blip r:embed="rId3"/>
                  <a:stretch>
                    <a:fillRect l="-5594" r="-16783" b="-2753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矩形 11">
            <a:extLst>
              <a:ext uri="{FF2B5EF4-FFF2-40B4-BE49-F238E27FC236}">
                <a16:creationId xmlns:a16="http://schemas.microsoft.com/office/drawing/2014/main" id="{8C961BED-CF13-2C34-C6E9-58DA534BED15}"/>
              </a:ext>
            </a:extLst>
          </p:cNvPr>
          <p:cNvSpPr/>
          <p:nvPr/>
        </p:nvSpPr>
        <p:spPr>
          <a:xfrm>
            <a:off x="4871055" y="2616159"/>
            <a:ext cx="25050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Tracking two extreme values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54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1A12162E-9E4A-4DDF-8713-C1109A2180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EA1E0E8-369F-4203-8F41-5072B40417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33B6EC-2A0F-44FC-942E-E6B21BC7FF2C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1934</TotalTime>
  <Words>399</Words>
  <Application>Microsoft Office PowerPoint</Application>
  <PresentationFormat>Widescreen</PresentationFormat>
  <Paragraphs>66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 Math</vt:lpstr>
      <vt:lpstr>Times New Roman</vt:lpstr>
      <vt:lpstr>Wingdings</vt:lpstr>
      <vt:lpstr>Office Theme</vt:lpstr>
      <vt:lpstr>Particle Swarm Optimization: Operators</vt:lpstr>
      <vt:lpstr>The work flow of PSO algorithms </vt:lpstr>
      <vt:lpstr>PSO operators</vt:lpstr>
      <vt:lpstr>PSO operators </vt:lpstr>
      <vt:lpstr>PSO operators </vt:lpstr>
      <vt:lpstr>Standard PSO operators </vt:lpstr>
      <vt:lpstr>PSO flow diagram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68</cp:revision>
  <dcterms:created xsi:type="dcterms:W3CDTF">2021-01-06T14:22:07Z</dcterms:created>
  <dcterms:modified xsi:type="dcterms:W3CDTF">2024-09-09T16:15:29Z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