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256" r:id="rId5"/>
    <p:sldId id="494" r:id="rId6"/>
    <p:sldId id="496" r:id="rId7"/>
    <p:sldId id="497" r:id="rId8"/>
    <p:sldId id="498" r:id="rId9"/>
    <p:sldId id="499" r:id="rId10"/>
    <p:sldId id="500" r:id="rId11"/>
    <p:sldId id="501" r:id="rId12"/>
    <p:sldId id="27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3359" autoAdjust="0"/>
    <p:restoredTop sz="96327"/>
  </p:normalViewPr>
  <p:slideViewPr>
    <p:cSldViewPr snapToGrid="0">
      <p:cViewPr varScale="1">
        <p:scale>
          <a:sx n="136" d="100"/>
          <a:sy n="136" d="100"/>
        </p:scale>
        <p:origin x="96" y="532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7/3/2024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2529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03/07/2024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nl.mathworks.com/help/gads/particleswarm.html#d124e62118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nl.mathworks.com/help/gads/particleswarm.html#d124e62341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nl.mathworks.com/help/gads/particleswarm.html#d124e62341" TargetMode="External"/><Relationship Id="rId2" Type="http://schemas.openxmlformats.org/officeDocument/2006/relationships/hyperlink" Target="https://nl.mathworks.com/help/gads/particleswarm.html#d124e62149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nl.mathworks.com/help/gads/particleswarm.html#budidgf_sep_budidgf-ub" TargetMode="External"/><Relationship Id="rId5" Type="http://schemas.openxmlformats.org/officeDocument/2006/relationships/hyperlink" Target="https://nl.mathworks.com/help/gads/particleswarm.html#budidgf_sep_budidgf-lb" TargetMode="External"/><Relationship Id="rId4" Type="http://schemas.openxmlformats.org/officeDocument/2006/relationships/hyperlink" Target="https://nl.mathworks.com/help/gads/ga.html#d124e49755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nl.mathworks.com/help/gads/ga.html#d124e49856" TargetMode="External"/><Relationship Id="rId3" Type="http://schemas.openxmlformats.org/officeDocument/2006/relationships/hyperlink" Target="https://nl.mathworks.com/help/gads/particleswarm.html#d124e62178" TargetMode="External"/><Relationship Id="rId7" Type="http://schemas.openxmlformats.org/officeDocument/2006/relationships/hyperlink" Target="https://nl.mathworks.com/help/gads/particleswarm.html#budidgf_sep_budidgf-ub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nl.mathworks.com/help/gads/particleswarm.html#budidgf_sep_budidgf-lb" TargetMode="External"/><Relationship Id="rId5" Type="http://schemas.openxmlformats.org/officeDocument/2006/relationships/hyperlink" Target="https://nl.mathworks.com/help/gads/ga.html#d124e49755" TargetMode="External"/><Relationship Id="rId4" Type="http://schemas.openxmlformats.org/officeDocument/2006/relationships/hyperlink" Target="https://nl.mathworks.com/help/gads/particleswarm.html#d124e62341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nl.mathworks.com/help/gads/ga.html#d124e49856" TargetMode="External"/><Relationship Id="rId3" Type="http://schemas.openxmlformats.org/officeDocument/2006/relationships/hyperlink" Target="https://nl.mathworks.com/help/gads/particleswarm.html#d124e62341" TargetMode="External"/><Relationship Id="rId7" Type="http://schemas.openxmlformats.org/officeDocument/2006/relationships/hyperlink" Target="https://nl.mathworks.com/help/gads/particleswarm.html#d124e62178" TargetMode="External"/><Relationship Id="rId2" Type="http://schemas.openxmlformats.org/officeDocument/2006/relationships/hyperlink" Target="https://nl.mathworks.com/help/gads/particleswarm.html#d124e62222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nl.mathworks.com/help/gads/particleswarm.html#budidgf_sep_budidgf-ub" TargetMode="External"/><Relationship Id="rId5" Type="http://schemas.openxmlformats.org/officeDocument/2006/relationships/hyperlink" Target="https://nl.mathworks.com/help/gads/particleswarm.html#budidgf_sep_budidgf-lb" TargetMode="External"/><Relationship Id="rId4" Type="http://schemas.openxmlformats.org/officeDocument/2006/relationships/hyperlink" Target="https://nl.mathworks.com/help/gads/ga.html#d124e49755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nl.mathworks.com/help/gads/particleswarm.html#d124e62222" TargetMode="Externa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nl.mathworks.com/help/gads/particleswarm.html#d124e62222" TargetMode="Externa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7231611" cy="789709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chemeClr val="tx1"/>
                </a:solidFill>
              </a:rPr>
              <a:t>Use Particle Swarm Optimization via MATLAB: PSO Function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MATLAB PSO function syntax 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C58AB133-B692-F823-FF9D-49AE1DAFA1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750" y="2154789"/>
            <a:ext cx="8975325" cy="3416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zh-CN" sz="2400" dirty="0">
                <a:solidFill>
                  <a:srgbClr val="0076A8"/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x = </a:t>
            </a:r>
            <a:r>
              <a:rPr lang="en-US" altLang="zh-CN" sz="2400" dirty="0" err="1">
                <a:solidFill>
                  <a:srgbClr val="0076A8"/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particleswarm</a:t>
            </a:r>
            <a:r>
              <a:rPr lang="en-US" altLang="zh-CN" sz="2400" dirty="0">
                <a:solidFill>
                  <a:srgbClr val="0076A8"/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(</a:t>
            </a:r>
            <a:r>
              <a:rPr lang="en-US" altLang="zh-CN" sz="2400" dirty="0" err="1">
                <a:solidFill>
                  <a:srgbClr val="0076A8"/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fun,nvars</a:t>
            </a:r>
            <a:r>
              <a:rPr lang="en-US" altLang="zh-CN" sz="2400" dirty="0">
                <a:solidFill>
                  <a:srgbClr val="0076A8"/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)</a:t>
            </a:r>
            <a:endParaRPr lang="en-US" altLang="zh-CN" sz="2400" dirty="0">
              <a:latin typeface="Arial" panose="020B0604020202020204" pitchFamily="34" charset="0"/>
              <a:ea typeface="Roboto"/>
              <a:cs typeface="Arial" panose="020B0604020202020204" pitchFamily="34" charset="0"/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GB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It carries out minimization. </a:t>
            </a: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GB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No constraint is considered.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lang="en-US" altLang="zh-CN" sz="2400" dirty="0">
              <a:latin typeface="Arial" panose="020B0604020202020204" pitchFamily="34" charset="0"/>
              <a:ea typeface="Roboto"/>
              <a:cs typeface="Arial" panose="020B0604020202020204" pitchFamily="34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lang="en-GB" altLang="zh-CN" sz="2400" dirty="0">
              <a:latin typeface="Arial" panose="020B0604020202020204" pitchFamily="34" charset="0"/>
              <a:ea typeface="Roboto"/>
              <a:cs typeface="Arial" panose="020B0604020202020204" pitchFamily="34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lang="en-GB" altLang="zh-CN" sz="2400" dirty="0">
              <a:latin typeface="Arial" panose="020B0604020202020204" pitchFamily="34" charset="0"/>
              <a:ea typeface="Roboto"/>
              <a:cs typeface="Arial" panose="020B0604020202020204" pitchFamily="34" charset="0"/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400" u="sng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x</a:t>
            </a:r>
            <a:r>
              <a:rPr lang="en-US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is the optimal solution (</a:t>
            </a:r>
            <a:r>
              <a:rPr lang="zh-CN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de</a:t>
            </a:r>
            <a:r>
              <a:rPr lang="en-GB" altLang="zh-CN" sz="2400" dirty="0" err="1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cision</a:t>
            </a:r>
            <a:r>
              <a:rPr lang="zh-CN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variables</a:t>
            </a:r>
            <a:r>
              <a:rPr lang="en-US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) after optimization.</a:t>
            </a:r>
            <a:endParaRPr lang="en-US" altLang="zh-CN" sz="2400" dirty="0">
              <a:latin typeface="Arial" panose="020B0604020202020204" pitchFamily="34" charset="0"/>
              <a:ea typeface="Menlo"/>
              <a:cs typeface="Arial" panose="020B0604020202020204" pitchFamily="34" charset="0"/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400" u="sng" dirty="0">
                <a:solidFill>
                  <a:srgbClr val="004B87"/>
                </a:solidFill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fun</a:t>
            </a:r>
            <a:r>
              <a:rPr lang="en-US" altLang="zh-CN" sz="2400" dirty="0">
                <a:latin typeface="Arial" panose="020B0604020202020204" pitchFamily="34" charset="0"/>
                <a:ea typeface="Menlo"/>
                <a:cs typeface="Arial" panose="020B0604020202020204" pitchFamily="34" charset="0"/>
              </a:rPr>
              <a:t> is </a:t>
            </a:r>
            <a:r>
              <a:rPr lang="zh-CN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the objective function</a:t>
            </a:r>
            <a:r>
              <a:rPr lang="en-GB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.</a:t>
            </a:r>
            <a:endParaRPr lang="en-US" altLang="zh-CN" sz="2400" dirty="0">
              <a:latin typeface="Arial" panose="020B0604020202020204" pitchFamily="34" charset="0"/>
              <a:ea typeface="Menlo"/>
              <a:cs typeface="Arial" panose="020B0604020202020204" pitchFamily="34" charset="0"/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400" u="sng" dirty="0" err="1">
                <a:solidFill>
                  <a:srgbClr val="004B87"/>
                </a:solidFill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nvars</a:t>
            </a:r>
            <a:r>
              <a:rPr lang="zh-CN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is</a:t>
            </a:r>
            <a:r>
              <a:rPr lang="en-US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zh-CN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the dimension (number of de</a:t>
            </a:r>
            <a:r>
              <a:rPr lang="en-GB" altLang="zh-CN" sz="2400" dirty="0" err="1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cision</a:t>
            </a:r>
            <a:r>
              <a:rPr lang="zh-CN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variables) of </a:t>
            </a:r>
            <a:r>
              <a:rPr lang="en-US" altLang="zh-CN" sz="2400" u="sng" dirty="0">
                <a:solidFill>
                  <a:srgbClr val="004B87"/>
                </a:solidFill>
                <a:latin typeface="Times New Roman" pitchFamily="18" charset="0"/>
                <a:cs typeface="Times New Roman" pitchFamily="18" charset="0"/>
                <a:hlinkClick r:id="rId4"/>
              </a:rPr>
              <a:t> </a:t>
            </a:r>
            <a:r>
              <a:rPr lang="en-US" altLang="zh-CN" sz="2400" u="sng" dirty="0">
                <a:solidFill>
                  <a:srgbClr val="004B87"/>
                </a:solidFill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fun</a:t>
            </a:r>
            <a:r>
              <a:rPr lang="zh-CN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.</a:t>
            </a:r>
            <a:r>
              <a:rPr lang="zh-CN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endParaRPr lang="en-US" altLang="zh-CN" sz="24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2E640-FBAC-35C4-7D81-1EC114DEE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MATLAB PSO function syntax </a:t>
            </a:r>
            <a:br>
              <a:rPr lang="en-GB" dirty="0"/>
            </a:br>
            <a:endParaRPr lang="en-GB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D08D4DBB-C434-ECCE-8147-8730352B34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500" y="1839900"/>
            <a:ext cx="8887776" cy="41549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zh-CN" sz="2400" dirty="0">
                <a:solidFill>
                  <a:srgbClr val="0076A8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x = </a:t>
            </a:r>
            <a:r>
              <a:rPr lang="en-US" altLang="zh-CN" sz="2400" dirty="0" err="1">
                <a:solidFill>
                  <a:srgbClr val="0076A8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particleswarm</a:t>
            </a:r>
            <a:r>
              <a:rPr lang="en-US" altLang="zh-CN" sz="2400" dirty="0">
                <a:solidFill>
                  <a:srgbClr val="0076A8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(</a:t>
            </a:r>
            <a:r>
              <a:rPr lang="en-US" altLang="zh-CN" sz="2400" dirty="0" err="1">
                <a:solidFill>
                  <a:srgbClr val="0076A8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fun,nvars,lb,ub</a:t>
            </a:r>
            <a:r>
              <a:rPr lang="en-US" altLang="zh-CN" sz="2400" dirty="0">
                <a:solidFill>
                  <a:srgbClr val="0076A8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)</a:t>
            </a:r>
            <a:endParaRPr lang="en-US" altLang="zh-CN" sz="2400" dirty="0">
              <a:solidFill>
                <a:srgbClr val="21212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kumimoji="0" lang="en-GB" altLang="zh-CN" sz="2400" b="1" i="0" u="none" strike="noStrike" cap="none" normalizeH="0" baseline="0" dirty="0">
              <a:ln>
                <a:noFill/>
              </a:ln>
              <a:solidFill>
                <a:srgbClr val="212121"/>
              </a:solidFill>
              <a:effectLst/>
              <a:latin typeface="Arial" panose="020B0604020202020204" pitchFamily="34" charset="0"/>
              <a:ea typeface="Roboto"/>
              <a:cs typeface="Arial" panose="020B0604020202020204" pitchFamily="34" charset="0"/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GB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Search bounds/ranges are considered.  </a:t>
            </a: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Menlo"/>
              <a:cs typeface="Arial" panose="020B0604020202020204" pitchFamily="34" charset="0"/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400" u="sng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x</a:t>
            </a:r>
            <a:r>
              <a:rPr lang="en-US" altLang="zh-CN" sz="2400" dirty="0">
                <a:solidFill>
                  <a:srgbClr val="21212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is the optimal solution (</a:t>
            </a:r>
            <a:r>
              <a:rPr lang="zh-CN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de</a:t>
            </a:r>
            <a:r>
              <a:rPr lang="en-GB" altLang="zh-CN" sz="2400" dirty="0" err="1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cision</a:t>
            </a:r>
            <a:r>
              <a:rPr lang="zh-CN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variables</a:t>
            </a:r>
            <a:r>
              <a:rPr lang="en-US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) after optimization.</a:t>
            </a:r>
            <a:endParaRPr lang="en-US" altLang="zh-CN" sz="2400" dirty="0">
              <a:latin typeface="Arial" panose="020B0604020202020204" pitchFamily="34" charset="0"/>
              <a:ea typeface="Menlo"/>
              <a:cs typeface="Arial" panose="020B0604020202020204" pitchFamily="34" charset="0"/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400" u="sng" dirty="0">
                <a:solidFill>
                  <a:srgbClr val="004B87"/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fun</a:t>
            </a:r>
            <a:r>
              <a:rPr lang="en-US" altLang="zh-CN" sz="2400" dirty="0">
                <a:solidFill>
                  <a:srgbClr val="21212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ea typeface="Menlo"/>
                <a:cs typeface="Arial" panose="020B0604020202020204" pitchFamily="34" charset="0"/>
              </a:rPr>
              <a:t>is </a:t>
            </a:r>
            <a:r>
              <a:rPr lang="zh-CN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the objective function</a:t>
            </a:r>
            <a:r>
              <a:rPr lang="en-GB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.</a:t>
            </a:r>
            <a:endParaRPr lang="en-US" altLang="zh-CN" sz="2400" dirty="0">
              <a:latin typeface="Arial" panose="020B0604020202020204" pitchFamily="34" charset="0"/>
              <a:ea typeface="Menlo"/>
              <a:cs typeface="Arial" panose="020B0604020202020204" pitchFamily="34" charset="0"/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400" u="sng" dirty="0" err="1">
                <a:solidFill>
                  <a:srgbClr val="004B87"/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nvars</a:t>
            </a:r>
            <a:r>
              <a:rPr lang="zh-CN" altLang="zh-CN" sz="2400" dirty="0">
                <a:solidFill>
                  <a:srgbClr val="21212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zh-CN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is</a:t>
            </a:r>
            <a:r>
              <a:rPr lang="en-US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zh-CN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the dimension (number of de</a:t>
            </a:r>
            <a:r>
              <a:rPr lang="en-GB" altLang="zh-CN" sz="2400" dirty="0" err="1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cision</a:t>
            </a:r>
            <a:r>
              <a:rPr lang="zh-CN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variables) of </a:t>
            </a:r>
            <a:r>
              <a:rPr lang="zh-CN" altLang="zh-CN" sz="2400" u="sng" dirty="0">
                <a:solidFill>
                  <a:srgbClr val="0076A8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4"/>
              </a:rPr>
              <a:t>fun</a:t>
            </a:r>
            <a:r>
              <a:rPr lang="zh-CN" altLang="zh-CN" sz="2400" dirty="0">
                <a:solidFill>
                  <a:srgbClr val="21212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.</a:t>
            </a:r>
            <a:r>
              <a:rPr lang="zh-CN" altLang="zh-CN" sz="2400" dirty="0">
                <a:solidFill>
                  <a:prstClr val="black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endParaRPr lang="en-US" altLang="zh-CN" sz="2400" dirty="0">
              <a:solidFill>
                <a:prstClr val="black"/>
              </a:solidFill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rgbClr val="0076A8"/>
              </a:solidFill>
              <a:latin typeface="Arial" panose="020B0604020202020204" pitchFamily="34" charset="0"/>
              <a:ea typeface="Menlo"/>
              <a:cs typeface="Arial" panose="020B0604020202020204" pitchFamily="34" charset="0"/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lb</a:t>
            </a:r>
            <a:r>
              <a:rPr lang="en-US" altLang="zh-CN" sz="2400" dirty="0">
                <a:solidFill>
                  <a:srgbClr val="21212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is the lower bound of the </a:t>
            </a:r>
            <a:r>
              <a:rPr lang="zh-CN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de</a:t>
            </a:r>
            <a:r>
              <a:rPr lang="en-GB" altLang="zh-CN" sz="2400" dirty="0" err="1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cision</a:t>
            </a:r>
            <a:r>
              <a:rPr lang="zh-CN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variables</a:t>
            </a:r>
            <a:r>
              <a:rPr lang="en-US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.</a:t>
            </a:r>
            <a:endParaRPr lang="en-US" altLang="zh-CN" sz="2400" dirty="0">
              <a:latin typeface="Arial" panose="020B0604020202020204" pitchFamily="34" charset="0"/>
              <a:ea typeface="Menlo"/>
              <a:cs typeface="Arial" panose="020B0604020202020204" pitchFamily="34" charset="0"/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400" u="sng" dirty="0" err="1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ub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is the upper bound of the </a:t>
            </a:r>
            <a:r>
              <a:rPr lang="zh-CN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de</a:t>
            </a:r>
            <a:r>
              <a:rPr lang="en-GB" altLang="zh-CN" sz="2400" dirty="0" err="1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cision</a:t>
            </a:r>
            <a:r>
              <a:rPr lang="zh-CN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variables</a:t>
            </a:r>
            <a:r>
              <a:rPr lang="en-US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.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endParaRPr lang="en-US" altLang="zh-CN" sz="2400" dirty="0">
              <a:solidFill>
                <a:srgbClr val="0076A8"/>
              </a:solidFill>
              <a:latin typeface="Arial" panose="020B0604020202020204" pitchFamily="34" charset="0"/>
              <a:ea typeface="Menlo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6272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FA57F-39F3-0FB1-A5DA-975FB97B8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Syntax of PSO algorithm</a:t>
            </a:r>
            <a:br>
              <a:rPr lang="en-GB" dirty="0"/>
            </a:br>
            <a:endParaRPr lang="en-GB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1AEC961F-8CD9-06CE-D714-7D7BAF4406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174" y="1641389"/>
            <a:ext cx="12166168" cy="41549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zh-CN" sz="2400" u="sng" dirty="0">
                <a:solidFill>
                  <a:srgbClr val="004B87"/>
                </a:solidFill>
                <a:latin typeface="Times New Roman" pitchFamily="18" charset="0"/>
                <a:cs typeface="Times New Roman" pitchFamily="18" charset="0"/>
                <a:hlinkClick r:id="rId3"/>
              </a:rPr>
              <a:t>x = </a:t>
            </a:r>
            <a:r>
              <a:rPr lang="en-US" altLang="zh-CN" sz="2400" u="sng" dirty="0" err="1">
                <a:solidFill>
                  <a:srgbClr val="004B87"/>
                </a:solidFill>
                <a:latin typeface="Times New Roman" pitchFamily="18" charset="0"/>
                <a:cs typeface="Times New Roman" pitchFamily="18" charset="0"/>
                <a:hlinkClick r:id="rId3"/>
              </a:rPr>
              <a:t>particleswarm</a:t>
            </a:r>
            <a:r>
              <a:rPr lang="en-US" altLang="zh-CN" sz="2400" u="sng" dirty="0">
                <a:solidFill>
                  <a:srgbClr val="004B87"/>
                </a:solidFill>
                <a:latin typeface="Times New Roman" pitchFamily="18" charset="0"/>
                <a:cs typeface="Times New Roman" pitchFamily="18" charset="0"/>
                <a:hlinkClick r:id="rId3"/>
              </a:rPr>
              <a:t>(</a:t>
            </a:r>
            <a:r>
              <a:rPr lang="en-US" altLang="zh-CN" sz="2400" u="sng" dirty="0" err="1">
                <a:solidFill>
                  <a:srgbClr val="004B87"/>
                </a:solidFill>
                <a:latin typeface="Times New Roman" pitchFamily="18" charset="0"/>
                <a:cs typeface="Times New Roman" pitchFamily="18" charset="0"/>
                <a:hlinkClick r:id="rId3"/>
              </a:rPr>
              <a:t>fun,nvars,lb,ub,options</a:t>
            </a:r>
            <a:r>
              <a:rPr lang="en-US" altLang="zh-CN" sz="2400" u="sng" dirty="0">
                <a:solidFill>
                  <a:srgbClr val="004B87"/>
                </a:solidFill>
                <a:latin typeface="Times New Roman" pitchFamily="18" charset="0"/>
                <a:cs typeface="Times New Roman" pitchFamily="18" charset="0"/>
                <a:hlinkClick r:id="rId3"/>
              </a:rPr>
              <a:t>)</a:t>
            </a:r>
            <a:endParaRPr lang="en-US" altLang="zh-CN" sz="2400" dirty="0">
              <a:solidFill>
                <a:srgbClr val="21212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sz="2400" dirty="0">
              <a:solidFill>
                <a:srgbClr val="212121"/>
              </a:solidFill>
              <a:latin typeface="Times New Roman" pitchFamily="18" charset="0"/>
              <a:ea typeface="Roboto"/>
              <a:cs typeface="Times New Roman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Optimization settings (e.g., PSO parameters, plot) are considered. </a:t>
            </a: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rgbClr val="0076A8"/>
              </a:solidFill>
              <a:latin typeface="Times New Roman" pitchFamily="18" charset="0"/>
              <a:ea typeface="Menlo"/>
              <a:cs typeface="Times New Roman" pitchFamily="18" charset="0"/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400" u="sng" dirty="0">
                <a:latin typeface="Times New Roman" pitchFamily="18" charset="0"/>
                <a:cs typeface="Times New Roman" pitchFamily="18" charset="0"/>
                <a:hlinkClick r:id="rId4"/>
              </a:rPr>
              <a:t>x</a:t>
            </a:r>
            <a:r>
              <a:rPr lang="en-US" altLang="zh-CN" sz="2400" dirty="0">
                <a:solidFill>
                  <a:srgbClr val="212121"/>
                </a:solidFill>
                <a:latin typeface="Times New Roman" pitchFamily="18" charset="0"/>
                <a:ea typeface="Roboto"/>
                <a:cs typeface="Times New Roman" pitchFamily="18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is the optimal solution (</a:t>
            </a:r>
            <a:r>
              <a:rPr lang="zh-CN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de</a:t>
            </a:r>
            <a:r>
              <a:rPr lang="en-GB" altLang="zh-CN" sz="2400" dirty="0" err="1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cision</a:t>
            </a:r>
            <a:r>
              <a:rPr lang="zh-CN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variables</a:t>
            </a:r>
            <a:r>
              <a:rPr lang="en-US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) after optimization.</a:t>
            </a:r>
            <a:endParaRPr lang="en-US" altLang="zh-CN" sz="2400" dirty="0">
              <a:latin typeface="Arial" panose="020B0604020202020204" pitchFamily="34" charset="0"/>
              <a:ea typeface="Menlo"/>
              <a:cs typeface="Arial" panose="020B0604020202020204" pitchFamily="34" charset="0"/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400" u="sng" dirty="0">
                <a:solidFill>
                  <a:srgbClr val="004B87"/>
                </a:solidFill>
                <a:latin typeface="Times New Roman" pitchFamily="18" charset="0"/>
                <a:cs typeface="Times New Roman" pitchFamily="18" charset="0"/>
                <a:hlinkClick r:id="rId4"/>
              </a:rPr>
              <a:t>fun</a:t>
            </a:r>
            <a:r>
              <a:rPr lang="en-US" altLang="zh-CN" sz="2400" dirty="0">
                <a:solidFill>
                  <a:srgbClr val="212121"/>
                </a:solidFill>
                <a:latin typeface="Times New Roman" pitchFamily="18" charset="0"/>
                <a:ea typeface="Menlo"/>
                <a:cs typeface="Times New Roman" pitchFamily="18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ea typeface="Menlo"/>
                <a:cs typeface="Arial" panose="020B0604020202020204" pitchFamily="34" charset="0"/>
              </a:rPr>
              <a:t>is </a:t>
            </a:r>
            <a:r>
              <a:rPr lang="zh-CN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the objective function</a:t>
            </a:r>
            <a:r>
              <a:rPr lang="en-GB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.</a:t>
            </a:r>
            <a:endParaRPr lang="en-US" altLang="zh-CN" sz="2400" dirty="0">
              <a:latin typeface="Arial" panose="020B0604020202020204" pitchFamily="34" charset="0"/>
              <a:ea typeface="Menlo"/>
              <a:cs typeface="Arial" panose="020B0604020202020204" pitchFamily="34" charset="0"/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400" u="sng" dirty="0" err="1">
                <a:solidFill>
                  <a:srgbClr val="004B87"/>
                </a:solidFill>
                <a:latin typeface="Times New Roman" pitchFamily="18" charset="0"/>
                <a:cs typeface="Times New Roman" pitchFamily="18" charset="0"/>
                <a:hlinkClick r:id="rId4"/>
              </a:rPr>
              <a:t>nvars</a:t>
            </a:r>
            <a:r>
              <a:rPr lang="zh-CN" altLang="zh-CN" sz="2400" dirty="0">
                <a:solidFill>
                  <a:srgbClr val="212121"/>
                </a:solidFill>
                <a:latin typeface="Times New Roman" pitchFamily="18" charset="0"/>
                <a:ea typeface="Roboto"/>
                <a:cs typeface="Times New Roman" pitchFamily="18" charset="0"/>
              </a:rPr>
              <a:t> </a:t>
            </a:r>
            <a:r>
              <a:rPr lang="zh-CN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is</a:t>
            </a:r>
            <a:r>
              <a:rPr lang="en-US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zh-CN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the dimension (number of de</a:t>
            </a:r>
            <a:r>
              <a:rPr lang="en-GB" altLang="zh-CN" sz="2400" dirty="0" err="1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cision</a:t>
            </a:r>
            <a:r>
              <a:rPr lang="zh-CN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variables) of </a:t>
            </a:r>
            <a:r>
              <a:rPr lang="zh-CN" altLang="zh-CN" sz="2400" u="sng" dirty="0">
                <a:solidFill>
                  <a:srgbClr val="0076A8"/>
                </a:solidFill>
                <a:latin typeface="Times New Roman" pitchFamily="18" charset="0"/>
                <a:ea typeface="Menlo"/>
                <a:cs typeface="Times New Roman" pitchFamily="18" charset="0"/>
                <a:hlinkClick r:id="rId5"/>
              </a:rPr>
              <a:t>fun</a:t>
            </a:r>
            <a:r>
              <a:rPr lang="zh-CN" altLang="zh-CN" sz="2400" dirty="0">
                <a:solidFill>
                  <a:srgbClr val="212121"/>
                </a:solidFill>
                <a:latin typeface="Times New Roman" pitchFamily="18" charset="0"/>
                <a:ea typeface="Roboto"/>
                <a:cs typeface="Times New Roman" pitchFamily="18" charset="0"/>
              </a:rPr>
              <a:t>.</a:t>
            </a:r>
            <a:r>
              <a:rPr lang="zh-CN" altLang="zh-CN" sz="2400" dirty="0">
                <a:solidFill>
                  <a:prstClr val="black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</a:t>
            </a:r>
            <a:endParaRPr lang="en-US" altLang="zh-CN" sz="2400" dirty="0">
              <a:solidFill>
                <a:prstClr val="black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400" dirty="0" err="1">
                <a:latin typeface="Times New Roman" pitchFamily="18" charset="0"/>
                <a:cs typeface="Times New Roman" pitchFamily="18" charset="0"/>
                <a:hlinkClick r:id="rId6"/>
              </a:rPr>
              <a:t>lb</a:t>
            </a:r>
            <a:r>
              <a:rPr lang="en-US" altLang="zh-CN" sz="2400" dirty="0">
                <a:solidFill>
                  <a:srgbClr val="212121"/>
                </a:solidFill>
                <a:latin typeface="Times New Roman" pitchFamily="18" charset="0"/>
                <a:ea typeface="Roboto"/>
                <a:cs typeface="Times New Roman" pitchFamily="18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is the lower bound of the </a:t>
            </a:r>
            <a:r>
              <a:rPr lang="zh-CN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de</a:t>
            </a:r>
            <a:r>
              <a:rPr lang="en-GB" altLang="zh-CN" sz="2400" dirty="0" err="1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cision</a:t>
            </a:r>
            <a:r>
              <a:rPr lang="zh-CN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variables</a:t>
            </a:r>
            <a:r>
              <a:rPr lang="en-US" altLang="zh-CN" sz="2400" dirty="0">
                <a:latin typeface="Times New Roman" pitchFamily="18" charset="0"/>
                <a:ea typeface="Roboto"/>
                <a:cs typeface="Times New Roman" pitchFamily="18" charset="0"/>
              </a:rPr>
              <a:t>.</a:t>
            </a:r>
            <a:endParaRPr lang="en-US" altLang="zh-CN" sz="2400" dirty="0">
              <a:latin typeface="Times New Roman" pitchFamily="18" charset="0"/>
              <a:ea typeface="Menlo"/>
              <a:cs typeface="Times New Roman" pitchFamily="18" charset="0"/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400" u="sng" dirty="0" err="1">
                <a:latin typeface="Times New Roman" pitchFamily="18" charset="0"/>
                <a:cs typeface="Times New Roman" pitchFamily="18" charset="0"/>
                <a:hlinkClick r:id="rId7"/>
              </a:rPr>
              <a:t>ub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is the upper bound of the </a:t>
            </a:r>
            <a:r>
              <a:rPr lang="zh-CN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de</a:t>
            </a:r>
            <a:r>
              <a:rPr lang="en-GB" altLang="zh-CN" sz="2400" dirty="0" err="1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cision</a:t>
            </a:r>
            <a:r>
              <a:rPr lang="zh-CN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variables</a:t>
            </a:r>
            <a:r>
              <a:rPr lang="en-US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.</a:t>
            </a: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rgbClr val="212121"/>
              </a:solidFill>
              <a:latin typeface="Arial" panose="020B0604020202020204" pitchFamily="34" charset="0"/>
              <a:ea typeface="Roboto"/>
              <a:cs typeface="Arial" panose="020B0604020202020204" pitchFamily="34" charset="0"/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400" u="sng" dirty="0">
                <a:solidFill>
                  <a:srgbClr val="004B87"/>
                </a:solidFill>
                <a:latin typeface="Times New Roman" pitchFamily="18" charset="0"/>
                <a:cs typeface="Times New Roman" pitchFamily="18" charset="0"/>
                <a:hlinkClick r:id="rId3"/>
              </a:rPr>
              <a:t>options</a:t>
            </a:r>
            <a:r>
              <a:rPr lang="zh-CN" altLang="zh-CN" sz="2400" u="sng" dirty="0">
                <a:solidFill>
                  <a:srgbClr val="FF0000"/>
                </a:solidFill>
                <a:latin typeface="Times New Roman" pitchFamily="18" charset="0"/>
                <a:ea typeface="Menlo"/>
                <a:cs typeface="Times New Roman" pitchFamily="18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ea typeface="Menlo"/>
                <a:cs typeface="Arial" panose="020B0604020202020204" pitchFamily="34" charset="0"/>
              </a:rPr>
              <a:t>can set optimization options, which is a struct. </a:t>
            </a:r>
          </a:p>
        </p:txBody>
      </p:sp>
      <p:sp>
        <p:nvSpPr>
          <p:cNvPr id="4" name="矩形 2">
            <a:extLst>
              <a:ext uri="{FF2B5EF4-FFF2-40B4-BE49-F238E27FC236}">
                <a16:creationId xmlns:a16="http://schemas.microsoft.com/office/drawing/2014/main" id="{8A169974-E8C3-87AD-89EA-CF50E2F759FC}"/>
              </a:ext>
            </a:extLst>
          </p:cNvPr>
          <p:cNvSpPr/>
          <p:nvPr/>
        </p:nvSpPr>
        <p:spPr>
          <a:xfrm>
            <a:off x="794952" y="5791684"/>
            <a:ext cx="111176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options = 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optimoptions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('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particleswarm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','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PlotFcn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',‘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psmplotbestf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’). The convergence curve of PSO will be plotted.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7103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A3FF1-CD61-FCEF-26DD-3ED8FC66F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Syntax of PSO algorithm</a:t>
            </a:r>
            <a:br>
              <a:rPr lang="en-GB" dirty="0"/>
            </a:br>
            <a:endParaRPr lang="en-GB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26A879F-8819-2A2A-1947-D6189B7EDC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775" y="1741990"/>
            <a:ext cx="8887776" cy="41549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zh-CN" sz="2400" dirty="0">
                <a:solidFill>
                  <a:srgbClr val="0076A8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[</a:t>
            </a:r>
            <a:r>
              <a:rPr lang="en-US" altLang="zh-CN" sz="2400" dirty="0" err="1">
                <a:solidFill>
                  <a:srgbClr val="0076A8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x,fval,exitflag,output</a:t>
            </a:r>
            <a:r>
              <a:rPr lang="en-US" altLang="zh-CN" sz="2400" dirty="0">
                <a:solidFill>
                  <a:srgbClr val="0076A8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] = </a:t>
            </a:r>
            <a:r>
              <a:rPr lang="en-US" altLang="zh-CN" sz="2400" dirty="0" err="1">
                <a:solidFill>
                  <a:srgbClr val="0076A8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particleswarm</a:t>
            </a:r>
            <a:r>
              <a:rPr lang="en-US" altLang="zh-CN" sz="2400" dirty="0">
                <a:solidFill>
                  <a:srgbClr val="0076A8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(</a:t>
            </a:r>
            <a:r>
              <a:rPr lang="en-US" altLang="zh-CN" sz="2400" b="1" dirty="0">
                <a:solidFill>
                  <a:srgbClr val="0076A8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___</a:t>
            </a:r>
            <a:r>
              <a:rPr lang="en-US" altLang="zh-CN" sz="2400" dirty="0">
                <a:solidFill>
                  <a:srgbClr val="0076A8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)</a:t>
            </a:r>
            <a:endParaRPr lang="en-US" altLang="zh-CN" sz="2400" dirty="0">
              <a:solidFill>
                <a:srgbClr val="21212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endParaRPr lang="en-US" altLang="zh-CN" sz="2400" dirty="0">
              <a:solidFill>
                <a:srgbClr val="0076A8"/>
              </a:solidFill>
              <a:latin typeface="Arial" panose="020B0604020202020204" pitchFamily="34" charset="0"/>
              <a:ea typeface="Menlo"/>
              <a:cs typeface="Arial" panose="020B0604020202020204" pitchFamily="34" charset="0"/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4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x</a:t>
            </a:r>
            <a:r>
              <a:rPr lang="en-US" altLang="zh-CN" sz="2400" dirty="0">
                <a:solidFill>
                  <a:srgbClr val="21212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is the optimal solution (</a:t>
            </a:r>
            <a:r>
              <a:rPr lang="zh-CN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de</a:t>
            </a:r>
            <a:r>
              <a:rPr lang="en-GB" altLang="zh-CN" sz="2400" dirty="0" err="1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cision</a:t>
            </a:r>
            <a:r>
              <a:rPr lang="zh-CN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variables</a:t>
            </a:r>
            <a:r>
              <a:rPr lang="en-US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) after optimization.</a:t>
            </a:r>
            <a:endParaRPr lang="en-US" altLang="zh-CN" sz="2400" dirty="0">
              <a:latin typeface="Arial" panose="020B0604020202020204" pitchFamily="34" charset="0"/>
              <a:ea typeface="Menlo"/>
              <a:cs typeface="Arial" panose="020B0604020202020204" pitchFamily="34" charset="0"/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400" u="sng" dirty="0">
                <a:solidFill>
                  <a:srgbClr val="004B87"/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fun</a:t>
            </a:r>
            <a:r>
              <a:rPr lang="en-US" altLang="zh-CN" sz="2400" dirty="0">
                <a:solidFill>
                  <a:srgbClr val="212121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ea typeface="Menlo"/>
                <a:cs typeface="Arial" panose="020B0604020202020204" pitchFamily="34" charset="0"/>
              </a:rPr>
              <a:t>is </a:t>
            </a:r>
            <a:r>
              <a:rPr lang="zh-CN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the objective function</a:t>
            </a:r>
            <a:r>
              <a:rPr lang="en-GB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.</a:t>
            </a:r>
            <a:endParaRPr lang="en-US" altLang="zh-CN" sz="2400" dirty="0">
              <a:latin typeface="Arial" panose="020B0604020202020204" pitchFamily="34" charset="0"/>
              <a:ea typeface="Menlo"/>
              <a:cs typeface="Arial" panose="020B0604020202020204" pitchFamily="34" charset="0"/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400" u="sng" dirty="0" err="1">
                <a:solidFill>
                  <a:srgbClr val="004B87"/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nvars</a:t>
            </a:r>
            <a:r>
              <a:rPr lang="zh-CN" altLang="zh-CN" sz="2400" dirty="0">
                <a:solidFill>
                  <a:srgbClr val="21212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zh-CN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is</a:t>
            </a:r>
            <a:r>
              <a:rPr lang="en-US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zh-CN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the dimension (number of de</a:t>
            </a:r>
            <a:r>
              <a:rPr lang="en-GB" altLang="zh-CN" sz="2400" dirty="0" err="1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cision</a:t>
            </a:r>
            <a:r>
              <a:rPr lang="zh-CN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variables) of </a:t>
            </a:r>
            <a:r>
              <a:rPr lang="zh-CN" altLang="zh-CN" sz="2400" u="sng" dirty="0">
                <a:solidFill>
                  <a:srgbClr val="0076A8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4"/>
              </a:rPr>
              <a:t>fun</a:t>
            </a:r>
            <a:r>
              <a:rPr lang="zh-CN" altLang="zh-CN" sz="2400" dirty="0">
                <a:solidFill>
                  <a:srgbClr val="21212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.</a:t>
            </a:r>
            <a:r>
              <a:rPr lang="zh-CN" altLang="zh-CN" sz="2400" dirty="0">
                <a:solidFill>
                  <a:prstClr val="black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endParaRPr lang="en-US" altLang="zh-CN" sz="2400" dirty="0">
              <a:solidFill>
                <a:prstClr val="black"/>
              </a:solidFill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lb</a:t>
            </a:r>
            <a:r>
              <a:rPr lang="en-US" altLang="zh-CN" sz="2400" dirty="0">
                <a:solidFill>
                  <a:srgbClr val="212121"/>
                </a:solidFill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is the lower bound of the </a:t>
            </a:r>
            <a:r>
              <a:rPr lang="zh-CN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de</a:t>
            </a:r>
            <a:r>
              <a:rPr lang="en-GB" altLang="zh-CN" sz="2400" dirty="0" err="1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cision</a:t>
            </a:r>
            <a:r>
              <a:rPr lang="zh-CN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variables</a:t>
            </a:r>
            <a:r>
              <a:rPr lang="en-US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.</a:t>
            </a:r>
            <a:endParaRPr lang="en-US" altLang="zh-CN" sz="2400" dirty="0">
              <a:latin typeface="Arial" panose="020B0604020202020204" pitchFamily="34" charset="0"/>
              <a:ea typeface="Menlo"/>
              <a:cs typeface="Arial" panose="020B0604020202020204" pitchFamily="34" charset="0"/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400" u="sng" dirty="0" err="1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ub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is the upper bound of the </a:t>
            </a:r>
            <a:r>
              <a:rPr lang="zh-CN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de</a:t>
            </a:r>
            <a:r>
              <a:rPr lang="en-GB" altLang="zh-CN" sz="2400" dirty="0" err="1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cision</a:t>
            </a:r>
            <a:r>
              <a:rPr lang="zh-CN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 variables</a:t>
            </a:r>
            <a:r>
              <a:rPr lang="en-US" altLang="zh-CN" sz="2400" dirty="0">
                <a:latin typeface="Arial" panose="020B0604020202020204" pitchFamily="34" charset="0"/>
                <a:ea typeface="Roboto"/>
                <a:cs typeface="Arial" panose="020B0604020202020204" pitchFamily="34" charset="0"/>
              </a:rPr>
              <a:t>.</a:t>
            </a: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400" u="sng" dirty="0">
                <a:solidFill>
                  <a:srgbClr val="004B87"/>
                </a:solidFill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options</a:t>
            </a:r>
            <a:r>
              <a:rPr lang="zh-CN" altLang="zh-CN" sz="2400" u="sng" dirty="0">
                <a:solidFill>
                  <a:srgbClr val="FF0000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ea typeface="Menlo"/>
                <a:cs typeface="Arial" panose="020B0604020202020204" pitchFamily="34" charset="0"/>
              </a:rPr>
              <a:t>can set optimization options, which is a </a:t>
            </a:r>
            <a:r>
              <a:rPr lang="en-US" altLang="zh-CN" sz="2400" dirty="0" err="1">
                <a:latin typeface="Arial" panose="020B0604020202020204" pitchFamily="34" charset="0"/>
                <a:ea typeface="Menlo"/>
                <a:cs typeface="Arial" panose="020B0604020202020204" pitchFamily="34" charset="0"/>
              </a:rPr>
              <a:t>struct</a:t>
            </a:r>
            <a:r>
              <a:rPr lang="en-US" altLang="zh-CN" sz="2400" dirty="0">
                <a:latin typeface="Arial" panose="020B0604020202020204" pitchFamily="34" charset="0"/>
                <a:ea typeface="Menlo"/>
                <a:cs typeface="Arial" panose="020B0604020202020204" pitchFamily="34" charset="0"/>
              </a:rPr>
              <a:t>. </a:t>
            </a: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zh-CN" sz="2400" b="1" dirty="0">
              <a:solidFill>
                <a:srgbClr val="212121"/>
              </a:solidFill>
              <a:latin typeface="Arial" panose="020B0604020202020204" pitchFamily="34" charset="0"/>
              <a:ea typeface="Roboto"/>
              <a:cs typeface="Arial" panose="020B0604020202020204" pitchFamily="34" charset="0"/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ea typeface="Menlo"/>
                <a:cs typeface="Arial" panose="020B0604020202020204" pitchFamily="34" charset="0"/>
              </a:rPr>
              <a:t>A scalar </a:t>
            </a:r>
            <a:r>
              <a:rPr lang="en-US" altLang="zh-CN" sz="2400" dirty="0" err="1">
                <a:solidFill>
                  <a:srgbClr val="0076A8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fval</a:t>
            </a:r>
            <a:r>
              <a:rPr lang="en-US" altLang="zh-CN" sz="2400" dirty="0">
                <a:latin typeface="Arial" panose="020B0604020202020204" pitchFamily="34" charset="0"/>
                <a:ea typeface="Menlo"/>
                <a:cs typeface="Arial" panose="020B0604020202020204" pitchFamily="34" charset="0"/>
              </a:rPr>
              <a:t>, which is the objective function value of the optimal solution.</a:t>
            </a:r>
          </a:p>
        </p:txBody>
      </p:sp>
    </p:spTree>
    <p:extLst>
      <p:ext uri="{BB962C8B-B14F-4D97-AF65-F5344CB8AC3E}">
        <p14:creationId xmlns:p14="http://schemas.microsoft.com/office/powerpoint/2010/main" val="3660657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57AFA-7528-5DF1-DF74-5ED8D88DA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Syntax of PSO algorithm</a:t>
            </a:r>
            <a:br>
              <a:rPr lang="en-GB" dirty="0"/>
            </a:br>
            <a:endParaRPr lang="en-GB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1E7E00B9-9CA0-D287-B0F1-22383CE462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176" y="1678342"/>
            <a:ext cx="8887776" cy="41549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ea typeface="Menlo"/>
                <a:cs typeface="Arial" panose="020B0604020202020204" pitchFamily="34" charset="0"/>
              </a:rPr>
              <a:t>A value </a:t>
            </a:r>
            <a:r>
              <a:rPr lang="en-US" altLang="zh-CN" sz="2400" dirty="0" err="1">
                <a:solidFill>
                  <a:srgbClr val="0076A8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exitflag</a:t>
            </a:r>
            <a:r>
              <a:rPr lang="en-US" altLang="zh-CN" sz="2400" u="sng" dirty="0">
                <a:solidFill>
                  <a:srgbClr val="0070C0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ea typeface="Menlo"/>
                <a:cs typeface="Arial" panose="020B0604020202020204" pitchFamily="34" charset="0"/>
              </a:rPr>
              <a:t>describing the exit condition.</a:t>
            </a: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Char char="Ø"/>
            </a:pPr>
            <a:endParaRPr lang="en-US" altLang="zh-CN" sz="2400" dirty="0">
              <a:latin typeface="Arial" panose="020B0604020202020204" pitchFamily="34" charset="0"/>
              <a:ea typeface="Menlo"/>
              <a:cs typeface="Arial" panose="020B0604020202020204" pitchFamily="34" charset="0"/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Char char="Ø"/>
            </a:pPr>
            <a:endParaRPr lang="en-US" altLang="zh-CN" sz="2400" dirty="0">
              <a:latin typeface="Times New Roman" pitchFamily="18" charset="0"/>
              <a:ea typeface="Menlo"/>
              <a:cs typeface="Times New Roman" pitchFamily="18" charset="0"/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Char char="Ø"/>
            </a:pPr>
            <a:endParaRPr lang="en-US" altLang="zh-CN" sz="2400" dirty="0">
              <a:latin typeface="Times New Roman" pitchFamily="18" charset="0"/>
              <a:ea typeface="Menlo"/>
              <a:cs typeface="Times New Roman" pitchFamily="18" charset="0"/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Char char="Ø"/>
            </a:pPr>
            <a:endParaRPr lang="en-US" altLang="zh-CN" sz="2400" dirty="0">
              <a:latin typeface="Times New Roman" pitchFamily="18" charset="0"/>
              <a:ea typeface="Menlo"/>
              <a:cs typeface="Times New Roman" pitchFamily="18" charset="0"/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Char char="Ø"/>
            </a:pPr>
            <a:endParaRPr lang="en-US" altLang="zh-CN" sz="2400" dirty="0">
              <a:latin typeface="Times New Roman" pitchFamily="18" charset="0"/>
              <a:ea typeface="Menlo"/>
              <a:cs typeface="Times New Roman" pitchFamily="18" charset="0"/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Char char="Ø"/>
            </a:pPr>
            <a:endParaRPr lang="en-US" altLang="zh-CN" sz="2400" dirty="0">
              <a:latin typeface="Times New Roman" pitchFamily="18" charset="0"/>
              <a:ea typeface="Menlo"/>
              <a:cs typeface="Times New Roman" pitchFamily="18" charset="0"/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Char char="Ø"/>
            </a:pPr>
            <a:endParaRPr lang="en-US" altLang="zh-CN" sz="2400" dirty="0">
              <a:latin typeface="Times New Roman" pitchFamily="18" charset="0"/>
              <a:ea typeface="Menlo"/>
              <a:cs typeface="Times New Roman" pitchFamily="18" charset="0"/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Char char="Ø"/>
            </a:pPr>
            <a:endParaRPr lang="en-US" altLang="zh-CN" sz="2400" dirty="0">
              <a:latin typeface="Times New Roman" pitchFamily="18" charset="0"/>
              <a:ea typeface="Menlo"/>
              <a:cs typeface="Times New Roman" pitchFamily="18" charset="0"/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Char char="Ø"/>
            </a:pPr>
            <a:endParaRPr lang="en-US" altLang="zh-CN" sz="2400" dirty="0">
              <a:latin typeface="Times New Roman" pitchFamily="18" charset="0"/>
              <a:ea typeface="Menlo"/>
              <a:cs typeface="Times New Roman" pitchFamily="18" charset="0"/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Char char="Ø"/>
            </a:pPr>
            <a:endParaRPr lang="en-US" altLang="zh-CN" sz="2400" dirty="0">
              <a:latin typeface="Times New Roman" pitchFamily="18" charset="0"/>
              <a:ea typeface="Menlo"/>
              <a:cs typeface="Times New Roman" pitchFamily="18" charset="0"/>
            </a:endParaRP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4A4BD632-EA0E-F9B4-DCD6-BAE67F500E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5845199"/>
              </p:ext>
            </p:extLst>
          </p:nvPr>
        </p:nvGraphicFramePr>
        <p:xfrm>
          <a:off x="800641" y="2554481"/>
          <a:ext cx="10426159" cy="39645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95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265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5554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2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Relative change in the objective value is less than </a:t>
                      </a:r>
                      <a:r>
                        <a:rPr lang="en-US" altLang="zh-CN" sz="24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options.FunctionTolerance</a:t>
                      </a:r>
                      <a:r>
                        <a:rPr lang="en-US" altLang="zh-CN" sz="2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endParaRPr lang="zh-CN" altLang="en-US" sz="2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53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CN" altLang="en-US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Number of iterations exceeded </a:t>
                      </a:r>
                      <a:r>
                        <a:rPr lang="en-US" altLang="zh-CN" sz="24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options.MaxIterations</a:t>
                      </a:r>
                      <a:r>
                        <a:rPr lang="en-US" altLang="zh-CN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endParaRPr lang="zh-CN" altLang="en-US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53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</a:t>
                      </a:r>
                      <a:endParaRPr lang="zh-CN" altLang="en-US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Iterations stopped by output function or plot function.</a:t>
                      </a:r>
                      <a:endParaRPr lang="zh-CN" altLang="en-US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053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</a:t>
                      </a:r>
                      <a:endParaRPr lang="zh-CN" altLang="en-US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Bounds are inconsistent: for some </a:t>
                      </a:r>
                      <a:r>
                        <a:rPr lang="en-US" altLang="zh-CN" sz="2400" b="0" i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  <a:r>
                        <a:rPr lang="en-US" altLang="zh-CN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altLang="zh-CN" sz="24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lb</a:t>
                      </a:r>
                      <a:r>
                        <a:rPr lang="en-US" altLang="zh-CN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2400" b="0" i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  <a:r>
                        <a:rPr lang="en-US" altLang="zh-CN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 &gt; </a:t>
                      </a:r>
                      <a:r>
                        <a:rPr lang="en-US" altLang="zh-CN" sz="24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ub</a:t>
                      </a:r>
                      <a:r>
                        <a:rPr lang="en-US" altLang="zh-CN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2400" b="0" i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  <a:r>
                        <a:rPr lang="en-US" altLang="zh-CN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).</a:t>
                      </a:r>
                      <a:endParaRPr lang="zh-CN" altLang="en-US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53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</a:t>
                      </a:r>
                      <a:endParaRPr lang="zh-CN" altLang="en-US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Best objective function value is below </a:t>
                      </a:r>
                      <a:r>
                        <a:rPr lang="en-US" altLang="zh-CN" sz="24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options.ObjectiveLimit</a:t>
                      </a:r>
                      <a:r>
                        <a:rPr lang="en-US" altLang="zh-CN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endParaRPr lang="zh-CN" altLang="en-US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170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-4</a:t>
                      </a:r>
                      <a:endParaRPr lang="zh-CN" altLang="en-US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Best objective function value did not change within </a:t>
                      </a:r>
                      <a:r>
                        <a:rPr lang="en-US" altLang="zh-CN" sz="24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options.MaxStallTime</a:t>
                      </a:r>
                      <a:r>
                        <a:rPr lang="en-US" altLang="zh-CN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seconds.</a:t>
                      </a:r>
                      <a:endParaRPr lang="zh-CN" altLang="en-US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053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-5</a:t>
                      </a:r>
                      <a:endParaRPr lang="zh-CN" altLang="en-US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Run time exceeded </a:t>
                      </a:r>
                      <a:r>
                        <a:rPr lang="en-US" altLang="zh-CN" sz="24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options.MaxTime</a:t>
                      </a:r>
                      <a:r>
                        <a:rPr lang="en-US" altLang="zh-CN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seconds.</a:t>
                      </a:r>
                      <a:endParaRPr lang="zh-CN" altLang="en-US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8418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E0E61-C46F-87BA-2242-896144B4C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Syntax of PSO algorithm</a:t>
            </a:r>
            <a:br>
              <a:rPr lang="en-GB" dirty="0"/>
            </a:br>
            <a:endParaRPr lang="en-GB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D42DDA7F-FD75-014F-87F6-E9C5E9BEB7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075" y="1728877"/>
            <a:ext cx="11661991" cy="461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ea typeface="Menlo"/>
                <a:cs typeface="Arial" panose="020B0604020202020204" pitchFamily="34" charset="0"/>
              </a:rPr>
              <a:t>A structure </a:t>
            </a:r>
            <a:r>
              <a:rPr lang="en-US" altLang="zh-CN" sz="2400" dirty="0">
                <a:solidFill>
                  <a:srgbClr val="0076A8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output</a:t>
            </a:r>
            <a:r>
              <a:rPr lang="en-US" altLang="zh-CN" sz="2400" dirty="0">
                <a:solidFill>
                  <a:srgbClr val="0076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ea typeface="Menlo"/>
                <a:cs typeface="Arial" panose="020B0604020202020204" pitchFamily="34" charset="0"/>
              </a:rPr>
              <a:t>containing information about the optimization process</a:t>
            </a:r>
            <a:endParaRPr lang="en-US" altLang="zh-CN" sz="2400" dirty="0">
              <a:latin typeface="Arial" panose="020B0604020202020204" pitchFamily="34" charset="0"/>
              <a:ea typeface="Roboto"/>
              <a:cs typeface="Arial" panose="020B0604020202020204" pitchFamily="34" charset="0"/>
            </a:endParaRPr>
          </a:p>
        </p:txBody>
      </p:sp>
      <p:graphicFrame>
        <p:nvGraphicFramePr>
          <p:cNvPr id="4" name="表格 8">
            <a:extLst>
              <a:ext uri="{FF2B5EF4-FFF2-40B4-BE49-F238E27FC236}">
                <a16:creationId xmlns:a16="http://schemas.microsoft.com/office/drawing/2014/main" id="{77354876-F083-4534-5B03-769DF91C8F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2175863"/>
              </p:ext>
            </p:extLst>
          </p:nvPr>
        </p:nvGraphicFramePr>
        <p:xfrm>
          <a:off x="765314" y="2320980"/>
          <a:ext cx="10773511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5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79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iterations</a:t>
                      </a:r>
                      <a:endParaRPr lang="zh-CN" altLang="en-US" sz="2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Number of solver iterations</a:t>
                      </a:r>
                      <a:endParaRPr lang="zh-CN" altLang="en-US" sz="2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funccount</a:t>
                      </a:r>
                      <a:endParaRPr lang="zh-CN" altLang="en-US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Number of objective function evaluations.</a:t>
                      </a:r>
                      <a:endParaRPr lang="zh-CN" altLang="en-US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message</a:t>
                      </a:r>
                      <a:endParaRPr lang="zh-CN" altLang="en-US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Reason the algorithm stopped.</a:t>
                      </a:r>
                      <a:endParaRPr lang="zh-CN" altLang="en-US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0" kern="120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hybridflag</a:t>
                      </a:r>
                      <a:endParaRPr lang="zh-CN" altLang="en-US" sz="2400" b="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Exit flag from the hybrid function. Relates to the </a:t>
                      </a:r>
                      <a:r>
                        <a:rPr lang="en-US" altLang="zh-CN" sz="24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HybridFcn</a:t>
                      </a:r>
                      <a:r>
                        <a:rPr lang="en-US" altLang="zh-CN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options.</a:t>
                      </a:r>
                      <a:endParaRPr lang="zh-CN" altLang="en-US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rngstate</a:t>
                      </a:r>
                      <a:endParaRPr lang="zh-CN" altLang="en-US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State of the default random number generator just before the algorithm started.</a:t>
                      </a:r>
                      <a:endParaRPr lang="zh-CN" altLang="en-US" sz="2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F638C4D-BC78-9720-1559-9244DFFEA5F4}"/>
              </a:ext>
            </a:extLst>
          </p:cNvPr>
          <p:cNvSpPr txBox="1"/>
          <p:nvPr/>
        </p:nvSpPr>
        <p:spPr>
          <a:xfrm>
            <a:off x="309679" y="5338500"/>
            <a:ext cx="115726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 hybrid function is another minimization function that runs after the particle swarm algorithm terminates including ‘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fminsearch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’,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‘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patternsearch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’,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‘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fminunc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’, ‘ 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fmincon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’, often focusing on exploitation.</a:t>
            </a:r>
            <a:endParaRPr lang="en-GB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直接箭头连接符 4">
            <a:extLst>
              <a:ext uri="{FF2B5EF4-FFF2-40B4-BE49-F238E27FC236}">
                <a16:creationId xmlns:a16="http://schemas.microsoft.com/office/drawing/2014/main" id="{04527828-22D7-7ECA-990A-02ACF220D8FC}"/>
              </a:ext>
            </a:extLst>
          </p:cNvPr>
          <p:cNvCxnSpPr>
            <a:cxnSpLocks/>
          </p:cNvCxnSpPr>
          <p:nvPr/>
        </p:nvCxnSpPr>
        <p:spPr>
          <a:xfrm flipH="1" flipV="1">
            <a:off x="6591300" y="4191000"/>
            <a:ext cx="1079499" cy="13126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0317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6F931-33BA-59EB-A118-F4D22BF8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Syntax of PSO algorithm</a:t>
            </a:r>
            <a:br>
              <a:rPr lang="en-GB" dirty="0"/>
            </a:br>
            <a:endParaRPr lang="en-GB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AD5A0A14-4477-23BC-B1A8-9E2C96C9F7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798" y="1943750"/>
            <a:ext cx="10154601" cy="45243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altLang="zh-CN" sz="2400" dirty="0">
                <a:latin typeface="Arial" panose="020B0604020202020204" pitchFamily="34" charset="0"/>
                <a:ea typeface="Menlo"/>
                <a:cs typeface="Arial" panose="020B0604020202020204" pitchFamily="34" charset="0"/>
              </a:rPr>
              <a:t>Parallel Computing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</a:pPr>
            <a:r>
              <a:rPr lang="fr-FR" altLang="zh-CN" sz="2400" dirty="0">
                <a:latin typeface="Arial" panose="020B0604020202020204" pitchFamily="34" charset="0"/>
                <a:ea typeface="Menlo"/>
                <a:cs typeface="Arial" panose="020B0604020202020204" pitchFamily="34" charset="0"/>
              </a:rPr>
              <a:t>  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</a:pPr>
            <a:r>
              <a:rPr lang="fr-FR" altLang="zh-CN" sz="2400" dirty="0">
                <a:latin typeface="Arial" panose="020B0604020202020204" pitchFamily="34" charset="0"/>
                <a:ea typeface="Menlo"/>
                <a:cs typeface="Arial" panose="020B0604020202020204" pitchFamily="34" charset="0"/>
              </a:rPr>
              <a:t>options = optimoptions('particleswarm','SwarmSize',50, ..., 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r>
              <a:rPr lang="en-US" altLang="zh-CN" sz="2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UseParallel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',true</a:t>
            </a:r>
            <a:r>
              <a:rPr lang="fr-FR" altLang="zh-CN" sz="2400" dirty="0">
                <a:solidFill>
                  <a:srgbClr val="FF0000"/>
                </a:solidFill>
                <a:latin typeface="Arial" panose="020B0604020202020204" pitchFamily="34" charset="0"/>
                <a:ea typeface="Menlo"/>
                <a:cs typeface="Arial" panose="020B0604020202020204" pitchFamily="34" charset="0"/>
              </a:rPr>
              <a:t>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</a:pPr>
            <a:endParaRPr lang="fr-FR" altLang="zh-CN" sz="2400" dirty="0">
              <a:solidFill>
                <a:srgbClr val="FF0000"/>
              </a:solidFill>
              <a:latin typeface="Arial" panose="020B0604020202020204" pitchFamily="34" charset="0"/>
              <a:ea typeface="Roboto"/>
              <a:cs typeface="Arial" panose="020B0604020202020204" pitchFamily="34" charset="0"/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In engineering optimization, the objective function evaluation may be computationally expensive. </a:t>
            </a: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Parallel computing can simultaneously evaluate the objective function for various candidate solutions, so as to speed up the optimization. </a:t>
            </a:r>
            <a:endParaRPr lang="fr-FR" altLang="zh-CN" sz="2400" dirty="0">
              <a:solidFill>
                <a:srgbClr val="FF0000"/>
              </a:solidFill>
              <a:latin typeface="Arial" panose="020B0604020202020204" pitchFamily="34" charset="0"/>
              <a:ea typeface="Roboto"/>
              <a:cs typeface="Arial" panose="020B0604020202020204" pitchFamily="34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</a:pPr>
            <a:endParaRPr lang="fr-FR" altLang="zh-CN" sz="2400" dirty="0">
              <a:solidFill>
                <a:srgbClr val="FF0000"/>
              </a:solidFill>
              <a:latin typeface="Arial" panose="020B0604020202020204" pitchFamily="34" charset="0"/>
              <a:ea typeface="Roboto"/>
              <a:cs typeface="Arial" panose="020B0604020202020204" pitchFamily="34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  <a:buClr>
                <a:srgbClr val="FF0000"/>
              </a:buClr>
            </a:pPr>
            <a:endParaRPr lang="en-US" altLang="zh-CN" sz="2400" dirty="0">
              <a:solidFill>
                <a:srgbClr val="FF0000"/>
              </a:solidFill>
              <a:latin typeface="Arial" panose="020B0604020202020204" pitchFamily="34" charset="0"/>
              <a:ea typeface="Roboto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376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D3DB539-3CE5-48D6-8D9E-9E2D161E068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F69A17D-EE46-404F-B3EF-D5B2079DC592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customXml/itemProps3.xml><?xml version="1.0" encoding="utf-8"?>
<ds:datastoreItem xmlns:ds="http://schemas.openxmlformats.org/officeDocument/2006/customXml" ds:itemID="{8609CBEF-11CD-4B65-BD11-DAA479010CD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1852</TotalTime>
  <Words>904</Words>
  <Application>Microsoft Office PowerPoint</Application>
  <PresentationFormat>Widescreen</PresentationFormat>
  <Paragraphs>101</Paragraphs>
  <Slides>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Times New Roman</vt:lpstr>
      <vt:lpstr>Wingdings</vt:lpstr>
      <vt:lpstr>Office Theme</vt:lpstr>
      <vt:lpstr>Use Particle Swarm Optimization via MATLAB: PSO Function</vt:lpstr>
      <vt:lpstr>MATLAB PSO function syntax </vt:lpstr>
      <vt:lpstr>MATLAB PSO function syntax  </vt:lpstr>
      <vt:lpstr>Syntax of PSO algorithm </vt:lpstr>
      <vt:lpstr>Syntax of PSO algorithm </vt:lpstr>
      <vt:lpstr>Syntax of PSO algorithm </vt:lpstr>
      <vt:lpstr>Syntax of PSO algorithm </vt:lpstr>
      <vt:lpstr>Syntax of PSO algorithm 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Liangyue Yu (PGR)</dc:creator>
  <cp:keywords/>
  <dc:description/>
  <cp:lastModifiedBy>Bo Liu</cp:lastModifiedBy>
  <cp:revision>59</cp:revision>
  <dcterms:created xsi:type="dcterms:W3CDTF">2021-01-06T14:22:07Z</dcterms:created>
  <dcterms:modified xsi:type="dcterms:W3CDTF">2024-07-03T09:55:23Z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</Properties>
</file>