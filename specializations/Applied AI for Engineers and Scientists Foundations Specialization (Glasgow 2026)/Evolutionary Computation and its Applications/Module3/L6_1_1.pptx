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Particle Swarm Optimization: A First Introduction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What is swarm?</a:t>
            </a:r>
          </a:p>
        </p:txBody>
      </p:sp>
      <p:sp>
        <p:nvSpPr>
          <p:cNvPr id="2" name="矩形 6">
            <a:extLst>
              <a:ext uri="{FF2B5EF4-FFF2-40B4-BE49-F238E27FC236}">
                <a16:creationId xmlns:a16="http://schemas.microsoft.com/office/drawing/2014/main" id="{3614B9DB-79C7-F790-4B97-16D57CB6C806}"/>
              </a:ext>
            </a:extLst>
          </p:cNvPr>
          <p:cNvSpPr/>
          <p:nvPr/>
        </p:nvSpPr>
        <p:spPr>
          <a:xfrm>
            <a:off x="482600" y="1628858"/>
            <a:ext cx="95377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Swarm</a:t>
            </a: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 can be described as a collection of interacting neighboring individuals. </a:t>
            </a:r>
          </a:p>
          <a:p>
            <a:endParaRPr lang="en-US" altLang="zh-CN" sz="2400" dirty="0">
              <a:latin typeface="Arial" panose="020B0604020202020204" pitchFamily="34" charset="0"/>
              <a:ea typeface="楷体" pitchFamily="49" charset="-122"/>
              <a:cs typeface="Arial" panose="020B0604020202020204" pitchFamily="34" charset="0"/>
            </a:endParaRPr>
          </a:p>
          <a:p>
            <a:pPr marL="874713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Fish colony. </a:t>
            </a:r>
          </a:p>
          <a:p>
            <a:pPr marL="874713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Bird colony.</a:t>
            </a: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2BB246-C9C0-CBBE-D083-E99392101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42884"/>
            <a:ext cx="3719290" cy="2343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0B456A-443C-C190-E56A-000D85DBD1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3" t="47117" b="6433"/>
          <a:stretch/>
        </p:blipFill>
        <p:spPr bwMode="auto">
          <a:xfrm>
            <a:off x="1099261" y="3942883"/>
            <a:ext cx="3719289" cy="2343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B657-3B9F-736E-5B37-CFABDAE6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swarm intelligence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F6A8DAC4-259B-B057-79F0-CE825EC98343}"/>
              </a:ext>
            </a:extLst>
          </p:cNvPr>
          <p:cNvSpPr/>
          <p:nvPr/>
        </p:nvSpPr>
        <p:spPr>
          <a:xfrm>
            <a:off x="571500" y="1616158"/>
            <a:ext cx="9626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Fish gathering in a group can effectively find food.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Any fish can drive the whole fish group to the food if it finds it</a:t>
            </a: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270D881D-760C-1380-F415-9634DCDE5DB3}"/>
              </a:ext>
            </a:extLst>
          </p:cNvPr>
          <p:cNvSpPr/>
          <p:nvPr/>
        </p:nvSpPr>
        <p:spPr>
          <a:xfrm>
            <a:off x="571500" y="318029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A swarm is formed by multiple individuals.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Individuals can interact with each other.</a:t>
            </a:r>
            <a:endParaRPr lang="zh-CN" altLang="en-US" sz="2400" dirty="0">
              <a:latin typeface="Arial" panose="020B0604020202020204" pitchFamily="34" charset="0"/>
              <a:ea typeface="楷体" pitchFamily="49" charset="-122"/>
              <a:cs typeface="Arial" panose="020B0604020202020204" pitchFamily="34" charset="0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01EEE89-5F9C-C253-A6BD-769875B0A0C9}"/>
              </a:ext>
            </a:extLst>
          </p:cNvPr>
          <p:cNvGrpSpPr>
            <a:grpSpLocks/>
          </p:cNvGrpSpPr>
          <p:nvPr/>
        </p:nvGrpSpPr>
        <p:grpSpPr bwMode="auto">
          <a:xfrm>
            <a:off x="8112125" y="5247672"/>
            <a:ext cx="576263" cy="288925"/>
            <a:chOff x="3752" y="3294"/>
            <a:chExt cx="1351" cy="409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B9A620AB-3B06-08AD-4BEF-8C5265653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A76518FA-9BCB-3FFE-3B3B-D4EA5486F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9DF3E89C-64FA-5A33-174A-47ACE2E52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FD667F79-E07C-BD71-72B5-C64B79D9B0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D4074A74-D859-095D-AB35-8DA438C9C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7FD16F88-061D-9AF4-AF95-801994DE7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92E9CA48-2A9C-01E0-7B2F-92E591222A2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29EC8EF1-C765-4580-5FF0-0074EAE893B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utoShape 11">
              <a:extLst>
                <a:ext uri="{FF2B5EF4-FFF2-40B4-BE49-F238E27FC236}">
                  <a16:creationId xmlns:a16="http://schemas.microsoft.com/office/drawing/2014/main" id="{D3C060E0-A2E1-39DB-FC4F-7BA125BCF8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12">
            <a:extLst>
              <a:ext uri="{FF2B5EF4-FFF2-40B4-BE49-F238E27FC236}">
                <a16:creationId xmlns:a16="http://schemas.microsoft.com/office/drawing/2014/main" id="{97B6184C-AA5D-30B6-44EC-A6A23AE931FC}"/>
              </a:ext>
            </a:extLst>
          </p:cNvPr>
          <p:cNvGrpSpPr>
            <a:grpSpLocks/>
          </p:cNvGrpSpPr>
          <p:nvPr/>
        </p:nvGrpSpPr>
        <p:grpSpPr bwMode="auto">
          <a:xfrm>
            <a:off x="8831263" y="4744434"/>
            <a:ext cx="576262" cy="288925"/>
            <a:chOff x="3752" y="3294"/>
            <a:chExt cx="1351" cy="409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ABD78411-E3B0-C79C-0752-55E918C40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14">
              <a:extLst>
                <a:ext uri="{FF2B5EF4-FFF2-40B4-BE49-F238E27FC236}">
                  <a16:creationId xmlns:a16="http://schemas.microsoft.com/office/drawing/2014/main" id="{2B697BC6-7AFB-4B37-5E53-8DC25C3FD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AutoShape 15">
              <a:extLst>
                <a:ext uri="{FF2B5EF4-FFF2-40B4-BE49-F238E27FC236}">
                  <a16:creationId xmlns:a16="http://schemas.microsoft.com/office/drawing/2014/main" id="{C392A138-719B-4038-2325-0659EECED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" name="Group 16">
              <a:extLst>
                <a:ext uri="{FF2B5EF4-FFF2-40B4-BE49-F238E27FC236}">
                  <a16:creationId xmlns:a16="http://schemas.microsoft.com/office/drawing/2014/main" id="{452BA1D2-F172-7385-0099-6FA2861E6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23" name="Oval 17">
                <a:extLst>
                  <a:ext uri="{FF2B5EF4-FFF2-40B4-BE49-F238E27FC236}">
                    <a16:creationId xmlns:a16="http://schemas.microsoft.com/office/drawing/2014/main" id="{B1D9B6C5-A8D3-4E49-E398-81D2BDF90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18">
                <a:extLst>
                  <a:ext uri="{FF2B5EF4-FFF2-40B4-BE49-F238E27FC236}">
                    <a16:creationId xmlns:a16="http://schemas.microsoft.com/office/drawing/2014/main" id="{3404CECE-09C6-E4B4-2015-3631DE1F8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A81F33D6-39B9-8419-D817-985E090BD2A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948F0382-437F-9BCE-862C-5E2ED6410C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AutoShape 21">
              <a:extLst>
                <a:ext uri="{FF2B5EF4-FFF2-40B4-BE49-F238E27FC236}">
                  <a16:creationId xmlns:a16="http://schemas.microsoft.com/office/drawing/2014/main" id="{C834C257-49C9-366A-1E04-E8BB5DC665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B8ED1AC6-6846-3122-C8C6-28379C1C5253}"/>
              </a:ext>
            </a:extLst>
          </p:cNvPr>
          <p:cNvGrpSpPr>
            <a:grpSpLocks/>
          </p:cNvGrpSpPr>
          <p:nvPr/>
        </p:nvGrpSpPr>
        <p:grpSpPr bwMode="auto">
          <a:xfrm>
            <a:off x="8615363" y="5679472"/>
            <a:ext cx="576262" cy="288925"/>
            <a:chOff x="3752" y="3294"/>
            <a:chExt cx="1351" cy="409"/>
          </a:xfrm>
        </p:grpSpPr>
        <p:sp>
          <p:nvSpPr>
            <p:cNvPr id="26" name="AutoShape 23">
              <a:extLst>
                <a:ext uri="{FF2B5EF4-FFF2-40B4-BE49-F238E27FC236}">
                  <a16:creationId xmlns:a16="http://schemas.microsoft.com/office/drawing/2014/main" id="{E1CE5352-37CD-11BC-B88C-A8F2C67E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AutoShape 24">
              <a:extLst>
                <a:ext uri="{FF2B5EF4-FFF2-40B4-BE49-F238E27FC236}">
                  <a16:creationId xmlns:a16="http://schemas.microsoft.com/office/drawing/2014/main" id="{90564E2E-D070-8EC7-D114-DF05A57BE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AutoShape 25">
              <a:extLst>
                <a:ext uri="{FF2B5EF4-FFF2-40B4-BE49-F238E27FC236}">
                  <a16:creationId xmlns:a16="http://schemas.microsoft.com/office/drawing/2014/main" id="{6280E2C5-7707-5567-DAC5-D0E9E226F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" name="Group 26">
              <a:extLst>
                <a:ext uri="{FF2B5EF4-FFF2-40B4-BE49-F238E27FC236}">
                  <a16:creationId xmlns:a16="http://schemas.microsoft.com/office/drawing/2014/main" id="{861F966F-68D6-056B-8D4C-DF6DC3D31D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33" name="Oval 27">
                <a:extLst>
                  <a:ext uri="{FF2B5EF4-FFF2-40B4-BE49-F238E27FC236}">
                    <a16:creationId xmlns:a16="http://schemas.microsoft.com/office/drawing/2014/main" id="{4FA8DBFD-90C4-75B8-A814-37DE2EBB4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Oval 28">
                <a:extLst>
                  <a:ext uri="{FF2B5EF4-FFF2-40B4-BE49-F238E27FC236}">
                    <a16:creationId xmlns:a16="http://schemas.microsoft.com/office/drawing/2014/main" id="{16C626C3-D057-F464-5689-97B982EE6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" name="AutoShape 29">
              <a:extLst>
                <a:ext uri="{FF2B5EF4-FFF2-40B4-BE49-F238E27FC236}">
                  <a16:creationId xmlns:a16="http://schemas.microsoft.com/office/drawing/2014/main" id="{86B64EA6-15ED-F6F0-2D2A-BF692A04EB9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AutoShape 30">
              <a:extLst>
                <a:ext uri="{FF2B5EF4-FFF2-40B4-BE49-F238E27FC236}">
                  <a16:creationId xmlns:a16="http://schemas.microsoft.com/office/drawing/2014/main" id="{4380CD1C-C8EC-1872-53BB-A8981E24065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AutoShape 31">
              <a:extLst>
                <a:ext uri="{FF2B5EF4-FFF2-40B4-BE49-F238E27FC236}">
                  <a16:creationId xmlns:a16="http://schemas.microsoft.com/office/drawing/2014/main" id="{7F367BAE-20FB-8310-48AD-8D87B6C1E9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Group 32">
            <a:extLst>
              <a:ext uri="{FF2B5EF4-FFF2-40B4-BE49-F238E27FC236}">
                <a16:creationId xmlns:a16="http://schemas.microsoft.com/office/drawing/2014/main" id="{FF806E8B-8D79-B3F9-CF02-27B84D46577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430588" y="4815872"/>
            <a:ext cx="647700" cy="288925"/>
            <a:chOff x="3752" y="3294"/>
            <a:chExt cx="1351" cy="409"/>
          </a:xfrm>
        </p:grpSpPr>
        <p:sp>
          <p:nvSpPr>
            <p:cNvPr id="36" name="AutoShape 33">
              <a:extLst>
                <a:ext uri="{FF2B5EF4-FFF2-40B4-BE49-F238E27FC236}">
                  <a16:creationId xmlns:a16="http://schemas.microsoft.com/office/drawing/2014/main" id="{F2C25B52-008B-1D8B-E574-86E23006F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34">
              <a:extLst>
                <a:ext uri="{FF2B5EF4-FFF2-40B4-BE49-F238E27FC236}">
                  <a16:creationId xmlns:a16="http://schemas.microsoft.com/office/drawing/2014/main" id="{8D943473-EA8D-8500-9EA0-D4834D653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AutoShape 35">
              <a:extLst>
                <a:ext uri="{FF2B5EF4-FFF2-40B4-BE49-F238E27FC236}">
                  <a16:creationId xmlns:a16="http://schemas.microsoft.com/office/drawing/2014/main" id="{F8B8FA6E-45D0-25ED-3821-38CEA897D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9" name="Group 36">
              <a:extLst>
                <a:ext uri="{FF2B5EF4-FFF2-40B4-BE49-F238E27FC236}">
                  <a16:creationId xmlns:a16="http://schemas.microsoft.com/office/drawing/2014/main" id="{BED4830F-A238-8490-B746-5862031DEB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43" name="Oval 37">
                <a:extLst>
                  <a:ext uri="{FF2B5EF4-FFF2-40B4-BE49-F238E27FC236}">
                    <a16:creationId xmlns:a16="http://schemas.microsoft.com/office/drawing/2014/main" id="{66E2B224-DF27-F254-1867-A8E489DD6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Oval 38">
                <a:extLst>
                  <a:ext uri="{FF2B5EF4-FFF2-40B4-BE49-F238E27FC236}">
                    <a16:creationId xmlns:a16="http://schemas.microsoft.com/office/drawing/2014/main" id="{D45D430E-1B35-80F1-591F-2AB7E0471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0" name="AutoShape 39">
              <a:extLst>
                <a:ext uri="{FF2B5EF4-FFF2-40B4-BE49-F238E27FC236}">
                  <a16:creationId xmlns:a16="http://schemas.microsoft.com/office/drawing/2014/main" id="{AC8CBCC0-79A2-8C41-94B1-B03C8DD735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40">
              <a:extLst>
                <a:ext uri="{FF2B5EF4-FFF2-40B4-BE49-F238E27FC236}">
                  <a16:creationId xmlns:a16="http://schemas.microsoft.com/office/drawing/2014/main" id="{FE0A95B5-1C12-466B-D6DC-6DD659F971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41">
              <a:extLst>
                <a:ext uri="{FF2B5EF4-FFF2-40B4-BE49-F238E27FC236}">
                  <a16:creationId xmlns:a16="http://schemas.microsoft.com/office/drawing/2014/main" id="{CAD59BFF-1024-4D21-B56F-BEFB546BDF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56099484-57D9-3239-D843-35E2980A951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51313" y="5320697"/>
            <a:ext cx="576262" cy="288925"/>
            <a:chOff x="3752" y="3294"/>
            <a:chExt cx="1351" cy="409"/>
          </a:xfrm>
        </p:grpSpPr>
        <p:sp>
          <p:nvSpPr>
            <p:cNvPr id="46" name="AutoShape 43">
              <a:extLst>
                <a:ext uri="{FF2B5EF4-FFF2-40B4-BE49-F238E27FC236}">
                  <a16:creationId xmlns:a16="http://schemas.microsoft.com/office/drawing/2014/main" id="{4F4A090E-2809-4AFD-C500-633D839D9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AutoShape 44">
              <a:extLst>
                <a:ext uri="{FF2B5EF4-FFF2-40B4-BE49-F238E27FC236}">
                  <a16:creationId xmlns:a16="http://schemas.microsoft.com/office/drawing/2014/main" id="{67F6FF77-42FC-261E-0584-2E65B40D4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AutoShape 45">
              <a:extLst>
                <a:ext uri="{FF2B5EF4-FFF2-40B4-BE49-F238E27FC236}">
                  <a16:creationId xmlns:a16="http://schemas.microsoft.com/office/drawing/2014/main" id="{1DB97155-2337-539A-583A-2FA4543A5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" name="Group 46">
              <a:extLst>
                <a:ext uri="{FF2B5EF4-FFF2-40B4-BE49-F238E27FC236}">
                  <a16:creationId xmlns:a16="http://schemas.microsoft.com/office/drawing/2014/main" id="{03948F17-6BCF-147B-D61B-169FB8A49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53" name="Oval 47">
                <a:extLst>
                  <a:ext uri="{FF2B5EF4-FFF2-40B4-BE49-F238E27FC236}">
                    <a16:creationId xmlns:a16="http://schemas.microsoft.com/office/drawing/2014/main" id="{4337190C-D87C-08A6-C378-13D75D821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Oval 48">
                <a:extLst>
                  <a:ext uri="{FF2B5EF4-FFF2-40B4-BE49-F238E27FC236}">
                    <a16:creationId xmlns:a16="http://schemas.microsoft.com/office/drawing/2014/main" id="{F0E584C8-2FAC-B8D0-E3E6-FEEF856ED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" name="AutoShape 49">
              <a:extLst>
                <a:ext uri="{FF2B5EF4-FFF2-40B4-BE49-F238E27FC236}">
                  <a16:creationId xmlns:a16="http://schemas.microsoft.com/office/drawing/2014/main" id="{7106002E-47A0-C13C-C278-1E02C3662F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AutoShape 50">
              <a:extLst>
                <a:ext uri="{FF2B5EF4-FFF2-40B4-BE49-F238E27FC236}">
                  <a16:creationId xmlns:a16="http://schemas.microsoft.com/office/drawing/2014/main" id="{97097C23-1E58-5A19-2609-1CF9E4C7C90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AutoShape 51">
              <a:extLst>
                <a:ext uri="{FF2B5EF4-FFF2-40B4-BE49-F238E27FC236}">
                  <a16:creationId xmlns:a16="http://schemas.microsoft.com/office/drawing/2014/main" id="{0718B132-18D0-4248-6129-1EFE0C537A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" name="Group 52">
            <a:extLst>
              <a:ext uri="{FF2B5EF4-FFF2-40B4-BE49-F238E27FC236}">
                <a16:creationId xmlns:a16="http://schemas.microsoft.com/office/drawing/2014/main" id="{35A77061-5A50-33C3-4698-D0CE067C72F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079875" y="4960334"/>
            <a:ext cx="647700" cy="288925"/>
            <a:chOff x="3752" y="3294"/>
            <a:chExt cx="1351" cy="409"/>
          </a:xfrm>
        </p:grpSpPr>
        <p:sp>
          <p:nvSpPr>
            <p:cNvPr id="56" name="AutoShape 53">
              <a:extLst>
                <a:ext uri="{FF2B5EF4-FFF2-40B4-BE49-F238E27FC236}">
                  <a16:creationId xmlns:a16="http://schemas.microsoft.com/office/drawing/2014/main" id="{335181A3-0C72-98D3-DA13-8B3ED5FAD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AutoShape 54">
              <a:extLst>
                <a:ext uri="{FF2B5EF4-FFF2-40B4-BE49-F238E27FC236}">
                  <a16:creationId xmlns:a16="http://schemas.microsoft.com/office/drawing/2014/main" id="{31FB8E1C-D5A4-E632-AC72-E12CFBCB1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AutoShape 55">
              <a:extLst>
                <a:ext uri="{FF2B5EF4-FFF2-40B4-BE49-F238E27FC236}">
                  <a16:creationId xmlns:a16="http://schemas.microsoft.com/office/drawing/2014/main" id="{4ED83D9A-F2ED-F28E-AF43-17B2C23CF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9" name="Group 56">
              <a:extLst>
                <a:ext uri="{FF2B5EF4-FFF2-40B4-BE49-F238E27FC236}">
                  <a16:creationId xmlns:a16="http://schemas.microsoft.com/office/drawing/2014/main" id="{866DC34C-6DED-0EED-2F03-97E597A67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63" name="Oval 57">
                <a:extLst>
                  <a:ext uri="{FF2B5EF4-FFF2-40B4-BE49-F238E27FC236}">
                    <a16:creationId xmlns:a16="http://schemas.microsoft.com/office/drawing/2014/main" id="{2CC97F73-388B-BB84-31BF-6176BA6D0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Oval 58">
                <a:extLst>
                  <a:ext uri="{FF2B5EF4-FFF2-40B4-BE49-F238E27FC236}">
                    <a16:creationId xmlns:a16="http://schemas.microsoft.com/office/drawing/2014/main" id="{8378F52D-BDB1-C48A-0840-B7E78D2286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0" name="AutoShape 59">
              <a:extLst>
                <a:ext uri="{FF2B5EF4-FFF2-40B4-BE49-F238E27FC236}">
                  <a16:creationId xmlns:a16="http://schemas.microsoft.com/office/drawing/2014/main" id="{E26A64CF-12F1-CE78-12D7-087F9B59CE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AutoShape 60">
              <a:extLst>
                <a:ext uri="{FF2B5EF4-FFF2-40B4-BE49-F238E27FC236}">
                  <a16:creationId xmlns:a16="http://schemas.microsoft.com/office/drawing/2014/main" id="{5FAEE4C1-10E2-64F6-82A5-0C4D181506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AutoShape 61">
              <a:extLst>
                <a:ext uri="{FF2B5EF4-FFF2-40B4-BE49-F238E27FC236}">
                  <a16:creationId xmlns:a16="http://schemas.microsoft.com/office/drawing/2014/main" id="{E89A4E86-5AEE-EBFF-C7EB-FAFCAFBE9DE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Oval 62">
            <a:extLst>
              <a:ext uri="{FF2B5EF4-FFF2-40B4-BE49-F238E27FC236}">
                <a16:creationId xmlns:a16="http://schemas.microsoft.com/office/drawing/2014/main" id="{7368C9C9-78F5-5D36-18C9-CAAA38DB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4528534"/>
            <a:ext cx="142875" cy="142875"/>
          </a:xfrm>
          <a:prstGeom prst="ellipse">
            <a:avLst/>
          </a:prstGeom>
          <a:solidFill>
            <a:srgbClr val="3333FF"/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63">
            <a:extLst>
              <a:ext uri="{FF2B5EF4-FFF2-40B4-BE49-F238E27FC236}">
                <a16:creationId xmlns:a16="http://schemas.microsoft.com/office/drawing/2014/main" id="{EA94FBFA-7D88-9A55-8F62-1E66973263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27800" y="4599972"/>
            <a:ext cx="431800" cy="1444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7" name="Group 74">
            <a:extLst>
              <a:ext uri="{FF2B5EF4-FFF2-40B4-BE49-F238E27FC236}">
                <a16:creationId xmlns:a16="http://schemas.microsoft.com/office/drawing/2014/main" id="{E4837070-31EA-0CA3-7CD5-A0F4B095C45A}"/>
              </a:ext>
            </a:extLst>
          </p:cNvPr>
          <p:cNvGrpSpPr>
            <a:grpSpLocks/>
          </p:cNvGrpSpPr>
          <p:nvPr/>
        </p:nvGrpSpPr>
        <p:grpSpPr bwMode="auto">
          <a:xfrm>
            <a:off x="7021886" y="4632203"/>
            <a:ext cx="576262" cy="288925"/>
            <a:chOff x="3752" y="3294"/>
            <a:chExt cx="1351" cy="409"/>
          </a:xfrm>
        </p:grpSpPr>
        <p:sp>
          <p:nvSpPr>
            <p:cNvPr id="68" name="AutoShape 75">
              <a:extLst>
                <a:ext uri="{FF2B5EF4-FFF2-40B4-BE49-F238E27FC236}">
                  <a16:creationId xmlns:a16="http://schemas.microsoft.com/office/drawing/2014/main" id="{296D577E-3749-C618-BD09-E619AD681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294"/>
              <a:ext cx="182" cy="408"/>
            </a:xfrm>
            <a:prstGeom prst="moon">
              <a:avLst>
                <a:gd name="adj" fmla="val 50000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AutoShape 76">
              <a:extLst>
                <a:ext uri="{FF2B5EF4-FFF2-40B4-BE49-F238E27FC236}">
                  <a16:creationId xmlns:a16="http://schemas.microsoft.com/office/drawing/2014/main" id="{D2B6F0E8-4218-1AE2-2656-DAC2C95DB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3385"/>
              <a:ext cx="1134" cy="272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AutoShape 77">
              <a:extLst>
                <a:ext uri="{FF2B5EF4-FFF2-40B4-BE49-F238E27FC236}">
                  <a16:creationId xmlns:a16="http://schemas.microsoft.com/office/drawing/2014/main" id="{8A7FF420-BDB6-69CB-3CFA-6F60C8E24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3379"/>
              <a:ext cx="272" cy="233"/>
            </a:xfrm>
            <a:prstGeom prst="octagon">
              <a:avLst>
                <a:gd name="adj" fmla="val 29287"/>
              </a:avLst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solidFill>
                <a:srgbClr val="0066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1" name="Group 78">
              <a:extLst>
                <a:ext uri="{FF2B5EF4-FFF2-40B4-BE49-F238E27FC236}">
                  <a16:creationId xmlns:a16="http://schemas.microsoft.com/office/drawing/2014/main" id="{FDD90296-F029-481D-CC4E-1AD9F1552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0" y="3443"/>
              <a:ext cx="46" cy="46"/>
              <a:chOff x="4059" y="2931"/>
              <a:chExt cx="91" cy="91"/>
            </a:xfrm>
          </p:grpSpPr>
          <p:sp>
            <p:nvSpPr>
              <p:cNvPr id="75" name="Oval 79">
                <a:extLst>
                  <a:ext uri="{FF2B5EF4-FFF2-40B4-BE49-F238E27FC236}">
                    <a16:creationId xmlns:a16="http://schemas.microsoft.com/office/drawing/2014/main" id="{ED6C7A3D-9ABC-7500-E6B2-538E832AF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9" y="2931"/>
                <a:ext cx="91" cy="9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Oval 80">
                <a:extLst>
                  <a:ext uri="{FF2B5EF4-FFF2-40B4-BE49-F238E27FC236}">
                    <a16:creationId xmlns:a16="http://schemas.microsoft.com/office/drawing/2014/main" id="{8620E354-F868-B4DC-18D6-7A695DE89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952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" name="AutoShape 81">
              <a:extLst>
                <a:ext uri="{FF2B5EF4-FFF2-40B4-BE49-F238E27FC236}">
                  <a16:creationId xmlns:a16="http://schemas.microsoft.com/office/drawing/2014/main" id="{71111110-2C10-6A00-98FA-BF7C5F0C675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41" y="3294"/>
              <a:ext cx="317" cy="90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AutoShape 82">
              <a:extLst>
                <a:ext uri="{FF2B5EF4-FFF2-40B4-BE49-F238E27FC236}">
                  <a16:creationId xmlns:a16="http://schemas.microsoft.com/office/drawing/2014/main" id="{82275B38-D3B7-3588-C26A-9EEC0C1DC8B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468" y="3657"/>
              <a:ext cx="317" cy="46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AutoShape 83">
              <a:extLst>
                <a:ext uri="{FF2B5EF4-FFF2-40B4-BE49-F238E27FC236}">
                  <a16:creationId xmlns:a16="http://schemas.microsoft.com/office/drawing/2014/main" id="{983D3AF6-11EA-1E50-9EB3-5139B8F5B8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9229" flipH="1" flipV="1">
              <a:off x="4059" y="3566"/>
              <a:ext cx="136" cy="91"/>
            </a:xfrm>
            <a:prstGeom prst="rtTriangle">
              <a:avLst/>
            </a:prstGeom>
            <a:gradFill rotWithShape="1">
              <a:gsLst>
                <a:gs pos="0">
                  <a:srgbClr val="336699"/>
                </a:gs>
                <a:gs pos="100000">
                  <a:srgbClr val="336699">
                    <a:gamma/>
                    <a:tint val="0"/>
                    <a:invGamma/>
                  </a:srgbClr>
                </a:gs>
              </a:gsLst>
              <a:lin ang="540000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7" name="Oval 87">
            <a:extLst>
              <a:ext uri="{FF2B5EF4-FFF2-40B4-BE49-F238E27FC236}">
                <a16:creationId xmlns:a16="http://schemas.microsoft.com/office/drawing/2014/main" id="{A68AA8C5-C710-DC63-2040-1E218F88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55509"/>
            <a:ext cx="574675" cy="288925"/>
          </a:xfrm>
          <a:prstGeom prst="ellipse">
            <a:avLst/>
          </a:prstGeom>
          <a:noFill/>
          <a:ln w="38100" cmpd="dbl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Line 88">
            <a:extLst>
              <a:ext uri="{FF2B5EF4-FFF2-40B4-BE49-F238E27FC236}">
                <a16:creationId xmlns:a16="http://schemas.microsoft.com/office/drawing/2014/main" id="{3D1EDB6B-B31E-1CC4-665C-82BE8E82B0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1313" y="4599972"/>
            <a:ext cx="1655762" cy="28733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89">
            <a:extLst>
              <a:ext uri="{FF2B5EF4-FFF2-40B4-BE49-F238E27FC236}">
                <a16:creationId xmlns:a16="http://schemas.microsoft.com/office/drawing/2014/main" id="{F20EF0AF-88A2-61A0-CF43-F82E85EE6C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013" y="4641247"/>
            <a:ext cx="1223962" cy="36036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Line 90">
            <a:extLst>
              <a:ext uri="{FF2B5EF4-FFF2-40B4-BE49-F238E27FC236}">
                <a16:creationId xmlns:a16="http://schemas.microsoft.com/office/drawing/2014/main" id="{0A5E93D5-CF96-6BA2-D7F9-07500C08B4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013" y="4744434"/>
            <a:ext cx="1296987" cy="719138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Line 91">
            <a:extLst>
              <a:ext uri="{FF2B5EF4-FFF2-40B4-BE49-F238E27FC236}">
                <a16:creationId xmlns:a16="http://schemas.microsoft.com/office/drawing/2014/main" id="{ECE47D6A-E41B-FC7B-4D93-B7CCA470D9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72263" y="4482617"/>
            <a:ext cx="2016125" cy="287337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Line 92">
            <a:extLst>
              <a:ext uri="{FF2B5EF4-FFF2-40B4-BE49-F238E27FC236}">
                <a16:creationId xmlns:a16="http://schemas.microsoft.com/office/drawing/2014/main" id="{24CB48E3-2D6F-F88C-1DC0-D93615B62E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70675" y="4744434"/>
            <a:ext cx="1368425" cy="57626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" name="Line 93">
            <a:extLst>
              <a:ext uri="{FF2B5EF4-FFF2-40B4-BE49-F238E27FC236}">
                <a16:creationId xmlns:a16="http://schemas.microsoft.com/office/drawing/2014/main" id="{C458B8AB-8D7A-80A8-16C3-566534E8F7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54775" y="4815872"/>
            <a:ext cx="2089150" cy="1008062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A0E154-3F8C-1F82-1298-398C4C38D1A9}"/>
              </a:ext>
            </a:extLst>
          </p:cNvPr>
          <p:cNvSpPr txBox="1"/>
          <p:nvPr/>
        </p:nvSpPr>
        <p:spPr>
          <a:xfrm>
            <a:off x="5287975" y="6279860"/>
            <a:ext cx="3443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楷体" pitchFamily="49" charset="-122"/>
                <a:cs typeface="Arial" panose="020B0604020202020204" pitchFamily="34" charset="0"/>
              </a:rPr>
              <a:t>Fish feeding model</a:t>
            </a:r>
            <a:endParaRPr lang="zh-CN" altLang="en-US" sz="2400" b="1" dirty="0">
              <a:latin typeface="Arial" panose="020B0604020202020204" pitchFamily="34" charset="0"/>
              <a:ea typeface="楷体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26B0-F533-87ED-7C7D-F570AC84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of PSO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2C23590-60DA-D048-7556-411385850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" y="1715289"/>
            <a:ext cx="8585199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An optimization method based on swarm intelligence.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Particle swarm optimization (PSO) was proposed by Kennedy and Eberhart in 1995.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Simulates the flight and foraging behavior of birds in groups.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There are many different versions nowadays, called PSOs.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" name="Picture 8" descr="Russ Eberhart">
            <a:extLst>
              <a:ext uri="{FF2B5EF4-FFF2-40B4-BE49-F238E27FC236}">
                <a16:creationId xmlns:a16="http://schemas.microsoft.com/office/drawing/2014/main" id="{9A62A2B7-77A4-ADF1-4DAE-3E97C97F3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29807" y="2649304"/>
            <a:ext cx="2171700" cy="2667000"/>
          </a:xfrm>
          <a:prstGeom prst="rect">
            <a:avLst/>
          </a:prstGeom>
          <a:noFill/>
        </p:spPr>
      </p:pic>
      <p:sp>
        <p:nvSpPr>
          <p:cNvPr id="5" name="Rectangle 10">
            <a:extLst>
              <a:ext uri="{FF2B5EF4-FFF2-40B4-BE49-F238E27FC236}">
                <a16:creationId xmlns:a16="http://schemas.microsoft.com/office/drawing/2014/main" id="{6AD7518A-F000-9CEA-4B3E-280FB5CD5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1973" y="5429782"/>
            <a:ext cx="1627369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kumimoji="1" lang="en-US" altLang="zh-TW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Russ Eberhart</a:t>
            </a:r>
          </a:p>
        </p:txBody>
      </p:sp>
    </p:spTree>
    <p:extLst>
      <p:ext uri="{BB962C8B-B14F-4D97-AF65-F5344CB8AC3E}">
        <p14:creationId xmlns:p14="http://schemas.microsoft.com/office/powerpoint/2010/main" val="123291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 autoUpdateAnimBg="0"/>
      <p:bldP spid="5" grpId="0" uiExpan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A84A-3CFB-F472-7CCD-DB0FB09D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Particles (Solutions)</a:t>
            </a:r>
            <a:br>
              <a:rPr lang="en-GB" dirty="0"/>
            </a:br>
            <a:endParaRPr lang="en-GB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2B6397-37C2-6B1E-2B96-D34A57F050DC}"/>
              </a:ext>
            </a:extLst>
          </p:cNvPr>
          <p:cNvCxnSpPr/>
          <p:nvPr/>
        </p:nvCxnSpPr>
        <p:spPr>
          <a:xfrm>
            <a:off x="3925863" y="5885401"/>
            <a:ext cx="45508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DEFEBF9-EE03-67E2-9D0A-0A4DF1CFA762}"/>
              </a:ext>
            </a:extLst>
          </p:cNvPr>
          <p:cNvCxnSpPr>
            <a:cxnSpLocks/>
          </p:cNvCxnSpPr>
          <p:nvPr/>
        </p:nvCxnSpPr>
        <p:spPr>
          <a:xfrm flipV="1">
            <a:off x="3925863" y="2192632"/>
            <a:ext cx="0" cy="36927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4D5E9B2-814F-0164-56B4-7BA698ED6ADF}"/>
              </a:ext>
            </a:extLst>
          </p:cNvPr>
          <p:cNvSpPr/>
          <p:nvPr/>
        </p:nvSpPr>
        <p:spPr>
          <a:xfrm>
            <a:off x="4531948" y="2832714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D3BE7E-47FD-689C-5D7D-D1F873FF766C}"/>
              </a:ext>
            </a:extLst>
          </p:cNvPr>
          <p:cNvSpPr/>
          <p:nvPr/>
        </p:nvSpPr>
        <p:spPr>
          <a:xfrm>
            <a:off x="5632741" y="2769411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2C2EC7-8BE7-4357-351D-88DC45D18A1B}"/>
              </a:ext>
            </a:extLst>
          </p:cNvPr>
          <p:cNvSpPr/>
          <p:nvPr/>
        </p:nvSpPr>
        <p:spPr>
          <a:xfrm>
            <a:off x="4884810" y="4094115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2CE0C1-5C6A-A93A-905A-BEC36FEAE6A3}"/>
              </a:ext>
            </a:extLst>
          </p:cNvPr>
          <p:cNvSpPr/>
          <p:nvPr/>
        </p:nvSpPr>
        <p:spPr>
          <a:xfrm>
            <a:off x="5417038" y="3353217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F3EC91-B56A-C772-F062-7E111E4712E8}"/>
              </a:ext>
            </a:extLst>
          </p:cNvPr>
          <p:cNvSpPr/>
          <p:nvPr/>
        </p:nvSpPr>
        <p:spPr>
          <a:xfrm>
            <a:off x="5907059" y="4176173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FB637A-6ADA-9C98-6C17-BB000AE38923}"/>
              </a:ext>
            </a:extLst>
          </p:cNvPr>
          <p:cNvSpPr/>
          <p:nvPr/>
        </p:nvSpPr>
        <p:spPr>
          <a:xfrm>
            <a:off x="7234115" y="4619309"/>
            <a:ext cx="126606" cy="1266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D4335-A1FD-C49D-871F-0D3A400B5D96}"/>
              </a:ext>
            </a:extLst>
          </p:cNvPr>
          <p:cNvSpPr txBox="1"/>
          <p:nvPr/>
        </p:nvSpPr>
        <p:spPr>
          <a:xfrm>
            <a:off x="7562362" y="4302779"/>
            <a:ext cx="139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2AC32A-8592-34E0-A0D4-CAB10B8237C9}"/>
              </a:ext>
            </a:extLst>
          </p:cNvPr>
          <p:cNvCxnSpPr/>
          <p:nvPr/>
        </p:nvCxnSpPr>
        <p:spPr>
          <a:xfrm flipV="1">
            <a:off x="5759347" y="2656866"/>
            <a:ext cx="222731" cy="1125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867890-0734-98DE-7508-C5EB39B184D4}"/>
              </a:ext>
            </a:extLst>
          </p:cNvPr>
          <p:cNvCxnSpPr>
            <a:cxnSpLocks/>
          </p:cNvCxnSpPr>
          <p:nvPr/>
        </p:nvCxnSpPr>
        <p:spPr>
          <a:xfrm>
            <a:off x="6033665" y="4232445"/>
            <a:ext cx="529890" cy="18288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933BF1-6C29-B71B-288B-6F1487EBC039}"/>
              </a:ext>
            </a:extLst>
          </p:cNvPr>
          <p:cNvCxnSpPr>
            <a:cxnSpLocks/>
          </p:cNvCxnSpPr>
          <p:nvPr/>
        </p:nvCxnSpPr>
        <p:spPr>
          <a:xfrm flipH="1">
            <a:off x="5360763" y="3470508"/>
            <a:ext cx="119578" cy="4161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478FC5-9CB3-FBD7-7D86-3C0E15C0578D}"/>
              </a:ext>
            </a:extLst>
          </p:cNvPr>
          <p:cNvCxnSpPr>
            <a:cxnSpLocks/>
          </p:cNvCxnSpPr>
          <p:nvPr/>
        </p:nvCxnSpPr>
        <p:spPr>
          <a:xfrm flipV="1">
            <a:off x="4595251" y="2206699"/>
            <a:ext cx="72686" cy="6025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92CA2E-EED3-BCFA-D506-0CD1C39D2A2E}"/>
              </a:ext>
            </a:extLst>
          </p:cNvPr>
          <p:cNvCxnSpPr>
            <a:cxnSpLocks/>
          </p:cNvCxnSpPr>
          <p:nvPr/>
        </p:nvCxnSpPr>
        <p:spPr>
          <a:xfrm flipH="1">
            <a:off x="4560085" y="4239478"/>
            <a:ext cx="363407" cy="7519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BB8C21-1154-D19B-60E1-9C9F307E871E}"/>
              </a:ext>
            </a:extLst>
          </p:cNvPr>
          <p:cNvCxnSpPr>
            <a:cxnSpLocks/>
          </p:cNvCxnSpPr>
          <p:nvPr/>
        </p:nvCxnSpPr>
        <p:spPr>
          <a:xfrm flipV="1">
            <a:off x="7295066" y="3858030"/>
            <a:ext cx="65655" cy="761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4DB76A0-58C1-E7DF-EAAC-32D98D59CF38}"/>
              </a:ext>
            </a:extLst>
          </p:cNvPr>
          <p:cNvSpPr txBox="1"/>
          <p:nvPr/>
        </p:nvSpPr>
        <p:spPr>
          <a:xfrm>
            <a:off x="8357184" y="5955054"/>
            <a:ext cx="65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305F9-BC28-AE25-50C2-84BCE2AA8861}"/>
              </a:ext>
            </a:extLst>
          </p:cNvPr>
          <p:cNvSpPr txBox="1"/>
          <p:nvPr/>
        </p:nvSpPr>
        <p:spPr>
          <a:xfrm>
            <a:off x="3367260" y="1999984"/>
            <a:ext cx="65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97104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620B2-9B7D-5D29-3AEB-6F76DDDD3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ideas of PSO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 Box 5" descr="ANI3">
            <a:extLst>
              <a:ext uri="{FF2B5EF4-FFF2-40B4-BE49-F238E27FC236}">
                <a16:creationId xmlns:a16="http://schemas.microsoft.com/office/drawing/2014/main" id="{6E624026-43C3-435C-90AE-ADE8CF68A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6" y="1641138"/>
            <a:ext cx="95234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Initialized as a group of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random particles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(population),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each having its position and velocity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Find the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optimal solutions (i.e., positions)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by iterations.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Update particles by tracking two "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extreme values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" 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7">
                <a:extLst>
                  <a:ext uri="{FF2B5EF4-FFF2-40B4-BE49-F238E27FC236}">
                    <a16:creationId xmlns:a16="http://schemas.microsoft.com/office/drawing/2014/main" id="{90F931A6-7BF3-0E8B-00CC-7035B731C6B2}"/>
                  </a:ext>
                </a:extLst>
              </p:cNvPr>
              <p:cNvSpPr txBox="1"/>
              <p:nvPr/>
            </p:nvSpPr>
            <p:spPr bwMode="auto">
              <a:xfrm>
                <a:off x="1019175" y="4168775"/>
                <a:ext cx="869950" cy="422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𝑝𝐵𝑒𝑠𝑡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对象 7">
                <a:extLst>
                  <a:ext uri="{FF2B5EF4-FFF2-40B4-BE49-F238E27FC236}">
                    <a16:creationId xmlns:a16="http://schemas.microsoft.com/office/drawing/2014/main" id="{90F931A6-7BF3-0E8B-00CC-7035B731C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9175" y="4168775"/>
                <a:ext cx="869950" cy="422275"/>
              </a:xfrm>
              <a:prstGeom prst="rect">
                <a:avLst/>
              </a:prstGeom>
              <a:blipFill>
                <a:blip r:embed="rId3"/>
                <a:stretch>
                  <a:fillRect l="-5594" r="-16783" b="-275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B4ECF339-B597-D3D4-65D6-2B5E27C60845}"/>
                  </a:ext>
                </a:extLst>
              </p:cNvPr>
              <p:cNvSpPr txBox="1"/>
              <p:nvPr/>
            </p:nvSpPr>
            <p:spPr bwMode="auto">
              <a:xfrm>
                <a:off x="3128963" y="4168200"/>
                <a:ext cx="844550" cy="4206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𝑔𝐵𝑒𝑠𝑡</m:t>
                      </m:r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对象 8">
                <a:extLst>
                  <a:ext uri="{FF2B5EF4-FFF2-40B4-BE49-F238E27FC236}">
                    <a16:creationId xmlns:a16="http://schemas.microsoft.com/office/drawing/2014/main" id="{B4ECF339-B597-D3D4-65D6-2B5E27C60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8963" y="4168200"/>
                <a:ext cx="844550" cy="420688"/>
              </a:xfrm>
              <a:prstGeom prst="rect">
                <a:avLst/>
              </a:prstGeom>
              <a:blipFill>
                <a:blip r:embed="rId4"/>
                <a:stretch>
                  <a:fillRect l="-5755" r="-22302" b="-275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4">
            <a:extLst>
              <a:ext uri="{FF2B5EF4-FFF2-40B4-BE49-F238E27FC236}">
                <a16:creationId xmlns:a16="http://schemas.microsoft.com/office/drawing/2014/main" id="{224DE0A4-77B0-5130-6838-269192DF8B8D}"/>
              </a:ext>
            </a:extLst>
          </p:cNvPr>
          <p:cNvSpPr/>
          <p:nvPr/>
        </p:nvSpPr>
        <p:spPr>
          <a:xfrm>
            <a:off x="606412" y="5029435"/>
            <a:ext cx="8842387" cy="461665"/>
          </a:xfrm>
          <a:prstGeom prst="rect">
            <a:avLst/>
          </a:prstGeom>
          <a:solidFill>
            <a:srgbClr val="E7E6E6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pBest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is the best position (solution) of the current particle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6">
            <a:extLst>
              <a:ext uri="{FF2B5EF4-FFF2-40B4-BE49-F238E27FC236}">
                <a16:creationId xmlns:a16="http://schemas.microsoft.com/office/drawing/2014/main" id="{4C5F3091-7D51-A255-C4D1-BFCEBD9D8FD0}"/>
              </a:ext>
            </a:extLst>
          </p:cNvPr>
          <p:cNvSpPr/>
          <p:nvPr/>
        </p:nvSpPr>
        <p:spPr>
          <a:xfrm>
            <a:off x="606412" y="5901856"/>
            <a:ext cx="8969387" cy="461665"/>
          </a:xfrm>
          <a:prstGeom prst="rect">
            <a:avLst/>
          </a:prstGeom>
          <a:solidFill>
            <a:srgbClr val="E7E6E6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gBest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is the best position (solution) of the whole population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76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EC70-70F6-AA6A-07B0-8A6E6438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work </a:t>
            </a:r>
            <a:r>
              <a:rPr lang="en-GB" dirty="0"/>
              <a:t>flow of PSO algorithms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17">
            <a:extLst>
              <a:ext uri="{FF2B5EF4-FFF2-40B4-BE49-F238E27FC236}">
                <a16:creationId xmlns:a16="http://schemas.microsoft.com/office/drawing/2014/main" id="{C1F47011-741C-96DF-A53B-6EF3E6387D5E}"/>
              </a:ext>
            </a:extLst>
          </p:cNvPr>
          <p:cNvSpPr/>
          <p:nvPr/>
        </p:nvSpPr>
        <p:spPr>
          <a:xfrm>
            <a:off x="1961976" y="1540987"/>
            <a:ext cx="5099185" cy="461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Initialization 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18">
            <a:extLst>
              <a:ext uri="{FF2B5EF4-FFF2-40B4-BE49-F238E27FC236}">
                <a16:creationId xmlns:a16="http://schemas.microsoft.com/office/drawing/2014/main" id="{781424BA-4AC2-69AD-0CDE-325F6BB261DE}"/>
              </a:ext>
            </a:extLst>
          </p:cNvPr>
          <p:cNvSpPr/>
          <p:nvPr/>
        </p:nvSpPr>
        <p:spPr>
          <a:xfrm>
            <a:off x="1961976" y="2351017"/>
            <a:ext cx="5099185" cy="49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</a:t>
            </a:r>
            <a:r>
              <a:rPr lang="en-US" altLang="zh-CN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pBest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each particle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菱形 19">
            <a:extLst>
              <a:ext uri="{FF2B5EF4-FFF2-40B4-BE49-F238E27FC236}">
                <a16:creationId xmlns:a16="http://schemas.microsoft.com/office/drawing/2014/main" id="{8CF76DFA-8505-0274-F939-2EF1DB6BEBFC}"/>
              </a:ext>
            </a:extLst>
          </p:cNvPr>
          <p:cNvSpPr/>
          <p:nvPr/>
        </p:nvSpPr>
        <p:spPr>
          <a:xfrm>
            <a:off x="2895184" y="5541205"/>
            <a:ext cx="3238500" cy="122335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Termination conditions?</a:t>
            </a:r>
            <a:endParaRPr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20">
            <a:extLst>
              <a:ext uri="{FF2B5EF4-FFF2-40B4-BE49-F238E27FC236}">
                <a16:creationId xmlns:a16="http://schemas.microsoft.com/office/drawing/2014/main" id="{581CD7F6-5E38-B508-8523-FD66F9AB7902}"/>
              </a:ext>
            </a:extLst>
          </p:cNvPr>
          <p:cNvSpPr/>
          <p:nvPr/>
        </p:nvSpPr>
        <p:spPr>
          <a:xfrm>
            <a:off x="7655032" y="5844019"/>
            <a:ext cx="4248822" cy="617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the optimal solution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22">
            <a:extLst>
              <a:ext uri="{FF2B5EF4-FFF2-40B4-BE49-F238E27FC236}">
                <a16:creationId xmlns:a16="http://schemas.microsoft.com/office/drawing/2014/main" id="{B8ECE056-5F18-88D8-CE40-F815E361F1B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4511569" y="2002652"/>
            <a:ext cx="0" cy="3483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24">
            <a:extLst>
              <a:ext uri="{FF2B5EF4-FFF2-40B4-BE49-F238E27FC236}">
                <a16:creationId xmlns:a16="http://schemas.microsoft.com/office/drawing/2014/main" id="{E295F9AD-D272-8C10-1EB0-DDAC68FB551F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>
            <a:off x="4511568" y="5231422"/>
            <a:ext cx="2866" cy="3097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25">
            <a:extLst>
              <a:ext uri="{FF2B5EF4-FFF2-40B4-BE49-F238E27FC236}">
                <a16:creationId xmlns:a16="http://schemas.microsoft.com/office/drawing/2014/main" id="{31F0EE7A-2F36-EF09-134E-E66B49B46A5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133684" y="6152882"/>
            <a:ext cx="1521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26">
            <a:extLst>
              <a:ext uri="{FF2B5EF4-FFF2-40B4-BE49-F238E27FC236}">
                <a16:creationId xmlns:a16="http://schemas.microsoft.com/office/drawing/2014/main" id="{9FD0CAB1-D383-A9A9-E078-F0E4F3936F38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>
            <a:off x="1961976" y="2598360"/>
            <a:ext cx="933208" cy="3554523"/>
          </a:xfrm>
          <a:prstGeom prst="bentConnector3">
            <a:avLst>
              <a:gd name="adj1" fmla="val 124496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69EBC9-DBD4-1881-39FD-E6D77EDA2EC3}"/>
              </a:ext>
            </a:extLst>
          </p:cNvPr>
          <p:cNvSpPr txBox="1"/>
          <p:nvPr/>
        </p:nvSpPr>
        <p:spPr>
          <a:xfrm>
            <a:off x="2269456" y="573428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5695C-3DAF-E3B2-D589-917A7E807A66}"/>
              </a:ext>
            </a:extLst>
          </p:cNvPr>
          <p:cNvSpPr txBox="1"/>
          <p:nvPr/>
        </p:nvSpPr>
        <p:spPr>
          <a:xfrm>
            <a:off x="6624222" y="5739638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29">
            <a:extLst>
              <a:ext uri="{FF2B5EF4-FFF2-40B4-BE49-F238E27FC236}">
                <a16:creationId xmlns:a16="http://schemas.microsoft.com/office/drawing/2014/main" id="{F8E75228-0415-1F29-BBE4-97C521A04AC4}"/>
              </a:ext>
            </a:extLst>
          </p:cNvPr>
          <p:cNvSpPr/>
          <p:nvPr/>
        </p:nvSpPr>
        <p:spPr>
          <a:xfrm>
            <a:off x="1961975" y="4773199"/>
            <a:ext cx="5099186" cy="4582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each particle’s position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30">
            <a:extLst>
              <a:ext uri="{FF2B5EF4-FFF2-40B4-BE49-F238E27FC236}">
                <a16:creationId xmlns:a16="http://schemas.microsoft.com/office/drawing/2014/main" id="{79F5E19A-85BC-73D2-00FD-55B6DB025536}"/>
              </a:ext>
            </a:extLst>
          </p:cNvPr>
          <p:cNvSpPr/>
          <p:nvPr/>
        </p:nvSpPr>
        <p:spPr>
          <a:xfrm>
            <a:off x="1961975" y="3946111"/>
            <a:ext cx="5099186" cy="49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velocity of each particle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31">
            <a:extLst>
              <a:ext uri="{FF2B5EF4-FFF2-40B4-BE49-F238E27FC236}">
                <a16:creationId xmlns:a16="http://schemas.microsoft.com/office/drawing/2014/main" id="{713AADC2-80B7-DDC6-1392-070DCB5D492E}"/>
              </a:ext>
            </a:extLst>
          </p:cNvPr>
          <p:cNvSpPr/>
          <p:nvPr/>
        </p:nvSpPr>
        <p:spPr>
          <a:xfrm>
            <a:off x="1961977" y="3174951"/>
            <a:ext cx="5099186" cy="470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altLang="zh-CN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gBest</a:t>
            </a:r>
            <a:r>
              <a:rPr lang="en-US" altLang="zh-CN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population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直接箭头连接符 35">
            <a:extLst>
              <a:ext uri="{FF2B5EF4-FFF2-40B4-BE49-F238E27FC236}">
                <a16:creationId xmlns:a16="http://schemas.microsoft.com/office/drawing/2014/main" id="{9C8602C6-9853-2032-DAF6-CC5C10CFF139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4511569" y="2845700"/>
            <a:ext cx="1" cy="329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36">
            <a:extLst>
              <a:ext uri="{FF2B5EF4-FFF2-40B4-BE49-F238E27FC236}">
                <a16:creationId xmlns:a16="http://schemas.microsoft.com/office/drawing/2014/main" id="{342BCDC3-423F-0E82-11FF-5F18685DC8DC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4511568" y="3645829"/>
            <a:ext cx="2" cy="30028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37">
            <a:extLst>
              <a:ext uri="{FF2B5EF4-FFF2-40B4-BE49-F238E27FC236}">
                <a16:creationId xmlns:a16="http://schemas.microsoft.com/office/drawing/2014/main" id="{45A689B5-3DA4-E13E-81E0-030F8E690453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4511568" y="4440794"/>
            <a:ext cx="0" cy="3324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FD8863-9103-6572-03CB-58BB2BBF351F}"/>
              </a:ext>
            </a:extLst>
          </p:cNvPr>
          <p:cNvSpPr txBox="1"/>
          <p:nvPr/>
        </p:nvSpPr>
        <p:spPr>
          <a:xfrm>
            <a:off x="7655032" y="2367525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A9D5A9-3805-EE88-88B4-EED1DB1AB05B}"/>
              </a:ext>
            </a:extLst>
          </p:cNvPr>
          <p:cNvSpPr txBox="1"/>
          <p:nvPr/>
        </p:nvSpPr>
        <p:spPr>
          <a:xfrm>
            <a:off x="7673353" y="3977340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velocity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695784-09C6-9C06-91A2-74ED7B204B31}"/>
              </a:ext>
            </a:extLst>
          </p:cNvPr>
          <p:cNvSpPr txBox="1"/>
          <p:nvPr/>
        </p:nvSpPr>
        <p:spPr>
          <a:xfrm>
            <a:off x="7673353" y="3134618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C2E86-F8D7-AD3B-247D-4DB05348D087}"/>
              </a:ext>
            </a:extLst>
          </p:cNvPr>
          <p:cNvSpPr txBox="1"/>
          <p:nvPr/>
        </p:nvSpPr>
        <p:spPr>
          <a:xfrm>
            <a:off x="7673353" y="4723485"/>
            <a:ext cx="2382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B20BB9-DEB8-C63D-11F8-20401AACA16D}"/>
              </a:ext>
            </a:extLst>
          </p:cNvPr>
          <p:cNvSpPr txBox="1"/>
          <p:nvPr/>
        </p:nvSpPr>
        <p:spPr>
          <a:xfrm>
            <a:off x="7655032" y="1540672"/>
            <a:ext cx="3367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position, velocity </a:t>
            </a:r>
          </a:p>
        </p:txBody>
      </p:sp>
    </p:spTree>
    <p:extLst>
      <p:ext uri="{BB962C8B-B14F-4D97-AF65-F5344CB8AC3E}">
        <p14:creationId xmlns:p14="http://schemas.microsoft.com/office/powerpoint/2010/main" val="341563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6573C461-CACD-4DEB-87E8-888D2ED67D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FC5AF6-875A-4B01-8B6E-F7BD6BB717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F4C9D8-B949-41E7-9714-A441A7C92909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1868</TotalTime>
  <Words>268</Words>
  <Application>Microsoft Office PowerPoint</Application>
  <PresentationFormat>Widescreen</PresentationFormat>
  <Paragraphs>65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Times New Roman</vt:lpstr>
      <vt:lpstr>Office Theme</vt:lpstr>
      <vt:lpstr>Particle Swarm Optimization: A First Introduction</vt:lpstr>
      <vt:lpstr>What is swarm?</vt:lpstr>
      <vt:lpstr>The swarm intelligence </vt:lpstr>
      <vt:lpstr>Overview of PSO </vt:lpstr>
      <vt:lpstr>Particles (Solutions) </vt:lpstr>
      <vt:lpstr>Basic ideas of PSO </vt:lpstr>
      <vt:lpstr>The work flow of PSO algorithms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69</cp:revision>
  <dcterms:created xsi:type="dcterms:W3CDTF">2021-01-06T14:22:07Z</dcterms:created>
  <dcterms:modified xsi:type="dcterms:W3CDTF">2024-08-19T14:36:07Z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