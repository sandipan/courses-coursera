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494" r:id="rId6"/>
    <p:sldId id="496" r:id="rId7"/>
    <p:sldId id="497" r:id="rId8"/>
    <p:sldId id="498" r:id="rId9"/>
    <p:sldId id="499" r:id="rId10"/>
    <p:sldId id="500" r:id="rId11"/>
    <p:sldId id="503" r:id="rId12"/>
    <p:sldId id="504" r:id="rId13"/>
    <p:sldId id="505" r:id="rId14"/>
    <p:sldId id="506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7F0EF0-A067-495F-ABCA-8683BF3F5C02}" v="2" dt="2024-07-01T10:57:26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56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ngyue Yu (PGR)" userId="S::2522553y@student.gla.ac.uk::6b5e3eec-90ec-4566-b7ba-930254322436" providerId="AD" clId="Web-{BE7F0EF0-A067-495F-ABCA-8683BF3F5C02}"/>
    <pc:docChg chg="modSld">
      <pc:chgData name="Liangyue Yu (PGR)" userId="S::2522553y@student.gla.ac.uk::6b5e3eec-90ec-4566-b7ba-930254322436" providerId="AD" clId="Web-{BE7F0EF0-A067-495F-ABCA-8683BF3F5C02}" dt="2024-07-01T10:57:26.532" v="1" actId="14100"/>
      <pc:docMkLst>
        <pc:docMk/>
      </pc:docMkLst>
      <pc:sldChg chg="modSp">
        <pc:chgData name="Liangyue Yu (PGR)" userId="S::2522553y@student.gla.ac.uk::6b5e3eec-90ec-4566-b7ba-930254322436" providerId="AD" clId="Web-{BE7F0EF0-A067-495F-ABCA-8683BF3F5C02}" dt="2024-07-01T10:57:26.532" v="1" actId="14100"/>
        <pc:sldMkLst>
          <pc:docMk/>
          <pc:sldMk cId="676015318" sldId="494"/>
        </pc:sldMkLst>
        <pc:spChg chg="mod">
          <ac:chgData name="Liangyue Yu (PGR)" userId="S::2522553y@student.gla.ac.uk::6b5e3eec-90ec-4566-b7ba-930254322436" providerId="AD" clId="Web-{BE7F0EF0-A067-495F-ABCA-8683BF3F5C02}" dt="2024-07-01T10:57:26.532" v="1" actId="14100"/>
          <ac:spMkLst>
            <pc:docMk/>
            <pc:sldMk cId="676015318" sldId="494"/>
            <ac:spMk id="3" creationId="{B4DB6862-21EB-70B2-ED78-46B33F8A9B8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05/07/2024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chemeClr val="tx1"/>
                </a:solidFill>
              </a:rPr>
              <a:t>Use Particle Swarm Optimization via MATLAB: Engineering Case Studies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Design of a PID controller </a:t>
            </a:r>
          </a:p>
        </p:txBody>
      </p:sp>
      <p:sp>
        <p:nvSpPr>
          <p:cNvPr id="2" name="矩形 3">
            <a:extLst>
              <a:ext uri="{FF2B5EF4-FFF2-40B4-BE49-F238E27FC236}">
                <a16:creationId xmlns:a16="http://schemas.microsoft.com/office/drawing/2014/main" id="{758698AF-4791-0A8A-C56E-CB629A426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1" y="1422400"/>
            <a:ext cx="86979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Problem description</a:t>
            </a:r>
          </a:p>
          <a:p>
            <a:endParaRPr lang="en-US" altLang="zh-CN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B4DB6862-21EB-70B2-ED78-46B33F8A9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94" y="1372879"/>
            <a:ext cx="9676861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endParaRPr lang="en-US" altLang="zh-CN" sz="2400" dirty="0">
              <a:solidFill>
                <a:srgbClr val="000066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endParaRPr lang="en-US" altLang="zh-CN" sz="2400" dirty="0">
              <a:solidFill>
                <a:srgbClr val="000066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r>
              <a:rPr lang="en-GB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Proportional – Integral – Derivative (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PID) control is widely used:</a:t>
            </a:r>
          </a:p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Controlling the temperature of a component</a:t>
            </a:r>
          </a:p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Controlling the elevation of </a:t>
            </a:r>
            <a:r>
              <a:rPr lang="en-US" altLang="zh-CN" sz="240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a lift</a:t>
            </a:r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Controlling the flight altitude and speed of unmanned aerial vehicle 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" name="椭圆 2">
            <a:extLst>
              <a:ext uri="{FF2B5EF4-FFF2-40B4-BE49-F238E27FC236}">
                <a16:creationId xmlns:a16="http://schemas.microsoft.com/office/drawing/2014/main" id="{8A096973-7660-EC19-510F-A2BDA3AE6F76}"/>
              </a:ext>
            </a:extLst>
          </p:cNvPr>
          <p:cNvSpPr/>
          <p:nvPr/>
        </p:nvSpPr>
        <p:spPr>
          <a:xfrm>
            <a:off x="3030091" y="4872889"/>
            <a:ext cx="512466" cy="51246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连接符 10">
            <a:extLst>
              <a:ext uri="{FF2B5EF4-FFF2-40B4-BE49-F238E27FC236}">
                <a16:creationId xmlns:a16="http://schemas.microsoft.com/office/drawing/2014/main" id="{5DDB89FC-D211-03D5-9A6B-10C832D92290}"/>
              </a:ext>
            </a:extLst>
          </p:cNvPr>
          <p:cNvCxnSpPr>
            <a:stCxn id="4" idx="1"/>
            <a:endCxn id="4" idx="5"/>
          </p:cNvCxnSpPr>
          <p:nvPr/>
        </p:nvCxnSpPr>
        <p:spPr>
          <a:xfrm>
            <a:off x="3105140" y="4947938"/>
            <a:ext cx="362368" cy="36236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15">
            <a:extLst>
              <a:ext uri="{FF2B5EF4-FFF2-40B4-BE49-F238E27FC236}">
                <a16:creationId xmlns:a16="http://schemas.microsoft.com/office/drawing/2014/main" id="{07E97AAE-0B9E-581E-933F-AF8DFEF25472}"/>
              </a:ext>
            </a:extLst>
          </p:cNvPr>
          <p:cNvCxnSpPr>
            <a:stCxn id="4" idx="7"/>
            <a:endCxn id="4" idx="3"/>
          </p:cNvCxnSpPr>
          <p:nvPr/>
        </p:nvCxnSpPr>
        <p:spPr>
          <a:xfrm flipH="1">
            <a:off x="3105140" y="4947938"/>
            <a:ext cx="362368" cy="36236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17">
            <a:extLst>
              <a:ext uri="{FF2B5EF4-FFF2-40B4-BE49-F238E27FC236}">
                <a16:creationId xmlns:a16="http://schemas.microsoft.com/office/drawing/2014/main" id="{47AF4EB8-29D9-CBBC-4FFB-3F7E79AA6D46}"/>
              </a:ext>
            </a:extLst>
          </p:cNvPr>
          <p:cNvSpPr/>
          <p:nvPr/>
        </p:nvSpPr>
        <p:spPr>
          <a:xfrm>
            <a:off x="4346425" y="4913081"/>
            <a:ext cx="1205802" cy="4374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 19">
            <a:extLst>
              <a:ext uri="{FF2B5EF4-FFF2-40B4-BE49-F238E27FC236}">
                <a16:creationId xmlns:a16="http://schemas.microsoft.com/office/drawing/2014/main" id="{137B2F86-4643-75D4-939C-F27FDEAEC323}"/>
              </a:ext>
            </a:extLst>
          </p:cNvPr>
          <p:cNvSpPr/>
          <p:nvPr/>
        </p:nvSpPr>
        <p:spPr>
          <a:xfrm>
            <a:off x="6356095" y="4930195"/>
            <a:ext cx="2620944" cy="4374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Controlled object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" name="直接箭头连接符 20">
            <a:extLst>
              <a:ext uri="{FF2B5EF4-FFF2-40B4-BE49-F238E27FC236}">
                <a16:creationId xmlns:a16="http://schemas.microsoft.com/office/drawing/2014/main" id="{5AA2E141-92E3-1B37-E672-0A8E83C871EA}"/>
              </a:ext>
            </a:extLst>
          </p:cNvPr>
          <p:cNvCxnSpPr/>
          <p:nvPr/>
        </p:nvCxnSpPr>
        <p:spPr>
          <a:xfrm>
            <a:off x="2226223" y="5101333"/>
            <a:ext cx="803868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22">
            <a:extLst>
              <a:ext uri="{FF2B5EF4-FFF2-40B4-BE49-F238E27FC236}">
                <a16:creationId xmlns:a16="http://schemas.microsoft.com/office/drawing/2014/main" id="{2D6618DE-3ACC-FE1E-C442-38E2745A5B52}"/>
              </a:ext>
            </a:extLst>
          </p:cNvPr>
          <p:cNvCxnSpPr/>
          <p:nvPr/>
        </p:nvCxnSpPr>
        <p:spPr>
          <a:xfrm>
            <a:off x="3542557" y="5131789"/>
            <a:ext cx="803868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23">
            <a:extLst>
              <a:ext uri="{FF2B5EF4-FFF2-40B4-BE49-F238E27FC236}">
                <a16:creationId xmlns:a16="http://schemas.microsoft.com/office/drawing/2014/main" id="{0CD2D201-C42E-2332-7999-1556B0D54D1F}"/>
              </a:ext>
            </a:extLst>
          </p:cNvPr>
          <p:cNvCxnSpPr/>
          <p:nvPr/>
        </p:nvCxnSpPr>
        <p:spPr>
          <a:xfrm>
            <a:off x="5552227" y="5131789"/>
            <a:ext cx="803868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24">
            <a:extLst>
              <a:ext uri="{FF2B5EF4-FFF2-40B4-BE49-F238E27FC236}">
                <a16:creationId xmlns:a16="http://schemas.microsoft.com/office/drawing/2014/main" id="{B6C15596-6518-FD72-D177-BE75427CF8B5}"/>
              </a:ext>
            </a:extLst>
          </p:cNvPr>
          <p:cNvCxnSpPr/>
          <p:nvPr/>
        </p:nvCxnSpPr>
        <p:spPr>
          <a:xfrm>
            <a:off x="8977039" y="5131789"/>
            <a:ext cx="803868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25">
            <a:extLst>
              <a:ext uri="{FF2B5EF4-FFF2-40B4-BE49-F238E27FC236}">
                <a16:creationId xmlns:a16="http://schemas.microsoft.com/office/drawing/2014/main" id="{9C4550F1-84C1-D5CD-60B1-7AE59D96B2A5}"/>
              </a:ext>
            </a:extLst>
          </p:cNvPr>
          <p:cNvCxnSpPr>
            <a:endCxn id="4" idx="4"/>
          </p:cNvCxnSpPr>
          <p:nvPr/>
        </p:nvCxnSpPr>
        <p:spPr>
          <a:xfrm rot="10800000" flipV="1">
            <a:off x="3286325" y="5148903"/>
            <a:ext cx="5989131" cy="236452"/>
          </a:xfrm>
          <a:prstGeom prst="bentConnector4">
            <a:avLst>
              <a:gd name="adj1" fmla="val -123"/>
              <a:gd name="adj2" fmla="val 285921"/>
            </a:avLst>
          </a:prstGeom>
          <a:ln w="19050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A7747A-C917-CD66-6FF4-A943316A27C9}"/>
              </a:ext>
            </a:extLst>
          </p:cNvPr>
          <p:cNvSpPr txBox="1"/>
          <p:nvPr/>
        </p:nvSpPr>
        <p:spPr>
          <a:xfrm>
            <a:off x="2365337" y="4578606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FD33AAE-9C97-5013-B5D5-0BC694F28169}"/>
              </a:ext>
            </a:extLst>
          </p:cNvPr>
          <p:cNvSpPr txBox="1"/>
          <p:nvPr/>
        </p:nvSpPr>
        <p:spPr>
          <a:xfrm>
            <a:off x="3616829" y="4548985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F700C4-1AF7-0BF1-99E5-33B9C4D86402}"/>
              </a:ext>
            </a:extLst>
          </p:cNvPr>
          <p:cNvSpPr txBox="1"/>
          <p:nvPr/>
        </p:nvSpPr>
        <p:spPr>
          <a:xfrm>
            <a:off x="5656643" y="4548985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CA7938-0720-21FE-825A-7D6C6A9203D0}"/>
              </a:ext>
            </a:extLst>
          </p:cNvPr>
          <p:cNvSpPr txBox="1"/>
          <p:nvPr/>
        </p:nvSpPr>
        <p:spPr>
          <a:xfrm>
            <a:off x="9064624" y="4663064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8">
            <a:extLst>
              <a:ext uri="{FF2B5EF4-FFF2-40B4-BE49-F238E27FC236}">
                <a16:creationId xmlns:a16="http://schemas.microsoft.com/office/drawing/2014/main" id="{43851230-8C89-8D61-E873-E468FF0C5437}"/>
              </a:ext>
            </a:extLst>
          </p:cNvPr>
          <p:cNvSpPr/>
          <p:nvPr/>
        </p:nvSpPr>
        <p:spPr>
          <a:xfrm>
            <a:off x="8715609" y="4087444"/>
            <a:ext cx="165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System output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1">
            <a:extLst>
              <a:ext uri="{FF2B5EF4-FFF2-40B4-BE49-F238E27FC236}">
                <a16:creationId xmlns:a16="http://schemas.microsoft.com/office/drawing/2014/main" id="{B12F522F-4A04-9B9D-F66A-DAE18FB98B77}"/>
              </a:ext>
            </a:extLst>
          </p:cNvPr>
          <p:cNvSpPr/>
          <p:nvPr/>
        </p:nvSpPr>
        <p:spPr>
          <a:xfrm>
            <a:off x="5022629" y="4235272"/>
            <a:ext cx="214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Output of controller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12">
            <a:extLst>
              <a:ext uri="{FF2B5EF4-FFF2-40B4-BE49-F238E27FC236}">
                <a16:creationId xmlns:a16="http://schemas.microsoft.com/office/drawing/2014/main" id="{5882C3DF-662C-55E0-55E7-C5E80E59762C}"/>
              </a:ext>
            </a:extLst>
          </p:cNvPr>
          <p:cNvSpPr/>
          <p:nvPr/>
        </p:nvSpPr>
        <p:spPr>
          <a:xfrm>
            <a:off x="3159626" y="4235272"/>
            <a:ext cx="1967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Input of controller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 13">
            <a:extLst>
              <a:ext uri="{FF2B5EF4-FFF2-40B4-BE49-F238E27FC236}">
                <a16:creationId xmlns:a16="http://schemas.microsoft.com/office/drawing/2014/main" id="{06BD6315-8862-67FC-0187-61A4E6669C18}"/>
              </a:ext>
            </a:extLst>
          </p:cNvPr>
          <p:cNvSpPr/>
          <p:nvPr/>
        </p:nvSpPr>
        <p:spPr>
          <a:xfrm>
            <a:off x="1499715" y="5872957"/>
            <a:ext cx="25442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Given error by the user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7399AD-12C2-DCBD-E669-2039CA760CF0}"/>
              </a:ext>
            </a:extLst>
          </p:cNvPr>
          <p:cNvSpPr txBox="1"/>
          <p:nvPr/>
        </p:nvSpPr>
        <p:spPr>
          <a:xfrm>
            <a:off x="5476687" y="6197537"/>
            <a:ext cx="1758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=r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-y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" name="直接箭头连接符 14">
            <a:extLst>
              <a:ext uri="{FF2B5EF4-FFF2-40B4-BE49-F238E27FC236}">
                <a16:creationId xmlns:a16="http://schemas.microsoft.com/office/drawing/2014/main" id="{688AC06C-F02A-B98C-DFA9-1877865E328A}"/>
              </a:ext>
            </a:extLst>
          </p:cNvPr>
          <p:cNvCxnSpPr/>
          <p:nvPr/>
        </p:nvCxnSpPr>
        <p:spPr>
          <a:xfrm flipH="1">
            <a:off x="2226223" y="5010650"/>
            <a:ext cx="272824" cy="954506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89C9A-BC53-549F-DD4E-772FD6BA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Hydraulic lift</a:t>
            </a:r>
            <a:br>
              <a:rPr lang="en-GB" dirty="0"/>
            </a:b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F52698-DD83-0448-FFFA-F533243DFB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03" b="89773" l="7102" r="94744">
                        <a14:foregroundMark x1="92188" y1="40260" x2="92188" y2="40260"/>
                        <a14:foregroundMark x1="8239" y1="73377" x2="8239" y2="73377"/>
                        <a14:foregroundMark x1="72443" y1="73377" x2="69460" y2="73052"/>
                        <a14:foregroundMark x1="68040" y1="72240" x2="75000" y2="74188"/>
                        <a14:foregroundMark x1="79403" y1="74675" x2="86506" y2="75812"/>
                        <a14:foregroundMark x1="81676" y1="74838" x2="91051" y2="76786"/>
                        <a14:foregroundMark x1="90483" y1="58604" x2="91477" y2="76299"/>
                        <a14:foregroundMark x1="90483" y1="52760" x2="90767" y2="60877"/>
                        <a14:foregroundMark x1="64489" y1="49513" x2="60085" y2="58279"/>
                        <a14:foregroundMark x1="62216" y1="57468" x2="61790" y2="64610"/>
                        <a14:foregroundMark x1="61648" y1="64610" x2="61222" y2="70130"/>
                        <a14:foregroundMark x1="85369" y1="78409" x2="72301" y2="86851"/>
                        <a14:foregroundMark x1="72443" y1="83929" x2="63636" y2="85552"/>
                        <a14:foregroundMark x1="67756" y1="78896" x2="68892" y2="84578"/>
                        <a14:foregroundMark x1="71023" y1="77760" x2="75852" y2="83929"/>
                        <a14:foregroundMark x1="27699" y1="83929" x2="36790" y2="86688"/>
                        <a14:foregroundMark x1="40057" y1="85714" x2="55824" y2="89773"/>
                        <a14:foregroundMark x1="53551" y1="89123" x2="65199" y2="89286"/>
                        <a14:foregroundMark x1="11364" y1="78409" x2="23580" y2="82630"/>
                        <a14:foregroundMark x1="7244" y1="66721" x2="7955" y2="79383"/>
                        <a14:foregroundMark x1="9375" y1="66558" x2="10085" y2="78409"/>
                        <a14:foregroundMark x1="8807" y1="64286" x2="50284" y2="59740"/>
                        <a14:foregroundMark x1="13494" y1="56656" x2="44602" y2="56981"/>
                        <a14:foregroundMark x1="24290" y1="69481" x2="22585" y2="89286"/>
                        <a14:foregroundMark x1="35795" y1="63799" x2="54972" y2="66071"/>
                        <a14:foregroundMark x1="82813" y1="20292" x2="64347" y2="33766"/>
                        <a14:foregroundMark x1="67472" y1="34253" x2="57244" y2="51786"/>
                        <a14:foregroundMark x1="61790" y1="35227" x2="58381" y2="43019"/>
                        <a14:foregroundMark x1="87642" y1="30682" x2="94744" y2="50162"/>
                        <a14:foregroundMark x1="94744" y1="50162" x2="94744" y2="50162"/>
                        <a14:foregroundMark x1="92898" y1="32630" x2="93750" y2="54058"/>
                        <a14:foregroundMark x1="85369" y1="44805" x2="86790" y2="78734"/>
                        <a14:foregroundMark x1="92756" y1="68669" x2="93750" y2="87500"/>
                        <a14:foregroundMark x1="84659" y1="21266" x2="87358" y2="33279"/>
                        <a14:foregroundMark x1="74574" y1="20130" x2="64347" y2="32305"/>
                        <a14:foregroundMark x1="82813" y1="19805" x2="72585" y2="19318"/>
                        <a14:foregroundMark x1="94034" y1="26786" x2="94460" y2="423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42732" y="806871"/>
            <a:ext cx="6706536" cy="5868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97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E162-B95E-B7AA-83A8-36D3CC130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of a PID controller 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CA3208B7-1FB1-297F-4578-C2A5BE06B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1" y="1422400"/>
            <a:ext cx="869791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Design requirement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: </a:t>
            </a:r>
          </a:p>
          <a:p>
            <a:endParaRPr lang="en-US" altLang="zh-CN" sz="240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  <a:p>
            <a:pPr marL="342900" indent="-342900">
              <a:buFont typeface="Wingdings" pitchFamily="2" charset="2"/>
              <a:buChar char="Ø"/>
            </a:pP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Minimize total error of control system</a:t>
            </a:r>
          </a:p>
          <a:p>
            <a:endParaRPr lang="zh-CN" altLang="en-US" sz="2400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" name="椭圆 9">
            <a:extLst>
              <a:ext uri="{FF2B5EF4-FFF2-40B4-BE49-F238E27FC236}">
                <a16:creationId xmlns:a16="http://schemas.microsoft.com/office/drawing/2014/main" id="{E75B97CC-E96C-726B-139B-E4C51A809323}"/>
              </a:ext>
            </a:extLst>
          </p:cNvPr>
          <p:cNvSpPr/>
          <p:nvPr/>
        </p:nvSpPr>
        <p:spPr>
          <a:xfrm>
            <a:off x="2632922" y="4182271"/>
            <a:ext cx="512466" cy="512466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直接连接符 13">
            <a:extLst>
              <a:ext uri="{FF2B5EF4-FFF2-40B4-BE49-F238E27FC236}">
                <a16:creationId xmlns:a16="http://schemas.microsoft.com/office/drawing/2014/main" id="{E1BF0036-2644-FBCF-E12B-FDB64062277F}"/>
              </a:ext>
            </a:extLst>
          </p:cNvPr>
          <p:cNvCxnSpPr>
            <a:stCxn id="4" idx="1"/>
            <a:endCxn id="4" idx="5"/>
          </p:cNvCxnSpPr>
          <p:nvPr/>
        </p:nvCxnSpPr>
        <p:spPr>
          <a:xfrm>
            <a:off x="2707971" y="4257320"/>
            <a:ext cx="362368" cy="36236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14">
            <a:extLst>
              <a:ext uri="{FF2B5EF4-FFF2-40B4-BE49-F238E27FC236}">
                <a16:creationId xmlns:a16="http://schemas.microsoft.com/office/drawing/2014/main" id="{567EE6BE-F28B-CCC4-A636-55C678E3C1A8}"/>
              </a:ext>
            </a:extLst>
          </p:cNvPr>
          <p:cNvCxnSpPr>
            <a:stCxn id="4" idx="7"/>
            <a:endCxn id="4" idx="3"/>
          </p:cNvCxnSpPr>
          <p:nvPr/>
        </p:nvCxnSpPr>
        <p:spPr>
          <a:xfrm flipH="1">
            <a:off x="2707971" y="4257320"/>
            <a:ext cx="362368" cy="36236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15">
            <a:extLst>
              <a:ext uri="{FF2B5EF4-FFF2-40B4-BE49-F238E27FC236}">
                <a16:creationId xmlns:a16="http://schemas.microsoft.com/office/drawing/2014/main" id="{A7AB2DAC-AAD5-E0CA-5F1F-99A663F67201}"/>
              </a:ext>
            </a:extLst>
          </p:cNvPr>
          <p:cNvSpPr/>
          <p:nvPr/>
        </p:nvSpPr>
        <p:spPr>
          <a:xfrm>
            <a:off x="3949256" y="4222463"/>
            <a:ext cx="1205802" cy="4374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PID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矩形 16">
            <a:extLst>
              <a:ext uri="{FF2B5EF4-FFF2-40B4-BE49-F238E27FC236}">
                <a16:creationId xmlns:a16="http://schemas.microsoft.com/office/drawing/2014/main" id="{880DC476-684E-25E7-A9B4-795998ED628A}"/>
              </a:ext>
            </a:extLst>
          </p:cNvPr>
          <p:cNvSpPr/>
          <p:nvPr/>
        </p:nvSpPr>
        <p:spPr>
          <a:xfrm>
            <a:off x="5958926" y="4239577"/>
            <a:ext cx="2620944" cy="4374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Controlled object</a:t>
            </a:r>
            <a:endParaRPr lang="zh-CN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直接箭头连接符 17">
            <a:extLst>
              <a:ext uri="{FF2B5EF4-FFF2-40B4-BE49-F238E27FC236}">
                <a16:creationId xmlns:a16="http://schemas.microsoft.com/office/drawing/2014/main" id="{8A4CEEFF-482B-44BC-5F35-9272D9B46CA0}"/>
              </a:ext>
            </a:extLst>
          </p:cNvPr>
          <p:cNvCxnSpPr/>
          <p:nvPr/>
        </p:nvCxnSpPr>
        <p:spPr>
          <a:xfrm>
            <a:off x="1829054" y="4410715"/>
            <a:ext cx="803868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18">
            <a:extLst>
              <a:ext uri="{FF2B5EF4-FFF2-40B4-BE49-F238E27FC236}">
                <a16:creationId xmlns:a16="http://schemas.microsoft.com/office/drawing/2014/main" id="{4BC3715A-6202-08F1-D647-120C8F0F1FD0}"/>
              </a:ext>
            </a:extLst>
          </p:cNvPr>
          <p:cNvCxnSpPr/>
          <p:nvPr/>
        </p:nvCxnSpPr>
        <p:spPr>
          <a:xfrm>
            <a:off x="3145388" y="4441171"/>
            <a:ext cx="803868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9">
            <a:extLst>
              <a:ext uri="{FF2B5EF4-FFF2-40B4-BE49-F238E27FC236}">
                <a16:creationId xmlns:a16="http://schemas.microsoft.com/office/drawing/2014/main" id="{2464205C-7BDC-4A82-06FF-95B16686502F}"/>
              </a:ext>
            </a:extLst>
          </p:cNvPr>
          <p:cNvCxnSpPr/>
          <p:nvPr/>
        </p:nvCxnSpPr>
        <p:spPr>
          <a:xfrm>
            <a:off x="5155058" y="4441171"/>
            <a:ext cx="803868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20">
            <a:extLst>
              <a:ext uri="{FF2B5EF4-FFF2-40B4-BE49-F238E27FC236}">
                <a16:creationId xmlns:a16="http://schemas.microsoft.com/office/drawing/2014/main" id="{5FC04E46-4F76-6F2A-A50E-325E0E8A38D8}"/>
              </a:ext>
            </a:extLst>
          </p:cNvPr>
          <p:cNvCxnSpPr/>
          <p:nvPr/>
        </p:nvCxnSpPr>
        <p:spPr>
          <a:xfrm>
            <a:off x="8579870" y="4441171"/>
            <a:ext cx="803868" cy="0"/>
          </a:xfrm>
          <a:prstGeom prst="straightConnector1">
            <a:avLst/>
          </a:prstGeom>
          <a:ln w="19050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肘形连接符 21">
            <a:extLst>
              <a:ext uri="{FF2B5EF4-FFF2-40B4-BE49-F238E27FC236}">
                <a16:creationId xmlns:a16="http://schemas.microsoft.com/office/drawing/2014/main" id="{A81B0683-932E-87B3-6841-6164B0A90F7B}"/>
              </a:ext>
            </a:extLst>
          </p:cNvPr>
          <p:cNvCxnSpPr/>
          <p:nvPr/>
        </p:nvCxnSpPr>
        <p:spPr>
          <a:xfrm rot="10800000" flipV="1">
            <a:off x="2889154" y="4458285"/>
            <a:ext cx="5989131" cy="236452"/>
          </a:xfrm>
          <a:prstGeom prst="bentConnector4">
            <a:avLst>
              <a:gd name="adj1" fmla="val -123"/>
              <a:gd name="adj2" fmla="val 285921"/>
            </a:avLst>
          </a:prstGeom>
          <a:ln w="19050">
            <a:solidFill>
              <a:schemeClr val="tx2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6FA63B8-0AC3-8481-03AB-A5BFEEBC087A}"/>
              </a:ext>
            </a:extLst>
          </p:cNvPr>
          <p:cNvSpPr txBox="1"/>
          <p:nvPr/>
        </p:nvSpPr>
        <p:spPr>
          <a:xfrm>
            <a:off x="1968168" y="3887988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89F3AD-BAEA-1C7B-0BEE-7E8713A695B2}"/>
              </a:ext>
            </a:extLst>
          </p:cNvPr>
          <p:cNvSpPr txBox="1"/>
          <p:nvPr/>
        </p:nvSpPr>
        <p:spPr>
          <a:xfrm>
            <a:off x="3219660" y="3858367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6E4761-CC05-EC32-11E9-DBD012E7530D}"/>
              </a:ext>
            </a:extLst>
          </p:cNvPr>
          <p:cNvSpPr txBox="1"/>
          <p:nvPr/>
        </p:nvSpPr>
        <p:spPr>
          <a:xfrm>
            <a:off x="5259474" y="3858367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u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FD85FD-B493-E2AE-3C32-8AD3BC8F34C7}"/>
              </a:ext>
            </a:extLst>
          </p:cNvPr>
          <p:cNvSpPr txBox="1"/>
          <p:nvPr/>
        </p:nvSpPr>
        <p:spPr>
          <a:xfrm>
            <a:off x="8667455" y="3816798"/>
            <a:ext cx="6286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对象 4">
                <a:extLst>
                  <a:ext uri="{FF2B5EF4-FFF2-40B4-BE49-F238E27FC236}">
                    <a16:creationId xmlns:a16="http://schemas.microsoft.com/office/drawing/2014/main" id="{9A4A916D-3327-B042-084B-00E0F5C57C53}"/>
                  </a:ext>
                </a:extLst>
              </p:cNvPr>
              <p:cNvSpPr txBox="1"/>
              <p:nvPr/>
            </p:nvSpPr>
            <p:spPr bwMode="auto">
              <a:xfrm>
                <a:off x="3175794" y="2534911"/>
                <a:ext cx="5840412" cy="704850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nary>
                        <m:nary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GB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𝑑𝑒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对象 4">
                <a:extLst>
                  <a:ext uri="{FF2B5EF4-FFF2-40B4-BE49-F238E27FC236}">
                    <a16:creationId xmlns:a16="http://schemas.microsoft.com/office/drawing/2014/main" id="{9A4A916D-3327-B042-084B-00E0F5C57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5794" y="2534911"/>
                <a:ext cx="5840412" cy="704850"/>
              </a:xfrm>
              <a:prstGeom prst="rect">
                <a:avLst/>
              </a:prstGeom>
              <a:blipFill>
                <a:blip r:embed="rId2"/>
                <a:stretch>
                  <a:fillRect b="-234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对象 7">
                <a:extLst>
                  <a:ext uri="{FF2B5EF4-FFF2-40B4-BE49-F238E27FC236}">
                    <a16:creationId xmlns:a16="http://schemas.microsoft.com/office/drawing/2014/main" id="{0EEB5CDF-7688-F718-DCFB-8F23D6A4534B}"/>
                  </a:ext>
                </a:extLst>
              </p:cNvPr>
              <p:cNvSpPr txBox="1"/>
              <p:nvPr/>
            </p:nvSpPr>
            <p:spPr bwMode="auto">
              <a:xfrm>
                <a:off x="1264634" y="5910112"/>
                <a:ext cx="2405062" cy="606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GB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GB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GB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en-GB" sz="24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dt</m:t>
                          </m:r>
                        </m:e>
                      </m:nary>
                    </m:oMath>
                  </m:oMathPara>
                </a14:m>
                <a:endParaRPr lang="en-GB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对象 7">
                <a:extLst>
                  <a:ext uri="{FF2B5EF4-FFF2-40B4-BE49-F238E27FC236}">
                    <a16:creationId xmlns:a16="http://schemas.microsoft.com/office/drawing/2014/main" id="{0EEB5CDF-7688-F718-DCFB-8F23D6A45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64634" y="5910112"/>
                <a:ext cx="2405062" cy="606425"/>
              </a:xfrm>
              <a:prstGeom prst="rect">
                <a:avLst/>
              </a:prstGeom>
              <a:blipFill>
                <a:blip r:embed="rId3"/>
                <a:stretch>
                  <a:fillRect b="-3838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箭头连接符 26">
            <a:extLst>
              <a:ext uri="{FF2B5EF4-FFF2-40B4-BE49-F238E27FC236}">
                <a16:creationId xmlns:a16="http://schemas.microsoft.com/office/drawing/2014/main" id="{03EF7C4A-5AAA-56D3-53EE-CA066ED26DDC}"/>
              </a:ext>
            </a:extLst>
          </p:cNvPr>
          <p:cNvCxnSpPr/>
          <p:nvPr/>
        </p:nvCxnSpPr>
        <p:spPr>
          <a:xfrm>
            <a:off x="4552157" y="3256066"/>
            <a:ext cx="0" cy="95742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03349CB-5540-6F7C-F8B2-33585819CDCC}"/>
              </a:ext>
            </a:extLst>
          </p:cNvPr>
          <p:cNvSpPr txBox="1"/>
          <p:nvPr/>
        </p:nvSpPr>
        <p:spPr>
          <a:xfrm>
            <a:off x="1400286" y="5373397"/>
            <a:ext cx="1758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=r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-y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右箭头 8">
            <a:extLst>
              <a:ext uri="{FF2B5EF4-FFF2-40B4-BE49-F238E27FC236}">
                <a16:creationId xmlns:a16="http://schemas.microsoft.com/office/drawing/2014/main" id="{C1AE3B37-15F7-504F-04F5-018E116C9F3A}"/>
              </a:ext>
            </a:extLst>
          </p:cNvPr>
          <p:cNvSpPr/>
          <p:nvPr/>
        </p:nvSpPr>
        <p:spPr>
          <a:xfrm>
            <a:off x="8104191" y="5820707"/>
            <a:ext cx="846307" cy="2624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直接箭头连接符 28">
            <a:extLst>
              <a:ext uri="{FF2B5EF4-FFF2-40B4-BE49-F238E27FC236}">
                <a16:creationId xmlns:a16="http://schemas.microsoft.com/office/drawing/2014/main" id="{A581228D-F017-5C50-BD10-6664D441A788}"/>
              </a:ext>
            </a:extLst>
          </p:cNvPr>
          <p:cNvCxnSpPr>
            <a:cxnSpLocks/>
          </p:cNvCxnSpPr>
          <p:nvPr/>
        </p:nvCxnSpPr>
        <p:spPr>
          <a:xfrm flipV="1">
            <a:off x="3413741" y="5213834"/>
            <a:ext cx="736151" cy="417718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9">
            <a:extLst>
              <a:ext uri="{FF2B5EF4-FFF2-40B4-BE49-F238E27FC236}">
                <a16:creationId xmlns:a16="http://schemas.microsoft.com/office/drawing/2014/main" id="{34876181-F049-6320-19CB-F0FBD6E1F186}"/>
              </a:ext>
            </a:extLst>
          </p:cNvPr>
          <p:cNvSpPr/>
          <p:nvPr/>
        </p:nvSpPr>
        <p:spPr>
          <a:xfrm>
            <a:off x="4310037" y="5190139"/>
            <a:ext cx="27863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Determined by PID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直接箭头连接符 30">
            <a:extLst>
              <a:ext uri="{FF2B5EF4-FFF2-40B4-BE49-F238E27FC236}">
                <a16:creationId xmlns:a16="http://schemas.microsoft.com/office/drawing/2014/main" id="{D22B13B5-6481-E31E-C190-07F1FB2BF2B0}"/>
              </a:ext>
            </a:extLst>
          </p:cNvPr>
          <p:cNvCxnSpPr/>
          <p:nvPr/>
        </p:nvCxnSpPr>
        <p:spPr>
          <a:xfrm>
            <a:off x="3715314" y="6320732"/>
            <a:ext cx="504628" cy="264545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32">
            <a:extLst>
              <a:ext uri="{FF2B5EF4-FFF2-40B4-BE49-F238E27FC236}">
                <a16:creationId xmlns:a16="http://schemas.microsoft.com/office/drawing/2014/main" id="{3FEBC557-A2BD-8741-07E3-6888BCCB7F4B}"/>
              </a:ext>
            </a:extLst>
          </p:cNvPr>
          <p:cNvSpPr/>
          <p:nvPr/>
        </p:nvSpPr>
        <p:spPr>
          <a:xfrm>
            <a:off x="4311528" y="6307839"/>
            <a:ext cx="37273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Integral of error in </a:t>
            </a: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period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矩形 33">
            <a:extLst>
              <a:ext uri="{FF2B5EF4-FFF2-40B4-BE49-F238E27FC236}">
                <a16:creationId xmlns:a16="http://schemas.microsoft.com/office/drawing/2014/main" id="{32F543D7-02F1-F9AB-A30B-1314606C6C92}"/>
              </a:ext>
            </a:extLst>
          </p:cNvPr>
          <p:cNvSpPr/>
          <p:nvPr/>
        </p:nvSpPr>
        <p:spPr>
          <a:xfrm>
            <a:off x="8956059" y="5383632"/>
            <a:ext cx="2100255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J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(</a:t>
            </a:r>
            <a:r>
              <a:rPr lang="en-US" altLang="zh-CN" sz="2400" i="1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i="1" baseline="-250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i="1" baseline="-250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i="1" baseline="-25000" dirty="0" err="1">
                <a:solidFill>
                  <a:srgbClr val="000000"/>
                </a:solidFill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</a:t>
            </a:r>
          </a:p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is the control  </a:t>
            </a:r>
          </a:p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objective.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5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2" grpId="0" animBg="1"/>
      <p:bldP spid="24" grpId="0"/>
      <p:bldP spid="26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633DB-B415-30E1-21A4-3010D2F30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of a PID controller 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3">
            <a:extLst>
              <a:ext uri="{FF2B5EF4-FFF2-40B4-BE49-F238E27FC236}">
                <a16:creationId xmlns:a16="http://schemas.microsoft.com/office/drawing/2014/main" id="{39BFAA75-5B84-4368-CFF6-35EC690B0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11" y="1918600"/>
            <a:ext cx="898855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The control system is built in Simulink (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Hydraulic lift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) </a:t>
            </a:r>
          </a:p>
          <a:p>
            <a:endParaRPr lang="zh-CN" altLang="en-US" sz="2400" i="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144F95-6C94-358F-520A-254B762A8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200" y="2457497"/>
            <a:ext cx="8823600" cy="348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20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12DF-8A6B-338D-EE6F-33E81855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 of a PID controller 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7">
            <a:extLst>
              <a:ext uri="{FF2B5EF4-FFF2-40B4-BE49-F238E27FC236}">
                <a16:creationId xmlns:a16="http://schemas.microsoft.com/office/drawing/2014/main" id="{DFD04E80-2FFF-7006-F302-9AC2B364A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074" y="1843966"/>
            <a:ext cx="8267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Optimization problem formulation</a:t>
            </a:r>
            <a:endParaRPr lang="zh-CN" altLang="en-US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4" name="矩形 14">
            <a:extLst>
              <a:ext uri="{FF2B5EF4-FFF2-40B4-BE49-F238E27FC236}">
                <a16:creationId xmlns:a16="http://schemas.microsoft.com/office/drawing/2014/main" id="{FEA31DD5-5C53-191E-8043-07265EFA0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338" y="3235494"/>
            <a:ext cx="2590462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=[</a:t>
            </a:r>
            <a:r>
              <a:rPr lang="en-US" altLang="zh-CN" sz="2400" i="1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i="1" baseline="-25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</a:t>
            </a:r>
            <a:r>
              <a:rPr lang="en-US" altLang="zh-CN" sz="2400" i="1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i="1" baseline="-25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]</a:t>
            </a:r>
          </a:p>
          <a:p>
            <a:r>
              <a:rPr lang="en-US" altLang="zh-CN" sz="2400" i="1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i="1" baseline="-25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</a:t>
            </a:r>
            <a:r>
              <a:rPr lang="en-US" altLang="zh-CN" sz="24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∈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[20 80]</a:t>
            </a:r>
          </a:p>
          <a:p>
            <a:r>
              <a:rPr lang="en-US" altLang="zh-CN" sz="2400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 </a:t>
            </a:r>
            <a:r>
              <a:rPr lang="zh-CN" altLang="en-US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∈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[1 5]</a:t>
            </a:r>
          </a:p>
          <a:p>
            <a:r>
              <a:rPr lang="en-US" altLang="zh-CN" sz="2400" i="1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K</a:t>
            </a:r>
            <a:r>
              <a:rPr lang="en-US" altLang="zh-CN" sz="2400" i="1" baseline="-25000" dirty="0" err="1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d</a:t>
            </a:r>
            <a:r>
              <a:rPr lang="en-US" altLang="zh-CN" sz="2400" i="1" baseline="-250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</a:t>
            </a:r>
            <a:r>
              <a:rPr lang="zh-CN" altLang="en-US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∈</a:t>
            </a:r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[1 100]</a:t>
            </a:r>
            <a:endParaRPr lang="en-US" altLang="zh-CN" sz="2400" i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5" name="矩形 8">
            <a:extLst>
              <a:ext uri="{FF2B5EF4-FFF2-40B4-BE49-F238E27FC236}">
                <a16:creationId xmlns:a16="http://schemas.microsoft.com/office/drawing/2014/main" id="{ABDAE8E5-304F-667A-02C9-B6A9BC326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338" y="2228671"/>
            <a:ext cx="212750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 altLang="zh-CN" sz="2400" i="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r>
              <a:rPr lang="en-US" altLang="zh-CN" sz="240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m</a:t>
            </a:r>
            <a:r>
              <a:rPr lang="en-US" altLang="zh-CN" sz="2400" i="0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inimize</a:t>
            </a:r>
            <a:r>
              <a:rPr lang="en-US" altLang="zh-CN" sz="2400" i="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</a:t>
            </a:r>
            <a:r>
              <a:rPr lang="en-US" altLang="zh-CN" sz="2400" i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J</a:t>
            </a:r>
            <a:r>
              <a:rPr lang="en-US" altLang="zh-CN" sz="24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x</a:t>
            </a:r>
            <a:r>
              <a:rPr lang="en-US" altLang="zh-CN" sz="2400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)  </a:t>
            </a:r>
            <a:endParaRPr lang="zh-CN" altLang="en-US" sz="2400" i="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altLang="zh-CN" sz="2400" i="0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31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10CBF-6055-6F44-5592-3BB3FCF6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204364" cy="888786"/>
          </a:xfrm>
        </p:spPr>
        <p:txBody>
          <a:bodyPr>
            <a:normAutofit fontScale="90000"/>
          </a:bodyPr>
          <a:lstStyle/>
          <a:p>
            <a:r>
              <a:rPr lang="en-GB" dirty="0"/>
              <a:t>Use PSO to find the optimal control parameters</a:t>
            </a:r>
            <a:br>
              <a:rPr lang="en-GB" dirty="0"/>
            </a:br>
            <a:endParaRPr lang="en-GB" dirty="0"/>
          </a:p>
        </p:txBody>
      </p:sp>
      <p:sp>
        <p:nvSpPr>
          <p:cNvPr id="6" name="矩形 7">
            <a:extLst>
              <a:ext uri="{FF2B5EF4-FFF2-40B4-BE49-F238E27FC236}">
                <a16:creationId xmlns:a16="http://schemas.microsoft.com/office/drawing/2014/main" id="{A673EAE3-E3ED-2202-D7B6-C01010D2C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774" y="1551866"/>
            <a:ext cx="8267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Objective function in MATLAB </a:t>
            </a:r>
            <a:endParaRPr lang="zh-CN" altLang="en-US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sp>
        <p:nvSpPr>
          <p:cNvPr id="7" name="矩形 13">
            <a:extLst>
              <a:ext uri="{FF2B5EF4-FFF2-40B4-BE49-F238E27FC236}">
                <a16:creationId xmlns:a16="http://schemas.microsoft.com/office/drawing/2014/main" id="{B6941CD7-5BC8-5DE8-A61D-EFE147E38013}"/>
              </a:ext>
            </a:extLst>
          </p:cNvPr>
          <p:cNvSpPr/>
          <p:nvPr/>
        </p:nvSpPr>
        <p:spPr>
          <a:xfrm>
            <a:off x="10023826" y="6311472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C41F63-2AD2-FA4A-68D0-F40A58F7D1B1}"/>
              </a:ext>
            </a:extLst>
          </p:cNvPr>
          <p:cNvSpPr txBox="1"/>
          <p:nvPr/>
        </p:nvSpPr>
        <p:spPr>
          <a:xfrm>
            <a:off x="1590590" y="2288605"/>
            <a:ext cx="9010820" cy="3822263"/>
          </a:xfrm>
          <a:prstGeom prst="roundRect">
            <a:avLst>
              <a:gd name="adj" fmla="val 3206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function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[z] = PSO_PID(x)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% Load the Simulink model and set the PID gains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load_system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Lift_PID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);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assignin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'base'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Kp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,x(1));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Control parameter 1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assignin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base'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'Ki'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,x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(2));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Control parameter 2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assignin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'base'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Kd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,x(3));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Control parameter 3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out = sim(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Lift_PID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,[0,20]);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simulate the controller and the response is saved in info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info=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stepinfo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simout.data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disp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(x)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z = 0.001*(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info.RiseTime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)+0.0006*(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info.SettlingTime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</a:rPr>
              <a:t>)+info.Overshoot+20*(abs(2-simout.Data(end)));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 objective function to be minimized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%Weight coefficients in front of parameters are empirical 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</a:rPr>
              <a:t>%the desired steady state is 2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end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2393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DBF2C-160B-B0E0-B9BF-AAEA1EF42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229764" cy="888786"/>
          </a:xfrm>
        </p:spPr>
        <p:txBody>
          <a:bodyPr>
            <a:normAutofit fontScale="90000"/>
          </a:bodyPr>
          <a:lstStyle/>
          <a:p>
            <a:r>
              <a:rPr lang="en-GB" dirty="0"/>
              <a:t>Use PSO to find the optimal control parameters</a:t>
            </a:r>
            <a:br>
              <a:rPr lang="en-GB" dirty="0"/>
            </a:b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3FF0DF-4EBB-758A-AD73-CBE0D75A62EC}"/>
              </a:ext>
            </a:extLst>
          </p:cNvPr>
          <p:cNvSpPr txBox="1"/>
          <p:nvPr/>
        </p:nvSpPr>
        <p:spPr>
          <a:xfrm>
            <a:off x="528111" y="2632289"/>
            <a:ext cx="9864839" cy="2610326"/>
          </a:xfrm>
          <a:prstGeom prst="roundRect">
            <a:avLst>
              <a:gd name="adj" fmla="val 3206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options =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optimoptions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particleswarm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PlotFcn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,@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pswplotbestf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...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'SwarmSize'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,10,MaxIterations=20,UseParallel=false);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lb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[20 1 1];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ub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[80 5 100];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rng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default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nvars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3;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tic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[x,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fval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] =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particleswarm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(@PSO_PID,nvars,lb,ub,options)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toc</a:t>
            </a:r>
          </a:p>
        </p:txBody>
      </p:sp>
      <p:sp>
        <p:nvSpPr>
          <p:cNvPr id="16" name="矩形 7">
            <a:extLst>
              <a:ext uri="{FF2B5EF4-FFF2-40B4-BE49-F238E27FC236}">
                <a16:creationId xmlns:a16="http://schemas.microsoft.com/office/drawing/2014/main" id="{B14351A3-F799-9AD9-4FB9-04095CF52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74" y="1716966"/>
            <a:ext cx="964132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Perform PSO  for finding the optimal 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 and objective function value</a:t>
            </a:r>
            <a:endParaRPr lang="zh-CN" altLang="en-US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303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A24BD-BAAD-6BDE-48F7-7CB6EA244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6988463" cy="888786"/>
          </a:xfrm>
        </p:spPr>
        <p:txBody>
          <a:bodyPr>
            <a:noAutofit/>
          </a:bodyPr>
          <a:lstStyle/>
          <a:p>
            <a:r>
              <a:rPr lang="en-GB" dirty="0"/>
              <a:t>Use PSO to find the optimal control parameters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7">
            <a:extLst>
              <a:ext uri="{FF2B5EF4-FFF2-40B4-BE49-F238E27FC236}">
                <a16:creationId xmlns:a16="http://schemas.microsoft.com/office/drawing/2014/main" id="{D8A2F692-D69B-3D13-1179-DE52117ED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1" y="1422400"/>
            <a:ext cx="8267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Optimization process</a:t>
            </a:r>
            <a:endParaRPr lang="zh-CN" altLang="en-US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B1E3CF-C909-703B-2DE9-333811C3E3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566"/>
          <a:stretch/>
        </p:blipFill>
        <p:spPr bwMode="auto">
          <a:xfrm>
            <a:off x="7897079" y="3870581"/>
            <a:ext cx="3329531" cy="12382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图片 7">
            <a:extLst>
              <a:ext uri="{FF2B5EF4-FFF2-40B4-BE49-F238E27FC236}">
                <a16:creationId xmlns:a16="http://schemas.microsoft.com/office/drawing/2014/main" id="{337DB479-3690-AFF4-0B88-96F6CEA8D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26" y="1962279"/>
            <a:ext cx="5700889" cy="4689751"/>
          </a:xfrm>
          <a:prstGeom prst="rect">
            <a:avLst/>
          </a:prstGeom>
        </p:spPr>
      </p:pic>
      <p:sp>
        <p:nvSpPr>
          <p:cNvPr id="12" name="矩形 21">
            <a:extLst>
              <a:ext uri="{FF2B5EF4-FFF2-40B4-BE49-F238E27FC236}">
                <a16:creationId xmlns:a16="http://schemas.microsoft.com/office/drawing/2014/main" id="{21D830E9-B51F-74A8-FB43-3976DCDAF93C}"/>
              </a:ext>
            </a:extLst>
          </p:cNvPr>
          <p:cNvSpPr/>
          <p:nvPr/>
        </p:nvSpPr>
        <p:spPr>
          <a:xfrm>
            <a:off x="8789838" y="5554328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9467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07C92-F755-E837-5F3F-1685B7165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116154" cy="888786"/>
          </a:xfrm>
        </p:spPr>
        <p:txBody>
          <a:bodyPr>
            <a:noAutofit/>
          </a:bodyPr>
          <a:lstStyle/>
          <a:p>
            <a:r>
              <a:rPr lang="en-GB" dirty="0"/>
              <a:t>Use PSO to find the optimal control parameters</a:t>
            </a:r>
            <a:br>
              <a:rPr lang="en-GB" dirty="0"/>
            </a:b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B29786-5FAB-6392-C27B-AD3CCE8EE93B}"/>
              </a:ext>
            </a:extLst>
          </p:cNvPr>
          <p:cNvSpPr txBox="1"/>
          <p:nvPr/>
        </p:nvSpPr>
        <p:spPr>
          <a:xfrm>
            <a:off x="810774" y="2683089"/>
            <a:ext cx="8854616" cy="2610326"/>
          </a:xfrm>
          <a:prstGeom prst="roundRect">
            <a:avLst>
              <a:gd name="adj" fmla="val 3206"/>
            </a:avLst>
          </a:prstGeom>
          <a:solidFill>
            <a:sysClr val="window" lastClr="FFFFFF">
              <a:lumMod val="95000"/>
            </a:sysClr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options =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optimoptions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(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particleswarm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PlotFcn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,@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pswplotbestf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E00FF"/>
                </a:solidFill>
                <a:effectLst/>
                <a:uLnTx/>
                <a:uFillTx/>
                <a:latin typeface="Consolas" panose="020B0609020204030204" pitchFamily="49" charset="0"/>
              </a:rPr>
              <a:t>...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'SwarmSize'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,10,MaxIterations=20,UseParallel=true);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lb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[20 1 1];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ub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[80 5 100];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rng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</a:rPr>
              <a:t>default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Consolas" panose="020B06090202040302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nvars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= 3;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tic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[x,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fval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] =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particleswarm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 (@PSO_PID,nvars,lb,ub,options)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212121"/>
                </a:solidFill>
                <a:effectLst/>
                <a:uLnTx/>
                <a:uFillTx/>
                <a:latin typeface="Consolas" panose="020B0609020204030204" pitchFamily="49" charset="0"/>
              </a:rPr>
              <a:t>toc</a:t>
            </a:r>
          </a:p>
        </p:txBody>
      </p:sp>
      <p:sp>
        <p:nvSpPr>
          <p:cNvPr id="10" name="矩形 7">
            <a:extLst>
              <a:ext uri="{FF2B5EF4-FFF2-40B4-BE49-F238E27FC236}">
                <a16:creationId xmlns:a16="http://schemas.microsoft.com/office/drawing/2014/main" id="{2E2503DD-5344-E186-971A-08C4D3D0F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774" y="1691566"/>
            <a:ext cx="82677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Perform PSO  for finding the optimal </a:t>
            </a:r>
            <a:r>
              <a:rPr lang="en-US" altLang="zh-CN" sz="2400" b="1" i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x</a:t>
            </a:r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, objective function value and </a:t>
            </a:r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parallel computing</a:t>
            </a:r>
            <a:endParaRPr lang="zh-CN" altLang="en-US" sz="2400" b="1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cxnSp>
        <p:nvCxnSpPr>
          <p:cNvPr id="11" name="直接连接符 8">
            <a:extLst>
              <a:ext uri="{FF2B5EF4-FFF2-40B4-BE49-F238E27FC236}">
                <a16:creationId xmlns:a16="http://schemas.microsoft.com/office/drawing/2014/main" id="{11F4BDAF-FF11-5672-19D7-652DB1F726A3}"/>
              </a:ext>
            </a:extLst>
          </p:cNvPr>
          <p:cNvCxnSpPr>
            <a:cxnSpLocks/>
          </p:cNvCxnSpPr>
          <p:nvPr/>
        </p:nvCxnSpPr>
        <p:spPr>
          <a:xfrm>
            <a:off x="4871686" y="3314093"/>
            <a:ext cx="2085228" cy="0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miter lim="800000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F7EEF7E-83EB-236A-8523-3942D6DAB3C1}"/>
              </a:ext>
            </a:extLst>
          </p:cNvPr>
          <p:cNvSpPr txBox="1"/>
          <p:nvPr/>
        </p:nvSpPr>
        <p:spPr>
          <a:xfrm>
            <a:off x="5469306" y="3278682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Parallel</a:t>
            </a:r>
            <a:endParaRPr lang="zh-CN" alt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90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0D1C9-BDFF-916F-DCF3-F550F9E57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6683663" cy="888786"/>
          </a:xfrm>
        </p:spPr>
        <p:txBody>
          <a:bodyPr>
            <a:noAutofit/>
          </a:bodyPr>
          <a:lstStyle/>
          <a:p>
            <a:r>
              <a:rPr lang="en-GB" dirty="0"/>
              <a:t>Use PSO to find the optimal control parameters</a:t>
            </a:r>
            <a:br>
              <a:rPr lang="en-GB" dirty="0"/>
            </a:br>
            <a:endParaRPr lang="en-GB" dirty="0"/>
          </a:p>
        </p:txBody>
      </p:sp>
      <p:sp>
        <p:nvSpPr>
          <p:cNvPr id="3" name="矩形 7">
            <a:extLst>
              <a:ext uri="{FF2B5EF4-FFF2-40B4-BE49-F238E27FC236}">
                <a16:creationId xmlns:a16="http://schemas.microsoft.com/office/drawing/2014/main" id="{5F54F550-3381-9B07-5C10-0B663F2F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076" y="1539166"/>
            <a:ext cx="82677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ea typeface="宋体" pitchFamily="2" charset="-122"/>
                <a:cs typeface="Arial" panose="020B0604020202020204" pitchFamily="34" charset="0"/>
              </a:rPr>
              <a:t>Optimization process</a:t>
            </a:r>
            <a:endParaRPr lang="zh-CN" altLang="en-US" sz="2400" b="1" i="0" dirty="0">
              <a:latin typeface="Arial" panose="020B0604020202020204" pitchFamily="34" charset="0"/>
              <a:ea typeface="宋体" pitchFamily="2" charset="-122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746945-F3AC-78A1-99F4-FDDC4BF49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7616" y="4204128"/>
            <a:ext cx="3276600" cy="12477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矩形 9">
            <a:extLst>
              <a:ext uri="{FF2B5EF4-FFF2-40B4-BE49-F238E27FC236}">
                <a16:creationId xmlns:a16="http://schemas.microsoft.com/office/drawing/2014/main" id="{8262F205-6442-4BB8-6589-E9689A5B0BCB}"/>
              </a:ext>
            </a:extLst>
          </p:cNvPr>
          <p:cNvSpPr/>
          <p:nvPr/>
        </p:nvSpPr>
        <p:spPr>
          <a:xfrm>
            <a:off x="8974260" y="5192964"/>
            <a:ext cx="894835" cy="25893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10">
            <a:extLst>
              <a:ext uri="{FF2B5EF4-FFF2-40B4-BE49-F238E27FC236}">
                <a16:creationId xmlns:a16="http://schemas.microsoft.com/office/drawing/2014/main" id="{DDF9644B-16F4-E783-047C-DFA8855D74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1" y="2079045"/>
            <a:ext cx="5700889" cy="4689751"/>
          </a:xfrm>
          <a:prstGeom prst="rect">
            <a:avLst/>
          </a:prstGeom>
        </p:spPr>
      </p:pic>
      <p:sp>
        <p:nvSpPr>
          <p:cNvPr id="9" name="矩形 21">
            <a:extLst>
              <a:ext uri="{FF2B5EF4-FFF2-40B4-BE49-F238E27FC236}">
                <a16:creationId xmlns:a16="http://schemas.microsoft.com/office/drawing/2014/main" id="{F7F89FBF-C882-BDD2-66D8-B561E76C1717}"/>
              </a:ext>
            </a:extLst>
          </p:cNvPr>
          <p:cNvSpPr/>
          <p:nvPr/>
        </p:nvSpPr>
        <p:spPr>
          <a:xfrm>
            <a:off x="8303910" y="5955054"/>
            <a:ext cx="1736373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9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13481F4-5E1D-45E8-9AD9-F4ABCEF539E8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2.xml><?xml version="1.0" encoding="utf-8"?>
<ds:datastoreItem xmlns:ds="http://schemas.openxmlformats.org/officeDocument/2006/customXml" ds:itemID="{659C02BF-B2F2-48E8-ADAE-0BEE7B8B84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089E8B0-797F-48F9-BFB4-0000AB43F1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1871</TotalTime>
  <Words>631</Words>
  <Application>Microsoft Office PowerPoint</Application>
  <PresentationFormat>Widescreen</PresentationFormat>
  <Paragraphs>102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Cambria Math</vt:lpstr>
      <vt:lpstr>Consolas</vt:lpstr>
      <vt:lpstr>Times New Roman</vt:lpstr>
      <vt:lpstr>Wingdings</vt:lpstr>
      <vt:lpstr>Office Theme</vt:lpstr>
      <vt:lpstr>Use Particle Swarm Optimization via MATLAB: Engineering Case Studies</vt:lpstr>
      <vt:lpstr>Design of a PID controller </vt:lpstr>
      <vt:lpstr>Hydraulic lift </vt:lpstr>
      <vt:lpstr>Design of a PID controller  </vt:lpstr>
      <vt:lpstr>Design of a PID controller  </vt:lpstr>
      <vt:lpstr>Design of a PID controller  </vt:lpstr>
      <vt:lpstr>Use PSO to find the optimal control parameters </vt:lpstr>
      <vt:lpstr>Use PSO to find the optimal control parameters </vt:lpstr>
      <vt:lpstr>Use PSO to find the optimal control parameters </vt:lpstr>
      <vt:lpstr>Use PSO to find the optimal control parameters </vt:lpstr>
      <vt:lpstr>Use PSO to find the optimal control parameters 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Liangyue Yu (PGR)</dc:creator>
  <cp:keywords/>
  <dc:description/>
  <cp:lastModifiedBy>Bo Liu</cp:lastModifiedBy>
  <cp:revision>63</cp:revision>
  <dcterms:created xsi:type="dcterms:W3CDTF">2021-01-06T14:22:07Z</dcterms:created>
  <dcterms:modified xsi:type="dcterms:W3CDTF">2024-07-05T10:46:43Z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