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34" autoAdjust="0"/>
    <p:restoredTop sz="96312"/>
  </p:normalViewPr>
  <p:slideViewPr>
    <p:cSldViewPr snapToGrid="0">
      <p:cViewPr varScale="1">
        <p:scale>
          <a:sx n="156" d="100"/>
          <a:sy n="156" d="100"/>
        </p:scale>
        <p:origin x="216" y="7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solidFill>
                  <a:schemeClr val="tx1"/>
                </a:solidFill>
              </a:rPr>
              <a:t>Introduction to Optimization (1) </a:t>
            </a:r>
            <a:br>
              <a:rPr lang="en-GB" alt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What is optimization?</a:t>
            </a:r>
            <a:endParaRPr lang="en-US" sz="2800" b="1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34AE1C-5CB7-83E3-FFE6-3C69245E832F}"/>
              </a:ext>
            </a:extLst>
          </p:cNvPr>
          <p:cNvGrpSpPr/>
          <p:nvPr/>
        </p:nvGrpSpPr>
        <p:grpSpPr>
          <a:xfrm>
            <a:off x="2830702" y="1465679"/>
            <a:ext cx="6530596" cy="2459320"/>
            <a:chOff x="468502" y="1633857"/>
            <a:chExt cx="6530596" cy="2459320"/>
          </a:xfrm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C2D2935F-5B4D-602D-DA09-103E0E53B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527" y="2800872"/>
              <a:ext cx="5165548" cy="46166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Optimization/Search Problem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4" name="Oval 3">
              <a:extLst>
                <a:ext uri="{FF2B5EF4-FFF2-40B4-BE49-F238E27FC236}">
                  <a16:creationId xmlns:a16="http://schemas.microsoft.com/office/drawing/2014/main" id="{F31DB2D5-0D7A-A7F2-3B49-CFB665F09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02" y="1633857"/>
              <a:ext cx="6530596" cy="649188"/>
            </a:xfrm>
            <a:prstGeom prst="ellipse">
              <a:avLst/>
            </a:prstGeom>
            <a:solidFill>
              <a:srgbClr val="E7E6E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Find the best plan or design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628AD6F6-FF7D-1D7F-888B-25DD035B8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2326325"/>
              <a:ext cx="0" cy="45720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4">
              <a:extLst>
                <a:ext uri="{FF2B5EF4-FFF2-40B4-BE49-F238E27FC236}">
                  <a16:creationId xmlns:a16="http://schemas.microsoft.com/office/drawing/2014/main" id="{39B46208-0E53-5E7E-0516-DBE92DF0A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1557" y="3319737"/>
              <a:ext cx="1205353" cy="77344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4">
              <a:extLst>
                <a:ext uri="{FF2B5EF4-FFF2-40B4-BE49-F238E27FC236}">
                  <a16:creationId xmlns:a16="http://schemas.microsoft.com/office/drawing/2014/main" id="{934E8B2C-8126-4253-3C65-ED2A3DB42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912" y="3319737"/>
              <a:ext cx="1205353" cy="77344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矩形 2">
            <a:extLst>
              <a:ext uri="{FF2B5EF4-FFF2-40B4-BE49-F238E27FC236}">
                <a16:creationId xmlns:a16="http://schemas.microsoft.com/office/drawing/2014/main" id="{E3DCECCC-1B8F-6363-F556-B102760C7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727" y="3982199"/>
            <a:ext cx="457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Conventional optimization methods </a:t>
            </a:r>
            <a:endParaRPr lang="zh-CN" altLang="en-US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4AB057-8693-A9C2-EF29-AD6874B0AF0F}"/>
              </a:ext>
            </a:extLst>
          </p:cNvPr>
          <p:cNvGrpSpPr/>
          <p:nvPr/>
        </p:nvGrpSpPr>
        <p:grpSpPr>
          <a:xfrm>
            <a:off x="5496433" y="3982199"/>
            <a:ext cx="6515632" cy="2180502"/>
            <a:chOff x="3050945" y="3872014"/>
            <a:chExt cx="6515632" cy="2180502"/>
          </a:xfrm>
        </p:grpSpPr>
        <p:sp>
          <p:nvSpPr>
            <p:cNvPr id="30" name="矩形 1">
              <a:extLst>
                <a:ext uri="{FF2B5EF4-FFF2-40B4-BE49-F238E27FC236}">
                  <a16:creationId xmlns:a16="http://schemas.microsoft.com/office/drawing/2014/main" id="{A0BD545C-CEBA-1F23-BF93-CCF3A8DEC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895" y="3872014"/>
              <a:ext cx="457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 AI-based heuristic methods</a:t>
              </a:r>
              <a:endPara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" name="矩形 2">
              <a:extLst>
                <a:ext uri="{FF2B5EF4-FFF2-40B4-BE49-F238E27FC236}">
                  <a16:creationId xmlns:a16="http://schemas.microsoft.com/office/drawing/2014/main" id="{440BB275-EE76-7D36-41A0-01016F83EAD8}"/>
                </a:ext>
              </a:extLst>
            </p:cNvPr>
            <p:cNvSpPr/>
            <p:nvPr/>
          </p:nvSpPr>
          <p:spPr>
            <a:xfrm>
              <a:off x="3050945" y="5221519"/>
              <a:ext cx="651563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Advantages: In many cases, stronger ability, easier to use  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2" name="Line 4">
              <a:extLst>
                <a:ext uri="{FF2B5EF4-FFF2-40B4-BE49-F238E27FC236}">
                  <a16:creationId xmlns:a16="http://schemas.microsoft.com/office/drawing/2014/main" id="{FDD98369-5D34-85C1-80AA-AB66CC37B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1078" y="4416845"/>
              <a:ext cx="10206" cy="794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018D-CAEE-0E8A-8945-090E5F69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Popular optimization problems: TSP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212C6-81EA-8004-5663-1EB532A46671}"/>
              </a:ext>
            </a:extLst>
          </p:cNvPr>
          <p:cNvSpPr txBox="1">
            <a:spLocks noChangeArrowheads="1"/>
          </p:cNvSpPr>
          <p:nvPr/>
        </p:nvSpPr>
        <p:spPr>
          <a:xfrm>
            <a:off x="547320" y="1611022"/>
            <a:ext cx="7793037" cy="5839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zh-CN" sz="2400" b="0" dirty="0">
                <a:ea typeface="宋体" pitchFamily="2" charset="-122"/>
              </a:rPr>
              <a:t>Traveling Salesman Problem (TSP)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E68FD7-3BA4-C157-6510-65697493548F}"/>
              </a:ext>
            </a:extLst>
          </p:cNvPr>
          <p:cNvGrpSpPr/>
          <p:nvPr/>
        </p:nvGrpSpPr>
        <p:grpSpPr>
          <a:xfrm>
            <a:off x="1067305" y="2383597"/>
            <a:ext cx="2963862" cy="3600450"/>
            <a:chOff x="512763" y="1628775"/>
            <a:chExt cx="2963862" cy="3600450"/>
          </a:xfrm>
        </p:grpSpPr>
        <p:pic>
          <p:nvPicPr>
            <p:cNvPr id="5" name="图片 1">
              <a:extLst>
                <a:ext uri="{FF2B5EF4-FFF2-40B4-BE49-F238E27FC236}">
                  <a16:creationId xmlns:a16="http://schemas.microsoft.com/office/drawing/2014/main" id="{DC392685-E338-6650-F0D7-51432CFA2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763" y="1628775"/>
              <a:ext cx="2963862" cy="36004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五角星 34">
              <a:extLst>
                <a:ext uri="{FF2B5EF4-FFF2-40B4-BE49-F238E27FC236}">
                  <a16:creationId xmlns:a16="http://schemas.microsoft.com/office/drawing/2014/main" id="{0CB27652-F20F-10B9-D9E7-D394E5E89209}"/>
                </a:ext>
              </a:extLst>
            </p:cNvPr>
            <p:cNvSpPr/>
            <p:nvPr/>
          </p:nvSpPr>
          <p:spPr bwMode="auto">
            <a:xfrm>
              <a:off x="2124075" y="2133600"/>
              <a:ext cx="215900" cy="215900"/>
            </a:xfrm>
            <a:prstGeom prst="star5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endParaRPr lang="zh-CN" altLang="en-US"/>
            </a:p>
          </p:txBody>
        </p:sp>
        <p:sp>
          <p:nvSpPr>
            <p:cNvPr id="7" name="五角星 38">
              <a:extLst>
                <a:ext uri="{FF2B5EF4-FFF2-40B4-BE49-F238E27FC236}">
                  <a16:creationId xmlns:a16="http://schemas.microsoft.com/office/drawing/2014/main" id="{2EA0BDDF-97AC-A64A-E68F-F9BC57EBB4CD}"/>
                </a:ext>
              </a:extLst>
            </p:cNvPr>
            <p:cNvSpPr/>
            <p:nvPr/>
          </p:nvSpPr>
          <p:spPr bwMode="auto">
            <a:xfrm>
              <a:off x="1116013" y="2852738"/>
              <a:ext cx="215900" cy="215900"/>
            </a:xfrm>
            <a:prstGeom prst="star5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endParaRPr lang="zh-CN" altLang="en-US"/>
            </a:p>
          </p:txBody>
        </p:sp>
        <p:sp>
          <p:nvSpPr>
            <p:cNvPr id="8" name="五角星 39">
              <a:extLst>
                <a:ext uri="{FF2B5EF4-FFF2-40B4-BE49-F238E27FC236}">
                  <a16:creationId xmlns:a16="http://schemas.microsoft.com/office/drawing/2014/main" id="{09216301-B665-B2AC-17A5-A0B4E40F5F0C}"/>
                </a:ext>
              </a:extLst>
            </p:cNvPr>
            <p:cNvSpPr/>
            <p:nvPr/>
          </p:nvSpPr>
          <p:spPr bwMode="auto">
            <a:xfrm>
              <a:off x="1116013" y="3933825"/>
              <a:ext cx="215900" cy="215900"/>
            </a:xfrm>
            <a:prstGeom prst="star5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endParaRPr lang="zh-CN" altLang="en-US"/>
            </a:p>
          </p:txBody>
        </p:sp>
        <p:sp>
          <p:nvSpPr>
            <p:cNvPr id="9" name="五角星 40">
              <a:extLst>
                <a:ext uri="{FF2B5EF4-FFF2-40B4-BE49-F238E27FC236}">
                  <a16:creationId xmlns:a16="http://schemas.microsoft.com/office/drawing/2014/main" id="{0DB83C44-93B6-5AB5-2BC4-8DBFC5EDFE63}"/>
                </a:ext>
              </a:extLst>
            </p:cNvPr>
            <p:cNvSpPr/>
            <p:nvPr/>
          </p:nvSpPr>
          <p:spPr bwMode="auto">
            <a:xfrm>
              <a:off x="2124075" y="4652963"/>
              <a:ext cx="215900" cy="215900"/>
            </a:xfrm>
            <a:prstGeom prst="star5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endParaRPr lang="zh-CN" altLang="en-US"/>
            </a:p>
          </p:txBody>
        </p:sp>
        <p:cxnSp>
          <p:nvCxnSpPr>
            <p:cNvPr id="10" name="直接箭头连接符 4">
              <a:extLst>
                <a:ext uri="{FF2B5EF4-FFF2-40B4-BE49-F238E27FC236}">
                  <a16:creationId xmlns:a16="http://schemas.microsoft.com/office/drawing/2014/main" id="{104197AC-69AB-C092-5FCC-FB5CC32C6EE5}"/>
                </a:ext>
              </a:extLst>
            </p:cNvPr>
            <p:cNvCxnSpPr>
              <a:cxnSpLocks noChangeShapeType="1"/>
              <a:stCxn id="6" idx="1"/>
              <a:endCxn id="7" idx="0"/>
            </p:cNvCxnSpPr>
            <p:nvPr/>
          </p:nvCxnSpPr>
          <p:spPr bwMode="auto">
            <a:xfrm flipH="1">
              <a:off x="1223963" y="2216150"/>
              <a:ext cx="900112" cy="6365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箭头连接符 12">
              <a:extLst>
                <a:ext uri="{FF2B5EF4-FFF2-40B4-BE49-F238E27FC236}">
                  <a16:creationId xmlns:a16="http://schemas.microsoft.com/office/drawing/2014/main" id="{82772800-0ACA-9763-AD7E-CAAEE94F9254}"/>
                </a:ext>
              </a:extLst>
            </p:cNvPr>
            <p:cNvCxnSpPr>
              <a:cxnSpLocks noChangeShapeType="1"/>
              <a:stCxn id="7" idx="3"/>
              <a:endCxn id="8" idx="0"/>
            </p:cNvCxnSpPr>
            <p:nvPr/>
          </p:nvCxnSpPr>
          <p:spPr bwMode="auto">
            <a:xfrm flipH="1">
              <a:off x="1223963" y="3068638"/>
              <a:ext cx="66675" cy="86518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箭头连接符 15">
              <a:extLst>
                <a:ext uri="{FF2B5EF4-FFF2-40B4-BE49-F238E27FC236}">
                  <a16:creationId xmlns:a16="http://schemas.microsoft.com/office/drawing/2014/main" id="{ECF47DC1-9CED-E832-AAC1-B112897C12AF}"/>
                </a:ext>
              </a:extLst>
            </p:cNvPr>
            <p:cNvCxnSpPr>
              <a:cxnSpLocks noChangeShapeType="1"/>
              <a:stCxn id="8" idx="3"/>
              <a:endCxn id="9" idx="1"/>
            </p:cNvCxnSpPr>
            <p:nvPr/>
          </p:nvCxnSpPr>
          <p:spPr bwMode="auto">
            <a:xfrm>
              <a:off x="1290638" y="4149725"/>
              <a:ext cx="833437" cy="5857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8">
              <a:extLst>
                <a:ext uri="{FF2B5EF4-FFF2-40B4-BE49-F238E27FC236}">
                  <a16:creationId xmlns:a16="http://schemas.microsoft.com/office/drawing/2014/main" id="{AE376526-4998-1DFD-0C00-6FAFACEBFC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224088" y="2400300"/>
              <a:ext cx="36512" cy="2214563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文本框 16">
              <a:extLst>
                <a:ext uri="{FF2B5EF4-FFF2-40B4-BE49-F238E27FC236}">
                  <a16:creationId xmlns:a16="http://schemas.microsoft.com/office/drawing/2014/main" id="{EB92CD86-2233-70DF-15BE-69AE365DA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088" y="1938338"/>
              <a:ext cx="338137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i="0">
                  <a:ea typeface="宋体" pitchFamily="2" charset="-122"/>
                </a:rPr>
                <a:t>1</a:t>
              </a:r>
              <a:endParaRPr lang="zh-CN" altLang="en-US" i="0">
                <a:ea typeface="宋体" pitchFamily="2" charset="-122"/>
              </a:endParaRPr>
            </a:p>
          </p:txBody>
        </p:sp>
        <p:sp>
          <p:nvSpPr>
            <p:cNvPr id="15" name="文本框 21">
              <a:extLst>
                <a:ext uri="{FF2B5EF4-FFF2-40B4-BE49-F238E27FC236}">
                  <a16:creationId xmlns:a16="http://schemas.microsoft.com/office/drawing/2014/main" id="{4939DF50-B01C-90E9-6D9D-B8DFF88FF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175" y="3981450"/>
              <a:ext cx="3381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i="0">
                  <a:ea typeface="宋体" pitchFamily="2" charset="-122"/>
                </a:rPr>
                <a:t>3</a:t>
              </a:r>
              <a:endParaRPr lang="zh-CN" altLang="en-US" i="0">
                <a:ea typeface="宋体" pitchFamily="2" charset="-122"/>
              </a:endParaRPr>
            </a:p>
          </p:txBody>
        </p:sp>
        <p:sp>
          <p:nvSpPr>
            <p:cNvPr id="16" name="文本框 22">
              <a:extLst>
                <a:ext uri="{FF2B5EF4-FFF2-40B4-BE49-F238E27FC236}">
                  <a16:creationId xmlns:a16="http://schemas.microsoft.com/office/drawing/2014/main" id="{025E2F4B-C5EF-190C-12D3-B4B03DBF8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625" y="2797175"/>
              <a:ext cx="338138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i="0">
                  <a:ea typeface="宋体" pitchFamily="2" charset="-122"/>
                </a:rPr>
                <a:t>2</a:t>
              </a:r>
              <a:endParaRPr lang="zh-CN" altLang="en-US" i="0">
                <a:ea typeface="宋体" pitchFamily="2" charset="-122"/>
              </a:endParaRPr>
            </a:p>
          </p:txBody>
        </p:sp>
        <p:sp>
          <p:nvSpPr>
            <p:cNvPr id="17" name="文本框 23">
              <a:extLst>
                <a:ext uri="{FF2B5EF4-FFF2-40B4-BE49-F238E27FC236}">
                  <a16:creationId xmlns:a16="http://schemas.microsoft.com/office/drawing/2014/main" id="{6F92B63D-0766-8511-D76D-2ED62A81C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225" y="4614863"/>
              <a:ext cx="338138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altLang="zh-CN" i="0">
                  <a:ea typeface="宋体" pitchFamily="2" charset="-122"/>
                </a:rPr>
                <a:t>4</a:t>
              </a:r>
              <a:endParaRPr lang="zh-CN" altLang="en-US" i="0">
                <a:ea typeface="宋体" pitchFamily="2" charset="-122"/>
              </a:endParaRPr>
            </a:p>
          </p:txBody>
        </p:sp>
      </p:grpSp>
      <p:sp>
        <p:nvSpPr>
          <p:cNvPr id="18" name="Rectangle 4">
            <a:extLst>
              <a:ext uri="{FF2B5EF4-FFF2-40B4-BE49-F238E27FC236}">
                <a16:creationId xmlns:a16="http://schemas.microsoft.com/office/drawing/2014/main" id="{FB8106BC-194E-E5D2-5DFA-075D37E57C02}"/>
              </a:ext>
            </a:extLst>
          </p:cNvPr>
          <p:cNvSpPr txBox="1">
            <a:spLocks noChangeArrowheads="1"/>
          </p:cNvSpPr>
          <p:nvPr/>
        </p:nvSpPr>
        <p:spPr>
          <a:xfrm>
            <a:off x="4996367" y="2383597"/>
            <a:ext cx="6644175" cy="4990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defRPr/>
            </a:pPr>
            <a:r>
              <a:rPr lang="en-US" altLang="zh-CN" dirty="0">
                <a:ea typeface="宋体" pitchFamily="2" charset="-122"/>
              </a:rPr>
              <a:t>A salesman needs to go to several cities to sell commodities. </a:t>
            </a:r>
          </a:p>
          <a:p>
            <a:pPr>
              <a:spcBef>
                <a:spcPts val="1200"/>
              </a:spcBef>
              <a:defRPr/>
            </a:pPr>
            <a:endParaRPr lang="en-US" altLang="zh-CN" dirty="0">
              <a:ea typeface="宋体" pitchFamily="2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zh-CN" dirty="0">
                <a:ea typeface="宋体" pitchFamily="2" charset="-122"/>
              </a:rPr>
              <a:t>How to select the travel route to minimize the total travel distance?</a:t>
            </a:r>
          </a:p>
          <a:p>
            <a:pPr>
              <a:spcBef>
                <a:spcPts val="1200"/>
              </a:spcBef>
              <a:defRPr/>
            </a:pPr>
            <a:endParaRPr lang="en-GB" altLang="zh-CN" dirty="0">
              <a:ea typeface="宋体" pitchFamily="2" charset="-122"/>
            </a:endParaRPr>
          </a:p>
          <a:p>
            <a:pPr>
              <a:spcBef>
                <a:spcPts val="1200"/>
              </a:spcBef>
              <a:defRPr/>
            </a:pPr>
            <a:r>
              <a:rPr lang="en-GB" altLang="zh-CN" dirty="0">
                <a:ea typeface="宋体" pitchFamily="2" charset="-122"/>
              </a:rPr>
              <a:t>In what order should the </a:t>
            </a:r>
            <a:r>
              <a:rPr lang="en-US" altLang="zh-CN" dirty="0">
                <a:ea typeface="宋体" pitchFamily="2" charset="-122"/>
              </a:rPr>
              <a:t>salesman </a:t>
            </a:r>
            <a:r>
              <a:rPr lang="en-GB" altLang="zh-CN" dirty="0">
                <a:ea typeface="宋体" pitchFamily="2" charset="-122"/>
              </a:rPr>
              <a:t>visit these cities to minimize the distance </a:t>
            </a:r>
            <a:r>
              <a:rPr lang="en-GB" altLang="zh-CN" dirty="0" err="1">
                <a:ea typeface="宋体" pitchFamily="2" charset="-122"/>
              </a:rPr>
              <a:t>traveled</a:t>
            </a:r>
            <a:r>
              <a:rPr lang="en-GB" altLang="zh-CN" dirty="0">
                <a:ea typeface="宋体" pitchFamily="2" charset="-122"/>
              </a:rPr>
              <a:t> (cost)? </a:t>
            </a:r>
          </a:p>
          <a:p>
            <a:pPr>
              <a:spcBef>
                <a:spcPts val="1200"/>
              </a:spcBef>
              <a:defRPr/>
            </a:pPr>
            <a:endParaRPr lang="en-GB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08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8A67-99E0-D773-B880-BD382766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Popular optimization problems: TSP formulation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93A32A-C7C3-F32A-38AF-1D8FA2EB44F8}"/>
              </a:ext>
            </a:extLst>
          </p:cNvPr>
          <p:cNvSpPr txBox="1">
            <a:spLocks noChangeArrowheads="1"/>
          </p:cNvSpPr>
          <p:nvPr/>
        </p:nvSpPr>
        <p:spPr>
          <a:xfrm>
            <a:off x="527249" y="1464430"/>
            <a:ext cx="7793037" cy="5232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zh-CN" sz="2400" b="0" dirty="0">
                <a:ea typeface="宋体" pitchFamily="2" charset="-122"/>
              </a:rPr>
              <a:t>Formulation of TSP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BCB1A21-866A-9655-2210-B7EF2DA24CA1}"/>
              </a:ext>
            </a:extLst>
          </p:cNvPr>
          <p:cNvSpPr txBox="1">
            <a:spLocks noChangeArrowheads="1"/>
          </p:cNvSpPr>
          <p:nvPr/>
        </p:nvSpPr>
        <p:spPr>
          <a:xfrm>
            <a:off x="527249" y="1841903"/>
            <a:ext cx="11636175" cy="57975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Representation of a tour? Permutation</a:t>
            </a:r>
          </a:p>
          <a:p>
            <a:pPr lvl="1">
              <a:spcBef>
                <a:spcPts val="12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e.g.: 4 cities: (1, 4, 3, 2) means: 1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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4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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3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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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1</a:t>
            </a:r>
          </a:p>
          <a:p>
            <a:pPr lvl="1">
              <a:spcBef>
                <a:spcPts val="1200"/>
              </a:spcBef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lvl="1">
              <a:spcBef>
                <a:spcPts val="12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Generally, 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={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,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(2)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,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…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,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)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,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(1) }means:</a:t>
            </a:r>
          </a:p>
          <a:p>
            <a:pPr lvl="1">
              <a:spcBef>
                <a:spcPts val="1200"/>
              </a:spcBef>
            </a:pPr>
            <a:endParaRPr lang="en-GB" altLang="zh-CN" i="1" dirty="0">
              <a:solidFill>
                <a:schemeClr val="tx1"/>
              </a:solidFill>
              <a:ea typeface="宋体" pitchFamily="2" charset="-122"/>
            </a:endParaRPr>
          </a:p>
          <a:p>
            <a:pPr lvl="1">
              <a:spcBef>
                <a:spcPts val="1200"/>
              </a:spcBef>
            </a:pP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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(2)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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…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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) 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  <a:sym typeface="Symbol"/>
              </a:rPr>
              <a:t> 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(1) </a:t>
            </a:r>
          </a:p>
          <a:p>
            <a:pPr lvl="1">
              <a:spcBef>
                <a:spcPts val="12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where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) is the </a:t>
            </a:r>
            <a:r>
              <a:rPr lang="en-GB" altLang="zh-CN" i="1" dirty="0">
                <a:solidFill>
                  <a:schemeClr val="tx1"/>
                </a:solidFill>
                <a:ea typeface="宋体" pitchFamily="2" charset="-122"/>
              </a:rPr>
              <a:t>n-</a:t>
            </a:r>
            <a:r>
              <a:rPr lang="en-US" altLang="zh-CN" dirty="0" err="1">
                <a:solidFill>
                  <a:schemeClr val="tx1"/>
                </a:solidFill>
                <a:ea typeface="宋体" pitchFamily="2" charset="-122"/>
              </a:rPr>
              <a:t>th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city to visit</a:t>
            </a: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The length of tour (Objective function)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19642E-054D-A364-F69B-F8C9190A9029}"/>
                  </a:ext>
                </a:extLst>
              </p:cNvPr>
              <p:cNvSpPr txBox="1"/>
              <p:nvPr/>
            </p:nvSpPr>
            <p:spPr>
              <a:xfrm>
                <a:off x="717437" y="6176262"/>
                <a:ext cx="6096680" cy="3960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(2),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GB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b>
                      </m:sSub>
                      <m:r>
                        <a:rPr lang="en-GB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19642E-054D-A364-F69B-F8C9190A9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37" y="6176262"/>
                <a:ext cx="6096680" cy="396006"/>
              </a:xfrm>
              <a:prstGeom prst="rect">
                <a:avLst/>
              </a:prstGeom>
              <a:blipFill>
                <a:blip r:embed="rId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47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9881-B5A0-222D-EAAD-66AE2B74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Popular optimization problems: key concepts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32B599AC-ECA8-523A-FC13-A7ABDA091999}"/>
              </a:ext>
            </a:extLst>
          </p:cNvPr>
          <p:cNvSpPr txBox="1">
            <a:spLocks noChangeArrowheads="1"/>
          </p:cNvSpPr>
          <p:nvPr/>
        </p:nvSpPr>
        <p:spPr>
          <a:xfrm>
            <a:off x="555825" y="1607305"/>
            <a:ext cx="7793037" cy="5232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zh-CN" sz="2400" b="0" dirty="0">
                <a:ea typeface="宋体" pitchFamily="2" charset="-122"/>
              </a:rPr>
              <a:t>Formulation of TSP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1FB9121-B059-5EED-5C4F-7F85F7EC26EE}"/>
              </a:ext>
            </a:extLst>
          </p:cNvPr>
          <p:cNvSpPr txBox="1">
            <a:spLocks noChangeArrowheads="1"/>
          </p:cNvSpPr>
          <p:nvPr/>
        </p:nvSpPr>
        <p:spPr>
          <a:xfrm>
            <a:off x="555825" y="1422400"/>
            <a:ext cx="11355868" cy="57975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GB" altLang="zh-CN" sz="21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/>
            <a:endParaRPr lang="en-GB" altLang="zh-CN" sz="21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TSP is defined as:</a:t>
            </a:r>
          </a:p>
          <a:p>
            <a:pPr marL="0" indent="0"/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/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lvl="1"/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marL="0" indent="0">
              <a:buFont typeface="Wingdings" pitchFamily="2" charset="2"/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Look for a permutation vector in     to minimize            </a:t>
            </a:r>
          </a:p>
          <a:p>
            <a:pPr marL="0" indent="0">
              <a:buFont typeface="Wingdings" pitchFamily="2" charset="2"/>
              <a:buNone/>
            </a:pPr>
            <a:r>
              <a:rPr lang="en-GB" altLang="zh-CN" sz="21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36" name="Object 16">
            <a:extLst>
              <a:ext uri="{FF2B5EF4-FFF2-40B4-BE49-F238E27FC236}">
                <a16:creationId xmlns:a16="http://schemas.microsoft.com/office/drawing/2014/main" id="{D948463F-AB7B-9CBA-8898-BDA35B0A0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339961"/>
              </p:ext>
            </p:extLst>
          </p:nvPr>
        </p:nvGraphicFramePr>
        <p:xfrm>
          <a:off x="5025095" y="5488877"/>
          <a:ext cx="24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5" imgH="164885" progId="Equation.3">
                  <p:embed/>
                </p:oleObj>
              </mc:Choice>
              <mc:Fallback>
                <p:oleObj name="Equation" r:id="rId2" imgW="164885" imgH="164885" progId="Equation.3">
                  <p:embed/>
                  <p:pic>
                    <p:nvPicPr>
                      <p:cNvPr id="1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5095" y="5488877"/>
                        <a:ext cx="2413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5">
            <a:extLst>
              <a:ext uri="{FF2B5EF4-FFF2-40B4-BE49-F238E27FC236}">
                <a16:creationId xmlns:a16="http://schemas.microsoft.com/office/drawing/2014/main" id="{32BB56ED-83FD-25BA-EFBC-4E9F68D0E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773285"/>
              </p:ext>
            </p:extLst>
          </p:nvPr>
        </p:nvGraphicFramePr>
        <p:xfrm>
          <a:off x="6965149" y="5435600"/>
          <a:ext cx="6080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190440" progId="Equation.DSMT4">
                  <p:embed/>
                </p:oleObj>
              </mc:Choice>
              <mc:Fallback>
                <p:oleObj name="Equation" r:id="rId4" imgW="317160" imgH="190440" progId="Equation.DSMT4">
                  <p:embed/>
                  <p:pic>
                    <p:nvPicPr>
                      <p:cNvPr id="1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149" y="5435600"/>
                        <a:ext cx="60801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0">
            <a:extLst>
              <a:ext uri="{FF2B5EF4-FFF2-40B4-BE49-F238E27FC236}">
                <a16:creationId xmlns:a16="http://schemas.microsoft.com/office/drawing/2014/main" id="{C7F29E3D-24FE-96DC-8609-87DE7C20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135" y="3190473"/>
            <a:ext cx="1447832" cy="477054"/>
          </a:xfrm>
          <a:prstGeom prst="rect">
            <a:avLst/>
          </a:prstGeom>
          <a:solidFill>
            <a:srgbClr val="E7E6E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5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Minimize</a:t>
            </a:r>
          </a:p>
        </p:txBody>
      </p:sp>
      <p:sp>
        <p:nvSpPr>
          <p:cNvPr id="42" name="Text Box 22">
            <a:extLst>
              <a:ext uri="{FF2B5EF4-FFF2-40B4-BE49-F238E27FC236}">
                <a16:creationId xmlns:a16="http://schemas.microsoft.com/office/drawing/2014/main" id="{55AB9880-92BD-1BA9-806B-2431BF43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31" y="4356288"/>
            <a:ext cx="2771913" cy="461665"/>
          </a:xfrm>
          <a:prstGeom prst="rect">
            <a:avLst/>
          </a:prstGeom>
          <a:solidFill>
            <a:srgbClr val="E7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kumimoji="0" lang="en-US" altLang="zh-CN" b="0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ecision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variables </a:t>
            </a:r>
            <a:endParaRPr kumimoji="0" lang="en-GB" altLang="zh-CN" b="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43" name="Object 14">
            <a:extLst>
              <a:ext uri="{FF2B5EF4-FFF2-40B4-BE49-F238E27FC236}">
                <a16:creationId xmlns:a16="http://schemas.microsoft.com/office/drawing/2014/main" id="{830FCD63-8526-3D6B-CD56-33466AD3E3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870803"/>
              </p:ext>
            </p:extLst>
          </p:nvPr>
        </p:nvGraphicFramePr>
        <p:xfrm>
          <a:off x="4241612" y="3218056"/>
          <a:ext cx="4967288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685800" progId="Equation.DSMT4">
                  <p:embed/>
                </p:oleObj>
              </mc:Choice>
              <mc:Fallback>
                <p:oleObj name="Equation" r:id="rId6" imgW="2590560" imgH="685800" progId="Equation.DSMT4">
                  <p:embed/>
                  <p:pic>
                    <p:nvPicPr>
                      <p:cNvPr id="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612" y="3218056"/>
                        <a:ext cx="4967288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18">
            <a:extLst>
              <a:ext uri="{FF2B5EF4-FFF2-40B4-BE49-F238E27FC236}">
                <a16:creationId xmlns:a16="http://schemas.microsoft.com/office/drawing/2014/main" id="{15A02BA3-8C0D-D3FE-33FD-26E6AC950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3162" y="2959640"/>
            <a:ext cx="3555782" cy="461665"/>
          </a:xfrm>
          <a:prstGeom prst="rect">
            <a:avLst/>
          </a:prstGeom>
          <a:solidFill>
            <a:srgbClr val="E7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(Cost) function</a:t>
            </a:r>
          </a:p>
        </p:txBody>
      </p:sp>
      <p:sp>
        <p:nvSpPr>
          <p:cNvPr id="48" name="Text Box 22">
            <a:extLst>
              <a:ext uri="{FF2B5EF4-FFF2-40B4-BE49-F238E27FC236}">
                <a16:creationId xmlns:a16="http://schemas.microsoft.com/office/drawing/2014/main" id="{0477BB67-D9EC-AC4E-151F-A3F7AD351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973" y="3746073"/>
            <a:ext cx="2068195" cy="461665"/>
          </a:xfrm>
          <a:prstGeom prst="rect">
            <a:avLst/>
          </a:prstGeom>
          <a:solidFill>
            <a:srgbClr val="E7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Search space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C628AE0-4E3E-C614-3088-03A69BF5B7A9}"/>
              </a:ext>
            </a:extLst>
          </p:cNvPr>
          <p:cNvCxnSpPr/>
          <p:nvPr/>
        </p:nvCxnSpPr>
        <p:spPr>
          <a:xfrm>
            <a:off x="3128963" y="3429000"/>
            <a:ext cx="8858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8DC1554-B3F3-2EC7-0C1F-6969909E1DF3}"/>
              </a:ext>
            </a:extLst>
          </p:cNvPr>
          <p:cNvCxnSpPr>
            <a:cxnSpLocks/>
          </p:cNvCxnSpPr>
          <p:nvPr/>
        </p:nvCxnSpPr>
        <p:spPr>
          <a:xfrm flipV="1">
            <a:off x="3286125" y="3976905"/>
            <a:ext cx="924125" cy="344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9A007C6-BF93-51FE-9B36-41354CB097D3}"/>
              </a:ext>
            </a:extLst>
          </p:cNvPr>
          <p:cNvCxnSpPr>
            <a:cxnSpLocks/>
          </p:cNvCxnSpPr>
          <p:nvPr/>
        </p:nvCxnSpPr>
        <p:spPr>
          <a:xfrm flipH="1">
            <a:off x="5354433" y="3190472"/>
            <a:ext cx="2179187" cy="1939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5E7FB2C-F650-912B-9776-BFEF67440EF8}"/>
              </a:ext>
            </a:extLst>
          </p:cNvPr>
          <p:cNvCxnSpPr>
            <a:cxnSpLocks/>
          </p:cNvCxnSpPr>
          <p:nvPr/>
        </p:nvCxnSpPr>
        <p:spPr>
          <a:xfrm flipH="1">
            <a:off x="5145745" y="3976905"/>
            <a:ext cx="2387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12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45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CE30-9B97-A7AA-3B99-F4D8E46C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Application of TSP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37FFEE-7ECB-F9A8-003B-C6521AE69A19}"/>
              </a:ext>
            </a:extLst>
          </p:cNvPr>
          <p:cNvSpPr txBox="1">
            <a:spLocks noChangeArrowheads="1"/>
          </p:cNvSpPr>
          <p:nvPr/>
        </p:nvSpPr>
        <p:spPr>
          <a:xfrm>
            <a:off x="479369" y="2196574"/>
            <a:ext cx="9929812" cy="1752600"/>
          </a:xfrm>
          <a:prstGeom prst="rect">
            <a:avLst/>
          </a:prstGeom>
        </p:spPr>
        <p:txBody>
          <a:bodyPr lIns="92075" tIns="46038" rIns="92075" bIns="46038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100" dirty="0">
                <a:solidFill>
                  <a:schemeClr val="tx1"/>
                </a:solidFill>
                <a:ea typeface="宋体" pitchFamily="2" charset="-122"/>
              </a:rPr>
              <a:t>Robot control</a:t>
            </a:r>
          </a:p>
          <a:p>
            <a:pPr marL="342900" indent="-342900">
              <a:lnSpc>
                <a:spcPct val="120000"/>
              </a:lnSpc>
              <a:spcBef>
                <a:spcPts val="1200"/>
              </a:spcBef>
            </a:pPr>
            <a:r>
              <a:rPr lang="en-US" altLang="zh-CN" sz="2100" dirty="0">
                <a:solidFill>
                  <a:schemeClr val="tx1"/>
                </a:solidFill>
                <a:ea typeface="宋体" pitchFamily="2" charset="-122"/>
              </a:rPr>
              <a:t>Which order should the robotic arm be used to minimize the drilling time?</a:t>
            </a:r>
          </a:p>
          <a:p>
            <a:pPr marL="342900" indent="-342900">
              <a:lnSpc>
                <a:spcPct val="120000"/>
              </a:lnSpc>
              <a:spcBef>
                <a:spcPts val="1200"/>
              </a:spcBef>
            </a:pPr>
            <a:r>
              <a:rPr lang="en-US" altLang="zh-CN" sz="2100" dirty="0">
                <a:solidFill>
                  <a:schemeClr val="tx1"/>
                </a:solidFill>
                <a:ea typeface="宋体" pitchFamily="2" charset="-122"/>
              </a:rPr>
              <a:t>An embedded system containing the optimization algorithm. 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FD143A5-17B2-1778-7454-9B5F700ED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804" y="5120264"/>
            <a:ext cx="8445500" cy="149013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Rectangle 25">
            <a:extLst>
              <a:ext uri="{FF2B5EF4-FFF2-40B4-BE49-F238E27FC236}">
                <a16:creationId xmlns:a16="http://schemas.microsoft.com/office/drawing/2014/main" id="{5B0C62D3-2EA7-3D01-4458-CC2A42DCF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172" y="4219904"/>
            <a:ext cx="18161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Robot arm</a:t>
            </a:r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FC10E80E-27F1-1A93-216E-F65F1360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884" y="3848429"/>
            <a:ext cx="1211263" cy="121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流程图: 磁盘 4">
            <a:extLst>
              <a:ext uri="{FF2B5EF4-FFF2-40B4-BE49-F238E27FC236}">
                <a16:creationId xmlns:a16="http://schemas.microsoft.com/office/drawing/2014/main" id="{7CC4EB26-E3AA-82EE-2E2E-49ABDA1E8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556" y="5362217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8" name="流程图: 磁盘 4">
            <a:extLst>
              <a:ext uri="{FF2B5EF4-FFF2-40B4-BE49-F238E27FC236}">
                <a16:creationId xmlns:a16="http://schemas.microsoft.com/office/drawing/2014/main" id="{E42369D4-8454-90E5-F8BD-FAA49DE1D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822" y="5406791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9" name="流程图: 磁盘 4">
            <a:extLst>
              <a:ext uri="{FF2B5EF4-FFF2-40B4-BE49-F238E27FC236}">
                <a16:creationId xmlns:a16="http://schemas.microsoft.com/office/drawing/2014/main" id="{758AD5D0-15D3-EF5E-413A-DAB74FAB5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310" y="5528996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0" name="流程图: 磁盘 4">
            <a:extLst>
              <a:ext uri="{FF2B5EF4-FFF2-40B4-BE49-F238E27FC236}">
                <a16:creationId xmlns:a16="http://schemas.microsoft.com/office/drawing/2014/main" id="{BA2092B3-4612-B892-E162-C3C54E3A2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675" y="5499115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1" name="流程图: 磁盘 4">
            <a:extLst>
              <a:ext uri="{FF2B5EF4-FFF2-40B4-BE49-F238E27FC236}">
                <a16:creationId xmlns:a16="http://schemas.microsoft.com/office/drawing/2014/main" id="{D8BABB02-8FA9-7008-8472-62BB756BB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04" y="5559191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2" name="流程图: 磁盘 4">
            <a:extLst>
              <a:ext uri="{FF2B5EF4-FFF2-40B4-BE49-F238E27FC236}">
                <a16:creationId xmlns:a16="http://schemas.microsoft.com/office/drawing/2014/main" id="{75A12F70-DDFC-B16D-F504-A594CC5F2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5559191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3" name="流程图: 磁盘 4">
            <a:extLst>
              <a:ext uri="{FF2B5EF4-FFF2-40B4-BE49-F238E27FC236}">
                <a16:creationId xmlns:a16="http://schemas.microsoft.com/office/drawing/2014/main" id="{4437148D-A1A6-E1C1-7EB7-93F404CEF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0423" y="5514617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4" name="流程图: 磁盘 4">
            <a:extLst>
              <a:ext uri="{FF2B5EF4-FFF2-40B4-BE49-F238E27FC236}">
                <a16:creationId xmlns:a16="http://schemas.microsoft.com/office/drawing/2014/main" id="{BED441D4-3DE7-9124-63C8-99D36EEC5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756" y="5406791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5" name="流程图: 磁盘 4">
            <a:extLst>
              <a:ext uri="{FF2B5EF4-FFF2-40B4-BE49-F238E27FC236}">
                <a16:creationId xmlns:a16="http://schemas.microsoft.com/office/drawing/2014/main" id="{09A70910-F783-D630-832B-F0FEEDD65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152" y="5254391"/>
            <a:ext cx="247650" cy="917079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20000"/>
              </a:spcBef>
            </a:pPr>
            <a:endParaRPr lang="zh-CN" altLang="en-US" sz="240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B4255E8-33B7-06D8-C226-5F9A4C66E53C}"/>
              </a:ext>
            </a:extLst>
          </p:cNvPr>
          <p:cNvSpPr txBox="1">
            <a:spLocks noChangeArrowheads="1"/>
          </p:cNvSpPr>
          <p:nvPr/>
        </p:nvSpPr>
        <p:spPr>
          <a:xfrm>
            <a:off x="479369" y="1664353"/>
            <a:ext cx="7793037" cy="7223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2400" b="0" dirty="0">
                <a:ea typeface="宋体" pitchFamily="2" charset="-122"/>
              </a:rPr>
              <a:t>Applications of TSP</a:t>
            </a:r>
            <a:endParaRPr lang="en-GB" altLang="zh-CN" sz="2400" b="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331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utoUpdateAnimBg="0"/>
      <p:bldP spid="4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53E3-CC09-52C7-CC80-6A8B2370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</a:rPr>
              <a:t>Popular optimization problems: QAP</a:t>
            </a:r>
            <a:b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</a:rPr>
            </a:br>
            <a:br>
              <a:rPr lang="en-CN" dirty="0">
                <a:solidFill>
                  <a:schemeClr val="tx1"/>
                </a:solidFill>
              </a:rPr>
            </a:br>
            <a:endParaRPr lang="en-C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5BB878-DF24-04A6-AE60-FDF5399CBE65}"/>
              </a:ext>
            </a:extLst>
          </p:cNvPr>
          <p:cNvSpPr txBox="1">
            <a:spLocks noChangeArrowheads="1"/>
          </p:cNvSpPr>
          <p:nvPr/>
        </p:nvSpPr>
        <p:spPr>
          <a:xfrm>
            <a:off x="518080" y="1533777"/>
            <a:ext cx="7793037" cy="5974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Quadratic Assignment Problem (QAP)</a:t>
            </a:r>
            <a:endParaRPr lang="en-GB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7498C4-2887-8A73-42D2-B440EDE92D91}"/>
              </a:ext>
            </a:extLst>
          </p:cNvPr>
          <p:cNvSpPr txBox="1">
            <a:spLocks noChangeArrowheads="1"/>
          </p:cNvSpPr>
          <p:nvPr/>
        </p:nvSpPr>
        <p:spPr>
          <a:xfrm>
            <a:off x="875267" y="2280686"/>
            <a:ext cx="8731250" cy="489218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r>
              <a:rPr lang="en-GB" altLang="zh-CN" u="sng" dirty="0">
                <a:solidFill>
                  <a:schemeClr val="tx1"/>
                </a:solidFill>
                <a:ea typeface="宋体" pitchFamily="2" charset="-122"/>
              </a:rPr>
              <a:t>Assign n Depts to n Sites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Given:  distances between sites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            material flow between departments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Goal:  Minimize the cost of  transporting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             ( sum of  flow x distance) </a:t>
            </a:r>
          </a:p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Font typeface="Wingdings" pitchFamily="2" charset="2"/>
              <a:buNone/>
            </a:pPr>
            <a:r>
              <a:rPr lang="en-GB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A467FA-1635-40FD-D2E2-867A7B78A4CB}"/>
              </a:ext>
            </a:extLst>
          </p:cNvPr>
          <p:cNvGrpSpPr/>
          <p:nvPr/>
        </p:nvGrpSpPr>
        <p:grpSpPr>
          <a:xfrm>
            <a:off x="6372748" y="3857520"/>
            <a:ext cx="4488491" cy="2933406"/>
            <a:chOff x="2959292" y="3622031"/>
            <a:chExt cx="4488491" cy="2933406"/>
          </a:xfrm>
        </p:grpSpPr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9FF63F21-E632-C27E-1269-CA61F684F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1942" y="3622031"/>
              <a:ext cx="1125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GB" altLang="zh-CN" i="0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Dept 1</a:t>
              </a:r>
            </a:p>
          </p:txBody>
        </p:sp>
        <p:grpSp>
          <p:nvGrpSpPr>
            <p:cNvPr id="8" name="Group 9">
              <a:extLst>
                <a:ext uri="{FF2B5EF4-FFF2-40B4-BE49-F238E27FC236}">
                  <a16:creationId xmlns:a16="http://schemas.microsoft.com/office/drawing/2014/main" id="{D593D944-7E84-3F76-27FB-3E086FD6C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9292" y="3679126"/>
              <a:ext cx="4488491" cy="2876311"/>
              <a:chOff x="2416" y="524"/>
              <a:chExt cx="3675" cy="2405"/>
            </a:xfrm>
          </p:grpSpPr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B8C6E24D-6AB1-ADF7-E3EB-53C776208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4" y="2543"/>
                <a:ext cx="151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Oval 11">
                <a:extLst>
                  <a:ext uri="{FF2B5EF4-FFF2-40B4-BE49-F238E27FC236}">
                    <a16:creationId xmlns:a16="http://schemas.microsoft.com/office/drawing/2014/main" id="{328D801C-5B1C-C94A-0832-1330E0B70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2" y="843"/>
                <a:ext cx="192" cy="5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Oval 12">
                <a:extLst>
                  <a:ext uri="{FF2B5EF4-FFF2-40B4-BE49-F238E27FC236}">
                    <a16:creationId xmlns:a16="http://schemas.microsoft.com/office/drawing/2014/main" id="{21B93269-0C18-F86D-D19D-9F6F63DE1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0" y="867"/>
                <a:ext cx="213" cy="5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331BC792-3767-5ACE-8B76-90C9F9A83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8" y="1162"/>
                <a:ext cx="0" cy="120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4B44C671-02FA-3E3A-B567-D34477C9E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28" y="1210"/>
                <a:ext cx="672" cy="120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7BCC5B99-9E32-D9D3-8EE6-931E66552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1114"/>
                <a:ext cx="528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18020DC8-E8F3-F433-321F-212FF787F5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2" y="625"/>
                <a:ext cx="823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Site 1</a:t>
                </a:r>
              </a:p>
            </p:txBody>
          </p:sp>
          <p:sp>
            <p:nvSpPr>
              <p:cNvPr id="20" name="Text Box 20">
                <a:extLst>
                  <a:ext uri="{FF2B5EF4-FFF2-40B4-BE49-F238E27FC236}">
                    <a16:creationId xmlns:a16="http://schemas.microsoft.com/office/drawing/2014/main" id="{B3828DA9-707C-521D-0E97-C9929432E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6" y="2290"/>
                <a:ext cx="893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Site 2</a:t>
                </a:r>
              </a:p>
            </p:txBody>
          </p:sp>
          <p:sp>
            <p:nvSpPr>
              <p:cNvPr id="21" name="Text Box 21">
                <a:extLst>
                  <a:ext uri="{FF2B5EF4-FFF2-40B4-BE49-F238E27FC236}">
                    <a16:creationId xmlns:a16="http://schemas.microsoft.com/office/drawing/2014/main" id="{C2817BA3-C932-43DF-2DE7-8BE5B6D415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8" y="524"/>
                <a:ext cx="823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Site 3</a:t>
                </a:r>
              </a:p>
            </p:txBody>
          </p:sp>
          <p:sp>
            <p:nvSpPr>
              <p:cNvPr id="22" name="AutoShape 22">
                <a:extLst>
                  <a:ext uri="{FF2B5EF4-FFF2-40B4-BE49-F238E27FC236}">
                    <a16:creationId xmlns:a16="http://schemas.microsoft.com/office/drawing/2014/main" id="{3A3AB22C-E47F-F382-5FF2-20A789B23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025"/>
                <a:ext cx="240" cy="446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" name="AutoShape 23">
                <a:extLst>
                  <a:ext uri="{FF2B5EF4-FFF2-40B4-BE49-F238E27FC236}">
                    <a16:creationId xmlns:a16="http://schemas.microsoft.com/office/drawing/2014/main" id="{51EE8D38-8DA6-3CF6-5CCB-82DB28ADF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1601"/>
                <a:ext cx="240" cy="446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AutoShape 24">
                <a:extLst>
                  <a:ext uri="{FF2B5EF4-FFF2-40B4-BE49-F238E27FC236}">
                    <a16:creationId xmlns:a16="http://schemas.microsoft.com/office/drawing/2014/main" id="{45292258-D1C1-9269-057E-59681255C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1601"/>
                <a:ext cx="240" cy="446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" name="Text Box 25">
                <a:extLst>
                  <a:ext uri="{FF2B5EF4-FFF2-40B4-BE49-F238E27FC236}">
                    <a16:creationId xmlns:a16="http://schemas.microsoft.com/office/drawing/2014/main" id="{F4350135-6097-D44F-88B6-FB68A90E64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9" y="1952"/>
                <a:ext cx="922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Dept</a:t>
                </a:r>
                <a:r>
                  <a:rPr lang="en-GB" altLang="zh-CN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2</a:t>
                </a:r>
              </a:p>
            </p:txBody>
          </p:sp>
          <p:sp>
            <p:nvSpPr>
              <p:cNvPr id="26" name="Text Box 26">
                <a:extLst>
                  <a:ext uri="{FF2B5EF4-FFF2-40B4-BE49-F238E27FC236}">
                    <a16:creationId xmlns:a16="http://schemas.microsoft.com/office/drawing/2014/main" id="{ABAA77E7-0BF9-8796-EB79-25D2F10387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7" y="2112"/>
                <a:ext cx="922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 err="1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Dept</a:t>
                </a:r>
                <a:r>
                  <a:rPr lang="en-GB" altLang="zh-CN" i="0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3</a:t>
                </a:r>
              </a:p>
            </p:txBody>
          </p:sp>
          <p:sp>
            <p:nvSpPr>
              <p:cNvPr id="27" name="AutoShape 27">
                <a:extLst>
                  <a:ext uri="{FF2B5EF4-FFF2-40B4-BE49-F238E27FC236}">
                    <a16:creationId xmlns:a16="http://schemas.microsoft.com/office/drawing/2014/main" id="{CE84188F-A938-658F-51D0-2312B5350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1321"/>
                <a:ext cx="144" cy="431"/>
              </a:xfrm>
              <a:prstGeom prst="leftBrace">
                <a:avLst>
                  <a:gd name="adj1" fmla="val 55556"/>
                  <a:gd name="adj2" fmla="val 50000"/>
                </a:avLst>
              </a:pr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endParaRPr lang="zh-CN" altLang="en-US" sz="240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28" name="AutoShape 28">
                <a:extLst>
                  <a:ext uri="{FF2B5EF4-FFF2-40B4-BE49-F238E27FC236}">
                    <a16:creationId xmlns:a16="http://schemas.microsoft.com/office/drawing/2014/main" id="{958D07B5-1938-34D4-B80D-54DFEC69AA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-5400000" flipH="1" flipV="1">
                <a:off x="3509" y="1147"/>
                <a:ext cx="1375" cy="1386"/>
              </a:xfrm>
              <a:prstGeom prst="curvedConnector4">
                <a:avLst>
                  <a:gd name="adj1" fmla="val -14838"/>
                  <a:gd name="adj2" fmla="val 53245"/>
                </a:avLst>
              </a:prstGeom>
              <a:noFill/>
              <a:ln w="38100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AutoShape 29">
                <a:extLst>
                  <a:ext uri="{FF2B5EF4-FFF2-40B4-BE49-F238E27FC236}">
                    <a16:creationId xmlns:a16="http://schemas.microsoft.com/office/drawing/2014/main" id="{3C8524F3-2615-A697-D7E2-6111CB3210EC}"/>
                  </a:ext>
                </a:extLst>
              </p:cNvPr>
              <p:cNvCxnSpPr>
                <a:cxnSpLocks noChangeShapeType="1"/>
                <a:stCxn id="23" idx="2"/>
              </p:cNvCxnSpPr>
              <p:nvPr/>
            </p:nvCxnSpPr>
            <p:spPr bwMode="auto">
              <a:xfrm rot="10800000">
                <a:off x="3408" y="1200"/>
                <a:ext cx="1104" cy="655"/>
              </a:xfrm>
              <a:prstGeom prst="curvedConnector3">
                <a:avLst>
                  <a:gd name="adj1" fmla="val 50000"/>
                </a:avLst>
              </a:prstGeom>
              <a:noFill/>
              <a:ln w="38100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AutoShape 30">
                <a:extLst>
                  <a:ext uri="{FF2B5EF4-FFF2-40B4-BE49-F238E27FC236}">
                    <a16:creationId xmlns:a16="http://schemas.microsoft.com/office/drawing/2014/main" id="{3832B9CB-675D-1E94-BBC8-8C888293EA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>
                <a:off x="4311" y="921"/>
                <a:ext cx="588" cy="1050"/>
              </a:xfrm>
              <a:prstGeom prst="curvedConnector2">
                <a:avLst/>
              </a:prstGeom>
              <a:noFill/>
              <a:ln w="38100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1" name="Text Box 31">
                <a:extLst>
                  <a:ext uri="{FF2B5EF4-FFF2-40B4-BE49-F238E27FC236}">
                    <a16:creationId xmlns:a16="http://schemas.microsoft.com/office/drawing/2014/main" id="{558D6E48-602B-B4AB-BC2A-8B15330203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206"/>
                <a:ext cx="240" cy="3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endParaRPr lang="en-GB" altLang="zh-CN" i="0"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Line 32">
                <a:extLst>
                  <a:ext uri="{FF2B5EF4-FFF2-40B4-BE49-F238E27FC236}">
                    <a16:creationId xmlns:a16="http://schemas.microsoft.com/office/drawing/2014/main" id="{A414CCCD-1E90-2933-2EB0-9C5052E26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1344"/>
                <a:ext cx="240" cy="336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Text Box 35">
                <a:extLst>
                  <a:ext uri="{FF2B5EF4-FFF2-40B4-BE49-F238E27FC236}">
                    <a16:creationId xmlns:a16="http://schemas.microsoft.com/office/drawing/2014/main" id="{383F1B63-42D9-292F-5C52-7B9025C851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8" y="1583"/>
                <a:ext cx="27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>
                    <a:ea typeface="宋体" pitchFamily="2" charset="-122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34" name="Text Box 36">
                <a:extLst>
                  <a:ext uri="{FF2B5EF4-FFF2-40B4-BE49-F238E27FC236}">
                    <a16:creationId xmlns:a16="http://schemas.microsoft.com/office/drawing/2014/main" id="{4E48E962-9133-0B8D-C0B0-D7AC03C53C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0" y="1641"/>
                <a:ext cx="123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>
                    <a:ea typeface="宋体" pitchFamily="2" charset="-122"/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5" name="Text Box 37">
                <a:extLst>
                  <a:ext uri="{FF2B5EF4-FFF2-40B4-BE49-F238E27FC236}">
                    <a16:creationId xmlns:a16="http://schemas.microsoft.com/office/drawing/2014/main" id="{75EB8C47-4C29-283B-F701-2A02BF2550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" y="815"/>
                <a:ext cx="27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>
                    <a:ea typeface="宋体" pitchFamily="2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6" name="Text Box 38">
                <a:extLst>
                  <a:ext uri="{FF2B5EF4-FFF2-40B4-BE49-F238E27FC236}">
                    <a16:creationId xmlns:a16="http://schemas.microsoft.com/office/drawing/2014/main" id="{AA7DB25F-CE21-2210-AA22-FFCEE7A78B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9" y="1295"/>
                <a:ext cx="27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>
                    <a:ea typeface="宋体" pitchFamily="2" charset="-122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7" name="Text Box 39">
                <a:extLst>
                  <a:ext uri="{FF2B5EF4-FFF2-40B4-BE49-F238E27FC236}">
                    <a16:creationId xmlns:a16="http://schemas.microsoft.com/office/drawing/2014/main" id="{48744A6A-6C86-A885-D116-CF47E123AF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4" y="1343"/>
                <a:ext cx="27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>
                    <a:ea typeface="宋体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8" name="Text Box 40">
                <a:extLst>
                  <a:ext uri="{FF2B5EF4-FFF2-40B4-BE49-F238E27FC236}">
                    <a16:creationId xmlns:a16="http://schemas.microsoft.com/office/drawing/2014/main" id="{C731FA0B-55EF-EDD1-3ED3-0C4E348B1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8" y="1737"/>
                <a:ext cx="279" cy="3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20000"/>
                  </a:spcBef>
                </a:pPr>
                <a:r>
                  <a:rPr lang="en-GB" altLang="zh-CN" i="0" dirty="0">
                    <a:ea typeface="宋体" pitchFamily="2" charset="-122"/>
                    <a:cs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9" name="Text Box 43">
              <a:extLst>
                <a:ext uri="{FF2B5EF4-FFF2-40B4-BE49-F238E27FC236}">
                  <a16:creationId xmlns:a16="http://schemas.microsoft.com/office/drawing/2014/main" id="{CEC17DB2-2349-64D2-6F56-BC996BB08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9220" y="5120261"/>
              <a:ext cx="438150" cy="46166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anchor="ctr">
              <a:spAutoFit/>
            </a:bodyPr>
            <a:lstStyle>
              <a:lvl1pPr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GB" altLang="zh-CN" i="0" dirty="0">
                  <a:solidFill>
                    <a:srgbClr val="FF0000"/>
                  </a:solidFill>
                  <a:ea typeface="宋体" pitchFamily="2" charset="-122"/>
                  <a:cs typeface="Times New Roman" pitchFamily="18" charset="0"/>
                </a:rPr>
                <a:t>?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097791D7-1351-AF81-C9D5-8AB7892D3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2647" y="5610133"/>
              <a:ext cx="259766" cy="6491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20000"/>
                </a:spcBef>
              </a:pPr>
              <a:endParaRPr lang="zh-CN" altLang="en-US" sz="240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8A9608F5-F4FD-7E54-480E-C0C35BAA1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0414" y="4751912"/>
              <a:ext cx="119909" cy="320521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Line 32">
              <a:extLst>
                <a:ext uri="{FF2B5EF4-FFF2-40B4-BE49-F238E27FC236}">
                  <a16:creationId xmlns:a16="http://schemas.microsoft.com/office/drawing/2014/main" id="{043C3887-BD8E-D48C-6DFA-B8AE83E27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0414" y="5214070"/>
              <a:ext cx="325097" cy="3074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4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9" name="TextBox 2">
            <a:extLst>
              <a:ext uri="{FF2B5EF4-FFF2-40B4-BE49-F238E27FC236}">
                <a16:creationId xmlns:a16="http://schemas.microsoft.com/office/drawing/2014/main" id="{CF4D1781-9D7D-5EE7-E6B5-E27A6B222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8842" y="2359472"/>
            <a:ext cx="270463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 b="0" i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sites should Dept 1,2,3 go to?</a:t>
            </a:r>
          </a:p>
        </p:txBody>
      </p:sp>
      <p:cxnSp>
        <p:nvCxnSpPr>
          <p:cNvPr id="40" name="Straight Arrow Connector 4">
            <a:extLst>
              <a:ext uri="{FF2B5EF4-FFF2-40B4-BE49-F238E27FC236}">
                <a16:creationId xmlns:a16="http://schemas.microsoft.com/office/drawing/2014/main" id="{14B0C7EE-671E-9850-D971-0B771EF8BF8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949372" y="3473093"/>
            <a:ext cx="665278" cy="60396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358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7FC4-38ED-C2C7-F12C-BC6EF5DC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  <a:ea typeface="Calibri" panose="020F0502020204030204" pitchFamily="34" charset="0"/>
              </a:rPr>
              <a:t>Popular optimization problems: QAP formulation</a:t>
            </a:r>
            <a:br>
              <a:rPr lang="en-US" altLang="zh-CN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B5A80A-2B2B-02FF-50E9-6B2F7EA4388D}"/>
              </a:ext>
            </a:extLst>
          </p:cNvPr>
          <p:cNvSpPr txBox="1">
            <a:spLocks noChangeArrowheads="1"/>
          </p:cNvSpPr>
          <p:nvPr/>
        </p:nvSpPr>
        <p:spPr>
          <a:xfrm>
            <a:off x="502443" y="1458912"/>
            <a:ext cx="7793037" cy="7223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Formulation of QAP</a:t>
            </a:r>
            <a:endParaRPr lang="en-GB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1">
                <a:extLst>
                  <a:ext uri="{FF2B5EF4-FFF2-40B4-BE49-F238E27FC236}">
                    <a16:creationId xmlns:a16="http://schemas.microsoft.com/office/drawing/2014/main" id="{5EB54025-3AE4-E8C9-5DE1-49703CD0FCBD}"/>
                  </a:ext>
                </a:extLst>
              </p:cNvPr>
              <p:cNvSpPr txBox="1"/>
              <p:nvPr/>
            </p:nvSpPr>
            <p:spPr bwMode="auto">
              <a:xfrm>
                <a:off x="502443" y="2366963"/>
                <a:ext cx="9727407" cy="849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Distance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between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sites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: 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Material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flow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between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depts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:      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Object 41">
                <a:extLst>
                  <a:ext uri="{FF2B5EF4-FFF2-40B4-BE49-F238E27FC236}">
                    <a16:creationId xmlns:a16="http://schemas.microsoft.com/office/drawing/2014/main" id="{5EB54025-3AE4-E8C9-5DE1-49703CD0F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443" y="2366963"/>
                <a:ext cx="9727407" cy="849313"/>
              </a:xfrm>
              <a:prstGeom prst="rect">
                <a:avLst/>
              </a:prstGeom>
              <a:blipFill>
                <a:blip r:embed="rId2"/>
                <a:stretch>
                  <a:fillRect l="-261" t="-4412" b="-88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2">
                <a:extLst>
                  <a:ext uri="{FF2B5EF4-FFF2-40B4-BE49-F238E27FC236}">
                    <a16:creationId xmlns:a16="http://schemas.microsoft.com/office/drawing/2014/main" id="{920DAD7B-5DA8-00AE-251A-DAC558A02707}"/>
                  </a:ext>
                </a:extLst>
              </p:cNvPr>
              <p:cNvSpPr txBox="1"/>
              <p:nvPr/>
            </p:nvSpPr>
            <p:spPr bwMode="auto">
              <a:xfrm>
                <a:off x="502443" y="3468689"/>
                <a:ext cx="8299450" cy="1384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Assignment</m:t>
                      </m:r>
                      <m:r>
                        <m:rPr>
                          <m:nor/>
                        </m:rPr>
                        <a:rPr lang="en-GB" sz="2400" i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: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(1),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(2),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(3))=(2,3,1)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GB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):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site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dept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your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assignment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Cost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=1×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×2+4×5=3</m:t>
                      </m:r>
                      <m:r>
                        <a:rPr lang="en-GB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" name="Object 42">
                <a:extLst>
                  <a:ext uri="{FF2B5EF4-FFF2-40B4-BE49-F238E27FC236}">
                    <a16:creationId xmlns:a16="http://schemas.microsoft.com/office/drawing/2014/main" id="{920DAD7B-5DA8-00AE-251A-DAC558A0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443" y="3468689"/>
                <a:ext cx="8299450" cy="1384300"/>
              </a:xfrm>
              <a:prstGeom prst="rect">
                <a:avLst/>
              </a:prstGeom>
              <a:blipFill>
                <a:blip r:embed="rId3"/>
                <a:stretch>
                  <a:fillRect l="-763" t="-2727" b="-136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1">
            <a:extLst>
              <a:ext uri="{FF2B5EF4-FFF2-40B4-BE49-F238E27FC236}">
                <a16:creationId xmlns:a16="http://schemas.microsoft.com/office/drawing/2014/main" id="{AB6252A6-B859-C210-3A17-21BCDC210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892152"/>
              </p:ext>
            </p:extLst>
          </p:nvPr>
        </p:nvGraphicFramePr>
        <p:xfrm>
          <a:off x="1957386" y="5105402"/>
          <a:ext cx="5389563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800" imgH="622080" progId="Equation.DSMT4">
                  <p:embed/>
                </p:oleObj>
              </mc:Choice>
              <mc:Fallback>
                <p:oleObj name="Equation" r:id="rId4" imgW="2323800" imgH="622080" progId="Equation.DSMT4">
                  <p:embed/>
                  <p:pic>
                    <p:nvPicPr>
                      <p:cNvPr id="1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386" y="5105402"/>
                        <a:ext cx="5389563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58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3002-923C-6CE4-3122-00503F0D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  <a:t>Combinatorial optimization problems</a:t>
            </a:r>
            <a:br>
              <a:rPr lang="en-US" altLang="zh-CN" sz="2800" b="1" dirty="0">
                <a:solidFill>
                  <a:schemeClr val="tx1"/>
                </a:solidFill>
                <a:ea typeface="Calibri" panose="020F0502020204030204" pitchFamily="34" charset="0"/>
              </a:rPr>
            </a:b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3717E1-60F9-0B96-59DB-BB83720ADE71}"/>
              </a:ext>
            </a:extLst>
          </p:cNvPr>
          <p:cNvSpPr txBox="1">
            <a:spLocks noChangeArrowheads="1"/>
          </p:cNvSpPr>
          <p:nvPr/>
        </p:nvSpPr>
        <p:spPr>
          <a:xfrm>
            <a:off x="445293" y="2036592"/>
            <a:ext cx="10756106" cy="27848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>
              <a:spcBef>
                <a:spcPts val="1200"/>
              </a:spcBef>
            </a:pPr>
            <a:r>
              <a:rPr lang="en-US" altLang="zh-CN" u="sng" dirty="0">
                <a:solidFill>
                  <a:schemeClr val="tx1"/>
                </a:solidFill>
                <a:ea typeface="宋体" pitchFamily="2" charset="-122"/>
              </a:rPr>
              <a:t>Combinatorial 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optimization problems: ​</a:t>
            </a: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 lvl="1">
              <a:spcBef>
                <a:spcPts val="1200"/>
              </a:spcBef>
            </a:pPr>
            <a:endParaRPr lang="en-GB" altLang="zh-CN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GB" altLang="zh-CN" u="sng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GB" altLang="zh-CN" u="sng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GB" altLang="zh-CN" u="sng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GB" altLang="zh-CN" u="sng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83DE8C1B-8D34-262C-1353-DBE2180DA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22" y="2788269"/>
            <a:ext cx="5242778" cy="91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lnSpc>
                <a:spcPct val="90000"/>
              </a:lnSpc>
              <a:spcBef>
                <a:spcPts val="1200"/>
              </a:spcBef>
            </a:pPr>
            <a:r>
              <a:rPr lang="en-GB" altLang="zh-CN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TSP: 1    4    5    3    2     1</a:t>
            </a:r>
          </a:p>
          <a:p>
            <a:pPr lvl="1">
              <a:lnSpc>
                <a:spcPct val="90000"/>
              </a:lnSpc>
              <a:spcBef>
                <a:spcPts val="1200"/>
              </a:spcBef>
            </a:pPr>
            <a:r>
              <a:rPr lang="en-GB" altLang="zh-CN" b="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QAP: 2   3    1</a:t>
            </a: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F22A0551-68E9-F52A-C67B-824E9B8B330D}"/>
              </a:ext>
            </a:extLst>
          </p:cNvPr>
          <p:cNvSpPr/>
          <p:nvPr/>
        </p:nvSpPr>
        <p:spPr>
          <a:xfrm>
            <a:off x="959222" y="3962402"/>
            <a:ext cx="102421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1200"/>
              </a:spcBef>
            </a:pPr>
            <a:r>
              <a:rPr lang="en-GB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set of feasible solutions is discrete (natural number) or can be reduced to a discrete set. 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15054B4C-2A91-ED33-3953-CEC0CF96D369}"/>
              </a:ext>
            </a:extLst>
          </p:cNvPr>
          <p:cNvSpPr/>
          <p:nvPr/>
        </p:nvSpPr>
        <p:spPr>
          <a:xfrm>
            <a:off x="4453217" y="3244334"/>
            <a:ext cx="269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9194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EC5F80-B770-4724-8D4B-5978BB5CB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1926</TotalTime>
  <Words>515</Words>
  <Application>Microsoft Office PowerPoint</Application>
  <PresentationFormat>Widescreen</PresentationFormat>
  <Paragraphs>97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宋体</vt:lpstr>
      <vt:lpstr>Arial</vt:lpstr>
      <vt:lpstr>Calibri</vt:lpstr>
      <vt:lpstr>Cambria Math</vt:lpstr>
      <vt:lpstr>Times New Roman</vt:lpstr>
      <vt:lpstr>Wingdings</vt:lpstr>
      <vt:lpstr>Office Theme</vt:lpstr>
      <vt:lpstr>Equation</vt:lpstr>
      <vt:lpstr>Introduction to Optimization (1)    </vt:lpstr>
      <vt:lpstr>What is optimization?</vt:lpstr>
      <vt:lpstr>Popular optimization problems: TSP </vt:lpstr>
      <vt:lpstr>Popular optimization problems: TSP formulation </vt:lpstr>
      <vt:lpstr>Popular optimization problems: key concepts </vt:lpstr>
      <vt:lpstr>Application of TSP </vt:lpstr>
      <vt:lpstr>Popular optimization problems: QAP  </vt:lpstr>
      <vt:lpstr>Popular optimization problems: QAP formulation </vt:lpstr>
      <vt:lpstr>Combinatorial optimization problems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66</cp:revision>
  <dcterms:created xsi:type="dcterms:W3CDTF">2021-01-06T14:22:07Z</dcterms:created>
  <dcterms:modified xsi:type="dcterms:W3CDTF">2024-08-19T14:07:53Z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