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0"/>
  </p:notesMasterIdLst>
  <p:sldIdLst>
    <p:sldId id="256" r:id="rId5"/>
    <p:sldId id="496" r:id="rId6"/>
    <p:sldId id="497" r:id="rId7"/>
    <p:sldId id="498" r:id="rId8"/>
    <p:sldId id="499" r:id="rId9"/>
    <p:sldId id="500" r:id="rId10"/>
    <p:sldId id="501" r:id="rId11"/>
    <p:sldId id="502" r:id="rId12"/>
    <p:sldId id="503" r:id="rId13"/>
    <p:sldId id="504" r:id="rId14"/>
    <p:sldId id="505" r:id="rId15"/>
    <p:sldId id="506" r:id="rId16"/>
    <p:sldId id="507" r:id="rId17"/>
    <p:sldId id="508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3359" autoAdjust="0"/>
    <p:restoredTop sz="96327"/>
  </p:normalViewPr>
  <p:slideViewPr>
    <p:cSldViewPr snapToGrid="0">
      <p:cViewPr varScale="1">
        <p:scale>
          <a:sx n="153" d="100"/>
          <a:sy n="153" d="100"/>
        </p:scale>
        <p:origin x="104" y="72"/>
      </p:cViewPr>
      <p:guideLst/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8/19/2024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19/08/2024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49" r:id="rId4"/>
    <p:sldLayoutId id="2147483654" r:id="rId5"/>
    <p:sldLayoutId id="2147483656" r:id="rId6"/>
    <p:sldLayoutId id="2147483684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i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i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Gilbert Scott Building">
            <a:extLst>
              <a:ext uri="{FF2B5EF4-FFF2-40B4-BE49-F238E27FC236}">
                <a16:creationId xmlns:a16="http://schemas.microsoft.com/office/drawing/2014/main" id="{BAB3C4BD-A67A-4D47-6D5C-637F167E7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4658" y="1628832"/>
            <a:ext cx="7988069" cy="789709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chemeClr val="tx1"/>
                </a:solidFill>
              </a:rPr>
              <a:t>Formulate Engineering Problems to Optimization Problems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FC54586-8882-6804-A250-091EB7936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636" y="2568633"/>
            <a:ext cx="5680364" cy="1062182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Professor Bo Liu</a:t>
            </a:r>
          </a:p>
          <a:p>
            <a:r>
              <a:rPr lang="en-GB" dirty="0">
                <a:solidFill>
                  <a:schemeClr val="tx1"/>
                </a:solidFill>
              </a:rPr>
              <a:t>James Watt 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EBB28-A5EC-BBE4-4EDA-6F00549C0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7" y="533614"/>
            <a:ext cx="7051964" cy="888786"/>
          </a:xfrm>
        </p:spPr>
        <p:txBody>
          <a:bodyPr>
            <a:normAutofit fontScale="90000"/>
          </a:bodyPr>
          <a:lstStyle/>
          <a:p>
            <a:r>
              <a:rPr lang="en-GB" dirty="0"/>
              <a:t>Procedures to formulate an optimization problem</a:t>
            </a:r>
            <a:br>
              <a:rPr lang="en-GB" dirty="0"/>
            </a:br>
            <a:endParaRPr lang="en-GB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94DBB46-A13F-CB9C-99B8-EE4E06BD88EA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306260"/>
            <a:ext cx="9878507" cy="576103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  <a:spcBef>
                <a:spcPts val="1200"/>
              </a:spcBef>
            </a:pPr>
            <a:endParaRPr lang="en-GB" altLang="en-US" dirty="0"/>
          </a:p>
          <a:p>
            <a:pPr marL="457200" lvl="1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GB" altLang="en-US" b="1" dirty="0">
                <a:solidFill>
                  <a:schemeClr val="tx1"/>
                </a:solidFill>
              </a:rPr>
              <a:t>Step 1</a:t>
            </a:r>
            <a:r>
              <a:rPr lang="en-GB" altLang="en-US" dirty="0">
                <a:solidFill>
                  <a:schemeClr val="tx1"/>
                </a:solidFill>
              </a:rPr>
              <a:t>: Identify the requirements. </a:t>
            </a:r>
          </a:p>
          <a:p>
            <a:pPr marL="457200" lvl="1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GB" altLang="en-US" b="1" dirty="0">
                <a:solidFill>
                  <a:schemeClr val="tx1"/>
                </a:solidFill>
              </a:rPr>
              <a:t>Step 2</a:t>
            </a:r>
            <a:r>
              <a:rPr lang="en-GB" altLang="en-US" dirty="0">
                <a:solidFill>
                  <a:schemeClr val="tx1"/>
                </a:solidFill>
              </a:rPr>
              <a:t>: Classify the requirements to objectives and constraints.</a:t>
            </a:r>
          </a:p>
          <a:p>
            <a:pPr marL="457200" lvl="1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GB" altLang="en-US" b="1" dirty="0">
                <a:solidFill>
                  <a:schemeClr val="tx1"/>
                </a:solidFill>
              </a:rPr>
              <a:t>Step 3</a:t>
            </a:r>
            <a:r>
              <a:rPr lang="en-GB" altLang="en-US" dirty="0">
                <a:solidFill>
                  <a:schemeClr val="tx1"/>
                </a:solidFill>
              </a:rPr>
              <a:t>: Identify the decision variables and their properties.</a:t>
            </a:r>
          </a:p>
          <a:p>
            <a:pPr marL="457200" lvl="1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GB" altLang="en-US" b="1" dirty="0">
                <a:solidFill>
                  <a:schemeClr val="tx1"/>
                </a:solidFill>
              </a:rPr>
              <a:t>Step 4</a:t>
            </a:r>
            <a:r>
              <a:rPr lang="en-GB" altLang="en-US" dirty="0">
                <a:solidFill>
                  <a:schemeClr val="tx1"/>
                </a:solidFill>
              </a:rPr>
              <a:t>: Identify the search space. </a:t>
            </a:r>
          </a:p>
          <a:p>
            <a:pPr marL="457200" lvl="1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GB" altLang="en-US" b="1" dirty="0">
                <a:solidFill>
                  <a:schemeClr val="tx1"/>
                </a:solidFill>
              </a:rPr>
              <a:t>Step 5</a:t>
            </a:r>
            <a:r>
              <a:rPr lang="en-GB" altLang="en-US" dirty="0">
                <a:solidFill>
                  <a:schemeClr val="tx1"/>
                </a:solidFill>
              </a:rPr>
              <a:t>: Identify if there is a starting point. </a:t>
            </a:r>
          </a:p>
          <a:p>
            <a:pPr marL="457200" lvl="1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GB" altLang="en-US" b="1" dirty="0">
                <a:solidFill>
                  <a:schemeClr val="tx1"/>
                </a:solidFill>
              </a:rPr>
              <a:t>Step 6</a:t>
            </a:r>
            <a:r>
              <a:rPr lang="en-GB" altLang="en-US" dirty="0">
                <a:solidFill>
                  <a:schemeClr val="tx1"/>
                </a:solidFill>
              </a:rPr>
              <a:t>: Identify how to obtain the objective and constraint function values. </a:t>
            </a:r>
            <a:r>
              <a:rPr lang="en-GB" altLang="en-US" dirty="0"/>
              <a:t> </a:t>
            </a:r>
          </a:p>
          <a:p>
            <a:pPr lvl="2">
              <a:lnSpc>
                <a:spcPct val="100000"/>
              </a:lnSpc>
              <a:spcBef>
                <a:spcPts val="1200"/>
              </a:spcBef>
            </a:pP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256816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EE327-2DE7-888D-AA49-AD16DA280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case study</a:t>
            </a:r>
            <a:br>
              <a:rPr lang="en-GB" dirty="0"/>
            </a:br>
            <a:endParaRPr lang="en-GB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3BA39D3E-DAEA-3510-57CA-4C424BFD1EA7}"/>
              </a:ext>
            </a:extLst>
          </p:cNvPr>
          <p:cNvSpPr txBox="1">
            <a:spLocks noChangeArrowheads="1"/>
          </p:cNvSpPr>
          <p:nvPr/>
        </p:nvSpPr>
        <p:spPr>
          <a:xfrm>
            <a:off x="63500" y="1702700"/>
            <a:ext cx="9677400" cy="576103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Tx/>
              <a:buNone/>
            </a:pPr>
            <a:r>
              <a:rPr lang="en-GB" altLang="en-US" b="1" dirty="0">
                <a:solidFill>
                  <a:schemeClr val="tx1"/>
                </a:solidFill>
              </a:rPr>
              <a:t>Problem: </a:t>
            </a:r>
            <a:r>
              <a:rPr lang="en-GB" altLang="en-US" dirty="0">
                <a:solidFill>
                  <a:schemeClr val="tx1"/>
                </a:solidFill>
              </a:rPr>
              <a:t>Design an 8</a:t>
            </a:r>
            <a:r>
              <a:rPr lang="en-GB" altLang="en-US" baseline="30000" dirty="0">
                <a:solidFill>
                  <a:schemeClr val="tx1"/>
                </a:solidFill>
              </a:rPr>
              <a:t>th</a:t>
            </a:r>
            <a:r>
              <a:rPr lang="en-GB" altLang="en-US" dirty="0">
                <a:solidFill>
                  <a:schemeClr val="tx1"/>
                </a:solidFill>
              </a:rPr>
              <a:t> order microstrip filter. The operating frequency is 3.3 GHz to 7.3 GHz. The designer comes to you for consultancy. </a:t>
            </a:r>
          </a:p>
          <a:p>
            <a:pPr marL="457200" lvl="1" indent="0">
              <a:buFontTx/>
              <a:buNone/>
            </a:pPr>
            <a:endParaRPr lang="en-GB" altLang="en-US" dirty="0"/>
          </a:p>
          <a:p>
            <a:pPr marL="457200" lvl="1" indent="0">
              <a:buFontTx/>
              <a:buNone/>
            </a:pPr>
            <a:endParaRPr lang="en-GB" altLang="en-US" dirty="0"/>
          </a:p>
          <a:p>
            <a:pPr marL="457200" lvl="1" indent="0">
              <a:buFontTx/>
              <a:buNone/>
            </a:pPr>
            <a:endParaRPr lang="en-GB" altLang="en-US" dirty="0"/>
          </a:p>
          <a:p>
            <a:pPr marL="457200" lvl="1" indent="0">
              <a:buFontTx/>
              <a:buNone/>
            </a:pPr>
            <a:endParaRPr lang="en-GB" altLang="en-US" dirty="0"/>
          </a:p>
          <a:p>
            <a:pPr marL="457200" lvl="1" indent="0">
              <a:buFontTx/>
              <a:buNone/>
            </a:pPr>
            <a:endParaRPr lang="en-GB" altLang="en-US" dirty="0"/>
          </a:p>
          <a:p>
            <a:pPr marL="457200" lvl="1" indent="0">
              <a:buFontTx/>
              <a:buNone/>
            </a:pPr>
            <a:endParaRPr lang="en-GB" altLang="en-US" dirty="0"/>
          </a:p>
          <a:p>
            <a:pPr marL="457200" lvl="1" indent="0"/>
            <a:endParaRPr lang="en-GB" altLang="en-US" dirty="0"/>
          </a:p>
          <a:p>
            <a:pPr marL="457200" lvl="1" indent="0"/>
            <a:endParaRPr lang="en-GB" altLang="en-US" dirty="0"/>
          </a:p>
          <a:p>
            <a:pPr lvl="2"/>
            <a:endParaRPr lang="en-GB" alt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904F563-D406-17FB-7DD9-60A79D8575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4537" y="2746375"/>
            <a:ext cx="8162925" cy="411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87940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9F60E-C8D2-8411-4E2F-8667B472F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7" y="533614"/>
            <a:ext cx="7077364" cy="888786"/>
          </a:xfrm>
        </p:spPr>
        <p:txBody>
          <a:bodyPr>
            <a:normAutofit fontScale="90000"/>
          </a:bodyPr>
          <a:lstStyle/>
          <a:p>
            <a:r>
              <a:rPr lang="en-GB" dirty="0"/>
              <a:t>Procedures to formulate an optimization problem</a:t>
            </a:r>
            <a:br>
              <a:rPr lang="en-GB" dirty="0"/>
            </a:br>
            <a:endParaRPr lang="en-GB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F17F0324-30F5-1646-CE3E-0D05613FCF57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621206"/>
            <a:ext cx="8701087" cy="745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>
              <a:buFontTx/>
              <a:buNone/>
            </a:pPr>
            <a:r>
              <a:rPr lang="en-GB" alt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1</a:t>
            </a:r>
            <a:r>
              <a:rPr lang="en-GB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Identify the requirements. </a:t>
            </a:r>
          </a:p>
          <a:p>
            <a:pPr marL="457200" lvl="1"/>
            <a:endParaRPr lang="en-GB" alt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2"/>
            <a:endParaRPr lang="en-GB" alt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矩形 12">
            <a:extLst>
              <a:ext uri="{FF2B5EF4-FFF2-40B4-BE49-F238E27FC236}">
                <a16:creationId xmlns:a16="http://schemas.microsoft.com/office/drawing/2014/main" id="{58026A22-CEC5-25E0-0EAC-C12E22F20CA7}"/>
              </a:ext>
            </a:extLst>
          </p:cNvPr>
          <p:cNvSpPr/>
          <p:nvPr/>
        </p:nvSpPr>
        <p:spPr>
          <a:xfrm>
            <a:off x="0" y="2226427"/>
            <a:ext cx="85031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GB" altLang="en-US" sz="2400" u="sng" dirty="0">
                <a:latin typeface="Arial" panose="020B0604020202020204" pitchFamily="34" charset="0"/>
                <a:cs typeface="Arial" panose="020B0604020202020204" pitchFamily="34" charset="0"/>
              </a:rPr>
              <a:t>Consultant:</a:t>
            </a:r>
            <a:r>
              <a:rPr lang="en-GB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What are the design requirements? </a:t>
            </a:r>
          </a:p>
        </p:txBody>
      </p:sp>
      <p:sp>
        <p:nvSpPr>
          <p:cNvPr id="5" name="矩形 13">
            <a:extLst>
              <a:ext uri="{FF2B5EF4-FFF2-40B4-BE49-F238E27FC236}">
                <a16:creationId xmlns:a16="http://schemas.microsoft.com/office/drawing/2014/main" id="{F2E9B3B6-1B0C-35DD-7CF0-6CCB114E19D5}"/>
              </a:ext>
            </a:extLst>
          </p:cNvPr>
          <p:cNvSpPr/>
          <p:nvPr/>
        </p:nvSpPr>
        <p:spPr>
          <a:xfrm>
            <a:off x="0" y="3014387"/>
            <a:ext cx="10515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GB" altLang="en-US" sz="2400" u="sng" dirty="0">
                <a:latin typeface="Arial" panose="020B0604020202020204" pitchFamily="34" charset="0"/>
                <a:cs typeface="Arial" panose="020B0604020202020204" pitchFamily="34" charset="0"/>
              </a:rPr>
              <a:t>Designer:</a:t>
            </a:r>
            <a:r>
              <a:rPr lang="en-GB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Passband: 4 GHz to 7 GHz, two stopbands: one is from 3.3 GHz to 3.92 GHz, the other one is from 7.08 GHz to 7.3 GHz. </a:t>
            </a:r>
          </a:p>
        </p:txBody>
      </p:sp>
      <p:sp>
        <p:nvSpPr>
          <p:cNvPr id="6" name="矩形 14">
            <a:extLst>
              <a:ext uri="{FF2B5EF4-FFF2-40B4-BE49-F238E27FC236}">
                <a16:creationId xmlns:a16="http://schemas.microsoft.com/office/drawing/2014/main" id="{93904EDC-E21B-1885-8405-83B5F406350E}"/>
              </a:ext>
            </a:extLst>
          </p:cNvPr>
          <p:cNvSpPr/>
          <p:nvPr/>
        </p:nvSpPr>
        <p:spPr>
          <a:xfrm>
            <a:off x="-1" y="4214716"/>
            <a:ext cx="962660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GB" altLang="en-US" sz="2400" u="sng" dirty="0">
                <a:latin typeface="Arial" panose="020B0604020202020204" pitchFamily="34" charset="0"/>
                <a:cs typeface="Arial" panose="020B0604020202020204" pitchFamily="34" charset="0"/>
              </a:rPr>
              <a:t>Consultant: </a:t>
            </a:r>
            <a:r>
              <a:rPr lang="en-GB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Could you please detail the requirements?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15">
                <a:extLst>
                  <a:ext uri="{FF2B5EF4-FFF2-40B4-BE49-F238E27FC236}">
                    <a16:creationId xmlns:a16="http://schemas.microsoft.com/office/drawing/2014/main" id="{A1161E30-8FDE-D7F3-36A5-8347A0BBF22B}"/>
                  </a:ext>
                </a:extLst>
              </p:cNvPr>
              <p:cNvSpPr/>
              <p:nvPr/>
            </p:nvSpPr>
            <p:spPr>
              <a:xfrm>
                <a:off x="0" y="5168558"/>
                <a:ext cx="10909300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/>
                <a:r>
                  <a:rPr lang="en-GB" altLang="en-US" sz="2400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Designer:</a:t>
                </a:r>
                <a:r>
                  <a:rPr lang="en-GB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Passband max(|S11|)</a:t>
                </a:r>
                <a:r>
                  <a:rPr lang="en-US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≤</m:t>
                    </m:r>
                  </m:oMath>
                </a14:m>
                <a:r>
                  <a:rPr lang="en-GB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-20 dB for passband, min(|S11|) </a:t>
                </a:r>
                <a14:m>
                  <m:oMath xmlns:m="http://schemas.openxmlformats.org/officeDocument/2006/math">
                    <m:r>
                      <a:rPr lang="en-GB" alt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≥</m:t>
                    </m:r>
                  </m:oMath>
                </a14:m>
                <a:r>
                  <a:rPr lang="en-GB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-3 dB for stopbands. ​ </a:t>
                </a:r>
              </a:p>
            </p:txBody>
          </p:sp>
        </mc:Choice>
        <mc:Fallback xmlns="">
          <p:sp>
            <p:nvSpPr>
              <p:cNvPr id="7" name="矩形 15">
                <a:extLst>
                  <a:ext uri="{FF2B5EF4-FFF2-40B4-BE49-F238E27FC236}">
                    <a16:creationId xmlns:a16="http://schemas.microsoft.com/office/drawing/2014/main" id="{A1161E30-8FDE-D7F3-36A5-8347A0BBF2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168558"/>
                <a:ext cx="10909300" cy="830997"/>
              </a:xfrm>
              <a:prstGeom prst="rect">
                <a:avLst/>
              </a:prstGeom>
              <a:blipFill>
                <a:blip r:embed="rId2"/>
                <a:stretch>
                  <a:fillRect t="-5147" b="-1691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3845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8755A-623B-0151-383F-6CE26E6BA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explanation</a:t>
            </a:r>
            <a:br>
              <a:rPr lang="en-GB" dirty="0"/>
            </a:br>
            <a:endParaRPr lang="en-GB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F27C77E8-8FBE-A286-9534-F290B91FD003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811706"/>
            <a:ext cx="8701087" cy="745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>
              <a:buFontTx/>
              <a:buNone/>
            </a:pPr>
            <a:r>
              <a:rPr lang="en-GB" alt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1</a:t>
            </a:r>
            <a:r>
              <a:rPr lang="en-GB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Identify the requirements. </a:t>
            </a:r>
          </a:p>
          <a:p>
            <a:pPr marL="457200" lvl="1"/>
            <a:endParaRPr lang="en-GB" alt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2"/>
            <a:endParaRPr lang="en-GB" alt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矩形 7">
            <a:extLst>
              <a:ext uri="{FF2B5EF4-FFF2-40B4-BE49-F238E27FC236}">
                <a16:creationId xmlns:a16="http://schemas.microsoft.com/office/drawing/2014/main" id="{87A83B27-84C3-6C70-0FE7-5B851383EE34}"/>
              </a:ext>
            </a:extLst>
          </p:cNvPr>
          <p:cNvSpPr/>
          <p:nvPr/>
        </p:nvSpPr>
        <p:spPr>
          <a:xfrm>
            <a:off x="513792" y="2385503"/>
            <a:ext cx="894770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Consultant: Could you please write your requirements as constraints? For constraints, I mean ...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2">
                <a:extLst>
                  <a:ext uri="{FF2B5EF4-FFF2-40B4-BE49-F238E27FC236}">
                    <a16:creationId xmlns:a16="http://schemas.microsoft.com/office/drawing/2014/main" id="{FE5AADB9-4B70-92EF-A526-CC54C965CBA7}"/>
                  </a:ext>
                </a:extLst>
              </p:cNvPr>
              <p:cNvSpPr/>
              <p:nvPr/>
            </p:nvSpPr>
            <p:spPr>
              <a:xfrm>
                <a:off x="513792" y="3365608"/>
                <a:ext cx="10306608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Designer: Passband: max(|</a:t>
                </a:r>
                <a:r>
                  <a:rPr lang="en-US" altLang="zh-CN" sz="2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  <a:r>
                  <a:rPr lang="en-US" altLang="zh-CN" sz="24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11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|)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≤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-20 dB, </a:t>
                </a:r>
              </a:p>
              <a:p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Stopband: min(|</a:t>
                </a:r>
                <a:r>
                  <a:rPr lang="en-US" altLang="zh-CN" sz="2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  <a:r>
                  <a:rPr lang="en-US" altLang="zh-CN" sz="24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11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|) 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≥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-3dB</a:t>
                </a:r>
              </a:p>
            </p:txBody>
          </p:sp>
        </mc:Choice>
        <mc:Fallback xmlns="">
          <p:sp>
            <p:nvSpPr>
              <p:cNvPr id="5" name="矩形 2">
                <a:extLst>
                  <a:ext uri="{FF2B5EF4-FFF2-40B4-BE49-F238E27FC236}">
                    <a16:creationId xmlns:a16="http://schemas.microsoft.com/office/drawing/2014/main" id="{FE5AADB9-4B70-92EF-A526-CC54C965CB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792" y="3365608"/>
                <a:ext cx="10306608" cy="830997"/>
              </a:xfrm>
              <a:prstGeom prst="rect">
                <a:avLst/>
              </a:prstGeom>
              <a:blipFill>
                <a:blip r:embed="rId2"/>
                <a:stretch>
                  <a:fillRect l="-887" t="-5147" b="-1691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6">
            <a:extLst>
              <a:ext uri="{FF2B5EF4-FFF2-40B4-BE49-F238E27FC236}">
                <a16:creationId xmlns:a16="http://schemas.microsoft.com/office/drawing/2014/main" id="{FE3C197C-05FD-5E6E-F429-42619ACF3BC8}"/>
              </a:ext>
            </a:extLst>
          </p:cNvPr>
          <p:cNvSpPr/>
          <p:nvPr/>
        </p:nvSpPr>
        <p:spPr>
          <a:xfrm>
            <a:off x="570182" y="4456639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Consultant: Great. I got it.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8507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70303-BD38-EBE0-C7D5-9F3AF3451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explanation</a:t>
            </a:r>
            <a:br>
              <a:rPr lang="en-GB" dirty="0"/>
            </a:br>
            <a:endParaRPr lang="en-GB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11CECA3-21D9-61B3-0934-F840BD1AC78C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906878"/>
            <a:ext cx="9613900" cy="185205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Tx/>
              <a:buNone/>
            </a:pPr>
            <a:r>
              <a:rPr lang="en-GB" altLang="en-US" b="1" dirty="0">
                <a:solidFill>
                  <a:schemeClr val="tx1"/>
                </a:solidFill>
              </a:rPr>
              <a:t>Step 2</a:t>
            </a:r>
            <a:r>
              <a:rPr lang="en-GB" altLang="en-US" dirty="0">
                <a:solidFill>
                  <a:schemeClr val="tx1"/>
                </a:solidFill>
              </a:rPr>
              <a:t>: Classify the requirements to objectives and constraints.</a:t>
            </a:r>
          </a:p>
          <a:p>
            <a:pPr marL="457200" lvl="1" indent="0"/>
            <a:endParaRPr lang="en-GB" altLang="en-US" dirty="0">
              <a:solidFill>
                <a:schemeClr val="tx1"/>
              </a:solidFill>
            </a:endParaRPr>
          </a:p>
          <a:p>
            <a:pPr marL="457200" lvl="1" indent="0">
              <a:buNone/>
            </a:pPr>
            <a:r>
              <a:rPr lang="en-GB" altLang="en-US" u="sng" dirty="0">
                <a:solidFill>
                  <a:schemeClr val="tx1"/>
                </a:solidFill>
              </a:rPr>
              <a:t>Consultant:</a:t>
            </a:r>
            <a:r>
              <a:rPr lang="en-GB" altLang="en-US" dirty="0">
                <a:solidFill>
                  <a:schemeClr val="tx1"/>
                </a:solidFill>
              </a:rPr>
              <a:t> For these requirements, are there objectives? For objectives, I mean, …</a:t>
            </a:r>
          </a:p>
          <a:p>
            <a:pPr marL="457200" lvl="1" indent="0">
              <a:buFontTx/>
              <a:buNone/>
            </a:pPr>
            <a:endParaRPr lang="en-GB" altLang="en-US" dirty="0"/>
          </a:p>
          <a:p>
            <a:pPr marL="457200" lvl="1" indent="0">
              <a:buFontTx/>
              <a:buNone/>
            </a:pPr>
            <a:endParaRPr lang="en-GB" altLang="en-US" dirty="0"/>
          </a:p>
          <a:p>
            <a:pPr marL="457200" lvl="1" indent="0"/>
            <a:endParaRPr lang="en-GB" altLang="en-US" dirty="0"/>
          </a:p>
          <a:p>
            <a:pPr lvl="2"/>
            <a:endParaRPr lang="en-GB" altLang="en-US" dirty="0"/>
          </a:p>
        </p:txBody>
      </p:sp>
      <p:sp>
        <p:nvSpPr>
          <p:cNvPr id="4" name="矩形 2">
            <a:extLst>
              <a:ext uri="{FF2B5EF4-FFF2-40B4-BE49-F238E27FC236}">
                <a16:creationId xmlns:a16="http://schemas.microsoft.com/office/drawing/2014/main" id="{3F49CEF5-E1DE-ECBE-3E96-1DFB5D0F5807}"/>
              </a:ext>
            </a:extLst>
          </p:cNvPr>
          <p:cNvSpPr/>
          <p:nvPr/>
        </p:nvSpPr>
        <p:spPr>
          <a:xfrm>
            <a:off x="0" y="3792625"/>
            <a:ext cx="102235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GB" altLang="en-US" sz="2400" u="sng" dirty="0">
                <a:latin typeface="Arial" panose="020B0604020202020204" pitchFamily="34" charset="0"/>
                <a:cs typeface="Arial" panose="020B0604020202020204" pitchFamily="34" charset="0"/>
              </a:rPr>
              <a:t>Designer: </a:t>
            </a:r>
            <a:r>
              <a:rPr lang="en-GB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Yes, for the </a:t>
            </a:r>
            <a:r>
              <a:rPr lang="en-GB" alt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passband</a:t>
            </a:r>
            <a:r>
              <a:rPr lang="en-GB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requirement, the smaller the better. For the </a:t>
            </a:r>
            <a:r>
              <a:rPr lang="en-GB" alt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stopband</a:t>
            </a:r>
            <a:r>
              <a:rPr lang="en-GB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meeting the spec is fine. 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1BF7B9C-44DA-3841-B164-18616DB5505E}"/>
              </a:ext>
            </a:extLst>
          </p:cNvPr>
          <p:cNvSpPr/>
          <p:nvPr/>
        </p:nvSpPr>
        <p:spPr>
          <a:xfrm>
            <a:off x="0" y="4975023"/>
            <a:ext cx="102235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GB" altLang="en-US" sz="2400" u="sng" dirty="0">
                <a:latin typeface="Arial" panose="020B0604020202020204" pitchFamily="34" charset="0"/>
                <a:cs typeface="Arial" panose="020B0604020202020204" pitchFamily="34" charset="0"/>
              </a:rPr>
              <a:t>Consultant: </a:t>
            </a:r>
            <a:r>
              <a:rPr lang="en-GB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Your problem has one objective and two constraints. It is a single objective constrained optimization problem. </a:t>
            </a:r>
          </a:p>
        </p:txBody>
      </p:sp>
    </p:spTree>
    <p:extLst>
      <p:ext uri="{BB962C8B-B14F-4D97-AF65-F5344CB8AC3E}">
        <p14:creationId xmlns:p14="http://schemas.microsoft.com/office/powerpoint/2010/main" val="2579080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19D27-2911-E784-1BA9-1E7DC99B0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explanation</a:t>
            </a:r>
            <a:br>
              <a:rPr lang="en-GB" dirty="0"/>
            </a:br>
            <a:endParaRPr lang="en-GB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72DF4DCB-B7AD-A4C5-4BE0-20D42D934B28}"/>
              </a:ext>
            </a:extLst>
          </p:cNvPr>
          <p:cNvSpPr txBox="1">
            <a:spLocks noChangeArrowheads="1"/>
          </p:cNvSpPr>
          <p:nvPr/>
        </p:nvSpPr>
        <p:spPr>
          <a:xfrm>
            <a:off x="119650" y="1754478"/>
            <a:ext cx="9143999" cy="79421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en-GB" altLang="en-US" b="1" dirty="0">
                <a:solidFill>
                  <a:schemeClr val="tx1"/>
                </a:solidFill>
              </a:rPr>
              <a:t>Step 3</a:t>
            </a:r>
            <a:r>
              <a:rPr lang="en-GB" altLang="en-US" dirty="0">
                <a:solidFill>
                  <a:schemeClr val="tx1"/>
                </a:solidFill>
              </a:rPr>
              <a:t>: Identify the decision variables and their properties. </a:t>
            </a:r>
          </a:p>
          <a:p>
            <a:pPr lvl="1"/>
            <a:endParaRPr lang="en-GB" alt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GB" altLang="en-US" u="sng" dirty="0">
              <a:latin typeface="Times New Roman" pitchFamily="18" charset="0"/>
              <a:cs typeface="Times New Roman" pitchFamily="18" charset="0"/>
            </a:endParaRPr>
          </a:p>
          <a:p>
            <a:pPr lvl="1">
              <a:buFontTx/>
              <a:buNone/>
            </a:pPr>
            <a:endParaRPr lang="en-GB" altLang="en-US" dirty="0">
              <a:latin typeface="Times New Roman" pitchFamily="18" charset="0"/>
              <a:cs typeface="Times New Roman" pitchFamily="18" charset="0"/>
            </a:endParaRPr>
          </a:p>
          <a:p>
            <a:pPr lvl="1">
              <a:buFontTx/>
              <a:buNone/>
            </a:pPr>
            <a:endParaRPr lang="en-GB" altLang="en-US" sz="1800" dirty="0"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GB" altLang="en-US" sz="1800" dirty="0">
              <a:latin typeface="Times New Roman" pitchFamily="18" charset="0"/>
              <a:cs typeface="Times New Roman" pitchFamily="18" charset="0"/>
            </a:endParaRPr>
          </a:p>
          <a:p>
            <a:pPr lvl="2"/>
            <a:endParaRPr lang="en-GB" alt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矩形 2">
            <a:extLst>
              <a:ext uri="{FF2B5EF4-FFF2-40B4-BE49-F238E27FC236}">
                <a16:creationId xmlns:a16="http://schemas.microsoft.com/office/drawing/2014/main" id="{EFCF3AC5-E004-6C3B-7ED5-9116156ECFEA}"/>
              </a:ext>
            </a:extLst>
          </p:cNvPr>
          <p:cNvSpPr/>
          <p:nvPr/>
        </p:nvSpPr>
        <p:spPr>
          <a:xfrm>
            <a:off x="35512" y="2603562"/>
            <a:ext cx="1039118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GB" altLang="en-US" sz="2400" u="sng" dirty="0">
                <a:latin typeface="Arial" panose="020B0604020202020204" pitchFamily="34" charset="0"/>
                <a:cs typeface="Arial" panose="020B0604020202020204" pitchFamily="34" charset="0"/>
              </a:rPr>
              <a:t>Consultant:</a:t>
            </a:r>
            <a:r>
              <a:rPr lang="en-GB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What can be controlled in your problem? We call them the design variables. Let me explain. </a:t>
            </a:r>
          </a:p>
          <a:p>
            <a:pPr lvl="1">
              <a:buFontTx/>
              <a:buNone/>
            </a:pPr>
            <a:endParaRPr lang="en-GB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03735B2-B31D-3A8D-9B2F-37CE9A8CAAA4}"/>
              </a:ext>
            </a:extLst>
          </p:cNvPr>
          <p:cNvSpPr/>
          <p:nvPr/>
        </p:nvSpPr>
        <p:spPr>
          <a:xfrm>
            <a:off x="35512" y="3956291"/>
            <a:ext cx="1097538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GB" altLang="en-US" sz="2400" u="sng" dirty="0">
                <a:latin typeface="Arial" panose="020B0604020202020204" pitchFamily="34" charset="0"/>
                <a:cs typeface="Arial" panose="020B0604020202020204" pitchFamily="34" charset="0"/>
              </a:rPr>
              <a:t>Designer: </a:t>
            </a:r>
            <a:r>
              <a:rPr lang="en-GB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There are 12 design variables, which are the geometric parameters, as I have shown in the figure.  </a:t>
            </a:r>
          </a:p>
        </p:txBody>
      </p:sp>
      <p:sp>
        <p:nvSpPr>
          <p:cNvPr id="6" name="矩形 7">
            <a:extLst>
              <a:ext uri="{FF2B5EF4-FFF2-40B4-BE49-F238E27FC236}">
                <a16:creationId xmlns:a16="http://schemas.microsoft.com/office/drawing/2014/main" id="{0EA8F580-671C-D36F-A556-78CC25901826}"/>
              </a:ext>
            </a:extLst>
          </p:cNvPr>
          <p:cNvSpPr/>
          <p:nvPr/>
        </p:nvSpPr>
        <p:spPr>
          <a:xfrm>
            <a:off x="0" y="5022534"/>
            <a:ext cx="914400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endParaRPr lang="en-GB" altLang="en-US" sz="24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GB" altLang="en-US" sz="2400" u="sng" dirty="0">
                <a:latin typeface="Arial" panose="020B0604020202020204" pitchFamily="34" charset="0"/>
                <a:cs typeface="Arial" panose="020B0604020202020204" pitchFamily="34" charset="0"/>
              </a:rPr>
              <a:t>Consultant: </a:t>
            </a:r>
            <a:r>
              <a:rPr lang="en-GB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OK. Now, I got your decision variables to optimize.  </a:t>
            </a:r>
          </a:p>
        </p:txBody>
      </p:sp>
    </p:spTree>
    <p:extLst>
      <p:ext uri="{BB962C8B-B14F-4D97-AF65-F5344CB8AC3E}">
        <p14:creationId xmlns:p14="http://schemas.microsoft.com/office/powerpoint/2010/main" val="2188836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281FC-07D9-4229-F769-B304A4EFD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explanation</a:t>
            </a:r>
            <a:br>
              <a:rPr lang="en-GB" dirty="0"/>
            </a:br>
            <a:endParaRPr lang="en-GB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368E921E-502F-D182-F6A4-EEF7E02BB2ED}"/>
              </a:ext>
            </a:extLst>
          </p:cNvPr>
          <p:cNvSpPr txBox="1">
            <a:spLocks noChangeArrowheads="1"/>
          </p:cNvSpPr>
          <p:nvPr/>
        </p:nvSpPr>
        <p:spPr>
          <a:xfrm>
            <a:off x="126636" y="1638581"/>
            <a:ext cx="8701088" cy="230028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en-GB" altLang="en-US" b="1" dirty="0">
                <a:solidFill>
                  <a:schemeClr val="tx1"/>
                </a:solidFill>
              </a:rPr>
              <a:t>Step 4</a:t>
            </a:r>
            <a:r>
              <a:rPr lang="en-GB" altLang="en-US" dirty="0">
                <a:solidFill>
                  <a:schemeClr val="tx1"/>
                </a:solidFill>
              </a:rPr>
              <a:t>: Identify the search space. </a:t>
            </a:r>
          </a:p>
          <a:p>
            <a:pPr lvl="1"/>
            <a:endParaRPr lang="en-GB" alt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GB" altLang="en-US" u="sng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buFontTx/>
              <a:buNone/>
            </a:pPr>
            <a:endParaRPr lang="en-GB" alt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buFontTx/>
              <a:buNone/>
            </a:pPr>
            <a:endParaRPr lang="en-GB" altLang="en-US" sz="1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GB" altLang="en-US" sz="1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2"/>
            <a:endParaRPr lang="en-GB" altLang="en-US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图片 1">
            <a:extLst>
              <a:ext uri="{FF2B5EF4-FFF2-40B4-BE49-F238E27FC236}">
                <a16:creationId xmlns:a16="http://schemas.microsoft.com/office/drawing/2014/main" id="{BC67E491-F824-B9FC-98D7-448072660F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6123" y="4277716"/>
            <a:ext cx="7799753" cy="25802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2">
            <a:extLst>
              <a:ext uri="{FF2B5EF4-FFF2-40B4-BE49-F238E27FC236}">
                <a16:creationId xmlns:a16="http://schemas.microsoft.com/office/drawing/2014/main" id="{4A9EBCA8-F8D3-AEA9-9E92-ECD8581DE263}"/>
              </a:ext>
            </a:extLst>
          </p:cNvPr>
          <p:cNvSpPr/>
          <p:nvPr/>
        </p:nvSpPr>
        <p:spPr>
          <a:xfrm>
            <a:off x="12336" y="3924216"/>
            <a:ext cx="38988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GB" altLang="en-US" sz="2400" u="sng" dirty="0">
                <a:latin typeface="Arial" panose="020B0604020202020204" pitchFamily="34" charset="0"/>
                <a:cs typeface="Arial" panose="020B0604020202020204" pitchFamily="34" charset="0"/>
              </a:rPr>
              <a:t>Designer: </a:t>
            </a:r>
            <a:r>
              <a:rPr lang="en-GB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Here you go. </a:t>
            </a:r>
          </a:p>
        </p:txBody>
      </p:sp>
      <p:sp>
        <p:nvSpPr>
          <p:cNvPr id="6" name="矩形 4">
            <a:extLst>
              <a:ext uri="{FF2B5EF4-FFF2-40B4-BE49-F238E27FC236}">
                <a16:creationId xmlns:a16="http://schemas.microsoft.com/office/drawing/2014/main" id="{43F4F20A-9C63-E4C4-28EF-A8DC80BB7C56}"/>
              </a:ext>
            </a:extLst>
          </p:cNvPr>
          <p:cNvSpPr/>
          <p:nvPr/>
        </p:nvSpPr>
        <p:spPr>
          <a:xfrm>
            <a:off x="12336" y="2307799"/>
            <a:ext cx="1064296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GB" altLang="en-US" sz="2400" u="sng" dirty="0">
                <a:latin typeface="Arial" panose="020B0604020202020204" pitchFamily="34" charset="0"/>
                <a:cs typeface="Arial" panose="020B0604020202020204" pitchFamily="34" charset="0"/>
              </a:rPr>
              <a:t>Consultant:</a:t>
            </a:r>
            <a:r>
              <a:rPr lang="en-GB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Could you provide search ranges of your decision variables? We cannot optimize in an infinite space. There must be a search space, outside which, the optimal design is impossible to locate there.  </a:t>
            </a:r>
          </a:p>
        </p:txBody>
      </p:sp>
    </p:spTree>
    <p:extLst>
      <p:ext uri="{BB962C8B-B14F-4D97-AF65-F5344CB8AC3E}">
        <p14:creationId xmlns:p14="http://schemas.microsoft.com/office/powerpoint/2010/main" val="4281034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51F31-9124-EA3E-BD5F-E701CCF17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explanation</a:t>
            </a:r>
            <a:br>
              <a:rPr lang="en-GB" dirty="0"/>
            </a:br>
            <a:endParaRPr lang="en-GB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6BB09A03-1C33-B065-547E-9C2A18FA3D50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785665"/>
            <a:ext cx="8701087" cy="576103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en-GB" altLang="en-US" b="1" dirty="0">
                <a:solidFill>
                  <a:schemeClr val="tx1"/>
                </a:solidFill>
              </a:rPr>
              <a:t>Step 5</a:t>
            </a:r>
            <a:r>
              <a:rPr lang="en-GB" altLang="en-US" dirty="0">
                <a:solidFill>
                  <a:schemeClr val="tx1"/>
                </a:solidFill>
              </a:rPr>
              <a:t>: Identify if there is a starting point.  </a:t>
            </a:r>
          </a:p>
          <a:p>
            <a:pPr lvl="1"/>
            <a:endParaRPr lang="en-GB" alt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GB" altLang="en-US" u="sng" dirty="0">
              <a:latin typeface="Times New Roman" pitchFamily="18" charset="0"/>
              <a:cs typeface="Times New Roman" pitchFamily="18" charset="0"/>
            </a:endParaRPr>
          </a:p>
          <a:p>
            <a:pPr lvl="1">
              <a:buFontTx/>
              <a:buNone/>
            </a:pPr>
            <a:endParaRPr lang="en-GB" altLang="en-US" dirty="0">
              <a:latin typeface="Times New Roman" pitchFamily="18" charset="0"/>
              <a:cs typeface="Times New Roman" pitchFamily="18" charset="0"/>
            </a:endParaRPr>
          </a:p>
          <a:p>
            <a:pPr lvl="1">
              <a:buFontTx/>
              <a:buNone/>
            </a:pPr>
            <a:endParaRPr lang="en-GB" altLang="en-US" sz="1800" dirty="0"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GB" altLang="en-US" sz="1800" dirty="0">
              <a:latin typeface="Times New Roman" pitchFamily="18" charset="0"/>
              <a:cs typeface="Times New Roman" pitchFamily="18" charset="0"/>
            </a:endParaRPr>
          </a:p>
          <a:p>
            <a:pPr lvl="2"/>
            <a:endParaRPr lang="en-GB" alt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矩形 2">
            <a:extLst>
              <a:ext uri="{FF2B5EF4-FFF2-40B4-BE49-F238E27FC236}">
                <a16:creationId xmlns:a16="http://schemas.microsoft.com/office/drawing/2014/main" id="{994ECB23-9061-2E9B-5603-02136E5912E5}"/>
              </a:ext>
            </a:extLst>
          </p:cNvPr>
          <p:cNvSpPr/>
          <p:nvPr/>
        </p:nvSpPr>
        <p:spPr>
          <a:xfrm>
            <a:off x="12700" y="2358401"/>
            <a:ext cx="10287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GB" altLang="en-US" sz="2400" u="sng" dirty="0">
                <a:latin typeface="Arial" panose="020B0604020202020204" pitchFamily="34" charset="0"/>
                <a:cs typeface="Arial" panose="020B0604020202020204" pitchFamily="34" charset="0"/>
              </a:rPr>
              <a:t>Consultant:</a:t>
            </a:r>
            <a:r>
              <a:rPr lang="en-GB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Is there a starting point? Using the starting point, the optimization may run faster because useful information is provided. </a:t>
            </a:r>
          </a:p>
        </p:txBody>
      </p:sp>
      <p:sp>
        <p:nvSpPr>
          <p:cNvPr id="9" name="矩形 4">
            <a:extLst>
              <a:ext uri="{FF2B5EF4-FFF2-40B4-BE49-F238E27FC236}">
                <a16:creationId xmlns:a16="http://schemas.microsoft.com/office/drawing/2014/main" id="{F141BA14-4B10-09B7-9FB2-2049081A3E8D}"/>
              </a:ext>
            </a:extLst>
          </p:cNvPr>
          <p:cNvSpPr/>
          <p:nvPr/>
        </p:nvSpPr>
        <p:spPr>
          <a:xfrm>
            <a:off x="12700" y="3461025"/>
            <a:ext cx="10287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GB" altLang="en-US" sz="2400" u="sng" dirty="0">
                <a:latin typeface="Arial" panose="020B0604020202020204" pitchFamily="34" charset="0"/>
                <a:cs typeface="Arial" panose="020B0604020202020204" pitchFamily="34" charset="0"/>
              </a:rPr>
              <a:t>Designer: </a:t>
            </a:r>
            <a:r>
              <a:rPr lang="en-GB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Yes, we do have one. This was obtained by equivalent circuits. Here it is.   </a:t>
            </a:r>
          </a:p>
        </p:txBody>
      </p:sp>
      <p:sp>
        <p:nvSpPr>
          <p:cNvPr id="10" name="矩形 7">
            <a:extLst>
              <a:ext uri="{FF2B5EF4-FFF2-40B4-BE49-F238E27FC236}">
                <a16:creationId xmlns:a16="http://schemas.microsoft.com/office/drawing/2014/main" id="{02FAB7C3-5F0D-8237-6B05-1FD652670457}"/>
              </a:ext>
            </a:extLst>
          </p:cNvPr>
          <p:cNvSpPr/>
          <p:nvPr/>
        </p:nvSpPr>
        <p:spPr>
          <a:xfrm>
            <a:off x="12700" y="4663621"/>
            <a:ext cx="914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GB" altLang="en-US" sz="2400" u="sng" dirty="0">
                <a:latin typeface="Arial" panose="020B0604020202020204" pitchFamily="34" charset="0"/>
                <a:cs typeface="Arial" panose="020B0604020202020204" pitchFamily="34" charset="0"/>
              </a:rPr>
              <a:t>Consultant: </a:t>
            </a:r>
            <a:r>
              <a:rPr lang="en-GB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OK. Now, the optimization problem is set. </a:t>
            </a:r>
          </a:p>
        </p:txBody>
      </p:sp>
    </p:spTree>
    <p:extLst>
      <p:ext uri="{BB962C8B-B14F-4D97-AF65-F5344CB8AC3E}">
        <p14:creationId xmlns:p14="http://schemas.microsoft.com/office/powerpoint/2010/main" val="2686973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377F8-1442-4726-1A2A-C87DD36B7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explanation</a:t>
            </a:r>
            <a:br>
              <a:rPr lang="en-GB" dirty="0"/>
            </a:b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ECDF5E2-79F3-2CF6-02E0-686CD8E77E4C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674813"/>
            <a:ext cx="9398000" cy="576103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en-GB" altLang="en-US" b="1" dirty="0">
                <a:solidFill>
                  <a:schemeClr val="tx1"/>
                </a:solidFill>
              </a:rPr>
              <a:t>Step 6</a:t>
            </a:r>
            <a:r>
              <a:rPr lang="en-GB" altLang="en-US" dirty="0">
                <a:solidFill>
                  <a:schemeClr val="tx1"/>
                </a:solidFill>
              </a:rPr>
              <a:t>: Identify how to obtain the objective and constraint functions values. </a:t>
            </a:r>
          </a:p>
          <a:p>
            <a:pPr lvl="1"/>
            <a:endParaRPr lang="en-GB" altLang="en-US" dirty="0">
              <a:latin typeface="Times New Roman" pitchFamily="18" charset="0"/>
              <a:cs typeface="Times New Roman" pitchFamily="18" charset="0"/>
            </a:endParaRPr>
          </a:p>
          <a:p>
            <a:pPr lvl="1">
              <a:buFontTx/>
              <a:buNone/>
            </a:pPr>
            <a:endParaRPr lang="en-GB" altLang="en-US" u="sng" dirty="0">
              <a:latin typeface="Times New Roman" pitchFamily="18" charset="0"/>
              <a:cs typeface="Times New Roman" pitchFamily="18" charset="0"/>
            </a:endParaRPr>
          </a:p>
          <a:p>
            <a:pPr lvl="1">
              <a:buFontTx/>
              <a:buNone/>
            </a:pPr>
            <a:endParaRPr lang="en-GB" altLang="en-US" dirty="0">
              <a:latin typeface="Times New Roman" pitchFamily="18" charset="0"/>
              <a:cs typeface="Times New Roman" pitchFamily="18" charset="0"/>
            </a:endParaRPr>
          </a:p>
          <a:p>
            <a:pPr lvl="1">
              <a:buFontTx/>
              <a:buNone/>
            </a:pPr>
            <a:endParaRPr lang="en-GB" altLang="en-US" sz="1800" dirty="0"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GB" altLang="en-US" sz="1800" dirty="0">
              <a:latin typeface="Times New Roman" pitchFamily="18" charset="0"/>
              <a:cs typeface="Times New Roman" pitchFamily="18" charset="0"/>
            </a:endParaRPr>
          </a:p>
          <a:p>
            <a:pPr lvl="2"/>
            <a:endParaRPr lang="en-GB" alt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矩形 2">
            <a:extLst>
              <a:ext uri="{FF2B5EF4-FFF2-40B4-BE49-F238E27FC236}">
                <a16:creationId xmlns:a16="http://schemas.microsoft.com/office/drawing/2014/main" id="{8A98C3DA-4B3A-A5AF-FB4D-D667625C8A8F}"/>
              </a:ext>
            </a:extLst>
          </p:cNvPr>
          <p:cNvSpPr/>
          <p:nvPr/>
        </p:nvSpPr>
        <p:spPr>
          <a:xfrm>
            <a:off x="0" y="2535666"/>
            <a:ext cx="103505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GB" altLang="en-US" sz="2400" u="sng" dirty="0">
                <a:latin typeface="Arial" panose="020B0604020202020204" pitchFamily="34" charset="0"/>
                <a:cs typeface="Arial" panose="020B0604020202020204" pitchFamily="34" charset="0"/>
              </a:rPr>
              <a:t>Consultant:</a:t>
            </a:r>
            <a:r>
              <a:rPr lang="en-GB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Before optimizing it to meet your requirements, we need to know the way to obtain the objective and constraint function values for each candidate design. How did you do it?  </a:t>
            </a:r>
          </a:p>
        </p:txBody>
      </p:sp>
      <p:sp>
        <p:nvSpPr>
          <p:cNvPr id="6" name="矩形 4">
            <a:extLst>
              <a:ext uri="{FF2B5EF4-FFF2-40B4-BE49-F238E27FC236}">
                <a16:creationId xmlns:a16="http://schemas.microsoft.com/office/drawing/2014/main" id="{E8954960-EF67-8BF3-59AA-AE94E8E3C7B1}"/>
              </a:ext>
            </a:extLst>
          </p:cNvPr>
          <p:cNvSpPr/>
          <p:nvPr/>
        </p:nvSpPr>
        <p:spPr>
          <a:xfrm>
            <a:off x="0" y="3923347"/>
            <a:ext cx="105664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GB" altLang="en-US" sz="2400" u="sng" dirty="0">
                <a:latin typeface="Arial" panose="020B0604020202020204" pitchFamily="34" charset="0"/>
                <a:cs typeface="Arial" panose="020B0604020202020204" pitchFamily="34" charset="0"/>
              </a:rPr>
              <a:t>Designer: </a:t>
            </a:r>
            <a:r>
              <a:rPr lang="en-GB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objective and constraint function values are extracted from the S-parameters. They are obtained by electromagnetic simulations. </a:t>
            </a:r>
          </a:p>
        </p:txBody>
      </p:sp>
      <p:sp>
        <p:nvSpPr>
          <p:cNvPr id="7" name="矩形 7">
            <a:extLst>
              <a:ext uri="{FF2B5EF4-FFF2-40B4-BE49-F238E27FC236}">
                <a16:creationId xmlns:a16="http://schemas.microsoft.com/office/drawing/2014/main" id="{0C4A8925-F023-3C0A-F816-838ABF631B45}"/>
              </a:ext>
            </a:extLst>
          </p:cNvPr>
          <p:cNvSpPr/>
          <p:nvPr/>
        </p:nvSpPr>
        <p:spPr>
          <a:xfrm>
            <a:off x="0" y="5282353"/>
            <a:ext cx="11023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GB" altLang="en-US" sz="2400" u="sng" dirty="0">
                <a:latin typeface="Arial" panose="020B0604020202020204" pitchFamily="34" charset="0"/>
                <a:cs typeface="Arial" panose="020B0604020202020204" pitchFamily="34" charset="0"/>
              </a:rPr>
              <a:t>Consultant: </a:t>
            </a:r>
            <a:r>
              <a:rPr lang="en-GB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So, it is a simulation-based optimization problem. We will link your simulation tool and find an appropriate optimization algorithm.      </a:t>
            </a:r>
          </a:p>
        </p:txBody>
      </p:sp>
    </p:spTree>
    <p:extLst>
      <p:ext uri="{BB962C8B-B14F-4D97-AF65-F5344CB8AC3E}">
        <p14:creationId xmlns:p14="http://schemas.microsoft.com/office/powerpoint/2010/main" val="4085709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79AC3-5715-24B8-3DD7-802AF6F83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explanation</a:t>
            </a:r>
            <a:br>
              <a:rPr lang="en-GB" dirty="0"/>
            </a:br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BC39C5-B854-FEB5-B43A-7454BAE656D3}"/>
              </a:ext>
            </a:extLst>
          </p:cNvPr>
          <p:cNvSpPr txBox="1">
            <a:spLocks noChangeArrowheads="1"/>
          </p:cNvSpPr>
          <p:nvPr/>
        </p:nvSpPr>
        <p:spPr>
          <a:xfrm>
            <a:off x="444500" y="1771431"/>
            <a:ext cx="8785225" cy="8651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GB" altLang="en-US" sz="2400" dirty="0">
                <a:latin typeface="Times New Roman" pitchFamily="18" charset="0"/>
                <a:cs typeface="Times New Roman" pitchFamily="18" charset="0"/>
              </a:rPr>
              <a:t>After Step 6: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D019E0-1C9B-4C60-6810-6771CCF7754A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2407224"/>
            <a:ext cx="11620500" cy="56165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GB" altLang="en-US">
                <a:solidFill>
                  <a:schemeClr val="tx1"/>
                </a:solidFill>
              </a:rPr>
              <a:t>Modeling</a:t>
            </a:r>
            <a:r>
              <a:rPr lang="en-GB" altLang="en-US" dirty="0">
                <a:solidFill>
                  <a:schemeClr val="tx1"/>
                </a:solidFill>
              </a:rPr>
              <a:t> an engineering problem by computer program.</a:t>
            </a:r>
          </a:p>
          <a:p>
            <a:pPr lvl="1">
              <a:buFontTx/>
              <a:buNone/>
            </a:pPr>
            <a:endParaRPr lang="en-GB" altLang="en-US" dirty="0">
              <a:solidFill>
                <a:schemeClr val="tx1"/>
              </a:solidFill>
            </a:endParaRPr>
          </a:p>
          <a:p>
            <a:pPr marL="1028700" lvl="2" indent="-342900">
              <a:buFont typeface="Wingdings" pitchFamily="2" charset="2"/>
              <a:buChar char="Ø"/>
            </a:pPr>
            <a:r>
              <a:rPr lang="en-GB" altLang="en-US" dirty="0">
                <a:solidFill>
                  <a:schemeClr val="tx1"/>
                </a:solidFill>
              </a:rPr>
              <a:t>You may need MATLAB Toolboxes (e.g., signal processing toolbox, RF toolbox, etc) for simulation or other simulations tools (e.g., SPICE tools). </a:t>
            </a:r>
          </a:p>
          <a:p>
            <a:pPr marL="1028700" lvl="2" indent="-342900">
              <a:buFont typeface="Wingdings" pitchFamily="2" charset="2"/>
              <a:buChar char="Ø"/>
            </a:pPr>
            <a:endParaRPr lang="en-GB" altLang="en-US" dirty="0">
              <a:solidFill>
                <a:schemeClr val="tx1"/>
              </a:solidFill>
            </a:endParaRPr>
          </a:p>
          <a:p>
            <a:pPr marL="1028700" lvl="2" indent="-342900">
              <a:buFont typeface="Wingdings" pitchFamily="2" charset="2"/>
              <a:buChar char="Ø"/>
            </a:pPr>
            <a:r>
              <a:rPr lang="en-GB" altLang="en-US" dirty="0">
                <a:solidFill>
                  <a:schemeClr val="tx1"/>
                </a:solidFill>
              </a:rPr>
              <a:t>Program the objective function and constraints by extracting them from the simulation result. </a:t>
            </a:r>
          </a:p>
          <a:p>
            <a:pPr lvl="2"/>
            <a:endParaRPr lang="en-GB" altLang="en-US" dirty="0">
              <a:solidFill>
                <a:schemeClr val="tx1"/>
              </a:solidFill>
            </a:endParaRPr>
          </a:p>
          <a:p>
            <a:pPr lvl="1"/>
            <a:r>
              <a:rPr lang="en-GB" altLang="en-US" dirty="0">
                <a:solidFill>
                  <a:schemeClr val="tx1"/>
                </a:solidFill>
              </a:rPr>
              <a:t>Select an optimization algorithm, set it and run it. </a:t>
            </a:r>
          </a:p>
          <a:p>
            <a:pPr lvl="1"/>
            <a:endParaRPr lang="en-GB" altLang="en-US" dirty="0">
              <a:solidFill>
                <a:schemeClr val="tx1"/>
              </a:solidFill>
            </a:endParaRPr>
          </a:p>
          <a:p>
            <a:pPr lvl="1"/>
            <a:r>
              <a:rPr lang="en-GB" altLang="en-US" dirty="0" err="1">
                <a:solidFill>
                  <a:schemeClr val="tx1"/>
                </a:solidFill>
              </a:rPr>
              <a:t>Analy</a:t>
            </a:r>
            <a:r>
              <a:rPr lang="en-US" altLang="zh-CN" dirty="0">
                <a:solidFill>
                  <a:schemeClr val="tx1"/>
                </a:solidFill>
              </a:rPr>
              <a:t>z</a:t>
            </a:r>
            <a:r>
              <a:rPr lang="en-GB" altLang="en-US" dirty="0">
                <a:solidFill>
                  <a:schemeClr val="tx1"/>
                </a:solidFill>
              </a:rPr>
              <a:t>e the optimization outcome. </a:t>
            </a:r>
          </a:p>
          <a:p>
            <a:pPr lvl="1">
              <a:buFontTx/>
              <a:buNone/>
            </a:pPr>
            <a:endParaRPr lang="en-GB" altLang="en-US" u="sng" dirty="0"/>
          </a:p>
          <a:p>
            <a:pPr lvl="1">
              <a:buFontTx/>
              <a:buNone/>
            </a:pPr>
            <a:endParaRPr lang="en-GB" altLang="en-US" dirty="0"/>
          </a:p>
          <a:p>
            <a:pPr lvl="1">
              <a:buFontTx/>
              <a:buNone/>
            </a:pPr>
            <a:endParaRPr lang="en-GB" altLang="en-US" dirty="0"/>
          </a:p>
          <a:p>
            <a:pPr lvl="1"/>
            <a:endParaRPr lang="en-GB" altLang="en-US" dirty="0"/>
          </a:p>
          <a:p>
            <a:pPr lvl="2"/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998053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D4E07-8FC8-A38B-6A71-EC2039332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explanation</a:t>
            </a:r>
            <a:br>
              <a:rPr lang="en-GB" dirty="0"/>
            </a:b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4C884D-04C0-8D82-CEA3-E6039E68C768}"/>
              </a:ext>
            </a:extLst>
          </p:cNvPr>
          <p:cNvSpPr txBox="1"/>
          <p:nvPr/>
        </p:nvSpPr>
        <p:spPr>
          <a:xfrm>
            <a:off x="482600" y="189813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t the end:</a:t>
            </a:r>
            <a:endParaRPr lang="en-GB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Box 7">
            <a:extLst>
              <a:ext uri="{FF2B5EF4-FFF2-40B4-BE49-F238E27FC236}">
                <a16:creationId xmlns:a16="http://schemas.microsoft.com/office/drawing/2014/main" id="{78477DA8-3FE4-F54A-82EA-6898F76CAB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7222" y="3323423"/>
            <a:ext cx="223076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20000"/>
              </a:spcBef>
            </a:pPr>
            <a:endParaRPr lang="en-GB" altLang="en-US" sz="2000">
              <a:cs typeface="Times New Roman" pitchFamily="18" charset="0"/>
            </a:endParaRPr>
          </a:p>
        </p:txBody>
      </p:sp>
      <p:sp>
        <p:nvSpPr>
          <p:cNvPr id="6" name="Text Box 7">
            <a:extLst>
              <a:ext uri="{FF2B5EF4-FFF2-40B4-BE49-F238E27FC236}">
                <a16:creationId xmlns:a16="http://schemas.microsoft.com/office/drawing/2014/main" id="{92E02AD9-3210-2B7F-1DD9-D06618F7F3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2297" y="2498671"/>
            <a:ext cx="223076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20000"/>
              </a:spcBef>
            </a:pPr>
            <a:endParaRPr lang="en-GB" altLang="en-US" sz="2000">
              <a:cs typeface="Times New Roman" pitchFamily="18" charset="0"/>
            </a:endParaRPr>
          </a:p>
        </p:txBody>
      </p:sp>
      <p:pic>
        <p:nvPicPr>
          <p:cNvPr id="7" name="图片 1">
            <a:extLst>
              <a:ext uri="{FF2B5EF4-FFF2-40B4-BE49-F238E27FC236}">
                <a16:creationId xmlns:a16="http://schemas.microsoft.com/office/drawing/2014/main" id="{E2BE8333-39E4-A046-B3A9-69192C16D2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4175" y="5211763"/>
            <a:ext cx="6374987" cy="1646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EB733BC-F19A-1BCB-B233-11D35FBE4FAF}"/>
              </a:ext>
            </a:extLst>
          </p:cNvPr>
          <p:cNvSpPr txBox="1"/>
          <p:nvPr/>
        </p:nvSpPr>
        <p:spPr>
          <a:xfrm>
            <a:off x="3282318" y="4079703"/>
            <a:ext cx="14490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“O” is too low</a:t>
            </a:r>
          </a:p>
        </p:txBody>
      </p:sp>
      <p:pic>
        <p:nvPicPr>
          <p:cNvPr id="9" name="图片 6">
            <a:extLst>
              <a:ext uri="{FF2B5EF4-FFF2-40B4-BE49-F238E27FC236}">
                <a16:creationId xmlns:a16="http://schemas.microsoft.com/office/drawing/2014/main" id="{62E2EE81-43E6-28F9-0128-520BEB8BAC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8005" y="4116946"/>
            <a:ext cx="6335987" cy="1213104"/>
          </a:xfrm>
          <a:prstGeom prst="rect">
            <a:avLst/>
          </a:prstGeom>
        </p:spPr>
      </p:pic>
      <p:pic>
        <p:nvPicPr>
          <p:cNvPr id="10" name="图片 3">
            <a:extLst>
              <a:ext uri="{FF2B5EF4-FFF2-40B4-BE49-F238E27FC236}">
                <a16:creationId xmlns:a16="http://schemas.microsoft.com/office/drawing/2014/main" id="{415A5C5C-1619-74DD-92E4-7A06152ACA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2927" y="1725339"/>
            <a:ext cx="5966145" cy="2483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141622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BD488-900E-E812-9776-660DB97B7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explanation</a:t>
            </a:r>
            <a:br>
              <a:rPr lang="en-GB" dirty="0"/>
            </a:b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F627BC-F802-F5F4-A57E-9C565F7EDE7D}"/>
              </a:ext>
            </a:extLst>
          </p:cNvPr>
          <p:cNvSpPr txBox="1"/>
          <p:nvPr/>
        </p:nvSpPr>
        <p:spPr>
          <a:xfrm>
            <a:off x="482600" y="189813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t the end:</a:t>
            </a:r>
            <a:endParaRPr lang="en-GB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Box 7">
            <a:extLst>
              <a:ext uri="{FF2B5EF4-FFF2-40B4-BE49-F238E27FC236}">
                <a16:creationId xmlns:a16="http://schemas.microsoft.com/office/drawing/2014/main" id="{3AB4D194-49F6-26DC-366B-CB845EFA40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4450" y="3366477"/>
            <a:ext cx="184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20000"/>
              </a:spcBef>
            </a:pPr>
            <a:endParaRPr lang="en-GB" altLang="en-US" sz="2000">
              <a:cs typeface="Times New Roman" pitchFamily="18" charset="0"/>
            </a:endParaRPr>
          </a:p>
        </p:txBody>
      </p:sp>
      <p:sp>
        <p:nvSpPr>
          <p:cNvPr id="5" name="Text Box 7">
            <a:extLst>
              <a:ext uri="{FF2B5EF4-FFF2-40B4-BE49-F238E27FC236}">
                <a16:creationId xmlns:a16="http://schemas.microsoft.com/office/drawing/2014/main" id="{31A08150-1BA9-C074-32C4-E01550F0DE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9525" y="2541725"/>
            <a:ext cx="184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20000"/>
              </a:spcBef>
            </a:pPr>
            <a:endParaRPr lang="en-GB" altLang="en-US" sz="2000">
              <a:cs typeface="Times New Roman" pitchFamily="18" charset="0"/>
            </a:endParaRPr>
          </a:p>
        </p:txBody>
      </p:sp>
      <p:pic>
        <p:nvPicPr>
          <p:cNvPr id="6" name="图片 3">
            <a:extLst>
              <a:ext uri="{FF2B5EF4-FFF2-40B4-BE49-F238E27FC236}">
                <a16:creationId xmlns:a16="http://schemas.microsoft.com/office/drawing/2014/main" id="{5C2C23E3-4FBE-0AE4-4A6C-B72CCAB2BD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0155" y="1898134"/>
            <a:ext cx="4925063" cy="2483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82121F2-7D44-C1D7-8891-EE48C77966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0595" y="4453075"/>
            <a:ext cx="7385409" cy="2184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4953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304BF-FEC0-217C-C8A3-3167CEF76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explanation</a:t>
            </a:r>
            <a:br>
              <a:rPr lang="en-GB" dirty="0"/>
            </a:b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1CC65D-5D7C-C5C3-ACA1-4BB691172869}"/>
              </a:ext>
            </a:extLst>
          </p:cNvPr>
          <p:cNvSpPr txBox="1"/>
          <p:nvPr/>
        </p:nvSpPr>
        <p:spPr>
          <a:xfrm>
            <a:off x="482600" y="189813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t the end:</a:t>
            </a:r>
            <a:endParaRPr lang="en-GB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Box 7">
            <a:extLst>
              <a:ext uri="{FF2B5EF4-FFF2-40B4-BE49-F238E27FC236}">
                <a16:creationId xmlns:a16="http://schemas.microsoft.com/office/drawing/2014/main" id="{257BEC46-46D1-F816-B04A-C3D3054CAA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20110" y="3402336"/>
            <a:ext cx="184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20000"/>
              </a:spcBef>
            </a:pPr>
            <a:endParaRPr lang="en-GB" altLang="en-US" sz="2000">
              <a:cs typeface="Times New Roman" pitchFamily="18" charset="0"/>
            </a:endParaRPr>
          </a:p>
        </p:txBody>
      </p:sp>
      <p:sp>
        <p:nvSpPr>
          <p:cNvPr id="5" name="Text Box 7">
            <a:extLst>
              <a:ext uri="{FF2B5EF4-FFF2-40B4-BE49-F238E27FC236}">
                <a16:creationId xmlns:a16="http://schemas.microsoft.com/office/drawing/2014/main" id="{9574AABE-1152-54F9-CB72-1E7C701A60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5185" y="2577584"/>
            <a:ext cx="184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20000"/>
              </a:spcBef>
            </a:pPr>
            <a:endParaRPr lang="en-GB" altLang="en-US" sz="2000">
              <a:cs typeface="Times New Roman" pitchFamily="18" charset="0"/>
            </a:endParaRPr>
          </a:p>
        </p:txBody>
      </p:sp>
      <p:sp>
        <p:nvSpPr>
          <p:cNvPr id="6" name="Text Box 7">
            <a:extLst>
              <a:ext uri="{FF2B5EF4-FFF2-40B4-BE49-F238E27FC236}">
                <a16:creationId xmlns:a16="http://schemas.microsoft.com/office/drawing/2014/main" id="{8CBA3773-54A6-9807-8650-AB216B9E40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5185" y="2577584"/>
            <a:ext cx="184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20000"/>
              </a:spcBef>
            </a:pPr>
            <a:endParaRPr lang="en-GB" altLang="en-US" sz="2000">
              <a:cs typeface="Times New Roman" pitchFamily="18" charset="0"/>
            </a:endParaRPr>
          </a:p>
        </p:txBody>
      </p:sp>
      <p:pic>
        <p:nvPicPr>
          <p:cNvPr id="7" name="Picture 10">
            <a:extLst>
              <a:ext uri="{FF2B5EF4-FFF2-40B4-BE49-F238E27FC236}">
                <a16:creationId xmlns:a16="http://schemas.microsoft.com/office/drawing/2014/main" id="{722971E9-ED48-FD84-8F77-3CF0099BBE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236" y="1898134"/>
            <a:ext cx="6956425" cy="441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1">
            <a:extLst>
              <a:ext uri="{FF2B5EF4-FFF2-40B4-BE49-F238E27FC236}">
                <a16:creationId xmlns:a16="http://schemas.microsoft.com/office/drawing/2014/main" id="{35DE2593-BD19-149A-2402-1738BD8DF6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3119" y="6257751"/>
            <a:ext cx="92109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GB" altLang="en-US" dirty="0">
                <a:latin typeface="Arial" panose="020B0604020202020204" pitchFamily="34" charset="0"/>
                <a:cs typeface="Arial" panose="020B0604020202020204" pitchFamily="34" charset="0"/>
              </a:rPr>
              <a:t>      initial design performance    optimal design performance  </a:t>
            </a:r>
          </a:p>
        </p:txBody>
      </p:sp>
    </p:spTree>
    <p:extLst>
      <p:ext uri="{BB962C8B-B14F-4D97-AF65-F5344CB8AC3E}">
        <p14:creationId xmlns:p14="http://schemas.microsoft.com/office/powerpoint/2010/main" val="40151285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r>
              <a:rPr lang="en-GB">
                <a:solidFill>
                  <a:schemeClr val="bg1"/>
                </a:solidFill>
              </a:rPr>
              <a:t>Thanks!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ED6EA-1EF6-E99C-8D46-A77E8079F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8385228" y="5699322"/>
            <a:chExt cx="3413095" cy="8541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4E80E0-21D5-A09C-9C43-3B822C05837D}"/>
                </a:ext>
              </a:extLst>
            </p:cNvPr>
            <p:cNvSpPr txBox="1"/>
            <p:nvPr/>
          </p:nvSpPr>
          <p:spPr>
            <a:xfrm>
              <a:off x="8385228" y="5699322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2BBCD2-E264-1B57-0E93-92E9DB639953}"/>
                </a:ext>
              </a:extLst>
            </p:cNvPr>
            <p:cNvSpPr txBox="1"/>
            <p:nvPr/>
          </p:nvSpPr>
          <p:spPr>
            <a:xfrm>
              <a:off x="9098531" y="6091810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EA5A01-D67E-B5A8-4983-B4E38F735C71}"/>
                </a:ext>
              </a:extLst>
            </p:cNvPr>
            <p:cNvGrpSpPr/>
            <p:nvPr/>
          </p:nvGrpSpPr>
          <p:grpSpPr>
            <a:xfrm>
              <a:off x="8516481" y="6162367"/>
              <a:ext cx="841333" cy="347112"/>
              <a:chOff x="8601252" y="6162367"/>
              <a:chExt cx="841333" cy="34711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049EAA7-B259-E0CF-6188-D83E4A7650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8761" y="6162367"/>
                <a:ext cx="475023" cy="347112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9EF044C-8E77-0253-404C-AEACFCC1AE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4185" y="6223334"/>
                <a:ext cx="248400" cy="24839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EFBA2B9-08B7-B52F-FE3B-91DCAC58DC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01252" y="6221141"/>
                <a:ext cx="239105" cy="23910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c9bed8-8410-44eb-bf25-ca1ea4636418">
      <Terms xmlns="http://schemas.microsoft.com/office/infopath/2007/PartnerControls"/>
    </lcf76f155ced4ddcb4097134ff3c332f>
    <TaxCatchAll xmlns="dfc159fb-6789-415c-9027-b0bc58ba83c2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3DDD16490E0A48848881CB6EECDF92" ma:contentTypeVersion="14" ma:contentTypeDescription="Create a new document." ma:contentTypeScope="" ma:versionID="7257862a4d6c3825659cc59ecdb78f01">
  <xsd:schema xmlns:xsd="http://www.w3.org/2001/XMLSchema" xmlns:xs="http://www.w3.org/2001/XMLSchema" xmlns:p="http://schemas.microsoft.com/office/2006/metadata/properties" xmlns:ns2="1cc9bed8-8410-44eb-bf25-ca1ea4636418" xmlns:ns3="dfc159fb-6789-415c-9027-b0bc58ba83c2" targetNamespace="http://schemas.microsoft.com/office/2006/metadata/properties" ma:root="true" ma:fieldsID="e75013956d80933023b8c9f213f858d3" ns2:_="" ns3:_="">
    <xsd:import namespace="1cc9bed8-8410-44eb-bf25-ca1ea4636418"/>
    <xsd:import namespace="dfc159fb-6789-415c-9027-b0bc58ba83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c9bed8-8410-44eb-bf25-ca1ea4636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159fb-6789-415c-9027-b0bc58ba83c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9eadc21-23c5-47b9-90bf-40474c6df852}" ma:internalName="TaxCatchAll" ma:showField="CatchAllData" ma:web="dfc159fb-6789-415c-9027-b0bc58ba83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7E0F8CF-3799-4DF9-B486-35019DA33C8E}">
  <ds:schemaRefs>
    <ds:schemaRef ds:uri="http://schemas.microsoft.com/office/2006/metadata/properties"/>
    <ds:schemaRef ds:uri="http://schemas.microsoft.com/office/infopath/2007/PartnerControls"/>
    <ds:schemaRef ds:uri="1cc9bed8-8410-44eb-bf25-ca1ea4636418"/>
    <ds:schemaRef ds:uri="dfc159fb-6789-415c-9027-b0bc58ba83c2"/>
  </ds:schemaRefs>
</ds:datastoreItem>
</file>

<file path=customXml/itemProps2.xml><?xml version="1.0" encoding="utf-8"?>
<ds:datastoreItem xmlns:ds="http://schemas.openxmlformats.org/officeDocument/2006/customXml" ds:itemID="{5A0D8794-7AAC-4201-8342-5952D400BE3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c9bed8-8410-44eb-bf25-ca1ea4636418"/>
    <ds:schemaRef ds:uri="dfc159fb-6789-415c-9027-b0bc58ba83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37E8C05-165F-411C-A518-AA21F4ADD0C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1856</TotalTime>
  <Words>755</Words>
  <Application>Microsoft Office PowerPoint</Application>
  <PresentationFormat>Widescreen</PresentationFormat>
  <Paragraphs>103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Cambria Math</vt:lpstr>
      <vt:lpstr>Times New Roman</vt:lpstr>
      <vt:lpstr>Wingdings</vt:lpstr>
      <vt:lpstr>Office Theme</vt:lpstr>
      <vt:lpstr>Formulate Engineering Problems to Optimization Problems</vt:lpstr>
      <vt:lpstr>Procedures to formulate an optimization problem </vt:lpstr>
      <vt:lpstr>A case study </vt:lpstr>
      <vt:lpstr>Procedures to formulate an optimization problem </vt:lpstr>
      <vt:lpstr>Example explanation </vt:lpstr>
      <vt:lpstr>Example explanation </vt:lpstr>
      <vt:lpstr>Example explanation </vt:lpstr>
      <vt:lpstr>Example explanation </vt:lpstr>
      <vt:lpstr>Example explanation </vt:lpstr>
      <vt:lpstr>Example explanation </vt:lpstr>
      <vt:lpstr>Example explanation </vt:lpstr>
      <vt:lpstr>Example explanation </vt:lpstr>
      <vt:lpstr>Example explanation </vt:lpstr>
      <vt:lpstr>Example explanation </vt:lpstr>
      <vt:lpstr>Thanks!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Liangyue Yu (PGR)</dc:creator>
  <cp:keywords/>
  <dc:description/>
  <cp:lastModifiedBy>Bo Liu</cp:lastModifiedBy>
  <cp:revision>66</cp:revision>
  <dcterms:created xsi:type="dcterms:W3CDTF">2021-01-06T14:22:07Z</dcterms:created>
  <dcterms:modified xsi:type="dcterms:W3CDTF">2024-08-19T14:32:59Z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0x0101009C3DDD16490E0A48848881CB6EECDF92</vt:lpwstr>
  </property>
</Properties>
</file>