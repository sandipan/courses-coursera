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6" r:id="rId6"/>
    <p:sldId id="494" r:id="rId7"/>
    <p:sldId id="497" r:id="rId8"/>
    <p:sldId id="498" r:id="rId9"/>
    <p:sldId id="500" r:id="rId10"/>
    <p:sldId id="501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7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49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Multiple Objectives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B86B-7162-C12C-B4C7-1AAF0909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Multi-objective optimization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A3A0AF1-EB61-47B0-720C-BFAF2C3BE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81" y="4631334"/>
            <a:ext cx="8892567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are the decision variables, 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decision space.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objectives, 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GB" altLang="en-US" sz="2400" i="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GB" altLang="en-US" sz="2400" i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often conflict with each other.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measure the solution quality?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0249806-B776-7B5B-4C6F-C14205D51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106" y="3152085"/>
            <a:ext cx="39017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Minimization is similar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对象 2">
                <a:extLst>
                  <a:ext uri="{FF2B5EF4-FFF2-40B4-BE49-F238E27FC236}">
                    <a16:creationId xmlns:a16="http://schemas.microsoft.com/office/drawing/2014/main" id="{4D19C00C-3B81-296F-5364-686CC12A8F5E}"/>
                  </a:ext>
                </a:extLst>
              </p:cNvPr>
              <p:cNvSpPr txBox="1"/>
              <p:nvPr/>
            </p:nvSpPr>
            <p:spPr>
              <a:xfrm>
                <a:off x="1326740" y="2569269"/>
                <a:ext cx="3286824" cy="18319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HK" i="1"/>
                        <m:t>⊆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对象 2">
                <a:extLst>
                  <a:ext uri="{FF2B5EF4-FFF2-40B4-BE49-F238E27FC236}">
                    <a16:creationId xmlns:a16="http://schemas.microsoft.com/office/drawing/2014/main" id="{4D19C00C-3B81-296F-5364-686CC12A8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740" y="2569269"/>
                <a:ext cx="3286824" cy="1831975"/>
              </a:xfrm>
              <a:prstGeom prst="rect">
                <a:avLst/>
              </a:prstGeom>
              <a:blipFill>
                <a:blip r:embed="rId2"/>
                <a:stretch>
                  <a:fillRect l="-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6">
            <a:extLst>
              <a:ext uri="{FF2B5EF4-FFF2-40B4-BE49-F238E27FC236}">
                <a16:creationId xmlns:a16="http://schemas.microsoft.com/office/drawing/2014/main" id="{40CB6818-2017-074D-CE43-E40C0743389C}"/>
              </a:ext>
            </a:extLst>
          </p:cNvPr>
          <p:cNvSpPr/>
          <p:nvPr/>
        </p:nvSpPr>
        <p:spPr>
          <a:xfrm>
            <a:off x="537269" y="1765002"/>
            <a:ext cx="76539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Bi-Objective Continuous Optimization Problem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30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Multi-objective optimization: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04DC3E-CA47-26B1-B3E2-FC9A4562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594" y="1636964"/>
            <a:ext cx="70278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/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multi-objective optimization problem</a:t>
            </a:r>
          </a:p>
        </p:txBody>
      </p:sp>
      <p:pic>
        <p:nvPicPr>
          <p:cNvPr id="3" name="Picture 61">
            <a:extLst>
              <a:ext uri="{FF2B5EF4-FFF2-40B4-BE49-F238E27FC236}">
                <a16:creationId xmlns:a16="http://schemas.microsoft.com/office/drawing/2014/main" id="{4395997D-8277-DC81-060B-78270FEAA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457" y="2374748"/>
            <a:ext cx="3709928" cy="335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B87CB8-AF04-8575-2F1B-D28313E55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94" y="2374748"/>
            <a:ext cx="6406483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>
              <a:spcBef>
                <a:spcPts val="1200"/>
              </a:spcBef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Example: design an </a:t>
            </a:r>
            <a:r>
              <a:rPr lang="en-GB" b="0" i="0" dirty="0">
                <a:latin typeface="Arial" panose="020B0604020202020204" pitchFamily="34" charset="0"/>
                <a:cs typeface="Arial" panose="020B0604020202020204" pitchFamily="34" charset="0"/>
              </a:rPr>
              <a:t>insulated-gate bipolar transistor (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IGBT) semiconductor controllable switch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The failure rate should be as low as possible. </a:t>
            </a:r>
            <a:r>
              <a:rPr lang="en-GB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The lower, the better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The cost should be as low as possible.  </a:t>
            </a:r>
            <a:r>
              <a:rPr lang="en-GB" altLang="en-US" i="0" dirty="0">
                <a:latin typeface="Arial" panose="020B0604020202020204" pitchFamily="34" charset="0"/>
                <a:cs typeface="Arial" panose="020B0604020202020204" pitchFamily="34" charset="0"/>
              </a:rPr>
              <a:t>The lower, the better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They conflict with each other.   </a:t>
            </a:r>
          </a:p>
          <a:p>
            <a:pPr marL="457200" lvl="1" indent="0">
              <a:spcBef>
                <a:spcPts val="1200"/>
              </a:spcBef>
            </a:pPr>
            <a:endParaRPr lang="en-GB" alt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spcBef>
                <a:spcPts val="1200"/>
              </a:spcBef>
            </a:pPr>
            <a:endParaRPr lang="en-GB" alt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3203-5FBD-EB5D-E455-A4A5C1AB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Domination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FA40F-8437-550A-E167-701DC53BA333}"/>
              </a:ext>
            </a:extLst>
          </p:cNvPr>
          <p:cNvSpPr txBox="1">
            <a:spLocks noChangeArrowheads="1"/>
          </p:cNvSpPr>
          <p:nvPr/>
        </p:nvSpPr>
        <p:spPr>
          <a:xfrm>
            <a:off x="458051" y="1680632"/>
            <a:ext cx="7772400" cy="5232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en-US">
                <a:latin typeface="Times New Roman" pitchFamily="18" charset="0"/>
                <a:cs typeface="Times New Roman" pitchFamily="18" charset="0"/>
              </a:rPr>
              <a:t>Which solutions are optimal?</a:t>
            </a: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直接箭头连接符 10">
            <a:extLst>
              <a:ext uri="{FF2B5EF4-FFF2-40B4-BE49-F238E27FC236}">
                <a16:creationId xmlns:a16="http://schemas.microsoft.com/office/drawing/2014/main" id="{9C1E5F1D-478E-E067-DB44-4F70EECDA659}"/>
              </a:ext>
            </a:extLst>
          </p:cNvPr>
          <p:cNvCxnSpPr/>
          <p:nvPr/>
        </p:nvCxnSpPr>
        <p:spPr>
          <a:xfrm>
            <a:off x="8160805" y="6184491"/>
            <a:ext cx="262466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13">
            <a:extLst>
              <a:ext uri="{FF2B5EF4-FFF2-40B4-BE49-F238E27FC236}">
                <a16:creationId xmlns:a16="http://schemas.microsoft.com/office/drawing/2014/main" id="{8DCF4613-A205-7B46-342F-9E6E4EE52471}"/>
              </a:ext>
            </a:extLst>
          </p:cNvPr>
          <p:cNvCxnSpPr/>
          <p:nvPr/>
        </p:nvCxnSpPr>
        <p:spPr>
          <a:xfrm flipV="1">
            <a:off x="8160805" y="4245623"/>
            <a:ext cx="0" cy="193886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16">
            <a:extLst>
              <a:ext uri="{FF2B5EF4-FFF2-40B4-BE49-F238E27FC236}">
                <a16:creationId xmlns:a16="http://schemas.microsoft.com/office/drawing/2014/main" id="{CE980353-578C-5FAD-8DB3-D1FD475DEE65}"/>
              </a:ext>
            </a:extLst>
          </p:cNvPr>
          <p:cNvSpPr/>
          <p:nvPr/>
        </p:nvSpPr>
        <p:spPr>
          <a:xfrm>
            <a:off x="8355539" y="4914487"/>
            <a:ext cx="110066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19">
            <a:extLst>
              <a:ext uri="{FF2B5EF4-FFF2-40B4-BE49-F238E27FC236}">
                <a16:creationId xmlns:a16="http://schemas.microsoft.com/office/drawing/2014/main" id="{DB301205-DF87-EC0A-E826-84D84588BC27}"/>
              </a:ext>
            </a:extLst>
          </p:cNvPr>
          <p:cNvSpPr/>
          <p:nvPr/>
        </p:nvSpPr>
        <p:spPr>
          <a:xfrm>
            <a:off x="8355539" y="5329356"/>
            <a:ext cx="110066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20">
            <a:extLst>
              <a:ext uri="{FF2B5EF4-FFF2-40B4-BE49-F238E27FC236}">
                <a16:creationId xmlns:a16="http://schemas.microsoft.com/office/drawing/2014/main" id="{C0E4C096-0900-A45B-5C96-04D2D2C213AF}"/>
              </a:ext>
            </a:extLst>
          </p:cNvPr>
          <p:cNvSpPr/>
          <p:nvPr/>
        </p:nvSpPr>
        <p:spPr>
          <a:xfrm>
            <a:off x="8965139" y="5642622"/>
            <a:ext cx="110066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22">
            <a:extLst>
              <a:ext uri="{FF2B5EF4-FFF2-40B4-BE49-F238E27FC236}">
                <a16:creationId xmlns:a16="http://schemas.microsoft.com/office/drawing/2014/main" id="{93A36ED9-5D9D-E34D-9CC4-65A0D342546E}"/>
              </a:ext>
            </a:extLst>
          </p:cNvPr>
          <p:cNvSpPr/>
          <p:nvPr/>
        </p:nvSpPr>
        <p:spPr>
          <a:xfrm>
            <a:off x="9557806" y="5718820"/>
            <a:ext cx="110066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17">
            <a:extLst>
              <a:ext uri="{FF2B5EF4-FFF2-40B4-BE49-F238E27FC236}">
                <a16:creationId xmlns:a16="http://schemas.microsoft.com/office/drawing/2014/main" id="{5EE991BF-8F51-6E5A-C302-337D61D42C8B}"/>
              </a:ext>
            </a:extLst>
          </p:cNvPr>
          <p:cNvSpPr/>
          <p:nvPr/>
        </p:nvSpPr>
        <p:spPr>
          <a:xfrm>
            <a:off x="7520886" y="4245623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 </a:t>
            </a:r>
            <a:endParaRPr lang="zh-CN" altLang="en-US" dirty="0"/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CF13584A-0AF7-DD4B-82A0-6486F3CAC5CA}"/>
              </a:ext>
            </a:extLst>
          </p:cNvPr>
          <p:cNvSpPr/>
          <p:nvPr/>
        </p:nvSpPr>
        <p:spPr>
          <a:xfrm>
            <a:off x="10264086" y="6319956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 </a:t>
            </a:r>
            <a:endParaRPr lang="zh-CN" altLang="en-US" dirty="0"/>
          </a:p>
        </p:txBody>
      </p:sp>
      <p:sp>
        <p:nvSpPr>
          <p:cNvPr id="12" name="矩形 9">
            <a:extLst>
              <a:ext uri="{FF2B5EF4-FFF2-40B4-BE49-F238E27FC236}">
                <a16:creationId xmlns:a16="http://schemas.microsoft.com/office/drawing/2014/main" id="{B5521DB8-106D-A3D2-3800-5147CA49DEC3}"/>
              </a:ext>
            </a:extLst>
          </p:cNvPr>
          <p:cNvSpPr/>
          <p:nvPr/>
        </p:nvSpPr>
        <p:spPr>
          <a:xfrm>
            <a:off x="8533643" y="472982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baseline="-25000" dirty="0"/>
          </a:p>
        </p:txBody>
      </p:sp>
      <p:sp>
        <p:nvSpPr>
          <p:cNvPr id="13" name="矩形 24">
            <a:extLst>
              <a:ext uri="{FF2B5EF4-FFF2-40B4-BE49-F238E27FC236}">
                <a16:creationId xmlns:a16="http://schemas.microsoft.com/office/drawing/2014/main" id="{686BE949-1A61-E713-AEC2-55C0B9FE8CFC}"/>
              </a:ext>
            </a:extLst>
          </p:cNvPr>
          <p:cNvSpPr/>
          <p:nvPr/>
        </p:nvSpPr>
        <p:spPr>
          <a:xfrm>
            <a:off x="8533643" y="5099153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baseline="-25000" dirty="0"/>
          </a:p>
        </p:txBody>
      </p:sp>
      <p:sp>
        <p:nvSpPr>
          <p:cNvPr id="14" name="矩形 25">
            <a:extLst>
              <a:ext uri="{FF2B5EF4-FFF2-40B4-BE49-F238E27FC236}">
                <a16:creationId xmlns:a16="http://schemas.microsoft.com/office/drawing/2014/main" id="{6148D63D-E8DA-BF82-C404-AD43A6E3FAD7}"/>
              </a:ext>
            </a:extLst>
          </p:cNvPr>
          <p:cNvSpPr/>
          <p:nvPr/>
        </p:nvSpPr>
        <p:spPr>
          <a:xfrm>
            <a:off x="9020172" y="5388622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baseline="-25000" dirty="0"/>
          </a:p>
        </p:txBody>
      </p:sp>
      <p:sp>
        <p:nvSpPr>
          <p:cNvPr id="15" name="矩形 26">
            <a:extLst>
              <a:ext uri="{FF2B5EF4-FFF2-40B4-BE49-F238E27FC236}">
                <a16:creationId xmlns:a16="http://schemas.microsoft.com/office/drawing/2014/main" id="{2B7D64D0-A9F7-FF22-6F75-CC01925C160B}"/>
              </a:ext>
            </a:extLst>
          </p:cNvPr>
          <p:cNvSpPr/>
          <p:nvPr/>
        </p:nvSpPr>
        <p:spPr>
          <a:xfrm>
            <a:off x="9612839" y="5468485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cs typeface="Times New Roman" pitchFamily="18" charset="0"/>
              </a:rPr>
              <a:t>4</a:t>
            </a:r>
            <a:endParaRPr lang="zh-CN" altLang="en-US" baseline="-25000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CA6131B-9B2A-E484-F273-9FA2A1337C94}"/>
              </a:ext>
            </a:extLst>
          </p:cNvPr>
          <p:cNvSpPr txBox="1">
            <a:spLocks noChangeArrowheads="1"/>
          </p:cNvSpPr>
          <p:nvPr/>
        </p:nvSpPr>
        <p:spPr>
          <a:xfrm>
            <a:off x="551712" y="2264227"/>
            <a:ext cx="9210962" cy="4957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Domination:</a:t>
            </a: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 dominates </a:t>
            </a: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 if</a:t>
            </a: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x </a:t>
            </a:r>
            <a:r>
              <a:rPr lang="en-GB" altLang="en-US" dirty="0">
                <a:solidFill>
                  <a:schemeClr val="tx1"/>
                </a:solidFill>
              </a:rPr>
              <a:t>is not worse than </a:t>
            </a: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 in any objectives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i="1" dirty="0">
                <a:solidFill>
                  <a:schemeClr val="tx1"/>
                </a:solidFill>
              </a:rPr>
              <a:t> 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  <a:r>
              <a:rPr lang="zh-CN" altLang="en-US" dirty="0">
                <a:solidFill>
                  <a:schemeClr val="tx1"/>
                </a:solidFill>
              </a:rPr>
              <a:t>≥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tx1"/>
                </a:solidFill>
              </a:rPr>
              <a:t>y)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GB" alt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 is strictly better than y in at least one objective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)&gt;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GB" altLang="en-US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Remarks:</a:t>
            </a: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For any two solutions,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, </a:t>
            </a: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.</a:t>
            </a:r>
            <a:r>
              <a:rPr lang="zh-CN" altLang="en-US" dirty="0"/>
              <a:t>  </a:t>
            </a:r>
            <a:endParaRPr lang="en-GB" alt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 dominates </a:t>
            </a: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, or</a:t>
            </a: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 dominates </a:t>
            </a: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, or</a:t>
            </a:r>
            <a:r>
              <a:rPr lang="zh-CN" altLang="en-US" dirty="0"/>
              <a:t> </a:t>
            </a:r>
            <a:endParaRPr lang="en-GB" altLang="en-US" dirty="0">
              <a:solidFill>
                <a:schemeClr val="tx1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1200"/>
              </a:spcBef>
            </a:pPr>
            <a:r>
              <a:rPr lang="en-GB" altLang="en-US" i="1" dirty="0">
                <a:solidFill>
                  <a:schemeClr val="tx1"/>
                </a:solidFill>
              </a:rPr>
              <a:t>x</a:t>
            </a:r>
            <a:r>
              <a:rPr lang="en-GB" altLang="en-US" dirty="0">
                <a:solidFill>
                  <a:schemeClr val="tx1"/>
                </a:solidFill>
              </a:rPr>
              <a:t>, </a:t>
            </a:r>
            <a:r>
              <a:rPr lang="en-GB" altLang="en-US" i="1" dirty="0">
                <a:solidFill>
                  <a:schemeClr val="tx1"/>
                </a:solidFill>
              </a:rPr>
              <a:t>y</a:t>
            </a:r>
            <a:r>
              <a:rPr lang="en-GB" altLang="en-US" dirty="0">
                <a:solidFill>
                  <a:schemeClr val="tx1"/>
                </a:solidFill>
              </a:rPr>
              <a:t> cannot be compared with each other. </a:t>
            </a:r>
          </a:p>
        </p:txBody>
      </p:sp>
    </p:spTree>
    <p:extLst>
      <p:ext uri="{BB962C8B-B14F-4D97-AF65-F5344CB8AC3E}">
        <p14:creationId xmlns:p14="http://schemas.microsoft.com/office/powerpoint/2010/main" val="153589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C41E-3A16-FC12-7455-4296DE0B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Pareto front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8AF27-C84F-3C3D-4C61-B4560260DA85}"/>
              </a:ext>
            </a:extLst>
          </p:cNvPr>
          <p:cNvSpPr txBox="1">
            <a:spLocks noChangeArrowheads="1"/>
          </p:cNvSpPr>
          <p:nvPr/>
        </p:nvSpPr>
        <p:spPr>
          <a:xfrm>
            <a:off x="353655" y="1670081"/>
            <a:ext cx="7772400" cy="5394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en-US" sz="2400" dirty="0"/>
              <a:t>Which solutions are optimal?</a:t>
            </a:r>
          </a:p>
        </p:txBody>
      </p:sp>
      <p:grpSp>
        <p:nvGrpSpPr>
          <p:cNvPr id="4" name="Group 43">
            <a:extLst>
              <a:ext uri="{FF2B5EF4-FFF2-40B4-BE49-F238E27FC236}">
                <a16:creationId xmlns:a16="http://schemas.microsoft.com/office/drawing/2014/main" id="{45F82907-73F3-7AC1-A012-C1FDE919E31B}"/>
              </a:ext>
            </a:extLst>
          </p:cNvPr>
          <p:cNvGrpSpPr>
            <a:grpSpLocks/>
          </p:cNvGrpSpPr>
          <p:nvPr/>
        </p:nvGrpSpPr>
        <p:grpSpPr bwMode="auto">
          <a:xfrm>
            <a:off x="2359979" y="3040527"/>
            <a:ext cx="4295776" cy="3812440"/>
            <a:chOff x="2699" y="1579"/>
            <a:chExt cx="2706" cy="2037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C8EF2A8-ADA0-9627-D001-0EAB50E59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" y="2169"/>
              <a:ext cx="968" cy="115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800" b="0" i="0">
                  <a:latin typeface="Times New Roman" pitchFamily="18" charset="0"/>
                  <a:cs typeface="Times New Roman" pitchFamily="18" charset="0"/>
                </a:rPr>
                <a:t>Dominated by </a:t>
              </a:r>
              <a:r>
                <a:rPr lang="en-GB" altLang="en-US" sz="180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en-GB" altLang="en-US" sz="1800" b="0" i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EE59F8E9-490C-7D3D-009F-8CC7B7B86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1785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A20B03B0-C3B2-C6DA-7B4B-42AD90458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3321"/>
              <a:ext cx="18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D5F66272-CCC3-E189-7F22-2FB773EDE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715"/>
              <a:ext cx="234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 b="0">
                  <a:cs typeface="Times New Roman" pitchFamily="18" charset="0"/>
                </a:rPr>
                <a:t>f</a:t>
              </a:r>
              <a:r>
                <a:rPr lang="en-GB" altLang="en-US" b="0" baseline="-25000">
                  <a:cs typeface="Times New Roman" pitchFamily="18" charset="0"/>
                </a:rPr>
                <a:t>1</a:t>
              </a:r>
              <a:endParaRPr lang="en-GB" altLang="en-US" b="0">
                <a:cs typeface="Times New Roman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05EC789A-F90C-D7F8-0746-D6E36B03C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" y="3369"/>
              <a:ext cx="234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 b="0">
                  <a:cs typeface="Times New Roman" pitchFamily="18" charset="0"/>
                </a:rPr>
                <a:t>f</a:t>
              </a:r>
              <a:r>
                <a:rPr lang="en-GB" altLang="en-US" b="0" baseline="-25000">
                  <a:cs typeface="Times New Roman" pitchFamily="18" charset="0"/>
                </a:rPr>
                <a:t>2</a:t>
              </a:r>
              <a:endParaRPr lang="en-GB" altLang="en-US" b="0">
                <a:cs typeface="Times New Roman" pitchFamily="18" charset="0"/>
              </a:endParaRPr>
            </a:p>
          </p:txBody>
        </p:sp>
        <p:sp>
          <p:nvSpPr>
            <p:cNvPr id="10" name="Arc 10">
              <a:extLst>
                <a:ext uri="{FF2B5EF4-FFF2-40B4-BE49-F238E27FC236}">
                  <a16:creationId xmlns:a16="http://schemas.microsoft.com/office/drawing/2014/main" id="{A6E67DA0-68D2-6245-0C73-225C49128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881"/>
              <a:ext cx="1320" cy="11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2CF032B2-F31D-AC12-A634-563D98D90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9" y="1579"/>
              <a:ext cx="1126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 dirty="0">
                  <a:cs typeface="Times New Roman" pitchFamily="18" charset="0"/>
                </a:rPr>
                <a:t>Pareto front</a:t>
              </a: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E4A9C3ED-0FFE-C317-24F9-3DFAC5E76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3" y="1833"/>
              <a:ext cx="48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4A4F764F-995D-7BEC-97B1-BD8D73BB8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1793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453BCB76-FB6A-2058-DA90-7AD800B5B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" y="1785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8B360D62-7420-D2AA-AF78-4913C1682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881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5585A030-060F-1943-B2FE-43D019682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2025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BA21C8D4-A29A-3744-C43D-DA6D243E2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313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6EDCC5A2-8603-186C-0467-D1E509AE4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2697"/>
              <a:ext cx="176" cy="24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endParaRPr lang="en-GB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89A39380-B01C-B36A-6185-DAB4844FA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3" y="1859"/>
              <a:ext cx="213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GB" altLang="en-US">
                  <a:cs typeface="Times New Roman" pitchFamily="18" charset="0"/>
                </a:rPr>
                <a:t>x</a:t>
              </a:r>
              <a:endParaRPr lang="en-GB" altLang="en-US" b="0" i="0">
                <a:cs typeface="Times New Roman" pitchFamily="18" charset="0"/>
              </a:endParaRPr>
            </a:p>
          </p:txBody>
        </p:sp>
      </p:grpSp>
      <p:sp>
        <p:nvSpPr>
          <p:cNvPr id="20" name="Text Box 37">
            <a:extLst>
              <a:ext uri="{FF2B5EF4-FFF2-40B4-BE49-F238E27FC236}">
                <a16:creationId xmlns:a16="http://schemas.microsoft.com/office/drawing/2014/main" id="{4975DF0A-2A2A-53FC-C6FF-603DF2387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192" y="4390206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>
                <a:cs typeface="Times New Roman" pitchFamily="18" charset="0"/>
              </a:rPr>
              <a:t>y</a:t>
            </a:r>
            <a:endParaRPr lang="en-GB" altLang="en-US" b="0" i="0">
              <a:cs typeface="Times New Roman" pitchFamily="18" charset="0"/>
            </a:endParaRPr>
          </a:p>
        </p:txBody>
      </p:sp>
      <p:sp>
        <p:nvSpPr>
          <p:cNvPr id="21" name="AutoShape 39">
            <a:extLst>
              <a:ext uri="{FF2B5EF4-FFF2-40B4-BE49-F238E27FC236}">
                <a16:creationId xmlns:a16="http://schemas.microsoft.com/office/drawing/2014/main" id="{F6D15F0C-9629-0739-A227-D46F5748F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792" y="4537844"/>
            <a:ext cx="279400" cy="381000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en-GB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AutoShape 40">
            <a:extLst>
              <a:ext uri="{FF2B5EF4-FFF2-40B4-BE49-F238E27FC236}">
                <a16:creationId xmlns:a16="http://schemas.microsoft.com/office/drawing/2014/main" id="{2EA6E86C-599F-EE87-8158-3EE11D870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417" y="5474469"/>
            <a:ext cx="279400" cy="381000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en-GB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AutoShape 41">
            <a:extLst>
              <a:ext uri="{FF2B5EF4-FFF2-40B4-BE49-F238E27FC236}">
                <a16:creationId xmlns:a16="http://schemas.microsoft.com/office/drawing/2014/main" id="{C3088342-7C5A-B022-D4EF-2078960F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754" y="4918844"/>
            <a:ext cx="279400" cy="381000"/>
          </a:xfrm>
          <a:prstGeom prst="star4">
            <a:avLst>
              <a:gd name="adj" fmla="val 12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en-GB" altLang="en-US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9D2508-15C8-73D9-D739-1AAA889821A1}"/>
              </a:ext>
            </a:extLst>
          </p:cNvPr>
          <p:cNvGrpSpPr/>
          <p:nvPr/>
        </p:nvGrpSpPr>
        <p:grpSpPr>
          <a:xfrm>
            <a:off x="7707738" y="3681987"/>
            <a:ext cx="2093931" cy="2854714"/>
            <a:chOff x="6370298" y="3317309"/>
            <a:chExt cx="1988229" cy="2453254"/>
          </a:xfrm>
        </p:grpSpPr>
        <p:pic>
          <p:nvPicPr>
            <p:cNvPr id="25" name="Picture 9" descr="Pareto">
              <a:extLst>
                <a:ext uri="{FF2B5EF4-FFF2-40B4-BE49-F238E27FC236}">
                  <a16:creationId xmlns:a16="http://schemas.microsoft.com/office/drawing/2014/main" id="{C91B544F-EB0F-D010-5BD0-2E92412B7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6769" y="3317309"/>
              <a:ext cx="1064693" cy="1612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7E9B62B0-5EAF-17E4-F30A-95A6417A9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298" y="5122863"/>
              <a:ext cx="1988229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ctr" eaLnBrk="1" hangingPunct="1"/>
              <a:r>
                <a:rPr lang="en-GB" altLang="en-US" sz="2000" dirty="0">
                  <a:latin typeface="Times New Roman" pitchFamily="18" charset="0"/>
                  <a:cs typeface="Times New Roman" pitchFamily="18" charset="0"/>
                </a:rPr>
                <a:t>Vilfredo Pareto (1848-1923) </a:t>
              </a:r>
            </a:p>
          </p:txBody>
        </p:sp>
      </p:grpSp>
      <p:sp>
        <p:nvSpPr>
          <p:cNvPr id="27" name="Rectangle 3">
            <a:extLst>
              <a:ext uri="{FF2B5EF4-FFF2-40B4-BE49-F238E27FC236}">
                <a16:creationId xmlns:a16="http://schemas.microsoft.com/office/drawing/2014/main" id="{589D4DD6-53DC-3C1D-6857-A8BB9A4ED7D6}"/>
              </a:ext>
            </a:extLst>
          </p:cNvPr>
          <p:cNvSpPr txBox="1">
            <a:spLocks noChangeArrowheads="1"/>
          </p:cNvSpPr>
          <p:nvPr/>
        </p:nvSpPr>
        <p:spPr>
          <a:xfrm>
            <a:off x="774341" y="2148853"/>
            <a:ext cx="6513513" cy="4957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GB" altLang="en-US" dirty="0">
                <a:solidFill>
                  <a:schemeClr val="tx1"/>
                </a:solidFill>
              </a:rPr>
              <a:t>Pareto front: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tx1"/>
                </a:solidFill>
              </a:rPr>
              <a:t>A collection of  points without domination</a:t>
            </a:r>
            <a:r>
              <a:rPr lang="en-US" altLang="en-US" i="1" dirty="0">
                <a:solidFill>
                  <a:schemeClr val="tx1"/>
                </a:solidFill>
              </a:rPr>
              <a:t>.</a:t>
            </a:r>
            <a:endParaRPr lang="en-GB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90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42F6-F775-4302-83BF-FA59BE17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Pareto-optimal solutions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6">
            <a:extLst>
              <a:ext uri="{FF2B5EF4-FFF2-40B4-BE49-F238E27FC236}">
                <a16:creationId xmlns:a16="http://schemas.microsoft.com/office/drawing/2014/main" id="{D2045C9F-102B-1CCC-7EEA-E1611D7BB4E2}"/>
              </a:ext>
            </a:extLst>
          </p:cNvPr>
          <p:cNvGrpSpPr>
            <a:grpSpLocks/>
          </p:cNvGrpSpPr>
          <p:nvPr/>
        </p:nvGrpSpPr>
        <p:grpSpPr bwMode="auto">
          <a:xfrm>
            <a:off x="5349613" y="1422400"/>
            <a:ext cx="4934929" cy="5302035"/>
            <a:chOff x="3379" y="709"/>
            <a:chExt cx="2313" cy="31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BF9E514-7DC6-438F-D43F-4EC68B2A5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1" y="746"/>
              <a:ext cx="2023" cy="3111"/>
              <a:chOff x="3243" y="381"/>
              <a:chExt cx="2268" cy="3798"/>
            </a:xfrm>
          </p:grpSpPr>
          <p:graphicFrame>
            <p:nvGraphicFramePr>
              <p:cNvPr id="7" name="Object 4">
                <a:extLst>
                  <a:ext uri="{FF2B5EF4-FFF2-40B4-BE49-F238E27FC236}">
                    <a16:creationId xmlns:a16="http://schemas.microsoft.com/office/drawing/2014/main" id="{A0935B78-72F3-3C53-C2E0-4CE3F85B20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18" y="1565"/>
              <a:ext cx="223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64957" imgH="152268" progId="Equation.3">
                      <p:embed/>
                    </p:oleObj>
                  </mc:Choice>
                  <mc:Fallback>
                    <p:oleObj name="Equation" r:id="rId2" imgW="164957" imgH="152268" progId="Equation.3">
                      <p:embed/>
                      <p:pic>
                        <p:nvPicPr>
                          <p:cNvPr id="13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8" y="1565"/>
                            <a:ext cx="223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Oval 5">
                <a:extLst>
                  <a:ext uri="{FF2B5EF4-FFF2-40B4-BE49-F238E27FC236}">
                    <a16:creationId xmlns:a16="http://schemas.microsoft.com/office/drawing/2014/main" id="{76AFA892-628E-0E91-8A6F-D8EE279A8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1" y="704"/>
                <a:ext cx="2041" cy="104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endParaRPr lang="en-GB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C7683493-E630-D8EF-6660-C5273D918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" y="3748"/>
                <a:ext cx="2042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93B9A8EA-95CB-6B63-38E1-3A9BBB7B8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0" y="2337"/>
                <a:ext cx="0" cy="14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Arc 8">
                <a:extLst>
                  <a:ext uri="{FF2B5EF4-FFF2-40B4-BE49-F238E27FC236}">
                    <a16:creationId xmlns:a16="http://schemas.microsoft.com/office/drawing/2014/main" id="{7211B265-6C89-AFF6-3630-F35143A1A3D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267717">
                <a:off x="3788" y="2522"/>
                <a:ext cx="1377" cy="1285"/>
              </a:xfrm>
              <a:custGeom>
                <a:avLst/>
                <a:gdLst>
                  <a:gd name="T0" fmla="*/ 0 w 21600"/>
                  <a:gd name="T1" fmla="*/ 0 h 25576"/>
                  <a:gd name="T2" fmla="*/ 0 w 21600"/>
                  <a:gd name="T3" fmla="*/ 0 h 25576"/>
                  <a:gd name="T4" fmla="*/ 0 w 21600"/>
                  <a:gd name="T5" fmla="*/ 0 h 25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5576" fill="none" extrusionOk="0">
                    <a:moveTo>
                      <a:pt x="2366" y="-1"/>
                    </a:moveTo>
                    <a:cubicBezTo>
                      <a:pt x="13313" y="1206"/>
                      <a:pt x="21600" y="10456"/>
                      <a:pt x="21600" y="21470"/>
                    </a:cubicBezTo>
                    <a:cubicBezTo>
                      <a:pt x="21600" y="22848"/>
                      <a:pt x="21468" y="24223"/>
                      <a:pt x="21206" y="25576"/>
                    </a:cubicBezTo>
                  </a:path>
                  <a:path w="21600" h="25576" stroke="0" extrusionOk="0">
                    <a:moveTo>
                      <a:pt x="2366" y="-1"/>
                    </a:moveTo>
                    <a:cubicBezTo>
                      <a:pt x="13313" y="1206"/>
                      <a:pt x="21600" y="10456"/>
                      <a:pt x="21600" y="21470"/>
                    </a:cubicBezTo>
                    <a:cubicBezTo>
                      <a:pt x="21600" y="22848"/>
                      <a:pt x="21468" y="24223"/>
                      <a:pt x="21206" y="25576"/>
                    </a:cubicBezTo>
                    <a:lnTo>
                      <a:pt x="0" y="21470"/>
                    </a:lnTo>
                    <a:lnTo>
                      <a:pt x="2366" y="-1"/>
                    </a:lnTo>
                    <a:close/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12" name="Object 9">
                <a:extLst>
                  <a:ext uri="{FF2B5EF4-FFF2-40B4-BE49-F238E27FC236}">
                    <a16:creationId xmlns:a16="http://schemas.microsoft.com/office/drawing/2014/main" id="{C751CBF2-192D-FFC6-565F-C3CD92EF55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43" y="2387"/>
              <a:ext cx="240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7569" imgH="215619" progId="Equation.3">
                      <p:embed/>
                    </p:oleObj>
                  </mc:Choice>
                  <mc:Fallback>
                    <p:oleObj name="Equation" r:id="rId4" imgW="177569" imgH="215619" progId="Equation.3">
                      <p:embed/>
                      <p:pic>
                        <p:nvPicPr>
                          <p:cNvPr id="18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3" y="2387"/>
                            <a:ext cx="240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10">
                <a:extLst>
                  <a:ext uri="{FF2B5EF4-FFF2-40B4-BE49-F238E27FC236}">
                    <a16:creationId xmlns:a16="http://schemas.microsoft.com/office/drawing/2014/main" id="{1401859A-B69B-3928-4E41-C29A045085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48" y="3838"/>
              <a:ext cx="223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64885" imgH="215619" progId="Equation.3">
                      <p:embed/>
                    </p:oleObj>
                  </mc:Choice>
                  <mc:Fallback>
                    <p:oleObj name="Equation" r:id="rId6" imgW="164885" imgH="215619" progId="Equation.3">
                      <p:embed/>
                      <p:pic>
                        <p:nvPicPr>
                          <p:cNvPr id="1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8" y="3838"/>
                            <a:ext cx="223" cy="2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11">
                <a:extLst>
                  <a:ext uri="{FF2B5EF4-FFF2-40B4-BE49-F238E27FC236}">
                    <a16:creationId xmlns:a16="http://schemas.microsoft.com/office/drawing/2014/main" id="{A60E6BC9-D389-DD0A-D8CD-0C7626892E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48" y="3006"/>
              <a:ext cx="363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393529" imgH="203112" progId="Equation.3">
                      <p:embed/>
                    </p:oleObj>
                  </mc:Choice>
                  <mc:Fallback>
                    <p:oleObj name="Equation" r:id="rId8" imgW="393529" imgH="203112" progId="Equation.3">
                      <p:embed/>
                      <p:pic>
                        <p:nvPicPr>
                          <p:cNvPr id="2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8" y="3006"/>
                            <a:ext cx="363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12">
                <a:extLst>
                  <a:ext uri="{FF2B5EF4-FFF2-40B4-BE49-F238E27FC236}">
                    <a16:creationId xmlns:a16="http://schemas.microsoft.com/office/drawing/2014/main" id="{9B7E4570-F4F3-92B0-A588-F36B6FC016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77" y="1990"/>
              <a:ext cx="272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957" imgH="152268" progId="Equation.3">
                      <p:embed/>
                    </p:oleObj>
                  </mc:Choice>
                  <mc:Fallback>
                    <p:oleObj name="Equation" r:id="rId10" imgW="164957" imgH="152268" progId="Equation.3">
                      <p:embed/>
                      <p:pic>
                        <p:nvPicPr>
                          <p:cNvPr id="2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7" y="1990"/>
                            <a:ext cx="272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Freeform 13">
                <a:extLst>
                  <a:ext uri="{FF2B5EF4-FFF2-40B4-BE49-F238E27FC236}">
                    <a16:creationId xmlns:a16="http://schemas.microsoft.com/office/drawing/2014/main" id="{3A777374-418F-DFE3-A185-EFCBF19D7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2251"/>
                <a:ext cx="1452" cy="1497"/>
              </a:xfrm>
              <a:custGeom>
                <a:avLst/>
                <a:gdLst>
                  <a:gd name="T0" fmla="*/ 0 w 703"/>
                  <a:gd name="T1" fmla="*/ 879665 h 1020"/>
                  <a:gd name="T2" fmla="*/ 2147483647 w 703"/>
                  <a:gd name="T3" fmla="*/ 309276 h 1020"/>
                  <a:gd name="T4" fmla="*/ 2147483647 w 703"/>
                  <a:gd name="T5" fmla="*/ 2740978 h 1020"/>
                  <a:gd name="T6" fmla="*/ 2147483647 w 703"/>
                  <a:gd name="T7" fmla="*/ 3171738 h 10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03" h="1020">
                    <a:moveTo>
                      <a:pt x="0" y="279"/>
                    </a:moveTo>
                    <a:cubicBezTo>
                      <a:pt x="238" y="139"/>
                      <a:pt x="477" y="0"/>
                      <a:pt x="590" y="98"/>
                    </a:cubicBezTo>
                    <a:cubicBezTo>
                      <a:pt x="703" y="196"/>
                      <a:pt x="665" y="718"/>
                      <a:pt x="680" y="869"/>
                    </a:cubicBezTo>
                    <a:cubicBezTo>
                      <a:pt x="695" y="1020"/>
                      <a:pt x="687" y="1012"/>
                      <a:pt x="680" y="1005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2C9C24C9-4620-6655-9645-FA7FDA629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78" y="1434"/>
                <a:ext cx="680" cy="172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D91CE89E-FA55-2B10-7A30-573B91C0F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618"/>
                <a:ext cx="137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Rectangle 16">
                <a:extLst>
                  <a:ext uri="{FF2B5EF4-FFF2-40B4-BE49-F238E27FC236}">
                    <a16:creationId xmlns:a16="http://schemas.microsoft.com/office/drawing/2014/main" id="{67E90647-C39D-4B9D-C223-CA51CF748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3952"/>
                <a:ext cx="1271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endParaRPr lang="en-US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224C4EFC-107A-344A-DC8B-123730263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0" y="381"/>
                <a:ext cx="1271" cy="2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endParaRPr lang="en-US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1" name="AutoShape 18">
                <a:extLst>
                  <a:ext uri="{FF2B5EF4-FFF2-40B4-BE49-F238E27FC236}">
                    <a16:creationId xmlns:a16="http://schemas.microsoft.com/office/drawing/2014/main" id="{0B7A5692-6380-CB89-FF7E-B260639CBC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28" y="948"/>
                <a:ext cx="1632" cy="499"/>
              </a:xfrm>
              <a:prstGeom prst="curvedConnector3">
                <a:avLst>
                  <a:gd name="adj1" fmla="val 43259"/>
                </a:avLst>
              </a:prstGeom>
              <a:noFill/>
              <a:ln w="476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2" name="Line 19">
                <a:extLst>
                  <a:ext uri="{FF2B5EF4-FFF2-40B4-BE49-F238E27FC236}">
                    <a16:creationId xmlns:a16="http://schemas.microsoft.com/office/drawing/2014/main" id="{57AC71DB-E76E-41D7-5461-94F7CBFC2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5" y="3566"/>
                <a:ext cx="136" cy="3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" name="Rectangle 24">
              <a:extLst>
                <a:ext uri="{FF2B5EF4-FFF2-40B4-BE49-F238E27FC236}">
                  <a16:creationId xmlns:a16="http://schemas.microsoft.com/office/drawing/2014/main" id="{3736C9F7-AA21-0D64-138C-60B9517F0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3612"/>
              <a:ext cx="1708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GB" alt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Pareto front (PF)</a:t>
              </a:r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5AA1F24E-7365-199B-6541-6D584E28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709"/>
              <a:ext cx="1708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GB" alt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Pareto Set (PS)</a:t>
              </a:r>
            </a:p>
          </p:txBody>
        </p:sp>
      </p:grpSp>
      <p:sp>
        <p:nvSpPr>
          <p:cNvPr id="23" name="Rectangle 3">
            <a:extLst>
              <a:ext uri="{FF2B5EF4-FFF2-40B4-BE49-F238E27FC236}">
                <a16:creationId xmlns:a16="http://schemas.microsoft.com/office/drawing/2014/main" id="{F02D617B-B486-19D2-DDC9-E305D5D39B38}"/>
              </a:ext>
            </a:extLst>
          </p:cNvPr>
          <p:cNvSpPr txBox="1">
            <a:spLocks noChangeArrowheads="1"/>
          </p:cNvSpPr>
          <p:nvPr/>
        </p:nvSpPr>
        <p:spPr>
          <a:xfrm>
            <a:off x="249890" y="1789004"/>
            <a:ext cx="4648200" cy="49180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Pareto-Optimal Solution: Not dominated by any other solution</a:t>
            </a:r>
          </a:p>
          <a:p>
            <a:pPr marL="342900" indent="-342900"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Pareto Set (PS): the set of all the Pareto optimal solutions (in the decision space). </a:t>
            </a:r>
          </a:p>
          <a:p>
            <a:pPr marL="342900" indent="-342900">
              <a:spcBef>
                <a:spcPts val="1200"/>
              </a:spcBef>
            </a:pPr>
            <a:r>
              <a:rPr lang="en-GB" altLang="en-US" dirty="0">
                <a:solidFill>
                  <a:schemeClr val="tx1"/>
                </a:solidFill>
              </a:rPr>
              <a:t>Pareto-Optimal Front (PF): The objective function values of all the Pareto-optimal solutions.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GB" altLang="en-US" dirty="0">
                <a:solidFill>
                  <a:schemeClr val="tx1"/>
                </a:solidFill>
              </a:rPr>
              <a:t>    PF=F(PS) (objective space)</a:t>
            </a:r>
          </a:p>
        </p:txBody>
      </p:sp>
    </p:spTree>
    <p:extLst>
      <p:ext uri="{BB962C8B-B14F-4D97-AF65-F5344CB8AC3E}">
        <p14:creationId xmlns:p14="http://schemas.microsoft.com/office/powerpoint/2010/main" val="253132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0586-7D70-1D78-CA6C-F4E3B3E9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Multi-objective constrained optimization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F9DCAE-87CC-16AF-75B3-0C9238388B51}"/>
              </a:ext>
            </a:extLst>
          </p:cNvPr>
          <p:cNvSpPr txBox="1">
            <a:spLocks noChangeArrowheads="1"/>
          </p:cNvSpPr>
          <p:nvPr/>
        </p:nvSpPr>
        <p:spPr>
          <a:xfrm>
            <a:off x="365261" y="1790271"/>
            <a:ext cx="9604649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en-US" sz="2400" dirty="0"/>
              <a:t>&gt;1 objectives and &gt;1 constraints can happen at the same time </a:t>
            </a:r>
            <a:endParaRPr lang="en-US" altLang="en-US" sz="24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D1E4CF6-C1B6-47E2-599B-177E88AF1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61" y="2933271"/>
            <a:ext cx="104992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800100" indent="-3429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zh-CN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Constrained multi-objective optimization</a:t>
            </a:r>
          </a:p>
          <a:p>
            <a:pPr>
              <a:spcBef>
                <a:spcPts val="1200"/>
              </a:spcBef>
            </a:pPr>
            <a:endParaRPr lang="en-GB" altLang="zh-CN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GB" altLang="zh-CN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How to rank the solutions? 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Feasible solutions vs. Infeasible solutions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Two feasible solutions: multi-objective 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Two infeasible solutions: constraint violations</a:t>
            </a:r>
          </a:p>
          <a:p>
            <a:pPr lvl="1">
              <a:spcBef>
                <a:spcPts val="1200"/>
              </a:spcBef>
              <a:buFontTx/>
              <a:buChar char="•"/>
            </a:pPr>
            <a:endParaRPr lang="en-GB" altLang="zh-CN" b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5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</TotalTime>
  <Words>403</Words>
  <Application>Microsoft Office PowerPoint</Application>
  <PresentationFormat>Widescreen</PresentationFormat>
  <Paragraphs>70</Paragraphs>
  <Slides>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Multiple Objectives</vt:lpstr>
      <vt:lpstr>Multi-objective optimization </vt:lpstr>
      <vt:lpstr>Multi-objective optimization: example</vt:lpstr>
      <vt:lpstr>Domination </vt:lpstr>
      <vt:lpstr>Pareto front </vt:lpstr>
      <vt:lpstr>Pareto-optimal solutions </vt:lpstr>
      <vt:lpstr>Multi-objective constrained optimization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65</cp:revision>
  <dcterms:created xsi:type="dcterms:W3CDTF">2021-01-06T14:22:07Z</dcterms:created>
  <dcterms:modified xsi:type="dcterms:W3CDTF">2024-08-19T14:19:35Z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