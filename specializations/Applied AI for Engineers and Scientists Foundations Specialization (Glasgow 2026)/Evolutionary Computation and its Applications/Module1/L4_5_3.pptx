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0"/>
  </p:notesMasterIdLst>
  <p:sldIdLst>
    <p:sldId id="256" r:id="rId5"/>
    <p:sldId id="494" r:id="rId6"/>
    <p:sldId id="496" r:id="rId7"/>
    <p:sldId id="497" r:id="rId8"/>
    <p:sldId id="27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3359" autoAdjust="0"/>
    <p:restoredTop sz="96327"/>
  </p:normalViewPr>
  <p:slideViewPr>
    <p:cSldViewPr snapToGrid="0">
      <p:cViewPr varScale="1">
        <p:scale>
          <a:sx n="136" d="100"/>
          <a:sy n="136" d="100"/>
        </p:scale>
        <p:origin x="96" y="532"/>
      </p:cViewPr>
      <p:guideLst/>
    </p:cSldViewPr>
  </p:slideViewPr>
  <p:outlineViewPr>
    <p:cViewPr>
      <p:scale>
        <a:sx n="30" d="100"/>
        <a:sy n="30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295AE2-43AC-144B-AE88-DCB376799F11}" type="datetimeFigureOut">
              <a:rPr lang="en-US" smtClean="0"/>
              <a:t>7/1/2024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24E5BB-E6B0-B84A-ABCD-9A3E9C2D78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7427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95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2024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4946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83BB4406-02B4-284F-84C5-A21F22E6B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5FEA054A-F191-E34B-8C26-BA11F3F0C0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85750" y="1627188"/>
            <a:ext cx="11474450" cy="46069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92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a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08667"/>
            <a:ext cx="5181600" cy="456829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8667"/>
            <a:ext cx="5181600" cy="456829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EE31514-F8EA-5D4E-B45D-65DD78DBE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125246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91D55F9-A3F2-1242-A5F3-5AAACC9DB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49408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0418" y="1657926"/>
            <a:ext cx="6629400" cy="789709"/>
          </a:xfrm>
        </p:spPr>
        <p:txBody>
          <a:bodyPr anchor="t">
            <a:normAutofit/>
          </a:bodyPr>
          <a:lstStyle>
            <a:lvl1pPr algn="l">
              <a:defRPr sz="28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90418" y="3015529"/>
            <a:ext cx="5680364" cy="623598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842734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F97420DD-2415-454D-AA0F-DBDA719CB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01283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1680" y="2123676"/>
            <a:ext cx="4027169" cy="1600200"/>
          </a:xfrm>
        </p:spPr>
        <p:txBody>
          <a:bodyPr anchor="t">
            <a:normAutofit/>
          </a:bodyPr>
          <a:lstStyle>
            <a:lvl1pPr algn="l">
              <a:defRPr sz="2800"/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1680" y="3934224"/>
            <a:ext cx="4030345" cy="1934763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280398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6A65B24-645B-1746-9651-55C209C5E25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810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511800" y="681037"/>
            <a:ext cx="5842000" cy="100965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624FB1-CB24-4B4C-BFD4-AD276D9A4059}" type="datetimeFigureOut">
              <a:rPr lang="en-GB" smtClean="0"/>
              <a:t>01/07/2024</a:t>
            </a:fld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19F3F6-C255-4AC5-91C2-3F61B6509B36}" type="slidenum">
              <a:rPr lang="en-GB" smtClean="0"/>
              <a:t>‹#›</a:t>
            </a:fld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6262A0F-9E49-6B4D-94F3-647B33A25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699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52" r:id="rId2"/>
    <p:sldLayoutId id="2147483653" r:id="rId3"/>
    <p:sldLayoutId id="2147483649" r:id="rId4"/>
    <p:sldLayoutId id="2147483654" r:id="rId5"/>
    <p:sldLayoutId id="2147483656" r:id="rId6"/>
    <p:sldLayoutId id="2147483684" r:id="rId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The Gilbert Scott Building">
            <a:extLst>
              <a:ext uri="{FF2B5EF4-FFF2-40B4-BE49-F238E27FC236}">
                <a16:creationId xmlns:a16="http://schemas.microsoft.com/office/drawing/2014/main" id="{BAB3C4BD-A67A-4D47-6D5C-637F167E7C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0418" y="1657926"/>
            <a:ext cx="8210986" cy="789709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Engineering Case Studies (3)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FFC54586-8882-6804-A250-091EB79369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0418" y="2576945"/>
            <a:ext cx="5680364" cy="1062182"/>
          </a:xfrm>
        </p:spPr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Professor Bo Liu</a:t>
            </a:r>
          </a:p>
          <a:p>
            <a:r>
              <a:rPr lang="en-GB" dirty="0">
                <a:solidFill>
                  <a:schemeClr val="tx1"/>
                </a:solidFill>
              </a:rPr>
              <a:t>James Watt School of Engineering</a:t>
            </a:r>
          </a:p>
        </p:txBody>
      </p:sp>
    </p:spTree>
    <p:extLst>
      <p:ext uri="{BB962C8B-B14F-4D97-AF65-F5344CB8AC3E}">
        <p14:creationId xmlns:p14="http://schemas.microsoft.com/office/powerpoint/2010/main" val="42441715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7" y="533614"/>
            <a:ext cx="7077364" cy="1079286"/>
          </a:xfrm>
        </p:spPr>
        <p:txBody>
          <a:bodyPr/>
          <a:lstStyle/>
          <a:p>
            <a:r>
              <a:rPr lang="en-GB" dirty="0"/>
              <a:t>Radar signal processing: Human activity recognition 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3B6DBA3-71FD-D03D-98B8-0C4201B8EB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1637" y="1612900"/>
            <a:ext cx="7393634" cy="29238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just" eaLnBrk="1" hangingPunct="1">
              <a:spcBef>
                <a:spcPts val="1200"/>
              </a:spcBef>
            </a:pPr>
            <a:r>
              <a:rPr lang="en-US" altLang="zh-CN" sz="2400" b="1" i="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Human activity recognition research in radar typically include the following steps:</a:t>
            </a:r>
          </a:p>
          <a:p>
            <a:pPr marL="342900" indent="-342900" algn="just" eaLnBrk="1" hangingPunct="1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GB" altLang="zh-CN" sz="2400" i="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Data Collection</a:t>
            </a:r>
            <a:endParaRPr lang="zh-CN" altLang="zh-CN" sz="2400" i="0" dirty="0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  <a:p>
            <a:pPr marL="342900" indent="-342900" algn="just" eaLnBrk="1" hangingPunct="1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GB" altLang="zh-CN" sz="2400" i="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Pre-processing</a:t>
            </a:r>
            <a:endParaRPr lang="zh-CN" altLang="zh-CN" sz="2400" i="0" dirty="0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  <a:p>
            <a:pPr marL="342900" indent="-342900" algn="just" eaLnBrk="1" hangingPunct="1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GB" altLang="zh-CN" sz="2400" b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Feature Extraction, Selection and Fusion</a:t>
            </a:r>
            <a:endParaRPr lang="zh-CN" altLang="zh-CN" sz="2400" b="1" dirty="0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  <a:p>
            <a:pPr marL="342900" indent="-342900" algn="just" eaLnBrk="1" hangingPunct="1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GB" altLang="zh-CN" sz="2400" i="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Classification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BA8A98C-0FE9-B6B5-BC73-A97BFCF03F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272" r="51494"/>
          <a:stretch>
            <a:fillRect/>
          </a:stretch>
        </p:blipFill>
        <p:spPr bwMode="auto">
          <a:xfrm>
            <a:off x="6978870" y="3171462"/>
            <a:ext cx="4908330" cy="3403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76015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C92889-7FD1-91D8-0FF8-7BB1C544F0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Radar signal processing: feature selection </a:t>
            </a:r>
            <a:br>
              <a:rPr lang="en-GB" dirty="0"/>
            </a:br>
            <a:endParaRPr lang="en-GB" dirty="0"/>
          </a:p>
        </p:txBody>
      </p:sp>
      <p:sp>
        <p:nvSpPr>
          <p:cNvPr id="3" name="矩形 3">
            <a:extLst>
              <a:ext uri="{FF2B5EF4-FFF2-40B4-BE49-F238E27FC236}">
                <a16:creationId xmlns:a16="http://schemas.microsoft.com/office/drawing/2014/main" id="{71730681-A09D-2A1B-8C99-6EA1E64A66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3888" y="1648805"/>
            <a:ext cx="10488111" cy="48936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Problem description</a:t>
            </a:r>
          </a:p>
          <a:p>
            <a:endParaRPr lang="en-US" altLang="zh-CN" sz="2400" b="1" i="0" dirty="0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b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Different features </a:t>
            </a:r>
            <a:r>
              <a:rPr lang="en-US" altLang="zh-CN" sz="24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(</a:t>
            </a:r>
            <a:r>
              <a:rPr lang="en-US" altLang="zh-CN" sz="2400" b="1" i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x</a:t>
            </a:r>
            <a:r>
              <a:rPr lang="en-US" altLang="zh-CN" sz="24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) can be used to establish a state recognition system.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400" dirty="0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The </a:t>
            </a:r>
            <a:r>
              <a:rPr lang="en-US" altLang="zh-CN" sz="2400" i="1" dirty="0" err="1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i-</a:t>
            </a:r>
            <a:r>
              <a:rPr lang="en-US" altLang="zh-CN" sz="2400" dirty="0" err="1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th</a:t>
            </a:r>
            <a:r>
              <a:rPr lang="en-US" altLang="zh-CN" sz="24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 feature have two values: 0 and 1. </a:t>
            </a:r>
          </a:p>
          <a:p>
            <a:endParaRPr lang="en-US" altLang="zh-CN" sz="2400" dirty="0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When </a:t>
            </a:r>
            <a:r>
              <a:rPr lang="en-US" altLang="zh-CN" sz="2400" i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x</a:t>
            </a:r>
            <a:r>
              <a:rPr lang="en-US" altLang="zh-CN" sz="2400" i="1" baseline="-25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i</a:t>
            </a:r>
            <a:r>
              <a:rPr lang="en-US" altLang="zh-CN" sz="24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=0, the feature is not selected as a modeling feature.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altLang="zh-CN" sz="2400" dirty="0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When </a:t>
            </a:r>
            <a:r>
              <a:rPr lang="en-US" altLang="zh-CN" sz="2400" i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x</a:t>
            </a:r>
            <a:r>
              <a:rPr lang="en-US" altLang="zh-CN" sz="2400" i="1" baseline="-25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i</a:t>
            </a:r>
            <a:r>
              <a:rPr lang="en-US" altLang="zh-CN" sz="24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=1, the feature is selected as a modeling feature.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altLang="zh-CN" sz="2400" dirty="0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sz="2400" b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The aim of feature selection is to maximize the prediction accuracy of activity recognition system.</a:t>
            </a:r>
          </a:p>
        </p:txBody>
      </p:sp>
    </p:spTree>
    <p:extLst>
      <p:ext uri="{BB962C8B-B14F-4D97-AF65-F5344CB8AC3E}">
        <p14:creationId xmlns:p14="http://schemas.microsoft.com/office/powerpoint/2010/main" val="4214124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1C9B7E-7596-C466-8A6B-3F2E3CDBD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Radar signal processing: optimization </a:t>
            </a:r>
            <a:br>
              <a:rPr lang="en-GB" dirty="0"/>
            </a:br>
            <a:endParaRPr lang="en-GB" dirty="0"/>
          </a:p>
        </p:txBody>
      </p:sp>
      <p:sp>
        <p:nvSpPr>
          <p:cNvPr id="3" name="右箭头 2">
            <a:extLst>
              <a:ext uri="{FF2B5EF4-FFF2-40B4-BE49-F238E27FC236}">
                <a16:creationId xmlns:a16="http://schemas.microsoft.com/office/drawing/2014/main" id="{62125BA8-8EA2-2B84-2CF5-29E4DCBDB1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32807" y="3983670"/>
            <a:ext cx="1150937" cy="287337"/>
          </a:xfrm>
          <a:prstGeom prst="rightArrow">
            <a:avLst>
              <a:gd name="adj1" fmla="val 50000"/>
              <a:gd name="adj2" fmla="val 50069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pPr algn="ctr">
              <a:spcBef>
                <a:spcPct val="20000"/>
              </a:spcBef>
            </a:pPr>
            <a:endParaRPr lang="zh-CN" altLang="en-US" dirty="0">
              <a:ea typeface="宋体" pitchFamily="2" charset="-122"/>
            </a:endParaRPr>
          </a:p>
        </p:txBody>
      </p:sp>
      <p:sp>
        <p:nvSpPr>
          <p:cNvPr id="4" name="矩形 11">
            <a:extLst>
              <a:ext uri="{FF2B5EF4-FFF2-40B4-BE49-F238E27FC236}">
                <a16:creationId xmlns:a16="http://schemas.microsoft.com/office/drawing/2014/main" id="{EBE40E4A-FB77-0FF5-313A-A2EDA6810C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5576" y="3864664"/>
            <a:ext cx="3051175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Objective function </a:t>
            </a:r>
          </a:p>
          <a:p>
            <a:r>
              <a:rPr lang="en-US" altLang="zh-CN" sz="2400" i="0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</a:t>
            </a:r>
            <a:endParaRPr lang="zh-CN" altLang="en-US" sz="2400" dirty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  <p:sp>
        <p:nvSpPr>
          <p:cNvPr id="5" name="右箭头 13">
            <a:extLst>
              <a:ext uri="{FF2B5EF4-FFF2-40B4-BE49-F238E27FC236}">
                <a16:creationId xmlns:a16="http://schemas.microsoft.com/office/drawing/2014/main" id="{DA13ADF8-F922-2AD6-CD0D-0A26C99018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31219" y="4482457"/>
            <a:ext cx="1152525" cy="288925"/>
          </a:xfrm>
          <a:prstGeom prst="rightArrow">
            <a:avLst>
              <a:gd name="adj1" fmla="val 50000"/>
              <a:gd name="adj2" fmla="val 49863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pPr algn="ctr">
              <a:spcBef>
                <a:spcPct val="20000"/>
              </a:spcBef>
            </a:pPr>
            <a:endParaRPr lang="zh-CN" altLang="en-US">
              <a:ea typeface="宋体" pitchFamily="2" charset="-122"/>
            </a:endParaRPr>
          </a:p>
        </p:txBody>
      </p:sp>
      <p:sp>
        <p:nvSpPr>
          <p:cNvPr id="6" name="矩形 6">
            <a:extLst>
              <a:ext uri="{FF2B5EF4-FFF2-40B4-BE49-F238E27FC236}">
                <a16:creationId xmlns:a16="http://schemas.microsoft.com/office/drawing/2014/main" id="{FE1AF76E-CB50-6139-E64D-3D5BC8C8BD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5576" y="4396086"/>
            <a:ext cx="268695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Decision variables</a:t>
            </a:r>
            <a:endParaRPr lang="zh-CN" altLang="en-US" sz="2400" dirty="0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</p:txBody>
      </p:sp>
      <p:sp>
        <p:nvSpPr>
          <p:cNvPr id="7" name="矩形 2">
            <a:extLst>
              <a:ext uri="{FF2B5EF4-FFF2-40B4-BE49-F238E27FC236}">
                <a16:creationId xmlns:a16="http://schemas.microsoft.com/office/drawing/2014/main" id="{BDD267AA-4331-3447-AC69-FB240156A4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9300" y="1702700"/>
            <a:ext cx="87630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How to formulate the problem into an optimization problem?</a:t>
            </a:r>
          </a:p>
        </p:txBody>
      </p:sp>
      <p:sp>
        <p:nvSpPr>
          <p:cNvPr id="8" name="矩形 11">
            <a:extLst>
              <a:ext uri="{FF2B5EF4-FFF2-40B4-BE49-F238E27FC236}">
                <a16:creationId xmlns:a16="http://schemas.microsoft.com/office/drawing/2014/main" id="{05005DE4-373C-64DC-A0C2-40C9103C8619}"/>
              </a:ext>
            </a:extLst>
          </p:cNvPr>
          <p:cNvSpPr/>
          <p:nvPr/>
        </p:nvSpPr>
        <p:spPr>
          <a:xfrm>
            <a:off x="795338" y="2857500"/>
            <a:ext cx="414728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400" b="1" i="0" dirty="0">
                <a:latin typeface="Arial" panose="020B0604020202020204" pitchFamily="34" charset="0"/>
                <a:cs typeface="Arial" panose="020B0604020202020204" pitchFamily="34" charset="0"/>
              </a:rPr>
              <a:t>Combinatorial</a:t>
            </a:r>
            <a:r>
              <a:rPr lang="en-US" altLang="zh-CN" sz="2400" b="1" i="0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optimization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对象 4">
                <a:extLst>
                  <a:ext uri="{FF2B5EF4-FFF2-40B4-BE49-F238E27FC236}">
                    <a16:creationId xmlns:a16="http://schemas.microsoft.com/office/drawing/2014/main" id="{1B913F8D-5698-E86D-7D8E-326C82DCB1FD}"/>
                  </a:ext>
                </a:extLst>
              </p:cNvPr>
              <p:cNvSpPr txBox="1"/>
              <p:nvPr/>
            </p:nvSpPr>
            <p:spPr>
              <a:xfrm>
                <a:off x="3209611" y="3983670"/>
                <a:ext cx="1957387" cy="200660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2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func>
                      <m:r>
                        <a:rPr lang="en-GB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𝐱</m:t>
                      </m:r>
                      <m:r>
                        <a:rPr lang="en-GB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  <m:oMath xmlns:m="http://schemas.openxmlformats.org/officeDocument/2006/math">
                      <m:m>
                        <m:mPr>
                          <m:plcHide m:val="on"/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eqArr>
                              <m:eqArrPr>
                                <m:ctrlPr>
                                  <a:rPr lang="en-GB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r>
                                  <a:rPr lang="en-GB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&amp;</m:t>
                                </m:r>
                                <m:r>
                                  <a:rPr lang="en-GB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𝐱</m:t>
                                </m:r>
                                <m:r>
                                  <a:rPr lang="en-GB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=(</m:t>
                                </m:r>
                                <m:sSub>
                                  <m:sSubPr>
                                    <m:ctrlPr>
                                      <a:rPr lang="en-GB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GB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GB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GB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GB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GB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,…)</m:t>
                                </m:r>
                              </m:e>
                              <m:e>
                                <m:r>
                                  <a:rPr lang="en-GB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&amp;</m:t>
                                </m:r>
                                <m:sSub>
                                  <m:sSubPr>
                                    <m:ctrlPr>
                                      <a:rPr lang="en-GB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GB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GB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∈{0,1}</m:t>
                                </m:r>
                              </m:e>
                            </m:eqArr>
                          </m:e>
                        </m:mr>
                        <m:mr>
                          <m:e/>
                        </m:mr>
                      </m:m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对象 4">
                <a:extLst>
                  <a:ext uri="{FF2B5EF4-FFF2-40B4-BE49-F238E27FC236}">
                    <a16:creationId xmlns:a16="http://schemas.microsoft.com/office/drawing/2014/main" id="{1B913F8D-5698-E86D-7D8E-326C82DCB1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9611" y="3983670"/>
                <a:ext cx="1957387" cy="2006600"/>
              </a:xfrm>
              <a:prstGeom prst="rect">
                <a:avLst/>
              </a:prstGeom>
              <a:blipFill>
                <a:blip r:embed="rId2"/>
                <a:stretch>
                  <a:fillRect r="-62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37378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  <p:bldP spid="5" grpId="0" animBg="1"/>
      <p:bldP spid="6" grpId="0"/>
      <p:bldP spid="8" grpId="0"/>
      <p:bldP spid="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he University at sunset">
            <a:extLst>
              <a:ext uri="{FF2B5EF4-FFF2-40B4-BE49-F238E27FC236}">
                <a16:creationId xmlns:a16="http://schemas.microsoft.com/office/drawing/2014/main" id="{11FDCD37-95D4-D94F-8143-5384ADC6A6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175F20C-468E-F742-9149-B8A5FEBC291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45886" y="1889351"/>
            <a:ext cx="5842000" cy="1931535"/>
          </a:xfrm>
        </p:spPr>
        <p:txBody>
          <a:bodyPr>
            <a:noAutofit/>
          </a:bodyPr>
          <a:lstStyle/>
          <a:p>
            <a:pPr algn="l"/>
            <a:r>
              <a:rPr lang="en-GB">
                <a:solidFill>
                  <a:schemeClr val="bg1"/>
                </a:solidFill>
              </a:rPr>
              <a:t>Thanks!</a:t>
            </a:r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22ED6EA-1EF6-E99C-8D46-A77E8079F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385228" y="5699322"/>
            <a:ext cx="3413095" cy="854153"/>
            <a:chOff x="8385228" y="5699322"/>
            <a:chExt cx="3413095" cy="854153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44E80E0-21D5-A09C-9C43-3B822C05837D}"/>
                </a:ext>
              </a:extLst>
            </p:cNvPr>
            <p:cNvSpPr txBox="1"/>
            <p:nvPr/>
          </p:nvSpPr>
          <p:spPr>
            <a:xfrm>
              <a:off x="8385228" y="5699322"/>
              <a:ext cx="3413095" cy="461665"/>
            </a:xfrm>
            <a:prstGeom prst="rect">
              <a:avLst/>
            </a:prstGeom>
            <a:noFill/>
            <a:effectLst>
              <a:outerShdw blurRad="1270000" dist="50800" dir="5400000" sx="200000" sy="200000" algn="ctr" rotWithShape="0">
                <a:schemeClr val="tx1"/>
              </a:outerShdw>
            </a:effectLst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#</a:t>
              </a:r>
              <a:r>
                <a:rPr lang="en-US" sz="2400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UofGWorldChangers</a:t>
              </a:r>
              <a:endParaRPr 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92BBCD2-E264-1B57-0E93-92E9DB639953}"/>
                </a:ext>
              </a:extLst>
            </p:cNvPr>
            <p:cNvSpPr txBox="1"/>
            <p:nvPr/>
          </p:nvSpPr>
          <p:spPr>
            <a:xfrm>
              <a:off x="9098531" y="6091810"/>
              <a:ext cx="269979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b="1" dirty="0">
                  <a:solidFill>
                    <a:schemeClr val="bg1"/>
                  </a:solidFill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rPr>
                <a:t>@</a:t>
              </a:r>
              <a:r>
                <a:rPr lang="en-US" sz="2400" b="1" dirty="0" err="1">
                  <a:solidFill>
                    <a:schemeClr val="bg1"/>
                  </a:solidFill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rPr>
                <a:t>UofGlasgow</a:t>
              </a:r>
              <a:endParaRPr lang="en-US" sz="2400" b="1" dirty="0">
                <a:solidFill>
                  <a:schemeClr val="bg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endParaRPr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4EA5A01-D67E-B5A8-4983-B4E38F735C71}"/>
                </a:ext>
              </a:extLst>
            </p:cNvPr>
            <p:cNvGrpSpPr/>
            <p:nvPr/>
          </p:nvGrpSpPr>
          <p:grpSpPr>
            <a:xfrm>
              <a:off x="8516481" y="6162367"/>
              <a:ext cx="841333" cy="347112"/>
              <a:chOff x="8601252" y="6162367"/>
              <a:chExt cx="841333" cy="347112"/>
            </a:xfrm>
          </p:grpSpPr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8049EAA7-B259-E0CF-6188-D83E4A7650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778761" y="6162367"/>
                <a:ext cx="475023" cy="347112"/>
              </a:xfrm>
              <a:prstGeom prst="rect">
                <a:avLst/>
              </a:prstGeom>
            </p:spPr>
          </p:pic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C9EF044C-8E77-0253-404C-AEACFCC1AE0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9194185" y="6223334"/>
                <a:ext cx="248400" cy="248399"/>
              </a:xfrm>
              <a:prstGeom prst="rect">
                <a:avLst/>
              </a:prstGeom>
            </p:spPr>
          </p:pic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1EFBA2B9-08B7-B52F-FE3B-91DCAC58DC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8601252" y="6221141"/>
                <a:ext cx="239105" cy="239106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0063787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UofG colours">
      <a:dk1>
        <a:srgbClr val="003865"/>
      </a:dk1>
      <a:lt1>
        <a:srgbClr val="FFFFFE"/>
      </a:lt1>
      <a:dk2>
        <a:srgbClr val="000000"/>
      </a:dk2>
      <a:lt2>
        <a:srgbClr val="7D2238"/>
      </a:lt2>
      <a:accent1>
        <a:srgbClr val="0075B0"/>
      </a:accent1>
      <a:accent2>
        <a:srgbClr val="5B4D93"/>
      </a:accent2>
      <a:accent3>
        <a:srgbClr val="CF1C20"/>
      </a:accent3>
      <a:accent4>
        <a:srgbClr val="00833C"/>
      </a:accent4>
      <a:accent5>
        <a:srgbClr val="BE4D00"/>
      </a:accent5>
      <a:accent6>
        <a:srgbClr val="951271"/>
      </a:accent6>
      <a:hlink>
        <a:srgbClr val="584B3D"/>
      </a:hlink>
      <a:folHlink>
        <a:srgbClr val="0068A9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A61AF5F2-503D-2641-86A1-09AD8919EA9C}" vid="{A816E7D6-9491-074F-A4D5-6596497DAC1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C3DDD16490E0A48848881CB6EECDF92" ma:contentTypeVersion="14" ma:contentTypeDescription="Create a new document." ma:contentTypeScope="" ma:versionID="7257862a4d6c3825659cc59ecdb78f01">
  <xsd:schema xmlns:xsd="http://www.w3.org/2001/XMLSchema" xmlns:xs="http://www.w3.org/2001/XMLSchema" xmlns:p="http://schemas.microsoft.com/office/2006/metadata/properties" xmlns:ns2="1cc9bed8-8410-44eb-bf25-ca1ea4636418" xmlns:ns3="dfc159fb-6789-415c-9027-b0bc58ba83c2" targetNamespace="http://schemas.microsoft.com/office/2006/metadata/properties" ma:root="true" ma:fieldsID="e75013956d80933023b8c9f213f858d3" ns2:_="" ns3:_="">
    <xsd:import namespace="1cc9bed8-8410-44eb-bf25-ca1ea4636418"/>
    <xsd:import namespace="dfc159fb-6789-415c-9027-b0bc58ba83c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cc9bed8-8410-44eb-bf25-ca1ea463641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7306b285-ac2c-4225-b56d-e54690cf9c9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c159fb-6789-415c-9027-b0bc58ba83c2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79eadc21-23c5-47b9-90bf-40474c6df852}" ma:internalName="TaxCatchAll" ma:showField="CatchAllData" ma:web="dfc159fb-6789-415c-9027-b0bc58ba83c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cc9bed8-8410-44eb-bf25-ca1ea4636418">
      <Terms xmlns="http://schemas.microsoft.com/office/infopath/2007/PartnerControls"/>
    </lcf76f155ced4ddcb4097134ff3c332f>
    <TaxCatchAll xmlns="dfc159fb-6789-415c-9027-b0bc58ba83c2" xsi:nil="true"/>
  </documentManagement>
</p:properties>
</file>

<file path=customXml/itemProps1.xml><?xml version="1.0" encoding="utf-8"?>
<ds:datastoreItem xmlns:ds="http://schemas.openxmlformats.org/officeDocument/2006/customXml" ds:itemID="{E37E8C05-165F-411C-A518-AA21F4ADD0C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A0D8794-7AAC-4201-8342-5952D400BE3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cc9bed8-8410-44eb-bf25-ca1ea4636418"/>
    <ds:schemaRef ds:uri="dfc159fb-6789-415c-9027-b0bc58ba83c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D7E0F8CF-3799-4DF9-B486-35019DA33C8E}">
  <ds:schemaRefs>
    <ds:schemaRef ds:uri="http://schemas.microsoft.com/office/2006/metadata/properties"/>
    <ds:schemaRef ds:uri="http://schemas.microsoft.com/office/infopath/2007/PartnerControls"/>
    <ds:schemaRef ds:uri="1cc9bed8-8410-44eb-bf25-ca1ea4636418"/>
    <ds:schemaRef ds:uri="dfc159fb-6789-415c-9027-b0bc58ba83c2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1838</TotalTime>
  <Words>161</Words>
  <Application>Microsoft Office PowerPoint</Application>
  <PresentationFormat>Widescreen</PresentationFormat>
  <Paragraphs>34</Paragraphs>
  <Slides>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宋体</vt:lpstr>
      <vt:lpstr>Arial</vt:lpstr>
      <vt:lpstr>Calibri</vt:lpstr>
      <vt:lpstr>Cambria Math</vt:lpstr>
      <vt:lpstr>Times New Roman</vt:lpstr>
      <vt:lpstr>Office Theme</vt:lpstr>
      <vt:lpstr>Engineering Case Studies (3)</vt:lpstr>
      <vt:lpstr>Radar signal processing: Human activity recognition </vt:lpstr>
      <vt:lpstr>Radar signal processing: feature selection  </vt:lpstr>
      <vt:lpstr>Radar signal processing: optimization  </vt:lpstr>
      <vt:lpstr>Thanks!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Liangyue Yu (PGR)</dc:creator>
  <cp:keywords/>
  <dc:description/>
  <cp:lastModifiedBy>Bo Liu</cp:lastModifiedBy>
  <cp:revision>61</cp:revision>
  <dcterms:created xsi:type="dcterms:W3CDTF">2021-01-06T14:22:07Z</dcterms:created>
  <dcterms:modified xsi:type="dcterms:W3CDTF">2024-07-01T16:46:02Z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0x0101009C3DDD16490E0A48848881CB6EECDF92</vt:lpwstr>
  </property>
</Properties>
</file>