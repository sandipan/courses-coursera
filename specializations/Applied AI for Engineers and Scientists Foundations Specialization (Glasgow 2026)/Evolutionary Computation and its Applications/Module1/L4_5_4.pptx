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5" r:id="rId7"/>
    <p:sldId id="496" r:id="rId8"/>
    <p:sldId id="497" r:id="rId9"/>
    <p:sldId id="498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01/07/2024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tx1"/>
                </a:solidFill>
              </a:rPr>
              <a:t>Engineering Case Studies (4)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077364" cy="1079286"/>
          </a:xfrm>
        </p:spPr>
        <p:txBody>
          <a:bodyPr/>
          <a:lstStyle/>
          <a:p>
            <a:r>
              <a:rPr lang="en-GB" dirty="0"/>
              <a:t>Network slicing</a:t>
            </a:r>
          </a:p>
        </p:txBody>
      </p:sp>
      <p:sp>
        <p:nvSpPr>
          <p:cNvPr id="5" name="矩形 7">
            <a:extLst>
              <a:ext uri="{FF2B5EF4-FFF2-40B4-BE49-F238E27FC236}">
                <a16:creationId xmlns:a16="http://schemas.microsoft.com/office/drawing/2014/main" id="{C275C73A-F459-F557-6312-3B483871B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12900"/>
            <a:ext cx="8658225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What is the network slicing?</a:t>
            </a:r>
          </a:p>
          <a:p>
            <a:pPr>
              <a:spcBef>
                <a:spcPts val="1200"/>
              </a:spcBef>
            </a:pPr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 communication networks, resources (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time, frequency, carrier and power</a:t>
            </a:r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are allocated to different users. </a:t>
            </a:r>
          </a:p>
          <a:p>
            <a:pPr>
              <a:spcBef>
                <a:spcPts val="1200"/>
              </a:spcBef>
            </a:pPr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Users have different requirements. </a:t>
            </a:r>
          </a:p>
          <a:p>
            <a:pPr marL="6858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Video call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</a:t>
            </a:r>
            <a:r>
              <a:rPr lang="en-GB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medium-low latency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(i.e., delay), high data rate</a:t>
            </a:r>
          </a:p>
          <a:p>
            <a:pPr marL="6858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Online game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low latency</a:t>
            </a:r>
            <a:endParaRPr lang="en-GB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endParaRPr lang="en-US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6" name="Picture 2" descr="Types of Wireless Networks">
            <a:extLst>
              <a:ext uri="{FF2B5EF4-FFF2-40B4-BE49-F238E27FC236}">
                <a16:creationId xmlns:a16="http://schemas.microsoft.com/office/drawing/2014/main" id="{F4B6257E-C75E-956F-1734-242B5631C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104" y="3958364"/>
            <a:ext cx="6101623" cy="258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BC05-8784-0883-92BC-7E3986205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slicing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60AC6C8-73AC-F52A-A2B1-AF819EA3E6C7}"/>
              </a:ext>
            </a:extLst>
          </p:cNvPr>
          <p:cNvSpPr txBox="1">
            <a:spLocks noChangeArrowheads="1"/>
          </p:cNvSpPr>
          <p:nvPr/>
        </p:nvSpPr>
        <p:spPr>
          <a:xfrm>
            <a:off x="552520" y="1549070"/>
            <a:ext cx="10598079" cy="54641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85750"/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 marL="342900" indent="-342900"/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Users with similar requirements form one network slice. </a:t>
            </a:r>
          </a:p>
          <a:p>
            <a:pPr marL="342900" indent="-342900"/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Sub-carriers allocate downlink power to users. </a:t>
            </a:r>
          </a:p>
          <a:p>
            <a:pPr marL="342900" indent="-342900"/>
            <a:endParaRPr lang="en-US" altLang="zh-CN" dirty="0">
              <a:ea typeface="宋体" pitchFamily="2" charset="-122"/>
            </a:endParaRPr>
          </a:p>
        </p:txBody>
      </p:sp>
      <p:pic>
        <p:nvPicPr>
          <p:cNvPr id="4" name="Picture 2" descr="Hand holding smartphone mobile phone concept hand drawn cartoon art  illustration 5003503 Vector Art at Vecteezy">
            <a:extLst>
              <a:ext uri="{FF2B5EF4-FFF2-40B4-BE49-F238E27FC236}">
                <a16:creationId xmlns:a16="http://schemas.microsoft.com/office/drawing/2014/main" id="{464752BE-2F7C-6C91-A8E9-04C5671A8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63" y="4786313"/>
            <a:ext cx="949325" cy="76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Hand holding smartphone mobile phone concept hand drawn cartoon art  illustration 5003503 Vector Art at Vecteezy">
            <a:extLst>
              <a:ext uri="{FF2B5EF4-FFF2-40B4-BE49-F238E27FC236}">
                <a16:creationId xmlns:a16="http://schemas.microsoft.com/office/drawing/2014/main" id="{DBB26857-CE69-80EC-4033-DF094D210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75" y="5165725"/>
            <a:ext cx="949325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Hand holding smartphone mobile phone concept hand drawn cartoon art  illustration 5003503 Vector Art at Vecteezy">
            <a:extLst>
              <a:ext uri="{FF2B5EF4-FFF2-40B4-BE49-F238E27FC236}">
                <a16:creationId xmlns:a16="http://schemas.microsoft.com/office/drawing/2014/main" id="{09B8F38D-8465-58BF-C5E8-F2BAE28DB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63" y="5716588"/>
            <a:ext cx="949325" cy="76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Hand holding smartphone mobile phone concept hand drawn cartoon art  illustration 5003503 Vector Art at Vecteezy">
            <a:extLst>
              <a:ext uri="{FF2B5EF4-FFF2-40B4-BE49-F238E27FC236}">
                <a16:creationId xmlns:a16="http://schemas.microsoft.com/office/drawing/2014/main" id="{05CE8EED-EFEA-7A15-DFFA-FE376BC88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3" y="4144963"/>
            <a:ext cx="950912" cy="76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Hand holding smartphone mobile phone concept hand drawn cartoon art  illustration 5003503 Vector Art at Vecteezy">
            <a:extLst>
              <a:ext uri="{FF2B5EF4-FFF2-40B4-BE49-F238E27FC236}">
                <a16:creationId xmlns:a16="http://schemas.microsoft.com/office/drawing/2014/main" id="{9AFAF798-485D-6C66-EE46-E3616D07D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850" y="5165725"/>
            <a:ext cx="949325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2B03907-A2B9-6689-5242-1766D58B0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491984"/>
              </p:ext>
            </p:extLst>
          </p:nvPr>
        </p:nvGraphicFramePr>
        <p:xfrm>
          <a:off x="4011613" y="3381375"/>
          <a:ext cx="3751262" cy="371475"/>
        </p:xfrm>
        <a:graphic>
          <a:graphicData uri="http://schemas.openxmlformats.org/drawingml/2006/table">
            <a:tbl>
              <a:tblPr/>
              <a:tblGrid>
                <a:gridCol w="3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2" marR="91442" marT="45798" marB="45798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文本框 8">
            <a:extLst>
              <a:ext uri="{FF2B5EF4-FFF2-40B4-BE49-F238E27FC236}">
                <a16:creationId xmlns:a16="http://schemas.microsoft.com/office/drawing/2014/main" id="{8C3D8130-E3B5-3B9F-4688-77AB84F41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2906713"/>
            <a:ext cx="31194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8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Sub-carriers</a:t>
            </a:r>
            <a:endParaRPr lang="zh-CN" altLang="en-US" sz="28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1" name="箭头: 下 9">
            <a:extLst>
              <a:ext uri="{FF2B5EF4-FFF2-40B4-BE49-F238E27FC236}">
                <a16:creationId xmlns:a16="http://schemas.microsoft.com/office/drawing/2014/main" id="{9AF71F76-D3AF-354C-935D-399E645A4277}"/>
              </a:ext>
            </a:extLst>
          </p:cNvPr>
          <p:cNvSpPr/>
          <p:nvPr/>
        </p:nvSpPr>
        <p:spPr>
          <a:xfrm rot="1191018">
            <a:off x="5227638" y="4130675"/>
            <a:ext cx="534987" cy="8302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85D67AAF-B4D7-22BD-93A2-478CB3E1B447}"/>
              </a:ext>
            </a:extLst>
          </p:cNvPr>
          <p:cNvSpPr/>
          <p:nvPr/>
        </p:nvSpPr>
        <p:spPr>
          <a:xfrm rot="19107095">
            <a:off x="6399213" y="3921125"/>
            <a:ext cx="534987" cy="82867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3" name="任意多边形: 形状 10">
            <a:extLst>
              <a:ext uri="{FF2B5EF4-FFF2-40B4-BE49-F238E27FC236}">
                <a16:creationId xmlns:a16="http://schemas.microsoft.com/office/drawing/2014/main" id="{6803433F-1C16-A00B-9853-276EDBD6FC9F}"/>
              </a:ext>
            </a:extLst>
          </p:cNvPr>
          <p:cNvSpPr/>
          <p:nvPr/>
        </p:nvSpPr>
        <p:spPr>
          <a:xfrm>
            <a:off x="3822700" y="3883025"/>
            <a:ext cx="2370138" cy="2759075"/>
          </a:xfrm>
          <a:custGeom>
            <a:avLst/>
            <a:gdLst>
              <a:gd name="connsiteX0" fmla="*/ 972865 w 2369843"/>
              <a:gd name="connsiteY0" fmla="*/ 0 h 2759242"/>
              <a:gd name="connsiteX1" fmla="*/ 908696 w 2369843"/>
              <a:gd name="connsiteY1" fmla="*/ 16042 h 2759242"/>
              <a:gd name="connsiteX2" fmla="*/ 467538 w 2369843"/>
              <a:gd name="connsiteY2" fmla="*/ 304800 h 2759242"/>
              <a:gd name="connsiteX3" fmla="*/ 387328 w 2369843"/>
              <a:gd name="connsiteY3" fmla="*/ 393032 h 2759242"/>
              <a:gd name="connsiteX4" fmla="*/ 154717 w 2369843"/>
              <a:gd name="connsiteY4" fmla="*/ 834189 h 2759242"/>
              <a:gd name="connsiteX5" fmla="*/ 74507 w 2369843"/>
              <a:gd name="connsiteY5" fmla="*/ 1018674 h 2759242"/>
              <a:gd name="connsiteX6" fmla="*/ 18360 w 2369843"/>
              <a:gd name="connsiteY6" fmla="*/ 1243263 h 2759242"/>
              <a:gd name="connsiteX7" fmla="*/ 26381 w 2369843"/>
              <a:gd name="connsiteY7" fmla="*/ 1828800 h 2759242"/>
              <a:gd name="connsiteX8" fmla="*/ 82528 w 2369843"/>
              <a:gd name="connsiteY8" fmla="*/ 2029326 h 2759242"/>
              <a:gd name="connsiteX9" fmla="*/ 194823 w 2369843"/>
              <a:gd name="connsiteY9" fmla="*/ 2277979 h 2759242"/>
              <a:gd name="connsiteX10" fmla="*/ 315138 w 2369843"/>
              <a:gd name="connsiteY10" fmla="*/ 2446421 h 2759242"/>
              <a:gd name="connsiteX11" fmla="*/ 515665 w 2369843"/>
              <a:gd name="connsiteY11" fmla="*/ 2598821 h 2759242"/>
              <a:gd name="connsiteX12" fmla="*/ 740254 w 2369843"/>
              <a:gd name="connsiteY12" fmla="*/ 2695074 h 2759242"/>
              <a:gd name="connsiteX13" fmla="*/ 1213496 w 2369843"/>
              <a:gd name="connsiteY13" fmla="*/ 2759242 h 2759242"/>
              <a:gd name="connsiteX14" fmla="*/ 1630591 w 2369843"/>
              <a:gd name="connsiteY14" fmla="*/ 2679032 h 2759242"/>
              <a:gd name="connsiteX15" fmla="*/ 1959454 w 2369843"/>
              <a:gd name="connsiteY15" fmla="*/ 2454442 h 2759242"/>
              <a:gd name="connsiteX16" fmla="*/ 2159981 w 2369843"/>
              <a:gd name="connsiteY16" fmla="*/ 2157663 h 2759242"/>
              <a:gd name="connsiteX17" fmla="*/ 2256233 w 2369843"/>
              <a:gd name="connsiteY17" fmla="*/ 1981200 h 2759242"/>
              <a:gd name="connsiteX18" fmla="*/ 2280296 w 2369843"/>
              <a:gd name="connsiteY18" fmla="*/ 1892968 h 2759242"/>
              <a:gd name="connsiteX19" fmla="*/ 2320402 w 2369843"/>
              <a:gd name="connsiteY19" fmla="*/ 1788695 h 2759242"/>
              <a:gd name="connsiteX20" fmla="*/ 2328423 w 2369843"/>
              <a:gd name="connsiteY20" fmla="*/ 1676400 h 2759242"/>
              <a:gd name="connsiteX21" fmla="*/ 2344465 w 2369843"/>
              <a:gd name="connsiteY21" fmla="*/ 1580147 h 2759242"/>
              <a:gd name="connsiteX22" fmla="*/ 2360507 w 2369843"/>
              <a:gd name="connsiteY22" fmla="*/ 1467853 h 2759242"/>
              <a:gd name="connsiteX23" fmla="*/ 2360507 w 2369843"/>
              <a:gd name="connsiteY23" fmla="*/ 1034716 h 2759242"/>
              <a:gd name="connsiteX24" fmla="*/ 2336444 w 2369843"/>
              <a:gd name="connsiteY24" fmla="*/ 778042 h 2759242"/>
              <a:gd name="connsiteX25" fmla="*/ 2328423 w 2369843"/>
              <a:gd name="connsiteY25" fmla="*/ 689811 h 2759242"/>
              <a:gd name="connsiteX26" fmla="*/ 2216128 w 2369843"/>
              <a:gd name="connsiteY26" fmla="*/ 336884 h 2759242"/>
              <a:gd name="connsiteX27" fmla="*/ 2159981 w 2369843"/>
              <a:gd name="connsiteY27" fmla="*/ 264695 h 2759242"/>
              <a:gd name="connsiteX28" fmla="*/ 1911328 w 2369843"/>
              <a:gd name="connsiteY28" fmla="*/ 64168 h 2759242"/>
              <a:gd name="connsiteX29" fmla="*/ 1718823 w 2369843"/>
              <a:gd name="connsiteY29" fmla="*/ 16042 h 2759242"/>
              <a:gd name="connsiteX30" fmla="*/ 972865 w 2369843"/>
              <a:gd name="connsiteY30" fmla="*/ 0 h 275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369843" h="2759242" extrusionOk="0">
                <a:moveTo>
                  <a:pt x="972865" y="0"/>
                </a:moveTo>
                <a:cubicBezTo>
                  <a:pt x="838250" y="813"/>
                  <a:pt x="926479" y="8016"/>
                  <a:pt x="908696" y="16042"/>
                </a:cubicBezTo>
                <a:cubicBezTo>
                  <a:pt x="685980" y="114414"/>
                  <a:pt x="656752" y="139092"/>
                  <a:pt x="467538" y="304800"/>
                </a:cubicBezTo>
                <a:cubicBezTo>
                  <a:pt x="435122" y="331093"/>
                  <a:pt x="410612" y="360010"/>
                  <a:pt x="387328" y="393032"/>
                </a:cubicBezTo>
                <a:cubicBezTo>
                  <a:pt x="312541" y="480390"/>
                  <a:pt x="197447" y="739255"/>
                  <a:pt x="154717" y="834189"/>
                </a:cubicBezTo>
                <a:cubicBezTo>
                  <a:pt x="121462" y="906274"/>
                  <a:pt x="98431" y="948781"/>
                  <a:pt x="74507" y="1018674"/>
                </a:cubicBezTo>
                <a:cubicBezTo>
                  <a:pt x="50137" y="1097595"/>
                  <a:pt x="44223" y="1175605"/>
                  <a:pt x="18360" y="1243263"/>
                </a:cubicBezTo>
                <a:cubicBezTo>
                  <a:pt x="-1908" y="1488362"/>
                  <a:pt x="-22674" y="1533610"/>
                  <a:pt x="26381" y="1828800"/>
                </a:cubicBezTo>
                <a:cubicBezTo>
                  <a:pt x="40404" y="1896480"/>
                  <a:pt x="63590" y="1954628"/>
                  <a:pt x="82528" y="2029326"/>
                </a:cubicBezTo>
                <a:cubicBezTo>
                  <a:pt x="109123" y="2102584"/>
                  <a:pt x="154943" y="2211404"/>
                  <a:pt x="194823" y="2277979"/>
                </a:cubicBezTo>
                <a:cubicBezTo>
                  <a:pt x="228285" y="2339796"/>
                  <a:pt x="262368" y="2409051"/>
                  <a:pt x="315138" y="2446421"/>
                </a:cubicBezTo>
                <a:cubicBezTo>
                  <a:pt x="376931" y="2505025"/>
                  <a:pt x="447873" y="2572266"/>
                  <a:pt x="515665" y="2598821"/>
                </a:cubicBezTo>
                <a:cubicBezTo>
                  <a:pt x="591226" y="2634532"/>
                  <a:pt x="662974" y="2671189"/>
                  <a:pt x="740254" y="2695074"/>
                </a:cubicBezTo>
                <a:cubicBezTo>
                  <a:pt x="951534" y="2767235"/>
                  <a:pt x="997037" y="2745128"/>
                  <a:pt x="1213496" y="2759242"/>
                </a:cubicBezTo>
                <a:cubicBezTo>
                  <a:pt x="1281959" y="2748529"/>
                  <a:pt x="1571622" y="2710467"/>
                  <a:pt x="1630591" y="2679032"/>
                </a:cubicBezTo>
                <a:cubicBezTo>
                  <a:pt x="1748966" y="2618961"/>
                  <a:pt x="1959454" y="2454442"/>
                  <a:pt x="1959454" y="2454442"/>
                </a:cubicBezTo>
                <a:cubicBezTo>
                  <a:pt x="2043709" y="2348207"/>
                  <a:pt x="2103437" y="2257094"/>
                  <a:pt x="2159981" y="2157663"/>
                </a:cubicBezTo>
                <a:cubicBezTo>
                  <a:pt x="2217250" y="2081176"/>
                  <a:pt x="2218929" y="2068903"/>
                  <a:pt x="2256233" y="1981200"/>
                </a:cubicBezTo>
                <a:cubicBezTo>
                  <a:pt x="2265279" y="1951484"/>
                  <a:pt x="2272867" y="1923239"/>
                  <a:pt x="2280296" y="1892968"/>
                </a:cubicBezTo>
                <a:cubicBezTo>
                  <a:pt x="2287738" y="1861645"/>
                  <a:pt x="2311400" y="1826856"/>
                  <a:pt x="2320402" y="1788695"/>
                </a:cubicBezTo>
                <a:cubicBezTo>
                  <a:pt x="2325471" y="1754871"/>
                  <a:pt x="2324313" y="1710021"/>
                  <a:pt x="2328423" y="1676400"/>
                </a:cubicBezTo>
                <a:cubicBezTo>
                  <a:pt x="2329565" y="1644188"/>
                  <a:pt x="2340499" y="1610038"/>
                  <a:pt x="2344465" y="1580147"/>
                </a:cubicBezTo>
                <a:cubicBezTo>
                  <a:pt x="2348633" y="1540117"/>
                  <a:pt x="2357310" y="1504833"/>
                  <a:pt x="2360507" y="1467853"/>
                </a:cubicBezTo>
                <a:cubicBezTo>
                  <a:pt x="2365695" y="1266001"/>
                  <a:pt x="2377900" y="1335175"/>
                  <a:pt x="2360507" y="1034716"/>
                </a:cubicBezTo>
                <a:cubicBezTo>
                  <a:pt x="2354002" y="892895"/>
                  <a:pt x="2351665" y="918703"/>
                  <a:pt x="2336444" y="778042"/>
                </a:cubicBezTo>
                <a:cubicBezTo>
                  <a:pt x="2330611" y="747536"/>
                  <a:pt x="2334903" y="714623"/>
                  <a:pt x="2328423" y="689811"/>
                </a:cubicBezTo>
                <a:cubicBezTo>
                  <a:pt x="2311564" y="548675"/>
                  <a:pt x="2287689" y="453907"/>
                  <a:pt x="2216128" y="336884"/>
                </a:cubicBezTo>
                <a:cubicBezTo>
                  <a:pt x="2198135" y="313474"/>
                  <a:pt x="2183765" y="291523"/>
                  <a:pt x="2159981" y="264695"/>
                </a:cubicBezTo>
                <a:cubicBezTo>
                  <a:pt x="2096690" y="186703"/>
                  <a:pt x="2014725" y="92859"/>
                  <a:pt x="1911328" y="64168"/>
                </a:cubicBezTo>
                <a:cubicBezTo>
                  <a:pt x="1841004" y="38560"/>
                  <a:pt x="1788062" y="33215"/>
                  <a:pt x="1718823" y="16042"/>
                </a:cubicBezTo>
                <a:cubicBezTo>
                  <a:pt x="1604664" y="-8029"/>
                  <a:pt x="1109601" y="6852"/>
                  <a:pt x="972865" y="0"/>
                </a:cubicBez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任意多边形: 形状 12">
            <a:extLst>
              <a:ext uri="{FF2B5EF4-FFF2-40B4-BE49-F238E27FC236}">
                <a16:creationId xmlns:a16="http://schemas.microsoft.com/office/drawing/2014/main" id="{C49C2091-5445-9CD4-9000-3D8F3B27ECB0}"/>
              </a:ext>
            </a:extLst>
          </p:cNvPr>
          <p:cNvSpPr/>
          <p:nvPr/>
        </p:nvSpPr>
        <p:spPr>
          <a:xfrm>
            <a:off x="6192838" y="3846513"/>
            <a:ext cx="2103437" cy="2355850"/>
          </a:xfrm>
          <a:custGeom>
            <a:avLst/>
            <a:gdLst>
              <a:gd name="connsiteX0" fmla="*/ 464820 w 2103654"/>
              <a:gd name="connsiteY0" fmla="*/ 120 h 2354700"/>
              <a:gd name="connsiteX1" fmla="*/ 205740 w 2103654"/>
              <a:gd name="connsiteY1" fmla="*/ 30600 h 2354700"/>
              <a:gd name="connsiteX2" fmla="*/ 160020 w 2103654"/>
              <a:gd name="connsiteY2" fmla="*/ 83940 h 2354700"/>
              <a:gd name="connsiteX3" fmla="*/ 38100 w 2103654"/>
              <a:gd name="connsiteY3" fmla="*/ 274440 h 2354700"/>
              <a:gd name="connsiteX4" fmla="*/ 15240 w 2103654"/>
              <a:gd name="connsiteY4" fmla="*/ 320160 h 2354700"/>
              <a:gd name="connsiteX5" fmla="*/ 0 w 2103654"/>
              <a:gd name="connsiteY5" fmla="*/ 381120 h 2354700"/>
              <a:gd name="connsiteX6" fmla="*/ 15240 w 2103654"/>
              <a:gd name="connsiteY6" fmla="*/ 510660 h 2354700"/>
              <a:gd name="connsiteX7" fmla="*/ 144780 w 2103654"/>
              <a:gd name="connsiteY7" fmla="*/ 724020 h 2354700"/>
              <a:gd name="connsiteX8" fmla="*/ 182880 w 2103654"/>
              <a:gd name="connsiteY8" fmla="*/ 792600 h 2354700"/>
              <a:gd name="connsiteX9" fmla="*/ 243840 w 2103654"/>
              <a:gd name="connsiteY9" fmla="*/ 1074540 h 2354700"/>
              <a:gd name="connsiteX10" fmla="*/ 297180 w 2103654"/>
              <a:gd name="connsiteY10" fmla="*/ 1691760 h 2354700"/>
              <a:gd name="connsiteX11" fmla="*/ 335280 w 2103654"/>
              <a:gd name="connsiteY11" fmla="*/ 1783200 h 2354700"/>
              <a:gd name="connsiteX12" fmla="*/ 441960 w 2103654"/>
              <a:gd name="connsiteY12" fmla="*/ 1981320 h 2354700"/>
              <a:gd name="connsiteX13" fmla="*/ 518160 w 2103654"/>
              <a:gd name="connsiteY13" fmla="*/ 2088000 h 2354700"/>
              <a:gd name="connsiteX14" fmla="*/ 769620 w 2103654"/>
              <a:gd name="connsiteY14" fmla="*/ 2255640 h 2354700"/>
              <a:gd name="connsiteX15" fmla="*/ 1226820 w 2103654"/>
              <a:gd name="connsiteY15" fmla="*/ 2354700 h 2354700"/>
              <a:gd name="connsiteX16" fmla="*/ 1752600 w 2103654"/>
              <a:gd name="connsiteY16" fmla="*/ 2232780 h 2354700"/>
              <a:gd name="connsiteX17" fmla="*/ 1905000 w 2103654"/>
              <a:gd name="connsiteY17" fmla="*/ 2103240 h 2354700"/>
              <a:gd name="connsiteX18" fmla="*/ 2095500 w 2103654"/>
              <a:gd name="connsiteY18" fmla="*/ 1402200 h 2354700"/>
              <a:gd name="connsiteX19" fmla="*/ 2065020 w 2103654"/>
              <a:gd name="connsiteY19" fmla="*/ 845940 h 2354700"/>
              <a:gd name="connsiteX20" fmla="*/ 2011680 w 2103654"/>
              <a:gd name="connsiteY20" fmla="*/ 663060 h 2354700"/>
              <a:gd name="connsiteX21" fmla="*/ 1973580 w 2103654"/>
              <a:gd name="connsiteY21" fmla="*/ 602100 h 2354700"/>
              <a:gd name="connsiteX22" fmla="*/ 1691640 w 2103654"/>
              <a:gd name="connsiteY22" fmla="*/ 327780 h 2354700"/>
              <a:gd name="connsiteX23" fmla="*/ 1607820 w 2103654"/>
              <a:gd name="connsiteY23" fmla="*/ 274440 h 2354700"/>
              <a:gd name="connsiteX24" fmla="*/ 1524000 w 2103654"/>
              <a:gd name="connsiteY24" fmla="*/ 251580 h 2354700"/>
              <a:gd name="connsiteX25" fmla="*/ 1303020 w 2103654"/>
              <a:gd name="connsiteY25" fmla="*/ 167760 h 2354700"/>
              <a:gd name="connsiteX26" fmla="*/ 1127760 w 2103654"/>
              <a:gd name="connsiteY26" fmla="*/ 144900 h 2354700"/>
              <a:gd name="connsiteX27" fmla="*/ 975360 w 2103654"/>
              <a:gd name="connsiteY27" fmla="*/ 122040 h 2354700"/>
              <a:gd name="connsiteX28" fmla="*/ 899160 w 2103654"/>
              <a:gd name="connsiteY28" fmla="*/ 106800 h 2354700"/>
              <a:gd name="connsiteX29" fmla="*/ 746760 w 2103654"/>
              <a:gd name="connsiteY29" fmla="*/ 99180 h 2354700"/>
              <a:gd name="connsiteX30" fmla="*/ 624840 w 2103654"/>
              <a:gd name="connsiteY30" fmla="*/ 91560 h 2354700"/>
              <a:gd name="connsiteX31" fmla="*/ 525780 w 2103654"/>
              <a:gd name="connsiteY31" fmla="*/ 38220 h 2354700"/>
              <a:gd name="connsiteX32" fmla="*/ 464820 w 2103654"/>
              <a:gd name="connsiteY32" fmla="*/ 120 h 23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03654" h="2354700">
                <a:moveTo>
                  <a:pt x="464820" y="120"/>
                </a:moveTo>
                <a:cubicBezTo>
                  <a:pt x="411480" y="-1150"/>
                  <a:pt x="289583" y="7543"/>
                  <a:pt x="205740" y="30600"/>
                </a:cubicBezTo>
                <a:cubicBezTo>
                  <a:pt x="183161" y="36809"/>
                  <a:pt x="174190" y="65296"/>
                  <a:pt x="160020" y="83940"/>
                </a:cubicBezTo>
                <a:cubicBezTo>
                  <a:pt x="32822" y="251306"/>
                  <a:pt x="88943" y="164281"/>
                  <a:pt x="38100" y="274440"/>
                </a:cubicBezTo>
                <a:cubicBezTo>
                  <a:pt x="30960" y="289911"/>
                  <a:pt x="20971" y="304114"/>
                  <a:pt x="15240" y="320160"/>
                </a:cubicBezTo>
                <a:cubicBezTo>
                  <a:pt x="8195" y="339885"/>
                  <a:pt x="5080" y="360800"/>
                  <a:pt x="0" y="381120"/>
                </a:cubicBezTo>
                <a:cubicBezTo>
                  <a:pt x="5080" y="424300"/>
                  <a:pt x="209" y="469863"/>
                  <a:pt x="15240" y="510660"/>
                </a:cubicBezTo>
                <a:cubicBezTo>
                  <a:pt x="66256" y="649133"/>
                  <a:pt x="89205" y="635100"/>
                  <a:pt x="144780" y="724020"/>
                </a:cubicBezTo>
                <a:cubicBezTo>
                  <a:pt x="158640" y="746196"/>
                  <a:pt x="170180" y="769740"/>
                  <a:pt x="182880" y="792600"/>
                </a:cubicBezTo>
                <a:cubicBezTo>
                  <a:pt x="239852" y="992000"/>
                  <a:pt x="221719" y="897574"/>
                  <a:pt x="243840" y="1074540"/>
                </a:cubicBezTo>
                <a:cubicBezTo>
                  <a:pt x="246175" y="1112480"/>
                  <a:pt x="251507" y="1531904"/>
                  <a:pt x="297180" y="1691760"/>
                </a:cubicBezTo>
                <a:cubicBezTo>
                  <a:pt x="306251" y="1723510"/>
                  <a:pt x="321869" y="1753026"/>
                  <a:pt x="335280" y="1783200"/>
                </a:cubicBezTo>
                <a:cubicBezTo>
                  <a:pt x="380898" y="1885841"/>
                  <a:pt x="383161" y="1894851"/>
                  <a:pt x="441960" y="1981320"/>
                </a:cubicBezTo>
                <a:cubicBezTo>
                  <a:pt x="466533" y="2017457"/>
                  <a:pt x="488573" y="2055840"/>
                  <a:pt x="518160" y="2088000"/>
                </a:cubicBezTo>
                <a:cubicBezTo>
                  <a:pt x="578106" y="2153159"/>
                  <a:pt x="691068" y="2226183"/>
                  <a:pt x="769620" y="2255640"/>
                </a:cubicBezTo>
                <a:cubicBezTo>
                  <a:pt x="867482" y="2292338"/>
                  <a:pt x="1131715" y="2336868"/>
                  <a:pt x="1226820" y="2354700"/>
                </a:cubicBezTo>
                <a:cubicBezTo>
                  <a:pt x="1421157" y="2329624"/>
                  <a:pt x="1568712" y="2324724"/>
                  <a:pt x="1752600" y="2232780"/>
                </a:cubicBezTo>
                <a:cubicBezTo>
                  <a:pt x="1812233" y="2202963"/>
                  <a:pt x="1854200" y="2146420"/>
                  <a:pt x="1905000" y="2103240"/>
                </a:cubicBezTo>
                <a:cubicBezTo>
                  <a:pt x="2089682" y="1557989"/>
                  <a:pt x="2043045" y="1795610"/>
                  <a:pt x="2095500" y="1402200"/>
                </a:cubicBezTo>
                <a:cubicBezTo>
                  <a:pt x="2102781" y="1125515"/>
                  <a:pt x="2119287" y="1112753"/>
                  <a:pt x="2065020" y="845940"/>
                </a:cubicBezTo>
                <a:cubicBezTo>
                  <a:pt x="2052364" y="783714"/>
                  <a:pt x="2045335" y="716908"/>
                  <a:pt x="2011680" y="663060"/>
                </a:cubicBezTo>
                <a:cubicBezTo>
                  <a:pt x="1998980" y="642740"/>
                  <a:pt x="1988790" y="620616"/>
                  <a:pt x="1973580" y="602100"/>
                </a:cubicBezTo>
                <a:cubicBezTo>
                  <a:pt x="1902609" y="515701"/>
                  <a:pt x="1788631" y="389502"/>
                  <a:pt x="1691640" y="327780"/>
                </a:cubicBezTo>
                <a:cubicBezTo>
                  <a:pt x="1663700" y="310000"/>
                  <a:pt x="1637969" y="288144"/>
                  <a:pt x="1607820" y="274440"/>
                </a:cubicBezTo>
                <a:cubicBezTo>
                  <a:pt x="1581455" y="262456"/>
                  <a:pt x="1551117" y="261749"/>
                  <a:pt x="1524000" y="251580"/>
                </a:cubicBezTo>
                <a:cubicBezTo>
                  <a:pt x="1368295" y="193191"/>
                  <a:pt x="1480709" y="210650"/>
                  <a:pt x="1303020" y="167760"/>
                </a:cubicBezTo>
                <a:cubicBezTo>
                  <a:pt x="1235234" y="151398"/>
                  <a:pt x="1194030" y="153736"/>
                  <a:pt x="1127760" y="144900"/>
                </a:cubicBezTo>
                <a:cubicBezTo>
                  <a:pt x="1076842" y="138111"/>
                  <a:pt x="1026029" y="130485"/>
                  <a:pt x="975360" y="122040"/>
                </a:cubicBezTo>
                <a:cubicBezTo>
                  <a:pt x="949809" y="117782"/>
                  <a:pt x="924934" y="109377"/>
                  <a:pt x="899160" y="106800"/>
                </a:cubicBezTo>
                <a:cubicBezTo>
                  <a:pt x="848549" y="101739"/>
                  <a:pt x="797545" y="102001"/>
                  <a:pt x="746760" y="99180"/>
                </a:cubicBezTo>
                <a:lnTo>
                  <a:pt x="624840" y="91560"/>
                </a:lnTo>
                <a:cubicBezTo>
                  <a:pt x="582009" y="63006"/>
                  <a:pt x="575905" y="54928"/>
                  <a:pt x="525780" y="38220"/>
                </a:cubicBezTo>
                <a:cubicBezTo>
                  <a:pt x="453280" y="14053"/>
                  <a:pt x="518160" y="1390"/>
                  <a:pt x="464820" y="120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B931BD93-9451-D937-62E1-B0E9FEE36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4475" y="3773488"/>
            <a:ext cx="21034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8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downlink</a:t>
            </a:r>
            <a:endParaRPr lang="zh-CN" altLang="en-US" sz="28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A5EADCFA-C357-F70D-8EF4-AD71696F9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5373688"/>
            <a:ext cx="15446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8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Slice 1</a:t>
            </a:r>
            <a:endParaRPr lang="zh-CN" altLang="en-US" sz="28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7" name="文本框 17">
            <a:extLst>
              <a:ext uri="{FF2B5EF4-FFF2-40B4-BE49-F238E27FC236}">
                <a16:creationId xmlns:a16="http://schemas.microsoft.com/office/drawing/2014/main" id="{CA5B48D8-8F2E-620F-BD1E-2C75FA3EB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688" y="5062538"/>
            <a:ext cx="13227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8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Slice 2</a:t>
            </a:r>
            <a:endParaRPr lang="zh-CN" altLang="en-US" sz="28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39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EEE2B-FEF6-8EB4-805E-3FC88BD4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slicing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3">
                <a:extLst>
                  <a:ext uri="{FF2B5EF4-FFF2-40B4-BE49-F238E27FC236}">
                    <a16:creationId xmlns:a16="http://schemas.microsoft.com/office/drawing/2014/main" id="{BCC6414A-D997-7B0D-9D1E-96F6514C6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100" y="1715400"/>
                <a:ext cx="10525400" cy="3046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Problem description</a:t>
                </a:r>
              </a:p>
              <a:p>
                <a:endParaRPr lang="en-US" altLang="zh-CN" sz="2400" b="1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:r>
                  <a:rPr lang="en-US" altLang="zh-CN" sz="24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network slicing,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downlink power from each sub-carriers to each users which is our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design variables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 For normalized power allocation,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optimization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objective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to minimize the total energy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𝛽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of all users on all carriers in all slices. </a:t>
                </a:r>
              </a:p>
            </p:txBody>
          </p:sp>
        </mc:Choice>
        <mc:Fallback>
          <p:sp>
            <p:nvSpPr>
              <p:cNvPr id="3" name="矩形 3">
                <a:extLst>
                  <a:ext uri="{FF2B5EF4-FFF2-40B4-BE49-F238E27FC236}">
                    <a16:creationId xmlns:a16="http://schemas.microsoft.com/office/drawing/2014/main" id="{BCC6414A-D997-7B0D-9D1E-96F6514C63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100" y="1715400"/>
                <a:ext cx="10525400" cy="3046988"/>
              </a:xfrm>
              <a:prstGeom prst="rect">
                <a:avLst/>
              </a:prstGeom>
              <a:blipFill>
                <a:blip r:embed="rId2"/>
                <a:stretch>
                  <a:fillRect l="-869" t="-1400" b="-38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4">
                <a:extLst>
                  <a:ext uri="{FF2B5EF4-FFF2-40B4-BE49-F238E27FC236}">
                    <a16:creationId xmlns:a16="http://schemas.microsoft.com/office/drawing/2014/main" id="{C0289DCF-ADCA-B269-E0F3-3E167F14C5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171417"/>
                  </p:ext>
                </p:extLst>
              </p:nvPr>
            </p:nvGraphicFramePr>
            <p:xfrm>
              <a:off x="4819347" y="5100686"/>
              <a:ext cx="2108120" cy="153708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421624">
                      <a:extLst>
                        <a:ext uri="{9D8B030D-6E8A-4147-A177-3AD203B41FA5}">
                          <a16:colId xmlns:a16="http://schemas.microsoft.com/office/drawing/2014/main" val="2440761518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36176755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15812340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585215541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4185036669"/>
                        </a:ext>
                      </a:extLst>
                    </a:gridCol>
                  </a:tblGrid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7072418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8169879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140171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54305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4">
                <a:extLst>
                  <a:ext uri="{FF2B5EF4-FFF2-40B4-BE49-F238E27FC236}">
                    <a16:creationId xmlns:a16="http://schemas.microsoft.com/office/drawing/2014/main" id="{C0289DCF-ADCA-B269-E0F3-3E167F14C5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171417"/>
                  </p:ext>
                </p:extLst>
              </p:nvPr>
            </p:nvGraphicFramePr>
            <p:xfrm>
              <a:off x="4819347" y="5100686"/>
              <a:ext cx="2108120" cy="153708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421624">
                      <a:extLst>
                        <a:ext uri="{9D8B030D-6E8A-4147-A177-3AD203B41FA5}">
                          <a16:colId xmlns:a16="http://schemas.microsoft.com/office/drawing/2014/main" val="2440761518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36176755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15812340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585215541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4185036669"/>
                        </a:ext>
                      </a:extLst>
                    </a:gridCol>
                  </a:tblGrid>
                  <a:tr h="384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3175" r="-405797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4348" t="-3175" r="-2899" b="-3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7072418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8169879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140171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304762" r="-40579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4348" t="-304762" r="-2899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543053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2" name="直接箭头连接符 26">
            <a:extLst>
              <a:ext uri="{FF2B5EF4-FFF2-40B4-BE49-F238E27FC236}">
                <a16:creationId xmlns:a16="http://schemas.microsoft.com/office/drawing/2014/main" id="{D7BD582E-04F5-9C01-1624-BEB4640180EA}"/>
              </a:ext>
            </a:extLst>
          </p:cNvPr>
          <p:cNvCxnSpPr>
            <a:cxnSpLocks/>
          </p:cNvCxnSpPr>
          <p:nvPr/>
        </p:nvCxnSpPr>
        <p:spPr>
          <a:xfrm>
            <a:off x="6359880" y="4947054"/>
            <a:ext cx="964734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8">
            <a:extLst>
              <a:ext uri="{FF2B5EF4-FFF2-40B4-BE49-F238E27FC236}">
                <a16:creationId xmlns:a16="http://schemas.microsoft.com/office/drawing/2014/main" id="{E3BACB55-0CC9-07E9-4F8C-E86C0502F710}"/>
              </a:ext>
            </a:extLst>
          </p:cNvPr>
          <p:cNvCxnSpPr>
            <a:cxnSpLocks/>
          </p:cNvCxnSpPr>
          <p:nvPr/>
        </p:nvCxnSpPr>
        <p:spPr>
          <a:xfrm>
            <a:off x="4557423" y="5249936"/>
            <a:ext cx="0" cy="1018502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12">
            <a:extLst>
              <a:ext uri="{FF2B5EF4-FFF2-40B4-BE49-F238E27FC236}">
                <a16:creationId xmlns:a16="http://schemas.microsoft.com/office/drawing/2014/main" id="{8667BE18-F01B-C41D-4883-215425923645}"/>
              </a:ext>
            </a:extLst>
          </p:cNvPr>
          <p:cNvSpPr txBox="1"/>
          <p:nvPr/>
        </p:nvSpPr>
        <p:spPr>
          <a:xfrm>
            <a:off x="6818256" y="4577722"/>
            <a:ext cx="1587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Sub-carriers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任意多边形: 形状 22">
            <a:extLst>
              <a:ext uri="{FF2B5EF4-FFF2-40B4-BE49-F238E27FC236}">
                <a16:creationId xmlns:a16="http://schemas.microsoft.com/office/drawing/2014/main" id="{78EC7A93-5A66-07BF-C55C-7DB81E351691}"/>
              </a:ext>
            </a:extLst>
          </p:cNvPr>
          <p:cNvSpPr/>
          <p:nvPr/>
        </p:nvSpPr>
        <p:spPr>
          <a:xfrm>
            <a:off x="4603026" y="5044560"/>
            <a:ext cx="2743200" cy="864875"/>
          </a:xfrm>
          <a:custGeom>
            <a:avLst/>
            <a:gdLst>
              <a:gd name="connsiteX0" fmla="*/ 1126135 w 2743200"/>
              <a:gd name="connsiteY0" fmla="*/ 0 h 864875"/>
              <a:gd name="connsiteX1" fmla="*/ 1051856 w 2743200"/>
              <a:gd name="connsiteY1" fmla="*/ 5028 h 864875"/>
              <a:gd name="connsiteX2" fmla="*/ 541196 w 2743200"/>
              <a:gd name="connsiteY2" fmla="*/ 95538 h 864875"/>
              <a:gd name="connsiteX3" fmla="*/ 448349 w 2743200"/>
              <a:gd name="connsiteY3" fmla="*/ 123194 h 864875"/>
              <a:gd name="connsiteX4" fmla="*/ 179091 w 2743200"/>
              <a:gd name="connsiteY4" fmla="*/ 261473 h 864875"/>
              <a:gd name="connsiteX5" fmla="*/ 86245 w 2743200"/>
              <a:gd name="connsiteY5" fmla="*/ 319299 h 864875"/>
              <a:gd name="connsiteX6" fmla="*/ 21252 w 2743200"/>
              <a:gd name="connsiteY6" fmla="*/ 389696 h 864875"/>
              <a:gd name="connsiteX7" fmla="*/ 30537 w 2743200"/>
              <a:gd name="connsiteY7" fmla="*/ 573231 h 864875"/>
              <a:gd name="connsiteX8" fmla="*/ 95529 w 2743200"/>
              <a:gd name="connsiteY8" fmla="*/ 636085 h 864875"/>
              <a:gd name="connsiteX9" fmla="*/ 225516 w 2743200"/>
              <a:gd name="connsiteY9" fmla="*/ 714024 h 864875"/>
              <a:gd name="connsiteX10" fmla="*/ 364786 w 2743200"/>
              <a:gd name="connsiteY10" fmla="*/ 766822 h 864875"/>
              <a:gd name="connsiteX11" fmla="*/ 596905 w 2743200"/>
              <a:gd name="connsiteY11" fmla="*/ 814591 h 864875"/>
              <a:gd name="connsiteX12" fmla="*/ 856877 w 2743200"/>
              <a:gd name="connsiteY12" fmla="*/ 844761 h 864875"/>
              <a:gd name="connsiteX13" fmla="*/ 1404676 w 2743200"/>
              <a:gd name="connsiteY13" fmla="*/ 864875 h 864875"/>
              <a:gd name="connsiteX14" fmla="*/ 1887482 w 2743200"/>
              <a:gd name="connsiteY14" fmla="*/ 839733 h 864875"/>
              <a:gd name="connsiteX15" fmla="*/ 2268156 w 2743200"/>
              <a:gd name="connsiteY15" fmla="*/ 769336 h 864875"/>
              <a:gd name="connsiteX16" fmla="*/ 2500275 w 2743200"/>
              <a:gd name="connsiteY16" fmla="*/ 676312 h 864875"/>
              <a:gd name="connsiteX17" fmla="*/ 2611691 w 2743200"/>
              <a:gd name="connsiteY17" fmla="*/ 621000 h 864875"/>
              <a:gd name="connsiteX18" fmla="*/ 2639545 w 2743200"/>
              <a:gd name="connsiteY18" fmla="*/ 593344 h 864875"/>
              <a:gd name="connsiteX19" fmla="*/ 2685969 w 2743200"/>
              <a:gd name="connsiteY19" fmla="*/ 560660 h 864875"/>
              <a:gd name="connsiteX20" fmla="*/ 2695254 w 2743200"/>
              <a:gd name="connsiteY20" fmla="*/ 525461 h 864875"/>
              <a:gd name="connsiteX21" fmla="*/ 2713823 w 2743200"/>
              <a:gd name="connsiteY21" fmla="*/ 495291 h 864875"/>
              <a:gd name="connsiteX22" fmla="*/ 2732393 w 2743200"/>
              <a:gd name="connsiteY22" fmla="*/ 460093 h 864875"/>
              <a:gd name="connsiteX23" fmla="*/ 2732393 w 2743200"/>
              <a:gd name="connsiteY23" fmla="*/ 324328 h 864875"/>
              <a:gd name="connsiteX24" fmla="*/ 2704539 w 2743200"/>
              <a:gd name="connsiteY24" fmla="*/ 243874 h 864875"/>
              <a:gd name="connsiteX25" fmla="*/ 2695254 w 2743200"/>
              <a:gd name="connsiteY25" fmla="*/ 216218 h 864875"/>
              <a:gd name="connsiteX26" fmla="*/ 2565267 w 2743200"/>
              <a:gd name="connsiteY26" fmla="*/ 105595 h 864875"/>
              <a:gd name="connsiteX27" fmla="*/ 2500275 w 2743200"/>
              <a:gd name="connsiteY27" fmla="*/ 82967 h 864875"/>
              <a:gd name="connsiteX28" fmla="*/ 2212448 w 2743200"/>
              <a:gd name="connsiteY28" fmla="*/ 20113 h 864875"/>
              <a:gd name="connsiteX29" fmla="*/ 1989615 w 2743200"/>
              <a:gd name="connsiteY29" fmla="*/ 5028 h 864875"/>
              <a:gd name="connsiteX30" fmla="*/ 1126135 w 2743200"/>
              <a:gd name="connsiteY30" fmla="*/ 0 h 86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43200" h="864875" extrusionOk="0">
                <a:moveTo>
                  <a:pt x="1126135" y="0"/>
                </a:moveTo>
                <a:cubicBezTo>
                  <a:pt x="970823" y="1965"/>
                  <a:pt x="1071553" y="3645"/>
                  <a:pt x="1051856" y="5028"/>
                </a:cubicBezTo>
                <a:cubicBezTo>
                  <a:pt x="794112" y="34049"/>
                  <a:pt x="760753" y="45293"/>
                  <a:pt x="541196" y="95538"/>
                </a:cubicBezTo>
                <a:cubicBezTo>
                  <a:pt x="505314" y="103740"/>
                  <a:pt x="476504" y="112640"/>
                  <a:pt x="448349" y="123194"/>
                </a:cubicBezTo>
                <a:cubicBezTo>
                  <a:pt x="369797" y="149883"/>
                  <a:pt x="224263" y="231020"/>
                  <a:pt x="179091" y="261473"/>
                </a:cubicBezTo>
                <a:cubicBezTo>
                  <a:pt x="144669" y="283588"/>
                  <a:pt x="112480" y="295455"/>
                  <a:pt x="86245" y="319299"/>
                </a:cubicBezTo>
                <a:cubicBezTo>
                  <a:pt x="58008" y="343984"/>
                  <a:pt x="45794" y="369131"/>
                  <a:pt x="21252" y="389696"/>
                </a:cubicBezTo>
                <a:cubicBezTo>
                  <a:pt x="-2158" y="464117"/>
                  <a:pt x="-17861" y="481218"/>
                  <a:pt x="30537" y="573231"/>
                </a:cubicBezTo>
                <a:cubicBezTo>
                  <a:pt x="45888" y="593750"/>
                  <a:pt x="72235" y="611208"/>
                  <a:pt x="95529" y="636085"/>
                </a:cubicBezTo>
                <a:cubicBezTo>
                  <a:pt x="127481" y="662816"/>
                  <a:pt x="171285" y="693132"/>
                  <a:pt x="225516" y="714024"/>
                </a:cubicBezTo>
                <a:cubicBezTo>
                  <a:pt x="267879" y="732887"/>
                  <a:pt x="306694" y="756163"/>
                  <a:pt x="364786" y="766822"/>
                </a:cubicBezTo>
                <a:cubicBezTo>
                  <a:pt x="446968" y="781202"/>
                  <a:pt x="515145" y="808503"/>
                  <a:pt x="596905" y="814591"/>
                </a:cubicBezTo>
                <a:cubicBezTo>
                  <a:pt x="688327" y="817145"/>
                  <a:pt x="768739" y="854498"/>
                  <a:pt x="856877" y="844761"/>
                </a:cubicBezTo>
                <a:cubicBezTo>
                  <a:pt x="1102494" y="868360"/>
                  <a:pt x="1153614" y="856136"/>
                  <a:pt x="1404676" y="864875"/>
                </a:cubicBezTo>
                <a:cubicBezTo>
                  <a:pt x="1481291" y="861513"/>
                  <a:pt x="1821989" y="852100"/>
                  <a:pt x="1887482" y="839733"/>
                </a:cubicBezTo>
                <a:cubicBezTo>
                  <a:pt x="2024506" y="820904"/>
                  <a:pt x="2268156" y="769336"/>
                  <a:pt x="2268156" y="769336"/>
                </a:cubicBezTo>
                <a:cubicBezTo>
                  <a:pt x="2357692" y="733222"/>
                  <a:pt x="2434311" y="707331"/>
                  <a:pt x="2500275" y="676312"/>
                </a:cubicBezTo>
                <a:cubicBezTo>
                  <a:pt x="2534791" y="671049"/>
                  <a:pt x="2566008" y="650561"/>
                  <a:pt x="2611691" y="621000"/>
                </a:cubicBezTo>
                <a:cubicBezTo>
                  <a:pt x="2621174" y="611722"/>
                  <a:pt x="2629542" y="603115"/>
                  <a:pt x="2639545" y="593344"/>
                </a:cubicBezTo>
                <a:cubicBezTo>
                  <a:pt x="2652769" y="582646"/>
                  <a:pt x="2675829" y="573602"/>
                  <a:pt x="2685969" y="560660"/>
                </a:cubicBezTo>
                <a:cubicBezTo>
                  <a:pt x="2694271" y="550203"/>
                  <a:pt x="2690324" y="536207"/>
                  <a:pt x="2695254" y="525461"/>
                </a:cubicBezTo>
                <a:cubicBezTo>
                  <a:pt x="2698602" y="515371"/>
                  <a:pt x="2708471" y="504508"/>
                  <a:pt x="2713823" y="495291"/>
                </a:cubicBezTo>
                <a:cubicBezTo>
                  <a:pt x="2719897" y="482600"/>
                  <a:pt x="2728068" y="471435"/>
                  <a:pt x="2732393" y="460093"/>
                </a:cubicBezTo>
                <a:cubicBezTo>
                  <a:pt x="2745333" y="396786"/>
                  <a:pt x="2747812" y="418060"/>
                  <a:pt x="2732393" y="324328"/>
                </a:cubicBezTo>
                <a:cubicBezTo>
                  <a:pt x="2725949" y="279645"/>
                  <a:pt x="2722696" y="287613"/>
                  <a:pt x="2704539" y="243874"/>
                </a:cubicBezTo>
                <a:cubicBezTo>
                  <a:pt x="2700304" y="234467"/>
                  <a:pt x="2702386" y="224051"/>
                  <a:pt x="2695254" y="216218"/>
                </a:cubicBezTo>
                <a:cubicBezTo>
                  <a:pt x="2666821" y="171627"/>
                  <a:pt x="2648078" y="146057"/>
                  <a:pt x="2565267" y="105595"/>
                </a:cubicBezTo>
                <a:cubicBezTo>
                  <a:pt x="2545271" y="99304"/>
                  <a:pt x="2526711" y="93455"/>
                  <a:pt x="2500275" y="82967"/>
                </a:cubicBezTo>
                <a:cubicBezTo>
                  <a:pt x="2424367" y="56551"/>
                  <a:pt x="2332499" y="28360"/>
                  <a:pt x="2212448" y="20113"/>
                </a:cubicBezTo>
                <a:cubicBezTo>
                  <a:pt x="2138416" y="12890"/>
                  <a:pt x="2066057" y="8698"/>
                  <a:pt x="1989615" y="5028"/>
                </a:cubicBezTo>
                <a:cubicBezTo>
                  <a:pt x="1852812" y="-16900"/>
                  <a:pt x="1283716" y="5151"/>
                  <a:pt x="1126135" y="0"/>
                </a:cubicBezTo>
                <a:close/>
              </a:path>
            </a:pathLst>
          </a:custGeom>
          <a:noFill/>
          <a:ln>
            <a:prstDash val="lgDash"/>
            <a:extLst>
              <a:ext uri="{C807C97D-BFC1-408E-A445-0C87EB9F89A2}">
                <ask:lineSketchStyleProps xmlns:ask="http://schemas.microsoft.com/office/drawing/2018/sketchyshapes" sd="653306104">
                  <a:custGeom>
                    <a:avLst/>
                    <a:gdLst>
                      <a:gd name="connsiteX0" fmla="*/ 972865 w 2369843"/>
                      <a:gd name="connsiteY0" fmla="*/ 0 h 2759242"/>
                      <a:gd name="connsiteX1" fmla="*/ 908696 w 2369843"/>
                      <a:gd name="connsiteY1" fmla="*/ 16042 h 2759242"/>
                      <a:gd name="connsiteX2" fmla="*/ 467538 w 2369843"/>
                      <a:gd name="connsiteY2" fmla="*/ 304800 h 2759242"/>
                      <a:gd name="connsiteX3" fmla="*/ 387328 w 2369843"/>
                      <a:gd name="connsiteY3" fmla="*/ 393032 h 2759242"/>
                      <a:gd name="connsiteX4" fmla="*/ 154717 w 2369843"/>
                      <a:gd name="connsiteY4" fmla="*/ 834189 h 2759242"/>
                      <a:gd name="connsiteX5" fmla="*/ 74507 w 2369843"/>
                      <a:gd name="connsiteY5" fmla="*/ 1018674 h 2759242"/>
                      <a:gd name="connsiteX6" fmla="*/ 18360 w 2369843"/>
                      <a:gd name="connsiteY6" fmla="*/ 1243263 h 2759242"/>
                      <a:gd name="connsiteX7" fmla="*/ 26381 w 2369843"/>
                      <a:gd name="connsiteY7" fmla="*/ 1828800 h 2759242"/>
                      <a:gd name="connsiteX8" fmla="*/ 82528 w 2369843"/>
                      <a:gd name="connsiteY8" fmla="*/ 2029326 h 2759242"/>
                      <a:gd name="connsiteX9" fmla="*/ 194823 w 2369843"/>
                      <a:gd name="connsiteY9" fmla="*/ 2277979 h 2759242"/>
                      <a:gd name="connsiteX10" fmla="*/ 315138 w 2369843"/>
                      <a:gd name="connsiteY10" fmla="*/ 2446421 h 2759242"/>
                      <a:gd name="connsiteX11" fmla="*/ 515665 w 2369843"/>
                      <a:gd name="connsiteY11" fmla="*/ 2598821 h 2759242"/>
                      <a:gd name="connsiteX12" fmla="*/ 740254 w 2369843"/>
                      <a:gd name="connsiteY12" fmla="*/ 2695074 h 2759242"/>
                      <a:gd name="connsiteX13" fmla="*/ 1213496 w 2369843"/>
                      <a:gd name="connsiteY13" fmla="*/ 2759242 h 2759242"/>
                      <a:gd name="connsiteX14" fmla="*/ 1630591 w 2369843"/>
                      <a:gd name="connsiteY14" fmla="*/ 2679032 h 2759242"/>
                      <a:gd name="connsiteX15" fmla="*/ 1959454 w 2369843"/>
                      <a:gd name="connsiteY15" fmla="*/ 2454442 h 2759242"/>
                      <a:gd name="connsiteX16" fmla="*/ 2159981 w 2369843"/>
                      <a:gd name="connsiteY16" fmla="*/ 2157663 h 2759242"/>
                      <a:gd name="connsiteX17" fmla="*/ 2256233 w 2369843"/>
                      <a:gd name="connsiteY17" fmla="*/ 1981200 h 2759242"/>
                      <a:gd name="connsiteX18" fmla="*/ 2280296 w 2369843"/>
                      <a:gd name="connsiteY18" fmla="*/ 1892968 h 2759242"/>
                      <a:gd name="connsiteX19" fmla="*/ 2320402 w 2369843"/>
                      <a:gd name="connsiteY19" fmla="*/ 1788695 h 2759242"/>
                      <a:gd name="connsiteX20" fmla="*/ 2328423 w 2369843"/>
                      <a:gd name="connsiteY20" fmla="*/ 1676400 h 2759242"/>
                      <a:gd name="connsiteX21" fmla="*/ 2344465 w 2369843"/>
                      <a:gd name="connsiteY21" fmla="*/ 1580147 h 2759242"/>
                      <a:gd name="connsiteX22" fmla="*/ 2360507 w 2369843"/>
                      <a:gd name="connsiteY22" fmla="*/ 1467853 h 2759242"/>
                      <a:gd name="connsiteX23" fmla="*/ 2360507 w 2369843"/>
                      <a:gd name="connsiteY23" fmla="*/ 1034716 h 2759242"/>
                      <a:gd name="connsiteX24" fmla="*/ 2336444 w 2369843"/>
                      <a:gd name="connsiteY24" fmla="*/ 778042 h 2759242"/>
                      <a:gd name="connsiteX25" fmla="*/ 2328423 w 2369843"/>
                      <a:gd name="connsiteY25" fmla="*/ 689811 h 2759242"/>
                      <a:gd name="connsiteX26" fmla="*/ 2216128 w 2369843"/>
                      <a:gd name="connsiteY26" fmla="*/ 336884 h 2759242"/>
                      <a:gd name="connsiteX27" fmla="*/ 2159981 w 2369843"/>
                      <a:gd name="connsiteY27" fmla="*/ 264695 h 2759242"/>
                      <a:gd name="connsiteX28" fmla="*/ 1911328 w 2369843"/>
                      <a:gd name="connsiteY28" fmla="*/ 64168 h 2759242"/>
                      <a:gd name="connsiteX29" fmla="*/ 1718823 w 2369843"/>
                      <a:gd name="connsiteY29" fmla="*/ 16042 h 2759242"/>
                      <a:gd name="connsiteX30" fmla="*/ 972865 w 2369843"/>
                      <a:gd name="connsiteY30" fmla="*/ 0 h 2759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2369843" h="2759242">
                        <a:moveTo>
                          <a:pt x="972865" y="0"/>
                        </a:moveTo>
                        <a:cubicBezTo>
                          <a:pt x="837844" y="0"/>
                          <a:pt x="928844" y="7087"/>
                          <a:pt x="908696" y="16042"/>
                        </a:cubicBezTo>
                        <a:cubicBezTo>
                          <a:pt x="682627" y="116517"/>
                          <a:pt x="657978" y="134948"/>
                          <a:pt x="467538" y="304800"/>
                        </a:cubicBezTo>
                        <a:cubicBezTo>
                          <a:pt x="437875" y="331256"/>
                          <a:pt x="409599" y="360110"/>
                          <a:pt x="387328" y="393032"/>
                        </a:cubicBezTo>
                        <a:cubicBezTo>
                          <a:pt x="326490" y="482966"/>
                          <a:pt x="192085" y="755142"/>
                          <a:pt x="154717" y="834189"/>
                        </a:cubicBezTo>
                        <a:cubicBezTo>
                          <a:pt x="126059" y="894812"/>
                          <a:pt x="95712" y="955059"/>
                          <a:pt x="74507" y="1018674"/>
                        </a:cubicBezTo>
                        <a:cubicBezTo>
                          <a:pt x="50105" y="1091881"/>
                          <a:pt x="37076" y="1168400"/>
                          <a:pt x="18360" y="1243263"/>
                        </a:cubicBezTo>
                        <a:cubicBezTo>
                          <a:pt x="-726" y="1491364"/>
                          <a:pt x="-14072" y="1537541"/>
                          <a:pt x="26381" y="1828800"/>
                        </a:cubicBezTo>
                        <a:cubicBezTo>
                          <a:pt x="35930" y="1897553"/>
                          <a:pt x="61549" y="1963160"/>
                          <a:pt x="82528" y="2029326"/>
                        </a:cubicBezTo>
                        <a:cubicBezTo>
                          <a:pt x="110170" y="2116505"/>
                          <a:pt x="145410" y="2200636"/>
                          <a:pt x="194823" y="2277979"/>
                        </a:cubicBezTo>
                        <a:cubicBezTo>
                          <a:pt x="231972" y="2336125"/>
                          <a:pt x="266348" y="2397631"/>
                          <a:pt x="315138" y="2446421"/>
                        </a:cubicBezTo>
                        <a:cubicBezTo>
                          <a:pt x="374504" y="2505787"/>
                          <a:pt x="443196" y="2556433"/>
                          <a:pt x="515665" y="2598821"/>
                        </a:cubicBezTo>
                        <a:cubicBezTo>
                          <a:pt x="585970" y="2639943"/>
                          <a:pt x="662853" y="2669718"/>
                          <a:pt x="740254" y="2695074"/>
                        </a:cubicBezTo>
                        <a:cubicBezTo>
                          <a:pt x="954762" y="2765344"/>
                          <a:pt x="994343" y="2751685"/>
                          <a:pt x="1213496" y="2759242"/>
                        </a:cubicBezTo>
                        <a:cubicBezTo>
                          <a:pt x="1278817" y="2749193"/>
                          <a:pt x="1570317" y="2709619"/>
                          <a:pt x="1630591" y="2679032"/>
                        </a:cubicBezTo>
                        <a:cubicBezTo>
                          <a:pt x="1748966" y="2618961"/>
                          <a:pt x="1959454" y="2454442"/>
                          <a:pt x="1959454" y="2454442"/>
                        </a:cubicBezTo>
                        <a:cubicBezTo>
                          <a:pt x="2026296" y="2355516"/>
                          <a:pt x="2102810" y="2262476"/>
                          <a:pt x="2159981" y="2157663"/>
                        </a:cubicBezTo>
                        <a:lnTo>
                          <a:pt x="2256233" y="1981200"/>
                        </a:lnTo>
                        <a:cubicBezTo>
                          <a:pt x="2264254" y="1951789"/>
                          <a:pt x="2270656" y="1921888"/>
                          <a:pt x="2280296" y="1892968"/>
                        </a:cubicBezTo>
                        <a:cubicBezTo>
                          <a:pt x="2292072" y="1857639"/>
                          <a:pt x="2312323" y="1825048"/>
                          <a:pt x="2320402" y="1788695"/>
                        </a:cubicBezTo>
                        <a:cubicBezTo>
                          <a:pt x="2328543" y="1752062"/>
                          <a:pt x="2324122" y="1713680"/>
                          <a:pt x="2328423" y="1676400"/>
                        </a:cubicBezTo>
                        <a:cubicBezTo>
                          <a:pt x="2332151" y="1644087"/>
                          <a:pt x="2339519" y="1612296"/>
                          <a:pt x="2344465" y="1580147"/>
                        </a:cubicBezTo>
                        <a:cubicBezTo>
                          <a:pt x="2350214" y="1542775"/>
                          <a:pt x="2355160" y="1505284"/>
                          <a:pt x="2360507" y="1467853"/>
                        </a:cubicBezTo>
                        <a:cubicBezTo>
                          <a:pt x="2373881" y="1253871"/>
                          <a:pt x="2371996" y="1344918"/>
                          <a:pt x="2360507" y="1034716"/>
                        </a:cubicBezTo>
                        <a:cubicBezTo>
                          <a:pt x="2355162" y="890406"/>
                          <a:pt x="2352406" y="921698"/>
                          <a:pt x="2336444" y="778042"/>
                        </a:cubicBezTo>
                        <a:cubicBezTo>
                          <a:pt x="2333183" y="748691"/>
                          <a:pt x="2334473" y="718716"/>
                          <a:pt x="2328423" y="689811"/>
                        </a:cubicBezTo>
                        <a:cubicBezTo>
                          <a:pt x="2299660" y="552390"/>
                          <a:pt x="2285754" y="449357"/>
                          <a:pt x="2216128" y="336884"/>
                        </a:cubicBezTo>
                        <a:cubicBezTo>
                          <a:pt x="2200082" y="310964"/>
                          <a:pt x="2181155" y="286626"/>
                          <a:pt x="2159981" y="264695"/>
                        </a:cubicBezTo>
                        <a:cubicBezTo>
                          <a:pt x="2088267" y="190420"/>
                          <a:pt x="2015252" y="97791"/>
                          <a:pt x="1911328" y="64168"/>
                        </a:cubicBezTo>
                        <a:cubicBezTo>
                          <a:pt x="1848396" y="43808"/>
                          <a:pt x="1784473" y="24104"/>
                          <a:pt x="1718823" y="16042"/>
                        </a:cubicBezTo>
                        <a:cubicBezTo>
                          <a:pt x="1615921" y="3405"/>
                          <a:pt x="1107886" y="0"/>
                          <a:pt x="972865" y="0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任意多边形: 形状 23">
            <a:extLst>
              <a:ext uri="{FF2B5EF4-FFF2-40B4-BE49-F238E27FC236}">
                <a16:creationId xmlns:a16="http://schemas.microsoft.com/office/drawing/2014/main" id="{8F4AE6A5-0220-A106-2905-0C54069CAEF9}"/>
              </a:ext>
            </a:extLst>
          </p:cNvPr>
          <p:cNvSpPr/>
          <p:nvPr/>
        </p:nvSpPr>
        <p:spPr>
          <a:xfrm>
            <a:off x="4581414" y="5836000"/>
            <a:ext cx="2743200" cy="864875"/>
          </a:xfrm>
          <a:custGeom>
            <a:avLst/>
            <a:gdLst>
              <a:gd name="connsiteX0" fmla="*/ 1126135 w 2743200"/>
              <a:gd name="connsiteY0" fmla="*/ 0 h 864875"/>
              <a:gd name="connsiteX1" fmla="*/ 1051856 w 2743200"/>
              <a:gd name="connsiteY1" fmla="*/ 5028 h 864875"/>
              <a:gd name="connsiteX2" fmla="*/ 541196 w 2743200"/>
              <a:gd name="connsiteY2" fmla="*/ 95538 h 864875"/>
              <a:gd name="connsiteX3" fmla="*/ 448349 w 2743200"/>
              <a:gd name="connsiteY3" fmla="*/ 123194 h 864875"/>
              <a:gd name="connsiteX4" fmla="*/ 179091 w 2743200"/>
              <a:gd name="connsiteY4" fmla="*/ 261473 h 864875"/>
              <a:gd name="connsiteX5" fmla="*/ 86245 w 2743200"/>
              <a:gd name="connsiteY5" fmla="*/ 319299 h 864875"/>
              <a:gd name="connsiteX6" fmla="*/ 21252 w 2743200"/>
              <a:gd name="connsiteY6" fmla="*/ 389696 h 864875"/>
              <a:gd name="connsiteX7" fmla="*/ 30537 w 2743200"/>
              <a:gd name="connsiteY7" fmla="*/ 573231 h 864875"/>
              <a:gd name="connsiteX8" fmla="*/ 95529 w 2743200"/>
              <a:gd name="connsiteY8" fmla="*/ 636085 h 864875"/>
              <a:gd name="connsiteX9" fmla="*/ 225516 w 2743200"/>
              <a:gd name="connsiteY9" fmla="*/ 714024 h 864875"/>
              <a:gd name="connsiteX10" fmla="*/ 364786 w 2743200"/>
              <a:gd name="connsiteY10" fmla="*/ 766822 h 864875"/>
              <a:gd name="connsiteX11" fmla="*/ 596905 w 2743200"/>
              <a:gd name="connsiteY11" fmla="*/ 814591 h 864875"/>
              <a:gd name="connsiteX12" fmla="*/ 856877 w 2743200"/>
              <a:gd name="connsiteY12" fmla="*/ 844761 h 864875"/>
              <a:gd name="connsiteX13" fmla="*/ 1404676 w 2743200"/>
              <a:gd name="connsiteY13" fmla="*/ 864875 h 864875"/>
              <a:gd name="connsiteX14" fmla="*/ 1887482 w 2743200"/>
              <a:gd name="connsiteY14" fmla="*/ 839733 h 864875"/>
              <a:gd name="connsiteX15" fmla="*/ 2268156 w 2743200"/>
              <a:gd name="connsiteY15" fmla="*/ 769336 h 864875"/>
              <a:gd name="connsiteX16" fmla="*/ 2500275 w 2743200"/>
              <a:gd name="connsiteY16" fmla="*/ 676312 h 864875"/>
              <a:gd name="connsiteX17" fmla="*/ 2611691 w 2743200"/>
              <a:gd name="connsiteY17" fmla="*/ 621000 h 864875"/>
              <a:gd name="connsiteX18" fmla="*/ 2639545 w 2743200"/>
              <a:gd name="connsiteY18" fmla="*/ 593344 h 864875"/>
              <a:gd name="connsiteX19" fmla="*/ 2685969 w 2743200"/>
              <a:gd name="connsiteY19" fmla="*/ 560660 h 864875"/>
              <a:gd name="connsiteX20" fmla="*/ 2695254 w 2743200"/>
              <a:gd name="connsiteY20" fmla="*/ 525461 h 864875"/>
              <a:gd name="connsiteX21" fmla="*/ 2713823 w 2743200"/>
              <a:gd name="connsiteY21" fmla="*/ 495291 h 864875"/>
              <a:gd name="connsiteX22" fmla="*/ 2732393 w 2743200"/>
              <a:gd name="connsiteY22" fmla="*/ 460093 h 864875"/>
              <a:gd name="connsiteX23" fmla="*/ 2732393 w 2743200"/>
              <a:gd name="connsiteY23" fmla="*/ 324328 h 864875"/>
              <a:gd name="connsiteX24" fmla="*/ 2704539 w 2743200"/>
              <a:gd name="connsiteY24" fmla="*/ 243874 h 864875"/>
              <a:gd name="connsiteX25" fmla="*/ 2695254 w 2743200"/>
              <a:gd name="connsiteY25" fmla="*/ 216218 h 864875"/>
              <a:gd name="connsiteX26" fmla="*/ 2565267 w 2743200"/>
              <a:gd name="connsiteY26" fmla="*/ 105595 h 864875"/>
              <a:gd name="connsiteX27" fmla="*/ 2500275 w 2743200"/>
              <a:gd name="connsiteY27" fmla="*/ 82967 h 864875"/>
              <a:gd name="connsiteX28" fmla="*/ 2212448 w 2743200"/>
              <a:gd name="connsiteY28" fmla="*/ 20113 h 864875"/>
              <a:gd name="connsiteX29" fmla="*/ 1989615 w 2743200"/>
              <a:gd name="connsiteY29" fmla="*/ 5028 h 864875"/>
              <a:gd name="connsiteX30" fmla="*/ 1126135 w 2743200"/>
              <a:gd name="connsiteY30" fmla="*/ 0 h 86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43200" h="864875" extrusionOk="0">
                <a:moveTo>
                  <a:pt x="1126135" y="0"/>
                </a:moveTo>
                <a:cubicBezTo>
                  <a:pt x="970823" y="1965"/>
                  <a:pt x="1071553" y="3645"/>
                  <a:pt x="1051856" y="5028"/>
                </a:cubicBezTo>
                <a:cubicBezTo>
                  <a:pt x="794112" y="34049"/>
                  <a:pt x="760753" y="45293"/>
                  <a:pt x="541196" y="95538"/>
                </a:cubicBezTo>
                <a:cubicBezTo>
                  <a:pt x="505314" y="103740"/>
                  <a:pt x="476504" y="112640"/>
                  <a:pt x="448349" y="123194"/>
                </a:cubicBezTo>
                <a:cubicBezTo>
                  <a:pt x="369797" y="149883"/>
                  <a:pt x="224263" y="231020"/>
                  <a:pt x="179091" y="261473"/>
                </a:cubicBezTo>
                <a:cubicBezTo>
                  <a:pt x="144669" y="283588"/>
                  <a:pt x="112480" y="295455"/>
                  <a:pt x="86245" y="319299"/>
                </a:cubicBezTo>
                <a:cubicBezTo>
                  <a:pt x="58008" y="343984"/>
                  <a:pt x="45794" y="369131"/>
                  <a:pt x="21252" y="389696"/>
                </a:cubicBezTo>
                <a:cubicBezTo>
                  <a:pt x="-2158" y="464117"/>
                  <a:pt x="-17861" y="481218"/>
                  <a:pt x="30537" y="573231"/>
                </a:cubicBezTo>
                <a:cubicBezTo>
                  <a:pt x="45888" y="593750"/>
                  <a:pt x="72235" y="611208"/>
                  <a:pt x="95529" y="636085"/>
                </a:cubicBezTo>
                <a:cubicBezTo>
                  <a:pt x="127481" y="662816"/>
                  <a:pt x="171285" y="693132"/>
                  <a:pt x="225516" y="714024"/>
                </a:cubicBezTo>
                <a:cubicBezTo>
                  <a:pt x="267879" y="732887"/>
                  <a:pt x="306694" y="756163"/>
                  <a:pt x="364786" y="766822"/>
                </a:cubicBezTo>
                <a:cubicBezTo>
                  <a:pt x="446968" y="781202"/>
                  <a:pt x="515145" y="808503"/>
                  <a:pt x="596905" y="814591"/>
                </a:cubicBezTo>
                <a:cubicBezTo>
                  <a:pt x="688327" y="817145"/>
                  <a:pt x="768739" y="854498"/>
                  <a:pt x="856877" y="844761"/>
                </a:cubicBezTo>
                <a:cubicBezTo>
                  <a:pt x="1102494" y="868360"/>
                  <a:pt x="1153614" y="856136"/>
                  <a:pt x="1404676" y="864875"/>
                </a:cubicBezTo>
                <a:cubicBezTo>
                  <a:pt x="1481291" y="861513"/>
                  <a:pt x="1821989" y="852100"/>
                  <a:pt x="1887482" y="839733"/>
                </a:cubicBezTo>
                <a:cubicBezTo>
                  <a:pt x="2024506" y="820904"/>
                  <a:pt x="2268156" y="769336"/>
                  <a:pt x="2268156" y="769336"/>
                </a:cubicBezTo>
                <a:cubicBezTo>
                  <a:pt x="2357692" y="733222"/>
                  <a:pt x="2434311" y="707331"/>
                  <a:pt x="2500275" y="676312"/>
                </a:cubicBezTo>
                <a:cubicBezTo>
                  <a:pt x="2534791" y="671049"/>
                  <a:pt x="2566008" y="650561"/>
                  <a:pt x="2611691" y="621000"/>
                </a:cubicBezTo>
                <a:cubicBezTo>
                  <a:pt x="2621174" y="611722"/>
                  <a:pt x="2629542" y="603115"/>
                  <a:pt x="2639545" y="593344"/>
                </a:cubicBezTo>
                <a:cubicBezTo>
                  <a:pt x="2652769" y="582646"/>
                  <a:pt x="2675829" y="573602"/>
                  <a:pt x="2685969" y="560660"/>
                </a:cubicBezTo>
                <a:cubicBezTo>
                  <a:pt x="2694271" y="550203"/>
                  <a:pt x="2690324" y="536207"/>
                  <a:pt x="2695254" y="525461"/>
                </a:cubicBezTo>
                <a:cubicBezTo>
                  <a:pt x="2698602" y="515371"/>
                  <a:pt x="2708471" y="504508"/>
                  <a:pt x="2713823" y="495291"/>
                </a:cubicBezTo>
                <a:cubicBezTo>
                  <a:pt x="2719897" y="482600"/>
                  <a:pt x="2728068" y="471435"/>
                  <a:pt x="2732393" y="460093"/>
                </a:cubicBezTo>
                <a:cubicBezTo>
                  <a:pt x="2745333" y="396786"/>
                  <a:pt x="2747812" y="418060"/>
                  <a:pt x="2732393" y="324328"/>
                </a:cubicBezTo>
                <a:cubicBezTo>
                  <a:pt x="2725949" y="279645"/>
                  <a:pt x="2722696" y="287613"/>
                  <a:pt x="2704539" y="243874"/>
                </a:cubicBezTo>
                <a:cubicBezTo>
                  <a:pt x="2700304" y="234467"/>
                  <a:pt x="2702386" y="224051"/>
                  <a:pt x="2695254" y="216218"/>
                </a:cubicBezTo>
                <a:cubicBezTo>
                  <a:pt x="2666821" y="171627"/>
                  <a:pt x="2648078" y="146057"/>
                  <a:pt x="2565267" y="105595"/>
                </a:cubicBezTo>
                <a:cubicBezTo>
                  <a:pt x="2545271" y="99304"/>
                  <a:pt x="2526711" y="93455"/>
                  <a:pt x="2500275" y="82967"/>
                </a:cubicBezTo>
                <a:cubicBezTo>
                  <a:pt x="2424367" y="56551"/>
                  <a:pt x="2332499" y="28360"/>
                  <a:pt x="2212448" y="20113"/>
                </a:cubicBezTo>
                <a:cubicBezTo>
                  <a:pt x="2138416" y="12890"/>
                  <a:pt x="2066057" y="8698"/>
                  <a:pt x="1989615" y="5028"/>
                </a:cubicBezTo>
                <a:cubicBezTo>
                  <a:pt x="1852812" y="-16900"/>
                  <a:pt x="1283716" y="5151"/>
                  <a:pt x="1126135" y="0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653306104">
                  <a:custGeom>
                    <a:avLst/>
                    <a:gdLst>
                      <a:gd name="connsiteX0" fmla="*/ 972865 w 2369843"/>
                      <a:gd name="connsiteY0" fmla="*/ 0 h 2759242"/>
                      <a:gd name="connsiteX1" fmla="*/ 908696 w 2369843"/>
                      <a:gd name="connsiteY1" fmla="*/ 16042 h 2759242"/>
                      <a:gd name="connsiteX2" fmla="*/ 467538 w 2369843"/>
                      <a:gd name="connsiteY2" fmla="*/ 304800 h 2759242"/>
                      <a:gd name="connsiteX3" fmla="*/ 387328 w 2369843"/>
                      <a:gd name="connsiteY3" fmla="*/ 393032 h 2759242"/>
                      <a:gd name="connsiteX4" fmla="*/ 154717 w 2369843"/>
                      <a:gd name="connsiteY4" fmla="*/ 834189 h 2759242"/>
                      <a:gd name="connsiteX5" fmla="*/ 74507 w 2369843"/>
                      <a:gd name="connsiteY5" fmla="*/ 1018674 h 2759242"/>
                      <a:gd name="connsiteX6" fmla="*/ 18360 w 2369843"/>
                      <a:gd name="connsiteY6" fmla="*/ 1243263 h 2759242"/>
                      <a:gd name="connsiteX7" fmla="*/ 26381 w 2369843"/>
                      <a:gd name="connsiteY7" fmla="*/ 1828800 h 2759242"/>
                      <a:gd name="connsiteX8" fmla="*/ 82528 w 2369843"/>
                      <a:gd name="connsiteY8" fmla="*/ 2029326 h 2759242"/>
                      <a:gd name="connsiteX9" fmla="*/ 194823 w 2369843"/>
                      <a:gd name="connsiteY9" fmla="*/ 2277979 h 2759242"/>
                      <a:gd name="connsiteX10" fmla="*/ 315138 w 2369843"/>
                      <a:gd name="connsiteY10" fmla="*/ 2446421 h 2759242"/>
                      <a:gd name="connsiteX11" fmla="*/ 515665 w 2369843"/>
                      <a:gd name="connsiteY11" fmla="*/ 2598821 h 2759242"/>
                      <a:gd name="connsiteX12" fmla="*/ 740254 w 2369843"/>
                      <a:gd name="connsiteY12" fmla="*/ 2695074 h 2759242"/>
                      <a:gd name="connsiteX13" fmla="*/ 1213496 w 2369843"/>
                      <a:gd name="connsiteY13" fmla="*/ 2759242 h 2759242"/>
                      <a:gd name="connsiteX14" fmla="*/ 1630591 w 2369843"/>
                      <a:gd name="connsiteY14" fmla="*/ 2679032 h 2759242"/>
                      <a:gd name="connsiteX15" fmla="*/ 1959454 w 2369843"/>
                      <a:gd name="connsiteY15" fmla="*/ 2454442 h 2759242"/>
                      <a:gd name="connsiteX16" fmla="*/ 2159981 w 2369843"/>
                      <a:gd name="connsiteY16" fmla="*/ 2157663 h 2759242"/>
                      <a:gd name="connsiteX17" fmla="*/ 2256233 w 2369843"/>
                      <a:gd name="connsiteY17" fmla="*/ 1981200 h 2759242"/>
                      <a:gd name="connsiteX18" fmla="*/ 2280296 w 2369843"/>
                      <a:gd name="connsiteY18" fmla="*/ 1892968 h 2759242"/>
                      <a:gd name="connsiteX19" fmla="*/ 2320402 w 2369843"/>
                      <a:gd name="connsiteY19" fmla="*/ 1788695 h 2759242"/>
                      <a:gd name="connsiteX20" fmla="*/ 2328423 w 2369843"/>
                      <a:gd name="connsiteY20" fmla="*/ 1676400 h 2759242"/>
                      <a:gd name="connsiteX21" fmla="*/ 2344465 w 2369843"/>
                      <a:gd name="connsiteY21" fmla="*/ 1580147 h 2759242"/>
                      <a:gd name="connsiteX22" fmla="*/ 2360507 w 2369843"/>
                      <a:gd name="connsiteY22" fmla="*/ 1467853 h 2759242"/>
                      <a:gd name="connsiteX23" fmla="*/ 2360507 w 2369843"/>
                      <a:gd name="connsiteY23" fmla="*/ 1034716 h 2759242"/>
                      <a:gd name="connsiteX24" fmla="*/ 2336444 w 2369843"/>
                      <a:gd name="connsiteY24" fmla="*/ 778042 h 2759242"/>
                      <a:gd name="connsiteX25" fmla="*/ 2328423 w 2369843"/>
                      <a:gd name="connsiteY25" fmla="*/ 689811 h 2759242"/>
                      <a:gd name="connsiteX26" fmla="*/ 2216128 w 2369843"/>
                      <a:gd name="connsiteY26" fmla="*/ 336884 h 2759242"/>
                      <a:gd name="connsiteX27" fmla="*/ 2159981 w 2369843"/>
                      <a:gd name="connsiteY27" fmla="*/ 264695 h 2759242"/>
                      <a:gd name="connsiteX28" fmla="*/ 1911328 w 2369843"/>
                      <a:gd name="connsiteY28" fmla="*/ 64168 h 2759242"/>
                      <a:gd name="connsiteX29" fmla="*/ 1718823 w 2369843"/>
                      <a:gd name="connsiteY29" fmla="*/ 16042 h 2759242"/>
                      <a:gd name="connsiteX30" fmla="*/ 972865 w 2369843"/>
                      <a:gd name="connsiteY30" fmla="*/ 0 h 2759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2369843" h="2759242">
                        <a:moveTo>
                          <a:pt x="972865" y="0"/>
                        </a:moveTo>
                        <a:cubicBezTo>
                          <a:pt x="837844" y="0"/>
                          <a:pt x="928844" y="7087"/>
                          <a:pt x="908696" y="16042"/>
                        </a:cubicBezTo>
                        <a:cubicBezTo>
                          <a:pt x="682627" y="116517"/>
                          <a:pt x="657978" y="134948"/>
                          <a:pt x="467538" y="304800"/>
                        </a:cubicBezTo>
                        <a:cubicBezTo>
                          <a:pt x="437875" y="331256"/>
                          <a:pt x="409599" y="360110"/>
                          <a:pt x="387328" y="393032"/>
                        </a:cubicBezTo>
                        <a:cubicBezTo>
                          <a:pt x="326490" y="482966"/>
                          <a:pt x="192085" y="755142"/>
                          <a:pt x="154717" y="834189"/>
                        </a:cubicBezTo>
                        <a:cubicBezTo>
                          <a:pt x="126059" y="894812"/>
                          <a:pt x="95712" y="955059"/>
                          <a:pt x="74507" y="1018674"/>
                        </a:cubicBezTo>
                        <a:cubicBezTo>
                          <a:pt x="50105" y="1091881"/>
                          <a:pt x="37076" y="1168400"/>
                          <a:pt x="18360" y="1243263"/>
                        </a:cubicBezTo>
                        <a:cubicBezTo>
                          <a:pt x="-726" y="1491364"/>
                          <a:pt x="-14072" y="1537541"/>
                          <a:pt x="26381" y="1828800"/>
                        </a:cubicBezTo>
                        <a:cubicBezTo>
                          <a:pt x="35930" y="1897553"/>
                          <a:pt x="61549" y="1963160"/>
                          <a:pt x="82528" y="2029326"/>
                        </a:cubicBezTo>
                        <a:cubicBezTo>
                          <a:pt x="110170" y="2116505"/>
                          <a:pt x="145410" y="2200636"/>
                          <a:pt x="194823" y="2277979"/>
                        </a:cubicBezTo>
                        <a:cubicBezTo>
                          <a:pt x="231972" y="2336125"/>
                          <a:pt x="266348" y="2397631"/>
                          <a:pt x="315138" y="2446421"/>
                        </a:cubicBezTo>
                        <a:cubicBezTo>
                          <a:pt x="374504" y="2505787"/>
                          <a:pt x="443196" y="2556433"/>
                          <a:pt x="515665" y="2598821"/>
                        </a:cubicBezTo>
                        <a:cubicBezTo>
                          <a:pt x="585970" y="2639943"/>
                          <a:pt x="662853" y="2669718"/>
                          <a:pt x="740254" y="2695074"/>
                        </a:cubicBezTo>
                        <a:cubicBezTo>
                          <a:pt x="954762" y="2765344"/>
                          <a:pt x="994343" y="2751685"/>
                          <a:pt x="1213496" y="2759242"/>
                        </a:cubicBezTo>
                        <a:cubicBezTo>
                          <a:pt x="1278817" y="2749193"/>
                          <a:pt x="1570317" y="2709619"/>
                          <a:pt x="1630591" y="2679032"/>
                        </a:cubicBezTo>
                        <a:cubicBezTo>
                          <a:pt x="1748966" y="2618961"/>
                          <a:pt x="1959454" y="2454442"/>
                          <a:pt x="1959454" y="2454442"/>
                        </a:cubicBezTo>
                        <a:cubicBezTo>
                          <a:pt x="2026296" y="2355516"/>
                          <a:pt x="2102810" y="2262476"/>
                          <a:pt x="2159981" y="2157663"/>
                        </a:cubicBezTo>
                        <a:lnTo>
                          <a:pt x="2256233" y="1981200"/>
                        </a:lnTo>
                        <a:cubicBezTo>
                          <a:pt x="2264254" y="1951789"/>
                          <a:pt x="2270656" y="1921888"/>
                          <a:pt x="2280296" y="1892968"/>
                        </a:cubicBezTo>
                        <a:cubicBezTo>
                          <a:pt x="2292072" y="1857639"/>
                          <a:pt x="2312323" y="1825048"/>
                          <a:pt x="2320402" y="1788695"/>
                        </a:cubicBezTo>
                        <a:cubicBezTo>
                          <a:pt x="2328543" y="1752062"/>
                          <a:pt x="2324122" y="1713680"/>
                          <a:pt x="2328423" y="1676400"/>
                        </a:cubicBezTo>
                        <a:cubicBezTo>
                          <a:pt x="2332151" y="1644087"/>
                          <a:pt x="2339519" y="1612296"/>
                          <a:pt x="2344465" y="1580147"/>
                        </a:cubicBezTo>
                        <a:cubicBezTo>
                          <a:pt x="2350214" y="1542775"/>
                          <a:pt x="2355160" y="1505284"/>
                          <a:pt x="2360507" y="1467853"/>
                        </a:cubicBezTo>
                        <a:cubicBezTo>
                          <a:pt x="2373881" y="1253871"/>
                          <a:pt x="2371996" y="1344918"/>
                          <a:pt x="2360507" y="1034716"/>
                        </a:cubicBezTo>
                        <a:cubicBezTo>
                          <a:pt x="2355162" y="890406"/>
                          <a:pt x="2352406" y="921698"/>
                          <a:pt x="2336444" y="778042"/>
                        </a:cubicBezTo>
                        <a:cubicBezTo>
                          <a:pt x="2333183" y="748691"/>
                          <a:pt x="2334473" y="718716"/>
                          <a:pt x="2328423" y="689811"/>
                        </a:cubicBezTo>
                        <a:cubicBezTo>
                          <a:pt x="2299660" y="552390"/>
                          <a:pt x="2285754" y="449357"/>
                          <a:pt x="2216128" y="336884"/>
                        </a:cubicBezTo>
                        <a:cubicBezTo>
                          <a:pt x="2200082" y="310964"/>
                          <a:pt x="2181155" y="286626"/>
                          <a:pt x="2159981" y="264695"/>
                        </a:cubicBezTo>
                        <a:cubicBezTo>
                          <a:pt x="2088267" y="190420"/>
                          <a:pt x="2015252" y="97791"/>
                          <a:pt x="1911328" y="64168"/>
                        </a:cubicBezTo>
                        <a:cubicBezTo>
                          <a:pt x="1848396" y="43808"/>
                          <a:pt x="1784473" y="24104"/>
                          <a:pt x="1718823" y="16042"/>
                        </a:cubicBezTo>
                        <a:cubicBezTo>
                          <a:pt x="1615921" y="3405"/>
                          <a:pt x="1107886" y="0"/>
                          <a:pt x="972865" y="0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C0935105-A022-1D11-CAD5-0DFEEB2283A3}"/>
              </a:ext>
            </a:extLst>
          </p:cNvPr>
          <p:cNvSpPr txBox="1"/>
          <p:nvPr/>
        </p:nvSpPr>
        <p:spPr>
          <a:xfrm>
            <a:off x="7387345" y="5249936"/>
            <a:ext cx="949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Slice 1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6360AF09-B258-70FD-1517-56CFDD651FE4}"/>
              </a:ext>
            </a:extLst>
          </p:cNvPr>
          <p:cNvSpPr txBox="1"/>
          <p:nvPr/>
        </p:nvSpPr>
        <p:spPr>
          <a:xfrm>
            <a:off x="7342139" y="6019045"/>
            <a:ext cx="949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Slice 2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98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8645-121F-0809-9D1C-04165807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slicing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3">
                <a:extLst>
                  <a:ext uri="{FF2B5EF4-FFF2-40B4-BE49-F238E27FC236}">
                    <a16:creationId xmlns:a16="http://schemas.microsoft.com/office/drawing/2014/main" id="{444B112A-FE0C-4A01-5300-575EBCC98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400" y="1867800"/>
                <a:ext cx="8823600" cy="2554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Problem description</a:t>
                </a:r>
                <a:endParaRPr lang="en-US" altLang="zh-CN" sz="2400" b="1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Set variable to ensure: </a:t>
                </a:r>
              </a:p>
              <a:p>
                <a:pPr marL="1144588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slice 1 the minimum data rate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altLang="zh-CN" sz="2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≥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bps/Hz.</a:t>
                </a:r>
              </a:p>
              <a:p>
                <a:pPr marL="1144588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slice 2 the minimum data rate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altLang="zh-CN" sz="2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≥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bps/Hz.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endParaRPr lang="en-US" altLang="zh-CN" sz="2400" b="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矩形 3">
                <a:extLst>
                  <a:ext uri="{FF2B5EF4-FFF2-40B4-BE49-F238E27FC236}">
                    <a16:creationId xmlns:a16="http://schemas.microsoft.com/office/drawing/2014/main" id="{444B112A-FE0C-4A01-5300-575EBCC98F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400" y="1867800"/>
                <a:ext cx="8823600" cy="2554545"/>
              </a:xfrm>
              <a:prstGeom prst="rect">
                <a:avLst/>
              </a:prstGeom>
              <a:blipFill>
                <a:blip r:embed="rId2"/>
                <a:stretch>
                  <a:fillRect l="-1036" t="-16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308B807-1C16-0144-1E9F-B052FEBCED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0549100"/>
                  </p:ext>
                </p:extLst>
              </p:nvPr>
            </p:nvGraphicFramePr>
            <p:xfrm>
              <a:off x="5334648" y="4945309"/>
              <a:ext cx="2108120" cy="153708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421624">
                      <a:extLst>
                        <a:ext uri="{9D8B030D-6E8A-4147-A177-3AD203B41FA5}">
                          <a16:colId xmlns:a16="http://schemas.microsoft.com/office/drawing/2014/main" val="2440761518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36176755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15812340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585215541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4185036669"/>
                        </a:ext>
                      </a:extLst>
                    </a:gridCol>
                  </a:tblGrid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7072418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8169879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140171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400" b="0" i="1" kern="1200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54305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308B807-1C16-0144-1E9F-B052FEBCED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0549100"/>
                  </p:ext>
                </p:extLst>
              </p:nvPr>
            </p:nvGraphicFramePr>
            <p:xfrm>
              <a:off x="5334648" y="4945309"/>
              <a:ext cx="2108120" cy="153708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421624">
                      <a:extLst>
                        <a:ext uri="{9D8B030D-6E8A-4147-A177-3AD203B41FA5}">
                          <a16:colId xmlns:a16="http://schemas.microsoft.com/office/drawing/2014/main" val="2440761518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36176755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15812340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3585215541"/>
                        </a:ext>
                      </a:extLst>
                    </a:gridCol>
                    <a:gridCol w="421624">
                      <a:extLst>
                        <a:ext uri="{9D8B030D-6E8A-4147-A177-3AD203B41FA5}">
                          <a16:colId xmlns:a16="http://schemas.microsoft.com/office/drawing/2014/main" val="4185036669"/>
                        </a:ext>
                      </a:extLst>
                    </a:gridCol>
                  </a:tblGrid>
                  <a:tr h="384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4762" r="-405797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899" t="-4762" r="-4348" b="-3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7072418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8169879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140171"/>
                      </a:ext>
                    </a:extLst>
                  </a:tr>
                  <a:tr h="384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306349" r="-40579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...</a:t>
                          </a:r>
                          <a:endParaRPr lang="zh-CN" altLang="en-US" sz="14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  <a:alpha val="99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899" t="-306349" r="-4348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543053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直接箭头连接符 19">
            <a:extLst>
              <a:ext uri="{FF2B5EF4-FFF2-40B4-BE49-F238E27FC236}">
                <a16:creationId xmlns:a16="http://schemas.microsoft.com/office/drawing/2014/main" id="{D376465D-8646-4BBF-CB1D-1BBAAB0CBB43}"/>
              </a:ext>
            </a:extLst>
          </p:cNvPr>
          <p:cNvCxnSpPr/>
          <p:nvPr/>
        </p:nvCxnSpPr>
        <p:spPr>
          <a:xfrm>
            <a:off x="6875181" y="4791677"/>
            <a:ext cx="964734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20">
            <a:extLst>
              <a:ext uri="{FF2B5EF4-FFF2-40B4-BE49-F238E27FC236}">
                <a16:creationId xmlns:a16="http://schemas.microsoft.com/office/drawing/2014/main" id="{2220842E-B580-FB40-5968-C66C3273F40B}"/>
              </a:ext>
            </a:extLst>
          </p:cNvPr>
          <p:cNvCxnSpPr>
            <a:cxnSpLocks/>
          </p:cNvCxnSpPr>
          <p:nvPr/>
        </p:nvCxnSpPr>
        <p:spPr>
          <a:xfrm>
            <a:off x="5072724" y="5094559"/>
            <a:ext cx="0" cy="1018502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12">
            <a:extLst>
              <a:ext uri="{FF2B5EF4-FFF2-40B4-BE49-F238E27FC236}">
                <a16:creationId xmlns:a16="http://schemas.microsoft.com/office/drawing/2014/main" id="{06536FE7-7A95-9BBC-DFC2-CA460299251B}"/>
              </a:ext>
            </a:extLst>
          </p:cNvPr>
          <p:cNvSpPr txBox="1"/>
          <p:nvPr/>
        </p:nvSpPr>
        <p:spPr>
          <a:xfrm>
            <a:off x="7333557" y="4422345"/>
            <a:ext cx="1587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Sub-carriers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任意多边形: 形状 22">
            <a:extLst>
              <a:ext uri="{FF2B5EF4-FFF2-40B4-BE49-F238E27FC236}">
                <a16:creationId xmlns:a16="http://schemas.microsoft.com/office/drawing/2014/main" id="{3A0900DD-76B7-5892-C7C6-16AAD0B607D9}"/>
              </a:ext>
            </a:extLst>
          </p:cNvPr>
          <p:cNvSpPr/>
          <p:nvPr/>
        </p:nvSpPr>
        <p:spPr>
          <a:xfrm>
            <a:off x="5118327" y="4889183"/>
            <a:ext cx="2743200" cy="864875"/>
          </a:xfrm>
          <a:custGeom>
            <a:avLst/>
            <a:gdLst>
              <a:gd name="connsiteX0" fmla="*/ 1126135 w 2743200"/>
              <a:gd name="connsiteY0" fmla="*/ 0 h 864875"/>
              <a:gd name="connsiteX1" fmla="*/ 1051856 w 2743200"/>
              <a:gd name="connsiteY1" fmla="*/ 5028 h 864875"/>
              <a:gd name="connsiteX2" fmla="*/ 541196 w 2743200"/>
              <a:gd name="connsiteY2" fmla="*/ 95538 h 864875"/>
              <a:gd name="connsiteX3" fmla="*/ 448349 w 2743200"/>
              <a:gd name="connsiteY3" fmla="*/ 123194 h 864875"/>
              <a:gd name="connsiteX4" fmla="*/ 179091 w 2743200"/>
              <a:gd name="connsiteY4" fmla="*/ 261473 h 864875"/>
              <a:gd name="connsiteX5" fmla="*/ 86245 w 2743200"/>
              <a:gd name="connsiteY5" fmla="*/ 319299 h 864875"/>
              <a:gd name="connsiteX6" fmla="*/ 21252 w 2743200"/>
              <a:gd name="connsiteY6" fmla="*/ 389696 h 864875"/>
              <a:gd name="connsiteX7" fmla="*/ 30537 w 2743200"/>
              <a:gd name="connsiteY7" fmla="*/ 573231 h 864875"/>
              <a:gd name="connsiteX8" fmla="*/ 95529 w 2743200"/>
              <a:gd name="connsiteY8" fmla="*/ 636085 h 864875"/>
              <a:gd name="connsiteX9" fmla="*/ 225516 w 2743200"/>
              <a:gd name="connsiteY9" fmla="*/ 714024 h 864875"/>
              <a:gd name="connsiteX10" fmla="*/ 364786 w 2743200"/>
              <a:gd name="connsiteY10" fmla="*/ 766822 h 864875"/>
              <a:gd name="connsiteX11" fmla="*/ 596905 w 2743200"/>
              <a:gd name="connsiteY11" fmla="*/ 814591 h 864875"/>
              <a:gd name="connsiteX12" fmla="*/ 856877 w 2743200"/>
              <a:gd name="connsiteY12" fmla="*/ 844761 h 864875"/>
              <a:gd name="connsiteX13" fmla="*/ 1404676 w 2743200"/>
              <a:gd name="connsiteY13" fmla="*/ 864875 h 864875"/>
              <a:gd name="connsiteX14" fmla="*/ 1887482 w 2743200"/>
              <a:gd name="connsiteY14" fmla="*/ 839733 h 864875"/>
              <a:gd name="connsiteX15" fmla="*/ 2268156 w 2743200"/>
              <a:gd name="connsiteY15" fmla="*/ 769336 h 864875"/>
              <a:gd name="connsiteX16" fmla="*/ 2500275 w 2743200"/>
              <a:gd name="connsiteY16" fmla="*/ 676312 h 864875"/>
              <a:gd name="connsiteX17" fmla="*/ 2611691 w 2743200"/>
              <a:gd name="connsiteY17" fmla="*/ 621000 h 864875"/>
              <a:gd name="connsiteX18" fmla="*/ 2639545 w 2743200"/>
              <a:gd name="connsiteY18" fmla="*/ 593344 h 864875"/>
              <a:gd name="connsiteX19" fmla="*/ 2685969 w 2743200"/>
              <a:gd name="connsiteY19" fmla="*/ 560660 h 864875"/>
              <a:gd name="connsiteX20" fmla="*/ 2695254 w 2743200"/>
              <a:gd name="connsiteY20" fmla="*/ 525461 h 864875"/>
              <a:gd name="connsiteX21" fmla="*/ 2713823 w 2743200"/>
              <a:gd name="connsiteY21" fmla="*/ 495291 h 864875"/>
              <a:gd name="connsiteX22" fmla="*/ 2732393 w 2743200"/>
              <a:gd name="connsiteY22" fmla="*/ 460093 h 864875"/>
              <a:gd name="connsiteX23" fmla="*/ 2732393 w 2743200"/>
              <a:gd name="connsiteY23" fmla="*/ 324328 h 864875"/>
              <a:gd name="connsiteX24" fmla="*/ 2704539 w 2743200"/>
              <a:gd name="connsiteY24" fmla="*/ 243874 h 864875"/>
              <a:gd name="connsiteX25" fmla="*/ 2695254 w 2743200"/>
              <a:gd name="connsiteY25" fmla="*/ 216218 h 864875"/>
              <a:gd name="connsiteX26" fmla="*/ 2565267 w 2743200"/>
              <a:gd name="connsiteY26" fmla="*/ 105595 h 864875"/>
              <a:gd name="connsiteX27" fmla="*/ 2500275 w 2743200"/>
              <a:gd name="connsiteY27" fmla="*/ 82967 h 864875"/>
              <a:gd name="connsiteX28" fmla="*/ 2212448 w 2743200"/>
              <a:gd name="connsiteY28" fmla="*/ 20113 h 864875"/>
              <a:gd name="connsiteX29" fmla="*/ 1989615 w 2743200"/>
              <a:gd name="connsiteY29" fmla="*/ 5028 h 864875"/>
              <a:gd name="connsiteX30" fmla="*/ 1126135 w 2743200"/>
              <a:gd name="connsiteY30" fmla="*/ 0 h 86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43200" h="864875" extrusionOk="0">
                <a:moveTo>
                  <a:pt x="1126135" y="0"/>
                </a:moveTo>
                <a:cubicBezTo>
                  <a:pt x="970823" y="1965"/>
                  <a:pt x="1071553" y="3645"/>
                  <a:pt x="1051856" y="5028"/>
                </a:cubicBezTo>
                <a:cubicBezTo>
                  <a:pt x="794112" y="34049"/>
                  <a:pt x="760753" y="45293"/>
                  <a:pt x="541196" y="95538"/>
                </a:cubicBezTo>
                <a:cubicBezTo>
                  <a:pt x="505314" y="103740"/>
                  <a:pt x="476504" y="112640"/>
                  <a:pt x="448349" y="123194"/>
                </a:cubicBezTo>
                <a:cubicBezTo>
                  <a:pt x="369797" y="149883"/>
                  <a:pt x="224263" y="231020"/>
                  <a:pt x="179091" y="261473"/>
                </a:cubicBezTo>
                <a:cubicBezTo>
                  <a:pt x="144669" y="283588"/>
                  <a:pt x="112480" y="295455"/>
                  <a:pt x="86245" y="319299"/>
                </a:cubicBezTo>
                <a:cubicBezTo>
                  <a:pt x="58008" y="343984"/>
                  <a:pt x="45794" y="369131"/>
                  <a:pt x="21252" y="389696"/>
                </a:cubicBezTo>
                <a:cubicBezTo>
                  <a:pt x="-2158" y="464117"/>
                  <a:pt x="-17861" y="481218"/>
                  <a:pt x="30537" y="573231"/>
                </a:cubicBezTo>
                <a:cubicBezTo>
                  <a:pt x="45888" y="593750"/>
                  <a:pt x="72235" y="611208"/>
                  <a:pt x="95529" y="636085"/>
                </a:cubicBezTo>
                <a:cubicBezTo>
                  <a:pt x="127481" y="662816"/>
                  <a:pt x="171285" y="693132"/>
                  <a:pt x="225516" y="714024"/>
                </a:cubicBezTo>
                <a:cubicBezTo>
                  <a:pt x="267879" y="732887"/>
                  <a:pt x="306694" y="756163"/>
                  <a:pt x="364786" y="766822"/>
                </a:cubicBezTo>
                <a:cubicBezTo>
                  <a:pt x="446968" y="781202"/>
                  <a:pt x="515145" y="808503"/>
                  <a:pt x="596905" y="814591"/>
                </a:cubicBezTo>
                <a:cubicBezTo>
                  <a:pt x="688327" y="817145"/>
                  <a:pt x="768739" y="854498"/>
                  <a:pt x="856877" y="844761"/>
                </a:cubicBezTo>
                <a:cubicBezTo>
                  <a:pt x="1102494" y="868360"/>
                  <a:pt x="1153614" y="856136"/>
                  <a:pt x="1404676" y="864875"/>
                </a:cubicBezTo>
                <a:cubicBezTo>
                  <a:pt x="1481291" y="861513"/>
                  <a:pt x="1821989" y="852100"/>
                  <a:pt x="1887482" y="839733"/>
                </a:cubicBezTo>
                <a:cubicBezTo>
                  <a:pt x="2024506" y="820904"/>
                  <a:pt x="2268156" y="769336"/>
                  <a:pt x="2268156" y="769336"/>
                </a:cubicBezTo>
                <a:cubicBezTo>
                  <a:pt x="2357692" y="733222"/>
                  <a:pt x="2434311" y="707331"/>
                  <a:pt x="2500275" y="676312"/>
                </a:cubicBezTo>
                <a:cubicBezTo>
                  <a:pt x="2534791" y="671049"/>
                  <a:pt x="2566008" y="650561"/>
                  <a:pt x="2611691" y="621000"/>
                </a:cubicBezTo>
                <a:cubicBezTo>
                  <a:pt x="2621174" y="611722"/>
                  <a:pt x="2629542" y="603115"/>
                  <a:pt x="2639545" y="593344"/>
                </a:cubicBezTo>
                <a:cubicBezTo>
                  <a:pt x="2652769" y="582646"/>
                  <a:pt x="2675829" y="573602"/>
                  <a:pt x="2685969" y="560660"/>
                </a:cubicBezTo>
                <a:cubicBezTo>
                  <a:pt x="2694271" y="550203"/>
                  <a:pt x="2690324" y="536207"/>
                  <a:pt x="2695254" y="525461"/>
                </a:cubicBezTo>
                <a:cubicBezTo>
                  <a:pt x="2698602" y="515371"/>
                  <a:pt x="2708471" y="504508"/>
                  <a:pt x="2713823" y="495291"/>
                </a:cubicBezTo>
                <a:cubicBezTo>
                  <a:pt x="2719897" y="482600"/>
                  <a:pt x="2728068" y="471435"/>
                  <a:pt x="2732393" y="460093"/>
                </a:cubicBezTo>
                <a:cubicBezTo>
                  <a:pt x="2745333" y="396786"/>
                  <a:pt x="2747812" y="418060"/>
                  <a:pt x="2732393" y="324328"/>
                </a:cubicBezTo>
                <a:cubicBezTo>
                  <a:pt x="2725949" y="279645"/>
                  <a:pt x="2722696" y="287613"/>
                  <a:pt x="2704539" y="243874"/>
                </a:cubicBezTo>
                <a:cubicBezTo>
                  <a:pt x="2700304" y="234467"/>
                  <a:pt x="2702386" y="224051"/>
                  <a:pt x="2695254" y="216218"/>
                </a:cubicBezTo>
                <a:cubicBezTo>
                  <a:pt x="2666821" y="171627"/>
                  <a:pt x="2648078" y="146057"/>
                  <a:pt x="2565267" y="105595"/>
                </a:cubicBezTo>
                <a:cubicBezTo>
                  <a:pt x="2545271" y="99304"/>
                  <a:pt x="2526711" y="93455"/>
                  <a:pt x="2500275" y="82967"/>
                </a:cubicBezTo>
                <a:cubicBezTo>
                  <a:pt x="2424367" y="56551"/>
                  <a:pt x="2332499" y="28360"/>
                  <a:pt x="2212448" y="20113"/>
                </a:cubicBezTo>
                <a:cubicBezTo>
                  <a:pt x="2138416" y="12890"/>
                  <a:pt x="2066057" y="8698"/>
                  <a:pt x="1989615" y="5028"/>
                </a:cubicBezTo>
                <a:cubicBezTo>
                  <a:pt x="1852812" y="-16900"/>
                  <a:pt x="1283716" y="5151"/>
                  <a:pt x="1126135" y="0"/>
                </a:cubicBezTo>
                <a:close/>
              </a:path>
            </a:pathLst>
          </a:custGeom>
          <a:noFill/>
          <a:ln>
            <a:prstDash val="lgDash"/>
            <a:extLst>
              <a:ext uri="{C807C97D-BFC1-408E-A445-0C87EB9F89A2}">
                <ask:lineSketchStyleProps xmlns:ask="http://schemas.microsoft.com/office/drawing/2018/sketchyshapes" sd="653306104">
                  <a:custGeom>
                    <a:avLst/>
                    <a:gdLst>
                      <a:gd name="connsiteX0" fmla="*/ 972865 w 2369843"/>
                      <a:gd name="connsiteY0" fmla="*/ 0 h 2759242"/>
                      <a:gd name="connsiteX1" fmla="*/ 908696 w 2369843"/>
                      <a:gd name="connsiteY1" fmla="*/ 16042 h 2759242"/>
                      <a:gd name="connsiteX2" fmla="*/ 467538 w 2369843"/>
                      <a:gd name="connsiteY2" fmla="*/ 304800 h 2759242"/>
                      <a:gd name="connsiteX3" fmla="*/ 387328 w 2369843"/>
                      <a:gd name="connsiteY3" fmla="*/ 393032 h 2759242"/>
                      <a:gd name="connsiteX4" fmla="*/ 154717 w 2369843"/>
                      <a:gd name="connsiteY4" fmla="*/ 834189 h 2759242"/>
                      <a:gd name="connsiteX5" fmla="*/ 74507 w 2369843"/>
                      <a:gd name="connsiteY5" fmla="*/ 1018674 h 2759242"/>
                      <a:gd name="connsiteX6" fmla="*/ 18360 w 2369843"/>
                      <a:gd name="connsiteY6" fmla="*/ 1243263 h 2759242"/>
                      <a:gd name="connsiteX7" fmla="*/ 26381 w 2369843"/>
                      <a:gd name="connsiteY7" fmla="*/ 1828800 h 2759242"/>
                      <a:gd name="connsiteX8" fmla="*/ 82528 w 2369843"/>
                      <a:gd name="connsiteY8" fmla="*/ 2029326 h 2759242"/>
                      <a:gd name="connsiteX9" fmla="*/ 194823 w 2369843"/>
                      <a:gd name="connsiteY9" fmla="*/ 2277979 h 2759242"/>
                      <a:gd name="connsiteX10" fmla="*/ 315138 w 2369843"/>
                      <a:gd name="connsiteY10" fmla="*/ 2446421 h 2759242"/>
                      <a:gd name="connsiteX11" fmla="*/ 515665 w 2369843"/>
                      <a:gd name="connsiteY11" fmla="*/ 2598821 h 2759242"/>
                      <a:gd name="connsiteX12" fmla="*/ 740254 w 2369843"/>
                      <a:gd name="connsiteY12" fmla="*/ 2695074 h 2759242"/>
                      <a:gd name="connsiteX13" fmla="*/ 1213496 w 2369843"/>
                      <a:gd name="connsiteY13" fmla="*/ 2759242 h 2759242"/>
                      <a:gd name="connsiteX14" fmla="*/ 1630591 w 2369843"/>
                      <a:gd name="connsiteY14" fmla="*/ 2679032 h 2759242"/>
                      <a:gd name="connsiteX15" fmla="*/ 1959454 w 2369843"/>
                      <a:gd name="connsiteY15" fmla="*/ 2454442 h 2759242"/>
                      <a:gd name="connsiteX16" fmla="*/ 2159981 w 2369843"/>
                      <a:gd name="connsiteY16" fmla="*/ 2157663 h 2759242"/>
                      <a:gd name="connsiteX17" fmla="*/ 2256233 w 2369843"/>
                      <a:gd name="connsiteY17" fmla="*/ 1981200 h 2759242"/>
                      <a:gd name="connsiteX18" fmla="*/ 2280296 w 2369843"/>
                      <a:gd name="connsiteY18" fmla="*/ 1892968 h 2759242"/>
                      <a:gd name="connsiteX19" fmla="*/ 2320402 w 2369843"/>
                      <a:gd name="connsiteY19" fmla="*/ 1788695 h 2759242"/>
                      <a:gd name="connsiteX20" fmla="*/ 2328423 w 2369843"/>
                      <a:gd name="connsiteY20" fmla="*/ 1676400 h 2759242"/>
                      <a:gd name="connsiteX21" fmla="*/ 2344465 w 2369843"/>
                      <a:gd name="connsiteY21" fmla="*/ 1580147 h 2759242"/>
                      <a:gd name="connsiteX22" fmla="*/ 2360507 w 2369843"/>
                      <a:gd name="connsiteY22" fmla="*/ 1467853 h 2759242"/>
                      <a:gd name="connsiteX23" fmla="*/ 2360507 w 2369843"/>
                      <a:gd name="connsiteY23" fmla="*/ 1034716 h 2759242"/>
                      <a:gd name="connsiteX24" fmla="*/ 2336444 w 2369843"/>
                      <a:gd name="connsiteY24" fmla="*/ 778042 h 2759242"/>
                      <a:gd name="connsiteX25" fmla="*/ 2328423 w 2369843"/>
                      <a:gd name="connsiteY25" fmla="*/ 689811 h 2759242"/>
                      <a:gd name="connsiteX26" fmla="*/ 2216128 w 2369843"/>
                      <a:gd name="connsiteY26" fmla="*/ 336884 h 2759242"/>
                      <a:gd name="connsiteX27" fmla="*/ 2159981 w 2369843"/>
                      <a:gd name="connsiteY27" fmla="*/ 264695 h 2759242"/>
                      <a:gd name="connsiteX28" fmla="*/ 1911328 w 2369843"/>
                      <a:gd name="connsiteY28" fmla="*/ 64168 h 2759242"/>
                      <a:gd name="connsiteX29" fmla="*/ 1718823 w 2369843"/>
                      <a:gd name="connsiteY29" fmla="*/ 16042 h 2759242"/>
                      <a:gd name="connsiteX30" fmla="*/ 972865 w 2369843"/>
                      <a:gd name="connsiteY30" fmla="*/ 0 h 2759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2369843" h="2759242">
                        <a:moveTo>
                          <a:pt x="972865" y="0"/>
                        </a:moveTo>
                        <a:cubicBezTo>
                          <a:pt x="837844" y="0"/>
                          <a:pt x="928844" y="7087"/>
                          <a:pt x="908696" y="16042"/>
                        </a:cubicBezTo>
                        <a:cubicBezTo>
                          <a:pt x="682627" y="116517"/>
                          <a:pt x="657978" y="134948"/>
                          <a:pt x="467538" y="304800"/>
                        </a:cubicBezTo>
                        <a:cubicBezTo>
                          <a:pt x="437875" y="331256"/>
                          <a:pt x="409599" y="360110"/>
                          <a:pt x="387328" y="393032"/>
                        </a:cubicBezTo>
                        <a:cubicBezTo>
                          <a:pt x="326490" y="482966"/>
                          <a:pt x="192085" y="755142"/>
                          <a:pt x="154717" y="834189"/>
                        </a:cubicBezTo>
                        <a:cubicBezTo>
                          <a:pt x="126059" y="894812"/>
                          <a:pt x="95712" y="955059"/>
                          <a:pt x="74507" y="1018674"/>
                        </a:cubicBezTo>
                        <a:cubicBezTo>
                          <a:pt x="50105" y="1091881"/>
                          <a:pt x="37076" y="1168400"/>
                          <a:pt x="18360" y="1243263"/>
                        </a:cubicBezTo>
                        <a:cubicBezTo>
                          <a:pt x="-726" y="1491364"/>
                          <a:pt x="-14072" y="1537541"/>
                          <a:pt x="26381" y="1828800"/>
                        </a:cubicBezTo>
                        <a:cubicBezTo>
                          <a:pt x="35930" y="1897553"/>
                          <a:pt x="61549" y="1963160"/>
                          <a:pt x="82528" y="2029326"/>
                        </a:cubicBezTo>
                        <a:cubicBezTo>
                          <a:pt x="110170" y="2116505"/>
                          <a:pt x="145410" y="2200636"/>
                          <a:pt x="194823" y="2277979"/>
                        </a:cubicBezTo>
                        <a:cubicBezTo>
                          <a:pt x="231972" y="2336125"/>
                          <a:pt x="266348" y="2397631"/>
                          <a:pt x="315138" y="2446421"/>
                        </a:cubicBezTo>
                        <a:cubicBezTo>
                          <a:pt x="374504" y="2505787"/>
                          <a:pt x="443196" y="2556433"/>
                          <a:pt x="515665" y="2598821"/>
                        </a:cubicBezTo>
                        <a:cubicBezTo>
                          <a:pt x="585970" y="2639943"/>
                          <a:pt x="662853" y="2669718"/>
                          <a:pt x="740254" y="2695074"/>
                        </a:cubicBezTo>
                        <a:cubicBezTo>
                          <a:pt x="954762" y="2765344"/>
                          <a:pt x="994343" y="2751685"/>
                          <a:pt x="1213496" y="2759242"/>
                        </a:cubicBezTo>
                        <a:cubicBezTo>
                          <a:pt x="1278817" y="2749193"/>
                          <a:pt x="1570317" y="2709619"/>
                          <a:pt x="1630591" y="2679032"/>
                        </a:cubicBezTo>
                        <a:cubicBezTo>
                          <a:pt x="1748966" y="2618961"/>
                          <a:pt x="1959454" y="2454442"/>
                          <a:pt x="1959454" y="2454442"/>
                        </a:cubicBezTo>
                        <a:cubicBezTo>
                          <a:pt x="2026296" y="2355516"/>
                          <a:pt x="2102810" y="2262476"/>
                          <a:pt x="2159981" y="2157663"/>
                        </a:cubicBezTo>
                        <a:lnTo>
                          <a:pt x="2256233" y="1981200"/>
                        </a:lnTo>
                        <a:cubicBezTo>
                          <a:pt x="2264254" y="1951789"/>
                          <a:pt x="2270656" y="1921888"/>
                          <a:pt x="2280296" y="1892968"/>
                        </a:cubicBezTo>
                        <a:cubicBezTo>
                          <a:pt x="2292072" y="1857639"/>
                          <a:pt x="2312323" y="1825048"/>
                          <a:pt x="2320402" y="1788695"/>
                        </a:cubicBezTo>
                        <a:cubicBezTo>
                          <a:pt x="2328543" y="1752062"/>
                          <a:pt x="2324122" y="1713680"/>
                          <a:pt x="2328423" y="1676400"/>
                        </a:cubicBezTo>
                        <a:cubicBezTo>
                          <a:pt x="2332151" y="1644087"/>
                          <a:pt x="2339519" y="1612296"/>
                          <a:pt x="2344465" y="1580147"/>
                        </a:cubicBezTo>
                        <a:cubicBezTo>
                          <a:pt x="2350214" y="1542775"/>
                          <a:pt x="2355160" y="1505284"/>
                          <a:pt x="2360507" y="1467853"/>
                        </a:cubicBezTo>
                        <a:cubicBezTo>
                          <a:pt x="2373881" y="1253871"/>
                          <a:pt x="2371996" y="1344918"/>
                          <a:pt x="2360507" y="1034716"/>
                        </a:cubicBezTo>
                        <a:cubicBezTo>
                          <a:pt x="2355162" y="890406"/>
                          <a:pt x="2352406" y="921698"/>
                          <a:pt x="2336444" y="778042"/>
                        </a:cubicBezTo>
                        <a:cubicBezTo>
                          <a:pt x="2333183" y="748691"/>
                          <a:pt x="2334473" y="718716"/>
                          <a:pt x="2328423" y="689811"/>
                        </a:cubicBezTo>
                        <a:cubicBezTo>
                          <a:pt x="2299660" y="552390"/>
                          <a:pt x="2285754" y="449357"/>
                          <a:pt x="2216128" y="336884"/>
                        </a:cubicBezTo>
                        <a:cubicBezTo>
                          <a:pt x="2200082" y="310964"/>
                          <a:pt x="2181155" y="286626"/>
                          <a:pt x="2159981" y="264695"/>
                        </a:cubicBezTo>
                        <a:cubicBezTo>
                          <a:pt x="2088267" y="190420"/>
                          <a:pt x="2015252" y="97791"/>
                          <a:pt x="1911328" y="64168"/>
                        </a:cubicBezTo>
                        <a:cubicBezTo>
                          <a:pt x="1848396" y="43808"/>
                          <a:pt x="1784473" y="24104"/>
                          <a:pt x="1718823" y="16042"/>
                        </a:cubicBezTo>
                        <a:cubicBezTo>
                          <a:pt x="1615921" y="3405"/>
                          <a:pt x="1107886" y="0"/>
                          <a:pt x="972865" y="0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任意多边形: 形状 23">
            <a:extLst>
              <a:ext uri="{FF2B5EF4-FFF2-40B4-BE49-F238E27FC236}">
                <a16:creationId xmlns:a16="http://schemas.microsoft.com/office/drawing/2014/main" id="{7E8DF6BD-6497-E269-0A20-D945E9272365}"/>
              </a:ext>
            </a:extLst>
          </p:cNvPr>
          <p:cNvSpPr/>
          <p:nvPr/>
        </p:nvSpPr>
        <p:spPr>
          <a:xfrm>
            <a:off x="5096715" y="5680623"/>
            <a:ext cx="2743200" cy="864875"/>
          </a:xfrm>
          <a:custGeom>
            <a:avLst/>
            <a:gdLst>
              <a:gd name="connsiteX0" fmla="*/ 1126135 w 2743200"/>
              <a:gd name="connsiteY0" fmla="*/ 0 h 864875"/>
              <a:gd name="connsiteX1" fmla="*/ 1051856 w 2743200"/>
              <a:gd name="connsiteY1" fmla="*/ 5028 h 864875"/>
              <a:gd name="connsiteX2" fmla="*/ 541196 w 2743200"/>
              <a:gd name="connsiteY2" fmla="*/ 95538 h 864875"/>
              <a:gd name="connsiteX3" fmla="*/ 448349 w 2743200"/>
              <a:gd name="connsiteY3" fmla="*/ 123194 h 864875"/>
              <a:gd name="connsiteX4" fmla="*/ 179091 w 2743200"/>
              <a:gd name="connsiteY4" fmla="*/ 261473 h 864875"/>
              <a:gd name="connsiteX5" fmla="*/ 86245 w 2743200"/>
              <a:gd name="connsiteY5" fmla="*/ 319299 h 864875"/>
              <a:gd name="connsiteX6" fmla="*/ 21252 w 2743200"/>
              <a:gd name="connsiteY6" fmla="*/ 389696 h 864875"/>
              <a:gd name="connsiteX7" fmla="*/ 30537 w 2743200"/>
              <a:gd name="connsiteY7" fmla="*/ 573231 h 864875"/>
              <a:gd name="connsiteX8" fmla="*/ 95529 w 2743200"/>
              <a:gd name="connsiteY8" fmla="*/ 636085 h 864875"/>
              <a:gd name="connsiteX9" fmla="*/ 225516 w 2743200"/>
              <a:gd name="connsiteY9" fmla="*/ 714024 h 864875"/>
              <a:gd name="connsiteX10" fmla="*/ 364786 w 2743200"/>
              <a:gd name="connsiteY10" fmla="*/ 766822 h 864875"/>
              <a:gd name="connsiteX11" fmla="*/ 596905 w 2743200"/>
              <a:gd name="connsiteY11" fmla="*/ 814591 h 864875"/>
              <a:gd name="connsiteX12" fmla="*/ 856877 w 2743200"/>
              <a:gd name="connsiteY12" fmla="*/ 844761 h 864875"/>
              <a:gd name="connsiteX13" fmla="*/ 1404676 w 2743200"/>
              <a:gd name="connsiteY13" fmla="*/ 864875 h 864875"/>
              <a:gd name="connsiteX14" fmla="*/ 1887482 w 2743200"/>
              <a:gd name="connsiteY14" fmla="*/ 839733 h 864875"/>
              <a:gd name="connsiteX15" fmla="*/ 2268156 w 2743200"/>
              <a:gd name="connsiteY15" fmla="*/ 769336 h 864875"/>
              <a:gd name="connsiteX16" fmla="*/ 2500275 w 2743200"/>
              <a:gd name="connsiteY16" fmla="*/ 676312 h 864875"/>
              <a:gd name="connsiteX17" fmla="*/ 2611691 w 2743200"/>
              <a:gd name="connsiteY17" fmla="*/ 621000 h 864875"/>
              <a:gd name="connsiteX18" fmla="*/ 2639545 w 2743200"/>
              <a:gd name="connsiteY18" fmla="*/ 593344 h 864875"/>
              <a:gd name="connsiteX19" fmla="*/ 2685969 w 2743200"/>
              <a:gd name="connsiteY19" fmla="*/ 560660 h 864875"/>
              <a:gd name="connsiteX20" fmla="*/ 2695254 w 2743200"/>
              <a:gd name="connsiteY20" fmla="*/ 525461 h 864875"/>
              <a:gd name="connsiteX21" fmla="*/ 2713823 w 2743200"/>
              <a:gd name="connsiteY21" fmla="*/ 495291 h 864875"/>
              <a:gd name="connsiteX22" fmla="*/ 2732393 w 2743200"/>
              <a:gd name="connsiteY22" fmla="*/ 460093 h 864875"/>
              <a:gd name="connsiteX23" fmla="*/ 2732393 w 2743200"/>
              <a:gd name="connsiteY23" fmla="*/ 324328 h 864875"/>
              <a:gd name="connsiteX24" fmla="*/ 2704539 w 2743200"/>
              <a:gd name="connsiteY24" fmla="*/ 243874 h 864875"/>
              <a:gd name="connsiteX25" fmla="*/ 2695254 w 2743200"/>
              <a:gd name="connsiteY25" fmla="*/ 216218 h 864875"/>
              <a:gd name="connsiteX26" fmla="*/ 2565267 w 2743200"/>
              <a:gd name="connsiteY26" fmla="*/ 105595 h 864875"/>
              <a:gd name="connsiteX27" fmla="*/ 2500275 w 2743200"/>
              <a:gd name="connsiteY27" fmla="*/ 82967 h 864875"/>
              <a:gd name="connsiteX28" fmla="*/ 2212448 w 2743200"/>
              <a:gd name="connsiteY28" fmla="*/ 20113 h 864875"/>
              <a:gd name="connsiteX29" fmla="*/ 1989615 w 2743200"/>
              <a:gd name="connsiteY29" fmla="*/ 5028 h 864875"/>
              <a:gd name="connsiteX30" fmla="*/ 1126135 w 2743200"/>
              <a:gd name="connsiteY30" fmla="*/ 0 h 864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43200" h="864875" extrusionOk="0">
                <a:moveTo>
                  <a:pt x="1126135" y="0"/>
                </a:moveTo>
                <a:cubicBezTo>
                  <a:pt x="970823" y="1965"/>
                  <a:pt x="1071553" y="3645"/>
                  <a:pt x="1051856" y="5028"/>
                </a:cubicBezTo>
                <a:cubicBezTo>
                  <a:pt x="794112" y="34049"/>
                  <a:pt x="760753" y="45293"/>
                  <a:pt x="541196" y="95538"/>
                </a:cubicBezTo>
                <a:cubicBezTo>
                  <a:pt x="505314" y="103740"/>
                  <a:pt x="476504" y="112640"/>
                  <a:pt x="448349" y="123194"/>
                </a:cubicBezTo>
                <a:cubicBezTo>
                  <a:pt x="369797" y="149883"/>
                  <a:pt x="224263" y="231020"/>
                  <a:pt x="179091" y="261473"/>
                </a:cubicBezTo>
                <a:cubicBezTo>
                  <a:pt x="144669" y="283588"/>
                  <a:pt x="112480" y="295455"/>
                  <a:pt x="86245" y="319299"/>
                </a:cubicBezTo>
                <a:cubicBezTo>
                  <a:pt x="58008" y="343984"/>
                  <a:pt x="45794" y="369131"/>
                  <a:pt x="21252" y="389696"/>
                </a:cubicBezTo>
                <a:cubicBezTo>
                  <a:pt x="-2158" y="464117"/>
                  <a:pt x="-17861" y="481218"/>
                  <a:pt x="30537" y="573231"/>
                </a:cubicBezTo>
                <a:cubicBezTo>
                  <a:pt x="45888" y="593750"/>
                  <a:pt x="72235" y="611208"/>
                  <a:pt x="95529" y="636085"/>
                </a:cubicBezTo>
                <a:cubicBezTo>
                  <a:pt x="127481" y="662816"/>
                  <a:pt x="171285" y="693132"/>
                  <a:pt x="225516" y="714024"/>
                </a:cubicBezTo>
                <a:cubicBezTo>
                  <a:pt x="267879" y="732887"/>
                  <a:pt x="306694" y="756163"/>
                  <a:pt x="364786" y="766822"/>
                </a:cubicBezTo>
                <a:cubicBezTo>
                  <a:pt x="446968" y="781202"/>
                  <a:pt x="515145" y="808503"/>
                  <a:pt x="596905" y="814591"/>
                </a:cubicBezTo>
                <a:cubicBezTo>
                  <a:pt x="688327" y="817145"/>
                  <a:pt x="768739" y="854498"/>
                  <a:pt x="856877" y="844761"/>
                </a:cubicBezTo>
                <a:cubicBezTo>
                  <a:pt x="1102494" y="868360"/>
                  <a:pt x="1153614" y="856136"/>
                  <a:pt x="1404676" y="864875"/>
                </a:cubicBezTo>
                <a:cubicBezTo>
                  <a:pt x="1481291" y="861513"/>
                  <a:pt x="1821989" y="852100"/>
                  <a:pt x="1887482" y="839733"/>
                </a:cubicBezTo>
                <a:cubicBezTo>
                  <a:pt x="2024506" y="820904"/>
                  <a:pt x="2268156" y="769336"/>
                  <a:pt x="2268156" y="769336"/>
                </a:cubicBezTo>
                <a:cubicBezTo>
                  <a:pt x="2357692" y="733222"/>
                  <a:pt x="2434311" y="707331"/>
                  <a:pt x="2500275" y="676312"/>
                </a:cubicBezTo>
                <a:cubicBezTo>
                  <a:pt x="2534791" y="671049"/>
                  <a:pt x="2566008" y="650561"/>
                  <a:pt x="2611691" y="621000"/>
                </a:cubicBezTo>
                <a:cubicBezTo>
                  <a:pt x="2621174" y="611722"/>
                  <a:pt x="2629542" y="603115"/>
                  <a:pt x="2639545" y="593344"/>
                </a:cubicBezTo>
                <a:cubicBezTo>
                  <a:pt x="2652769" y="582646"/>
                  <a:pt x="2675829" y="573602"/>
                  <a:pt x="2685969" y="560660"/>
                </a:cubicBezTo>
                <a:cubicBezTo>
                  <a:pt x="2694271" y="550203"/>
                  <a:pt x="2690324" y="536207"/>
                  <a:pt x="2695254" y="525461"/>
                </a:cubicBezTo>
                <a:cubicBezTo>
                  <a:pt x="2698602" y="515371"/>
                  <a:pt x="2708471" y="504508"/>
                  <a:pt x="2713823" y="495291"/>
                </a:cubicBezTo>
                <a:cubicBezTo>
                  <a:pt x="2719897" y="482600"/>
                  <a:pt x="2728068" y="471435"/>
                  <a:pt x="2732393" y="460093"/>
                </a:cubicBezTo>
                <a:cubicBezTo>
                  <a:pt x="2745333" y="396786"/>
                  <a:pt x="2747812" y="418060"/>
                  <a:pt x="2732393" y="324328"/>
                </a:cubicBezTo>
                <a:cubicBezTo>
                  <a:pt x="2725949" y="279645"/>
                  <a:pt x="2722696" y="287613"/>
                  <a:pt x="2704539" y="243874"/>
                </a:cubicBezTo>
                <a:cubicBezTo>
                  <a:pt x="2700304" y="234467"/>
                  <a:pt x="2702386" y="224051"/>
                  <a:pt x="2695254" y="216218"/>
                </a:cubicBezTo>
                <a:cubicBezTo>
                  <a:pt x="2666821" y="171627"/>
                  <a:pt x="2648078" y="146057"/>
                  <a:pt x="2565267" y="105595"/>
                </a:cubicBezTo>
                <a:cubicBezTo>
                  <a:pt x="2545271" y="99304"/>
                  <a:pt x="2526711" y="93455"/>
                  <a:pt x="2500275" y="82967"/>
                </a:cubicBezTo>
                <a:cubicBezTo>
                  <a:pt x="2424367" y="56551"/>
                  <a:pt x="2332499" y="28360"/>
                  <a:pt x="2212448" y="20113"/>
                </a:cubicBezTo>
                <a:cubicBezTo>
                  <a:pt x="2138416" y="12890"/>
                  <a:pt x="2066057" y="8698"/>
                  <a:pt x="1989615" y="5028"/>
                </a:cubicBezTo>
                <a:cubicBezTo>
                  <a:pt x="1852812" y="-16900"/>
                  <a:pt x="1283716" y="5151"/>
                  <a:pt x="1126135" y="0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653306104">
                  <a:custGeom>
                    <a:avLst/>
                    <a:gdLst>
                      <a:gd name="connsiteX0" fmla="*/ 972865 w 2369843"/>
                      <a:gd name="connsiteY0" fmla="*/ 0 h 2759242"/>
                      <a:gd name="connsiteX1" fmla="*/ 908696 w 2369843"/>
                      <a:gd name="connsiteY1" fmla="*/ 16042 h 2759242"/>
                      <a:gd name="connsiteX2" fmla="*/ 467538 w 2369843"/>
                      <a:gd name="connsiteY2" fmla="*/ 304800 h 2759242"/>
                      <a:gd name="connsiteX3" fmla="*/ 387328 w 2369843"/>
                      <a:gd name="connsiteY3" fmla="*/ 393032 h 2759242"/>
                      <a:gd name="connsiteX4" fmla="*/ 154717 w 2369843"/>
                      <a:gd name="connsiteY4" fmla="*/ 834189 h 2759242"/>
                      <a:gd name="connsiteX5" fmla="*/ 74507 w 2369843"/>
                      <a:gd name="connsiteY5" fmla="*/ 1018674 h 2759242"/>
                      <a:gd name="connsiteX6" fmla="*/ 18360 w 2369843"/>
                      <a:gd name="connsiteY6" fmla="*/ 1243263 h 2759242"/>
                      <a:gd name="connsiteX7" fmla="*/ 26381 w 2369843"/>
                      <a:gd name="connsiteY7" fmla="*/ 1828800 h 2759242"/>
                      <a:gd name="connsiteX8" fmla="*/ 82528 w 2369843"/>
                      <a:gd name="connsiteY8" fmla="*/ 2029326 h 2759242"/>
                      <a:gd name="connsiteX9" fmla="*/ 194823 w 2369843"/>
                      <a:gd name="connsiteY9" fmla="*/ 2277979 h 2759242"/>
                      <a:gd name="connsiteX10" fmla="*/ 315138 w 2369843"/>
                      <a:gd name="connsiteY10" fmla="*/ 2446421 h 2759242"/>
                      <a:gd name="connsiteX11" fmla="*/ 515665 w 2369843"/>
                      <a:gd name="connsiteY11" fmla="*/ 2598821 h 2759242"/>
                      <a:gd name="connsiteX12" fmla="*/ 740254 w 2369843"/>
                      <a:gd name="connsiteY12" fmla="*/ 2695074 h 2759242"/>
                      <a:gd name="connsiteX13" fmla="*/ 1213496 w 2369843"/>
                      <a:gd name="connsiteY13" fmla="*/ 2759242 h 2759242"/>
                      <a:gd name="connsiteX14" fmla="*/ 1630591 w 2369843"/>
                      <a:gd name="connsiteY14" fmla="*/ 2679032 h 2759242"/>
                      <a:gd name="connsiteX15" fmla="*/ 1959454 w 2369843"/>
                      <a:gd name="connsiteY15" fmla="*/ 2454442 h 2759242"/>
                      <a:gd name="connsiteX16" fmla="*/ 2159981 w 2369843"/>
                      <a:gd name="connsiteY16" fmla="*/ 2157663 h 2759242"/>
                      <a:gd name="connsiteX17" fmla="*/ 2256233 w 2369843"/>
                      <a:gd name="connsiteY17" fmla="*/ 1981200 h 2759242"/>
                      <a:gd name="connsiteX18" fmla="*/ 2280296 w 2369843"/>
                      <a:gd name="connsiteY18" fmla="*/ 1892968 h 2759242"/>
                      <a:gd name="connsiteX19" fmla="*/ 2320402 w 2369843"/>
                      <a:gd name="connsiteY19" fmla="*/ 1788695 h 2759242"/>
                      <a:gd name="connsiteX20" fmla="*/ 2328423 w 2369843"/>
                      <a:gd name="connsiteY20" fmla="*/ 1676400 h 2759242"/>
                      <a:gd name="connsiteX21" fmla="*/ 2344465 w 2369843"/>
                      <a:gd name="connsiteY21" fmla="*/ 1580147 h 2759242"/>
                      <a:gd name="connsiteX22" fmla="*/ 2360507 w 2369843"/>
                      <a:gd name="connsiteY22" fmla="*/ 1467853 h 2759242"/>
                      <a:gd name="connsiteX23" fmla="*/ 2360507 w 2369843"/>
                      <a:gd name="connsiteY23" fmla="*/ 1034716 h 2759242"/>
                      <a:gd name="connsiteX24" fmla="*/ 2336444 w 2369843"/>
                      <a:gd name="connsiteY24" fmla="*/ 778042 h 2759242"/>
                      <a:gd name="connsiteX25" fmla="*/ 2328423 w 2369843"/>
                      <a:gd name="connsiteY25" fmla="*/ 689811 h 2759242"/>
                      <a:gd name="connsiteX26" fmla="*/ 2216128 w 2369843"/>
                      <a:gd name="connsiteY26" fmla="*/ 336884 h 2759242"/>
                      <a:gd name="connsiteX27" fmla="*/ 2159981 w 2369843"/>
                      <a:gd name="connsiteY27" fmla="*/ 264695 h 2759242"/>
                      <a:gd name="connsiteX28" fmla="*/ 1911328 w 2369843"/>
                      <a:gd name="connsiteY28" fmla="*/ 64168 h 2759242"/>
                      <a:gd name="connsiteX29" fmla="*/ 1718823 w 2369843"/>
                      <a:gd name="connsiteY29" fmla="*/ 16042 h 2759242"/>
                      <a:gd name="connsiteX30" fmla="*/ 972865 w 2369843"/>
                      <a:gd name="connsiteY30" fmla="*/ 0 h 2759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2369843" h="2759242">
                        <a:moveTo>
                          <a:pt x="972865" y="0"/>
                        </a:moveTo>
                        <a:cubicBezTo>
                          <a:pt x="837844" y="0"/>
                          <a:pt x="928844" y="7087"/>
                          <a:pt x="908696" y="16042"/>
                        </a:cubicBezTo>
                        <a:cubicBezTo>
                          <a:pt x="682627" y="116517"/>
                          <a:pt x="657978" y="134948"/>
                          <a:pt x="467538" y="304800"/>
                        </a:cubicBezTo>
                        <a:cubicBezTo>
                          <a:pt x="437875" y="331256"/>
                          <a:pt x="409599" y="360110"/>
                          <a:pt x="387328" y="393032"/>
                        </a:cubicBezTo>
                        <a:cubicBezTo>
                          <a:pt x="326490" y="482966"/>
                          <a:pt x="192085" y="755142"/>
                          <a:pt x="154717" y="834189"/>
                        </a:cubicBezTo>
                        <a:cubicBezTo>
                          <a:pt x="126059" y="894812"/>
                          <a:pt x="95712" y="955059"/>
                          <a:pt x="74507" y="1018674"/>
                        </a:cubicBezTo>
                        <a:cubicBezTo>
                          <a:pt x="50105" y="1091881"/>
                          <a:pt x="37076" y="1168400"/>
                          <a:pt x="18360" y="1243263"/>
                        </a:cubicBezTo>
                        <a:cubicBezTo>
                          <a:pt x="-726" y="1491364"/>
                          <a:pt x="-14072" y="1537541"/>
                          <a:pt x="26381" y="1828800"/>
                        </a:cubicBezTo>
                        <a:cubicBezTo>
                          <a:pt x="35930" y="1897553"/>
                          <a:pt x="61549" y="1963160"/>
                          <a:pt x="82528" y="2029326"/>
                        </a:cubicBezTo>
                        <a:cubicBezTo>
                          <a:pt x="110170" y="2116505"/>
                          <a:pt x="145410" y="2200636"/>
                          <a:pt x="194823" y="2277979"/>
                        </a:cubicBezTo>
                        <a:cubicBezTo>
                          <a:pt x="231972" y="2336125"/>
                          <a:pt x="266348" y="2397631"/>
                          <a:pt x="315138" y="2446421"/>
                        </a:cubicBezTo>
                        <a:cubicBezTo>
                          <a:pt x="374504" y="2505787"/>
                          <a:pt x="443196" y="2556433"/>
                          <a:pt x="515665" y="2598821"/>
                        </a:cubicBezTo>
                        <a:cubicBezTo>
                          <a:pt x="585970" y="2639943"/>
                          <a:pt x="662853" y="2669718"/>
                          <a:pt x="740254" y="2695074"/>
                        </a:cubicBezTo>
                        <a:cubicBezTo>
                          <a:pt x="954762" y="2765344"/>
                          <a:pt x="994343" y="2751685"/>
                          <a:pt x="1213496" y="2759242"/>
                        </a:cubicBezTo>
                        <a:cubicBezTo>
                          <a:pt x="1278817" y="2749193"/>
                          <a:pt x="1570317" y="2709619"/>
                          <a:pt x="1630591" y="2679032"/>
                        </a:cubicBezTo>
                        <a:cubicBezTo>
                          <a:pt x="1748966" y="2618961"/>
                          <a:pt x="1959454" y="2454442"/>
                          <a:pt x="1959454" y="2454442"/>
                        </a:cubicBezTo>
                        <a:cubicBezTo>
                          <a:pt x="2026296" y="2355516"/>
                          <a:pt x="2102810" y="2262476"/>
                          <a:pt x="2159981" y="2157663"/>
                        </a:cubicBezTo>
                        <a:lnTo>
                          <a:pt x="2256233" y="1981200"/>
                        </a:lnTo>
                        <a:cubicBezTo>
                          <a:pt x="2264254" y="1951789"/>
                          <a:pt x="2270656" y="1921888"/>
                          <a:pt x="2280296" y="1892968"/>
                        </a:cubicBezTo>
                        <a:cubicBezTo>
                          <a:pt x="2292072" y="1857639"/>
                          <a:pt x="2312323" y="1825048"/>
                          <a:pt x="2320402" y="1788695"/>
                        </a:cubicBezTo>
                        <a:cubicBezTo>
                          <a:pt x="2328543" y="1752062"/>
                          <a:pt x="2324122" y="1713680"/>
                          <a:pt x="2328423" y="1676400"/>
                        </a:cubicBezTo>
                        <a:cubicBezTo>
                          <a:pt x="2332151" y="1644087"/>
                          <a:pt x="2339519" y="1612296"/>
                          <a:pt x="2344465" y="1580147"/>
                        </a:cubicBezTo>
                        <a:cubicBezTo>
                          <a:pt x="2350214" y="1542775"/>
                          <a:pt x="2355160" y="1505284"/>
                          <a:pt x="2360507" y="1467853"/>
                        </a:cubicBezTo>
                        <a:cubicBezTo>
                          <a:pt x="2373881" y="1253871"/>
                          <a:pt x="2371996" y="1344918"/>
                          <a:pt x="2360507" y="1034716"/>
                        </a:cubicBezTo>
                        <a:cubicBezTo>
                          <a:pt x="2355162" y="890406"/>
                          <a:pt x="2352406" y="921698"/>
                          <a:pt x="2336444" y="778042"/>
                        </a:cubicBezTo>
                        <a:cubicBezTo>
                          <a:pt x="2333183" y="748691"/>
                          <a:pt x="2334473" y="718716"/>
                          <a:pt x="2328423" y="689811"/>
                        </a:cubicBezTo>
                        <a:cubicBezTo>
                          <a:pt x="2299660" y="552390"/>
                          <a:pt x="2285754" y="449357"/>
                          <a:pt x="2216128" y="336884"/>
                        </a:cubicBezTo>
                        <a:cubicBezTo>
                          <a:pt x="2200082" y="310964"/>
                          <a:pt x="2181155" y="286626"/>
                          <a:pt x="2159981" y="264695"/>
                        </a:cubicBezTo>
                        <a:cubicBezTo>
                          <a:pt x="2088267" y="190420"/>
                          <a:pt x="2015252" y="97791"/>
                          <a:pt x="1911328" y="64168"/>
                        </a:cubicBezTo>
                        <a:cubicBezTo>
                          <a:pt x="1848396" y="43808"/>
                          <a:pt x="1784473" y="24104"/>
                          <a:pt x="1718823" y="16042"/>
                        </a:cubicBezTo>
                        <a:cubicBezTo>
                          <a:pt x="1615921" y="3405"/>
                          <a:pt x="1107886" y="0"/>
                          <a:pt x="972865" y="0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文本框 24">
            <a:extLst>
              <a:ext uri="{FF2B5EF4-FFF2-40B4-BE49-F238E27FC236}">
                <a16:creationId xmlns:a16="http://schemas.microsoft.com/office/drawing/2014/main" id="{20B22E9F-97A8-602D-428C-EF47A485AC2A}"/>
              </a:ext>
            </a:extLst>
          </p:cNvPr>
          <p:cNvSpPr txBox="1"/>
          <p:nvPr/>
        </p:nvSpPr>
        <p:spPr>
          <a:xfrm>
            <a:off x="7902646" y="5094559"/>
            <a:ext cx="949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Slice 1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BE467C7E-828A-8930-545E-14B74AC3F752}"/>
              </a:ext>
            </a:extLst>
          </p:cNvPr>
          <p:cNvSpPr txBox="1"/>
          <p:nvPr/>
        </p:nvSpPr>
        <p:spPr>
          <a:xfrm>
            <a:off x="7857440" y="5863668"/>
            <a:ext cx="949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itchFamily="18" charset="0"/>
                <a:cs typeface="Times New Roman" pitchFamily="18" charset="0"/>
              </a:rPr>
              <a:t>Slice 2</a:t>
            </a:r>
            <a:endParaRPr lang="zh-C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933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1F89-A462-C30A-24D7-D3C76A38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slicing</a:t>
            </a:r>
            <a:br>
              <a:rPr lang="en-GB" dirty="0"/>
            </a:br>
            <a:endParaRPr lang="en-GB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B8625680-3316-9005-BD80-524A26C16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545" y="4025531"/>
            <a:ext cx="1150937" cy="287337"/>
          </a:xfrm>
          <a:prstGeom prst="rightArrow">
            <a:avLst>
              <a:gd name="adj1" fmla="val 50000"/>
              <a:gd name="adj2" fmla="val 5006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4" name="矩形 11">
            <a:extLst>
              <a:ext uri="{FF2B5EF4-FFF2-40B4-BE49-F238E27FC236}">
                <a16:creationId xmlns:a16="http://schemas.microsoft.com/office/drawing/2014/main" id="{6BEFA2F3-B856-358A-9189-036249907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021" y="3897737"/>
            <a:ext cx="30511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Objective function </a:t>
            </a:r>
          </a:p>
          <a:p>
            <a:r>
              <a: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endParaRPr lang="zh-CN" altLang="en-US" sz="24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右箭头 13">
            <a:extLst>
              <a:ext uri="{FF2B5EF4-FFF2-40B4-BE49-F238E27FC236}">
                <a16:creationId xmlns:a16="http://schemas.microsoft.com/office/drawing/2014/main" id="{B13A664E-564E-539F-C855-654D4EE62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000" y="5186219"/>
            <a:ext cx="1152525" cy="288925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2AED68E4-5CB2-C0D8-9C60-E5CA253A7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271" y="5099848"/>
            <a:ext cx="246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Design variables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9899DBA9-A164-0877-55B9-8BDF58AA8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00" y="1778900"/>
            <a:ext cx="8763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How to formulate the problem into an optimization problem?</a:t>
            </a:r>
          </a:p>
        </p:txBody>
      </p:sp>
      <p:sp>
        <p:nvSpPr>
          <p:cNvPr id="8" name="右箭头 2">
            <a:extLst>
              <a:ext uri="{FF2B5EF4-FFF2-40B4-BE49-F238E27FC236}">
                <a16:creationId xmlns:a16="http://schemas.microsoft.com/office/drawing/2014/main" id="{4D5071B4-C8E0-EFFF-31DB-D5D40BAD7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544" y="4646135"/>
            <a:ext cx="1150937" cy="287337"/>
          </a:xfrm>
          <a:prstGeom prst="rightArrow">
            <a:avLst>
              <a:gd name="adj1" fmla="val 50000"/>
              <a:gd name="adj2" fmla="val 5006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4C39FEF2-13ED-6ECE-CCE8-843966308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021" y="4560228"/>
            <a:ext cx="30511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Constraints</a:t>
            </a:r>
          </a:p>
          <a:p>
            <a:r>
              <a: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endParaRPr lang="zh-CN" altLang="en-US" sz="24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CD5F489B-BED4-03DB-2004-B8C313E4B2CC}"/>
                  </a:ext>
                </a:extLst>
              </p:cNvPr>
              <p:cNvSpPr txBox="1"/>
              <p:nvPr/>
            </p:nvSpPr>
            <p:spPr>
              <a:xfrm>
                <a:off x="1553854" y="3930925"/>
                <a:ext cx="3073400" cy="21971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𝛃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𝛃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)≥1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𝑏𝑝𝑠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𝛃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)≥5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𝑏𝑝𝑠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𝛃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CD5F489B-BED4-03DB-2004-B8C313E4B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854" y="3930925"/>
                <a:ext cx="3073400" cy="2197100"/>
              </a:xfrm>
              <a:prstGeom prst="rect">
                <a:avLst/>
              </a:prstGeom>
              <a:blipFill>
                <a:blip r:embed="rId2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5">
            <a:extLst>
              <a:ext uri="{FF2B5EF4-FFF2-40B4-BE49-F238E27FC236}">
                <a16:creationId xmlns:a16="http://schemas.microsoft.com/office/drawing/2014/main" id="{65BF78A0-640B-5A91-3BA4-1BB522010FE1}"/>
              </a:ext>
            </a:extLst>
          </p:cNvPr>
          <p:cNvSpPr/>
          <p:nvPr/>
        </p:nvSpPr>
        <p:spPr>
          <a:xfrm>
            <a:off x="752475" y="2752725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Constrained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117024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8" grpId="0" animBg="1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5A0D8794-7AAC-4201-8342-5952D400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7E8C05-165F-411C-A518-AA21F4ADD0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E0F8CF-3799-4DF9-B486-35019DA33C8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1848</TotalTime>
  <Words>315</Words>
  <Application>Microsoft Office PowerPoint</Application>
  <PresentationFormat>Widescreen</PresentationFormat>
  <Paragraphs>89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宋体</vt:lpstr>
      <vt:lpstr>Arial</vt:lpstr>
      <vt:lpstr>Calibri</vt:lpstr>
      <vt:lpstr>Cambria Math</vt:lpstr>
      <vt:lpstr>Tahoma</vt:lpstr>
      <vt:lpstr>Times New Roman</vt:lpstr>
      <vt:lpstr>Wingdings</vt:lpstr>
      <vt:lpstr>Office Theme</vt:lpstr>
      <vt:lpstr>Engineering Case Studies (4)</vt:lpstr>
      <vt:lpstr>Network slicing</vt:lpstr>
      <vt:lpstr>Network slicing </vt:lpstr>
      <vt:lpstr>Network slicing </vt:lpstr>
      <vt:lpstr>Network slicing </vt:lpstr>
      <vt:lpstr>Network slicing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63</cp:revision>
  <dcterms:created xsi:type="dcterms:W3CDTF">2021-01-06T14:22:07Z</dcterms:created>
  <dcterms:modified xsi:type="dcterms:W3CDTF">2024-07-01T16:54:30Z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