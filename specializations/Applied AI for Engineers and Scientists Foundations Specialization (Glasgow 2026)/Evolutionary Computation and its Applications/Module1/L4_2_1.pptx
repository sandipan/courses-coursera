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93543-882A-41A8-871C-87391D43CBA6}" v="10" dt="2024-06-25T04:28:29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40F93543-882A-41A8-871C-87391D43CBA6}"/>
    <pc:docChg chg="modSld">
      <pc:chgData name="Yushi Liu (PGR)" userId="S::2109741l@student.gla.ac.uk::0738f1d2-bd1d-4f8b-945a-b877be0bfefb" providerId="AD" clId="Web-{40F93543-882A-41A8-871C-87391D43CBA6}" dt="2024-06-25T04:28:29.048" v="9" actId="20577"/>
      <pc:docMkLst>
        <pc:docMk/>
      </pc:docMkLst>
      <pc:sldChg chg="modSp">
        <pc:chgData name="Yushi Liu (PGR)" userId="S::2109741l@student.gla.ac.uk::0738f1d2-bd1d-4f8b-945a-b877be0bfefb" providerId="AD" clId="Web-{40F93543-882A-41A8-871C-87391D43CBA6}" dt="2024-06-25T04:28:29.048" v="9" actId="20577"/>
        <pc:sldMkLst>
          <pc:docMk/>
          <pc:sldMk cId="2231632249" sldId="496"/>
        </pc:sldMkLst>
        <pc:spChg chg="mod">
          <ac:chgData name="Yushi Liu (PGR)" userId="S::2109741l@student.gla.ac.uk::0738f1d2-bd1d-4f8b-945a-b877be0bfefb" providerId="AD" clId="Web-{40F93543-882A-41A8-871C-87391D43CBA6}" dt="2024-06-25T04:28:29.048" v="9" actId="20577"/>
          <ac:spMkLst>
            <pc:docMk/>
            <pc:sldMk cId="2231632249" sldId="496"/>
            <ac:spMk id="2" creationId="{B1582041-E6FF-3870-2BC9-802A85B3D3A6}"/>
          </ac:spMkLst>
        </pc:spChg>
      </pc:sldChg>
      <pc:sldChg chg="modSp">
        <pc:chgData name="Yushi Liu (PGR)" userId="S::2109741l@student.gla.ac.uk::0738f1d2-bd1d-4f8b-945a-b877be0bfefb" providerId="AD" clId="Web-{40F93543-882A-41A8-871C-87391D43CBA6}" dt="2024-06-25T04:28:22.829" v="6" actId="20577"/>
        <pc:sldMkLst>
          <pc:docMk/>
          <pc:sldMk cId="637319038" sldId="497"/>
        </pc:sldMkLst>
        <pc:spChg chg="mod">
          <ac:chgData name="Yushi Liu (PGR)" userId="S::2109741l@student.gla.ac.uk::0738f1d2-bd1d-4f8b-945a-b877be0bfefb" providerId="AD" clId="Web-{40F93543-882A-41A8-871C-87391D43CBA6}" dt="2024-06-25T04:28:22.829" v="6" actId="20577"/>
          <ac:spMkLst>
            <pc:docMk/>
            <pc:sldMk cId="637319038" sldId="497"/>
            <ac:spMk id="2" creationId="{AB3F5FC8-CBB1-C0CD-94EF-EED5A9E3F5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01/07/2024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Objectives and Constraints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Constrained optimization</a:t>
            </a:r>
            <a:endParaRPr lang="en-US" sz="2800" b="1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16D35FAD-9BB1-AB00-B6A6-0F5BE8C8A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78" y="1679376"/>
            <a:ext cx="54484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Objective vs. Constraint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F57B9D-D32B-F1E2-4E6D-EDC79B728757}"/>
              </a:ext>
            </a:extLst>
          </p:cNvPr>
          <p:cNvGrpSpPr/>
          <p:nvPr/>
        </p:nvGrpSpPr>
        <p:grpSpPr>
          <a:xfrm>
            <a:off x="1453734" y="3429000"/>
            <a:ext cx="5029199" cy="3160014"/>
            <a:chOff x="832555" y="3489691"/>
            <a:chExt cx="4342695" cy="2603131"/>
          </a:xfrm>
        </p:grpSpPr>
        <p:grpSp>
          <p:nvGrpSpPr>
            <p:cNvPr id="37" name="组合 39">
              <a:extLst>
                <a:ext uri="{FF2B5EF4-FFF2-40B4-BE49-F238E27FC236}">
                  <a16:creationId xmlns:a16="http://schemas.microsoft.com/office/drawing/2014/main" id="{08329568-15F7-0249-9069-2910730E20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9950" y="3843336"/>
              <a:ext cx="4305300" cy="2249486"/>
              <a:chOff x="870063" y="3842614"/>
              <a:chExt cx="4305815" cy="2250682"/>
            </a:xfrm>
          </p:grpSpPr>
          <p:sp>
            <p:nvSpPr>
              <p:cNvPr id="40" name="任意多边形 34">
                <a:extLst>
                  <a:ext uri="{FF2B5EF4-FFF2-40B4-BE49-F238E27FC236}">
                    <a16:creationId xmlns:a16="http://schemas.microsoft.com/office/drawing/2014/main" id="{70612537-FA85-846D-5ADA-6438E1910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063" y="3921876"/>
                <a:ext cx="2598057" cy="1466345"/>
              </a:xfrm>
              <a:custGeom>
                <a:avLst/>
                <a:gdLst>
                  <a:gd name="T0" fmla="*/ 0 w 2598057"/>
                  <a:gd name="T1" fmla="*/ 1372002 h 1466345"/>
                  <a:gd name="T2" fmla="*/ 674914 w 2598057"/>
                  <a:gd name="T3" fmla="*/ 733373 h 1466345"/>
                  <a:gd name="T4" fmla="*/ 1168400 w 2598057"/>
                  <a:gd name="T5" fmla="*/ 402 h 1466345"/>
                  <a:gd name="T6" fmla="*/ 1676400 w 2598057"/>
                  <a:gd name="T7" fmla="*/ 834973 h 1466345"/>
                  <a:gd name="T8" fmla="*/ 2598057 w 2598057"/>
                  <a:gd name="T9" fmla="*/ 1466345 h 14663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98057" h="1466345">
                    <a:moveTo>
                      <a:pt x="0" y="1372002"/>
                    </a:moveTo>
                    <a:cubicBezTo>
                      <a:pt x="240090" y="1166987"/>
                      <a:pt x="480181" y="961973"/>
                      <a:pt x="674914" y="733373"/>
                    </a:cubicBezTo>
                    <a:cubicBezTo>
                      <a:pt x="869647" y="504773"/>
                      <a:pt x="1001486" y="-16531"/>
                      <a:pt x="1168400" y="402"/>
                    </a:cubicBezTo>
                    <a:cubicBezTo>
                      <a:pt x="1335314" y="17335"/>
                      <a:pt x="1438124" y="590649"/>
                      <a:pt x="1676400" y="834973"/>
                    </a:cubicBezTo>
                    <a:cubicBezTo>
                      <a:pt x="1914676" y="1079297"/>
                      <a:pt x="2452914" y="1362326"/>
                      <a:pt x="2598057" y="1466345"/>
                    </a:cubicBezTo>
                  </a:path>
                </a:pathLst>
              </a:custGeom>
              <a:solidFill>
                <a:srgbClr val="4472C4"/>
              </a:solidFill>
              <a:ln w="9525" cap="flat" cmpd="sng" algn="ctr">
                <a:solidFill>
                  <a:sysClr val="windowText" lastClr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TextBox 13">
                <a:extLst>
                  <a:ext uri="{FF2B5EF4-FFF2-40B4-BE49-F238E27FC236}">
                    <a16:creationId xmlns:a16="http://schemas.microsoft.com/office/drawing/2014/main" id="{5E8C0606-3E14-8A8E-346D-79168F5675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0916" y="4512337"/>
                <a:ext cx="1181100" cy="369332"/>
              </a:xfrm>
              <a:prstGeom prst="rect">
                <a:avLst/>
              </a:prstGeom>
              <a:solidFill>
                <a:srgbClr val="E7E6E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g(x)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宋体" pitchFamily="2" charset="-122"/>
                    <a:cs typeface="+mn-cs"/>
                  </a:rPr>
                  <a:t>≥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宋体" pitchFamily="2" charset="-122"/>
                    <a:cs typeface="+mn-cs"/>
                  </a:rPr>
                  <a:t>0</a:t>
                </a:r>
                <a:endPara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42" name="直接箭头连接符 6">
                <a:extLst>
                  <a:ext uri="{FF2B5EF4-FFF2-40B4-BE49-F238E27FC236}">
                    <a16:creationId xmlns:a16="http://schemas.microsoft.com/office/drawing/2014/main" id="{6AAEDFAB-DE4A-84B6-9248-B4723E82DD2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554276" y="3920272"/>
                <a:ext cx="2952179" cy="2233"/>
              </a:xfrm>
              <a:prstGeom prst="straightConnector1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直接箭头连接符 9">
                <a:extLst>
                  <a:ext uri="{FF2B5EF4-FFF2-40B4-BE49-F238E27FC236}">
                    <a16:creationId xmlns:a16="http://schemas.microsoft.com/office/drawing/2014/main" id="{89E964F2-1238-507A-8E0F-2A7CFCFAEB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544131" y="3920272"/>
                <a:ext cx="10146" cy="2173024"/>
              </a:xfrm>
              <a:prstGeom prst="straightConnector1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4" name="文本框 11">
                <a:extLst>
                  <a:ext uri="{FF2B5EF4-FFF2-40B4-BE49-F238E27FC236}">
                    <a16:creationId xmlns:a16="http://schemas.microsoft.com/office/drawing/2014/main" id="{AA8E9F88-9863-D679-F9CD-A8EFC78E46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4193" y="3842614"/>
                <a:ext cx="30008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45" name="直接连接符 13">
                <a:extLst>
                  <a:ext uri="{FF2B5EF4-FFF2-40B4-BE49-F238E27FC236}">
                    <a16:creationId xmlns:a16="http://schemas.microsoft.com/office/drawing/2014/main" id="{F7AF9DDE-6BD1-2C45-D2F6-AA7B9A6D11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86175" y="3920272"/>
                <a:ext cx="0" cy="0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直接连接符 15">
                <a:extLst>
                  <a:ext uri="{FF2B5EF4-FFF2-40B4-BE49-F238E27FC236}">
                    <a16:creationId xmlns:a16="http://schemas.microsoft.com/office/drawing/2014/main" id="{1196ED3F-F35A-29DF-E641-301CDA05D47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058183" y="3848264"/>
                <a:ext cx="0" cy="72008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直接连接符 28">
                <a:extLst>
                  <a:ext uri="{FF2B5EF4-FFF2-40B4-BE49-F238E27FC236}">
                    <a16:creationId xmlns:a16="http://schemas.microsoft.com/office/drawing/2014/main" id="{EF1DA63B-7716-FC72-448E-470578E9BB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562239" y="3848264"/>
                <a:ext cx="0" cy="72008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直接连接符 20">
                <a:extLst>
                  <a:ext uri="{FF2B5EF4-FFF2-40B4-BE49-F238E27FC236}">
                    <a16:creationId xmlns:a16="http://schemas.microsoft.com/office/drawing/2014/main" id="{04F927C1-0670-8283-9D6B-1D840B33404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39108" y="3920272"/>
                <a:ext cx="7107" cy="1677378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直接连接符 23">
                <a:extLst>
                  <a:ext uri="{FF2B5EF4-FFF2-40B4-BE49-F238E27FC236}">
                    <a16:creationId xmlns:a16="http://schemas.microsoft.com/office/drawing/2014/main" id="{F5725E5E-7ABA-7E1F-F6DD-9B270868B8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46091" y="5179177"/>
                <a:ext cx="498388" cy="468645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直接连接符 38">
                <a:extLst>
                  <a:ext uri="{FF2B5EF4-FFF2-40B4-BE49-F238E27FC236}">
                    <a16:creationId xmlns:a16="http://schemas.microsoft.com/office/drawing/2014/main" id="{F7BE4C41-E817-3C72-82F9-5AD2E823E7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46091" y="4844510"/>
                <a:ext cx="895631" cy="803312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直接连接符 40">
                <a:extLst>
                  <a:ext uri="{FF2B5EF4-FFF2-40B4-BE49-F238E27FC236}">
                    <a16:creationId xmlns:a16="http://schemas.microsoft.com/office/drawing/2014/main" id="{6088B0D8-5EEA-3B4A-77CA-E93379EB401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46091" y="4453854"/>
                <a:ext cx="1304917" cy="1193968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直接连接符 42">
                <a:extLst>
                  <a:ext uri="{FF2B5EF4-FFF2-40B4-BE49-F238E27FC236}">
                    <a16:creationId xmlns:a16="http://schemas.microsoft.com/office/drawing/2014/main" id="{0B251815-BFFD-FAF1-D0DB-41307E260C9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46091" y="4136296"/>
                <a:ext cx="1732690" cy="1471023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直接连接符 47">
                <a:extLst>
                  <a:ext uri="{FF2B5EF4-FFF2-40B4-BE49-F238E27FC236}">
                    <a16:creationId xmlns:a16="http://schemas.microsoft.com/office/drawing/2014/main" id="{6D9D9468-A012-6978-D986-8FBABF750F3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595285" y="3937687"/>
                <a:ext cx="1973012" cy="1725920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直接连接符 49">
                <a:extLst>
                  <a:ext uri="{FF2B5EF4-FFF2-40B4-BE49-F238E27FC236}">
                    <a16:creationId xmlns:a16="http://schemas.microsoft.com/office/drawing/2014/main" id="{550392E1-E3F3-AC79-5111-8C057960CF0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41192" y="3940763"/>
                <a:ext cx="2034686" cy="1662636"/>
              </a:xfrm>
              <a:prstGeom prst="line">
                <a:avLst/>
              </a:prstGeom>
              <a:noFill/>
              <a:ln w="9525" algn="ctr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8" name="矩形 43">
              <a:extLst>
                <a:ext uri="{FF2B5EF4-FFF2-40B4-BE49-F238E27FC236}">
                  <a16:creationId xmlns:a16="http://schemas.microsoft.com/office/drawing/2014/main" id="{511D2B2C-D6C5-B5E8-B886-CB8664887E48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918518" y="3489691"/>
              <a:ext cx="439544" cy="461665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 </a:t>
              </a:r>
            </a:p>
          </p:txBody>
        </p:sp>
        <p:sp>
          <p:nvSpPr>
            <p:cNvPr id="39" name="矩形 44">
              <a:extLst>
                <a:ext uri="{FF2B5EF4-FFF2-40B4-BE49-F238E27FC236}">
                  <a16:creationId xmlns:a16="http://schemas.microsoft.com/office/drawing/2014/main" id="{2DFA6266-E54D-C8E2-3497-E00B52674853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32555" y="5505513"/>
              <a:ext cx="869149" cy="461665"/>
            </a:xfrm>
            <a:prstGeom prst="rect">
              <a:avLst/>
            </a:prstGeom>
            <a:blipFill>
              <a:blip r:embed="rId4"/>
              <a:stretch>
                <a:fillRect l="-6338" b="-18421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rPr>
                <a:t> 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1F7840B-EDD8-7435-9246-669FEE5E5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20052"/>
            <a:ext cx="1519968" cy="461665"/>
          </a:xfrm>
          <a:prstGeom prst="rect">
            <a:avLst/>
          </a:prstGeom>
          <a:solidFill>
            <a:srgbClr val="E7E6E6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constraint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9211D9-CACE-4BD2-0481-51D2D5653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491" y="1987233"/>
            <a:ext cx="2632452" cy="461665"/>
          </a:xfrm>
          <a:prstGeom prst="rect">
            <a:avLst/>
          </a:prstGeom>
          <a:solidFill>
            <a:srgbClr val="E7E6E6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function</a:t>
            </a: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4" name="Line 4">
            <a:extLst>
              <a:ext uri="{FF2B5EF4-FFF2-40B4-BE49-F238E27FC236}">
                <a16:creationId xmlns:a16="http://schemas.microsoft.com/office/drawing/2014/main" id="{E274FC76-E678-3AE6-16D8-12DC3A913E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1261" y="2109746"/>
            <a:ext cx="1814027" cy="2722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35" name="Line 4">
            <a:extLst>
              <a:ext uri="{FF2B5EF4-FFF2-40B4-BE49-F238E27FC236}">
                <a16:creationId xmlns:a16="http://schemas.microsoft.com/office/drawing/2014/main" id="{A59E05FD-54E1-9BAC-7CD2-CCED9BD2A7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45011" y="2959602"/>
            <a:ext cx="1174171" cy="223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等线" panose="02010600030101010101" pitchFamily="2" charset="-122"/>
              <a:cs typeface="Times New Roman" pitchFamily="18" charset="0"/>
            </a:endParaRPr>
          </a:p>
        </p:txBody>
      </p:sp>
      <p:sp>
        <p:nvSpPr>
          <p:cNvPr id="36" name="矩形 4">
            <a:extLst>
              <a:ext uri="{FF2B5EF4-FFF2-40B4-BE49-F238E27FC236}">
                <a16:creationId xmlns:a16="http://schemas.microsoft.com/office/drawing/2014/main" id="{344D7CE9-254F-0C9B-FC66-1F050E7EE8CD}"/>
              </a:ext>
            </a:extLst>
          </p:cNvPr>
          <p:cNvSpPr/>
          <p:nvPr/>
        </p:nvSpPr>
        <p:spPr>
          <a:xfrm>
            <a:off x="7033748" y="3780139"/>
            <a:ext cx="4910160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Feasible space: the feasible space refers to the set of all possible solutions that satisfy a given set of constraints.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fontAlgn="base"/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Feasible solution: a solution in the feasible space.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对象 2">
                <a:extLst>
                  <a:ext uri="{FF2B5EF4-FFF2-40B4-BE49-F238E27FC236}">
                    <a16:creationId xmlns:a16="http://schemas.microsoft.com/office/drawing/2014/main" id="{36BABF00-6DD7-30BB-17A1-8A2C21FBF29B}"/>
                  </a:ext>
                </a:extLst>
              </p:cNvPr>
              <p:cNvSpPr txBox="1"/>
              <p:nvPr/>
            </p:nvSpPr>
            <p:spPr bwMode="auto">
              <a:xfrm>
                <a:off x="806740" y="2283546"/>
                <a:ext cx="2976563" cy="1017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func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)=−(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p>
                              <m:sSup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∈[−3, 3]</m:t>
                            </m:r>
                            <m:r>
                              <a:rPr lang="en-GB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func>
                              <m:func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fNam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−1.5≥0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对象 2">
                <a:extLst>
                  <a:ext uri="{FF2B5EF4-FFF2-40B4-BE49-F238E27FC236}">
                    <a16:creationId xmlns:a16="http://schemas.microsoft.com/office/drawing/2014/main" id="{36BABF00-6DD7-30BB-17A1-8A2C21FBF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740" y="2283546"/>
                <a:ext cx="2976563" cy="1017588"/>
              </a:xfrm>
              <a:prstGeom prst="rect">
                <a:avLst/>
              </a:prstGeom>
              <a:blipFill>
                <a:blip r:embed="rId5"/>
                <a:stretch>
                  <a:fillRect r="-527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 animBg="1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2041-E6FF-3870-2BC9-802A85B3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566011" cy="8887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Comparing solutions in constrained optimization</a:t>
            </a:r>
            <a:br>
              <a:rPr lang="en-US" altLang="zh-CN" b="1" dirty="0">
                <a:ea typeface="Calibri" panose="020F0502020204030204" pitchFamily="34" charset="0"/>
              </a:rPr>
            </a:b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C40E9C2C-F1D2-7F32-AAC3-8244FA34F2B4}"/>
              </a:ext>
            </a:extLst>
          </p:cNvPr>
          <p:cNvSpPr/>
          <p:nvPr/>
        </p:nvSpPr>
        <p:spPr>
          <a:xfrm>
            <a:off x="1640540" y="1669367"/>
            <a:ext cx="89109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Which solution is the best, and how to compare them?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9">
                <a:extLst>
                  <a:ext uri="{FF2B5EF4-FFF2-40B4-BE49-F238E27FC236}">
                    <a16:creationId xmlns:a16="http://schemas.microsoft.com/office/drawing/2014/main" id="{B0572CCB-3032-84E8-DDC4-B74552560CB9}"/>
                  </a:ext>
                </a:extLst>
              </p:cNvPr>
              <p:cNvSpPr txBox="1"/>
              <p:nvPr/>
            </p:nvSpPr>
            <p:spPr>
              <a:xfrm>
                <a:off x="4744243" y="2385109"/>
                <a:ext cx="2703512" cy="9239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func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)=−(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p>
                              <m:sSup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func>
                              <m:func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fNam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−1.5≥0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对象 9">
                <a:extLst>
                  <a:ext uri="{FF2B5EF4-FFF2-40B4-BE49-F238E27FC236}">
                    <a16:creationId xmlns:a16="http://schemas.microsoft.com/office/drawing/2014/main" id="{B0572CCB-3032-84E8-DDC4-B74552560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243" y="2385109"/>
                <a:ext cx="2703512" cy="923925"/>
              </a:xfrm>
              <a:prstGeom prst="rect">
                <a:avLst/>
              </a:prstGeom>
              <a:blipFill>
                <a:blip r:embed="rId2"/>
                <a:stretch>
                  <a:fillRect r="-168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2">
            <a:extLst>
              <a:ext uri="{FF2B5EF4-FFF2-40B4-BE49-F238E27FC236}">
                <a16:creationId xmlns:a16="http://schemas.microsoft.com/office/drawing/2014/main" id="{E5260628-4DA4-A08F-A3C8-EA7DFDE31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14289"/>
              </p:ext>
            </p:extLst>
          </p:nvPr>
        </p:nvGraphicFramePr>
        <p:xfrm>
          <a:off x="2318326" y="3556001"/>
          <a:ext cx="7555347" cy="2974008"/>
        </p:xfrm>
        <a:graphic>
          <a:graphicData uri="http://schemas.openxmlformats.org/drawingml/2006/table">
            <a:tbl>
              <a:tblPr/>
              <a:tblGrid>
                <a:gridCol w="174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Solution 1</a:t>
                      </a:r>
                      <a:r>
                        <a:rPr lang="en-US" altLang="zh-CN" sz="2400" b="1" i="0" dirty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=0.5</a:t>
                      </a:r>
                      <a:r>
                        <a:rPr lang="en-US" altLang="zh-CN" sz="2400" b="1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)=-0.25</a:t>
                      </a:r>
                      <a:r>
                        <a:rPr lang="en-US" altLang="zh-CN" sz="2400" b="1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)=-1</a:t>
                      </a:r>
                      <a:r>
                        <a:rPr lang="en-US" altLang="zh-CN" sz="2400" b="1" i="0" dirty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Solution 2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=1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)=0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)=-0.5 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Solution 3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=1.5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)=-0.25 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)=0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5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Solution 4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=2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)=-1 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en-US" sz="2400" b="0" i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)=0.5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effectLst/>
                          <a:ea typeface="Times New Roman"/>
                        </a:rPr>
                        <a:t>​</a:t>
                      </a:r>
                      <a:endParaRPr lang="en-US" altLang="zh-C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632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5FC8-CBB1-C0CD-94EF-EED5A9E3F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26" y="533614"/>
            <a:ext cx="7396678" cy="8887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Comparing solutions in constrained optimization</a:t>
            </a:r>
            <a:br>
              <a:rPr lang="en-US" altLang="zh-CN" b="1" dirty="0">
                <a:ea typeface="Calibri" panose="020F0502020204030204" pitchFamily="34" charset="0"/>
              </a:rPr>
            </a:b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8D54A809-1DFD-B30E-8D17-2C4E1BEEBC33}"/>
              </a:ext>
            </a:extLst>
          </p:cNvPr>
          <p:cNvSpPr/>
          <p:nvPr/>
        </p:nvSpPr>
        <p:spPr>
          <a:xfrm>
            <a:off x="448219" y="1807316"/>
            <a:ext cx="89109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Which solution is the best, and how to compare them?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9">
                <a:extLst>
                  <a:ext uri="{FF2B5EF4-FFF2-40B4-BE49-F238E27FC236}">
                    <a16:creationId xmlns:a16="http://schemas.microsoft.com/office/drawing/2014/main" id="{9070CDB6-08C7-AB30-04BA-F537268D243F}"/>
                  </a:ext>
                </a:extLst>
              </p:cNvPr>
              <p:cNvSpPr txBox="1"/>
              <p:nvPr/>
            </p:nvSpPr>
            <p:spPr>
              <a:xfrm>
                <a:off x="3394075" y="2872594"/>
                <a:ext cx="2701925" cy="9223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func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)=−(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p>
                              <m:sSup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func>
                              <m:funcPr>
                                <m:ctrlP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GB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fName>
                              <m:e>
                                <m:r>
                                  <a:rPr lang="en-GB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func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−1.5≥0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对象 9">
                <a:extLst>
                  <a:ext uri="{FF2B5EF4-FFF2-40B4-BE49-F238E27FC236}">
                    <a16:creationId xmlns:a16="http://schemas.microsoft.com/office/drawing/2014/main" id="{9070CDB6-08C7-AB30-04BA-F537268D2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75" y="2872594"/>
                <a:ext cx="2701925" cy="922338"/>
              </a:xfrm>
              <a:prstGeom prst="rect">
                <a:avLst/>
              </a:prstGeom>
              <a:blipFill>
                <a:blip r:embed="rId2"/>
                <a:stretch>
                  <a:fillRect r="-17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10">
            <a:extLst>
              <a:ext uri="{FF2B5EF4-FFF2-40B4-BE49-F238E27FC236}">
                <a16:creationId xmlns:a16="http://schemas.microsoft.com/office/drawing/2014/main" id="{CBB2B9B5-6445-0232-0FD1-BFC996140EB5}"/>
              </a:ext>
            </a:extLst>
          </p:cNvPr>
          <p:cNvSpPr/>
          <p:nvPr/>
        </p:nvSpPr>
        <p:spPr>
          <a:xfrm>
            <a:off x="605135" y="4180344"/>
            <a:ext cx="394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Two feasible solutions:</a:t>
            </a: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feasible solution vs. an infeasible solution:</a:t>
            </a: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Two infeasible solutions: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10">
            <a:extLst>
              <a:ext uri="{FF2B5EF4-FFF2-40B4-BE49-F238E27FC236}">
                <a16:creationId xmlns:a16="http://schemas.microsoft.com/office/drawing/2014/main" id="{ACDBEB3B-FB76-797A-811A-D84104E15BA5}"/>
              </a:ext>
            </a:extLst>
          </p:cNvPr>
          <p:cNvSpPr/>
          <p:nvPr/>
        </p:nvSpPr>
        <p:spPr>
          <a:xfrm>
            <a:off x="4745036" y="4180344"/>
            <a:ext cx="53920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Compare objective function value</a:t>
            </a: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feasible solution is better</a:t>
            </a: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Compare the constraint violations</a:t>
            </a:r>
          </a:p>
        </p:txBody>
      </p:sp>
    </p:spTree>
    <p:extLst>
      <p:ext uri="{BB962C8B-B14F-4D97-AF65-F5344CB8AC3E}">
        <p14:creationId xmlns:p14="http://schemas.microsoft.com/office/powerpoint/2010/main" val="63731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D90C-1CBF-B254-8144-3E0CBDC0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a typeface="Calibri" panose="020F0502020204030204" pitchFamily="34" charset="0"/>
              </a:rPr>
              <a:t>Objectives and constraints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D52B074D-08C1-C23F-4992-6C30AABD3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97" y="1821209"/>
            <a:ext cx="9210963" cy="481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400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ü"/>
              <a:defRPr sz="2000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elements of an optimization problem: decision variables, objective functions and constraints.</a:t>
            </a: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  <a:defRPr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  <a:defRPr/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 the smaller the better (considering a minimization problem, how about maximization?)</a:t>
            </a:r>
          </a:p>
          <a:p>
            <a:pPr marL="0" indent="0">
              <a:spcBef>
                <a:spcPts val="1200"/>
              </a:spcBef>
              <a:buNone/>
              <a:defRPr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  <a:defRPr/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Constraint: only feasible or infeasible: </a:t>
            </a:r>
          </a:p>
          <a:p>
            <a:pPr lvl="1">
              <a:spcBef>
                <a:spcPts val="1200"/>
              </a:spcBef>
              <a:defRPr/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feasible solutions are considered the same. </a:t>
            </a:r>
          </a:p>
          <a:p>
            <a:pPr lvl="1">
              <a:spcBef>
                <a:spcPts val="1200"/>
              </a:spcBef>
              <a:defRPr/>
            </a:pP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infeasible solutions have different quality. </a:t>
            </a:r>
          </a:p>
          <a:p>
            <a:pPr>
              <a:spcBef>
                <a:spcPts val="1200"/>
              </a:spcBef>
              <a:defRPr/>
            </a:pPr>
            <a:endParaRPr lang="en-GB" altLang="en-US" sz="21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16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D90C-1CBF-B254-8144-3E0CBDC0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Analog IC design problem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6A626228-AEF5-4DEB-3A22-A74F3E3FC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988" y="1422400"/>
            <a:ext cx="5232024" cy="222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58E3D843-7A34-E84B-D42C-EBDE607DA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832" y="3743925"/>
            <a:ext cx="6191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 variables: </a:t>
            </a:r>
            <a:r>
              <a:rPr kumimoji="0" lang="en-GB" altLang="en-US" sz="2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GB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altLang="en-US" sz="2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n-GB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of each transistor</a:t>
            </a:r>
          </a:p>
        </p:txBody>
      </p:sp>
      <p:sp>
        <p:nvSpPr>
          <p:cNvPr id="6" name="矩形 1">
            <a:extLst>
              <a:ext uri="{FF2B5EF4-FFF2-40B4-BE49-F238E27FC236}">
                <a16:creationId xmlns:a16="http://schemas.microsoft.com/office/drawing/2014/main" id="{0B1A3B22-E014-B1C3-396F-CE1F870A6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832" y="4205590"/>
            <a:ext cx="5747429" cy="269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min power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s.t.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DC gain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≥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60 dB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 bandwidth product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≥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250 MHz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Phase margin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≥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60°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Output swing &gt;4V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Slew rate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≥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2.5 V/</a:t>
            </a:r>
            <a:r>
              <a:rPr kumimoji="0" lang="el-GR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496CF-A031-D3CE-7A23-3F9ABC547C75}"/>
              </a:ext>
            </a:extLst>
          </p:cNvPr>
          <p:cNvGrpSpPr/>
          <p:nvPr/>
        </p:nvGrpSpPr>
        <p:grpSpPr>
          <a:xfrm>
            <a:off x="6925884" y="5552112"/>
            <a:ext cx="4627019" cy="906969"/>
            <a:chOff x="5002213" y="4823053"/>
            <a:chExt cx="4627019" cy="906969"/>
          </a:xfrm>
        </p:grpSpPr>
        <p:sp>
          <p:nvSpPr>
            <p:cNvPr id="8" name="TextBox 1">
              <a:extLst>
                <a:ext uri="{FF2B5EF4-FFF2-40B4-BE49-F238E27FC236}">
                  <a16:creationId xmlns:a16="http://schemas.microsoft.com/office/drawing/2014/main" id="{C8F370EF-C290-3E39-3486-16E8598EA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213" y="4823053"/>
              <a:ext cx="32400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GB" altLang="en-US" b="0" i="0" dirty="0">
                  <a:latin typeface="Arial" panose="020B0604020202020204" pitchFamily="34" charset="0"/>
                  <a:cs typeface="Arial" panose="020B0604020202020204" pitchFamily="34" charset="0"/>
                </a:rPr>
                <a:t>Analog IC sizing</a:t>
              </a:r>
            </a:p>
          </p:txBody>
        </p:sp>
        <p:sp>
          <p:nvSpPr>
            <p:cNvPr id="9" name="TextBox 1">
              <a:extLst>
                <a:ext uri="{FF2B5EF4-FFF2-40B4-BE49-F238E27FC236}">
                  <a16:creationId xmlns:a16="http://schemas.microsoft.com/office/drawing/2014/main" id="{51CA2037-E9E2-A2AE-984B-0D899BC6A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213" y="5268357"/>
              <a:ext cx="46270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GB" altLang="en-US" i="0" dirty="0">
                  <a:latin typeface="Arial" panose="020B0604020202020204" pitchFamily="34" charset="0"/>
                  <a:cs typeface="Arial" panose="020B0604020202020204" pitchFamily="34" charset="0"/>
                </a:rPr>
                <a:t>You may multiple constraints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3902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1878</TotalTime>
  <Words>325</Words>
  <Application>Microsoft Office PowerPoint</Application>
  <PresentationFormat>Widescreen</PresentationFormat>
  <Paragraphs>72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Times New Roman</vt:lpstr>
      <vt:lpstr>Wingdings</vt:lpstr>
      <vt:lpstr>Office Theme</vt:lpstr>
      <vt:lpstr>Objectives and Constraints</vt:lpstr>
      <vt:lpstr>Constrained optimization</vt:lpstr>
      <vt:lpstr>Comparing solutions in constrained optimization </vt:lpstr>
      <vt:lpstr>Comparing solutions in constrained optimization </vt:lpstr>
      <vt:lpstr>Objectives and constraints</vt:lpstr>
      <vt:lpstr>Analog IC design problem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66</cp:revision>
  <dcterms:created xsi:type="dcterms:W3CDTF">2021-01-06T14:22:07Z</dcterms:created>
  <dcterms:modified xsi:type="dcterms:W3CDTF">2024-07-01T11:34:06Z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