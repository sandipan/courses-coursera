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48390-BECE-D09D-2532-212009C75C58}" v="10" dt="2024-10-17T02:08:57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25" autoAdjust="0"/>
    <p:restoredTop sz="96327"/>
  </p:normalViewPr>
  <p:slideViewPr>
    <p:cSldViewPr snapToGrid="0">
      <p:cViewPr varScale="1">
        <p:scale>
          <a:sx n="156" d="100"/>
          <a:sy n="156" d="100"/>
        </p:scale>
        <p:origin x="920" y="10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Liu" userId="S::bo.liu@glasgow.ac.uk::9f3cef8d-a62c-47d5-a5f2-d612cd92c880" providerId="AD" clId="Web-{ABC48390-BECE-D09D-2532-212009C75C58}"/>
    <pc:docChg chg="modSld">
      <pc:chgData name="Bo Liu" userId="S::bo.liu@glasgow.ac.uk::9f3cef8d-a62c-47d5-a5f2-d612cd92c880" providerId="AD" clId="Web-{ABC48390-BECE-D09D-2532-212009C75C58}" dt="2024-10-17T02:08:57.286" v="8" actId="1076"/>
      <pc:docMkLst>
        <pc:docMk/>
      </pc:docMkLst>
      <pc:sldChg chg="addSp delSp modSp delAnim">
        <pc:chgData name="Bo Liu" userId="S::bo.liu@glasgow.ac.uk::9f3cef8d-a62c-47d5-a5f2-d612cd92c880" providerId="AD" clId="Web-{ABC48390-BECE-D09D-2532-212009C75C58}" dt="2024-10-17T02:08:57.286" v="8" actId="1076"/>
        <pc:sldMkLst>
          <pc:docMk/>
          <pc:sldMk cId="3430334606" sldId="496"/>
        </pc:sldMkLst>
        <pc:spChg chg="del mod topLvl">
          <ac:chgData name="Bo Liu" userId="S::bo.liu@glasgow.ac.uk::9f3cef8d-a62c-47d5-a5f2-d612cd92c880" providerId="AD" clId="Web-{ABC48390-BECE-D09D-2532-212009C75C58}" dt="2024-10-17T02:08:08.112" v="4"/>
          <ac:spMkLst>
            <pc:docMk/>
            <pc:sldMk cId="3430334606" sldId="496"/>
            <ac:spMk id="6" creationId="{9EA40AA0-CAA8-5BD0-3341-5A6B6FA9974C}"/>
          </ac:spMkLst>
        </pc:spChg>
        <pc:grpChg chg="del mod">
          <ac:chgData name="Bo Liu" userId="S::bo.liu@glasgow.ac.uk::9f3cef8d-a62c-47d5-a5f2-d612cd92c880" providerId="AD" clId="Web-{ABC48390-BECE-D09D-2532-212009C75C58}" dt="2024-10-17T02:08:08.112" v="4"/>
          <ac:grpSpMkLst>
            <pc:docMk/>
            <pc:sldMk cId="3430334606" sldId="496"/>
            <ac:grpSpMk id="4" creationId="{1C622704-A304-B3CE-6F04-1C1D567773C4}"/>
          </ac:grpSpMkLst>
        </pc:grpChg>
        <pc:grpChg chg="topLvl">
          <ac:chgData name="Bo Liu" userId="S::bo.liu@glasgow.ac.uk::9f3cef8d-a62c-47d5-a5f2-d612cd92c880" providerId="AD" clId="Web-{ABC48390-BECE-D09D-2532-212009C75C58}" dt="2024-10-17T02:08:08.112" v="4"/>
          <ac:grpSpMkLst>
            <pc:docMk/>
            <pc:sldMk cId="3430334606" sldId="496"/>
            <ac:grpSpMk id="5" creationId="{2CE4DC52-0CF0-EF02-C93B-F280CA9BDFFF}"/>
          </ac:grpSpMkLst>
        </pc:grpChg>
        <pc:picChg chg="add mod">
          <ac:chgData name="Bo Liu" userId="S::bo.liu@glasgow.ac.uk::9f3cef8d-a62c-47d5-a5f2-d612cd92c880" providerId="AD" clId="Web-{ABC48390-BECE-D09D-2532-212009C75C58}" dt="2024-10-17T02:08:57.286" v="8" actId="1076"/>
          <ac:picMkLst>
            <pc:docMk/>
            <pc:sldMk cId="3430334606" sldId="496"/>
            <ac:picMk id="12" creationId="{C3275C1E-655A-5229-E14A-519D114703FF}"/>
          </ac:picMkLst>
        </pc:picChg>
      </pc:sldChg>
    </pc:docChg>
  </pc:docChgLst>
  <pc:docChgLst>
    <pc:chgData name="Yushi Liu (PGR)" userId="S::2109741l@student.gla.ac.uk::0738f1d2-bd1d-4f8b-945a-b877be0bfefb" providerId="AD" clId="Web-{FAE69EE1-AEDE-4AF9-922B-9C36EC3AF833}"/>
    <pc:docChg chg="modSld">
      <pc:chgData name="Yushi Liu (PGR)" userId="S::2109741l@student.gla.ac.uk::0738f1d2-bd1d-4f8b-945a-b877be0bfefb" providerId="AD" clId="Web-{FAE69EE1-AEDE-4AF9-922B-9C36EC3AF833}" dt="2024-06-25T04:31:33.545" v="8" actId="20577"/>
      <pc:docMkLst>
        <pc:docMk/>
      </pc:docMkLst>
      <pc:sldChg chg="modSp">
        <pc:chgData name="Yushi Liu (PGR)" userId="S::2109741l@student.gla.ac.uk::0738f1d2-bd1d-4f8b-945a-b877be0bfefb" providerId="AD" clId="Web-{FAE69EE1-AEDE-4AF9-922B-9C36EC3AF833}" dt="2024-06-25T04:31:33.545" v="8" actId="20577"/>
        <pc:sldMkLst>
          <pc:docMk/>
          <pc:sldMk cId="2669192603" sldId="502"/>
        </pc:sldMkLst>
        <pc:spChg chg="mod">
          <ac:chgData name="Yushi Liu (PGR)" userId="S::2109741l@student.gla.ac.uk::0738f1d2-bd1d-4f8b-945a-b877be0bfefb" providerId="AD" clId="Web-{FAE69EE1-AEDE-4AF9-922B-9C36EC3AF833}" dt="2024-06-25T04:31:33.545" v="8" actId="20577"/>
          <ac:spMkLst>
            <pc:docMk/>
            <pc:sldMk cId="2669192603" sldId="502"/>
            <ac:spMk id="2" creationId="{02FB6A04-9992-A301-B6C6-025F504AFF3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Global and Local Optimization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Global optimal solution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10581ED-C6DF-FFA5-463E-BF4555692C49}"/>
              </a:ext>
            </a:extLst>
          </p:cNvPr>
          <p:cNvSpPr txBox="1">
            <a:spLocks noChangeArrowheads="1"/>
          </p:cNvSpPr>
          <p:nvPr/>
        </p:nvSpPr>
        <p:spPr>
          <a:xfrm>
            <a:off x="613569" y="1517239"/>
            <a:ext cx="8701087" cy="549879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dirty="0">
                <a:solidFill>
                  <a:schemeClr val="tx1"/>
                </a:solidFill>
              </a:rPr>
              <a:t>Consider the following unconstrained opt. problem:</a:t>
            </a:r>
          </a:p>
          <a:p>
            <a:endParaRPr lang="en-GB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altLang="en-US" dirty="0">
                <a:solidFill>
                  <a:schemeClr val="tx1"/>
                </a:solidFill>
              </a:rPr>
              <a:t>The search space: </a:t>
            </a:r>
            <a:r>
              <a:rPr lang="el-GR" altLang="zh-CN" dirty="0">
                <a:solidFill>
                  <a:schemeClr val="tx1"/>
                </a:solidFill>
              </a:rPr>
              <a:t>Ω</a:t>
            </a:r>
            <a:r>
              <a:rPr lang="en-GB" alt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GB" altLang="en-US" dirty="0">
                <a:solidFill>
                  <a:schemeClr val="tx1"/>
                </a:solidFill>
              </a:rPr>
              <a:t>point, individual, solution: an element in </a:t>
            </a:r>
            <a:r>
              <a:rPr lang="el-GR" altLang="zh-CN" dirty="0">
                <a:solidFill>
                  <a:schemeClr val="tx1"/>
                </a:solidFill>
              </a:rPr>
              <a:t>Ω</a:t>
            </a:r>
            <a:endParaRPr lang="en-GB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  <a:ea typeface="宋体" pitchFamily="2" charset="-122"/>
            </a:endParaRPr>
          </a:p>
          <a:p>
            <a:pPr marL="0" indent="0">
              <a:buNone/>
            </a:pPr>
            <a:r>
              <a:rPr lang="en-GB" altLang="en-US" i="1" dirty="0">
                <a:solidFill>
                  <a:schemeClr val="tx1"/>
                </a:solidFill>
              </a:rPr>
              <a:t>x*</a:t>
            </a:r>
            <a:r>
              <a:rPr lang="en-GB" altLang="en-US" dirty="0">
                <a:solidFill>
                  <a:schemeClr val="tx1"/>
                </a:solidFill>
              </a:rPr>
              <a:t>  in </a:t>
            </a:r>
            <a:r>
              <a:rPr lang="el-GR" altLang="zh-CN" dirty="0">
                <a:solidFill>
                  <a:schemeClr val="tx1"/>
                </a:solidFill>
              </a:rPr>
              <a:t>Ω</a:t>
            </a:r>
            <a:r>
              <a:rPr lang="en-GB" altLang="en-US" dirty="0">
                <a:solidFill>
                  <a:schemeClr val="tx1"/>
                </a:solidFill>
              </a:rPr>
              <a:t> is called a global maximal solution, if:</a:t>
            </a:r>
          </a:p>
          <a:p>
            <a:pPr>
              <a:buFont typeface="Wingdings" pitchFamily="2" charset="2"/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endParaRPr lang="en-GB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8">
                <a:extLst>
                  <a:ext uri="{FF2B5EF4-FFF2-40B4-BE49-F238E27FC236}">
                    <a16:creationId xmlns:a16="http://schemas.microsoft.com/office/drawing/2014/main" id="{47BEEA33-4A6D-5B82-D53D-07ACD95006B6}"/>
                  </a:ext>
                </a:extLst>
              </p:cNvPr>
              <p:cNvSpPr txBox="1"/>
              <p:nvPr/>
            </p:nvSpPr>
            <p:spPr>
              <a:xfrm>
                <a:off x="3636962" y="1983964"/>
                <a:ext cx="1327150" cy="8477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对象 8">
                <a:extLst>
                  <a:ext uri="{FF2B5EF4-FFF2-40B4-BE49-F238E27FC236}">
                    <a16:creationId xmlns:a16="http://schemas.microsoft.com/office/drawing/2014/main" id="{47BEEA33-4A6D-5B82-D53D-07ACD9500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962" y="1983964"/>
                <a:ext cx="1327150" cy="847725"/>
              </a:xfrm>
              <a:prstGeom prst="rect">
                <a:avLst/>
              </a:prstGeom>
              <a:blipFill>
                <a:blip r:embed="rId3"/>
                <a:stretch>
                  <a:fillRect r="-36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9">
                <a:extLst>
                  <a:ext uri="{FF2B5EF4-FFF2-40B4-BE49-F238E27FC236}">
                    <a16:creationId xmlns:a16="http://schemas.microsoft.com/office/drawing/2014/main" id="{B1733355-D4D5-8F78-BBCF-2A98B88308A7}"/>
                  </a:ext>
                </a:extLst>
              </p:cNvPr>
              <p:cNvSpPr txBox="1"/>
              <p:nvPr/>
            </p:nvSpPr>
            <p:spPr bwMode="auto">
              <a:xfrm>
                <a:off x="3636962" y="4874036"/>
                <a:ext cx="2351461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对象 9">
                <a:extLst>
                  <a:ext uri="{FF2B5EF4-FFF2-40B4-BE49-F238E27FC236}">
                    <a16:creationId xmlns:a16="http://schemas.microsoft.com/office/drawing/2014/main" id="{B1733355-D4D5-8F78-BBCF-2A98B8830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6962" y="4874036"/>
                <a:ext cx="2351461" cy="933450"/>
              </a:xfrm>
              <a:prstGeom prst="rect">
                <a:avLst/>
              </a:prstGeom>
              <a:blipFill>
                <a:blip r:embed="rId4"/>
                <a:stretch>
                  <a:fillRect l="-23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1">
            <a:extLst>
              <a:ext uri="{FF2B5EF4-FFF2-40B4-BE49-F238E27FC236}">
                <a16:creationId xmlns:a16="http://schemas.microsoft.com/office/drawing/2014/main" id="{F6650018-B62C-09A1-5D1D-771A010A4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568" y="5678898"/>
            <a:ext cx="10359231" cy="1019175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problem may have several different global optimal solutions.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6F097-3000-C1C1-E6B7-1CFE8AD7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Neighborhood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6">
                <a:extLst>
                  <a:ext uri="{FF2B5EF4-FFF2-40B4-BE49-F238E27FC236}">
                    <a16:creationId xmlns:a16="http://schemas.microsoft.com/office/drawing/2014/main" id="{BF078C5F-6B90-65B6-2CFC-56FFBDF5BADF}"/>
                  </a:ext>
                </a:extLst>
              </p:cNvPr>
              <p:cNvSpPr/>
              <p:nvPr/>
            </p:nvSpPr>
            <p:spPr>
              <a:xfrm>
                <a:off x="517623" y="1628507"/>
                <a:ext cx="10437248" cy="38779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Neighborhood of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a number of points which are close to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definition of “close” depends on</a:t>
                </a:r>
                <a:r>
                  <a:rPr lang="en-GB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: (1)</a:t>
                </a:r>
                <a:r>
                  <a:rPr lang="en-GB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problem and (2) your decision. </a:t>
                </a:r>
              </a:p>
              <a:p>
                <a:pPr>
                  <a:spcBef>
                    <a:spcPts val="1200"/>
                  </a:spcBef>
                </a:pPr>
                <a:endParaRPr lang="en-US" altLang="zh-CN" sz="2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 1 of the neighborhood: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l-GR" altLang="en-US" sz="2100" dirty="0">
                    <a:latin typeface="Times New Roman" pitchFamily="18" charset="0"/>
                    <a:cs typeface="Times New Roman" pitchFamily="18" charset="0"/>
                  </a:rPr>
                  <a:t>Ω</a:t>
                </a:r>
                <a:r>
                  <a:rPr lang="en-GB" altLang="en-US" sz="21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10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en-US" altLang="zh-CN" sz="2100" i="1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100" baseline="30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a neighbor of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if Euclidean distance between </a:t>
                </a:r>
                <a:r>
                  <a:rPr lang="en-US" altLang="zh-CN" sz="2100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sz="2100" i="1" baseline="30000" dirty="0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CN" sz="2100" i="1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en-US" altLang="zh-CN" sz="21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1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1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1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100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smaller than 0.1.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zh-CN" sz="2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=(1,0), then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zh-CN" sz="2100" i="1" dirty="0">
                    <a:latin typeface="Times New Roman" pitchFamily="18" charset="0"/>
                    <a:cs typeface="Times New Roman" pitchFamily="18" charset="0"/>
                  </a:rPr>
                  <a:t>                          </a:t>
                </a:r>
                <a:endParaRPr lang="zh-CN" altLang="en-US" sz="21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矩形 6">
                <a:extLst>
                  <a:ext uri="{FF2B5EF4-FFF2-40B4-BE49-F238E27FC236}">
                    <a16:creationId xmlns:a16="http://schemas.microsoft.com/office/drawing/2014/main" id="{BF078C5F-6B90-65B6-2CFC-56FFBDF5B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23" y="1628507"/>
                <a:ext cx="10437248" cy="3877985"/>
              </a:xfrm>
              <a:prstGeom prst="rect">
                <a:avLst/>
              </a:prstGeom>
              <a:blipFill>
                <a:blip r:embed="rId2"/>
                <a:stretch>
                  <a:fillRect l="-935" t="-1101" r="-2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049">
            <a:extLst>
              <a:ext uri="{FF2B5EF4-FFF2-40B4-BE49-F238E27FC236}">
                <a16:creationId xmlns:a16="http://schemas.microsoft.com/office/drawing/2014/main" id="{2CE4DC52-0CF0-EF02-C93B-F280CA9BDFFF}"/>
              </a:ext>
            </a:extLst>
          </p:cNvPr>
          <p:cNvGrpSpPr>
            <a:grpSpLocks/>
          </p:cNvGrpSpPr>
          <p:nvPr/>
        </p:nvGrpSpPr>
        <p:grpSpPr bwMode="auto">
          <a:xfrm rot="10875804" flipV="1">
            <a:off x="5455278" y="5366436"/>
            <a:ext cx="1435100" cy="1366838"/>
            <a:chOff x="930" y="1836"/>
            <a:chExt cx="904" cy="882"/>
          </a:xfrm>
        </p:grpSpPr>
        <p:sp>
          <p:nvSpPr>
            <p:cNvPr id="7" name="Oval 1050">
              <a:extLst>
                <a:ext uri="{FF2B5EF4-FFF2-40B4-BE49-F238E27FC236}">
                  <a16:creationId xmlns:a16="http://schemas.microsoft.com/office/drawing/2014/main" id="{A9F83600-DD39-4303-98F2-FD1F0E16D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1836"/>
              <a:ext cx="904" cy="88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1051">
              <a:extLst>
                <a:ext uri="{FF2B5EF4-FFF2-40B4-BE49-F238E27FC236}">
                  <a16:creationId xmlns:a16="http://schemas.microsoft.com/office/drawing/2014/main" id="{64034F09-3F04-1E3F-E208-CC2EE6729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9" y="2238"/>
              <a:ext cx="73" cy="8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Text Box 1052">
              <a:extLst>
                <a:ext uri="{FF2B5EF4-FFF2-40B4-BE49-F238E27FC236}">
                  <a16:creationId xmlns:a16="http://schemas.microsoft.com/office/drawing/2014/main" id="{7EBE8BC5-A45B-2191-C3D2-5EA44120C9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9" y="2146"/>
              <a:ext cx="213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GB" altLang="en-US">
                  <a:cs typeface="Times New Roman" pitchFamily="18" charset="0"/>
                </a:rPr>
                <a:t>x</a:t>
              </a:r>
            </a:p>
          </p:txBody>
        </p:sp>
        <p:sp>
          <p:nvSpPr>
            <p:cNvPr id="10" name="Line 1053">
              <a:extLst>
                <a:ext uri="{FF2B5EF4-FFF2-40B4-BE49-F238E27FC236}">
                  <a16:creationId xmlns:a16="http://schemas.microsoft.com/office/drawing/2014/main" id="{535013CF-78E6-33DF-D0D9-3B2FF0D92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3" y="1881"/>
              <a:ext cx="73" cy="3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 Box 1054">
              <a:extLst>
                <a:ext uri="{FF2B5EF4-FFF2-40B4-BE49-F238E27FC236}">
                  <a16:creationId xmlns:a16="http://schemas.microsoft.com/office/drawing/2014/main" id="{54EC2A7C-EFB1-4E38-DB7A-B6979CB3F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" y="2382"/>
              <a:ext cx="316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GB" altLang="en-US" sz="2000" i="0">
                  <a:cs typeface="Times New Roman" pitchFamily="18" charset="0"/>
                </a:rPr>
                <a:t>0.1</a:t>
              </a:r>
            </a:p>
          </p:txBody>
        </p:sp>
      </p:grpSp>
      <p:pic>
        <p:nvPicPr>
          <p:cNvPr id="12" name="Picture 11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C3275C1E-655A-5229-E14A-519D11470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18" y="4760595"/>
            <a:ext cx="5495925" cy="59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3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07DD0-4B69-57DB-34A7-96A846B7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Neighborhood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D958DE68-EDC9-2A2B-5362-D0857609FC0E}"/>
              </a:ext>
            </a:extLst>
          </p:cNvPr>
          <p:cNvSpPr/>
          <p:nvPr/>
        </p:nvSpPr>
        <p:spPr>
          <a:xfrm>
            <a:off x="484094" y="1687314"/>
            <a:ext cx="10354235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Neighborhood of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a number of points which are close to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definition of “close” depends on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(1)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problem and (2) your decision. </a:t>
            </a:r>
          </a:p>
          <a:p>
            <a:pPr>
              <a:spcBef>
                <a:spcPts val="1200"/>
              </a:spcBef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Example 2 of the neighborhood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={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}|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∈(0,1),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=1,2,3,4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l-GR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Ω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={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l-GR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a neighbor of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if Hamming distance between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1.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 (1,0,0,1), the neighborhood of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l-GR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Ω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{(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,0,0,1),(1,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,0,1),(1,0,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,1),(1,0,0,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)}</a:t>
            </a:r>
          </a:p>
          <a:p>
            <a:pPr>
              <a:spcBef>
                <a:spcPts val="1200"/>
              </a:spcBef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461A2F-E643-D56A-8944-25831E4B7AAD}"/>
              </a:ext>
            </a:extLst>
          </p:cNvPr>
          <p:cNvGrpSpPr/>
          <p:nvPr/>
        </p:nvGrpSpPr>
        <p:grpSpPr>
          <a:xfrm>
            <a:off x="877591" y="5984101"/>
            <a:ext cx="3311804" cy="461665"/>
            <a:chOff x="581478" y="5065483"/>
            <a:chExt cx="3311804" cy="461665"/>
          </a:xfrm>
        </p:grpSpPr>
        <p:cxnSp>
          <p:nvCxnSpPr>
            <p:cNvPr id="8" name="直接箭头连接符 4">
              <a:extLst>
                <a:ext uri="{FF2B5EF4-FFF2-40B4-BE49-F238E27FC236}">
                  <a16:creationId xmlns:a16="http://schemas.microsoft.com/office/drawing/2014/main" id="{424482EA-5CE5-7CFE-5A9F-0BC6F4EAB72C}"/>
                </a:ext>
              </a:extLst>
            </p:cNvPr>
            <p:cNvCxnSpPr/>
            <p:nvPr/>
          </p:nvCxnSpPr>
          <p:spPr>
            <a:xfrm>
              <a:off x="1616741" y="5322338"/>
              <a:ext cx="439271" cy="896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7">
              <a:extLst>
                <a:ext uri="{FF2B5EF4-FFF2-40B4-BE49-F238E27FC236}">
                  <a16:creationId xmlns:a16="http://schemas.microsoft.com/office/drawing/2014/main" id="{0603E0AA-517D-5CFE-6576-3E55B2DA3CBF}"/>
                </a:ext>
              </a:extLst>
            </p:cNvPr>
            <p:cNvSpPr/>
            <p:nvPr/>
          </p:nvSpPr>
          <p:spPr>
            <a:xfrm>
              <a:off x="581478" y="5065483"/>
              <a:ext cx="331180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A flip           a neighbor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27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2654-C5B7-29C5-FD52-6184CCE4B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Neighborhood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2C70A56-5B70-376A-D769-378C36E90F39}"/>
              </a:ext>
            </a:extLst>
          </p:cNvPr>
          <p:cNvSpPr txBox="1">
            <a:spLocks noChangeArrowheads="1"/>
          </p:cNvSpPr>
          <p:nvPr/>
        </p:nvSpPr>
        <p:spPr>
          <a:xfrm>
            <a:off x="392117" y="1603342"/>
            <a:ext cx="10768942" cy="55115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dirty="0" err="1">
                <a:solidFill>
                  <a:schemeClr val="tx1"/>
                </a:solidFill>
              </a:rPr>
              <a:t>Neighborhood</a:t>
            </a:r>
            <a:r>
              <a:rPr lang="en-GB" altLang="en-US" dirty="0">
                <a:solidFill>
                  <a:schemeClr val="tx1"/>
                </a:solidFill>
              </a:rPr>
              <a:t> of </a:t>
            </a: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:  a number of points which are close to </a:t>
            </a: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dirty="0">
                <a:solidFill>
                  <a:schemeClr val="tx1"/>
                </a:solidFill>
              </a:rPr>
              <a:t>The definition of “close”  depends on</a:t>
            </a:r>
            <a:r>
              <a:rPr lang="en-GB" altLang="en-US" dirty="0">
                <a:solidFill>
                  <a:schemeClr val="tx1"/>
                </a:solidFill>
                <a:sym typeface="Wingdings" panose="05000000000000000000" pitchFamily="2" charset="2"/>
              </a:rPr>
              <a:t>: (1)</a:t>
            </a:r>
            <a:r>
              <a:rPr lang="en-GB" altLang="en-US" dirty="0">
                <a:solidFill>
                  <a:schemeClr val="tx1"/>
                </a:solidFill>
              </a:rPr>
              <a:t> the problem and (2) your decision.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GB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dirty="0">
                <a:solidFill>
                  <a:schemeClr val="tx1"/>
                </a:solidFill>
              </a:rPr>
              <a:t>Example 3 of the </a:t>
            </a:r>
            <a:r>
              <a:rPr lang="en-GB" altLang="en-US" dirty="0" err="1">
                <a:solidFill>
                  <a:schemeClr val="tx1"/>
                </a:solidFill>
              </a:rPr>
              <a:t>neighborhood</a:t>
            </a:r>
            <a:r>
              <a:rPr lang="en-GB" altLang="en-US" dirty="0">
                <a:solidFill>
                  <a:schemeClr val="tx1"/>
                </a:solidFill>
              </a:rPr>
              <a:t>:</a:t>
            </a:r>
          </a:p>
          <a:p>
            <a:pPr lvl="1" indent="-342900">
              <a:lnSpc>
                <a:spcPct val="100000"/>
              </a:lnSpc>
              <a:spcBef>
                <a:spcPts val="1200"/>
              </a:spcBef>
            </a:pPr>
            <a:r>
              <a:rPr lang="en-GB" altLang="en-US" i="1" dirty="0">
                <a:solidFill>
                  <a:schemeClr val="tx1"/>
                </a:solidFill>
              </a:rPr>
              <a:t>D </a:t>
            </a:r>
            <a:r>
              <a:rPr lang="en-GB" altLang="en-US" dirty="0">
                <a:solidFill>
                  <a:schemeClr val="tx1"/>
                </a:solidFill>
              </a:rPr>
              <a:t>is all the permutations from 1 to 4.</a:t>
            </a:r>
          </a:p>
          <a:p>
            <a:pPr lvl="1" indent="-342900">
              <a:lnSpc>
                <a:spcPct val="100000"/>
              </a:lnSpc>
              <a:spcBef>
                <a:spcPts val="1200"/>
              </a:spcBef>
            </a:pPr>
            <a:r>
              <a:rPr lang="en-GB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</a:rPr>
              <a:t>Ω</a:t>
            </a:r>
            <a:r>
              <a:rPr lang="en-US" altLang="en-US" dirty="0">
                <a:solidFill>
                  <a:schemeClr val="tx1"/>
                </a:solidFill>
              </a:rPr>
              <a:t>=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{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i="1" baseline="30000" dirty="0">
                <a:solidFill>
                  <a:schemeClr val="tx1"/>
                </a:solidFill>
              </a:rPr>
              <a:t>i</a:t>
            </a:r>
            <a:r>
              <a:rPr lang="en-US" altLang="en-US" dirty="0">
                <a:solidFill>
                  <a:schemeClr val="tx1"/>
                </a:solidFill>
              </a:rPr>
              <a:t>}</a:t>
            </a:r>
            <a:r>
              <a:rPr lang="en-GB" altLang="en-US" dirty="0">
                <a:solidFill>
                  <a:schemeClr val="tx1"/>
                </a:solidFill>
              </a:rPr>
              <a:t> is a </a:t>
            </a:r>
            <a:r>
              <a:rPr lang="en-GB" altLang="en-US" dirty="0" err="1">
                <a:solidFill>
                  <a:schemeClr val="tx1"/>
                </a:solidFill>
              </a:rPr>
              <a:t>neighbor</a:t>
            </a:r>
            <a:r>
              <a:rPr lang="en-GB" altLang="en-US" dirty="0">
                <a:solidFill>
                  <a:schemeClr val="tx1"/>
                </a:solidFill>
              </a:rPr>
              <a:t> of </a:t>
            </a: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, if 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i="1" baseline="30000" dirty="0">
                <a:solidFill>
                  <a:schemeClr val="tx1"/>
                </a:solidFill>
              </a:rPr>
              <a:t>i</a:t>
            </a:r>
            <a:r>
              <a:rPr lang="en-GB" altLang="en-US" dirty="0">
                <a:solidFill>
                  <a:schemeClr val="tx1"/>
                </a:solidFill>
              </a:rPr>
              <a:t> can be obtained from </a:t>
            </a: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 by a single swap (or </a:t>
            </a:r>
            <a:r>
              <a:rPr lang="en-GB" altLang="en-US" i="1" dirty="0">
                <a:solidFill>
                  <a:schemeClr val="tx1"/>
                </a:solidFill>
              </a:rPr>
              <a:t>m</a:t>
            </a:r>
            <a:r>
              <a:rPr lang="en-GB" altLang="en-US" dirty="0">
                <a:solidFill>
                  <a:schemeClr val="tx1"/>
                </a:solidFill>
              </a:rPr>
              <a:t> swaps).  “Distance” is defined by “swap”.</a:t>
            </a:r>
          </a:p>
          <a:p>
            <a:pPr lvl="1" indent="-342900">
              <a:lnSpc>
                <a:spcPct val="100000"/>
              </a:lnSpc>
              <a:spcBef>
                <a:spcPts val="1200"/>
              </a:spcBef>
            </a:pPr>
            <a:r>
              <a:rPr lang="en-GB" altLang="en-US" dirty="0">
                <a:solidFill>
                  <a:schemeClr val="tx1"/>
                </a:solidFill>
              </a:rPr>
              <a:t>When</a:t>
            </a:r>
            <a:r>
              <a:rPr lang="en-GB" altLang="en-US" i="1" dirty="0">
                <a:solidFill>
                  <a:schemeClr val="tx1"/>
                </a:solidFill>
              </a:rPr>
              <a:t> x</a:t>
            </a:r>
            <a:r>
              <a:rPr lang="en-GB" altLang="en-US" dirty="0">
                <a:solidFill>
                  <a:schemeClr val="tx1"/>
                </a:solidFill>
              </a:rPr>
              <a:t>=(2, 3, 4, 1),  the </a:t>
            </a:r>
            <a:r>
              <a:rPr lang="en-GB" altLang="en-US" dirty="0" err="1">
                <a:solidFill>
                  <a:schemeClr val="tx1"/>
                </a:solidFill>
              </a:rPr>
              <a:t>neighborhood</a:t>
            </a:r>
            <a:r>
              <a:rPr lang="en-GB" altLang="en-US" dirty="0">
                <a:solidFill>
                  <a:schemeClr val="tx1"/>
                </a:solidFill>
              </a:rPr>
              <a:t> of </a:t>
            </a: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=</a:t>
            </a:r>
          </a:p>
          <a:p>
            <a:pPr marL="342900" lvl="1" indent="0" defTabSz="685800">
              <a:spcBef>
                <a:spcPts val="1200"/>
              </a:spcBef>
              <a:buNone/>
            </a:pP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{(</a:t>
            </a:r>
            <a:r>
              <a:rPr lang="en-GB" altLang="en-US" dirty="0">
                <a:solidFill>
                  <a:srgbClr val="0563C1"/>
                </a:solidFill>
              </a:rPr>
              <a:t>3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,</a:t>
            </a:r>
            <a:r>
              <a:rPr lang="en-GB" altLang="en-US" dirty="0">
                <a:solidFill>
                  <a:srgbClr val="0563C1"/>
                </a:solidFill>
              </a:rPr>
              <a:t>2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,4,1), (</a:t>
            </a:r>
            <a:r>
              <a:rPr lang="en-GB" altLang="en-US" dirty="0">
                <a:solidFill>
                  <a:srgbClr val="0563C1"/>
                </a:solidFill>
              </a:rPr>
              <a:t>4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,3,</a:t>
            </a:r>
            <a:r>
              <a:rPr lang="en-GB" altLang="en-US" dirty="0">
                <a:solidFill>
                  <a:srgbClr val="0070C0"/>
                </a:solidFill>
              </a:rPr>
              <a:t>2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,1),(</a:t>
            </a:r>
            <a:r>
              <a:rPr lang="en-GB" altLang="en-US" dirty="0">
                <a:solidFill>
                  <a:srgbClr val="0070C0"/>
                </a:solidFill>
              </a:rPr>
              <a:t>1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,3,4,</a:t>
            </a:r>
            <a:r>
              <a:rPr lang="en-GB" altLang="en-US" dirty="0">
                <a:solidFill>
                  <a:srgbClr val="0070C0"/>
                </a:solidFill>
              </a:rPr>
              <a:t>2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), (2,</a:t>
            </a:r>
            <a:r>
              <a:rPr lang="en-GB" altLang="en-US" dirty="0">
                <a:solidFill>
                  <a:srgbClr val="0563C1"/>
                </a:solidFill>
              </a:rPr>
              <a:t>4,3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,1), (2,</a:t>
            </a:r>
            <a:r>
              <a:rPr lang="en-GB" altLang="en-US" dirty="0">
                <a:solidFill>
                  <a:srgbClr val="0563C1"/>
                </a:solidFill>
              </a:rPr>
              <a:t>1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,4,</a:t>
            </a:r>
            <a:r>
              <a:rPr lang="en-GB" altLang="en-US" dirty="0">
                <a:solidFill>
                  <a:srgbClr val="0070C0"/>
                </a:solidFill>
              </a:rPr>
              <a:t>3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), (2,3,</a:t>
            </a:r>
            <a:r>
              <a:rPr lang="en-GB" altLang="en-US" dirty="0">
                <a:solidFill>
                  <a:srgbClr val="0070C0"/>
                </a:solidFill>
              </a:rPr>
              <a:t>1,4</a:t>
            </a:r>
            <a:r>
              <a:rPr lang="en-GB" altLang="en-US" dirty="0">
                <a:solidFill>
                  <a:prstClr val="black">
                    <a:tint val="75000"/>
                  </a:prstClr>
                </a:solidFill>
              </a:rPr>
              <a:t>)}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endParaRPr lang="en-GB" altLang="en-US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EDA8021-FC11-ED17-BE2C-E5BA3DBA9FA2}"/>
              </a:ext>
            </a:extLst>
          </p:cNvPr>
          <p:cNvGrpSpPr/>
          <p:nvPr/>
        </p:nvGrpSpPr>
        <p:grpSpPr>
          <a:xfrm>
            <a:off x="3957500" y="6183200"/>
            <a:ext cx="3776034" cy="461665"/>
            <a:chOff x="632713" y="5155384"/>
            <a:chExt cx="3776034" cy="461665"/>
          </a:xfrm>
        </p:grpSpPr>
        <p:cxnSp>
          <p:nvCxnSpPr>
            <p:cNvPr id="9" name="直接箭头连接符 7">
              <a:extLst>
                <a:ext uri="{FF2B5EF4-FFF2-40B4-BE49-F238E27FC236}">
                  <a16:creationId xmlns:a16="http://schemas.microsoft.com/office/drawing/2014/main" id="{A77EE86E-D450-C6F8-3C39-04861BCEDB89}"/>
                </a:ext>
              </a:extLst>
            </p:cNvPr>
            <p:cNvCxnSpPr/>
            <p:nvPr/>
          </p:nvCxnSpPr>
          <p:spPr>
            <a:xfrm>
              <a:off x="2175602" y="5418855"/>
              <a:ext cx="439271" cy="896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4">
              <a:extLst>
                <a:ext uri="{FF2B5EF4-FFF2-40B4-BE49-F238E27FC236}">
                  <a16:creationId xmlns:a16="http://schemas.microsoft.com/office/drawing/2014/main" id="{4046EDA9-1D04-C630-35B5-2D9B09F43F61}"/>
                </a:ext>
              </a:extLst>
            </p:cNvPr>
            <p:cNvSpPr/>
            <p:nvPr/>
          </p:nvSpPr>
          <p:spPr>
            <a:xfrm>
              <a:off x="632713" y="5155384"/>
              <a:ext cx="377603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>
                <a:lnSpc>
                  <a:spcPct val="100000"/>
                </a:lnSpc>
              </a:pPr>
              <a:r>
                <a:rPr lang="en-GB" alt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A swap        a </a:t>
              </a:r>
              <a:r>
                <a:rPr lang="en-GB" alt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neighbor</a:t>
              </a:r>
              <a:endParaRPr lang="en-GB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631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DCE0-7964-1671-7B9B-E6CD38B05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optimal solution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37F6AC0-B315-1F95-F0D3-A08B8DB05850}"/>
              </a:ext>
            </a:extLst>
          </p:cNvPr>
          <p:cNvSpPr txBox="1">
            <a:spLocks noChangeArrowheads="1"/>
          </p:cNvSpPr>
          <p:nvPr/>
        </p:nvSpPr>
        <p:spPr>
          <a:xfrm>
            <a:off x="114211" y="1791600"/>
            <a:ext cx="9809717" cy="27368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dirty="0">
                <a:solidFill>
                  <a:schemeClr val="tx1"/>
                </a:solidFill>
              </a:rPr>
              <a:t>Local optimal solution: a point that is not worse than any other points in its </a:t>
            </a:r>
            <a:r>
              <a:rPr lang="en-GB" altLang="en-US" dirty="0" err="1">
                <a:solidFill>
                  <a:schemeClr val="tx1"/>
                </a:solidFill>
              </a:rPr>
              <a:t>neighborhood</a:t>
            </a:r>
            <a:r>
              <a:rPr lang="en-GB" altLang="en-US" dirty="0">
                <a:solidFill>
                  <a:schemeClr val="tx1"/>
                </a:solidFill>
              </a:rPr>
              <a:t>. </a:t>
            </a:r>
          </a:p>
          <a:p>
            <a:pPr lvl="1" indent="-342900">
              <a:lnSpc>
                <a:spcPct val="100000"/>
              </a:lnSpc>
              <a:spcBef>
                <a:spcPts val="1200"/>
              </a:spcBef>
            </a:pPr>
            <a:r>
              <a:rPr lang="en-GB" altLang="en-US" dirty="0">
                <a:solidFill>
                  <a:schemeClr val="tx1"/>
                </a:solidFill>
              </a:rPr>
              <a:t>Depends on the </a:t>
            </a:r>
            <a:r>
              <a:rPr lang="en-GB" altLang="en-US" dirty="0" err="1">
                <a:solidFill>
                  <a:schemeClr val="tx1"/>
                </a:solidFill>
              </a:rPr>
              <a:t>neighborhood</a:t>
            </a:r>
            <a:r>
              <a:rPr lang="en-GB" altLang="en-US" dirty="0">
                <a:solidFill>
                  <a:schemeClr val="tx1"/>
                </a:solidFill>
              </a:rPr>
              <a:t>.  </a:t>
            </a:r>
          </a:p>
          <a:p>
            <a:pPr lvl="1" indent="-342900">
              <a:lnSpc>
                <a:spcPct val="100000"/>
              </a:lnSpc>
              <a:spcBef>
                <a:spcPts val="1200"/>
              </a:spcBef>
            </a:pPr>
            <a:r>
              <a:rPr lang="en-GB" altLang="en-US" dirty="0">
                <a:solidFill>
                  <a:schemeClr val="tx1"/>
                </a:solidFill>
              </a:rPr>
              <a:t>A global optimal solution is always local optimal. Vice versa?  </a:t>
            </a:r>
          </a:p>
          <a:p>
            <a:pPr lvl="1">
              <a:spcBef>
                <a:spcPts val="1200"/>
              </a:spcBef>
            </a:pPr>
            <a:endParaRPr lang="en-GB" altLang="en-US" dirty="0">
              <a:solidFill>
                <a:schemeClr val="tx1"/>
              </a:solidFill>
            </a:endParaRPr>
          </a:p>
          <a:p>
            <a:pPr lvl="1">
              <a:spcBef>
                <a:spcPts val="1200"/>
              </a:spcBef>
            </a:pPr>
            <a:endParaRPr lang="en-GB" altLang="en-US" dirty="0">
              <a:solidFill>
                <a:schemeClr val="tx1"/>
              </a:solidFill>
            </a:endParaRPr>
          </a:p>
          <a:p>
            <a:pPr lvl="1">
              <a:spcBef>
                <a:spcPts val="1200"/>
              </a:spcBef>
            </a:pPr>
            <a:endParaRPr lang="en-GB" altLang="en-US" dirty="0">
              <a:solidFill>
                <a:schemeClr val="tx1"/>
              </a:solidFill>
            </a:endParaRPr>
          </a:p>
          <a:p>
            <a:pPr lvl="2">
              <a:spcBef>
                <a:spcPts val="1200"/>
              </a:spcBef>
            </a:pPr>
            <a:endParaRPr lang="en-GB" altLang="en-US" dirty="0">
              <a:solidFill>
                <a:schemeClr val="tx1"/>
              </a:solidFill>
            </a:endParaRPr>
          </a:p>
        </p:txBody>
      </p:sp>
      <p:grpSp>
        <p:nvGrpSpPr>
          <p:cNvPr id="4" name="组合 22">
            <a:extLst>
              <a:ext uri="{FF2B5EF4-FFF2-40B4-BE49-F238E27FC236}">
                <a16:creationId xmlns:a16="http://schemas.microsoft.com/office/drawing/2014/main" id="{5850DCB6-5576-4F94-39C7-3A9F572A1FCB}"/>
              </a:ext>
            </a:extLst>
          </p:cNvPr>
          <p:cNvGrpSpPr/>
          <p:nvPr/>
        </p:nvGrpSpPr>
        <p:grpSpPr>
          <a:xfrm>
            <a:off x="3910940" y="3783519"/>
            <a:ext cx="4017978" cy="3074481"/>
            <a:chOff x="1509713" y="3644900"/>
            <a:chExt cx="3543300" cy="267176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BA9DFC3-2D6E-F14A-BE7D-309B936F65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9713" y="3644900"/>
              <a:ext cx="3543300" cy="2671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组合 15">
              <a:extLst>
                <a:ext uri="{FF2B5EF4-FFF2-40B4-BE49-F238E27FC236}">
                  <a16:creationId xmlns:a16="http://schemas.microsoft.com/office/drawing/2014/main" id="{6D44859B-FFEB-D440-0097-1D010F9348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325" y="4292601"/>
              <a:ext cx="304800" cy="720724"/>
              <a:chOff x="5652120" y="4221089"/>
              <a:chExt cx="305792" cy="720079"/>
            </a:xfrm>
          </p:grpSpPr>
          <p:cxnSp>
            <p:nvCxnSpPr>
              <p:cNvPr id="16" name="直接连接符 6">
                <a:extLst>
                  <a:ext uri="{FF2B5EF4-FFF2-40B4-BE49-F238E27FC236}">
                    <a16:creationId xmlns:a16="http://schemas.microsoft.com/office/drawing/2014/main" id="{DEBFDB29-CA51-1C4E-A922-DA9CA1254F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652120" y="4797152"/>
                <a:ext cx="144016" cy="144016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直接连接符 8">
                <a:extLst>
                  <a:ext uri="{FF2B5EF4-FFF2-40B4-BE49-F238E27FC236}">
                    <a16:creationId xmlns:a16="http://schemas.microsoft.com/office/drawing/2014/main" id="{D64EDF7F-6084-51E2-563E-577382FF807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796136" y="4581128"/>
                <a:ext cx="72008" cy="216024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直接连接符 10">
                <a:extLst>
                  <a:ext uri="{FF2B5EF4-FFF2-40B4-BE49-F238E27FC236}">
                    <a16:creationId xmlns:a16="http://schemas.microsoft.com/office/drawing/2014/main" id="{298FA8E8-5239-3DA4-2AD1-98AB307CB3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868144" y="4509120"/>
                <a:ext cx="72008" cy="72008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直接箭头连接符 12">
                <a:extLst>
                  <a:ext uri="{FF2B5EF4-FFF2-40B4-BE49-F238E27FC236}">
                    <a16:creationId xmlns:a16="http://schemas.microsoft.com/office/drawing/2014/main" id="{988CF57F-71C3-0033-6D31-269C28243F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940152" y="4221089"/>
                <a:ext cx="17760" cy="288032"/>
              </a:xfrm>
              <a:prstGeom prst="straightConnector1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" name="椭圆 16">
              <a:extLst>
                <a:ext uri="{FF2B5EF4-FFF2-40B4-BE49-F238E27FC236}">
                  <a16:creationId xmlns:a16="http://schemas.microsoft.com/office/drawing/2014/main" id="{306BC00F-1EA5-FEF9-44DF-BF5525E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675" y="4238625"/>
              <a:ext cx="90488" cy="53975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" name="矩形 17">
              <a:extLst>
                <a:ext uri="{FF2B5EF4-FFF2-40B4-BE49-F238E27FC236}">
                  <a16:creationId xmlns:a16="http://schemas.microsoft.com/office/drawing/2014/main" id="{E513B525-2E8F-B302-F98A-F5317B677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100" y="3803650"/>
              <a:ext cx="1835170" cy="361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1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Global maximum</a:t>
              </a:r>
              <a:endParaRPr lang="zh-CN" altLang="en-US" sz="21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9" name="组合 22">
              <a:extLst>
                <a:ext uri="{FF2B5EF4-FFF2-40B4-BE49-F238E27FC236}">
                  <a16:creationId xmlns:a16="http://schemas.microsoft.com/office/drawing/2014/main" id="{503FF024-F856-0F5D-38CE-6DEAC0C20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2125" y="4805363"/>
              <a:ext cx="306388" cy="468312"/>
              <a:chOff x="5652120" y="4221088"/>
              <a:chExt cx="305792" cy="720080"/>
            </a:xfrm>
          </p:grpSpPr>
          <p:cxnSp>
            <p:nvCxnSpPr>
              <p:cNvPr id="12" name="直接连接符 23">
                <a:extLst>
                  <a:ext uri="{FF2B5EF4-FFF2-40B4-BE49-F238E27FC236}">
                    <a16:creationId xmlns:a16="http://schemas.microsoft.com/office/drawing/2014/main" id="{6744FB65-8855-4CD0-50D1-2966AC736C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652120" y="4797152"/>
                <a:ext cx="144016" cy="144016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直接连接符 24">
                <a:extLst>
                  <a:ext uri="{FF2B5EF4-FFF2-40B4-BE49-F238E27FC236}">
                    <a16:creationId xmlns:a16="http://schemas.microsoft.com/office/drawing/2014/main" id="{03E772E2-593C-D08E-1BF1-DCB7B88DCE2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796136" y="4581128"/>
                <a:ext cx="72008" cy="216025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" name="直接连接符 25">
                <a:extLst>
                  <a:ext uri="{FF2B5EF4-FFF2-40B4-BE49-F238E27FC236}">
                    <a16:creationId xmlns:a16="http://schemas.microsoft.com/office/drawing/2014/main" id="{5C8ED458-48A9-6BDA-E243-65E6A734AB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868144" y="4509120"/>
                <a:ext cx="72008" cy="72008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直接箭头连接符 26">
                <a:extLst>
                  <a:ext uri="{FF2B5EF4-FFF2-40B4-BE49-F238E27FC236}">
                    <a16:creationId xmlns:a16="http://schemas.microsoft.com/office/drawing/2014/main" id="{1FBF3EBD-0272-2316-F691-902EF2BDB4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940152" y="4221088"/>
                <a:ext cx="17760" cy="288032"/>
              </a:xfrm>
              <a:prstGeom prst="straightConnector1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" name="矩形 27">
              <a:extLst>
                <a:ext uri="{FF2B5EF4-FFF2-40B4-BE49-F238E27FC236}">
                  <a16:creationId xmlns:a16="http://schemas.microsoft.com/office/drawing/2014/main" id="{B989C8D5-62C6-FDFA-E1FD-7413435EA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348" y="5347637"/>
              <a:ext cx="1730562" cy="361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1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Local maximum</a:t>
              </a:r>
              <a:endParaRPr lang="zh-CN" altLang="en-US" sz="21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1" name="椭圆 28">
              <a:extLst>
                <a:ext uri="{FF2B5EF4-FFF2-40B4-BE49-F238E27FC236}">
                  <a16:creationId xmlns:a16="http://schemas.microsoft.com/office/drawing/2014/main" id="{F649E0BF-894C-CC9A-77D4-86314ACBA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4743450"/>
              <a:ext cx="88900" cy="539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FFFF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endParaRPr lang="zh-CN" altLang="en-US"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320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F673-B6C3-39DF-5287-853FBB6F8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optimization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657DC7F-D399-1987-4111-CB767511ACB2}"/>
              </a:ext>
            </a:extLst>
          </p:cNvPr>
          <p:cNvSpPr txBox="1">
            <a:spLocks noChangeArrowheads="1"/>
          </p:cNvSpPr>
          <p:nvPr/>
        </p:nvSpPr>
        <p:spPr>
          <a:xfrm>
            <a:off x="214484" y="1664839"/>
            <a:ext cx="9942528" cy="53292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GB" altLang="en-US" dirty="0">
                <a:solidFill>
                  <a:schemeClr val="tx1"/>
                </a:solidFill>
              </a:rPr>
              <a:t>Local optimization </a:t>
            </a:r>
            <a:r>
              <a:rPr lang="en-GB" altLang="en-US" i="1" dirty="0">
                <a:solidFill>
                  <a:schemeClr val="tx1"/>
                </a:solidFill>
              </a:rPr>
              <a:t>aims to</a:t>
            </a:r>
            <a:r>
              <a:rPr lang="en-GB" altLang="en-US" b="1" dirty="0">
                <a:solidFill>
                  <a:schemeClr val="tx1"/>
                </a:solidFill>
              </a:rPr>
              <a:t> </a:t>
            </a:r>
            <a:r>
              <a:rPr lang="en-GB" altLang="en-US" dirty="0">
                <a:solidFill>
                  <a:schemeClr val="tx1"/>
                </a:solidFill>
              </a:rPr>
              <a:t>find a local optimal point or find the optimal solution from a specific region of the search space. </a:t>
            </a:r>
          </a:p>
          <a:p>
            <a:pPr lvl="1">
              <a:lnSpc>
                <a:spcPct val="100000"/>
              </a:lnSpc>
            </a:pPr>
            <a:endParaRPr lang="en-GB" altLang="en-US" dirty="0">
              <a:solidFill>
                <a:schemeClr val="tx1"/>
              </a:solidFill>
            </a:endParaRPr>
          </a:p>
          <a:p>
            <a:pPr lvl="1" indent="-342900">
              <a:lnSpc>
                <a:spcPct val="100000"/>
              </a:lnSpc>
            </a:pPr>
            <a:r>
              <a:rPr lang="en-GB" altLang="en-US" dirty="0">
                <a:solidFill>
                  <a:schemeClr val="tx1"/>
                </a:solidFill>
              </a:rPr>
              <a:t>It often has a starting point to define where is the specific region. </a:t>
            </a:r>
          </a:p>
          <a:p>
            <a:pPr lvl="1"/>
            <a:endParaRPr lang="en-GB" altLang="en-US" dirty="0"/>
          </a:p>
          <a:p>
            <a:pPr lvl="1"/>
            <a:endParaRPr lang="en-GB" altLang="en-US" dirty="0"/>
          </a:p>
          <a:p>
            <a:pPr lvl="2"/>
            <a:endParaRPr lang="en-GB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41C7DF-68DD-72A1-563D-D9834C56C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011" y="3542766"/>
            <a:ext cx="4017978" cy="3074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433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EF95-E1F5-6107-8226-ABE21499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optimization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EC9D6A3-4628-0EFC-8139-48D1AF60DC1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1978964"/>
            <a:ext cx="10479741" cy="5329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optimization </a:t>
            </a:r>
            <a:r>
              <a:rPr lang="en-GB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attempts to</a:t>
            </a: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(a) global optimal point(s) of the search space. </a:t>
            </a:r>
          </a:p>
          <a:p>
            <a:pPr marL="1028700" lvl="2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may have a starting point or not. In many cases, only the search space is provided. </a:t>
            </a:r>
          </a:p>
          <a:p>
            <a:pPr marL="1028700" lvl="2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does not guarantee to find (a) global optimal point(s). </a:t>
            </a:r>
          </a:p>
          <a:p>
            <a:pPr lvl="2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1200"/>
              </a:spcBef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1200"/>
              </a:spcBef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spcBef>
                <a:spcPts val="1200"/>
              </a:spcBef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81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6A04-9992-A301-B6C6-025F504A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260760" cy="8887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>
                <a:latin typeface="Arial"/>
                <a:cs typeface="Arial"/>
              </a:rPr>
              <a:t>Unimodal and multimodal optimization problems </a:t>
            </a:r>
            <a:br>
              <a:rPr lang="en-GB" dirty="0"/>
            </a:br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4760864-EB30-781D-EA99-FE5035552DFA}"/>
              </a:ext>
            </a:extLst>
          </p:cNvPr>
          <p:cNvSpPr txBox="1">
            <a:spLocks noChangeArrowheads="1"/>
          </p:cNvSpPr>
          <p:nvPr/>
        </p:nvSpPr>
        <p:spPr>
          <a:xfrm>
            <a:off x="259963" y="1714363"/>
            <a:ext cx="5576060" cy="52657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Tx/>
              <a:buNone/>
            </a:pPr>
            <a:r>
              <a:rPr lang="en-GB" altLang="en-US" dirty="0">
                <a:solidFill>
                  <a:schemeClr val="tx1"/>
                </a:solidFill>
              </a:rPr>
              <a:t>Considering minimization </a:t>
            </a:r>
          </a:p>
          <a:p>
            <a:pPr marL="457200" lvl="1" indent="0">
              <a:buFontTx/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marL="457200" lvl="1" indent="0">
              <a:buFontTx/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marL="800100" lvl="1" indent="-342900"/>
            <a:r>
              <a:rPr lang="en-GB" altLang="en-US" b="1" dirty="0">
                <a:solidFill>
                  <a:schemeClr val="tx1"/>
                </a:solidFill>
              </a:rPr>
              <a:t>Unimodal: </a:t>
            </a:r>
            <a:r>
              <a:rPr lang="en-GB" altLang="en-US" dirty="0">
                <a:solidFill>
                  <a:schemeClr val="tx1"/>
                </a:solidFill>
              </a:rPr>
              <a:t>(also called convex): </a:t>
            </a:r>
            <a:r>
              <a:rPr lang="en-US" altLang="en-US" dirty="0">
                <a:solidFill>
                  <a:schemeClr val="tx1"/>
                </a:solidFill>
              </a:rPr>
              <a:t>the landscape has a single optimal value.</a:t>
            </a:r>
            <a:endParaRPr lang="en-GB" altLang="en-US" dirty="0">
              <a:solidFill>
                <a:schemeClr val="tx1"/>
              </a:solidFill>
            </a:endParaRPr>
          </a:p>
          <a:p>
            <a:pPr marL="1028700" lvl="2" indent="-342900"/>
            <a:endParaRPr lang="en-GB" altLang="en-US" dirty="0">
              <a:solidFill>
                <a:schemeClr val="tx1"/>
              </a:solidFill>
            </a:endParaRPr>
          </a:p>
          <a:p>
            <a:pPr marL="1028700" lvl="2" indent="-342900"/>
            <a:endParaRPr lang="en-GB" altLang="en-US" dirty="0">
              <a:solidFill>
                <a:schemeClr val="tx1"/>
              </a:solidFill>
            </a:endParaRPr>
          </a:p>
          <a:p>
            <a:pPr marL="800100" lvl="1" indent="-342900"/>
            <a:r>
              <a:rPr lang="en-GB" altLang="en-US" b="1" dirty="0">
                <a:solidFill>
                  <a:schemeClr val="tx1"/>
                </a:solidFill>
              </a:rPr>
              <a:t>Multimodal: </a:t>
            </a:r>
            <a:r>
              <a:rPr lang="en-GB" altLang="en-US" dirty="0">
                <a:solidFill>
                  <a:schemeClr val="tx1"/>
                </a:solidFill>
              </a:rPr>
              <a:t>the landscape has more than one local minimum. </a:t>
            </a:r>
          </a:p>
          <a:p>
            <a:pPr marL="457200" lvl="1" indent="0"/>
            <a:endParaRPr lang="en-GB" altLang="en-US" dirty="0"/>
          </a:p>
          <a:p>
            <a:pPr marL="457200" lvl="1" indent="0"/>
            <a:endParaRPr lang="en-GB" altLang="en-US" dirty="0"/>
          </a:p>
          <a:p>
            <a:pPr lvl="2"/>
            <a:endParaRPr lang="en-GB" altLang="en-US" dirty="0"/>
          </a:p>
        </p:txBody>
      </p:sp>
      <p:pic>
        <p:nvPicPr>
          <p:cNvPr id="4" name="Picture 2" descr="C:\Users\11849\Desktop\图片1.tif">
            <a:extLst>
              <a:ext uri="{FF2B5EF4-FFF2-40B4-BE49-F238E27FC236}">
                <a16:creationId xmlns:a16="http://schemas.microsoft.com/office/drawing/2014/main" id="{39C7F2DD-B7CE-4D1C-F53A-A59E5948D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494" y="1422400"/>
            <a:ext cx="3451413" cy="258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11849\Desktop\图片2.tif">
            <a:extLst>
              <a:ext uri="{FF2B5EF4-FFF2-40B4-BE49-F238E27FC236}">
                <a16:creationId xmlns:a16="http://schemas.microsoft.com/office/drawing/2014/main" id="{5E7A4FDB-7A12-AA25-F549-2CC3720B9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757" y="4083798"/>
            <a:ext cx="3359150" cy="252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19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E37E8C05-165F-411C-A518-AA21F4ADD0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0D8794-7AAC-4201-8342-5952D400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E0F8CF-3799-4DF9-B486-35019DA33C8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1885</TotalTime>
  <Words>586</Words>
  <Application>Microsoft Office PowerPoint</Application>
  <PresentationFormat>Widescreen</PresentationFormat>
  <Paragraphs>78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Global and Local Optimization</vt:lpstr>
      <vt:lpstr>Global optimal solution</vt:lpstr>
      <vt:lpstr>Neighborhood </vt:lpstr>
      <vt:lpstr>Neighborhood </vt:lpstr>
      <vt:lpstr>Neighborhood </vt:lpstr>
      <vt:lpstr>Local optimal solution </vt:lpstr>
      <vt:lpstr>Local optimization </vt:lpstr>
      <vt:lpstr>Global optimization</vt:lpstr>
      <vt:lpstr>Unimodal and multimodal optimization problems 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77</cp:revision>
  <dcterms:created xsi:type="dcterms:W3CDTF">2021-01-06T14:22:07Z</dcterms:created>
  <dcterms:modified xsi:type="dcterms:W3CDTF">2024-10-17T02:09:00Z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