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01/07/2024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chemeClr val="tx1"/>
                </a:solidFill>
              </a:rPr>
              <a:t>Engineering Case Studies (2)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it-IT" dirty="0"/>
              <a:t>Antenna design— antenna array design</a:t>
            </a:r>
          </a:p>
        </p:txBody>
      </p:sp>
      <p:sp>
        <p:nvSpPr>
          <p:cNvPr id="2" name="矩形 7">
            <a:extLst>
              <a:ext uri="{FF2B5EF4-FFF2-40B4-BE49-F238E27FC236}">
                <a16:creationId xmlns:a16="http://schemas.microsoft.com/office/drawing/2014/main" id="{3A4AB8B6-832F-ED02-0B08-3D18A8FD2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300" y="1766200"/>
            <a:ext cx="100682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What is the antenna array?</a:t>
            </a:r>
          </a:p>
          <a:p>
            <a:pPr>
              <a:buFont typeface="Wingdings" pitchFamily="2" charset="2"/>
              <a:buNone/>
            </a:pPr>
            <a:endParaRPr lang="en-US" altLang="zh-CN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Multiple antennas working at the same frequency are fed and spatially arranged. </a:t>
            </a:r>
            <a:endParaRPr lang="zh-CN" altLang="en-US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endParaRPr lang="en-US" altLang="zh-CN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endParaRPr lang="en-US" altLang="zh-CN" sz="24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F649E7-0C69-1141-42BC-DE4ADE444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6"/>
          <a:stretch>
            <a:fillRect/>
          </a:stretch>
        </p:blipFill>
        <p:spPr bwMode="auto">
          <a:xfrm>
            <a:off x="3833674" y="3506484"/>
            <a:ext cx="4062585" cy="295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1">
            <a:extLst>
              <a:ext uri="{FF2B5EF4-FFF2-40B4-BE49-F238E27FC236}">
                <a16:creationId xmlns:a16="http://schemas.microsoft.com/office/drawing/2014/main" id="{F4D525F5-E4C4-8986-A098-5B35A3A6E3C6}"/>
              </a:ext>
            </a:extLst>
          </p:cNvPr>
          <p:cNvSpPr/>
          <p:nvPr/>
        </p:nvSpPr>
        <p:spPr>
          <a:xfrm>
            <a:off x="1899058" y="4806933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Directivity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409A-C487-B0D6-56F1-940632F5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Antenna design— antenna array design</a:t>
            </a:r>
            <a:br>
              <a:rPr lang="it-IT" dirty="0"/>
            </a:br>
            <a:endParaRPr lang="en-GB" dirty="0"/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BC616A45-78CE-3DC8-D166-09EACABCA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894" y="1554163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n-GB" altLang="en-US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5D289F-4A2B-5E73-BA60-930B6BECA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900" y="1588400"/>
            <a:ext cx="86979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What is the circular antenna array?</a:t>
            </a:r>
          </a:p>
          <a:p>
            <a:endParaRPr lang="en-US" altLang="zh-CN" sz="2400" dirty="0">
              <a:solidFill>
                <a:srgbClr val="000066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antennas are arranged in the form of rings</a:t>
            </a:r>
            <a:r>
              <a:rPr lang="en-US" altLang="zh-CN" sz="2400" b="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对象 25">
            <a:extLst>
              <a:ext uri="{FF2B5EF4-FFF2-40B4-BE49-F238E27FC236}">
                <a16:creationId xmlns:a16="http://schemas.microsoft.com/office/drawing/2014/main" id="{ADF845A0-B483-3E2D-AC57-61841508D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924" y="2822787"/>
            <a:ext cx="3070151" cy="273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1">
            <a:extLst>
              <a:ext uri="{FF2B5EF4-FFF2-40B4-BE49-F238E27FC236}">
                <a16:creationId xmlns:a16="http://schemas.microsoft.com/office/drawing/2014/main" id="{B9166534-8CF5-63A9-17EC-7C3D9FA9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648" y="5486867"/>
            <a:ext cx="11044704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For circular antenna array design,  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=[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</a:t>
            </a:r>
            <a:r>
              <a:rPr lang="en-US" altLang="zh-CN" sz="2400" i="0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,... ,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</a:t>
            </a:r>
            <a:r>
              <a:rPr lang="en-US" altLang="zh-CN" sz="24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]</a:t>
            </a:r>
            <a:r>
              <a:rPr lang="en-US" altLang="zh-CN" sz="2400" i="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the amplitude of array element feed current, 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β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 [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β</a:t>
            </a:r>
            <a:r>
              <a:rPr lang="en-US" altLang="zh-CN" sz="2400" i="0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,…, 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β</a:t>
            </a:r>
            <a:r>
              <a:rPr lang="en-US" altLang="zh-CN" sz="24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]</a:t>
            </a:r>
            <a:r>
              <a:rPr lang="en-US" altLang="zh-CN" sz="2400" i="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the phase of the array element feed current. [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β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]</a:t>
            </a:r>
            <a:r>
              <a:rPr lang="en-US" altLang="zh-CN" sz="24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are the design variables.</a:t>
            </a:r>
            <a:endParaRPr lang="zh-CN" altLang="en-US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94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66974-1972-7C46-DD83-EAB84422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Antenna design— antenna array design</a:t>
            </a:r>
            <a:br>
              <a:rPr lang="it-IT" dirty="0"/>
            </a:br>
            <a:endParaRPr lang="en-GB" dirty="0"/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028644D9-EB58-002A-4FBD-57BD1CC94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00" y="1715400"/>
            <a:ext cx="110842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Problem description</a:t>
            </a:r>
          </a:p>
          <a:p>
            <a:endParaRPr lang="en-US" altLang="zh-CN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For circular antenna array, the design requirements include:</a:t>
            </a:r>
          </a:p>
          <a:p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sidelobe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(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SLL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)) should not be more than -20 </a:t>
            </a:r>
            <a:r>
              <a:rPr lang="en-US" altLang="zh-CN" sz="24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dB.</a:t>
            </a: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directivity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)) should not be less than 10 </a:t>
            </a:r>
            <a:r>
              <a:rPr lang="en-US" altLang="zh-CN" sz="24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dB.</a:t>
            </a: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gain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)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of </a:t>
            </a:r>
            <a:r>
              <a:rPr lang="el-GR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θ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180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°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should not be less than – 0.1 dB for achieving the expected maximum radiation direction</a:t>
            </a:r>
            <a:r>
              <a:rPr lang="el-GR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θ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180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°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of </a:t>
            </a:r>
            <a:r>
              <a:rPr lang="el-GR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θ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∈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[80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°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~120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°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] should not be more than – 40 dB to nulling control the radiation in </a:t>
            </a:r>
            <a:r>
              <a:rPr lang="el-GR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θ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∈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[80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°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~120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°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] . </a:t>
            </a:r>
          </a:p>
          <a:p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endParaRPr lang="en-US" altLang="zh-CN" sz="2400" b="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67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C687-6F63-33B8-5C9D-C83C03F75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Antenna design— antenna array design</a:t>
            </a:r>
            <a:br>
              <a:rPr lang="it-IT" dirty="0"/>
            </a:br>
            <a:endParaRPr lang="en-GB" dirty="0"/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5A334303-68BD-3EED-794F-B3983BA6B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500" y="1728100"/>
            <a:ext cx="869791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Problem description</a:t>
            </a:r>
          </a:p>
          <a:p>
            <a:endParaRPr lang="en-US" altLang="zh-CN" sz="2400" b="1" i="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endParaRPr lang="en-US" altLang="zh-CN" sz="2400" b="0" i="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7" name="矩形 1">
            <a:extLst>
              <a:ext uri="{FF2B5EF4-FFF2-40B4-BE49-F238E27FC236}">
                <a16:creationId xmlns:a16="http://schemas.microsoft.com/office/drawing/2014/main" id="{B3CD6178-BC9B-B7C9-C648-52D2EB834ACA}"/>
              </a:ext>
            </a:extLst>
          </p:cNvPr>
          <p:cNvSpPr/>
          <p:nvPr/>
        </p:nvSpPr>
        <p:spPr>
          <a:xfrm>
            <a:off x="358500" y="2231609"/>
            <a:ext cx="9514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4664075" algn="l"/>
              </a:tabLst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However, the designer is not sure if the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SLL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can meet –20 </a:t>
            </a:r>
            <a:r>
              <a:rPr lang="en-US" altLang="zh-CN" sz="24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dB.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If not meeting – 20 dB, he/she wants to see how small can it be and then decides the next step.  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C37F7FCF-3084-0A05-B6E6-9ECB47C21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866" y="3137474"/>
            <a:ext cx="4566268" cy="372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495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8474-6DB6-5DC5-645E-1DB2A27F4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Antenna design— antenna array design</a:t>
            </a:r>
            <a:br>
              <a:rPr lang="it-IT" dirty="0"/>
            </a:br>
            <a:endParaRPr lang="en-GB" dirty="0"/>
          </a:p>
        </p:txBody>
      </p:sp>
      <p:sp>
        <p:nvSpPr>
          <p:cNvPr id="3" name="矩形 6">
            <a:extLst>
              <a:ext uri="{FF2B5EF4-FFF2-40B4-BE49-F238E27FC236}">
                <a16:creationId xmlns:a16="http://schemas.microsoft.com/office/drawing/2014/main" id="{947F16E6-F754-F06A-8E15-A896580E4B55}"/>
              </a:ext>
            </a:extLst>
          </p:cNvPr>
          <p:cNvSpPr/>
          <p:nvPr/>
        </p:nvSpPr>
        <p:spPr>
          <a:xfrm>
            <a:off x="536575" y="2600325"/>
            <a:ext cx="3874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Constrained optimization</a:t>
            </a: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B5B4E2CF-4DFB-B2F5-8440-4091D792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1818070"/>
            <a:ext cx="876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How to formulate the problem into an optimization problem?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17">
                <a:extLst>
                  <a:ext uri="{FF2B5EF4-FFF2-40B4-BE49-F238E27FC236}">
                    <a16:creationId xmlns:a16="http://schemas.microsoft.com/office/drawing/2014/main" id="{C43721FD-89E8-EBB4-DE1D-157AF988F9D3}"/>
                  </a:ext>
                </a:extLst>
              </p:cNvPr>
              <p:cNvSpPr txBox="1"/>
              <p:nvPr/>
            </p:nvSpPr>
            <p:spPr>
              <a:xfrm>
                <a:off x="1493818" y="3259271"/>
                <a:ext cx="3950511" cy="283051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𝐿𝐿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sz="2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:br>
                  <a:rPr lang="en-GB" sz="2400" i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GB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altLang="zh-CN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≥</m:t>
                      </m:r>
                      <m:r>
                        <a:rPr lang="en-GB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m:rPr>
                          <m:nor/>
                        </m:rPr>
                        <a:rPr lang="en-GB" altLang="zh-CN"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dB</m:t>
                      </m:r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𝐺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=18</m:t>
                          </m:r>
                          <m:sSup>
                            <m:sSupPr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/>
                        </a:rPr>
                        <m:t>≥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−0.1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dB</m:t>
                      </m:r>
                    </m:oMath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𝐺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sSup>
                                <m:sSup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GB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∘</m:t>
                                  </m:r>
                                </m:sup>
                              </m:sSup>
                              <m:r>
                                <a:rPr lang="en-GB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12</m:t>
                              </m:r>
                              <m:sSup>
                                <m:sSup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GB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∘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−40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dB</m:t>
                      </m:r>
                    </m:oMath>
                  </m:oMathPara>
                </a14:m>
                <a:br>
                  <a:rPr lang="en-GB" sz="2400" i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GB" sz="2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sz="2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en-GB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GB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GB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对象 17">
                <a:extLst>
                  <a:ext uri="{FF2B5EF4-FFF2-40B4-BE49-F238E27FC236}">
                    <a16:creationId xmlns:a16="http://schemas.microsoft.com/office/drawing/2014/main" id="{C43721FD-89E8-EBB4-DE1D-157AF988F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818" y="3259271"/>
                <a:ext cx="3950511" cy="2830513"/>
              </a:xfrm>
              <a:prstGeom prst="rect">
                <a:avLst/>
              </a:prstGeom>
              <a:blipFill>
                <a:blip r:embed="rId2"/>
                <a:stretch>
                  <a:fillRect l="-309" b="-112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B9CE1D50-2ECF-30A6-7EB9-EC02D6860198}"/>
              </a:ext>
            </a:extLst>
          </p:cNvPr>
          <p:cNvGrpSpPr/>
          <p:nvPr/>
        </p:nvGrpSpPr>
        <p:grpSpPr>
          <a:xfrm>
            <a:off x="5642837" y="4734608"/>
            <a:ext cx="3023759" cy="461665"/>
            <a:chOff x="3776869" y="4148836"/>
            <a:chExt cx="3023759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86C5B8A-6399-2364-7A03-2BCB83AC1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4938" y="4148836"/>
              <a:ext cx="15856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Constraints</a:t>
              </a:r>
              <a:endParaRPr lang="zh-CN" altLang="en-US" sz="2400" i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8" name="右箭头 2">
              <a:extLst>
                <a:ext uri="{FF2B5EF4-FFF2-40B4-BE49-F238E27FC236}">
                  <a16:creationId xmlns:a16="http://schemas.microsoft.com/office/drawing/2014/main" id="{1A808876-02F0-4338-927C-E37AFF616EC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76869" y="4236001"/>
              <a:ext cx="1252330" cy="287337"/>
            </a:xfrm>
            <a:prstGeom prst="rightArrow">
              <a:avLst>
                <a:gd name="adj1" fmla="val 50000"/>
                <a:gd name="adj2" fmla="val 50138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3B4DFA5-420C-9CF2-72DB-44F57E0B5403}"/>
              </a:ext>
            </a:extLst>
          </p:cNvPr>
          <p:cNvGrpSpPr/>
          <p:nvPr/>
        </p:nvGrpSpPr>
        <p:grpSpPr>
          <a:xfrm>
            <a:off x="5537199" y="3432960"/>
            <a:ext cx="4706731" cy="830997"/>
            <a:chOff x="3776869" y="2752510"/>
            <a:chExt cx="4706731" cy="830997"/>
          </a:xfrm>
        </p:grpSpPr>
        <p:sp>
          <p:nvSpPr>
            <p:cNvPr id="10" name="矩形 11">
              <a:extLst>
                <a:ext uri="{FF2B5EF4-FFF2-40B4-BE49-F238E27FC236}">
                  <a16:creationId xmlns:a16="http://schemas.microsoft.com/office/drawing/2014/main" id="{34EB74A7-50D9-00D1-C424-C09FDDCE0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4938" y="2752510"/>
              <a:ext cx="3268662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Objective function </a:t>
              </a:r>
            </a:p>
            <a:p>
              <a:r>
                <a:rPr lang="en-US" altLang="zh-CN" sz="2400" i="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</a:t>
              </a:r>
              <a:endParaRPr lang="zh-CN" altLang="en-US" sz="240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1" name="右箭头 2">
              <a:extLst>
                <a:ext uri="{FF2B5EF4-FFF2-40B4-BE49-F238E27FC236}">
                  <a16:creationId xmlns:a16="http://schemas.microsoft.com/office/drawing/2014/main" id="{3D6ECEAB-19EE-78D1-553A-C14F4D2903B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76869" y="2864774"/>
              <a:ext cx="1252330" cy="287337"/>
            </a:xfrm>
            <a:prstGeom prst="rightArrow">
              <a:avLst>
                <a:gd name="adj1" fmla="val 50000"/>
                <a:gd name="adj2" fmla="val 50138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7052A7-D527-7EB7-0A22-0AD787DE83BF}"/>
              </a:ext>
            </a:extLst>
          </p:cNvPr>
          <p:cNvGrpSpPr/>
          <p:nvPr/>
        </p:nvGrpSpPr>
        <p:grpSpPr>
          <a:xfrm>
            <a:off x="5642837" y="5859018"/>
            <a:ext cx="4320969" cy="830997"/>
            <a:chOff x="3776869" y="5100295"/>
            <a:chExt cx="4320969" cy="830997"/>
          </a:xfrm>
        </p:grpSpPr>
        <p:sp>
          <p:nvSpPr>
            <p:cNvPr id="13" name="矩形 19">
              <a:extLst>
                <a:ext uri="{FF2B5EF4-FFF2-40B4-BE49-F238E27FC236}">
                  <a16:creationId xmlns:a16="http://schemas.microsoft.com/office/drawing/2014/main" id="{3AA31CAF-145B-E321-6393-CD45A4AEB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4938" y="5100295"/>
              <a:ext cx="28829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i="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Design variables  </a:t>
              </a:r>
            </a:p>
            <a:p>
              <a:r>
                <a:rPr lang="en-US" altLang="zh-CN" sz="2400" i="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</a:t>
              </a:r>
              <a:endParaRPr lang="zh-CN" altLang="en-US" sz="240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4" name="右箭头 2">
              <a:extLst>
                <a:ext uri="{FF2B5EF4-FFF2-40B4-BE49-F238E27FC236}">
                  <a16:creationId xmlns:a16="http://schemas.microsoft.com/office/drawing/2014/main" id="{99DB8F26-EE83-F7BA-66D2-2D93C322A0C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76869" y="5205547"/>
              <a:ext cx="1252330" cy="287337"/>
            </a:xfrm>
            <a:prstGeom prst="rightArrow">
              <a:avLst>
                <a:gd name="adj1" fmla="val 50000"/>
                <a:gd name="adj2" fmla="val 50138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endParaRPr lang="zh-CN" altLang="en-US"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193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7D60-54EF-05FE-1C57-3A7049374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Antenna design— compact antenna design</a:t>
            </a:r>
            <a:br>
              <a:rPr lang="it-IT" dirty="0"/>
            </a:br>
            <a:endParaRPr lang="en-GB" dirty="0"/>
          </a:p>
        </p:txBody>
      </p:sp>
      <p:sp>
        <p:nvSpPr>
          <p:cNvPr id="3" name="矩形 7">
            <a:extLst>
              <a:ext uri="{FF2B5EF4-FFF2-40B4-BE49-F238E27FC236}">
                <a16:creationId xmlns:a16="http://schemas.microsoft.com/office/drawing/2014/main" id="{4351558A-7352-9D99-02F5-6233C8DC3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400" y="1753500"/>
            <a:ext cx="93697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What is the compact antenna?</a:t>
            </a:r>
          </a:p>
          <a:p>
            <a:pPr>
              <a:buFont typeface="Wingdings" pitchFamily="2" charset="2"/>
              <a:buNone/>
            </a:pPr>
            <a:endParaRPr lang="en-US" altLang="zh-CN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Minimize the size.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FEF489-5FBC-45A4-6BC5-F82600DB7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56" y="4058885"/>
            <a:ext cx="869791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What is the application of compact antenna?</a:t>
            </a:r>
          </a:p>
          <a:p>
            <a:endParaRPr lang="en-US" altLang="zh-CN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Biomedical antenna (small size)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Satellite antenna (light weight)</a:t>
            </a:r>
            <a:endParaRPr lang="en-US" altLang="zh-CN" sz="2400" b="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68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5954-E093-E496-F5F9-4C418E6F6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Antenna design— compact antenna design</a:t>
            </a:r>
            <a:br>
              <a:rPr lang="it-IT" dirty="0"/>
            </a:br>
            <a:endParaRPr lang="en-GB" dirty="0"/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337343CC-41C7-2AAC-8776-360BC66E5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95021"/>
            <a:ext cx="110617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Problem description</a:t>
            </a:r>
          </a:p>
          <a:p>
            <a:endParaRPr lang="en-US" altLang="zh-CN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endParaRPr lang="en-US" altLang="zh-CN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endParaRPr lang="en-US" altLang="zh-CN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For the patch antenna, the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design variables 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=[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kL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ds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dW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dWs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L0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Lg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Ls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Ws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]. There are 2 design requirements. </a:t>
            </a:r>
          </a:p>
          <a:p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first objective is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magnitude of maximum return loss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(|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2400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)|) smaller than -9 dB in the 4 GHz to 10 GHz operating band.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second objective is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size of the antenna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smaller than 400 mm</a:t>
            </a:r>
            <a:r>
              <a:rPr lang="en-US" altLang="zh-CN" sz="24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.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Even when meeting the requirements, the designer hopes to further optimize them. </a:t>
            </a:r>
          </a:p>
          <a:p>
            <a:endParaRPr lang="en-US" altLang="zh-CN" sz="2400" b="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4" name="图片 1">
            <a:extLst>
              <a:ext uri="{FF2B5EF4-FFF2-40B4-BE49-F238E27FC236}">
                <a16:creationId xmlns:a16="http://schemas.microsoft.com/office/drawing/2014/main" id="{4D0EDA3E-5AAA-77CE-C447-B84CA4F325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423" y="1257195"/>
            <a:ext cx="3374341" cy="1871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928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45F7A-A3FE-D22C-F775-FEC99C19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Antenna design— compact antenna design</a:t>
            </a:r>
            <a:br>
              <a:rPr lang="it-IT" dirty="0"/>
            </a:br>
            <a:endParaRPr lang="en-GB" dirty="0"/>
          </a:p>
        </p:txBody>
      </p:sp>
      <p:sp>
        <p:nvSpPr>
          <p:cNvPr id="3" name="矩形 6">
            <a:extLst>
              <a:ext uri="{FF2B5EF4-FFF2-40B4-BE49-F238E27FC236}">
                <a16:creationId xmlns:a16="http://schemas.microsoft.com/office/drawing/2014/main" id="{B25771CC-4332-58E6-0385-67E444B71E2C}"/>
              </a:ext>
            </a:extLst>
          </p:cNvPr>
          <p:cNvSpPr/>
          <p:nvPr/>
        </p:nvSpPr>
        <p:spPr>
          <a:xfrm>
            <a:off x="400050" y="2458862"/>
            <a:ext cx="4232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0" dirty="0">
                <a:latin typeface="Arial" panose="020B0604020202020204" pitchFamily="34" charset="0"/>
                <a:cs typeface="Arial" panose="020B0604020202020204" pitchFamily="34" charset="0"/>
              </a:rPr>
              <a:t>Multi-objective</a:t>
            </a:r>
            <a:r>
              <a:rPr lang="en-US" altLang="zh-CN" sz="2400" b="1" i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optimization</a:t>
            </a:r>
          </a:p>
        </p:txBody>
      </p:sp>
      <p:sp>
        <p:nvSpPr>
          <p:cNvPr id="4" name="矩形 11">
            <a:extLst>
              <a:ext uri="{FF2B5EF4-FFF2-40B4-BE49-F238E27FC236}">
                <a16:creationId xmlns:a16="http://schemas.microsoft.com/office/drawing/2014/main" id="{A571EA17-8BA1-5944-E738-BD6A3EEE9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0607" y="3025605"/>
            <a:ext cx="29781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Objective functions </a:t>
            </a:r>
          </a:p>
          <a:p>
            <a:r>
              <a:rPr lang="en-US" altLang="zh-CN" sz="2400" i="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endParaRPr lang="zh-CN" altLang="en-US" sz="24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矩形 6">
            <a:extLst>
              <a:ext uri="{FF2B5EF4-FFF2-40B4-BE49-F238E27FC236}">
                <a16:creationId xmlns:a16="http://schemas.microsoft.com/office/drawing/2014/main" id="{DE0BC6D5-4CFF-071D-C0DF-EDC7B2BED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462" y="6052552"/>
            <a:ext cx="246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Design variables</a:t>
            </a:r>
            <a:endParaRPr lang="zh-CN" altLang="en-US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2CD1DBBB-E5E4-A525-786C-C74FA44C8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600" y="1653414"/>
            <a:ext cx="876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How to formulate the problem to an optimization problem?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B38F7B-D9E0-3944-DE58-BFCC1D973241}"/>
                  </a:ext>
                </a:extLst>
              </p:cNvPr>
              <p:cNvSpPr txBox="1"/>
              <p:nvPr/>
            </p:nvSpPr>
            <p:spPr>
              <a:xfrm>
                <a:off x="2549236" y="2920527"/>
                <a:ext cx="6096709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/>
                            </a:rPr>
                            <m:t>min</m:t>
                          </m:r>
                          <m:r>
                            <a:rPr lang="en-US" altLang="zh-CN" sz="2400" b="0" i="1" smtClean="0">
                              <a:latin typeface="Cambria Math"/>
                            </a:rPr>
                            <m:t>   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𝑓</m:t>
                          </m:r>
                          <m:r>
                            <a:rPr lang="en-US" altLang="zh-CN" sz="2400" b="0" i="1" baseline="-25000" smtClean="0">
                              <a:latin typeface="Cambria Math"/>
                            </a:rPr>
                            <m:t>1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GB" altLang="zh-CN" sz="24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altLang="zh-CN" sz="2400" b="0" i="1" smtClean="0">
                              <a:latin typeface="Cambria Math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/>
                            </a:rPr>
                            <m:t>S</m:t>
                          </m:r>
                          <m:r>
                            <a:rPr lang="en-US" altLang="zh-CN" sz="2400" b="0" i="1" baseline="-25000" smtClean="0">
                              <a:latin typeface="Cambria Math"/>
                            </a:rPr>
                            <m:t>11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/>
                            </a:rPr>
                            <m:t>min</m:t>
                          </m:r>
                          <m:r>
                            <a:rPr lang="en-US" altLang="zh-CN" sz="2400" b="0" i="1" smtClean="0">
                              <a:latin typeface="Cambria Math"/>
                            </a:rPr>
                            <m:t>   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𝑓</m:t>
                          </m:r>
                          <m:r>
                            <a:rPr lang="en-US" altLang="zh-CN" sz="2400" b="0" i="1" baseline="-25000" smtClean="0">
                              <a:latin typeface="Cambria Math"/>
                            </a:rPr>
                            <m:t>2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𝑆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s.t.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𝑓</m:t>
                    </m:r>
                    <m:r>
                      <a:rPr lang="en-US" altLang="zh-CN" sz="2400" i="1" baseline="-25000">
                        <a:latin typeface="Cambria Math"/>
                      </a:rPr>
                      <m:t>1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zh-CN" altLang="en-US" sz="2400" b="0" i="1" smtClean="0">
                        <a:latin typeface="Cambria Math"/>
                      </a:rPr>
                      <m:t>≤</m:t>
                    </m:r>
                    <m:r>
                      <a:rPr lang="en-US" altLang="zh-CN" sz="2400" b="0" i="0" smtClean="0">
                        <a:latin typeface="Cambria Math"/>
                      </a:rPr>
                      <m:t>−9</m:t>
                    </m:r>
                    <m:r>
                      <a:rPr lang="en-GB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/>
                      </a:rPr>
                      <m:t>dB</m:t>
                    </m:r>
                  </m:oMath>
                </a14:m>
                <a:endParaRPr lang="en-US" altLang="zh-CN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      </m:t>
                    </m:r>
                    <m:r>
                      <a:rPr lang="en-US" altLang="zh-CN" sz="2400" i="1">
                        <a:latin typeface="Cambria Math"/>
                      </a:rPr>
                      <m:t>𝑓</m:t>
                    </m:r>
                    <m:r>
                      <a:rPr lang="en-US" altLang="zh-CN" sz="2400" i="1" baseline="-2500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zh-CN" altLang="en-US" sz="2400" i="1">
                        <a:latin typeface="Cambria Math"/>
                      </a:rPr>
                      <m:t>≤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400 mm</a:t>
                </a:r>
                <a:r>
                  <a:rPr lang="en-US" altLang="zh-CN" sz="24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  <a:p>
                <a:endParaRPr lang="en-US" altLang="zh-CN" sz="2400" baseline="30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i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x</a:t>
                </a: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=[</a:t>
                </a:r>
                <a:r>
                  <a:rPr lang="en-US" altLang="zh-CN" sz="2400" i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a</a:t>
                </a: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, </a:t>
                </a:r>
                <a:r>
                  <a:rPr lang="en-US" altLang="zh-CN" sz="2400" i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b</a:t>
                </a: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, </a:t>
                </a:r>
                <a:r>
                  <a:rPr lang="en-US" altLang="zh-CN" sz="2400" i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d</a:t>
                </a: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, </a:t>
                </a:r>
                <a:r>
                  <a:rPr lang="en-US" altLang="zh-CN" sz="2400" i="1" dirty="0" err="1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kL</a:t>
                </a: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, </a:t>
                </a:r>
                <a:r>
                  <a:rPr lang="en-US" altLang="zh-CN" sz="2400" i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ds</a:t>
                </a: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, </a:t>
                </a:r>
                <a:r>
                  <a:rPr lang="en-US" altLang="zh-CN" sz="2400" i="1" dirty="0" err="1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dW</a:t>
                </a: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, </a:t>
                </a:r>
                <a:r>
                  <a:rPr lang="en-US" altLang="zh-CN" sz="2400" i="1" dirty="0" err="1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dWs</a:t>
                </a: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, </a:t>
                </a:r>
                <a:r>
                  <a:rPr lang="en-US" altLang="zh-CN" sz="2400" i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L0</a:t>
                </a: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, </a:t>
                </a:r>
                <a:r>
                  <a:rPr lang="en-US" altLang="zh-CN" sz="2400" i="1" dirty="0" err="1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Lg</a:t>
                </a: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, </a:t>
                </a:r>
                <a:r>
                  <a:rPr lang="en-US" altLang="zh-CN" sz="2400" i="1" dirty="0" err="1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Ls</a:t>
                </a: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, </a:t>
                </a:r>
                <a:r>
                  <a:rPr lang="en-US" altLang="zh-CN" sz="2400" i="1" dirty="0" err="1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Ws</a:t>
                </a: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]</a:t>
                </a:r>
                <a:endParaRPr lang="zh-CN" altLang="en-US" sz="2400" baseline="30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B38F7B-D9E0-3944-DE58-BFCC1D973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236" y="2920527"/>
                <a:ext cx="6096709" cy="2554545"/>
              </a:xfrm>
              <a:prstGeom prst="rect">
                <a:avLst/>
              </a:prstGeom>
              <a:blipFill>
                <a:blip r:embed="rId2"/>
                <a:stretch>
                  <a:fillRect l="-1500" r="-900" b="-47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6">
            <a:extLst>
              <a:ext uri="{FF2B5EF4-FFF2-40B4-BE49-F238E27FC236}">
                <a16:creationId xmlns:a16="http://schemas.microsoft.com/office/drawing/2014/main" id="{AA14A7FB-D3DF-0523-26A1-16850644C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0851" y="4271539"/>
            <a:ext cx="30780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Inequality constraints</a:t>
            </a:r>
          </a:p>
        </p:txBody>
      </p:sp>
      <p:sp>
        <p:nvSpPr>
          <p:cNvPr id="9" name="右箭头 2">
            <a:extLst>
              <a:ext uri="{FF2B5EF4-FFF2-40B4-BE49-F238E27FC236}">
                <a16:creationId xmlns:a16="http://schemas.microsoft.com/office/drawing/2014/main" id="{F62B922F-991F-6988-FA62-41C48278C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4187" y="3115636"/>
            <a:ext cx="867589" cy="287337"/>
          </a:xfrm>
          <a:prstGeom prst="rightArrow">
            <a:avLst>
              <a:gd name="adj1" fmla="val 50000"/>
              <a:gd name="adj2" fmla="val 5006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" name="右箭头 2">
            <a:extLst>
              <a:ext uri="{FF2B5EF4-FFF2-40B4-BE49-F238E27FC236}">
                <a16:creationId xmlns:a16="http://schemas.microsoft.com/office/drawing/2014/main" id="{9E1A9293-0FE9-90D6-F053-56963E3D2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2508" y="4360467"/>
            <a:ext cx="1150937" cy="287337"/>
          </a:xfrm>
          <a:prstGeom prst="rightArrow">
            <a:avLst>
              <a:gd name="adj1" fmla="val 50000"/>
              <a:gd name="adj2" fmla="val 5006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1" name="右箭头 2">
            <a:extLst>
              <a:ext uri="{FF2B5EF4-FFF2-40B4-BE49-F238E27FC236}">
                <a16:creationId xmlns:a16="http://schemas.microsoft.com/office/drawing/2014/main" id="{08B93DEA-0B01-EC9B-8804-B323EC1656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94317" y="5649279"/>
            <a:ext cx="519210" cy="287337"/>
          </a:xfrm>
          <a:prstGeom prst="rightArrow">
            <a:avLst>
              <a:gd name="adj1" fmla="val 50000"/>
              <a:gd name="adj2" fmla="val 5006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098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7E8C05-165F-411C-A518-AA21F4ADD0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E0F8CF-3799-4DF9-B486-35019DA33C8E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5A0D8794-7AAC-4201-8342-5952D400BE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1855</TotalTime>
  <Words>566</Words>
  <Application>Microsoft Office PowerPoint</Application>
  <PresentationFormat>Widescreen</PresentationFormat>
  <Paragraphs>83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宋体</vt:lpstr>
      <vt:lpstr>Arial</vt:lpstr>
      <vt:lpstr>Calibri</vt:lpstr>
      <vt:lpstr>Cambria Math</vt:lpstr>
      <vt:lpstr>Times New Roman</vt:lpstr>
      <vt:lpstr>Wingdings</vt:lpstr>
      <vt:lpstr>Office Theme</vt:lpstr>
      <vt:lpstr>Engineering Case Studies (2)</vt:lpstr>
      <vt:lpstr>Antenna design— antenna array design</vt:lpstr>
      <vt:lpstr>Antenna design— antenna array design </vt:lpstr>
      <vt:lpstr>Antenna design— antenna array design </vt:lpstr>
      <vt:lpstr>Antenna design— antenna array design </vt:lpstr>
      <vt:lpstr>Antenna design— antenna array design </vt:lpstr>
      <vt:lpstr>Antenna design— compact antenna design </vt:lpstr>
      <vt:lpstr>Antenna design— compact antenna design </vt:lpstr>
      <vt:lpstr>Antenna design— compact antenna design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63</cp:revision>
  <dcterms:created xsi:type="dcterms:W3CDTF">2021-01-06T14:22:07Z</dcterms:created>
  <dcterms:modified xsi:type="dcterms:W3CDTF">2024-07-01T16:31:58Z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