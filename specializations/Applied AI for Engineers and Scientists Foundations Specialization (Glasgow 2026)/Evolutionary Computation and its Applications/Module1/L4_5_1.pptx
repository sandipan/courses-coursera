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09AC0-E465-2067-B230-7B7F8CCA679B}" v="2" dt="2024-10-17T02:06:1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87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Liu" userId="S::bo.liu@glasgow.ac.uk::9f3cef8d-a62c-47d5-a5f2-d612cd92c880" providerId="AD" clId="Web-{0C109AC0-E465-2067-B230-7B7F8CCA679B}"/>
    <pc:docChg chg="modSld">
      <pc:chgData name="Bo Liu" userId="S::bo.liu@glasgow.ac.uk::9f3cef8d-a62c-47d5-a5f2-d612cd92c880" providerId="AD" clId="Web-{0C109AC0-E465-2067-B230-7B7F8CCA679B}" dt="2024-10-17T02:06:15.186" v="0" actId="20577"/>
      <pc:docMkLst>
        <pc:docMk/>
      </pc:docMkLst>
      <pc:sldChg chg="modSp">
        <pc:chgData name="Bo Liu" userId="S::bo.liu@glasgow.ac.uk::9f3cef8d-a62c-47d5-a5f2-d612cd92c880" providerId="AD" clId="Web-{0C109AC0-E465-2067-B230-7B7F8CCA679B}" dt="2024-10-17T02:06:15.186" v="0" actId="20577"/>
        <pc:sldMkLst>
          <pc:docMk/>
          <pc:sldMk cId="158662412" sldId="498"/>
        </pc:sldMkLst>
        <pc:spChg chg="mod">
          <ac:chgData name="Bo Liu" userId="S::bo.liu@glasgow.ac.uk::9f3cef8d-a62c-47d5-a5f2-d612cd92c880" providerId="AD" clId="Web-{0C109AC0-E465-2067-B230-7B7F8CCA679B}" dt="2024-10-17T02:06:15.186" v="0" actId="20577"/>
          <ac:spMkLst>
            <pc:docMk/>
            <pc:sldMk cId="158662412" sldId="498"/>
            <ac:spMk id="3" creationId="{3D71E412-E3CB-D1CD-C855-7A5B232653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Engineering Case Studies (1)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Microwave engineering: antenna design</a:t>
            </a:r>
          </a:p>
        </p:txBody>
      </p:sp>
      <p:sp>
        <p:nvSpPr>
          <p:cNvPr id="2" name="矩形 7">
            <a:extLst>
              <a:ext uri="{FF2B5EF4-FFF2-40B4-BE49-F238E27FC236}">
                <a16:creationId xmlns:a16="http://schemas.microsoft.com/office/drawing/2014/main" id="{FAF2DEB9-2380-E3B7-ADBA-62A650FB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64" y="1656772"/>
            <a:ext cx="96104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antenna?</a:t>
            </a:r>
          </a:p>
          <a:p>
            <a:pPr>
              <a:buFont typeface="Wingdings" pitchFamily="2" charset="2"/>
              <a:buNone/>
            </a:pPr>
            <a:endParaRPr lang="en-US" altLang="zh-CN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An antenna is a component that is used to transmit or receive electromagnetic waves. </a:t>
            </a:r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3" name="Picture 2" descr="查看源图像">
            <a:extLst>
              <a:ext uri="{FF2B5EF4-FFF2-40B4-BE49-F238E27FC236}">
                <a16:creationId xmlns:a16="http://schemas.microsoft.com/office/drawing/2014/main" id="{10EF1C3C-F53B-7B08-96CC-84BEEE52F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306" y="3429000"/>
            <a:ext cx="4497387" cy="29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6E5E-5CC2-8F38-33E3-4C82CA0C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Antenna design—dipole antenna</a:t>
            </a: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84FD21D5-5F92-305D-D3AB-F62570B79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4" y="1859340"/>
            <a:ext cx="978455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What is the dipole antenna?</a:t>
            </a:r>
          </a:p>
          <a:p>
            <a:endParaRPr lang="en-US" altLang="zh-CN" sz="2400" dirty="0">
              <a:solidFill>
                <a:srgbClr val="000066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Dipole antenna is one of the earliest, simplest and most widely used antennas in radio communication. </a:t>
            </a:r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19">
            <a:extLst>
              <a:ext uri="{FF2B5EF4-FFF2-40B4-BE49-F238E27FC236}">
                <a16:creationId xmlns:a16="http://schemas.microsoft.com/office/drawing/2014/main" id="{1B4FDB9C-FDB9-BC5E-F63F-E9B2D122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8" b="16287"/>
          <a:stretch>
            <a:fillRect/>
          </a:stretch>
        </p:blipFill>
        <p:spPr bwMode="auto">
          <a:xfrm>
            <a:off x="2450306" y="3429000"/>
            <a:ext cx="7291387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2">
            <a:extLst>
              <a:ext uri="{FF2B5EF4-FFF2-40B4-BE49-F238E27FC236}">
                <a16:creationId xmlns:a16="http://schemas.microsoft.com/office/drawing/2014/main" id="{B1A397BB-83EC-A098-4584-B8A24155B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4" y="4998660"/>
            <a:ext cx="105465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geometry parameters [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 of the antenna determine the performance of the antenna. </a:t>
            </a:r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74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CE4F-E21A-3197-5BAB-FAAE7A0B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Antenna design—dipole antenna</a:t>
            </a: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554CB521-F64E-3EA5-1C32-C34D790FE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4" y="1919238"/>
            <a:ext cx="997505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geometry parameters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 of the antenna determine the performance of the antenna, which can usually be adjusted/optimized during antenna design.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1B527-4312-DE92-0D78-5F6ABF568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1" y="3884726"/>
            <a:ext cx="5655566" cy="2871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036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E9A9-5B00-CDDE-1658-CC6D062C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Antenna design—dipole antenna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3D71E412-E3CB-D1CD-C855-7A5B2326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44" y="1884908"/>
            <a:ext cx="10686256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400" b="1" dirty="0">
                <a:latin typeface="Arial"/>
                <a:ea typeface="宋体"/>
                <a:cs typeface="Arial"/>
              </a:rPr>
              <a:t>Design requirement</a:t>
            </a:r>
            <a:r>
              <a:rPr lang="en-US" altLang="zh-CN" sz="2400" dirty="0">
                <a:latin typeface="Arial"/>
                <a:ea typeface="宋体"/>
                <a:cs typeface="Arial"/>
              </a:rPr>
              <a:t>: the magnitude of the antenna </a:t>
            </a:r>
            <a:r>
              <a:rPr lang="en-US" altLang="zh-CN" sz="2400" dirty="0">
                <a:latin typeface="Arial"/>
                <a:ea typeface="等线"/>
                <a:cs typeface="Arial"/>
              </a:rPr>
              <a:t>max (|</a:t>
            </a:r>
            <a:r>
              <a:rPr lang="en-US" altLang="zh-CN" sz="2400" i="1" dirty="0">
                <a:latin typeface="Arial"/>
                <a:ea typeface="等线"/>
                <a:cs typeface="Arial"/>
              </a:rPr>
              <a:t>S</a:t>
            </a:r>
            <a:r>
              <a:rPr lang="en-US" altLang="zh-CN" sz="2400" baseline="-25000" dirty="0">
                <a:latin typeface="Arial"/>
                <a:ea typeface="等线"/>
                <a:cs typeface="Arial"/>
              </a:rPr>
              <a:t>11</a:t>
            </a:r>
            <a:r>
              <a:rPr lang="en-US" altLang="zh-CN" sz="2400" dirty="0">
                <a:latin typeface="Arial"/>
                <a:ea typeface="等线"/>
                <a:cs typeface="Arial"/>
              </a:rPr>
              <a:t>|) </a:t>
            </a:r>
            <a:r>
              <a:rPr lang="en-US" altLang="zh-CN" sz="2400" dirty="0">
                <a:latin typeface="Arial"/>
                <a:ea typeface="宋体"/>
                <a:cs typeface="Arial"/>
              </a:rPr>
              <a:t>is less </a:t>
            </a:r>
            <a:r>
              <a:rPr lang="en-US" altLang="zh-CN" sz="2400">
                <a:latin typeface="Arial"/>
                <a:ea typeface="宋体"/>
                <a:cs typeface="Arial"/>
              </a:rPr>
              <a:t>than -10 dB within the frequency range [1.8 GHz 2.2 GHz].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Search ranges: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l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between 60 mm and 90 mm, and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between 0.001 mm and 0.5 mm.</a:t>
            </a:r>
          </a:p>
          <a:p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" name="图片 19">
            <a:extLst>
              <a:ext uri="{FF2B5EF4-FFF2-40B4-BE49-F238E27FC236}">
                <a16:creationId xmlns:a16="http://schemas.microsoft.com/office/drawing/2014/main" id="{33C6E325-D5B5-FF3F-495A-D6CF2FB4E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8" b="16287"/>
          <a:stretch>
            <a:fillRect/>
          </a:stretch>
        </p:blipFill>
        <p:spPr bwMode="auto">
          <a:xfrm>
            <a:off x="2055523" y="2286504"/>
            <a:ext cx="7710777" cy="142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66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5E42-2B5E-F729-C23B-CE4D9012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Antenna design—dipole antenna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9CEC41EF-9048-F1DA-F88D-F097059F3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376" y="231165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4AE4EDB8-5140-CB28-23BA-F4929AB24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25" y="1581511"/>
            <a:ext cx="89871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How to formulate the problem into an optimization problem?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FD55DE-D8D9-38B3-B02A-BCE4F38A7470}"/>
              </a:ext>
            </a:extLst>
          </p:cNvPr>
          <p:cNvGrpSpPr/>
          <p:nvPr/>
        </p:nvGrpSpPr>
        <p:grpSpPr>
          <a:xfrm>
            <a:off x="480725" y="2008021"/>
            <a:ext cx="7179964" cy="1569660"/>
            <a:chOff x="328984" y="1287042"/>
            <a:chExt cx="6477399" cy="1569660"/>
          </a:xfrm>
        </p:grpSpPr>
        <p:sp>
          <p:nvSpPr>
            <p:cNvPr id="9" name="矩形 12">
              <a:extLst>
                <a:ext uri="{FF2B5EF4-FFF2-40B4-BE49-F238E27FC236}">
                  <a16:creationId xmlns:a16="http://schemas.microsoft.com/office/drawing/2014/main" id="{72BEBB76-56D4-1280-AB65-F6B25ACAE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4" y="1299821"/>
              <a:ext cx="59197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7800"/>
                </a:spcAft>
              </a:pPr>
              <a:r>
                <a:rPr lang="en-US" altLang="zh-CN" sz="2400" b="1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1. Find design variables</a:t>
              </a:r>
            </a:p>
          </p:txBody>
        </p:sp>
        <p:sp>
          <p:nvSpPr>
            <p:cNvPr id="10" name="矩形 1">
              <a:extLst>
                <a:ext uri="{FF2B5EF4-FFF2-40B4-BE49-F238E27FC236}">
                  <a16:creationId xmlns:a16="http://schemas.microsoft.com/office/drawing/2014/main" id="{CD2D1161-6A08-966C-863D-2BBD0AC2D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213" y="1287042"/>
              <a:ext cx="2823170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=[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,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[60 mm 90 mm]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[0.001 mm 0.5 mm]</a:t>
              </a:r>
            </a:p>
            <a:p>
              <a:endPara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A052E16-99B1-77FE-BB44-4D6C0B2644F9}"/>
              </a:ext>
            </a:extLst>
          </p:cNvPr>
          <p:cNvGrpSpPr/>
          <p:nvPr/>
        </p:nvGrpSpPr>
        <p:grpSpPr>
          <a:xfrm>
            <a:off x="480725" y="3254044"/>
            <a:ext cx="8793770" cy="1350311"/>
            <a:chOff x="328984" y="2851759"/>
            <a:chExt cx="8793770" cy="1350311"/>
          </a:xfrm>
        </p:grpSpPr>
        <p:sp>
          <p:nvSpPr>
            <p:cNvPr id="7" name="矩形 8">
              <a:extLst>
                <a:ext uri="{FF2B5EF4-FFF2-40B4-BE49-F238E27FC236}">
                  <a16:creationId xmlns:a16="http://schemas.microsoft.com/office/drawing/2014/main" id="{4AFB0A6A-E413-1A28-5859-1C1BC9433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757" y="3001741"/>
              <a:ext cx="6356997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  <a:p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inimize max (|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S</a:t>
              </a:r>
              <a:r>
                <a:rPr lang="en-US" altLang="zh-CN" sz="2400" i="0" baseline="-25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11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)|)   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[1.8 GHz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2.2 GHz]</a:t>
              </a:r>
              <a:endParaRPr lang="zh-CN" altLang="en-US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  <a:p>
              <a:pPr>
                <a:buFont typeface="Wingdings" pitchFamily="2" charset="2"/>
                <a:buNone/>
              </a:pPr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80D78424-F2BA-9FC4-2F82-B40DFE84FBD2}"/>
                </a:ext>
              </a:extLst>
            </p:cNvPr>
            <p:cNvSpPr txBox="1"/>
            <p:nvPr/>
          </p:nvSpPr>
          <p:spPr>
            <a:xfrm>
              <a:off x="328984" y="2851759"/>
              <a:ext cx="595524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7000"/>
                </a:spcAft>
              </a:pPr>
              <a:r>
                <a:rPr lang="en-US" altLang="zh-CN" sz="24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2. Establish the objective function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B45A7E-3E55-A70E-812F-A5FFBA1DB345}"/>
              </a:ext>
            </a:extLst>
          </p:cNvPr>
          <p:cNvGrpSpPr/>
          <p:nvPr/>
        </p:nvGrpSpPr>
        <p:grpSpPr>
          <a:xfrm>
            <a:off x="480725" y="4414875"/>
            <a:ext cx="8182251" cy="2512936"/>
            <a:chOff x="328984" y="4112912"/>
            <a:chExt cx="8182251" cy="2512936"/>
          </a:xfrm>
        </p:grpSpPr>
        <p:sp>
          <p:nvSpPr>
            <p:cNvPr id="14" name="矩形 8">
              <a:extLst>
                <a:ext uri="{FF2B5EF4-FFF2-40B4-BE49-F238E27FC236}">
                  <a16:creationId xmlns:a16="http://schemas.microsoft.com/office/drawing/2014/main" id="{C90A0B4C-E06E-05C7-EC8E-FFF7124F4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238" y="4208463"/>
              <a:ext cx="6356997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  <a:p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m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inimize max (|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S</a:t>
              </a:r>
              <a:r>
                <a:rPr lang="en-US" altLang="zh-CN" sz="2400" i="0" baseline="-250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11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(</a:t>
              </a:r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)|)   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[1.8 GHz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2.2 GHz]</a:t>
              </a:r>
              <a:endParaRPr lang="zh-CN" altLang="en-US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  <a:p>
              <a:pPr>
                <a:buFont typeface="Wingdings" pitchFamily="2" charset="2"/>
                <a:buNone/>
              </a:pPr>
              <a:endPara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C205EC8-6B9B-EDFE-B627-1EAEE29CB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025" y="5056188"/>
              <a:ext cx="3129383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=[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,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l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[60 mm 90 mm]</a:t>
              </a:r>
            </a:p>
            <a:p>
              <a:r>
                <a:rPr lang="en-US" altLang="zh-CN" sz="2400" i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r</a:t>
              </a:r>
              <a:r>
                <a:rPr lang="zh-CN" altLang="en-US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∈</a:t>
              </a:r>
              <a:r>
                <a:rPr lang="en-US" altLang="zh-CN" sz="2400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[0.001 mm 0.5 mm]</a:t>
              </a:r>
            </a:p>
            <a:p>
              <a:endPara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53D5AC-E240-EBB5-C37A-A0ED10F188D4}"/>
                </a:ext>
              </a:extLst>
            </p:cNvPr>
            <p:cNvSpPr txBox="1"/>
            <p:nvPr/>
          </p:nvSpPr>
          <p:spPr>
            <a:xfrm>
              <a:off x="328984" y="4112912"/>
              <a:ext cx="63000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3. Optimization problem formulation</a:t>
              </a:r>
              <a:endParaRPr lang="zh-CN" altLang="en-US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03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1857</TotalTime>
  <Words>296</Words>
  <Application>Microsoft Office PowerPoint</Application>
  <PresentationFormat>Widescreen</PresentationFormat>
  <Paragraphs>46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Engineering Case Studies (1)</vt:lpstr>
      <vt:lpstr>Microwave engineering: antenna design</vt:lpstr>
      <vt:lpstr>Antenna design—dipole antenna</vt:lpstr>
      <vt:lpstr>Antenna design—dipole antenna</vt:lpstr>
      <vt:lpstr>Antenna design—dipole antenna </vt:lpstr>
      <vt:lpstr>Antenna design—dipole antenna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66</cp:revision>
  <dcterms:created xsi:type="dcterms:W3CDTF">2021-01-06T14:22:07Z</dcterms:created>
  <dcterms:modified xsi:type="dcterms:W3CDTF">2024-10-17T02:06:15Z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