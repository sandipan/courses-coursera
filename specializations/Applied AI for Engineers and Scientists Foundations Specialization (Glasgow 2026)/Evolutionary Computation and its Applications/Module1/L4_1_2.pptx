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90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7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40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01/07/2024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tx1"/>
                </a:solidFill>
              </a:rPr>
              <a:t>Introduction to Optimization (2)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What is the optimization?</a:t>
            </a:r>
            <a:br>
              <a:rPr lang="en-US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endParaRPr lang="en-US" sz="2800" b="1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A94199-4361-73FE-E3FE-5B549F35F7A4}"/>
              </a:ext>
            </a:extLst>
          </p:cNvPr>
          <p:cNvGrpSpPr/>
          <p:nvPr/>
        </p:nvGrpSpPr>
        <p:grpSpPr>
          <a:xfrm>
            <a:off x="2830702" y="1920740"/>
            <a:ext cx="6530596" cy="2459320"/>
            <a:chOff x="468502" y="1633857"/>
            <a:chExt cx="6530596" cy="2459320"/>
          </a:xfrm>
        </p:grpSpPr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7C07AC3E-497E-B12E-2E70-E3BE74C7A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527" y="2800872"/>
              <a:ext cx="5165548" cy="46166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Optimization/Search Problem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0" name="Oval 3">
              <a:extLst>
                <a:ext uri="{FF2B5EF4-FFF2-40B4-BE49-F238E27FC236}">
                  <a16:creationId xmlns:a16="http://schemas.microsoft.com/office/drawing/2014/main" id="{9176C7B0-7E37-F00E-3B61-F21DB734A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02" y="1633857"/>
              <a:ext cx="6530596" cy="649188"/>
            </a:xfrm>
            <a:prstGeom prst="ellipse">
              <a:avLst/>
            </a:prstGeom>
            <a:solidFill>
              <a:srgbClr val="E7E6E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Find the best plan or design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Line 4">
              <a:extLst>
                <a:ext uri="{FF2B5EF4-FFF2-40B4-BE49-F238E27FC236}">
                  <a16:creationId xmlns:a16="http://schemas.microsoft.com/office/drawing/2014/main" id="{CAA1BEEE-164E-377B-EC38-E884B281A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2326325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Line 4">
              <a:extLst>
                <a:ext uri="{FF2B5EF4-FFF2-40B4-BE49-F238E27FC236}">
                  <a16:creationId xmlns:a16="http://schemas.microsoft.com/office/drawing/2014/main" id="{AE0190E2-924F-D4A0-D6D4-C0EA56E460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1557" y="3319737"/>
              <a:ext cx="1205353" cy="773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Line 4">
              <a:extLst>
                <a:ext uri="{FF2B5EF4-FFF2-40B4-BE49-F238E27FC236}">
                  <a16:creationId xmlns:a16="http://schemas.microsoft.com/office/drawing/2014/main" id="{2FC4B2B7-7A9C-EC46-FDFF-CA082A825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912" y="3319737"/>
              <a:ext cx="1205353" cy="773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4" name="矩形 2">
            <a:extLst>
              <a:ext uri="{FF2B5EF4-FFF2-40B4-BE49-F238E27FC236}">
                <a16:creationId xmlns:a16="http://schemas.microsoft.com/office/drawing/2014/main" id="{C442D48F-3968-6BDF-E848-BE807C4E4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26" y="4437260"/>
            <a:ext cx="5779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Conventional optimization methods 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66C521-A7A1-A8CF-2150-8795532D6921}"/>
              </a:ext>
            </a:extLst>
          </p:cNvPr>
          <p:cNvGrpSpPr/>
          <p:nvPr/>
        </p:nvGrpSpPr>
        <p:grpSpPr>
          <a:xfrm>
            <a:off x="5244567" y="4437260"/>
            <a:ext cx="6515632" cy="1800559"/>
            <a:chOff x="2979178" y="3872014"/>
            <a:chExt cx="6515632" cy="1800559"/>
          </a:xfrm>
        </p:grpSpPr>
        <p:sp>
          <p:nvSpPr>
            <p:cNvPr id="26" name="矩形 1">
              <a:extLst>
                <a:ext uri="{FF2B5EF4-FFF2-40B4-BE49-F238E27FC236}">
                  <a16:creationId xmlns:a16="http://schemas.microsoft.com/office/drawing/2014/main" id="{17E6EF07-9782-9D23-82C1-9E18A565E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895" y="3872014"/>
              <a:ext cx="457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AI-based heuristic methods</a:t>
              </a:r>
              <a:endParaRPr lang="zh-CN" altLang="en-US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7" name="矩形 2">
              <a:extLst>
                <a:ext uri="{FF2B5EF4-FFF2-40B4-BE49-F238E27FC236}">
                  <a16:creationId xmlns:a16="http://schemas.microsoft.com/office/drawing/2014/main" id="{A1CB17CE-99EC-B582-CDF6-4CCE2A142420}"/>
                </a:ext>
              </a:extLst>
            </p:cNvPr>
            <p:cNvSpPr/>
            <p:nvPr/>
          </p:nvSpPr>
          <p:spPr>
            <a:xfrm>
              <a:off x="2979178" y="5210908"/>
              <a:ext cx="65156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Advantages: stronger ability, easier to use  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8" name="Line 4">
              <a:extLst>
                <a:ext uri="{FF2B5EF4-FFF2-40B4-BE49-F238E27FC236}">
                  <a16:creationId xmlns:a16="http://schemas.microsoft.com/office/drawing/2014/main" id="{365736B5-1CA6-BA35-3B23-3E9889043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1078" y="4416845"/>
              <a:ext cx="10206" cy="794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B7E8-1A1E-AFDE-7901-DFC165EB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Popular optimization problems: knapsack </a:t>
            </a:r>
            <a:b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4" name="Object 0">
            <a:extLst>
              <a:ext uri="{FF2B5EF4-FFF2-40B4-BE49-F238E27FC236}">
                <a16:creationId xmlns:a16="http://schemas.microsoft.com/office/drawing/2014/main" id="{46919B8F-B88B-5FB0-10DC-B317ADE9B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704289"/>
              </p:ext>
            </p:extLst>
          </p:nvPr>
        </p:nvGraphicFramePr>
        <p:xfrm>
          <a:off x="5530440" y="3739566"/>
          <a:ext cx="87313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746" imgH="152136" progId="Equation.3">
                  <p:embed/>
                </p:oleObj>
              </mc:Choice>
              <mc:Fallback>
                <p:oleObj name="Equation" r:id="rId2" imgW="88746" imgH="152136" progId="Equation.3">
                  <p:embed/>
                  <p:pic>
                    <p:nvPicPr>
                      <p:cNvPr id="11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440" y="3739566"/>
                        <a:ext cx="87313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4692DB08-5904-2386-1A26-5E77F71A5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557" y="1444570"/>
            <a:ext cx="4103158" cy="355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AE44607B-C493-9583-EAE9-BB310E9E4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304499"/>
            <a:ext cx="516053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Which boxes should be chosen to maximize the amount of money while keeping the overall weight under or equal to 15 kg?</a:t>
            </a: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rrow: Down 5">
            <a:extLst>
              <a:ext uri="{FF2B5EF4-FFF2-40B4-BE49-F238E27FC236}">
                <a16:creationId xmlns:a16="http://schemas.microsoft.com/office/drawing/2014/main" id="{FDF1FE90-85A1-A68A-5B9D-F29A5F03F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1074" y="3856330"/>
            <a:ext cx="203854" cy="922146"/>
          </a:xfrm>
          <a:prstGeom prst="downArrow">
            <a:avLst>
              <a:gd name="adj1" fmla="val 33149"/>
              <a:gd name="adj2" fmla="val 17663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en-GB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8AF03-BF46-728C-BC96-78A8D7087001}"/>
              </a:ext>
            </a:extLst>
          </p:cNvPr>
          <p:cNvSpPr txBox="1"/>
          <p:nvPr/>
        </p:nvSpPr>
        <p:spPr>
          <a:xfrm>
            <a:off x="1720645" y="5747296"/>
            <a:ext cx="6732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difference between TSP and QAP? 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35D87561-8DBA-7B7D-873F-C5333F2D6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380" y="4801517"/>
            <a:ext cx="6003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Production planning problem in foundries</a:t>
            </a:r>
          </a:p>
        </p:txBody>
      </p:sp>
    </p:spTree>
    <p:extLst>
      <p:ext uri="{BB962C8B-B14F-4D97-AF65-F5344CB8AC3E}">
        <p14:creationId xmlns:p14="http://schemas.microsoft.com/office/powerpoint/2010/main" val="139010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FA56-28B0-DA15-6125-72185B37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Continuous optimization problems</a:t>
            </a:r>
            <a:br>
              <a:rPr lang="en-US" altLang="zh-CN" sz="2800" b="1" dirty="0">
                <a:solidFill>
                  <a:schemeClr val="tx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09D25-0EF9-63CB-346D-3AE13ECCECD2}"/>
              </a:ext>
            </a:extLst>
          </p:cNvPr>
          <p:cNvSpPr txBox="1">
            <a:spLocks noChangeArrowheads="1"/>
          </p:cNvSpPr>
          <p:nvPr/>
        </p:nvSpPr>
        <p:spPr>
          <a:xfrm>
            <a:off x="491165" y="1471019"/>
            <a:ext cx="7793037" cy="7223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Continuous Optimization Problem </a:t>
            </a:r>
            <a:endParaRPr lang="en-GB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0D5DF58-1057-A747-BAE5-BBC13EF2B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381" y="2426977"/>
            <a:ext cx="2866490" cy="461665"/>
          </a:xfrm>
          <a:prstGeom prst="rect">
            <a:avLst/>
          </a:prstGeom>
          <a:solidFill>
            <a:srgbClr val="E7E6E6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 function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603900-8530-CD35-70F1-AA6D4FAFC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381" y="3028345"/>
            <a:ext cx="2631983" cy="461665"/>
          </a:xfrm>
          <a:prstGeom prst="rect">
            <a:avLst/>
          </a:prstGeom>
          <a:solidFill>
            <a:srgbClr val="E7E6E6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2310EABC-1A75-8F17-2162-3D47F669B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64" y="5204914"/>
            <a:ext cx="2887329" cy="461665"/>
          </a:xfrm>
          <a:prstGeom prst="rect">
            <a:avLst/>
          </a:prstGeom>
          <a:solidFill>
            <a:srgbClr val="E7E6E6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Decision variables</a:t>
            </a: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105E59FB-DF08-8436-A74A-12674A302EBE}"/>
              </a:ext>
            </a:extLst>
          </p:cNvPr>
          <p:cNvCxnSpPr>
            <a:cxnSpLocks noChangeShapeType="1"/>
            <a:stCxn id="12" idx="1"/>
          </p:cNvCxnSpPr>
          <p:nvPr/>
        </p:nvCxnSpPr>
        <p:spPr bwMode="auto">
          <a:xfrm flipH="1">
            <a:off x="4387683" y="3259178"/>
            <a:ext cx="3633698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2268341E-FDE2-D1C1-F425-6D875CD99377}"/>
              </a:ext>
            </a:extLst>
          </p:cNvPr>
          <p:cNvCxnSpPr>
            <a:cxnSpLocks noChangeShapeType="1"/>
            <a:stCxn id="11" idx="1"/>
          </p:cNvCxnSpPr>
          <p:nvPr/>
        </p:nvCxnSpPr>
        <p:spPr bwMode="auto">
          <a:xfrm flipH="1">
            <a:off x="7210378" y="2657810"/>
            <a:ext cx="811003" cy="182016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3">
                <a:extLst>
                  <a:ext uri="{FF2B5EF4-FFF2-40B4-BE49-F238E27FC236}">
                    <a16:creationId xmlns:a16="http://schemas.microsoft.com/office/drawing/2014/main" id="{23B392B8-7773-45A9-41EE-31079F380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483" y="2176375"/>
                <a:ext cx="11405867" cy="54086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</a:pPr>
                <a:r>
                  <a:rPr lang="en-GB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E</a:t>
                </a:r>
                <a:r>
                  <a:rPr lang="en-GB" altLang="zh-CN" sz="2400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xample A:</a:t>
                </a:r>
              </a:p>
              <a:p>
                <a:pPr marL="742950" lvl="1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</a:pPr>
                <a:r>
                  <a:rPr lang="en-GB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)=100(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+(1−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400" i="1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</a:pPr>
                <a:r>
                  <a:rPr lang="en-GB" sz="2400" dirty="0"/>
                  <a:t>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marL="742950" lvl="1" indent="-285750" eaLnBrk="1" hangingPunct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None/>
                </a:pPr>
                <a:endParaRPr lang="en-GB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  <a:p>
                <a:pPr marL="742950" lvl="1" indent="-285750" eaLnBrk="1" hangingPunct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None/>
                </a:pPr>
                <a:r>
                  <a:rPr lang="en-GB" altLang="zh-CN" sz="2400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The minimum is (1,1) with a minimum function value of 0</a:t>
                </a:r>
              </a:p>
              <a:p>
                <a:pPr marL="742950" lvl="1" indent="-285750" eaLnBrk="1" hangingPunct="1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None/>
                </a:pPr>
                <a:r>
                  <a:rPr lang="en-GB" altLang="zh-CN" sz="2400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Plot of the function (contour of the function)</a:t>
                </a:r>
              </a:p>
            </p:txBody>
          </p:sp>
        </mc:Choice>
        <mc:Fallback xmlns="">
          <p:sp>
            <p:nvSpPr>
              <p:cNvPr id="23" name="Rectangle 3">
                <a:extLst>
                  <a:ext uri="{FF2B5EF4-FFF2-40B4-BE49-F238E27FC236}">
                    <a16:creationId xmlns:a16="http://schemas.microsoft.com/office/drawing/2014/main" id="{23B392B8-7773-45A9-41EE-31079F380E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483" y="2176375"/>
                <a:ext cx="11405867" cy="5408613"/>
              </a:xfrm>
              <a:prstGeom prst="rect">
                <a:avLst/>
              </a:prstGeom>
              <a:blipFill>
                <a:blip r:embed="rId3"/>
                <a:stretch>
                  <a:fillRect l="-855" t="-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4">
            <a:extLst>
              <a:ext uri="{FF2B5EF4-FFF2-40B4-BE49-F238E27FC236}">
                <a16:creationId xmlns:a16="http://schemas.microsoft.com/office/drawing/2014/main" id="{537274EC-C0EE-DACE-38F2-ED3F89AB1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717" y="4494587"/>
            <a:ext cx="2631983" cy="2338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Freeform: Shape 11">
            <a:extLst>
              <a:ext uri="{FF2B5EF4-FFF2-40B4-BE49-F238E27FC236}">
                <a16:creationId xmlns:a16="http://schemas.microsoft.com/office/drawing/2014/main" id="{594FA14C-1107-D345-158A-640E2FBDF0EF}"/>
              </a:ext>
            </a:extLst>
          </p:cNvPr>
          <p:cNvSpPr/>
          <p:nvPr/>
        </p:nvSpPr>
        <p:spPr>
          <a:xfrm rot="14656655" flipV="1">
            <a:off x="213449" y="2953536"/>
            <a:ext cx="1524438" cy="2024699"/>
          </a:xfrm>
          <a:custGeom>
            <a:avLst/>
            <a:gdLst>
              <a:gd name="connsiteX0" fmla="*/ 0 w 1581140"/>
              <a:gd name="connsiteY0" fmla="*/ 1899139 h 1899139"/>
              <a:gd name="connsiteX1" fmla="*/ 1547446 w 1581140"/>
              <a:gd name="connsiteY1" fmla="*/ 472273 h 1899139"/>
              <a:gd name="connsiteX2" fmla="*/ 1065125 w 1581140"/>
              <a:gd name="connsiteY2" fmla="*/ 0 h 1899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1140" h="1899139">
                <a:moveTo>
                  <a:pt x="0" y="1899139"/>
                </a:moveTo>
                <a:cubicBezTo>
                  <a:pt x="684962" y="1343967"/>
                  <a:pt x="1369925" y="788796"/>
                  <a:pt x="1547446" y="472273"/>
                </a:cubicBezTo>
                <a:cubicBezTo>
                  <a:pt x="1724967" y="155750"/>
                  <a:pt x="1147187" y="48567"/>
                  <a:pt x="1065125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7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A17E-DDF6-3F78-5F00-42C85186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Continuous optimization problems: a real-world example</a:t>
            </a:r>
            <a:b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87BD9-56C2-C459-1877-3CC4E3E593C9}"/>
              </a:ext>
            </a:extLst>
          </p:cNvPr>
          <p:cNvSpPr txBox="1">
            <a:spLocks noChangeArrowheads="1"/>
          </p:cNvSpPr>
          <p:nvPr/>
        </p:nvSpPr>
        <p:spPr>
          <a:xfrm>
            <a:off x="431801" y="1422400"/>
            <a:ext cx="7793037" cy="7223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Continuous Optimization Problem </a:t>
            </a:r>
            <a:endParaRPr lang="en-GB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F21FE7D-143C-6FCD-5CEC-7F92175A6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1" y="2144713"/>
            <a:ext cx="9644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en-GB" altLang="zh-CN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Example B: 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Dielectric Resonator Antenna (5.28 GHz – 5.72 GHz)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C32626B3-18A0-3A92-6782-BC12F72E4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90"/>
          <a:stretch>
            <a:fillRect/>
          </a:stretch>
        </p:blipFill>
        <p:spPr bwMode="auto">
          <a:xfrm>
            <a:off x="1210236" y="2750909"/>
            <a:ext cx="4733366" cy="251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1FDF4BAE-09E2-C298-F6C0-E33FA222F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81" t="65228"/>
          <a:stretch>
            <a:fillRect/>
          </a:stretch>
        </p:blipFill>
        <p:spPr bwMode="auto">
          <a:xfrm>
            <a:off x="1737223" y="5262875"/>
            <a:ext cx="3006228" cy="153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1">
            <a:extLst>
              <a:ext uri="{FF2B5EF4-FFF2-40B4-BE49-F238E27FC236}">
                <a16:creationId xmlns:a16="http://schemas.microsoft.com/office/drawing/2014/main" id="{9AABF9E9-2352-C6D2-8B81-0B597FD06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386998"/>
            <a:ext cx="4052889" cy="231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>
            <a:extLst>
              <a:ext uri="{FF2B5EF4-FFF2-40B4-BE49-F238E27FC236}">
                <a16:creationId xmlns:a16="http://schemas.microsoft.com/office/drawing/2014/main" id="{B3ACEA83-8CB4-F8C7-20AA-8BC6EE836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8253" y="4043874"/>
            <a:ext cx="186329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sz="2100" dirty="0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GB" altLang="en-US" sz="2100" i="0" baseline="-25000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GB" altLang="en-US" sz="2100" dirty="0">
                <a:latin typeface="Times New Roman" pitchFamily="18" charset="0"/>
                <a:cs typeface="Times New Roman" pitchFamily="18" charset="0"/>
              </a:rPr>
              <a:t> response</a:t>
            </a:r>
            <a:endParaRPr lang="zh-CN" altLang="en-US" sz="21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02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>
            <a:extLst>
              <a:ext uri="{FF2B5EF4-FFF2-40B4-BE49-F238E27FC236}">
                <a16:creationId xmlns:a16="http://schemas.microsoft.com/office/drawing/2014/main" id="{A5DFA5B8-B0FE-1B8A-1E90-2323B6EFF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401" y="4280989"/>
            <a:ext cx="902818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Find the optimal design parameters to:</a:t>
            </a:r>
            <a:endParaRPr lang="en-GB" alt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GB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minimize the maximum 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S11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GB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5.28 GHz to 5.72 GHz</a:t>
            </a:r>
          </a:p>
          <a:p>
            <a:pPr>
              <a:spcBef>
                <a:spcPts val="1200"/>
              </a:spcBef>
            </a:pP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S11</a:t>
            </a:r>
            <a:r>
              <a:rPr lang="en-GB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| is obtained by simulation: simulation-based optimization</a:t>
            </a:r>
          </a:p>
        </p:txBody>
      </p:sp>
      <p:graphicFrame>
        <p:nvGraphicFramePr>
          <p:cNvPr id="4" name="表格 7">
            <a:extLst>
              <a:ext uri="{FF2B5EF4-FFF2-40B4-BE49-F238E27FC236}">
                <a16:creationId xmlns:a16="http://schemas.microsoft.com/office/drawing/2014/main" id="{6E371503-0FFC-CC0D-1470-A37F76A16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360094"/>
              </p:ext>
            </p:extLst>
          </p:nvPr>
        </p:nvGraphicFramePr>
        <p:xfrm>
          <a:off x="799401" y="2743368"/>
          <a:ext cx="10057990" cy="1371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0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20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4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ax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ay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</a:t>
                      </a:r>
                      <a:endParaRPr kumimoji="0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ys</a:t>
                      </a: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 bound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 bound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T="45664" marB="45664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1">
            <a:extLst>
              <a:ext uri="{FF2B5EF4-FFF2-40B4-BE49-F238E27FC236}">
                <a16:creationId xmlns:a16="http://schemas.microsoft.com/office/drawing/2014/main" id="{941D6804-9DE0-4D82-BCEC-296D7D214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19" y="2090333"/>
            <a:ext cx="29578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 parameters: 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4D255D9-3CEA-B5C8-21D4-BBA7A10AAB8F}"/>
              </a:ext>
            </a:extLst>
          </p:cNvPr>
          <p:cNvSpPr txBox="1">
            <a:spLocks noChangeArrowheads="1"/>
          </p:cNvSpPr>
          <p:nvPr/>
        </p:nvSpPr>
        <p:spPr>
          <a:xfrm>
            <a:off x="431801" y="1422400"/>
            <a:ext cx="7793037" cy="5681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Continuous Optimization Problem </a:t>
            </a:r>
            <a:endParaRPr lang="en-GB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C621C84-A876-EF60-6E94-A6C2B60F018D}"/>
              </a:ext>
            </a:extLst>
          </p:cNvPr>
          <p:cNvSpPr txBox="1">
            <a:spLocks/>
          </p:cNvSpPr>
          <p:nvPr/>
        </p:nvSpPr>
        <p:spPr>
          <a:xfrm>
            <a:off x="2701636" y="686014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Continuous optimization problems: a real-world example</a:t>
            </a:r>
            <a:b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44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1889</TotalTime>
  <Words>260</Words>
  <Application>Microsoft Office PowerPoint</Application>
  <PresentationFormat>Widescreen</PresentationFormat>
  <Paragraphs>65</Paragraphs>
  <Slides>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Introduction to Optimization (2) </vt:lpstr>
      <vt:lpstr>What is the optimization? </vt:lpstr>
      <vt:lpstr>Popular optimization problems: knapsack  </vt:lpstr>
      <vt:lpstr>Continuous optimization problems </vt:lpstr>
      <vt:lpstr>Continuous optimization problems: a real-world example </vt:lpstr>
      <vt:lpstr>PowerPoint Presentation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66</cp:revision>
  <dcterms:created xsi:type="dcterms:W3CDTF">2021-01-06T14:22:07Z</dcterms:created>
  <dcterms:modified xsi:type="dcterms:W3CDTF">2024-07-01T10:56:51Z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