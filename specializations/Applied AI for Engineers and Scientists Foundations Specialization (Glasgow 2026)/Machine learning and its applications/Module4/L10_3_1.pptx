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98" r:id="rId6"/>
    <p:sldId id="494" r:id="rId7"/>
    <p:sldId id="496" r:id="rId8"/>
    <p:sldId id="497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7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09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24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36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Implementation of SVM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MATLAB implementation of SVM - </a:t>
            </a:r>
            <a:r>
              <a:rPr lang="en-US" dirty="0" err="1"/>
              <a:t>fitcsvm</a:t>
            </a:r>
            <a:endParaRPr lang="en-US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137424F2-167E-2267-F333-D06BC689007B}"/>
              </a:ext>
            </a:extLst>
          </p:cNvPr>
          <p:cNvSpPr/>
          <p:nvPr/>
        </p:nvSpPr>
        <p:spPr>
          <a:xfrm>
            <a:off x="231958" y="4453967"/>
            <a:ext cx="1186051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X and Y: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feature and label of the training data.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KernelFunction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kernel function of SVM. 'linear', 'polynomial', '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rbf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', and 'sigmoid'.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BoxConstraint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determines the trade-off between misclassification and width of margins.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Standardize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parameter that determines whether to standardize the input data before training the SVM, which means subtracting the mean and dividing by the standard deviation of each feature.</a:t>
            </a:r>
          </a:p>
        </p:txBody>
      </p:sp>
      <p:sp>
        <p:nvSpPr>
          <p:cNvPr id="4" name="文本框 11">
            <a:extLst>
              <a:ext uri="{FF2B5EF4-FFF2-40B4-BE49-F238E27FC236}">
                <a16:creationId xmlns:a16="http://schemas.microsoft.com/office/drawing/2014/main" id="{CDC96B70-1490-BCCD-F18A-3B17D115EBF4}"/>
              </a:ext>
            </a:extLst>
          </p:cNvPr>
          <p:cNvSpPr txBox="1"/>
          <p:nvPr/>
        </p:nvSpPr>
        <p:spPr>
          <a:xfrm>
            <a:off x="231960" y="1581462"/>
            <a:ext cx="9901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Function </a:t>
            </a:r>
            <a:r>
              <a:rPr lang="en-US" altLang="zh-CN" sz="24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fitcsvm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MATLAB implementation of SVM, including linear and nonlinear case.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D8154D98-69F1-681C-7E83-F320C8DC95D1}"/>
              </a:ext>
            </a:extLst>
          </p:cNvPr>
          <p:cNvSpPr txBox="1"/>
          <p:nvPr/>
        </p:nvSpPr>
        <p:spPr>
          <a:xfrm>
            <a:off x="231957" y="2320739"/>
            <a:ext cx="11860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 are many input arguments of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fitcsvm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and we do not need to know all of them.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3C2C11-422C-B660-948E-B22E9FE24C7D}"/>
              </a:ext>
            </a:extLst>
          </p:cNvPr>
          <p:cNvGrpSpPr/>
          <p:nvPr/>
        </p:nvGrpSpPr>
        <p:grpSpPr>
          <a:xfrm>
            <a:off x="231957" y="3314584"/>
            <a:ext cx="11550171" cy="3379134"/>
            <a:chOff x="231957" y="3314584"/>
            <a:chExt cx="11550171" cy="337913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72B27B-885D-83EF-A790-537B9C8C5661}"/>
                </a:ext>
              </a:extLst>
            </p:cNvPr>
            <p:cNvGrpSpPr/>
            <p:nvPr/>
          </p:nvGrpSpPr>
          <p:grpSpPr>
            <a:xfrm>
              <a:off x="231957" y="3314584"/>
              <a:ext cx="10778165" cy="961167"/>
              <a:chOff x="231957" y="3314584"/>
              <a:chExt cx="10778165" cy="961167"/>
            </a:xfrm>
          </p:grpSpPr>
          <p:sp>
            <p:nvSpPr>
              <p:cNvPr id="6" name="文本框 9">
                <a:extLst>
                  <a:ext uri="{FF2B5EF4-FFF2-40B4-BE49-F238E27FC236}">
                    <a16:creationId xmlns:a16="http://schemas.microsoft.com/office/drawing/2014/main" id="{A6697A86-E8C3-F7B2-2DE0-65CE9FB27681}"/>
                  </a:ext>
                </a:extLst>
              </p:cNvPr>
              <p:cNvSpPr txBox="1"/>
              <p:nvPr/>
            </p:nvSpPr>
            <p:spPr>
              <a:xfrm>
                <a:off x="231957" y="3314584"/>
                <a:ext cx="96864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most often used code that trains an SVM classifier: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" name="图片 2">
                <a:extLst>
                  <a:ext uri="{FF2B5EF4-FFF2-40B4-BE49-F238E27FC236}">
                    <a16:creationId xmlns:a16="http://schemas.microsoft.com/office/drawing/2014/main" id="{F38A4436-8B35-0FFE-D381-A8699DCD3D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495" y="3954465"/>
                <a:ext cx="10647627" cy="321286"/>
              </a:xfrm>
              <a:prstGeom prst="rect">
                <a:avLst/>
              </a:prstGeom>
            </p:spPr>
          </p:pic>
        </p:grpSp>
        <p:sp>
          <p:nvSpPr>
            <p:cNvPr id="16" name="矩形 8">
              <a:extLst>
                <a:ext uri="{FF2B5EF4-FFF2-40B4-BE49-F238E27FC236}">
                  <a16:creationId xmlns:a16="http://schemas.microsoft.com/office/drawing/2014/main" id="{8EA1D6CE-4243-F8AB-B579-8BA6967A342A}"/>
                </a:ext>
              </a:extLst>
            </p:cNvPr>
            <p:cNvSpPr/>
            <p:nvPr/>
          </p:nvSpPr>
          <p:spPr>
            <a:xfrm>
              <a:off x="10238116" y="6324386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171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0DB7074-8F91-DDD0-0F33-6BD54563D7BA}"/>
              </a:ext>
            </a:extLst>
          </p:cNvPr>
          <p:cNvSpPr/>
          <p:nvPr/>
        </p:nvSpPr>
        <p:spPr>
          <a:xfrm>
            <a:off x="287276" y="3713610"/>
            <a:ext cx="7584093" cy="933281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sv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svm.SupportVectors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</a:rPr>
              <a:t>% Get the support vectors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beta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svm.Beta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</a:rPr>
              <a:t>% Get the coefficients of the linear classifier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svm.Bias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</a:rPr>
              <a:t>% Get the bias term of the linear classifier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MATLAB implementation of SVM - </a:t>
            </a:r>
            <a:r>
              <a:rPr lang="en-US" dirty="0" err="1"/>
              <a:t>fitcsvm</a:t>
            </a:r>
            <a:endParaRPr lang="en-US" dirty="0"/>
          </a:p>
        </p:txBody>
      </p:sp>
      <p:sp>
        <p:nvSpPr>
          <p:cNvPr id="2" name="文本框 13">
            <a:extLst>
              <a:ext uri="{FF2B5EF4-FFF2-40B4-BE49-F238E27FC236}">
                <a16:creationId xmlns:a16="http://schemas.microsoft.com/office/drawing/2014/main" id="{5D0FDFFA-B5F0-B46E-7EAB-EB4A945F538F}"/>
              </a:ext>
            </a:extLst>
          </p:cNvPr>
          <p:cNvSpPr txBox="1"/>
          <p:nvPr/>
        </p:nvSpPr>
        <p:spPr>
          <a:xfrm>
            <a:off x="177892" y="2039085"/>
            <a:ext cx="11818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output of </a:t>
            </a:r>
            <a:r>
              <a:rPr lang="en-US" altLang="zh-CN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fitcsvm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ClassificationSVM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object that represents an SVM classifier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stores the support vectors, classifier parameters, etc.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15">
            <a:extLst>
              <a:ext uri="{FF2B5EF4-FFF2-40B4-BE49-F238E27FC236}">
                <a16:creationId xmlns:a16="http://schemas.microsoft.com/office/drawing/2014/main" id="{589001D3-4A28-C304-3255-B63645B2E292}"/>
              </a:ext>
            </a:extLst>
          </p:cNvPr>
          <p:cNvSpPr/>
          <p:nvPr/>
        </p:nvSpPr>
        <p:spPr>
          <a:xfrm>
            <a:off x="177892" y="3191765"/>
            <a:ext cx="6848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can retrieve them by using dot notation.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21">
            <a:extLst>
              <a:ext uri="{FF2B5EF4-FFF2-40B4-BE49-F238E27FC236}">
                <a16:creationId xmlns:a16="http://schemas.microsoft.com/office/drawing/2014/main" id="{1D4FB92E-E890-8DAE-E985-0437D4B3B1BF}"/>
              </a:ext>
            </a:extLst>
          </p:cNvPr>
          <p:cNvSpPr txBox="1"/>
          <p:nvPr/>
        </p:nvSpPr>
        <p:spPr>
          <a:xfrm>
            <a:off x="177892" y="1491908"/>
            <a:ext cx="2371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箭头连接符 46">
            <a:extLst>
              <a:ext uri="{FF2B5EF4-FFF2-40B4-BE49-F238E27FC236}">
                <a16:creationId xmlns:a16="http://schemas.microsoft.com/office/drawing/2014/main" id="{7A7ED772-F092-3978-81B0-9A8F217E9049}"/>
              </a:ext>
            </a:extLst>
          </p:cNvPr>
          <p:cNvCxnSpPr>
            <a:cxnSpLocks/>
          </p:cNvCxnSpPr>
          <p:nvPr/>
        </p:nvCxnSpPr>
        <p:spPr>
          <a:xfrm>
            <a:off x="2189374" y="6580311"/>
            <a:ext cx="25341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47">
            <a:extLst>
              <a:ext uri="{FF2B5EF4-FFF2-40B4-BE49-F238E27FC236}">
                <a16:creationId xmlns:a16="http://schemas.microsoft.com/office/drawing/2014/main" id="{66E6A8C3-B4D5-9DC2-446B-7A5C87E7FB81}"/>
              </a:ext>
            </a:extLst>
          </p:cNvPr>
          <p:cNvCxnSpPr>
            <a:cxnSpLocks/>
          </p:cNvCxnSpPr>
          <p:nvPr/>
        </p:nvCxnSpPr>
        <p:spPr>
          <a:xfrm flipV="1">
            <a:off x="2365744" y="4753230"/>
            <a:ext cx="0" cy="21599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48">
            <a:extLst>
              <a:ext uri="{FF2B5EF4-FFF2-40B4-BE49-F238E27FC236}">
                <a16:creationId xmlns:a16="http://schemas.microsoft.com/office/drawing/2014/main" id="{A12E3703-C370-C15D-CEA2-04181E2D858F}"/>
              </a:ext>
            </a:extLst>
          </p:cNvPr>
          <p:cNvGrpSpPr/>
          <p:nvPr/>
        </p:nvGrpSpPr>
        <p:grpSpPr>
          <a:xfrm>
            <a:off x="2705748" y="5242039"/>
            <a:ext cx="786715" cy="628193"/>
            <a:chOff x="5048764" y="1896762"/>
            <a:chExt cx="786715" cy="628193"/>
          </a:xfrm>
        </p:grpSpPr>
        <p:sp>
          <p:nvSpPr>
            <p:cNvPr id="10" name="椭圆 49">
              <a:extLst>
                <a:ext uri="{FF2B5EF4-FFF2-40B4-BE49-F238E27FC236}">
                  <a16:creationId xmlns:a16="http://schemas.microsoft.com/office/drawing/2014/main" id="{80A4A360-74D5-2B18-DDCA-0067532546B3}"/>
                </a:ext>
              </a:extLst>
            </p:cNvPr>
            <p:cNvSpPr/>
            <p:nvPr/>
          </p:nvSpPr>
          <p:spPr>
            <a:xfrm>
              <a:off x="5294870" y="18967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50">
              <a:extLst>
                <a:ext uri="{FF2B5EF4-FFF2-40B4-BE49-F238E27FC236}">
                  <a16:creationId xmlns:a16="http://schemas.microsoft.com/office/drawing/2014/main" id="{55E0ACE2-29FF-04A2-E2A6-6D1349E196C4}"/>
                </a:ext>
              </a:extLst>
            </p:cNvPr>
            <p:cNvSpPr/>
            <p:nvPr/>
          </p:nvSpPr>
          <p:spPr>
            <a:xfrm>
              <a:off x="5447270" y="20491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51">
              <a:extLst>
                <a:ext uri="{FF2B5EF4-FFF2-40B4-BE49-F238E27FC236}">
                  <a16:creationId xmlns:a16="http://schemas.microsoft.com/office/drawing/2014/main" id="{5CD9B594-8A9C-45AF-B346-DC773E712436}"/>
                </a:ext>
              </a:extLst>
            </p:cNvPr>
            <p:cNvSpPr/>
            <p:nvPr/>
          </p:nvSpPr>
          <p:spPr>
            <a:xfrm>
              <a:off x="5104370" y="22015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52">
              <a:extLst>
                <a:ext uri="{FF2B5EF4-FFF2-40B4-BE49-F238E27FC236}">
                  <a16:creationId xmlns:a16="http://schemas.microsoft.com/office/drawing/2014/main" id="{4224F0D0-CB51-F721-B5E7-8B56E890FECE}"/>
                </a:ext>
              </a:extLst>
            </p:cNvPr>
            <p:cNvSpPr/>
            <p:nvPr/>
          </p:nvSpPr>
          <p:spPr>
            <a:xfrm>
              <a:off x="5334000" y="230559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53">
              <a:extLst>
                <a:ext uri="{FF2B5EF4-FFF2-40B4-BE49-F238E27FC236}">
                  <a16:creationId xmlns:a16="http://schemas.microsoft.com/office/drawing/2014/main" id="{27342647-F680-5F6B-5D76-5F21DDD47AA8}"/>
                </a:ext>
              </a:extLst>
            </p:cNvPr>
            <p:cNvSpPr/>
            <p:nvPr/>
          </p:nvSpPr>
          <p:spPr>
            <a:xfrm>
              <a:off x="5724268" y="200797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54">
              <a:extLst>
                <a:ext uri="{FF2B5EF4-FFF2-40B4-BE49-F238E27FC236}">
                  <a16:creationId xmlns:a16="http://schemas.microsoft.com/office/drawing/2014/main" id="{29B26E06-0B1D-6027-A7F2-84BA39F3FCB5}"/>
                </a:ext>
              </a:extLst>
            </p:cNvPr>
            <p:cNvSpPr/>
            <p:nvPr/>
          </p:nvSpPr>
          <p:spPr>
            <a:xfrm>
              <a:off x="5048764" y="241374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6" name="直接连接符 55">
            <a:extLst>
              <a:ext uri="{FF2B5EF4-FFF2-40B4-BE49-F238E27FC236}">
                <a16:creationId xmlns:a16="http://schemas.microsoft.com/office/drawing/2014/main" id="{EEA6CB0B-5B42-0B84-A431-51B6F5A1DBF5}"/>
              </a:ext>
            </a:extLst>
          </p:cNvPr>
          <p:cNvCxnSpPr>
            <a:cxnSpLocks/>
          </p:cNvCxnSpPr>
          <p:nvPr/>
        </p:nvCxnSpPr>
        <p:spPr>
          <a:xfrm flipV="1">
            <a:off x="2426813" y="5032188"/>
            <a:ext cx="1883856" cy="1335949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56">
            <a:extLst>
              <a:ext uri="{FF2B5EF4-FFF2-40B4-BE49-F238E27FC236}">
                <a16:creationId xmlns:a16="http://schemas.microsoft.com/office/drawing/2014/main" id="{3386BBF5-9A12-6DB5-89E6-2637EBD8FDEC}"/>
              </a:ext>
            </a:extLst>
          </p:cNvPr>
          <p:cNvGrpSpPr/>
          <p:nvPr/>
        </p:nvGrpSpPr>
        <p:grpSpPr>
          <a:xfrm rot="475103">
            <a:off x="3050872" y="5701163"/>
            <a:ext cx="926541" cy="635945"/>
            <a:chOff x="5401961" y="2403835"/>
            <a:chExt cx="818059" cy="623326"/>
          </a:xfrm>
        </p:grpSpPr>
        <p:sp>
          <p:nvSpPr>
            <p:cNvPr id="18" name="矩形 57">
              <a:extLst>
                <a:ext uri="{FF2B5EF4-FFF2-40B4-BE49-F238E27FC236}">
                  <a16:creationId xmlns:a16="http://schemas.microsoft.com/office/drawing/2014/main" id="{A5F2E080-05ED-EA3C-F825-D6B58881D790}"/>
                </a:ext>
              </a:extLst>
            </p:cNvPr>
            <p:cNvSpPr/>
            <p:nvPr/>
          </p:nvSpPr>
          <p:spPr>
            <a:xfrm>
              <a:off x="5663972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58">
              <a:extLst>
                <a:ext uri="{FF2B5EF4-FFF2-40B4-BE49-F238E27FC236}">
                  <a16:creationId xmlns:a16="http://schemas.microsoft.com/office/drawing/2014/main" id="{6E2A9245-987C-2124-DBEE-5B711E21B558}"/>
                </a:ext>
              </a:extLst>
            </p:cNvPr>
            <p:cNvSpPr/>
            <p:nvPr/>
          </p:nvSpPr>
          <p:spPr>
            <a:xfrm>
              <a:off x="5816372" y="27477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59">
              <a:extLst>
                <a:ext uri="{FF2B5EF4-FFF2-40B4-BE49-F238E27FC236}">
                  <a16:creationId xmlns:a16="http://schemas.microsoft.com/office/drawing/2014/main" id="{D2B253D5-B58B-FA79-EBEA-1869CB1E0154}"/>
                </a:ext>
              </a:extLst>
            </p:cNvPr>
            <p:cNvSpPr/>
            <p:nvPr/>
          </p:nvSpPr>
          <p:spPr>
            <a:xfrm>
              <a:off x="6010988" y="27619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60">
              <a:extLst>
                <a:ext uri="{FF2B5EF4-FFF2-40B4-BE49-F238E27FC236}">
                  <a16:creationId xmlns:a16="http://schemas.microsoft.com/office/drawing/2014/main" id="{5BBE9BC5-E7D5-5D11-B49D-EF8ABE9882CA}"/>
                </a:ext>
              </a:extLst>
            </p:cNvPr>
            <p:cNvSpPr/>
            <p:nvPr/>
          </p:nvSpPr>
          <p:spPr>
            <a:xfrm>
              <a:off x="5401961" y="2818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61">
              <a:extLst>
                <a:ext uri="{FF2B5EF4-FFF2-40B4-BE49-F238E27FC236}">
                  <a16:creationId xmlns:a16="http://schemas.microsoft.com/office/drawing/2014/main" id="{940700E7-5059-C711-63DA-BA54F0276ECE}"/>
                </a:ext>
              </a:extLst>
            </p:cNvPr>
            <p:cNvSpPr/>
            <p:nvPr/>
          </p:nvSpPr>
          <p:spPr>
            <a:xfrm>
              <a:off x="6127350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62">
              <a:extLst>
                <a:ext uri="{FF2B5EF4-FFF2-40B4-BE49-F238E27FC236}">
                  <a16:creationId xmlns:a16="http://schemas.microsoft.com/office/drawing/2014/main" id="{E6714514-70D0-EEDD-3EBD-926B87652698}"/>
                </a:ext>
              </a:extLst>
            </p:cNvPr>
            <p:cNvSpPr/>
            <p:nvPr/>
          </p:nvSpPr>
          <p:spPr>
            <a:xfrm>
              <a:off x="5882274" y="24038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63">
              <a:extLst>
                <a:ext uri="{FF2B5EF4-FFF2-40B4-BE49-F238E27FC236}">
                  <a16:creationId xmlns:a16="http://schemas.microsoft.com/office/drawing/2014/main" id="{2E9C185A-80D2-9B04-9518-EED8F4CC31EB}"/>
                </a:ext>
              </a:extLst>
            </p:cNvPr>
            <p:cNvSpPr/>
            <p:nvPr/>
          </p:nvSpPr>
          <p:spPr>
            <a:xfrm>
              <a:off x="5592697" y="293449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69">
                <a:extLst>
                  <a:ext uri="{FF2B5EF4-FFF2-40B4-BE49-F238E27FC236}">
                    <a16:creationId xmlns:a16="http://schemas.microsoft.com/office/drawing/2014/main" id="{38079253-9F0A-6080-6A5B-06173BC06609}"/>
                  </a:ext>
                </a:extLst>
              </p:cNvPr>
              <p:cNvSpPr txBox="1"/>
              <p:nvPr/>
            </p:nvSpPr>
            <p:spPr>
              <a:xfrm>
                <a:off x="4371737" y="4780007"/>
                <a:ext cx="2950673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本框 69">
                <a:extLst>
                  <a:ext uri="{FF2B5EF4-FFF2-40B4-BE49-F238E27FC236}">
                    <a16:creationId xmlns:a16="http://schemas.microsoft.com/office/drawing/2014/main" id="{38079253-9F0A-6080-6A5B-06173BC06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737" y="4780007"/>
                <a:ext cx="295067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70">
                <a:extLst>
                  <a:ext uri="{FF2B5EF4-FFF2-40B4-BE49-F238E27FC236}">
                    <a16:creationId xmlns:a16="http://schemas.microsoft.com/office/drawing/2014/main" id="{D1F6B88D-3BBC-C1FF-671A-D20C5306CEE0}"/>
                  </a:ext>
                </a:extLst>
              </p:cNvPr>
              <p:cNvSpPr txBox="1"/>
              <p:nvPr/>
            </p:nvSpPr>
            <p:spPr>
              <a:xfrm>
                <a:off x="8548810" y="4226009"/>
                <a:ext cx="1916953" cy="15696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svm.Beta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svm.Bias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文本框 70">
                <a:extLst>
                  <a:ext uri="{FF2B5EF4-FFF2-40B4-BE49-F238E27FC236}">
                    <a16:creationId xmlns:a16="http://schemas.microsoft.com/office/drawing/2014/main" id="{D1F6B88D-3BBC-C1FF-671A-D20C5306C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810" y="4226009"/>
                <a:ext cx="1916953" cy="1569660"/>
              </a:xfrm>
              <a:prstGeom prst="rect">
                <a:avLst/>
              </a:prstGeom>
              <a:blipFill>
                <a:blip r:embed="rId4"/>
                <a:stretch>
                  <a:fillRect l="-3785" t="-2308" b="-769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72">
            <a:extLst>
              <a:ext uri="{FF2B5EF4-FFF2-40B4-BE49-F238E27FC236}">
                <a16:creationId xmlns:a16="http://schemas.microsoft.com/office/drawing/2014/main" id="{D9B1CA62-DC4A-ABE9-29C0-774ED64D6F4E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7322410" y="5010839"/>
            <a:ext cx="12264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09E5ECC-50D7-579F-BC9A-72DC859B7273}"/>
              </a:ext>
            </a:extLst>
          </p:cNvPr>
          <p:cNvGrpSpPr/>
          <p:nvPr/>
        </p:nvGrpSpPr>
        <p:grpSpPr>
          <a:xfrm>
            <a:off x="1777636" y="1616328"/>
            <a:ext cx="10004492" cy="5077390"/>
            <a:chOff x="1777636" y="1616328"/>
            <a:chExt cx="10004492" cy="5077390"/>
          </a:xfrm>
        </p:grpSpPr>
        <p:pic>
          <p:nvPicPr>
            <p:cNvPr id="4" name="图片 18">
              <a:extLst>
                <a:ext uri="{FF2B5EF4-FFF2-40B4-BE49-F238E27FC236}">
                  <a16:creationId xmlns:a16="http://schemas.microsoft.com/office/drawing/2014/main" id="{C139264C-4BBC-2EC8-05FA-26EB613FE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7636" y="1616328"/>
              <a:ext cx="8243443" cy="248741"/>
            </a:xfrm>
            <a:prstGeom prst="rect">
              <a:avLst/>
            </a:prstGeom>
          </p:spPr>
        </p:pic>
        <p:sp>
          <p:nvSpPr>
            <p:cNvPr id="38" name="矩形 8">
              <a:extLst>
                <a:ext uri="{FF2B5EF4-FFF2-40B4-BE49-F238E27FC236}">
                  <a16:creationId xmlns:a16="http://schemas.microsoft.com/office/drawing/2014/main" id="{64FBE592-DC7B-4055-6327-85A30B096D1D}"/>
                </a:ext>
              </a:extLst>
            </p:cNvPr>
            <p:cNvSpPr/>
            <p:nvPr/>
          </p:nvSpPr>
          <p:spPr>
            <a:xfrm>
              <a:off x="10238116" y="6324386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MATLAB implementation of SVM - </a:t>
            </a:r>
            <a:r>
              <a:rPr lang="en-US" dirty="0" err="1"/>
              <a:t>fitcsvm</a:t>
            </a:r>
            <a:endParaRPr lang="en-US" dirty="0"/>
          </a:p>
        </p:txBody>
      </p:sp>
      <p:sp>
        <p:nvSpPr>
          <p:cNvPr id="2" name="矩形 19">
            <a:extLst>
              <a:ext uri="{FF2B5EF4-FFF2-40B4-BE49-F238E27FC236}">
                <a16:creationId xmlns:a16="http://schemas.microsoft.com/office/drawing/2014/main" id="{4367293A-DE8C-8922-268B-8AC3066C49C8}"/>
              </a:ext>
            </a:extLst>
          </p:cNvPr>
          <p:cNvSpPr/>
          <p:nvPr/>
        </p:nvSpPr>
        <p:spPr>
          <a:xfrm>
            <a:off x="380843" y="2172815"/>
            <a:ext cx="10570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predict, pass the trained classifier and the test data to the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function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0">
            <a:extLst>
              <a:ext uri="{FF2B5EF4-FFF2-40B4-BE49-F238E27FC236}">
                <a16:creationId xmlns:a16="http://schemas.microsoft.com/office/drawing/2014/main" id="{B8E34265-B286-ECC5-6FEE-0601A640905C}"/>
              </a:ext>
            </a:extLst>
          </p:cNvPr>
          <p:cNvSpPr txBox="1"/>
          <p:nvPr/>
        </p:nvSpPr>
        <p:spPr>
          <a:xfrm>
            <a:off x="162742" y="1507247"/>
            <a:ext cx="2371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25E08117-A51E-A79E-3FDD-E0A86145A858}"/>
              </a:ext>
            </a:extLst>
          </p:cNvPr>
          <p:cNvSpPr txBox="1"/>
          <p:nvPr/>
        </p:nvSpPr>
        <p:spPr>
          <a:xfrm>
            <a:off x="380843" y="5018041"/>
            <a:ext cx="8440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y_pred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the predicted class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has the same data type as that of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y_train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length of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y_pred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the same as that of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X_test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F7547F99-326C-F163-A482-9F055164ABBB}"/>
              </a:ext>
            </a:extLst>
          </p:cNvPr>
          <p:cNvSpPr txBox="1"/>
          <p:nvPr/>
        </p:nvSpPr>
        <p:spPr>
          <a:xfrm>
            <a:off x="380843" y="3623356"/>
            <a:ext cx="6405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 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predict function: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the trained SVM classifier.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X_test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the features of the test dataset.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509FB3-7AC1-C52A-3DAA-BC66BD002567}"/>
              </a:ext>
            </a:extLst>
          </p:cNvPr>
          <p:cNvGrpSpPr/>
          <p:nvPr/>
        </p:nvGrpSpPr>
        <p:grpSpPr>
          <a:xfrm>
            <a:off x="380842" y="2838383"/>
            <a:ext cx="11401286" cy="3855335"/>
            <a:chOff x="380842" y="2838383"/>
            <a:chExt cx="11401286" cy="385533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4FCFB42-3C51-750E-0BDB-67EE94D9268D}"/>
                </a:ext>
              </a:extLst>
            </p:cNvPr>
            <p:cNvSpPr/>
            <p:nvPr/>
          </p:nvSpPr>
          <p:spPr>
            <a:xfrm>
              <a:off x="380842" y="2838383"/>
              <a:ext cx="6676173" cy="59061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</a:rPr>
                <a:t>% Predict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y_pred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predict(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X_test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11" name="矩形 8">
              <a:extLst>
                <a:ext uri="{FF2B5EF4-FFF2-40B4-BE49-F238E27FC236}">
                  <a16:creationId xmlns:a16="http://schemas.microsoft.com/office/drawing/2014/main" id="{DD53EC7D-1387-991A-F0C5-C965E3CF458E}"/>
                </a:ext>
              </a:extLst>
            </p:cNvPr>
            <p:cNvSpPr/>
            <p:nvPr/>
          </p:nvSpPr>
          <p:spPr>
            <a:xfrm>
              <a:off x="10238116" y="6324386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08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907197" cy="888786"/>
          </a:xfrm>
        </p:spPr>
        <p:txBody>
          <a:bodyPr/>
          <a:lstStyle/>
          <a:p>
            <a:r>
              <a:rPr lang="en-US" dirty="0"/>
              <a:t>Iris flower classification by SVM using MATLAB</a:t>
            </a:r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A4C11DCF-01D4-83C5-4A9D-E34E4FD55E4D}"/>
              </a:ext>
            </a:extLst>
          </p:cNvPr>
          <p:cNvSpPr txBox="1"/>
          <p:nvPr/>
        </p:nvSpPr>
        <p:spPr>
          <a:xfrm>
            <a:off x="173513" y="1421511"/>
            <a:ext cx="7120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Iris flower classification problem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9">
            <a:extLst>
              <a:ext uri="{FF2B5EF4-FFF2-40B4-BE49-F238E27FC236}">
                <a16:creationId xmlns:a16="http://schemas.microsoft.com/office/drawing/2014/main" id="{B813B6BD-5826-D8D0-012F-E7A0F223E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09" y="2978134"/>
            <a:ext cx="4986645" cy="3843747"/>
          </a:xfrm>
          <a:prstGeom prst="rect">
            <a:avLst/>
          </a:prstGeom>
        </p:spPr>
      </p:pic>
      <p:sp>
        <p:nvSpPr>
          <p:cNvPr id="4" name="文本框 10">
            <a:extLst>
              <a:ext uri="{FF2B5EF4-FFF2-40B4-BE49-F238E27FC236}">
                <a16:creationId xmlns:a16="http://schemas.microsoft.com/office/drawing/2014/main" id="{66EC22EE-CCA8-52E3-68DB-36F27987DE47}"/>
              </a:ext>
            </a:extLst>
          </p:cNvPr>
          <p:cNvSpPr txBox="1"/>
          <p:nvPr/>
        </p:nvSpPr>
        <p:spPr>
          <a:xfrm>
            <a:off x="431800" y="1777805"/>
            <a:ext cx="9443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Features: 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sepal length, sepal width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petal length, petal width)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Label: categorical, {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versicolor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virginica}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Number of samples: 150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FA0A53D2-8C32-0ACD-E513-BE22E0435906}"/>
              </a:ext>
            </a:extLst>
          </p:cNvPr>
          <p:cNvSpPr txBox="1"/>
          <p:nvPr/>
        </p:nvSpPr>
        <p:spPr>
          <a:xfrm>
            <a:off x="6015335" y="3912908"/>
            <a:ext cx="54677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make the dataset linearly separable, we only choose: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(sepal length, sepal width)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versicolor)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4">
            <a:extLst>
              <a:ext uri="{FF2B5EF4-FFF2-40B4-BE49-F238E27FC236}">
                <a16:creationId xmlns:a16="http://schemas.microsoft.com/office/drawing/2014/main" id="{9EE644F1-2DC6-EE6E-0667-9F357406AABA}"/>
              </a:ext>
            </a:extLst>
          </p:cNvPr>
          <p:cNvSpPr/>
          <p:nvPr/>
        </p:nvSpPr>
        <p:spPr>
          <a:xfrm>
            <a:off x="548008" y="2935115"/>
            <a:ext cx="935860" cy="40485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17">
            <a:extLst>
              <a:ext uri="{FF2B5EF4-FFF2-40B4-BE49-F238E27FC236}">
                <a16:creationId xmlns:a16="http://schemas.microsoft.com/office/drawing/2014/main" id="{39D209C5-86B7-B15B-0255-A05878BF2A88}"/>
              </a:ext>
            </a:extLst>
          </p:cNvPr>
          <p:cNvSpPr/>
          <p:nvPr/>
        </p:nvSpPr>
        <p:spPr>
          <a:xfrm>
            <a:off x="1617597" y="2978134"/>
            <a:ext cx="935860" cy="40485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18">
            <a:extLst>
              <a:ext uri="{FF2B5EF4-FFF2-40B4-BE49-F238E27FC236}">
                <a16:creationId xmlns:a16="http://schemas.microsoft.com/office/drawing/2014/main" id="{6422180A-8AE2-F52A-5A20-F5146DD15304}"/>
              </a:ext>
            </a:extLst>
          </p:cNvPr>
          <p:cNvSpPr/>
          <p:nvPr/>
        </p:nvSpPr>
        <p:spPr>
          <a:xfrm>
            <a:off x="4600815" y="2978134"/>
            <a:ext cx="935860" cy="40485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74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9D332B-08E7-4A22-BEF3-3A7629E89DF3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50D03D0C-585C-4A2E-86E5-0670494D65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F3F5A2-C4E0-472E-A478-5C43B07B5A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1877</TotalTime>
  <Words>417</Words>
  <Application>Microsoft Office PowerPoint</Application>
  <PresentationFormat>Widescreen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Consolas</vt:lpstr>
      <vt:lpstr>Times New Roman</vt:lpstr>
      <vt:lpstr>Office Theme</vt:lpstr>
      <vt:lpstr>MATLAB Implementation of SVM</vt:lpstr>
      <vt:lpstr>MATLAB implementation of SVM - fitcsvm</vt:lpstr>
      <vt:lpstr>MATLAB implementation of SVM - fitcsvm</vt:lpstr>
      <vt:lpstr>MATLAB implementation of SVM - fitcsvm</vt:lpstr>
      <vt:lpstr>Iris flower classification by SVM using MATLAB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65</cp:revision>
  <dcterms:created xsi:type="dcterms:W3CDTF">2021-01-06T14:22:07Z</dcterms:created>
  <dcterms:modified xsi:type="dcterms:W3CDTF">2024-07-16T10:59:49Z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