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0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15/07/2024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SVM Overview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Types of SVM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003F09F-3FEF-E7A3-510D-4DFBD9F88D18}"/>
              </a:ext>
            </a:extLst>
          </p:cNvPr>
          <p:cNvSpPr txBox="1"/>
          <p:nvPr/>
        </p:nvSpPr>
        <p:spPr>
          <a:xfrm>
            <a:off x="283284" y="1414540"/>
            <a:ext cx="7463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Linear SVM – hard margin classifier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箭头连接符 8">
            <a:extLst>
              <a:ext uri="{FF2B5EF4-FFF2-40B4-BE49-F238E27FC236}">
                <a16:creationId xmlns:a16="http://schemas.microsoft.com/office/drawing/2014/main" id="{BDD2CC6A-9BDD-34BB-9E7E-1C35D9133028}"/>
              </a:ext>
            </a:extLst>
          </p:cNvPr>
          <p:cNvCxnSpPr>
            <a:cxnSpLocks/>
          </p:cNvCxnSpPr>
          <p:nvPr/>
        </p:nvCxnSpPr>
        <p:spPr>
          <a:xfrm>
            <a:off x="922092" y="3369775"/>
            <a:ext cx="209447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9">
            <a:extLst>
              <a:ext uri="{FF2B5EF4-FFF2-40B4-BE49-F238E27FC236}">
                <a16:creationId xmlns:a16="http://schemas.microsoft.com/office/drawing/2014/main" id="{1B409F75-1E50-CD6F-A247-A5137098BF48}"/>
              </a:ext>
            </a:extLst>
          </p:cNvPr>
          <p:cNvCxnSpPr>
            <a:cxnSpLocks/>
          </p:cNvCxnSpPr>
          <p:nvPr/>
        </p:nvCxnSpPr>
        <p:spPr>
          <a:xfrm flipV="1">
            <a:off x="1070373" y="1884847"/>
            <a:ext cx="0" cy="16605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12">
            <a:extLst>
              <a:ext uri="{FF2B5EF4-FFF2-40B4-BE49-F238E27FC236}">
                <a16:creationId xmlns:a16="http://schemas.microsoft.com/office/drawing/2014/main" id="{4C35770E-F180-5FD9-FCC8-32636C82B213}"/>
              </a:ext>
            </a:extLst>
          </p:cNvPr>
          <p:cNvGrpSpPr/>
          <p:nvPr/>
        </p:nvGrpSpPr>
        <p:grpSpPr>
          <a:xfrm>
            <a:off x="1398856" y="2162874"/>
            <a:ext cx="786715" cy="628193"/>
            <a:chOff x="5048764" y="1896762"/>
            <a:chExt cx="786715" cy="628193"/>
          </a:xfrm>
        </p:grpSpPr>
        <p:sp>
          <p:nvSpPr>
            <p:cNvPr id="6" name="椭圆 11">
              <a:extLst>
                <a:ext uri="{FF2B5EF4-FFF2-40B4-BE49-F238E27FC236}">
                  <a16:creationId xmlns:a16="http://schemas.microsoft.com/office/drawing/2014/main" id="{BEB1A3F1-B14E-1847-6417-624F7DA4BB09}"/>
                </a:ext>
              </a:extLst>
            </p:cNvPr>
            <p:cNvSpPr/>
            <p:nvPr/>
          </p:nvSpPr>
          <p:spPr>
            <a:xfrm>
              <a:off x="5294870" y="18967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02FB69D5-37E5-6BBF-209B-B65F2A0A8C81}"/>
                </a:ext>
              </a:extLst>
            </p:cNvPr>
            <p:cNvSpPr/>
            <p:nvPr/>
          </p:nvSpPr>
          <p:spPr>
            <a:xfrm>
              <a:off x="5447270" y="20491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7">
              <a:extLst>
                <a:ext uri="{FF2B5EF4-FFF2-40B4-BE49-F238E27FC236}">
                  <a16:creationId xmlns:a16="http://schemas.microsoft.com/office/drawing/2014/main" id="{E5BD82DE-56C1-4A66-D0F5-2CAABC8F975B}"/>
                </a:ext>
              </a:extLst>
            </p:cNvPr>
            <p:cNvSpPr/>
            <p:nvPr/>
          </p:nvSpPr>
          <p:spPr>
            <a:xfrm>
              <a:off x="5104370" y="220156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8">
              <a:extLst>
                <a:ext uri="{FF2B5EF4-FFF2-40B4-BE49-F238E27FC236}">
                  <a16:creationId xmlns:a16="http://schemas.microsoft.com/office/drawing/2014/main" id="{C4D908E9-A74F-3611-9444-9609EA0FE6D8}"/>
                </a:ext>
              </a:extLst>
            </p:cNvPr>
            <p:cNvSpPr/>
            <p:nvPr/>
          </p:nvSpPr>
          <p:spPr>
            <a:xfrm>
              <a:off x="5334000" y="230559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9">
              <a:extLst>
                <a:ext uri="{FF2B5EF4-FFF2-40B4-BE49-F238E27FC236}">
                  <a16:creationId xmlns:a16="http://schemas.microsoft.com/office/drawing/2014/main" id="{7845BEFB-44AB-44B2-EDC8-0A97AC9DCC1E}"/>
                </a:ext>
              </a:extLst>
            </p:cNvPr>
            <p:cNvSpPr/>
            <p:nvPr/>
          </p:nvSpPr>
          <p:spPr>
            <a:xfrm>
              <a:off x="5724268" y="200797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20">
              <a:extLst>
                <a:ext uri="{FF2B5EF4-FFF2-40B4-BE49-F238E27FC236}">
                  <a16:creationId xmlns:a16="http://schemas.microsoft.com/office/drawing/2014/main" id="{17B825C4-AF01-BEB4-0918-724FEF088068}"/>
                </a:ext>
              </a:extLst>
            </p:cNvPr>
            <p:cNvSpPr/>
            <p:nvPr/>
          </p:nvSpPr>
          <p:spPr>
            <a:xfrm>
              <a:off x="5048764" y="241374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3" name="直接连接符 29">
            <a:extLst>
              <a:ext uri="{FF2B5EF4-FFF2-40B4-BE49-F238E27FC236}">
                <a16:creationId xmlns:a16="http://schemas.microsoft.com/office/drawing/2014/main" id="{D7104051-2F49-1CD0-3B71-E7D3B92544E4}"/>
              </a:ext>
            </a:extLst>
          </p:cNvPr>
          <p:cNvCxnSpPr/>
          <p:nvPr/>
        </p:nvCxnSpPr>
        <p:spPr>
          <a:xfrm flipV="1">
            <a:off x="1156870" y="2274085"/>
            <a:ext cx="1470454" cy="95147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38">
            <a:extLst>
              <a:ext uri="{FF2B5EF4-FFF2-40B4-BE49-F238E27FC236}">
                <a16:creationId xmlns:a16="http://schemas.microsoft.com/office/drawing/2014/main" id="{8395B2A0-BC20-EC59-47C6-9C3A2BBF510F}"/>
              </a:ext>
            </a:extLst>
          </p:cNvPr>
          <p:cNvGrpSpPr/>
          <p:nvPr/>
        </p:nvGrpSpPr>
        <p:grpSpPr>
          <a:xfrm>
            <a:off x="1752053" y="2669947"/>
            <a:ext cx="818059" cy="623326"/>
            <a:chOff x="5401961" y="2403835"/>
            <a:chExt cx="818059" cy="623326"/>
          </a:xfrm>
        </p:grpSpPr>
        <p:sp>
          <p:nvSpPr>
            <p:cNvPr id="15" name="矩形 30">
              <a:extLst>
                <a:ext uri="{FF2B5EF4-FFF2-40B4-BE49-F238E27FC236}">
                  <a16:creationId xmlns:a16="http://schemas.microsoft.com/office/drawing/2014/main" id="{BE2A944A-85A4-8EB6-CDF7-214976BF3649}"/>
                </a:ext>
              </a:extLst>
            </p:cNvPr>
            <p:cNvSpPr/>
            <p:nvPr/>
          </p:nvSpPr>
          <p:spPr>
            <a:xfrm>
              <a:off x="5663972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31">
              <a:extLst>
                <a:ext uri="{FF2B5EF4-FFF2-40B4-BE49-F238E27FC236}">
                  <a16:creationId xmlns:a16="http://schemas.microsoft.com/office/drawing/2014/main" id="{463CD103-BD91-7A31-3262-A2C77F3ABC46}"/>
                </a:ext>
              </a:extLst>
            </p:cNvPr>
            <p:cNvSpPr/>
            <p:nvPr/>
          </p:nvSpPr>
          <p:spPr>
            <a:xfrm>
              <a:off x="5816372" y="27477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32">
              <a:extLst>
                <a:ext uri="{FF2B5EF4-FFF2-40B4-BE49-F238E27FC236}">
                  <a16:creationId xmlns:a16="http://schemas.microsoft.com/office/drawing/2014/main" id="{D4817C91-5B6E-B593-BEAB-1EEED24C2029}"/>
                </a:ext>
              </a:extLst>
            </p:cNvPr>
            <p:cNvSpPr/>
            <p:nvPr/>
          </p:nvSpPr>
          <p:spPr>
            <a:xfrm>
              <a:off x="6010988" y="27619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33">
              <a:extLst>
                <a:ext uri="{FF2B5EF4-FFF2-40B4-BE49-F238E27FC236}">
                  <a16:creationId xmlns:a16="http://schemas.microsoft.com/office/drawing/2014/main" id="{E94F8533-8B65-D1ED-EBA0-443170CE5B9A}"/>
                </a:ext>
              </a:extLst>
            </p:cNvPr>
            <p:cNvSpPr/>
            <p:nvPr/>
          </p:nvSpPr>
          <p:spPr>
            <a:xfrm>
              <a:off x="5401961" y="2818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34">
              <a:extLst>
                <a:ext uri="{FF2B5EF4-FFF2-40B4-BE49-F238E27FC236}">
                  <a16:creationId xmlns:a16="http://schemas.microsoft.com/office/drawing/2014/main" id="{341DA0F4-045B-FB79-8D0A-352B147F7812}"/>
                </a:ext>
              </a:extLst>
            </p:cNvPr>
            <p:cNvSpPr/>
            <p:nvPr/>
          </p:nvSpPr>
          <p:spPr>
            <a:xfrm>
              <a:off x="6127350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35">
              <a:extLst>
                <a:ext uri="{FF2B5EF4-FFF2-40B4-BE49-F238E27FC236}">
                  <a16:creationId xmlns:a16="http://schemas.microsoft.com/office/drawing/2014/main" id="{40FCDF4D-6636-29BB-4A59-FEAC51685425}"/>
                </a:ext>
              </a:extLst>
            </p:cNvPr>
            <p:cNvSpPr/>
            <p:nvPr/>
          </p:nvSpPr>
          <p:spPr>
            <a:xfrm>
              <a:off x="5882274" y="24038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36">
              <a:extLst>
                <a:ext uri="{FF2B5EF4-FFF2-40B4-BE49-F238E27FC236}">
                  <a16:creationId xmlns:a16="http://schemas.microsoft.com/office/drawing/2014/main" id="{41E578AD-89B2-85B8-6DC0-9F768503BC8F}"/>
                </a:ext>
              </a:extLst>
            </p:cNvPr>
            <p:cNvSpPr/>
            <p:nvPr/>
          </p:nvSpPr>
          <p:spPr>
            <a:xfrm>
              <a:off x="5592697" y="293449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40">
            <a:extLst>
              <a:ext uri="{FF2B5EF4-FFF2-40B4-BE49-F238E27FC236}">
                <a16:creationId xmlns:a16="http://schemas.microsoft.com/office/drawing/2014/main" id="{0035C688-DB00-2A8E-1DE8-DE935DCB1D87}"/>
              </a:ext>
            </a:extLst>
          </p:cNvPr>
          <p:cNvGrpSpPr/>
          <p:nvPr/>
        </p:nvGrpSpPr>
        <p:grpSpPr>
          <a:xfrm>
            <a:off x="1245483" y="4369931"/>
            <a:ext cx="1480914" cy="1068760"/>
            <a:chOff x="1196091" y="4163810"/>
            <a:chExt cx="1480914" cy="1068760"/>
          </a:xfrm>
        </p:grpSpPr>
        <p:sp>
          <p:nvSpPr>
            <p:cNvPr id="23" name="矩形 41">
              <a:extLst>
                <a:ext uri="{FF2B5EF4-FFF2-40B4-BE49-F238E27FC236}">
                  <a16:creationId xmlns:a16="http://schemas.microsoft.com/office/drawing/2014/main" id="{7E02CFE6-00D2-20B8-D8BF-6B10D6ADFCDE}"/>
                </a:ext>
              </a:extLst>
            </p:cNvPr>
            <p:cNvSpPr/>
            <p:nvPr/>
          </p:nvSpPr>
          <p:spPr>
            <a:xfrm>
              <a:off x="2120957" y="48007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42">
              <a:extLst>
                <a:ext uri="{FF2B5EF4-FFF2-40B4-BE49-F238E27FC236}">
                  <a16:creationId xmlns:a16="http://schemas.microsoft.com/office/drawing/2014/main" id="{71E80DE4-E93A-ABFB-C572-4475942C73CB}"/>
                </a:ext>
              </a:extLst>
            </p:cNvPr>
            <p:cNvSpPr/>
            <p:nvPr/>
          </p:nvSpPr>
          <p:spPr>
            <a:xfrm>
              <a:off x="2273357" y="49531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43">
              <a:extLst>
                <a:ext uri="{FF2B5EF4-FFF2-40B4-BE49-F238E27FC236}">
                  <a16:creationId xmlns:a16="http://schemas.microsoft.com/office/drawing/2014/main" id="{6FE3ABC7-528D-E4D5-8448-627961A4FA05}"/>
                </a:ext>
              </a:extLst>
            </p:cNvPr>
            <p:cNvSpPr/>
            <p:nvPr/>
          </p:nvSpPr>
          <p:spPr>
            <a:xfrm>
              <a:off x="2467973" y="4967337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矩形 44">
              <a:extLst>
                <a:ext uri="{FF2B5EF4-FFF2-40B4-BE49-F238E27FC236}">
                  <a16:creationId xmlns:a16="http://schemas.microsoft.com/office/drawing/2014/main" id="{64095718-1C60-3AF1-CED3-5AC101714815}"/>
                </a:ext>
              </a:extLst>
            </p:cNvPr>
            <p:cNvSpPr/>
            <p:nvPr/>
          </p:nvSpPr>
          <p:spPr>
            <a:xfrm>
              <a:off x="1858946" y="50242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45">
              <a:extLst>
                <a:ext uri="{FF2B5EF4-FFF2-40B4-BE49-F238E27FC236}">
                  <a16:creationId xmlns:a16="http://schemas.microsoft.com/office/drawing/2014/main" id="{0EDD93EA-775C-3816-A8BB-49F1F2DBD286}"/>
                </a:ext>
              </a:extLst>
            </p:cNvPr>
            <p:cNvSpPr/>
            <p:nvPr/>
          </p:nvSpPr>
          <p:spPr>
            <a:xfrm>
              <a:off x="2584335" y="48007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46">
              <a:extLst>
                <a:ext uri="{FF2B5EF4-FFF2-40B4-BE49-F238E27FC236}">
                  <a16:creationId xmlns:a16="http://schemas.microsoft.com/office/drawing/2014/main" id="{1036D4C0-A20E-3513-2B3A-BDCD293149E5}"/>
                </a:ext>
              </a:extLst>
            </p:cNvPr>
            <p:cNvSpPr/>
            <p:nvPr/>
          </p:nvSpPr>
          <p:spPr>
            <a:xfrm>
              <a:off x="2339259" y="460924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47">
              <a:extLst>
                <a:ext uri="{FF2B5EF4-FFF2-40B4-BE49-F238E27FC236}">
                  <a16:creationId xmlns:a16="http://schemas.microsoft.com/office/drawing/2014/main" id="{1B740279-3BF9-6220-7CB5-DEB064C35736}"/>
                </a:ext>
              </a:extLst>
            </p:cNvPr>
            <p:cNvSpPr/>
            <p:nvPr/>
          </p:nvSpPr>
          <p:spPr>
            <a:xfrm>
              <a:off x="2049682" y="513990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矩形 49">
              <a:extLst>
                <a:ext uri="{FF2B5EF4-FFF2-40B4-BE49-F238E27FC236}">
                  <a16:creationId xmlns:a16="http://schemas.microsoft.com/office/drawing/2014/main" id="{6A2E3261-A9F9-45FC-E6D5-008EE1745D42}"/>
                </a:ext>
              </a:extLst>
            </p:cNvPr>
            <p:cNvSpPr/>
            <p:nvPr/>
          </p:nvSpPr>
          <p:spPr>
            <a:xfrm>
              <a:off x="2285761" y="416381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50">
              <a:extLst>
                <a:ext uri="{FF2B5EF4-FFF2-40B4-BE49-F238E27FC236}">
                  <a16:creationId xmlns:a16="http://schemas.microsoft.com/office/drawing/2014/main" id="{658018BA-114A-2B27-FA8E-D4DA2DAFFB44}"/>
                </a:ext>
              </a:extLst>
            </p:cNvPr>
            <p:cNvSpPr/>
            <p:nvPr/>
          </p:nvSpPr>
          <p:spPr>
            <a:xfrm>
              <a:off x="1196091" y="501367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67">
            <a:extLst>
              <a:ext uri="{FF2B5EF4-FFF2-40B4-BE49-F238E27FC236}">
                <a16:creationId xmlns:a16="http://schemas.microsoft.com/office/drawing/2014/main" id="{6778E7C4-E4AC-94B4-3953-3341EEB89B56}"/>
              </a:ext>
            </a:extLst>
          </p:cNvPr>
          <p:cNvGrpSpPr/>
          <p:nvPr/>
        </p:nvGrpSpPr>
        <p:grpSpPr>
          <a:xfrm>
            <a:off x="1475850" y="4444658"/>
            <a:ext cx="797054" cy="970407"/>
            <a:chOff x="1426458" y="4238537"/>
            <a:chExt cx="797054" cy="970407"/>
          </a:xfrm>
        </p:grpSpPr>
        <p:sp>
          <p:nvSpPr>
            <p:cNvPr id="33" name="椭圆 23">
              <a:extLst>
                <a:ext uri="{FF2B5EF4-FFF2-40B4-BE49-F238E27FC236}">
                  <a16:creationId xmlns:a16="http://schemas.microsoft.com/office/drawing/2014/main" id="{83C26009-1D91-21FB-D6ED-C17122A03E92}"/>
                </a:ext>
              </a:extLst>
            </p:cNvPr>
            <p:cNvSpPr/>
            <p:nvPr/>
          </p:nvSpPr>
          <p:spPr>
            <a:xfrm>
              <a:off x="1672564" y="42385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24">
              <a:extLst>
                <a:ext uri="{FF2B5EF4-FFF2-40B4-BE49-F238E27FC236}">
                  <a16:creationId xmlns:a16="http://schemas.microsoft.com/office/drawing/2014/main" id="{540A6C6F-0AFC-119F-E613-4CD85A8DECDC}"/>
                </a:ext>
              </a:extLst>
            </p:cNvPr>
            <p:cNvSpPr/>
            <p:nvPr/>
          </p:nvSpPr>
          <p:spPr>
            <a:xfrm>
              <a:off x="1824964" y="43909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25">
              <a:extLst>
                <a:ext uri="{FF2B5EF4-FFF2-40B4-BE49-F238E27FC236}">
                  <a16:creationId xmlns:a16="http://schemas.microsoft.com/office/drawing/2014/main" id="{CD1639F1-8300-CE64-B690-8E3E66D32BC7}"/>
                </a:ext>
              </a:extLst>
            </p:cNvPr>
            <p:cNvSpPr/>
            <p:nvPr/>
          </p:nvSpPr>
          <p:spPr>
            <a:xfrm>
              <a:off x="1482064" y="45433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26">
              <a:extLst>
                <a:ext uri="{FF2B5EF4-FFF2-40B4-BE49-F238E27FC236}">
                  <a16:creationId xmlns:a16="http://schemas.microsoft.com/office/drawing/2014/main" id="{ED939879-6546-AD46-1EB1-8E218E3FBB7E}"/>
                </a:ext>
              </a:extLst>
            </p:cNvPr>
            <p:cNvSpPr/>
            <p:nvPr/>
          </p:nvSpPr>
          <p:spPr>
            <a:xfrm>
              <a:off x="1711694" y="464736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27">
              <a:extLst>
                <a:ext uri="{FF2B5EF4-FFF2-40B4-BE49-F238E27FC236}">
                  <a16:creationId xmlns:a16="http://schemas.microsoft.com/office/drawing/2014/main" id="{FB3B58D8-89E6-93FC-5375-E1C76DD115F6}"/>
                </a:ext>
              </a:extLst>
            </p:cNvPr>
            <p:cNvSpPr/>
            <p:nvPr/>
          </p:nvSpPr>
          <p:spPr>
            <a:xfrm>
              <a:off x="2112301" y="440488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椭圆 28">
              <a:extLst>
                <a:ext uri="{FF2B5EF4-FFF2-40B4-BE49-F238E27FC236}">
                  <a16:creationId xmlns:a16="http://schemas.microsoft.com/office/drawing/2014/main" id="{D0177243-A845-76F0-D45B-797D00616219}"/>
                </a:ext>
              </a:extLst>
            </p:cNvPr>
            <p:cNvSpPr/>
            <p:nvPr/>
          </p:nvSpPr>
          <p:spPr>
            <a:xfrm>
              <a:off x="1426458" y="475551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51">
              <a:extLst>
                <a:ext uri="{FF2B5EF4-FFF2-40B4-BE49-F238E27FC236}">
                  <a16:creationId xmlns:a16="http://schemas.microsoft.com/office/drawing/2014/main" id="{FF5FA972-FE76-6DA4-5E87-6CA1FF9159A1}"/>
                </a:ext>
              </a:extLst>
            </p:cNvPr>
            <p:cNvSpPr/>
            <p:nvPr/>
          </p:nvSpPr>
          <p:spPr>
            <a:xfrm>
              <a:off x="1527485" y="509773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组合 125">
            <a:extLst>
              <a:ext uri="{FF2B5EF4-FFF2-40B4-BE49-F238E27FC236}">
                <a16:creationId xmlns:a16="http://schemas.microsoft.com/office/drawing/2014/main" id="{CCB90FEA-999A-192B-B4FF-DAB4328DE407}"/>
              </a:ext>
            </a:extLst>
          </p:cNvPr>
          <p:cNvGrpSpPr/>
          <p:nvPr/>
        </p:nvGrpSpPr>
        <p:grpSpPr>
          <a:xfrm>
            <a:off x="1008589" y="4072781"/>
            <a:ext cx="2094470" cy="1660533"/>
            <a:chOff x="959197" y="3866660"/>
            <a:chExt cx="2094470" cy="1660533"/>
          </a:xfrm>
        </p:grpSpPr>
        <p:cxnSp>
          <p:nvCxnSpPr>
            <p:cNvPr id="41" name="直接箭头连接符 52">
              <a:extLst>
                <a:ext uri="{FF2B5EF4-FFF2-40B4-BE49-F238E27FC236}">
                  <a16:creationId xmlns:a16="http://schemas.microsoft.com/office/drawing/2014/main" id="{819E0F22-2477-D37C-0DAF-CF1180E567B3}"/>
                </a:ext>
              </a:extLst>
            </p:cNvPr>
            <p:cNvCxnSpPr>
              <a:cxnSpLocks/>
            </p:cNvCxnSpPr>
            <p:nvPr/>
          </p:nvCxnSpPr>
          <p:spPr>
            <a:xfrm>
              <a:off x="959197" y="5351588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53">
              <a:extLst>
                <a:ext uri="{FF2B5EF4-FFF2-40B4-BE49-F238E27FC236}">
                  <a16:creationId xmlns:a16="http://schemas.microsoft.com/office/drawing/2014/main" id="{85B7FCB0-B14F-CC7A-1BC8-48598F56B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78" y="3866660"/>
              <a:ext cx="0" cy="166053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椭圆 54">
            <a:extLst>
              <a:ext uri="{FF2B5EF4-FFF2-40B4-BE49-F238E27FC236}">
                <a16:creationId xmlns:a16="http://schemas.microsoft.com/office/drawing/2014/main" id="{5C3FAE00-D068-B3B5-579A-457E33D20320}"/>
              </a:ext>
            </a:extLst>
          </p:cNvPr>
          <p:cNvSpPr/>
          <p:nvPr/>
        </p:nvSpPr>
        <p:spPr>
          <a:xfrm>
            <a:off x="4869980" y="4419125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椭圆 55">
            <a:extLst>
              <a:ext uri="{FF2B5EF4-FFF2-40B4-BE49-F238E27FC236}">
                <a16:creationId xmlns:a16="http://schemas.microsoft.com/office/drawing/2014/main" id="{3D385604-7DCF-85EB-AC7A-3352655187A8}"/>
              </a:ext>
            </a:extLst>
          </p:cNvPr>
          <p:cNvSpPr/>
          <p:nvPr/>
        </p:nvSpPr>
        <p:spPr>
          <a:xfrm>
            <a:off x="5022380" y="4571525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椭圆 56">
            <a:extLst>
              <a:ext uri="{FF2B5EF4-FFF2-40B4-BE49-F238E27FC236}">
                <a16:creationId xmlns:a16="http://schemas.microsoft.com/office/drawing/2014/main" id="{53872669-8E41-414F-863E-F20E8AF6E8E1}"/>
              </a:ext>
            </a:extLst>
          </p:cNvPr>
          <p:cNvSpPr/>
          <p:nvPr/>
        </p:nvSpPr>
        <p:spPr>
          <a:xfrm>
            <a:off x="4679480" y="4723925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椭圆 57">
            <a:extLst>
              <a:ext uri="{FF2B5EF4-FFF2-40B4-BE49-F238E27FC236}">
                <a16:creationId xmlns:a16="http://schemas.microsoft.com/office/drawing/2014/main" id="{E1AA1E4E-A4CE-77FC-EFCC-64AD0FB9D71E}"/>
              </a:ext>
            </a:extLst>
          </p:cNvPr>
          <p:cNvSpPr/>
          <p:nvPr/>
        </p:nvSpPr>
        <p:spPr>
          <a:xfrm>
            <a:off x="4909110" y="4827957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椭圆 58">
            <a:extLst>
              <a:ext uri="{FF2B5EF4-FFF2-40B4-BE49-F238E27FC236}">
                <a16:creationId xmlns:a16="http://schemas.microsoft.com/office/drawing/2014/main" id="{304D5AC9-D3B9-9AB6-9548-CB52D8FD29BF}"/>
              </a:ext>
            </a:extLst>
          </p:cNvPr>
          <p:cNvSpPr/>
          <p:nvPr/>
        </p:nvSpPr>
        <p:spPr>
          <a:xfrm>
            <a:off x="5299378" y="4530336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椭圆 59">
            <a:extLst>
              <a:ext uri="{FF2B5EF4-FFF2-40B4-BE49-F238E27FC236}">
                <a16:creationId xmlns:a16="http://schemas.microsoft.com/office/drawing/2014/main" id="{5A7724C4-172C-05FD-AD09-6AB092C05ABF}"/>
              </a:ext>
            </a:extLst>
          </p:cNvPr>
          <p:cNvSpPr/>
          <p:nvPr/>
        </p:nvSpPr>
        <p:spPr>
          <a:xfrm>
            <a:off x="4623874" y="4936107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矩形 60">
            <a:extLst>
              <a:ext uri="{FF2B5EF4-FFF2-40B4-BE49-F238E27FC236}">
                <a16:creationId xmlns:a16="http://schemas.microsoft.com/office/drawing/2014/main" id="{7729F4E9-A768-EDF3-BED4-FA2F168734CD}"/>
              </a:ext>
            </a:extLst>
          </p:cNvPr>
          <p:cNvSpPr/>
          <p:nvPr/>
        </p:nvSpPr>
        <p:spPr>
          <a:xfrm>
            <a:off x="4333918" y="4457647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矩形 61">
            <a:extLst>
              <a:ext uri="{FF2B5EF4-FFF2-40B4-BE49-F238E27FC236}">
                <a16:creationId xmlns:a16="http://schemas.microsoft.com/office/drawing/2014/main" id="{06EDC75D-C6B0-AA1B-03A6-CC3A49B8A599}"/>
              </a:ext>
            </a:extLst>
          </p:cNvPr>
          <p:cNvSpPr/>
          <p:nvPr/>
        </p:nvSpPr>
        <p:spPr>
          <a:xfrm>
            <a:off x="5470773" y="5133762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矩形 62">
            <a:extLst>
              <a:ext uri="{FF2B5EF4-FFF2-40B4-BE49-F238E27FC236}">
                <a16:creationId xmlns:a16="http://schemas.microsoft.com/office/drawing/2014/main" id="{6788EC75-35DE-8382-9A9D-C85BE69A6750}"/>
              </a:ext>
            </a:extLst>
          </p:cNvPr>
          <p:cNvSpPr/>
          <p:nvPr/>
        </p:nvSpPr>
        <p:spPr>
          <a:xfrm>
            <a:off x="4305155" y="4835136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矩形 63">
            <a:extLst>
              <a:ext uri="{FF2B5EF4-FFF2-40B4-BE49-F238E27FC236}">
                <a16:creationId xmlns:a16="http://schemas.microsoft.com/office/drawing/2014/main" id="{40FFBC8A-66AB-8BC2-F69D-279737B46B72}"/>
              </a:ext>
            </a:extLst>
          </p:cNvPr>
          <p:cNvSpPr/>
          <p:nvPr/>
        </p:nvSpPr>
        <p:spPr>
          <a:xfrm>
            <a:off x="4791558" y="4149589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矩形 64">
            <a:extLst>
              <a:ext uri="{FF2B5EF4-FFF2-40B4-BE49-F238E27FC236}">
                <a16:creationId xmlns:a16="http://schemas.microsoft.com/office/drawing/2014/main" id="{CC2C7A87-9F06-89DF-524F-B7CBB37D68A9}"/>
              </a:ext>
            </a:extLst>
          </p:cNvPr>
          <p:cNvSpPr/>
          <p:nvPr/>
        </p:nvSpPr>
        <p:spPr>
          <a:xfrm>
            <a:off x="5247098" y="4163145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矩形 65">
            <a:extLst>
              <a:ext uri="{FF2B5EF4-FFF2-40B4-BE49-F238E27FC236}">
                <a16:creationId xmlns:a16="http://schemas.microsoft.com/office/drawing/2014/main" id="{D0E029A8-4EE0-7AAF-93E5-6ACE84AA8F93}"/>
              </a:ext>
            </a:extLst>
          </p:cNvPr>
          <p:cNvSpPr/>
          <p:nvPr/>
        </p:nvSpPr>
        <p:spPr>
          <a:xfrm>
            <a:off x="5536675" y="4789832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66">
            <a:extLst>
              <a:ext uri="{FF2B5EF4-FFF2-40B4-BE49-F238E27FC236}">
                <a16:creationId xmlns:a16="http://schemas.microsoft.com/office/drawing/2014/main" id="{465D4450-EDE5-1A5D-3364-E29303BCC667}"/>
              </a:ext>
            </a:extLst>
          </p:cNvPr>
          <p:cNvSpPr/>
          <p:nvPr/>
        </p:nvSpPr>
        <p:spPr>
          <a:xfrm>
            <a:off x="5247098" y="5320488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68">
            <a:extLst>
              <a:ext uri="{FF2B5EF4-FFF2-40B4-BE49-F238E27FC236}">
                <a16:creationId xmlns:a16="http://schemas.microsoft.com/office/drawing/2014/main" id="{6BB0C382-80F4-5103-4D97-BA0A6C123460}"/>
              </a:ext>
            </a:extLst>
          </p:cNvPr>
          <p:cNvSpPr/>
          <p:nvPr/>
        </p:nvSpPr>
        <p:spPr>
          <a:xfrm>
            <a:off x="5564069" y="4408700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矩形 69">
            <a:extLst>
              <a:ext uri="{FF2B5EF4-FFF2-40B4-BE49-F238E27FC236}">
                <a16:creationId xmlns:a16="http://schemas.microsoft.com/office/drawing/2014/main" id="{DC132F6F-737A-CCB8-9B12-3CBF082970A9}"/>
              </a:ext>
            </a:extLst>
          </p:cNvPr>
          <p:cNvSpPr/>
          <p:nvPr/>
        </p:nvSpPr>
        <p:spPr>
          <a:xfrm>
            <a:off x="4393507" y="5194260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椭圆 70">
            <a:extLst>
              <a:ext uri="{FF2B5EF4-FFF2-40B4-BE49-F238E27FC236}">
                <a16:creationId xmlns:a16="http://schemas.microsoft.com/office/drawing/2014/main" id="{CAF83BAB-C501-E919-9160-808C6DD221EA}"/>
              </a:ext>
            </a:extLst>
          </p:cNvPr>
          <p:cNvSpPr/>
          <p:nvPr/>
        </p:nvSpPr>
        <p:spPr>
          <a:xfrm>
            <a:off x="4869980" y="5114017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 74">
            <a:extLst>
              <a:ext uri="{FF2B5EF4-FFF2-40B4-BE49-F238E27FC236}">
                <a16:creationId xmlns:a16="http://schemas.microsoft.com/office/drawing/2014/main" id="{6AC9A9D1-8E4E-2DA8-AE4D-7DAFD96BA7C6}"/>
              </a:ext>
            </a:extLst>
          </p:cNvPr>
          <p:cNvSpPr/>
          <p:nvPr/>
        </p:nvSpPr>
        <p:spPr>
          <a:xfrm>
            <a:off x="4791558" y="5445308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椭圆 75">
            <a:extLst>
              <a:ext uri="{FF2B5EF4-FFF2-40B4-BE49-F238E27FC236}">
                <a16:creationId xmlns:a16="http://schemas.microsoft.com/office/drawing/2014/main" id="{516B1DE5-A605-000A-C885-765814029834}"/>
              </a:ext>
            </a:extLst>
          </p:cNvPr>
          <p:cNvSpPr/>
          <p:nvPr/>
        </p:nvSpPr>
        <p:spPr>
          <a:xfrm>
            <a:off x="5061510" y="4980357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椭圆 76">
            <a:extLst>
              <a:ext uri="{FF2B5EF4-FFF2-40B4-BE49-F238E27FC236}">
                <a16:creationId xmlns:a16="http://schemas.microsoft.com/office/drawing/2014/main" id="{7BC13CC7-4D81-A372-055E-F6CB8A8BD597}"/>
              </a:ext>
            </a:extLst>
          </p:cNvPr>
          <p:cNvSpPr/>
          <p:nvPr/>
        </p:nvSpPr>
        <p:spPr>
          <a:xfrm>
            <a:off x="5280159" y="4913629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78">
            <a:extLst>
              <a:ext uri="{FF2B5EF4-FFF2-40B4-BE49-F238E27FC236}">
                <a16:creationId xmlns:a16="http://schemas.microsoft.com/office/drawing/2014/main" id="{37FBF6AA-1B49-641E-ECA0-410E895C6032}"/>
              </a:ext>
            </a:extLst>
          </p:cNvPr>
          <p:cNvSpPr txBox="1"/>
          <p:nvPr/>
        </p:nvSpPr>
        <p:spPr>
          <a:xfrm>
            <a:off x="713493" y="3569420"/>
            <a:ext cx="781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 dataset is not linearly separable?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4">
            <a:extLst>
              <a:ext uri="{FF2B5EF4-FFF2-40B4-BE49-F238E27FC236}">
                <a16:creationId xmlns:a16="http://schemas.microsoft.com/office/drawing/2014/main" id="{817C84F3-F07B-8DA0-6E45-293AB0DD06A1}"/>
              </a:ext>
            </a:extLst>
          </p:cNvPr>
          <p:cNvSpPr txBox="1"/>
          <p:nvPr/>
        </p:nvSpPr>
        <p:spPr>
          <a:xfrm>
            <a:off x="758045" y="6349401"/>
            <a:ext cx="11054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 does not exist a hyperplane that separates the dataset properly.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7">
            <a:extLst>
              <a:ext uri="{FF2B5EF4-FFF2-40B4-BE49-F238E27FC236}">
                <a16:creationId xmlns:a16="http://schemas.microsoft.com/office/drawing/2014/main" id="{B756915C-CB9D-4CEA-A517-424773880387}"/>
              </a:ext>
            </a:extLst>
          </p:cNvPr>
          <p:cNvSpPr txBox="1"/>
          <p:nvPr/>
        </p:nvSpPr>
        <p:spPr>
          <a:xfrm>
            <a:off x="3715452" y="2066343"/>
            <a:ext cx="8377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linearly separable, there exists a hyperplane that perfectly separate the two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classifier is called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SVM – hard margin classifier.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椭圆 10">
            <a:extLst>
              <a:ext uri="{FF2B5EF4-FFF2-40B4-BE49-F238E27FC236}">
                <a16:creationId xmlns:a16="http://schemas.microsoft.com/office/drawing/2014/main" id="{F1C6AE3D-CA8A-0CE4-F4B2-1DDC24E98AB9}"/>
              </a:ext>
            </a:extLst>
          </p:cNvPr>
          <p:cNvSpPr/>
          <p:nvPr/>
        </p:nvSpPr>
        <p:spPr>
          <a:xfrm>
            <a:off x="2250111" y="4296673"/>
            <a:ext cx="262753" cy="269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直接箭头连接符 14">
            <a:extLst>
              <a:ext uri="{FF2B5EF4-FFF2-40B4-BE49-F238E27FC236}">
                <a16:creationId xmlns:a16="http://schemas.microsoft.com/office/drawing/2014/main" id="{04898B1B-093B-569E-BEC8-2B33BAB5743F}"/>
              </a:ext>
            </a:extLst>
          </p:cNvPr>
          <p:cNvCxnSpPr>
            <a:cxnSpLocks/>
            <a:stCxn id="65" idx="6"/>
          </p:cNvCxnSpPr>
          <p:nvPr/>
        </p:nvCxnSpPr>
        <p:spPr>
          <a:xfrm flipV="1">
            <a:off x="2512864" y="4287424"/>
            <a:ext cx="290834" cy="143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15">
            <a:extLst>
              <a:ext uri="{FF2B5EF4-FFF2-40B4-BE49-F238E27FC236}">
                <a16:creationId xmlns:a16="http://schemas.microsoft.com/office/drawing/2014/main" id="{682100E7-16C2-6E8F-3BD8-5E59706CC73E}"/>
              </a:ext>
            </a:extLst>
          </p:cNvPr>
          <p:cNvSpPr txBox="1"/>
          <p:nvPr/>
        </p:nvSpPr>
        <p:spPr>
          <a:xfrm>
            <a:off x="2771605" y="3977375"/>
            <a:ext cx="1272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98">
            <a:extLst>
              <a:ext uri="{FF2B5EF4-FFF2-40B4-BE49-F238E27FC236}">
                <a16:creationId xmlns:a16="http://schemas.microsoft.com/office/drawing/2014/main" id="{0F513AE0-BD08-8453-584E-2F235F9958E0}"/>
              </a:ext>
            </a:extLst>
          </p:cNvPr>
          <p:cNvSpPr txBox="1"/>
          <p:nvPr/>
        </p:nvSpPr>
        <p:spPr>
          <a:xfrm>
            <a:off x="1565428" y="5546609"/>
            <a:ext cx="1399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" name="组合 126">
            <a:extLst>
              <a:ext uri="{FF2B5EF4-FFF2-40B4-BE49-F238E27FC236}">
                <a16:creationId xmlns:a16="http://schemas.microsoft.com/office/drawing/2014/main" id="{C7A62F40-BD51-3A52-B706-51BDA7BAFA83}"/>
              </a:ext>
            </a:extLst>
          </p:cNvPr>
          <p:cNvGrpSpPr/>
          <p:nvPr/>
        </p:nvGrpSpPr>
        <p:grpSpPr>
          <a:xfrm>
            <a:off x="3942531" y="4048906"/>
            <a:ext cx="2112798" cy="2370384"/>
            <a:chOff x="3893139" y="3842785"/>
            <a:chExt cx="2112798" cy="2370384"/>
          </a:xfrm>
        </p:grpSpPr>
        <p:cxnSp>
          <p:nvCxnSpPr>
            <p:cNvPr id="70" name="直接箭头连接符 71">
              <a:extLst>
                <a:ext uri="{FF2B5EF4-FFF2-40B4-BE49-F238E27FC236}">
                  <a16:creationId xmlns:a16="http://schemas.microsoft.com/office/drawing/2014/main" id="{51FF06F2-ED28-11E9-53C6-9DE4FDC7F61C}"/>
                </a:ext>
              </a:extLst>
            </p:cNvPr>
            <p:cNvCxnSpPr>
              <a:cxnSpLocks/>
            </p:cNvCxnSpPr>
            <p:nvPr/>
          </p:nvCxnSpPr>
          <p:spPr>
            <a:xfrm>
              <a:off x="3893139" y="5396550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2">
              <a:extLst>
                <a:ext uri="{FF2B5EF4-FFF2-40B4-BE49-F238E27FC236}">
                  <a16:creationId xmlns:a16="http://schemas.microsoft.com/office/drawing/2014/main" id="{0CDD0C5A-D674-705C-51BE-3FC6F9BC51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372" y="3842785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99">
              <a:extLst>
                <a:ext uri="{FF2B5EF4-FFF2-40B4-BE49-F238E27FC236}">
                  <a16:creationId xmlns:a16="http://schemas.microsoft.com/office/drawing/2014/main" id="{45FBC13C-88C3-E4C4-B5BC-56AC4074FD3A}"/>
                </a:ext>
              </a:extLst>
            </p:cNvPr>
            <p:cNvSpPr txBox="1"/>
            <p:nvPr/>
          </p:nvSpPr>
          <p:spPr>
            <a:xfrm>
              <a:off x="4094978" y="5382172"/>
              <a:ext cx="19109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nonlinearly distributed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3" name="组合 127">
            <a:extLst>
              <a:ext uri="{FF2B5EF4-FFF2-40B4-BE49-F238E27FC236}">
                <a16:creationId xmlns:a16="http://schemas.microsoft.com/office/drawing/2014/main" id="{AFB32DBA-E87D-C991-841D-7127552BDB7D}"/>
              </a:ext>
            </a:extLst>
          </p:cNvPr>
          <p:cNvGrpSpPr/>
          <p:nvPr/>
        </p:nvGrpSpPr>
        <p:grpSpPr>
          <a:xfrm>
            <a:off x="6500883" y="3941172"/>
            <a:ext cx="2094470" cy="2125256"/>
            <a:chOff x="6451491" y="3735051"/>
            <a:chExt cx="2094470" cy="2125256"/>
          </a:xfrm>
        </p:grpSpPr>
        <p:cxnSp>
          <p:nvCxnSpPr>
            <p:cNvPr id="74" name="直接箭头连接符 94">
              <a:extLst>
                <a:ext uri="{FF2B5EF4-FFF2-40B4-BE49-F238E27FC236}">
                  <a16:creationId xmlns:a16="http://schemas.microsoft.com/office/drawing/2014/main" id="{B5F2E1E5-ADD9-F6A3-7723-F9C05D263512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100">
              <a:extLst>
                <a:ext uri="{FF2B5EF4-FFF2-40B4-BE49-F238E27FC236}">
                  <a16:creationId xmlns:a16="http://schemas.microsoft.com/office/drawing/2014/main" id="{AA6DBDCA-CE2D-8520-99C2-475391E71246}"/>
                </a:ext>
              </a:extLst>
            </p:cNvPr>
            <p:cNvSpPr txBox="1"/>
            <p:nvPr/>
          </p:nvSpPr>
          <p:spPr>
            <a:xfrm>
              <a:off x="6683647" y="5398642"/>
              <a:ext cx="17187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multi-class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" name="直接箭头连接符 101">
              <a:extLst>
                <a:ext uri="{FF2B5EF4-FFF2-40B4-BE49-F238E27FC236}">
                  <a16:creationId xmlns:a16="http://schemas.microsoft.com/office/drawing/2014/main" id="{10712F66-BE02-EADC-7DEE-414CA0CF9E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39">
            <a:extLst>
              <a:ext uri="{FF2B5EF4-FFF2-40B4-BE49-F238E27FC236}">
                <a16:creationId xmlns:a16="http://schemas.microsoft.com/office/drawing/2014/main" id="{433169FF-AD6B-73A8-5211-241982D8D387}"/>
              </a:ext>
            </a:extLst>
          </p:cNvPr>
          <p:cNvGrpSpPr/>
          <p:nvPr/>
        </p:nvGrpSpPr>
        <p:grpSpPr>
          <a:xfrm>
            <a:off x="6753688" y="4484107"/>
            <a:ext cx="620928" cy="628193"/>
            <a:chOff x="6726182" y="4290197"/>
            <a:chExt cx="620928" cy="628193"/>
          </a:xfrm>
        </p:grpSpPr>
        <p:sp>
          <p:nvSpPr>
            <p:cNvPr id="78" name="椭圆 103">
              <a:extLst>
                <a:ext uri="{FF2B5EF4-FFF2-40B4-BE49-F238E27FC236}">
                  <a16:creationId xmlns:a16="http://schemas.microsoft.com/office/drawing/2014/main" id="{18F1DE1C-BCBA-6530-D0F8-976FF682DE90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椭圆 104">
              <a:extLst>
                <a:ext uri="{FF2B5EF4-FFF2-40B4-BE49-F238E27FC236}">
                  <a16:creationId xmlns:a16="http://schemas.microsoft.com/office/drawing/2014/main" id="{CCBBD9AB-6069-88D2-1913-5637367D0E6F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椭圆 105">
              <a:extLst>
                <a:ext uri="{FF2B5EF4-FFF2-40B4-BE49-F238E27FC236}">
                  <a16:creationId xmlns:a16="http://schemas.microsoft.com/office/drawing/2014/main" id="{5BF83D5F-DC33-E884-17D2-619E4A93C439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椭圆 106">
              <a:extLst>
                <a:ext uri="{FF2B5EF4-FFF2-40B4-BE49-F238E27FC236}">
                  <a16:creationId xmlns:a16="http://schemas.microsoft.com/office/drawing/2014/main" id="{62D3FED5-2650-38FE-B0C5-D354071912F9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椭圆 107">
              <a:extLst>
                <a:ext uri="{FF2B5EF4-FFF2-40B4-BE49-F238E27FC236}">
                  <a16:creationId xmlns:a16="http://schemas.microsoft.com/office/drawing/2014/main" id="{E2CD474F-20E1-8813-BDF5-30C6359D46FA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椭圆 108">
              <a:extLst>
                <a:ext uri="{FF2B5EF4-FFF2-40B4-BE49-F238E27FC236}">
                  <a16:creationId xmlns:a16="http://schemas.microsoft.com/office/drawing/2014/main" id="{7E6C0977-1793-AE97-C326-1B70CB1374FE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4" name="组合 109">
            <a:extLst>
              <a:ext uri="{FF2B5EF4-FFF2-40B4-BE49-F238E27FC236}">
                <a16:creationId xmlns:a16="http://schemas.microsoft.com/office/drawing/2014/main" id="{768A9E5E-9E6B-B93D-2F9A-F9923F68951A}"/>
              </a:ext>
            </a:extLst>
          </p:cNvPr>
          <p:cNvGrpSpPr/>
          <p:nvPr/>
        </p:nvGrpSpPr>
        <p:grpSpPr>
          <a:xfrm>
            <a:off x="6998250" y="4906032"/>
            <a:ext cx="818059" cy="623326"/>
            <a:chOff x="5401961" y="2403835"/>
            <a:chExt cx="818059" cy="623326"/>
          </a:xfrm>
        </p:grpSpPr>
        <p:sp>
          <p:nvSpPr>
            <p:cNvPr id="85" name="矩形 110">
              <a:extLst>
                <a:ext uri="{FF2B5EF4-FFF2-40B4-BE49-F238E27FC236}">
                  <a16:creationId xmlns:a16="http://schemas.microsoft.com/office/drawing/2014/main" id="{CDC9F137-8825-3228-16E2-39EDA64C755F}"/>
                </a:ext>
              </a:extLst>
            </p:cNvPr>
            <p:cNvSpPr/>
            <p:nvPr/>
          </p:nvSpPr>
          <p:spPr>
            <a:xfrm>
              <a:off x="5663972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矩形 111">
              <a:extLst>
                <a:ext uri="{FF2B5EF4-FFF2-40B4-BE49-F238E27FC236}">
                  <a16:creationId xmlns:a16="http://schemas.microsoft.com/office/drawing/2014/main" id="{5A0C8817-66D1-4217-F556-FFCD52E3C4EF}"/>
                </a:ext>
              </a:extLst>
            </p:cNvPr>
            <p:cNvSpPr/>
            <p:nvPr/>
          </p:nvSpPr>
          <p:spPr>
            <a:xfrm>
              <a:off x="5816372" y="27477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矩形 112">
              <a:extLst>
                <a:ext uri="{FF2B5EF4-FFF2-40B4-BE49-F238E27FC236}">
                  <a16:creationId xmlns:a16="http://schemas.microsoft.com/office/drawing/2014/main" id="{98BDD434-819A-72ED-91CD-B11EBC77E5CB}"/>
                </a:ext>
              </a:extLst>
            </p:cNvPr>
            <p:cNvSpPr/>
            <p:nvPr/>
          </p:nvSpPr>
          <p:spPr>
            <a:xfrm>
              <a:off x="6010988" y="27619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矩形 113">
              <a:extLst>
                <a:ext uri="{FF2B5EF4-FFF2-40B4-BE49-F238E27FC236}">
                  <a16:creationId xmlns:a16="http://schemas.microsoft.com/office/drawing/2014/main" id="{22900EDE-A97E-DDD3-08D3-69394AD566F5}"/>
                </a:ext>
              </a:extLst>
            </p:cNvPr>
            <p:cNvSpPr/>
            <p:nvPr/>
          </p:nvSpPr>
          <p:spPr>
            <a:xfrm>
              <a:off x="5401961" y="2818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矩形 114">
              <a:extLst>
                <a:ext uri="{FF2B5EF4-FFF2-40B4-BE49-F238E27FC236}">
                  <a16:creationId xmlns:a16="http://schemas.microsoft.com/office/drawing/2014/main" id="{AA0FA822-4FD4-A02F-10C2-242EFC8CFAB0}"/>
                </a:ext>
              </a:extLst>
            </p:cNvPr>
            <p:cNvSpPr/>
            <p:nvPr/>
          </p:nvSpPr>
          <p:spPr>
            <a:xfrm>
              <a:off x="6127350" y="259536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矩形 115">
              <a:extLst>
                <a:ext uri="{FF2B5EF4-FFF2-40B4-BE49-F238E27FC236}">
                  <a16:creationId xmlns:a16="http://schemas.microsoft.com/office/drawing/2014/main" id="{E28B73E5-17F7-304F-2A9A-8D744B1605CD}"/>
                </a:ext>
              </a:extLst>
            </p:cNvPr>
            <p:cNvSpPr/>
            <p:nvPr/>
          </p:nvSpPr>
          <p:spPr>
            <a:xfrm>
              <a:off x="5882274" y="24038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矩形 116">
              <a:extLst>
                <a:ext uri="{FF2B5EF4-FFF2-40B4-BE49-F238E27FC236}">
                  <a16:creationId xmlns:a16="http://schemas.microsoft.com/office/drawing/2014/main" id="{AA1E1C3F-93AD-6EAC-678A-05AAFE0F4A03}"/>
                </a:ext>
              </a:extLst>
            </p:cNvPr>
            <p:cNvSpPr/>
            <p:nvPr/>
          </p:nvSpPr>
          <p:spPr>
            <a:xfrm>
              <a:off x="5592697" y="293449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2" name="组合 128">
            <a:extLst>
              <a:ext uri="{FF2B5EF4-FFF2-40B4-BE49-F238E27FC236}">
                <a16:creationId xmlns:a16="http://schemas.microsoft.com/office/drawing/2014/main" id="{099D3E08-4C2E-3989-2A97-C9843EA8E717}"/>
              </a:ext>
            </a:extLst>
          </p:cNvPr>
          <p:cNvGrpSpPr/>
          <p:nvPr/>
        </p:nvGrpSpPr>
        <p:grpSpPr>
          <a:xfrm>
            <a:off x="7428371" y="4271752"/>
            <a:ext cx="783042" cy="704123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93" name="等腰三角形 37">
              <a:extLst>
                <a:ext uri="{FF2B5EF4-FFF2-40B4-BE49-F238E27FC236}">
                  <a16:creationId xmlns:a16="http://schemas.microsoft.com/office/drawing/2014/main" id="{A484F12A-116E-C24A-641E-4CCA9EACDB42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等腰三角形 117">
              <a:extLst>
                <a:ext uri="{FF2B5EF4-FFF2-40B4-BE49-F238E27FC236}">
                  <a16:creationId xmlns:a16="http://schemas.microsoft.com/office/drawing/2014/main" id="{9FFFE388-F777-4252-F2D4-4F45E06D14A1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等腰三角形 118">
              <a:extLst>
                <a:ext uri="{FF2B5EF4-FFF2-40B4-BE49-F238E27FC236}">
                  <a16:creationId xmlns:a16="http://schemas.microsoft.com/office/drawing/2014/main" id="{84E0872F-68B8-EF77-9521-DFDBD54ABE1E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等腰三角形 119">
              <a:extLst>
                <a:ext uri="{FF2B5EF4-FFF2-40B4-BE49-F238E27FC236}">
                  <a16:creationId xmlns:a16="http://schemas.microsoft.com/office/drawing/2014/main" id="{C31CCEE3-CFC9-7291-D768-948AFAF97728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等腰三角形 120">
              <a:extLst>
                <a:ext uri="{FF2B5EF4-FFF2-40B4-BE49-F238E27FC236}">
                  <a16:creationId xmlns:a16="http://schemas.microsoft.com/office/drawing/2014/main" id="{1D931435-3042-F839-6836-33426C6E98EF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等腰三角形 121">
              <a:extLst>
                <a:ext uri="{FF2B5EF4-FFF2-40B4-BE49-F238E27FC236}">
                  <a16:creationId xmlns:a16="http://schemas.microsoft.com/office/drawing/2014/main" id="{9BD88A52-5669-5C27-0BC1-C5049C6F10CD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等腰三角形 122">
              <a:extLst>
                <a:ext uri="{FF2B5EF4-FFF2-40B4-BE49-F238E27FC236}">
                  <a16:creationId xmlns:a16="http://schemas.microsoft.com/office/drawing/2014/main" id="{CAE049D0-737E-1CD4-75D6-510D21429451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等腰三角形 123">
              <a:extLst>
                <a:ext uri="{FF2B5EF4-FFF2-40B4-BE49-F238E27FC236}">
                  <a16:creationId xmlns:a16="http://schemas.microsoft.com/office/drawing/2014/main" id="{3ECADDC9-99EA-2335-6C89-2DE800E1DCDE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等腰三角形 124">
              <a:extLst>
                <a:ext uri="{FF2B5EF4-FFF2-40B4-BE49-F238E27FC236}">
                  <a16:creationId xmlns:a16="http://schemas.microsoft.com/office/drawing/2014/main" id="{F8911F74-AC99-7A36-B447-31A6BE886D8E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5" grpId="0" animBg="1"/>
      <p:bldP spid="67" grpId="0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Types of SVM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B9D13A4-4AAA-CF9D-8C46-4E777E4D9C5A}"/>
              </a:ext>
            </a:extLst>
          </p:cNvPr>
          <p:cNvSpPr txBox="1"/>
          <p:nvPr/>
        </p:nvSpPr>
        <p:spPr>
          <a:xfrm>
            <a:off x="286174" y="1422400"/>
            <a:ext cx="6628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Linear SVM – soft margin classifier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椭圆 54">
            <a:extLst>
              <a:ext uri="{FF2B5EF4-FFF2-40B4-BE49-F238E27FC236}">
                <a16:creationId xmlns:a16="http://schemas.microsoft.com/office/drawing/2014/main" id="{50F312A5-CD4B-EF6D-F43F-7F1B7C49C9B5}"/>
              </a:ext>
            </a:extLst>
          </p:cNvPr>
          <p:cNvSpPr/>
          <p:nvPr/>
        </p:nvSpPr>
        <p:spPr>
          <a:xfrm>
            <a:off x="1366944" y="4834128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椭圆 55">
            <a:extLst>
              <a:ext uri="{FF2B5EF4-FFF2-40B4-BE49-F238E27FC236}">
                <a16:creationId xmlns:a16="http://schemas.microsoft.com/office/drawing/2014/main" id="{9A1EFCEF-BCDE-6C96-1DFE-6CCD67AFAABE}"/>
              </a:ext>
            </a:extLst>
          </p:cNvPr>
          <p:cNvSpPr/>
          <p:nvPr/>
        </p:nvSpPr>
        <p:spPr>
          <a:xfrm>
            <a:off x="1519344" y="4986528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椭圆 56">
            <a:extLst>
              <a:ext uri="{FF2B5EF4-FFF2-40B4-BE49-F238E27FC236}">
                <a16:creationId xmlns:a16="http://schemas.microsoft.com/office/drawing/2014/main" id="{793EED8A-1C1A-8710-5A0B-C1576421552C}"/>
              </a:ext>
            </a:extLst>
          </p:cNvPr>
          <p:cNvSpPr/>
          <p:nvPr/>
        </p:nvSpPr>
        <p:spPr>
          <a:xfrm>
            <a:off x="1176444" y="5138928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57">
            <a:extLst>
              <a:ext uri="{FF2B5EF4-FFF2-40B4-BE49-F238E27FC236}">
                <a16:creationId xmlns:a16="http://schemas.microsoft.com/office/drawing/2014/main" id="{84C716B4-63A0-58D0-A68F-DC062F9BD4FF}"/>
              </a:ext>
            </a:extLst>
          </p:cNvPr>
          <p:cNvSpPr/>
          <p:nvPr/>
        </p:nvSpPr>
        <p:spPr>
          <a:xfrm>
            <a:off x="1406074" y="5242960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58">
            <a:extLst>
              <a:ext uri="{FF2B5EF4-FFF2-40B4-BE49-F238E27FC236}">
                <a16:creationId xmlns:a16="http://schemas.microsoft.com/office/drawing/2014/main" id="{E96EB741-5FC0-ACD7-6CFA-5607E248C58B}"/>
              </a:ext>
            </a:extLst>
          </p:cNvPr>
          <p:cNvSpPr/>
          <p:nvPr/>
        </p:nvSpPr>
        <p:spPr>
          <a:xfrm>
            <a:off x="1796342" y="4945339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59">
            <a:extLst>
              <a:ext uri="{FF2B5EF4-FFF2-40B4-BE49-F238E27FC236}">
                <a16:creationId xmlns:a16="http://schemas.microsoft.com/office/drawing/2014/main" id="{B40ACC41-C442-B981-D224-16DA52A2EA8A}"/>
              </a:ext>
            </a:extLst>
          </p:cNvPr>
          <p:cNvSpPr/>
          <p:nvPr/>
        </p:nvSpPr>
        <p:spPr>
          <a:xfrm>
            <a:off x="1120838" y="5351110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60">
            <a:extLst>
              <a:ext uri="{FF2B5EF4-FFF2-40B4-BE49-F238E27FC236}">
                <a16:creationId xmlns:a16="http://schemas.microsoft.com/office/drawing/2014/main" id="{82F9FAEC-ED3C-5263-B9E2-703E23AE2955}"/>
              </a:ext>
            </a:extLst>
          </p:cNvPr>
          <p:cNvSpPr/>
          <p:nvPr/>
        </p:nvSpPr>
        <p:spPr>
          <a:xfrm>
            <a:off x="830882" y="4872650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61">
            <a:extLst>
              <a:ext uri="{FF2B5EF4-FFF2-40B4-BE49-F238E27FC236}">
                <a16:creationId xmlns:a16="http://schemas.microsoft.com/office/drawing/2014/main" id="{A90A72BB-6B04-206C-44C4-3F748BE5A5AB}"/>
              </a:ext>
            </a:extLst>
          </p:cNvPr>
          <p:cNvSpPr/>
          <p:nvPr/>
        </p:nvSpPr>
        <p:spPr>
          <a:xfrm>
            <a:off x="1967737" y="5548765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62">
            <a:extLst>
              <a:ext uri="{FF2B5EF4-FFF2-40B4-BE49-F238E27FC236}">
                <a16:creationId xmlns:a16="http://schemas.microsoft.com/office/drawing/2014/main" id="{BB216B57-C23C-7C58-67DC-F5A91952B82A}"/>
              </a:ext>
            </a:extLst>
          </p:cNvPr>
          <p:cNvSpPr/>
          <p:nvPr/>
        </p:nvSpPr>
        <p:spPr>
          <a:xfrm>
            <a:off x="802119" y="5250139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63">
            <a:extLst>
              <a:ext uri="{FF2B5EF4-FFF2-40B4-BE49-F238E27FC236}">
                <a16:creationId xmlns:a16="http://schemas.microsoft.com/office/drawing/2014/main" id="{294DAFE3-A9C2-D5F1-E369-005DCBD79169}"/>
              </a:ext>
            </a:extLst>
          </p:cNvPr>
          <p:cNvSpPr/>
          <p:nvPr/>
        </p:nvSpPr>
        <p:spPr>
          <a:xfrm>
            <a:off x="1288522" y="4564592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64">
            <a:extLst>
              <a:ext uri="{FF2B5EF4-FFF2-40B4-BE49-F238E27FC236}">
                <a16:creationId xmlns:a16="http://schemas.microsoft.com/office/drawing/2014/main" id="{3A1A2730-708F-63D7-3F2D-957DCACE5DFF}"/>
              </a:ext>
            </a:extLst>
          </p:cNvPr>
          <p:cNvSpPr/>
          <p:nvPr/>
        </p:nvSpPr>
        <p:spPr>
          <a:xfrm>
            <a:off x="1744062" y="4578148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65">
            <a:extLst>
              <a:ext uri="{FF2B5EF4-FFF2-40B4-BE49-F238E27FC236}">
                <a16:creationId xmlns:a16="http://schemas.microsoft.com/office/drawing/2014/main" id="{DA534C13-EE72-5F3F-E19A-FCDA0B9668CE}"/>
              </a:ext>
            </a:extLst>
          </p:cNvPr>
          <p:cNvSpPr/>
          <p:nvPr/>
        </p:nvSpPr>
        <p:spPr>
          <a:xfrm>
            <a:off x="2033639" y="5204835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66">
            <a:extLst>
              <a:ext uri="{FF2B5EF4-FFF2-40B4-BE49-F238E27FC236}">
                <a16:creationId xmlns:a16="http://schemas.microsoft.com/office/drawing/2014/main" id="{497FC1E7-4752-0445-58BA-32BF7BBCD282}"/>
              </a:ext>
            </a:extLst>
          </p:cNvPr>
          <p:cNvSpPr/>
          <p:nvPr/>
        </p:nvSpPr>
        <p:spPr>
          <a:xfrm>
            <a:off x="1744062" y="5735491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68">
            <a:extLst>
              <a:ext uri="{FF2B5EF4-FFF2-40B4-BE49-F238E27FC236}">
                <a16:creationId xmlns:a16="http://schemas.microsoft.com/office/drawing/2014/main" id="{2DF90FD4-3730-78A8-2D0B-BDB3AAE82533}"/>
              </a:ext>
            </a:extLst>
          </p:cNvPr>
          <p:cNvSpPr/>
          <p:nvPr/>
        </p:nvSpPr>
        <p:spPr>
          <a:xfrm>
            <a:off x="2061033" y="4823703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69">
            <a:extLst>
              <a:ext uri="{FF2B5EF4-FFF2-40B4-BE49-F238E27FC236}">
                <a16:creationId xmlns:a16="http://schemas.microsoft.com/office/drawing/2014/main" id="{BF84E6AB-EDB9-5467-4DF8-20D234CD8FB4}"/>
              </a:ext>
            </a:extLst>
          </p:cNvPr>
          <p:cNvSpPr/>
          <p:nvPr/>
        </p:nvSpPr>
        <p:spPr>
          <a:xfrm>
            <a:off x="890471" y="5609263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椭圆 70">
            <a:extLst>
              <a:ext uri="{FF2B5EF4-FFF2-40B4-BE49-F238E27FC236}">
                <a16:creationId xmlns:a16="http://schemas.microsoft.com/office/drawing/2014/main" id="{36150B10-AAEE-67D3-3E07-752040F8EB07}"/>
              </a:ext>
            </a:extLst>
          </p:cNvPr>
          <p:cNvSpPr/>
          <p:nvPr/>
        </p:nvSpPr>
        <p:spPr>
          <a:xfrm>
            <a:off x="1366944" y="5529020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接箭头连接符 71">
            <a:extLst>
              <a:ext uri="{FF2B5EF4-FFF2-40B4-BE49-F238E27FC236}">
                <a16:creationId xmlns:a16="http://schemas.microsoft.com/office/drawing/2014/main" id="{B4E180F3-B722-5CFE-9EC8-91A5845010B6}"/>
              </a:ext>
            </a:extLst>
          </p:cNvPr>
          <p:cNvCxnSpPr>
            <a:cxnSpLocks/>
          </p:cNvCxnSpPr>
          <p:nvPr/>
        </p:nvCxnSpPr>
        <p:spPr>
          <a:xfrm>
            <a:off x="439495" y="6017674"/>
            <a:ext cx="209447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72">
            <a:extLst>
              <a:ext uri="{FF2B5EF4-FFF2-40B4-BE49-F238E27FC236}">
                <a16:creationId xmlns:a16="http://schemas.microsoft.com/office/drawing/2014/main" id="{ECF7072B-9AFD-1D7F-074A-CD2AAE422FCF}"/>
              </a:ext>
            </a:extLst>
          </p:cNvPr>
          <p:cNvCxnSpPr>
            <a:cxnSpLocks/>
          </p:cNvCxnSpPr>
          <p:nvPr/>
        </p:nvCxnSpPr>
        <p:spPr>
          <a:xfrm flipV="1">
            <a:off x="566499" y="4453594"/>
            <a:ext cx="0" cy="18389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73">
            <a:extLst>
              <a:ext uri="{FF2B5EF4-FFF2-40B4-BE49-F238E27FC236}">
                <a16:creationId xmlns:a16="http://schemas.microsoft.com/office/drawing/2014/main" id="{D4797FCC-95D2-1165-E8D3-98ECD21BAEFF}"/>
              </a:ext>
            </a:extLst>
          </p:cNvPr>
          <p:cNvSpPr/>
          <p:nvPr/>
        </p:nvSpPr>
        <p:spPr>
          <a:xfrm>
            <a:off x="951913" y="4695708"/>
            <a:ext cx="1047053" cy="1047053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74">
            <a:extLst>
              <a:ext uri="{FF2B5EF4-FFF2-40B4-BE49-F238E27FC236}">
                <a16:creationId xmlns:a16="http://schemas.microsoft.com/office/drawing/2014/main" id="{FA8BA69C-221E-93CF-9112-AE0437EE4524}"/>
              </a:ext>
            </a:extLst>
          </p:cNvPr>
          <p:cNvSpPr/>
          <p:nvPr/>
        </p:nvSpPr>
        <p:spPr>
          <a:xfrm>
            <a:off x="1288522" y="5860311"/>
            <a:ext cx="92670" cy="926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椭圆 75">
            <a:extLst>
              <a:ext uri="{FF2B5EF4-FFF2-40B4-BE49-F238E27FC236}">
                <a16:creationId xmlns:a16="http://schemas.microsoft.com/office/drawing/2014/main" id="{CA108269-A222-A73A-9D26-ED77D0CB2356}"/>
              </a:ext>
            </a:extLst>
          </p:cNvPr>
          <p:cNvSpPr/>
          <p:nvPr/>
        </p:nvSpPr>
        <p:spPr>
          <a:xfrm>
            <a:off x="1558474" y="5395360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椭圆 76">
            <a:extLst>
              <a:ext uri="{FF2B5EF4-FFF2-40B4-BE49-F238E27FC236}">
                <a16:creationId xmlns:a16="http://schemas.microsoft.com/office/drawing/2014/main" id="{379F14BD-4438-934B-65E5-0014219CB475}"/>
              </a:ext>
            </a:extLst>
          </p:cNvPr>
          <p:cNvSpPr/>
          <p:nvPr/>
        </p:nvSpPr>
        <p:spPr>
          <a:xfrm>
            <a:off x="1777123" y="5328632"/>
            <a:ext cx="111211" cy="111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组合 67">
            <a:extLst>
              <a:ext uri="{FF2B5EF4-FFF2-40B4-BE49-F238E27FC236}">
                <a16:creationId xmlns:a16="http://schemas.microsoft.com/office/drawing/2014/main" id="{8C8A71A8-AD18-84BF-AE93-96C324670958}"/>
              </a:ext>
            </a:extLst>
          </p:cNvPr>
          <p:cNvGrpSpPr/>
          <p:nvPr/>
        </p:nvGrpSpPr>
        <p:grpSpPr>
          <a:xfrm>
            <a:off x="1165474" y="2268946"/>
            <a:ext cx="1480914" cy="1068760"/>
            <a:chOff x="1196091" y="4163810"/>
            <a:chExt cx="1480914" cy="1068760"/>
          </a:xfrm>
        </p:grpSpPr>
        <p:sp>
          <p:nvSpPr>
            <p:cNvPr id="27" name="矩形 77">
              <a:extLst>
                <a:ext uri="{FF2B5EF4-FFF2-40B4-BE49-F238E27FC236}">
                  <a16:creationId xmlns:a16="http://schemas.microsoft.com/office/drawing/2014/main" id="{52AFAC30-10EE-1116-AC11-5830D6C8763B}"/>
                </a:ext>
              </a:extLst>
            </p:cNvPr>
            <p:cNvSpPr/>
            <p:nvPr/>
          </p:nvSpPr>
          <p:spPr>
            <a:xfrm>
              <a:off x="2120957" y="48007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79">
              <a:extLst>
                <a:ext uri="{FF2B5EF4-FFF2-40B4-BE49-F238E27FC236}">
                  <a16:creationId xmlns:a16="http://schemas.microsoft.com/office/drawing/2014/main" id="{6731D7A7-7D61-20D8-6669-96B433180156}"/>
                </a:ext>
              </a:extLst>
            </p:cNvPr>
            <p:cNvSpPr/>
            <p:nvPr/>
          </p:nvSpPr>
          <p:spPr>
            <a:xfrm>
              <a:off x="2273357" y="49531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80">
              <a:extLst>
                <a:ext uri="{FF2B5EF4-FFF2-40B4-BE49-F238E27FC236}">
                  <a16:creationId xmlns:a16="http://schemas.microsoft.com/office/drawing/2014/main" id="{5F19AF27-05E1-B4F7-4319-9ED647C1E474}"/>
                </a:ext>
              </a:extLst>
            </p:cNvPr>
            <p:cNvSpPr/>
            <p:nvPr/>
          </p:nvSpPr>
          <p:spPr>
            <a:xfrm>
              <a:off x="2467973" y="4967337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矩形 81">
              <a:extLst>
                <a:ext uri="{FF2B5EF4-FFF2-40B4-BE49-F238E27FC236}">
                  <a16:creationId xmlns:a16="http://schemas.microsoft.com/office/drawing/2014/main" id="{20FAF641-756F-0BE7-FE97-3AA322CD9092}"/>
                </a:ext>
              </a:extLst>
            </p:cNvPr>
            <p:cNvSpPr/>
            <p:nvPr/>
          </p:nvSpPr>
          <p:spPr>
            <a:xfrm>
              <a:off x="1858946" y="502422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82">
              <a:extLst>
                <a:ext uri="{FF2B5EF4-FFF2-40B4-BE49-F238E27FC236}">
                  <a16:creationId xmlns:a16="http://schemas.microsoft.com/office/drawing/2014/main" id="{E3B94CCB-B305-76C7-B8C8-708C9EF0CE4B}"/>
                </a:ext>
              </a:extLst>
            </p:cNvPr>
            <p:cNvSpPr/>
            <p:nvPr/>
          </p:nvSpPr>
          <p:spPr>
            <a:xfrm>
              <a:off x="2584335" y="48007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83">
              <a:extLst>
                <a:ext uri="{FF2B5EF4-FFF2-40B4-BE49-F238E27FC236}">
                  <a16:creationId xmlns:a16="http://schemas.microsoft.com/office/drawing/2014/main" id="{B3AF0949-776F-9ED5-81BB-D82DB28F45A8}"/>
                </a:ext>
              </a:extLst>
            </p:cNvPr>
            <p:cNvSpPr/>
            <p:nvPr/>
          </p:nvSpPr>
          <p:spPr>
            <a:xfrm>
              <a:off x="2339259" y="460924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84">
              <a:extLst>
                <a:ext uri="{FF2B5EF4-FFF2-40B4-BE49-F238E27FC236}">
                  <a16:creationId xmlns:a16="http://schemas.microsoft.com/office/drawing/2014/main" id="{239A500D-01AD-9485-DC99-CBF4AB916580}"/>
                </a:ext>
              </a:extLst>
            </p:cNvPr>
            <p:cNvSpPr/>
            <p:nvPr/>
          </p:nvSpPr>
          <p:spPr>
            <a:xfrm>
              <a:off x="2049682" y="513990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85">
              <a:extLst>
                <a:ext uri="{FF2B5EF4-FFF2-40B4-BE49-F238E27FC236}">
                  <a16:creationId xmlns:a16="http://schemas.microsoft.com/office/drawing/2014/main" id="{8E5BEA24-E04C-AAAB-4B8A-2A45532EB28C}"/>
                </a:ext>
              </a:extLst>
            </p:cNvPr>
            <p:cNvSpPr/>
            <p:nvPr/>
          </p:nvSpPr>
          <p:spPr>
            <a:xfrm>
              <a:off x="2285761" y="416381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86">
              <a:extLst>
                <a:ext uri="{FF2B5EF4-FFF2-40B4-BE49-F238E27FC236}">
                  <a16:creationId xmlns:a16="http://schemas.microsoft.com/office/drawing/2014/main" id="{C3EC5D1D-B09F-EE33-40E8-E0A5518631B6}"/>
                </a:ext>
              </a:extLst>
            </p:cNvPr>
            <p:cNvSpPr/>
            <p:nvPr/>
          </p:nvSpPr>
          <p:spPr>
            <a:xfrm>
              <a:off x="1196091" y="501367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87">
            <a:extLst>
              <a:ext uri="{FF2B5EF4-FFF2-40B4-BE49-F238E27FC236}">
                <a16:creationId xmlns:a16="http://schemas.microsoft.com/office/drawing/2014/main" id="{7843DB0F-5D95-8E5C-30E7-20041AD404D5}"/>
              </a:ext>
            </a:extLst>
          </p:cNvPr>
          <p:cNvGrpSpPr/>
          <p:nvPr/>
        </p:nvGrpSpPr>
        <p:grpSpPr>
          <a:xfrm>
            <a:off x="1395841" y="2343673"/>
            <a:ext cx="797054" cy="970407"/>
            <a:chOff x="1426458" y="4238537"/>
            <a:chExt cx="797054" cy="970407"/>
          </a:xfrm>
        </p:grpSpPr>
        <p:sp>
          <p:nvSpPr>
            <p:cNvPr id="37" name="椭圆 88">
              <a:extLst>
                <a:ext uri="{FF2B5EF4-FFF2-40B4-BE49-F238E27FC236}">
                  <a16:creationId xmlns:a16="http://schemas.microsoft.com/office/drawing/2014/main" id="{430F17BE-184A-F0AC-2F14-412BC23FC297}"/>
                </a:ext>
              </a:extLst>
            </p:cNvPr>
            <p:cNvSpPr/>
            <p:nvPr/>
          </p:nvSpPr>
          <p:spPr>
            <a:xfrm>
              <a:off x="1672564" y="42385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椭圆 89">
              <a:extLst>
                <a:ext uri="{FF2B5EF4-FFF2-40B4-BE49-F238E27FC236}">
                  <a16:creationId xmlns:a16="http://schemas.microsoft.com/office/drawing/2014/main" id="{4ECA5479-248D-78BA-C275-5E7BBDD3ED53}"/>
                </a:ext>
              </a:extLst>
            </p:cNvPr>
            <p:cNvSpPr/>
            <p:nvPr/>
          </p:nvSpPr>
          <p:spPr>
            <a:xfrm>
              <a:off x="1824964" y="43909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90">
              <a:extLst>
                <a:ext uri="{FF2B5EF4-FFF2-40B4-BE49-F238E27FC236}">
                  <a16:creationId xmlns:a16="http://schemas.microsoft.com/office/drawing/2014/main" id="{07138DF2-3C33-9173-775D-E48986887C48}"/>
                </a:ext>
              </a:extLst>
            </p:cNvPr>
            <p:cNvSpPr/>
            <p:nvPr/>
          </p:nvSpPr>
          <p:spPr>
            <a:xfrm>
              <a:off x="1482064" y="454333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椭圆 91">
              <a:extLst>
                <a:ext uri="{FF2B5EF4-FFF2-40B4-BE49-F238E27FC236}">
                  <a16:creationId xmlns:a16="http://schemas.microsoft.com/office/drawing/2014/main" id="{FC957458-525D-C487-1891-27DD5C61D2F7}"/>
                </a:ext>
              </a:extLst>
            </p:cNvPr>
            <p:cNvSpPr/>
            <p:nvPr/>
          </p:nvSpPr>
          <p:spPr>
            <a:xfrm>
              <a:off x="1711694" y="464736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椭圆 92">
              <a:extLst>
                <a:ext uri="{FF2B5EF4-FFF2-40B4-BE49-F238E27FC236}">
                  <a16:creationId xmlns:a16="http://schemas.microsoft.com/office/drawing/2014/main" id="{13B3E216-D2FF-46E1-74D2-3902363E8F00}"/>
                </a:ext>
              </a:extLst>
            </p:cNvPr>
            <p:cNvSpPr/>
            <p:nvPr/>
          </p:nvSpPr>
          <p:spPr>
            <a:xfrm>
              <a:off x="2112301" y="440488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93">
              <a:extLst>
                <a:ext uri="{FF2B5EF4-FFF2-40B4-BE49-F238E27FC236}">
                  <a16:creationId xmlns:a16="http://schemas.microsoft.com/office/drawing/2014/main" id="{C9AFA98B-61EE-7934-D8A6-511127833ECF}"/>
                </a:ext>
              </a:extLst>
            </p:cNvPr>
            <p:cNvSpPr/>
            <p:nvPr/>
          </p:nvSpPr>
          <p:spPr>
            <a:xfrm>
              <a:off x="1426458" y="475551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94">
              <a:extLst>
                <a:ext uri="{FF2B5EF4-FFF2-40B4-BE49-F238E27FC236}">
                  <a16:creationId xmlns:a16="http://schemas.microsoft.com/office/drawing/2014/main" id="{51DE1D54-EA12-550D-EAB9-D1415D269126}"/>
                </a:ext>
              </a:extLst>
            </p:cNvPr>
            <p:cNvSpPr/>
            <p:nvPr/>
          </p:nvSpPr>
          <p:spPr>
            <a:xfrm>
              <a:off x="1527485" y="509773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组合 95">
            <a:extLst>
              <a:ext uri="{FF2B5EF4-FFF2-40B4-BE49-F238E27FC236}">
                <a16:creationId xmlns:a16="http://schemas.microsoft.com/office/drawing/2014/main" id="{9B7F4242-7BDD-7985-0454-2C03FFDC5760}"/>
              </a:ext>
            </a:extLst>
          </p:cNvPr>
          <p:cNvGrpSpPr/>
          <p:nvPr/>
        </p:nvGrpSpPr>
        <p:grpSpPr>
          <a:xfrm>
            <a:off x="928580" y="1971796"/>
            <a:ext cx="2094470" cy="1660533"/>
            <a:chOff x="959197" y="3866660"/>
            <a:chExt cx="2094470" cy="1660533"/>
          </a:xfrm>
        </p:grpSpPr>
        <p:cxnSp>
          <p:nvCxnSpPr>
            <p:cNvPr id="45" name="直接箭头连接符 96">
              <a:extLst>
                <a:ext uri="{FF2B5EF4-FFF2-40B4-BE49-F238E27FC236}">
                  <a16:creationId xmlns:a16="http://schemas.microsoft.com/office/drawing/2014/main" id="{CE6556A1-33F9-A16B-73BE-A987603927EF}"/>
                </a:ext>
              </a:extLst>
            </p:cNvPr>
            <p:cNvCxnSpPr>
              <a:cxnSpLocks/>
            </p:cNvCxnSpPr>
            <p:nvPr/>
          </p:nvCxnSpPr>
          <p:spPr>
            <a:xfrm>
              <a:off x="959197" y="5351588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97">
              <a:extLst>
                <a:ext uri="{FF2B5EF4-FFF2-40B4-BE49-F238E27FC236}">
                  <a16:creationId xmlns:a16="http://schemas.microsoft.com/office/drawing/2014/main" id="{5E9C564C-6B32-AD72-7F55-56590B9B57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78" y="3866660"/>
              <a:ext cx="0" cy="166053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椭圆 98">
            <a:extLst>
              <a:ext uri="{FF2B5EF4-FFF2-40B4-BE49-F238E27FC236}">
                <a16:creationId xmlns:a16="http://schemas.microsoft.com/office/drawing/2014/main" id="{C5395ED1-25F4-69DD-BB72-7273358CE3D9}"/>
              </a:ext>
            </a:extLst>
          </p:cNvPr>
          <p:cNvSpPr/>
          <p:nvPr/>
        </p:nvSpPr>
        <p:spPr>
          <a:xfrm>
            <a:off x="2170102" y="2195688"/>
            <a:ext cx="262753" cy="2690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直接箭头连接符 99">
            <a:extLst>
              <a:ext uri="{FF2B5EF4-FFF2-40B4-BE49-F238E27FC236}">
                <a16:creationId xmlns:a16="http://schemas.microsoft.com/office/drawing/2014/main" id="{C3BABD1D-E459-6812-96C4-AB123BF52232}"/>
              </a:ext>
            </a:extLst>
          </p:cNvPr>
          <p:cNvCxnSpPr>
            <a:cxnSpLocks/>
            <a:stCxn id="47" idx="6"/>
          </p:cNvCxnSpPr>
          <p:nvPr/>
        </p:nvCxnSpPr>
        <p:spPr>
          <a:xfrm flipV="1">
            <a:off x="2432855" y="2186439"/>
            <a:ext cx="290834" cy="143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100">
            <a:extLst>
              <a:ext uri="{FF2B5EF4-FFF2-40B4-BE49-F238E27FC236}">
                <a16:creationId xmlns:a16="http://schemas.microsoft.com/office/drawing/2014/main" id="{02107DC2-5625-CAF8-473A-4AC0E4813D35}"/>
              </a:ext>
            </a:extLst>
          </p:cNvPr>
          <p:cNvSpPr txBox="1"/>
          <p:nvPr/>
        </p:nvSpPr>
        <p:spPr>
          <a:xfrm>
            <a:off x="2684245" y="1883037"/>
            <a:ext cx="222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misclassified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直接连接符 102">
            <a:extLst>
              <a:ext uri="{FF2B5EF4-FFF2-40B4-BE49-F238E27FC236}">
                <a16:creationId xmlns:a16="http://schemas.microsoft.com/office/drawing/2014/main" id="{6147D95C-6B5A-BF8D-16D9-D4F06BE46467}"/>
              </a:ext>
            </a:extLst>
          </p:cNvPr>
          <p:cNvCxnSpPr/>
          <p:nvPr/>
        </p:nvCxnSpPr>
        <p:spPr>
          <a:xfrm flipV="1">
            <a:off x="1175934" y="2372543"/>
            <a:ext cx="1470454" cy="95147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103">
            <a:extLst>
              <a:ext uri="{FF2B5EF4-FFF2-40B4-BE49-F238E27FC236}">
                <a16:creationId xmlns:a16="http://schemas.microsoft.com/office/drawing/2014/main" id="{E2B830A9-822D-B180-4D6A-95ACC0F93FC1}"/>
              </a:ext>
            </a:extLst>
          </p:cNvPr>
          <p:cNvSpPr txBox="1"/>
          <p:nvPr/>
        </p:nvSpPr>
        <p:spPr>
          <a:xfrm>
            <a:off x="265197" y="3859516"/>
            <a:ext cx="2888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Non-linear SVM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4">
            <a:extLst>
              <a:ext uri="{FF2B5EF4-FFF2-40B4-BE49-F238E27FC236}">
                <a16:creationId xmlns:a16="http://schemas.microsoft.com/office/drawing/2014/main" id="{C83712C2-598C-01AE-C8DF-01398079935F}"/>
              </a:ext>
            </a:extLst>
          </p:cNvPr>
          <p:cNvSpPr txBox="1"/>
          <p:nvPr/>
        </p:nvSpPr>
        <p:spPr>
          <a:xfrm>
            <a:off x="3630984" y="2491384"/>
            <a:ext cx="8228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dataset is nearly linearly separable.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Misclassification is allowed, but a penalty is given.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SVM – soft margin classifier.</a:t>
            </a:r>
          </a:p>
        </p:txBody>
      </p:sp>
      <p:sp>
        <p:nvSpPr>
          <p:cNvPr id="53" name="文本框 6">
            <a:extLst>
              <a:ext uri="{FF2B5EF4-FFF2-40B4-BE49-F238E27FC236}">
                <a16:creationId xmlns:a16="http://schemas.microsoft.com/office/drawing/2014/main" id="{CDDAD56D-58FB-67E5-E0B6-C3A25A692008}"/>
              </a:ext>
            </a:extLst>
          </p:cNvPr>
          <p:cNvSpPr txBox="1"/>
          <p:nvPr/>
        </p:nvSpPr>
        <p:spPr>
          <a:xfrm>
            <a:off x="5784980" y="4160509"/>
            <a:ext cx="64618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Not linearly separable in low-dimensional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Linearly separable in high-dimensional space.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平行四边形 105">
            <a:extLst>
              <a:ext uri="{FF2B5EF4-FFF2-40B4-BE49-F238E27FC236}">
                <a16:creationId xmlns:a16="http://schemas.microsoft.com/office/drawing/2014/main" id="{8092CDEA-3637-C1B4-91F6-09CBCCC6FC39}"/>
              </a:ext>
            </a:extLst>
          </p:cNvPr>
          <p:cNvSpPr/>
          <p:nvPr/>
        </p:nvSpPr>
        <p:spPr>
          <a:xfrm rot="20781617">
            <a:off x="3515750" y="4922664"/>
            <a:ext cx="2292243" cy="460910"/>
          </a:xfrm>
          <a:prstGeom prst="parallelogram">
            <a:avLst>
              <a:gd name="adj" fmla="val 137810"/>
            </a:avLst>
          </a:prstGeom>
          <a:solidFill>
            <a:srgbClr val="92D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箭头: 右 7">
            <a:extLst>
              <a:ext uri="{FF2B5EF4-FFF2-40B4-BE49-F238E27FC236}">
                <a16:creationId xmlns:a16="http://schemas.microsoft.com/office/drawing/2014/main" id="{D7248686-23C1-19CE-33C5-2E2380748075}"/>
              </a:ext>
            </a:extLst>
          </p:cNvPr>
          <p:cNvSpPr/>
          <p:nvPr/>
        </p:nvSpPr>
        <p:spPr>
          <a:xfrm>
            <a:off x="2397135" y="5250140"/>
            <a:ext cx="1097153" cy="141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10">
            <a:extLst>
              <a:ext uri="{FF2B5EF4-FFF2-40B4-BE49-F238E27FC236}">
                <a16:creationId xmlns:a16="http://schemas.microsoft.com/office/drawing/2014/main" id="{3C6BA277-CAA8-5B42-8C7E-72822EF28D3D}"/>
              </a:ext>
            </a:extLst>
          </p:cNvPr>
          <p:cNvSpPr txBox="1"/>
          <p:nvPr/>
        </p:nvSpPr>
        <p:spPr>
          <a:xfrm>
            <a:off x="2289590" y="4824619"/>
            <a:ext cx="1366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13">
            <a:extLst>
              <a:ext uri="{FF2B5EF4-FFF2-40B4-BE49-F238E27FC236}">
                <a16:creationId xmlns:a16="http://schemas.microsoft.com/office/drawing/2014/main" id="{081B2BD7-7690-CD4E-559A-60388FDF8C09}"/>
              </a:ext>
            </a:extLst>
          </p:cNvPr>
          <p:cNvSpPr txBox="1"/>
          <p:nvPr/>
        </p:nvSpPr>
        <p:spPr>
          <a:xfrm>
            <a:off x="361446" y="6307095"/>
            <a:ext cx="3574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low-dimensional space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文本框 123">
            <a:extLst>
              <a:ext uri="{FF2B5EF4-FFF2-40B4-BE49-F238E27FC236}">
                <a16:creationId xmlns:a16="http://schemas.microsoft.com/office/drawing/2014/main" id="{80F922DF-7539-AE18-FAD8-7607E4CFDC2C}"/>
              </a:ext>
            </a:extLst>
          </p:cNvPr>
          <p:cNvSpPr txBox="1"/>
          <p:nvPr/>
        </p:nvSpPr>
        <p:spPr>
          <a:xfrm>
            <a:off x="3827693" y="6299281"/>
            <a:ext cx="4106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high-dimensional space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" name="组合 8">
            <a:extLst>
              <a:ext uri="{FF2B5EF4-FFF2-40B4-BE49-F238E27FC236}">
                <a16:creationId xmlns:a16="http://schemas.microsoft.com/office/drawing/2014/main" id="{311D2AEA-FC64-D7F0-8565-83AFE4BAC9AD}"/>
              </a:ext>
            </a:extLst>
          </p:cNvPr>
          <p:cNvGrpSpPr/>
          <p:nvPr/>
        </p:nvGrpSpPr>
        <p:grpSpPr>
          <a:xfrm>
            <a:off x="3935887" y="4365307"/>
            <a:ext cx="897839" cy="695875"/>
            <a:chOff x="5754600" y="2974947"/>
            <a:chExt cx="897839" cy="695875"/>
          </a:xfrm>
        </p:grpSpPr>
        <p:sp>
          <p:nvSpPr>
            <p:cNvPr id="60" name="椭圆 110">
              <a:extLst>
                <a:ext uri="{FF2B5EF4-FFF2-40B4-BE49-F238E27FC236}">
                  <a16:creationId xmlns:a16="http://schemas.microsoft.com/office/drawing/2014/main" id="{D645F967-7758-0BDC-3BB5-1BC3C9DAFA32}"/>
                </a:ext>
              </a:extLst>
            </p:cNvPr>
            <p:cNvSpPr/>
            <p:nvPr/>
          </p:nvSpPr>
          <p:spPr>
            <a:xfrm>
              <a:off x="6000706" y="30426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椭圆 111">
              <a:extLst>
                <a:ext uri="{FF2B5EF4-FFF2-40B4-BE49-F238E27FC236}">
                  <a16:creationId xmlns:a16="http://schemas.microsoft.com/office/drawing/2014/main" id="{B2F104E2-480F-82C4-7A6D-CF44901152C8}"/>
                </a:ext>
              </a:extLst>
            </p:cNvPr>
            <p:cNvSpPr/>
            <p:nvPr/>
          </p:nvSpPr>
          <p:spPr>
            <a:xfrm>
              <a:off x="6153106" y="3195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椭圆 112">
              <a:extLst>
                <a:ext uri="{FF2B5EF4-FFF2-40B4-BE49-F238E27FC236}">
                  <a16:creationId xmlns:a16="http://schemas.microsoft.com/office/drawing/2014/main" id="{B59952EA-9CAC-AA97-9255-B238F4AFA4A8}"/>
                </a:ext>
              </a:extLst>
            </p:cNvPr>
            <p:cNvSpPr/>
            <p:nvPr/>
          </p:nvSpPr>
          <p:spPr>
            <a:xfrm>
              <a:off x="5810206" y="33474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椭圆 113">
              <a:extLst>
                <a:ext uri="{FF2B5EF4-FFF2-40B4-BE49-F238E27FC236}">
                  <a16:creationId xmlns:a16="http://schemas.microsoft.com/office/drawing/2014/main" id="{7269E708-8282-6296-1CE2-4F0228BDFC14}"/>
                </a:ext>
              </a:extLst>
            </p:cNvPr>
            <p:cNvSpPr/>
            <p:nvPr/>
          </p:nvSpPr>
          <p:spPr>
            <a:xfrm>
              <a:off x="6039836" y="345146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椭圆 114">
              <a:extLst>
                <a:ext uri="{FF2B5EF4-FFF2-40B4-BE49-F238E27FC236}">
                  <a16:creationId xmlns:a16="http://schemas.microsoft.com/office/drawing/2014/main" id="{A9E0F8B0-F29A-C99E-3700-989FC1C5B207}"/>
                </a:ext>
              </a:extLst>
            </p:cNvPr>
            <p:cNvSpPr/>
            <p:nvPr/>
          </p:nvSpPr>
          <p:spPr>
            <a:xfrm>
              <a:off x="6430104" y="3153840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椭圆 115">
              <a:extLst>
                <a:ext uri="{FF2B5EF4-FFF2-40B4-BE49-F238E27FC236}">
                  <a16:creationId xmlns:a16="http://schemas.microsoft.com/office/drawing/2014/main" id="{922B9C9B-2E7C-9BA2-EFA2-3C3DA8A4EECB}"/>
                </a:ext>
              </a:extLst>
            </p:cNvPr>
            <p:cNvSpPr/>
            <p:nvPr/>
          </p:nvSpPr>
          <p:spPr>
            <a:xfrm>
              <a:off x="5754600" y="355961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椭圆 101">
              <a:extLst>
                <a:ext uri="{FF2B5EF4-FFF2-40B4-BE49-F238E27FC236}">
                  <a16:creationId xmlns:a16="http://schemas.microsoft.com/office/drawing/2014/main" id="{8468F7FF-D2FE-8C59-7539-A163350878A7}"/>
                </a:ext>
              </a:extLst>
            </p:cNvPr>
            <p:cNvSpPr/>
            <p:nvPr/>
          </p:nvSpPr>
          <p:spPr>
            <a:xfrm>
              <a:off x="6370850" y="335518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椭圆 124">
              <a:extLst>
                <a:ext uri="{FF2B5EF4-FFF2-40B4-BE49-F238E27FC236}">
                  <a16:creationId xmlns:a16="http://schemas.microsoft.com/office/drawing/2014/main" id="{419AF666-A240-5108-3926-01A82794BD70}"/>
                </a:ext>
              </a:extLst>
            </p:cNvPr>
            <p:cNvSpPr/>
            <p:nvPr/>
          </p:nvSpPr>
          <p:spPr>
            <a:xfrm>
              <a:off x="6270967" y="300708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椭圆 125">
              <a:extLst>
                <a:ext uri="{FF2B5EF4-FFF2-40B4-BE49-F238E27FC236}">
                  <a16:creationId xmlns:a16="http://schemas.microsoft.com/office/drawing/2014/main" id="{A0D2F2E6-260C-4C53-6236-6FE16D2CB8FE}"/>
                </a:ext>
              </a:extLst>
            </p:cNvPr>
            <p:cNvSpPr/>
            <p:nvPr/>
          </p:nvSpPr>
          <p:spPr>
            <a:xfrm>
              <a:off x="6541228" y="297494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组合 14">
            <a:extLst>
              <a:ext uri="{FF2B5EF4-FFF2-40B4-BE49-F238E27FC236}">
                <a16:creationId xmlns:a16="http://schemas.microsoft.com/office/drawing/2014/main" id="{AC8FFD75-1941-62EF-E330-230989C292A3}"/>
              </a:ext>
            </a:extLst>
          </p:cNvPr>
          <p:cNvGrpSpPr/>
          <p:nvPr/>
        </p:nvGrpSpPr>
        <p:grpSpPr>
          <a:xfrm>
            <a:off x="3578835" y="4214448"/>
            <a:ext cx="2142490" cy="1973095"/>
            <a:chOff x="3687887" y="3806820"/>
            <a:chExt cx="2142490" cy="1973095"/>
          </a:xfrm>
        </p:grpSpPr>
        <p:cxnSp>
          <p:nvCxnSpPr>
            <p:cNvPr id="70" name="直接连接符 106">
              <a:extLst>
                <a:ext uri="{FF2B5EF4-FFF2-40B4-BE49-F238E27FC236}">
                  <a16:creationId xmlns:a16="http://schemas.microsoft.com/office/drawing/2014/main" id="{89B5F2D9-ED5B-7A11-28B9-654F9CBBBA7C}"/>
                </a:ext>
              </a:extLst>
            </p:cNvPr>
            <p:cNvCxnSpPr>
              <a:cxnSpLocks/>
            </p:cNvCxnSpPr>
            <p:nvPr/>
          </p:nvCxnSpPr>
          <p:spPr>
            <a:xfrm>
              <a:off x="4197004" y="3806820"/>
              <a:ext cx="24557" cy="15046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108">
              <a:extLst>
                <a:ext uri="{FF2B5EF4-FFF2-40B4-BE49-F238E27FC236}">
                  <a16:creationId xmlns:a16="http://schemas.microsoft.com/office/drawing/2014/main" id="{3FF4C66E-E7A2-C96A-271C-9EE4133ED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7888" y="5309882"/>
              <a:ext cx="531073" cy="4700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2">
              <a:extLst>
                <a:ext uri="{FF2B5EF4-FFF2-40B4-BE49-F238E27FC236}">
                  <a16:creationId xmlns:a16="http://schemas.microsoft.com/office/drawing/2014/main" id="{C9A78060-FC6C-7EE1-000F-48C984FA5D9F}"/>
                </a:ext>
              </a:extLst>
            </p:cNvPr>
            <p:cNvGrpSpPr/>
            <p:nvPr/>
          </p:nvGrpSpPr>
          <p:grpSpPr>
            <a:xfrm>
              <a:off x="3687887" y="3814499"/>
              <a:ext cx="2142490" cy="1965416"/>
              <a:chOff x="3687887" y="3814499"/>
              <a:chExt cx="2142490" cy="1965416"/>
            </a:xfrm>
          </p:grpSpPr>
          <p:sp>
            <p:nvSpPr>
              <p:cNvPr id="73" name="立方体 104">
                <a:extLst>
                  <a:ext uri="{FF2B5EF4-FFF2-40B4-BE49-F238E27FC236}">
                    <a16:creationId xmlns:a16="http://schemas.microsoft.com/office/drawing/2014/main" id="{868BAC9F-1E74-C9E8-AE9A-C2F60AC90E62}"/>
                  </a:ext>
                </a:extLst>
              </p:cNvPr>
              <p:cNvSpPr/>
              <p:nvPr/>
            </p:nvSpPr>
            <p:spPr>
              <a:xfrm>
                <a:off x="3687887" y="3814499"/>
                <a:ext cx="2142490" cy="1965416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4" name="直接连接符 107">
                <a:extLst>
                  <a:ext uri="{FF2B5EF4-FFF2-40B4-BE49-F238E27FC236}">
                    <a16:creationId xmlns:a16="http://schemas.microsoft.com/office/drawing/2014/main" id="{25A300A9-68FC-5A39-B246-0DE9AF444C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7589" y="5284603"/>
                <a:ext cx="1600008" cy="155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5" name="组合 11">
            <a:extLst>
              <a:ext uri="{FF2B5EF4-FFF2-40B4-BE49-F238E27FC236}">
                <a16:creationId xmlns:a16="http://schemas.microsoft.com/office/drawing/2014/main" id="{CCB5CA5E-CB40-C803-AD53-639EE28E2521}"/>
              </a:ext>
            </a:extLst>
          </p:cNvPr>
          <p:cNvGrpSpPr/>
          <p:nvPr/>
        </p:nvGrpSpPr>
        <p:grpSpPr>
          <a:xfrm>
            <a:off x="4207190" y="5483503"/>
            <a:ext cx="985683" cy="499779"/>
            <a:chOff x="4316242" y="5075875"/>
            <a:chExt cx="985683" cy="499779"/>
          </a:xfrm>
        </p:grpSpPr>
        <p:sp>
          <p:nvSpPr>
            <p:cNvPr id="76" name="矩形 116">
              <a:extLst>
                <a:ext uri="{FF2B5EF4-FFF2-40B4-BE49-F238E27FC236}">
                  <a16:creationId xmlns:a16="http://schemas.microsoft.com/office/drawing/2014/main" id="{3F6D5C4C-CA0A-A15C-13A7-BB7E0535D9DB}"/>
                </a:ext>
              </a:extLst>
            </p:cNvPr>
            <p:cNvSpPr/>
            <p:nvPr/>
          </p:nvSpPr>
          <p:spPr>
            <a:xfrm>
              <a:off x="4745877" y="529315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矩形 117">
              <a:extLst>
                <a:ext uri="{FF2B5EF4-FFF2-40B4-BE49-F238E27FC236}">
                  <a16:creationId xmlns:a16="http://schemas.microsoft.com/office/drawing/2014/main" id="{18C51C72-D796-47AC-A0D5-B84B925209ED}"/>
                </a:ext>
              </a:extLst>
            </p:cNvPr>
            <p:cNvSpPr/>
            <p:nvPr/>
          </p:nvSpPr>
          <p:spPr>
            <a:xfrm>
              <a:off x="4611897" y="5482663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矩形 118">
              <a:extLst>
                <a:ext uri="{FF2B5EF4-FFF2-40B4-BE49-F238E27FC236}">
                  <a16:creationId xmlns:a16="http://schemas.microsoft.com/office/drawing/2014/main" id="{581AF722-C9CB-1ADA-4D87-6C0858CC4000}"/>
                </a:ext>
              </a:extLst>
            </p:cNvPr>
            <p:cNvSpPr/>
            <p:nvPr/>
          </p:nvSpPr>
          <p:spPr>
            <a:xfrm>
              <a:off x="4926412" y="52672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矩形 119">
              <a:extLst>
                <a:ext uri="{FF2B5EF4-FFF2-40B4-BE49-F238E27FC236}">
                  <a16:creationId xmlns:a16="http://schemas.microsoft.com/office/drawing/2014/main" id="{373AC91D-758F-C649-3D40-E678063E0EFD}"/>
                </a:ext>
              </a:extLst>
            </p:cNvPr>
            <p:cNvSpPr/>
            <p:nvPr/>
          </p:nvSpPr>
          <p:spPr>
            <a:xfrm>
              <a:off x="4316242" y="5455357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矩形 120">
              <a:extLst>
                <a:ext uri="{FF2B5EF4-FFF2-40B4-BE49-F238E27FC236}">
                  <a16:creationId xmlns:a16="http://schemas.microsoft.com/office/drawing/2014/main" id="{1C50680A-5DE2-B055-8301-79BC165204DD}"/>
                </a:ext>
              </a:extLst>
            </p:cNvPr>
            <p:cNvSpPr/>
            <p:nvPr/>
          </p:nvSpPr>
          <p:spPr>
            <a:xfrm>
              <a:off x="5209255" y="529315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矩形 121">
              <a:extLst>
                <a:ext uri="{FF2B5EF4-FFF2-40B4-BE49-F238E27FC236}">
                  <a16:creationId xmlns:a16="http://schemas.microsoft.com/office/drawing/2014/main" id="{84892A4E-67A3-FCEB-01B7-2CA42AADF87A}"/>
                </a:ext>
              </a:extLst>
            </p:cNvPr>
            <p:cNvSpPr/>
            <p:nvPr/>
          </p:nvSpPr>
          <p:spPr>
            <a:xfrm>
              <a:off x="4964179" y="510162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矩形 122">
              <a:extLst>
                <a:ext uri="{FF2B5EF4-FFF2-40B4-BE49-F238E27FC236}">
                  <a16:creationId xmlns:a16="http://schemas.microsoft.com/office/drawing/2014/main" id="{00AC31F5-69FB-B756-1600-3B2E979C8FD4}"/>
                </a:ext>
              </a:extLst>
            </p:cNvPr>
            <p:cNvSpPr/>
            <p:nvPr/>
          </p:nvSpPr>
          <p:spPr>
            <a:xfrm>
              <a:off x="4509369" y="524370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矩形 126">
              <a:extLst>
                <a:ext uri="{FF2B5EF4-FFF2-40B4-BE49-F238E27FC236}">
                  <a16:creationId xmlns:a16="http://schemas.microsoft.com/office/drawing/2014/main" id="{2E2480FC-8184-7E22-8989-0A5DFF1AEFEA}"/>
                </a:ext>
              </a:extLst>
            </p:cNvPr>
            <p:cNvSpPr/>
            <p:nvPr/>
          </p:nvSpPr>
          <p:spPr>
            <a:xfrm>
              <a:off x="5172815" y="507587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矩形 127">
              <a:extLst>
                <a:ext uri="{FF2B5EF4-FFF2-40B4-BE49-F238E27FC236}">
                  <a16:creationId xmlns:a16="http://schemas.microsoft.com/office/drawing/2014/main" id="{828E55A3-6B66-E90F-C4FB-F1E0E96447F2}"/>
                </a:ext>
              </a:extLst>
            </p:cNvPr>
            <p:cNvSpPr/>
            <p:nvPr/>
          </p:nvSpPr>
          <p:spPr>
            <a:xfrm>
              <a:off x="5067625" y="540698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矩形 128">
              <a:extLst>
                <a:ext uri="{FF2B5EF4-FFF2-40B4-BE49-F238E27FC236}">
                  <a16:creationId xmlns:a16="http://schemas.microsoft.com/office/drawing/2014/main" id="{062BB19A-1992-C5E5-1C08-800DD0161C32}"/>
                </a:ext>
              </a:extLst>
            </p:cNvPr>
            <p:cNvSpPr/>
            <p:nvPr/>
          </p:nvSpPr>
          <p:spPr>
            <a:xfrm>
              <a:off x="4861217" y="548298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47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47" grpId="0" animBg="1"/>
      <p:bldP spid="49" grpId="0"/>
      <p:bldP spid="54" grpId="0" animBg="1"/>
      <p:bldP spid="55" grpId="0" animBg="1"/>
      <p:bldP spid="56" grpId="0"/>
      <p:bldP spid="57" grpId="0"/>
      <p:bldP spid="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Types of SVM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A0AF7758-326B-B321-CC78-7EF4C1F73D65}"/>
              </a:ext>
            </a:extLst>
          </p:cNvPr>
          <p:cNvSpPr txBox="1"/>
          <p:nvPr/>
        </p:nvSpPr>
        <p:spPr>
          <a:xfrm>
            <a:off x="305640" y="1422400"/>
            <a:ext cx="4003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Multi-class SVM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67">
            <a:extLst>
              <a:ext uri="{FF2B5EF4-FFF2-40B4-BE49-F238E27FC236}">
                <a16:creationId xmlns:a16="http://schemas.microsoft.com/office/drawing/2014/main" id="{A2C7DF5B-1A0C-5CAB-275B-74B0ED1963B2}"/>
              </a:ext>
            </a:extLst>
          </p:cNvPr>
          <p:cNvGrpSpPr/>
          <p:nvPr/>
        </p:nvGrpSpPr>
        <p:grpSpPr>
          <a:xfrm>
            <a:off x="4095111" y="4578345"/>
            <a:ext cx="2220067" cy="2124632"/>
            <a:chOff x="6451491" y="3735051"/>
            <a:chExt cx="2094470" cy="2124632"/>
          </a:xfrm>
        </p:grpSpPr>
        <p:cxnSp>
          <p:nvCxnSpPr>
            <p:cNvPr id="4" name="直接箭头连接符 77">
              <a:extLst>
                <a:ext uri="{FF2B5EF4-FFF2-40B4-BE49-F238E27FC236}">
                  <a16:creationId xmlns:a16="http://schemas.microsoft.com/office/drawing/2014/main" id="{3F8A1D36-83A4-4735-22EC-79F3863AEADC}"/>
                </a:ext>
              </a:extLst>
            </p:cNvPr>
            <p:cNvCxnSpPr>
              <a:cxnSpLocks/>
            </p:cNvCxnSpPr>
            <p:nvPr/>
          </p:nvCxnSpPr>
          <p:spPr>
            <a:xfrm>
              <a:off x="6451491" y="536803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78">
              <a:extLst>
                <a:ext uri="{FF2B5EF4-FFF2-40B4-BE49-F238E27FC236}">
                  <a16:creationId xmlns:a16="http://schemas.microsoft.com/office/drawing/2014/main" id="{5DAF54C4-F9CD-F365-8489-719047C899CF}"/>
                </a:ext>
              </a:extLst>
            </p:cNvPr>
            <p:cNvSpPr txBox="1"/>
            <p:nvPr/>
          </p:nvSpPr>
          <p:spPr>
            <a:xfrm>
              <a:off x="6971534" y="5398018"/>
              <a:ext cx="1189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直接箭头连接符 79">
              <a:extLst>
                <a:ext uri="{FF2B5EF4-FFF2-40B4-BE49-F238E27FC236}">
                  <a16:creationId xmlns:a16="http://schemas.microsoft.com/office/drawing/2014/main" id="{D913F22C-7416-656B-2891-65C92139F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8136" y="3735051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80">
            <a:extLst>
              <a:ext uri="{FF2B5EF4-FFF2-40B4-BE49-F238E27FC236}">
                <a16:creationId xmlns:a16="http://schemas.microsoft.com/office/drawing/2014/main" id="{720ED7BA-0C1E-86F9-3E7D-7D29920BD649}"/>
              </a:ext>
            </a:extLst>
          </p:cNvPr>
          <p:cNvGrpSpPr/>
          <p:nvPr/>
        </p:nvGrpSpPr>
        <p:grpSpPr>
          <a:xfrm>
            <a:off x="4265150" y="4993973"/>
            <a:ext cx="620928" cy="628193"/>
            <a:chOff x="6726182" y="4290197"/>
            <a:chExt cx="620928" cy="628193"/>
          </a:xfrm>
        </p:grpSpPr>
        <p:sp>
          <p:nvSpPr>
            <p:cNvPr id="9" name="椭圆 81">
              <a:extLst>
                <a:ext uri="{FF2B5EF4-FFF2-40B4-BE49-F238E27FC236}">
                  <a16:creationId xmlns:a16="http://schemas.microsoft.com/office/drawing/2014/main" id="{50A53828-49D8-745D-219C-27042AE886EE}"/>
                </a:ext>
              </a:extLst>
            </p:cNvPr>
            <p:cNvSpPr/>
            <p:nvPr/>
          </p:nvSpPr>
          <p:spPr>
            <a:xfrm>
              <a:off x="6972288" y="42901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82">
              <a:extLst>
                <a:ext uri="{FF2B5EF4-FFF2-40B4-BE49-F238E27FC236}">
                  <a16:creationId xmlns:a16="http://schemas.microsoft.com/office/drawing/2014/main" id="{C09EACC6-E040-37A6-C85E-4F5E439487E9}"/>
                </a:ext>
              </a:extLst>
            </p:cNvPr>
            <p:cNvSpPr/>
            <p:nvPr/>
          </p:nvSpPr>
          <p:spPr>
            <a:xfrm>
              <a:off x="7124688" y="44425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83">
              <a:extLst>
                <a:ext uri="{FF2B5EF4-FFF2-40B4-BE49-F238E27FC236}">
                  <a16:creationId xmlns:a16="http://schemas.microsoft.com/office/drawing/2014/main" id="{8F718BDA-F415-4197-295D-4780158FB94F}"/>
                </a:ext>
              </a:extLst>
            </p:cNvPr>
            <p:cNvSpPr/>
            <p:nvPr/>
          </p:nvSpPr>
          <p:spPr>
            <a:xfrm>
              <a:off x="6781788" y="459499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84">
              <a:extLst>
                <a:ext uri="{FF2B5EF4-FFF2-40B4-BE49-F238E27FC236}">
                  <a16:creationId xmlns:a16="http://schemas.microsoft.com/office/drawing/2014/main" id="{17CE1E22-8FB5-80D6-EA19-05C78D221D40}"/>
                </a:ext>
              </a:extLst>
            </p:cNvPr>
            <p:cNvSpPr/>
            <p:nvPr/>
          </p:nvSpPr>
          <p:spPr>
            <a:xfrm>
              <a:off x="7011418" y="469902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85">
              <a:extLst>
                <a:ext uri="{FF2B5EF4-FFF2-40B4-BE49-F238E27FC236}">
                  <a16:creationId xmlns:a16="http://schemas.microsoft.com/office/drawing/2014/main" id="{08839E6B-B23E-9AC1-7908-4F5BA344E94A}"/>
                </a:ext>
              </a:extLst>
            </p:cNvPr>
            <p:cNvSpPr/>
            <p:nvPr/>
          </p:nvSpPr>
          <p:spPr>
            <a:xfrm>
              <a:off x="7235899" y="457178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86">
              <a:extLst>
                <a:ext uri="{FF2B5EF4-FFF2-40B4-BE49-F238E27FC236}">
                  <a16:creationId xmlns:a16="http://schemas.microsoft.com/office/drawing/2014/main" id="{F3A9F3DE-1A54-BE93-A08C-49FA15158D82}"/>
                </a:ext>
              </a:extLst>
            </p:cNvPr>
            <p:cNvSpPr/>
            <p:nvPr/>
          </p:nvSpPr>
          <p:spPr>
            <a:xfrm>
              <a:off x="6726182" y="480717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组合 174">
            <a:extLst>
              <a:ext uri="{FF2B5EF4-FFF2-40B4-BE49-F238E27FC236}">
                <a16:creationId xmlns:a16="http://schemas.microsoft.com/office/drawing/2014/main" id="{354804E9-E728-5761-64DF-E9E540949553}"/>
              </a:ext>
            </a:extLst>
          </p:cNvPr>
          <p:cNvGrpSpPr/>
          <p:nvPr/>
        </p:nvGrpSpPr>
        <p:grpSpPr>
          <a:xfrm>
            <a:off x="4784137" y="5722148"/>
            <a:ext cx="630040" cy="417425"/>
            <a:chOff x="1912517" y="5250479"/>
            <a:chExt cx="630040" cy="417425"/>
          </a:xfrm>
        </p:grpSpPr>
        <p:sp>
          <p:nvSpPr>
            <p:cNvPr id="16" name="矩形 88">
              <a:extLst>
                <a:ext uri="{FF2B5EF4-FFF2-40B4-BE49-F238E27FC236}">
                  <a16:creationId xmlns:a16="http://schemas.microsoft.com/office/drawing/2014/main" id="{9EBB4A92-4466-D42B-10DC-44680B9E05D6}"/>
                </a:ext>
              </a:extLst>
            </p:cNvPr>
            <p:cNvSpPr/>
            <p:nvPr/>
          </p:nvSpPr>
          <p:spPr>
            <a:xfrm>
              <a:off x="1986509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89">
              <a:extLst>
                <a:ext uri="{FF2B5EF4-FFF2-40B4-BE49-F238E27FC236}">
                  <a16:creationId xmlns:a16="http://schemas.microsoft.com/office/drawing/2014/main" id="{AD6BB744-0DB0-2620-13C7-0A0909BBDE73}"/>
                </a:ext>
              </a:extLst>
            </p:cNvPr>
            <p:cNvSpPr/>
            <p:nvPr/>
          </p:nvSpPr>
          <p:spPr>
            <a:xfrm>
              <a:off x="2138909" y="54358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90">
              <a:extLst>
                <a:ext uri="{FF2B5EF4-FFF2-40B4-BE49-F238E27FC236}">
                  <a16:creationId xmlns:a16="http://schemas.microsoft.com/office/drawing/2014/main" id="{98417EEE-B6A9-5C6C-0877-D5EB5E59C8FF}"/>
                </a:ext>
              </a:extLst>
            </p:cNvPr>
            <p:cNvSpPr/>
            <p:nvPr/>
          </p:nvSpPr>
          <p:spPr>
            <a:xfrm>
              <a:off x="2333525" y="544998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91">
              <a:extLst>
                <a:ext uri="{FF2B5EF4-FFF2-40B4-BE49-F238E27FC236}">
                  <a16:creationId xmlns:a16="http://schemas.microsoft.com/office/drawing/2014/main" id="{BDE805F0-86F2-F398-B145-EC60E78DA347}"/>
                </a:ext>
              </a:extLst>
            </p:cNvPr>
            <p:cNvSpPr/>
            <p:nvPr/>
          </p:nvSpPr>
          <p:spPr>
            <a:xfrm>
              <a:off x="1912517" y="550766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92">
              <a:extLst>
                <a:ext uri="{FF2B5EF4-FFF2-40B4-BE49-F238E27FC236}">
                  <a16:creationId xmlns:a16="http://schemas.microsoft.com/office/drawing/2014/main" id="{DB39B11B-4A12-02B4-702E-DE4FB62722F4}"/>
                </a:ext>
              </a:extLst>
            </p:cNvPr>
            <p:cNvSpPr/>
            <p:nvPr/>
          </p:nvSpPr>
          <p:spPr>
            <a:xfrm>
              <a:off x="2449887" y="528341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93">
              <a:extLst>
                <a:ext uri="{FF2B5EF4-FFF2-40B4-BE49-F238E27FC236}">
                  <a16:creationId xmlns:a16="http://schemas.microsoft.com/office/drawing/2014/main" id="{9429F035-CB5C-CDEC-3F5B-2D4806F86BA1}"/>
                </a:ext>
              </a:extLst>
            </p:cNvPr>
            <p:cNvSpPr/>
            <p:nvPr/>
          </p:nvSpPr>
          <p:spPr>
            <a:xfrm>
              <a:off x="2198068" y="525047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94">
              <a:extLst>
                <a:ext uri="{FF2B5EF4-FFF2-40B4-BE49-F238E27FC236}">
                  <a16:creationId xmlns:a16="http://schemas.microsoft.com/office/drawing/2014/main" id="{8FB6E9ED-B785-9F29-4860-6C6685DA92C1}"/>
                </a:ext>
              </a:extLst>
            </p:cNvPr>
            <p:cNvSpPr/>
            <p:nvPr/>
          </p:nvSpPr>
          <p:spPr>
            <a:xfrm>
              <a:off x="2215852" y="557523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95">
            <a:extLst>
              <a:ext uri="{FF2B5EF4-FFF2-40B4-BE49-F238E27FC236}">
                <a16:creationId xmlns:a16="http://schemas.microsoft.com/office/drawing/2014/main" id="{C1F80655-9192-9F96-87E3-52FF3E357D75}"/>
              </a:ext>
            </a:extLst>
          </p:cNvPr>
          <p:cNvGrpSpPr/>
          <p:nvPr/>
        </p:nvGrpSpPr>
        <p:grpSpPr>
          <a:xfrm>
            <a:off x="5436874" y="4966755"/>
            <a:ext cx="783042" cy="704123"/>
            <a:chOff x="7378979" y="4065631"/>
            <a:chExt cx="783042" cy="704123"/>
          </a:xfrm>
          <a:solidFill>
            <a:srgbClr val="92D050"/>
          </a:solidFill>
        </p:grpSpPr>
        <p:sp>
          <p:nvSpPr>
            <p:cNvPr id="24" name="等腰三角形 96">
              <a:extLst>
                <a:ext uri="{FF2B5EF4-FFF2-40B4-BE49-F238E27FC236}">
                  <a16:creationId xmlns:a16="http://schemas.microsoft.com/office/drawing/2014/main" id="{C588A48D-060B-CD0F-8C13-60CBF2FE052B}"/>
                </a:ext>
              </a:extLst>
            </p:cNvPr>
            <p:cNvSpPr/>
            <p:nvPr/>
          </p:nvSpPr>
          <p:spPr>
            <a:xfrm>
              <a:off x="7378979" y="41929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等腰三角形 97">
              <a:extLst>
                <a:ext uri="{FF2B5EF4-FFF2-40B4-BE49-F238E27FC236}">
                  <a16:creationId xmlns:a16="http://schemas.microsoft.com/office/drawing/2014/main" id="{0C4C9800-CB5A-6FAD-3DAD-515EE3307274}"/>
                </a:ext>
              </a:extLst>
            </p:cNvPr>
            <p:cNvSpPr/>
            <p:nvPr/>
          </p:nvSpPr>
          <p:spPr>
            <a:xfrm>
              <a:off x="7531379" y="4345302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等腰三角形 98">
              <a:extLst>
                <a:ext uri="{FF2B5EF4-FFF2-40B4-BE49-F238E27FC236}">
                  <a16:creationId xmlns:a16="http://schemas.microsoft.com/office/drawing/2014/main" id="{AF7D5631-7446-6C18-9AE8-CCD7A4D84BD0}"/>
                </a:ext>
              </a:extLst>
            </p:cNvPr>
            <p:cNvSpPr/>
            <p:nvPr/>
          </p:nvSpPr>
          <p:spPr>
            <a:xfrm>
              <a:off x="7632214" y="449787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等腰三角形 99">
              <a:extLst>
                <a:ext uri="{FF2B5EF4-FFF2-40B4-BE49-F238E27FC236}">
                  <a16:creationId xmlns:a16="http://schemas.microsoft.com/office/drawing/2014/main" id="{1E8DC00F-A1F9-B13F-53A2-0660F854DF2F}"/>
                </a:ext>
              </a:extLst>
            </p:cNvPr>
            <p:cNvSpPr/>
            <p:nvPr/>
          </p:nvSpPr>
          <p:spPr>
            <a:xfrm>
              <a:off x="7755076" y="4176865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等腰三角形 100">
              <a:extLst>
                <a:ext uri="{FF2B5EF4-FFF2-40B4-BE49-F238E27FC236}">
                  <a16:creationId xmlns:a16="http://schemas.microsoft.com/office/drawing/2014/main" id="{AA7D2731-6EFA-1052-2007-F2FB5A254945}"/>
                </a:ext>
              </a:extLst>
            </p:cNvPr>
            <p:cNvSpPr/>
            <p:nvPr/>
          </p:nvSpPr>
          <p:spPr>
            <a:xfrm>
              <a:off x="7862997" y="4431314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等腰三角形 101">
              <a:extLst>
                <a:ext uri="{FF2B5EF4-FFF2-40B4-BE49-F238E27FC236}">
                  <a16:creationId xmlns:a16="http://schemas.microsoft.com/office/drawing/2014/main" id="{883476FC-7FC9-DC6A-CF44-345931784903}"/>
                </a:ext>
              </a:extLst>
            </p:cNvPr>
            <p:cNvSpPr/>
            <p:nvPr/>
          </p:nvSpPr>
          <p:spPr>
            <a:xfrm>
              <a:off x="7594331" y="40656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等腰三角形 102">
              <a:extLst>
                <a:ext uri="{FF2B5EF4-FFF2-40B4-BE49-F238E27FC236}">
                  <a16:creationId xmlns:a16="http://schemas.microsoft.com/office/drawing/2014/main" id="{91046F98-1D0F-B509-2317-D770A72DC62C}"/>
                </a:ext>
              </a:extLst>
            </p:cNvPr>
            <p:cNvSpPr/>
            <p:nvPr/>
          </p:nvSpPr>
          <p:spPr>
            <a:xfrm>
              <a:off x="7791341" y="460723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等腰三角形 103">
              <a:extLst>
                <a:ext uri="{FF2B5EF4-FFF2-40B4-BE49-F238E27FC236}">
                  <a16:creationId xmlns:a16="http://schemas.microsoft.com/office/drawing/2014/main" id="{1F8CCCA7-B27C-F157-2B3D-994A73DCCC9D}"/>
                </a:ext>
              </a:extLst>
            </p:cNvPr>
            <p:cNvSpPr/>
            <p:nvPr/>
          </p:nvSpPr>
          <p:spPr>
            <a:xfrm>
              <a:off x="8001507" y="4657731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等腰三角形 104">
              <a:extLst>
                <a:ext uri="{FF2B5EF4-FFF2-40B4-BE49-F238E27FC236}">
                  <a16:creationId xmlns:a16="http://schemas.microsoft.com/office/drawing/2014/main" id="{45BF2358-FBAB-8C0B-CC3C-C9C393A20026}"/>
                </a:ext>
              </a:extLst>
            </p:cNvPr>
            <p:cNvSpPr/>
            <p:nvPr/>
          </p:nvSpPr>
          <p:spPr>
            <a:xfrm>
              <a:off x="8032074" y="4246567"/>
              <a:ext cx="129947" cy="112023"/>
            </a:xfrm>
            <a:prstGeom prst="triangle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直接连接符 7">
            <a:extLst>
              <a:ext uri="{FF2B5EF4-FFF2-40B4-BE49-F238E27FC236}">
                <a16:creationId xmlns:a16="http://schemas.microsoft.com/office/drawing/2014/main" id="{0AFEE4A0-22BD-0440-47C1-07DEA5A30B63}"/>
              </a:ext>
            </a:extLst>
          </p:cNvPr>
          <p:cNvCxnSpPr>
            <a:cxnSpLocks/>
          </p:cNvCxnSpPr>
          <p:nvPr/>
        </p:nvCxnSpPr>
        <p:spPr>
          <a:xfrm>
            <a:off x="4405541" y="4608078"/>
            <a:ext cx="1564181" cy="1428650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34">
            <a:extLst>
              <a:ext uri="{FF2B5EF4-FFF2-40B4-BE49-F238E27FC236}">
                <a16:creationId xmlns:a16="http://schemas.microsoft.com/office/drawing/2014/main" id="{7CDDC521-CE22-B71A-E4D1-7B389C8B582F}"/>
              </a:ext>
            </a:extLst>
          </p:cNvPr>
          <p:cNvCxnSpPr>
            <a:cxnSpLocks/>
          </p:cNvCxnSpPr>
          <p:nvPr/>
        </p:nvCxnSpPr>
        <p:spPr>
          <a:xfrm flipH="1">
            <a:off x="4451547" y="4739990"/>
            <a:ext cx="1347832" cy="1296738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135">
            <a:extLst>
              <a:ext uri="{FF2B5EF4-FFF2-40B4-BE49-F238E27FC236}">
                <a16:creationId xmlns:a16="http://schemas.microsoft.com/office/drawing/2014/main" id="{9AE97030-185F-9493-105D-0CF3B2514F42}"/>
              </a:ext>
            </a:extLst>
          </p:cNvPr>
          <p:cNvCxnSpPr>
            <a:cxnSpLocks/>
          </p:cNvCxnSpPr>
          <p:nvPr/>
        </p:nvCxnSpPr>
        <p:spPr>
          <a:xfrm flipH="1" flipV="1">
            <a:off x="4272479" y="5694157"/>
            <a:ext cx="1926802" cy="16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172">
            <a:extLst>
              <a:ext uri="{FF2B5EF4-FFF2-40B4-BE49-F238E27FC236}">
                <a16:creationId xmlns:a16="http://schemas.microsoft.com/office/drawing/2014/main" id="{ACDBBCC6-299F-8537-1138-0A9B44D4675D}"/>
              </a:ext>
            </a:extLst>
          </p:cNvPr>
          <p:cNvSpPr txBox="1"/>
          <p:nvPr/>
        </p:nvSpPr>
        <p:spPr>
          <a:xfrm>
            <a:off x="428108" y="2133360"/>
            <a:ext cx="11241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SVM is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classifier, it doesn’t support multiclass classification natively.</a:t>
            </a:r>
          </a:p>
        </p:txBody>
      </p:sp>
      <p:sp>
        <p:nvSpPr>
          <p:cNvPr id="37" name="文本框 175">
            <a:extLst>
              <a:ext uri="{FF2B5EF4-FFF2-40B4-BE49-F238E27FC236}">
                <a16:creationId xmlns:a16="http://schemas.microsoft.com/office/drawing/2014/main" id="{9DBEDD5C-7BAC-0535-F7EA-B103564D8EBA}"/>
              </a:ext>
            </a:extLst>
          </p:cNvPr>
          <p:cNvSpPr txBox="1"/>
          <p:nvPr/>
        </p:nvSpPr>
        <p:spPr>
          <a:xfrm>
            <a:off x="5812971" y="4288233"/>
            <a:ext cx="1527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5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blue/rest</a:t>
            </a:r>
            <a:endParaRPr lang="zh-CN" altLang="en-US" sz="2400" dirty="0">
              <a:solidFill>
                <a:srgbClr val="0075B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176">
            <a:extLst>
              <a:ext uri="{FF2B5EF4-FFF2-40B4-BE49-F238E27FC236}">
                <a16:creationId xmlns:a16="http://schemas.microsoft.com/office/drawing/2014/main" id="{55093C39-24BF-9A82-2DFF-27A0BCAE5627}"/>
              </a:ext>
            </a:extLst>
          </p:cNvPr>
          <p:cNvSpPr txBox="1"/>
          <p:nvPr/>
        </p:nvSpPr>
        <p:spPr>
          <a:xfrm>
            <a:off x="3964444" y="4136238"/>
            <a:ext cx="1620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green/rest</a:t>
            </a:r>
            <a:endParaRPr lang="zh-CN" altLang="en-US" sz="24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177">
            <a:extLst>
              <a:ext uri="{FF2B5EF4-FFF2-40B4-BE49-F238E27FC236}">
                <a16:creationId xmlns:a16="http://schemas.microsoft.com/office/drawing/2014/main" id="{4530FD90-01F2-27A0-3CBE-DB4DFA7DC4DE}"/>
              </a:ext>
            </a:extLst>
          </p:cNvPr>
          <p:cNvSpPr txBox="1"/>
          <p:nvPr/>
        </p:nvSpPr>
        <p:spPr>
          <a:xfrm>
            <a:off x="6409233" y="5440045"/>
            <a:ext cx="124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red/rest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4">
            <a:extLst>
              <a:ext uri="{FF2B5EF4-FFF2-40B4-BE49-F238E27FC236}">
                <a16:creationId xmlns:a16="http://schemas.microsoft.com/office/drawing/2014/main" id="{7D98FB94-6087-FFDB-1199-335CAEFEFC02}"/>
              </a:ext>
            </a:extLst>
          </p:cNvPr>
          <p:cNvSpPr/>
          <p:nvPr/>
        </p:nvSpPr>
        <p:spPr>
          <a:xfrm>
            <a:off x="428108" y="2889756"/>
            <a:ext cx="109365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idea: breaking the multiclass classification problem into multiple binary classification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20542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37" grpId="0"/>
      <p:bldP spid="38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5320-756F-48E7-A066-B97824E4A8C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B2AA2D84-58FA-4874-8DBD-5D1B963798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F14003-D338-49D6-8829-C691A1DD2A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1901</TotalTime>
  <Words>184</Words>
  <Application>Microsoft Office PowerPoint</Application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SVM Overview</vt:lpstr>
      <vt:lpstr>Types of SVM</vt:lpstr>
      <vt:lpstr>Types of SVM</vt:lpstr>
      <vt:lpstr>Types of SVM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74</cp:revision>
  <dcterms:created xsi:type="dcterms:W3CDTF">2021-01-06T14:22:07Z</dcterms:created>
  <dcterms:modified xsi:type="dcterms:W3CDTF">2024-07-15T11:23:21Z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