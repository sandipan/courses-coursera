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494" r:id="rId6"/>
    <p:sldId id="496" r:id="rId7"/>
    <p:sldId id="497" r:id="rId8"/>
    <p:sldId id="498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5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64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78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stats/cvpartition.html?searchHighlight=cvpartition&amp;s_tid=srchtitle_cvpartition_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828444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Case Study 1: Banknote Classification (Linear SVM)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Linear SVM - banknote classification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66955D0-68A3-9744-8962-DE755F0F1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779" y="1890687"/>
            <a:ext cx="2832810" cy="1883968"/>
          </a:xfrm>
          <a:prstGeom prst="rect">
            <a:avLst/>
          </a:prstGeom>
        </p:spPr>
      </p:pic>
      <p:sp>
        <p:nvSpPr>
          <p:cNvPr id="3" name="矩形 7">
            <a:extLst>
              <a:ext uri="{FF2B5EF4-FFF2-40B4-BE49-F238E27FC236}">
                <a16:creationId xmlns:a16="http://schemas.microsoft.com/office/drawing/2014/main" id="{DE8AFD97-35ED-4547-503D-1BFB2663B70D}"/>
              </a:ext>
            </a:extLst>
          </p:cNvPr>
          <p:cNvSpPr/>
          <p:nvPr/>
        </p:nvSpPr>
        <p:spPr>
          <a:xfrm>
            <a:off x="248411" y="1585586"/>
            <a:ext cx="92109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Paper money remains one of the main options for the exchange of products and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One of the remaining problems is the detection of counterfeit banknotes.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There are machines for detecting counterfeit banknotes, however, they are expensive…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13">
            <a:extLst>
              <a:ext uri="{FF2B5EF4-FFF2-40B4-BE49-F238E27FC236}">
                <a16:creationId xmlns:a16="http://schemas.microsoft.com/office/drawing/2014/main" id="{70C829B2-3B7F-31D9-77E1-775321ECD44A}"/>
              </a:ext>
            </a:extLst>
          </p:cNvPr>
          <p:cNvSpPr/>
          <p:nvPr/>
        </p:nvSpPr>
        <p:spPr>
          <a:xfrm>
            <a:off x="248411" y="4025329"/>
            <a:ext cx="1171343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Data were extracted from images that were taken from genuine and forged banknote-like specimens.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Wavelet transform were used to extract features from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Features: (variance,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skewness,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kurtosis,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entropy)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Wavelet transformed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Class 1: genuine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Class 0: forged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1372 samples</a:t>
            </a:r>
          </a:p>
        </p:txBody>
      </p:sp>
      <p:sp>
        <p:nvSpPr>
          <p:cNvPr id="6" name="矩形 8">
            <a:extLst>
              <a:ext uri="{FF2B5EF4-FFF2-40B4-BE49-F238E27FC236}">
                <a16:creationId xmlns:a16="http://schemas.microsoft.com/office/drawing/2014/main" id="{57AD9973-F801-740B-ABBE-89238030036A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Linear SVM - banknote classification</a:t>
            </a:r>
          </a:p>
        </p:txBody>
      </p:sp>
      <p:pic>
        <p:nvPicPr>
          <p:cNvPr id="2" name="图片 11">
            <a:extLst>
              <a:ext uri="{FF2B5EF4-FFF2-40B4-BE49-F238E27FC236}">
                <a16:creationId xmlns:a16="http://schemas.microsoft.com/office/drawing/2014/main" id="{F3B7835F-AE2C-4E27-CB72-A30423430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842" y="2473827"/>
            <a:ext cx="3869707" cy="273632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57CF7BC-7570-380C-2479-4479BFEC9BB1}"/>
              </a:ext>
            </a:extLst>
          </p:cNvPr>
          <p:cNvSpPr txBox="1"/>
          <p:nvPr/>
        </p:nvSpPr>
        <p:spPr>
          <a:xfrm>
            <a:off x="177451" y="1956010"/>
            <a:ext cx="301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 Load the data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E4F363A0-D8BA-3CD9-FF41-939BC1AEF6B0}"/>
              </a:ext>
            </a:extLst>
          </p:cNvPr>
          <p:cNvSpPr txBox="1"/>
          <p:nvPr/>
        </p:nvSpPr>
        <p:spPr>
          <a:xfrm>
            <a:off x="177451" y="1521830"/>
            <a:ext cx="5268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 use SVM to classify banknotes.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23">
            <a:extLst>
              <a:ext uri="{FF2B5EF4-FFF2-40B4-BE49-F238E27FC236}">
                <a16:creationId xmlns:a16="http://schemas.microsoft.com/office/drawing/2014/main" id="{2F726DE9-161C-5973-52B8-074FECC823B4}"/>
              </a:ext>
            </a:extLst>
          </p:cNvPr>
          <p:cNvSpPr txBox="1"/>
          <p:nvPr/>
        </p:nvSpPr>
        <p:spPr>
          <a:xfrm>
            <a:off x="177451" y="3682901"/>
            <a:ext cx="79674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Different with loading MATLAB built-in datasets, we read an external csv file.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csv file is comma-separated values file, which can be seen as a table.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 use 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‘</a:t>
            </a:r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readtable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’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to read it to MATLAB.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25">
            <a:extLst>
              <a:ext uri="{FF2B5EF4-FFF2-40B4-BE49-F238E27FC236}">
                <a16:creationId xmlns:a16="http://schemas.microsoft.com/office/drawing/2014/main" id="{7E26553C-0550-BD46-875C-68391AF75D96}"/>
              </a:ext>
            </a:extLst>
          </p:cNvPr>
          <p:cNvSpPr/>
          <p:nvPr/>
        </p:nvSpPr>
        <p:spPr>
          <a:xfrm>
            <a:off x="177451" y="5688188"/>
            <a:ext cx="1176956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X = </a:t>
            </a:r>
            <a:r>
              <a:rPr lang="en-US" altLang="zh-CN" sz="2400" dirty="0" err="1">
                <a:latin typeface="Consolas" panose="020B0609020204030204" pitchFamily="49" charset="0"/>
                <a:cs typeface="Arial" panose="020B0604020202020204" pitchFamily="34" charset="0"/>
              </a:rPr>
              <a:t>bankdata</a:t>
            </a:r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{:, 1:4};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means selecting all rows, columns 1~4, and storing it to X.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Columns of bank data can also be referenced through column names. </a:t>
            </a:r>
          </a:p>
        </p:txBody>
      </p:sp>
      <p:sp>
        <p:nvSpPr>
          <p:cNvPr id="9" name="矩形: 圆角 13">
            <a:extLst>
              <a:ext uri="{FF2B5EF4-FFF2-40B4-BE49-F238E27FC236}">
                <a16:creationId xmlns:a16="http://schemas.microsoft.com/office/drawing/2014/main" id="{DBB06D65-B4DA-72E9-A4A6-1E6B32BD185E}"/>
              </a:ext>
            </a:extLst>
          </p:cNvPr>
          <p:cNvSpPr/>
          <p:nvPr/>
        </p:nvSpPr>
        <p:spPr>
          <a:xfrm>
            <a:off x="2549236" y="2775522"/>
            <a:ext cx="1717438" cy="31577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直接箭头连接符 14">
            <a:extLst>
              <a:ext uri="{FF2B5EF4-FFF2-40B4-BE49-F238E27FC236}">
                <a16:creationId xmlns:a16="http://schemas.microsoft.com/office/drawing/2014/main" id="{DDE6D7B4-8EF2-F36B-2133-D8CFC79AC969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4266674" y="2933409"/>
            <a:ext cx="3878168" cy="908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D8576B7-743D-F064-162A-CE63D6F93FDC}"/>
              </a:ext>
            </a:extLst>
          </p:cNvPr>
          <p:cNvGrpSpPr/>
          <p:nvPr/>
        </p:nvGrpSpPr>
        <p:grpSpPr>
          <a:xfrm>
            <a:off x="177451" y="2464758"/>
            <a:ext cx="11582748" cy="4120722"/>
            <a:chOff x="177451" y="2464758"/>
            <a:chExt cx="11582748" cy="412072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F5F9DA2-131B-2B1E-C6D6-420340367766}"/>
                </a:ext>
              </a:extLst>
            </p:cNvPr>
            <p:cNvSpPr/>
            <p:nvPr/>
          </p:nvSpPr>
          <p:spPr>
            <a:xfrm>
              <a:off x="177451" y="2464758"/>
              <a:ext cx="6922596" cy="1145281"/>
            </a:xfrm>
            <a:prstGeom prst="roundRect">
              <a:avLst/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load the banknote dataset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bankdata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readtable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'banknote.csv'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);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bankdata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{:, 1:4};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columns 1~4 are features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bankdata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{:,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'Class’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};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column ‘Class’ is label</a:t>
              </a:r>
            </a:p>
          </p:txBody>
        </p:sp>
        <p:sp>
          <p:nvSpPr>
            <p:cNvPr id="18" name="矩形 8">
              <a:extLst>
                <a:ext uri="{FF2B5EF4-FFF2-40B4-BE49-F238E27FC236}">
                  <a16:creationId xmlns:a16="http://schemas.microsoft.com/office/drawing/2014/main" id="{7E392232-82DD-A504-23FE-05F14E07895F}"/>
                </a:ext>
              </a:extLst>
            </p:cNvPr>
            <p:cNvSpPr/>
            <p:nvPr/>
          </p:nvSpPr>
          <p:spPr>
            <a:xfrm>
              <a:off x="10216187" y="6216148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481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F4B59729-64D2-91FA-FB38-6B9BEED89720}"/>
              </a:ext>
            </a:extLst>
          </p:cNvPr>
          <p:cNvGrpSpPr/>
          <p:nvPr/>
        </p:nvGrpSpPr>
        <p:grpSpPr>
          <a:xfrm>
            <a:off x="286905" y="2573761"/>
            <a:ext cx="11473294" cy="4011719"/>
            <a:chOff x="286905" y="2573761"/>
            <a:chExt cx="11473294" cy="401171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C2A1E09-9FE8-8031-52D5-FED18BBFC9B5}"/>
                </a:ext>
              </a:extLst>
            </p:cNvPr>
            <p:cNvSpPr/>
            <p:nvPr/>
          </p:nvSpPr>
          <p:spPr>
            <a:xfrm>
              <a:off x="286905" y="2573761"/>
              <a:ext cx="8913406" cy="1422909"/>
            </a:xfrm>
            <a:prstGeom prst="roundRect">
              <a:avLst/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Split into training and test data by the ratio 75% and 25%, respectively.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cvObj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cvpartition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(size(X, 1),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 err="1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HoldOut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0.75);</a:t>
              </a: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idx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cvObj.test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;</a:t>
              </a: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X(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idx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:);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X_test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X(~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idx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:); </a:t>
              </a: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y(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idx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:);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y_test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y(~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idx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:); </a:t>
              </a:r>
            </a:p>
          </p:txBody>
        </p:sp>
        <p:sp>
          <p:nvSpPr>
            <p:cNvPr id="32" name="矩形 8">
              <a:extLst>
                <a:ext uri="{FF2B5EF4-FFF2-40B4-BE49-F238E27FC236}">
                  <a16:creationId xmlns:a16="http://schemas.microsoft.com/office/drawing/2014/main" id="{02AC2DEB-2035-5402-CE45-1C108DD11E4F}"/>
                </a:ext>
              </a:extLst>
            </p:cNvPr>
            <p:cNvSpPr/>
            <p:nvPr/>
          </p:nvSpPr>
          <p:spPr>
            <a:xfrm>
              <a:off x="10216187" y="6216148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Linear SVM - banknote classification</a:t>
            </a:r>
          </a:p>
        </p:txBody>
      </p:sp>
      <p:sp>
        <p:nvSpPr>
          <p:cNvPr id="2" name="文本框 9">
            <a:extLst>
              <a:ext uri="{FF2B5EF4-FFF2-40B4-BE49-F238E27FC236}">
                <a16:creationId xmlns:a16="http://schemas.microsoft.com/office/drawing/2014/main" id="{562BCDE5-5AB0-D0B5-60D0-6D579DE3F03C}"/>
              </a:ext>
            </a:extLst>
          </p:cNvPr>
          <p:cNvSpPr txBox="1"/>
          <p:nvPr/>
        </p:nvSpPr>
        <p:spPr>
          <a:xfrm>
            <a:off x="286905" y="1949383"/>
            <a:ext cx="301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 Train-test split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7">
            <a:extLst>
              <a:ext uri="{FF2B5EF4-FFF2-40B4-BE49-F238E27FC236}">
                <a16:creationId xmlns:a16="http://schemas.microsoft.com/office/drawing/2014/main" id="{F066F751-7FF2-BE37-6803-CC2FDCF4118C}"/>
              </a:ext>
            </a:extLst>
          </p:cNvPr>
          <p:cNvSpPr txBox="1"/>
          <p:nvPr/>
        </p:nvSpPr>
        <p:spPr>
          <a:xfrm>
            <a:off x="286905" y="1477025"/>
            <a:ext cx="498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 use SVM to classify banknotes.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0">
            <a:extLst>
              <a:ext uri="{FF2B5EF4-FFF2-40B4-BE49-F238E27FC236}">
                <a16:creationId xmlns:a16="http://schemas.microsoft.com/office/drawing/2014/main" id="{93809E25-71EA-A4FC-814F-DDA003764252}"/>
              </a:ext>
            </a:extLst>
          </p:cNvPr>
          <p:cNvSpPr txBox="1"/>
          <p:nvPr/>
        </p:nvSpPr>
        <p:spPr>
          <a:xfrm>
            <a:off x="6633076" y="3594872"/>
            <a:ext cx="540747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See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Partition data for cross-validation - MATLAB (mathworks.com)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17">
            <a:extLst>
              <a:ext uri="{FF2B5EF4-FFF2-40B4-BE49-F238E27FC236}">
                <a16:creationId xmlns:a16="http://schemas.microsoft.com/office/drawing/2014/main" id="{115613C0-4479-7C2E-C948-1D86E038D903}"/>
              </a:ext>
            </a:extLst>
          </p:cNvPr>
          <p:cNvSpPr txBox="1"/>
          <p:nvPr/>
        </p:nvSpPr>
        <p:spPr>
          <a:xfrm>
            <a:off x="286905" y="4489613"/>
            <a:ext cx="112388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Throughout the lecture, we use this code snippet to split the dataset into training and test sets.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Consolas" panose="020B0609020204030204" pitchFamily="49" charset="0"/>
                <a:cs typeface="Arial" panose="020B0604020202020204" pitchFamily="34" charset="0"/>
              </a:rPr>
              <a:t>cvpartition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creates a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partition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of data into training and test 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zh-CN" sz="24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2400" dirty="0" err="1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HoldOut</a:t>
            </a:r>
            <a:r>
              <a:rPr lang="en-US" altLang="zh-CN" sz="24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’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parameter controls the ratio of the training set and test set.</a:t>
            </a:r>
          </a:p>
        </p:txBody>
      </p:sp>
      <p:cxnSp>
        <p:nvCxnSpPr>
          <p:cNvPr id="6" name="直接箭头连接符 19">
            <a:extLst>
              <a:ext uri="{FF2B5EF4-FFF2-40B4-BE49-F238E27FC236}">
                <a16:creationId xmlns:a16="http://schemas.microsoft.com/office/drawing/2014/main" id="{3166F649-9A9D-38E1-7F0E-B7B34D5C38F7}"/>
              </a:ext>
            </a:extLst>
          </p:cNvPr>
          <p:cNvCxnSpPr>
            <a:cxnSpLocks/>
            <a:stCxn id="7" idx="1"/>
            <a:endCxn id="12" idx="3"/>
          </p:cNvCxnSpPr>
          <p:nvPr/>
        </p:nvCxnSpPr>
        <p:spPr>
          <a:xfrm flipH="1">
            <a:off x="9200311" y="3081784"/>
            <a:ext cx="581494" cy="2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20">
            <a:extLst>
              <a:ext uri="{FF2B5EF4-FFF2-40B4-BE49-F238E27FC236}">
                <a16:creationId xmlns:a16="http://schemas.microsoft.com/office/drawing/2014/main" id="{92D00F07-C863-6A6E-3F23-8FC0854B1A2E}"/>
              </a:ext>
            </a:extLst>
          </p:cNvPr>
          <p:cNvSpPr txBox="1"/>
          <p:nvPr/>
        </p:nvSpPr>
        <p:spPr>
          <a:xfrm>
            <a:off x="9781805" y="2850951"/>
            <a:ext cx="225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reusable code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: 圆角 12">
            <a:extLst>
              <a:ext uri="{FF2B5EF4-FFF2-40B4-BE49-F238E27FC236}">
                <a16:creationId xmlns:a16="http://schemas.microsoft.com/office/drawing/2014/main" id="{C7378538-C404-CF24-B611-44A8E733DA54}"/>
              </a:ext>
            </a:extLst>
          </p:cNvPr>
          <p:cNvSpPr/>
          <p:nvPr/>
        </p:nvSpPr>
        <p:spPr>
          <a:xfrm>
            <a:off x="1141152" y="2872218"/>
            <a:ext cx="1640083" cy="31577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直接箭头连接符 13">
            <a:extLst>
              <a:ext uri="{FF2B5EF4-FFF2-40B4-BE49-F238E27FC236}">
                <a16:creationId xmlns:a16="http://schemas.microsoft.com/office/drawing/2014/main" id="{0C906BF9-B368-6812-92BF-31CBB48DE695}"/>
              </a:ext>
            </a:extLst>
          </p:cNvPr>
          <p:cNvCxnSpPr>
            <a:cxnSpLocks/>
            <a:stCxn id="10" idx="3"/>
            <a:endCxn id="4" idx="1"/>
          </p:cNvCxnSpPr>
          <p:nvPr/>
        </p:nvCxnSpPr>
        <p:spPr>
          <a:xfrm>
            <a:off x="2781235" y="3030105"/>
            <a:ext cx="3851841" cy="980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12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7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DA52FEC2-0485-B61A-891F-AE7926C91499}"/>
              </a:ext>
            </a:extLst>
          </p:cNvPr>
          <p:cNvGrpSpPr/>
          <p:nvPr/>
        </p:nvGrpSpPr>
        <p:grpSpPr>
          <a:xfrm>
            <a:off x="329875" y="2027227"/>
            <a:ext cx="11430324" cy="4558253"/>
            <a:chOff x="329875" y="2027227"/>
            <a:chExt cx="11430324" cy="4558253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E87C5A1-24A9-DEE8-5373-EDF757F4C336}"/>
                </a:ext>
              </a:extLst>
            </p:cNvPr>
            <p:cNvSpPr/>
            <p:nvPr/>
          </p:nvSpPr>
          <p:spPr>
            <a:xfrm>
              <a:off x="329875" y="2027227"/>
              <a:ext cx="10387203" cy="646803"/>
            </a:xfrm>
            <a:prstGeom prst="roundRect">
              <a:avLst/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Train a linear SVM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svclassifier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fitcsvm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 err="1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KernelFunction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'linear'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'Standardize'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true);</a:t>
              </a:r>
            </a:p>
          </p:txBody>
        </p:sp>
        <p:sp>
          <p:nvSpPr>
            <p:cNvPr id="22" name="矩形 8">
              <a:extLst>
                <a:ext uri="{FF2B5EF4-FFF2-40B4-BE49-F238E27FC236}">
                  <a16:creationId xmlns:a16="http://schemas.microsoft.com/office/drawing/2014/main" id="{E193D4F6-B72B-EB8E-2DC3-2765E26EBBF0}"/>
                </a:ext>
              </a:extLst>
            </p:cNvPr>
            <p:cNvSpPr/>
            <p:nvPr/>
          </p:nvSpPr>
          <p:spPr>
            <a:xfrm>
              <a:off x="10216187" y="6216148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Linear SVM - banknote classification</a:t>
            </a:r>
          </a:p>
        </p:txBody>
      </p:sp>
      <p:sp>
        <p:nvSpPr>
          <p:cNvPr id="2" name="文本框 8">
            <a:extLst>
              <a:ext uri="{FF2B5EF4-FFF2-40B4-BE49-F238E27FC236}">
                <a16:creationId xmlns:a16="http://schemas.microsoft.com/office/drawing/2014/main" id="{06B7CED5-963D-B556-AE86-BA2B6F65D2E5}"/>
              </a:ext>
            </a:extLst>
          </p:cNvPr>
          <p:cNvSpPr txBox="1"/>
          <p:nvPr/>
        </p:nvSpPr>
        <p:spPr>
          <a:xfrm>
            <a:off x="249622" y="1422400"/>
            <a:ext cx="301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3. Training 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9">
            <a:extLst>
              <a:ext uri="{FF2B5EF4-FFF2-40B4-BE49-F238E27FC236}">
                <a16:creationId xmlns:a16="http://schemas.microsoft.com/office/drawing/2014/main" id="{8DBF072F-60AF-AD4B-3EF2-F1BFC2924C82}"/>
              </a:ext>
            </a:extLst>
          </p:cNvPr>
          <p:cNvSpPr txBox="1"/>
          <p:nvPr/>
        </p:nvSpPr>
        <p:spPr>
          <a:xfrm>
            <a:off x="329875" y="4368599"/>
            <a:ext cx="301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4. Prediction 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1">
            <a:extLst>
              <a:ext uri="{FF2B5EF4-FFF2-40B4-BE49-F238E27FC236}">
                <a16:creationId xmlns:a16="http://schemas.microsoft.com/office/drawing/2014/main" id="{1C96F2AA-9921-BEC3-0F48-3D957455A148}"/>
              </a:ext>
            </a:extLst>
          </p:cNvPr>
          <p:cNvSpPr txBox="1"/>
          <p:nvPr/>
        </p:nvSpPr>
        <p:spPr>
          <a:xfrm>
            <a:off x="329875" y="2772851"/>
            <a:ext cx="113421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Standardizes the data by subtracting the mean and dividing by the standard deviation.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Ensures all variables are on the same scale and have equal importance to the model.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25B4F30E-1DA4-C4F9-0B5A-30AB712695FA}"/>
              </a:ext>
            </a:extLst>
          </p:cNvPr>
          <p:cNvSpPr/>
          <p:nvPr/>
        </p:nvSpPr>
        <p:spPr>
          <a:xfrm>
            <a:off x="983391" y="6040935"/>
            <a:ext cx="28355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Output: 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Accuracy: 97.1875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: 圆角 12">
            <a:extLst>
              <a:ext uri="{FF2B5EF4-FFF2-40B4-BE49-F238E27FC236}">
                <a16:creationId xmlns:a16="http://schemas.microsoft.com/office/drawing/2014/main" id="{3A7275B4-CBA8-CEB7-E0DA-C780C749A482}"/>
              </a:ext>
            </a:extLst>
          </p:cNvPr>
          <p:cNvSpPr/>
          <p:nvPr/>
        </p:nvSpPr>
        <p:spPr>
          <a:xfrm>
            <a:off x="8057114" y="2082723"/>
            <a:ext cx="2420834" cy="59130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直接箭头连接符 14">
            <a:extLst>
              <a:ext uri="{FF2B5EF4-FFF2-40B4-BE49-F238E27FC236}">
                <a16:creationId xmlns:a16="http://schemas.microsoft.com/office/drawing/2014/main" id="{5BCA53F1-1F90-A3E1-57AB-96F05FE4EC2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9267531" y="2674030"/>
            <a:ext cx="382078" cy="143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0725E7A-7DEF-C126-3859-97FDDF171867}"/>
              </a:ext>
            </a:extLst>
          </p:cNvPr>
          <p:cNvSpPr/>
          <p:nvPr/>
        </p:nvSpPr>
        <p:spPr>
          <a:xfrm>
            <a:off x="329875" y="4880282"/>
            <a:ext cx="10387203" cy="1110635"/>
          </a:xfrm>
          <a:prstGeom prst="roundRect">
            <a:avLst/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Predict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y_pred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predict(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svclassifier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X_test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accuracy_score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sum(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y_test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y_pred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)/length(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y_test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)*100;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Prediction accuracy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disp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([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'Accuracy: 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num2str(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accuracy_score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)]);</a:t>
            </a:r>
          </a:p>
        </p:txBody>
      </p:sp>
    </p:spTree>
    <p:extLst>
      <p:ext uri="{BB962C8B-B14F-4D97-AF65-F5344CB8AC3E}">
        <p14:creationId xmlns:p14="http://schemas.microsoft.com/office/powerpoint/2010/main" val="414399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7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47D895-B6E9-47C2-BF11-01A739661C01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E713F49B-1AAC-4045-A48E-681F650576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E25E31-7085-4E3C-9390-FA2EC506B9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1884</TotalTime>
  <Words>538</Words>
  <Application>Microsoft Office PowerPoint</Application>
  <PresentationFormat>Widescreen</PresentationFormat>
  <Paragraphs>64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Times New Roman</vt:lpstr>
      <vt:lpstr>Office Theme</vt:lpstr>
      <vt:lpstr>Case Study 1: Banknote Classification (Linear SVM)</vt:lpstr>
      <vt:lpstr>Linear SVM - banknote classification</vt:lpstr>
      <vt:lpstr>Linear SVM - banknote classification</vt:lpstr>
      <vt:lpstr>Linear SVM - banknote classification</vt:lpstr>
      <vt:lpstr>Linear SVM - banknote classification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69</cp:revision>
  <dcterms:created xsi:type="dcterms:W3CDTF">2021-01-06T14:22:07Z</dcterms:created>
  <dcterms:modified xsi:type="dcterms:W3CDTF">2024-07-16T12:19:33Z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